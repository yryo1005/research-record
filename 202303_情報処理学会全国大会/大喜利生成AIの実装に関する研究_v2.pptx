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593" r:id="rId8"/>
    <p:sldId id="574" r:id="rId9"/>
    <p:sldId id="573" r:id="rId10"/>
    <p:sldId id="572" r:id="rId11"/>
    <p:sldId id="264" r:id="rId12"/>
    <p:sldId id="265" r:id="rId13"/>
    <p:sldId id="266" r:id="rId14"/>
    <p:sldId id="571" r:id="rId15"/>
    <p:sldId id="267" r:id="rId16"/>
    <p:sldId id="550" r:id="rId17"/>
    <p:sldId id="551" r:id="rId18"/>
    <p:sldId id="552" r:id="rId19"/>
    <p:sldId id="553" r:id="rId20"/>
    <p:sldId id="598" r:id="rId21"/>
    <p:sldId id="580" r:id="rId22"/>
    <p:sldId id="584" r:id="rId23"/>
    <p:sldId id="585" r:id="rId24"/>
    <p:sldId id="586" r:id="rId25"/>
    <p:sldId id="559" r:id="rId26"/>
    <p:sldId id="565" r:id="rId27"/>
    <p:sldId id="575" r:id="rId28"/>
    <p:sldId id="591" r:id="rId29"/>
    <p:sldId id="590" r:id="rId30"/>
    <p:sldId id="579" r:id="rId31"/>
    <p:sldId id="582" r:id="rId32"/>
    <p:sldId id="577" r:id="rId33"/>
    <p:sldId id="594" r:id="rId34"/>
    <p:sldId id="595" r:id="rId35"/>
    <p:sldId id="596" r:id="rId36"/>
    <p:sldId id="597" r:id="rId37"/>
    <p:sldId id="563" r:id="rId3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1ECFF"/>
    <a:srgbClr val="5BD4FF"/>
    <a:srgbClr val="01D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18" autoAdjust="0"/>
    <p:restoredTop sz="95214" autoAdjust="0"/>
  </p:normalViewPr>
  <p:slideViewPr>
    <p:cSldViewPr snapToGrid="0">
      <p:cViewPr varScale="1">
        <p:scale>
          <a:sx n="116" d="100"/>
          <a:sy n="116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E44C3-561A-4496-B1CD-B15C2D8ADEBF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FFF5C-DD13-4AF1-91FC-91C1E731A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156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非表示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276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いらない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29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AutoEncoder</a:t>
            </a:r>
            <a:r>
              <a:rPr kumimoji="1" lang="ja-JP" altLang="en-US" dirty="0"/>
              <a:t>はニューラルネットワークを使用した教師無し学習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で、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教師無し学習なので正解情報であるアノテーションを必要としません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 err="1"/>
              <a:t>AutoEncoder</a:t>
            </a:r>
            <a:r>
              <a:rPr kumimoji="1" lang="ja-JP" altLang="en-US" dirty="0"/>
              <a:t>はデータの次元圧縮・特徴抽出ができます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043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AutoEncoder</a:t>
            </a:r>
            <a:r>
              <a:rPr kumimoji="1" lang="ja-JP" altLang="en-US"/>
              <a:t>では入力と</a:t>
            </a:r>
            <a:r>
              <a:rPr kumimoji="1" lang="en-US" altLang="ja-JP" dirty="0"/>
              <a:t>, </a:t>
            </a:r>
            <a:r>
              <a:rPr kumimoji="1" lang="ja-JP" altLang="en-US"/>
              <a:t>デコーダの出力からなる</a:t>
            </a:r>
            <a:r>
              <a:rPr kumimoji="1" lang="en-US" altLang="ja-JP" dirty="0"/>
              <a:t>, </a:t>
            </a:r>
            <a:r>
              <a:rPr kumimoji="1" lang="ja-JP" altLang="en-US"/>
              <a:t>二乗和誤差などの損失関数を最小化するように学習します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これにより、エンコーダは入力の特徴を抽出するようになり、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また、デコーダはエンコーダから入力を復元できるようになります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エンコーダの出力次元を入力の次元数より小さくしてやれば データの次元圧縮もできます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6292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以上の話のまとめとして提案手法を振り返りますと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まずは画像のみを使用して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を学習します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70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AutoEncoder</a:t>
            </a:r>
            <a:r>
              <a:rPr kumimoji="1" lang="ja-JP" altLang="en-US" dirty="0"/>
              <a:t>の学習後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画像と文章のデータを用いて</a:t>
            </a:r>
            <a:r>
              <a:rPr kumimoji="1" lang="en-US" altLang="ja-JP" dirty="0"/>
              <a:t>Pix2Seq</a:t>
            </a:r>
            <a:r>
              <a:rPr kumimoji="1" lang="ja-JP" altLang="en-US" dirty="0"/>
              <a:t>を学習します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この時</a:t>
            </a:r>
            <a:r>
              <a:rPr kumimoji="1" lang="en-US" altLang="ja-JP" dirty="0"/>
              <a:t>Pix2Seq</a:t>
            </a:r>
            <a:r>
              <a:rPr kumimoji="1" lang="ja-JP" altLang="en-US" dirty="0"/>
              <a:t>の画像のエンコーダとして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のエンコーダを使用します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548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提案手法を用いて実際にボケてのデータを学習しました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今回学習に使用したお題画像は約</a:t>
            </a:r>
            <a:r>
              <a:rPr kumimoji="1" lang="en-US" altLang="ja-JP" dirty="0"/>
              <a:t>69000</a:t>
            </a:r>
            <a:r>
              <a:rPr kumimoji="1" lang="ja-JP" altLang="en-US" dirty="0"/>
              <a:t>枚、対応する大喜利が約</a:t>
            </a:r>
            <a:r>
              <a:rPr kumimoji="1" lang="en-US" altLang="ja-JP" dirty="0"/>
              <a:t>55</a:t>
            </a:r>
            <a:r>
              <a:rPr kumimoji="1" lang="ja-JP" altLang="en-US" dirty="0"/>
              <a:t>万文章となっています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また、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のエンコーダは畳み込み層</a:t>
            </a:r>
            <a:r>
              <a:rPr kumimoji="1" lang="en-US" altLang="ja-JP" dirty="0"/>
              <a:t>5</a:t>
            </a:r>
            <a:r>
              <a:rPr kumimoji="1" lang="ja-JP" altLang="en-US" dirty="0"/>
              <a:t>層、デコーダは逆畳み込み層</a:t>
            </a:r>
            <a:r>
              <a:rPr kumimoji="1" lang="en-US" altLang="ja-JP" dirty="0"/>
              <a:t>5</a:t>
            </a:r>
            <a:r>
              <a:rPr kumimoji="1" lang="ja-JP" altLang="en-US" dirty="0"/>
              <a:t>層のシンプルな</a:t>
            </a:r>
            <a:r>
              <a:rPr kumimoji="1" lang="en-US" altLang="ja-JP" dirty="0"/>
              <a:t>CNN</a:t>
            </a:r>
            <a:r>
              <a:rPr kumimoji="1" lang="ja-JP" altLang="en-US" dirty="0"/>
              <a:t>となっています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学習データの一例はスライド下部のようになっていて、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ここでお題によって投稿されている大喜利の数は異なります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516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119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提案手法を用いて実際にボケてのデータを学習しました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今回学習に使用したお題画像は約</a:t>
            </a:r>
            <a:r>
              <a:rPr kumimoji="1" lang="en-US" altLang="ja-JP" dirty="0"/>
              <a:t>69000</a:t>
            </a:r>
            <a:r>
              <a:rPr kumimoji="1" lang="ja-JP" altLang="en-US" dirty="0"/>
              <a:t>枚、対応する大喜利が約</a:t>
            </a:r>
            <a:r>
              <a:rPr kumimoji="1" lang="en-US" altLang="ja-JP" dirty="0"/>
              <a:t>55</a:t>
            </a:r>
            <a:r>
              <a:rPr kumimoji="1" lang="ja-JP" altLang="en-US" dirty="0"/>
              <a:t>万文章となっています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また、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のエンコーダは畳み込み層</a:t>
            </a:r>
            <a:r>
              <a:rPr kumimoji="1" lang="en-US" altLang="ja-JP" dirty="0"/>
              <a:t>5</a:t>
            </a:r>
            <a:r>
              <a:rPr kumimoji="1" lang="ja-JP" altLang="en-US" dirty="0"/>
              <a:t>層、デコーダは逆畳み込み層</a:t>
            </a:r>
            <a:r>
              <a:rPr kumimoji="1" lang="en-US" altLang="ja-JP" dirty="0"/>
              <a:t>5</a:t>
            </a:r>
            <a:r>
              <a:rPr kumimoji="1" lang="ja-JP" altLang="en-US" dirty="0"/>
              <a:t>層のシンプルな</a:t>
            </a:r>
            <a:r>
              <a:rPr kumimoji="1" lang="en-US" altLang="ja-JP" dirty="0"/>
              <a:t>CNN</a:t>
            </a:r>
            <a:r>
              <a:rPr kumimoji="1" lang="ja-JP" altLang="en-US" dirty="0"/>
              <a:t>となっています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学習データの一例はスライド下部のようになっていて、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ここでお題によって投稿されている大喜利の数は異なります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209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表強調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450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表強調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479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表強調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19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B045264-2568-48F0-9A3F-62E2BCBF8C53}"/>
              </a:ext>
            </a:extLst>
          </p:cNvPr>
          <p:cNvSpPr/>
          <p:nvPr userDrawn="1"/>
        </p:nvSpPr>
        <p:spPr>
          <a:xfrm>
            <a:off x="0" y="16882"/>
            <a:ext cx="12204000" cy="41195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5533C40-2E1A-4EA5-918C-818868D1A7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2968" y="1227773"/>
            <a:ext cx="11818064" cy="2387600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r>
              <a:rPr kumimoji="1" lang="ja-JP" altLang="en-US"/>
              <a:t>タイトル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40B3E0-9E2C-4F92-AADA-3CBE770310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2968" y="4319681"/>
            <a:ext cx="1181806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所属</a:t>
            </a:r>
            <a:endParaRPr kumimoji="1" lang="en-US" altLang="ja-JP" dirty="0"/>
          </a:p>
          <a:p>
            <a:r>
              <a:rPr kumimoji="1" lang="ja-JP" altLang="en-US"/>
              <a:t>名前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DE2F35-FEAD-48D7-B26B-AC3DD01C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A24D7-8ABF-3D46-9E8D-3718D86B95CD}" type="datetime1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E85065-E3BB-4F0A-BD0E-64CB2D6C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0B0649-A052-49A2-8C65-D23FF802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A194900-9383-4A57-A289-51C9E28B0681}"/>
              </a:ext>
            </a:extLst>
          </p:cNvPr>
          <p:cNvGrpSpPr/>
          <p:nvPr userDrawn="1"/>
        </p:nvGrpSpPr>
        <p:grpSpPr>
          <a:xfrm>
            <a:off x="11018663" y="136525"/>
            <a:ext cx="984931" cy="928108"/>
            <a:chOff x="512064" y="1767841"/>
            <a:chExt cx="1267968" cy="1194816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615EA1C-8514-455D-9396-54CAE5E97C21}"/>
                </a:ext>
              </a:extLst>
            </p:cNvPr>
            <p:cNvSpPr/>
            <p:nvPr userDrawn="1"/>
          </p:nvSpPr>
          <p:spPr>
            <a:xfrm>
              <a:off x="585216" y="1767841"/>
              <a:ext cx="1194816" cy="11948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pic>
          <p:nvPicPr>
            <p:cNvPr id="14" name="図 13" descr="ロゴ, 会社名&#10;&#10;自動的に生成された説明">
              <a:extLst>
                <a:ext uri="{FF2B5EF4-FFF2-40B4-BE49-F238E27FC236}">
                  <a16:creationId xmlns:a16="http://schemas.microsoft.com/office/drawing/2014/main" id="{D6A9B794-0884-4EDE-9687-F3D3BF2EF8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0000" b="71563" l="10000" r="94028">
                          <a14:foregroundMark x1="27917" y1="40000" x2="27917" y2="40000"/>
                          <a14:foregroundMark x1="38333" y1="34297" x2="38333" y2="34297"/>
                          <a14:foregroundMark x1="27917" y1="30000" x2="27917" y2="30000"/>
                          <a14:foregroundMark x1="28611" y1="50703" x2="28611" y2="50703"/>
                          <a14:foregroundMark x1="33194" y1="66406" x2="33194" y2="66406"/>
                          <a14:foregroundMark x1="45417" y1="66406" x2="45417" y2="66406"/>
                          <a14:foregroundMark x1="33889" y1="71563" x2="33889" y2="71563"/>
                          <a14:foregroundMark x1="63611" y1="65469" x2="63611" y2="65469"/>
                          <a14:foregroundMark x1="74167" y1="66484" x2="74167" y2="66484"/>
                          <a14:foregroundMark x1="86806" y1="67422" x2="86806" y2="67422"/>
                          <a14:foregroundMark x1="55972" y1="54219" x2="55972" y2="54219"/>
                          <a14:foregroundMark x1="90556" y1="68047" x2="90556" y2="68047"/>
                          <a14:foregroundMark x1="94028" y1="71016" x2="94028" y2="710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21" b="26343"/>
            <a:stretch/>
          </p:blipFill>
          <p:spPr>
            <a:xfrm>
              <a:off x="512064" y="1849709"/>
              <a:ext cx="1062784" cy="1046190"/>
            </a:xfrm>
            <a:prstGeom prst="rect">
              <a:avLst/>
            </a:prstGeom>
          </p:spPr>
        </p:pic>
      </p:grpSp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CA90907A-ACA3-B78E-000E-D5B0E34351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06" y="136525"/>
            <a:ext cx="825548" cy="94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35E9F-047C-4FF5-A77A-85B657CD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B7DB23-862A-4693-9FAA-778613D8E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itchFamily="2" charset="2"/>
              <a:buChar char="l"/>
              <a:defRPr/>
            </a:lvl1pPr>
            <a:lvl2pPr marL="685800" indent="-228600">
              <a:buFont typeface="Wingdings" pitchFamily="2" charset="2"/>
              <a:buChar char="l"/>
              <a:defRPr/>
            </a:lvl2pPr>
            <a:lvl3pPr marL="1143000" indent="-228600">
              <a:buFont typeface="Wingdings" pitchFamily="2" charset="2"/>
              <a:buChar char="l"/>
              <a:defRPr/>
            </a:lvl3pPr>
            <a:lvl4pPr marL="1600200" indent="-228600">
              <a:buFont typeface="Wingdings" pitchFamily="2" charset="2"/>
              <a:buChar char="l"/>
              <a:defRPr/>
            </a:lvl4pPr>
            <a:lvl5pPr marL="2057400" indent="-228600">
              <a:buFont typeface="Wingdings" pitchFamily="2" charset="2"/>
              <a:buChar char="l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79DCA2-D0EA-44C5-B87F-6B702FBC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80C2-02FC-534C-B221-1E1AD93B8669}" type="datetime1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4FCF81-83D0-4A5F-B392-98F2FB62E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DEAD83-301D-4855-8835-69DCA092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50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D1DD95-73D1-4893-A076-28DE9550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C74148-A998-42E7-B6FC-8B139B9CF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281" y="1085039"/>
            <a:ext cx="5557519" cy="5286633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82C9B3-AED1-4DC7-AC3D-4A8A87D9D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85039"/>
            <a:ext cx="5557518" cy="528663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ACFC18-3B03-4633-A4E9-80AC2058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FBA8-654F-074A-9CD7-C641AF6D6060}" type="datetime1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81560E-9A4B-4129-9A12-6E67A4A30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01AA25-3710-4ABF-8AA3-84D430C7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1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6166A5-507A-48B9-BB73-59304A1F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BBE29F4-E6B5-4DB8-B3D2-6B933FC67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9584-5A37-7548-ADBA-E05382B83527}" type="datetime1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7DF27D5-6E31-403A-B13C-066713A2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739780-1EBC-4B74-995A-BAF0DA29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55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AAC72E2-5A55-462E-8EBC-CD715699AC80}"/>
              </a:ext>
            </a:extLst>
          </p:cNvPr>
          <p:cNvSpPr/>
          <p:nvPr userDrawn="1"/>
        </p:nvSpPr>
        <p:spPr>
          <a:xfrm>
            <a:off x="-8546" y="-9683"/>
            <a:ext cx="12204000" cy="9281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F7C980-05FD-43CE-A806-5D3EE8E9E990}"/>
              </a:ext>
            </a:extLst>
          </p:cNvPr>
          <p:cNvSpPr/>
          <p:nvPr userDrawn="1"/>
        </p:nvSpPr>
        <p:spPr>
          <a:xfrm>
            <a:off x="-10346" y="6556217"/>
            <a:ext cx="12207600" cy="3259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04B4DD-C307-4107-A5E5-0BF0C0B7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1" y="88639"/>
            <a:ext cx="11267439" cy="71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スライドタイトル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3402DE-9460-46FC-8E12-B3A597B84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変更点</a:t>
            </a:r>
            <a:endParaRPr kumimoji="1" lang="en-US" altLang="ja-JP" dirty="0"/>
          </a:p>
          <a:p>
            <a:pPr lvl="1"/>
            <a:r>
              <a:rPr kumimoji="1" lang="ja-JP" altLang="en-US"/>
              <a:t>テーマカラーの青のトーンを落とし白字を見やすく変更</a:t>
            </a:r>
            <a:endParaRPr kumimoji="1" lang="en-US" altLang="ja-JP" dirty="0"/>
          </a:p>
          <a:p>
            <a:pPr lvl="1"/>
            <a:r>
              <a:rPr kumimoji="1" lang="ja-JP" altLang="en-US"/>
              <a:t>図形の初期色をテーマカラーの青に変更</a:t>
            </a:r>
            <a:endParaRPr kumimoji="1" lang="en-US" altLang="ja-JP" dirty="0"/>
          </a:p>
          <a:p>
            <a:pPr lvl="1"/>
            <a:r>
              <a:rPr kumimoji="1" lang="ja-JP" altLang="en-US"/>
              <a:t>図形の初期フォントサイズを</a:t>
            </a:r>
            <a:r>
              <a:rPr kumimoji="1" lang="en-US" altLang="ja-JP" dirty="0"/>
              <a:t>24</a:t>
            </a:r>
            <a:r>
              <a:rPr kumimoji="1" lang="ja-JP" altLang="en-US"/>
              <a:t>に変更</a:t>
            </a:r>
            <a:endParaRPr kumimoji="1" lang="en-US" altLang="ja-JP" dirty="0"/>
          </a:p>
          <a:p>
            <a:pPr lvl="1"/>
            <a:r>
              <a:rPr kumimoji="1" lang="ja-JP" altLang="en-US"/>
              <a:t>スライド番号を表示するように変更</a:t>
            </a:r>
            <a:endParaRPr kumimoji="1" lang="en-US" altLang="ja-JP" dirty="0"/>
          </a:p>
          <a:p>
            <a:pPr lvl="1"/>
            <a:r>
              <a:rPr kumimoji="1" lang="ja-JP" altLang="en-US"/>
              <a:t>タイトルスライド以外からロゴを除去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2B248B-6419-4BE9-A4D7-D19DE17A3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2421"/>
            <a:ext cx="2743200" cy="258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defRPr>
            </a:lvl1pPr>
          </a:lstStyle>
          <a:p>
            <a:fld id="{BD343B63-AFAE-214F-ADA7-C98782104904}" type="datetime1">
              <a:rPr lang="ja-JP" altLang="en-US" smtClean="0"/>
              <a:t>2023/3/4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D17628-39B6-42B5-B218-8FA4AC8D6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2421"/>
            <a:ext cx="4114800" cy="258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15CBA2-E83C-4598-8505-16829492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82421"/>
            <a:ext cx="2743200" cy="258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defRPr>
            </a:lvl1pPr>
          </a:lstStyle>
          <a:p>
            <a:fld id="{3C83C733-A267-4C27-B924-90460700986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3325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bg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None/>
        <a:defRPr kumimoji="1" sz="28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l"/>
        <a:defRPr kumimoji="1" sz="24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l"/>
        <a:defRPr kumimoji="1" sz="20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l"/>
        <a:defRPr kumimoji="1" sz="18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l"/>
        <a:defRPr kumimoji="1" sz="18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8.jp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jp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1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0.png"/><Relationship Id="rId18" Type="http://schemas.openxmlformats.org/officeDocument/2006/relationships/image" Target="../media/image391.png"/><Relationship Id="rId26" Type="http://schemas.openxmlformats.org/officeDocument/2006/relationships/image" Target="../media/image47.png"/><Relationship Id="rId3" Type="http://schemas.openxmlformats.org/officeDocument/2006/relationships/image" Target="../media/image8.jpg"/><Relationship Id="rId21" Type="http://schemas.openxmlformats.org/officeDocument/2006/relationships/image" Target="../media/image42.png"/><Relationship Id="rId7" Type="http://schemas.openxmlformats.org/officeDocument/2006/relationships/image" Target="../media/image281.png"/><Relationship Id="rId12" Type="http://schemas.openxmlformats.org/officeDocument/2006/relationships/image" Target="../media/image330.png"/><Relationship Id="rId17" Type="http://schemas.openxmlformats.org/officeDocument/2006/relationships/image" Target="../media/image271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1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320.png"/><Relationship Id="rId24" Type="http://schemas.openxmlformats.org/officeDocument/2006/relationships/image" Target="../media/image282.png"/><Relationship Id="rId5" Type="http://schemas.openxmlformats.org/officeDocument/2006/relationships/image" Target="../media/image260.png"/><Relationship Id="rId15" Type="http://schemas.openxmlformats.org/officeDocument/2006/relationships/image" Target="../media/image361.png"/><Relationship Id="rId23" Type="http://schemas.openxmlformats.org/officeDocument/2006/relationships/image" Target="../media/image44.png"/><Relationship Id="rId10" Type="http://schemas.openxmlformats.org/officeDocument/2006/relationships/image" Target="../media/image261.png"/><Relationship Id="rId19" Type="http://schemas.openxmlformats.org/officeDocument/2006/relationships/image" Target="../media/image401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350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sv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8.jp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5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49.png"/><Relationship Id="rId7" Type="http://schemas.openxmlformats.org/officeDocument/2006/relationships/image" Target="../media/image3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280.png"/><Relationship Id="rId5" Type="http://schemas.openxmlformats.org/officeDocument/2006/relationships/image" Target="../media/image362.png"/><Relationship Id="rId10" Type="http://schemas.openxmlformats.org/officeDocument/2006/relationships/image" Target="../media/image640.png"/><Relationship Id="rId4" Type="http://schemas.microsoft.com/office/2007/relationships/hdphoto" Target="../media/hdphoto3.wdp"/><Relationship Id="rId9" Type="http://schemas.openxmlformats.org/officeDocument/2006/relationships/image" Target="../media/image3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0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51.png"/><Relationship Id="rId4" Type="http://schemas.openxmlformats.org/officeDocument/2006/relationships/image" Target="../media/image66.png"/><Relationship Id="rId9" Type="http://schemas.openxmlformats.org/officeDocument/2006/relationships/image" Target="../media/image3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50.png"/><Relationship Id="rId7" Type="http://schemas.openxmlformats.org/officeDocument/2006/relationships/image" Target="../media/image510.png"/><Relationship Id="rId12" Type="http://schemas.openxmlformats.org/officeDocument/2006/relationships/image" Target="../media/image4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420.png"/><Relationship Id="rId5" Type="http://schemas.openxmlformats.org/officeDocument/2006/relationships/image" Target="../media/image370.png"/><Relationship Id="rId10" Type="http://schemas.openxmlformats.org/officeDocument/2006/relationships/image" Target="../media/image410.png"/><Relationship Id="rId4" Type="http://schemas.openxmlformats.org/officeDocument/2006/relationships/image" Target="../media/image52.png"/><Relationship Id="rId9" Type="http://schemas.openxmlformats.org/officeDocument/2006/relationships/image" Target="../media/image5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4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5.png"/><Relationship Id="rId9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2FA912-BD1E-4903-9A8F-9367E854EF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大喜利生成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の実装に関する研究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DCD585-0F96-4C46-984D-CA6202A89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968" y="5083727"/>
            <a:ext cx="11818064" cy="891715"/>
          </a:xfrm>
        </p:spPr>
        <p:txBody>
          <a:bodyPr/>
          <a:lstStyle/>
          <a:p>
            <a:r>
              <a:rPr lang="ja-JP" altLang="en-US" dirty="0"/>
              <a:t>湘南工科大学</a:t>
            </a:r>
            <a:endParaRPr lang="en-US" altLang="ja-JP" dirty="0"/>
          </a:p>
          <a:p>
            <a:r>
              <a:rPr kumimoji="1" lang="ja-JP" altLang="en-US" dirty="0"/>
              <a:t>◎山富 龍</a:t>
            </a:r>
            <a:r>
              <a:rPr kumimoji="1" lang="en-US" altLang="ja-JP" dirty="0"/>
              <a:t>,</a:t>
            </a:r>
            <a:r>
              <a:rPr kumimoji="1" lang="ja-JP" altLang="en-US" dirty="0"/>
              <a:t> マハブービ シェヘラザード</a:t>
            </a:r>
            <a:r>
              <a:rPr kumimoji="1" lang="en-US" altLang="ja-JP" dirty="0"/>
              <a:t>,</a:t>
            </a:r>
            <a:r>
              <a:rPr kumimoji="1" lang="ja-JP" altLang="en-US" dirty="0"/>
              <a:t> 二宮 洋</a:t>
            </a:r>
          </a:p>
        </p:txBody>
      </p:sp>
    </p:spTree>
    <p:extLst>
      <p:ext uri="{BB962C8B-B14F-4D97-AF65-F5344CB8AC3E}">
        <p14:creationId xmlns:p14="http://schemas.microsoft.com/office/powerpoint/2010/main" val="43504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8804A-A0D4-4EE7-F7A5-961FB9CE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D7DA69-BC89-5229-CC48-B9DCE144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近年</a:t>
            </a:r>
            <a:r>
              <a:rPr kumimoji="1" lang="en-US" altLang="ja-JP" dirty="0"/>
              <a:t>,</a:t>
            </a:r>
            <a:r>
              <a:rPr kumimoji="1" lang="ja-JP" altLang="en-US"/>
              <a:t> </a:t>
            </a:r>
            <a:r>
              <a:rPr kumimoji="1" lang="en-US" altLang="ja-JP" dirty="0"/>
              <a:t>AI</a:t>
            </a:r>
            <a:r>
              <a:rPr kumimoji="1" lang="ja-JP" altLang="en-US"/>
              <a:t>の</a:t>
            </a:r>
            <a:r>
              <a:rPr kumimoji="1" lang="ja-JP" altLang="en-US" dirty="0"/>
              <a:t>活用分野は多岐にわたる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1B695A-CD98-CFBC-BD90-EAB82F47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</a:t>
            </a:fld>
            <a:endParaRPr kumimoji="1" lang="ja-JP" altLang="en-US"/>
          </a:p>
        </p:txBody>
      </p:sp>
      <p:pic>
        <p:nvPicPr>
          <p:cNvPr id="5" name="Picture 2" descr="フリー写真 心電図と聴診器">
            <a:extLst>
              <a:ext uri="{FF2B5EF4-FFF2-40B4-BE49-F238E27FC236}">
                <a16:creationId xmlns:a16="http://schemas.microsoft.com/office/drawing/2014/main" id="{D88583E0-6C0C-3D73-4A20-C32A71CBF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19" y="2554218"/>
            <a:ext cx="1792177" cy="1792446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1799373-E3CB-15DA-9970-3759E0A56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589" y="1754204"/>
            <a:ext cx="1736847" cy="1792446"/>
          </a:xfrm>
          <a:prstGeom prst="ellipse">
            <a:avLst/>
          </a:prstGeom>
          <a:noFill/>
          <a:ln w="3810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無料絵画] フィンセント・ファン・ゴッホ 「星月夜」 （1889） - パブリックドメインQ：著作権フリー画像素材集">
            <a:extLst>
              <a:ext uri="{FF2B5EF4-FFF2-40B4-BE49-F238E27FC236}">
                <a16:creationId xmlns:a16="http://schemas.microsoft.com/office/drawing/2014/main" id="{700795BB-7DF1-CD5B-EB19-8874BF90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422" y="2554218"/>
            <a:ext cx="1793063" cy="1792446"/>
          </a:xfrm>
          <a:prstGeom prst="ellipse">
            <a:avLst/>
          </a:prstGeom>
          <a:noFill/>
          <a:ln w="38100">
            <a:solidFill>
              <a:srgbClr val="5BD4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二歩で反則負け（将棋）の写真">
            <a:extLst>
              <a:ext uri="{FF2B5EF4-FFF2-40B4-BE49-F238E27FC236}">
                <a16:creationId xmlns:a16="http://schemas.microsoft.com/office/drawing/2014/main" id="{1DC8089E-5F9A-326E-29A9-62027673B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 r="33419" b="-3"/>
          <a:stretch/>
        </p:blipFill>
        <p:spPr bwMode="auto">
          <a:xfrm>
            <a:off x="7546839" y="1754204"/>
            <a:ext cx="1790696" cy="1792446"/>
          </a:xfrm>
          <a:prstGeom prst="ellipse">
            <a:avLst/>
          </a:prstGeom>
          <a:noFill/>
          <a:ln w="38100">
            <a:solidFill>
              <a:srgbClr val="D883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2021年最新版】チャットボットを無料で導入できるツール6選 | QEEE">
            <a:extLst>
              <a:ext uri="{FF2B5EF4-FFF2-40B4-BE49-F238E27FC236}">
                <a16:creationId xmlns:a16="http://schemas.microsoft.com/office/drawing/2014/main" id="{A930578D-8EE6-C55B-896D-5EBD21A2F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0" r="21047"/>
          <a:stretch/>
        </p:blipFill>
        <p:spPr bwMode="auto">
          <a:xfrm>
            <a:off x="9956462" y="2554218"/>
            <a:ext cx="1792879" cy="1792446"/>
          </a:xfrm>
          <a:prstGeom prst="ellipse">
            <a:avLst/>
          </a:prstGeom>
          <a:noFill/>
          <a:ln w="38100">
            <a:solidFill>
              <a:srgbClr val="8285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BAC3C16-DD55-34BA-5243-31E72A2BD9D7}"/>
              </a:ext>
            </a:extLst>
          </p:cNvPr>
          <p:cNvSpPr txBox="1"/>
          <p:nvPr/>
        </p:nvSpPr>
        <p:spPr>
          <a:xfrm>
            <a:off x="875878" y="4346664"/>
            <a:ext cx="102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医療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583B5F-4649-649F-936C-93A5393F3946}"/>
              </a:ext>
            </a:extLst>
          </p:cNvPr>
          <p:cNvSpPr txBox="1"/>
          <p:nvPr/>
        </p:nvSpPr>
        <p:spPr>
          <a:xfrm>
            <a:off x="2893920" y="3567438"/>
            <a:ext cx="1697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12700">
                  <a:noFill/>
                </a:ln>
              </a:rPr>
              <a:t>証券取引</a:t>
            </a:r>
            <a:endParaRPr kumimoji="1" lang="ja-JP" altLang="en-US" sz="2800" dirty="0" err="1">
              <a:ln w="12700">
                <a:noFill/>
              </a:ln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A78AEE-E76D-F821-063C-29F65DD7417E}"/>
              </a:ext>
            </a:extLst>
          </p:cNvPr>
          <p:cNvSpPr txBox="1"/>
          <p:nvPr/>
        </p:nvSpPr>
        <p:spPr>
          <a:xfrm>
            <a:off x="5582194" y="4346664"/>
            <a:ext cx="102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芸術</a:t>
            </a:r>
            <a:endParaRPr kumimoji="1" lang="ja-JP" altLang="en-US" sz="2800" dirty="0" err="1">
              <a:ln w="3175">
                <a:noFill/>
              </a:ln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F758A4-4E7C-28C4-5D8C-3AFFEA2A2DEA}"/>
              </a:ext>
            </a:extLst>
          </p:cNvPr>
          <p:cNvSpPr txBox="1"/>
          <p:nvPr/>
        </p:nvSpPr>
        <p:spPr>
          <a:xfrm>
            <a:off x="7804643" y="3567438"/>
            <a:ext cx="128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ゲーム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45626C-824C-03BD-9CC2-3275A79EC1A7}"/>
              </a:ext>
            </a:extLst>
          </p:cNvPr>
          <p:cNvSpPr txBox="1"/>
          <p:nvPr/>
        </p:nvSpPr>
        <p:spPr>
          <a:xfrm>
            <a:off x="10046015" y="4346664"/>
            <a:ext cx="1627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自然言語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3841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8804A-A0D4-4EE7-F7A5-961FB9CE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D7DA69-BC89-5229-CC48-B9DCE144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近年</a:t>
            </a:r>
            <a:r>
              <a:rPr kumimoji="1" lang="en-US" altLang="ja-JP" dirty="0"/>
              <a:t>,</a:t>
            </a:r>
            <a:r>
              <a:rPr kumimoji="1" lang="ja-JP" altLang="en-US"/>
              <a:t> </a:t>
            </a:r>
            <a:r>
              <a:rPr kumimoji="1" lang="en-US" altLang="ja-JP" dirty="0"/>
              <a:t>AI</a:t>
            </a:r>
            <a:r>
              <a:rPr kumimoji="1" lang="ja-JP" altLang="en-US"/>
              <a:t>の</a:t>
            </a:r>
            <a:r>
              <a:rPr kumimoji="1" lang="ja-JP" altLang="en-US" dirty="0"/>
              <a:t>活用分野は多岐にわたる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芸能</a:t>
            </a:r>
            <a:r>
              <a:rPr kumimoji="1" lang="en-US" altLang="ja-JP" dirty="0"/>
              <a:t>(</a:t>
            </a:r>
            <a:r>
              <a:rPr kumimoji="1" lang="ja-JP" altLang="en-US"/>
              <a:t>お笑い</a:t>
            </a:r>
            <a:r>
              <a:rPr kumimoji="1" lang="en-US" altLang="ja-JP" dirty="0"/>
              <a:t>)</a:t>
            </a:r>
            <a:r>
              <a:rPr kumimoji="1" lang="ja-JP" altLang="en-US"/>
              <a:t>分野への</a:t>
            </a:r>
            <a:r>
              <a:rPr kumimoji="1" lang="en-US" altLang="ja-JP" dirty="0"/>
              <a:t>AI</a:t>
            </a:r>
            <a:r>
              <a:rPr kumimoji="1" lang="ja-JP" altLang="en-US"/>
              <a:t>の活用例は</a:t>
            </a:r>
            <a:r>
              <a:rPr kumimoji="1" lang="ja-JP" altLang="en-US" dirty="0"/>
              <a:t>少ない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コロナ禍により</a:t>
            </a:r>
            <a:r>
              <a:rPr lang="en-US" altLang="ja-JP" dirty="0"/>
              <a:t>,</a:t>
            </a:r>
            <a:r>
              <a:rPr lang="ja-JP" altLang="en-US" dirty="0"/>
              <a:t> 感染症の恐れの無い笑いの提供が求められる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1B695A-CD98-CFBC-BD90-EAB82F47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5" name="Picture 2" descr="フリー写真 心電図と聴診器">
            <a:extLst>
              <a:ext uri="{FF2B5EF4-FFF2-40B4-BE49-F238E27FC236}">
                <a16:creationId xmlns:a16="http://schemas.microsoft.com/office/drawing/2014/main" id="{D88583E0-6C0C-3D73-4A20-C32A71CBF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19" y="2554218"/>
            <a:ext cx="1792177" cy="1792446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1799373-E3CB-15DA-9970-3759E0A56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589" y="1754204"/>
            <a:ext cx="1736847" cy="1792446"/>
          </a:xfrm>
          <a:prstGeom prst="ellipse">
            <a:avLst/>
          </a:prstGeom>
          <a:noFill/>
          <a:ln w="3810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無料絵画] フィンセント・ファン・ゴッホ 「星月夜」 （1889） - パブリックドメインQ：著作権フリー画像素材集">
            <a:extLst>
              <a:ext uri="{FF2B5EF4-FFF2-40B4-BE49-F238E27FC236}">
                <a16:creationId xmlns:a16="http://schemas.microsoft.com/office/drawing/2014/main" id="{700795BB-7DF1-CD5B-EB19-8874BF90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422" y="2554218"/>
            <a:ext cx="1793063" cy="1792446"/>
          </a:xfrm>
          <a:prstGeom prst="ellipse">
            <a:avLst/>
          </a:prstGeom>
          <a:noFill/>
          <a:ln w="38100">
            <a:solidFill>
              <a:srgbClr val="5BD4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二歩で反則負け（将棋）の写真">
            <a:extLst>
              <a:ext uri="{FF2B5EF4-FFF2-40B4-BE49-F238E27FC236}">
                <a16:creationId xmlns:a16="http://schemas.microsoft.com/office/drawing/2014/main" id="{1DC8089E-5F9A-326E-29A9-62027673B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 r="33419" b="-3"/>
          <a:stretch/>
        </p:blipFill>
        <p:spPr bwMode="auto">
          <a:xfrm>
            <a:off x="7546839" y="1754204"/>
            <a:ext cx="1790696" cy="1792446"/>
          </a:xfrm>
          <a:prstGeom prst="ellipse">
            <a:avLst/>
          </a:prstGeom>
          <a:noFill/>
          <a:ln w="38100">
            <a:solidFill>
              <a:srgbClr val="D883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2021年最新版】チャットボットを無料で導入できるツール6選 | QEEE">
            <a:extLst>
              <a:ext uri="{FF2B5EF4-FFF2-40B4-BE49-F238E27FC236}">
                <a16:creationId xmlns:a16="http://schemas.microsoft.com/office/drawing/2014/main" id="{A930578D-8EE6-C55B-896D-5EBD21A2F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0" r="21047"/>
          <a:stretch/>
        </p:blipFill>
        <p:spPr bwMode="auto">
          <a:xfrm>
            <a:off x="9956462" y="2554218"/>
            <a:ext cx="1792879" cy="1792446"/>
          </a:xfrm>
          <a:prstGeom prst="ellipse">
            <a:avLst/>
          </a:prstGeom>
          <a:noFill/>
          <a:ln w="38100">
            <a:solidFill>
              <a:srgbClr val="8285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BAC3C16-DD55-34BA-5243-31E72A2BD9D7}"/>
              </a:ext>
            </a:extLst>
          </p:cNvPr>
          <p:cNvSpPr txBox="1"/>
          <p:nvPr/>
        </p:nvSpPr>
        <p:spPr>
          <a:xfrm>
            <a:off x="875878" y="4346664"/>
            <a:ext cx="102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医療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583B5F-4649-649F-936C-93A5393F3946}"/>
              </a:ext>
            </a:extLst>
          </p:cNvPr>
          <p:cNvSpPr txBox="1"/>
          <p:nvPr/>
        </p:nvSpPr>
        <p:spPr>
          <a:xfrm>
            <a:off x="2893920" y="3567438"/>
            <a:ext cx="1697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12700">
                  <a:noFill/>
                </a:ln>
              </a:rPr>
              <a:t>証券取引</a:t>
            </a:r>
            <a:endParaRPr kumimoji="1" lang="ja-JP" altLang="en-US" sz="2800" dirty="0" err="1">
              <a:ln w="12700">
                <a:noFill/>
              </a:ln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A78AEE-E76D-F821-063C-29F65DD7417E}"/>
              </a:ext>
            </a:extLst>
          </p:cNvPr>
          <p:cNvSpPr txBox="1"/>
          <p:nvPr/>
        </p:nvSpPr>
        <p:spPr>
          <a:xfrm>
            <a:off x="5582194" y="4346664"/>
            <a:ext cx="102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芸術</a:t>
            </a:r>
            <a:endParaRPr kumimoji="1" lang="ja-JP" altLang="en-US" sz="2800" dirty="0" err="1">
              <a:ln w="3175">
                <a:noFill/>
              </a:ln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F758A4-4E7C-28C4-5D8C-3AFFEA2A2DEA}"/>
              </a:ext>
            </a:extLst>
          </p:cNvPr>
          <p:cNvSpPr txBox="1"/>
          <p:nvPr/>
        </p:nvSpPr>
        <p:spPr>
          <a:xfrm>
            <a:off x="7804643" y="3567438"/>
            <a:ext cx="128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ゲーム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45626C-824C-03BD-9CC2-3275A79EC1A7}"/>
              </a:ext>
            </a:extLst>
          </p:cNvPr>
          <p:cNvSpPr txBox="1"/>
          <p:nvPr/>
        </p:nvSpPr>
        <p:spPr>
          <a:xfrm>
            <a:off x="10046015" y="4346664"/>
            <a:ext cx="1627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自然言語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3279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AC300A-8ED5-ED94-57B8-1A6E158B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04A907-D356-8D03-B095-5869350C2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画像に対し大喜利を生成する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を実装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A11ACF-FE6D-6671-A6D1-02543BBB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90D8F06-C0EB-E7F6-B1BB-27D5DE17B667}"/>
              </a:ext>
            </a:extLst>
          </p:cNvPr>
          <p:cNvSpPr/>
          <p:nvPr/>
        </p:nvSpPr>
        <p:spPr>
          <a:xfrm>
            <a:off x="462281" y="2114026"/>
            <a:ext cx="11267439" cy="4043494"/>
          </a:xfrm>
          <a:prstGeom prst="roundRect">
            <a:avLst>
              <a:gd name="adj" fmla="val 3581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6" name="図 5" descr="口を開けている赤ちゃん">
            <a:extLst>
              <a:ext uri="{FF2B5EF4-FFF2-40B4-BE49-F238E27FC236}">
                <a16:creationId xmlns:a16="http://schemas.microsoft.com/office/drawing/2014/main" id="{4E21198D-BF9F-636D-CCE9-8C05E95BB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20" y="2694862"/>
            <a:ext cx="2123939" cy="21204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8" name="グラフィックス 7" descr="人工知能 枠線">
            <a:extLst>
              <a:ext uri="{FF2B5EF4-FFF2-40B4-BE49-F238E27FC236}">
                <a16:creationId xmlns:a16="http://schemas.microsoft.com/office/drawing/2014/main" id="{2F805594-7288-3FF4-6718-5702578E7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4031" y="2694862"/>
            <a:ext cx="2123938" cy="212393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A3B5251-2A64-7D35-5622-EC49899640FB}"/>
              </a:ext>
            </a:extLst>
          </p:cNvPr>
          <p:cNvSpPr txBox="1"/>
          <p:nvPr/>
        </p:nvSpPr>
        <p:spPr>
          <a:xfrm>
            <a:off x="8819301" y="3216453"/>
            <a:ext cx="23942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一応授業</a:t>
            </a:r>
            <a:endParaRPr kumimoji="1" lang="en-US" altLang="ja-JP" sz="3200" dirty="0"/>
          </a:p>
          <a:p>
            <a:pPr algn="ctr"/>
            <a:r>
              <a:rPr kumimoji="1" lang="ja-JP" altLang="en-US" sz="3200" dirty="0"/>
              <a:t>聞いてるフリ</a:t>
            </a:r>
          </a:p>
        </p:txBody>
      </p:sp>
      <p:sp>
        <p:nvSpPr>
          <p:cNvPr id="10" name="右矢印 12">
            <a:extLst>
              <a:ext uri="{FF2B5EF4-FFF2-40B4-BE49-F238E27FC236}">
                <a16:creationId xmlns:a16="http://schemas.microsoft.com/office/drawing/2014/main" id="{4356CD65-F5D4-285D-6717-A55353865351}"/>
              </a:ext>
            </a:extLst>
          </p:cNvPr>
          <p:cNvSpPr/>
          <p:nvPr/>
        </p:nvSpPr>
        <p:spPr>
          <a:xfrm>
            <a:off x="3663936" y="3357152"/>
            <a:ext cx="1149532" cy="74240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入力</a:t>
            </a:r>
          </a:p>
        </p:txBody>
      </p:sp>
      <p:sp>
        <p:nvSpPr>
          <p:cNvPr id="11" name="右矢印 12">
            <a:extLst>
              <a:ext uri="{FF2B5EF4-FFF2-40B4-BE49-F238E27FC236}">
                <a16:creationId xmlns:a16="http://schemas.microsoft.com/office/drawing/2014/main" id="{45783684-E7E3-D359-A677-EB0C37738FC2}"/>
              </a:ext>
            </a:extLst>
          </p:cNvPr>
          <p:cNvSpPr/>
          <p:nvPr/>
        </p:nvSpPr>
        <p:spPr>
          <a:xfrm>
            <a:off x="7378532" y="3383859"/>
            <a:ext cx="1149532" cy="74240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出力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0BD359-F168-326A-3F50-6DE219BDB74C}"/>
              </a:ext>
            </a:extLst>
          </p:cNvPr>
          <p:cNvSpPr txBox="1"/>
          <p:nvPr/>
        </p:nvSpPr>
        <p:spPr>
          <a:xfrm>
            <a:off x="1465622" y="5005080"/>
            <a:ext cx="114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画像</a:t>
            </a:r>
            <a:endParaRPr kumimoji="1" lang="ja-JP" altLang="en-US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B395EDE-4FC1-A6D2-D978-A7C6FEFDE5B4}"/>
              </a:ext>
            </a:extLst>
          </p:cNvPr>
          <p:cNvSpPr txBox="1"/>
          <p:nvPr/>
        </p:nvSpPr>
        <p:spPr>
          <a:xfrm>
            <a:off x="5521233" y="5005079"/>
            <a:ext cx="114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/>
              <a:t>AI</a:t>
            </a:r>
            <a:endParaRPr kumimoji="1" lang="ja-JP" altLang="en-US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75ACA1-E0D0-40A2-7BB6-35886E911837}"/>
              </a:ext>
            </a:extLst>
          </p:cNvPr>
          <p:cNvSpPr txBox="1"/>
          <p:nvPr/>
        </p:nvSpPr>
        <p:spPr>
          <a:xfrm>
            <a:off x="9441673" y="5005079"/>
            <a:ext cx="114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大喜利</a:t>
            </a:r>
            <a:endParaRPr kumimoji="1" lang="ja-JP" altLang="en-US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B884F7-6521-5123-3C3D-8F01AC8B67D6}"/>
              </a:ext>
            </a:extLst>
          </p:cNvPr>
          <p:cNvSpPr txBox="1"/>
          <p:nvPr/>
        </p:nvSpPr>
        <p:spPr>
          <a:xfrm>
            <a:off x="4351086" y="5895910"/>
            <a:ext cx="350660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AI</a:t>
            </a:r>
            <a:r>
              <a:rPr lang="ja-JP" altLang="en-US" sz="2800" dirty="0"/>
              <a:t>の入出力イメージ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5558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383A2-8C28-9696-804D-3BFDF311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600" spc="-200" dirty="0"/>
              <a:t>Neural Joking Machine : Humorous Image Caption</a:t>
            </a:r>
            <a:r>
              <a:rPr lang="en-US" altLang="ja-JP" sz="3600" spc="-200" dirty="0"/>
              <a:t>[1]</a:t>
            </a:r>
            <a:endParaRPr kumimoji="1" lang="ja-JP" altLang="en-US" sz="3600" spc="-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F29533-B4C2-2749-49C4-3E3078E8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>
                <a:solidFill>
                  <a:srgbClr val="FF0000"/>
                </a:solidFill>
              </a:rPr>
              <a:t>bokete</a:t>
            </a:r>
            <a:r>
              <a:rPr kumimoji="1" lang="ja-JP" altLang="en-US" dirty="0"/>
              <a:t>のデータをスクレイピングし</a:t>
            </a:r>
            <a:r>
              <a:rPr kumimoji="1" lang="en-US" altLang="ja-JP" dirty="0"/>
              <a:t>,</a:t>
            </a:r>
            <a:r>
              <a:rPr kumimoji="1" lang="ja-JP" altLang="en-US" dirty="0"/>
              <a:t> 画像⇆大喜利データセットを作成</a:t>
            </a:r>
            <a:endParaRPr kumimoji="1" lang="en-US" altLang="ja-JP" dirty="0"/>
          </a:p>
          <a:p>
            <a:r>
              <a:rPr lang="ja-JP" altLang="en-US" dirty="0"/>
              <a:t>作成したデータセットを</a:t>
            </a:r>
            <a:r>
              <a:rPr lang="en-US" altLang="ja-JP" dirty="0"/>
              <a:t>Pix2Seq</a:t>
            </a:r>
            <a:r>
              <a:rPr lang="ja-JP" altLang="en-US" dirty="0"/>
              <a:t>で学習</a:t>
            </a:r>
            <a:endParaRPr lang="en-US" altLang="ja-JP" dirty="0"/>
          </a:p>
          <a:p>
            <a:r>
              <a:rPr kumimoji="1" lang="ja-JP" altLang="en-US" dirty="0"/>
              <a:t>アンケートにより実装した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の大喜利の面白さを評価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2369A7-D486-D151-7D62-FC057F1B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CA526F-E62C-020C-FCE2-800FD09730F3}"/>
              </a:ext>
            </a:extLst>
          </p:cNvPr>
          <p:cNvSpPr txBox="1"/>
          <p:nvPr/>
        </p:nvSpPr>
        <p:spPr>
          <a:xfrm>
            <a:off x="4022518" y="5613560"/>
            <a:ext cx="41469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/>
              <a:t>[1]</a:t>
            </a:r>
            <a:r>
              <a:rPr kumimoji="1" lang="ja-JP" altLang="en-US" sz="2800" dirty="0"/>
              <a:t>の大喜利</a:t>
            </a:r>
            <a:r>
              <a:rPr kumimoji="1" lang="en-US" altLang="ja-JP" sz="2800" dirty="0"/>
              <a:t>AI</a:t>
            </a:r>
            <a:r>
              <a:rPr kumimoji="1" lang="ja-JP" altLang="en-US" sz="2800" dirty="0"/>
              <a:t>の生成例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061A8B-D42C-0822-83D6-FA086177C45B}"/>
              </a:ext>
            </a:extLst>
          </p:cNvPr>
          <p:cNvSpPr txBox="1"/>
          <p:nvPr/>
        </p:nvSpPr>
        <p:spPr>
          <a:xfrm>
            <a:off x="635732" y="6295644"/>
            <a:ext cx="1092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1100" dirty="0"/>
              <a:t>[1]Y, Kota, et al. "Neural joking machine: Humorous image captioning." </a:t>
            </a:r>
            <a:r>
              <a:rPr lang="en" altLang="ja-JP" sz="1100" dirty="0" err="1"/>
              <a:t>arXiv</a:t>
            </a:r>
            <a:r>
              <a:rPr lang="en" altLang="ja-JP" sz="1100" dirty="0"/>
              <a:t> preprint arXiv:1805.11850 (2018).</a:t>
            </a:r>
            <a:endParaRPr lang="ja-JP" altLang="en-US" sz="11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AABE8BB9-B0E7-FC36-09FB-9718A9229281}"/>
              </a:ext>
            </a:extLst>
          </p:cNvPr>
          <p:cNvGrpSpPr/>
          <p:nvPr/>
        </p:nvGrpSpPr>
        <p:grpSpPr>
          <a:xfrm>
            <a:off x="1652400" y="2833961"/>
            <a:ext cx="8887199" cy="2594017"/>
            <a:chOff x="1806767" y="2782214"/>
            <a:chExt cx="8887199" cy="2594017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53C49EC-08AA-E30B-A032-3A5EAB0FEA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19" t="57802" r="81231" b="10553"/>
            <a:stretch/>
          </p:blipFill>
          <p:spPr>
            <a:xfrm>
              <a:off x="1806767" y="2782214"/>
              <a:ext cx="1949986" cy="2594017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1C216BE-E775-1572-2C1E-6A961ACFC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2993" t="57802" r="6248" b="10400"/>
            <a:stretch/>
          </p:blipFill>
          <p:spPr>
            <a:xfrm>
              <a:off x="6830458" y="2782214"/>
              <a:ext cx="3863508" cy="2594017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B685E66A-299E-DA08-8F8B-D3F21877D2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651" t="32923" r="67907" b="41979"/>
            <a:stretch/>
          </p:blipFill>
          <p:spPr>
            <a:xfrm>
              <a:off x="4015648" y="2782214"/>
              <a:ext cx="2616571" cy="2594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10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E26EC-5941-42A1-17F7-7B3ADD2D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 err="1"/>
              <a:t>bokete</a:t>
            </a:r>
            <a:r>
              <a:rPr kumimoji="1" lang="en-US" altLang="ja-JP" dirty="0"/>
              <a:t>[2]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C426C7-F04F-E61D-F836-8C37FD573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7972" y="1085039"/>
            <a:ext cx="5001748" cy="5286633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画像に対し大喜利を投稿する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サービス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総データ</a:t>
            </a:r>
            <a:endParaRPr lang="en-US" altLang="ja-JP" dirty="0"/>
          </a:p>
          <a:p>
            <a:pPr marL="457200" lvl="1" indent="0">
              <a:buNone/>
            </a:pPr>
            <a:r>
              <a:rPr kumimoji="1" lang="ja-JP" altLang="en-US" dirty="0"/>
              <a:t>お題画像</a:t>
            </a:r>
            <a:r>
              <a:rPr kumimoji="1" lang="en-US" altLang="ja-JP" sz="2000" dirty="0"/>
              <a:t> </a:t>
            </a:r>
            <a:r>
              <a:rPr kumimoji="1" lang="en-US" altLang="ja-JP" dirty="0"/>
              <a:t>: </a:t>
            </a:r>
            <a:r>
              <a:rPr kumimoji="1" lang="ja-JP" altLang="en-US" dirty="0"/>
              <a:t>約</a:t>
            </a:r>
            <a:r>
              <a:rPr kumimoji="1" lang="en-US" altLang="ja-JP" dirty="0"/>
              <a:t>700</a:t>
            </a:r>
            <a:r>
              <a:rPr kumimoji="1" lang="ja-JP" altLang="en-US" dirty="0"/>
              <a:t>万枚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spc="100" dirty="0"/>
              <a:t>大 喜 利</a:t>
            </a:r>
            <a:r>
              <a:rPr lang="en-US" altLang="ja-JP" spc="100" dirty="0"/>
              <a:t> </a:t>
            </a:r>
            <a:r>
              <a:rPr lang="en-US" altLang="ja-JP" dirty="0"/>
              <a:t>: </a:t>
            </a:r>
            <a:r>
              <a:rPr lang="ja-JP" altLang="en-US" dirty="0"/>
              <a:t>約</a:t>
            </a:r>
            <a:r>
              <a:rPr lang="en-US" altLang="ja-JP" dirty="0"/>
              <a:t>1</a:t>
            </a:r>
            <a:r>
              <a:rPr lang="ja-JP" altLang="en-US" dirty="0"/>
              <a:t>億文章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B9E076-BD9B-BCF9-A13E-F8DC739C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78CA75-BFF6-A8AE-DC0C-8A1CCFAFC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34" y="1230079"/>
            <a:ext cx="5868052" cy="423647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BD9C4EF-A83F-CBB5-DD27-EE74EA294ABE}"/>
              </a:ext>
            </a:extLst>
          </p:cNvPr>
          <p:cNvSpPr txBox="1"/>
          <p:nvPr/>
        </p:nvSpPr>
        <p:spPr>
          <a:xfrm>
            <a:off x="1205379" y="5505557"/>
            <a:ext cx="41469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/>
              <a:t>bokete</a:t>
            </a:r>
            <a:r>
              <a:rPr lang="ja-JP" altLang="en-US" sz="2800" dirty="0"/>
              <a:t>の</a:t>
            </a:r>
            <a:r>
              <a:rPr lang="en-US" altLang="ja-JP" sz="2800" dirty="0"/>
              <a:t>Web</a:t>
            </a:r>
            <a:r>
              <a:rPr lang="ja-JP" altLang="en-US" sz="2800"/>
              <a:t>サイト</a:t>
            </a:r>
            <a:r>
              <a:rPr lang="en-US" altLang="ja-JP" sz="2800" dirty="0"/>
              <a:t>[2]</a:t>
            </a:r>
            <a:endParaRPr kumimoji="1" lang="ja-JP" altLang="en-US" sz="2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F40BD8-0C3F-2ECB-53D5-42060158DF7E}"/>
              </a:ext>
            </a:extLst>
          </p:cNvPr>
          <p:cNvSpPr txBox="1"/>
          <p:nvPr/>
        </p:nvSpPr>
        <p:spPr>
          <a:xfrm>
            <a:off x="635732" y="6295644"/>
            <a:ext cx="1092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1100" dirty="0"/>
              <a:t>[2]</a:t>
            </a:r>
            <a:r>
              <a:rPr lang="ja-JP" altLang="en-US" sz="1100" b="0" i="0" dirty="0">
                <a:solidFill>
                  <a:srgbClr val="333333"/>
                </a:solidFill>
                <a:effectLst/>
                <a:latin typeface="Helvetica Neue"/>
              </a:rPr>
              <a:t>株式会社オモロキ</a:t>
            </a:r>
            <a:r>
              <a:rPr lang="en-US" altLang="ja-JP" sz="1100" b="0" i="0" dirty="0">
                <a:solidFill>
                  <a:srgbClr val="333333"/>
                </a:solidFill>
                <a:effectLst/>
                <a:latin typeface="Helvetica Neue"/>
              </a:rPr>
              <a:t>, “</a:t>
            </a:r>
            <a:r>
              <a:rPr lang="en-US" altLang="ja-JP" sz="1100" b="0" i="0" dirty="0" err="1">
                <a:solidFill>
                  <a:srgbClr val="333333"/>
                </a:solidFill>
                <a:effectLst/>
                <a:latin typeface="Helvetica Neue"/>
              </a:rPr>
              <a:t>bokete</a:t>
            </a:r>
            <a:r>
              <a:rPr lang="en-US" altLang="ja-JP" sz="1100" b="0" i="0" dirty="0">
                <a:solidFill>
                  <a:srgbClr val="333333"/>
                </a:solidFill>
                <a:effectLst/>
                <a:latin typeface="Helvetica Neue"/>
              </a:rPr>
              <a:t>”, https://bokete.jp/(</a:t>
            </a:r>
            <a:r>
              <a:rPr lang="ja-JP" altLang="en-US" sz="1100" b="0" i="0" dirty="0">
                <a:solidFill>
                  <a:srgbClr val="333333"/>
                </a:solidFill>
                <a:effectLst/>
                <a:latin typeface="Helvetica Neue"/>
              </a:rPr>
              <a:t>最終アクセス</a:t>
            </a:r>
            <a:r>
              <a:rPr lang="en-US" altLang="ja-JP" sz="1100" dirty="0">
                <a:solidFill>
                  <a:srgbClr val="333333"/>
                </a:solidFill>
                <a:latin typeface="Helvetica Neue"/>
              </a:rPr>
              <a:t>:2022/12/13</a:t>
            </a:r>
            <a:r>
              <a:rPr lang="en-US" altLang="ja-JP" sz="1100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96026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383A2-8C28-9696-804D-3BFDF311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600" spc="-200" dirty="0"/>
              <a:t>Neural Joking Machine : Humorous Image Caption</a:t>
            </a:r>
            <a:r>
              <a:rPr lang="en-US" altLang="ja-JP" sz="3600" spc="-200" dirty="0"/>
              <a:t>[1]</a:t>
            </a:r>
            <a:endParaRPr kumimoji="1" lang="ja-JP" altLang="en-US" sz="3600" spc="-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F29533-B4C2-2749-49C4-3E3078E8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bokete</a:t>
            </a:r>
            <a:r>
              <a:rPr kumimoji="1" lang="ja-JP" altLang="en-US" dirty="0"/>
              <a:t>のデータをスクレイピングし</a:t>
            </a:r>
            <a:r>
              <a:rPr kumimoji="1" lang="en-US" altLang="ja-JP" dirty="0"/>
              <a:t>,</a:t>
            </a:r>
            <a:r>
              <a:rPr kumimoji="1" lang="ja-JP" altLang="en-US" dirty="0"/>
              <a:t> 画像⇆大喜利データセットを作成</a:t>
            </a:r>
            <a:endParaRPr kumimoji="1" lang="en-US" altLang="ja-JP" dirty="0"/>
          </a:p>
          <a:p>
            <a:r>
              <a:rPr lang="ja-JP" altLang="en-US" dirty="0"/>
              <a:t>作成したデータセットを</a:t>
            </a:r>
            <a:r>
              <a:rPr lang="en-US" altLang="ja-JP" dirty="0">
                <a:solidFill>
                  <a:srgbClr val="FF0000"/>
                </a:solidFill>
              </a:rPr>
              <a:t>Pix2Seq</a:t>
            </a:r>
            <a:r>
              <a:rPr lang="ja-JP" altLang="en-US" dirty="0"/>
              <a:t>で学習</a:t>
            </a:r>
            <a:endParaRPr lang="en-US" altLang="ja-JP" dirty="0"/>
          </a:p>
          <a:p>
            <a:r>
              <a:rPr kumimoji="1" lang="ja-JP" altLang="en-US" dirty="0"/>
              <a:t>アンケートにより実装した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の大喜利の面白さを評価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2369A7-D486-D151-7D62-FC057F1B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CA526F-E62C-020C-FCE2-800FD09730F3}"/>
              </a:ext>
            </a:extLst>
          </p:cNvPr>
          <p:cNvSpPr txBox="1"/>
          <p:nvPr/>
        </p:nvSpPr>
        <p:spPr>
          <a:xfrm>
            <a:off x="4022518" y="5613560"/>
            <a:ext cx="41469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/>
              <a:t>[1]</a:t>
            </a:r>
            <a:r>
              <a:rPr kumimoji="1" lang="ja-JP" altLang="en-US" sz="2800" dirty="0"/>
              <a:t>の大喜利</a:t>
            </a:r>
            <a:r>
              <a:rPr kumimoji="1" lang="en-US" altLang="ja-JP" sz="2800" dirty="0"/>
              <a:t>AI</a:t>
            </a:r>
            <a:r>
              <a:rPr kumimoji="1" lang="ja-JP" altLang="en-US" sz="2800" dirty="0"/>
              <a:t>の生成例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061A8B-D42C-0822-83D6-FA086177C45B}"/>
              </a:ext>
            </a:extLst>
          </p:cNvPr>
          <p:cNvSpPr txBox="1"/>
          <p:nvPr/>
        </p:nvSpPr>
        <p:spPr>
          <a:xfrm>
            <a:off x="635732" y="6295644"/>
            <a:ext cx="1092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1100" dirty="0"/>
              <a:t>[1]Y, Kota, et al. "Neural joking machine: Humorous image captioning." </a:t>
            </a:r>
            <a:r>
              <a:rPr lang="en" altLang="ja-JP" sz="1100" dirty="0" err="1"/>
              <a:t>arXiv</a:t>
            </a:r>
            <a:r>
              <a:rPr lang="en" altLang="ja-JP" sz="1100" dirty="0"/>
              <a:t> preprint arXiv:1805.11850 (2018).</a:t>
            </a:r>
            <a:endParaRPr lang="ja-JP" altLang="en-US" sz="11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AABE8BB9-B0E7-FC36-09FB-9718A9229281}"/>
              </a:ext>
            </a:extLst>
          </p:cNvPr>
          <p:cNvGrpSpPr/>
          <p:nvPr/>
        </p:nvGrpSpPr>
        <p:grpSpPr>
          <a:xfrm>
            <a:off x="1652400" y="2833961"/>
            <a:ext cx="8887199" cy="2594017"/>
            <a:chOff x="1806767" y="2782214"/>
            <a:chExt cx="8887199" cy="2594017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53C49EC-08AA-E30B-A032-3A5EAB0FEA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19" t="57802" r="81231" b="10553"/>
            <a:stretch/>
          </p:blipFill>
          <p:spPr>
            <a:xfrm>
              <a:off x="1806767" y="2782214"/>
              <a:ext cx="1949986" cy="2594017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1C216BE-E775-1572-2C1E-6A961ACFC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2993" t="57802" r="6248" b="10400"/>
            <a:stretch/>
          </p:blipFill>
          <p:spPr>
            <a:xfrm>
              <a:off x="6830458" y="2782214"/>
              <a:ext cx="3863508" cy="2594017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B685E66A-299E-DA08-8F8B-D3F21877D2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651" t="32923" r="67907" b="41979"/>
            <a:stretch/>
          </p:blipFill>
          <p:spPr>
            <a:xfrm>
              <a:off x="4015648" y="2782214"/>
              <a:ext cx="2616571" cy="2594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888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C479F-EB81-BDD9-463D-653AFD8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Pix2Seq[3]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46679AF-F610-B7BA-2916-68879D26F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画像を入力とし</a:t>
                </a:r>
                <a:r>
                  <a:rPr kumimoji="1" lang="en-US" altLang="ja-JP" dirty="0"/>
                  <a:t>, </a:t>
                </a:r>
                <a:r>
                  <a:rPr kumimoji="1" lang="ja-JP" altLang="en-US" dirty="0"/>
                  <a:t>文章を出力する</a:t>
                </a:r>
                <a:r>
                  <a:rPr kumimoji="1" lang="en-US" altLang="ja-JP" dirty="0"/>
                  <a:t>AI</a:t>
                </a:r>
              </a:p>
              <a:p>
                <a:pPr marL="457200" lvl="1" indent="0">
                  <a:buNone/>
                </a:pPr>
                <a:r>
                  <a:rPr lang="en-US" altLang="ja-JP" dirty="0"/>
                  <a:t>ex) </a:t>
                </a:r>
                <a:r>
                  <a:rPr lang="ja-JP" altLang="en-US" dirty="0"/>
                  <a:t>画像のキャプション</a:t>
                </a:r>
                <a:endParaRPr lang="en-US" altLang="ja-JP" dirty="0"/>
              </a:p>
              <a:p>
                <a:pPr marL="457200" lvl="1" indent="0">
                  <a:buNone/>
                </a:pPr>
                <a:endParaRPr kumimoji="1"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endParaRPr kumimoji="1"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kumimoji="1" lang="en-US" altLang="ja-JP" dirty="0"/>
                  <a:t> : </a:t>
                </a:r>
                <a:r>
                  <a:rPr kumimoji="1" lang="ja-JP" altLang="en-US" dirty="0"/>
                  <a:t>画像</a:t>
                </a:r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ja-JP" dirty="0"/>
                  <a:t> : </a:t>
                </a:r>
                <a:r>
                  <a:rPr kumimoji="1" lang="ja-JP" altLang="en-US" dirty="0"/>
                  <a:t>文章の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dirty="0"/>
                  <a:t>番目の単語</a:t>
                </a:r>
                <a:endParaRPr kumimoji="1" lang="en-US" altLang="ja-JP" dirty="0"/>
              </a:p>
              <a:p>
                <a:pPr marL="457200" lvl="1" indent="0" algn="ctr">
                  <a:buNone/>
                </a:pPr>
                <a:r>
                  <a:rPr lang="en-US" altLang="ja-JP" dirty="0"/>
                  <a:t>※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dirty="0"/>
                  <a:t>番目の単語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lang="en-US" altLang="ja-JP" dirty="0"/>
                  <a:t>    </a:t>
                </a:r>
                <a:r>
                  <a:rPr lang="ja-JP" altLang="en-US" sz="1100" dirty="0"/>
                  <a:t> </a:t>
                </a:r>
                <a:r>
                  <a:rPr lang="ja-JP" altLang="en-US" dirty="0"/>
                  <a:t>文章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           一応授業聞いてるフリ</a:t>
                </a:r>
                <a:endParaRPr lang="en-US" altLang="ja-JP" dirty="0"/>
              </a:p>
              <a:p>
                <a:pPr marL="457200" lvl="1" indent="0">
                  <a:buNone/>
                </a:pPr>
                <a:r>
                  <a:rPr kumimoji="1" lang="ja-JP" altLang="en-US" dirty="0"/>
                  <a:t>　　</a:t>
                </a:r>
                <a:r>
                  <a:rPr lang="ja-JP" altLang="en-US" dirty="0"/>
                  <a:t> 分かち書き   一応</a:t>
                </a:r>
                <a:r>
                  <a:rPr lang="en-US" altLang="ja-JP" dirty="0"/>
                  <a:t> / </a:t>
                </a:r>
                <a:r>
                  <a:rPr lang="ja-JP" altLang="en-US" dirty="0"/>
                  <a:t>授業</a:t>
                </a:r>
                <a:r>
                  <a:rPr lang="en-US" altLang="ja-JP" dirty="0"/>
                  <a:t> / </a:t>
                </a:r>
                <a:r>
                  <a:rPr lang="ja-JP" altLang="en-US" dirty="0"/>
                  <a:t>聞いてる</a:t>
                </a:r>
                <a:r>
                  <a:rPr lang="en-US" altLang="ja-JP" dirty="0"/>
                  <a:t> / </a:t>
                </a:r>
                <a:r>
                  <a:rPr lang="ja-JP" altLang="en-US" dirty="0"/>
                  <a:t>フリ</a:t>
                </a:r>
                <a:endParaRPr lang="en-US" altLang="ja-JP" dirty="0"/>
              </a:p>
              <a:p>
                <a:pPr marL="457200" lvl="1" indent="0">
                  <a:buNone/>
                </a:pPr>
                <a:r>
                  <a:rPr kumimoji="1" lang="ja-JP" altLang="en-US" dirty="0"/>
                  <a:t>　　</a:t>
                </a:r>
                <a:r>
                  <a:rPr lang="ja-JP" altLang="en-US" dirty="0"/>
                  <a:t> 単語の番号</a:t>
                </a:r>
                <a:endParaRPr kumimoji="1" lang="en-US" altLang="ja-JP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46679AF-F610-B7BA-2916-68879D26F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14" t="-1918" b="-9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743332-5097-0F97-0F67-AFAEDD8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C40CB8A-C818-AC82-958A-BBCA6DF66787}"/>
              </a:ext>
            </a:extLst>
          </p:cNvPr>
          <p:cNvSpPr txBox="1"/>
          <p:nvPr/>
        </p:nvSpPr>
        <p:spPr>
          <a:xfrm>
            <a:off x="462281" y="6304998"/>
            <a:ext cx="1126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ja-JP" sz="1100" dirty="0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[3] O. </a:t>
            </a:r>
            <a:r>
              <a:rPr lang="en-US" altLang="ja-JP" sz="1100" dirty="0" err="1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Vinyals</a:t>
            </a:r>
            <a:r>
              <a:rPr lang="en-US" altLang="ja-JP" sz="1100" dirty="0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, et al. "Show and tell: A neural image caption generator." Proc. IEEE CPVR (2015).</a:t>
            </a:r>
            <a:endParaRPr lang="ja-JP" altLang="ja-JP" sz="1100" dirty="0">
              <a:effectLst/>
              <a:latin typeface="+mj-lt"/>
              <a:ea typeface="ＭＳ 明朝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図 6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1A579251-4993-1007-E186-9FC753C53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06" y="2683732"/>
            <a:ext cx="1054223" cy="105246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/>
              <p:nvPr/>
            </p:nvSpPr>
            <p:spPr>
              <a:xfrm>
                <a:off x="1778915" y="2032002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032002"/>
                <a:ext cx="618480" cy="369332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/>
              <p:nvPr/>
            </p:nvSpPr>
            <p:spPr>
              <a:xfrm rot="5400000">
                <a:off x="4521170" y="2572968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2572968"/>
                <a:ext cx="962952" cy="1258309"/>
              </a:xfrm>
              <a:prstGeom prst="trapezoid">
                <a:avLst/>
              </a:prstGeom>
              <a:blipFill>
                <a:blip r:embed="rId5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/>
              <p:nvPr/>
            </p:nvSpPr>
            <p:spPr>
              <a:xfrm>
                <a:off x="3382258" y="19916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1991625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 l="-8654" r="-28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/>
              <p:nvPr/>
            </p:nvSpPr>
            <p:spPr>
              <a:xfrm>
                <a:off x="5458471" y="19916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1991625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/>
              <p:nvPr/>
            </p:nvSpPr>
            <p:spPr>
              <a:xfrm>
                <a:off x="7481440" y="240133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2401334"/>
                <a:ext cx="1278541" cy="450086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4C65C8-CC66-62D9-E2B6-1130661B79DC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397395" y="2216668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6BD57-D057-8963-8B04-0921BD01A222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2519929" y="3202123"/>
            <a:ext cx="1853563" cy="7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07C81C1-FF6F-2769-DC0F-0CBEC1E3AF81}"/>
              </a:ext>
            </a:extLst>
          </p:cNvPr>
          <p:cNvCxnSpPr>
            <a:cxnSpLocks/>
            <a:stCxn id="9" idx="0"/>
            <a:endCxn id="13" idx="1"/>
          </p:cNvCxnSpPr>
          <p:nvPr/>
        </p:nvCxnSpPr>
        <p:spPr>
          <a:xfrm flipV="1">
            <a:off x="5631801" y="2626377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B5B9BF4-432F-1AC3-2639-200598C72A0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60799" y="2216668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1427FB2-2110-6345-4693-D674D83C233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37012" y="2216668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/>
              <p:nvPr/>
            </p:nvSpPr>
            <p:spPr>
              <a:xfrm>
                <a:off x="9557652" y="2441711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2441711"/>
                <a:ext cx="759691" cy="369332"/>
              </a:xfrm>
              <a:prstGeom prst="rect">
                <a:avLst/>
              </a:prstGeom>
              <a:blipFill>
                <a:blip r:embed="rId9"/>
                <a:stretch>
                  <a:fillRect l="-7258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0C0F05A-AB8A-1080-DCE1-CEA38E44B31E}"/>
              </a:ext>
            </a:extLst>
          </p:cNvPr>
          <p:cNvCxnSpPr>
            <a:cxnSpLocks/>
            <a:stCxn id="13" idx="3"/>
            <a:endCxn id="29" idx="1"/>
          </p:cNvCxnSpPr>
          <p:nvPr/>
        </p:nvCxnSpPr>
        <p:spPr>
          <a:xfrm>
            <a:off x="8759981" y="2626377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/>
              <p:nvPr/>
            </p:nvSpPr>
            <p:spPr>
              <a:xfrm>
                <a:off x="1807110" y="3025299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10" y="3025299"/>
                <a:ext cx="371414" cy="369332"/>
              </a:xfrm>
              <a:prstGeom prst="rect">
                <a:avLst/>
              </a:prstGeom>
              <a:blipFill>
                <a:blip r:embed="rId10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425C4212-DDE0-5626-29CC-29A8C8AD4AEC}"/>
                  </a:ext>
                </a:extLst>
              </p:cNvPr>
              <p:cNvSpPr txBox="1"/>
              <p:nvPr/>
            </p:nvSpPr>
            <p:spPr>
              <a:xfrm>
                <a:off x="3213382" y="5848689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425C4212-DDE0-5626-29CC-29A8C8AD4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382" y="5848689"/>
                <a:ext cx="618480" cy="369332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D9520983-8551-EA3F-17D2-54A46363286C}"/>
                  </a:ext>
                </a:extLst>
              </p:cNvPr>
              <p:cNvSpPr txBox="1"/>
              <p:nvPr/>
            </p:nvSpPr>
            <p:spPr>
              <a:xfrm>
                <a:off x="4112907" y="5848689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D9520983-8551-EA3F-17D2-54A4636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907" y="5848689"/>
                <a:ext cx="618480" cy="369332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BBE223E1-8A08-F52B-D989-4E2BFF718257}"/>
                  </a:ext>
                </a:extLst>
              </p:cNvPr>
              <p:cNvSpPr txBox="1"/>
              <p:nvPr/>
            </p:nvSpPr>
            <p:spPr>
              <a:xfrm>
                <a:off x="5324055" y="5848689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BBE223E1-8A08-F52B-D989-4E2BFF718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055" y="5848689"/>
                <a:ext cx="618480" cy="369332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FCFCF833-0F0A-C5C1-4047-605C5893981D}"/>
                  </a:ext>
                </a:extLst>
              </p:cNvPr>
              <p:cNvSpPr txBox="1"/>
              <p:nvPr/>
            </p:nvSpPr>
            <p:spPr>
              <a:xfrm>
                <a:off x="6424650" y="5852522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FCFCF833-0F0A-C5C1-4047-605C58939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650" y="5852522"/>
                <a:ext cx="618480" cy="369332"/>
              </a:xfrm>
              <a:prstGeom prst="rect">
                <a:avLst/>
              </a:prstGeom>
              <a:blipFill>
                <a:blip r:embed="rId1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9CAE3CE-DE12-5E7C-9A67-8084135848C2}"/>
              </a:ext>
            </a:extLst>
          </p:cNvPr>
          <p:cNvSpPr/>
          <p:nvPr/>
        </p:nvSpPr>
        <p:spPr>
          <a:xfrm>
            <a:off x="1210191" y="1970371"/>
            <a:ext cx="1561763" cy="19509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A896BE4C-33DE-C59E-2E1D-4E7B97B72F3D}"/>
              </a:ext>
            </a:extLst>
          </p:cNvPr>
          <p:cNvSpPr/>
          <p:nvPr/>
        </p:nvSpPr>
        <p:spPr>
          <a:xfrm>
            <a:off x="7335558" y="2229324"/>
            <a:ext cx="1561763" cy="80676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3F2CBDA-9711-DA0B-897D-2E99AF33A8B5}"/>
              </a:ext>
            </a:extLst>
          </p:cNvPr>
          <p:cNvSpPr txBox="1"/>
          <p:nvPr/>
        </p:nvSpPr>
        <p:spPr>
          <a:xfrm>
            <a:off x="1626694" y="3777738"/>
            <a:ext cx="7239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入力</a:t>
            </a:r>
            <a:endParaRPr kumimoji="1" lang="ja-JP" altLang="en-US" sz="2000" dirty="0" err="1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90461EB-02F6-DB3F-EBC0-E39DC50B5DA8}"/>
              </a:ext>
            </a:extLst>
          </p:cNvPr>
          <p:cNvSpPr txBox="1"/>
          <p:nvPr/>
        </p:nvSpPr>
        <p:spPr>
          <a:xfrm>
            <a:off x="7754481" y="2868029"/>
            <a:ext cx="7239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出力</a:t>
            </a: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2B754D0E-A6A1-A78A-B614-25D4F00195AA}"/>
              </a:ext>
            </a:extLst>
          </p:cNvPr>
          <p:cNvCxnSpPr>
            <a:cxnSpLocks/>
            <a:stCxn id="52" idx="0"/>
            <a:endCxn id="13" idx="0"/>
          </p:cNvCxnSpPr>
          <p:nvPr/>
        </p:nvCxnSpPr>
        <p:spPr>
          <a:xfrm>
            <a:off x="8120711" y="1409487"/>
            <a:ext cx="0" cy="9918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853DA433-F77C-595C-31CB-9F77C5DD0E06}"/>
                  </a:ext>
                </a:extLst>
              </p:cNvPr>
              <p:cNvSpPr txBox="1"/>
              <p:nvPr/>
            </p:nvSpPr>
            <p:spPr>
              <a:xfrm>
                <a:off x="6503653" y="1409487"/>
                <a:ext cx="3234116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ja-JP" altLang="en-US" sz="2000" dirty="0"/>
                  <a:t>番目の</a:t>
                </a:r>
                <a:r>
                  <a:rPr kumimoji="1" lang="ja-JP" altLang="en-US" sz="2000"/>
                  <a:t>単語の</a:t>
                </a:r>
                <a:r>
                  <a:rPr lang="ja-JP" altLang="en-US" sz="2000"/>
                  <a:t>確率分布</a:t>
                </a:r>
                <a:endParaRPr kumimoji="1" lang="ja-JP" altLang="en-US" sz="2000" dirty="0"/>
              </a:p>
            </p:txBody>
          </p:sp>
        </mc:Choice>
        <mc:Fallback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853DA433-F77C-595C-31CB-9F77C5DD0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653" y="1409487"/>
                <a:ext cx="3234116" cy="400110"/>
              </a:xfrm>
              <a:prstGeom prst="rect">
                <a:avLst/>
              </a:prstGeom>
              <a:blipFill>
                <a:blip r:embed="rId15"/>
                <a:stretch>
                  <a:fillRect t="-5882" r="-1167" b="-20588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7B447F-EC34-8843-BAD3-D26F42F931C2}"/>
              </a:ext>
            </a:extLst>
          </p:cNvPr>
          <p:cNvSpPr txBox="1"/>
          <p:nvPr/>
        </p:nvSpPr>
        <p:spPr>
          <a:xfrm>
            <a:off x="8082415" y="3422177"/>
            <a:ext cx="3710163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/>
              <a:t>確率分布</a:t>
            </a:r>
            <a:r>
              <a:rPr lang="ja-JP" altLang="en-US" sz="2000" dirty="0"/>
              <a:t>から人間が単語を選択</a:t>
            </a:r>
            <a:endParaRPr lang="en-US" altLang="ja-JP" sz="2000" dirty="0"/>
          </a:p>
          <a:p>
            <a:pPr algn="ctr"/>
            <a:r>
              <a:rPr kumimoji="1" lang="en-US" altLang="ja-JP" sz="2000" dirty="0"/>
              <a:t>(</a:t>
            </a:r>
            <a:r>
              <a:rPr kumimoji="1" lang="ja-JP" altLang="en-US" sz="2000" dirty="0"/>
              <a:t>最大値やルーレット選択</a:t>
            </a:r>
            <a:r>
              <a:rPr kumimoji="1" lang="en-US" altLang="ja-JP" sz="2000" dirty="0"/>
              <a:t>)</a:t>
            </a:r>
            <a:endParaRPr kumimoji="1" lang="ja-JP" altLang="en-US" sz="2000" dirty="0" err="1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5D44D83-0331-9654-C380-E3C604A1F51B}"/>
              </a:ext>
            </a:extLst>
          </p:cNvPr>
          <p:cNvCxnSpPr>
            <a:cxnSpLocks/>
            <a:stCxn id="5" idx="0"/>
            <a:endCxn id="29" idx="2"/>
          </p:cNvCxnSpPr>
          <p:nvPr/>
        </p:nvCxnSpPr>
        <p:spPr>
          <a:xfrm flipV="1">
            <a:off x="9937497" y="2811043"/>
            <a:ext cx="1" cy="61113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 16">
                <a:extLst>
                  <a:ext uri="{FF2B5EF4-FFF2-40B4-BE49-F238E27FC236}">
                    <a16:creationId xmlns:a16="http://schemas.microsoft.com/office/drawing/2014/main" id="{3F408F77-030C-E199-6B35-1F18430137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956280"/>
                  </p:ext>
                </p:extLst>
              </p:nvPr>
            </p:nvGraphicFramePr>
            <p:xfrm>
              <a:off x="1176137" y="5081319"/>
              <a:ext cx="9839725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7945">
                      <a:extLst>
                        <a:ext uri="{9D8B030D-6E8A-4147-A177-3AD203B41FA5}">
                          <a16:colId xmlns:a16="http://schemas.microsoft.com/office/drawing/2014/main" val="3718475189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3345653988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917357622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2457406018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26805262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2000"/>
                            <a:t>文章</a:t>
                          </a:r>
                          <a:endParaRPr kumimoji="1" lang="ja-JP" altLang="en-US" sz="200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2000"/>
                            <a:t>一応授業聞いてるフリ</a:t>
                          </a:r>
                          <a:endParaRPr kumimoji="1" lang="ja-JP" altLang="en-US" sz="200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3707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分かち書き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一応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授業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聞いてる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フリ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387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450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 16">
                <a:extLst>
                  <a:ext uri="{FF2B5EF4-FFF2-40B4-BE49-F238E27FC236}">
                    <a16:creationId xmlns:a16="http://schemas.microsoft.com/office/drawing/2014/main" id="{3F408F77-030C-E199-6B35-1F18430137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956280"/>
                  </p:ext>
                </p:extLst>
              </p:nvPr>
            </p:nvGraphicFramePr>
            <p:xfrm>
              <a:off x="1176137" y="5081319"/>
              <a:ext cx="9839725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7945">
                      <a:extLst>
                        <a:ext uri="{9D8B030D-6E8A-4147-A177-3AD203B41FA5}">
                          <a16:colId xmlns:a16="http://schemas.microsoft.com/office/drawing/2014/main" val="3718475189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3345653988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917357622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2457406018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268052621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2000"/>
                            <a:t>文章</a:t>
                          </a:r>
                          <a:endParaRPr kumimoji="1" lang="ja-JP" altLang="en-US" sz="200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2000"/>
                            <a:t>一応授業聞いてるフリ</a:t>
                          </a:r>
                          <a:endParaRPr kumimoji="1" lang="ja-JP" altLang="en-US" sz="200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37077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分かち書き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一応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授業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聞いてる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フリ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3875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100645" t="-212903" r="-30193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199359" t="-212903" r="-2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301290" t="-212903" r="-10129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401290" t="-212903" r="-1290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4502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75751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C479F-EB81-BDD9-463D-653AFD8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Pix2Seq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6679AF-F610-B7BA-2916-68879D26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743332-5097-0F97-0F67-AFAEDD8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7" name="図 6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1A579251-4993-1007-E186-9FC753C53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06" y="3554075"/>
            <a:ext cx="1054223" cy="105246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/>
              <p:nvPr/>
            </p:nvSpPr>
            <p:spPr>
              <a:xfrm>
                <a:off x="1778915" y="2902345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902345"/>
                <a:ext cx="61848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/>
              <p:nvPr/>
            </p:nvSpPr>
            <p:spPr>
              <a:xfrm rot="5400000">
                <a:off x="4521170" y="3443311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3443311"/>
                <a:ext cx="962952" cy="1258309"/>
              </a:xfrm>
              <a:prstGeom prst="trapezoid">
                <a:avLst/>
              </a:prstGeom>
              <a:blipFill>
                <a:blip r:embed="rId5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/>
              <p:nvPr/>
            </p:nvSpPr>
            <p:spPr>
              <a:xfrm>
                <a:off x="3382258" y="2861968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2861968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 l="-8654" r="-2885"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/>
              <p:nvPr/>
            </p:nvSpPr>
            <p:spPr>
              <a:xfrm>
                <a:off x="5458471" y="2861968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2861968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/>
              <p:nvPr/>
            </p:nvSpPr>
            <p:spPr>
              <a:xfrm>
                <a:off x="7481440" y="3271677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3271677"/>
                <a:ext cx="1278541" cy="4500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4C65C8-CC66-62D9-E2B6-1130661B79DC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397395" y="3087011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6BD57-D057-8963-8B04-0921BD01A222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2519929" y="4072466"/>
            <a:ext cx="1853563" cy="7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07C81C1-FF6F-2769-DC0F-0CBEC1E3AF81}"/>
              </a:ext>
            </a:extLst>
          </p:cNvPr>
          <p:cNvCxnSpPr>
            <a:cxnSpLocks/>
            <a:stCxn id="9" idx="0"/>
            <a:endCxn id="13" idx="1"/>
          </p:cNvCxnSpPr>
          <p:nvPr/>
        </p:nvCxnSpPr>
        <p:spPr>
          <a:xfrm flipV="1">
            <a:off x="5631801" y="3496720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B5B9BF4-432F-1AC3-2639-200598C72A0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60799" y="3087011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1427FB2-2110-6345-4693-D674D83C233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37012" y="3087011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/>
              <p:nvPr/>
            </p:nvSpPr>
            <p:spPr>
              <a:xfrm>
                <a:off x="9557652" y="3312054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3312054"/>
                <a:ext cx="759691" cy="369332"/>
              </a:xfrm>
              <a:prstGeom prst="rect">
                <a:avLst/>
              </a:prstGeom>
              <a:blipFill>
                <a:blip r:embed="rId9"/>
                <a:stretch>
                  <a:fillRect l="-6557"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0C0F05A-AB8A-1080-DCE1-CEA38E44B31E}"/>
              </a:ext>
            </a:extLst>
          </p:cNvPr>
          <p:cNvCxnSpPr>
            <a:cxnSpLocks/>
            <a:stCxn id="13" idx="3"/>
            <a:endCxn id="29" idx="1"/>
          </p:cNvCxnSpPr>
          <p:nvPr/>
        </p:nvCxnSpPr>
        <p:spPr>
          <a:xfrm>
            <a:off x="8759981" y="3496720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/>
              <p:nvPr/>
            </p:nvSpPr>
            <p:spPr>
              <a:xfrm>
                <a:off x="1807110" y="3895642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10" y="3895642"/>
                <a:ext cx="371414" cy="369332"/>
              </a:xfrm>
              <a:prstGeom prst="rect">
                <a:avLst/>
              </a:prstGeom>
              <a:blipFill>
                <a:blip r:embed="rId10"/>
                <a:stretch>
                  <a:fillRect l="-26667" t="-10000" b="-3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3F2CBDA-9711-DA0B-897D-2E99AF33A8B5}"/>
              </a:ext>
            </a:extLst>
          </p:cNvPr>
          <p:cNvSpPr txBox="1"/>
          <p:nvPr/>
        </p:nvSpPr>
        <p:spPr>
          <a:xfrm>
            <a:off x="1626694" y="4648081"/>
            <a:ext cx="7239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入力</a:t>
            </a:r>
            <a:endParaRPr kumimoji="1" lang="ja-JP" altLang="en-US" sz="2000" dirty="0" err="1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90461EB-02F6-DB3F-EBC0-E39DC50B5DA8}"/>
              </a:ext>
            </a:extLst>
          </p:cNvPr>
          <p:cNvSpPr txBox="1"/>
          <p:nvPr/>
        </p:nvSpPr>
        <p:spPr>
          <a:xfrm>
            <a:off x="9575539" y="3753350"/>
            <a:ext cx="7239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出力</a:t>
            </a:r>
            <a:endParaRPr kumimoji="1" lang="ja-JP" altLang="en-US" sz="2000" dirty="0" err="1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30625F6-DDC0-0217-2781-73FEF9173F02}"/>
              </a:ext>
            </a:extLst>
          </p:cNvPr>
          <p:cNvSpPr txBox="1"/>
          <p:nvPr/>
        </p:nvSpPr>
        <p:spPr>
          <a:xfrm>
            <a:off x="2578649" y="2202663"/>
            <a:ext cx="2885760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5BD4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埋め込みベクトルに変換</a:t>
            </a:r>
            <a:endParaRPr kumimoji="1" lang="ja-JP" altLang="en-US" sz="200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5D7D52E-BA43-2958-D1B8-236FAF5DBE83}"/>
              </a:ext>
            </a:extLst>
          </p:cNvPr>
          <p:cNvCxnSpPr>
            <a:cxnSpLocks/>
            <a:stCxn id="17" idx="2"/>
            <a:endCxn id="11" idx="0"/>
          </p:cNvCxnSpPr>
          <p:nvPr/>
        </p:nvCxnSpPr>
        <p:spPr>
          <a:xfrm>
            <a:off x="4021529" y="2602773"/>
            <a:ext cx="0" cy="259195"/>
          </a:xfrm>
          <a:prstGeom prst="straightConnector1">
            <a:avLst/>
          </a:prstGeom>
          <a:ln w="19050">
            <a:solidFill>
              <a:srgbClr val="5BD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5CA64E5-A49F-CA72-2122-83D4BCA79693}"/>
              </a:ext>
            </a:extLst>
          </p:cNvPr>
          <p:cNvCxnSpPr>
            <a:cxnSpLocks/>
            <a:stCxn id="27" idx="0"/>
            <a:endCxn id="9" idx="3"/>
          </p:cNvCxnSpPr>
          <p:nvPr/>
        </p:nvCxnSpPr>
        <p:spPr>
          <a:xfrm flipV="1">
            <a:off x="5002646" y="4433573"/>
            <a:ext cx="0" cy="32428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9409D4D-05BE-77B4-7C64-ECC614A10806}"/>
              </a:ext>
            </a:extLst>
          </p:cNvPr>
          <p:cNvSpPr txBox="1"/>
          <p:nvPr/>
        </p:nvSpPr>
        <p:spPr>
          <a:xfrm>
            <a:off x="3891295" y="4757854"/>
            <a:ext cx="2222702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画像の特徴を抽出</a:t>
            </a:r>
            <a:endParaRPr kumimoji="1" lang="ja-JP" altLang="en-US" sz="20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B2E7211-57E3-BCE0-9549-B729175CD6B2}"/>
                  </a:ext>
                </a:extLst>
              </p:cNvPr>
              <p:cNvSpPr txBox="1"/>
              <p:nvPr/>
            </p:nvSpPr>
            <p:spPr>
              <a:xfrm>
                <a:off x="5282107" y="1717947"/>
                <a:ext cx="1627785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D883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2000" i="1" smtClean="0">
                          <a:latin typeface="Cambria Math" panose="02040503050406030204" pitchFamily="18" charset="0"/>
                        </a:rPr>
                        <m:t>時系列</m:t>
                      </m:r>
                      <m:r>
                        <a:rPr lang="ja-JP" altLang="en-US" sz="2000" i="1">
                          <a:latin typeface="Cambria Math" panose="02040503050406030204" pitchFamily="18" charset="0"/>
                        </a:rPr>
                        <m:t>処理</m:t>
                      </m:r>
                    </m:oMath>
                  </m:oMathPara>
                </a14:m>
                <a:endParaRPr kumimoji="1" lang="ja-JP" altLang="en-US" sz="2000" dirty="0" err="1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B2E7211-57E3-BCE0-9549-B729175CD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07" y="1717947"/>
                <a:ext cx="1627785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D883FF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F045B286-6F01-71F4-B5E1-18456F61AB53}"/>
              </a:ext>
            </a:extLst>
          </p:cNvPr>
          <p:cNvCxnSpPr>
            <a:cxnSpLocks/>
            <a:stCxn id="34" idx="2"/>
            <a:endCxn id="12" idx="0"/>
          </p:cNvCxnSpPr>
          <p:nvPr/>
        </p:nvCxnSpPr>
        <p:spPr>
          <a:xfrm>
            <a:off x="6096000" y="2118057"/>
            <a:ext cx="1742" cy="743911"/>
          </a:xfrm>
          <a:prstGeom prst="straightConnector1">
            <a:avLst/>
          </a:prstGeom>
          <a:ln w="19050">
            <a:solidFill>
              <a:srgbClr val="D88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57A60BC-C02D-4284-36AD-C0844488931D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8120711" y="2201568"/>
            <a:ext cx="0" cy="9918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A9F82F1-15F4-8D34-A4CE-572B76C23D52}"/>
                  </a:ext>
                </a:extLst>
              </p:cNvPr>
              <p:cNvSpPr txBox="1"/>
              <p:nvPr/>
            </p:nvSpPr>
            <p:spPr>
              <a:xfrm>
                <a:off x="6503653" y="2201568"/>
                <a:ext cx="3234116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ja-JP" altLang="en-US" sz="2000" dirty="0"/>
                  <a:t>番目の</a:t>
                </a:r>
                <a:r>
                  <a:rPr kumimoji="1" lang="ja-JP" altLang="en-US" sz="2000"/>
                  <a:t>単語の</a:t>
                </a:r>
                <a:r>
                  <a:rPr lang="ja-JP" altLang="en-US" sz="2000"/>
                  <a:t>確率分布</a:t>
                </a:r>
                <a:endParaRPr kumimoji="1" lang="ja-JP" altLang="en-US" sz="20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A9F82F1-15F4-8D34-A4CE-572B76C23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653" y="2201568"/>
                <a:ext cx="3234116" cy="400110"/>
              </a:xfrm>
              <a:prstGeom prst="rect">
                <a:avLst/>
              </a:prstGeom>
              <a:blipFill>
                <a:blip r:embed="rId12"/>
                <a:stretch>
                  <a:fillRect t="-5882" r="-1167" b="-23529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94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C479F-EB81-BDD9-463D-653AFD8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Pix2Seq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743332-5097-0F97-0F67-AFAEDD8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7" name="図 6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1A579251-4993-1007-E186-9FC753C53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405" y="1728045"/>
            <a:ext cx="926699" cy="92515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/>
              <p:nvPr/>
            </p:nvSpPr>
            <p:spPr>
              <a:xfrm>
                <a:off x="1778915" y="1020502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1020502"/>
                <a:ext cx="618480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/>
              <p:nvPr/>
            </p:nvSpPr>
            <p:spPr>
              <a:xfrm rot="5400000">
                <a:off x="4521170" y="1561468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1561468"/>
                <a:ext cx="962952" cy="1258309"/>
              </a:xfrm>
              <a:prstGeom prst="trapezoid">
                <a:avLst/>
              </a:prstGeom>
              <a:blipFill>
                <a:blip r:embed="rId5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/>
              <p:nvPr/>
            </p:nvSpPr>
            <p:spPr>
              <a:xfrm>
                <a:off x="3382258" y="9801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980125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 l="-8654" r="-2885"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/>
              <p:nvPr/>
            </p:nvSpPr>
            <p:spPr>
              <a:xfrm>
                <a:off x="5458471" y="9801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980125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/>
              <p:nvPr/>
            </p:nvSpPr>
            <p:spPr>
              <a:xfrm>
                <a:off x="7481440" y="138983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1389834"/>
                <a:ext cx="1278541" cy="450086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4C65C8-CC66-62D9-E2B6-1130661B79DC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397395" y="1205168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6BD57-D057-8963-8B04-0921BD01A222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>
            <a:off x="2392104" y="2190623"/>
            <a:ext cx="19813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07C81C1-FF6F-2769-DC0F-0CBEC1E3AF81}"/>
              </a:ext>
            </a:extLst>
          </p:cNvPr>
          <p:cNvCxnSpPr>
            <a:cxnSpLocks/>
            <a:stCxn id="9" idx="0"/>
            <a:endCxn id="13" idx="1"/>
          </p:cNvCxnSpPr>
          <p:nvPr/>
        </p:nvCxnSpPr>
        <p:spPr>
          <a:xfrm flipV="1">
            <a:off x="5631801" y="1614877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B5B9BF4-432F-1AC3-2639-200598C72A0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60799" y="1205168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1427FB2-2110-6345-4693-D674D83C233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37012" y="1205168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/>
              <p:nvPr/>
            </p:nvSpPr>
            <p:spPr>
              <a:xfrm>
                <a:off x="9557652" y="1430211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1430211"/>
                <a:ext cx="759691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0C0F05A-AB8A-1080-DCE1-CEA38E44B31E}"/>
              </a:ext>
            </a:extLst>
          </p:cNvPr>
          <p:cNvCxnSpPr>
            <a:cxnSpLocks/>
            <a:stCxn id="13" idx="3"/>
            <a:endCxn id="29" idx="1"/>
          </p:cNvCxnSpPr>
          <p:nvPr/>
        </p:nvCxnSpPr>
        <p:spPr>
          <a:xfrm>
            <a:off x="8759981" y="1614877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/>
              <p:nvPr/>
            </p:nvSpPr>
            <p:spPr>
              <a:xfrm>
                <a:off x="1740456" y="2005956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56" y="2005956"/>
                <a:ext cx="371414" cy="369332"/>
              </a:xfrm>
              <a:prstGeom prst="rect">
                <a:avLst/>
              </a:prstGeom>
              <a:blipFill>
                <a:blip r:embed="rId10"/>
                <a:stretch>
                  <a:fillRect l="-26667" t="-6452" b="-322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図 13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313131E5-1775-3810-2636-73860DCFD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405" y="3610474"/>
            <a:ext cx="926699" cy="92515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FA67BEA-90D9-47D1-80DD-DEDA571FED93}"/>
                  </a:ext>
                </a:extLst>
              </p:cNvPr>
              <p:cNvSpPr txBox="1"/>
              <p:nvPr/>
            </p:nvSpPr>
            <p:spPr>
              <a:xfrm>
                <a:off x="1778915" y="2902931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FA67BEA-90D9-47D1-80DD-DEDA571FE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902931"/>
                <a:ext cx="618480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台形 17">
                <a:extLst>
                  <a:ext uri="{FF2B5EF4-FFF2-40B4-BE49-F238E27FC236}">
                    <a16:creationId xmlns:a16="http://schemas.microsoft.com/office/drawing/2014/main" id="{C37B8B6F-497F-23A7-ED96-76B53EAE3F34}"/>
                  </a:ext>
                </a:extLst>
              </p:cNvPr>
              <p:cNvSpPr/>
              <p:nvPr/>
            </p:nvSpPr>
            <p:spPr>
              <a:xfrm rot="5400000">
                <a:off x="4521170" y="3443897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台形 17">
                <a:extLst>
                  <a:ext uri="{FF2B5EF4-FFF2-40B4-BE49-F238E27FC236}">
                    <a16:creationId xmlns:a16="http://schemas.microsoft.com/office/drawing/2014/main" id="{C37B8B6F-497F-23A7-ED96-76B53EAE3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3443897"/>
                <a:ext cx="962952" cy="1258309"/>
              </a:xfrm>
              <a:prstGeom prst="trapezoid">
                <a:avLst/>
              </a:prstGeom>
              <a:blipFill>
                <a:blip r:embed="rId12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2D7C8F16-742E-E08B-1487-87B8DD8FE4D2}"/>
                  </a:ext>
                </a:extLst>
              </p:cNvPr>
              <p:cNvSpPr/>
              <p:nvPr/>
            </p:nvSpPr>
            <p:spPr>
              <a:xfrm>
                <a:off x="3382258" y="286255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2D7C8F16-742E-E08B-1487-87B8DD8FE4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2862554"/>
                <a:ext cx="1278541" cy="450086"/>
              </a:xfrm>
              <a:prstGeom prst="rect">
                <a:avLst/>
              </a:prstGeom>
              <a:blipFill>
                <a:blip r:embed="rId13"/>
                <a:stretch>
                  <a:fillRect l="-8654" r="-2885" b="-270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AB1605A4-ABBF-C868-1841-346545CA17D6}"/>
                  </a:ext>
                </a:extLst>
              </p:cNvPr>
              <p:cNvSpPr/>
              <p:nvPr/>
            </p:nvSpPr>
            <p:spPr>
              <a:xfrm>
                <a:off x="5458471" y="286255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AB1605A4-ABBF-C868-1841-346545CA1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2862554"/>
                <a:ext cx="1278541" cy="450086"/>
              </a:xfrm>
              <a:prstGeom prst="rect">
                <a:avLst/>
              </a:prstGeom>
              <a:blipFill>
                <a:blip r:embed="rId14"/>
                <a:stretch>
                  <a:fillRect b="-270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20F92D7F-A482-CAB7-D51D-98931E770144}"/>
                  </a:ext>
                </a:extLst>
              </p:cNvPr>
              <p:cNvSpPr/>
              <p:nvPr/>
            </p:nvSpPr>
            <p:spPr>
              <a:xfrm>
                <a:off x="7481440" y="3272263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20F92D7F-A482-CAB7-D51D-98931E7701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3272263"/>
                <a:ext cx="1278541" cy="4500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709961E-BF24-2AE2-99FB-C80307E1C77F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2397395" y="3087597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31EDE60B-3104-748B-A55D-15DA987AA63A}"/>
              </a:ext>
            </a:extLst>
          </p:cNvPr>
          <p:cNvCxnSpPr>
            <a:cxnSpLocks/>
            <a:stCxn id="14" idx="3"/>
            <a:endCxn id="18" idx="2"/>
          </p:cNvCxnSpPr>
          <p:nvPr/>
        </p:nvCxnSpPr>
        <p:spPr>
          <a:xfrm>
            <a:off x="2392104" y="4073052"/>
            <a:ext cx="19813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9E360BC0-35CA-3D76-C727-32EDBE5AE78A}"/>
              </a:ext>
            </a:extLst>
          </p:cNvPr>
          <p:cNvCxnSpPr>
            <a:cxnSpLocks/>
            <a:stCxn id="18" idx="0"/>
            <a:endCxn id="22" idx="1"/>
          </p:cNvCxnSpPr>
          <p:nvPr/>
        </p:nvCxnSpPr>
        <p:spPr>
          <a:xfrm flipV="1">
            <a:off x="5631801" y="3497306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A6F78A5-6162-2623-3DC2-498F6F134C33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660799" y="3087597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491A532-7D15-01A9-1D74-1B257F9B14E2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6737012" y="3087597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AA118367-31BF-C6FF-410F-541298FC048F}"/>
                  </a:ext>
                </a:extLst>
              </p:cNvPr>
              <p:cNvSpPr txBox="1"/>
              <p:nvPr/>
            </p:nvSpPr>
            <p:spPr>
              <a:xfrm>
                <a:off x="9557652" y="3312640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AA118367-31BF-C6FF-410F-541298FC0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3312640"/>
                <a:ext cx="759691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DF1AA2F8-4342-23ED-3940-6638813F817F}"/>
              </a:ext>
            </a:extLst>
          </p:cNvPr>
          <p:cNvCxnSpPr>
            <a:cxnSpLocks/>
            <a:stCxn id="22" idx="3"/>
            <a:endCxn id="32" idx="1"/>
          </p:cNvCxnSpPr>
          <p:nvPr/>
        </p:nvCxnSpPr>
        <p:spPr>
          <a:xfrm>
            <a:off x="8759981" y="3497306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8BE4B9AD-BA80-090A-23FD-225E2DFF6BDB}"/>
                  </a:ext>
                </a:extLst>
              </p:cNvPr>
              <p:cNvSpPr txBox="1"/>
              <p:nvPr/>
            </p:nvSpPr>
            <p:spPr>
              <a:xfrm>
                <a:off x="1746355" y="3888361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8BE4B9AD-BA80-090A-23FD-225E2DFF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355" y="3888361"/>
                <a:ext cx="371414" cy="369332"/>
              </a:xfrm>
              <a:prstGeom prst="rect">
                <a:avLst/>
              </a:prstGeom>
              <a:blipFill>
                <a:blip r:embed="rId17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図 57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4F287083-D0BE-8227-7306-9A97DF493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63" y="5540957"/>
            <a:ext cx="926699" cy="92515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572D5685-9935-2170-D8E7-DC3A0B3D0FEC}"/>
                  </a:ext>
                </a:extLst>
              </p:cNvPr>
              <p:cNvSpPr txBox="1"/>
              <p:nvPr/>
            </p:nvSpPr>
            <p:spPr>
              <a:xfrm>
                <a:off x="1777173" y="4833414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572D5685-9935-2170-D8E7-DC3A0B3D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173" y="4833414"/>
                <a:ext cx="618480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台形 59">
                <a:extLst>
                  <a:ext uri="{FF2B5EF4-FFF2-40B4-BE49-F238E27FC236}">
                    <a16:creationId xmlns:a16="http://schemas.microsoft.com/office/drawing/2014/main" id="{EFE6B5EC-F1DC-7837-9D69-93215BC317D9}"/>
                  </a:ext>
                </a:extLst>
              </p:cNvPr>
              <p:cNvSpPr/>
              <p:nvPr/>
            </p:nvSpPr>
            <p:spPr>
              <a:xfrm rot="5400000">
                <a:off x="4519428" y="5374380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台形 59">
                <a:extLst>
                  <a:ext uri="{FF2B5EF4-FFF2-40B4-BE49-F238E27FC236}">
                    <a16:creationId xmlns:a16="http://schemas.microsoft.com/office/drawing/2014/main" id="{EFE6B5EC-F1DC-7837-9D69-93215BC31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19428" y="5374380"/>
                <a:ext cx="962952" cy="1258309"/>
              </a:xfrm>
              <a:prstGeom prst="trapezoid">
                <a:avLst/>
              </a:prstGeom>
              <a:blipFill>
                <a:blip r:embed="rId19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A06EC04A-D99B-ACBE-2B73-380371F100B3}"/>
                  </a:ext>
                </a:extLst>
              </p:cNvPr>
              <p:cNvSpPr/>
              <p:nvPr/>
            </p:nvSpPr>
            <p:spPr>
              <a:xfrm>
                <a:off x="3380516" y="4793037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A06EC04A-D99B-ACBE-2B73-380371F100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516" y="4793037"/>
                <a:ext cx="1278541" cy="450086"/>
              </a:xfrm>
              <a:prstGeom prst="rect">
                <a:avLst/>
              </a:prstGeom>
              <a:blipFill>
                <a:blip r:embed="rId20"/>
                <a:stretch>
                  <a:fillRect l="-9709" r="-3883"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EC9744FE-78CC-21E1-5348-F78C7BA4B7BC}"/>
                  </a:ext>
                </a:extLst>
              </p:cNvPr>
              <p:cNvSpPr/>
              <p:nvPr/>
            </p:nvSpPr>
            <p:spPr>
              <a:xfrm>
                <a:off x="5456729" y="4793037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EC9744FE-78CC-21E1-5348-F78C7BA4B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729" y="4793037"/>
                <a:ext cx="1278541" cy="450086"/>
              </a:xfrm>
              <a:prstGeom prst="rect">
                <a:avLst/>
              </a:prstGeom>
              <a:blipFill>
                <a:blip r:embed="rId21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76A6EA30-B34C-8A0E-4413-82AD71FE7443}"/>
                  </a:ext>
                </a:extLst>
              </p:cNvPr>
              <p:cNvSpPr/>
              <p:nvPr/>
            </p:nvSpPr>
            <p:spPr>
              <a:xfrm>
                <a:off x="7479698" y="5202746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76A6EA30-B34C-8A0E-4413-82AD71FE7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698" y="5202746"/>
                <a:ext cx="1278541" cy="450086"/>
              </a:xfrm>
              <a:prstGeom prst="rect">
                <a:avLst/>
              </a:prstGeom>
              <a:blipFill>
                <a:blip r:embed="rId22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182288D0-4C9D-1B15-E087-98270481F638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2395653" y="5018080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834FC293-C288-396A-537B-0342217F0E3B}"/>
              </a:ext>
            </a:extLst>
          </p:cNvPr>
          <p:cNvCxnSpPr>
            <a:cxnSpLocks/>
            <a:stCxn id="58" idx="3"/>
            <a:endCxn id="60" idx="2"/>
          </p:cNvCxnSpPr>
          <p:nvPr/>
        </p:nvCxnSpPr>
        <p:spPr>
          <a:xfrm>
            <a:off x="2390362" y="6003535"/>
            <a:ext cx="19813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D33EEE98-AEC2-ABA4-D0BD-240503AC315F}"/>
              </a:ext>
            </a:extLst>
          </p:cNvPr>
          <p:cNvCxnSpPr>
            <a:cxnSpLocks/>
            <a:stCxn id="60" idx="0"/>
            <a:endCxn id="63" idx="1"/>
          </p:cNvCxnSpPr>
          <p:nvPr/>
        </p:nvCxnSpPr>
        <p:spPr>
          <a:xfrm flipV="1">
            <a:off x="5630059" y="5427789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96221218-DA4E-1CCE-22DC-4D1863A1CB6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4659057" y="5018080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A47E588F-6706-5158-5741-451B5104039F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6735270" y="5018080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765E6B30-427F-20BD-9D55-B4404BCD0E1F}"/>
                  </a:ext>
                </a:extLst>
              </p:cNvPr>
              <p:cNvSpPr txBox="1"/>
              <p:nvPr/>
            </p:nvSpPr>
            <p:spPr>
              <a:xfrm>
                <a:off x="9555910" y="5243123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765E6B30-427F-20BD-9D55-B4404BCD0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910" y="5243123"/>
                <a:ext cx="759691" cy="369332"/>
              </a:xfrm>
              <a:prstGeom prst="rect">
                <a:avLst/>
              </a:prstGeom>
              <a:blipFill>
                <a:blip r:embed="rId2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80ED16E9-B6DC-C4AF-E8C2-607436BC9626}"/>
              </a:ext>
            </a:extLst>
          </p:cNvPr>
          <p:cNvCxnSpPr>
            <a:cxnSpLocks/>
            <a:stCxn id="63" idx="3"/>
            <a:endCxn id="69" idx="1"/>
          </p:cNvCxnSpPr>
          <p:nvPr/>
        </p:nvCxnSpPr>
        <p:spPr>
          <a:xfrm>
            <a:off x="8758239" y="5427789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819D5BF6-4B30-9102-6D93-182534552A06}"/>
                  </a:ext>
                </a:extLst>
              </p:cNvPr>
              <p:cNvSpPr txBox="1"/>
              <p:nvPr/>
            </p:nvSpPr>
            <p:spPr>
              <a:xfrm>
                <a:off x="1740456" y="5818868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819D5BF6-4B30-9102-6D93-182534552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56" y="5818868"/>
                <a:ext cx="371414" cy="369332"/>
              </a:xfrm>
              <a:prstGeom prst="rect">
                <a:avLst/>
              </a:prstGeom>
              <a:blipFill>
                <a:blip r:embed="rId24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04A7A88D-78E3-04DB-67BD-596EA34297EE}"/>
              </a:ext>
            </a:extLst>
          </p:cNvPr>
          <p:cNvCxnSpPr>
            <a:stCxn id="29" idx="2"/>
            <a:endCxn id="17" idx="0"/>
          </p:cNvCxnSpPr>
          <p:nvPr/>
        </p:nvCxnSpPr>
        <p:spPr>
          <a:xfrm rot="5400000">
            <a:off x="5461133" y="-1573434"/>
            <a:ext cx="1103388" cy="7849343"/>
          </a:xfrm>
          <a:prstGeom prst="bentConnector3">
            <a:avLst>
              <a:gd name="adj1" fmla="val 8666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2">
            <a:extLst>
              <a:ext uri="{FF2B5EF4-FFF2-40B4-BE49-F238E27FC236}">
                <a16:creationId xmlns:a16="http://schemas.microsoft.com/office/drawing/2014/main" id="{FA3EA5D2-9CEE-B1A6-73C3-F44E25703882}"/>
              </a:ext>
            </a:extLst>
          </p:cNvPr>
          <p:cNvCxnSpPr>
            <a:cxnSpLocks/>
            <a:stCxn id="32" idx="2"/>
            <a:endCxn id="59" idx="0"/>
          </p:cNvCxnSpPr>
          <p:nvPr/>
        </p:nvCxnSpPr>
        <p:spPr>
          <a:xfrm rot="5400000">
            <a:off x="5436235" y="332151"/>
            <a:ext cx="1151442" cy="7851085"/>
          </a:xfrm>
          <a:prstGeom prst="bentConnector3">
            <a:avLst>
              <a:gd name="adj1" fmla="val 84435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C8825484-1F45-DFBF-9A22-05B88B1FA37E}"/>
              </a:ext>
            </a:extLst>
          </p:cNvPr>
          <p:cNvCxnSpPr>
            <a:stCxn id="12" idx="2"/>
            <a:endCxn id="21" idx="0"/>
          </p:cNvCxnSpPr>
          <p:nvPr/>
        </p:nvCxnSpPr>
        <p:spPr>
          <a:xfrm>
            <a:off x="6097742" y="1430211"/>
            <a:ext cx="0" cy="143234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59EE4BCE-38D2-D645-30CA-861C89EE814E}"/>
              </a:ext>
            </a:extLst>
          </p:cNvPr>
          <p:cNvCxnSpPr>
            <a:cxnSpLocks/>
            <a:stCxn id="21" idx="2"/>
            <a:endCxn id="62" idx="0"/>
          </p:cNvCxnSpPr>
          <p:nvPr/>
        </p:nvCxnSpPr>
        <p:spPr>
          <a:xfrm flipH="1">
            <a:off x="6096000" y="3312640"/>
            <a:ext cx="1742" cy="148039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8C45CA4F-B46F-C095-D9B5-198916DF66FC}"/>
              </a:ext>
            </a:extLst>
          </p:cNvPr>
          <p:cNvSpPr txBox="1"/>
          <p:nvPr/>
        </p:nvSpPr>
        <p:spPr>
          <a:xfrm>
            <a:off x="55366" y="1039202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&lt;START&gt;</a:t>
            </a:r>
            <a:endParaRPr kumimoji="1" lang="ja-JP" altLang="en-US" sz="2000" dirty="0" err="1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0C51179-487E-5DC1-10AB-3A24447E9E90}"/>
              </a:ext>
            </a:extLst>
          </p:cNvPr>
          <p:cNvSpPr txBox="1"/>
          <p:nvPr/>
        </p:nvSpPr>
        <p:spPr>
          <a:xfrm>
            <a:off x="50508" y="2901924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kumimoji="1" lang="ja-JP" altLang="en-US" sz="2000"/>
              <a:t>一応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B1A170BB-6435-FEDF-CFF7-321C42224CB7}"/>
              </a:ext>
            </a:extLst>
          </p:cNvPr>
          <p:cNvSpPr txBox="1"/>
          <p:nvPr/>
        </p:nvSpPr>
        <p:spPr>
          <a:xfrm>
            <a:off x="50508" y="4851503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kumimoji="1" lang="ja-JP" altLang="en-US" sz="2000"/>
              <a:t>授業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2A2AB3F6-9A89-1BE3-942F-5BDB4500F3A8}"/>
              </a:ext>
            </a:extLst>
          </p:cNvPr>
          <p:cNvSpPr txBox="1"/>
          <p:nvPr/>
        </p:nvSpPr>
        <p:spPr>
          <a:xfrm>
            <a:off x="10220647" y="1441414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kumimoji="1" lang="ja-JP" altLang="en-US" sz="2000"/>
              <a:t>一応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F01D6AC6-3438-D297-309E-16B08DB4ED0C}"/>
              </a:ext>
            </a:extLst>
          </p:cNvPr>
          <p:cNvSpPr txBox="1"/>
          <p:nvPr/>
        </p:nvSpPr>
        <p:spPr>
          <a:xfrm>
            <a:off x="10220647" y="3320745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kumimoji="1" lang="ja-JP" altLang="en-US" sz="2000"/>
              <a:t>授業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0AD853CB-1600-47CF-CDCD-C284690F238A}"/>
              </a:ext>
            </a:extLst>
          </p:cNvPr>
          <p:cNvSpPr txBox="1"/>
          <p:nvPr/>
        </p:nvSpPr>
        <p:spPr>
          <a:xfrm>
            <a:off x="10182700" y="5256204"/>
            <a:ext cx="1553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lang="ja-JP" altLang="en-US" sz="2000"/>
              <a:t>聞いてる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B82A1CBA-548E-A441-95C2-4C4D0B892560}"/>
                  </a:ext>
                </a:extLst>
              </p:cNvPr>
              <p:cNvSpPr txBox="1"/>
              <p:nvPr/>
            </p:nvSpPr>
            <p:spPr>
              <a:xfrm>
                <a:off x="6202884" y="2183076"/>
                <a:ext cx="540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2000" dirty="0" err="1"/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B82A1CBA-548E-A441-95C2-4C4D0B892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884" y="2183076"/>
                <a:ext cx="540644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09E65B64-3327-70A6-F6A5-1B9F390B6A84}"/>
                  </a:ext>
                </a:extLst>
              </p:cNvPr>
              <p:cNvSpPr txBox="1"/>
              <p:nvPr/>
            </p:nvSpPr>
            <p:spPr>
              <a:xfrm>
                <a:off x="6202884" y="4155939"/>
                <a:ext cx="540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000" dirty="0" err="1"/>
              </a:p>
            </p:txBody>
          </p:sp>
        </mc:Choice>
        <mc:Fallback xmlns=""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09E65B64-3327-70A6-F6A5-1B9F390B6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884" y="4155939"/>
                <a:ext cx="540644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A4243B58-F69E-9CBC-703D-F9150A86B244}"/>
                  </a:ext>
                </a:extLst>
              </p:cNvPr>
              <p:cNvSpPr txBox="1"/>
              <p:nvPr/>
            </p:nvSpPr>
            <p:spPr>
              <a:xfrm>
                <a:off x="9363903" y="6153842"/>
                <a:ext cx="28280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000" dirty="0"/>
                  <a:t>※</a:t>
                </a:r>
                <a:r>
                  <a:rPr kumimoji="1" lang="ja-JP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ja-JP" sz="2000" dirty="0"/>
                  <a:t> :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sz="2000"/>
                  <a:t>時点の内部状態</a:t>
                </a:r>
                <a:endParaRPr kumimoji="1" lang="ja-JP" altLang="en-US" sz="2000" dirty="0" err="1"/>
              </a:p>
            </p:txBody>
          </p:sp>
        </mc:Choice>
        <mc:Fallback xmlns="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A4243B58-F69E-9CBC-703D-F9150A86B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903" y="6153842"/>
                <a:ext cx="2828097" cy="400110"/>
              </a:xfrm>
              <a:prstGeom prst="rect">
                <a:avLst/>
              </a:prstGeom>
              <a:blipFill>
                <a:blip r:embed="rId27"/>
                <a:stretch>
                  <a:fillRect l="-2232" t="-9375" r="-1786" b="-28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4995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C479F-EB81-BDD9-463D-653AFD8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Pix2Seq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6679AF-F610-B7BA-2916-68879D26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画像のエンコーダ</a:t>
            </a:r>
            <a:r>
              <a:rPr kumimoji="1" lang="ja-JP" altLang="en-US" dirty="0"/>
              <a:t>の学習を文章の生成器と同時進行するのは</a:t>
            </a:r>
            <a:r>
              <a:rPr lang="ja-JP" altLang="en-US" dirty="0"/>
              <a:t>非効率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sz="800" dirty="0"/>
          </a:p>
          <a:p>
            <a:pPr marL="0" indent="0" algn="ctr">
              <a:buNone/>
            </a:pPr>
            <a:r>
              <a:rPr lang="ja-JP" altLang="en-US" dirty="0"/>
              <a:t>↓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sz="900" dirty="0"/>
          </a:p>
          <a:p>
            <a:r>
              <a:rPr lang="ja-JP" altLang="en-US" dirty="0">
                <a:solidFill>
                  <a:srgbClr val="FF0000"/>
                </a:solidFill>
              </a:rPr>
              <a:t>画像のエンコーダ</a:t>
            </a:r>
            <a:r>
              <a:rPr lang="ja-JP" altLang="en-US" dirty="0"/>
              <a:t>として</a:t>
            </a:r>
            <a:r>
              <a:rPr lang="en-US" altLang="ja-JP" dirty="0"/>
              <a:t>, </a:t>
            </a:r>
            <a:r>
              <a:rPr lang="ja-JP" altLang="en-US" dirty="0"/>
              <a:t>事前学習済みモデルを使用する方法が一般的</a:t>
            </a:r>
            <a:endParaRPr lang="en-US" altLang="ja-JP" dirty="0"/>
          </a:p>
          <a:p>
            <a:pPr marL="457200" lvl="1" indent="0">
              <a:buNone/>
            </a:pPr>
            <a:r>
              <a:rPr lang="en-US" altLang="ja-JP" dirty="0"/>
              <a:t>[1]</a:t>
            </a:r>
            <a:r>
              <a:rPr lang="ja-JP" altLang="en-US" dirty="0"/>
              <a:t>でも</a:t>
            </a:r>
            <a:r>
              <a:rPr lang="en-US" altLang="ja-JP" dirty="0"/>
              <a:t>, </a:t>
            </a:r>
            <a:r>
              <a:rPr lang="ja-JP" altLang="en-US" dirty="0"/>
              <a:t>事前学習済みの</a:t>
            </a:r>
            <a:r>
              <a:rPr lang="en-US" altLang="ja-JP" dirty="0"/>
              <a:t>ResNet152</a:t>
            </a:r>
            <a:r>
              <a:rPr lang="ja-JP" altLang="en-US" dirty="0"/>
              <a:t>を使用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743332-5097-0F97-0F67-AFAEDD8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7" name="図 6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1A579251-4993-1007-E186-9FC753C53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06" y="2683732"/>
            <a:ext cx="1054223" cy="105246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/>
              <p:nvPr/>
            </p:nvSpPr>
            <p:spPr>
              <a:xfrm>
                <a:off x="1778915" y="2032002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032002"/>
                <a:ext cx="618480" cy="369332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/>
              <p:nvPr/>
            </p:nvSpPr>
            <p:spPr>
              <a:xfrm rot="5400000">
                <a:off x="4521170" y="2572968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2572968"/>
                <a:ext cx="962952" cy="1258309"/>
              </a:xfrm>
              <a:prstGeom prst="trapezoid">
                <a:avLst/>
              </a:prstGeom>
              <a:blipFill>
                <a:blip r:embed="rId4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/>
              <p:nvPr/>
            </p:nvSpPr>
            <p:spPr>
              <a:xfrm>
                <a:off x="3382258" y="19916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1991625"/>
                <a:ext cx="1278541" cy="450086"/>
              </a:xfrm>
              <a:prstGeom prst="rect">
                <a:avLst/>
              </a:prstGeom>
              <a:blipFill>
                <a:blip r:embed="rId5"/>
                <a:stretch>
                  <a:fillRect l="-8654" r="-28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/>
              <p:nvPr/>
            </p:nvSpPr>
            <p:spPr>
              <a:xfrm>
                <a:off x="5458471" y="19916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1991625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/>
              <p:nvPr/>
            </p:nvSpPr>
            <p:spPr>
              <a:xfrm>
                <a:off x="7481440" y="240133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2401334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4C65C8-CC66-62D9-E2B6-1130661B79DC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397395" y="2216668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6BD57-D057-8963-8B04-0921BD01A222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2519929" y="3202123"/>
            <a:ext cx="1853563" cy="7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07C81C1-FF6F-2769-DC0F-0CBEC1E3AF81}"/>
              </a:ext>
            </a:extLst>
          </p:cNvPr>
          <p:cNvCxnSpPr>
            <a:cxnSpLocks/>
            <a:stCxn id="9" idx="0"/>
            <a:endCxn id="13" idx="1"/>
          </p:cNvCxnSpPr>
          <p:nvPr/>
        </p:nvCxnSpPr>
        <p:spPr>
          <a:xfrm flipV="1">
            <a:off x="5631801" y="2626377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B5B9BF4-432F-1AC3-2639-200598C72A0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60799" y="2216668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1427FB2-2110-6345-4693-D674D83C233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37012" y="2216668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/>
              <p:nvPr/>
            </p:nvSpPr>
            <p:spPr>
              <a:xfrm>
                <a:off x="9557652" y="2441711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2441711"/>
                <a:ext cx="759691" cy="369332"/>
              </a:xfrm>
              <a:prstGeom prst="rect">
                <a:avLst/>
              </a:prstGeom>
              <a:blipFill>
                <a:blip r:embed="rId8"/>
                <a:stretch>
                  <a:fillRect l="-6557"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0C0F05A-AB8A-1080-DCE1-CEA38E44B31E}"/>
              </a:ext>
            </a:extLst>
          </p:cNvPr>
          <p:cNvCxnSpPr>
            <a:cxnSpLocks/>
            <a:stCxn id="13" idx="3"/>
            <a:endCxn id="29" idx="1"/>
          </p:cNvCxnSpPr>
          <p:nvPr/>
        </p:nvCxnSpPr>
        <p:spPr>
          <a:xfrm>
            <a:off x="8759981" y="2626377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/>
              <p:nvPr/>
            </p:nvSpPr>
            <p:spPr>
              <a:xfrm>
                <a:off x="1807110" y="3025299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10" y="3025299"/>
                <a:ext cx="371414" cy="369332"/>
              </a:xfrm>
              <a:prstGeom prst="rect">
                <a:avLst/>
              </a:prstGeom>
              <a:blipFill>
                <a:blip r:embed="rId9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9CAE3CE-DE12-5E7C-9A67-8084135848C2}"/>
              </a:ext>
            </a:extLst>
          </p:cNvPr>
          <p:cNvSpPr/>
          <p:nvPr/>
        </p:nvSpPr>
        <p:spPr>
          <a:xfrm>
            <a:off x="4213976" y="2604605"/>
            <a:ext cx="1561763" cy="1200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0954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表 38">
            <a:extLst>
              <a:ext uri="{FF2B5EF4-FFF2-40B4-BE49-F238E27FC236}">
                <a16:creationId xmlns:a16="http://schemas.microsoft.com/office/drawing/2014/main" id="{F8DB3519-7381-56C0-C768-D34E08893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193821"/>
              </p:ext>
            </p:extLst>
          </p:nvPr>
        </p:nvGraphicFramePr>
        <p:xfrm>
          <a:off x="2031101" y="4733767"/>
          <a:ext cx="8136900" cy="174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380">
                  <a:extLst>
                    <a:ext uri="{9D8B030D-6E8A-4147-A177-3AD203B41FA5}">
                      <a16:colId xmlns:a16="http://schemas.microsoft.com/office/drawing/2014/main" val="700864349"/>
                    </a:ext>
                  </a:extLst>
                </a:gridCol>
                <a:gridCol w="1627380">
                  <a:extLst>
                    <a:ext uri="{9D8B030D-6E8A-4147-A177-3AD203B41FA5}">
                      <a16:colId xmlns:a16="http://schemas.microsoft.com/office/drawing/2014/main" val="3758232695"/>
                    </a:ext>
                  </a:extLst>
                </a:gridCol>
                <a:gridCol w="1627380">
                  <a:extLst>
                    <a:ext uri="{9D8B030D-6E8A-4147-A177-3AD203B41FA5}">
                      <a16:colId xmlns:a16="http://schemas.microsoft.com/office/drawing/2014/main" val="1557518285"/>
                    </a:ext>
                  </a:extLst>
                </a:gridCol>
                <a:gridCol w="1627380">
                  <a:extLst>
                    <a:ext uri="{9D8B030D-6E8A-4147-A177-3AD203B41FA5}">
                      <a16:colId xmlns:a16="http://schemas.microsoft.com/office/drawing/2014/main" val="1362068025"/>
                    </a:ext>
                  </a:extLst>
                </a:gridCol>
                <a:gridCol w="1627380">
                  <a:extLst>
                    <a:ext uri="{9D8B030D-6E8A-4147-A177-3AD203B41FA5}">
                      <a16:colId xmlns:a16="http://schemas.microsoft.com/office/drawing/2014/main" val="3937338811"/>
                    </a:ext>
                  </a:extLst>
                </a:gridCol>
              </a:tblGrid>
              <a:tr h="112127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画像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702676"/>
                  </a:ext>
                </a:extLst>
              </a:tr>
              <a:tr h="62228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アノテーション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仮面ライダー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オープンカー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アイドル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おじさん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41747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877DD2-F3F9-34FC-601E-65FC19F3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事前学習済みモデルの問題点</a:t>
            </a:r>
            <a:r>
              <a:rPr kumimoji="1" lang="en-US" altLang="ja-JP" dirty="0"/>
              <a:t>Ⅰ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66E8D5-C830-27C6-D092-568036D08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376368" cy="5286633"/>
          </a:xfrm>
        </p:spPr>
        <p:txBody>
          <a:bodyPr/>
          <a:lstStyle/>
          <a:p>
            <a:r>
              <a:rPr kumimoji="1" lang="ja-JP" altLang="en-US" dirty="0"/>
              <a:t>事前学習時の画像のドメインと</a:t>
            </a:r>
            <a:r>
              <a:rPr kumimoji="1" lang="en-US" altLang="ja-JP" dirty="0"/>
              <a:t>, Pix2Seq</a:t>
            </a:r>
            <a:r>
              <a:rPr kumimoji="1" lang="ja-JP" altLang="en-US" dirty="0"/>
              <a:t>学習時の</a:t>
            </a:r>
            <a:r>
              <a:rPr lang="ja-JP" altLang="en-US" dirty="0"/>
              <a:t>画像の</a:t>
            </a:r>
            <a:r>
              <a:rPr kumimoji="1" lang="ja-JP" altLang="en-US" dirty="0"/>
              <a:t>ドメインが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ja-JP" altLang="en-US" dirty="0"/>
              <a:t>異なる場合</a:t>
            </a:r>
            <a:r>
              <a:rPr lang="en-US" altLang="ja-JP" dirty="0"/>
              <a:t>, </a:t>
            </a:r>
            <a:r>
              <a:rPr lang="ja-JP" altLang="en-US" dirty="0"/>
              <a:t>画像の特徴抽出ができない可能性がある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1600" dirty="0"/>
          </a:p>
          <a:p>
            <a:pPr marL="457200" lvl="1" indent="0">
              <a:buNone/>
            </a:pPr>
            <a:r>
              <a:rPr kumimoji="1" lang="en-US" altLang="ja-JP" dirty="0"/>
              <a:t>Pix2Seq</a:t>
            </a:r>
            <a:r>
              <a:rPr kumimoji="1" lang="ja-JP" altLang="en-US" dirty="0"/>
              <a:t>学習時の</a:t>
            </a:r>
            <a:r>
              <a:rPr lang="ja-JP" altLang="en-US" dirty="0"/>
              <a:t>画像を再学習する方法があるが</a:t>
            </a:r>
            <a:r>
              <a:rPr lang="en-US" altLang="ja-JP" dirty="0"/>
              <a:t>, </a:t>
            </a:r>
            <a:r>
              <a:rPr lang="ja-JP" altLang="en-US" dirty="0"/>
              <a:t>アノテーションが必要</a:t>
            </a:r>
            <a:endParaRPr lang="en-US" altLang="ja-JP" dirty="0"/>
          </a:p>
          <a:p>
            <a:pPr marL="457200" lvl="1" indent="0">
              <a:buNone/>
            </a:pPr>
            <a:r>
              <a:rPr kumimoji="1" lang="en-US" altLang="ja-JP" dirty="0"/>
              <a:t>※</a:t>
            </a:r>
            <a:r>
              <a:rPr kumimoji="1" lang="ja-JP" altLang="en-US" dirty="0"/>
              <a:t>　アノテーション</a:t>
            </a:r>
            <a:r>
              <a:rPr kumimoji="1" lang="en-US" altLang="ja-JP" dirty="0"/>
              <a:t> : </a:t>
            </a:r>
            <a:r>
              <a:rPr kumimoji="1" lang="ja-JP" altLang="en-US" dirty="0"/>
              <a:t>その画像が何であるかの情報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2AD472-3E3F-FD83-BA2A-3B4F7D19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12</a:t>
            </a:fld>
            <a:endParaRPr kumimoji="1" lang="ja-JP" altLang="en-US" dirty="0"/>
          </a:p>
        </p:txBody>
      </p:sp>
      <p:pic>
        <p:nvPicPr>
          <p:cNvPr id="14" name="グラフィックス 13" descr="人工知能 枠線">
            <a:extLst>
              <a:ext uri="{FF2B5EF4-FFF2-40B4-BE49-F238E27FC236}">
                <a16:creationId xmlns:a16="http://schemas.microsoft.com/office/drawing/2014/main" id="{99CF8E5E-3087-30C4-7398-91E05F4D9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3732" y="2285587"/>
            <a:ext cx="1130516" cy="1130516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F0B512E-86A9-B6D9-6A33-4FE38CC314C8}"/>
              </a:ext>
            </a:extLst>
          </p:cNvPr>
          <p:cNvSpPr txBox="1"/>
          <p:nvPr/>
        </p:nvSpPr>
        <p:spPr>
          <a:xfrm>
            <a:off x="10470672" y="262001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…</a:t>
            </a:r>
            <a:endParaRPr kumimoji="1" lang="ja-JP" altLang="en-US" sz="2400" dirty="0" err="1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FB1A9D9-E3E0-6E73-D025-A57DC49B9F2B}"/>
              </a:ext>
            </a:extLst>
          </p:cNvPr>
          <p:cNvCxnSpPr>
            <a:cxnSpLocks/>
            <a:stCxn id="1026" idx="3"/>
            <a:endCxn id="14" idx="1"/>
          </p:cNvCxnSpPr>
          <p:nvPr/>
        </p:nvCxnSpPr>
        <p:spPr>
          <a:xfrm>
            <a:off x="7713489" y="2850843"/>
            <a:ext cx="780243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36D4218-5B09-9724-2806-0BBA8386000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9624248" y="2850845"/>
            <a:ext cx="8464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9E9D9FF-99D1-4FE6-B40A-0ED970E19D32}"/>
              </a:ext>
            </a:extLst>
          </p:cNvPr>
          <p:cNvSpPr txBox="1"/>
          <p:nvPr/>
        </p:nvSpPr>
        <p:spPr>
          <a:xfrm rot="1361791">
            <a:off x="9166091" y="2097349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/>
              <a:t>?</a:t>
            </a:r>
            <a:endParaRPr kumimoji="1" lang="ja-JP" altLang="en-US" sz="2800" dirty="0" err="1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37E8007-57A9-E416-FAB9-D4EE8D8EBD60}"/>
              </a:ext>
            </a:extLst>
          </p:cNvPr>
          <p:cNvSpPr txBox="1"/>
          <p:nvPr/>
        </p:nvSpPr>
        <p:spPr>
          <a:xfrm rot="19000125">
            <a:off x="8329039" y="2211425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/>
              <a:t>?</a:t>
            </a:r>
            <a:endParaRPr kumimoji="1" lang="ja-JP" altLang="en-US" sz="2800" dirty="0" err="1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354B56D4-0822-3CA0-CA76-CBD5F0573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254" y="4763849"/>
            <a:ext cx="1034833" cy="1034833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C344C44C-8482-5E66-92E6-64D414311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4356" y="4763850"/>
            <a:ext cx="1034833" cy="1034833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E696F7AA-DB88-AA46-F7CA-D20E13B67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302" y="4775396"/>
            <a:ext cx="1038626" cy="1038626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463887B3-5EEF-0F58-EAF1-EB8D8D1BD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3197" y="4775396"/>
            <a:ext cx="1038626" cy="1038626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p:sp>
        <p:nvSpPr>
          <p:cNvPr id="44" name="角丸四角形 43">
            <a:extLst>
              <a:ext uri="{FF2B5EF4-FFF2-40B4-BE49-F238E27FC236}">
                <a16:creationId xmlns:a16="http://schemas.microsoft.com/office/drawing/2014/main" id="{B2A0AF58-5F1D-E95D-2470-E9C9AFC9E7F4}"/>
              </a:ext>
            </a:extLst>
          </p:cNvPr>
          <p:cNvSpPr/>
          <p:nvPr/>
        </p:nvSpPr>
        <p:spPr>
          <a:xfrm>
            <a:off x="6457371" y="2055514"/>
            <a:ext cx="4817341" cy="1493695"/>
          </a:xfrm>
          <a:prstGeom prst="roundRect">
            <a:avLst>
              <a:gd name="adj" fmla="val 3431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35E5A65-2511-A25C-EE91-8DE5FCF39D55}"/>
              </a:ext>
            </a:extLst>
          </p:cNvPr>
          <p:cNvSpPr txBox="1"/>
          <p:nvPr/>
        </p:nvSpPr>
        <p:spPr>
          <a:xfrm>
            <a:off x="8167518" y="3385029"/>
            <a:ext cx="17829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/>
              <a:t>Pix2Seq</a:t>
            </a:r>
            <a:r>
              <a:rPr kumimoji="1" lang="ja-JP" altLang="en-US"/>
              <a:t>学習時</a:t>
            </a:r>
            <a:endParaRPr lang="ja-JP" altLang="en-US"/>
          </a:p>
        </p:txBody>
      </p:sp>
      <p:sp>
        <p:nvSpPr>
          <p:cNvPr id="12" name="角丸四角形吹き出し 11">
            <a:extLst>
              <a:ext uri="{FF2B5EF4-FFF2-40B4-BE49-F238E27FC236}">
                <a16:creationId xmlns:a16="http://schemas.microsoft.com/office/drawing/2014/main" id="{1AF936DA-7EB4-E700-5499-6BB942089235}"/>
              </a:ext>
            </a:extLst>
          </p:cNvPr>
          <p:cNvSpPr/>
          <p:nvPr/>
        </p:nvSpPr>
        <p:spPr>
          <a:xfrm>
            <a:off x="157693" y="2406497"/>
            <a:ext cx="5712109" cy="888693"/>
          </a:xfrm>
          <a:prstGeom prst="wedgeRoundRectCallout">
            <a:avLst>
              <a:gd name="adj1" fmla="val 62657"/>
              <a:gd name="adj2" fmla="val -70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bg1"/>
                </a:solidFill>
              </a:rPr>
              <a:t>事前学習時の画像に似ていない画像に弱い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(ImageNet</a:t>
            </a:r>
            <a:r>
              <a:rPr lang="ja-JP" altLang="en-US" sz="2000" dirty="0">
                <a:solidFill>
                  <a:schemeClr val="bg1"/>
                </a:solidFill>
              </a:rPr>
              <a:t>は生き物や風景などの現実画像のみ</a:t>
            </a:r>
            <a:r>
              <a:rPr lang="en-US" altLang="ja-JP" sz="20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1026" name="Picture 2" descr="官公庁からテレビ、YouTubeまで…始動から10年、 フリー素材『いらすとや』が変えたイラストレーターの概念 | ORICON NEWS">
            <a:extLst>
              <a:ext uri="{FF2B5EF4-FFF2-40B4-BE49-F238E27FC236}">
                <a16:creationId xmlns:a16="http://schemas.microsoft.com/office/drawing/2014/main" id="{019B2E11-00E7-E78E-2D00-2486C5BE9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323" y="2318260"/>
            <a:ext cx="1065166" cy="1065166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484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B58D4-A1A1-93DA-315C-D3E4B282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事前学習済みモデルの問題点</a:t>
            </a:r>
            <a:r>
              <a:rPr lang="en-US" altLang="ja-JP" dirty="0"/>
              <a:t>Ⅱ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78C858-B91F-C0F0-8267-39CDDE003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モデルが大容量</a:t>
            </a:r>
            <a:r>
              <a:rPr lang="ja-JP" altLang="en-US"/>
              <a:t>かつ</a:t>
            </a:r>
            <a:r>
              <a:rPr lang="en-US" altLang="ja-JP" dirty="0"/>
              <a:t>, </a:t>
            </a:r>
            <a:r>
              <a:rPr kumimoji="1" lang="ja-JP" altLang="en-US"/>
              <a:t>任意に変更できない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/>
              <a:t>→　環境に適したモデルを使えない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事前学習済みモデルのライセンスに則る必要がある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/>
              <a:t>→　二次配布や商業利用を禁じるモデルもある</a:t>
            </a: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>
                <a:solidFill>
                  <a:schemeClr val="bg1"/>
                </a:solidFill>
              </a:rPr>
              <a:t>これらの問題を解決するために</a:t>
            </a:r>
            <a:r>
              <a:rPr lang="en-US" altLang="ja-JP" dirty="0">
                <a:solidFill>
                  <a:schemeClr val="bg1"/>
                </a:solidFill>
              </a:rPr>
              <a:t>, </a:t>
            </a:r>
          </a:p>
          <a:p>
            <a:pPr marL="0" indent="0">
              <a:buNone/>
            </a:pPr>
            <a:endParaRPr lang="en-US" altLang="ja-JP" sz="10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ja-JP" altLang="en-US">
                <a:solidFill>
                  <a:schemeClr val="bg1"/>
                </a:solidFill>
              </a:rPr>
              <a:t>学習時にアノテーションを必要とせず</a:t>
            </a:r>
            <a:r>
              <a:rPr lang="en-US" altLang="ja-JP" dirty="0">
                <a:solidFill>
                  <a:schemeClr val="bg1"/>
                </a:solidFill>
              </a:rPr>
              <a:t>,</a:t>
            </a:r>
          </a:p>
          <a:p>
            <a:pPr marL="457200" lvl="1" indent="0">
              <a:buNone/>
            </a:pPr>
            <a:r>
              <a:rPr lang="ja-JP" altLang="en-US">
                <a:solidFill>
                  <a:schemeClr val="bg1"/>
                </a:solidFill>
              </a:rPr>
              <a:t>任意のモデルが定義できる画像の特徴抽出器</a:t>
            </a:r>
            <a:endParaRPr lang="en-US" altLang="ja-JP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altLang="ja-JP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ja-JP" altLang="en-US">
                <a:solidFill>
                  <a:schemeClr val="bg1"/>
                </a:solidFill>
              </a:rPr>
              <a:t>が必要</a:t>
            </a:r>
            <a:endParaRPr lang="en-US" altLang="ja-JP" dirty="0">
              <a:solidFill>
                <a:schemeClr val="bg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2388DC-D208-CE54-A2A2-ED2DDA89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593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B58D4-A1A1-93DA-315C-D3E4B282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事前学習済みモデルの問題点</a:t>
            </a:r>
            <a:r>
              <a:rPr lang="en-US" altLang="ja-JP" dirty="0"/>
              <a:t>Ⅱ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78C858-B91F-C0F0-8267-39CDDE003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モデルが大容量</a:t>
            </a:r>
            <a:r>
              <a:rPr lang="ja-JP" altLang="en-US" dirty="0"/>
              <a:t>かつ</a:t>
            </a:r>
            <a:r>
              <a:rPr lang="en-US" altLang="ja-JP" dirty="0"/>
              <a:t>, </a:t>
            </a:r>
            <a:r>
              <a:rPr kumimoji="1" lang="ja-JP" altLang="en-US" dirty="0"/>
              <a:t>任意に変更できない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 dirty="0"/>
              <a:t>→　環境に適したモデルを使えない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事前学習済みモデルのライセンスに則る必要がある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→　二次配布や商業利用を禁じるモデルもある</a:t>
            </a: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これらの問題を解決するために</a:t>
            </a:r>
            <a:r>
              <a:rPr lang="en-US" altLang="ja-JP" dirty="0"/>
              <a:t>, </a:t>
            </a:r>
          </a:p>
          <a:p>
            <a:pPr marL="0" indent="0">
              <a:buNone/>
            </a:pPr>
            <a:endParaRPr lang="en-US" altLang="ja-JP" sz="1000" dirty="0"/>
          </a:p>
          <a:p>
            <a:pPr lvl="1"/>
            <a:r>
              <a:rPr lang="ja-JP" altLang="en-US" dirty="0"/>
              <a:t>学習時にアノテーションを必要とせず</a:t>
            </a:r>
            <a:r>
              <a:rPr lang="en-US" altLang="ja-JP" dirty="0"/>
              <a:t>,</a:t>
            </a:r>
          </a:p>
          <a:p>
            <a:pPr lvl="1"/>
            <a:r>
              <a:rPr lang="ja-JP" altLang="en-US" dirty="0"/>
              <a:t>任意のモデルが定義できる画像の特徴抽出器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sz="1000" dirty="0"/>
          </a:p>
          <a:p>
            <a:pPr marL="0" indent="0">
              <a:buNone/>
            </a:pPr>
            <a:r>
              <a:rPr lang="ja-JP" altLang="en-US" dirty="0"/>
              <a:t>が必要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2388DC-D208-CE54-A2A2-ED2DDA89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14</a:t>
            </a:fld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2D70072-E464-B743-BCF7-68283B7E603C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462280" y="3728356"/>
            <a:ext cx="1126744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62C480-5BBB-6B66-C09A-53AB0180ED3B}"/>
              </a:ext>
            </a:extLst>
          </p:cNvPr>
          <p:cNvSpPr/>
          <p:nvPr/>
        </p:nvSpPr>
        <p:spPr>
          <a:xfrm>
            <a:off x="246992" y="1013390"/>
            <a:ext cx="11698014" cy="225827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2091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7A07D9-D5F9-69C9-34DB-57EAE01F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B368BC-5D9A-7FBE-2F81-7550BACF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Pix2Seq</a:t>
            </a:r>
            <a:r>
              <a:rPr kumimoji="1" lang="ja-JP" altLang="en-US" dirty="0"/>
              <a:t>の</a:t>
            </a:r>
            <a:r>
              <a:rPr kumimoji="1" lang="ja-JP" altLang="en-US" dirty="0">
                <a:solidFill>
                  <a:srgbClr val="FF0000"/>
                </a:solidFill>
              </a:rPr>
              <a:t>画像のエンコーダ</a:t>
            </a:r>
            <a:r>
              <a:rPr kumimoji="1" lang="ja-JP" altLang="en-US" dirty="0"/>
              <a:t>として</a:t>
            </a:r>
            <a:r>
              <a:rPr kumimoji="1" lang="en-US" altLang="ja-JP" dirty="0"/>
              <a:t>, </a:t>
            </a:r>
          </a:p>
          <a:p>
            <a:pPr marL="0" indent="0">
              <a:buNone/>
            </a:pPr>
            <a:r>
              <a:rPr kumimoji="1" lang="ja-JP" altLang="en-US" dirty="0"/>
              <a:t>事前に画像を学習した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のエンコーダを用いる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2B5BB8-46F1-D714-01FD-4C623F8D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5" name="図 4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42E5FA08-9FA1-3C2C-0D98-0F54EB803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06" y="2853066"/>
            <a:ext cx="1054223" cy="1052466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6CD024F-142F-20C8-EB9A-7EFCB1802EC4}"/>
                  </a:ext>
                </a:extLst>
              </p:cNvPr>
              <p:cNvSpPr txBox="1"/>
              <p:nvPr/>
            </p:nvSpPr>
            <p:spPr>
              <a:xfrm>
                <a:off x="1778915" y="2201336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6CD024F-142F-20C8-EB9A-7EFCB1802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201336"/>
                <a:ext cx="618480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台形 6">
                <a:extLst>
                  <a:ext uri="{FF2B5EF4-FFF2-40B4-BE49-F238E27FC236}">
                    <a16:creationId xmlns:a16="http://schemas.microsoft.com/office/drawing/2014/main" id="{D3E480E7-604C-8AAB-8FA6-EE7B1188FFED}"/>
                  </a:ext>
                </a:extLst>
              </p:cNvPr>
              <p:cNvSpPr/>
              <p:nvPr/>
            </p:nvSpPr>
            <p:spPr>
              <a:xfrm rot="5400000">
                <a:off x="4521170" y="2742302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台形 6">
                <a:extLst>
                  <a:ext uri="{FF2B5EF4-FFF2-40B4-BE49-F238E27FC236}">
                    <a16:creationId xmlns:a16="http://schemas.microsoft.com/office/drawing/2014/main" id="{D3E480E7-604C-8AAB-8FA6-EE7B1188F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2742302"/>
                <a:ext cx="962952" cy="1258309"/>
              </a:xfrm>
              <a:prstGeom prst="trapezoid">
                <a:avLst/>
              </a:prstGeom>
              <a:blipFill>
                <a:blip r:embed="rId4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986E4B30-FCB1-E2D1-F4D6-46E58AF11640}"/>
                  </a:ext>
                </a:extLst>
              </p:cNvPr>
              <p:cNvSpPr/>
              <p:nvPr/>
            </p:nvSpPr>
            <p:spPr>
              <a:xfrm>
                <a:off x="3382258" y="2160959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986E4B30-FCB1-E2D1-F4D6-46E58AF116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2160959"/>
                <a:ext cx="1278541" cy="450086"/>
              </a:xfrm>
              <a:prstGeom prst="rect">
                <a:avLst/>
              </a:prstGeom>
              <a:blipFill>
                <a:blip r:embed="rId5"/>
                <a:stretch>
                  <a:fillRect l="-8654" r="-2885"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D408E6AF-5351-B6E2-F22E-0D8A4191CE85}"/>
                  </a:ext>
                </a:extLst>
              </p:cNvPr>
              <p:cNvSpPr/>
              <p:nvPr/>
            </p:nvSpPr>
            <p:spPr>
              <a:xfrm>
                <a:off x="5458471" y="2160959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D408E6AF-5351-B6E2-F22E-0D8A4191CE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2160959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596A40D6-7BEC-9E71-2152-EE3624D3778C}"/>
                  </a:ext>
                </a:extLst>
              </p:cNvPr>
              <p:cNvSpPr/>
              <p:nvPr/>
            </p:nvSpPr>
            <p:spPr>
              <a:xfrm>
                <a:off x="7481440" y="2570668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596A40D6-7BEC-9E71-2152-EE3624D37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2570668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20151E1-7C76-8283-C0EF-44895A260A0C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397395" y="2386002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302E62B-78BD-461C-524F-9552EEF31232}"/>
              </a:ext>
            </a:extLst>
          </p:cNvPr>
          <p:cNvCxnSpPr>
            <a:cxnSpLocks/>
            <a:stCxn id="5" idx="3"/>
            <a:endCxn id="7" idx="2"/>
          </p:cNvCxnSpPr>
          <p:nvPr/>
        </p:nvCxnSpPr>
        <p:spPr>
          <a:xfrm flipV="1">
            <a:off x="2519929" y="3371457"/>
            <a:ext cx="1853563" cy="7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4B01A13-3894-B30E-0539-36B7CC3B7B10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flipV="1">
            <a:off x="5631801" y="2795711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080C327-E803-ED35-06F7-39295732B7A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660799" y="2386002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1A7B304-8372-15C1-A3B5-7D6610DD4A0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737012" y="2386002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4091C77-8BA5-86E1-F2E3-D92465F0388E}"/>
                  </a:ext>
                </a:extLst>
              </p:cNvPr>
              <p:cNvSpPr txBox="1"/>
              <p:nvPr/>
            </p:nvSpPr>
            <p:spPr>
              <a:xfrm>
                <a:off x="9557652" y="2611045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4091C77-8BA5-86E1-F2E3-D92465F03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2611045"/>
                <a:ext cx="759691" cy="369332"/>
              </a:xfrm>
              <a:prstGeom prst="rect">
                <a:avLst/>
              </a:prstGeom>
              <a:blipFill>
                <a:blip r:embed="rId8"/>
                <a:stretch>
                  <a:fillRect l="-6557"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6741F9D-0720-8550-B637-86789D9A57CF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8759981" y="2795711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A3D06E7-C088-223C-ABED-BE7074E4BCB7}"/>
                  </a:ext>
                </a:extLst>
              </p:cNvPr>
              <p:cNvSpPr txBox="1"/>
              <p:nvPr/>
            </p:nvSpPr>
            <p:spPr>
              <a:xfrm>
                <a:off x="1807110" y="3194633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A3D06E7-C088-223C-ABED-BE7074E4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10" y="3194633"/>
                <a:ext cx="371414" cy="369332"/>
              </a:xfrm>
              <a:prstGeom prst="rect">
                <a:avLst/>
              </a:prstGeom>
              <a:blipFill>
                <a:blip r:embed="rId9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8965656-5FA2-482B-09EC-AC6B9BA3A4DA}"/>
              </a:ext>
            </a:extLst>
          </p:cNvPr>
          <p:cNvSpPr/>
          <p:nvPr/>
        </p:nvSpPr>
        <p:spPr>
          <a:xfrm>
            <a:off x="4213976" y="2773939"/>
            <a:ext cx="1561763" cy="1200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863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299A01-0EFE-592C-FACB-CBD7FBCA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AutoEncoder[4]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BE30D5-0C9E-9EDA-EF22-BE7CAFD05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ニューラルネットワークを使用した教師</a:t>
            </a:r>
            <a:r>
              <a:rPr kumimoji="1" lang="ja-JP" altLang="en-US"/>
              <a:t>無し学習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/>
              <a:t>データの</a:t>
            </a:r>
            <a:r>
              <a:rPr lang="ja-JP" altLang="en-US">
                <a:solidFill>
                  <a:srgbClr val="FF0000"/>
                </a:solidFill>
              </a:rPr>
              <a:t>アノテーションを必要としない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endParaRPr lang="en-US" altLang="ja-JP" dirty="0"/>
          </a:p>
          <a:p>
            <a:r>
              <a:rPr kumimoji="1" lang="ja-JP" altLang="en-US" dirty="0"/>
              <a:t>データの次元圧縮・</a:t>
            </a:r>
            <a:r>
              <a:rPr kumimoji="1" lang="ja-JP" altLang="en-US" dirty="0">
                <a:solidFill>
                  <a:srgbClr val="FF0000"/>
                </a:solidFill>
              </a:rPr>
              <a:t>特徴抽出</a:t>
            </a:r>
            <a:r>
              <a:rPr kumimoji="1" lang="ja-JP" altLang="en-US"/>
              <a:t>ができる</a:t>
            </a:r>
            <a:endParaRPr kumimoji="1" lang="en-US" altLang="ja-JP" dirty="0"/>
          </a:p>
          <a:p>
            <a:endParaRPr lang="en-US" altLang="ja-JP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66F93CE-2FC3-C580-FB6E-DC9B6AC1D225}"/>
              </a:ext>
            </a:extLst>
          </p:cNvPr>
          <p:cNvGrpSpPr/>
          <p:nvPr/>
        </p:nvGrpSpPr>
        <p:grpSpPr>
          <a:xfrm>
            <a:off x="1991544" y="4293096"/>
            <a:ext cx="1261474" cy="1259372"/>
            <a:chOff x="1780534" y="4183377"/>
            <a:chExt cx="1333602" cy="1331380"/>
          </a:xfrm>
        </p:grpSpPr>
        <p:pic>
          <p:nvPicPr>
            <p:cNvPr id="4" name="図 3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04AF5BBC-E07F-7B15-4257-09E8FFEA8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0534" y="4183377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CA47F749-506D-6645-E56F-7DF70345303B}"/>
                    </a:ext>
                  </a:extLst>
                </p:cNvPr>
                <p:cNvSpPr txBox="1"/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CA47F749-506D-6645-E56F-7DF703453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blipFill>
                  <a:blip r:embed="rId4"/>
                  <a:stretch>
                    <a:fillRect b="-259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63BFC51-3E12-7DA7-396C-F2FB0E8F9B84}"/>
              </a:ext>
            </a:extLst>
          </p:cNvPr>
          <p:cNvGrpSpPr/>
          <p:nvPr/>
        </p:nvGrpSpPr>
        <p:grpSpPr>
          <a:xfrm>
            <a:off x="8907972" y="4292214"/>
            <a:ext cx="1261474" cy="1259372"/>
            <a:chOff x="4035398" y="4275392"/>
            <a:chExt cx="1333602" cy="1331380"/>
          </a:xfrm>
        </p:grpSpPr>
        <p:pic>
          <p:nvPicPr>
            <p:cNvPr id="6" name="図 5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90B66B6A-9B88-0B10-D6BF-8B1FB8FD8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5398" y="4275392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C9CBB214-AC40-F6A2-3C41-2E444A558731}"/>
                    </a:ext>
                  </a:extLst>
                </p:cNvPr>
                <p:cNvSpPr txBox="1"/>
                <p:nvPr/>
              </p:nvSpPr>
              <p:spPr>
                <a:xfrm>
                  <a:off x="4249557" y="4742149"/>
                  <a:ext cx="875540" cy="3503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C9CBB214-AC40-F6A2-3C41-2E444A5587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9557" y="4742149"/>
                  <a:ext cx="875540" cy="350388"/>
                </a:xfrm>
                <a:prstGeom prst="rect">
                  <a:avLst/>
                </a:prstGeom>
                <a:blipFill>
                  <a:blip r:embed="rId7"/>
                  <a:stretch>
                    <a:fillRect l="-4545" r="-1515" b="-259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28E22F2-2E00-EE3A-DC45-2D1F8BD4FED9}"/>
                  </a:ext>
                </a:extLst>
              </p:cNvPr>
              <p:cNvSpPr txBox="1"/>
              <p:nvPr/>
            </p:nvSpPr>
            <p:spPr>
              <a:xfrm>
                <a:off x="5844158" y="4661172"/>
                <a:ext cx="503683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28E22F2-2E00-EE3A-DC45-2D1F8BD4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158" y="4661172"/>
                <a:ext cx="50368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FE85046-9F44-96DF-E459-98D9DBC88E1F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>
            <a:off x="3253018" y="4922782"/>
            <a:ext cx="7129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E59742F-C0BE-7D12-FD07-D2606EDC82C8}"/>
              </a:ext>
            </a:extLst>
          </p:cNvPr>
          <p:cNvCxnSpPr>
            <a:cxnSpLocks/>
            <a:stCxn id="12" idx="0"/>
            <a:endCxn id="13" idx="1"/>
          </p:cNvCxnSpPr>
          <p:nvPr/>
        </p:nvCxnSpPr>
        <p:spPr>
          <a:xfrm>
            <a:off x="5123917" y="4922782"/>
            <a:ext cx="7202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FD15B1B-7F23-7612-61A5-7805694B34BE}"/>
              </a:ext>
            </a:extLst>
          </p:cNvPr>
          <p:cNvCxnSpPr>
            <a:cxnSpLocks/>
            <a:stCxn id="13" idx="3"/>
            <a:endCxn id="17" idx="0"/>
          </p:cNvCxnSpPr>
          <p:nvPr/>
        </p:nvCxnSpPr>
        <p:spPr>
          <a:xfrm flipV="1">
            <a:off x="6347841" y="4915583"/>
            <a:ext cx="654036" cy="7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75DAD0F-489F-6EE4-68C5-D2FD3AEF0846}"/>
              </a:ext>
            </a:extLst>
          </p:cNvPr>
          <p:cNvCxnSpPr>
            <a:cxnSpLocks/>
            <a:stCxn id="17" idx="2"/>
            <a:endCxn id="6" idx="1"/>
          </p:cNvCxnSpPr>
          <p:nvPr/>
        </p:nvCxnSpPr>
        <p:spPr>
          <a:xfrm>
            <a:off x="8159805" y="4915583"/>
            <a:ext cx="748167" cy="6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台形 11">
            <a:extLst>
              <a:ext uri="{FF2B5EF4-FFF2-40B4-BE49-F238E27FC236}">
                <a16:creationId xmlns:a16="http://schemas.microsoft.com/office/drawing/2014/main" id="{52AD2C0C-5B5B-98B8-BC34-A7640293D8B1}"/>
              </a:ext>
            </a:extLst>
          </p:cNvPr>
          <p:cNvSpPr/>
          <p:nvPr/>
        </p:nvSpPr>
        <p:spPr>
          <a:xfrm rot="5400000">
            <a:off x="3915267" y="4343818"/>
            <a:ext cx="1259372" cy="1157928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encoder</a:t>
            </a:r>
            <a:endParaRPr kumimoji="1" lang="ja-JP" altLang="en-US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台形 16">
            <a:extLst>
              <a:ext uri="{FF2B5EF4-FFF2-40B4-BE49-F238E27FC236}">
                <a16:creationId xmlns:a16="http://schemas.microsoft.com/office/drawing/2014/main" id="{D259ABE4-9206-1B20-E333-757F3D3B5BF4}"/>
              </a:ext>
            </a:extLst>
          </p:cNvPr>
          <p:cNvSpPr/>
          <p:nvPr/>
        </p:nvSpPr>
        <p:spPr>
          <a:xfrm rot="16200000" flipH="1">
            <a:off x="6951155" y="4336619"/>
            <a:ext cx="1259372" cy="1157928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kumimoji="1" lang="ja-JP" altLang="en-US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91C2CD22-0EE6-2EC6-F46B-A97F587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D65C3F7-F359-43CA-C533-8DDAF0BA7E1E}"/>
              </a:ext>
            </a:extLst>
          </p:cNvPr>
          <p:cNvSpPr txBox="1"/>
          <p:nvPr/>
        </p:nvSpPr>
        <p:spPr>
          <a:xfrm>
            <a:off x="462281" y="6292065"/>
            <a:ext cx="1126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ja-JP" sz="1050" dirty="0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[4] G. E. Hinton, et al. "Reducing the dimensionality of data with neural networks." Science Vol.313, No.5786, PP.504-507 (2006).</a:t>
            </a:r>
            <a:endParaRPr lang="ja-JP" altLang="ja-JP" sz="1050" dirty="0">
              <a:effectLst/>
              <a:latin typeface="+mj-lt"/>
              <a:ea typeface="ＭＳ 明朝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1DED827-6C24-5EF8-ED2C-1B30A148F215}"/>
              </a:ext>
            </a:extLst>
          </p:cNvPr>
          <p:cNvSpPr txBox="1"/>
          <p:nvPr/>
        </p:nvSpPr>
        <p:spPr>
          <a:xfrm>
            <a:off x="7001877" y="4712472"/>
            <a:ext cx="115227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decoder 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0406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6F84F5E1-A26F-3E97-8682-97A56DFA0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5154" y="4289496"/>
            <a:ext cx="1261474" cy="1259372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0299A01-0EFE-592C-FACB-CBD7FBCA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 err="1"/>
              <a:t>AutoEncoder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9BE30D5-0C9E-9EDA-EF22-BE7CAFD05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ja-JP" altLang="en-US" dirty="0"/>
                  <a:t>入力したデータを復元するように学習</a:t>
                </a:r>
                <a:endParaRPr kumimoji="1" lang="en-US" altLang="ja-JP" dirty="0"/>
              </a:p>
              <a:p>
                <a:endParaRPr kumimoji="1" lang="en-US" altLang="ja-JP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𝑑𝑒𝑐𝑜𝑑𝑒𝑟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𝑒𝑛𝑐𝑜𝑑𝑒𝑟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#(1)</m:t>
                          </m:r>
                        </m:e>
                      </m:eqArr>
                    </m:oMath>
                  </m:oMathPara>
                </a14:m>
                <a:endParaRPr kumimoji="1" lang="en-US" altLang="ja-JP" b="0" dirty="0"/>
              </a:p>
              <a:p>
                <a:pPr marL="0" indent="0">
                  <a:buNone/>
                </a:pPr>
                <a:r>
                  <a:rPr kumimoji="1" lang="en-US" altLang="ja-JP" b="0" dirty="0"/>
                  <a:t>※</a:t>
                </a:r>
                <a:r>
                  <a:rPr kumimoji="1" lang="ja-JP" altLang="en-US" b="0" dirty="0"/>
                  <a:t>　</a:t>
                </a:r>
                <a:r>
                  <a:rPr kumimoji="1" lang="en-US" altLang="ja-JP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kumimoji="1" lang="en-US" altLang="ja-JP" b="0" dirty="0"/>
                  <a:t> : </a:t>
                </a:r>
                <a:r>
                  <a:rPr kumimoji="1" lang="ja-JP" altLang="en-US" b="0" dirty="0"/>
                  <a:t>エンコーダのパラメータ</a:t>
                </a:r>
                <a:r>
                  <a:rPr kumimoji="1" lang="en-US" altLang="ja-JP" b="0" dirty="0"/>
                  <a:t>, </a:t>
                </a:r>
                <a:r>
                  <a:rPr kumimoji="1" lang="ja-JP" altLang="en-US" b="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1" lang="en-US" altLang="ja-JP" b="0" dirty="0"/>
                  <a:t> </a:t>
                </a:r>
                <a:r>
                  <a:rPr kumimoji="1" lang="en-US" altLang="ja-JP" sz="1200" b="0" dirty="0"/>
                  <a:t> </a:t>
                </a:r>
                <a:r>
                  <a:rPr kumimoji="1" lang="en-US" altLang="ja-JP" b="0" dirty="0"/>
                  <a:t>: </a:t>
                </a:r>
                <a:r>
                  <a:rPr kumimoji="1" lang="ja-JP" altLang="en-US" b="0" dirty="0"/>
                  <a:t>デコーダのパラメータ</a:t>
                </a:r>
                <a:endParaRPr kumimoji="1" lang="en-US" altLang="ja-JP" b="0" dirty="0"/>
              </a:p>
              <a:p>
                <a:pPr marL="0" indent="0">
                  <a:buNone/>
                </a:pPr>
                <a:r>
                  <a:rPr lang="ja-JP" altLang="en-US" dirty="0"/>
                  <a:t>　　　</a:t>
                </a:r>
                <a:r>
                  <a:rPr kumimoji="1" lang="en-US" altLang="ja-JP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1" lang="en-US" altLang="ja-JP" b="0" dirty="0"/>
                  <a:t> </a:t>
                </a:r>
                <a:r>
                  <a:rPr kumimoji="1" lang="ja-JP" altLang="en-US" b="0" dirty="0"/>
                  <a:t>  </a:t>
                </a:r>
                <a:r>
                  <a:rPr kumimoji="1" lang="en-US" altLang="ja-JP" b="0" dirty="0"/>
                  <a:t>: </a:t>
                </a:r>
                <a:r>
                  <a:rPr kumimoji="1" lang="ja-JP" altLang="en-US" b="0" dirty="0"/>
                  <a:t>任意の誤差関数</a:t>
                </a:r>
                <a:r>
                  <a:rPr kumimoji="1" lang="en-US" altLang="ja-JP" b="0" dirty="0"/>
                  <a:t>(MSE</a:t>
                </a:r>
                <a:r>
                  <a:rPr kumimoji="1" lang="ja-JP" altLang="en-US" b="0" dirty="0"/>
                  <a:t>等</a:t>
                </a:r>
                <a:r>
                  <a:rPr kumimoji="1" lang="en-US" altLang="ja-JP" b="0" dirty="0"/>
                  <a:t>),</a:t>
                </a:r>
                <a:r>
                  <a:rPr kumimoji="1" lang="ja-JP" altLang="en-US" b="0" dirty="0"/>
                  <a:t>　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kumimoji="1" lang="en-US" altLang="ja-JP" b="0" dirty="0"/>
                  <a:t> </a:t>
                </a:r>
                <a:r>
                  <a:rPr kumimoji="1" lang="ja-JP" altLang="en-US" b="0" dirty="0"/>
                  <a:t>  </a:t>
                </a:r>
                <a:r>
                  <a:rPr kumimoji="1" lang="ja-JP" altLang="en-US" sz="1000" b="0" dirty="0"/>
                  <a:t> </a:t>
                </a:r>
                <a:r>
                  <a:rPr kumimoji="1" lang="en-US" altLang="ja-JP" b="0" dirty="0"/>
                  <a:t>: </a:t>
                </a:r>
                <a:r>
                  <a:rPr kumimoji="1" lang="ja-JP" altLang="en-US" b="0" dirty="0"/>
                  <a:t>入力</a:t>
                </a:r>
                <a:endParaRPr kumimoji="1" lang="en-US" altLang="ja-JP" b="0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9BE30D5-0C9E-9EDA-EF22-BE7CAFD05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136" t="-19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66F93CE-2FC3-C580-FB6E-DC9B6AC1D225}"/>
              </a:ext>
            </a:extLst>
          </p:cNvPr>
          <p:cNvGrpSpPr/>
          <p:nvPr/>
        </p:nvGrpSpPr>
        <p:grpSpPr>
          <a:xfrm>
            <a:off x="1991544" y="4293096"/>
            <a:ext cx="1261474" cy="1259372"/>
            <a:chOff x="1780534" y="4183377"/>
            <a:chExt cx="1333602" cy="1331380"/>
          </a:xfrm>
        </p:grpSpPr>
        <p:pic>
          <p:nvPicPr>
            <p:cNvPr id="4" name="図 3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04AF5BBC-E07F-7B15-4257-09E8FFEA8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0534" y="4183377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CA47F749-506D-6645-E56F-7DF70345303B}"/>
                    </a:ext>
                  </a:extLst>
                </p:cNvPr>
                <p:cNvSpPr txBox="1"/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CA47F749-506D-6645-E56F-7DF703453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blipFill>
                  <a:blip r:embed="rId7"/>
                  <a:stretch>
                    <a:fillRect b="-27778"/>
                  </a:stretch>
                </a:blipFill>
                <a:ln w="38100"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9CBB214-AC40-F6A2-3C41-2E444A558731}"/>
                  </a:ext>
                </a:extLst>
              </p:cNvPr>
              <p:cNvSpPr txBox="1"/>
              <p:nvPr/>
            </p:nvSpPr>
            <p:spPr>
              <a:xfrm>
                <a:off x="9085916" y="4734608"/>
                <a:ext cx="828186" cy="33143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sub>
                      </m:sSub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9CBB214-AC40-F6A2-3C41-2E444A558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916" y="4734608"/>
                <a:ext cx="828186" cy="331437"/>
              </a:xfrm>
              <a:prstGeom prst="rect">
                <a:avLst/>
              </a:prstGeom>
              <a:blipFill>
                <a:blip r:embed="rId8"/>
                <a:stretch>
                  <a:fillRect l="-4412" r="-2206" b="-2592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28E22F2-2E00-EE3A-DC45-2D1F8BD4FED9}"/>
                  </a:ext>
                </a:extLst>
              </p:cNvPr>
              <p:cNvSpPr txBox="1"/>
              <p:nvPr/>
            </p:nvSpPr>
            <p:spPr>
              <a:xfrm>
                <a:off x="5843948" y="4661172"/>
                <a:ext cx="503683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28E22F2-2E00-EE3A-DC45-2D1F8BD4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948" y="4661172"/>
                <a:ext cx="50368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FE85046-9F44-96DF-E459-98D9DBC88E1F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>
            <a:off x="3253018" y="4922782"/>
            <a:ext cx="7129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E59742F-C0BE-7D12-FD07-D2606EDC82C8}"/>
              </a:ext>
            </a:extLst>
          </p:cNvPr>
          <p:cNvCxnSpPr>
            <a:cxnSpLocks/>
            <a:stCxn id="12" idx="0"/>
            <a:endCxn id="13" idx="1"/>
          </p:cNvCxnSpPr>
          <p:nvPr/>
        </p:nvCxnSpPr>
        <p:spPr>
          <a:xfrm>
            <a:off x="5123917" y="4922782"/>
            <a:ext cx="7200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FD15B1B-7F23-7612-61A5-7805694B34BE}"/>
              </a:ext>
            </a:extLst>
          </p:cNvPr>
          <p:cNvCxnSpPr>
            <a:cxnSpLocks/>
            <a:stCxn id="13" idx="3"/>
            <a:endCxn id="17" idx="0"/>
          </p:cNvCxnSpPr>
          <p:nvPr/>
        </p:nvCxnSpPr>
        <p:spPr>
          <a:xfrm flipV="1">
            <a:off x="6347631" y="4915583"/>
            <a:ext cx="654246" cy="7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75DAD0F-489F-6EE4-68C5-D2FD3AEF0846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159805" y="4915583"/>
            <a:ext cx="709467" cy="7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台形 11">
            <a:extLst>
              <a:ext uri="{FF2B5EF4-FFF2-40B4-BE49-F238E27FC236}">
                <a16:creationId xmlns:a16="http://schemas.microsoft.com/office/drawing/2014/main" id="{52AD2C0C-5B5B-98B8-BC34-A7640293D8B1}"/>
              </a:ext>
            </a:extLst>
          </p:cNvPr>
          <p:cNvSpPr/>
          <p:nvPr/>
        </p:nvSpPr>
        <p:spPr>
          <a:xfrm rot="5400000">
            <a:off x="3915267" y="4343818"/>
            <a:ext cx="1259372" cy="1157928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encoder</a:t>
            </a:r>
            <a:endParaRPr kumimoji="1" lang="ja-JP" altLang="en-US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台形 16">
            <a:extLst>
              <a:ext uri="{FF2B5EF4-FFF2-40B4-BE49-F238E27FC236}">
                <a16:creationId xmlns:a16="http://schemas.microsoft.com/office/drawing/2014/main" id="{D259ABE4-9206-1B20-E333-757F3D3B5BF4}"/>
              </a:ext>
            </a:extLst>
          </p:cNvPr>
          <p:cNvSpPr/>
          <p:nvPr/>
        </p:nvSpPr>
        <p:spPr>
          <a:xfrm rot="16200000" flipH="1">
            <a:off x="6951155" y="4336619"/>
            <a:ext cx="1259372" cy="1157928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kumimoji="1" lang="ja-JP" altLang="en-US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91C2CD22-0EE6-2EC6-F46B-A97F587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17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717BB838-A01D-CB7E-7BA6-DCD5B9E83280}"/>
              </a:ext>
            </a:extLst>
          </p:cNvPr>
          <p:cNvGrpSpPr/>
          <p:nvPr/>
        </p:nvGrpSpPr>
        <p:grpSpPr>
          <a:xfrm>
            <a:off x="10720088" y="4293096"/>
            <a:ext cx="1261474" cy="1259372"/>
            <a:chOff x="1780534" y="4183377"/>
            <a:chExt cx="1333602" cy="1331380"/>
          </a:xfrm>
        </p:grpSpPr>
        <p:pic>
          <p:nvPicPr>
            <p:cNvPr id="15" name="図 14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C342D571-F7B9-F588-5876-1C18E6350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0534" y="4183377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9AF517E8-6E9A-13B6-0AE0-26019955C83E}"/>
                    </a:ext>
                  </a:extLst>
                </p:cNvPr>
                <p:cNvSpPr txBox="1"/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9AF517E8-6E9A-13B6-0AE0-26019955C8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blipFill>
                  <a:blip r:embed="rId10"/>
                  <a:stretch>
                    <a:fillRect b="-259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2CDB749-566E-0996-B545-AC1953FF6E18}"/>
              </a:ext>
            </a:extLst>
          </p:cNvPr>
          <p:cNvCxnSpPr>
            <a:cxnSpLocks/>
          </p:cNvCxnSpPr>
          <p:nvPr/>
        </p:nvCxnSpPr>
        <p:spPr>
          <a:xfrm>
            <a:off x="10416480" y="3702867"/>
            <a:ext cx="0" cy="2174405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86B0C5A-C436-48A6-CD15-D0409770B8C4}"/>
              </a:ext>
            </a:extLst>
          </p:cNvPr>
          <p:cNvCxnSpPr>
            <a:cxnSpLocks/>
            <a:endCxn id="15" idx="2"/>
          </p:cNvCxnSpPr>
          <p:nvPr/>
        </p:nvCxnSpPr>
        <p:spPr>
          <a:xfrm rot="16200000" flipH="1">
            <a:off x="10425417" y="4627060"/>
            <a:ext cx="12700" cy="1850816"/>
          </a:xfrm>
          <a:prstGeom prst="curvedConnector3">
            <a:avLst>
              <a:gd name="adj1" fmla="val 42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3E0C499-759C-45F5-6794-03D39BBF8D6B}"/>
              </a:ext>
            </a:extLst>
          </p:cNvPr>
          <p:cNvSpPr txBox="1"/>
          <p:nvPr/>
        </p:nvSpPr>
        <p:spPr>
          <a:xfrm>
            <a:off x="9768409" y="6083643"/>
            <a:ext cx="1296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近づける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690ACD17-FB05-D3DF-2D49-25CD8C165E97}"/>
              </a:ext>
            </a:extLst>
          </p:cNvPr>
          <p:cNvCxnSpPr>
            <a:cxnSpLocks/>
            <a:stCxn id="4" idx="0"/>
            <a:endCxn id="15" idx="0"/>
          </p:cNvCxnSpPr>
          <p:nvPr/>
        </p:nvCxnSpPr>
        <p:spPr>
          <a:xfrm rot="5400000" flipH="1" flipV="1">
            <a:off x="6986553" y="-71176"/>
            <a:ext cx="12700" cy="8728544"/>
          </a:xfrm>
          <a:prstGeom prst="bentConnector3">
            <a:avLst>
              <a:gd name="adj1" fmla="val 3400000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35C1F5A7-392B-84D9-4BBF-E77B8207D188}"/>
                  </a:ext>
                </a:extLst>
              </p:cNvPr>
              <p:cNvSpPr txBox="1"/>
              <p:nvPr/>
            </p:nvSpPr>
            <p:spPr>
              <a:xfrm>
                <a:off x="6750034" y="3597460"/>
                <a:ext cx="503683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35C1F5A7-392B-84D9-4BBF-E77B8207D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034" y="3597460"/>
                <a:ext cx="50368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F1364B9-B513-3FFE-3955-42E9035DDAD2}"/>
              </a:ext>
            </a:extLst>
          </p:cNvPr>
          <p:cNvSpPr txBox="1"/>
          <p:nvPr/>
        </p:nvSpPr>
        <p:spPr>
          <a:xfrm>
            <a:off x="7001877" y="4712472"/>
            <a:ext cx="115227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decoder </a:t>
            </a:r>
            <a:endParaRPr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756530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A4862D58-9387-76F6-ECC7-B6ECADDD36B5}"/>
              </a:ext>
            </a:extLst>
          </p:cNvPr>
          <p:cNvSpPr/>
          <p:nvPr/>
        </p:nvSpPr>
        <p:spPr>
          <a:xfrm>
            <a:off x="3575720" y="1484784"/>
            <a:ext cx="5040560" cy="1800200"/>
          </a:xfrm>
          <a:prstGeom prst="roundRect">
            <a:avLst/>
          </a:prstGeom>
          <a:noFill/>
          <a:ln w="5715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A874F55-05C7-C729-131F-7FD2377F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提案手法の学習モデル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55A6572-B9A0-39B0-688F-5CDB28813227}"/>
              </a:ext>
            </a:extLst>
          </p:cNvPr>
          <p:cNvGrpSpPr/>
          <p:nvPr/>
        </p:nvGrpSpPr>
        <p:grpSpPr>
          <a:xfrm>
            <a:off x="1117116" y="1700808"/>
            <a:ext cx="1333602" cy="1331380"/>
            <a:chOff x="1780534" y="4183377"/>
            <a:chExt cx="1333602" cy="1331380"/>
          </a:xfrm>
        </p:grpSpPr>
        <p:pic>
          <p:nvPicPr>
            <p:cNvPr id="18" name="図 17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8E745A32-F211-3923-CF2B-ED50467D9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0534" y="4183377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4EC6AF2-8A91-0F5B-85FF-25648324824A}"/>
                    </a:ext>
                  </a:extLst>
                </p:cNvPr>
                <p:cNvSpPr txBox="1"/>
                <p:nvPr/>
              </p:nvSpPr>
              <p:spPr>
                <a:xfrm>
                  <a:off x="2009565" y="4650134"/>
                  <a:ext cx="875540" cy="3978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4EC6AF2-8A91-0F5B-85FF-256483248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565" y="4650134"/>
                  <a:ext cx="875540" cy="397866"/>
                </a:xfrm>
                <a:prstGeom prst="rect">
                  <a:avLst/>
                </a:prstGeom>
                <a:blipFill>
                  <a:blip r:embed="rId4"/>
                  <a:stretch>
                    <a:fillRect l="-4348" r="-1449" b="-2121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30753EE-690C-291F-E1E6-15641A958D8B}"/>
              </a:ext>
            </a:extLst>
          </p:cNvPr>
          <p:cNvGrpSpPr/>
          <p:nvPr/>
        </p:nvGrpSpPr>
        <p:grpSpPr>
          <a:xfrm>
            <a:off x="9741282" y="1708008"/>
            <a:ext cx="1333602" cy="1331380"/>
            <a:chOff x="4020526" y="4275392"/>
            <a:chExt cx="1333602" cy="1331380"/>
          </a:xfrm>
        </p:grpSpPr>
        <p:pic>
          <p:nvPicPr>
            <p:cNvPr id="21" name="図 20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13482717-F66E-7B39-4C91-B4036544E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0526" y="4275392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30E378E2-4940-1459-E133-AE46B5A3C3F2}"/>
                    </a:ext>
                  </a:extLst>
                </p:cNvPr>
                <p:cNvSpPr txBox="1"/>
                <p:nvPr/>
              </p:nvSpPr>
              <p:spPr>
                <a:xfrm>
                  <a:off x="4184608" y="4731992"/>
                  <a:ext cx="1005437" cy="3978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30E378E2-4940-1459-E133-AE46B5A3C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608" y="4731992"/>
                  <a:ext cx="1005437" cy="397866"/>
                </a:xfrm>
                <a:prstGeom prst="rect">
                  <a:avLst/>
                </a:prstGeom>
                <a:blipFill>
                  <a:blip r:embed="rId7"/>
                  <a:stretch>
                    <a:fillRect l="-5000" b="-218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2D339EC-8EEE-F194-D5B7-67848E5842DE}"/>
                  </a:ext>
                </a:extLst>
              </p:cNvPr>
              <p:cNvSpPr txBox="1"/>
              <p:nvPr/>
            </p:nvSpPr>
            <p:spPr>
              <a:xfrm>
                <a:off x="5830968" y="2143656"/>
                <a:ext cx="53248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2D339EC-8EEE-F194-D5B7-67848E584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68" y="2143656"/>
                <a:ext cx="53248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A2A5A8E-2ABC-73D7-9A74-D7413B9FFDF9}"/>
              </a:ext>
            </a:extLst>
          </p:cNvPr>
          <p:cNvCxnSpPr>
            <a:cxnSpLocks/>
            <a:stCxn id="18" idx="3"/>
            <a:endCxn id="28" idx="2"/>
          </p:cNvCxnSpPr>
          <p:nvPr/>
        </p:nvCxnSpPr>
        <p:spPr>
          <a:xfrm>
            <a:off x="2450718" y="2366498"/>
            <a:ext cx="1515271" cy="72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118ADBC-4DC0-884B-2CD0-C1FEF126C241}"/>
              </a:ext>
            </a:extLst>
          </p:cNvPr>
          <p:cNvCxnSpPr>
            <a:cxnSpLocks/>
            <a:stCxn id="28" idx="0"/>
            <a:endCxn id="23" idx="1"/>
          </p:cNvCxnSpPr>
          <p:nvPr/>
        </p:nvCxnSpPr>
        <p:spPr>
          <a:xfrm>
            <a:off x="5190125" y="2373698"/>
            <a:ext cx="640843" cy="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7050E732-C260-62D2-03A8-E2F3F5DAA166}"/>
              </a:ext>
            </a:extLst>
          </p:cNvPr>
          <p:cNvCxnSpPr>
            <a:cxnSpLocks/>
            <a:stCxn id="23" idx="3"/>
            <a:endCxn id="29" idx="0"/>
          </p:cNvCxnSpPr>
          <p:nvPr/>
        </p:nvCxnSpPr>
        <p:spPr>
          <a:xfrm flipV="1">
            <a:off x="6363450" y="2366499"/>
            <a:ext cx="638427" cy="79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3D8918C-ED20-C562-15F5-433B0A09A8E9}"/>
              </a:ext>
            </a:extLst>
          </p:cNvPr>
          <p:cNvCxnSpPr>
            <a:cxnSpLocks/>
            <a:stCxn id="29" idx="2"/>
            <a:endCxn id="21" idx="1"/>
          </p:cNvCxnSpPr>
          <p:nvPr/>
        </p:nvCxnSpPr>
        <p:spPr>
          <a:xfrm>
            <a:off x="8226013" y="2366499"/>
            <a:ext cx="1515269" cy="7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台形 27">
            <a:extLst>
              <a:ext uri="{FF2B5EF4-FFF2-40B4-BE49-F238E27FC236}">
                <a16:creationId xmlns:a16="http://schemas.microsoft.com/office/drawing/2014/main" id="{C3F48A93-AF3D-0B0D-3AAA-71C79F1AD7F1}"/>
              </a:ext>
            </a:extLst>
          </p:cNvPr>
          <p:cNvSpPr/>
          <p:nvPr/>
        </p:nvSpPr>
        <p:spPr>
          <a:xfrm rot="5400000">
            <a:off x="3912367" y="1761630"/>
            <a:ext cx="1331380" cy="1224136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encoder</a:t>
            </a:r>
            <a:endParaRPr kumimoji="1" lang="ja-JP" altLang="en-US" sz="2000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9" name="台形 28">
            <a:extLst>
              <a:ext uri="{FF2B5EF4-FFF2-40B4-BE49-F238E27FC236}">
                <a16:creationId xmlns:a16="http://schemas.microsoft.com/office/drawing/2014/main" id="{66AF8946-D151-27C8-E2B3-0E29DA70D5F8}"/>
              </a:ext>
            </a:extLst>
          </p:cNvPr>
          <p:cNvSpPr/>
          <p:nvPr/>
        </p:nvSpPr>
        <p:spPr>
          <a:xfrm rot="16200000" flipH="1">
            <a:off x="6948255" y="1754431"/>
            <a:ext cx="1331380" cy="1224136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kumimoji="1" lang="ja-JP" altLang="en-US" sz="2000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DED438E-E7C4-8D95-C9A7-B01BD3EA60EA}"/>
                  </a:ext>
                </a:extLst>
              </p:cNvPr>
              <p:cNvSpPr txBox="1"/>
              <p:nvPr/>
            </p:nvSpPr>
            <p:spPr>
              <a:xfrm>
                <a:off x="4578057" y="1137212"/>
                <a:ext cx="3105951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𝑢𝑡𝑜𝐸𝑛𝑐𝑜𝑑𝑒𝑟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DED438E-E7C4-8D95-C9A7-B01BD3EA6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057" y="1137212"/>
                <a:ext cx="310595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7DC9F1-14CE-E26A-5AA7-AB013AFA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4C5EDF-78B6-438F-00D7-778F98B964F5}"/>
              </a:ext>
            </a:extLst>
          </p:cNvPr>
          <p:cNvSpPr txBox="1"/>
          <p:nvPr/>
        </p:nvSpPr>
        <p:spPr>
          <a:xfrm>
            <a:off x="7001877" y="2190000"/>
            <a:ext cx="115227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decoder 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9107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B5DD0C7B-5B22-7F68-72A7-4F5212116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26" y="3537864"/>
            <a:ext cx="1333602" cy="133138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A4862D58-9387-76F6-ECC7-B6ECADDD36B5}"/>
              </a:ext>
            </a:extLst>
          </p:cNvPr>
          <p:cNvSpPr/>
          <p:nvPr/>
        </p:nvSpPr>
        <p:spPr>
          <a:xfrm>
            <a:off x="3575720" y="1484784"/>
            <a:ext cx="5040560" cy="1800200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A874F55-05C7-C729-131F-7FD2377F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提案手法の学習モデル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2D339EC-8EEE-F194-D5B7-67848E5842DE}"/>
                  </a:ext>
                </a:extLst>
              </p:cNvPr>
              <p:cNvSpPr txBox="1"/>
              <p:nvPr/>
            </p:nvSpPr>
            <p:spPr>
              <a:xfrm>
                <a:off x="5830968" y="2143656"/>
                <a:ext cx="53248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2D339EC-8EEE-F194-D5B7-67848E584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68" y="2143656"/>
                <a:ext cx="53248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118ADBC-4DC0-884B-2CD0-C1FEF126C241}"/>
              </a:ext>
            </a:extLst>
          </p:cNvPr>
          <p:cNvCxnSpPr>
            <a:cxnSpLocks/>
            <a:stCxn id="28" idx="0"/>
            <a:endCxn id="23" idx="1"/>
          </p:cNvCxnSpPr>
          <p:nvPr/>
        </p:nvCxnSpPr>
        <p:spPr>
          <a:xfrm>
            <a:off x="5190125" y="2373698"/>
            <a:ext cx="640843" cy="791"/>
          </a:xfrm>
          <a:prstGeom prst="straightConnector1">
            <a:avLst/>
          </a:prstGeom>
          <a:ln w="19050">
            <a:solidFill>
              <a:srgbClr val="5BD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台形 27">
            <a:extLst>
              <a:ext uri="{FF2B5EF4-FFF2-40B4-BE49-F238E27FC236}">
                <a16:creationId xmlns:a16="http://schemas.microsoft.com/office/drawing/2014/main" id="{C3F48A93-AF3D-0B0D-3AAA-71C79F1AD7F1}"/>
              </a:ext>
            </a:extLst>
          </p:cNvPr>
          <p:cNvSpPr/>
          <p:nvPr/>
        </p:nvSpPr>
        <p:spPr>
          <a:xfrm rot="5400000">
            <a:off x="3912367" y="1761630"/>
            <a:ext cx="1331380" cy="1224136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encoder</a:t>
            </a:r>
          </a:p>
          <a:p>
            <a:pPr algn="ctr"/>
            <a:r>
              <a:rPr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(freeze)</a:t>
            </a:r>
            <a:endParaRPr kumimoji="1" lang="ja-JP" altLang="en-US" sz="2000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9" name="台形 28">
            <a:extLst>
              <a:ext uri="{FF2B5EF4-FFF2-40B4-BE49-F238E27FC236}">
                <a16:creationId xmlns:a16="http://schemas.microsoft.com/office/drawing/2014/main" id="{66AF8946-D151-27C8-E2B3-0E29DA70D5F8}"/>
              </a:ext>
            </a:extLst>
          </p:cNvPr>
          <p:cNvSpPr/>
          <p:nvPr/>
        </p:nvSpPr>
        <p:spPr>
          <a:xfrm rot="16200000" flipH="1">
            <a:off x="6948255" y="1754431"/>
            <a:ext cx="1331380" cy="1224136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endParaRPr kumimoji="1" lang="ja-JP" altLang="en-US" sz="2000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DED438E-E7C4-8D95-C9A7-B01BD3EA60EA}"/>
                  </a:ext>
                </a:extLst>
              </p:cNvPr>
              <p:cNvSpPr txBox="1"/>
              <p:nvPr/>
            </p:nvSpPr>
            <p:spPr>
              <a:xfrm>
                <a:off x="3719736" y="1105580"/>
                <a:ext cx="468052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𝑝𝑟𝑒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𝑡𝑟𝑎𝑖𝑛𝑒𝑑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𝑢𝑡𝑜𝐸𝑛𝑐𝑜𝑑𝑒𝑟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DED438E-E7C4-8D95-C9A7-B01BD3EA6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105580"/>
                <a:ext cx="4680520" cy="523220"/>
              </a:xfrm>
              <a:prstGeom prst="rect">
                <a:avLst/>
              </a:prstGeom>
              <a:blipFill>
                <a:blip r:embed="rId5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D02406A-BE42-E788-D22C-D744683DB813}"/>
                  </a:ext>
                </a:extLst>
              </p:cNvPr>
              <p:cNvSpPr txBox="1"/>
              <p:nvPr/>
            </p:nvSpPr>
            <p:spPr>
              <a:xfrm>
                <a:off x="1346147" y="4004621"/>
                <a:ext cx="875540" cy="3978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D02406A-BE42-E788-D22C-D744683DB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147" y="4004621"/>
                <a:ext cx="875540" cy="397866"/>
              </a:xfrm>
              <a:prstGeom prst="rect">
                <a:avLst/>
              </a:prstGeom>
              <a:blipFill>
                <a:blip r:embed="rId6"/>
                <a:stretch>
                  <a:fillRect l="-4348" r="-1449" b="-218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7966721-D7BE-6C47-5EDA-4C4C3768FD5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2450718" y="2373698"/>
            <a:ext cx="1515271" cy="1829856"/>
          </a:xfrm>
          <a:prstGeom prst="bentConnector3">
            <a:avLst>
              <a:gd name="adj1" fmla="val 82035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9">
            <a:extLst>
              <a:ext uri="{FF2B5EF4-FFF2-40B4-BE49-F238E27FC236}">
                <a16:creationId xmlns:a16="http://schemas.microsoft.com/office/drawing/2014/main" id="{787A2154-4535-DC58-D6CB-FEC083ACCF55}"/>
              </a:ext>
            </a:extLst>
          </p:cNvPr>
          <p:cNvCxnSpPr>
            <a:cxnSpLocks/>
            <a:stCxn id="23" idx="3"/>
            <a:endCxn id="45" idx="1"/>
          </p:cNvCxnSpPr>
          <p:nvPr/>
        </p:nvCxnSpPr>
        <p:spPr>
          <a:xfrm>
            <a:off x="6363450" y="2374489"/>
            <a:ext cx="800024" cy="2407517"/>
          </a:xfrm>
          <a:prstGeom prst="bentConnector3">
            <a:avLst>
              <a:gd name="adj1" fmla="val 29485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DE12756E-5E2B-3AD4-5388-5CFBCBBF2E4E}"/>
                  </a:ext>
                </a:extLst>
              </p:cNvPr>
              <p:cNvSpPr/>
              <p:nvPr/>
            </p:nvSpPr>
            <p:spPr>
              <a:xfrm>
                <a:off x="3639427" y="4966603"/>
                <a:ext cx="1398888" cy="46324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ja-JP" altLang="en-US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kumimoji="1" lang="en-US" altLang="ja-JP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 sz="20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DE12756E-5E2B-3AD4-5388-5CFBCBBF2E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427" y="4966603"/>
                <a:ext cx="1398888" cy="463245"/>
              </a:xfrm>
              <a:prstGeom prst="rect">
                <a:avLst/>
              </a:prstGeom>
              <a:blipFill>
                <a:blip r:embed="rId7"/>
                <a:stretch>
                  <a:fillRect l="-3017" r="-6897" b="-506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881749E4-2C97-6F12-7273-FCFDFBF5E5C0}"/>
                  </a:ext>
                </a:extLst>
              </p:cNvPr>
              <p:cNvSpPr/>
              <p:nvPr/>
            </p:nvSpPr>
            <p:spPr>
              <a:xfrm>
                <a:off x="5396556" y="4966495"/>
                <a:ext cx="1398888" cy="46324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 sz="20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881749E4-2C97-6F12-7273-FCFDFBF5E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556" y="4966495"/>
                <a:ext cx="1398888" cy="4632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6D68922C-D137-EC16-2075-0B0F3092D967}"/>
                  </a:ext>
                </a:extLst>
              </p:cNvPr>
              <p:cNvSpPr/>
              <p:nvPr/>
            </p:nvSpPr>
            <p:spPr>
              <a:xfrm>
                <a:off x="7163474" y="4550383"/>
                <a:ext cx="1398888" cy="46324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 sz="20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6D68922C-D137-EC16-2075-0B0F3092D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474" y="4550383"/>
                <a:ext cx="1398888" cy="4632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F80489B2-DBBA-A034-C858-980EBA89C98D}"/>
                  </a:ext>
                </a:extLst>
              </p:cNvPr>
              <p:cNvSpPr txBox="1"/>
              <p:nvPr/>
            </p:nvSpPr>
            <p:spPr>
              <a:xfrm>
                <a:off x="1569627" y="5005588"/>
                <a:ext cx="4285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F80489B2-DBBA-A034-C858-980EBA89C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627" y="5005588"/>
                <a:ext cx="428579" cy="369332"/>
              </a:xfrm>
              <a:prstGeom prst="rect">
                <a:avLst/>
              </a:prstGeom>
              <a:blipFill>
                <a:blip r:embed="rId10"/>
                <a:stretch>
                  <a:fillRect l="-5714"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EFEE0AF5-E23D-92E1-34AB-B68C6BD9BAF4}"/>
              </a:ext>
            </a:extLst>
          </p:cNvPr>
          <p:cNvCxnSpPr>
            <a:cxnSpLocks/>
            <a:stCxn id="51" idx="3"/>
            <a:endCxn id="43" idx="1"/>
          </p:cNvCxnSpPr>
          <p:nvPr/>
        </p:nvCxnSpPr>
        <p:spPr>
          <a:xfrm>
            <a:off x="1998206" y="5190254"/>
            <a:ext cx="1641221" cy="79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FDB88B2-0A5A-9E58-26AF-F81A46F85719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5038315" y="5198118"/>
            <a:ext cx="358241" cy="1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CEED892D-56FB-211E-DB78-156FEB9661A0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 flipV="1">
            <a:off x="6795444" y="4782006"/>
            <a:ext cx="368030" cy="416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A9C6DB82-8557-F2D6-14FE-3F63B8FB3735}"/>
              </a:ext>
            </a:extLst>
          </p:cNvPr>
          <p:cNvCxnSpPr>
            <a:cxnSpLocks/>
            <a:stCxn id="45" idx="3"/>
            <a:endCxn id="65" idx="1"/>
          </p:cNvCxnSpPr>
          <p:nvPr/>
        </p:nvCxnSpPr>
        <p:spPr>
          <a:xfrm flipV="1">
            <a:off x="8562362" y="4782005"/>
            <a:ext cx="148475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7999D21E-7F95-6BB0-0AFF-E34DFDB3DD3B}"/>
                  </a:ext>
                </a:extLst>
              </p:cNvPr>
              <p:cNvSpPr txBox="1"/>
              <p:nvPr/>
            </p:nvSpPr>
            <p:spPr>
              <a:xfrm>
                <a:off x="10047118" y="4597339"/>
                <a:ext cx="721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7999D21E-7F95-6BB0-0AFF-E34DFDB3D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118" y="4597339"/>
                <a:ext cx="721929" cy="369332"/>
              </a:xfrm>
              <a:prstGeom prst="rect">
                <a:avLst/>
              </a:prstGeom>
              <a:blipFill>
                <a:blip r:embed="rId11"/>
                <a:stretch>
                  <a:fillRect l="-3448"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フリーフォーム 68">
            <a:extLst>
              <a:ext uri="{FF2B5EF4-FFF2-40B4-BE49-F238E27FC236}">
                <a16:creationId xmlns:a16="http://schemas.microsoft.com/office/drawing/2014/main" id="{53D7AE3D-26C9-F804-A169-7EBF61273C7C}"/>
              </a:ext>
            </a:extLst>
          </p:cNvPr>
          <p:cNvSpPr/>
          <p:nvPr/>
        </p:nvSpPr>
        <p:spPr>
          <a:xfrm rot="5400000">
            <a:off x="4066817" y="887786"/>
            <a:ext cx="4122074" cy="5604103"/>
          </a:xfrm>
          <a:custGeom>
            <a:avLst/>
            <a:gdLst>
              <a:gd name="connsiteX0" fmla="*/ 0 w 4122074"/>
              <a:gd name="connsiteY0" fmla="*/ 5226405 h 5604103"/>
              <a:gd name="connsiteX1" fmla="*/ 0 w 4122074"/>
              <a:gd name="connsiteY1" fmla="*/ 3715659 h 5604103"/>
              <a:gd name="connsiteX2" fmla="*/ 5688 w 4122074"/>
              <a:gd name="connsiteY2" fmla="*/ 3659237 h 5604103"/>
              <a:gd name="connsiteX3" fmla="*/ 5572 w 4122074"/>
              <a:gd name="connsiteY3" fmla="*/ 3658089 h 5604103"/>
              <a:gd name="connsiteX4" fmla="*/ 5572 w 4122074"/>
              <a:gd name="connsiteY4" fmla="*/ 2457967 h 5604103"/>
              <a:gd name="connsiteX5" fmla="*/ 305611 w 4122074"/>
              <a:gd name="connsiteY5" fmla="*/ 2157928 h 5604103"/>
              <a:gd name="connsiteX6" fmla="*/ 2321874 w 4122074"/>
              <a:gd name="connsiteY6" fmla="*/ 2157928 h 5604103"/>
              <a:gd name="connsiteX7" fmla="*/ 2321874 w 4122074"/>
              <a:gd name="connsiteY7" fmla="*/ 613664 h 5604103"/>
              <a:gd name="connsiteX8" fmla="*/ 2321874 w 4122074"/>
              <a:gd name="connsiteY8" fmla="*/ 300039 h 5604103"/>
              <a:gd name="connsiteX9" fmla="*/ 2621913 w 4122074"/>
              <a:gd name="connsiteY9" fmla="*/ 0 h 5604103"/>
              <a:gd name="connsiteX10" fmla="*/ 3822035 w 4122074"/>
              <a:gd name="connsiteY10" fmla="*/ 0 h 5604103"/>
              <a:gd name="connsiteX11" fmla="*/ 4122074 w 4122074"/>
              <a:gd name="connsiteY11" fmla="*/ 300039 h 5604103"/>
              <a:gd name="connsiteX12" fmla="*/ 4122074 w 4122074"/>
              <a:gd name="connsiteY12" fmla="*/ 613664 h 5604103"/>
              <a:gd name="connsiteX13" fmla="*/ 4122074 w 4122074"/>
              <a:gd name="connsiteY13" fmla="*/ 2457967 h 5604103"/>
              <a:gd name="connsiteX14" fmla="*/ 4122074 w 4122074"/>
              <a:gd name="connsiteY14" fmla="*/ 3658089 h 5604103"/>
              <a:gd name="connsiteX15" fmla="*/ 4122074 w 4122074"/>
              <a:gd name="connsiteY15" fmla="*/ 3715659 h 5604103"/>
              <a:gd name="connsiteX16" fmla="*/ 4122074 w 4122074"/>
              <a:gd name="connsiteY16" fmla="*/ 4740521 h 5604103"/>
              <a:gd name="connsiteX17" fmla="*/ 4122074 w 4122074"/>
              <a:gd name="connsiteY17" fmla="*/ 5226405 h 5604103"/>
              <a:gd name="connsiteX18" fmla="*/ 4122074 w 4122074"/>
              <a:gd name="connsiteY18" fmla="*/ 5304064 h 5604103"/>
              <a:gd name="connsiteX19" fmla="*/ 3822035 w 4122074"/>
              <a:gd name="connsiteY19" fmla="*/ 5604103 h 5604103"/>
              <a:gd name="connsiteX20" fmla="*/ 3744376 w 4122074"/>
              <a:gd name="connsiteY20" fmla="*/ 5604103 h 5604103"/>
              <a:gd name="connsiteX21" fmla="*/ 2621913 w 4122074"/>
              <a:gd name="connsiteY21" fmla="*/ 5604103 h 5604103"/>
              <a:gd name="connsiteX22" fmla="*/ 377698 w 4122074"/>
              <a:gd name="connsiteY22" fmla="*/ 5604103 h 5604103"/>
              <a:gd name="connsiteX23" fmla="*/ 0 w 4122074"/>
              <a:gd name="connsiteY23" fmla="*/ 5226405 h 5604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122074" h="5604103">
                <a:moveTo>
                  <a:pt x="0" y="5226405"/>
                </a:moveTo>
                <a:lnTo>
                  <a:pt x="0" y="3715659"/>
                </a:lnTo>
                <a:lnTo>
                  <a:pt x="5688" y="3659237"/>
                </a:lnTo>
                <a:lnTo>
                  <a:pt x="5572" y="3658089"/>
                </a:lnTo>
                <a:lnTo>
                  <a:pt x="5572" y="2457967"/>
                </a:lnTo>
                <a:cubicBezTo>
                  <a:pt x="5572" y="2292260"/>
                  <a:pt x="139904" y="2157928"/>
                  <a:pt x="305611" y="2157928"/>
                </a:cubicBezTo>
                <a:lnTo>
                  <a:pt x="2321874" y="2157928"/>
                </a:lnTo>
                <a:lnTo>
                  <a:pt x="2321874" y="613664"/>
                </a:lnTo>
                <a:lnTo>
                  <a:pt x="2321874" y="300039"/>
                </a:lnTo>
                <a:cubicBezTo>
                  <a:pt x="2321874" y="134332"/>
                  <a:pt x="2456206" y="0"/>
                  <a:pt x="2621913" y="0"/>
                </a:cubicBezTo>
                <a:lnTo>
                  <a:pt x="3822035" y="0"/>
                </a:lnTo>
                <a:cubicBezTo>
                  <a:pt x="3987742" y="0"/>
                  <a:pt x="4122074" y="134332"/>
                  <a:pt x="4122074" y="300039"/>
                </a:cubicBezTo>
                <a:lnTo>
                  <a:pt x="4122074" y="613664"/>
                </a:lnTo>
                <a:lnTo>
                  <a:pt x="4122074" y="2457967"/>
                </a:lnTo>
                <a:lnTo>
                  <a:pt x="4122074" y="3658089"/>
                </a:lnTo>
                <a:lnTo>
                  <a:pt x="4122074" y="3715659"/>
                </a:lnTo>
                <a:lnTo>
                  <a:pt x="4122074" y="4740521"/>
                </a:lnTo>
                <a:lnTo>
                  <a:pt x="4122074" y="5226405"/>
                </a:lnTo>
                <a:lnTo>
                  <a:pt x="4122074" y="5304064"/>
                </a:lnTo>
                <a:cubicBezTo>
                  <a:pt x="4122074" y="5469771"/>
                  <a:pt x="3987742" y="5604103"/>
                  <a:pt x="3822035" y="5604103"/>
                </a:cubicBezTo>
                <a:lnTo>
                  <a:pt x="3744376" y="5604103"/>
                </a:lnTo>
                <a:lnTo>
                  <a:pt x="2621913" y="5604103"/>
                </a:lnTo>
                <a:lnTo>
                  <a:pt x="377698" y="5604103"/>
                </a:lnTo>
                <a:cubicBezTo>
                  <a:pt x="169101" y="5604103"/>
                  <a:pt x="0" y="5435002"/>
                  <a:pt x="0" y="5226405"/>
                </a:cubicBezTo>
                <a:close/>
              </a:path>
            </a:pathLst>
          </a:custGeom>
          <a:noFill/>
          <a:ln w="571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CF9C4FC-69C4-EAB4-8FC7-E7978BD21304}"/>
                  </a:ext>
                </a:extLst>
              </p:cNvPr>
              <p:cNvSpPr txBox="1"/>
              <p:nvPr/>
            </p:nvSpPr>
            <p:spPr>
              <a:xfrm>
                <a:off x="5297146" y="5507940"/>
                <a:ext cx="1618727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𝑃𝑖𝑥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𝑆𝑒𝑞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CF9C4FC-69C4-EAB4-8FC7-E7978BD21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46" y="5507940"/>
                <a:ext cx="1618727" cy="523220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E7AAF1A-5395-8CBF-6AFD-170DC285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929015-6334-3ECE-1919-7FF2D2E2E621}"/>
              </a:ext>
            </a:extLst>
          </p:cNvPr>
          <p:cNvSpPr txBox="1"/>
          <p:nvPr/>
        </p:nvSpPr>
        <p:spPr>
          <a:xfrm>
            <a:off x="7001877" y="2190000"/>
            <a:ext cx="115227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decoder </a:t>
            </a:r>
            <a:endParaRPr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185628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618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590430"/>
              </p:ext>
            </p:extLst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41C9F4F-6BDA-4BA0-D3CC-AEF468AAB140}"/>
              </a:ext>
            </a:extLst>
          </p:cNvPr>
          <p:cNvSpPr/>
          <p:nvPr/>
        </p:nvSpPr>
        <p:spPr>
          <a:xfrm>
            <a:off x="3216166" y="2333297"/>
            <a:ext cx="4246179" cy="191288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81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967977"/>
              </p:ext>
            </p:extLst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AEAC07-324B-2B34-09B2-69D49F993EDE}"/>
              </a:ext>
            </a:extLst>
          </p:cNvPr>
          <p:cNvSpPr/>
          <p:nvPr/>
        </p:nvSpPr>
        <p:spPr>
          <a:xfrm>
            <a:off x="3216165" y="5236515"/>
            <a:ext cx="4246179" cy="92254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629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169536"/>
              </p:ext>
            </p:extLst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23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CE15FC2-EF67-5CB4-BBF2-891CE599D183}"/>
              </a:ext>
            </a:extLst>
          </p:cNvPr>
          <p:cNvSpPr/>
          <p:nvPr/>
        </p:nvSpPr>
        <p:spPr>
          <a:xfrm>
            <a:off x="7472853" y="4265478"/>
            <a:ext cx="4246179" cy="92254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344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106191"/>
              </p:ext>
            </p:extLst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2CB2AF-DDBF-A32F-C9DF-5391DBCDB10A}"/>
              </a:ext>
            </a:extLst>
          </p:cNvPr>
          <p:cNvSpPr/>
          <p:nvPr/>
        </p:nvSpPr>
        <p:spPr>
          <a:xfrm>
            <a:off x="7472854" y="5236514"/>
            <a:ext cx="4246179" cy="922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6855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7280FB-4400-9CDD-D253-EC86C08C6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267440" cy="5297654"/>
          </a:xfrm>
        </p:spPr>
        <p:txBody>
          <a:bodyPr/>
          <a:lstStyle/>
          <a:p>
            <a:r>
              <a:rPr kumimoji="1" lang="ja-JP" altLang="en-US" dirty="0"/>
              <a:t>学習データ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お題画像</a:t>
            </a:r>
            <a:r>
              <a:rPr lang="en-US" altLang="ja-JP" dirty="0"/>
              <a:t>    </a:t>
            </a:r>
            <a:r>
              <a:rPr lang="en-US" altLang="ja-JP" sz="1400" dirty="0"/>
              <a:t> </a:t>
            </a:r>
            <a:r>
              <a:rPr lang="en-US" altLang="ja-JP" dirty="0"/>
              <a:t>: </a:t>
            </a:r>
            <a:r>
              <a:rPr kumimoji="1" lang="en-US" altLang="ja-JP" dirty="0"/>
              <a:t>69,365</a:t>
            </a:r>
            <a:r>
              <a:rPr kumimoji="1" lang="ja-JP" altLang="en-US" dirty="0"/>
              <a:t>枚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大喜利文章</a:t>
            </a:r>
            <a:r>
              <a:rPr lang="en-US" altLang="ja-JP" dirty="0"/>
              <a:t> : </a:t>
            </a:r>
            <a:r>
              <a:rPr kumimoji="1" lang="en-US" altLang="ja-JP" dirty="0"/>
              <a:t>552,618</a:t>
            </a:r>
            <a:r>
              <a:rPr kumimoji="1" lang="ja-JP" altLang="en-US" dirty="0"/>
              <a:t>文章</a:t>
            </a:r>
            <a:endParaRPr lang="en-US" altLang="ja-JP" dirty="0"/>
          </a:p>
          <a:p>
            <a:endParaRPr kumimoji="1" lang="en-US" altLang="ja-JP" sz="1200" dirty="0"/>
          </a:p>
          <a:p>
            <a:endParaRPr lang="en-US" altLang="ja-JP" sz="1200" dirty="0"/>
          </a:p>
          <a:p>
            <a:endParaRPr kumimoji="1" lang="en-US" altLang="ja-JP" sz="1200" dirty="0"/>
          </a:p>
          <a:p>
            <a:endParaRPr lang="en-US" altLang="ja-JP" sz="1200" dirty="0"/>
          </a:p>
          <a:p>
            <a:endParaRPr kumimoji="1" lang="en-US" altLang="ja-JP" sz="1200" dirty="0"/>
          </a:p>
          <a:p>
            <a:endParaRPr lang="en-US" altLang="ja-JP" sz="1200" dirty="0"/>
          </a:p>
          <a:p>
            <a:endParaRPr kumimoji="1" lang="en-US" altLang="ja-JP" sz="1200" dirty="0"/>
          </a:p>
          <a:p>
            <a:endParaRPr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dirty="0" err="1"/>
              <a:t>AutoEncoder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en-US" altLang="ja-JP" dirty="0"/>
              <a:t>encoder </a:t>
            </a:r>
            <a:r>
              <a:rPr lang="en-US" altLang="ja-JP" dirty="0"/>
              <a:t>:</a:t>
            </a:r>
            <a:r>
              <a:rPr kumimoji="1" lang="en-US" altLang="ja-JP" dirty="0"/>
              <a:t> </a:t>
            </a:r>
            <a:r>
              <a:rPr kumimoji="1" lang="ja-JP" altLang="en-US" dirty="0"/>
              <a:t>畳み込み層５層の</a:t>
            </a:r>
            <a:r>
              <a:rPr kumimoji="1" lang="en-US" altLang="ja-JP" dirty="0"/>
              <a:t>CNN</a:t>
            </a:r>
          </a:p>
          <a:p>
            <a:pPr marL="457200" lvl="1" indent="0">
              <a:buNone/>
            </a:pPr>
            <a:r>
              <a:rPr kumimoji="1" lang="en-US" altLang="ja-JP" dirty="0"/>
              <a:t>decoder </a:t>
            </a:r>
            <a:r>
              <a:rPr lang="en-US" altLang="ja-JP" dirty="0"/>
              <a:t>:</a:t>
            </a:r>
            <a:r>
              <a:rPr kumimoji="1" lang="en-US" altLang="ja-JP" dirty="0"/>
              <a:t> </a:t>
            </a:r>
            <a:r>
              <a:rPr kumimoji="1" lang="ja-JP" altLang="en-US" dirty="0"/>
              <a:t>逆畳み込み層５層の</a:t>
            </a:r>
            <a:r>
              <a:rPr kumimoji="1" lang="en-US" altLang="ja-JP" dirty="0"/>
              <a:t>CNN</a:t>
            </a:r>
            <a:endParaRPr lang="en-US" altLang="ja-JP" dirty="0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0F9045B2-57AD-25F7-1742-89EA1E185362}"/>
              </a:ext>
            </a:extLst>
          </p:cNvPr>
          <p:cNvSpPr/>
          <p:nvPr/>
        </p:nvSpPr>
        <p:spPr>
          <a:xfrm>
            <a:off x="1924832" y="2455110"/>
            <a:ext cx="8342335" cy="2329841"/>
          </a:xfrm>
          <a:prstGeom prst="roundRect">
            <a:avLst>
              <a:gd name="adj" fmla="val 6564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0714C15-660A-DE5B-B31C-AB952497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 : </a:t>
            </a:r>
            <a:r>
              <a:rPr kumimoji="1" lang="ja-JP" altLang="en-US"/>
              <a:t>大喜利生成</a:t>
            </a:r>
            <a:r>
              <a:rPr kumimoji="1" lang="en-US" altLang="ja-JP" dirty="0"/>
              <a:t>AI</a:t>
            </a:r>
            <a:r>
              <a:rPr kumimoji="1" lang="ja-JP" altLang="en-US"/>
              <a:t>の実装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A96D77B3-1C0C-FEA0-9F26-9F93C39A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9" name="角丸四角形吹き出し 8">
            <a:extLst>
              <a:ext uri="{FF2B5EF4-FFF2-40B4-BE49-F238E27FC236}">
                <a16:creationId xmlns:a16="http://schemas.microsoft.com/office/drawing/2014/main" id="{7FA636F5-4066-56D4-0014-3769270FD454}"/>
              </a:ext>
            </a:extLst>
          </p:cNvPr>
          <p:cNvSpPr/>
          <p:nvPr/>
        </p:nvSpPr>
        <p:spPr>
          <a:xfrm>
            <a:off x="6004163" y="983220"/>
            <a:ext cx="4687503" cy="1395663"/>
          </a:xfrm>
          <a:prstGeom prst="wedgeRoundRectCallout">
            <a:avLst>
              <a:gd name="adj1" fmla="val -80026"/>
              <a:gd name="adj2" fmla="val -100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/>
              <a:t>bokete</a:t>
            </a:r>
            <a:r>
              <a:rPr kumimoji="1" lang="en-US" altLang="ja-JP" sz="2400" dirty="0"/>
              <a:t>[</a:t>
            </a:r>
            <a:r>
              <a:rPr kumimoji="1" lang="ja-JP" altLang="en-US" sz="2400"/>
              <a:t>２</a:t>
            </a:r>
            <a:r>
              <a:rPr kumimoji="1" lang="en-US" altLang="ja-JP" sz="2400" dirty="0"/>
              <a:t>]</a:t>
            </a:r>
            <a:r>
              <a:rPr kumimoji="1" lang="ja-JP" altLang="en-US" sz="2400" dirty="0"/>
              <a:t>の</a:t>
            </a:r>
            <a:endParaRPr kumimoji="1" lang="en-US" altLang="ja-JP" sz="2400" dirty="0"/>
          </a:p>
          <a:p>
            <a:pPr algn="ctr"/>
            <a:r>
              <a:rPr kumimoji="1" lang="en-US" altLang="ja-JP" sz="2400" dirty="0"/>
              <a:t>Web</a:t>
            </a:r>
            <a:r>
              <a:rPr kumimoji="1" lang="ja-JP" altLang="en-US" sz="2400" dirty="0"/>
              <a:t>サイトからスクレイピング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1E48818-6984-31E8-2294-395CB20038B3}"/>
              </a:ext>
            </a:extLst>
          </p:cNvPr>
          <p:cNvGrpSpPr/>
          <p:nvPr/>
        </p:nvGrpSpPr>
        <p:grpSpPr>
          <a:xfrm>
            <a:off x="2660151" y="2568101"/>
            <a:ext cx="7277225" cy="2031325"/>
            <a:chOff x="3881295" y="4202857"/>
            <a:chExt cx="7277225" cy="2031325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8B6E2337-E2DC-8CD3-2C0E-A42B92B24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1295" y="4202857"/>
              <a:ext cx="2031325" cy="203132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7E87BCD-D539-D028-2B39-B2195C65523B}"/>
                </a:ext>
              </a:extLst>
            </p:cNvPr>
            <p:cNvSpPr txBox="1"/>
            <p:nvPr/>
          </p:nvSpPr>
          <p:spPr>
            <a:xfrm>
              <a:off x="6279380" y="4202857"/>
              <a:ext cx="487914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肌かエプロン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そのエプロンは家庭科の実習で作ったの？ 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ホームレス留学生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若かりし日のなかやまきんに君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裸にエプロンは「男のロマン」です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コイツ・・・チラリズムを熟知してやがる！！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ねぇ・・ご飯にする、それともア・タ・シ？ </a:t>
              </a:r>
              <a:endParaRPr lang="en-US" altLang="ja-JP" dirty="0"/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4B35CB-B5B0-5573-8402-61A0A4DC8E26}"/>
              </a:ext>
            </a:extLst>
          </p:cNvPr>
          <p:cNvSpPr txBox="1"/>
          <p:nvPr/>
        </p:nvSpPr>
        <p:spPr>
          <a:xfrm>
            <a:off x="4729054" y="4583518"/>
            <a:ext cx="27432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400"/>
              <a:t>学習データ例</a:t>
            </a:r>
            <a:r>
              <a:rPr kumimoji="1" lang="en-US" altLang="ja-JP" sz="2400" dirty="0"/>
              <a:t>[2]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01739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09BC38-68EE-13F6-E7EC-2F9FACC5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7F0D44-FDD2-79EC-3651-99875EE0D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実装した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が生成した大喜利</a:t>
            </a:r>
            <a:r>
              <a:rPr kumimoji="1" lang="en-US" altLang="ja-JP" dirty="0"/>
              <a:t>(</a:t>
            </a:r>
            <a:r>
              <a:rPr kumimoji="1" lang="ja-JP" altLang="en-US" dirty="0"/>
              <a:t>画像は非学習データ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7C4103-1321-F8E8-25F9-D5F47CA42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26</a:t>
            </a:fld>
            <a:endParaRPr kumimoji="1" lang="ja-JP" altLang="en-US"/>
          </a:p>
        </p:txBody>
      </p:sp>
      <p:graphicFrame>
        <p:nvGraphicFramePr>
          <p:cNvPr id="6" name="表 8">
            <a:extLst>
              <a:ext uri="{FF2B5EF4-FFF2-40B4-BE49-F238E27FC236}">
                <a16:creationId xmlns:a16="http://schemas.microsoft.com/office/drawing/2014/main" id="{E8EE89A8-B7A7-5C3C-7214-CAB01D2C9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660317"/>
              </p:ext>
            </p:extLst>
          </p:nvPr>
        </p:nvGraphicFramePr>
        <p:xfrm>
          <a:off x="213375" y="1583557"/>
          <a:ext cx="11765252" cy="52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464">
                  <a:extLst>
                    <a:ext uri="{9D8B030D-6E8A-4147-A177-3AD203B41FA5}">
                      <a16:colId xmlns:a16="http://schemas.microsoft.com/office/drawing/2014/main" val="1705797774"/>
                    </a:ext>
                  </a:extLst>
                </a:gridCol>
                <a:gridCol w="2433947">
                  <a:extLst>
                    <a:ext uri="{9D8B030D-6E8A-4147-A177-3AD203B41FA5}">
                      <a16:colId xmlns:a16="http://schemas.microsoft.com/office/drawing/2014/main" val="3953564340"/>
                    </a:ext>
                  </a:extLst>
                </a:gridCol>
                <a:gridCol w="2433947">
                  <a:extLst>
                    <a:ext uri="{9D8B030D-6E8A-4147-A177-3AD203B41FA5}">
                      <a16:colId xmlns:a16="http://schemas.microsoft.com/office/drawing/2014/main" val="994786316"/>
                    </a:ext>
                  </a:extLst>
                </a:gridCol>
                <a:gridCol w="2433947">
                  <a:extLst>
                    <a:ext uri="{9D8B030D-6E8A-4147-A177-3AD203B41FA5}">
                      <a16:colId xmlns:a16="http://schemas.microsoft.com/office/drawing/2014/main" val="1518379776"/>
                    </a:ext>
                  </a:extLst>
                </a:gridCol>
                <a:gridCol w="2433947">
                  <a:extLst>
                    <a:ext uri="{9D8B030D-6E8A-4147-A177-3AD203B41FA5}">
                      <a16:colId xmlns:a16="http://schemas.microsoft.com/office/drawing/2014/main" val="389023532"/>
                    </a:ext>
                  </a:extLst>
                </a:gridCol>
              </a:tblGrid>
              <a:tr h="186620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画像</a:t>
                      </a:r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029286"/>
                  </a:ext>
                </a:extLst>
              </a:tr>
              <a:tr h="7011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文章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私のすっぴんよ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あいつの弁当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algn="ctr"/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忘れてる</a:t>
                      </a:r>
                      <a:endParaRPr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元こども爆弾</a:t>
                      </a:r>
                      <a:endParaRPr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オレのスタンド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algn="ctr"/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モンスター</a:t>
                      </a:r>
                      <a:endParaRPr lang="ja-JP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542019"/>
                  </a:ext>
                </a:extLst>
              </a:tr>
              <a:tr h="186586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solidFill>
                            <a:schemeClr val="bg1"/>
                          </a:solidFill>
                        </a:rPr>
                        <a:t>画像</a:t>
                      </a:r>
                      <a:endParaRPr kumimoji="1" lang="ja-JP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200309"/>
                  </a:ext>
                </a:extLst>
              </a:tr>
              <a:tr h="77955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文章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/>
                        <a:t>今日の給食は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笑うとかわいい♪</a:t>
                      </a:r>
                      <a:endParaRPr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アメリカでは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algn="ctr"/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おでんは無人気</a:t>
                      </a:r>
                      <a:endParaRPr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くくさいぅ</a:t>
                      </a:r>
                      <a:endParaRPr lang="ja-JP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422443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25402D96-0069-F64D-09A0-3517512ED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054" y="1639119"/>
            <a:ext cx="1821411" cy="1821411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19498053-A2CC-9C4B-FA99-888D7CA39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754" y="1639119"/>
            <a:ext cx="1821411" cy="1821411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D07320F5-5B7F-4625-2C22-1D032C25E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1592" y="4178902"/>
            <a:ext cx="1822873" cy="1822873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EC193A9F-9333-938E-9603-E217CB443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194" y="4167422"/>
            <a:ext cx="1822873" cy="18228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B4461D7-3B7F-6FDE-73D0-BC246F0984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454" y="1639727"/>
            <a:ext cx="1821411" cy="182141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081E3C5-A48D-4E16-B30C-DE38020FD2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3278" y="1639727"/>
            <a:ext cx="1826442" cy="182644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86D8229-7BDE-0672-9DD7-39E021D0DD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6454" y="4167422"/>
            <a:ext cx="1821411" cy="182141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BAA562C-B7A8-80B1-D4CF-0A89C9DB3D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3278" y="4178902"/>
            <a:ext cx="1821411" cy="182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90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B9DE10-148C-04C3-BF86-F1792BC0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8F5942-17D9-46DF-8F00-3CBBD7117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0" y="1685519"/>
            <a:ext cx="5297389" cy="3486961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/>
              <a:t>私のすっぴんよ</a:t>
            </a:r>
          </a:p>
          <a:p>
            <a:r>
              <a:rPr kumimoji="1" lang="ja-JP" altLang="en-US"/>
              <a:t>私すっぴんでしょ</a:t>
            </a:r>
          </a:p>
          <a:p>
            <a:r>
              <a:rPr kumimoji="1" lang="ja-JP" altLang="en-US"/>
              <a:t>ママすっぴんなの</a:t>
            </a:r>
          </a:p>
          <a:p>
            <a:r>
              <a:rPr kumimoji="1" lang="ja-JP" altLang="en-US"/>
              <a:t>メイク忘れてる</a:t>
            </a:r>
            <a:endParaRPr kumimoji="1" lang="en-US" altLang="ja-JP" dirty="0"/>
          </a:p>
          <a:p>
            <a:endParaRPr kumimoji="1" lang="en-US" altLang="ja-JP" sz="1500" dirty="0"/>
          </a:p>
          <a:p>
            <a:r>
              <a:rPr kumimoji="1" lang="ja-JP" altLang="en-US"/>
              <a:t>森口ロールの新</a:t>
            </a:r>
            <a:r>
              <a:rPr kumimoji="1" lang="en" altLang="ja-JP" dirty="0"/>
              <a:t>CM</a:t>
            </a:r>
          </a:p>
          <a:p>
            <a:r>
              <a:rPr kumimoji="1" lang="ja-JP" altLang="en-US"/>
              <a:t>この歯医者って書いて買ったんですけど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488B69-73AE-4EB9-09F0-D3F55C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27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161912-6B77-FA20-1715-45F8A9E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67" y="1525307"/>
            <a:ext cx="4406095" cy="4406095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CBC0F6EB-9957-912A-FDFB-79A3675A251A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抜粋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3534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B9DE10-148C-04C3-BF86-F1792BC0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8F5942-17D9-46DF-8F00-3CBBD7117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0" y="1685519"/>
            <a:ext cx="5297389" cy="3486961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/>
              <a:t>私の</a:t>
            </a:r>
            <a:r>
              <a:rPr kumimoji="1" lang="ja-JP" altLang="en-US">
                <a:solidFill>
                  <a:srgbClr val="FF0000"/>
                </a:solidFill>
              </a:rPr>
              <a:t>すっぴん</a:t>
            </a:r>
            <a:r>
              <a:rPr kumimoji="1" lang="ja-JP" altLang="en-US"/>
              <a:t>よ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私すっぴん</a:t>
            </a:r>
            <a:r>
              <a:rPr kumimoji="1" lang="ja-JP" altLang="en-US"/>
              <a:t>でしょ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ママ</a:t>
            </a:r>
            <a:r>
              <a:rPr kumimoji="1" lang="ja-JP" altLang="en-US"/>
              <a:t>すっぴんなの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メイク</a:t>
            </a:r>
            <a:r>
              <a:rPr kumimoji="1" lang="ja-JP" altLang="en-US"/>
              <a:t>忘れてる</a:t>
            </a:r>
            <a:endParaRPr kumimoji="1" lang="en-US" altLang="ja-JP" dirty="0"/>
          </a:p>
          <a:p>
            <a:endParaRPr kumimoji="1" lang="en-US" altLang="ja-JP" sz="1500" dirty="0"/>
          </a:p>
          <a:p>
            <a:r>
              <a:rPr kumimoji="1" lang="ja-JP" altLang="en-US"/>
              <a:t>森口ロールの新</a:t>
            </a:r>
            <a:r>
              <a:rPr kumimoji="1" lang="en" altLang="ja-JP" dirty="0"/>
              <a:t>CM</a:t>
            </a:r>
          </a:p>
          <a:p>
            <a:r>
              <a:rPr kumimoji="1" lang="ja-JP" altLang="en-US"/>
              <a:t>この歯医者って書いて買ったんですけど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488B69-73AE-4EB9-09F0-D3F55C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28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161912-6B77-FA20-1715-45F8A9E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67" y="1525307"/>
            <a:ext cx="4406095" cy="4406095"/>
          </a:xfrm>
          <a:prstGeom prst="rect">
            <a:avLst/>
          </a:prstGeom>
        </p:spPr>
      </p:pic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BAB7A717-9B13-0C87-E650-45049BEF4F0A}"/>
              </a:ext>
            </a:extLst>
          </p:cNvPr>
          <p:cNvSpPr/>
          <p:nvPr/>
        </p:nvSpPr>
        <p:spPr>
          <a:xfrm>
            <a:off x="6463860" y="3979365"/>
            <a:ext cx="4889940" cy="939476"/>
          </a:xfrm>
          <a:prstGeom prst="wedgeRoundRectCallout">
            <a:avLst>
              <a:gd name="adj1" fmla="val -31397"/>
              <a:gd name="adj2" fmla="val -11011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画像の特徴を捉えた</a:t>
            </a:r>
            <a:endParaRPr kumimoji="1" lang="en-US" altLang="ja-JP" sz="2400" dirty="0"/>
          </a:p>
          <a:p>
            <a:pPr algn="ctr"/>
            <a:r>
              <a:rPr kumimoji="1" lang="ja-JP" altLang="en-US" sz="2400"/>
              <a:t>大喜利を生成している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CBC0F6EB-9957-912A-FDFB-79A3675A251A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抜粋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7616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B9DE10-148C-04C3-BF86-F1792BC0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8F5942-17D9-46DF-8F00-3CBBD7117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0" y="1685519"/>
            <a:ext cx="5297389" cy="3486961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/>
              <a:t>私の</a:t>
            </a:r>
            <a:r>
              <a:rPr kumimoji="1" lang="ja-JP" altLang="en-US">
                <a:solidFill>
                  <a:srgbClr val="FF0000"/>
                </a:solidFill>
              </a:rPr>
              <a:t>すっぴん</a:t>
            </a:r>
            <a:r>
              <a:rPr kumimoji="1" lang="ja-JP" altLang="en-US"/>
              <a:t>よ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私すっぴん</a:t>
            </a:r>
            <a:r>
              <a:rPr kumimoji="1" lang="ja-JP" altLang="en-US"/>
              <a:t>でしょ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ママ</a:t>
            </a:r>
            <a:r>
              <a:rPr kumimoji="1" lang="ja-JP" altLang="en-US"/>
              <a:t>すっぴんなの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メイク</a:t>
            </a:r>
            <a:r>
              <a:rPr kumimoji="1" lang="ja-JP" altLang="en-US"/>
              <a:t>忘れてる</a:t>
            </a:r>
            <a:endParaRPr kumimoji="1" lang="en-US" altLang="ja-JP" dirty="0"/>
          </a:p>
          <a:p>
            <a:endParaRPr kumimoji="1" lang="en-US" altLang="ja-JP" sz="1500" dirty="0"/>
          </a:p>
          <a:p>
            <a:r>
              <a:rPr kumimoji="1" lang="ja-JP" altLang="en-US"/>
              <a:t>森口ロールの新</a:t>
            </a:r>
            <a:r>
              <a:rPr kumimoji="1" lang="en" altLang="ja-JP" dirty="0"/>
              <a:t>CM</a:t>
            </a:r>
          </a:p>
          <a:p>
            <a:r>
              <a:rPr kumimoji="1" lang="ja-JP" altLang="en-US"/>
              <a:t>この歯医者って書いて買ったんですけど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488B69-73AE-4EB9-09F0-D3F55C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29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161912-6B77-FA20-1715-45F8A9E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67" y="1525307"/>
            <a:ext cx="4406095" cy="4406095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CBC0F6EB-9957-912A-FDFB-79A3675A251A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抜粋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7" name="角丸四角形吹き出し 6">
            <a:extLst>
              <a:ext uri="{FF2B5EF4-FFF2-40B4-BE49-F238E27FC236}">
                <a16:creationId xmlns:a16="http://schemas.microsoft.com/office/drawing/2014/main" id="{3BF4607D-7D9C-C5F3-116F-FA6E047A4058}"/>
              </a:ext>
            </a:extLst>
          </p:cNvPr>
          <p:cNvSpPr/>
          <p:nvPr/>
        </p:nvSpPr>
        <p:spPr>
          <a:xfrm>
            <a:off x="6463860" y="5471834"/>
            <a:ext cx="4889940" cy="939476"/>
          </a:xfrm>
          <a:prstGeom prst="wedgeRoundRectCallout">
            <a:avLst>
              <a:gd name="adj1" fmla="val -34345"/>
              <a:gd name="adj2" fmla="val -112103"/>
              <a:gd name="adj3" fmla="val 1666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関連性の低い大喜利を</a:t>
            </a:r>
            <a:endParaRPr kumimoji="1" lang="en-US" altLang="ja-JP" sz="2400" dirty="0"/>
          </a:p>
          <a:p>
            <a:pPr algn="ctr"/>
            <a:r>
              <a:rPr kumimoji="1" lang="ja-JP" altLang="en-US" sz="2400" dirty="0"/>
              <a:t>生成する場合もある</a:t>
            </a:r>
          </a:p>
        </p:txBody>
      </p:sp>
    </p:spTree>
    <p:extLst>
      <p:ext uri="{BB962C8B-B14F-4D97-AF65-F5344CB8AC3E}">
        <p14:creationId xmlns:p14="http://schemas.microsoft.com/office/powerpoint/2010/main" val="3435634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14406C-C96E-F7F6-796E-CD01D88B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2 : </a:t>
            </a:r>
            <a:r>
              <a:rPr kumimoji="1" lang="ja-JP" altLang="en-US"/>
              <a:t>従来手法との比較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96763F-2B67-E917-33E1-62DCFB1E7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提案手法と従来手法で大喜利生成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を実装し， 生成する大喜利を比較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FFE42B-6802-87E3-1776-640AF497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30</a:t>
            </a:fld>
            <a:endParaRPr kumimoji="1" lang="ja-JP" altLang="en-US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962289FB-16A8-ABD3-D331-B418A40C6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138759"/>
              </p:ext>
            </p:extLst>
          </p:nvPr>
        </p:nvGraphicFramePr>
        <p:xfrm>
          <a:off x="462280" y="1807042"/>
          <a:ext cx="11267439" cy="28909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32865">
                  <a:extLst>
                    <a:ext uri="{9D8B030D-6E8A-4147-A177-3AD203B41FA5}">
                      <a16:colId xmlns:a16="http://schemas.microsoft.com/office/drawing/2014/main" val="1187942338"/>
                    </a:ext>
                  </a:extLst>
                </a:gridCol>
                <a:gridCol w="4267287">
                  <a:extLst>
                    <a:ext uri="{9D8B030D-6E8A-4147-A177-3AD203B41FA5}">
                      <a16:colId xmlns:a16="http://schemas.microsoft.com/office/drawing/2014/main" val="239723031"/>
                    </a:ext>
                  </a:extLst>
                </a:gridCol>
                <a:gridCol w="4267287">
                  <a:extLst>
                    <a:ext uri="{9D8B030D-6E8A-4147-A177-3AD203B41FA5}">
                      <a16:colId xmlns:a16="http://schemas.microsoft.com/office/drawing/2014/main" val="2667431523"/>
                    </a:ext>
                  </a:extLst>
                </a:gridCol>
              </a:tblGrid>
              <a:tr h="722733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712558"/>
                  </a:ext>
                </a:extLst>
              </a:tr>
              <a:tr h="72273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画像の特徴抽出器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/>
                        <a:t>事前学習済みの</a:t>
                      </a:r>
                      <a:r>
                        <a:rPr kumimoji="1" lang="en-US" altLang="ja-JP" sz="2400"/>
                        <a:t>ResNet152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err="1"/>
                        <a:t>AutoEncoder</a:t>
                      </a:r>
                      <a:r>
                        <a:rPr kumimoji="1" lang="ja-JP" altLang="en-US" sz="2400" dirty="0"/>
                        <a:t>のエンコーダ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77519"/>
                  </a:ext>
                </a:extLst>
              </a:tr>
              <a:tr h="72273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畳み込み層の数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152</a:t>
                      </a:r>
                      <a:r>
                        <a:rPr kumimoji="1" lang="ja-JP" altLang="en-US" sz="2400"/>
                        <a:t>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</a:t>
                      </a:r>
                      <a:r>
                        <a:rPr kumimoji="1" lang="ja-JP" altLang="en-US" sz="2400"/>
                        <a:t>層</a:t>
                      </a:r>
                      <a:endParaRPr kumimoji="1" lang="ja-JP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377130"/>
                  </a:ext>
                </a:extLst>
              </a:tr>
              <a:tr h="72273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特徴量次元数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2,048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16,384</a:t>
                      </a:r>
                      <a:endParaRPr kumimoji="1" lang="ja-JP" altLang="en-US" sz="2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441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521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81F3C1-801C-78D1-E6E2-B3A90A41941B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画像は非学習データ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6170184-9553-8DC1-4C47-F3E9682D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0772C59C-A1D3-4815-A287-ECA02E950A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823739"/>
              </p:ext>
            </p:extLst>
          </p:nvPr>
        </p:nvGraphicFramePr>
        <p:xfrm>
          <a:off x="136633" y="1573143"/>
          <a:ext cx="11960775" cy="50177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30015">
                  <a:extLst>
                    <a:ext uri="{9D8B030D-6E8A-4147-A177-3AD203B41FA5}">
                      <a16:colId xmlns:a16="http://schemas.microsoft.com/office/drawing/2014/main" val="612670568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960179461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936922339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642500427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2197124767"/>
                    </a:ext>
                  </a:extLst>
                </a:gridCol>
              </a:tblGrid>
              <a:tr h="686451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863360"/>
                  </a:ext>
                </a:extLst>
              </a:tr>
              <a:tr h="213991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画像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372475"/>
                  </a:ext>
                </a:extLst>
              </a:tr>
              <a:tr h="21914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文章</a:t>
                      </a: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 spc="-200" baseline="0">
                          <a:solidFill>
                            <a:schemeClr val="tx1"/>
                          </a:solidFill>
                          <a:effectLst/>
                        </a:rPr>
                        <a:t>八丁味噌蟹クリーム味</a:t>
                      </a:r>
                      <a:r>
                        <a:rPr kumimoji="1" lang="en" altLang="ja-JP" sz="2000" b="0" kern="1200" spc="-200" baseline="0" dirty="0" err="1">
                          <a:solidFill>
                            <a:schemeClr val="tx1"/>
                          </a:solidFill>
                          <a:effectLst/>
                        </a:rPr>
                        <a:t>ver</a:t>
                      </a:r>
                      <a:endParaRPr kumimoji="1" lang="en" altLang="ja-JP" sz="2000" b="0" kern="1200" spc="-2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 spc="-250" baseline="0">
                          <a:solidFill>
                            <a:schemeClr val="tx1"/>
                          </a:solidFill>
                          <a:effectLst/>
                        </a:rPr>
                        <a:t>和民のメニュー変ですね</a:t>
                      </a:r>
                      <a:endParaRPr kumimoji="1" lang="en-US" altLang="ja-JP" sz="2000" b="0" kern="1200" spc="-25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また失敗して放置してみたわわ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私のすっぴんよ</a:t>
                      </a:r>
                      <a:endParaRPr kumimoji="1" lang="en-US" altLang="ja-JP" sz="2000" dirty="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ママすっぴんなの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メイク忘れてる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kumimoji="1" lang="ja-JP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アンパンマン新しい顔よ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実はいなかっぺ監督の発明です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洗濯機壊れちゃった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オレのスタンドモンスター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ほれ捕まえてごらん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行けカリン塔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46736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FF80D7-58FE-9C61-6945-0285D1BD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6702AE9-E499-B32F-B23B-BCBA7199E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149" y="2308677"/>
            <a:ext cx="2059966" cy="205996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41858BD-315A-15E4-0E46-255F77DB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908" y="2308677"/>
            <a:ext cx="2059965" cy="205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67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>
            <a:extLst>
              <a:ext uri="{FF2B5EF4-FFF2-40B4-BE49-F238E27FC236}">
                <a16:creationId xmlns:a16="http://schemas.microsoft.com/office/drawing/2014/main" id="{4F8839BB-31B3-F6FE-CF5A-EFB93C75B856}"/>
              </a:ext>
            </a:extLst>
          </p:cNvPr>
          <p:cNvSpPr/>
          <p:nvPr/>
        </p:nvSpPr>
        <p:spPr>
          <a:xfrm>
            <a:off x="1418398" y="1662937"/>
            <a:ext cx="9357858" cy="3426373"/>
          </a:xfrm>
          <a:prstGeom prst="roundRect">
            <a:avLst>
              <a:gd name="adj" fmla="val 4223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8B4419-CB02-E0D0-5B7E-25C17CD7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4D2AD2-305A-B24C-EA3E-718620F0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48D5E1-7910-E2DD-CDFE-82327C429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356" y="1785908"/>
            <a:ext cx="3076702" cy="307670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647ED9-A32D-51DF-2C6F-4AFA7CF11156}"/>
              </a:ext>
            </a:extLst>
          </p:cNvPr>
          <p:cNvSpPr txBox="1"/>
          <p:nvPr/>
        </p:nvSpPr>
        <p:spPr>
          <a:xfrm>
            <a:off x="5707117" y="1860710"/>
            <a:ext cx="5045465" cy="2963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うん、フセインおった！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バブルへ</a:t>
            </a:r>
            <a:r>
              <a:rPr lang="en" altLang="ja-JP" dirty="0"/>
              <a:t>GO</a:t>
            </a:r>
            <a:r>
              <a:rPr lang="ja-JP" altLang="en"/>
              <a:t>！！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いい感じだ！これなら人気ボケまでいくぞ！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rgbClr val="FF0000"/>
                </a:solidFill>
              </a:rPr>
              <a:t>金魚すくいクリア</a:t>
            </a:r>
            <a:r>
              <a:rPr lang="ja-JP" altLang="en-US"/>
              <a:t>！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カレーできたよぉ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陽気な汲み取り屋さん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よし！いい墨だ！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B92DAE0-3CEB-DD63-0A8A-8689E74ECB9A}"/>
              </a:ext>
            </a:extLst>
          </p:cNvPr>
          <p:cNvSpPr txBox="1"/>
          <p:nvPr/>
        </p:nvSpPr>
        <p:spPr>
          <a:xfrm>
            <a:off x="4720020" y="4862610"/>
            <a:ext cx="27432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400"/>
              <a:t>学習データ </a:t>
            </a:r>
            <a:r>
              <a:rPr kumimoji="1" lang="en-US" altLang="ja-JP" sz="2400" dirty="0"/>
              <a:t>[2]</a:t>
            </a:r>
            <a:endParaRPr lang="ja-JP" altLang="en-US" sz="240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D4718D9B-100E-18B8-9F31-375068026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448231"/>
              </p:ext>
            </p:extLst>
          </p:nvPr>
        </p:nvGraphicFramePr>
        <p:xfrm>
          <a:off x="735725" y="5384210"/>
          <a:ext cx="10699531" cy="9874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96965">
                  <a:extLst>
                    <a:ext uri="{9D8B030D-6E8A-4147-A177-3AD203B41FA5}">
                      <a16:colId xmlns:a16="http://schemas.microsoft.com/office/drawing/2014/main" val="1843029081"/>
                    </a:ext>
                  </a:extLst>
                </a:gridCol>
                <a:gridCol w="4351283">
                  <a:extLst>
                    <a:ext uri="{9D8B030D-6E8A-4147-A177-3AD203B41FA5}">
                      <a16:colId xmlns:a16="http://schemas.microsoft.com/office/drawing/2014/main" val="2551026990"/>
                    </a:ext>
                  </a:extLst>
                </a:gridCol>
                <a:gridCol w="4351283">
                  <a:extLst>
                    <a:ext uri="{9D8B030D-6E8A-4147-A177-3AD203B41FA5}">
                      <a16:colId xmlns:a16="http://schemas.microsoft.com/office/drawing/2014/main" val="1472761651"/>
                    </a:ext>
                  </a:extLst>
                </a:gridCol>
              </a:tblGrid>
              <a:tr h="493731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858585"/>
                  </a:ext>
                </a:extLst>
              </a:tr>
              <a:tr h="49373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生成大喜利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/>
                        <a:t>お客さんかゆいところはございませんか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 b="0" dirty="0">
                          <a:solidFill>
                            <a:srgbClr val="FF0000"/>
                          </a:solidFill>
                          <a:effectLst/>
                        </a:rPr>
                        <a:t>金魚すくいクリア</a:t>
                      </a:r>
                      <a:endParaRPr lang="ja-JP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184970"/>
                  </a:ext>
                </a:extLst>
              </a:tr>
            </a:tbl>
          </a:graphicData>
        </a:graphic>
      </p:graphicFrame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5B91F275-2F35-9751-90D6-D00BEC7D8EB0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画像は学習データ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2651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714C15-660A-DE5B-B31C-AB952497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3 :</a:t>
            </a:r>
            <a:r>
              <a:rPr lang="ja-JP" altLang="en-US"/>
              <a:t>実装した大喜利生成</a:t>
            </a:r>
            <a:r>
              <a:rPr lang="en-US" altLang="ja-JP" dirty="0"/>
              <a:t>AI</a:t>
            </a:r>
            <a:r>
              <a:rPr lang="ja-JP" altLang="en-US"/>
              <a:t>を評価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7280FB-4400-9CDD-D253-EC86C08C6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729720" cy="5286633"/>
          </a:xfrm>
        </p:spPr>
        <p:txBody>
          <a:bodyPr/>
          <a:lstStyle/>
          <a:p>
            <a:r>
              <a:rPr kumimoji="1" lang="ja-JP" altLang="en-US"/>
              <a:t>キャプション</a:t>
            </a:r>
            <a:r>
              <a:rPr kumimoji="1" lang="en-US" altLang="ja-JP" dirty="0"/>
              <a:t>AI, </a:t>
            </a:r>
            <a:r>
              <a:rPr kumimoji="1" lang="ja-JP" altLang="en-US"/>
              <a:t>従来手法</a:t>
            </a:r>
            <a:r>
              <a:rPr kumimoji="1" lang="en-US" altLang="ja-JP" dirty="0"/>
              <a:t>[1], </a:t>
            </a:r>
            <a:r>
              <a:rPr kumimoji="1" lang="ja-JP" altLang="en-US"/>
              <a:t>提案手法</a:t>
            </a:r>
            <a:r>
              <a:rPr kumimoji="1" lang="en-US" altLang="ja-JP" dirty="0"/>
              <a:t>, </a:t>
            </a:r>
            <a:r>
              <a:rPr kumimoji="1" lang="ja-JP" altLang="en-US"/>
              <a:t>人間の大喜利でアンケート</a:t>
            </a:r>
            <a:endParaRPr kumimoji="1" lang="en-US" altLang="ja-JP" sz="1200" dirty="0"/>
          </a:p>
          <a:p>
            <a:pPr marL="457200" lvl="1" indent="0">
              <a:buNone/>
            </a:pPr>
            <a:endParaRPr kumimoji="1" lang="en-US" altLang="ja-JP" sz="1200" dirty="0"/>
          </a:p>
          <a:p>
            <a:pPr marL="457200" lvl="1" indent="0">
              <a:buNone/>
            </a:pPr>
            <a:r>
              <a:rPr lang="ja-JP" altLang="en-US"/>
              <a:t>従来手法</a:t>
            </a:r>
            <a:r>
              <a:rPr lang="en-US" altLang="ja-JP" dirty="0"/>
              <a:t>, </a:t>
            </a:r>
            <a:r>
              <a:rPr lang="ja-JP" altLang="en-US"/>
              <a:t>提案手法は実験</a:t>
            </a:r>
            <a:r>
              <a:rPr lang="en-US" altLang="ja-JP" dirty="0"/>
              <a:t>1, </a:t>
            </a:r>
            <a:r>
              <a:rPr lang="ja-JP" altLang="en-US"/>
              <a:t>実験</a:t>
            </a:r>
            <a:r>
              <a:rPr lang="en-US" altLang="ja-JP" dirty="0"/>
              <a:t>2</a:t>
            </a:r>
            <a:r>
              <a:rPr lang="ja-JP" altLang="en-US"/>
              <a:t>で実装した大喜利生成</a:t>
            </a:r>
            <a:r>
              <a:rPr lang="en-US" altLang="ja-JP" dirty="0"/>
              <a:t>AI</a:t>
            </a:r>
          </a:p>
          <a:p>
            <a:pPr marL="457200" lvl="1" indent="0">
              <a:buNone/>
            </a:pPr>
            <a:r>
              <a:rPr kumimoji="1" lang="ja-JP" altLang="en-US"/>
              <a:t>キャプション</a:t>
            </a:r>
            <a:r>
              <a:rPr kumimoji="1" lang="en-US" altLang="ja-JP" dirty="0"/>
              <a:t>AI</a:t>
            </a:r>
            <a:r>
              <a:rPr kumimoji="1" lang="ja-JP" altLang="en-US"/>
              <a:t>は提案手法と同様のモデルに</a:t>
            </a:r>
            <a:r>
              <a:rPr kumimoji="1" lang="en-US" altLang="ja-JP" dirty="0"/>
              <a:t>STAIR</a:t>
            </a:r>
            <a:r>
              <a:rPr kumimoji="1" lang="ja-JP" altLang="en-US"/>
              <a:t>　</a:t>
            </a:r>
            <a:r>
              <a:rPr kumimoji="1" lang="en-US" altLang="ja-JP" dirty="0"/>
              <a:t>Caption</a:t>
            </a:r>
            <a:r>
              <a:rPr kumimoji="1" lang="ja-JP" altLang="en-US"/>
              <a:t>データ</a:t>
            </a:r>
            <a:r>
              <a:rPr kumimoji="1" lang="en-US" altLang="ja-JP" dirty="0"/>
              <a:t>[5]</a:t>
            </a:r>
            <a:r>
              <a:rPr kumimoji="1" lang="ja-JP" altLang="en-US"/>
              <a:t>を学習</a:t>
            </a:r>
            <a:r>
              <a:rPr kumimoji="1" lang="en-US" altLang="ja-JP" dirty="0"/>
              <a:t>[1]</a:t>
            </a:r>
          </a:p>
          <a:p>
            <a:pPr marL="457200" lvl="1" indent="0">
              <a:buNone/>
            </a:pPr>
            <a:r>
              <a:rPr lang="ja-JP" altLang="en-US"/>
              <a:t>人間の大喜利はスクレイピングした</a:t>
            </a:r>
            <a:r>
              <a:rPr lang="en-US" altLang="ja-JP" dirty="0" err="1"/>
              <a:t>bokete</a:t>
            </a:r>
            <a:r>
              <a:rPr lang="ja-JP" altLang="en-US"/>
              <a:t>のデータからランダムに選択</a:t>
            </a: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/>
              <a:t>アンケートでは</a:t>
            </a:r>
            <a:r>
              <a:rPr kumimoji="1" lang="en-US" altLang="ja-JP" dirty="0"/>
              <a:t>, </a:t>
            </a:r>
            <a:r>
              <a:rPr kumimoji="1" lang="ja-JP" altLang="en-US"/>
              <a:t>人間が画像とそれに対応する文章を見て</a:t>
            </a:r>
            <a:r>
              <a:rPr kumimoji="1" lang="en-US" altLang="ja-JP" dirty="0"/>
              <a:t>, </a:t>
            </a:r>
          </a:p>
          <a:p>
            <a:pPr marL="457200" lvl="1" indent="0">
              <a:buNone/>
            </a:pPr>
            <a:r>
              <a:rPr lang="en-US" altLang="ja-JP" dirty="0"/>
              <a:t>『</a:t>
            </a:r>
            <a:r>
              <a:rPr lang="ja-JP" altLang="en-US"/>
              <a:t>面白くない</a:t>
            </a:r>
            <a:r>
              <a:rPr lang="en-US" altLang="ja-JP" dirty="0"/>
              <a:t>』, 『</a:t>
            </a:r>
            <a:r>
              <a:rPr lang="ja-JP" altLang="en-US"/>
              <a:t>やや面白くない</a:t>
            </a:r>
            <a:r>
              <a:rPr lang="en-US" altLang="ja-JP" dirty="0"/>
              <a:t>』, 『</a:t>
            </a:r>
            <a:r>
              <a:rPr lang="ja-JP" altLang="en-US"/>
              <a:t>やや面白い</a:t>
            </a:r>
            <a:r>
              <a:rPr lang="en-US" altLang="ja-JP" dirty="0"/>
              <a:t>』, 『</a:t>
            </a:r>
            <a:r>
              <a:rPr lang="ja-JP" altLang="en-US"/>
              <a:t>面白い</a:t>
            </a:r>
            <a:r>
              <a:rPr lang="en-US" altLang="ja-JP" dirty="0"/>
              <a:t>』</a:t>
            </a:r>
            <a:r>
              <a:rPr lang="ja-JP" altLang="en-US"/>
              <a:t>の</a:t>
            </a:r>
            <a:r>
              <a:rPr lang="en-US" altLang="ja-JP" dirty="0"/>
              <a:t>4</a:t>
            </a:r>
            <a:r>
              <a:rPr lang="ja-JP" altLang="en-US"/>
              <a:t>段階で評価する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何が文章を作ったかは人間には伝えない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アンケートは</a:t>
            </a:r>
            <a:r>
              <a:rPr lang="en-US" altLang="ja-JP" dirty="0"/>
              <a:t>LINE</a:t>
            </a:r>
            <a:r>
              <a:rPr lang="ja-JP" altLang="en-US"/>
              <a:t>　</a:t>
            </a:r>
            <a:r>
              <a:rPr lang="en-US" altLang="ja-JP" dirty="0"/>
              <a:t>Bot</a:t>
            </a:r>
            <a:r>
              <a:rPr lang="ja-JP" altLang="en-US"/>
              <a:t>を用いて実施</a:t>
            </a:r>
            <a:endParaRPr lang="en-US" altLang="ja-JP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A96D77B3-1C0C-FEA0-9F26-9F93C39A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33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0F0426-54E9-FF10-52E2-25370B1EA68A}"/>
              </a:ext>
            </a:extLst>
          </p:cNvPr>
          <p:cNvSpPr txBox="1"/>
          <p:nvPr/>
        </p:nvSpPr>
        <p:spPr>
          <a:xfrm>
            <a:off x="462281" y="6330165"/>
            <a:ext cx="1126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ja-JP" sz="1050" dirty="0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[5] </a:t>
            </a:r>
            <a:r>
              <a:rPr lang="en" altLang="ja-JP" sz="105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Y, </a:t>
            </a:r>
            <a:r>
              <a:rPr lang="en" altLang="ja-JP" sz="105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Yuya</a:t>
            </a:r>
            <a:r>
              <a:rPr lang="en" altLang="ja-JP" sz="105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"Stair captions: Constructing a large-scale </a:t>
            </a:r>
            <a:r>
              <a:rPr lang="en" altLang="ja-JP" sz="105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japanese</a:t>
            </a:r>
            <a:r>
              <a:rPr lang="en" altLang="ja-JP" sz="105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image caption dataset." </a:t>
            </a:r>
            <a:r>
              <a:rPr lang="en" altLang="ja-JP" sz="105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" altLang="ja-JP" sz="105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arXiv:1705.00823 (2017).</a:t>
            </a:r>
            <a:endParaRPr lang="ja-JP" altLang="ja-JP" sz="1050">
              <a:effectLst/>
              <a:latin typeface="+mj-lt"/>
              <a:ea typeface="ＭＳ 明朝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231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6467C-19DF-1677-F905-FC58F7F6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06638F-124B-015A-BA5A-8C82272E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607800" cy="5497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得票数</a:t>
            </a:r>
            <a:r>
              <a:rPr kumimoji="1" lang="en-US" altLang="ja-JP" dirty="0"/>
              <a:t> : 509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B12B90-137C-AD5A-FC36-F0B7AE21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34</a:t>
            </a:fld>
            <a:endParaRPr kumimoji="1" lang="ja-JP" altLang="en-US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BE95D4A0-EA22-291C-3F30-2225EE452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995146"/>
              </p:ext>
            </p:extLst>
          </p:nvPr>
        </p:nvGraphicFramePr>
        <p:xfrm>
          <a:off x="381277" y="1776330"/>
          <a:ext cx="1142944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889">
                  <a:extLst>
                    <a:ext uri="{9D8B030D-6E8A-4147-A177-3AD203B41FA5}">
                      <a16:colId xmlns:a16="http://schemas.microsoft.com/office/drawing/2014/main" val="1985653471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06126374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486637586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782136652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212092965"/>
                    </a:ext>
                  </a:extLst>
                </a:gridCol>
              </a:tblGrid>
              <a:tr h="620749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３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２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やや面白い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１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spc="-200" baseline="0" dirty="0"/>
                        <a:t>やや面白くない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０</a:t>
                      </a:r>
                      <a:endParaRPr kumimoji="1" lang="en-US" altLang="ja-JP" sz="2400" dirty="0"/>
                    </a:p>
                    <a:p>
                      <a:pPr algn="ctr"/>
                      <a:r>
                        <a:rPr kumimoji="1" lang="ja-JP" altLang="en-US" sz="2400" dirty="0"/>
                        <a:t>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488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spc="-100" baseline="0"/>
                        <a:t>キャプション</a:t>
                      </a:r>
                      <a:r>
                        <a:rPr kumimoji="1" lang="en-US" altLang="ja-JP" sz="2400" spc="-100" baseline="0" dirty="0"/>
                        <a:t>AI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(Baseline)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79%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13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従来手法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13%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64%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76862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提案手法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0679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人間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28%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540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223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5">
            <a:extLst>
              <a:ext uri="{FF2B5EF4-FFF2-40B4-BE49-F238E27FC236}">
                <a16:creationId xmlns:a16="http://schemas.microsoft.com/office/drawing/2014/main" id="{A56DC8D6-D3CC-07CA-F192-A14963994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972114"/>
              </p:ext>
            </p:extLst>
          </p:nvPr>
        </p:nvGraphicFramePr>
        <p:xfrm>
          <a:off x="381277" y="1776330"/>
          <a:ext cx="1142944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889">
                  <a:extLst>
                    <a:ext uri="{9D8B030D-6E8A-4147-A177-3AD203B41FA5}">
                      <a16:colId xmlns:a16="http://schemas.microsoft.com/office/drawing/2014/main" val="1985653471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06126374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486637586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782136652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212092965"/>
                    </a:ext>
                  </a:extLst>
                </a:gridCol>
              </a:tblGrid>
              <a:tr h="620749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３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２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やや面白い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１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spc="-200" baseline="0" dirty="0"/>
                        <a:t>やや面白くない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０</a:t>
                      </a:r>
                      <a:endParaRPr kumimoji="1" lang="en-US" altLang="ja-JP" sz="2400" dirty="0"/>
                    </a:p>
                    <a:p>
                      <a:pPr algn="ctr"/>
                      <a:r>
                        <a:rPr kumimoji="1" lang="ja-JP" altLang="en-US" sz="2400" dirty="0"/>
                        <a:t>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488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spc="-100" baseline="0"/>
                        <a:t>キャプション</a:t>
                      </a:r>
                      <a:r>
                        <a:rPr kumimoji="1" lang="en-US" altLang="ja-JP" sz="2400" spc="-100" baseline="0" dirty="0"/>
                        <a:t>AI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(Baseline)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79%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13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従来手法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13%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64%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76862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提案手法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0679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人間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28%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54026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1766467C-19DF-1677-F905-FC58F7F6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B12B90-137C-AD5A-FC36-F0B7AE21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35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E9AC6C-BB60-E622-CA87-A54E80B4E6FD}"/>
              </a:ext>
            </a:extLst>
          </p:cNvPr>
          <p:cNvSpPr/>
          <p:nvPr/>
        </p:nvSpPr>
        <p:spPr>
          <a:xfrm>
            <a:off x="2666082" y="3429000"/>
            <a:ext cx="4571999" cy="16474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4606BC4B-AED9-ED87-97D5-C621272BC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607800" cy="5497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得票数</a:t>
            </a:r>
            <a:r>
              <a:rPr kumimoji="1" lang="en-US" altLang="ja-JP" dirty="0"/>
              <a:t> : 509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47997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5">
            <a:extLst>
              <a:ext uri="{FF2B5EF4-FFF2-40B4-BE49-F238E27FC236}">
                <a16:creationId xmlns:a16="http://schemas.microsoft.com/office/drawing/2014/main" id="{7FFEC2CA-7DF6-153E-7E05-DB1484050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984894"/>
              </p:ext>
            </p:extLst>
          </p:nvPr>
        </p:nvGraphicFramePr>
        <p:xfrm>
          <a:off x="381277" y="1776330"/>
          <a:ext cx="1142944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889">
                  <a:extLst>
                    <a:ext uri="{9D8B030D-6E8A-4147-A177-3AD203B41FA5}">
                      <a16:colId xmlns:a16="http://schemas.microsoft.com/office/drawing/2014/main" val="1985653471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06126374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486637586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782136652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212092965"/>
                    </a:ext>
                  </a:extLst>
                </a:gridCol>
              </a:tblGrid>
              <a:tr h="620749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３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２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やや面白い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１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spc="-200" baseline="0" dirty="0"/>
                        <a:t>やや面白くない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０</a:t>
                      </a:r>
                      <a:endParaRPr kumimoji="1" lang="en-US" altLang="ja-JP" sz="2400" dirty="0"/>
                    </a:p>
                    <a:p>
                      <a:pPr algn="ctr"/>
                      <a:r>
                        <a:rPr kumimoji="1" lang="ja-JP" altLang="en-US" sz="2400" dirty="0"/>
                        <a:t>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488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spc="-100" baseline="0"/>
                        <a:t>キャプション</a:t>
                      </a:r>
                      <a:r>
                        <a:rPr kumimoji="1" lang="en-US" altLang="ja-JP" sz="2400" spc="-100" baseline="0" dirty="0"/>
                        <a:t>AI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(Baseline)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79%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13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従来手法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13%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64%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76862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提案手法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0679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人間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28%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54026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1766467C-19DF-1677-F905-FC58F7F6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B12B90-137C-AD5A-FC36-F0B7AE21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36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AEE1F93-6786-E4AC-6EA4-FA5189B3F5F1}"/>
              </a:ext>
            </a:extLst>
          </p:cNvPr>
          <p:cNvSpPr/>
          <p:nvPr/>
        </p:nvSpPr>
        <p:spPr>
          <a:xfrm>
            <a:off x="2666081" y="4263258"/>
            <a:ext cx="4583017" cy="164749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C982A10D-589C-F29B-57CC-3BEFAA6A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607800" cy="5497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得票数</a:t>
            </a:r>
            <a:r>
              <a:rPr kumimoji="1" lang="en-US" altLang="ja-JP" dirty="0"/>
              <a:t> : 509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34205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F6759-E1C0-AFC6-381D-FB9065C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57FD28-2B77-9ED5-02DB-DD16EDE65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まとめ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bokete</a:t>
            </a:r>
            <a:r>
              <a:rPr kumimoji="1" lang="ja-JP" altLang="en-US" dirty="0"/>
              <a:t>のデータと</a:t>
            </a:r>
            <a:r>
              <a:rPr kumimoji="1" lang="en-US" altLang="ja-JP" dirty="0"/>
              <a:t>Pix2Seq</a:t>
            </a:r>
            <a:r>
              <a:rPr kumimoji="1" lang="ja-JP" altLang="en-US" dirty="0"/>
              <a:t>を用いて大喜利生成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を実装</a:t>
            </a:r>
            <a:endParaRPr kumimoji="1" lang="en-US" altLang="ja-JP" dirty="0"/>
          </a:p>
          <a:p>
            <a:pPr lvl="1"/>
            <a:endParaRPr lang="en-US" altLang="ja-JP" sz="1200" dirty="0"/>
          </a:p>
          <a:p>
            <a:pPr lvl="1"/>
            <a:r>
              <a:rPr kumimoji="1" lang="ja-JP" altLang="en-US" dirty="0"/>
              <a:t>アノテーションのない画像⇆文章データに適した</a:t>
            </a:r>
            <a:r>
              <a:rPr kumimoji="1" lang="en-US" altLang="ja-JP" dirty="0"/>
              <a:t>, </a:t>
            </a:r>
          </a:p>
          <a:p>
            <a:pPr marL="457200" lvl="1" indent="0">
              <a:buNone/>
            </a:pPr>
            <a:r>
              <a:rPr lang="ja-JP" altLang="en-US" dirty="0"/>
              <a:t>  </a:t>
            </a:r>
            <a:r>
              <a:rPr kumimoji="1" lang="ja-JP" altLang="en-US" dirty="0"/>
              <a:t>新たな</a:t>
            </a:r>
            <a:r>
              <a:rPr kumimoji="1" lang="en-US" altLang="ja-JP" dirty="0"/>
              <a:t>Pix2Seq</a:t>
            </a:r>
            <a:r>
              <a:rPr kumimoji="1" lang="ja-JP" altLang="en-US" dirty="0"/>
              <a:t>の学習モデル</a:t>
            </a:r>
            <a:r>
              <a:rPr kumimoji="1" lang="ja-JP" altLang="en-US"/>
              <a:t>を提案</a:t>
            </a:r>
            <a:endParaRPr kumimoji="1" lang="en-US" altLang="ja-JP" dirty="0"/>
          </a:p>
          <a:p>
            <a:pPr marL="457200" lvl="1" indent="0">
              <a:buNone/>
            </a:pPr>
            <a:endParaRPr lang="en-US" altLang="ja-JP" sz="1200" dirty="0"/>
          </a:p>
          <a:p>
            <a:pPr lvl="1"/>
            <a:r>
              <a:rPr kumimoji="1" lang="ja-JP" altLang="en-US"/>
              <a:t>実装した</a:t>
            </a:r>
            <a:r>
              <a:rPr lang="ja-JP" altLang="en-US"/>
              <a:t>大喜利生成</a:t>
            </a:r>
            <a:r>
              <a:rPr lang="en-US" altLang="ja-JP" dirty="0"/>
              <a:t>AI</a:t>
            </a:r>
            <a:r>
              <a:rPr lang="ja-JP" altLang="en-US"/>
              <a:t>の大喜利は， 従来手法より面白く人間より面白くない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今後の課題</a:t>
            </a:r>
            <a:endParaRPr kumimoji="1" lang="en-US" altLang="ja-JP" dirty="0"/>
          </a:p>
          <a:p>
            <a:pPr lvl="1"/>
            <a:r>
              <a:rPr lang="ja-JP" altLang="en-US"/>
              <a:t>他のデータに提案手法を応用し，性能を評価</a:t>
            </a:r>
            <a:endParaRPr lang="en-US" altLang="ja-JP" dirty="0"/>
          </a:p>
          <a:p>
            <a:pPr lvl="1"/>
            <a:endParaRPr kumimoji="1" lang="en-US" altLang="ja-JP" sz="1100" dirty="0"/>
          </a:p>
          <a:p>
            <a:pPr lvl="1"/>
            <a:r>
              <a:rPr lang="en-US" altLang="ja-JP" dirty="0"/>
              <a:t>AI</a:t>
            </a:r>
            <a:r>
              <a:rPr lang="ja-JP" altLang="en-US" dirty="0"/>
              <a:t>に対し</a:t>
            </a:r>
            <a:r>
              <a:rPr lang="en-US" altLang="ja-JP" dirty="0"/>
              <a:t>, </a:t>
            </a:r>
            <a:r>
              <a:rPr lang="ja-JP" altLang="en-US" dirty="0"/>
              <a:t>大喜利を面白くする工夫を加える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EADC98-9250-C542-6884-F725E092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525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4">
      <a:majorFont>
        <a:latin typeface="UD デジタル 教科書体 NK-R"/>
        <a:ea typeface="UD デジタル 教科書体 NK-R"/>
        <a:cs typeface=""/>
      </a:majorFont>
      <a:minorFont>
        <a:latin typeface="UD デジタル 教科書体 NK-R"/>
        <a:ea typeface="UD デジタル 教科書体 NK-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  <a:ln w="38100">
          <a:solidFill>
            <a:srgbClr val="00B0F0"/>
          </a:solidFill>
        </a:ln>
      </a:spPr>
      <a:bodyPr rtlCol="0" anchor="ctr"/>
      <a:lstStyle>
        <a:defPPr algn="ctr">
          <a:defRPr kumimoji="1"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kumimoji="1"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</TotalTime>
  <Words>2536</Words>
  <Application>Microsoft Macintosh PowerPoint</Application>
  <PresentationFormat>ワイド画面</PresentationFormat>
  <Paragraphs>705</Paragraphs>
  <Slides>37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5" baseType="lpstr">
      <vt:lpstr>UD デジタル 教科書体 NK-R</vt:lpstr>
      <vt:lpstr>游ゴシック</vt:lpstr>
      <vt:lpstr>Arial</vt:lpstr>
      <vt:lpstr>Cambria Math</vt:lpstr>
      <vt:lpstr>Helvetica Neue</vt:lpstr>
      <vt:lpstr>Menlo</vt:lpstr>
      <vt:lpstr>Wingdings</vt:lpstr>
      <vt:lpstr>Office テーマ</vt:lpstr>
      <vt:lpstr>大喜利生成AIの実装に関する研究</vt:lpstr>
      <vt:lpstr>研究背景</vt:lpstr>
      <vt:lpstr>研究背景</vt:lpstr>
      <vt:lpstr>研究目的</vt:lpstr>
      <vt:lpstr>Neural Joking Machine : Humorous Image Caption[1]</vt:lpstr>
      <vt:lpstr>bokete[2]</vt:lpstr>
      <vt:lpstr>Neural Joking Machine : Humorous Image Caption[1]</vt:lpstr>
      <vt:lpstr>Pix2Seq[3]</vt:lpstr>
      <vt:lpstr>Pix2Seq</vt:lpstr>
      <vt:lpstr>Pix2Seq</vt:lpstr>
      <vt:lpstr>Pix2Seq</vt:lpstr>
      <vt:lpstr>事前学習済みモデルの問題点Ⅰ</vt:lpstr>
      <vt:lpstr>事前学習済みモデルの問題点Ⅱ</vt:lpstr>
      <vt:lpstr>事前学習済みモデルの問題点Ⅱ</vt:lpstr>
      <vt:lpstr>提案手法</vt:lpstr>
      <vt:lpstr>AutoEncoder[4]</vt:lpstr>
      <vt:lpstr>AutoEncoder</vt:lpstr>
      <vt:lpstr>提案手法の学習モデル</vt:lpstr>
      <vt:lpstr>提案手法の学習モデル</vt:lpstr>
      <vt:lpstr>従来手法との比較</vt:lpstr>
      <vt:lpstr>従来手法との比較</vt:lpstr>
      <vt:lpstr>従来手法との比較</vt:lpstr>
      <vt:lpstr>従来手法との比較</vt:lpstr>
      <vt:lpstr>従来手法との比較</vt:lpstr>
      <vt:lpstr>実験1 : 大喜利生成AIの実装</vt:lpstr>
      <vt:lpstr>実験1</vt:lpstr>
      <vt:lpstr>実験1</vt:lpstr>
      <vt:lpstr>実験1</vt:lpstr>
      <vt:lpstr>実験1</vt:lpstr>
      <vt:lpstr>実験2 : 従来手法との比較</vt:lpstr>
      <vt:lpstr>実験2</vt:lpstr>
      <vt:lpstr>実験2</vt:lpstr>
      <vt:lpstr>実験3 :実装した大喜利生成AIを評価</vt:lpstr>
      <vt:lpstr>実験3</vt:lpstr>
      <vt:lpstr>実験3</vt:lpstr>
      <vt:lpstr>実験3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山富龍</dc:creator>
  <cp:lastModifiedBy>山富龍</cp:lastModifiedBy>
  <cp:revision>82</cp:revision>
  <dcterms:created xsi:type="dcterms:W3CDTF">2022-02-11T03:49:06Z</dcterms:created>
  <dcterms:modified xsi:type="dcterms:W3CDTF">2023-03-04T04:10:18Z</dcterms:modified>
</cp:coreProperties>
</file>