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9" r:id="rId3"/>
    <p:sldId id="258" r:id="rId4"/>
    <p:sldId id="257" r:id="rId5"/>
    <p:sldId id="260" r:id="rId6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0"/>
    <p:restoredTop sz="96512"/>
  </p:normalViewPr>
  <p:slideViewPr>
    <p:cSldViewPr snapToGrid="0" showGuides="1">
      <p:cViewPr>
        <p:scale>
          <a:sx n="113" d="100"/>
          <a:sy n="113" d="100"/>
        </p:scale>
        <p:origin x="3648" y="208"/>
      </p:cViewPr>
      <p:guideLst>
        <p:guide orient="horz" pos="3121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990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05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91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6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35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6264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42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679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86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47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51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73183-80E8-9548-BDB8-39AAF6BD8845}" type="datetimeFigureOut">
              <a:rPr kumimoji="1" lang="ja-JP" altLang="en-US" smtClean="0"/>
              <a:t>2023/8/18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9D14A-5DF5-9943-B800-6F3C6D5B70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61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EDE70ED4-3BC8-D91A-1128-391938339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727495"/>
              </p:ext>
            </p:extLst>
          </p:nvPr>
        </p:nvGraphicFramePr>
        <p:xfrm>
          <a:off x="110836" y="104702"/>
          <a:ext cx="6636328" cy="8836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9082">
                  <a:extLst>
                    <a:ext uri="{9D8B030D-6E8A-4147-A177-3AD203B41FA5}">
                      <a16:colId xmlns:a16="http://schemas.microsoft.com/office/drawing/2014/main" val="1318905953"/>
                    </a:ext>
                  </a:extLst>
                </a:gridCol>
                <a:gridCol w="945573">
                  <a:extLst>
                    <a:ext uri="{9D8B030D-6E8A-4147-A177-3AD203B41FA5}">
                      <a16:colId xmlns:a16="http://schemas.microsoft.com/office/drawing/2014/main" val="15593162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56022887"/>
                    </a:ext>
                  </a:extLst>
                </a:gridCol>
                <a:gridCol w="2964873">
                  <a:extLst>
                    <a:ext uri="{9D8B030D-6E8A-4147-A177-3AD203B41FA5}">
                      <a16:colId xmlns:a16="http://schemas.microsoft.com/office/drawing/2014/main" val="2711003082"/>
                    </a:ext>
                  </a:extLst>
                </a:gridCol>
              </a:tblGrid>
              <a:tr h="42247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Input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Method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391314"/>
                  </a:ext>
                </a:extLst>
              </a:tr>
              <a:tr h="259055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(a)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486757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Century Schoolbook" panose="02040604050505020304" pitchFamily="18" charset="0"/>
                        </a:rPr>
                        <a:t>ウォーリーを探せ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163970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dirty="0">
                          <a:latin typeface="Century Schoolbook" panose="02040604050505020304" pitchFamily="18" charset="0"/>
                        </a:rPr>
                        <a:t>Where’s Wally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796015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250" baseline="0">
                          <a:latin typeface="Century Schoolbook" panose="02040604050505020304" pitchFamily="18" charset="0"/>
                        </a:rPr>
                        <a:t>鍋にオタマジャクシが入っていた</a:t>
                      </a:r>
                      <a:endParaRPr kumimoji="1" lang="en-US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788659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spc="-100" baseline="0" dirty="0">
                          <a:latin typeface="Century Schoolbook" panose="02040604050505020304" pitchFamily="18" charset="0"/>
                        </a:rPr>
                        <a:t>There were tadpoles in the pot</a:t>
                      </a:r>
                      <a:endParaRPr kumimoji="1" lang="ja-JP" altLang="en-US" sz="1600" b="0" i="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120748"/>
                  </a:ext>
                </a:extLst>
              </a:tr>
              <a:tr h="329383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(b)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783303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100" baseline="0">
                          <a:latin typeface="Century Schoolbook" panose="02040604050505020304" pitchFamily="18" charset="0"/>
                        </a:rPr>
                        <a:t>チャックが開いてるよぉ</a:t>
                      </a:r>
                      <a:endParaRPr kumimoji="1" lang="en-US" altLang="ja-JP" sz="16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30183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Your zipper is open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062703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海が割れるのよ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372776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The sea will split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942999"/>
                  </a:ext>
                </a:extLst>
              </a:tr>
              <a:tr h="216127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(c)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786181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250" baseline="0">
                          <a:latin typeface="Century Schoolbook" panose="02040604050505020304" pitchFamily="18" charset="0"/>
                        </a:rPr>
                        <a:t>今からこのマイクを鼻に入れます</a:t>
                      </a:r>
                      <a:endParaRPr kumimoji="1" lang="en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476724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Now, I’m going to put       this microphone up my nose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460897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奥さんに浮気がバレた</a:t>
                      </a:r>
                      <a:endParaRPr kumimoji="1" lang="en-US" altLang="ja-JP" sz="20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585359"/>
                  </a:ext>
                </a:extLst>
              </a:tr>
              <a:tr h="540323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His wife caught </a:t>
                      </a:r>
                    </a:p>
                    <a:p>
                      <a:pPr algn="ctr"/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him cheating on her.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855937"/>
                  </a:ext>
                </a:extLst>
              </a:tr>
              <a:tr h="311811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(d)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633274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ママこれ買って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509561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Mom, buy this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405671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kern="1200" dirty="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100</a:t>
                      </a: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円落としたーーー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93628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I dropped 100 yen---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608779"/>
                  </a:ext>
                </a:extLst>
              </a:tr>
            </a:tbl>
          </a:graphicData>
        </a:graphic>
      </p:graphicFrame>
      <p:pic>
        <p:nvPicPr>
          <p:cNvPr id="6" name="図 5" descr="部屋 が含まれている画像&#10;&#10;自動的に生成された説明">
            <a:extLst>
              <a:ext uri="{FF2B5EF4-FFF2-40B4-BE49-F238E27FC236}">
                <a16:creationId xmlns:a16="http://schemas.microsoft.com/office/drawing/2014/main" id="{4B993465-8FAC-7E46-5F6E-4B1B16D92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" y="905378"/>
            <a:ext cx="1615260" cy="1610564"/>
          </a:xfrm>
          <a:prstGeom prst="rect">
            <a:avLst/>
          </a:prstGeom>
        </p:spPr>
      </p:pic>
      <p:pic>
        <p:nvPicPr>
          <p:cNvPr id="8" name="図 7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40986E0F-731A-89D0-AF5A-BC8BCD1E4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1" y="2909526"/>
            <a:ext cx="1610564" cy="1615260"/>
          </a:xfrm>
          <a:prstGeom prst="rect">
            <a:avLst/>
          </a:prstGeom>
        </p:spPr>
      </p:pic>
      <p:pic>
        <p:nvPicPr>
          <p:cNvPr id="10" name="図 9" descr="バナナのコスチュームを着ている男性&#10;&#10;中程度の精度で自動的に生成された説明">
            <a:extLst>
              <a:ext uri="{FF2B5EF4-FFF2-40B4-BE49-F238E27FC236}">
                <a16:creationId xmlns:a16="http://schemas.microsoft.com/office/drawing/2014/main" id="{D0A41A49-FA9A-E1DA-73EF-62C47EB05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91" y="5105741"/>
            <a:ext cx="1624651" cy="1634042"/>
          </a:xfrm>
          <a:prstGeom prst="rect">
            <a:avLst/>
          </a:prstGeom>
        </p:spPr>
      </p:pic>
      <p:pic>
        <p:nvPicPr>
          <p:cNvPr id="12" name="図 11" descr="手を合わせている女性&#10;&#10;中程度の精度で自動的に生成された説明">
            <a:extLst>
              <a:ext uri="{FF2B5EF4-FFF2-40B4-BE49-F238E27FC236}">
                <a16:creationId xmlns:a16="http://schemas.microsoft.com/office/drawing/2014/main" id="{7945F4BF-7DFE-FF38-AC85-F45DC09C0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91" y="7279024"/>
            <a:ext cx="1624651" cy="163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9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EDE70ED4-3BC8-D91A-1128-391938339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814219"/>
              </p:ext>
            </p:extLst>
          </p:nvPr>
        </p:nvGraphicFramePr>
        <p:xfrm>
          <a:off x="110836" y="104702"/>
          <a:ext cx="6636328" cy="86410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9082">
                  <a:extLst>
                    <a:ext uri="{9D8B030D-6E8A-4147-A177-3AD203B41FA5}">
                      <a16:colId xmlns:a16="http://schemas.microsoft.com/office/drawing/2014/main" val="1318905953"/>
                    </a:ext>
                  </a:extLst>
                </a:gridCol>
                <a:gridCol w="945573">
                  <a:extLst>
                    <a:ext uri="{9D8B030D-6E8A-4147-A177-3AD203B41FA5}">
                      <a16:colId xmlns:a16="http://schemas.microsoft.com/office/drawing/2014/main" val="15593162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56022887"/>
                    </a:ext>
                  </a:extLst>
                </a:gridCol>
                <a:gridCol w="2964873">
                  <a:extLst>
                    <a:ext uri="{9D8B030D-6E8A-4147-A177-3AD203B41FA5}">
                      <a16:colId xmlns:a16="http://schemas.microsoft.com/office/drawing/2014/main" val="2711003082"/>
                    </a:ext>
                  </a:extLst>
                </a:gridCol>
              </a:tblGrid>
              <a:tr h="42247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Input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Method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391314"/>
                  </a:ext>
                </a:extLst>
              </a:tr>
              <a:tr h="259055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(a)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486757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Century Schoolbook" panose="02040604050505020304" pitchFamily="18" charset="0"/>
                        </a:rPr>
                        <a:t>ウォーリーを探せ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163970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dirty="0">
                          <a:latin typeface="Century Schoolbook" panose="02040604050505020304" pitchFamily="18" charset="0"/>
                        </a:rPr>
                        <a:t>Where’s Wally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796015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250" baseline="0">
                          <a:latin typeface="Century Schoolbook" panose="02040604050505020304" pitchFamily="18" charset="0"/>
                        </a:rPr>
                        <a:t>鍋にオタマジャクシが入っていた</a:t>
                      </a:r>
                      <a:endParaRPr kumimoji="1" lang="en-US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788659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spc="-100" baseline="0" dirty="0">
                          <a:latin typeface="Century Schoolbook" panose="02040604050505020304" pitchFamily="18" charset="0"/>
                        </a:rPr>
                        <a:t>There were tadpoles in the pot</a:t>
                      </a:r>
                      <a:endParaRPr kumimoji="1" lang="ja-JP" altLang="en-US" sz="1600" b="0" i="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120748"/>
                  </a:ext>
                </a:extLst>
              </a:tr>
              <a:tr h="329383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(b)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783303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100" baseline="0">
                          <a:latin typeface="Century Schoolbook" panose="02040604050505020304" pitchFamily="18" charset="0"/>
                        </a:rPr>
                        <a:t>チャックが開いてるよぉ</a:t>
                      </a:r>
                      <a:endParaRPr kumimoji="1" lang="en-US" altLang="ja-JP" sz="16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30183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Your zipper is open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062703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海が割れるのよ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372776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The sea will split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942999"/>
                  </a:ext>
                </a:extLst>
              </a:tr>
              <a:tr h="216127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(c)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786181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ママこれ買って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476724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Mom, buy this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460897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kern="1200" dirty="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100</a:t>
                      </a: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円落としたーーー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585359"/>
                  </a:ext>
                </a:extLst>
              </a:tr>
              <a:tr h="540323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I dropped 100 yen---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855937"/>
                  </a:ext>
                </a:extLst>
              </a:tr>
              <a:tr h="311811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(d)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633274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最後の一発ギャグを披露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509561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Perform one last gag.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405671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捕獲されたクラゲ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93628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Captured jellyfish.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608779"/>
                  </a:ext>
                </a:extLst>
              </a:tr>
            </a:tbl>
          </a:graphicData>
        </a:graphic>
      </p:graphicFrame>
      <p:pic>
        <p:nvPicPr>
          <p:cNvPr id="6" name="図 5" descr="部屋 が含まれている画像&#10;&#10;自動的に生成された説明">
            <a:extLst>
              <a:ext uri="{FF2B5EF4-FFF2-40B4-BE49-F238E27FC236}">
                <a16:creationId xmlns:a16="http://schemas.microsoft.com/office/drawing/2014/main" id="{4B993465-8FAC-7E46-5F6E-4B1B16D92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42" y="905378"/>
            <a:ext cx="1615260" cy="1610564"/>
          </a:xfrm>
          <a:prstGeom prst="rect">
            <a:avLst/>
          </a:prstGeom>
        </p:spPr>
      </p:pic>
      <p:pic>
        <p:nvPicPr>
          <p:cNvPr id="8" name="図 7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40986E0F-731A-89D0-AF5A-BC8BCD1E4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42" y="2909526"/>
            <a:ext cx="1610564" cy="1615260"/>
          </a:xfrm>
          <a:prstGeom prst="rect">
            <a:avLst/>
          </a:prstGeom>
        </p:spPr>
      </p:pic>
      <p:pic>
        <p:nvPicPr>
          <p:cNvPr id="12" name="図 11" descr="手を合わせている女性&#10;&#10;中程度の精度で自動的に生成された説明">
            <a:extLst>
              <a:ext uri="{FF2B5EF4-FFF2-40B4-BE49-F238E27FC236}">
                <a16:creationId xmlns:a16="http://schemas.microsoft.com/office/drawing/2014/main" id="{7945F4BF-7DFE-FF38-AC85-F45DC09C0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42" y="5001231"/>
            <a:ext cx="1624651" cy="1634042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8C532ECA-2B7A-332A-28D0-B456DB159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42" y="7089416"/>
            <a:ext cx="1610564" cy="161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ADAF0261-341A-F0D7-698C-58E2B668E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114326"/>
              </p:ext>
            </p:extLst>
          </p:nvPr>
        </p:nvGraphicFramePr>
        <p:xfrm>
          <a:off x="110836" y="104702"/>
          <a:ext cx="6636328" cy="8836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9082">
                  <a:extLst>
                    <a:ext uri="{9D8B030D-6E8A-4147-A177-3AD203B41FA5}">
                      <a16:colId xmlns:a16="http://schemas.microsoft.com/office/drawing/2014/main" val="1318905953"/>
                    </a:ext>
                  </a:extLst>
                </a:gridCol>
                <a:gridCol w="945573">
                  <a:extLst>
                    <a:ext uri="{9D8B030D-6E8A-4147-A177-3AD203B41FA5}">
                      <a16:colId xmlns:a16="http://schemas.microsoft.com/office/drawing/2014/main" val="15593162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56022887"/>
                    </a:ext>
                  </a:extLst>
                </a:gridCol>
                <a:gridCol w="2964873">
                  <a:extLst>
                    <a:ext uri="{9D8B030D-6E8A-4147-A177-3AD203B41FA5}">
                      <a16:colId xmlns:a16="http://schemas.microsoft.com/office/drawing/2014/main" val="2711003082"/>
                    </a:ext>
                  </a:extLst>
                </a:gridCol>
              </a:tblGrid>
              <a:tr h="42247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Input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Method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391314"/>
                  </a:ext>
                </a:extLst>
              </a:tr>
              <a:tr h="259055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(a)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486757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Century Schoolbook" panose="02040604050505020304" pitchFamily="18" charset="0"/>
                        </a:rPr>
                        <a:t>ウォーリーを探せ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163970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dirty="0">
                          <a:latin typeface="Century Schoolbook" panose="02040604050505020304" pitchFamily="18" charset="0"/>
                        </a:rPr>
                        <a:t>Where’s Wally.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796015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250" baseline="0">
                          <a:latin typeface="Century Schoolbook" panose="02040604050505020304" pitchFamily="18" charset="0"/>
                        </a:rPr>
                        <a:t>鍋にオタマジャクシが入っていた</a:t>
                      </a:r>
                      <a:endParaRPr kumimoji="1" lang="en-US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788659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i="0" spc="-100" baseline="0" dirty="0">
                          <a:latin typeface="Century Schoolbook" panose="02040604050505020304" pitchFamily="18" charset="0"/>
                        </a:rPr>
                        <a:t>There were tadpoles in the pot.</a:t>
                      </a:r>
                      <a:endParaRPr kumimoji="1" lang="ja-JP" altLang="en-US" sz="1600" b="0" i="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120748"/>
                  </a:ext>
                </a:extLst>
              </a:tr>
              <a:tr h="329383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(b)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783303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100" baseline="0">
                          <a:latin typeface="Century Schoolbook" panose="02040604050505020304" pitchFamily="18" charset="0"/>
                        </a:rPr>
                        <a:t>チャックが開いてるよぉ</a:t>
                      </a:r>
                      <a:endParaRPr kumimoji="1" lang="en-US" altLang="ja-JP" sz="16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30183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Your zipper is open.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062703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海が割れるのよ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372776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The sea will split.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942999"/>
                  </a:ext>
                </a:extLst>
              </a:tr>
              <a:tr h="216127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(c)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786181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spc="-250" baseline="0">
                          <a:latin typeface="Century Schoolbook" panose="02040604050505020304" pitchFamily="18" charset="0"/>
                        </a:rPr>
                        <a:t>今からこのマイクを鼻に入れます</a:t>
                      </a:r>
                      <a:endParaRPr kumimoji="1" lang="en" altLang="ja-JP" sz="1600" b="0" i="0" spc="-25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476724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Now, I’m going to put       this microphone up my nose.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460897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奥さんに浮気がバレた</a:t>
                      </a:r>
                      <a:endParaRPr kumimoji="1" lang="en-US" altLang="ja-JP" sz="2000" b="0" i="0" spc="-100" baseline="0" dirty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585359"/>
                  </a:ext>
                </a:extLst>
              </a:tr>
              <a:tr h="540323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His wife caught </a:t>
                      </a:r>
                    </a:p>
                    <a:p>
                      <a:pPr algn="ctr"/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him cheating on her.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855937"/>
                  </a:ext>
                </a:extLst>
              </a:tr>
              <a:tr h="311811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Century Schoolbook" panose="02040604050505020304" pitchFamily="18" charset="0"/>
                        </a:rPr>
                        <a:t>(d)</a:t>
                      </a:r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633274"/>
                  </a:ext>
                </a:extLst>
              </a:tr>
              <a:tr h="422476">
                <a:tc rowSpan="4"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spc="-100" baseline="0" dirty="0">
                          <a:latin typeface="Century Schoolbook" panose="02040604050505020304" pitchFamily="18" charset="0"/>
                        </a:rPr>
                        <a:t>GUMI-AE</a:t>
                      </a:r>
                      <a:endParaRPr kumimoji="1" lang="ja-JP" altLang="en-US" sz="14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最後の一発ギャグを披露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509561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Perform one last gag.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405671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NJM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generated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i="0" kern="1200">
                          <a:solidFill>
                            <a:schemeClr val="tx1"/>
                          </a:solidFill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捕獲されたクラゲ</a:t>
                      </a:r>
                      <a:endParaRPr kumimoji="1" lang="en-US" altLang="ja-JP" sz="1600" b="0" i="0" kern="1200" dirty="0"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93628"/>
                  </a:ext>
                </a:extLst>
              </a:tr>
              <a:tr h="422476"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spc="-100" baseline="0" dirty="0">
                          <a:latin typeface="Century Schoolbook" panose="02040604050505020304" pitchFamily="18" charset="0"/>
                        </a:rPr>
                        <a:t>translated</a:t>
                      </a:r>
                      <a:endParaRPr kumimoji="1" lang="ja-JP" altLang="en-US" sz="1600" spc="-100" baseline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ja-JP" sz="1600" b="0" i="0" dirty="0">
                          <a:latin typeface="Century Schoolbook" panose="02040604050505020304" pitchFamily="18" charset="0"/>
                        </a:rPr>
                        <a:t>Captured jellyfish.</a:t>
                      </a:r>
                      <a:endParaRPr kumimoji="1" lang="ja-JP" altLang="en-US" sz="1600" b="0" i="0"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608779"/>
                  </a:ext>
                </a:extLst>
              </a:tr>
            </a:tbl>
          </a:graphicData>
        </a:graphic>
      </p:graphicFrame>
      <p:pic>
        <p:nvPicPr>
          <p:cNvPr id="5" name="図 4" descr="部屋 が含まれている画像&#10;&#10;自動的に生成された説明">
            <a:extLst>
              <a:ext uri="{FF2B5EF4-FFF2-40B4-BE49-F238E27FC236}">
                <a16:creationId xmlns:a16="http://schemas.microsoft.com/office/drawing/2014/main" id="{7E7224FE-F74F-761A-413F-A4AEFB5DE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" y="905378"/>
            <a:ext cx="1615260" cy="1610564"/>
          </a:xfrm>
          <a:prstGeom prst="rect">
            <a:avLst/>
          </a:prstGeom>
        </p:spPr>
      </p:pic>
      <p:pic>
        <p:nvPicPr>
          <p:cNvPr id="6" name="図 5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F18B34D0-3C17-D8C0-763F-93F6AECE3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1" y="2909526"/>
            <a:ext cx="1610564" cy="1615260"/>
          </a:xfrm>
          <a:prstGeom prst="rect">
            <a:avLst/>
          </a:prstGeom>
        </p:spPr>
      </p:pic>
      <p:pic>
        <p:nvPicPr>
          <p:cNvPr id="7" name="図 6" descr="バナナのコスチュームを着ている男性&#10;&#10;中程度の精度で自動的に生成された説明">
            <a:extLst>
              <a:ext uri="{FF2B5EF4-FFF2-40B4-BE49-F238E27FC236}">
                <a16:creationId xmlns:a16="http://schemas.microsoft.com/office/drawing/2014/main" id="{53C03717-5DEF-9CF9-6154-BB88A0B0C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91" y="5105741"/>
            <a:ext cx="1624651" cy="163404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BE0F916-90AD-7632-B780-3428131C1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42" y="7289229"/>
            <a:ext cx="1610564" cy="161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92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CB2904A-A96A-F904-B82D-A4EACDAF79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13" t="3844" r="28410" b="8038"/>
          <a:stretch/>
        </p:blipFill>
        <p:spPr>
          <a:xfrm>
            <a:off x="523171" y="1093195"/>
            <a:ext cx="5811657" cy="772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1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88350B5-39DC-B027-650F-0EF69C9549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18" t="3874" r="28617" b="10750"/>
          <a:stretch/>
        </p:blipFill>
        <p:spPr>
          <a:xfrm>
            <a:off x="1884555" y="1550019"/>
            <a:ext cx="2932771" cy="380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5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1168</TotalTime>
  <Words>362</Words>
  <Application>Microsoft Macintosh PowerPoint</Application>
  <PresentationFormat>ユーザー設定</PresentationFormat>
  <Paragraphs>140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Century Schoolbook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山富龍</dc:creator>
  <cp:lastModifiedBy>山富龍</cp:lastModifiedBy>
  <cp:revision>4</cp:revision>
  <dcterms:created xsi:type="dcterms:W3CDTF">2023-06-08T07:43:28Z</dcterms:created>
  <dcterms:modified xsi:type="dcterms:W3CDTF">2023-08-19T05:24:02Z</dcterms:modified>
</cp:coreProperties>
</file>