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593" r:id="rId8"/>
    <p:sldId id="601" r:id="rId9"/>
    <p:sldId id="574" r:id="rId10"/>
    <p:sldId id="573" r:id="rId11"/>
    <p:sldId id="572" r:id="rId12"/>
    <p:sldId id="264" r:id="rId13"/>
    <p:sldId id="265" r:id="rId14"/>
    <p:sldId id="600" r:id="rId15"/>
    <p:sldId id="266" r:id="rId16"/>
    <p:sldId id="571" r:id="rId17"/>
    <p:sldId id="267" r:id="rId18"/>
    <p:sldId id="550" r:id="rId19"/>
    <p:sldId id="551" r:id="rId20"/>
    <p:sldId id="552" r:id="rId21"/>
    <p:sldId id="553" r:id="rId22"/>
    <p:sldId id="598" r:id="rId23"/>
    <p:sldId id="580" r:id="rId24"/>
    <p:sldId id="584" r:id="rId25"/>
    <p:sldId id="585" r:id="rId26"/>
    <p:sldId id="586" r:id="rId27"/>
    <p:sldId id="559" r:id="rId28"/>
    <p:sldId id="608" r:id="rId29"/>
    <p:sldId id="611" r:id="rId30"/>
    <p:sldId id="607" r:id="rId31"/>
    <p:sldId id="575" r:id="rId32"/>
    <p:sldId id="591" r:id="rId33"/>
    <p:sldId id="590" r:id="rId34"/>
    <p:sldId id="579" r:id="rId35"/>
    <p:sldId id="582" r:id="rId36"/>
    <p:sldId id="602" r:id="rId37"/>
    <p:sldId id="594" r:id="rId38"/>
    <p:sldId id="595" r:id="rId39"/>
    <p:sldId id="596" r:id="rId40"/>
    <p:sldId id="597" r:id="rId41"/>
    <p:sldId id="563" r:id="rId42"/>
    <p:sldId id="610" r:id="rId43"/>
    <p:sldId id="609" r:id="rId44"/>
    <p:sldId id="605" r:id="rId45"/>
    <p:sldId id="577" r:id="rId4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E1ECFF"/>
    <a:srgbClr val="5BD4FF"/>
    <a:srgbClr val="01D5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18" autoAdjust="0"/>
    <p:restoredTop sz="95214" autoAdjust="0"/>
  </p:normalViewPr>
  <p:slideViewPr>
    <p:cSldViewPr snapToGrid="0">
      <p:cViewPr>
        <p:scale>
          <a:sx n="101" d="100"/>
          <a:sy n="101" d="100"/>
        </p:scale>
        <p:origin x="1032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DE44C3-561A-4496-B1CD-B15C2D8ADEBF}" type="datetimeFigureOut">
              <a:rPr kumimoji="1" lang="ja-JP" altLang="en-US" smtClean="0"/>
              <a:t>2023/3/26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9FFF5C-DD13-4AF1-91FC-91C1E731AF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4156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非表示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FFF5C-DD13-4AF1-91FC-91C1E731AF95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92764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いらない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FFF5C-DD13-4AF1-91FC-91C1E731AF95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2290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err="1"/>
              <a:t>AutoEncoder</a:t>
            </a:r>
            <a:r>
              <a:rPr kumimoji="1" lang="ja-JP" altLang="en-US" dirty="0"/>
              <a:t>はニューラルネットワークを使用した教師無し学習</a:t>
            </a:r>
            <a:r>
              <a:rPr kumimoji="1" lang="en-US" altLang="ja-JP" dirty="0"/>
              <a:t>AI</a:t>
            </a:r>
            <a:r>
              <a:rPr kumimoji="1" lang="ja-JP" altLang="en-US" dirty="0"/>
              <a:t>で、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教師無し学習なので正解情報であるアノテーションを必要としません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 err="1"/>
              <a:t>AutoEncoder</a:t>
            </a:r>
            <a:r>
              <a:rPr kumimoji="1" lang="ja-JP" altLang="en-US" dirty="0"/>
              <a:t>はデータの次元圧縮・特徴抽出ができます</a:t>
            </a:r>
            <a:endParaRPr kumimoji="1" lang="en-US" altLang="ja-JP" dirty="0"/>
          </a:p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FFF5C-DD13-4AF1-91FC-91C1E731AF95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40435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err="1"/>
              <a:t>AutoEncoder</a:t>
            </a:r>
            <a:r>
              <a:rPr kumimoji="1" lang="ja-JP" altLang="en-US"/>
              <a:t>では入力と</a:t>
            </a:r>
            <a:r>
              <a:rPr kumimoji="1" lang="en-US" altLang="ja-JP" dirty="0"/>
              <a:t>, </a:t>
            </a:r>
            <a:r>
              <a:rPr kumimoji="1" lang="ja-JP" altLang="en-US"/>
              <a:t>デコーダの出力からなる</a:t>
            </a:r>
            <a:r>
              <a:rPr kumimoji="1" lang="en-US" altLang="ja-JP" dirty="0"/>
              <a:t>, </a:t>
            </a:r>
            <a:r>
              <a:rPr kumimoji="1" lang="ja-JP" altLang="en-US"/>
              <a:t>二乗和誤差などの損失関数を最小化するように学習します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/>
              <a:t>これにより、エンコーダは入力の特徴を抽出するようになり、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/>
              <a:t>また、デコーダはエンコーダから入力を復元できるようになります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/>
              <a:t>エンコーダの出力次元を入力の次元数より小さくしてやれば データの次元圧縮もできます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FFF5C-DD13-4AF1-91FC-91C1E731AF95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6292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以上の話のまとめとして提案手法を振り返りますと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まずは画像のみを使用して</a:t>
            </a:r>
            <a:r>
              <a:rPr kumimoji="1" lang="en-US" altLang="ja-JP" dirty="0" err="1"/>
              <a:t>AutoEncoder</a:t>
            </a:r>
            <a:r>
              <a:rPr kumimoji="1" lang="ja-JP" altLang="en-US" dirty="0"/>
              <a:t>を学習します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FFF5C-DD13-4AF1-91FC-91C1E731AF95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37086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err="1"/>
              <a:t>AutoEncoder</a:t>
            </a:r>
            <a:r>
              <a:rPr kumimoji="1" lang="ja-JP" altLang="en-US" dirty="0"/>
              <a:t>の学習後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画像と文章のデータを用いて</a:t>
            </a:r>
            <a:r>
              <a:rPr kumimoji="1" lang="en-US" altLang="ja-JP" dirty="0"/>
              <a:t>Pix2Seq</a:t>
            </a:r>
            <a:r>
              <a:rPr kumimoji="1" lang="ja-JP" altLang="en-US" dirty="0"/>
              <a:t>を学習します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この時</a:t>
            </a:r>
            <a:r>
              <a:rPr kumimoji="1" lang="en-US" altLang="ja-JP" dirty="0"/>
              <a:t>Pix2Seq</a:t>
            </a:r>
            <a:r>
              <a:rPr kumimoji="1" lang="ja-JP" altLang="en-US" dirty="0"/>
              <a:t>の画像のエンコーダとして</a:t>
            </a:r>
            <a:r>
              <a:rPr kumimoji="1" lang="en-US" altLang="ja-JP" dirty="0" err="1"/>
              <a:t>AutoEncoder</a:t>
            </a:r>
            <a:r>
              <a:rPr kumimoji="1" lang="ja-JP" altLang="en-US" dirty="0"/>
              <a:t>のエンコーダを使用します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FFF5C-DD13-4AF1-91FC-91C1E731AF95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55480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提案手法を用いて実際にボケてのデータを学習しました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今回学習に使用したお題画像は約</a:t>
            </a:r>
            <a:r>
              <a:rPr kumimoji="1" lang="en-US" altLang="ja-JP" dirty="0"/>
              <a:t>69000</a:t>
            </a:r>
            <a:r>
              <a:rPr kumimoji="1" lang="ja-JP" altLang="en-US" dirty="0"/>
              <a:t>枚、対応する大喜利が約</a:t>
            </a:r>
            <a:r>
              <a:rPr kumimoji="1" lang="en-US" altLang="ja-JP" dirty="0"/>
              <a:t>55</a:t>
            </a:r>
            <a:r>
              <a:rPr kumimoji="1" lang="ja-JP" altLang="en-US" dirty="0"/>
              <a:t>万文章となっています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また、</a:t>
            </a:r>
            <a:r>
              <a:rPr kumimoji="1" lang="en-US" altLang="ja-JP" dirty="0" err="1"/>
              <a:t>AutoEncoder</a:t>
            </a:r>
            <a:r>
              <a:rPr kumimoji="1" lang="ja-JP" altLang="en-US" dirty="0"/>
              <a:t>のエンコーダは畳み込み層</a:t>
            </a:r>
            <a:r>
              <a:rPr kumimoji="1" lang="en-US" altLang="ja-JP" dirty="0"/>
              <a:t>5</a:t>
            </a:r>
            <a:r>
              <a:rPr kumimoji="1" lang="ja-JP" altLang="en-US" dirty="0"/>
              <a:t>層、デコーダは逆畳み込み層</a:t>
            </a:r>
            <a:r>
              <a:rPr kumimoji="1" lang="en-US" altLang="ja-JP" dirty="0"/>
              <a:t>5</a:t>
            </a:r>
            <a:r>
              <a:rPr kumimoji="1" lang="ja-JP" altLang="en-US" dirty="0"/>
              <a:t>層のシンプルな</a:t>
            </a:r>
            <a:r>
              <a:rPr kumimoji="1" lang="en-US" altLang="ja-JP" dirty="0"/>
              <a:t>CNN</a:t>
            </a:r>
            <a:r>
              <a:rPr kumimoji="1" lang="ja-JP" altLang="en-US" dirty="0"/>
              <a:t>となっています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学習データの一例はスライド下部のようになっていて、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ここでお題によって投稿されている大喜利の数は異なります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FFF5C-DD13-4AF1-91FC-91C1E731AF95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75162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提案手法を用いて実際にボケてのデータを学習しました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今回学習に使用したお題画像は約</a:t>
            </a:r>
            <a:r>
              <a:rPr kumimoji="1" lang="en-US" altLang="ja-JP" dirty="0"/>
              <a:t>69000</a:t>
            </a:r>
            <a:r>
              <a:rPr kumimoji="1" lang="ja-JP" altLang="en-US" dirty="0"/>
              <a:t>枚、対応する大喜利が約</a:t>
            </a:r>
            <a:r>
              <a:rPr kumimoji="1" lang="en-US" altLang="ja-JP" dirty="0"/>
              <a:t>55</a:t>
            </a:r>
            <a:r>
              <a:rPr kumimoji="1" lang="ja-JP" altLang="en-US" dirty="0"/>
              <a:t>万文章となっています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また、</a:t>
            </a:r>
            <a:r>
              <a:rPr kumimoji="1" lang="en-US" altLang="ja-JP" dirty="0" err="1"/>
              <a:t>AutoEncoder</a:t>
            </a:r>
            <a:r>
              <a:rPr kumimoji="1" lang="ja-JP" altLang="en-US" dirty="0"/>
              <a:t>のエンコーダは畳み込み層</a:t>
            </a:r>
            <a:r>
              <a:rPr kumimoji="1" lang="en-US" altLang="ja-JP" dirty="0"/>
              <a:t>5</a:t>
            </a:r>
            <a:r>
              <a:rPr kumimoji="1" lang="ja-JP" altLang="en-US" dirty="0"/>
              <a:t>層、デコーダは逆畳み込み層</a:t>
            </a:r>
            <a:r>
              <a:rPr kumimoji="1" lang="en-US" altLang="ja-JP" dirty="0"/>
              <a:t>5</a:t>
            </a:r>
            <a:r>
              <a:rPr kumimoji="1" lang="ja-JP" altLang="en-US" dirty="0"/>
              <a:t>層のシンプルな</a:t>
            </a:r>
            <a:r>
              <a:rPr kumimoji="1" lang="en-US" altLang="ja-JP" dirty="0"/>
              <a:t>CNN</a:t>
            </a:r>
            <a:r>
              <a:rPr kumimoji="1" lang="ja-JP" altLang="en-US" dirty="0"/>
              <a:t>となっています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学習データの一例はスライド下部のようになっていて、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ここでお題によって投稿されている大喜利の数は異なります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FFF5C-DD13-4AF1-91FC-91C1E731AF95}" type="slidenum">
              <a:rPr kumimoji="1" lang="ja-JP" altLang="en-US" smtClean="0"/>
              <a:t>37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62090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表強調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FFF5C-DD13-4AF1-91FC-91C1E731AF95}" type="slidenum">
              <a:rPr kumimoji="1" lang="ja-JP" altLang="en-US" smtClean="0"/>
              <a:t>38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44505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表強調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FFF5C-DD13-4AF1-91FC-91C1E731AF95}" type="slidenum">
              <a:rPr kumimoji="1" lang="ja-JP" altLang="en-US" smtClean="0"/>
              <a:t>39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04794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表強調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FFF5C-DD13-4AF1-91FC-91C1E731AF95}" type="slidenum">
              <a:rPr kumimoji="1" lang="ja-JP" altLang="en-US" smtClean="0"/>
              <a:t>40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7195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B045264-2568-48F0-9A3F-62E2BCBF8C53}"/>
              </a:ext>
            </a:extLst>
          </p:cNvPr>
          <p:cNvSpPr/>
          <p:nvPr userDrawn="1"/>
        </p:nvSpPr>
        <p:spPr>
          <a:xfrm>
            <a:off x="0" y="16882"/>
            <a:ext cx="12204000" cy="41195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5533C40-2E1A-4EA5-918C-818868D1A7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2968" y="1227773"/>
            <a:ext cx="11818064" cy="2387600"/>
          </a:xfrm>
        </p:spPr>
        <p:txBody>
          <a:bodyPr anchor="b"/>
          <a:lstStyle>
            <a:lvl1pPr algn="ctr">
              <a:defRPr sz="6000" baseline="0"/>
            </a:lvl1pPr>
          </a:lstStyle>
          <a:p>
            <a:r>
              <a:rPr kumimoji="1" lang="ja-JP" altLang="en-US"/>
              <a:t>タイトル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740B3E0-9E2C-4F92-AADA-3CBE770310A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2968" y="4319681"/>
            <a:ext cx="11818064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所属</a:t>
            </a:r>
            <a:endParaRPr kumimoji="1" lang="en-US" altLang="ja-JP" dirty="0"/>
          </a:p>
          <a:p>
            <a:r>
              <a:rPr kumimoji="1" lang="ja-JP" altLang="en-US"/>
              <a:t>名前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DE2F35-FEAD-48D7-B26B-AC3DD01C6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A24D7-8ABF-3D46-9E8D-3718D86B95CD}" type="datetime1">
              <a:rPr kumimoji="1" lang="ja-JP" altLang="en-US" smtClean="0"/>
              <a:t>2023/3/26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E85065-E3BB-4F0A-BD0E-64CB2D6C4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0B0649-A052-49A2-8C65-D23FF8026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3A194900-9383-4A57-A289-51C9E28B0681}"/>
              </a:ext>
            </a:extLst>
          </p:cNvPr>
          <p:cNvGrpSpPr/>
          <p:nvPr userDrawn="1"/>
        </p:nvGrpSpPr>
        <p:grpSpPr>
          <a:xfrm>
            <a:off x="11018663" y="136525"/>
            <a:ext cx="984931" cy="928108"/>
            <a:chOff x="512064" y="1767841"/>
            <a:chExt cx="1267968" cy="1194816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7615EA1C-8514-455D-9396-54CAE5E97C21}"/>
                </a:ext>
              </a:extLst>
            </p:cNvPr>
            <p:cNvSpPr/>
            <p:nvPr userDrawn="1"/>
          </p:nvSpPr>
          <p:spPr>
            <a:xfrm>
              <a:off x="585216" y="1767841"/>
              <a:ext cx="1194816" cy="11948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pic>
          <p:nvPicPr>
            <p:cNvPr id="14" name="図 13" descr="ロゴ, 会社名&#10;&#10;自動的に生成された説明">
              <a:extLst>
                <a:ext uri="{FF2B5EF4-FFF2-40B4-BE49-F238E27FC236}">
                  <a16:creationId xmlns:a16="http://schemas.microsoft.com/office/drawing/2014/main" id="{D6A9B794-0884-4EDE-9687-F3D3BF2EF89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30000" b="71563" l="10000" r="94028">
                          <a14:foregroundMark x1="27917" y1="40000" x2="27917" y2="40000"/>
                          <a14:foregroundMark x1="38333" y1="34297" x2="38333" y2="34297"/>
                          <a14:foregroundMark x1="27917" y1="30000" x2="27917" y2="30000"/>
                          <a14:foregroundMark x1="28611" y1="50703" x2="28611" y2="50703"/>
                          <a14:foregroundMark x1="33194" y1="66406" x2="33194" y2="66406"/>
                          <a14:foregroundMark x1="45417" y1="66406" x2="45417" y2="66406"/>
                          <a14:foregroundMark x1="33889" y1="71563" x2="33889" y2="71563"/>
                          <a14:foregroundMark x1="63611" y1="65469" x2="63611" y2="65469"/>
                          <a14:foregroundMark x1="74167" y1="66484" x2="74167" y2="66484"/>
                          <a14:foregroundMark x1="86806" y1="67422" x2="86806" y2="67422"/>
                          <a14:foregroundMark x1="55972" y1="54219" x2="55972" y2="54219"/>
                          <a14:foregroundMark x1="90556" y1="68047" x2="90556" y2="68047"/>
                          <a14:foregroundMark x1="94028" y1="71016" x2="94028" y2="7101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621" b="26343"/>
            <a:stretch/>
          </p:blipFill>
          <p:spPr>
            <a:xfrm>
              <a:off x="512064" y="1849709"/>
              <a:ext cx="1062784" cy="1046190"/>
            </a:xfrm>
            <a:prstGeom prst="rect">
              <a:avLst/>
            </a:prstGeom>
          </p:spPr>
        </p:pic>
      </p:grpSp>
      <p:pic>
        <p:nvPicPr>
          <p:cNvPr id="9" name="図 8" descr="アイコン&#10;&#10;自動的に生成された説明">
            <a:extLst>
              <a:ext uri="{FF2B5EF4-FFF2-40B4-BE49-F238E27FC236}">
                <a16:creationId xmlns:a16="http://schemas.microsoft.com/office/drawing/2014/main" id="{CA90907A-ACA3-B78E-000E-D5B0E343513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06" y="136525"/>
            <a:ext cx="825548" cy="94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31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A35E9F-047C-4FF5-A77A-85B657CDC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B7DB23-862A-4693-9FAA-778613D8E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itchFamily="2" charset="2"/>
              <a:buChar char="l"/>
              <a:defRPr/>
            </a:lvl1pPr>
            <a:lvl2pPr marL="685800" indent="-228600">
              <a:buFont typeface="Wingdings" pitchFamily="2" charset="2"/>
              <a:buChar char="l"/>
              <a:defRPr/>
            </a:lvl2pPr>
            <a:lvl3pPr marL="1143000" indent="-228600">
              <a:buFont typeface="Wingdings" pitchFamily="2" charset="2"/>
              <a:buChar char="l"/>
              <a:defRPr/>
            </a:lvl3pPr>
            <a:lvl4pPr marL="1600200" indent="-228600">
              <a:buFont typeface="Wingdings" pitchFamily="2" charset="2"/>
              <a:buChar char="l"/>
              <a:defRPr/>
            </a:lvl4pPr>
            <a:lvl5pPr marL="2057400" indent="-228600">
              <a:buFont typeface="Wingdings" pitchFamily="2" charset="2"/>
              <a:buChar char="l"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79DCA2-D0EA-44C5-B87F-6B702FBC8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80C2-02FC-534C-B221-1E1AD93B8669}" type="datetime1">
              <a:rPr kumimoji="1" lang="ja-JP" altLang="en-US" smtClean="0"/>
              <a:t>2023/3/26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4FCF81-83D0-4A5F-B392-98F2FB62E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CDEAD83-301D-4855-8835-69DCA0921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2504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D1DD95-73D1-4893-A076-28DE9550E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C74148-A998-42E7-B6FC-8B139B9CF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2281" y="1085039"/>
            <a:ext cx="5557519" cy="5286633"/>
          </a:xfrm>
        </p:spPr>
        <p:txBody>
          <a:bodyPr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982C9B3-AED1-4DC7-AC3D-4A8A87D9DC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085039"/>
            <a:ext cx="5557518" cy="528663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7ACFC18-3B03-4633-A4E9-80AC20588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2FBA8-654F-074A-9CD7-C641AF6D6060}" type="datetime1">
              <a:rPr kumimoji="1" lang="ja-JP" altLang="en-US" smtClean="0"/>
              <a:t>2023/3/26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681560E-9A4B-4129-9A12-6E67A4A30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701AA25-3710-4ABF-8AA3-84D430C71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015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6166A5-507A-48B9-BB73-59304A1F8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BBE29F4-E6B5-4DB8-B3D2-6B933FC67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99584-5A37-7548-ADBA-E05382B83527}" type="datetime1">
              <a:rPr kumimoji="1" lang="ja-JP" altLang="en-US" smtClean="0"/>
              <a:t>2023/3/26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7DF27D5-6E31-403A-B13C-066713A27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5739780-1EBC-4B74-995A-BAF0DA29F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6554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AAC72E2-5A55-462E-8EBC-CD715699AC80}"/>
              </a:ext>
            </a:extLst>
          </p:cNvPr>
          <p:cNvSpPr/>
          <p:nvPr userDrawn="1"/>
        </p:nvSpPr>
        <p:spPr>
          <a:xfrm>
            <a:off x="-8546" y="-9683"/>
            <a:ext cx="12204000" cy="92810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5F7C980-05FD-43CE-A806-5D3EE8E9E990}"/>
              </a:ext>
            </a:extLst>
          </p:cNvPr>
          <p:cNvSpPr/>
          <p:nvPr userDrawn="1"/>
        </p:nvSpPr>
        <p:spPr>
          <a:xfrm>
            <a:off x="-10346" y="6556217"/>
            <a:ext cx="12207600" cy="3259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404B4DD-C307-4107-A5E5-0BF0C0B7A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81" y="88639"/>
            <a:ext cx="11267439" cy="7140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スライドタイトル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E3402DE-9460-46FC-8E12-B3A597B84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2280" y="1085039"/>
            <a:ext cx="11267440" cy="5286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変更点</a:t>
            </a:r>
            <a:endParaRPr kumimoji="1" lang="en-US" altLang="ja-JP" dirty="0"/>
          </a:p>
          <a:p>
            <a:pPr lvl="1"/>
            <a:r>
              <a:rPr kumimoji="1" lang="ja-JP" altLang="en-US"/>
              <a:t>テーマカラーの青のトーンを落とし白字を見やすく変更</a:t>
            </a:r>
            <a:endParaRPr kumimoji="1" lang="en-US" altLang="ja-JP" dirty="0"/>
          </a:p>
          <a:p>
            <a:pPr lvl="1"/>
            <a:r>
              <a:rPr kumimoji="1" lang="ja-JP" altLang="en-US"/>
              <a:t>図形の初期色をテーマカラーの青に変更</a:t>
            </a:r>
            <a:endParaRPr kumimoji="1" lang="en-US" altLang="ja-JP" dirty="0"/>
          </a:p>
          <a:p>
            <a:pPr lvl="1"/>
            <a:r>
              <a:rPr kumimoji="1" lang="ja-JP" altLang="en-US"/>
              <a:t>図形の初期フォントサイズを</a:t>
            </a:r>
            <a:r>
              <a:rPr kumimoji="1" lang="en-US" altLang="ja-JP" dirty="0"/>
              <a:t>24</a:t>
            </a:r>
            <a:r>
              <a:rPr kumimoji="1" lang="ja-JP" altLang="en-US"/>
              <a:t>に変更</a:t>
            </a:r>
            <a:endParaRPr kumimoji="1" lang="en-US" altLang="ja-JP" dirty="0"/>
          </a:p>
          <a:p>
            <a:pPr lvl="1"/>
            <a:r>
              <a:rPr kumimoji="1" lang="ja-JP" altLang="en-US"/>
              <a:t>スライド番号を表示するように変更</a:t>
            </a:r>
            <a:endParaRPr kumimoji="1" lang="en-US" altLang="ja-JP" dirty="0"/>
          </a:p>
          <a:p>
            <a:pPr lvl="1"/>
            <a:r>
              <a:rPr kumimoji="1" lang="ja-JP" altLang="en-US"/>
              <a:t>タイトルスライド以外からロゴを除去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2B248B-6419-4BE9-A4D7-D19DE17A35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82421"/>
            <a:ext cx="2743200" cy="2586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defRPr>
            </a:lvl1pPr>
          </a:lstStyle>
          <a:p>
            <a:fld id="{BD343B63-AFAE-214F-ADA7-C98782104904}" type="datetime1">
              <a:rPr lang="ja-JP" altLang="en-US" smtClean="0"/>
              <a:t>2023/3/26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D17628-39B6-42B5-B218-8FA4AC8D63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82421"/>
            <a:ext cx="4114800" cy="2586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15CBA2-E83C-4598-8505-16829492D1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82421"/>
            <a:ext cx="2743200" cy="2586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defRPr>
            </a:lvl1pPr>
          </a:lstStyle>
          <a:p>
            <a:fld id="{3C83C733-A267-4C27-B924-90460700986B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3325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800" kern="1200">
          <a:solidFill>
            <a:schemeClr val="bg1"/>
          </a:solidFill>
          <a:latin typeface="UD デジタル 教科書体 NK-R" panose="02020400000000000000" pitchFamily="18" charset="-128"/>
          <a:ea typeface="UD デジタル 教科書体 NK-R" panose="02020400000000000000" pitchFamily="18" charset="-128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Font typeface="Wingdings" pitchFamily="2" charset="2"/>
        <a:buNone/>
        <a:defRPr kumimoji="1" sz="2800" kern="1200">
          <a:solidFill>
            <a:schemeClr val="tx1"/>
          </a:solidFill>
          <a:latin typeface="UD デジタル 教科書体 NK-R" panose="02020400000000000000" pitchFamily="18" charset="-128"/>
          <a:ea typeface="UD デジタル 教科書体 NK-R" panose="02020400000000000000" pitchFamily="18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l"/>
        <a:defRPr kumimoji="1" sz="2400" kern="1200">
          <a:solidFill>
            <a:schemeClr val="tx1"/>
          </a:solidFill>
          <a:latin typeface="UD デジタル 教科書体 NK-R" panose="02020400000000000000" pitchFamily="18" charset="-128"/>
          <a:ea typeface="UD デジタル 教科書体 NK-R" panose="02020400000000000000" pitchFamily="18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l"/>
        <a:defRPr kumimoji="1" sz="2000" kern="1200">
          <a:solidFill>
            <a:schemeClr val="tx1"/>
          </a:solidFill>
          <a:latin typeface="UD デジタル 教科書体 NK-R" panose="02020400000000000000" pitchFamily="18" charset="-128"/>
          <a:ea typeface="UD デジタル 教科書体 NK-R" panose="02020400000000000000" pitchFamily="18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l"/>
        <a:defRPr kumimoji="1" sz="1800" kern="1200">
          <a:solidFill>
            <a:schemeClr val="tx1"/>
          </a:solidFill>
          <a:latin typeface="UD デジタル 教科書体 NK-R" panose="02020400000000000000" pitchFamily="18" charset="-128"/>
          <a:ea typeface="UD デジタル 教科書体 NK-R" panose="02020400000000000000" pitchFamily="18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l"/>
        <a:defRPr kumimoji="1" sz="1800" kern="1200">
          <a:solidFill>
            <a:schemeClr val="tx1"/>
          </a:solidFill>
          <a:latin typeface="UD デジタル 教科書体 NK-R" panose="02020400000000000000" pitchFamily="18" charset="-128"/>
          <a:ea typeface="UD デジタル 教科書体 NK-R" panose="02020400000000000000" pitchFamily="18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8.jp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3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0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8.jp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1.png"/><Relationship Id="rId9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13" Type="http://schemas.openxmlformats.org/officeDocument/2006/relationships/image" Target="../media/image340.png"/><Relationship Id="rId18" Type="http://schemas.openxmlformats.org/officeDocument/2006/relationships/image" Target="../media/image391.png"/><Relationship Id="rId26" Type="http://schemas.openxmlformats.org/officeDocument/2006/relationships/image" Target="../media/image47.png"/><Relationship Id="rId3" Type="http://schemas.openxmlformats.org/officeDocument/2006/relationships/image" Target="../media/image8.jpg"/><Relationship Id="rId21" Type="http://schemas.openxmlformats.org/officeDocument/2006/relationships/image" Target="../media/image42.png"/><Relationship Id="rId7" Type="http://schemas.openxmlformats.org/officeDocument/2006/relationships/image" Target="../media/image281.png"/><Relationship Id="rId12" Type="http://schemas.openxmlformats.org/officeDocument/2006/relationships/image" Target="../media/image330.png"/><Relationship Id="rId17" Type="http://schemas.openxmlformats.org/officeDocument/2006/relationships/image" Target="../media/image271.png"/><Relationship Id="rId25" Type="http://schemas.openxmlformats.org/officeDocument/2006/relationships/image" Target="../media/image4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71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11" Type="http://schemas.openxmlformats.org/officeDocument/2006/relationships/image" Target="../media/image320.png"/><Relationship Id="rId24" Type="http://schemas.openxmlformats.org/officeDocument/2006/relationships/image" Target="../media/image282.png"/><Relationship Id="rId5" Type="http://schemas.openxmlformats.org/officeDocument/2006/relationships/image" Target="../media/image260.png"/><Relationship Id="rId15" Type="http://schemas.openxmlformats.org/officeDocument/2006/relationships/image" Target="../media/image361.png"/><Relationship Id="rId23" Type="http://schemas.openxmlformats.org/officeDocument/2006/relationships/image" Target="../media/image44.png"/><Relationship Id="rId10" Type="http://schemas.openxmlformats.org/officeDocument/2006/relationships/image" Target="../media/image261.png"/><Relationship Id="rId19" Type="http://schemas.openxmlformats.org/officeDocument/2006/relationships/image" Target="../media/image401.png"/><Relationship Id="rId4" Type="http://schemas.openxmlformats.org/officeDocument/2006/relationships/image" Target="../media/image250.png"/><Relationship Id="rId9" Type="http://schemas.openxmlformats.org/officeDocument/2006/relationships/image" Target="../media/image300.png"/><Relationship Id="rId14" Type="http://schemas.openxmlformats.org/officeDocument/2006/relationships/image" Target="../media/image350.png"/><Relationship Id="rId22" Type="http://schemas.openxmlformats.org/officeDocument/2006/relationships/image" Target="../media/image43.png"/><Relationship Id="rId27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image" Target="../media/image130.png"/><Relationship Id="rId7" Type="http://schemas.openxmlformats.org/officeDocument/2006/relationships/image" Target="../media/image17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52.png"/><Relationship Id="rId3" Type="http://schemas.openxmlformats.org/officeDocument/2006/relationships/image" Target="../media/image35.svg"/><Relationship Id="rId7" Type="http://schemas.openxmlformats.org/officeDocument/2006/relationships/image" Target="../media/image39.png"/><Relationship Id="rId12" Type="http://schemas.openxmlformats.org/officeDocument/2006/relationships/image" Target="../media/image5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50.png"/><Relationship Id="rId5" Type="http://schemas.openxmlformats.org/officeDocument/2006/relationships/image" Target="../media/image37.png"/><Relationship Id="rId10" Type="http://schemas.openxmlformats.org/officeDocument/2006/relationships/image" Target="../media/image49.png"/><Relationship Id="rId4" Type="http://schemas.openxmlformats.org/officeDocument/2006/relationships/image" Target="../media/image36.jpeg"/><Relationship Id="rId9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0.png"/><Relationship Id="rId7" Type="http://schemas.openxmlformats.org/officeDocument/2006/relationships/image" Target="../media/image58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0.png"/><Relationship Id="rId4" Type="http://schemas.openxmlformats.org/officeDocument/2006/relationships/image" Target="../media/image550.png"/><Relationship Id="rId9" Type="http://schemas.openxmlformats.org/officeDocument/2006/relationships/image" Target="../media/image6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1.png"/><Relationship Id="rId3" Type="http://schemas.openxmlformats.org/officeDocument/2006/relationships/image" Target="../media/image8.jp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png"/><Relationship Id="rId3" Type="http://schemas.openxmlformats.org/officeDocument/2006/relationships/image" Target="../media/image64.png"/><Relationship Id="rId7" Type="http://schemas.openxmlformats.org/officeDocument/2006/relationships/image" Target="../media/image37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11" Type="http://schemas.openxmlformats.org/officeDocument/2006/relationships/image" Target="../media/image280.png"/><Relationship Id="rId5" Type="http://schemas.openxmlformats.org/officeDocument/2006/relationships/image" Target="../media/image362.png"/><Relationship Id="rId10" Type="http://schemas.openxmlformats.org/officeDocument/2006/relationships/image" Target="../media/image640.png"/><Relationship Id="rId4" Type="http://schemas.microsoft.com/office/2007/relationships/hdphoto" Target="../media/hdphoto3.wdp"/><Relationship Id="rId9" Type="http://schemas.openxmlformats.org/officeDocument/2006/relationships/image" Target="../media/image39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1.png"/><Relationship Id="rId3" Type="http://schemas.openxmlformats.org/officeDocument/2006/relationships/image" Target="../media/image65.png"/><Relationship Id="rId7" Type="http://schemas.openxmlformats.org/officeDocument/2006/relationships/image" Target="../media/image67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9" Type="http://schemas.openxmlformats.org/officeDocument/2006/relationships/image" Target="../media/image36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0.png"/><Relationship Id="rId3" Type="http://schemas.openxmlformats.org/officeDocument/2006/relationships/image" Target="../media/image65.png"/><Relationship Id="rId7" Type="http://schemas.openxmlformats.org/officeDocument/2006/relationships/image" Target="../media/image510.png"/><Relationship Id="rId12" Type="http://schemas.openxmlformats.org/officeDocument/2006/relationships/image" Target="../media/image49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1.png"/><Relationship Id="rId11" Type="http://schemas.openxmlformats.org/officeDocument/2006/relationships/image" Target="../media/image420.png"/><Relationship Id="rId5" Type="http://schemas.openxmlformats.org/officeDocument/2006/relationships/image" Target="../media/image370.png"/><Relationship Id="rId10" Type="http://schemas.openxmlformats.org/officeDocument/2006/relationships/image" Target="../media/image410.png"/><Relationship Id="rId4" Type="http://schemas.openxmlformats.org/officeDocument/2006/relationships/image" Target="../media/image521.png"/><Relationship Id="rId9" Type="http://schemas.openxmlformats.org/officeDocument/2006/relationships/image" Target="../media/image53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8.png"/><Relationship Id="rId4" Type="http://schemas.openxmlformats.org/officeDocument/2006/relationships/image" Target="../media/image82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2FA912-BD1E-4903-9A8F-9367E854EF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kumimoji="1" lang="en-US" altLang="ja-JP" dirty="0"/>
            </a:br>
            <a:r>
              <a:rPr kumimoji="1" lang="en-US" altLang="ja-JP" dirty="0" err="1"/>
              <a:t>AutoEncoder</a:t>
            </a:r>
            <a:r>
              <a:rPr kumimoji="1" lang="ja-JP" altLang="en-US"/>
              <a:t>と</a:t>
            </a:r>
            <a:r>
              <a:rPr kumimoji="1" lang="en-US" altLang="ja-JP" dirty="0"/>
              <a:t>Pix2Seq</a:t>
            </a:r>
            <a:r>
              <a:rPr kumimoji="1" lang="ja-JP" altLang="en-US"/>
              <a:t>を用いた</a:t>
            </a:r>
            <a:br>
              <a:rPr kumimoji="1" lang="en-US" altLang="ja-JP" dirty="0"/>
            </a:br>
            <a:r>
              <a:rPr kumimoji="1" lang="ja-JP" altLang="en-US"/>
              <a:t>大喜</a:t>
            </a:r>
            <a:r>
              <a:rPr kumimoji="1" lang="ja-JP" altLang="en-US" dirty="0"/>
              <a:t>利生成</a:t>
            </a:r>
            <a:r>
              <a:rPr kumimoji="1" lang="en-US" altLang="ja-JP" dirty="0"/>
              <a:t>AI</a:t>
            </a:r>
            <a:r>
              <a:rPr kumimoji="1" lang="ja-JP" altLang="en-US" dirty="0"/>
              <a:t>の実装に関する研究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2DCD585-0F96-4C46-984D-CA6202A89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968" y="5083727"/>
            <a:ext cx="11818064" cy="891715"/>
          </a:xfrm>
        </p:spPr>
        <p:txBody>
          <a:bodyPr/>
          <a:lstStyle/>
          <a:p>
            <a:r>
              <a:rPr lang="ja-JP" altLang="en-US" dirty="0"/>
              <a:t>湘南工科大学</a:t>
            </a:r>
            <a:endParaRPr lang="en-US" altLang="ja-JP" dirty="0"/>
          </a:p>
          <a:p>
            <a:r>
              <a:rPr kumimoji="1" lang="ja-JP" altLang="en-US" dirty="0"/>
              <a:t>◎山富 龍</a:t>
            </a:r>
            <a:r>
              <a:rPr kumimoji="1" lang="en-US" altLang="ja-JP" dirty="0"/>
              <a:t>,</a:t>
            </a:r>
            <a:r>
              <a:rPr kumimoji="1" lang="ja-JP" altLang="en-US" dirty="0"/>
              <a:t> マハブービ シェヘラザード</a:t>
            </a:r>
            <a:r>
              <a:rPr kumimoji="1" lang="en-US" altLang="ja-JP" dirty="0"/>
              <a:t>,</a:t>
            </a:r>
            <a:r>
              <a:rPr kumimoji="1" lang="ja-JP" altLang="en-US" dirty="0"/>
              <a:t> 二宮 洋</a:t>
            </a:r>
          </a:p>
        </p:txBody>
      </p:sp>
    </p:spTree>
    <p:extLst>
      <p:ext uri="{BB962C8B-B14F-4D97-AF65-F5344CB8AC3E}">
        <p14:creationId xmlns:p14="http://schemas.microsoft.com/office/powerpoint/2010/main" val="435042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E8804A-A0D4-4EE7-F7A5-961FB9CE1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研究背景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D7DA69-BC89-5229-CC48-B9DCE144F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近年</a:t>
            </a:r>
            <a:r>
              <a:rPr kumimoji="1" lang="en-US" altLang="ja-JP" dirty="0"/>
              <a:t>,</a:t>
            </a:r>
            <a:r>
              <a:rPr kumimoji="1" lang="ja-JP" altLang="en-US"/>
              <a:t> </a:t>
            </a:r>
            <a:r>
              <a:rPr kumimoji="1" lang="en-US" altLang="ja-JP" dirty="0"/>
              <a:t>AI</a:t>
            </a:r>
            <a:r>
              <a:rPr kumimoji="1" lang="ja-JP" altLang="en-US"/>
              <a:t>の</a:t>
            </a:r>
            <a:r>
              <a:rPr kumimoji="1" lang="ja-JP" altLang="en-US" dirty="0"/>
              <a:t>活用分野は多岐にわたる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41B695A-CD98-CFBC-BD90-EAB82F47C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2</a:t>
            </a:fld>
            <a:endParaRPr kumimoji="1" lang="ja-JP" altLang="en-US"/>
          </a:p>
        </p:txBody>
      </p:sp>
      <p:pic>
        <p:nvPicPr>
          <p:cNvPr id="5" name="Picture 2" descr="フリー写真 心電図と聴診器">
            <a:extLst>
              <a:ext uri="{FF2B5EF4-FFF2-40B4-BE49-F238E27FC236}">
                <a16:creationId xmlns:a16="http://schemas.microsoft.com/office/drawing/2014/main" id="{D88583E0-6C0C-3D73-4A20-C32A71CBF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619" y="2554218"/>
            <a:ext cx="1792177" cy="1792446"/>
          </a:xfrm>
          <a:prstGeom prst="ellipse">
            <a:avLst/>
          </a:prstGeom>
          <a:noFill/>
          <a:ln w="38100">
            <a:solidFill>
              <a:srgbClr val="FFC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31799373-E3CB-15DA-9970-3759E0A56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589" y="1754204"/>
            <a:ext cx="1736847" cy="1792446"/>
          </a:xfrm>
          <a:prstGeom prst="ellipse">
            <a:avLst/>
          </a:prstGeom>
          <a:noFill/>
          <a:ln w="38100"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無料絵画] フィンセント・ファン・ゴッホ 「星月夜」 （1889） - パブリックドメインQ：著作権フリー画像素材集">
            <a:extLst>
              <a:ext uri="{FF2B5EF4-FFF2-40B4-BE49-F238E27FC236}">
                <a16:creationId xmlns:a16="http://schemas.microsoft.com/office/drawing/2014/main" id="{700795BB-7DF1-CD5B-EB19-8874BF903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422" y="2554218"/>
            <a:ext cx="1793063" cy="1792446"/>
          </a:xfrm>
          <a:prstGeom prst="ellipse">
            <a:avLst/>
          </a:prstGeom>
          <a:noFill/>
          <a:ln w="38100">
            <a:solidFill>
              <a:srgbClr val="5BD4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2" descr="二歩で反則負け（将棋）の写真">
            <a:extLst>
              <a:ext uri="{FF2B5EF4-FFF2-40B4-BE49-F238E27FC236}">
                <a16:creationId xmlns:a16="http://schemas.microsoft.com/office/drawing/2014/main" id="{1DC8089E-5F9A-326E-29A9-62027673B8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 r="33419" b="-3"/>
          <a:stretch/>
        </p:blipFill>
        <p:spPr bwMode="auto">
          <a:xfrm>
            <a:off x="7546839" y="1754204"/>
            <a:ext cx="1790696" cy="1792446"/>
          </a:xfrm>
          <a:prstGeom prst="ellipse">
            <a:avLst/>
          </a:prstGeom>
          <a:noFill/>
          <a:ln w="38100">
            <a:solidFill>
              <a:srgbClr val="D883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2021年最新版】チャットボットを無料で導入できるツール6選 | QEEE">
            <a:extLst>
              <a:ext uri="{FF2B5EF4-FFF2-40B4-BE49-F238E27FC236}">
                <a16:creationId xmlns:a16="http://schemas.microsoft.com/office/drawing/2014/main" id="{A930578D-8EE6-C55B-896D-5EBD21A2F9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70" r="21047"/>
          <a:stretch/>
        </p:blipFill>
        <p:spPr bwMode="auto">
          <a:xfrm>
            <a:off x="9956462" y="2554218"/>
            <a:ext cx="1792879" cy="1792446"/>
          </a:xfrm>
          <a:prstGeom prst="ellipse">
            <a:avLst/>
          </a:prstGeom>
          <a:noFill/>
          <a:ln w="38100">
            <a:solidFill>
              <a:srgbClr val="8285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BAC3C16-DD55-34BA-5243-31E72A2BD9D7}"/>
              </a:ext>
            </a:extLst>
          </p:cNvPr>
          <p:cNvSpPr txBox="1"/>
          <p:nvPr/>
        </p:nvSpPr>
        <p:spPr>
          <a:xfrm>
            <a:off x="875878" y="4346664"/>
            <a:ext cx="10276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n w="3175">
                  <a:noFill/>
                </a:ln>
              </a:rPr>
              <a:t>医療</a:t>
            </a:r>
            <a:endParaRPr kumimoji="1" lang="ja-JP" altLang="en-US" sz="2400" dirty="0" err="1">
              <a:ln w="3175">
                <a:noFill/>
              </a:ln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F583B5F-4649-649F-936C-93A5393F3946}"/>
              </a:ext>
            </a:extLst>
          </p:cNvPr>
          <p:cNvSpPr txBox="1"/>
          <p:nvPr/>
        </p:nvSpPr>
        <p:spPr>
          <a:xfrm>
            <a:off x="2893920" y="3567438"/>
            <a:ext cx="1697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n w="12700">
                  <a:noFill/>
                </a:ln>
              </a:rPr>
              <a:t>証券取引</a:t>
            </a:r>
            <a:endParaRPr kumimoji="1" lang="ja-JP" altLang="en-US" sz="2800" dirty="0" err="1">
              <a:ln w="12700">
                <a:noFill/>
              </a:ln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DA78AEE-E76D-F821-063C-29F65DD7417E}"/>
              </a:ext>
            </a:extLst>
          </p:cNvPr>
          <p:cNvSpPr txBox="1"/>
          <p:nvPr/>
        </p:nvSpPr>
        <p:spPr>
          <a:xfrm>
            <a:off x="5582194" y="4346664"/>
            <a:ext cx="10276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n w="3175">
                  <a:noFill/>
                </a:ln>
              </a:rPr>
              <a:t>芸術</a:t>
            </a:r>
            <a:endParaRPr kumimoji="1" lang="ja-JP" altLang="en-US" sz="2800" dirty="0" err="1">
              <a:ln w="3175">
                <a:noFill/>
              </a:ln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DF758A4-4E7C-28C4-5D8C-3AFFEA2A2DEA}"/>
              </a:ext>
            </a:extLst>
          </p:cNvPr>
          <p:cNvSpPr txBox="1"/>
          <p:nvPr/>
        </p:nvSpPr>
        <p:spPr>
          <a:xfrm>
            <a:off x="7804643" y="3567438"/>
            <a:ext cx="1288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n w="3175">
                  <a:noFill/>
                </a:ln>
              </a:rPr>
              <a:t>ゲーム</a:t>
            </a:r>
            <a:endParaRPr kumimoji="1" lang="ja-JP" altLang="en-US" sz="2400" dirty="0" err="1">
              <a:ln w="3175">
                <a:noFill/>
              </a:ln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945626C-824C-03BD-9CC2-3275A79EC1A7}"/>
              </a:ext>
            </a:extLst>
          </p:cNvPr>
          <p:cNvSpPr txBox="1"/>
          <p:nvPr/>
        </p:nvSpPr>
        <p:spPr>
          <a:xfrm>
            <a:off x="10046015" y="4346664"/>
            <a:ext cx="1627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n w="3175">
                  <a:noFill/>
                </a:ln>
              </a:rPr>
              <a:t>自然言語</a:t>
            </a:r>
            <a:endParaRPr kumimoji="1" lang="ja-JP" altLang="en-US" sz="2400" dirty="0" err="1">
              <a:ln w="3175"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638416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E8804A-A0D4-4EE7-F7A5-961FB9CE1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研究背景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D7DA69-BC89-5229-CC48-B9DCE144F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dirty="0"/>
              <a:t>近年</a:t>
            </a:r>
            <a:r>
              <a:rPr kumimoji="1" lang="en-US" altLang="ja-JP" dirty="0"/>
              <a:t>,</a:t>
            </a:r>
            <a:r>
              <a:rPr kumimoji="1" lang="ja-JP" altLang="en-US"/>
              <a:t> </a:t>
            </a:r>
            <a:r>
              <a:rPr kumimoji="1" lang="en-US" altLang="ja-JP" dirty="0"/>
              <a:t>AI</a:t>
            </a:r>
            <a:r>
              <a:rPr kumimoji="1" lang="ja-JP" altLang="en-US"/>
              <a:t>の</a:t>
            </a:r>
            <a:r>
              <a:rPr kumimoji="1" lang="ja-JP" altLang="en-US" dirty="0"/>
              <a:t>活用分野は多岐にわたる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/>
              <a:t>芸能</a:t>
            </a:r>
            <a:r>
              <a:rPr kumimoji="1" lang="en-US" altLang="ja-JP" dirty="0"/>
              <a:t>(</a:t>
            </a:r>
            <a:r>
              <a:rPr kumimoji="1" lang="ja-JP" altLang="en-US"/>
              <a:t>お笑い</a:t>
            </a:r>
            <a:r>
              <a:rPr kumimoji="1" lang="en-US" altLang="ja-JP" dirty="0"/>
              <a:t>)</a:t>
            </a:r>
            <a:r>
              <a:rPr kumimoji="1" lang="ja-JP" altLang="en-US"/>
              <a:t>分野への</a:t>
            </a:r>
            <a:r>
              <a:rPr kumimoji="1" lang="en-US" altLang="ja-JP" dirty="0"/>
              <a:t>AI</a:t>
            </a:r>
            <a:r>
              <a:rPr kumimoji="1" lang="ja-JP" altLang="en-US"/>
              <a:t>の活用例は</a:t>
            </a:r>
            <a:r>
              <a:rPr kumimoji="1" lang="ja-JP" altLang="en-US" dirty="0"/>
              <a:t>少ない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コロナ禍により</a:t>
            </a:r>
            <a:r>
              <a:rPr lang="en-US" altLang="ja-JP" dirty="0"/>
              <a:t>,</a:t>
            </a:r>
            <a:r>
              <a:rPr lang="ja-JP" altLang="en-US" dirty="0"/>
              <a:t> 感染症の恐れの無い笑いの提供が求められる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41B695A-CD98-CFBC-BD90-EAB82F47C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3</a:t>
            </a:fld>
            <a:endParaRPr kumimoji="1" lang="ja-JP" altLang="en-US"/>
          </a:p>
        </p:txBody>
      </p:sp>
      <p:pic>
        <p:nvPicPr>
          <p:cNvPr id="5" name="Picture 2" descr="フリー写真 心電図と聴診器">
            <a:extLst>
              <a:ext uri="{FF2B5EF4-FFF2-40B4-BE49-F238E27FC236}">
                <a16:creationId xmlns:a16="http://schemas.microsoft.com/office/drawing/2014/main" id="{D88583E0-6C0C-3D73-4A20-C32A71CBF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619" y="2554218"/>
            <a:ext cx="1792177" cy="1792446"/>
          </a:xfrm>
          <a:prstGeom prst="ellipse">
            <a:avLst/>
          </a:prstGeom>
          <a:noFill/>
          <a:ln w="38100">
            <a:solidFill>
              <a:srgbClr val="FFC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31799373-E3CB-15DA-9970-3759E0A56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589" y="1754204"/>
            <a:ext cx="1736847" cy="1792446"/>
          </a:xfrm>
          <a:prstGeom prst="ellipse">
            <a:avLst/>
          </a:prstGeom>
          <a:noFill/>
          <a:ln w="38100"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無料絵画] フィンセント・ファン・ゴッホ 「星月夜」 （1889） - パブリックドメインQ：著作権フリー画像素材集">
            <a:extLst>
              <a:ext uri="{FF2B5EF4-FFF2-40B4-BE49-F238E27FC236}">
                <a16:creationId xmlns:a16="http://schemas.microsoft.com/office/drawing/2014/main" id="{700795BB-7DF1-CD5B-EB19-8874BF903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422" y="2554218"/>
            <a:ext cx="1793063" cy="1792446"/>
          </a:xfrm>
          <a:prstGeom prst="ellipse">
            <a:avLst/>
          </a:prstGeom>
          <a:noFill/>
          <a:ln w="38100">
            <a:solidFill>
              <a:srgbClr val="5BD4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2" descr="二歩で反則負け（将棋）の写真">
            <a:extLst>
              <a:ext uri="{FF2B5EF4-FFF2-40B4-BE49-F238E27FC236}">
                <a16:creationId xmlns:a16="http://schemas.microsoft.com/office/drawing/2014/main" id="{1DC8089E-5F9A-326E-29A9-62027673B8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 r="33419" b="-3"/>
          <a:stretch/>
        </p:blipFill>
        <p:spPr bwMode="auto">
          <a:xfrm>
            <a:off x="7546839" y="1754204"/>
            <a:ext cx="1790696" cy="1792446"/>
          </a:xfrm>
          <a:prstGeom prst="ellipse">
            <a:avLst/>
          </a:prstGeom>
          <a:noFill/>
          <a:ln w="38100">
            <a:solidFill>
              <a:srgbClr val="D883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2021年最新版】チャットボットを無料で導入できるツール6選 | QEEE">
            <a:extLst>
              <a:ext uri="{FF2B5EF4-FFF2-40B4-BE49-F238E27FC236}">
                <a16:creationId xmlns:a16="http://schemas.microsoft.com/office/drawing/2014/main" id="{A930578D-8EE6-C55B-896D-5EBD21A2F9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70" r="21047"/>
          <a:stretch/>
        </p:blipFill>
        <p:spPr bwMode="auto">
          <a:xfrm>
            <a:off x="9956462" y="2554218"/>
            <a:ext cx="1792879" cy="1792446"/>
          </a:xfrm>
          <a:prstGeom prst="ellipse">
            <a:avLst/>
          </a:prstGeom>
          <a:noFill/>
          <a:ln w="38100">
            <a:solidFill>
              <a:srgbClr val="8285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BAC3C16-DD55-34BA-5243-31E72A2BD9D7}"/>
              </a:ext>
            </a:extLst>
          </p:cNvPr>
          <p:cNvSpPr txBox="1"/>
          <p:nvPr/>
        </p:nvSpPr>
        <p:spPr>
          <a:xfrm>
            <a:off x="875878" y="4346664"/>
            <a:ext cx="10276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n w="3175">
                  <a:noFill/>
                </a:ln>
              </a:rPr>
              <a:t>医療</a:t>
            </a:r>
            <a:endParaRPr kumimoji="1" lang="ja-JP" altLang="en-US" sz="2400" dirty="0" err="1">
              <a:ln w="3175">
                <a:noFill/>
              </a:ln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F583B5F-4649-649F-936C-93A5393F3946}"/>
              </a:ext>
            </a:extLst>
          </p:cNvPr>
          <p:cNvSpPr txBox="1"/>
          <p:nvPr/>
        </p:nvSpPr>
        <p:spPr>
          <a:xfrm>
            <a:off x="2893920" y="3567438"/>
            <a:ext cx="1697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n w="12700">
                  <a:noFill/>
                </a:ln>
              </a:rPr>
              <a:t>証券取引</a:t>
            </a:r>
            <a:endParaRPr kumimoji="1" lang="ja-JP" altLang="en-US" sz="2800" dirty="0" err="1">
              <a:ln w="12700">
                <a:noFill/>
              </a:ln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DA78AEE-E76D-F821-063C-29F65DD7417E}"/>
              </a:ext>
            </a:extLst>
          </p:cNvPr>
          <p:cNvSpPr txBox="1"/>
          <p:nvPr/>
        </p:nvSpPr>
        <p:spPr>
          <a:xfrm>
            <a:off x="5582194" y="4346664"/>
            <a:ext cx="10276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n w="3175">
                  <a:noFill/>
                </a:ln>
              </a:rPr>
              <a:t>芸術</a:t>
            </a:r>
            <a:endParaRPr kumimoji="1" lang="ja-JP" altLang="en-US" sz="2800" dirty="0" err="1">
              <a:ln w="3175">
                <a:noFill/>
              </a:ln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DF758A4-4E7C-28C4-5D8C-3AFFEA2A2DEA}"/>
              </a:ext>
            </a:extLst>
          </p:cNvPr>
          <p:cNvSpPr txBox="1"/>
          <p:nvPr/>
        </p:nvSpPr>
        <p:spPr>
          <a:xfrm>
            <a:off x="7804643" y="3567438"/>
            <a:ext cx="1288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n w="3175">
                  <a:noFill/>
                </a:ln>
              </a:rPr>
              <a:t>ゲーム</a:t>
            </a:r>
            <a:endParaRPr kumimoji="1" lang="ja-JP" altLang="en-US" sz="2400" dirty="0" err="1">
              <a:ln w="3175">
                <a:noFill/>
              </a:ln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945626C-824C-03BD-9CC2-3275A79EC1A7}"/>
              </a:ext>
            </a:extLst>
          </p:cNvPr>
          <p:cNvSpPr txBox="1"/>
          <p:nvPr/>
        </p:nvSpPr>
        <p:spPr>
          <a:xfrm>
            <a:off x="10046015" y="4346664"/>
            <a:ext cx="1627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n w="3175">
                  <a:noFill/>
                </a:ln>
              </a:rPr>
              <a:t>自然言語</a:t>
            </a:r>
            <a:endParaRPr kumimoji="1" lang="ja-JP" altLang="en-US" sz="2400" dirty="0" err="1">
              <a:ln w="3175"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632798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AC300A-8ED5-ED94-57B8-1A6E158B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研究目的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04A907-D356-8D03-B095-5869350C2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画像に対し大喜利を生成する</a:t>
            </a:r>
            <a:r>
              <a:rPr kumimoji="1" lang="en-US" altLang="ja-JP" dirty="0"/>
              <a:t>AI</a:t>
            </a:r>
            <a:r>
              <a:rPr kumimoji="1" lang="ja-JP" altLang="en-US" dirty="0"/>
              <a:t>を実装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EA11ACF-FE6D-6671-A6D1-02543BBB9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B90D8F06-C0EB-E7F6-B1BB-27D5DE17B667}"/>
              </a:ext>
            </a:extLst>
          </p:cNvPr>
          <p:cNvSpPr/>
          <p:nvPr/>
        </p:nvSpPr>
        <p:spPr>
          <a:xfrm>
            <a:off x="462281" y="2114026"/>
            <a:ext cx="11267439" cy="4043494"/>
          </a:xfrm>
          <a:prstGeom prst="roundRect">
            <a:avLst>
              <a:gd name="adj" fmla="val 3581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/>
          </a:p>
        </p:txBody>
      </p:sp>
      <p:pic>
        <p:nvPicPr>
          <p:cNvPr id="6" name="図 5" descr="口を開けている赤ちゃん">
            <a:extLst>
              <a:ext uri="{FF2B5EF4-FFF2-40B4-BE49-F238E27FC236}">
                <a16:creationId xmlns:a16="http://schemas.microsoft.com/office/drawing/2014/main" id="{4E21198D-BF9F-636D-CCE9-8C05E95BB3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20" y="2694862"/>
            <a:ext cx="2123939" cy="2120400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p:pic>
        <p:nvPicPr>
          <p:cNvPr id="8" name="グラフィックス 7" descr="人工知能 枠線">
            <a:extLst>
              <a:ext uri="{FF2B5EF4-FFF2-40B4-BE49-F238E27FC236}">
                <a16:creationId xmlns:a16="http://schemas.microsoft.com/office/drawing/2014/main" id="{2F805594-7288-3FF4-6718-5702578E77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34031" y="2694862"/>
            <a:ext cx="2123938" cy="2123938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A3B5251-2A64-7D35-5622-EC49899640FB}"/>
              </a:ext>
            </a:extLst>
          </p:cNvPr>
          <p:cNvSpPr txBox="1"/>
          <p:nvPr/>
        </p:nvSpPr>
        <p:spPr>
          <a:xfrm>
            <a:off x="8819301" y="3216453"/>
            <a:ext cx="23942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/>
              <a:t>一応授業</a:t>
            </a:r>
            <a:endParaRPr kumimoji="1" lang="en-US" altLang="ja-JP" sz="3200" dirty="0"/>
          </a:p>
          <a:p>
            <a:pPr algn="ctr"/>
            <a:r>
              <a:rPr kumimoji="1" lang="ja-JP" altLang="en-US" sz="3200" dirty="0"/>
              <a:t>聞いてるフリ</a:t>
            </a:r>
          </a:p>
        </p:txBody>
      </p:sp>
      <p:sp>
        <p:nvSpPr>
          <p:cNvPr id="10" name="右矢印 12">
            <a:extLst>
              <a:ext uri="{FF2B5EF4-FFF2-40B4-BE49-F238E27FC236}">
                <a16:creationId xmlns:a16="http://schemas.microsoft.com/office/drawing/2014/main" id="{4356CD65-F5D4-285D-6717-A55353865351}"/>
              </a:ext>
            </a:extLst>
          </p:cNvPr>
          <p:cNvSpPr/>
          <p:nvPr/>
        </p:nvSpPr>
        <p:spPr>
          <a:xfrm>
            <a:off x="3663936" y="3357152"/>
            <a:ext cx="1149532" cy="742406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/>
              <a:t>入力</a:t>
            </a:r>
          </a:p>
        </p:txBody>
      </p:sp>
      <p:sp>
        <p:nvSpPr>
          <p:cNvPr id="11" name="右矢印 12">
            <a:extLst>
              <a:ext uri="{FF2B5EF4-FFF2-40B4-BE49-F238E27FC236}">
                <a16:creationId xmlns:a16="http://schemas.microsoft.com/office/drawing/2014/main" id="{45783684-E7E3-D359-A677-EB0C37738FC2}"/>
              </a:ext>
            </a:extLst>
          </p:cNvPr>
          <p:cNvSpPr/>
          <p:nvPr/>
        </p:nvSpPr>
        <p:spPr>
          <a:xfrm>
            <a:off x="7378532" y="3383859"/>
            <a:ext cx="1149532" cy="742406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/>
              <a:t>出力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60BD359-F168-326A-3F50-6DE219BDB74C}"/>
              </a:ext>
            </a:extLst>
          </p:cNvPr>
          <p:cNvSpPr txBox="1"/>
          <p:nvPr/>
        </p:nvSpPr>
        <p:spPr>
          <a:xfrm>
            <a:off x="1465622" y="5005080"/>
            <a:ext cx="11495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/>
              <a:t>画像</a:t>
            </a:r>
            <a:endParaRPr kumimoji="1" lang="ja-JP" altLang="en-US" sz="24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B395EDE-4FC1-A6D2-D978-A7C6FEFDE5B4}"/>
              </a:ext>
            </a:extLst>
          </p:cNvPr>
          <p:cNvSpPr txBox="1"/>
          <p:nvPr/>
        </p:nvSpPr>
        <p:spPr>
          <a:xfrm>
            <a:off x="5521233" y="5005079"/>
            <a:ext cx="11495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dirty="0"/>
              <a:t>AI</a:t>
            </a:r>
            <a:endParaRPr kumimoji="1" lang="ja-JP" altLang="en-US" sz="24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875ACA1-E0D0-40A2-7BB6-35886E911837}"/>
              </a:ext>
            </a:extLst>
          </p:cNvPr>
          <p:cNvSpPr txBox="1"/>
          <p:nvPr/>
        </p:nvSpPr>
        <p:spPr>
          <a:xfrm>
            <a:off x="9441673" y="5005079"/>
            <a:ext cx="11495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/>
              <a:t>大喜利</a:t>
            </a:r>
            <a:endParaRPr kumimoji="1" lang="ja-JP" altLang="en-US" sz="24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6B884F7-6521-5123-3C3D-8F01AC8B67D6}"/>
              </a:ext>
            </a:extLst>
          </p:cNvPr>
          <p:cNvSpPr txBox="1"/>
          <p:nvPr/>
        </p:nvSpPr>
        <p:spPr>
          <a:xfrm>
            <a:off x="4351086" y="5895910"/>
            <a:ext cx="3506603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/>
              <a:t>AI</a:t>
            </a:r>
            <a:r>
              <a:rPr lang="ja-JP" altLang="en-US" sz="2800" dirty="0"/>
              <a:t>の入出力イメージ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055582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8383A2-8C28-9696-804D-3BFDF3110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ja-JP" sz="3600" spc="-200" dirty="0"/>
              <a:t>Neural Joking Machine : Humorous Image Caption</a:t>
            </a:r>
            <a:r>
              <a:rPr lang="en-US" altLang="ja-JP" sz="3600" spc="-200" dirty="0"/>
              <a:t>[1]</a:t>
            </a:r>
            <a:endParaRPr kumimoji="1" lang="ja-JP" altLang="en-US" sz="3600" spc="-2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F29533-B4C2-2749-49C4-3E3078E81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err="1">
                <a:solidFill>
                  <a:srgbClr val="FF0000"/>
                </a:solidFill>
              </a:rPr>
              <a:t>bokete</a:t>
            </a:r>
            <a:r>
              <a:rPr kumimoji="1" lang="ja-JP" altLang="en-US" dirty="0"/>
              <a:t>のデータをスクレイピングし</a:t>
            </a:r>
            <a:r>
              <a:rPr kumimoji="1" lang="en-US" altLang="ja-JP" dirty="0"/>
              <a:t>,</a:t>
            </a:r>
            <a:r>
              <a:rPr kumimoji="1" lang="ja-JP" altLang="en-US" dirty="0"/>
              <a:t> 画像⇆大喜利データセットを作成</a:t>
            </a:r>
            <a:endParaRPr kumimoji="1" lang="en-US" altLang="ja-JP" dirty="0"/>
          </a:p>
          <a:p>
            <a:r>
              <a:rPr lang="ja-JP" altLang="en-US" dirty="0"/>
              <a:t>作成したデータセットを</a:t>
            </a:r>
            <a:r>
              <a:rPr lang="en-US" altLang="ja-JP" dirty="0"/>
              <a:t>Pix2Seq</a:t>
            </a:r>
            <a:r>
              <a:rPr lang="ja-JP" altLang="en-US" dirty="0"/>
              <a:t>で学習</a:t>
            </a:r>
            <a:endParaRPr lang="en-US" altLang="ja-JP" dirty="0"/>
          </a:p>
          <a:p>
            <a:r>
              <a:rPr kumimoji="1" lang="ja-JP" altLang="en-US" dirty="0"/>
              <a:t>アンケートにより実装した</a:t>
            </a:r>
            <a:r>
              <a:rPr kumimoji="1" lang="en-US" altLang="ja-JP" dirty="0"/>
              <a:t>AI</a:t>
            </a:r>
            <a:r>
              <a:rPr kumimoji="1" lang="ja-JP" altLang="en-US" dirty="0"/>
              <a:t>の大喜利の面白さを評価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E2369A7-D486-D151-7D62-FC057F1B5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4CA526F-E62C-020C-FCE2-800FD09730F3}"/>
              </a:ext>
            </a:extLst>
          </p:cNvPr>
          <p:cNvSpPr txBox="1"/>
          <p:nvPr/>
        </p:nvSpPr>
        <p:spPr>
          <a:xfrm>
            <a:off x="4022518" y="5613560"/>
            <a:ext cx="41469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/>
              <a:t>[1]</a:t>
            </a:r>
            <a:r>
              <a:rPr kumimoji="1" lang="ja-JP" altLang="en-US" sz="2800" dirty="0"/>
              <a:t>の大喜利</a:t>
            </a:r>
            <a:r>
              <a:rPr kumimoji="1" lang="en-US" altLang="ja-JP" sz="2800" dirty="0"/>
              <a:t>AI</a:t>
            </a:r>
            <a:r>
              <a:rPr kumimoji="1" lang="ja-JP" altLang="en-US" sz="2800" dirty="0"/>
              <a:t>の生成例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A061A8B-D42C-0822-83D6-FA086177C45B}"/>
              </a:ext>
            </a:extLst>
          </p:cNvPr>
          <p:cNvSpPr txBox="1"/>
          <p:nvPr/>
        </p:nvSpPr>
        <p:spPr>
          <a:xfrm>
            <a:off x="635732" y="6295644"/>
            <a:ext cx="109205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ja-JP" sz="1100" dirty="0"/>
              <a:t>[1]Y, Kota, et al. "Neural joking machine: Humorous image captioning." </a:t>
            </a:r>
            <a:r>
              <a:rPr lang="en" altLang="ja-JP" sz="1100" dirty="0" err="1"/>
              <a:t>arXiv</a:t>
            </a:r>
            <a:r>
              <a:rPr lang="en" altLang="ja-JP" sz="1100" dirty="0"/>
              <a:t> preprint arXiv:1805.11850 (2018).</a:t>
            </a:r>
            <a:endParaRPr lang="ja-JP" altLang="en-US" sz="1100" dirty="0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AABE8BB9-B0E7-FC36-09FB-9718A9229281}"/>
              </a:ext>
            </a:extLst>
          </p:cNvPr>
          <p:cNvGrpSpPr/>
          <p:nvPr/>
        </p:nvGrpSpPr>
        <p:grpSpPr>
          <a:xfrm>
            <a:off x="1652400" y="2833961"/>
            <a:ext cx="8887199" cy="2594017"/>
            <a:chOff x="1806767" y="2782214"/>
            <a:chExt cx="8887199" cy="2594017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C53C49EC-08AA-E30B-A032-3A5EAB0FEA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319" t="57802" r="81231" b="10553"/>
            <a:stretch/>
          </p:blipFill>
          <p:spPr>
            <a:xfrm>
              <a:off x="1806767" y="2782214"/>
              <a:ext cx="1949986" cy="2594017"/>
            </a:xfrm>
            <a:prstGeom prst="rect">
              <a:avLst/>
            </a:prstGeom>
          </p:spPr>
        </p:pic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51C216BE-E775-1572-2C1E-6A961ACFC5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2993" t="57802" r="6248" b="10400"/>
            <a:stretch/>
          </p:blipFill>
          <p:spPr>
            <a:xfrm>
              <a:off x="6830458" y="2782214"/>
              <a:ext cx="3863508" cy="2594017"/>
            </a:xfrm>
            <a:prstGeom prst="rect">
              <a:avLst/>
            </a:prstGeom>
          </p:spPr>
        </p:pic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B685E66A-299E-DA08-8F8B-D3F21877D2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5651" t="32923" r="67907" b="41979"/>
            <a:stretch/>
          </p:blipFill>
          <p:spPr>
            <a:xfrm>
              <a:off x="4015648" y="2782214"/>
              <a:ext cx="2616571" cy="25940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2105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2E26EC-5941-42A1-17F7-7B3ADD2D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 err="1"/>
              <a:t>bokete</a:t>
            </a:r>
            <a:r>
              <a:rPr kumimoji="1" lang="en-US" altLang="ja-JP" dirty="0"/>
              <a:t>[2]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C426C7-F04F-E61D-F836-8C37FD573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7972" y="1085039"/>
            <a:ext cx="5001748" cy="5286633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画像に対し大喜利を投稿する</a:t>
            </a:r>
            <a:r>
              <a:rPr kumimoji="1" lang="en-US" altLang="ja-JP" dirty="0"/>
              <a:t>Web</a:t>
            </a:r>
            <a:r>
              <a:rPr kumimoji="1" lang="ja-JP" altLang="en-US" dirty="0"/>
              <a:t>サービス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r>
              <a:rPr lang="ja-JP" altLang="en-US" dirty="0"/>
              <a:t>総データ</a:t>
            </a:r>
            <a:endParaRPr lang="en-US" altLang="ja-JP" dirty="0"/>
          </a:p>
          <a:p>
            <a:pPr marL="457200" lvl="1" indent="0">
              <a:buNone/>
            </a:pPr>
            <a:r>
              <a:rPr kumimoji="1" lang="ja-JP" altLang="en-US" dirty="0"/>
              <a:t>お題画像</a:t>
            </a:r>
            <a:r>
              <a:rPr kumimoji="1" lang="en-US" altLang="ja-JP" sz="2000" dirty="0"/>
              <a:t> </a:t>
            </a:r>
            <a:r>
              <a:rPr kumimoji="1" lang="en-US" altLang="ja-JP" dirty="0"/>
              <a:t>: </a:t>
            </a:r>
            <a:r>
              <a:rPr kumimoji="1" lang="ja-JP" altLang="en-US" dirty="0"/>
              <a:t>約</a:t>
            </a:r>
            <a:r>
              <a:rPr kumimoji="1" lang="en-US" altLang="ja-JP" dirty="0"/>
              <a:t>700</a:t>
            </a:r>
            <a:r>
              <a:rPr kumimoji="1" lang="ja-JP" altLang="en-US" dirty="0"/>
              <a:t>万枚</a:t>
            </a:r>
            <a:endParaRPr kumimoji="1" lang="en-US" altLang="ja-JP" dirty="0"/>
          </a:p>
          <a:p>
            <a:pPr marL="457200" lvl="1" indent="0">
              <a:buNone/>
            </a:pPr>
            <a:r>
              <a:rPr lang="ja-JP" altLang="en-US" spc="100" dirty="0"/>
              <a:t>大 喜 利</a:t>
            </a:r>
            <a:r>
              <a:rPr lang="en-US" altLang="ja-JP" spc="100" dirty="0"/>
              <a:t> </a:t>
            </a:r>
            <a:r>
              <a:rPr lang="en-US" altLang="ja-JP" dirty="0"/>
              <a:t>: </a:t>
            </a:r>
            <a:r>
              <a:rPr lang="ja-JP" altLang="en-US" dirty="0"/>
              <a:t>約</a:t>
            </a:r>
            <a:r>
              <a:rPr lang="en-US" altLang="ja-JP" dirty="0"/>
              <a:t>1</a:t>
            </a:r>
            <a:r>
              <a:rPr lang="ja-JP" altLang="en-US" dirty="0"/>
              <a:t>億文章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CB9E076-BD9B-BCF9-A13E-F8DC739C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6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678CA75-BFF6-A8AE-DC0C-8A1CCFAFC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34" y="1230079"/>
            <a:ext cx="5868052" cy="4236470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BD9C4EF-A83F-CBB5-DD27-EE74EA294ABE}"/>
              </a:ext>
            </a:extLst>
          </p:cNvPr>
          <p:cNvSpPr txBox="1"/>
          <p:nvPr/>
        </p:nvSpPr>
        <p:spPr>
          <a:xfrm>
            <a:off x="1205379" y="5505557"/>
            <a:ext cx="41469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err="1"/>
              <a:t>bokete</a:t>
            </a:r>
            <a:r>
              <a:rPr lang="ja-JP" altLang="en-US" sz="2800" dirty="0"/>
              <a:t>の</a:t>
            </a:r>
            <a:r>
              <a:rPr lang="en-US" altLang="ja-JP" sz="2800" dirty="0"/>
              <a:t>Web</a:t>
            </a:r>
            <a:r>
              <a:rPr lang="ja-JP" altLang="en-US" sz="2800"/>
              <a:t>サイト</a:t>
            </a:r>
            <a:r>
              <a:rPr lang="en-US" altLang="ja-JP" sz="2800" dirty="0"/>
              <a:t>[2]</a:t>
            </a:r>
            <a:endParaRPr kumimoji="1" lang="ja-JP" altLang="en-US" sz="28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EF40BD8-0C3F-2ECB-53D5-42060158DF7E}"/>
              </a:ext>
            </a:extLst>
          </p:cNvPr>
          <p:cNvSpPr txBox="1"/>
          <p:nvPr/>
        </p:nvSpPr>
        <p:spPr>
          <a:xfrm>
            <a:off x="635732" y="6295644"/>
            <a:ext cx="109205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ja-JP" sz="1100" dirty="0"/>
              <a:t>[2]</a:t>
            </a:r>
            <a:r>
              <a:rPr lang="ja-JP" altLang="en-US" sz="1100" b="0" i="0" dirty="0">
                <a:solidFill>
                  <a:srgbClr val="333333"/>
                </a:solidFill>
                <a:effectLst/>
                <a:latin typeface="Helvetica Neue"/>
              </a:rPr>
              <a:t>株式会社オモロキ</a:t>
            </a:r>
            <a:r>
              <a:rPr lang="en-US" altLang="ja-JP" sz="1100" b="0" i="0" dirty="0">
                <a:solidFill>
                  <a:srgbClr val="333333"/>
                </a:solidFill>
                <a:effectLst/>
                <a:latin typeface="Helvetica Neue"/>
              </a:rPr>
              <a:t>, “</a:t>
            </a:r>
            <a:r>
              <a:rPr lang="en-US" altLang="ja-JP" sz="1100" b="0" i="0" dirty="0" err="1">
                <a:solidFill>
                  <a:srgbClr val="333333"/>
                </a:solidFill>
                <a:effectLst/>
                <a:latin typeface="Helvetica Neue"/>
              </a:rPr>
              <a:t>bokete</a:t>
            </a:r>
            <a:r>
              <a:rPr lang="en-US" altLang="ja-JP" sz="1100" b="0" i="0" dirty="0">
                <a:solidFill>
                  <a:srgbClr val="333333"/>
                </a:solidFill>
                <a:effectLst/>
                <a:latin typeface="Helvetica Neue"/>
              </a:rPr>
              <a:t>”, https://bokete.jp/(</a:t>
            </a:r>
            <a:r>
              <a:rPr lang="ja-JP" altLang="en-US" sz="1100" b="0" i="0" dirty="0">
                <a:solidFill>
                  <a:srgbClr val="333333"/>
                </a:solidFill>
                <a:effectLst/>
                <a:latin typeface="Helvetica Neue"/>
              </a:rPr>
              <a:t>最終アクセス</a:t>
            </a:r>
            <a:r>
              <a:rPr lang="en-US" altLang="ja-JP" sz="1100" dirty="0">
                <a:solidFill>
                  <a:srgbClr val="333333"/>
                </a:solidFill>
                <a:latin typeface="Helvetica Neue"/>
              </a:rPr>
              <a:t>:2022/12/13</a:t>
            </a:r>
            <a:r>
              <a:rPr lang="en-US" altLang="ja-JP" sz="1100" b="0" i="0" dirty="0">
                <a:solidFill>
                  <a:srgbClr val="333333"/>
                </a:solidFill>
                <a:effectLst/>
                <a:latin typeface="Helvetica Neue"/>
              </a:rPr>
              <a:t>)</a:t>
            </a:r>
            <a:endParaRPr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496026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8383A2-8C28-9696-804D-3BFDF3110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ja-JP" sz="3600" spc="-200" dirty="0"/>
              <a:t>Neural Joking Machine : Humorous Image Caption</a:t>
            </a:r>
            <a:r>
              <a:rPr lang="en-US" altLang="ja-JP" sz="3600" spc="-200" dirty="0"/>
              <a:t>[1]</a:t>
            </a:r>
            <a:endParaRPr kumimoji="1" lang="ja-JP" altLang="en-US" sz="3600" spc="-2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F29533-B4C2-2749-49C4-3E3078E81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err="1"/>
              <a:t>bokete</a:t>
            </a:r>
            <a:r>
              <a:rPr kumimoji="1" lang="ja-JP" altLang="en-US" dirty="0"/>
              <a:t>のデータをスクレイピングし</a:t>
            </a:r>
            <a:r>
              <a:rPr kumimoji="1" lang="en-US" altLang="ja-JP" dirty="0"/>
              <a:t>,</a:t>
            </a:r>
            <a:r>
              <a:rPr kumimoji="1" lang="ja-JP" altLang="en-US" dirty="0"/>
              <a:t> 画像⇆大喜利データセットを作成</a:t>
            </a:r>
            <a:endParaRPr kumimoji="1" lang="en-US" altLang="ja-JP" dirty="0"/>
          </a:p>
          <a:p>
            <a:r>
              <a:rPr lang="ja-JP" altLang="en-US" dirty="0"/>
              <a:t>作成したデータセットを</a:t>
            </a:r>
            <a:r>
              <a:rPr lang="en-US" altLang="ja-JP" dirty="0">
                <a:solidFill>
                  <a:srgbClr val="FF0000"/>
                </a:solidFill>
              </a:rPr>
              <a:t>Pix2Seq</a:t>
            </a:r>
            <a:r>
              <a:rPr lang="ja-JP" altLang="en-US" dirty="0"/>
              <a:t>で学習</a:t>
            </a:r>
            <a:endParaRPr lang="en-US" altLang="ja-JP" dirty="0"/>
          </a:p>
          <a:p>
            <a:r>
              <a:rPr kumimoji="1" lang="ja-JP" altLang="en-US" dirty="0"/>
              <a:t>アンケートにより実装した</a:t>
            </a:r>
            <a:r>
              <a:rPr kumimoji="1" lang="en-US" altLang="ja-JP" dirty="0"/>
              <a:t>AI</a:t>
            </a:r>
            <a:r>
              <a:rPr kumimoji="1" lang="ja-JP" altLang="en-US" dirty="0"/>
              <a:t>の大喜利の面白さを評価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E2369A7-D486-D151-7D62-FC057F1B5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4CA526F-E62C-020C-FCE2-800FD09730F3}"/>
              </a:ext>
            </a:extLst>
          </p:cNvPr>
          <p:cNvSpPr txBox="1"/>
          <p:nvPr/>
        </p:nvSpPr>
        <p:spPr>
          <a:xfrm>
            <a:off x="4022518" y="5613560"/>
            <a:ext cx="41469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/>
              <a:t>[1]</a:t>
            </a:r>
            <a:r>
              <a:rPr kumimoji="1" lang="ja-JP" altLang="en-US" sz="2800" dirty="0"/>
              <a:t>の大喜利</a:t>
            </a:r>
            <a:r>
              <a:rPr kumimoji="1" lang="en-US" altLang="ja-JP" sz="2800" dirty="0"/>
              <a:t>AI</a:t>
            </a:r>
            <a:r>
              <a:rPr kumimoji="1" lang="ja-JP" altLang="en-US" sz="2800" dirty="0"/>
              <a:t>の生成例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A061A8B-D42C-0822-83D6-FA086177C45B}"/>
              </a:ext>
            </a:extLst>
          </p:cNvPr>
          <p:cNvSpPr txBox="1"/>
          <p:nvPr/>
        </p:nvSpPr>
        <p:spPr>
          <a:xfrm>
            <a:off x="635732" y="6295644"/>
            <a:ext cx="109205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ja-JP" sz="1100" dirty="0"/>
              <a:t>[1]Y, Kota, et al. "Neural joking machine: Humorous image captioning." </a:t>
            </a:r>
            <a:r>
              <a:rPr lang="en" altLang="ja-JP" sz="1100" dirty="0" err="1"/>
              <a:t>arXiv</a:t>
            </a:r>
            <a:r>
              <a:rPr lang="en" altLang="ja-JP" sz="1100" dirty="0"/>
              <a:t> preprint arXiv:1805.11850 (2018).</a:t>
            </a:r>
            <a:endParaRPr lang="ja-JP" altLang="en-US" sz="1100" dirty="0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AABE8BB9-B0E7-FC36-09FB-9718A9229281}"/>
              </a:ext>
            </a:extLst>
          </p:cNvPr>
          <p:cNvGrpSpPr/>
          <p:nvPr/>
        </p:nvGrpSpPr>
        <p:grpSpPr>
          <a:xfrm>
            <a:off x="1652400" y="2833961"/>
            <a:ext cx="8887199" cy="2594017"/>
            <a:chOff x="1806767" y="2782214"/>
            <a:chExt cx="8887199" cy="2594017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C53C49EC-08AA-E30B-A032-3A5EAB0FEA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319" t="57802" r="81231" b="10553"/>
            <a:stretch/>
          </p:blipFill>
          <p:spPr>
            <a:xfrm>
              <a:off x="1806767" y="2782214"/>
              <a:ext cx="1949986" cy="2594017"/>
            </a:xfrm>
            <a:prstGeom prst="rect">
              <a:avLst/>
            </a:prstGeom>
          </p:spPr>
        </p:pic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51C216BE-E775-1572-2C1E-6A961ACFC5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2993" t="57802" r="6248" b="10400"/>
            <a:stretch/>
          </p:blipFill>
          <p:spPr>
            <a:xfrm>
              <a:off x="6830458" y="2782214"/>
              <a:ext cx="3863508" cy="2594017"/>
            </a:xfrm>
            <a:prstGeom prst="rect">
              <a:avLst/>
            </a:prstGeom>
          </p:spPr>
        </p:pic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B685E66A-299E-DA08-8F8B-D3F21877D2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5651" t="32923" r="67907" b="41979"/>
            <a:stretch/>
          </p:blipFill>
          <p:spPr>
            <a:xfrm>
              <a:off x="4015648" y="2782214"/>
              <a:ext cx="2616571" cy="25940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08883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8383A2-8C28-9696-804D-3BFDF3110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ja-JP" sz="3600" spc="-200" dirty="0"/>
              <a:t>Neural Joking Machine : Humorous Image Caption</a:t>
            </a:r>
            <a:r>
              <a:rPr lang="en-US" altLang="ja-JP" sz="3600" spc="-200" dirty="0"/>
              <a:t>[1]</a:t>
            </a:r>
            <a:endParaRPr kumimoji="1" lang="ja-JP" altLang="en-US" sz="3600" spc="-2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F29533-B4C2-2749-49C4-3E3078E81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err="1"/>
              <a:t>bokete</a:t>
            </a:r>
            <a:r>
              <a:rPr kumimoji="1" lang="ja-JP" altLang="en-US" dirty="0"/>
              <a:t>のデータをスクレイピングし</a:t>
            </a:r>
            <a:r>
              <a:rPr kumimoji="1" lang="en-US" altLang="ja-JP" dirty="0"/>
              <a:t>,</a:t>
            </a:r>
            <a:r>
              <a:rPr kumimoji="1" lang="ja-JP" altLang="en-US" dirty="0"/>
              <a:t> 画像⇆大喜利データセットを作成</a:t>
            </a:r>
            <a:endParaRPr kumimoji="1" lang="en-US" altLang="ja-JP" dirty="0"/>
          </a:p>
          <a:p>
            <a:r>
              <a:rPr lang="ja-JP" altLang="en-US" dirty="0"/>
              <a:t>作成したデータセットを</a:t>
            </a:r>
            <a:r>
              <a:rPr lang="en-US" altLang="ja-JP" dirty="0">
                <a:solidFill>
                  <a:srgbClr val="FF0000"/>
                </a:solidFill>
              </a:rPr>
              <a:t>Pix2Seq</a:t>
            </a:r>
            <a:r>
              <a:rPr lang="ja-JP" altLang="en-US" dirty="0"/>
              <a:t>で学習</a:t>
            </a:r>
            <a:endParaRPr lang="en-US" altLang="ja-JP" dirty="0"/>
          </a:p>
          <a:p>
            <a:r>
              <a:rPr kumimoji="1" lang="ja-JP" altLang="en-US" dirty="0"/>
              <a:t>アンケートにより実装した</a:t>
            </a:r>
            <a:r>
              <a:rPr kumimoji="1" lang="en-US" altLang="ja-JP" dirty="0"/>
              <a:t>AI</a:t>
            </a:r>
            <a:r>
              <a:rPr kumimoji="1" lang="ja-JP" altLang="en-US" dirty="0"/>
              <a:t>の大喜利の面白さを評価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E2369A7-D486-D151-7D62-FC057F1B5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4CA526F-E62C-020C-FCE2-800FD09730F3}"/>
              </a:ext>
            </a:extLst>
          </p:cNvPr>
          <p:cNvSpPr txBox="1"/>
          <p:nvPr/>
        </p:nvSpPr>
        <p:spPr>
          <a:xfrm>
            <a:off x="4022518" y="5613560"/>
            <a:ext cx="41469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/>
              <a:t>[1]</a:t>
            </a:r>
            <a:r>
              <a:rPr kumimoji="1" lang="ja-JP" altLang="en-US" sz="2800" dirty="0"/>
              <a:t>の大喜利</a:t>
            </a:r>
            <a:r>
              <a:rPr kumimoji="1" lang="en-US" altLang="ja-JP" sz="2800" dirty="0"/>
              <a:t>AI</a:t>
            </a:r>
            <a:r>
              <a:rPr kumimoji="1" lang="ja-JP" altLang="en-US" sz="2800" dirty="0"/>
              <a:t>の生成例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A061A8B-D42C-0822-83D6-FA086177C45B}"/>
              </a:ext>
            </a:extLst>
          </p:cNvPr>
          <p:cNvSpPr txBox="1"/>
          <p:nvPr/>
        </p:nvSpPr>
        <p:spPr>
          <a:xfrm>
            <a:off x="635732" y="6295644"/>
            <a:ext cx="109205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ja-JP" sz="1100" dirty="0"/>
              <a:t>[1]Y, Kota, et al. "Neural joking machine: Humorous image captioning." </a:t>
            </a:r>
            <a:r>
              <a:rPr lang="en" altLang="ja-JP" sz="1100" dirty="0" err="1"/>
              <a:t>arXiv</a:t>
            </a:r>
            <a:r>
              <a:rPr lang="en" altLang="ja-JP" sz="1100" dirty="0"/>
              <a:t> preprint arXiv:1805.11850 (2018).</a:t>
            </a:r>
            <a:endParaRPr lang="ja-JP" altLang="en-US" sz="1100" dirty="0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AABE8BB9-B0E7-FC36-09FB-9718A9229281}"/>
              </a:ext>
            </a:extLst>
          </p:cNvPr>
          <p:cNvGrpSpPr/>
          <p:nvPr/>
        </p:nvGrpSpPr>
        <p:grpSpPr>
          <a:xfrm>
            <a:off x="1652400" y="2833961"/>
            <a:ext cx="8887199" cy="2594017"/>
            <a:chOff x="1806767" y="2782214"/>
            <a:chExt cx="8887199" cy="2594017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C53C49EC-08AA-E30B-A032-3A5EAB0FEA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319" t="57802" r="81231" b="10553"/>
            <a:stretch/>
          </p:blipFill>
          <p:spPr>
            <a:xfrm>
              <a:off x="1806767" y="2782214"/>
              <a:ext cx="1949986" cy="2594017"/>
            </a:xfrm>
            <a:prstGeom prst="rect">
              <a:avLst/>
            </a:prstGeom>
          </p:spPr>
        </p:pic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51C216BE-E775-1572-2C1E-6A961ACFC5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2993" t="57802" r="6248" b="10400"/>
            <a:stretch/>
          </p:blipFill>
          <p:spPr>
            <a:xfrm>
              <a:off x="6830458" y="2782214"/>
              <a:ext cx="3863508" cy="2594017"/>
            </a:xfrm>
            <a:prstGeom prst="rect">
              <a:avLst/>
            </a:prstGeom>
          </p:spPr>
        </p:pic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B685E66A-299E-DA08-8F8B-D3F21877D2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5651" t="32923" r="67907" b="41979"/>
            <a:stretch/>
          </p:blipFill>
          <p:spPr>
            <a:xfrm>
              <a:off x="4015648" y="2782214"/>
              <a:ext cx="2616571" cy="2594016"/>
            </a:xfrm>
            <a:prstGeom prst="rect">
              <a:avLst/>
            </a:prstGeom>
          </p:spPr>
        </p:pic>
      </p:grpSp>
      <p:sp>
        <p:nvSpPr>
          <p:cNvPr id="5" name="角丸四角形吹き出し 4">
            <a:extLst>
              <a:ext uri="{FF2B5EF4-FFF2-40B4-BE49-F238E27FC236}">
                <a16:creationId xmlns:a16="http://schemas.microsoft.com/office/drawing/2014/main" id="{1A988207-11F4-C597-E519-AE98A6941C31}"/>
              </a:ext>
            </a:extLst>
          </p:cNvPr>
          <p:cNvSpPr/>
          <p:nvPr/>
        </p:nvSpPr>
        <p:spPr>
          <a:xfrm>
            <a:off x="6831596" y="1365437"/>
            <a:ext cx="3552497" cy="1166648"/>
          </a:xfrm>
          <a:prstGeom prst="wedgeRoundRectCallout">
            <a:avLst>
              <a:gd name="adj1" fmla="val -9590"/>
              <a:gd name="adj2" fmla="val 102140"/>
              <a:gd name="adj3" fmla="val 16667"/>
            </a:avLst>
          </a:prstGeom>
          <a:solidFill>
            <a:srgbClr val="00B0F0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/>
              <a:t>画像と関連の低い</a:t>
            </a:r>
            <a:endParaRPr kumimoji="1" lang="en-US" altLang="ja-JP" sz="2400" dirty="0"/>
          </a:p>
          <a:p>
            <a:pPr algn="ctr"/>
            <a:r>
              <a:rPr kumimoji="1" lang="ja-JP" altLang="en-US" sz="2400"/>
              <a:t>大喜利の生成例もある</a:t>
            </a:r>
          </a:p>
        </p:txBody>
      </p:sp>
    </p:spTree>
    <p:extLst>
      <p:ext uri="{BB962C8B-B14F-4D97-AF65-F5344CB8AC3E}">
        <p14:creationId xmlns:p14="http://schemas.microsoft.com/office/powerpoint/2010/main" val="1885609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0C479F-EB81-BDD9-463D-653AFD8B8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Pix2Seq[3]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A46679AF-F610-B7BA-2916-68879D26F6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画像を入力とし</a:t>
                </a:r>
                <a:r>
                  <a:rPr kumimoji="1" lang="en-US" altLang="ja-JP" dirty="0"/>
                  <a:t>, </a:t>
                </a:r>
                <a:r>
                  <a:rPr kumimoji="1" lang="ja-JP" altLang="en-US" dirty="0"/>
                  <a:t>文章を出力する</a:t>
                </a:r>
                <a:r>
                  <a:rPr kumimoji="1" lang="en-US" altLang="ja-JP" dirty="0"/>
                  <a:t>AI</a:t>
                </a:r>
              </a:p>
              <a:p>
                <a:pPr marL="457200" lvl="1" indent="0">
                  <a:buNone/>
                </a:pPr>
                <a:r>
                  <a:rPr lang="en-US" altLang="ja-JP" dirty="0"/>
                  <a:t>ex) </a:t>
                </a:r>
                <a:r>
                  <a:rPr lang="ja-JP" altLang="en-US" dirty="0"/>
                  <a:t>画像のキャプション</a:t>
                </a:r>
                <a:endParaRPr lang="en-US" altLang="ja-JP" dirty="0"/>
              </a:p>
              <a:p>
                <a:pPr marL="457200" lvl="1" indent="0">
                  <a:buNone/>
                </a:pPr>
                <a:endParaRPr kumimoji="1" lang="en-US" altLang="ja-JP" dirty="0"/>
              </a:p>
              <a:p>
                <a:pPr marL="457200" lvl="1" indent="0">
                  <a:buNone/>
                </a:pPr>
                <a:endParaRPr lang="en-US" altLang="ja-JP" dirty="0"/>
              </a:p>
              <a:p>
                <a:pPr marL="457200" lvl="1" indent="0">
                  <a:buNone/>
                </a:pPr>
                <a:endParaRPr kumimoji="1" lang="en-US" altLang="ja-JP" dirty="0"/>
              </a:p>
              <a:p>
                <a:pPr marL="457200" lvl="1" indent="0">
                  <a:buNone/>
                </a:pPr>
                <a:endParaRPr lang="en-US" altLang="ja-JP" dirty="0"/>
              </a:p>
              <a:p>
                <a:pPr marL="457200" lvl="1" indent="0">
                  <a:buNone/>
                </a:pPr>
                <a:endParaRPr lang="en-US" altLang="ja-JP" dirty="0"/>
              </a:p>
              <a:p>
                <a:pPr marL="457200" lvl="1" indent="0">
                  <a:buNone/>
                </a:pPr>
                <a:endParaRPr lang="en-US" altLang="ja-JP" dirty="0"/>
              </a:p>
              <a:p>
                <a:pPr marL="457200" lvl="1" indent="0">
                  <a:buNone/>
                </a:pPr>
                <a:r>
                  <a:rPr kumimoji="1" lang="en-US" altLang="ja-JP" dirty="0"/>
                  <a:t>※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i="0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kumimoji="1" lang="en-US" altLang="ja-JP" dirty="0"/>
                  <a:t> : </a:t>
                </a:r>
                <a:r>
                  <a:rPr kumimoji="1" lang="ja-JP" altLang="en-US" dirty="0"/>
                  <a:t>画像</a:t>
                </a:r>
                <a:r>
                  <a:rPr lang="en-US" altLang="ja-JP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1" lang="en-US" altLang="ja-JP" dirty="0"/>
                  <a:t> : </a:t>
                </a:r>
                <a:r>
                  <a:rPr kumimoji="1" lang="ja-JP" altLang="en-US" dirty="0"/>
                  <a:t>文章の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ja-JP" altLang="en-US" dirty="0"/>
                  <a:t>番目の単語</a:t>
                </a:r>
                <a:endParaRPr kumimoji="1" lang="en-US" altLang="ja-JP" dirty="0"/>
              </a:p>
              <a:p>
                <a:pPr marL="457200" lvl="1" indent="0" algn="ctr">
                  <a:buNone/>
                </a:pPr>
                <a:r>
                  <a:rPr lang="ja-JP" altLang="en-US" dirty="0"/>
                  <a:t>文章の</a:t>
                </a:r>
                <a14:m>
                  <m:oMath xmlns:m="http://schemas.openxmlformats.org/officeDocument/2006/math">
                    <m:r>
                      <a:rPr lang="en-US" altLang="ja-JP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ja-JP" altLang="en-US" dirty="0"/>
                  <a:t>番目の単語</a:t>
                </a:r>
                <a:endParaRPr kumimoji="1" lang="en-US" altLang="ja-JP" dirty="0"/>
              </a:p>
              <a:p>
                <a:pPr marL="457200" lvl="1" indent="0">
                  <a:buNone/>
                </a:pPr>
                <a:r>
                  <a:rPr lang="en-US" altLang="ja-JP" dirty="0"/>
                  <a:t>    </a:t>
                </a:r>
                <a:r>
                  <a:rPr lang="ja-JP" altLang="en-US" sz="1100" dirty="0"/>
                  <a:t> </a:t>
                </a:r>
                <a:r>
                  <a:rPr lang="ja-JP" altLang="en-US" dirty="0"/>
                  <a:t>文章</a:t>
                </a:r>
                <a:r>
                  <a:rPr lang="en-US" altLang="ja-JP" dirty="0"/>
                  <a:t> </a:t>
                </a:r>
                <a:r>
                  <a:rPr lang="ja-JP" altLang="en-US" dirty="0"/>
                  <a:t>           一応授業聞いてるフリ</a:t>
                </a:r>
                <a:endParaRPr lang="en-US" altLang="ja-JP" dirty="0"/>
              </a:p>
              <a:p>
                <a:pPr marL="457200" lvl="1" indent="0">
                  <a:buNone/>
                </a:pPr>
                <a:r>
                  <a:rPr kumimoji="1" lang="ja-JP" altLang="en-US" dirty="0"/>
                  <a:t>　　</a:t>
                </a:r>
                <a:r>
                  <a:rPr lang="ja-JP" altLang="en-US" dirty="0"/>
                  <a:t> 分かち書き   一応</a:t>
                </a:r>
                <a:r>
                  <a:rPr lang="en-US" altLang="ja-JP" dirty="0"/>
                  <a:t> / </a:t>
                </a:r>
                <a:r>
                  <a:rPr lang="ja-JP" altLang="en-US" dirty="0"/>
                  <a:t>授業</a:t>
                </a:r>
                <a:r>
                  <a:rPr lang="en-US" altLang="ja-JP" dirty="0"/>
                  <a:t> / </a:t>
                </a:r>
                <a:r>
                  <a:rPr lang="ja-JP" altLang="en-US" dirty="0"/>
                  <a:t>聞いてる</a:t>
                </a:r>
                <a:r>
                  <a:rPr lang="en-US" altLang="ja-JP" dirty="0"/>
                  <a:t> / </a:t>
                </a:r>
                <a:r>
                  <a:rPr lang="ja-JP" altLang="en-US" dirty="0"/>
                  <a:t>フリ</a:t>
                </a:r>
                <a:endParaRPr lang="en-US" altLang="ja-JP" dirty="0"/>
              </a:p>
              <a:p>
                <a:pPr marL="457200" lvl="1" indent="0">
                  <a:buNone/>
                </a:pPr>
                <a:r>
                  <a:rPr kumimoji="1" lang="ja-JP" altLang="en-US" dirty="0"/>
                  <a:t>　　</a:t>
                </a:r>
                <a:r>
                  <a:rPr lang="ja-JP" altLang="en-US" dirty="0"/>
                  <a:t> 単語の番号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A46679AF-F610-B7BA-2916-68879D26F6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14" t="-1918" b="-95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B743332-5097-0F97-0F67-AFAEDD833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C40CB8A-C818-AC82-958A-BBCA6DF66787}"/>
              </a:ext>
            </a:extLst>
          </p:cNvPr>
          <p:cNvSpPr txBox="1"/>
          <p:nvPr/>
        </p:nvSpPr>
        <p:spPr>
          <a:xfrm>
            <a:off x="462281" y="6304998"/>
            <a:ext cx="112674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altLang="ja-JP" sz="1100" dirty="0">
                <a:effectLst/>
                <a:latin typeface="+mj-lt"/>
                <a:ea typeface="ＭＳ 明朝" panose="02020609040205080304" pitchFamily="49" charset="-128"/>
                <a:cs typeface="Times New Roman" panose="02020603050405020304" pitchFamily="18" charset="0"/>
              </a:rPr>
              <a:t>[3] O. </a:t>
            </a:r>
            <a:r>
              <a:rPr lang="en-US" altLang="ja-JP" sz="1100" dirty="0" err="1">
                <a:effectLst/>
                <a:latin typeface="+mj-lt"/>
                <a:ea typeface="ＭＳ 明朝" panose="02020609040205080304" pitchFamily="49" charset="-128"/>
                <a:cs typeface="Times New Roman" panose="02020603050405020304" pitchFamily="18" charset="0"/>
              </a:rPr>
              <a:t>Vinyals</a:t>
            </a:r>
            <a:r>
              <a:rPr lang="en-US" altLang="ja-JP" sz="1100" dirty="0">
                <a:effectLst/>
                <a:latin typeface="+mj-lt"/>
                <a:ea typeface="ＭＳ 明朝" panose="02020609040205080304" pitchFamily="49" charset="-128"/>
                <a:cs typeface="Times New Roman" panose="02020603050405020304" pitchFamily="18" charset="0"/>
              </a:rPr>
              <a:t>, et al. "Show and tell: A neural image caption generator." Proc. IEEE CPVR (2015).</a:t>
            </a:r>
            <a:endParaRPr lang="ja-JP" altLang="ja-JP" sz="1100" dirty="0">
              <a:effectLst/>
              <a:latin typeface="+mj-lt"/>
              <a:ea typeface="ＭＳ 明朝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7" name="図 6" descr="口を開けている赤ちゃん&#10;&#10;自動的に生成された説明">
            <a:extLst>
              <a:ext uri="{FF2B5EF4-FFF2-40B4-BE49-F238E27FC236}">
                <a16:creationId xmlns:a16="http://schemas.microsoft.com/office/drawing/2014/main" id="{1A579251-4993-1007-E186-9FC753C530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706" y="2683732"/>
            <a:ext cx="1054223" cy="1052466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61055ED-5998-E18C-DFD9-70261A4440CE}"/>
                  </a:ext>
                </a:extLst>
              </p:cNvPr>
              <p:cNvSpPr txBox="1"/>
              <p:nvPr/>
            </p:nvSpPr>
            <p:spPr>
              <a:xfrm>
                <a:off x="1778915" y="2032002"/>
                <a:ext cx="6184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61055ED-5998-E18C-DFD9-70261A444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915" y="2032002"/>
                <a:ext cx="618480" cy="369332"/>
              </a:xfrm>
              <a:prstGeom prst="rect">
                <a:avLst/>
              </a:prstGeom>
              <a:blipFill>
                <a:blip r:embed="rId4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台形 8">
                <a:extLst>
                  <a:ext uri="{FF2B5EF4-FFF2-40B4-BE49-F238E27FC236}">
                    <a16:creationId xmlns:a16="http://schemas.microsoft.com/office/drawing/2014/main" id="{E3E10290-1656-C882-678B-0339D1E178E2}"/>
                  </a:ext>
                </a:extLst>
              </p:cNvPr>
              <p:cNvSpPr/>
              <p:nvPr/>
            </p:nvSpPr>
            <p:spPr>
              <a:xfrm rot="5400000">
                <a:off x="4521170" y="2572968"/>
                <a:ext cx="962952" cy="1258309"/>
              </a:xfrm>
              <a:prstGeom prst="trapezoid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𝐸𝑛𝑐𝑜𝑑𝑒𝑟</m:t>
                      </m:r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台形 8">
                <a:extLst>
                  <a:ext uri="{FF2B5EF4-FFF2-40B4-BE49-F238E27FC236}">
                    <a16:creationId xmlns:a16="http://schemas.microsoft.com/office/drawing/2014/main" id="{E3E10290-1656-C882-678B-0339D1E178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521170" y="2572968"/>
                <a:ext cx="962952" cy="1258309"/>
              </a:xfrm>
              <a:prstGeom prst="trapezoid">
                <a:avLst/>
              </a:prstGeom>
              <a:blipFill>
                <a:blip r:embed="rId5"/>
                <a:stretch>
                  <a:fillRect l="-490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D6D52802-6FC4-053E-DA96-E1819593F962}"/>
                  </a:ext>
                </a:extLst>
              </p:cNvPr>
              <p:cNvSpPr/>
              <p:nvPr/>
            </p:nvSpPr>
            <p:spPr>
              <a:xfrm>
                <a:off x="3382258" y="1991625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𝐸𝑚𝑏𝑒𝑑𝑑𝑖𝑛𝑔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D6D52802-6FC4-053E-DA96-E1819593F9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258" y="1991625"/>
                <a:ext cx="1278541" cy="450086"/>
              </a:xfrm>
              <a:prstGeom prst="rect">
                <a:avLst/>
              </a:prstGeom>
              <a:blipFill>
                <a:blip r:embed="rId6"/>
                <a:stretch>
                  <a:fillRect l="-8654" r="-288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2143E321-9813-09CC-17CC-502EDEBF0A61}"/>
                  </a:ext>
                </a:extLst>
              </p:cNvPr>
              <p:cNvSpPr/>
              <p:nvPr/>
            </p:nvSpPr>
            <p:spPr>
              <a:xfrm>
                <a:off x="5458471" y="1991625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𝐿𝑆𝑇𝑀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2143E321-9813-09CC-17CC-502EDEBF0A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471" y="1991625"/>
                <a:ext cx="1278541" cy="4500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2329127F-D7C9-A5FA-6BA9-997208AE32B1}"/>
                  </a:ext>
                </a:extLst>
              </p:cNvPr>
              <p:cNvSpPr/>
              <p:nvPr/>
            </p:nvSpPr>
            <p:spPr>
              <a:xfrm>
                <a:off x="7481440" y="2401334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𝐷𝑒𝑛𝑠𝑒</m:t>
                      </m:r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2329127F-D7C9-A5FA-6BA9-997208AE32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440" y="2401334"/>
                <a:ext cx="1278541" cy="450086"/>
              </a:xfrm>
              <a:prstGeom prst="rect">
                <a:avLst/>
              </a:prstGeom>
              <a:blipFill>
                <a:blip r:embed="rId8"/>
                <a:stretch>
                  <a:fillRect b="-263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B84C65C8-CC66-62D9-E2B6-1130661B79DC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2397395" y="2216668"/>
            <a:ext cx="9848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6036BD57-D057-8963-8B04-0921BD01A222}"/>
              </a:ext>
            </a:extLst>
          </p:cNvPr>
          <p:cNvCxnSpPr>
            <a:cxnSpLocks/>
            <a:stCxn id="7" idx="3"/>
            <a:endCxn id="9" idx="2"/>
          </p:cNvCxnSpPr>
          <p:nvPr/>
        </p:nvCxnSpPr>
        <p:spPr>
          <a:xfrm flipV="1">
            <a:off x="2519929" y="3202123"/>
            <a:ext cx="1853563" cy="78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907C81C1-FF6F-2769-DC0F-0CBEC1E3AF81}"/>
              </a:ext>
            </a:extLst>
          </p:cNvPr>
          <p:cNvCxnSpPr>
            <a:cxnSpLocks/>
            <a:stCxn id="9" idx="0"/>
            <a:endCxn id="13" idx="1"/>
          </p:cNvCxnSpPr>
          <p:nvPr/>
        </p:nvCxnSpPr>
        <p:spPr>
          <a:xfrm flipV="1">
            <a:off x="5631801" y="2626377"/>
            <a:ext cx="1849639" cy="5757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AB5B9BF4-432F-1AC3-2639-200598C72A09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4660799" y="2216668"/>
            <a:ext cx="79767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21427FB2-2110-6345-4693-D674D83C2333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6737012" y="2216668"/>
            <a:ext cx="744428" cy="4097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F85E7867-E30D-27F6-016D-BFEFA14BA714}"/>
                  </a:ext>
                </a:extLst>
              </p:cNvPr>
              <p:cNvSpPr txBox="1"/>
              <p:nvPr/>
            </p:nvSpPr>
            <p:spPr>
              <a:xfrm>
                <a:off x="9557652" y="2441711"/>
                <a:ext cx="75969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F85E7867-E30D-27F6-016D-BFEFA14BA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7652" y="2441711"/>
                <a:ext cx="759691" cy="369332"/>
              </a:xfrm>
              <a:prstGeom prst="rect">
                <a:avLst/>
              </a:prstGeom>
              <a:blipFill>
                <a:blip r:embed="rId9"/>
                <a:stretch>
                  <a:fillRect l="-7258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80C0F05A-AB8A-1080-DCE1-CEA38E44B31E}"/>
              </a:ext>
            </a:extLst>
          </p:cNvPr>
          <p:cNvCxnSpPr>
            <a:cxnSpLocks/>
            <a:stCxn id="13" idx="3"/>
            <a:endCxn id="29" idx="1"/>
          </p:cNvCxnSpPr>
          <p:nvPr/>
        </p:nvCxnSpPr>
        <p:spPr>
          <a:xfrm>
            <a:off x="8759981" y="2626377"/>
            <a:ext cx="797671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ABB5BFAB-FBE1-E379-F71F-8D2B70536B0B}"/>
                  </a:ext>
                </a:extLst>
              </p:cNvPr>
              <p:cNvSpPr txBox="1"/>
              <p:nvPr/>
            </p:nvSpPr>
            <p:spPr>
              <a:xfrm>
                <a:off x="1807110" y="3025299"/>
                <a:ext cx="37141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ja-JP" sz="2400" i="0" smtClean="0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ABB5BFAB-FBE1-E379-F71F-8D2B70536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110" y="3025299"/>
                <a:ext cx="371414" cy="369332"/>
              </a:xfrm>
              <a:prstGeom prst="rect">
                <a:avLst/>
              </a:prstGeom>
              <a:blipFill>
                <a:blip r:embed="rId10"/>
                <a:stretch>
                  <a:fillRect l="-26667" t="-10000" b="-3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425C4212-DDE0-5626-29CC-29A8C8AD4AEC}"/>
                  </a:ext>
                </a:extLst>
              </p:cNvPr>
              <p:cNvSpPr txBox="1"/>
              <p:nvPr/>
            </p:nvSpPr>
            <p:spPr>
              <a:xfrm>
                <a:off x="3213382" y="5848689"/>
                <a:ext cx="6184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425C4212-DDE0-5626-29CC-29A8C8AD4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3382" y="5848689"/>
                <a:ext cx="618480" cy="369332"/>
              </a:xfrm>
              <a:prstGeom prst="rect">
                <a:avLst/>
              </a:prstGeom>
              <a:blipFill>
                <a:blip r:embed="rId11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D9520983-8551-EA3F-17D2-54A46363286C}"/>
                  </a:ext>
                </a:extLst>
              </p:cNvPr>
              <p:cNvSpPr txBox="1"/>
              <p:nvPr/>
            </p:nvSpPr>
            <p:spPr>
              <a:xfrm>
                <a:off x="4112907" y="5848689"/>
                <a:ext cx="6184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D9520983-8551-EA3F-17D2-54A463632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2907" y="5848689"/>
                <a:ext cx="618480" cy="369332"/>
              </a:xfrm>
              <a:prstGeom prst="rect">
                <a:avLst/>
              </a:prstGeom>
              <a:blipFill>
                <a:blip r:embed="rId1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BBE223E1-8A08-F52B-D989-4E2BFF718257}"/>
                  </a:ext>
                </a:extLst>
              </p:cNvPr>
              <p:cNvSpPr txBox="1"/>
              <p:nvPr/>
            </p:nvSpPr>
            <p:spPr>
              <a:xfrm>
                <a:off x="5324055" y="5848689"/>
                <a:ext cx="6184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BBE223E1-8A08-F52B-D989-4E2BFF718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4055" y="5848689"/>
                <a:ext cx="618480" cy="369332"/>
              </a:xfrm>
              <a:prstGeom prst="rect">
                <a:avLst/>
              </a:prstGeom>
              <a:blipFill>
                <a:blip r:embed="rId1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FCFCF833-0F0A-C5C1-4047-605C5893981D}"/>
                  </a:ext>
                </a:extLst>
              </p:cNvPr>
              <p:cNvSpPr txBox="1"/>
              <p:nvPr/>
            </p:nvSpPr>
            <p:spPr>
              <a:xfrm>
                <a:off x="6424650" y="5852522"/>
                <a:ext cx="6184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FCFCF833-0F0A-C5C1-4047-605C58939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4650" y="5852522"/>
                <a:ext cx="618480" cy="369332"/>
              </a:xfrm>
              <a:prstGeom prst="rect">
                <a:avLst/>
              </a:prstGeom>
              <a:blipFill>
                <a:blip r:embed="rId14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09CAE3CE-DE12-5E7C-9A67-8084135848C2}"/>
              </a:ext>
            </a:extLst>
          </p:cNvPr>
          <p:cNvSpPr/>
          <p:nvPr/>
        </p:nvSpPr>
        <p:spPr>
          <a:xfrm>
            <a:off x="1210191" y="1970371"/>
            <a:ext cx="1561763" cy="195095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A896BE4C-33DE-C59E-2E1D-4E7B97B72F3D}"/>
              </a:ext>
            </a:extLst>
          </p:cNvPr>
          <p:cNvSpPr/>
          <p:nvPr/>
        </p:nvSpPr>
        <p:spPr>
          <a:xfrm>
            <a:off x="7335558" y="2229324"/>
            <a:ext cx="1561763" cy="80676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F3F2CBDA-9711-DA0B-897D-2E99AF33A8B5}"/>
              </a:ext>
            </a:extLst>
          </p:cNvPr>
          <p:cNvSpPr txBox="1"/>
          <p:nvPr/>
        </p:nvSpPr>
        <p:spPr>
          <a:xfrm>
            <a:off x="1626694" y="3777738"/>
            <a:ext cx="723915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/>
              <a:t>入力</a:t>
            </a:r>
            <a:endParaRPr kumimoji="1" lang="ja-JP" altLang="en-US" sz="2000" dirty="0" err="1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590461EB-02F6-DB3F-EBC0-E39DC50B5DA8}"/>
              </a:ext>
            </a:extLst>
          </p:cNvPr>
          <p:cNvSpPr txBox="1"/>
          <p:nvPr/>
        </p:nvSpPr>
        <p:spPr>
          <a:xfrm>
            <a:off x="7754481" y="2868029"/>
            <a:ext cx="723915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dirty="0"/>
              <a:t>出力</a:t>
            </a:r>
          </a:p>
        </p:txBody>
      </p: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2B754D0E-A6A1-A78A-B614-25D4F00195AA}"/>
              </a:ext>
            </a:extLst>
          </p:cNvPr>
          <p:cNvCxnSpPr>
            <a:cxnSpLocks/>
            <a:stCxn id="52" idx="0"/>
            <a:endCxn id="13" idx="0"/>
          </p:cNvCxnSpPr>
          <p:nvPr/>
        </p:nvCxnSpPr>
        <p:spPr>
          <a:xfrm>
            <a:off x="8120711" y="1409487"/>
            <a:ext cx="0" cy="991847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テキスト ボックス 51">
                <a:extLst>
                  <a:ext uri="{FF2B5EF4-FFF2-40B4-BE49-F238E27FC236}">
                    <a16:creationId xmlns:a16="http://schemas.microsoft.com/office/drawing/2014/main" id="{853DA433-F77C-595C-31CB-9F77C5DD0E06}"/>
                  </a:ext>
                </a:extLst>
              </p:cNvPr>
              <p:cNvSpPr txBox="1"/>
              <p:nvPr/>
            </p:nvSpPr>
            <p:spPr>
              <a:xfrm>
                <a:off x="6503653" y="1409487"/>
                <a:ext cx="3234116" cy="40011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kumimoji="1" lang="ja-JP" altLang="en-US" sz="2000" dirty="0"/>
                  <a:t>番目の</a:t>
                </a:r>
                <a:r>
                  <a:rPr kumimoji="1" lang="ja-JP" altLang="en-US" sz="2000"/>
                  <a:t>単語の</a:t>
                </a:r>
                <a:r>
                  <a:rPr lang="ja-JP" altLang="en-US" sz="2000"/>
                  <a:t>確率分布</a:t>
                </a:r>
                <a:endParaRPr kumimoji="1" lang="ja-JP" altLang="en-US" sz="2000" dirty="0"/>
              </a:p>
            </p:txBody>
          </p:sp>
        </mc:Choice>
        <mc:Fallback xmlns="">
          <p:sp>
            <p:nvSpPr>
              <p:cNvPr id="52" name="テキスト ボックス 51">
                <a:extLst>
                  <a:ext uri="{FF2B5EF4-FFF2-40B4-BE49-F238E27FC236}">
                    <a16:creationId xmlns:a16="http://schemas.microsoft.com/office/drawing/2014/main" id="{853DA433-F77C-595C-31CB-9F77C5DD0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3653" y="1409487"/>
                <a:ext cx="3234116" cy="400110"/>
              </a:xfrm>
              <a:prstGeom prst="rect">
                <a:avLst/>
              </a:prstGeom>
              <a:blipFill>
                <a:blip r:embed="rId15"/>
                <a:stretch>
                  <a:fillRect t="-5882" r="-1167" b="-20588"/>
                </a:stretch>
              </a:blipFill>
              <a:ln w="1905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77B447F-EC34-8843-BAD3-D26F42F931C2}"/>
              </a:ext>
            </a:extLst>
          </p:cNvPr>
          <p:cNvSpPr txBox="1"/>
          <p:nvPr/>
        </p:nvSpPr>
        <p:spPr>
          <a:xfrm>
            <a:off x="8082415" y="3422177"/>
            <a:ext cx="3710163" cy="707886"/>
          </a:xfrm>
          <a:prstGeom prst="rect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/>
              <a:t>確率分布</a:t>
            </a:r>
            <a:r>
              <a:rPr lang="ja-JP" altLang="en-US" sz="2000" dirty="0"/>
              <a:t>から人間が単語を選択</a:t>
            </a:r>
            <a:endParaRPr lang="en-US" altLang="ja-JP" sz="2000" dirty="0"/>
          </a:p>
          <a:p>
            <a:pPr algn="ctr"/>
            <a:r>
              <a:rPr kumimoji="1" lang="en-US" altLang="ja-JP" sz="2000" dirty="0"/>
              <a:t>(</a:t>
            </a:r>
            <a:r>
              <a:rPr kumimoji="1" lang="ja-JP" altLang="en-US" sz="2000" dirty="0"/>
              <a:t>最大値やルーレット選択</a:t>
            </a:r>
            <a:r>
              <a:rPr kumimoji="1" lang="en-US" altLang="ja-JP" sz="2000" dirty="0"/>
              <a:t>)</a:t>
            </a:r>
            <a:endParaRPr kumimoji="1" lang="ja-JP" altLang="en-US" sz="2000" dirty="0" err="1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45D44D83-0331-9654-C380-E3C604A1F51B}"/>
              </a:ext>
            </a:extLst>
          </p:cNvPr>
          <p:cNvCxnSpPr>
            <a:cxnSpLocks/>
            <a:stCxn id="5" idx="0"/>
            <a:endCxn id="29" idx="2"/>
          </p:cNvCxnSpPr>
          <p:nvPr/>
        </p:nvCxnSpPr>
        <p:spPr>
          <a:xfrm flipV="1">
            <a:off x="9937497" y="2811043"/>
            <a:ext cx="1" cy="611134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表 16">
                <a:extLst>
                  <a:ext uri="{FF2B5EF4-FFF2-40B4-BE49-F238E27FC236}">
                    <a16:creationId xmlns:a16="http://schemas.microsoft.com/office/drawing/2014/main" id="{3F408F77-030C-E199-6B35-1F18430137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0956280"/>
                  </p:ext>
                </p:extLst>
              </p:nvPr>
            </p:nvGraphicFramePr>
            <p:xfrm>
              <a:off x="1176137" y="5081319"/>
              <a:ext cx="9839725" cy="1188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67945">
                      <a:extLst>
                        <a:ext uri="{9D8B030D-6E8A-4147-A177-3AD203B41FA5}">
                          <a16:colId xmlns:a16="http://schemas.microsoft.com/office/drawing/2014/main" val="3718475189"/>
                        </a:ext>
                      </a:extLst>
                    </a:gridCol>
                    <a:gridCol w="1967945">
                      <a:extLst>
                        <a:ext uri="{9D8B030D-6E8A-4147-A177-3AD203B41FA5}">
                          <a16:colId xmlns:a16="http://schemas.microsoft.com/office/drawing/2014/main" val="3345653988"/>
                        </a:ext>
                      </a:extLst>
                    </a:gridCol>
                    <a:gridCol w="1967945">
                      <a:extLst>
                        <a:ext uri="{9D8B030D-6E8A-4147-A177-3AD203B41FA5}">
                          <a16:colId xmlns:a16="http://schemas.microsoft.com/office/drawing/2014/main" val="917357622"/>
                        </a:ext>
                      </a:extLst>
                    </a:gridCol>
                    <a:gridCol w="1967945">
                      <a:extLst>
                        <a:ext uri="{9D8B030D-6E8A-4147-A177-3AD203B41FA5}">
                          <a16:colId xmlns:a16="http://schemas.microsoft.com/office/drawing/2014/main" val="2457406018"/>
                        </a:ext>
                      </a:extLst>
                    </a:gridCol>
                    <a:gridCol w="1967945">
                      <a:extLst>
                        <a:ext uri="{9D8B030D-6E8A-4147-A177-3AD203B41FA5}">
                          <a16:colId xmlns:a16="http://schemas.microsoft.com/office/drawing/2014/main" val="268052621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2000"/>
                            <a:t>文章</a:t>
                          </a:r>
                          <a:endParaRPr kumimoji="1" lang="ja-JP" altLang="en-US" sz="2000"/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2000"/>
                            <a:t>一応授業聞いてるフリ</a:t>
                          </a:r>
                          <a:endParaRPr kumimoji="1" lang="ja-JP" altLang="en-US" sz="2000"/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37077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/>
                            <a:t>分かち書き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/>
                            <a:t>一応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/>
                            <a:t>授業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/>
                            <a:t>聞いてる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/>
                            <a:t>フリ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6387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kumimoji="1"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kumimoji="1"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kumimoji="1"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kumimoji="1"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84502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表 16">
                <a:extLst>
                  <a:ext uri="{FF2B5EF4-FFF2-40B4-BE49-F238E27FC236}">
                    <a16:creationId xmlns:a16="http://schemas.microsoft.com/office/drawing/2014/main" id="{3F408F77-030C-E199-6B35-1F18430137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0956280"/>
                  </p:ext>
                </p:extLst>
              </p:nvPr>
            </p:nvGraphicFramePr>
            <p:xfrm>
              <a:off x="1176137" y="5081319"/>
              <a:ext cx="9839725" cy="1188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67945">
                      <a:extLst>
                        <a:ext uri="{9D8B030D-6E8A-4147-A177-3AD203B41FA5}">
                          <a16:colId xmlns:a16="http://schemas.microsoft.com/office/drawing/2014/main" val="3718475189"/>
                        </a:ext>
                      </a:extLst>
                    </a:gridCol>
                    <a:gridCol w="1967945">
                      <a:extLst>
                        <a:ext uri="{9D8B030D-6E8A-4147-A177-3AD203B41FA5}">
                          <a16:colId xmlns:a16="http://schemas.microsoft.com/office/drawing/2014/main" val="3345653988"/>
                        </a:ext>
                      </a:extLst>
                    </a:gridCol>
                    <a:gridCol w="1967945">
                      <a:extLst>
                        <a:ext uri="{9D8B030D-6E8A-4147-A177-3AD203B41FA5}">
                          <a16:colId xmlns:a16="http://schemas.microsoft.com/office/drawing/2014/main" val="917357622"/>
                        </a:ext>
                      </a:extLst>
                    </a:gridCol>
                    <a:gridCol w="1967945">
                      <a:extLst>
                        <a:ext uri="{9D8B030D-6E8A-4147-A177-3AD203B41FA5}">
                          <a16:colId xmlns:a16="http://schemas.microsoft.com/office/drawing/2014/main" val="2457406018"/>
                        </a:ext>
                      </a:extLst>
                    </a:gridCol>
                    <a:gridCol w="1967945">
                      <a:extLst>
                        <a:ext uri="{9D8B030D-6E8A-4147-A177-3AD203B41FA5}">
                          <a16:colId xmlns:a16="http://schemas.microsoft.com/office/drawing/2014/main" val="2680526215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2000"/>
                            <a:t>文章</a:t>
                          </a:r>
                          <a:endParaRPr kumimoji="1" lang="ja-JP" altLang="en-US" sz="2000"/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ja-JP" altLang="en-US" sz="2000"/>
                            <a:t>一応授業聞いてるフリ</a:t>
                          </a:r>
                          <a:endParaRPr kumimoji="1" lang="ja-JP" altLang="en-US" sz="2000"/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370772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/>
                            <a:t>分かち書き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/>
                            <a:t>一応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/>
                            <a:t>授業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/>
                            <a:t>聞いてる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000"/>
                            <a:t>フリ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638757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16"/>
                          <a:stretch>
                            <a:fillRect l="-100645" t="-212903" r="-301935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16"/>
                          <a:stretch>
                            <a:fillRect l="-199359" t="-212903" r="-20000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16"/>
                          <a:stretch>
                            <a:fillRect l="-301290" t="-212903" r="-10129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16"/>
                          <a:stretch>
                            <a:fillRect l="-401290" t="-212903" r="-1290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845024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75751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0C479F-EB81-BDD9-463D-653AFD8B8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Pix2Seq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6679AF-F610-B7BA-2916-68879D26F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B743332-5097-0F97-0F67-AFAEDD833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10</a:t>
            </a:fld>
            <a:endParaRPr kumimoji="1" lang="ja-JP" altLang="en-US"/>
          </a:p>
        </p:txBody>
      </p:sp>
      <p:pic>
        <p:nvPicPr>
          <p:cNvPr id="7" name="図 6" descr="口を開けている赤ちゃん&#10;&#10;自動的に生成された説明">
            <a:extLst>
              <a:ext uri="{FF2B5EF4-FFF2-40B4-BE49-F238E27FC236}">
                <a16:creationId xmlns:a16="http://schemas.microsoft.com/office/drawing/2014/main" id="{1A579251-4993-1007-E186-9FC753C530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706" y="3554075"/>
            <a:ext cx="1054223" cy="1052466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61055ED-5998-E18C-DFD9-70261A4440CE}"/>
                  </a:ext>
                </a:extLst>
              </p:cNvPr>
              <p:cNvSpPr txBox="1"/>
              <p:nvPr/>
            </p:nvSpPr>
            <p:spPr>
              <a:xfrm>
                <a:off x="1778915" y="2902345"/>
                <a:ext cx="6184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61055ED-5998-E18C-DFD9-70261A444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915" y="2902345"/>
                <a:ext cx="618480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台形 8">
                <a:extLst>
                  <a:ext uri="{FF2B5EF4-FFF2-40B4-BE49-F238E27FC236}">
                    <a16:creationId xmlns:a16="http://schemas.microsoft.com/office/drawing/2014/main" id="{E3E10290-1656-C882-678B-0339D1E178E2}"/>
                  </a:ext>
                </a:extLst>
              </p:cNvPr>
              <p:cNvSpPr/>
              <p:nvPr/>
            </p:nvSpPr>
            <p:spPr>
              <a:xfrm rot="5400000">
                <a:off x="4521170" y="3443311"/>
                <a:ext cx="962952" cy="1258309"/>
              </a:xfrm>
              <a:prstGeom prst="trapezoid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𝐸𝑛𝑐𝑜𝑑𝑒𝑟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台形 8">
                <a:extLst>
                  <a:ext uri="{FF2B5EF4-FFF2-40B4-BE49-F238E27FC236}">
                    <a16:creationId xmlns:a16="http://schemas.microsoft.com/office/drawing/2014/main" id="{E3E10290-1656-C882-678B-0339D1E178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521170" y="3443311"/>
                <a:ext cx="962952" cy="1258309"/>
              </a:xfrm>
              <a:prstGeom prst="trapezoid">
                <a:avLst/>
              </a:prstGeom>
              <a:blipFill>
                <a:blip r:embed="rId5"/>
                <a:stretch>
                  <a:fillRect l="-490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D6D52802-6FC4-053E-DA96-E1819593F962}"/>
                  </a:ext>
                </a:extLst>
              </p:cNvPr>
              <p:cNvSpPr/>
              <p:nvPr/>
            </p:nvSpPr>
            <p:spPr>
              <a:xfrm>
                <a:off x="3382258" y="2861968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𝐸𝑚𝑏𝑒𝑑𝑑𝑖𝑛𝑔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D6D52802-6FC4-053E-DA96-E1819593F9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258" y="2861968"/>
                <a:ext cx="1278541" cy="450086"/>
              </a:xfrm>
              <a:prstGeom prst="rect">
                <a:avLst/>
              </a:prstGeom>
              <a:blipFill>
                <a:blip r:embed="rId6"/>
                <a:stretch>
                  <a:fillRect l="-8654" r="-2885" b="-263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2143E321-9813-09CC-17CC-502EDEBF0A61}"/>
                  </a:ext>
                </a:extLst>
              </p:cNvPr>
              <p:cNvSpPr/>
              <p:nvPr/>
            </p:nvSpPr>
            <p:spPr>
              <a:xfrm>
                <a:off x="5458471" y="2861968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𝐿𝑆𝑇𝑀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2143E321-9813-09CC-17CC-502EDEBF0A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471" y="2861968"/>
                <a:ext cx="1278541" cy="450086"/>
              </a:xfrm>
              <a:prstGeom prst="rect">
                <a:avLst/>
              </a:prstGeom>
              <a:blipFill>
                <a:blip r:embed="rId7"/>
                <a:stretch>
                  <a:fillRect b="-263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2329127F-D7C9-A5FA-6BA9-997208AE32B1}"/>
                  </a:ext>
                </a:extLst>
              </p:cNvPr>
              <p:cNvSpPr/>
              <p:nvPr/>
            </p:nvSpPr>
            <p:spPr>
              <a:xfrm>
                <a:off x="7481440" y="3271677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𝐷𝑒𝑛𝑠𝑒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2329127F-D7C9-A5FA-6BA9-997208AE32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440" y="3271677"/>
                <a:ext cx="1278541" cy="4500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B84C65C8-CC66-62D9-E2B6-1130661B79DC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2397395" y="3087011"/>
            <a:ext cx="9848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6036BD57-D057-8963-8B04-0921BD01A222}"/>
              </a:ext>
            </a:extLst>
          </p:cNvPr>
          <p:cNvCxnSpPr>
            <a:cxnSpLocks/>
            <a:stCxn id="7" idx="3"/>
            <a:endCxn id="9" idx="2"/>
          </p:cNvCxnSpPr>
          <p:nvPr/>
        </p:nvCxnSpPr>
        <p:spPr>
          <a:xfrm flipV="1">
            <a:off x="2519929" y="4072466"/>
            <a:ext cx="1853563" cy="78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907C81C1-FF6F-2769-DC0F-0CBEC1E3AF81}"/>
              </a:ext>
            </a:extLst>
          </p:cNvPr>
          <p:cNvCxnSpPr>
            <a:cxnSpLocks/>
            <a:stCxn id="9" idx="0"/>
            <a:endCxn id="13" idx="1"/>
          </p:cNvCxnSpPr>
          <p:nvPr/>
        </p:nvCxnSpPr>
        <p:spPr>
          <a:xfrm flipV="1">
            <a:off x="5631801" y="3496720"/>
            <a:ext cx="1849639" cy="5757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AB5B9BF4-432F-1AC3-2639-200598C72A09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4660799" y="3087011"/>
            <a:ext cx="79767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21427FB2-2110-6345-4693-D674D83C2333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6737012" y="3087011"/>
            <a:ext cx="744428" cy="4097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F85E7867-E30D-27F6-016D-BFEFA14BA714}"/>
                  </a:ext>
                </a:extLst>
              </p:cNvPr>
              <p:cNvSpPr txBox="1"/>
              <p:nvPr/>
            </p:nvSpPr>
            <p:spPr>
              <a:xfrm>
                <a:off x="9557652" y="3312054"/>
                <a:ext cx="75969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F85E7867-E30D-27F6-016D-BFEFA14BA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7652" y="3312054"/>
                <a:ext cx="759691" cy="369332"/>
              </a:xfrm>
              <a:prstGeom prst="rect">
                <a:avLst/>
              </a:prstGeom>
              <a:blipFill>
                <a:blip r:embed="rId9"/>
                <a:stretch>
                  <a:fillRect l="-6557" b="-1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80C0F05A-AB8A-1080-DCE1-CEA38E44B31E}"/>
              </a:ext>
            </a:extLst>
          </p:cNvPr>
          <p:cNvCxnSpPr>
            <a:cxnSpLocks/>
            <a:stCxn id="13" idx="3"/>
            <a:endCxn id="29" idx="1"/>
          </p:cNvCxnSpPr>
          <p:nvPr/>
        </p:nvCxnSpPr>
        <p:spPr>
          <a:xfrm>
            <a:off x="8759981" y="3496720"/>
            <a:ext cx="797671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ABB5BFAB-FBE1-E379-F71F-8D2B70536B0B}"/>
                  </a:ext>
                </a:extLst>
              </p:cNvPr>
              <p:cNvSpPr txBox="1"/>
              <p:nvPr/>
            </p:nvSpPr>
            <p:spPr>
              <a:xfrm>
                <a:off x="1807110" y="3895642"/>
                <a:ext cx="37141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ja-JP" sz="2400" i="0" smtClean="0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ABB5BFAB-FBE1-E379-F71F-8D2B70536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110" y="3895642"/>
                <a:ext cx="371414" cy="369332"/>
              </a:xfrm>
              <a:prstGeom prst="rect">
                <a:avLst/>
              </a:prstGeom>
              <a:blipFill>
                <a:blip r:embed="rId10"/>
                <a:stretch>
                  <a:fillRect l="-26667" t="-10000" b="-3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F3F2CBDA-9711-DA0B-897D-2E99AF33A8B5}"/>
              </a:ext>
            </a:extLst>
          </p:cNvPr>
          <p:cNvSpPr txBox="1"/>
          <p:nvPr/>
        </p:nvSpPr>
        <p:spPr>
          <a:xfrm>
            <a:off x="1626694" y="4648081"/>
            <a:ext cx="723915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/>
              <a:t>入力</a:t>
            </a:r>
            <a:endParaRPr kumimoji="1" lang="ja-JP" altLang="en-US" sz="2000" dirty="0" err="1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590461EB-02F6-DB3F-EBC0-E39DC50B5DA8}"/>
              </a:ext>
            </a:extLst>
          </p:cNvPr>
          <p:cNvSpPr txBox="1"/>
          <p:nvPr/>
        </p:nvSpPr>
        <p:spPr>
          <a:xfrm>
            <a:off x="9575539" y="3753350"/>
            <a:ext cx="723915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/>
              <a:t>出力</a:t>
            </a:r>
            <a:endParaRPr kumimoji="1" lang="ja-JP" altLang="en-US" sz="2000" dirty="0" err="1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30625F6-DDC0-0217-2781-73FEF9173F02}"/>
              </a:ext>
            </a:extLst>
          </p:cNvPr>
          <p:cNvSpPr txBox="1"/>
          <p:nvPr/>
        </p:nvSpPr>
        <p:spPr>
          <a:xfrm>
            <a:off x="2578649" y="2202663"/>
            <a:ext cx="2885760" cy="400110"/>
          </a:xfrm>
          <a:prstGeom prst="rect">
            <a:avLst/>
          </a:prstGeom>
          <a:solidFill>
            <a:schemeClr val="bg1"/>
          </a:solidFill>
          <a:ln w="19050">
            <a:solidFill>
              <a:srgbClr val="5BD4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dirty="0"/>
              <a:t>埋め込みベクトルに変換</a:t>
            </a:r>
            <a:endParaRPr kumimoji="1" lang="ja-JP" altLang="en-US" sz="2000" dirty="0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05D7D52E-BA43-2958-D1B8-236FAF5DBE83}"/>
              </a:ext>
            </a:extLst>
          </p:cNvPr>
          <p:cNvCxnSpPr>
            <a:cxnSpLocks/>
            <a:stCxn id="17" idx="2"/>
            <a:endCxn id="11" idx="0"/>
          </p:cNvCxnSpPr>
          <p:nvPr/>
        </p:nvCxnSpPr>
        <p:spPr>
          <a:xfrm>
            <a:off x="4021529" y="2602773"/>
            <a:ext cx="0" cy="259195"/>
          </a:xfrm>
          <a:prstGeom prst="straightConnector1">
            <a:avLst/>
          </a:prstGeom>
          <a:ln w="19050">
            <a:solidFill>
              <a:srgbClr val="5BD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B5CA64E5-A49F-CA72-2122-83D4BCA79693}"/>
              </a:ext>
            </a:extLst>
          </p:cNvPr>
          <p:cNvCxnSpPr>
            <a:cxnSpLocks/>
            <a:stCxn id="27" idx="0"/>
            <a:endCxn id="9" idx="3"/>
          </p:cNvCxnSpPr>
          <p:nvPr/>
        </p:nvCxnSpPr>
        <p:spPr>
          <a:xfrm flipV="1">
            <a:off x="5002646" y="4433573"/>
            <a:ext cx="0" cy="32428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9409D4D-05BE-77B4-7C64-ECC614A10806}"/>
              </a:ext>
            </a:extLst>
          </p:cNvPr>
          <p:cNvSpPr txBox="1"/>
          <p:nvPr/>
        </p:nvSpPr>
        <p:spPr>
          <a:xfrm>
            <a:off x="3891295" y="4757854"/>
            <a:ext cx="2222702" cy="40011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/>
              <a:t>画像の特徴を抽出</a:t>
            </a:r>
            <a:endParaRPr kumimoji="1" lang="ja-JP" altLang="en-US" sz="2000" dirty="0" err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AB2E7211-57E3-BCE0-9549-B729175CD6B2}"/>
                  </a:ext>
                </a:extLst>
              </p:cNvPr>
              <p:cNvSpPr txBox="1"/>
              <p:nvPr/>
            </p:nvSpPr>
            <p:spPr>
              <a:xfrm>
                <a:off x="5282107" y="1717947"/>
                <a:ext cx="1627785" cy="40011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D883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sz="2000" i="1" smtClean="0">
                          <a:latin typeface="Cambria Math" panose="02040503050406030204" pitchFamily="18" charset="0"/>
                        </a:rPr>
                        <m:t>時系列</m:t>
                      </m:r>
                      <m:r>
                        <a:rPr lang="ja-JP" altLang="en-US" sz="2000" i="1">
                          <a:latin typeface="Cambria Math" panose="02040503050406030204" pitchFamily="18" charset="0"/>
                        </a:rPr>
                        <m:t>処理</m:t>
                      </m:r>
                    </m:oMath>
                  </m:oMathPara>
                </a14:m>
                <a:endParaRPr kumimoji="1" lang="ja-JP" altLang="en-US" sz="2000" dirty="0" err="1"/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AB2E7211-57E3-BCE0-9549-B729175CD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2107" y="1717947"/>
                <a:ext cx="1627785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9050">
                <a:solidFill>
                  <a:srgbClr val="D883FF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F045B286-6F01-71F4-B5E1-18456F61AB53}"/>
              </a:ext>
            </a:extLst>
          </p:cNvPr>
          <p:cNvCxnSpPr>
            <a:cxnSpLocks/>
            <a:stCxn id="34" idx="2"/>
            <a:endCxn id="12" idx="0"/>
          </p:cNvCxnSpPr>
          <p:nvPr/>
        </p:nvCxnSpPr>
        <p:spPr>
          <a:xfrm>
            <a:off x="6096000" y="2118057"/>
            <a:ext cx="1742" cy="743911"/>
          </a:xfrm>
          <a:prstGeom prst="straightConnector1">
            <a:avLst/>
          </a:prstGeom>
          <a:ln w="19050">
            <a:solidFill>
              <a:srgbClr val="D883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757A60BC-C02D-4284-36AD-C0844488931D}"/>
              </a:ext>
            </a:extLst>
          </p:cNvPr>
          <p:cNvCxnSpPr>
            <a:cxnSpLocks/>
            <a:stCxn id="6" idx="0"/>
          </p:cNvCxnSpPr>
          <p:nvPr/>
        </p:nvCxnSpPr>
        <p:spPr>
          <a:xfrm>
            <a:off x="8120711" y="2201568"/>
            <a:ext cx="0" cy="991847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EA9F82F1-15F4-8D34-A4CE-572B76C23D52}"/>
                  </a:ext>
                </a:extLst>
              </p:cNvPr>
              <p:cNvSpPr txBox="1"/>
              <p:nvPr/>
            </p:nvSpPr>
            <p:spPr>
              <a:xfrm>
                <a:off x="6503653" y="2201568"/>
                <a:ext cx="3234116" cy="40011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kumimoji="1" lang="ja-JP" altLang="en-US" sz="2000" dirty="0"/>
                  <a:t>番目の</a:t>
                </a:r>
                <a:r>
                  <a:rPr kumimoji="1" lang="ja-JP" altLang="en-US" sz="2000"/>
                  <a:t>単語の</a:t>
                </a:r>
                <a:r>
                  <a:rPr lang="ja-JP" altLang="en-US" sz="2000"/>
                  <a:t>確率分布</a:t>
                </a:r>
                <a:endParaRPr kumimoji="1" lang="ja-JP" altLang="en-US" sz="20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EA9F82F1-15F4-8D34-A4CE-572B76C23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3653" y="2201568"/>
                <a:ext cx="3234116" cy="400110"/>
              </a:xfrm>
              <a:prstGeom prst="rect">
                <a:avLst/>
              </a:prstGeom>
              <a:blipFill>
                <a:blip r:embed="rId12"/>
                <a:stretch>
                  <a:fillRect t="-5882" r="-1167" b="-23529"/>
                </a:stretch>
              </a:blipFill>
              <a:ln w="1905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0948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0C479F-EB81-BDD9-463D-653AFD8B8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Pix2Seq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B743332-5097-0F97-0F67-AFAEDD833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11</a:t>
            </a:fld>
            <a:endParaRPr kumimoji="1" lang="ja-JP" altLang="en-US"/>
          </a:p>
        </p:txBody>
      </p:sp>
      <p:pic>
        <p:nvPicPr>
          <p:cNvPr id="7" name="図 6" descr="口を開けている赤ちゃん&#10;&#10;自動的に生成された説明">
            <a:extLst>
              <a:ext uri="{FF2B5EF4-FFF2-40B4-BE49-F238E27FC236}">
                <a16:creationId xmlns:a16="http://schemas.microsoft.com/office/drawing/2014/main" id="{1A579251-4993-1007-E186-9FC753C530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405" y="1728045"/>
            <a:ext cx="926699" cy="925155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61055ED-5998-E18C-DFD9-70261A4440CE}"/>
                  </a:ext>
                </a:extLst>
              </p:cNvPr>
              <p:cNvSpPr txBox="1"/>
              <p:nvPr/>
            </p:nvSpPr>
            <p:spPr>
              <a:xfrm>
                <a:off x="1778915" y="1020502"/>
                <a:ext cx="6184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61055ED-5998-E18C-DFD9-70261A444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915" y="1020502"/>
                <a:ext cx="618480" cy="369332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台形 8">
                <a:extLst>
                  <a:ext uri="{FF2B5EF4-FFF2-40B4-BE49-F238E27FC236}">
                    <a16:creationId xmlns:a16="http://schemas.microsoft.com/office/drawing/2014/main" id="{E3E10290-1656-C882-678B-0339D1E178E2}"/>
                  </a:ext>
                </a:extLst>
              </p:cNvPr>
              <p:cNvSpPr/>
              <p:nvPr/>
            </p:nvSpPr>
            <p:spPr>
              <a:xfrm rot="5400000">
                <a:off x="4521170" y="1561468"/>
                <a:ext cx="962952" cy="1258309"/>
              </a:xfrm>
              <a:prstGeom prst="trapezoid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𝐸𝑛𝑐𝑜𝑑𝑒𝑟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台形 8">
                <a:extLst>
                  <a:ext uri="{FF2B5EF4-FFF2-40B4-BE49-F238E27FC236}">
                    <a16:creationId xmlns:a16="http://schemas.microsoft.com/office/drawing/2014/main" id="{E3E10290-1656-C882-678B-0339D1E178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521170" y="1561468"/>
                <a:ext cx="962952" cy="1258309"/>
              </a:xfrm>
              <a:prstGeom prst="trapezoid">
                <a:avLst/>
              </a:prstGeom>
              <a:blipFill>
                <a:blip r:embed="rId5"/>
                <a:stretch>
                  <a:fillRect l="-490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D6D52802-6FC4-053E-DA96-E1819593F962}"/>
                  </a:ext>
                </a:extLst>
              </p:cNvPr>
              <p:cNvSpPr/>
              <p:nvPr/>
            </p:nvSpPr>
            <p:spPr>
              <a:xfrm>
                <a:off x="3382258" y="980125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𝐸𝑚𝑏𝑒𝑑𝑑𝑖𝑛𝑔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D6D52802-6FC4-053E-DA96-E1819593F9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258" y="980125"/>
                <a:ext cx="1278541" cy="450086"/>
              </a:xfrm>
              <a:prstGeom prst="rect">
                <a:avLst/>
              </a:prstGeom>
              <a:blipFill>
                <a:blip r:embed="rId6"/>
                <a:stretch>
                  <a:fillRect l="-8654" r="-2885" b="-263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2143E321-9813-09CC-17CC-502EDEBF0A61}"/>
                  </a:ext>
                </a:extLst>
              </p:cNvPr>
              <p:cNvSpPr/>
              <p:nvPr/>
            </p:nvSpPr>
            <p:spPr>
              <a:xfrm>
                <a:off x="5458471" y="980125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𝐿𝑆𝑇𝑀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2143E321-9813-09CC-17CC-502EDEBF0A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471" y="980125"/>
                <a:ext cx="1278541" cy="450086"/>
              </a:xfrm>
              <a:prstGeom prst="rect">
                <a:avLst/>
              </a:prstGeom>
              <a:blipFill>
                <a:blip r:embed="rId7"/>
                <a:stretch>
                  <a:fillRect b="-263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2329127F-D7C9-A5FA-6BA9-997208AE32B1}"/>
                  </a:ext>
                </a:extLst>
              </p:cNvPr>
              <p:cNvSpPr/>
              <p:nvPr/>
            </p:nvSpPr>
            <p:spPr>
              <a:xfrm>
                <a:off x="7481440" y="1389834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𝐷𝑒𝑛𝑠𝑒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2329127F-D7C9-A5FA-6BA9-997208AE32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440" y="1389834"/>
                <a:ext cx="1278541" cy="450086"/>
              </a:xfrm>
              <a:prstGeom prst="rect">
                <a:avLst/>
              </a:prstGeom>
              <a:blipFill>
                <a:blip r:embed="rId8"/>
                <a:stretch>
                  <a:fillRect b="-263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B84C65C8-CC66-62D9-E2B6-1130661B79DC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2397395" y="1205168"/>
            <a:ext cx="9848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6036BD57-D057-8963-8B04-0921BD01A222}"/>
              </a:ext>
            </a:extLst>
          </p:cNvPr>
          <p:cNvCxnSpPr>
            <a:cxnSpLocks/>
            <a:stCxn id="7" idx="3"/>
            <a:endCxn id="9" idx="2"/>
          </p:cNvCxnSpPr>
          <p:nvPr/>
        </p:nvCxnSpPr>
        <p:spPr>
          <a:xfrm>
            <a:off x="2392104" y="2190623"/>
            <a:ext cx="198138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907C81C1-FF6F-2769-DC0F-0CBEC1E3AF81}"/>
              </a:ext>
            </a:extLst>
          </p:cNvPr>
          <p:cNvCxnSpPr>
            <a:cxnSpLocks/>
            <a:stCxn id="9" idx="0"/>
            <a:endCxn id="13" idx="1"/>
          </p:cNvCxnSpPr>
          <p:nvPr/>
        </p:nvCxnSpPr>
        <p:spPr>
          <a:xfrm flipV="1">
            <a:off x="5631801" y="1614877"/>
            <a:ext cx="1849639" cy="5757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AB5B9BF4-432F-1AC3-2639-200598C72A09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4660799" y="1205168"/>
            <a:ext cx="79767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21427FB2-2110-6345-4693-D674D83C2333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6737012" y="1205168"/>
            <a:ext cx="744428" cy="4097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F85E7867-E30D-27F6-016D-BFEFA14BA714}"/>
                  </a:ext>
                </a:extLst>
              </p:cNvPr>
              <p:cNvSpPr txBox="1"/>
              <p:nvPr/>
            </p:nvSpPr>
            <p:spPr>
              <a:xfrm>
                <a:off x="9557652" y="1430211"/>
                <a:ext cx="75969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F85E7867-E30D-27F6-016D-BFEFA14BA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7652" y="1430211"/>
                <a:ext cx="759691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80C0F05A-AB8A-1080-DCE1-CEA38E44B31E}"/>
              </a:ext>
            </a:extLst>
          </p:cNvPr>
          <p:cNvCxnSpPr>
            <a:cxnSpLocks/>
            <a:stCxn id="13" idx="3"/>
            <a:endCxn id="29" idx="1"/>
          </p:cNvCxnSpPr>
          <p:nvPr/>
        </p:nvCxnSpPr>
        <p:spPr>
          <a:xfrm>
            <a:off x="8759981" y="1614877"/>
            <a:ext cx="797671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ABB5BFAB-FBE1-E379-F71F-8D2B70536B0B}"/>
                  </a:ext>
                </a:extLst>
              </p:cNvPr>
              <p:cNvSpPr txBox="1"/>
              <p:nvPr/>
            </p:nvSpPr>
            <p:spPr>
              <a:xfrm>
                <a:off x="1740456" y="2005956"/>
                <a:ext cx="37141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ja-JP" sz="2400" i="0" smtClean="0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ABB5BFAB-FBE1-E379-F71F-8D2B70536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0456" y="2005956"/>
                <a:ext cx="371414" cy="369332"/>
              </a:xfrm>
              <a:prstGeom prst="rect">
                <a:avLst/>
              </a:prstGeom>
              <a:blipFill>
                <a:blip r:embed="rId10"/>
                <a:stretch>
                  <a:fillRect l="-26667" t="-6452" b="-322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図 13" descr="口を開けている赤ちゃん&#10;&#10;自動的に生成された説明">
            <a:extLst>
              <a:ext uri="{FF2B5EF4-FFF2-40B4-BE49-F238E27FC236}">
                <a16:creationId xmlns:a16="http://schemas.microsoft.com/office/drawing/2014/main" id="{313131E5-1775-3810-2636-73860DCFD5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405" y="3610474"/>
            <a:ext cx="926699" cy="925155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7FA67BEA-90D9-47D1-80DD-DEDA571FED93}"/>
                  </a:ext>
                </a:extLst>
              </p:cNvPr>
              <p:cNvSpPr txBox="1"/>
              <p:nvPr/>
            </p:nvSpPr>
            <p:spPr>
              <a:xfrm>
                <a:off x="1778915" y="2902931"/>
                <a:ext cx="6184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7FA67BEA-90D9-47D1-80DD-DEDA571FE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915" y="2902931"/>
                <a:ext cx="618480" cy="369332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台形 17">
                <a:extLst>
                  <a:ext uri="{FF2B5EF4-FFF2-40B4-BE49-F238E27FC236}">
                    <a16:creationId xmlns:a16="http://schemas.microsoft.com/office/drawing/2014/main" id="{C37B8B6F-497F-23A7-ED96-76B53EAE3F34}"/>
                  </a:ext>
                </a:extLst>
              </p:cNvPr>
              <p:cNvSpPr/>
              <p:nvPr/>
            </p:nvSpPr>
            <p:spPr>
              <a:xfrm rot="5400000">
                <a:off x="4521170" y="3443897"/>
                <a:ext cx="962952" cy="1258309"/>
              </a:xfrm>
              <a:prstGeom prst="trapezoid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𝐸𝑛𝑐𝑜𝑑𝑒𝑟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台形 17">
                <a:extLst>
                  <a:ext uri="{FF2B5EF4-FFF2-40B4-BE49-F238E27FC236}">
                    <a16:creationId xmlns:a16="http://schemas.microsoft.com/office/drawing/2014/main" id="{C37B8B6F-497F-23A7-ED96-76B53EAE3F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521170" y="3443897"/>
                <a:ext cx="962952" cy="1258309"/>
              </a:xfrm>
              <a:prstGeom prst="trapezoid">
                <a:avLst/>
              </a:prstGeom>
              <a:blipFill>
                <a:blip r:embed="rId12"/>
                <a:stretch>
                  <a:fillRect l="-490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正方形/長方形 18">
                <a:extLst>
                  <a:ext uri="{FF2B5EF4-FFF2-40B4-BE49-F238E27FC236}">
                    <a16:creationId xmlns:a16="http://schemas.microsoft.com/office/drawing/2014/main" id="{2D7C8F16-742E-E08B-1487-87B8DD8FE4D2}"/>
                  </a:ext>
                </a:extLst>
              </p:cNvPr>
              <p:cNvSpPr/>
              <p:nvPr/>
            </p:nvSpPr>
            <p:spPr>
              <a:xfrm>
                <a:off x="3382258" y="2862554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𝐸𝑚𝑏𝑒𝑑𝑑𝑖𝑛𝑔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正方形/長方形 18">
                <a:extLst>
                  <a:ext uri="{FF2B5EF4-FFF2-40B4-BE49-F238E27FC236}">
                    <a16:creationId xmlns:a16="http://schemas.microsoft.com/office/drawing/2014/main" id="{2D7C8F16-742E-E08B-1487-87B8DD8FE4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258" y="2862554"/>
                <a:ext cx="1278541" cy="450086"/>
              </a:xfrm>
              <a:prstGeom prst="rect">
                <a:avLst/>
              </a:prstGeom>
              <a:blipFill>
                <a:blip r:embed="rId13"/>
                <a:stretch>
                  <a:fillRect l="-8654" r="-2885" b="-270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正方形/長方形 20">
                <a:extLst>
                  <a:ext uri="{FF2B5EF4-FFF2-40B4-BE49-F238E27FC236}">
                    <a16:creationId xmlns:a16="http://schemas.microsoft.com/office/drawing/2014/main" id="{AB1605A4-ABBF-C868-1841-346545CA17D6}"/>
                  </a:ext>
                </a:extLst>
              </p:cNvPr>
              <p:cNvSpPr/>
              <p:nvPr/>
            </p:nvSpPr>
            <p:spPr>
              <a:xfrm>
                <a:off x="5458471" y="2862554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𝐿𝑆𝑇𝑀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正方形/長方形 20">
                <a:extLst>
                  <a:ext uri="{FF2B5EF4-FFF2-40B4-BE49-F238E27FC236}">
                    <a16:creationId xmlns:a16="http://schemas.microsoft.com/office/drawing/2014/main" id="{AB1605A4-ABBF-C868-1841-346545CA17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471" y="2862554"/>
                <a:ext cx="1278541" cy="450086"/>
              </a:xfrm>
              <a:prstGeom prst="rect">
                <a:avLst/>
              </a:prstGeom>
              <a:blipFill>
                <a:blip r:embed="rId14"/>
                <a:stretch>
                  <a:fillRect b="-270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正方形/長方形 21">
                <a:extLst>
                  <a:ext uri="{FF2B5EF4-FFF2-40B4-BE49-F238E27FC236}">
                    <a16:creationId xmlns:a16="http://schemas.microsoft.com/office/drawing/2014/main" id="{20F92D7F-A482-CAB7-D51D-98931E770144}"/>
                  </a:ext>
                </a:extLst>
              </p:cNvPr>
              <p:cNvSpPr/>
              <p:nvPr/>
            </p:nvSpPr>
            <p:spPr>
              <a:xfrm>
                <a:off x="7481440" y="3272263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𝐷𝑒𝑛𝑠𝑒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正方形/長方形 21">
                <a:extLst>
                  <a:ext uri="{FF2B5EF4-FFF2-40B4-BE49-F238E27FC236}">
                    <a16:creationId xmlns:a16="http://schemas.microsoft.com/office/drawing/2014/main" id="{20F92D7F-A482-CAB7-D51D-98931E7701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440" y="3272263"/>
                <a:ext cx="1278541" cy="45008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5709961E-BF24-2AE2-99FB-C80307E1C77F}"/>
              </a:ext>
            </a:extLst>
          </p:cNvPr>
          <p:cNvCxnSpPr>
            <a:stCxn id="17" idx="3"/>
            <a:endCxn id="19" idx="1"/>
          </p:cNvCxnSpPr>
          <p:nvPr/>
        </p:nvCxnSpPr>
        <p:spPr>
          <a:xfrm>
            <a:off x="2397395" y="3087597"/>
            <a:ext cx="9848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31EDE60B-3104-748B-A55D-15DA987AA63A}"/>
              </a:ext>
            </a:extLst>
          </p:cNvPr>
          <p:cNvCxnSpPr>
            <a:cxnSpLocks/>
            <a:stCxn id="14" idx="3"/>
            <a:endCxn id="18" idx="2"/>
          </p:cNvCxnSpPr>
          <p:nvPr/>
        </p:nvCxnSpPr>
        <p:spPr>
          <a:xfrm>
            <a:off x="2392104" y="4073052"/>
            <a:ext cx="198138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9E360BC0-35CA-3D76-C727-32EDBE5AE78A}"/>
              </a:ext>
            </a:extLst>
          </p:cNvPr>
          <p:cNvCxnSpPr>
            <a:cxnSpLocks/>
            <a:stCxn id="18" idx="0"/>
            <a:endCxn id="22" idx="1"/>
          </p:cNvCxnSpPr>
          <p:nvPr/>
        </p:nvCxnSpPr>
        <p:spPr>
          <a:xfrm flipV="1">
            <a:off x="5631801" y="3497306"/>
            <a:ext cx="1849639" cy="5757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2A6F78A5-6162-2623-3DC2-498F6F134C33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4660799" y="3087597"/>
            <a:ext cx="79767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9491A532-7D15-01A9-1D74-1B257F9B14E2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>
            <a:off x="6737012" y="3087597"/>
            <a:ext cx="744428" cy="4097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AA118367-31BF-C6FF-410F-541298FC048F}"/>
                  </a:ext>
                </a:extLst>
              </p:cNvPr>
              <p:cNvSpPr txBox="1"/>
              <p:nvPr/>
            </p:nvSpPr>
            <p:spPr>
              <a:xfrm>
                <a:off x="9557652" y="3312640"/>
                <a:ext cx="75969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AA118367-31BF-C6FF-410F-541298FC0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7652" y="3312640"/>
                <a:ext cx="759691" cy="369332"/>
              </a:xfrm>
              <a:prstGeom prst="rect">
                <a:avLst/>
              </a:prstGeom>
              <a:blipFill>
                <a:blip r:embed="rId1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DF1AA2F8-4342-23ED-3940-6638813F817F}"/>
              </a:ext>
            </a:extLst>
          </p:cNvPr>
          <p:cNvCxnSpPr>
            <a:cxnSpLocks/>
            <a:stCxn id="22" idx="3"/>
            <a:endCxn id="32" idx="1"/>
          </p:cNvCxnSpPr>
          <p:nvPr/>
        </p:nvCxnSpPr>
        <p:spPr>
          <a:xfrm>
            <a:off x="8759981" y="3497306"/>
            <a:ext cx="797671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8BE4B9AD-BA80-090A-23FD-225E2DFF6BDB}"/>
                  </a:ext>
                </a:extLst>
              </p:cNvPr>
              <p:cNvSpPr txBox="1"/>
              <p:nvPr/>
            </p:nvSpPr>
            <p:spPr>
              <a:xfrm>
                <a:off x="1746355" y="3888361"/>
                <a:ext cx="37141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ja-JP" sz="2400" i="0" smtClean="0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8BE4B9AD-BA80-090A-23FD-225E2DFF6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6355" y="3888361"/>
                <a:ext cx="371414" cy="369332"/>
              </a:xfrm>
              <a:prstGeom prst="rect">
                <a:avLst/>
              </a:prstGeom>
              <a:blipFill>
                <a:blip r:embed="rId17"/>
                <a:stretch>
                  <a:fillRect l="-26667" t="-10000" b="-3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8" name="図 57" descr="口を開けている赤ちゃん&#10;&#10;自動的に生成された説明">
            <a:extLst>
              <a:ext uri="{FF2B5EF4-FFF2-40B4-BE49-F238E27FC236}">
                <a16:creationId xmlns:a16="http://schemas.microsoft.com/office/drawing/2014/main" id="{4F287083-D0BE-8227-7306-9A97DF4938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663" y="5540957"/>
            <a:ext cx="926699" cy="925155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9" name="テキスト ボックス 58">
                <a:extLst>
                  <a:ext uri="{FF2B5EF4-FFF2-40B4-BE49-F238E27FC236}">
                    <a16:creationId xmlns:a16="http://schemas.microsoft.com/office/drawing/2014/main" id="{572D5685-9935-2170-D8E7-DC3A0B3D0FEC}"/>
                  </a:ext>
                </a:extLst>
              </p:cNvPr>
              <p:cNvSpPr txBox="1"/>
              <p:nvPr/>
            </p:nvSpPr>
            <p:spPr>
              <a:xfrm>
                <a:off x="1777173" y="4833414"/>
                <a:ext cx="6184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59" name="テキスト ボックス 58">
                <a:extLst>
                  <a:ext uri="{FF2B5EF4-FFF2-40B4-BE49-F238E27FC236}">
                    <a16:creationId xmlns:a16="http://schemas.microsoft.com/office/drawing/2014/main" id="{572D5685-9935-2170-D8E7-DC3A0B3D0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7173" y="4833414"/>
                <a:ext cx="618480" cy="369332"/>
              </a:xfrm>
              <a:prstGeom prst="rect">
                <a:avLst/>
              </a:prstGeom>
              <a:blipFill>
                <a:blip r:embed="rId1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台形 59">
                <a:extLst>
                  <a:ext uri="{FF2B5EF4-FFF2-40B4-BE49-F238E27FC236}">
                    <a16:creationId xmlns:a16="http://schemas.microsoft.com/office/drawing/2014/main" id="{EFE6B5EC-F1DC-7837-9D69-93215BC317D9}"/>
                  </a:ext>
                </a:extLst>
              </p:cNvPr>
              <p:cNvSpPr/>
              <p:nvPr/>
            </p:nvSpPr>
            <p:spPr>
              <a:xfrm rot="5400000">
                <a:off x="4519428" y="5374380"/>
                <a:ext cx="962952" cy="1258309"/>
              </a:xfrm>
              <a:prstGeom prst="trapezoid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𝐸𝑛𝑐𝑜𝑑𝑒𝑟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台形 59">
                <a:extLst>
                  <a:ext uri="{FF2B5EF4-FFF2-40B4-BE49-F238E27FC236}">
                    <a16:creationId xmlns:a16="http://schemas.microsoft.com/office/drawing/2014/main" id="{EFE6B5EC-F1DC-7837-9D69-93215BC317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519428" y="5374380"/>
                <a:ext cx="962952" cy="1258309"/>
              </a:xfrm>
              <a:prstGeom prst="trapezoid">
                <a:avLst/>
              </a:prstGeom>
              <a:blipFill>
                <a:blip r:embed="rId19"/>
                <a:stretch>
                  <a:fillRect l="-490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正方形/長方形 60">
                <a:extLst>
                  <a:ext uri="{FF2B5EF4-FFF2-40B4-BE49-F238E27FC236}">
                    <a16:creationId xmlns:a16="http://schemas.microsoft.com/office/drawing/2014/main" id="{A06EC04A-D99B-ACBE-2B73-380371F100B3}"/>
                  </a:ext>
                </a:extLst>
              </p:cNvPr>
              <p:cNvSpPr/>
              <p:nvPr/>
            </p:nvSpPr>
            <p:spPr>
              <a:xfrm>
                <a:off x="3380516" y="4793037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𝐸𝑚𝑏𝑒𝑑𝑑𝑖𝑛𝑔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正方形/長方形 60">
                <a:extLst>
                  <a:ext uri="{FF2B5EF4-FFF2-40B4-BE49-F238E27FC236}">
                    <a16:creationId xmlns:a16="http://schemas.microsoft.com/office/drawing/2014/main" id="{A06EC04A-D99B-ACBE-2B73-380371F100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0516" y="4793037"/>
                <a:ext cx="1278541" cy="450086"/>
              </a:xfrm>
              <a:prstGeom prst="rect">
                <a:avLst/>
              </a:prstGeom>
              <a:blipFill>
                <a:blip r:embed="rId20"/>
                <a:stretch>
                  <a:fillRect l="-9709" r="-3883" b="-263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正方形/長方形 61">
                <a:extLst>
                  <a:ext uri="{FF2B5EF4-FFF2-40B4-BE49-F238E27FC236}">
                    <a16:creationId xmlns:a16="http://schemas.microsoft.com/office/drawing/2014/main" id="{EC9744FE-78CC-21E1-5348-F78C7BA4B7BC}"/>
                  </a:ext>
                </a:extLst>
              </p:cNvPr>
              <p:cNvSpPr/>
              <p:nvPr/>
            </p:nvSpPr>
            <p:spPr>
              <a:xfrm>
                <a:off x="5456729" y="4793037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𝐿𝑆𝑇𝑀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正方形/長方形 61">
                <a:extLst>
                  <a:ext uri="{FF2B5EF4-FFF2-40B4-BE49-F238E27FC236}">
                    <a16:creationId xmlns:a16="http://schemas.microsoft.com/office/drawing/2014/main" id="{EC9744FE-78CC-21E1-5348-F78C7BA4B7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729" y="4793037"/>
                <a:ext cx="1278541" cy="450086"/>
              </a:xfrm>
              <a:prstGeom prst="rect">
                <a:avLst/>
              </a:prstGeom>
              <a:blipFill>
                <a:blip r:embed="rId21"/>
                <a:stretch>
                  <a:fillRect b="-263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正方形/長方形 62">
                <a:extLst>
                  <a:ext uri="{FF2B5EF4-FFF2-40B4-BE49-F238E27FC236}">
                    <a16:creationId xmlns:a16="http://schemas.microsoft.com/office/drawing/2014/main" id="{76A6EA30-B34C-8A0E-4413-82AD71FE7443}"/>
                  </a:ext>
                </a:extLst>
              </p:cNvPr>
              <p:cNvSpPr/>
              <p:nvPr/>
            </p:nvSpPr>
            <p:spPr>
              <a:xfrm>
                <a:off x="7479698" y="5202746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𝐷𝑒𝑛𝑠𝑒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正方形/長方形 62">
                <a:extLst>
                  <a:ext uri="{FF2B5EF4-FFF2-40B4-BE49-F238E27FC236}">
                    <a16:creationId xmlns:a16="http://schemas.microsoft.com/office/drawing/2014/main" id="{76A6EA30-B34C-8A0E-4413-82AD71FE74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9698" y="5202746"/>
                <a:ext cx="1278541" cy="450086"/>
              </a:xfrm>
              <a:prstGeom prst="rect">
                <a:avLst/>
              </a:prstGeom>
              <a:blipFill>
                <a:blip r:embed="rId22"/>
                <a:stretch>
                  <a:fillRect b="-263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直線矢印コネクタ 63">
            <a:extLst>
              <a:ext uri="{FF2B5EF4-FFF2-40B4-BE49-F238E27FC236}">
                <a16:creationId xmlns:a16="http://schemas.microsoft.com/office/drawing/2014/main" id="{182288D0-4C9D-1B15-E087-98270481F638}"/>
              </a:ext>
            </a:extLst>
          </p:cNvPr>
          <p:cNvCxnSpPr>
            <a:stCxn id="59" idx="3"/>
            <a:endCxn id="61" idx="1"/>
          </p:cNvCxnSpPr>
          <p:nvPr/>
        </p:nvCxnSpPr>
        <p:spPr>
          <a:xfrm>
            <a:off x="2395653" y="5018080"/>
            <a:ext cx="9848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834FC293-C288-396A-537B-0342217F0E3B}"/>
              </a:ext>
            </a:extLst>
          </p:cNvPr>
          <p:cNvCxnSpPr>
            <a:cxnSpLocks/>
            <a:stCxn id="58" idx="3"/>
            <a:endCxn id="60" idx="2"/>
          </p:cNvCxnSpPr>
          <p:nvPr/>
        </p:nvCxnSpPr>
        <p:spPr>
          <a:xfrm>
            <a:off x="2390362" y="6003535"/>
            <a:ext cx="198138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矢印コネクタ 65">
            <a:extLst>
              <a:ext uri="{FF2B5EF4-FFF2-40B4-BE49-F238E27FC236}">
                <a16:creationId xmlns:a16="http://schemas.microsoft.com/office/drawing/2014/main" id="{D33EEE98-AEC2-ABA4-D0BD-240503AC315F}"/>
              </a:ext>
            </a:extLst>
          </p:cNvPr>
          <p:cNvCxnSpPr>
            <a:cxnSpLocks/>
            <a:stCxn id="60" idx="0"/>
            <a:endCxn id="63" idx="1"/>
          </p:cNvCxnSpPr>
          <p:nvPr/>
        </p:nvCxnSpPr>
        <p:spPr>
          <a:xfrm flipV="1">
            <a:off x="5630059" y="5427789"/>
            <a:ext cx="1849639" cy="5757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96221218-DA4E-1CCE-22DC-4D1863A1CB62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>
            <a:off x="4659057" y="5018080"/>
            <a:ext cx="79767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A47E588F-6706-5158-5741-451B5104039F}"/>
              </a:ext>
            </a:extLst>
          </p:cNvPr>
          <p:cNvCxnSpPr>
            <a:cxnSpLocks/>
            <a:stCxn id="62" idx="3"/>
            <a:endCxn id="63" idx="1"/>
          </p:cNvCxnSpPr>
          <p:nvPr/>
        </p:nvCxnSpPr>
        <p:spPr>
          <a:xfrm>
            <a:off x="6735270" y="5018080"/>
            <a:ext cx="744428" cy="4097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テキスト ボックス 68">
                <a:extLst>
                  <a:ext uri="{FF2B5EF4-FFF2-40B4-BE49-F238E27FC236}">
                    <a16:creationId xmlns:a16="http://schemas.microsoft.com/office/drawing/2014/main" id="{765E6B30-427F-20BD-9D55-B4404BCD0E1F}"/>
                  </a:ext>
                </a:extLst>
              </p:cNvPr>
              <p:cNvSpPr txBox="1"/>
              <p:nvPr/>
            </p:nvSpPr>
            <p:spPr>
              <a:xfrm>
                <a:off x="9555910" y="5243123"/>
                <a:ext cx="75969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69" name="テキスト ボックス 68">
                <a:extLst>
                  <a:ext uri="{FF2B5EF4-FFF2-40B4-BE49-F238E27FC236}">
                    <a16:creationId xmlns:a16="http://schemas.microsoft.com/office/drawing/2014/main" id="{765E6B30-427F-20BD-9D55-B4404BCD0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5910" y="5243123"/>
                <a:ext cx="759691" cy="369332"/>
              </a:xfrm>
              <a:prstGeom prst="rect">
                <a:avLst/>
              </a:prstGeom>
              <a:blipFill>
                <a:blip r:embed="rId23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80ED16E9-B6DC-C4AF-E8C2-607436BC9626}"/>
              </a:ext>
            </a:extLst>
          </p:cNvPr>
          <p:cNvCxnSpPr>
            <a:cxnSpLocks/>
            <a:stCxn id="63" idx="3"/>
            <a:endCxn id="69" idx="1"/>
          </p:cNvCxnSpPr>
          <p:nvPr/>
        </p:nvCxnSpPr>
        <p:spPr>
          <a:xfrm>
            <a:off x="8758239" y="5427789"/>
            <a:ext cx="797671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テキスト ボックス 70">
                <a:extLst>
                  <a:ext uri="{FF2B5EF4-FFF2-40B4-BE49-F238E27FC236}">
                    <a16:creationId xmlns:a16="http://schemas.microsoft.com/office/drawing/2014/main" id="{819D5BF6-4B30-9102-6D93-182534552A06}"/>
                  </a:ext>
                </a:extLst>
              </p:cNvPr>
              <p:cNvSpPr txBox="1"/>
              <p:nvPr/>
            </p:nvSpPr>
            <p:spPr>
              <a:xfrm>
                <a:off x="1740456" y="5818868"/>
                <a:ext cx="37141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ja-JP" sz="2400" i="0" smtClean="0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71" name="テキスト ボックス 70">
                <a:extLst>
                  <a:ext uri="{FF2B5EF4-FFF2-40B4-BE49-F238E27FC236}">
                    <a16:creationId xmlns:a16="http://schemas.microsoft.com/office/drawing/2014/main" id="{819D5BF6-4B30-9102-6D93-182534552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0456" y="5818868"/>
                <a:ext cx="371414" cy="369332"/>
              </a:xfrm>
              <a:prstGeom prst="rect">
                <a:avLst/>
              </a:prstGeom>
              <a:blipFill>
                <a:blip r:embed="rId24"/>
                <a:stretch>
                  <a:fillRect l="-26667" t="-10000" b="-3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04A7A88D-78E3-04DB-67BD-596EA34297EE}"/>
              </a:ext>
            </a:extLst>
          </p:cNvPr>
          <p:cNvCxnSpPr>
            <a:stCxn id="29" idx="2"/>
            <a:endCxn id="17" idx="0"/>
          </p:cNvCxnSpPr>
          <p:nvPr/>
        </p:nvCxnSpPr>
        <p:spPr>
          <a:xfrm rot="5400000">
            <a:off x="5461133" y="-1573434"/>
            <a:ext cx="1103388" cy="7849343"/>
          </a:xfrm>
          <a:prstGeom prst="bentConnector3">
            <a:avLst>
              <a:gd name="adj1" fmla="val 86669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2">
            <a:extLst>
              <a:ext uri="{FF2B5EF4-FFF2-40B4-BE49-F238E27FC236}">
                <a16:creationId xmlns:a16="http://schemas.microsoft.com/office/drawing/2014/main" id="{FA3EA5D2-9CEE-B1A6-73C3-F44E25703882}"/>
              </a:ext>
            </a:extLst>
          </p:cNvPr>
          <p:cNvCxnSpPr>
            <a:cxnSpLocks/>
            <a:stCxn id="32" idx="2"/>
            <a:endCxn id="59" idx="0"/>
          </p:cNvCxnSpPr>
          <p:nvPr/>
        </p:nvCxnSpPr>
        <p:spPr>
          <a:xfrm rot="5400000">
            <a:off x="5436235" y="332151"/>
            <a:ext cx="1151442" cy="7851085"/>
          </a:xfrm>
          <a:prstGeom prst="bentConnector3">
            <a:avLst>
              <a:gd name="adj1" fmla="val 84435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C8825484-1F45-DFBF-9A22-05B88B1FA37E}"/>
              </a:ext>
            </a:extLst>
          </p:cNvPr>
          <p:cNvCxnSpPr>
            <a:stCxn id="12" idx="2"/>
            <a:endCxn id="21" idx="0"/>
          </p:cNvCxnSpPr>
          <p:nvPr/>
        </p:nvCxnSpPr>
        <p:spPr>
          <a:xfrm>
            <a:off x="6097742" y="1430211"/>
            <a:ext cx="0" cy="1432343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矢印コネクタ 81">
            <a:extLst>
              <a:ext uri="{FF2B5EF4-FFF2-40B4-BE49-F238E27FC236}">
                <a16:creationId xmlns:a16="http://schemas.microsoft.com/office/drawing/2014/main" id="{59EE4BCE-38D2-D645-30CA-861C89EE814E}"/>
              </a:ext>
            </a:extLst>
          </p:cNvPr>
          <p:cNvCxnSpPr>
            <a:cxnSpLocks/>
            <a:stCxn id="21" idx="2"/>
            <a:endCxn id="62" idx="0"/>
          </p:cNvCxnSpPr>
          <p:nvPr/>
        </p:nvCxnSpPr>
        <p:spPr>
          <a:xfrm flipH="1">
            <a:off x="6096000" y="3312640"/>
            <a:ext cx="1742" cy="1480397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8C45CA4F-B46F-C095-D9B5-198916DF66FC}"/>
              </a:ext>
            </a:extLst>
          </p:cNvPr>
          <p:cNvSpPr txBox="1"/>
          <p:nvPr/>
        </p:nvSpPr>
        <p:spPr>
          <a:xfrm>
            <a:off x="55366" y="1039202"/>
            <a:ext cx="1477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/>
              <a:t>&lt;START&gt;</a:t>
            </a:r>
            <a:endParaRPr kumimoji="1" lang="ja-JP" altLang="en-US" sz="2000" dirty="0" err="1"/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10C51179-487E-5DC1-10AB-3A24447E9E90}"/>
              </a:ext>
            </a:extLst>
          </p:cNvPr>
          <p:cNvSpPr txBox="1"/>
          <p:nvPr/>
        </p:nvSpPr>
        <p:spPr>
          <a:xfrm>
            <a:off x="50508" y="2901924"/>
            <a:ext cx="1477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/>
              <a:t>&lt;</a:t>
            </a:r>
            <a:r>
              <a:rPr kumimoji="1" lang="ja-JP" altLang="en-US" sz="2000"/>
              <a:t>一応</a:t>
            </a:r>
            <a:r>
              <a:rPr kumimoji="1" lang="en-US" altLang="ja-JP" sz="2000" dirty="0"/>
              <a:t>&gt;</a:t>
            </a:r>
            <a:endParaRPr kumimoji="1" lang="ja-JP" altLang="en-US" sz="2000" dirty="0" err="1"/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B1A170BB-6435-FEDF-CFF7-321C42224CB7}"/>
              </a:ext>
            </a:extLst>
          </p:cNvPr>
          <p:cNvSpPr txBox="1"/>
          <p:nvPr/>
        </p:nvSpPr>
        <p:spPr>
          <a:xfrm>
            <a:off x="50508" y="4851503"/>
            <a:ext cx="1477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/>
              <a:t>&lt;</a:t>
            </a:r>
            <a:r>
              <a:rPr kumimoji="1" lang="ja-JP" altLang="en-US" sz="2000"/>
              <a:t>授業</a:t>
            </a:r>
            <a:r>
              <a:rPr kumimoji="1" lang="en-US" altLang="ja-JP" sz="2000" dirty="0"/>
              <a:t>&gt;</a:t>
            </a:r>
            <a:endParaRPr kumimoji="1" lang="ja-JP" altLang="en-US" sz="2000" dirty="0" err="1"/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2A2AB3F6-9A89-1BE3-942F-5BDB4500F3A8}"/>
              </a:ext>
            </a:extLst>
          </p:cNvPr>
          <p:cNvSpPr txBox="1"/>
          <p:nvPr/>
        </p:nvSpPr>
        <p:spPr>
          <a:xfrm>
            <a:off x="10220647" y="1441414"/>
            <a:ext cx="1477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/>
              <a:t>&lt;</a:t>
            </a:r>
            <a:r>
              <a:rPr kumimoji="1" lang="ja-JP" altLang="en-US" sz="2000"/>
              <a:t>一応</a:t>
            </a:r>
            <a:r>
              <a:rPr kumimoji="1" lang="en-US" altLang="ja-JP" sz="2000" dirty="0"/>
              <a:t>&gt;</a:t>
            </a:r>
            <a:endParaRPr kumimoji="1" lang="ja-JP" altLang="en-US" sz="2000" dirty="0" err="1"/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F01D6AC6-3438-D297-309E-16B08DB4ED0C}"/>
              </a:ext>
            </a:extLst>
          </p:cNvPr>
          <p:cNvSpPr txBox="1"/>
          <p:nvPr/>
        </p:nvSpPr>
        <p:spPr>
          <a:xfrm>
            <a:off x="10220647" y="3320745"/>
            <a:ext cx="1477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/>
              <a:t>&lt;</a:t>
            </a:r>
            <a:r>
              <a:rPr kumimoji="1" lang="ja-JP" altLang="en-US" sz="2000"/>
              <a:t>授業</a:t>
            </a:r>
            <a:r>
              <a:rPr kumimoji="1" lang="en-US" altLang="ja-JP" sz="2000" dirty="0"/>
              <a:t>&gt;</a:t>
            </a:r>
            <a:endParaRPr kumimoji="1" lang="ja-JP" altLang="en-US" sz="2000" dirty="0" err="1"/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0AD853CB-1600-47CF-CDCD-C284690F238A}"/>
              </a:ext>
            </a:extLst>
          </p:cNvPr>
          <p:cNvSpPr txBox="1"/>
          <p:nvPr/>
        </p:nvSpPr>
        <p:spPr>
          <a:xfrm>
            <a:off x="10182700" y="5256204"/>
            <a:ext cx="15532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/>
              <a:t>&lt;</a:t>
            </a:r>
            <a:r>
              <a:rPr lang="ja-JP" altLang="en-US" sz="2000"/>
              <a:t>聞いてる</a:t>
            </a:r>
            <a:r>
              <a:rPr kumimoji="1" lang="en-US" altLang="ja-JP" sz="2000" dirty="0"/>
              <a:t>&gt;</a:t>
            </a:r>
            <a:endParaRPr kumimoji="1" lang="ja-JP" altLang="en-US" sz="2000" dirty="0" err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テキスト ボックス 97">
                <a:extLst>
                  <a:ext uri="{FF2B5EF4-FFF2-40B4-BE49-F238E27FC236}">
                    <a16:creationId xmlns:a16="http://schemas.microsoft.com/office/drawing/2014/main" id="{B82A1CBA-548E-A441-95C2-4C4D0B892560}"/>
                  </a:ext>
                </a:extLst>
              </p:cNvPr>
              <p:cNvSpPr txBox="1"/>
              <p:nvPr/>
            </p:nvSpPr>
            <p:spPr>
              <a:xfrm>
                <a:off x="6202884" y="2183076"/>
                <a:ext cx="5406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ja-JP" altLang="en-US" sz="2000" dirty="0" err="1"/>
              </a:p>
            </p:txBody>
          </p:sp>
        </mc:Choice>
        <mc:Fallback xmlns="">
          <p:sp>
            <p:nvSpPr>
              <p:cNvPr id="98" name="テキスト ボックス 97">
                <a:extLst>
                  <a:ext uri="{FF2B5EF4-FFF2-40B4-BE49-F238E27FC236}">
                    <a16:creationId xmlns:a16="http://schemas.microsoft.com/office/drawing/2014/main" id="{B82A1CBA-548E-A441-95C2-4C4D0B8925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2884" y="2183076"/>
                <a:ext cx="540644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テキスト ボックス 98">
                <a:extLst>
                  <a:ext uri="{FF2B5EF4-FFF2-40B4-BE49-F238E27FC236}">
                    <a16:creationId xmlns:a16="http://schemas.microsoft.com/office/drawing/2014/main" id="{09E65B64-3327-70A6-F6A5-1B9F390B6A84}"/>
                  </a:ext>
                </a:extLst>
              </p:cNvPr>
              <p:cNvSpPr txBox="1"/>
              <p:nvPr/>
            </p:nvSpPr>
            <p:spPr>
              <a:xfrm>
                <a:off x="6202884" y="4155939"/>
                <a:ext cx="5406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2000" dirty="0" err="1"/>
              </a:p>
            </p:txBody>
          </p:sp>
        </mc:Choice>
        <mc:Fallback xmlns="">
          <p:sp>
            <p:nvSpPr>
              <p:cNvPr id="99" name="テキスト ボックス 98">
                <a:extLst>
                  <a:ext uri="{FF2B5EF4-FFF2-40B4-BE49-F238E27FC236}">
                    <a16:creationId xmlns:a16="http://schemas.microsoft.com/office/drawing/2014/main" id="{09E65B64-3327-70A6-F6A5-1B9F390B6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2884" y="4155939"/>
                <a:ext cx="540644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テキスト ボックス 99">
                <a:extLst>
                  <a:ext uri="{FF2B5EF4-FFF2-40B4-BE49-F238E27FC236}">
                    <a16:creationId xmlns:a16="http://schemas.microsoft.com/office/drawing/2014/main" id="{A4243B58-F69E-9CBC-703D-F9150A86B244}"/>
                  </a:ext>
                </a:extLst>
              </p:cNvPr>
              <p:cNvSpPr txBox="1"/>
              <p:nvPr/>
            </p:nvSpPr>
            <p:spPr>
              <a:xfrm>
                <a:off x="9363903" y="6153842"/>
                <a:ext cx="28280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2000" dirty="0"/>
                  <a:t>※</a:t>
                </a:r>
                <a:r>
                  <a:rPr kumimoji="1" lang="ja-JP" alt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1" lang="en-US" altLang="ja-JP" sz="2000" dirty="0"/>
                  <a:t> : </a:t>
                </a:r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ja-JP" altLang="en-US" sz="2000"/>
                  <a:t>時点の内部状態</a:t>
                </a:r>
                <a:endParaRPr kumimoji="1" lang="ja-JP" altLang="en-US" sz="2000" dirty="0" err="1"/>
              </a:p>
            </p:txBody>
          </p:sp>
        </mc:Choice>
        <mc:Fallback xmlns="">
          <p:sp>
            <p:nvSpPr>
              <p:cNvPr id="100" name="テキスト ボックス 99">
                <a:extLst>
                  <a:ext uri="{FF2B5EF4-FFF2-40B4-BE49-F238E27FC236}">
                    <a16:creationId xmlns:a16="http://schemas.microsoft.com/office/drawing/2014/main" id="{A4243B58-F69E-9CBC-703D-F9150A86B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3903" y="6153842"/>
                <a:ext cx="2828097" cy="400110"/>
              </a:xfrm>
              <a:prstGeom prst="rect">
                <a:avLst/>
              </a:prstGeom>
              <a:blipFill>
                <a:blip r:embed="rId27"/>
                <a:stretch>
                  <a:fillRect l="-2232" t="-9375" r="-1786" b="-2812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4995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0C479F-EB81-BDD9-463D-653AFD8B8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Pix2Seq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6679AF-F610-B7BA-2916-68879D26F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r>
              <a:rPr lang="ja-JP" altLang="en-US" dirty="0">
                <a:solidFill>
                  <a:srgbClr val="FF0000"/>
                </a:solidFill>
              </a:rPr>
              <a:t>画像のエンコーダ</a:t>
            </a:r>
            <a:r>
              <a:rPr kumimoji="1" lang="ja-JP" altLang="en-US" dirty="0"/>
              <a:t>の学習を文章の生成器と同時進行するのは</a:t>
            </a:r>
            <a:r>
              <a:rPr lang="ja-JP" altLang="en-US" dirty="0"/>
              <a:t>非効率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sz="800" dirty="0"/>
          </a:p>
          <a:p>
            <a:pPr marL="0" indent="0" algn="ctr">
              <a:buNone/>
            </a:pPr>
            <a:r>
              <a:rPr lang="ja-JP" altLang="en-US" dirty="0"/>
              <a:t>↓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sz="900" dirty="0"/>
          </a:p>
          <a:p>
            <a:r>
              <a:rPr lang="ja-JP" altLang="en-US" dirty="0">
                <a:solidFill>
                  <a:srgbClr val="FF0000"/>
                </a:solidFill>
              </a:rPr>
              <a:t>画像のエンコーダ</a:t>
            </a:r>
            <a:r>
              <a:rPr lang="ja-JP" altLang="en-US" dirty="0"/>
              <a:t>として</a:t>
            </a:r>
            <a:r>
              <a:rPr lang="en-US" altLang="ja-JP" dirty="0"/>
              <a:t>, </a:t>
            </a:r>
            <a:r>
              <a:rPr lang="ja-JP" altLang="en-US" dirty="0"/>
              <a:t>事前学習済みモデルを使用する方法が一般的</a:t>
            </a:r>
            <a:endParaRPr lang="en-US" altLang="ja-JP" dirty="0"/>
          </a:p>
          <a:p>
            <a:pPr marL="457200" lvl="1" indent="0">
              <a:buNone/>
            </a:pPr>
            <a:r>
              <a:rPr lang="en-US" altLang="ja-JP" dirty="0"/>
              <a:t>[1]</a:t>
            </a:r>
            <a:r>
              <a:rPr lang="ja-JP" altLang="en-US" dirty="0"/>
              <a:t>でも</a:t>
            </a:r>
            <a:r>
              <a:rPr lang="en-US" altLang="ja-JP" dirty="0"/>
              <a:t>, </a:t>
            </a:r>
            <a:r>
              <a:rPr lang="ja-JP" altLang="en-US" dirty="0"/>
              <a:t>事前学習済みの</a:t>
            </a:r>
            <a:r>
              <a:rPr lang="en-US" altLang="ja-JP" dirty="0"/>
              <a:t>ResNet152</a:t>
            </a:r>
            <a:r>
              <a:rPr lang="ja-JP" altLang="en-US" dirty="0"/>
              <a:t>を使用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B743332-5097-0F97-0F67-AFAEDD833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12</a:t>
            </a:fld>
            <a:endParaRPr kumimoji="1" lang="ja-JP" altLang="en-US"/>
          </a:p>
        </p:txBody>
      </p:sp>
      <p:pic>
        <p:nvPicPr>
          <p:cNvPr id="7" name="図 6" descr="口を開けている赤ちゃん&#10;&#10;自動的に生成された説明">
            <a:extLst>
              <a:ext uri="{FF2B5EF4-FFF2-40B4-BE49-F238E27FC236}">
                <a16:creationId xmlns:a16="http://schemas.microsoft.com/office/drawing/2014/main" id="{1A579251-4993-1007-E186-9FC753C530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706" y="2683732"/>
            <a:ext cx="1054223" cy="1052466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61055ED-5998-E18C-DFD9-70261A4440CE}"/>
                  </a:ext>
                </a:extLst>
              </p:cNvPr>
              <p:cNvSpPr txBox="1"/>
              <p:nvPr/>
            </p:nvSpPr>
            <p:spPr>
              <a:xfrm>
                <a:off x="1778915" y="2032002"/>
                <a:ext cx="6184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61055ED-5998-E18C-DFD9-70261A444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915" y="2032002"/>
                <a:ext cx="618480" cy="369332"/>
              </a:xfrm>
              <a:prstGeom prst="rect">
                <a:avLst/>
              </a:prstGeom>
              <a:blipFill>
                <a:blip r:embed="rId3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台形 8">
                <a:extLst>
                  <a:ext uri="{FF2B5EF4-FFF2-40B4-BE49-F238E27FC236}">
                    <a16:creationId xmlns:a16="http://schemas.microsoft.com/office/drawing/2014/main" id="{E3E10290-1656-C882-678B-0339D1E178E2}"/>
                  </a:ext>
                </a:extLst>
              </p:cNvPr>
              <p:cNvSpPr/>
              <p:nvPr/>
            </p:nvSpPr>
            <p:spPr>
              <a:xfrm rot="5400000">
                <a:off x="4521170" y="2572968"/>
                <a:ext cx="962952" cy="1258309"/>
              </a:xfrm>
              <a:prstGeom prst="trapezoid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𝐸𝑛𝑐𝑜𝑑𝑒𝑟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台形 8">
                <a:extLst>
                  <a:ext uri="{FF2B5EF4-FFF2-40B4-BE49-F238E27FC236}">
                    <a16:creationId xmlns:a16="http://schemas.microsoft.com/office/drawing/2014/main" id="{E3E10290-1656-C882-678B-0339D1E178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521170" y="2572968"/>
                <a:ext cx="962952" cy="1258309"/>
              </a:xfrm>
              <a:prstGeom prst="trapezoid">
                <a:avLst/>
              </a:prstGeom>
              <a:blipFill>
                <a:blip r:embed="rId4"/>
                <a:stretch>
                  <a:fillRect l="-490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D6D52802-6FC4-053E-DA96-E1819593F962}"/>
                  </a:ext>
                </a:extLst>
              </p:cNvPr>
              <p:cNvSpPr/>
              <p:nvPr/>
            </p:nvSpPr>
            <p:spPr>
              <a:xfrm>
                <a:off x="3382258" y="1991625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𝐸𝑚𝑏𝑒𝑑𝑑𝑖𝑛𝑔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D6D52802-6FC4-053E-DA96-E1819593F9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258" y="1991625"/>
                <a:ext cx="1278541" cy="450086"/>
              </a:xfrm>
              <a:prstGeom prst="rect">
                <a:avLst/>
              </a:prstGeom>
              <a:blipFill>
                <a:blip r:embed="rId5"/>
                <a:stretch>
                  <a:fillRect l="-8654" r="-288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2143E321-9813-09CC-17CC-502EDEBF0A61}"/>
                  </a:ext>
                </a:extLst>
              </p:cNvPr>
              <p:cNvSpPr/>
              <p:nvPr/>
            </p:nvSpPr>
            <p:spPr>
              <a:xfrm>
                <a:off x="5458471" y="1991625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𝐿𝑆𝑇𝑀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2143E321-9813-09CC-17CC-502EDEBF0A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471" y="1991625"/>
                <a:ext cx="1278541" cy="4500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2329127F-D7C9-A5FA-6BA9-997208AE32B1}"/>
                  </a:ext>
                </a:extLst>
              </p:cNvPr>
              <p:cNvSpPr/>
              <p:nvPr/>
            </p:nvSpPr>
            <p:spPr>
              <a:xfrm>
                <a:off x="7481440" y="2401334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𝐷𝑒𝑛𝑠𝑒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2329127F-D7C9-A5FA-6BA9-997208AE32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440" y="2401334"/>
                <a:ext cx="1278541" cy="450086"/>
              </a:xfrm>
              <a:prstGeom prst="rect">
                <a:avLst/>
              </a:prstGeom>
              <a:blipFill>
                <a:blip r:embed="rId7"/>
                <a:stretch>
                  <a:fillRect b="-263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B84C65C8-CC66-62D9-E2B6-1130661B79DC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2397395" y="2216668"/>
            <a:ext cx="9848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6036BD57-D057-8963-8B04-0921BD01A222}"/>
              </a:ext>
            </a:extLst>
          </p:cNvPr>
          <p:cNvCxnSpPr>
            <a:cxnSpLocks/>
            <a:stCxn id="7" idx="3"/>
            <a:endCxn id="9" idx="2"/>
          </p:cNvCxnSpPr>
          <p:nvPr/>
        </p:nvCxnSpPr>
        <p:spPr>
          <a:xfrm flipV="1">
            <a:off x="2519929" y="3202123"/>
            <a:ext cx="1853563" cy="78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907C81C1-FF6F-2769-DC0F-0CBEC1E3AF81}"/>
              </a:ext>
            </a:extLst>
          </p:cNvPr>
          <p:cNvCxnSpPr>
            <a:cxnSpLocks/>
            <a:stCxn id="9" idx="0"/>
            <a:endCxn id="13" idx="1"/>
          </p:cNvCxnSpPr>
          <p:nvPr/>
        </p:nvCxnSpPr>
        <p:spPr>
          <a:xfrm flipV="1">
            <a:off x="5631801" y="2626377"/>
            <a:ext cx="1849639" cy="5757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AB5B9BF4-432F-1AC3-2639-200598C72A09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4660799" y="2216668"/>
            <a:ext cx="79767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21427FB2-2110-6345-4693-D674D83C2333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6737012" y="2216668"/>
            <a:ext cx="744428" cy="4097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F85E7867-E30D-27F6-016D-BFEFA14BA714}"/>
                  </a:ext>
                </a:extLst>
              </p:cNvPr>
              <p:cNvSpPr txBox="1"/>
              <p:nvPr/>
            </p:nvSpPr>
            <p:spPr>
              <a:xfrm>
                <a:off x="9557652" y="2441711"/>
                <a:ext cx="75969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F85E7867-E30D-27F6-016D-BFEFA14BA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7652" y="2441711"/>
                <a:ext cx="759691" cy="369332"/>
              </a:xfrm>
              <a:prstGeom prst="rect">
                <a:avLst/>
              </a:prstGeom>
              <a:blipFill>
                <a:blip r:embed="rId8"/>
                <a:stretch>
                  <a:fillRect l="-6557" b="-1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80C0F05A-AB8A-1080-DCE1-CEA38E44B31E}"/>
              </a:ext>
            </a:extLst>
          </p:cNvPr>
          <p:cNvCxnSpPr>
            <a:cxnSpLocks/>
            <a:stCxn id="13" idx="3"/>
            <a:endCxn id="29" idx="1"/>
          </p:cNvCxnSpPr>
          <p:nvPr/>
        </p:nvCxnSpPr>
        <p:spPr>
          <a:xfrm>
            <a:off x="8759981" y="2626377"/>
            <a:ext cx="797671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ABB5BFAB-FBE1-E379-F71F-8D2B70536B0B}"/>
                  </a:ext>
                </a:extLst>
              </p:cNvPr>
              <p:cNvSpPr txBox="1"/>
              <p:nvPr/>
            </p:nvSpPr>
            <p:spPr>
              <a:xfrm>
                <a:off x="1807110" y="3025299"/>
                <a:ext cx="37141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ja-JP" sz="2400" i="0" smtClean="0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ABB5BFAB-FBE1-E379-F71F-8D2B70536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110" y="3025299"/>
                <a:ext cx="371414" cy="369332"/>
              </a:xfrm>
              <a:prstGeom prst="rect">
                <a:avLst/>
              </a:prstGeom>
              <a:blipFill>
                <a:blip r:embed="rId9"/>
                <a:stretch>
                  <a:fillRect l="-26667" t="-10000" b="-3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09CAE3CE-DE12-5E7C-9A67-8084135848C2}"/>
              </a:ext>
            </a:extLst>
          </p:cNvPr>
          <p:cNvSpPr/>
          <p:nvPr/>
        </p:nvSpPr>
        <p:spPr>
          <a:xfrm>
            <a:off x="4213976" y="2604605"/>
            <a:ext cx="1561763" cy="12005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0954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877DD2-F3F9-34FC-601E-65FC19F3D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事前学習済みモデルの問題点</a:t>
            </a:r>
            <a:r>
              <a:rPr kumimoji="1" lang="en-US" altLang="ja-JP" dirty="0"/>
              <a:t>Ⅰ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66E8D5-C830-27C6-D092-568036D08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80" y="1085039"/>
            <a:ext cx="11376368" cy="5286633"/>
          </a:xfrm>
        </p:spPr>
        <p:txBody>
          <a:bodyPr/>
          <a:lstStyle/>
          <a:p>
            <a:r>
              <a:rPr kumimoji="1" lang="ja-JP" altLang="en-US" dirty="0"/>
              <a:t>事前学習時の画像のドメインと</a:t>
            </a:r>
            <a:r>
              <a:rPr kumimoji="1" lang="en-US" altLang="ja-JP" dirty="0"/>
              <a:t>, Pix2Seq</a:t>
            </a:r>
            <a:r>
              <a:rPr kumimoji="1" lang="ja-JP" altLang="en-US" dirty="0"/>
              <a:t>学習時の</a:t>
            </a:r>
            <a:r>
              <a:rPr lang="ja-JP" altLang="en-US" dirty="0"/>
              <a:t>画像の</a:t>
            </a:r>
            <a:r>
              <a:rPr kumimoji="1" lang="ja-JP" altLang="en-US" dirty="0"/>
              <a:t>ドメインが</a:t>
            </a: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/>
              <a:t>  </a:t>
            </a:r>
            <a:r>
              <a:rPr lang="ja-JP" altLang="en-US" dirty="0"/>
              <a:t>異なる場合</a:t>
            </a:r>
            <a:r>
              <a:rPr lang="en-US" altLang="ja-JP" dirty="0"/>
              <a:t>, </a:t>
            </a:r>
            <a:r>
              <a:rPr lang="ja-JP" altLang="en-US" dirty="0"/>
              <a:t>画像の特徴抽出ができない可能性がある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2AD472-3E3F-FD83-BA2A-3B4F7D195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13</a:t>
            </a:fld>
            <a:endParaRPr kumimoji="1" lang="ja-JP" altLang="en-US" dirty="0"/>
          </a:p>
        </p:txBody>
      </p:sp>
      <p:pic>
        <p:nvPicPr>
          <p:cNvPr id="14" name="グラフィックス 13" descr="人工知能 枠線">
            <a:extLst>
              <a:ext uri="{FF2B5EF4-FFF2-40B4-BE49-F238E27FC236}">
                <a16:creationId xmlns:a16="http://schemas.microsoft.com/office/drawing/2014/main" id="{99CF8E5E-3087-30C4-7398-91E05F4D9F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93732" y="2311929"/>
            <a:ext cx="1130516" cy="1130516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F0B512E-86A9-B6D9-6A33-4FE38CC314C8}"/>
              </a:ext>
            </a:extLst>
          </p:cNvPr>
          <p:cNvSpPr txBox="1"/>
          <p:nvPr/>
        </p:nvSpPr>
        <p:spPr>
          <a:xfrm>
            <a:off x="10470672" y="2646354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/>
              <a:t>…</a:t>
            </a:r>
            <a:endParaRPr kumimoji="1" lang="ja-JP" altLang="en-US" sz="2400" dirty="0" err="1"/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5FB1A9D9-E3E0-6E73-D025-A57DC49B9F2B}"/>
              </a:ext>
            </a:extLst>
          </p:cNvPr>
          <p:cNvCxnSpPr>
            <a:cxnSpLocks/>
            <a:stCxn id="1026" idx="3"/>
            <a:endCxn id="14" idx="1"/>
          </p:cNvCxnSpPr>
          <p:nvPr/>
        </p:nvCxnSpPr>
        <p:spPr>
          <a:xfrm>
            <a:off x="7713489" y="2877185"/>
            <a:ext cx="780243" cy="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B36D4218-5B09-9724-2806-0BBA8386000A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9624248" y="2877187"/>
            <a:ext cx="84642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9E9D9FF-99D1-4FE6-B40A-0ED970E19D32}"/>
              </a:ext>
            </a:extLst>
          </p:cNvPr>
          <p:cNvSpPr txBox="1"/>
          <p:nvPr/>
        </p:nvSpPr>
        <p:spPr>
          <a:xfrm rot="1361791">
            <a:off x="9166091" y="2123691"/>
            <a:ext cx="413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800" dirty="0"/>
              <a:t>?</a:t>
            </a:r>
            <a:endParaRPr kumimoji="1" lang="ja-JP" altLang="en-US" sz="2800" dirty="0" err="1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37E8007-57A9-E416-FAB9-D4EE8D8EBD60}"/>
              </a:ext>
            </a:extLst>
          </p:cNvPr>
          <p:cNvSpPr txBox="1"/>
          <p:nvPr/>
        </p:nvSpPr>
        <p:spPr>
          <a:xfrm rot="19000125">
            <a:off x="8329039" y="2237767"/>
            <a:ext cx="413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800" dirty="0"/>
              <a:t>?</a:t>
            </a:r>
            <a:endParaRPr kumimoji="1" lang="ja-JP" altLang="en-US" sz="2800" dirty="0" err="1"/>
          </a:p>
        </p:txBody>
      </p:sp>
      <p:sp>
        <p:nvSpPr>
          <p:cNvPr id="44" name="角丸四角形 43">
            <a:extLst>
              <a:ext uri="{FF2B5EF4-FFF2-40B4-BE49-F238E27FC236}">
                <a16:creationId xmlns:a16="http://schemas.microsoft.com/office/drawing/2014/main" id="{B2A0AF58-5F1D-E95D-2470-E9C9AFC9E7F4}"/>
              </a:ext>
            </a:extLst>
          </p:cNvPr>
          <p:cNvSpPr/>
          <p:nvPr/>
        </p:nvSpPr>
        <p:spPr>
          <a:xfrm>
            <a:off x="6457371" y="2081856"/>
            <a:ext cx="4817341" cy="1493695"/>
          </a:xfrm>
          <a:prstGeom prst="roundRect">
            <a:avLst>
              <a:gd name="adj" fmla="val 3431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735E5A65-2511-A25C-EE91-8DE5FCF39D55}"/>
              </a:ext>
            </a:extLst>
          </p:cNvPr>
          <p:cNvSpPr txBox="1"/>
          <p:nvPr/>
        </p:nvSpPr>
        <p:spPr>
          <a:xfrm>
            <a:off x="7974569" y="3409768"/>
            <a:ext cx="1782943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kumimoji="1" lang="en-US" altLang="ja-JP" dirty="0"/>
              <a:t>Pix2Seq</a:t>
            </a:r>
            <a:r>
              <a:rPr kumimoji="1" lang="ja-JP" altLang="en-US"/>
              <a:t>学習時</a:t>
            </a:r>
            <a:endParaRPr lang="ja-JP" altLang="en-US"/>
          </a:p>
        </p:txBody>
      </p:sp>
      <p:sp>
        <p:nvSpPr>
          <p:cNvPr id="12" name="角丸四角形吹き出し 11">
            <a:extLst>
              <a:ext uri="{FF2B5EF4-FFF2-40B4-BE49-F238E27FC236}">
                <a16:creationId xmlns:a16="http://schemas.microsoft.com/office/drawing/2014/main" id="{1AF936DA-7EB4-E700-5499-6BB942089235}"/>
              </a:ext>
            </a:extLst>
          </p:cNvPr>
          <p:cNvSpPr/>
          <p:nvPr/>
        </p:nvSpPr>
        <p:spPr>
          <a:xfrm>
            <a:off x="996996" y="2167071"/>
            <a:ext cx="4148474" cy="1154461"/>
          </a:xfrm>
          <a:prstGeom prst="wedgeRoundRectCallout">
            <a:avLst>
              <a:gd name="adj1" fmla="val 78112"/>
              <a:gd name="adj2" fmla="val 3840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dirty="0">
                <a:solidFill>
                  <a:schemeClr val="bg1"/>
                </a:solidFill>
              </a:rPr>
              <a:t>事前学習時の</a:t>
            </a:r>
            <a:r>
              <a:rPr lang="ja-JP" altLang="en-US" sz="2400">
                <a:solidFill>
                  <a:schemeClr val="bg1"/>
                </a:solidFill>
              </a:rPr>
              <a:t>画像に</a:t>
            </a:r>
            <a:endParaRPr lang="en-US" altLang="ja-JP" sz="2400" dirty="0">
              <a:solidFill>
                <a:schemeClr val="bg1"/>
              </a:solidFill>
            </a:endParaRPr>
          </a:p>
          <a:p>
            <a:pPr algn="ctr"/>
            <a:r>
              <a:rPr lang="ja-JP" altLang="en-US" sz="2400">
                <a:solidFill>
                  <a:schemeClr val="bg1"/>
                </a:solidFill>
              </a:rPr>
              <a:t>似て</a:t>
            </a:r>
            <a:r>
              <a:rPr lang="ja-JP" altLang="en-US" sz="2400" dirty="0">
                <a:solidFill>
                  <a:schemeClr val="bg1"/>
                </a:solidFill>
              </a:rPr>
              <a:t>いない画像</a:t>
            </a:r>
            <a:r>
              <a:rPr lang="ja-JP" altLang="en-US" sz="2400">
                <a:solidFill>
                  <a:schemeClr val="bg1"/>
                </a:solidFill>
              </a:rPr>
              <a:t>に弱い</a:t>
            </a:r>
            <a:endParaRPr lang="en-US" altLang="ja-JP" sz="2400" dirty="0">
              <a:solidFill>
                <a:schemeClr val="bg1"/>
              </a:solidFill>
            </a:endParaRPr>
          </a:p>
        </p:txBody>
      </p:sp>
      <p:pic>
        <p:nvPicPr>
          <p:cNvPr id="1026" name="Picture 2" descr="官公庁からテレビ、YouTubeまで…始動から10年、 フリー素材『いらすとや』が変えたイラストレーターの概念 | ORICON NEWS">
            <a:extLst>
              <a:ext uri="{FF2B5EF4-FFF2-40B4-BE49-F238E27FC236}">
                <a16:creationId xmlns:a16="http://schemas.microsoft.com/office/drawing/2014/main" id="{019B2E11-00E7-E78E-2D00-2486C5BE9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8323" y="2344602"/>
            <a:ext cx="1065166" cy="1065166"/>
          </a:xfrm>
          <a:prstGeom prst="rect">
            <a:avLst/>
          </a:prstGeom>
          <a:noFill/>
          <a:ln w="38100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角丸四角形 4">
            <a:extLst>
              <a:ext uri="{FF2B5EF4-FFF2-40B4-BE49-F238E27FC236}">
                <a16:creationId xmlns:a16="http://schemas.microsoft.com/office/drawing/2014/main" id="{0BE83BEB-AA4C-3EDC-C2F2-94A08777FABF}"/>
              </a:ext>
            </a:extLst>
          </p:cNvPr>
          <p:cNvSpPr/>
          <p:nvPr/>
        </p:nvSpPr>
        <p:spPr>
          <a:xfrm>
            <a:off x="6457371" y="3974267"/>
            <a:ext cx="4817341" cy="2324008"/>
          </a:xfrm>
          <a:prstGeom prst="roundRect">
            <a:avLst>
              <a:gd name="adj" fmla="val 343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6EA1863-AE73-CE79-1B5E-69702DF7F9E5}"/>
              </a:ext>
            </a:extLst>
          </p:cNvPr>
          <p:cNvSpPr txBox="1"/>
          <p:nvPr/>
        </p:nvSpPr>
        <p:spPr>
          <a:xfrm>
            <a:off x="7801376" y="6132683"/>
            <a:ext cx="2103245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kumimoji="1" lang="en-US" altLang="ja-JP" dirty="0" err="1"/>
              <a:t>bokete</a:t>
            </a:r>
            <a:r>
              <a:rPr kumimoji="1" lang="ja-JP" altLang="en-US"/>
              <a:t>画像</a:t>
            </a:r>
            <a:r>
              <a:rPr lang="ja-JP" altLang="en-US"/>
              <a:t>例</a:t>
            </a:r>
            <a:r>
              <a:rPr lang="en-US" altLang="ja-JP" dirty="0"/>
              <a:t>[2]</a:t>
            </a:r>
            <a:endParaRPr lang="ja-JP" altLang="en-US"/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C35E83C2-B3B6-1C08-8D9A-E9A72850D0AB}"/>
              </a:ext>
            </a:extLst>
          </p:cNvPr>
          <p:cNvSpPr/>
          <p:nvPr/>
        </p:nvSpPr>
        <p:spPr>
          <a:xfrm>
            <a:off x="917288" y="3974267"/>
            <a:ext cx="4817341" cy="2324008"/>
          </a:xfrm>
          <a:prstGeom prst="roundRect">
            <a:avLst>
              <a:gd name="adj" fmla="val 3431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Picture 2" descr="Examples of pictures randomly sampled from the Tiny ImageNet dataset. |  Download Scientific Diagram">
            <a:extLst>
              <a:ext uri="{FF2B5EF4-FFF2-40B4-BE49-F238E27FC236}">
                <a16:creationId xmlns:a16="http://schemas.microsoft.com/office/drawing/2014/main" id="{D60D0BBD-71D1-3F94-99E7-9864A1CBD9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702" r="49850"/>
          <a:stretch/>
        </p:blipFill>
        <p:spPr bwMode="auto">
          <a:xfrm>
            <a:off x="1106970" y="4033978"/>
            <a:ext cx="4437976" cy="2204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857E9F1-D292-242E-27DF-B9A7DFF6EDBE}"/>
              </a:ext>
            </a:extLst>
          </p:cNvPr>
          <p:cNvSpPr txBox="1"/>
          <p:nvPr/>
        </p:nvSpPr>
        <p:spPr>
          <a:xfrm>
            <a:off x="2224355" y="6132683"/>
            <a:ext cx="220320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dirty="0"/>
              <a:t>ImageNet</a:t>
            </a:r>
            <a:r>
              <a:rPr kumimoji="1" lang="ja-JP" altLang="en-US"/>
              <a:t>画像</a:t>
            </a:r>
            <a:r>
              <a:rPr lang="ja-JP" altLang="en-US"/>
              <a:t>例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CD49E24D-98B9-516D-0DF6-69FA6D48AE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3223" y="4085131"/>
            <a:ext cx="976707" cy="976707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F677E49B-D5AD-AAF1-30B7-470D924CC9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6089" y="5190586"/>
            <a:ext cx="976707" cy="976707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F8CDD591-1DB9-94F6-96FC-35195EA973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80356" y="5185611"/>
            <a:ext cx="974473" cy="974473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A851BBAF-DE9E-2542-ED8A-B711BC59E0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4755" y="5185610"/>
            <a:ext cx="981683" cy="981683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5E9D506D-F2DB-8F8E-5D55-D7C8A1EC2A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33550" y="5190586"/>
            <a:ext cx="974010" cy="974010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440F66B5-544F-1EB9-0AC7-8AD94450E88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98729" y="4085131"/>
            <a:ext cx="976707" cy="976707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496CFB7-CAC0-347D-28BC-12AD411E043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46088" y="4085131"/>
            <a:ext cx="976708" cy="976708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EAD26540-24C3-B95C-B57A-68BE2D4AEEA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30852" y="4085131"/>
            <a:ext cx="976708" cy="97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484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66E8D5-C830-27C6-D092-568036D08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80" y="1085039"/>
            <a:ext cx="11376368" cy="5286633"/>
          </a:xfrm>
        </p:spPr>
        <p:txBody>
          <a:bodyPr/>
          <a:lstStyle/>
          <a:p>
            <a:r>
              <a:rPr kumimoji="1" lang="ja-JP" altLang="en-US"/>
              <a:t>再学習時に画像に対するアノテーションが必要</a:t>
            </a:r>
            <a:endParaRPr lang="en-US" altLang="ja-JP" dirty="0"/>
          </a:p>
          <a:p>
            <a:pPr marL="457200" lvl="1" indent="0">
              <a:buNone/>
            </a:pPr>
            <a:r>
              <a:rPr kumimoji="1" lang="en-US" altLang="ja-JP" dirty="0"/>
              <a:t>※</a:t>
            </a:r>
            <a:r>
              <a:rPr kumimoji="1" lang="ja-JP" altLang="en-US"/>
              <a:t>　</a:t>
            </a:r>
            <a:r>
              <a:rPr kumimoji="1" lang="ja-JP" altLang="en-US" dirty="0"/>
              <a:t>アノテーション</a:t>
            </a:r>
            <a:r>
              <a:rPr kumimoji="1" lang="en-US" altLang="ja-JP" dirty="0"/>
              <a:t> : </a:t>
            </a:r>
            <a:r>
              <a:rPr kumimoji="1" lang="ja-JP" altLang="en-US" dirty="0"/>
              <a:t>その画像が何であるか</a:t>
            </a:r>
            <a:r>
              <a:rPr kumimoji="1" lang="ja-JP" altLang="en-US"/>
              <a:t>の情報</a:t>
            </a:r>
            <a:endParaRPr kumimoji="1" lang="en-US" altLang="ja-JP" dirty="0"/>
          </a:p>
          <a:p>
            <a:pPr marL="457200" lvl="1" indent="0">
              <a:buNone/>
            </a:pPr>
            <a:endParaRPr lang="en-US" altLang="ja-JP" dirty="0"/>
          </a:p>
          <a:p>
            <a:pPr marL="457200" lvl="1" indent="0">
              <a:buNone/>
            </a:pPr>
            <a:endParaRPr kumimoji="1" lang="en-US" altLang="ja-JP" dirty="0"/>
          </a:p>
          <a:p>
            <a:pPr marL="457200" lvl="1" indent="0">
              <a:buNone/>
            </a:pPr>
            <a:endParaRPr lang="en-US" altLang="ja-JP" dirty="0"/>
          </a:p>
          <a:p>
            <a:pPr marL="457200" lvl="1" indent="0">
              <a:buNone/>
            </a:pPr>
            <a:endParaRPr kumimoji="1" lang="en-US" altLang="ja-JP" dirty="0"/>
          </a:p>
          <a:p>
            <a:pPr marL="457200" lvl="1" indent="0">
              <a:buNone/>
            </a:pPr>
            <a:endParaRPr lang="en-US" altLang="ja-JP" dirty="0"/>
          </a:p>
          <a:p>
            <a:pPr marL="457200" lvl="1" indent="0">
              <a:buNone/>
            </a:pPr>
            <a:endParaRPr kumimoji="1" lang="en-US" altLang="ja-JP" dirty="0"/>
          </a:p>
          <a:p>
            <a:pPr marL="457200" lvl="1" indent="0">
              <a:buNone/>
            </a:pPr>
            <a:endParaRPr kumimoji="1" lang="en-US" altLang="ja-JP" dirty="0"/>
          </a:p>
          <a:p>
            <a:pPr marL="457200" lvl="1" indent="0">
              <a:buNone/>
            </a:pPr>
            <a:r>
              <a:rPr kumimoji="1" lang="en-US" altLang="ja-JP" dirty="0" err="1"/>
              <a:t>bokete</a:t>
            </a:r>
            <a:r>
              <a:rPr kumimoji="1" lang="ja-JP" altLang="en-US"/>
              <a:t>の画像にはラベル付がされていないため</a:t>
            </a:r>
            <a:r>
              <a:rPr kumimoji="1" lang="ja-JP" altLang="en-US">
                <a:solidFill>
                  <a:srgbClr val="FF0000"/>
                </a:solidFill>
              </a:rPr>
              <a:t>再学習できない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38" name="表 38">
            <a:extLst>
              <a:ext uri="{FF2B5EF4-FFF2-40B4-BE49-F238E27FC236}">
                <a16:creationId xmlns:a16="http://schemas.microsoft.com/office/drawing/2014/main" id="{F8DB3519-7381-56C0-C768-D34E088930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4941"/>
              </p:ext>
            </p:extLst>
          </p:nvPr>
        </p:nvGraphicFramePr>
        <p:xfrm>
          <a:off x="1112108" y="2310052"/>
          <a:ext cx="9761840" cy="2237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2368">
                  <a:extLst>
                    <a:ext uri="{9D8B030D-6E8A-4147-A177-3AD203B41FA5}">
                      <a16:colId xmlns:a16="http://schemas.microsoft.com/office/drawing/2014/main" val="700864349"/>
                    </a:ext>
                  </a:extLst>
                </a:gridCol>
                <a:gridCol w="1952368">
                  <a:extLst>
                    <a:ext uri="{9D8B030D-6E8A-4147-A177-3AD203B41FA5}">
                      <a16:colId xmlns:a16="http://schemas.microsoft.com/office/drawing/2014/main" val="3758232695"/>
                    </a:ext>
                  </a:extLst>
                </a:gridCol>
                <a:gridCol w="1952368">
                  <a:extLst>
                    <a:ext uri="{9D8B030D-6E8A-4147-A177-3AD203B41FA5}">
                      <a16:colId xmlns:a16="http://schemas.microsoft.com/office/drawing/2014/main" val="1557518285"/>
                    </a:ext>
                  </a:extLst>
                </a:gridCol>
                <a:gridCol w="1952368">
                  <a:extLst>
                    <a:ext uri="{9D8B030D-6E8A-4147-A177-3AD203B41FA5}">
                      <a16:colId xmlns:a16="http://schemas.microsoft.com/office/drawing/2014/main" val="1362068025"/>
                    </a:ext>
                  </a:extLst>
                </a:gridCol>
                <a:gridCol w="1952368">
                  <a:extLst>
                    <a:ext uri="{9D8B030D-6E8A-4147-A177-3AD203B41FA5}">
                      <a16:colId xmlns:a16="http://schemas.microsoft.com/office/drawing/2014/main" val="3937338811"/>
                    </a:ext>
                  </a:extLst>
                </a:gridCol>
              </a:tblGrid>
              <a:tr h="143875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画像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702676"/>
                  </a:ext>
                </a:extLst>
              </a:tr>
              <a:tr h="79848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アノテーション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dirty="0"/>
                        <a:t>仮面ライダー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dirty="0"/>
                        <a:t>オープンカー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dirty="0"/>
                        <a:t>アイドル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dirty="0"/>
                        <a:t>おじさん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417473"/>
                  </a:ext>
                </a:extLst>
              </a:tr>
            </a:tbl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91877DD2-F3F9-34FC-601E-65FC19F3D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事前学習済みモデルの問題点</a:t>
            </a:r>
            <a:r>
              <a:rPr kumimoji="1" lang="en-US" altLang="ja-JP" dirty="0"/>
              <a:t>Ⅱ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2AD472-3E3F-FD83-BA2A-3B4F7D195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14</a:t>
            </a:fld>
            <a:endParaRPr kumimoji="1" lang="ja-JP" altLang="en-US" dirty="0"/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354B56D4-0822-3CA0-CA76-CBD5F0573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354" y="2356572"/>
            <a:ext cx="1334453" cy="1334453"/>
          </a:xfrm>
          <a:prstGeom prst="rect">
            <a:avLst/>
          </a:prstGeom>
          <a:ln w="19050">
            <a:solidFill>
              <a:srgbClr val="5BD4FF"/>
            </a:solidFill>
          </a:ln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C344C44C-8482-5E66-92E6-64D414311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1564" y="2356572"/>
            <a:ext cx="1334453" cy="1334453"/>
          </a:xfrm>
          <a:prstGeom prst="rect">
            <a:avLst/>
          </a:prstGeom>
          <a:ln w="19050">
            <a:solidFill>
              <a:srgbClr val="5BD4FF"/>
            </a:solidFill>
          </a:ln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E696F7AA-DB88-AA46-F7CA-D20E13B673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5845" y="2358245"/>
            <a:ext cx="1339344" cy="1339344"/>
          </a:xfrm>
          <a:prstGeom prst="rect">
            <a:avLst/>
          </a:prstGeom>
          <a:ln w="19050">
            <a:solidFill>
              <a:srgbClr val="5BD4FF"/>
            </a:solidFill>
          </a:ln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463887B3-5EEF-0F58-EAF1-EB8D8D1BD2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74" y="2351681"/>
            <a:ext cx="1339344" cy="1339344"/>
          </a:xfrm>
          <a:prstGeom prst="rect">
            <a:avLst/>
          </a:prstGeom>
          <a:ln w="19050">
            <a:solidFill>
              <a:srgbClr val="5BD4FF"/>
            </a:solidFill>
          </a:ln>
        </p:spPr>
      </p:pic>
    </p:spTree>
    <p:extLst>
      <p:ext uri="{BB962C8B-B14F-4D97-AF65-F5344CB8AC3E}">
        <p14:creationId xmlns:p14="http://schemas.microsoft.com/office/powerpoint/2010/main" val="2327067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4B58D4-A1A1-93DA-315C-D3E4B2820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事前学習済みモデルの問題点</a:t>
            </a:r>
            <a:r>
              <a:rPr lang="en-US" altLang="ja-JP" dirty="0"/>
              <a:t>Ⅲ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F78C858-B91F-C0F0-8267-39CDDE003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/>
              <a:t>モデルが大容量</a:t>
            </a:r>
            <a:r>
              <a:rPr lang="ja-JP" altLang="en-US"/>
              <a:t>かつ</a:t>
            </a:r>
            <a:r>
              <a:rPr lang="en-US" altLang="ja-JP" dirty="0"/>
              <a:t>, </a:t>
            </a:r>
            <a:r>
              <a:rPr kumimoji="1" lang="ja-JP" altLang="en-US"/>
              <a:t>任意に変更できない</a:t>
            </a:r>
            <a:endParaRPr kumimoji="1" lang="en-US" altLang="ja-JP" dirty="0"/>
          </a:p>
          <a:p>
            <a:pPr marL="457200" lvl="1" indent="0">
              <a:buNone/>
            </a:pPr>
            <a:r>
              <a:rPr kumimoji="1" lang="ja-JP" altLang="en-US"/>
              <a:t>→　環境に適したモデルを使えない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/>
              <a:t>事前学習済みモデルのライセンスに則る必要がある</a:t>
            </a:r>
            <a:endParaRPr kumimoji="1" lang="en-US" altLang="ja-JP" dirty="0"/>
          </a:p>
          <a:p>
            <a:pPr marL="457200" lvl="1" indent="0">
              <a:buNone/>
            </a:pPr>
            <a:r>
              <a:rPr lang="ja-JP" altLang="en-US"/>
              <a:t>→　二次配布や商業利用を禁じるモデルもある</a:t>
            </a:r>
            <a:endParaRPr lang="en-US" altLang="ja-JP" dirty="0"/>
          </a:p>
          <a:p>
            <a:pPr marL="457200" lvl="1" indent="0">
              <a:buNone/>
            </a:pPr>
            <a:endParaRPr kumimoji="1" lang="en-US" altLang="ja-JP" dirty="0"/>
          </a:p>
          <a:p>
            <a:pPr marL="457200" lvl="1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>
                <a:solidFill>
                  <a:schemeClr val="bg1"/>
                </a:solidFill>
              </a:rPr>
              <a:t>これらの問題を解決するために</a:t>
            </a:r>
            <a:r>
              <a:rPr lang="en-US" altLang="ja-JP" dirty="0">
                <a:solidFill>
                  <a:schemeClr val="bg1"/>
                </a:solidFill>
              </a:rPr>
              <a:t>, </a:t>
            </a:r>
          </a:p>
          <a:p>
            <a:pPr marL="0" indent="0">
              <a:buNone/>
            </a:pPr>
            <a:endParaRPr lang="en-US" altLang="ja-JP" sz="1000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ja-JP" altLang="en-US">
                <a:solidFill>
                  <a:schemeClr val="bg1"/>
                </a:solidFill>
              </a:rPr>
              <a:t>学習時にアノテーションを必要とせず</a:t>
            </a:r>
            <a:r>
              <a:rPr lang="en-US" altLang="ja-JP" dirty="0">
                <a:solidFill>
                  <a:schemeClr val="bg1"/>
                </a:solidFill>
              </a:rPr>
              <a:t>,</a:t>
            </a:r>
          </a:p>
          <a:p>
            <a:pPr marL="457200" lvl="1" indent="0">
              <a:buNone/>
            </a:pPr>
            <a:r>
              <a:rPr lang="ja-JP" altLang="en-US">
                <a:solidFill>
                  <a:schemeClr val="bg1"/>
                </a:solidFill>
              </a:rPr>
              <a:t>任意のモデルが定義できる画像の特徴抽出器</a:t>
            </a:r>
            <a:endParaRPr lang="en-US" altLang="ja-JP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en-US" altLang="ja-JP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ja-JP" altLang="en-US">
                <a:solidFill>
                  <a:schemeClr val="bg1"/>
                </a:solidFill>
              </a:rPr>
              <a:t>が必要</a:t>
            </a:r>
            <a:endParaRPr lang="en-US" altLang="ja-JP" dirty="0">
              <a:solidFill>
                <a:schemeClr val="bg1"/>
              </a:solidFill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A2388DC-D208-CE54-A2A2-ED2DDA89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1593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4B58D4-A1A1-93DA-315C-D3E4B2820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事前学習済みモデルの問題点</a:t>
            </a:r>
            <a:r>
              <a:rPr lang="en-US" altLang="ja-JP" dirty="0"/>
              <a:t>Ⅲ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F78C858-B91F-C0F0-8267-39CDDE003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dirty="0"/>
              <a:t>モデルが大容量</a:t>
            </a:r>
            <a:r>
              <a:rPr lang="ja-JP" altLang="en-US" dirty="0"/>
              <a:t>かつ</a:t>
            </a:r>
            <a:r>
              <a:rPr lang="en-US" altLang="ja-JP" dirty="0"/>
              <a:t>, </a:t>
            </a:r>
            <a:r>
              <a:rPr kumimoji="1" lang="ja-JP" altLang="en-US" dirty="0"/>
              <a:t>任意に変更できない</a:t>
            </a:r>
            <a:endParaRPr kumimoji="1" lang="en-US" altLang="ja-JP" dirty="0"/>
          </a:p>
          <a:p>
            <a:pPr marL="457200" lvl="1" indent="0">
              <a:buNone/>
            </a:pPr>
            <a:r>
              <a:rPr kumimoji="1" lang="ja-JP" altLang="en-US" dirty="0"/>
              <a:t>→　環境に適したモデルを使えない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事前学習済みモデルのライセンスに則る必要がある</a:t>
            </a:r>
            <a:endParaRPr kumimoji="1" lang="en-US" altLang="ja-JP" dirty="0"/>
          </a:p>
          <a:p>
            <a:pPr marL="457200" lvl="1" indent="0">
              <a:buNone/>
            </a:pPr>
            <a:r>
              <a:rPr lang="ja-JP" altLang="en-US" dirty="0"/>
              <a:t>→　二次配布や商業利用を禁じるモデルもある</a:t>
            </a:r>
            <a:endParaRPr lang="en-US" altLang="ja-JP" dirty="0"/>
          </a:p>
          <a:p>
            <a:pPr marL="457200" lvl="1" indent="0">
              <a:buNone/>
            </a:pPr>
            <a:endParaRPr kumimoji="1" lang="en-US" altLang="ja-JP" dirty="0"/>
          </a:p>
          <a:p>
            <a:pPr marL="457200" lvl="1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これらの問題を解決するために</a:t>
            </a:r>
            <a:r>
              <a:rPr lang="en-US" altLang="ja-JP" dirty="0"/>
              <a:t>, </a:t>
            </a:r>
          </a:p>
          <a:p>
            <a:pPr marL="0" indent="0">
              <a:buNone/>
            </a:pPr>
            <a:endParaRPr lang="en-US" altLang="ja-JP" sz="1000" dirty="0"/>
          </a:p>
          <a:p>
            <a:pPr lvl="1"/>
            <a:r>
              <a:rPr lang="ja-JP" altLang="en-US" dirty="0"/>
              <a:t>学習時にアノテーションを必要とせず</a:t>
            </a:r>
            <a:r>
              <a:rPr lang="en-US" altLang="ja-JP" dirty="0"/>
              <a:t>,</a:t>
            </a:r>
          </a:p>
          <a:p>
            <a:pPr lvl="1"/>
            <a:r>
              <a:rPr lang="ja-JP" altLang="en-US" dirty="0"/>
              <a:t>任意のモデルが定義できる画像の特徴抽出器</a:t>
            </a:r>
            <a:endParaRPr lang="en-US" altLang="ja-JP" dirty="0"/>
          </a:p>
          <a:p>
            <a:pPr marL="457200" lvl="1" indent="0">
              <a:buNone/>
            </a:pPr>
            <a:endParaRPr lang="en-US" altLang="ja-JP" sz="1000" dirty="0"/>
          </a:p>
          <a:p>
            <a:pPr marL="0" indent="0">
              <a:buNone/>
            </a:pPr>
            <a:r>
              <a:rPr lang="ja-JP" altLang="en-US" dirty="0"/>
              <a:t>が必要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A2388DC-D208-CE54-A2A2-ED2DDA89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16</a:t>
            </a:fld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72D70072-E464-B743-BCF7-68283B7E603C}"/>
              </a:ext>
            </a:extLst>
          </p:cNvPr>
          <p:cNvCxnSpPr>
            <a:stCxn id="3" idx="1"/>
            <a:endCxn id="3" idx="3"/>
          </p:cNvCxnSpPr>
          <p:nvPr/>
        </p:nvCxnSpPr>
        <p:spPr>
          <a:xfrm>
            <a:off x="462280" y="3728356"/>
            <a:ext cx="11267440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662C480-5BBB-6B66-C09A-53AB0180ED3B}"/>
              </a:ext>
            </a:extLst>
          </p:cNvPr>
          <p:cNvSpPr/>
          <p:nvPr/>
        </p:nvSpPr>
        <p:spPr>
          <a:xfrm>
            <a:off x="246992" y="1013390"/>
            <a:ext cx="11698014" cy="2258277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2091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7A07D9-D5F9-69C9-34DB-57EAE01F0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提案手法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CB368BC-5D9A-7FBE-2F81-7550BACFD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ja-JP" dirty="0"/>
              <a:t>Pix2Seq</a:t>
            </a:r>
            <a:r>
              <a:rPr kumimoji="1" lang="ja-JP" altLang="en-US" dirty="0"/>
              <a:t>の</a:t>
            </a:r>
            <a:r>
              <a:rPr kumimoji="1" lang="ja-JP" altLang="en-US" dirty="0">
                <a:solidFill>
                  <a:srgbClr val="FF0000"/>
                </a:solidFill>
              </a:rPr>
              <a:t>画像のエンコーダ</a:t>
            </a:r>
            <a:r>
              <a:rPr kumimoji="1" lang="ja-JP" altLang="en-US" dirty="0"/>
              <a:t>として</a:t>
            </a:r>
            <a:r>
              <a:rPr kumimoji="1" lang="en-US" altLang="ja-JP" dirty="0"/>
              <a:t>, </a:t>
            </a:r>
          </a:p>
          <a:p>
            <a:pPr marL="0" indent="0">
              <a:buNone/>
            </a:pPr>
            <a:r>
              <a:rPr kumimoji="1" lang="ja-JP" altLang="en-US" dirty="0"/>
              <a:t>事前に画像を学習した</a:t>
            </a:r>
            <a:r>
              <a:rPr kumimoji="1" lang="en-US" altLang="ja-JP" dirty="0" err="1"/>
              <a:t>AutoEncoder</a:t>
            </a:r>
            <a:r>
              <a:rPr kumimoji="1" lang="ja-JP" altLang="en-US" dirty="0"/>
              <a:t>のエンコーダを用いる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52B5BB8-46F1-D714-01FD-4C623F8DF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17</a:t>
            </a:fld>
            <a:endParaRPr kumimoji="1" lang="ja-JP" altLang="en-US"/>
          </a:p>
        </p:txBody>
      </p:sp>
      <p:pic>
        <p:nvPicPr>
          <p:cNvPr id="5" name="図 4" descr="口を開けている赤ちゃん&#10;&#10;自動的に生成された説明">
            <a:extLst>
              <a:ext uri="{FF2B5EF4-FFF2-40B4-BE49-F238E27FC236}">
                <a16:creationId xmlns:a16="http://schemas.microsoft.com/office/drawing/2014/main" id="{42E5FA08-9FA1-3C2C-0D98-0F54EB803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706" y="2853066"/>
            <a:ext cx="1054223" cy="1052466"/>
          </a:xfrm>
          <a:prstGeom prst="rect">
            <a:avLst/>
          </a:prstGeom>
          <a:ln w="19050">
            <a:solidFill>
              <a:srgbClr val="5BD4FF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E6CD024F-142F-20C8-EB9A-7EFCB1802EC4}"/>
                  </a:ext>
                </a:extLst>
              </p:cNvPr>
              <p:cNvSpPr txBox="1"/>
              <p:nvPr/>
            </p:nvSpPr>
            <p:spPr>
              <a:xfrm>
                <a:off x="1778915" y="2201336"/>
                <a:ext cx="6184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E6CD024F-142F-20C8-EB9A-7EFCB1802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915" y="2201336"/>
                <a:ext cx="618480" cy="369332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台形 6">
                <a:extLst>
                  <a:ext uri="{FF2B5EF4-FFF2-40B4-BE49-F238E27FC236}">
                    <a16:creationId xmlns:a16="http://schemas.microsoft.com/office/drawing/2014/main" id="{D3E480E7-604C-8AAB-8FA6-EE7B1188FFED}"/>
                  </a:ext>
                </a:extLst>
              </p:cNvPr>
              <p:cNvSpPr/>
              <p:nvPr/>
            </p:nvSpPr>
            <p:spPr>
              <a:xfrm rot="5400000">
                <a:off x="4521170" y="2742302"/>
                <a:ext cx="962952" cy="1258309"/>
              </a:xfrm>
              <a:prstGeom prst="trapezoid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𝐸𝑛𝑐𝑜𝑑𝑒𝑟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台形 6">
                <a:extLst>
                  <a:ext uri="{FF2B5EF4-FFF2-40B4-BE49-F238E27FC236}">
                    <a16:creationId xmlns:a16="http://schemas.microsoft.com/office/drawing/2014/main" id="{D3E480E7-604C-8AAB-8FA6-EE7B1188FF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521170" y="2742302"/>
                <a:ext cx="962952" cy="1258309"/>
              </a:xfrm>
              <a:prstGeom prst="trapezoid">
                <a:avLst/>
              </a:prstGeom>
              <a:blipFill>
                <a:blip r:embed="rId4"/>
                <a:stretch>
                  <a:fillRect l="-490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986E4B30-FCB1-E2D1-F4D6-46E58AF11640}"/>
                  </a:ext>
                </a:extLst>
              </p:cNvPr>
              <p:cNvSpPr/>
              <p:nvPr/>
            </p:nvSpPr>
            <p:spPr>
              <a:xfrm>
                <a:off x="3382258" y="2160959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𝐸𝑚𝑏𝑒𝑑𝑑𝑖𝑛𝑔</m:t>
                      </m:r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986E4B30-FCB1-E2D1-F4D6-46E58AF116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258" y="2160959"/>
                <a:ext cx="1278541" cy="450086"/>
              </a:xfrm>
              <a:prstGeom prst="rect">
                <a:avLst/>
              </a:prstGeom>
              <a:blipFill>
                <a:blip r:embed="rId5"/>
                <a:stretch>
                  <a:fillRect l="-8654" r="-2885" b="-263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D408E6AF-5351-B6E2-F22E-0D8A4191CE85}"/>
                  </a:ext>
                </a:extLst>
              </p:cNvPr>
              <p:cNvSpPr/>
              <p:nvPr/>
            </p:nvSpPr>
            <p:spPr>
              <a:xfrm>
                <a:off x="5458471" y="2160959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𝐿𝑆𝑇𝑀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D408E6AF-5351-B6E2-F22E-0D8A4191CE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471" y="2160959"/>
                <a:ext cx="1278541" cy="450086"/>
              </a:xfrm>
              <a:prstGeom prst="rect">
                <a:avLst/>
              </a:prstGeom>
              <a:blipFill>
                <a:blip r:embed="rId6"/>
                <a:stretch>
                  <a:fillRect b="-263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596A40D6-7BEC-9E71-2152-EE3624D3778C}"/>
                  </a:ext>
                </a:extLst>
              </p:cNvPr>
              <p:cNvSpPr/>
              <p:nvPr/>
            </p:nvSpPr>
            <p:spPr>
              <a:xfrm>
                <a:off x="7481440" y="2570668"/>
                <a:ext cx="1278541" cy="4500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𝐷𝑒𝑛𝑠𝑒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596A40D6-7BEC-9E71-2152-EE3624D377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440" y="2570668"/>
                <a:ext cx="1278541" cy="4500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F20151E1-7C76-8283-C0EF-44895A260A0C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2397395" y="2386002"/>
            <a:ext cx="9848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1302E62B-78BD-461C-524F-9552EEF31232}"/>
              </a:ext>
            </a:extLst>
          </p:cNvPr>
          <p:cNvCxnSpPr>
            <a:cxnSpLocks/>
            <a:stCxn id="5" idx="3"/>
            <a:endCxn id="7" idx="2"/>
          </p:cNvCxnSpPr>
          <p:nvPr/>
        </p:nvCxnSpPr>
        <p:spPr>
          <a:xfrm flipV="1">
            <a:off x="2519929" y="3371457"/>
            <a:ext cx="1853563" cy="78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B4B01A13-3894-B30E-0539-36B7CC3B7B10}"/>
              </a:ext>
            </a:extLst>
          </p:cNvPr>
          <p:cNvCxnSpPr>
            <a:cxnSpLocks/>
            <a:stCxn id="7" idx="0"/>
            <a:endCxn id="10" idx="1"/>
          </p:cNvCxnSpPr>
          <p:nvPr/>
        </p:nvCxnSpPr>
        <p:spPr>
          <a:xfrm flipV="1">
            <a:off x="5631801" y="2795711"/>
            <a:ext cx="1849639" cy="5757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E080C327-E803-ED35-06F7-39295732B7A7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4660799" y="2386002"/>
            <a:ext cx="79767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31A7B304-8372-15C1-A3B5-7D6610DD4A07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6737012" y="2386002"/>
            <a:ext cx="744428" cy="4097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4091C77-8BA5-86E1-F2E3-D92465F0388E}"/>
                  </a:ext>
                </a:extLst>
              </p:cNvPr>
              <p:cNvSpPr txBox="1"/>
              <p:nvPr/>
            </p:nvSpPr>
            <p:spPr>
              <a:xfrm>
                <a:off x="9557652" y="2611045"/>
                <a:ext cx="75969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4091C77-8BA5-86E1-F2E3-D92465F03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7652" y="2611045"/>
                <a:ext cx="759691" cy="369332"/>
              </a:xfrm>
              <a:prstGeom prst="rect">
                <a:avLst/>
              </a:prstGeom>
              <a:blipFill>
                <a:blip r:embed="rId8"/>
                <a:stretch>
                  <a:fillRect l="-6557" b="-1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06741F9D-0720-8550-B637-86789D9A57CF}"/>
              </a:ext>
            </a:extLst>
          </p:cNvPr>
          <p:cNvCxnSpPr>
            <a:cxnSpLocks/>
            <a:stCxn id="10" idx="3"/>
            <a:endCxn id="16" idx="1"/>
          </p:cNvCxnSpPr>
          <p:nvPr/>
        </p:nvCxnSpPr>
        <p:spPr>
          <a:xfrm>
            <a:off x="8759981" y="2795711"/>
            <a:ext cx="797671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7A3D06E7-C088-223C-ABED-BE7074E4BCB7}"/>
                  </a:ext>
                </a:extLst>
              </p:cNvPr>
              <p:cNvSpPr txBox="1"/>
              <p:nvPr/>
            </p:nvSpPr>
            <p:spPr>
              <a:xfrm>
                <a:off x="1807110" y="3194633"/>
                <a:ext cx="37141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ja-JP" sz="2400" i="0" smtClean="0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kumimoji="1" lang="ja-JP" altLang="en-US" sz="2400" dirty="0" err="1"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7A3D06E7-C088-223C-ABED-BE7074E4B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110" y="3194633"/>
                <a:ext cx="371414" cy="369332"/>
              </a:xfrm>
              <a:prstGeom prst="rect">
                <a:avLst/>
              </a:prstGeom>
              <a:blipFill>
                <a:blip r:embed="rId9"/>
                <a:stretch>
                  <a:fillRect l="-26667" t="-10000" b="-3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8965656-5FA2-482B-09EC-AC6B9BA3A4DA}"/>
              </a:ext>
            </a:extLst>
          </p:cNvPr>
          <p:cNvSpPr/>
          <p:nvPr/>
        </p:nvSpPr>
        <p:spPr>
          <a:xfrm>
            <a:off x="4213976" y="2773939"/>
            <a:ext cx="1561763" cy="12005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4863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299A01-0EFE-592C-FACB-CBD7FBCA4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AutoEncoder[4]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9BE30D5-0C9E-9EDA-EF22-BE7CAFD05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ニューラルネットワークを使用した教師</a:t>
            </a:r>
            <a:r>
              <a:rPr kumimoji="1" lang="ja-JP" altLang="en-US"/>
              <a:t>無し学習</a:t>
            </a:r>
            <a:endParaRPr kumimoji="1" lang="en-US" altLang="ja-JP" dirty="0"/>
          </a:p>
          <a:p>
            <a:pPr marL="457200" lvl="1" indent="0">
              <a:buNone/>
            </a:pPr>
            <a:r>
              <a:rPr lang="ja-JP" altLang="en-US"/>
              <a:t>データの</a:t>
            </a:r>
            <a:r>
              <a:rPr lang="ja-JP" altLang="en-US">
                <a:solidFill>
                  <a:srgbClr val="FF0000"/>
                </a:solidFill>
              </a:rPr>
              <a:t>アノテーションを必要としない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endParaRPr lang="en-US" altLang="ja-JP" dirty="0"/>
          </a:p>
          <a:p>
            <a:r>
              <a:rPr kumimoji="1" lang="ja-JP" altLang="en-US" dirty="0"/>
              <a:t>データの次元圧縮・</a:t>
            </a:r>
            <a:r>
              <a:rPr kumimoji="1" lang="ja-JP" altLang="en-US" dirty="0">
                <a:solidFill>
                  <a:srgbClr val="FF0000"/>
                </a:solidFill>
              </a:rPr>
              <a:t>特徴抽出</a:t>
            </a:r>
            <a:r>
              <a:rPr kumimoji="1" lang="ja-JP" altLang="en-US"/>
              <a:t>ができる</a:t>
            </a:r>
            <a:endParaRPr kumimoji="1" lang="en-US" altLang="ja-JP" dirty="0"/>
          </a:p>
          <a:p>
            <a:endParaRPr lang="en-US" altLang="ja-JP" dirty="0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D66F93CE-2FC3-C580-FB6E-DC9B6AC1D225}"/>
              </a:ext>
            </a:extLst>
          </p:cNvPr>
          <p:cNvGrpSpPr/>
          <p:nvPr/>
        </p:nvGrpSpPr>
        <p:grpSpPr>
          <a:xfrm>
            <a:off x="1991544" y="4293096"/>
            <a:ext cx="1261474" cy="1259372"/>
            <a:chOff x="1780534" y="4183377"/>
            <a:chExt cx="1333602" cy="1331380"/>
          </a:xfrm>
        </p:grpSpPr>
        <p:pic>
          <p:nvPicPr>
            <p:cNvPr id="4" name="図 3" descr="口を開けている赤ちゃん&#10;&#10;自動的に生成された説明">
              <a:extLst>
                <a:ext uri="{FF2B5EF4-FFF2-40B4-BE49-F238E27FC236}">
                  <a16:creationId xmlns:a16="http://schemas.microsoft.com/office/drawing/2014/main" id="{04AF5BBC-E07F-7B15-4257-09E8FFEA8F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0534" y="4183377"/>
              <a:ext cx="1333602" cy="1331380"/>
            </a:xfrm>
            <a:prstGeom prst="rect">
              <a:avLst/>
            </a:prstGeom>
            <a:ln w="38100">
              <a:solidFill>
                <a:srgbClr val="00B0F0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CA47F749-506D-6645-E56F-7DF70345303B}"/>
                    </a:ext>
                  </a:extLst>
                </p:cNvPr>
                <p:cNvSpPr txBox="1"/>
                <p:nvPr/>
              </p:nvSpPr>
              <p:spPr>
                <a:xfrm>
                  <a:off x="2009565" y="4650134"/>
                  <a:ext cx="875540" cy="35038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ja-JP" sz="20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𝑖𝑛𝑝𝑢𝑡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2000" dirty="0"/>
                </a:p>
              </p:txBody>
            </p:sp>
          </mc:Choice>
          <mc:Fallback xmlns="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CA47F749-506D-6645-E56F-7DF7034530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9565" y="4650134"/>
                  <a:ext cx="875540" cy="350388"/>
                </a:xfrm>
                <a:prstGeom prst="rect">
                  <a:avLst/>
                </a:prstGeom>
                <a:blipFill>
                  <a:blip r:embed="rId4"/>
                  <a:stretch>
                    <a:fillRect b="-2592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463BFC51-3E12-7DA7-396C-F2FB0E8F9B84}"/>
              </a:ext>
            </a:extLst>
          </p:cNvPr>
          <p:cNvGrpSpPr/>
          <p:nvPr/>
        </p:nvGrpSpPr>
        <p:grpSpPr>
          <a:xfrm>
            <a:off x="8907972" y="4292214"/>
            <a:ext cx="1261474" cy="1259372"/>
            <a:chOff x="4035398" y="4275392"/>
            <a:chExt cx="1333602" cy="1331380"/>
          </a:xfrm>
        </p:grpSpPr>
        <p:pic>
          <p:nvPicPr>
            <p:cNvPr id="6" name="図 5" descr="口を開けている赤ちゃん&#10;&#10;自動的に生成された説明">
              <a:extLst>
                <a:ext uri="{FF2B5EF4-FFF2-40B4-BE49-F238E27FC236}">
                  <a16:creationId xmlns:a16="http://schemas.microsoft.com/office/drawing/2014/main" id="{90B66B6A-9B88-0B10-D6BF-8B1FB8FD88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5398" y="4275392"/>
              <a:ext cx="1333602" cy="1331380"/>
            </a:xfrm>
            <a:prstGeom prst="rect">
              <a:avLst/>
            </a:prstGeom>
            <a:ln w="38100">
              <a:solidFill>
                <a:srgbClr val="00B0F0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C9CBB214-AC40-F6A2-3C41-2E444A558731}"/>
                    </a:ext>
                  </a:extLst>
                </p:cNvPr>
                <p:cNvSpPr txBox="1"/>
                <p:nvPr/>
              </p:nvSpPr>
              <p:spPr>
                <a:xfrm>
                  <a:off x="4249557" y="4742149"/>
                  <a:ext cx="875540" cy="35038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ja-JP" sz="20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𝑜𝑢𝑡𝑝𝑢𝑡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2000" dirty="0"/>
                </a:p>
              </p:txBody>
            </p:sp>
          </mc:Choice>
          <mc:Fallback xmlns="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C9CBB214-AC40-F6A2-3C41-2E444A5587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9557" y="4742149"/>
                  <a:ext cx="875540" cy="350388"/>
                </a:xfrm>
                <a:prstGeom prst="rect">
                  <a:avLst/>
                </a:prstGeom>
                <a:blipFill>
                  <a:blip r:embed="rId7"/>
                  <a:stretch>
                    <a:fillRect l="-4545" r="-1515" b="-2592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128E22F2-2E00-EE3A-DC45-2D1F8BD4FED9}"/>
                  </a:ext>
                </a:extLst>
              </p:cNvPr>
              <p:cNvSpPr txBox="1"/>
              <p:nvPr/>
            </p:nvSpPr>
            <p:spPr>
              <a:xfrm>
                <a:off x="5844158" y="4661172"/>
                <a:ext cx="503683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ja-JP" altLang="en-US" sz="2800" dirty="0"/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128E22F2-2E00-EE3A-DC45-2D1F8BD4F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4158" y="4661172"/>
                <a:ext cx="50368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7FE85046-9F44-96DF-E459-98D9DBC88E1F}"/>
              </a:ext>
            </a:extLst>
          </p:cNvPr>
          <p:cNvCxnSpPr>
            <a:cxnSpLocks/>
            <a:stCxn id="4" idx="3"/>
            <a:endCxn id="12" idx="2"/>
          </p:cNvCxnSpPr>
          <p:nvPr/>
        </p:nvCxnSpPr>
        <p:spPr>
          <a:xfrm>
            <a:off x="3253018" y="4922782"/>
            <a:ext cx="71297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5E59742F-C0BE-7D12-FD07-D2606EDC82C8}"/>
              </a:ext>
            </a:extLst>
          </p:cNvPr>
          <p:cNvCxnSpPr>
            <a:cxnSpLocks/>
            <a:stCxn id="12" idx="0"/>
            <a:endCxn id="13" idx="1"/>
          </p:cNvCxnSpPr>
          <p:nvPr/>
        </p:nvCxnSpPr>
        <p:spPr>
          <a:xfrm>
            <a:off x="5123917" y="4922782"/>
            <a:ext cx="72024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CFD15B1B-7F23-7612-61A5-7805694B34BE}"/>
              </a:ext>
            </a:extLst>
          </p:cNvPr>
          <p:cNvCxnSpPr>
            <a:cxnSpLocks/>
            <a:stCxn id="13" idx="3"/>
            <a:endCxn id="17" idx="0"/>
          </p:cNvCxnSpPr>
          <p:nvPr/>
        </p:nvCxnSpPr>
        <p:spPr>
          <a:xfrm flipV="1">
            <a:off x="6347841" y="4915583"/>
            <a:ext cx="654036" cy="71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775DAD0F-489F-6EE4-68C5-D2FD3AEF0846}"/>
              </a:ext>
            </a:extLst>
          </p:cNvPr>
          <p:cNvCxnSpPr>
            <a:cxnSpLocks/>
            <a:stCxn id="17" idx="2"/>
            <a:endCxn id="6" idx="1"/>
          </p:cNvCxnSpPr>
          <p:nvPr/>
        </p:nvCxnSpPr>
        <p:spPr>
          <a:xfrm>
            <a:off x="8159805" y="4915583"/>
            <a:ext cx="748167" cy="63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台形 11">
            <a:extLst>
              <a:ext uri="{FF2B5EF4-FFF2-40B4-BE49-F238E27FC236}">
                <a16:creationId xmlns:a16="http://schemas.microsoft.com/office/drawing/2014/main" id="{52AD2C0C-5B5B-98B8-BC34-A7640293D8B1}"/>
              </a:ext>
            </a:extLst>
          </p:cNvPr>
          <p:cNvSpPr/>
          <p:nvPr/>
        </p:nvSpPr>
        <p:spPr>
          <a:xfrm rot="5400000">
            <a:off x="3915267" y="4343818"/>
            <a:ext cx="1259372" cy="1157928"/>
          </a:xfrm>
          <a:prstGeom prst="trapezoid">
            <a:avLst>
              <a:gd name="adj" fmla="val 30152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encoder</a:t>
            </a:r>
            <a:endParaRPr kumimoji="1" lang="ja-JP" altLang="en-US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17" name="台形 16">
            <a:extLst>
              <a:ext uri="{FF2B5EF4-FFF2-40B4-BE49-F238E27FC236}">
                <a16:creationId xmlns:a16="http://schemas.microsoft.com/office/drawing/2014/main" id="{D259ABE4-9206-1B20-E333-757F3D3B5BF4}"/>
              </a:ext>
            </a:extLst>
          </p:cNvPr>
          <p:cNvSpPr/>
          <p:nvPr/>
        </p:nvSpPr>
        <p:spPr>
          <a:xfrm rot="16200000" flipH="1">
            <a:off x="6951155" y="4336619"/>
            <a:ext cx="1259372" cy="1157928"/>
          </a:xfrm>
          <a:prstGeom prst="trapezoid">
            <a:avLst>
              <a:gd name="adj" fmla="val 30152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kumimoji="1" lang="ja-JP" altLang="en-US" i="1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91C2CD22-0EE6-2EC6-F46B-A97F58785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18</a:t>
            </a:fld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D65C3F7-F359-43CA-C533-8DDAF0BA7E1E}"/>
              </a:ext>
            </a:extLst>
          </p:cNvPr>
          <p:cNvSpPr txBox="1"/>
          <p:nvPr/>
        </p:nvSpPr>
        <p:spPr>
          <a:xfrm>
            <a:off x="462281" y="6292065"/>
            <a:ext cx="112674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altLang="ja-JP" sz="1050" dirty="0">
                <a:effectLst/>
                <a:latin typeface="+mj-lt"/>
                <a:ea typeface="ＭＳ 明朝" panose="02020609040205080304" pitchFamily="49" charset="-128"/>
                <a:cs typeface="Times New Roman" panose="02020603050405020304" pitchFamily="18" charset="0"/>
              </a:rPr>
              <a:t>[4] G. E. Hinton, et al. "Reducing the dimensionality of data with neural networks." Science Vol.313, No.5786, PP.504-507 (2006).</a:t>
            </a:r>
            <a:endParaRPr lang="ja-JP" altLang="ja-JP" sz="1050" dirty="0">
              <a:effectLst/>
              <a:latin typeface="+mj-lt"/>
              <a:ea typeface="ＭＳ 明朝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1DED827-6C24-5EF8-ED2C-1B30A148F215}"/>
              </a:ext>
            </a:extLst>
          </p:cNvPr>
          <p:cNvSpPr txBox="1"/>
          <p:nvPr/>
        </p:nvSpPr>
        <p:spPr>
          <a:xfrm>
            <a:off x="7001877" y="4712472"/>
            <a:ext cx="1152275" cy="40011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20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decoder </a:t>
            </a:r>
            <a:endParaRPr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6040687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図 20" descr="口を開けている赤ちゃん&#10;&#10;自動的に生成された説明">
            <a:extLst>
              <a:ext uri="{FF2B5EF4-FFF2-40B4-BE49-F238E27FC236}">
                <a16:creationId xmlns:a16="http://schemas.microsoft.com/office/drawing/2014/main" id="{6F84F5E1-A26F-3E97-8682-97A56DFA08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5154" y="4289496"/>
            <a:ext cx="1261474" cy="1259372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C0299A01-0EFE-592C-FACB-CBD7FBCA4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 err="1"/>
              <a:t>AutoEncoder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B9BE30D5-0C9E-9EDA-EF22-BE7CAFD05E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kumimoji="1" lang="ja-JP" altLang="en-US" dirty="0"/>
                  <a:t>入力したデータを復元するように学習</a:t>
                </a:r>
                <a:endParaRPr kumimoji="1" lang="en-US" altLang="ja-JP" dirty="0"/>
              </a:p>
              <a:p>
                <a:endParaRPr kumimoji="1" lang="en-US" altLang="ja-JP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func>
                            <m:func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ja-JP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1" i="0" smtClean="0">
                                          <a:latin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1" i="0" smtClean="0">
                                          <a:latin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b="1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𝑑𝑒𝑐𝑜𝑑𝑒𝑟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𝑒𝑛𝑐𝑜𝑑𝑒𝑟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b="1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#(1)</m:t>
                          </m:r>
                        </m:e>
                      </m:eqArr>
                    </m:oMath>
                  </m:oMathPara>
                </a14:m>
                <a:endParaRPr kumimoji="1" lang="en-US" altLang="ja-JP" b="0" dirty="0"/>
              </a:p>
              <a:p>
                <a:pPr marL="0" indent="0">
                  <a:buNone/>
                </a:pPr>
                <a:r>
                  <a:rPr kumimoji="1" lang="en-US" altLang="ja-JP" b="0" dirty="0"/>
                  <a:t>※</a:t>
                </a:r>
                <a:r>
                  <a:rPr kumimoji="1" lang="ja-JP" altLang="en-US" b="0" dirty="0"/>
                  <a:t>　</a:t>
                </a:r>
                <a:r>
                  <a:rPr kumimoji="1" lang="en-US" altLang="ja-JP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kumimoji="1" lang="en-US" altLang="ja-JP" b="0" dirty="0"/>
                  <a:t> : </a:t>
                </a:r>
                <a:r>
                  <a:rPr kumimoji="1" lang="ja-JP" altLang="en-US" b="0" dirty="0"/>
                  <a:t>エンコーダのパラメータ</a:t>
                </a:r>
                <a:r>
                  <a:rPr kumimoji="1" lang="en-US" altLang="ja-JP" b="0" dirty="0"/>
                  <a:t>, </a:t>
                </a:r>
                <a:r>
                  <a:rPr kumimoji="1" lang="ja-JP" altLang="en-US" b="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kumimoji="1" lang="en-US" altLang="ja-JP" b="0" dirty="0"/>
                  <a:t> </a:t>
                </a:r>
                <a:r>
                  <a:rPr kumimoji="1" lang="en-US" altLang="ja-JP" sz="1200" b="0" dirty="0"/>
                  <a:t> </a:t>
                </a:r>
                <a:r>
                  <a:rPr kumimoji="1" lang="en-US" altLang="ja-JP" b="0" dirty="0"/>
                  <a:t>: </a:t>
                </a:r>
                <a:r>
                  <a:rPr kumimoji="1" lang="ja-JP" altLang="en-US" b="0" dirty="0"/>
                  <a:t>デコーダのパラメータ</a:t>
                </a:r>
                <a:endParaRPr kumimoji="1" lang="en-US" altLang="ja-JP" b="0" dirty="0"/>
              </a:p>
              <a:p>
                <a:pPr marL="0" indent="0">
                  <a:buNone/>
                </a:pPr>
                <a:r>
                  <a:rPr lang="ja-JP" altLang="en-US" dirty="0"/>
                  <a:t>　　　</a:t>
                </a:r>
                <a:r>
                  <a:rPr kumimoji="1" lang="en-US" altLang="ja-JP" b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kumimoji="1" lang="en-US" altLang="ja-JP" b="0" dirty="0"/>
                  <a:t> </a:t>
                </a:r>
                <a:r>
                  <a:rPr kumimoji="1" lang="ja-JP" altLang="en-US" b="0" dirty="0"/>
                  <a:t>  </a:t>
                </a:r>
                <a:r>
                  <a:rPr kumimoji="1" lang="en-US" altLang="ja-JP" b="0" dirty="0"/>
                  <a:t>: </a:t>
                </a:r>
                <a:r>
                  <a:rPr kumimoji="1" lang="ja-JP" altLang="en-US" b="0" dirty="0"/>
                  <a:t>任意の誤差関数</a:t>
                </a:r>
                <a:r>
                  <a:rPr kumimoji="1" lang="en-US" altLang="ja-JP" b="0" dirty="0"/>
                  <a:t>(MSE</a:t>
                </a:r>
                <a:r>
                  <a:rPr kumimoji="1" lang="ja-JP" altLang="en-US" b="0" dirty="0"/>
                  <a:t>等</a:t>
                </a:r>
                <a:r>
                  <a:rPr kumimoji="1" lang="en-US" altLang="ja-JP" b="0" dirty="0"/>
                  <a:t>),</a:t>
                </a:r>
                <a:r>
                  <a:rPr kumimoji="1" lang="ja-JP" altLang="en-US" b="0" dirty="0"/>
                  <a:t>　</a:t>
                </a:r>
                <a14:m>
                  <m:oMath xmlns:m="http://schemas.openxmlformats.org/officeDocument/2006/math">
                    <m:r>
                      <a:rPr lang="en-US" altLang="ja-JP" b="1" i="0" smtClean="0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kumimoji="1" lang="en-US" altLang="ja-JP" b="0" dirty="0"/>
                  <a:t> </a:t>
                </a:r>
                <a:r>
                  <a:rPr kumimoji="1" lang="ja-JP" altLang="en-US" b="0" dirty="0"/>
                  <a:t>  </a:t>
                </a:r>
                <a:r>
                  <a:rPr kumimoji="1" lang="ja-JP" altLang="en-US" sz="1000" b="0" dirty="0"/>
                  <a:t> </a:t>
                </a:r>
                <a:r>
                  <a:rPr kumimoji="1" lang="en-US" altLang="ja-JP" b="0" dirty="0"/>
                  <a:t>: </a:t>
                </a:r>
                <a:r>
                  <a:rPr kumimoji="1" lang="ja-JP" altLang="en-US" b="0" dirty="0"/>
                  <a:t>入力</a:t>
                </a:r>
                <a:endParaRPr kumimoji="1" lang="en-US" altLang="ja-JP" b="0" dirty="0"/>
              </a:p>
              <a:p>
                <a:pPr marL="0" indent="0">
                  <a:buNone/>
                </a:pPr>
                <a:endParaRPr kumimoji="1" lang="ja-JP" altLang="en-US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B9BE30D5-0C9E-9EDA-EF22-BE7CAFD05E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136" t="-196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D66F93CE-2FC3-C580-FB6E-DC9B6AC1D225}"/>
              </a:ext>
            </a:extLst>
          </p:cNvPr>
          <p:cNvGrpSpPr/>
          <p:nvPr/>
        </p:nvGrpSpPr>
        <p:grpSpPr>
          <a:xfrm>
            <a:off x="1991544" y="4293096"/>
            <a:ext cx="1261474" cy="1259372"/>
            <a:chOff x="1780534" y="4183377"/>
            <a:chExt cx="1333602" cy="1331380"/>
          </a:xfrm>
        </p:grpSpPr>
        <p:pic>
          <p:nvPicPr>
            <p:cNvPr id="4" name="図 3" descr="口を開けている赤ちゃん&#10;&#10;自動的に生成された説明">
              <a:extLst>
                <a:ext uri="{FF2B5EF4-FFF2-40B4-BE49-F238E27FC236}">
                  <a16:creationId xmlns:a16="http://schemas.microsoft.com/office/drawing/2014/main" id="{04AF5BBC-E07F-7B15-4257-09E8FFEA8F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0534" y="4183377"/>
              <a:ext cx="1333602" cy="1331380"/>
            </a:xfrm>
            <a:prstGeom prst="rect">
              <a:avLst/>
            </a:prstGeom>
            <a:ln w="38100">
              <a:solidFill>
                <a:srgbClr val="00B0F0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CA47F749-506D-6645-E56F-7DF70345303B}"/>
                    </a:ext>
                  </a:extLst>
                </p:cNvPr>
                <p:cNvSpPr txBox="1"/>
                <p:nvPr/>
              </p:nvSpPr>
              <p:spPr>
                <a:xfrm>
                  <a:off x="2009565" y="4650134"/>
                  <a:ext cx="875540" cy="350388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ja-JP" sz="20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𝑖𝑛𝑝𝑢𝑡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2000" dirty="0"/>
                </a:p>
              </p:txBody>
            </p:sp>
          </mc:Choice>
          <mc:Fallback xmlns="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CA47F749-506D-6645-E56F-7DF7034530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9565" y="4650134"/>
                  <a:ext cx="875540" cy="350388"/>
                </a:xfrm>
                <a:prstGeom prst="rect">
                  <a:avLst/>
                </a:prstGeom>
                <a:blipFill>
                  <a:blip r:embed="rId7"/>
                  <a:stretch>
                    <a:fillRect b="-27778"/>
                  </a:stretch>
                </a:blipFill>
                <a:ln w="38100">
                  <a:noFill/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C9CBB214-AC40-F6A2-3C41-2E444A558731}"/>
                  </a:ext>
                </a:extLst>
              </p:cNvPr>
              <p:cNvSpPr txBox="1"/>
              <p:nvPr/>
            </p:nvSpPr>
            <p:spPr>
              <a:xfrm>
                <a:off x="9085916" y="4734608"/>
                <a:ext cx="828186" cy="331437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ja-JP" sz="20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𝑜𝑢𝑡𝑝𝑢𝑡</m:t>
                          </m:r>
                        </m:sub>
                      </m:sSub>
                    </m:oMath>
                  </m:oMathPara>
                </a14:m>
                <a:endParaRPr kumimoji="1" lang="ja-JP" altLang="en-US" sz="20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C9CBB214-AC40-F6A2-3C41-2E444A558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5916" y="4734608"/>
                <a:ext cx="828186" cy="331437"/>
              </a:xfrm>
              <a:prstGeom prst="rect">
                <a:avLst/>
              </a:prstGeom>
              <a:blipFill>
                <a:blip r:embed="rId8"/>
                <a:stretch>
                  <a:fillRect l="-4412" r="-2206" b="-25926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128E22F2-2E00-EE3A-DC45-2D1F8BD4FED9}"/>
                  </a:ext>
                </a:extLst>
              </p:cNvPr>
              <p:cNvSpPr txBox="1"/>
              <p:nvPr/>
            </p:nvSpPr>
            <p:spPr>
              <a:xfrm>
                <a:off x="5843948" y="4661172"/>
                <a:ext cx="503683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ja-JP" altLang="en-US" sz="2800" dirty="0"/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128E22F2-2E00-EE3A-DC45-2D1F8BD4F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948" y="4661172"/>
                <a:ext cx="503683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7FE85046-9F44-96DF-E459-98D9DBC88E1F}"/>
              </a:ext>
            </a:extLst>
          </p:cNvPr>
          <p:cNvCxnSpPr>
            <a:cxnSpLocks/>
            <a:stCxn id="4" idx="3"/>
            <a:endCxn id="12" idx="2"/>
          </p:cNvCxnSpPr>
          <p:nvPr/>
        </p:nvCxnSpPr>
        <p:spPr>
          <a:xfrm>
            <a:off x="3253018" y="4922782"/>
            <a:ext cx="71297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5E59742F-C0BE-7D12-FD07-D2606EDC82C8}"/>
              </a:ext>
            </a:extLst>
          </p:cNvPr>
          <p:cNvCxnSpPr>
            <a:cxnSpLocks/>
            <a:stCxn id="12" idx="0"/>
            <a:endCxn id="13" idx="1"/>
          </p:cNvCxnSpPr>
          <p:nvPr/>
        </p:nvCxnSpPr>
        <p:spPr>
          <a:xfrm>
            <a:off x="5123917" y="4922782"/>
            <a:ext cx="72003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CFD15B1B-7F23-7612-61A5-7805694B34BE}"/>
              </a:ext>
            </a:extLst>
          </p:cNvPr>
          <p:cNvCxnSpPr>
            <a:cxnSpLocks/>
            <a:stCxn id="13" idx="3"/>
            <a:endCxn id="17" idx="0"/>
          </p:cNvCxnSpPr>
          <p:nvPr/>
        </p:nvCxnSpPr>
        <p:spPr>
          <a:xfrm flipV="1">
            <a:off x="6347631" y="4915583"/>
            <a:ext cx="654246" cy="71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775DAD0F-489F-6EE4-68C5-D2FD3AEF0846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8159805" y="4915583"/>
            <a:ext cx="709467" cy="71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台形 11">
            <a:extLst>
              <a:ext uri="{FF2B5EF4-FFF2-40B4-BE49-F238E27FC236}">
                <a16:creationId xmlns:a16="http://schemas.microsoft.com/office/drawing/2014/main" id="{52AD2C0C-5B5B-98B8-BC34-A7640293D8B1}"/>
              </a:ext>
            </a:extLst>
          </p:cNvPr>
          <p:cNvSpPr/>
          <p:nvPr/>
        </p:nvSpPr>
        <p:spPr>
          <a:xfrm rot="5400000">
            <a:off x="3915267" y="4343818"/>
            <a:ext cx="1259372" cy="1157928"/>
          </a:xfrm>
          <a:prstGeom prst="trapezoid">
            <a:avLst>
              <a:gd name="adj" fmla="val 30152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encoder</a:t>
            </a:r>
            <a:endParaRPr kumimoji="1" lang="ja-JP" altLang="en-US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17" name="台形 16">
            <a:extLst>
              <a:ext uri="{FF2B5EF4-FFF2-40B4-BE49-F238E27FC236}">
                <a16:creationId xmlns:a16="http://schemas.microsoft.com/office/drawing/2014/main" id="{D259ABE4-9206-1B20-E333-757F3D3B5BF4}"/>
              </a:ext>
            </a:extLst>
          </p:cNvPr>
          <p:cNvSpPr/>
          <p:nvPr/>
        </p:nvSpPr>
        <p:spPr>
          <a:xfrm rot="16200000" flipH="1">
            <a:off x="6951155" y="4336619"/>
            <a:ext cx="1259372" cy="1157928"/>
          </a:xfrm>
          <a:prstGeom prst="trapezoid">
            <a:avLst>
              <a:gd name="adj" fmla="val 30152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kumimoji="1" lang="ja-JP" altLang="en-US" i="1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91C2CD22-0EE6-2EC6-F46B-A97F58785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19</a:t>
            </a:fld>
            <a:endParaRPr kumimoji="1" lang="ja-JP" altLang="en-US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717BB838-A01D-CB7E-7BA6-DCD5B9E83280}"/>
              </a:ext>
            </a:extLst>
          </p:cNvPr>
          <p:cNvGrpSpPr/>
          <p:nvPr/>
        </p:nvGrpSpPr>
        <p:grpSpPr>
          <a:xfrm>
            <a:off x="10720088" y="4293096"/>
            <a:ext cx="1261474" cy="1259372"/>
            <a:chOff x="1780534" y="4183377"/>
            <a:chExt cx="1333602" cy="1331380"/>
          </a:xfrm>
        </p:grpSpPr>
        <p:pic>
          <p:nvPicPr>
            <p:cNvPr id="15" name="図 14" descr="口を開けている赤ちゃん&#10;&#10;自動的に生成された説明">
              <a:extLst>
                <a:ext uri="{FF2B5EF4-FFF2-40B4-BE49-F238E27FC236}">
                  <a16:creationId xmlns:a16="http://schemas.microsoft.com/office/drawing/2014/main" id="{C342D571-F7B9-F588-5876-1C18E63506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0534" y="4183377"/>
              <a:ext cx="1333602" cy="1331380"/>
            </a:xfrm>
            <a:prstGeom prst="rect">
              <a:avLst/>
            </a:prstGeom>
            <a:ln w="38100">
              <a:solidFill>
                <a:srgbClr val="00B0F0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9AF517E8-6E9A-13B6-0AE0-26019955C83E}"/>
                    </a:ext>
                  </a:extLst>
                </p:cNvPr>
                <p:cNvSpPr txBox="1"/>
                <p:nvPr/>
              </p:nvSpPr>
              <p:spPr>
                <a:xfrm>
                  <a:off x="2009565" y="4650134"/>
                  <a:ext cx="875540" cy="35038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ja-JP" sz="20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𝑖𝑛𝑝𝑢𝑡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2000" dirty="0"/>
                </a:p>
              </p:txBody>
            </p:sp>
          </mc:Choice>
          <mc:Fallback xmlns="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9AF517E8-6E9A-13B6-0AE0-26019955C8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9565" y="4650134"/>
                  <a:ext cx="875540" cy="350388"/>
                </a:xfrm>
                <a:prstGeom prst="rect">
                  <a:avLst/>
                </a:prstGeom>
                <a:blipFill>
                  <a:blip r:embed="rId10"/>
                  <a:stretch>
                    <a:fillRect b="-2592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62CDB749-566E-0996-B545-AC1953FF6E18}"/>
              </a:ext>
            </a:extLst>
          </p:cNvPr>
          <p:cNvCxnSpPr>
            <a:cxnSpLocks/>
          </p:cNvCxnSpPr>
          <p:nvPr/>
        </p:nvCxnSpPr>
        <p:spPr>
          <a:xfrm>
            <a:off x="10416480" y="3702867"/>
            <a:ext cx="0" cy="2174405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786B0C5A-C436-48A6-CD15-D0409770B8C4}"/>
              </a:ext>
            </a:extLst>
          </p:cNvPr>
          <p:cNvCxnSpPr>
            <a:cxnSpLocks/>
            <a:endCxn id="15" idx="2"/>
          </p:cNvCxnSpPr>
          <p:nvPr/>
        </p:nvCxnSpPr>
        <p:spPr>
          <a:xfrm rot="16200000" flipH="1">
            <a:off x="10425417" y="4627060"/>
            <a:ext cx="12700" cy="1850816"/>
          </a:xfrm>
          <a:prstGeom prst="curvedConnector3">
            <a:avLst>
              <a:gd name="adj1" fmla="val 420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93E0C499-759C-45F5-6794-03D39BBF8D6B}"/>
              </a:ext>
            </a:extLst>
          </p:cNvPr>
          <p:cNvSpPr txBox="1"/>
          <p:nvPr/>
        </p:nvSpPr>
        <p:spPr>
          <a:xfrm>
            <a:off x="9768409" y="6083643"/>
            <a:ext cx="12961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/>
              <a:t>近づける</a:t>
            </a:r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690ACD17-FB05-D3DF-2D49-25CD8C165E97}"/>
              </a:ext>
            </a:extLst>
          </p:cNvPr>
          <p:cNvCxnSpPr>
            <a:cxnSpLocks/>
            <a:stCxn id="4" idx="0"/>
            <a:endCxn id="15" idx="0"/>
          </p:cNvCxnSpPr>
          <p:nvPr/>
        </p:nvCxnSpPr>
        <p:spPr>
          <a:xfrm rot="5400000" flipH="1" flipV="1">
            <a:off x="6986553" y="-71176"/>
            <a:ext cx="12700" cy="8728544"/>
          </a:xfrm>
          <a:prstGeom prst="bentConnector3">
            <a:avLst>
              <a:gd name="adj1" fmla="val 3400000"/>
            </a:avLst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35C1F5A7-392B-84D9-4BBF-E77B8207D188}"/>
                  </a:ext>
                </a:extLst>
              </p:cNvPr>
              <p:cNvSpPr txBox="1"/>
              <p:nvPr/>
            </p:nvSpPr>
            <p:spPr>
              <a:xfrm>
                <a:off x="6750034" y="3597460"/>
                <a:ext cx="503683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ja-JP" altLang="en-US" sz="2800" dirty="0"/>
              </a:p>
            </p:txBody>
          </p:sp>
        </mc:Choice>
        <mc:Fallback xmlns="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35C1F5A7-392B-84D9-4BBF-E77B8207D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0034" y="3597460"/>
                <a:ext cx="503683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F1364B9-B513-3FFE-3955-42E9035DDAD2}"/>
              </a:ext>
            </a:extLst>
          </p:cNvPr>
          <p:cNvSpPr txBox="1"/>
          <p:nvPr/>
        </p:nvSpPr>
        <p:spPr>
          <a:xfrm>
            <a:off x="7001877" y="4712472"/>
            <a:ext cx="1152275" cy="40011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20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decoder </a:t>
            </a:r>
            <a:endParaRPr lang="ja-JP" altLang="en-US" sz="2000"/>
          </a:p>
        </p:txBody>
      </p:sp>
    </p:spTree>
    <p:extLst>
      <p:ext uri="{BB962C8B-B14F-4D97-AF65-F5344CB8AC3E}">
        <p14:creationId xmlns:p14="http://schemas.microsoft.com/office/powerpoint/2010/main" val="756530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角丸四角形 29">
            <a:extLst>
              <a:ext uri="{FF2B5EF4-FFF2-40B4-BE49-F238E27FC236}">
                <a16:creationId xmlns:a16="http://schemas.microsoft.com/office/drawing/2014/main" id="{A4862D58-9387-76F6-ECC7-B6ECADDD36B5}"/>
              </a:ext>
            </a:extLst>
          </p:cNvPr>
          <p:cNvSpPr/>
          <p:nvPr/>
        </p:nvSpPr>
        <p:spPr>
          <a:xfrm>
            <a:off x="3575720" y="1484784"/>
            <a:ext cx="5040560" cy="1800200"/>
          </a:xfrm>
          <a:prstGeom prst="roundRect">
            <a:avLst/>
          </a:prstGeom>
          <a:noFill/>
          <a:ln w="57150">
            <a:solidFill>
              <a:srgbClr val="92D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A874F55-05C7-C729-131F-7FD2377F8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提案手法の学習モデル</a:t>
            </a:r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655A6572-B9A0-39B0-688F-5CDB28813227}"/>
              </a:ext>
            </a:extLst>
          </p:cNvPr>
          <p:cNvGrpSpPr/>
          <p:nvPr/>
        </p:nvGrpSpPr>
        <p:grpSpPr>
          <a:xfrm>
            <a:off x="1117116" y="1700808"/>
            <a:ext cx="1333602" cy="1331380"/>
            <a:chOff x="1780534" y="4183377"/>
            <a:chExt cx="1333602" cy="1331380"/>
          </a:xfrm>
        </p:grpSpPr>
        <p:pic>
          <p:nvPicPr>
            <p:cNvPr id="18" name="図 17" descr="口を開けている赤ちゃん&#10;&#10;自動的に生成された説明">
              <a:extLst>
                <a:ext uri="{FF2B5EF4-FFF2-40B4-BE49-F238E27FC236}">
                  <a16:creationId xmlns:a16="http://schemas.microsoft.com/office/drawing/2014/main" id="{8E745A32-F211-3923-CF2B-ED50467D93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0534" y="4183377"/>
              <a:ext cx="1333602" cy="1331380"/>
            </a:xfrm>
            <a:prstGeom prst="rect">
              <a:avLst/>
            </a:prstGeom>
            <a:ln w="38100">
              <a:solidFill>
                <a:srgbClr val="00B0F0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14EC6AF2-8A91-0F5B-85FF-25648324824A}"/>
                    </a:ext>
                  </a:extLst>
                </p:cNvPr>
                <p:cNvSpPr txBox="1"/>
                <p:nvPr/>
              </p:nvSpPr>
              <p:spPr>
                <a:xfrm>
                  <a:off x="2009565" y="4650134"/>
                  <a:ext cx="875540" cy="3978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ja-JP" sz="24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𝑖𝑛𝑝𝑢𝑡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14EC6AF2-8A91-0F5B-85FF-2564832482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9565" y="4650134"/>
                  <a:ext cx="875540" cy="397866"/>
                </a:xfrm>
                <a:prstGeom prst="rect">
                  <a:avLst/>
                </a:prstGeom>
                <a:blipFill>
                  <a:blip r:embed="rId4"/>
                  <a:stretch>
                    <a:fillRect l="-4348" r="-1449" b="-2121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430753EE-690C-291F-E1E6-15641A958D8B}"/>
              </a:ext>
            </a:extLst>
          </p:cNvPr>
          <p:cNvGrpSpPr/>
          <p:nvPr/>
        </p:nvGrpSpPr>
        <p:grpSpPr>
          <a:xfrm>
            <a:off x="9741282" y="1708008"/>
            <a:ext cx="1333602" cy="1331380"/>
            <a:chOff x="4020526" y="4275392"/>
            <a:chExt cx="1333602" cy="1331380"/>
          </a:xfrm>
        </p:grpSpPr>
        <p:pic>
          <p:nvPicPr>
            <p:cNvPr id="21" name="図 20" descr="口を開けている赤ちゃん&#10;&#10;自動的に生成された説明">
              <a:extLst>
                <a:ext uri="{FF2B5EF4-FFF2-40B4-BE49-F238E27FC236}">
                  <a16:creationId xmlns:a16="http://schemas.microsoft.com/office/drawing/2014/main" id="{13482717-F66E-7B39-4C91-B4036544EA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20526" y="4275392"/>
              <a:ext cx="1333602" cy="1331380"/>
            </a:xfrm>
            <a:prstGeom prst="rect">
              <a:avLst/>
            </a:prstGeom>
            <a:ln w="38100">
              <a:solidFill>
                <a:srgbClr val="00B0F0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30E378E2-4940-1459-E133-AE46B5A3C3F2}"/>
                    </a:ext>
                  </a:extLst>
                </p:cNvPr>
                <p:cNvSpPr txBox="1"/>
                <p:nvPr/>
              </p:nvSpPr>
              <p:spPr>
                <a:xfrm>
                  <a:off x="4184608" y="4731992"/>
                  <a:ext cx="1005437" cy="3978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ja-JP" sz="24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𝑜𝑢𝑡𝑝𝑢𝑡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30E378E2-4940-1459-E133-AE46B5A3C3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4608" y="4731992"/>
                  <a:ext cx="1005437" cy="397866"/>
                </a:xfrm>
                <a:prstGeom prst="rect">
                  <a:avLst/>
                </a:prstGeom>
                <a:blipFill>
                  <a:blip r:embed="rId7"/>
                  <a:stretch>
                    <a:fillRect l="-5000" b="-2187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A2D339EC-8EEE-F194-D5B7-67848E5842DE}"/>
                  </a:ext>
                </a:extLst>
              </p:cNvPr>
              <p:cNvSpPr txBox="1"/>
              <p:nvPr/>
            </p:nvSpPr>
            <p:spPr>
              <a:xfrm>
                <a:off x="5830968" y="2143656"/>
                <a:ext cx="532482" cy="46166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ja-JP" altLang="en-US" sz="2400" dirty="0"/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A2D339EC-8EEE-F194-D5B7-67848E584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968" y="2143656"/>
                <a:ext cx="532482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FA2A5A8E-2ABC-73D7-9A74-D7413B9FFDF9}"/>
              </a:ext>
            </a:extLst>
          </p:cNvPr>
          <p:cNvCxnSpPr>
            <a:cxnSpLocks/>
            <a:stCxn id="18" idx="3"/>
            <a:endCxn id="28" idx="2"/>
          </p:cNvCxnSpPr>
          <p:nvPr/>
        </p:nvCxnSpPr>
        <p:spPr>
          <a:xfrm>
            <a:off x="2450718" y="2366498"/>
            <a:ext cx="1515271" cy="72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7118ADBC-4DC0-884B-2CD0-C1FEF126C241}"/>
              </a:ext>
            </a:extLst>
          </p:cNvPr>
          <p:cNvCxnSpPr>
            <a:cxnSpLocks/>
            <a:stCxn id="28" idx="0"/>
            <a:endCxn id="23" idx="1"/>
          </p:cNvCxnSpPr>
          <p:nvPr/>
        </p:nvCxnSpPr>
        <p:spPr>
          <a:xfrm>
            <a:off x="5190125" y="2373698"/>
            <a:ext cx="640843" cy="7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7050E732-C260-62D2-03A8-E2F3F5DAA166}"/>
              </a:ext>
            </a:extLst>
          </p:cNvPr>
          <p:cNvCxnSpPr>
            <a:cxnSpLocks/>
            <a:stCxn id="23" idx="3"/>
            <a:endCxn id="29" idx="0"/>
          </p:cNvCxnSpPr>
          <p:nvPr/>
        </p:nvCxnSpPr>
        <p:spPr>
          <a:xfrm flipV="1">
            <a:off x="6363450" y="2366499"/>
            <a:ext cx="638427" cy="79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03D8918C-ED20-C562-15F5-433B0A09A8E9}"/>
              </a:ext>
            </a:extLst>
          </p:cNvPr>
          <p:cNvCxnSpPr>
            <a:cxnSpLocks/>
            <a:stCxn id="29" idx="2"/>
            <a:endCxn id="21" idx="1"/>
          </p:cNvCxnSpPr>
          <p:nvPr/>
        </p:nvCxnSpPr>
        <p:spPr>
          <a:xfrm>
            <a:off x="8226013" y="2366499"/>
            <a:ext cx="1515269" cy="71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台形 27">
            <a:extLst>
              <a:ext uri="{FF2B5EF4-FFF2-40B4-BE49-F238E27FC236}">
                <a16:creationId xmlns:a16="http://schemas.microsoft.com/office/drawing/2014/main" id="{C3F48A93-AF3D-0B0D-3AAA-71C79F1AD7F1}"/>
              </a:ext>
            </a:extLst>
          </p:cNvPr>
          <p:cNvSpPr/>
          <p:nvPr/>
        </p:nvSpPr>
        <p:spPr>
          <a:xfrm rot="5400000">
            <a:off x="3912367" y="1761630"/>
            <a:ext cx="1331380" cy="1224136"/>
          </a:xfrm>
          <a:prstGeom prst="trapezoid">
            <a:avLst>
              <a:gd name="adj" fmla="val 30152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sz="20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encoder</a:t>
            </a:r>
            <a:endParaRPr kumimoji="1" lang="ja-JP" altLang="en-US" sz="2000" i="1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29" name="台形 28">
            <a:extLst>
              <a:ext uri="{FF2B5EF4-FFF2-40B4-BE49-F238E27FC236}">
                <a16:creationId xmlns:a16="http://schemas.microsoft.com/office/drawing/2014/main" id="{66AF8946-D151-27C8-E2B3-0E29DA70D5F8}"/>
              </a:ext>
            </a:extLst>
          </p:cNvPr>
          <p:cNvSpPr/>
          <p:nvPr/>
        </p:nvSpPr>
        <p:spPr>
          <a:xfrm rot="16200000" flipH="1">
            <a:off x="6948255" y="1754431"/>
            <a:ext cx="1331380" cy="1224136"/>
          </a:xfrm>
          <a:prstGeom prst="trapezoid">
            <a:avLst>
              <a:gd name="adj" fmla="val 30152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kumimoji="1" lang="ja-JP" altLang="en-US" sz="2000" i="1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6DED438E-E7C4-8D95-C9A7-B01BD3EA60EA}"/>
                  </a:ext>
                </a:extLst>
              </p:cNvPr>
              <p:cNvSpPr txBox="1"/>
              <p:nvPr/>
            </p:nvSpPr>
            <p:spPr>
              <a:xfrm>
                <a:off x="4578057" y="1137212"/>
                <a:ext cx="3105951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𝑢𝑡𝑜𝐸𝑛𝑐𝑜𝑑𝑒𝑟</m:t>
                      </m:r>
                    </m:oMath>
                  </m:oMathPara>
                </a14:m>
                <a:endParaRPr lang="ja-JP" altLang="en-US" sz="2800"/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6DED438E-E7C4-8D95-C9A7-B01BD3EA6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8057" y="1137212"/>
                <a:ext cx="310595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77DC9F1-14CE-E26A-5AA7-AB013AFA1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20</a:t>
            </a:fld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4C5EDF-78B6-438F-00D7-778F98B964F5}"/>
              </a:ext>
            </a:extLst>
          </p:cNvPr>
          <p:cNvSpPr txBox="1"/>
          <p:nvPr/>
        </p:nvSpPr>
        <p:spPr>
          <a:xfrm>
            <a:off x="7001877" y="2190000"/>
            <a:ext cx="1152275" cy="40011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20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decoder </a:t>
            </a:r>
            <a:endParaRPr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91074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口を開けている赤ちゃん&#10;&#10;自動的に生成された説明">
            <a:extLst>
              <a:ext uri="{FF2B5EF4-FFF2-40B4-BE49-F238E27FC236}">
                <a16:creationId xmlns:a16="http://schemas.microsoft.com/office/drawing/2014/main" id="{B5DD0C7B-5B22-7F68-72A7-4F5212116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226" y="3537864"/>
            <a:ext cx="1333602" cy="1331380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p:sp>
        <p:nvSpPr>
          <p:cNvPr id="30" name="角丸四角形 29">
            <a:extLst>
              <a:ext uri="{FF2B5EF4-FFF2-40B4-BE49-F238E27FC236}">
                <a16:creationId xmlns:a16="http://schemas.microsoft.com/office/drawing/2014/main" id="{A4862D58-9387-76F6-ECC7-B6ECADDD36B5}"/>
              </a:ext>
            </a:extLst>
          </p:cNvPr>
          <p:cNvSpPr/>
          <p:nvPr/>
        </p:nvSpPr>
        <p:spPr>
          <a:xfrm>
            <a:off x="3575720" y="1484784"/>
            <a:ext cx="5040560" cy="1800200"/>
          </a:xfrm>
          <a:prstGeom prst="roundRect">
            <a:avLst/>
          </a:prstGeom>
          <a:noFill/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A874F55-05C7-C729-131F-7FD2377F8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提案手法の学習モデル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A2D339EC-8EEE-F194-D5B7-67848E5842DE}"/>
                  </a:ext>
                </a:extLst>
              </p:cNvPr>
              <p:cNvSpPr txBox="1"/>
              <p:nvPr/>
            </p:nvSpPr>
            <p:spPr>
              <a:xfrm>
                <a:off x="5830968" y="2143656"/>
                <a:ext cx="532482" cy="46166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ja-JP" altLang="en-US" sz="2400" dirty="0"/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A2D339EC-8EEE-F194-D5B7-67848E584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968" y="2143656"/>
                <a:ext cx="532482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7118ADBC-4DC0-884B-2CD0-C1FEF126C241}"/>
              </a:ext>
            </a:extLst>
          </p:cNvPr>
          <p:cNvCxnSpPr>
            <a:cxnSpLocks/>
            <a:stCxn id="28" idx="0"/>
            <a:endCxn id="23" idx="1"/>
          </p:cNvCxnSpPr>
          <p:nvPr/>
        </p:nvCxnSpPr>
        <p:spPr>
          <a:xfrm>
            <a:off x="5190125" y="2373698"/>
            <a:ext cx="640843" cy="791"/>
          </a:xfrm>
          <a:prstGeom prst="straightConnector1">
            <a:avLst/>
          </a:prstGeom>
          <a:ln w="19050">
            <a:solidFill>
              <a:srgbClr val="5BD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台形 27">
            <a:extLst>
              <a:ext uri="{FF2B5EF4-FFF2-40B4-BE49-F238E27FC236}">
                <a16:creationId xmlns:a16="http://schemas.microsoft.com/office/drawing/2014/main" id="{C3F48A93-AF3D-0B0D-3AAA-71C79F1AD7F1}"/>
              </a:ext>
            </a:extLst>
          </p:cNvPr>
          <p:cNvSpPr/>
          <p:nvPr/>
        </p:nvSpPr>
        <p:spPr>
          <a:xfrm rot="5400000">
            <a:off x="3912367" y="1761630"/>
            <a:ext cx="1331380" cy="1224136"/>
          </a:xfrm>
          <a:prstGeom prst="trapezoid">
            <a:avLst>
              <a:gd name="adj" fmla="val 30152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sz="20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encoder</a:t>
            </a:r>
          </a:p>
          <a:p>
            <a:pPr algn="ctr"/>
            <a:r>
              <a:rPr lang="en-US" altLang="ja-JP" sz="20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(freeze)</a:t>
            </a:r>
            <a:endParaRPr kumimoji="1" lang="ja-JP" altLang="en-US" sz="2000" i="1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29" name="台形 28">
            <a:extLst>
              <a:ext uri="{FF2B5EF4-FFF2-40B4-BE49-F238E27FC236}">
                <a16:creationId xmlns:a16="http://schemas.microsoft.com/office/drawing/2014/main" id="{66AF8946-D151-27C8-E2B3-0E29DA70D5F8}"/>
              </a:ext>
            </a:extLst>
          </p:cNvPr>
          <p:cNvSpPr/>
          <p:nvPr/>
        </p:nvSpPr>
        <p:spPr>
          <a:xfrm rot="16200000" flipH="1">
            <a:off x="6948255" y="1754431"/>
            <a:ext cx="1331380" cy="1224136"/>
          </a:xfrm>
          <a:prstGeom prst="trapezoid">
            <a:avLst>
              <a:gd name="adj" fmla="val 30152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r"/>
            <a:endParaRPr kumimoji="1" lang="ja-JP" altLang="en-US" sz="2000" i="1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6DED438E-E7C4-8D95-C9A7-B01BD3EA60EA}"/>
                  </a:ext>
                </a:extLst>
              </p:cNvPr>
              <p:cNvSpPr txBox="1"/>
              <p:nvPr/>
            </p:nvSpPr>
            <p:spPr>
              <a:xfrm>
                <a:off x="3719736" y="1105580"/>
                <a:ext cx="4680520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𝑝𝑟𝑒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𝑡𝑟𝑎𝑖𝑛𝑒𝑑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sz="28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𝑢𝑡𝑜𝐸𝑛𝑐𝑜𝑑𝑒𝑟</m:t>
                      </m:r>
                    </m:oMath>
                  </m:oMathPara>
                </a14:m>
                <a:endParaRPr lang="ja-JP" altLang="en-US" sz="2800"/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6DED438E-E7C4-8D95-C9A7-B01BD3EA6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736" y="1105580"/>
                <a:ext cx="4680520" cy="523220"/>
              </a:xfrm>
              <a:prstGeom prst="rect">
                <a:avLst/>
              </a:prstGeom>
              <a:blipFill>
                <a:blip r:embed="rId5"/>
                <a:stretch>
                  <a:fillRect b="-209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3D02406A-BE42-E788-D22C-D744683DB813}"/>
                  </a:ext>
                </a:extLst>
              </p:cNvPr>
              <p:cNvSpPr txBox="1"/>
              <p:nvPr/>
            </p:nvSpPr>
            <p:spPr>
              <a:xfrm>
                <a:off x="1346147" y="4004621"/>
                <a:ext cx="875540" cy="3978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𝑖𝑛𝑝𝑢𝑡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3D02406A-BE42-E788-D22C-D744683DB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147" y="4004621"/>
                <a:ext cx="875540" cy="397866"/>
              </a:xfrm>
              <a:prstGeom prst="rect">
                <a:avLst/>
              </a:prstGeom>
              <a:blipFill>
                <a:blip r:embed="rId6"/>
                <a:stretch>
                  <a:fillRect l="-4348" r="-1449" b="-218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97966721-D7BE-6C47-5EDA-4C4C3768FD51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2450718" y="2373698"/>
            <a:ext cx="1515271" cy="1829856"/>
          </a:xfrm>
          <a:prstGeom prst="bentConnector3">
            <a:avLst>
              <a:gd name="adj1" fmla="val 82035"/>
            </a:avLst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9">
            <a:extLst>
              <a:ext uri="{FF2B5EF4-FFF2-40B4-BE49-F238E27FC236}">
                <a16:creationId xmlns:a16="http://schemas.microsoft.com/office/drawing/2014/main" id="{787A2154-4535-DC58-D6CB-FEC083ACCF55}"/>
              </a:ext>
            </a:extLst>
          </p:cNvPr>
          <p:cNvCxnSpPr>
            <a:cxnSpLocks/>
            <a:stCxn id="23" idx="3"/>
            <a:endCxn id="45" idx="1"/>
          </p:cNvCxnSpPr>
          <p:nvPr/>
        </p:nvCxnSpPr>
        <p:spPr>
          <a:xfrm>
            <a:off x="6363450" y="2374489"/>
            <a:ext cx="800024" cy="2407517"/>
          </a:xfrm>
          <a:prstGeom prst="bentConnector3">
            <a:avLst>
              <a:gd name="adj1" fmla="val 29485"/>
            </a:avLst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正方形/長方形 42">
                <a:extLst>
                  <a:ext uri="{FF2B5EF4-FFF2-40B4-BE49-F238E27FC236}">
                    <a16:creationId xmlns:a16="http://schemas.microsoft.com/office/drawing/2014/main" id="{DE12756E-5E2B-3AD4-5388-5CFBCBBF2E4E}"/>
                  </a:ext>
                </a:extLst>
              </p:cNvPr>
              <p:cNvSpPr/>
              <p:nvPr/>
            </p:nvSpPr>
            <p:spPr>
              <a:xfrm>
                <a:off x="3639427" y="4966603"/>
                <a:ext cx="1398888" cy="46324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ja-JP" altLang="en-US" sz="20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　</m:t>
                      </m:r>
                      <m:r>
                        <a:rPr kumimoji="1" lang="en-US" altLang="ja-JP" sz="20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𝐸𝑚𝑏𝑒𝑑𝑑𝑖𝑛𝑔</m:t>
                      </m:r>
                    </m:oMath>
                  </m:oMathPara>
                </a14:m>
                <a:endParaRPr kumimoji="1" lang="ja-JP" altLang="en-US" sz="200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3" name="正方形/長方形 42">
                <a:extLst>
                  <a:ext uri="{FF2B5EF4-FFF2-40B4-BE49-F238E27FC236}">
                    <a16:creationId xmlns:a16="http://schemas.microsoft.com/office/drawing/2014/main" id="{DE12756E-5E2B-3AD4-5388-5CFBCBBF2E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9427" y="4966603"/>
                <a:ext cx="1398888" cy="463245"/>
              </a:xfrm>
              <a:prstGeom prst="rect">
                <a:avLst/>
              </a:prstGeom>
              <a:blipFill>
                <a:blip r:embed="rId7"/>
                <a:stretch>
                  <a:fillRect l="-3017" r="-6897" b="-506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正方形/長方形 43">
                <a:extLst>
                  <a:ext uri="{FF2B5EF4-FFF2-40B4-BE49-F238E27FC236}">
                    <a16:creationId xmlns:a16="http://schemas.microsoft.com/office/drawing/2014/main" id="{881749E4-2C97-6F12-7273-FCFDFBF5E5C0}"/>
                  </a:ext>
                </a:extLst>
              </p:cNvPr>
              <p:cNvSpPr/>
              <p:nvPr/>
            </p:nvSpPr>
            <p:spPr>
              <a:xfrm>
                <a:off x="5396556" y="4966495"/>
                <a:ext cx="1398888" cy="46324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sz="20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𝐿𝑆𝑇𝑀</m:t>
                      </m:r>
                    </m:oMath>
                  </m:oMathPara>
                </a14:m>
                <a:endParaRPr kumimoji="1" lang="ja-JP" altLang="en-US" sz="200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4" name="正方形/長方形 43">
                <a:extLst>
                  <a:ext uri="{FF2B5EF4-FFF2-40B4-BE49-F238E27FC236}">
                    <a16:creationId xmlns:a16="http://schemas.microsoft.com/office/drawing/2014/main" id="{881749E4-2C97-6F12-7273-FCFDFBF5E5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6556" y="4966495"/>
                <a:ext cx="1398888" cy="46324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正方形/長方形 44">
                <a:extLst>
                  <a:ext uri="{FF2B5EF4-FFF2-40B4-BE49-F238E27FC236}">
                    <a16:creationId xmlns:a16="http://schemas.microsoft.com/office/drawing/2014/main" id="{6D68922C-D137-EC16-2075-0B0F3092D967}"/>
                  </a:ext>
                </a:extLst>
              </p:cNvPr>
              <p:cNvSpPr/>
              <p:nvPr/>
            </p:nvSpPr>
            <p:spPr>
              <a:xfrm>
                <a:off x="7163474" y="4550383"/>
                <a:ext cx="1398888" cy="46324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sz="20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𝐷𝑒𝑛𝑠𝑒</m:t>
                      </m:r>
                    </m:oMath>
                  </m:oMathPara>
                </a14:m>
                <a:endParaRPr kumimoji="1" lang="ja-JP" altLang="en-US" sz="200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5" name="正方形/長方形 44">
                <a:extLst>
                  <a:ext uri="{FF2B5EF4-FFF2-40B4-BE49-F238E27FC236}">
                    <a16:creationId xmlns:a16="http://schemas.microsoft.com/office/drawing/2014/main" id="{6D68922C-D137-EC16-2075-0B0F3092D9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3474" y="4550383"/>
                <a:ext cx="1398888" cy="46324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テキスト ボックス 50">
                <a:extLst>
                  <a:ext uri="{FF2B5EF4-FFF2-40B4-BE49-F238E27FC236}">
                    <a16:creationId xmlns:a16="http://schemas.microsoft.com/office/drawing/2014/main" id="{F80489B2-DBBA-A034-C858-980EBA89C98D}"/>
                  </a:ext>
                </a:extLst>
              </p:cNvPr>
              <p:cNvSpPr txBox="1"/>
              <p:nvPr/>
            </p:nvSpPr>
            <p:spPr>
              <a:xfrm>
                <a:off x="1569627" y="5005588"/>
                <a:ext cx="4285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51" name="テキスト ボックス 50">
                <a:extLst>
                  <a:ext uri="{FF2B5EF4-FFF2-40B4-BE49-F238E27FC236}">
                    <a16:creationId xmlns:a16="http://schemas.microsoft.com/office/drawing/2014/main" id="{F80489B2-DBBA-A034-C858-980EBA89C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627" y="5005588"/>
                <a:ext cx="428579" cy="369332"/>
              </a:xfrm>
              <a:prstGeom prst="rect">
                <a:avLst/>
              </a:prstGeom>
              <a:blipFill>
                <a:blip r:embed="rId10"/>
                <a:stretch>
                  <a:fillRect l="-5714" b="-1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EFEE0AF5-E23D-92E1-34AB-B68C6BD9BAF4}"/>
              </a:ext>
            </a:extLst>
          </p:cNvPr>
          <p:cNvCxnSpPr>
            <a:cxnSpLocks/>
            <a:stCxn id="51" idx="3"/>
            <a:endCxn id="43" idx="1"/>
          </p:cNvCxnSpPr>
          <p:nvPr/>
        </p:nvCxnSpPr>
        <p:spPr>
          <a:xfrm>
            <a:off x="1998206" y="5190254"/>
            <a:ext cx="1641221" cy="797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DFDB88B2-0A5A-9E58-26AF-F81A46F85719}"/>
              </a:ext>
            </a:extLst>
          </p:cNvPr>
          <p:cNvCxnSpPr>
            <a:cxnSpLocks/>
            <a:stCxn id="43" idx="3"/>
            <a:endCxn id="44" idx="1"/>
          </p:cNvCxnSpPr>
          <p:nvPr/>
        </p:nvCxnSpPr>
        <p:spPr>
          <a:xfrm flipV="1">
            <a:off x="5038315" y="5198118"/>
            <a:ext cx="358241" cy="1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CEED892D-56FB-211E-DB78-156FEB9661A0}"/>
              </a:ext>
            </a:extLst>
          </p:cNvPr>
          <p:cNvCxnSpPr>
            <a:cxnSpLocks/>
            <a:stCxn id="44" idx="3"/>
            <a:endCxn id="45" idx="1"/>
          </p:cNvCxnSpPr>
          <p:nvPr/>
        </p:nvCxnSpPr>
        <p:spPr>
          <a:xfrm flipV="1">
            <a:off x="6795444" y="4782006"/>
            <a:ext cx="368030" cy="4161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A9C6DB82-8557-F2D6-14FE-3F63B8FB3735}"/>
              </a:ext>
            </a:extLst>
          </p:cNvPr>
          <p:cNvCxnSpPr>
            <a:cxnSpLocks/>
            <a:stCxn id="45" idx="3"/>
            <a:endCxn id="65" idx="1"/>
          </p:cNvCxnSpPr>
          <p:nvPr/>
        </p:nvCxnSpPr>
        <p:spPr>
          <a:xfrm flipV="1">
            <a:off x="8562362" y="4782005"/>
            <a:ext cx="148475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テキスト ボックス 64">
                <a:extLst>
                  <a:ext uri="{FF2B5EF4-FFF2-40B4-BE49-F238E27FC236}">
                    <a16:creationId xmlns:a16="http://schemas.microsoft.com/office/drawing/2014/main" id="{7999D21E-7F95-6BB0-0AFF-E34DFDB3DD3B}"/>
                  </a:ext>
                </a:extLst>
              </p:cNvPr>
              <p:cNvSpPr txBox="1"/>
              <p:nvPr/>
            </p:nvSpPr>
            <p:spPr>
              <a:xfrm>
                <a:off x="10047118" y="4597339"/>
                <a:ext cx="72192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65" name="テキスト ボックス 64">
                <a:extLst>
                  <a:ext uri="{FF2B5EF4-FFF2-40B4-BE49-F238E27FC236}">
                    <a16:creationId xmlns:a16="http://schemas.microsoft.com/office/drawing/2014/main" id="{7999D21E-7F95-6BB0-0AFF-E34DFDB3D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7118" y="4597339"/>
                <a:ext cx="721929" cy="369332"/>
              </a:xfrm>
              <a:prstGeom prst="rect">
                <a:avLst/>
              </a:prstGeom>
              <a:blipFill>
                <a:blip r:embed="rId11"/>
                <a:stretch>
                  <a:fillRect l="-3448" b="-967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フリーフォーム 68">
            <a:extLst>
              <a:ext uri="{FF2B5EF4-FFF2-40B4-BE49-F238E27FC236}">
                <a16:creationId xmlns:a16="http://schemas.microsoft.com/office/drawing/2014/main" id="{53D7AE3D-26C9-F804-A169-7EBF61273C7C}"/>
              </a:ext>
            </a:extLst>
          </p:cNvPr>
          <p:cNvSpPr/>
          <p:nvPr/>
        </p:nvSpPr>
        <p:spPr>
          <a:xfrm rot="5400000">
            <a:off x="4066817" y="887786"/>
            <a:ext cx="4122074" cy="5604103"/>
          </a:xfrm>
          <a:custGeom>
            <a:avLst/>
            <a:gdLst>
              <a:gd name="connsiteX0" fmla="*/ 0 w 4122074"/>
              <a:gd name="connsiteY0" fmla="*/ 5226405 h 5604103"/>
              <a:gd name="connsiteX1" fmla="*/ 0 w 4122074"/>
              <a:gd name="connsiteY1" fmla="*/ 3715659 h 5604103"/>
              <a:gd name="connsiteX2" fmla="*/ 5688 w 4122074"/>
              <a:gd name="connsiteY2" fmla="*/ 3659237 h 5604103"/>
              <a:gd name="connsiteX3" fmla="*/ 5572 w 4122074"/>
              <a:gd name="connsiteY3" fmla="*/ 3658089 h 5604103"/>
              <a:gd name="connsiteX4" fmla="*/ 5572 w 4122074"/>
              <a:gd name="connsiteY4" fmla="*/ 2457967 h 5604103"/>
              <a:gd name="connsiteX5" fmla="*/ 305611 w 4122074"/>
              <a:gd name="connsiteY5" fmla="*/ 2157928 h 5604103"/>
              <a:gd name="connsiteX6" fmla="*/ 2321874 w 4122074"/>
              <a:gd name="connsiteY6" fmla="*/ 2157928 h 5604103"/>
              <a:gd name="connsiteX7" fmla="*/ 2321874 w 4122074"/>
              <a:gd name="connsiteY7" fmla="*/ 613664 h 5604103"/>
              <a:gd name="connsiteX8" fmla="*/ 2321874 w 4122074"/>
              <a:gd name="connsiteY8" fmla="*/ 300039 h 5604103"/>
              <a:gd name="connsiteX9" fmla="*/ 2621913 w 4122074"/>
              <a:gd name="connsiteY9" fmla="*/ 0 h 5604103"/>
              <a:gd name="connsiteX10" fmla="*/ 3822035 w 4122074"/>
              <a:gd name="connsiteY10" fmla="*/ 0 h 5604103"/>
              <a:gd name="connsiteX11" fmla="*/ 4122074 w 4122074"/>
              <a:gd name="connsiteY11" fmla="*/ 300039 h 5604103"/>
              <a:gd name="connsiteX12" fmla="*/ 4122074 w 4122074"/>
              <a:gd name="connsiteY12" fmla="*/ 613664 h 5604103"/>
              <a:gd name="connsiteX13" fmla="*/ 4122074 w 4122074"/>
              <a:gd name="connsiteY13" fmla="*/ 2457967 h 5604103"/>
              <a:gd name="connsiteX14" fmla="*/ 4122074 w 4122074"/>
              <a:gd name="connsiteY14" fmla="*/ 3658089 h 5604103"/>
              <a:gd name="connsiteX15" fmla="*/ 4122074 w 4122074"/>
              <a:gd name="connsiteY15" fmla="*/ 3715659 h 5604103"/>
              <a:gd name="connsiteX16" fmla="*/ 4122074 w 4122074"/>
              <a:gd name="connsiteY16" fmla="*/ 4740521 h 5604103"/>
              <a:gd name="connsiteX17" fmla="*/ 4122074 w 4122074"/>
              <a:gd name="connsiteY17" fmla="*/ 5226405 h 5604103"/>
              <a:gd name="connsiteX18" fmla="*/ 4122074 w 4122074"/>
              <a:gd name="connsiteY18" fmla="*/ 5304064 h 5604103"/>
              <a:gd name="connsiteX19" fmla="*/ 3822035 w 4122074"/>
              <a:gd name="connsiteY19" fmla="*/ 5604103 h 5604103"/>
              <a:gd name="connsiteX20" fmla="*/ 3744376 w 4122074"/>
              <a:gd name="connsiteY20" fmla="*/ 5604103 h 5604103"/>
              <a:gd name="connsiteX21" fmla="*/ 2621913 w 4122074"/>
              <a:gd name="connsiteY21" fmla="*/ 5604103 h 5604103"/>
              <a:gd name="connsiteX22" fmla="*/ 377698 w 4122074"/>
              <a:gd name="connsiteY22" fmla="*/ 5604103 h 5604103"/>
              <a:gd name="connsiteX23" fmla="*/ 0 w 4122074"/>
              <a:gd name="connsiteY23" fmla="*/ 5226405 h 5604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122074" h="5604103">
                <a:moveTo>
                  <a:pt x="0" y="5226405"/>
                </a:moveTo>
                <a:lnTo>
                  <a:pt x="0" y="3715659"/>
                </a:lnTo>
                <a:lnTo>
                  <a:pt x="5688" y="3659237"/>
                </a:lnTo>
                <a:lnTo>
                  <a:pt x="5572" y="3658089"/>
                </a:lnTo>
                <a:lnTo>
                  <a:pt x="5572" y="2457967"/>
                </a:lnTo>
                <a:cubicBezTo>
                  <a:pt x="5572" y="2292260"/>
                  <a:pt x="139904" y="2157928"/>
                  <a:pt x="305611" y="2157928"/>
                </a:cubicBezTo>
                <a:lnTo>
                  <a:pt x="2321874" y="2157928"/>
                </a:lnTo>
                <a:lnTo>
                  <a:pt x="2321874" y="613664"/>
                </a:lnTo>
                <a:lnTo>
                  <a:pt x="2321874" y="300039"/>
                </a:lnTo>
                <a:cubicBezTo>
                  <a:pt x="2321874" y="134332"/>
                  <a:pt x="2456206" y="0"/>
                  <a:pt x="2621913" y="0"/>
                </a:cubicBezTo>
                <a:lnTo>
                  <a:pt x="3822035" y="0"/>
                </a:lnTo>
                <a:cubicBezTo>
                  <a:pt x="3987742" y="0"/>
                  <a:pt x="4122074" y="134332"/>
                  <a:pt x="4122074" y="300039"/>
                </a:cubicBezTo>
                <a:lnTo>
                  <a:pt x="4122074" y="613664"/>
                </a:lnTo>
                <a:lnTo>
                  <a:pt x="4122074" y="2457967"/>
                </a:lnTo>
                <a:lnTo>
                  <a:pt x="4122074" y="3658089"/>
                </a:lnTo>
                <a:lnTo>
                  <a:pt x="4122074" y="3715659"/>
                </a:lnTo>
                <a:lnTo>
                  <a:pt x="4122074" y="4740521"/>
                </a:lnTo>
                <a:lnTo>
                  <a:pt x="4122074" y="5226405"/>
                </a:lnTo>
                <a:lnTo>
                  <a:pt x="4122074" y="5304064"/>
                </a:lnTo>
                <a:cubicBezTo>
                  <a:pt x="4122074" y="5469771"/>
                  <a:pt x="3987742" y="5604103"/>
                  <a:pt x="3822035" y="5604103"/>
                </a:cubicBezTo>
                <a:lnTo>
                  <a:pt x="3744376" y="5604103"/>
                </a:lnTo>
                <a:lnTo>
                  <a:pt x="2621913" y="5604103"/>
                </a:lnTo>
                <a:lnTo>
                  <a:pt x="377698" y="5604103"/>
                </a:lnTo>
                <a:cubicBezTo>
                  <a:pt x="169101" y="5604103"/>
                  <a:pt x="0" y="5435002"/>
                  <a:pt x="0" y="5226405"/>
                </a:cubicBezTo>
                <a:close/>
              </a:path>
            </a:pathLst>
          </a:custGeom>
          <a:noFill/>
          <a:ln w="57150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1CF9C4FC-69C4-EAB4-8FC7-E7978BD21304}"/>
                  </a:ext>
                </a:extLst>
              </p:cNvPr>
              <p:cNvSpPr txBox="1"/>
              <p:nvPr/>
            </p:nvSpPr>
            <p:spPr>
              <a:xfrm>
                <a:off x="5297146" y="5507940"/>
                <a:ext cx="1618727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𝑃𝑖𝑥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𝑆𝑒𝑞</m:t>
                      </m:r>
                    </m:oMath>
                  </m:oMathPara>
                </a14:m>
                <a:endParaRPr lang="ja-JP" altLang="en-US" sz="28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1CF9C4FC-69C4-EAB4-8FC7-E7978BD21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7146" y="5507940"/>
                <a:ext cx="1618727" cy="523220"/>
              </a:xfrm>
              <a:prstGeom prst="rect">
                <a:avLst/>
              </a:prstGeom>
              <a:blipFill>
                <a:blip r:embed="rId1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E7AAF1A-5395-8CBF-6AFD-170DC285C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21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7929015-6334-3ECE-1919-7FF2D2E2E621}"/>
              </a:ext>
            </a:extLst>
          </p:cNvPr>
          <p:cNvSpPr txBox="1"/>
          <p:nvPr/>
        </p:nvSpPr>
        <p:spPr>
          <a:xfrm>
            <a:off x="7001877" y="2190000"/>
            <a:ext cx="1152275" cy="40011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20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decoder </a:t>
            </a:r>
            <a:endParaRPr lang="ja-JP" altLang="en-US" sz="2000"/>
          </a:p>
        </p:txBody>
      </p:sp>
    </p:spTree>
    <p:extLst>
      <p:ext uri="{BB962C8B-B14F-4D97-AF65-F5344CB8AC3E}">
        <p14:creationId xmlns:p14="http://schemas.microsoft.com/office/powerpoint/2010/main" val="1856280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76C15E-0768-3D14-4EF4-AB0E9D83C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従来手法との比較</a:t>
            </a:r>
          </a:p>
        </p:txBody>
      </p:sp>
      <p:graphicFrame>
        <p:nvGraphicFramePr>
          <p:cNvPr id="5" name="表 5">
            <a:extLst>
              <a:ext uri="{FF2B5EF4-FFF2-40B4-BE49-F238E27FC236}">
                <a16:creationId xmlns:a16="http://schemas.microsoft.com/office/drawing/2014/main" id="{FB94C7C0-D33B-D77D-D1A3-3465498AFB1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61962" y="1342960"/>
          <a:ext cx="11268075" cy="484357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54203">
                  <a:extLst>
                    <a:ext uri="{9D8B030D-6E8A-4147-A177-3AD203B41FA5}">
                      <a16:colId xmlns:a16="http://schemas.microsoft.com/office/drawing/2014/main" val="333151542"/>
                    </a:ext>
                  </a:extLst>
                </a:gridCol>
                <a:gridCol w="4256936">
                  <a:extLst>
                    <a:ext uri="{9D8B030D-6E8A-4147-A177-3AD203B41FA5}">
                      <a16:colId xmlns:a16="http://schemas.microsoft.com/office/drawing/2014/main" val="1429262531"/>
                    </a:ext>
                  </a:extLst>
                </a:gridCol>
                <a:gridCol w="4256936">
                  <a:extLst>
                    <a:ext uri="{9D8B030D-6E8A-4147-A177-3AD203B41FA5}">
                      <a16:colId xmlns:a16="http://schemas.microsoft.com/office/drawing/2014/main" val="571250449"/>
                    </a:ext>
                  </a:extLst>
                </a:gridCol>
              </a:tblGrid>
              <a:tr h="968714">
                <a:tc>
                  <a:txBody>
                    <a:bodyPr/>
                    <a:lstStyle/>
                    <a:p>
                      <a:pPr algn="ctr"/>
                      <a:endParaRPr kumimoji="1" lang="ja-JP" altLang="en-US" sz="28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/>
                        <a:t>従来手法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/>
                        <a:t>提案手法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937271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再学習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場合によって必要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-</a:t>
                      </a:r>
                      <a:endParaRPr kumimoji="1" lang="ja-JP" altLang="en-US"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833224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再学習時</a:t>
                      </a:r>
                      <a:endParaRPr kumimoji="1" lang="en-US" altLang="ja-JP" sz="2800" dirty="0"/>
                    </a:p>
                    <a:p>
                      <a:pPr algn="ctr"/>
                      <a:r>
                        <a:rPr kumimoji="1" lang="ja-JP" altLang="en-US" sz="2800"/>
                        <a:t>アノテーション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必要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-</a:t>
                      </a:r>
                      <a:endParaRPr kumimoji="1" lang="ja-JP" altLang="en-US"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9585195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事前学習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-</a:t>
                      </a:r>
                      <a:endParaRPr kumimoji="1" lang="ja-JP" alt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必要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8076001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容量・構造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変更不可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/>
                        <a:t>任意に変更可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9434204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B8876EA-13F5-11DE-E8B8-3E044B570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76189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76C15E-0768-3D14-4EF4-AB0E9D83C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従来手法との比較</a:t>
            </a:r>
          </a:p>
        </p:txBody>
      </p:sp>
      <p:graphicFrame>
        <p:nvGraphicFramePr>
          <p:cNvPr id="5" name="表 5">
            <a:extLst>
              <a:ext uri="{FF2B5EF4-FFF2-40B4-BE49-F238E27FC236}">
                <a16:creationId xmlns:a16="http://schemas.microsoft.com/office/drawing/2014/main" id="{FB94C7C0-D33B-D77D-D1A3-3465498AFB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8590430"/>
              </p:ext>
            </p:extLst>
          </p:nvPr>
        </p:nvGraphicFramePr>
        <p:xfrm>
          <a:off x="461962" y="1342960"/>
          <a:ext cx="11268075" cy="484357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54203">
                  <a:extLst>
                    <a:ext uri="{9D8B030D-6E8A-4147-A177-3AD203B41FA5}">
                      <a16:colId xmlns:a16="http://schemas.microsoft.com/office/drawing/2014/main" val="333151542"/>
                    </a:ext>
                  </a:extLst>
                </a:gridCol>
                <a:gridCol w="4256936">
                  <a:extLst>
                    <a:ext uri="{9D8B030D-6E8A-4147-A177-3AD203B41FA5}">
                      <a16:colId xmlns:a16="http://schemas.microsoft.com/office/drawing/2014/main" val="1429262531"/>
                    </a:ext>
                  </a:extLst>
                </a:gridCol>
                <a:gridCol w="4256936">
                  <a:extLst>
                    <a:ext uri="{9D8B030D-6E8A-4147-A177-3AD203B41FA5}">
                      <a16:colId xmlns:a16="http://schemas.microsoft.com/office/drawing/2014/main" val="571250449"/>
                    </a:ext>
                  </a:extLst>
                </a:gridCol>
              </a:tblGrid>
              <a:tr h="968714">
                <a:tc>
                  <a:txBody>
                    <a:bodyPr/>
                    <a:lstStyle/>
                    <a:p>
                      <a:pPr algn="ctr"/>
                      <a:endParaRPr kumimoji="1" lang="ja-JP" altLang="en-US" sz="28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/>
                        <a:t>従来手法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/>
                        <a:t>提案手法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937271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再学習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場合によって必要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-</a:t>
                      </a:r>
                      <a:endParaRPr kumimoji="1" lang="ja-JP" altLang="en-US"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833224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再学習時</a:t>
                      </a:r>
                      <a:endParaRPr kumimoji="1" lang="en-US" altLang="ja-JP" sz="2800" dirty="0"/>
                    </a:p>
                    <a:p>
                      <a:pPr algn="ctr"/>
                      <a:r>
                        <a:rPr kumimoji="1" lang="ja-JP" altLang="en-US" sz="2800"/>
                        <a:t>アノテーション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必要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-</a:t>
                      </a:r>
                      <a:endParaRPr kumimoji="1" lang="ja-JP" altLang="en-US"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9585195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事前学習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-</a:t>
                      </a:r>
                      <a:endParaRPr kumimoji="1" lang="ja-JP" alt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必要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8076001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容量・構造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変更不可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/>
                        <a:t>任意に変更可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9434204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B8876EA-13F5-11DE-E8B8-3E044B570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23</a:t>
            </a:fld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41C9F4F-6BDA-4BA0-D3CC-AEF468AAB140}"/>
              </a:ext>
            </a:extLst>
          </p:cNvPr>
          <p:cNvSpPr/>
          <p:nvPr/>
        </p:nvSpPr>
        <p:spPr>
          <a:xfrm>
            <a:off x="3216166" y="2333297"/>
            <a:ext cx="4246179" cy="191288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4811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76C15E-0768-3D14-4EF4-AB0E9D83C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従来手法との比較</a:t>
            </a:r>
          </a:p>
        </p:txBody>
      </p:sp>
      <p:graphicFrame>
        <p:nvGraphicFramePr>
          <p:cNvPr id="5" name="表 5">
            <a:extLst>
              <a:ext uri="{FF2B5EF4-FFF2-40B4-BE49-F238E27FC236}">
                <a16:creationId xmlns:a16="http://schemas.microsoft.com/office/drawing/2014/main" id="{FB94C7C0-D33B-D77D-D1A3-3465498AFB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2967977"/>
              </p:ext>
            </p:extLst>
          </p:nvPr>
        </p:nvGraphicFramePr>
        <p:xfrm>
          <a:off x="461962" y="1342960"/>
          <a:ext cx="11268075" cy="484357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54203">
                  <a:extLst>
                    <a:ext uri="{9D8B030D-6E8A-4147-A177-3AD203B41FA5}">
                      <a16:colId xmlns:a16="http://schemas.microsoft.com/office/drawing/2014/main" val="333151542"/>
                    </a:ext>
                  </a:extLst>
                </a:gridCol>
                <a:gridCol w="4256936">
                  <a:extLst>
                    <a:ext uri="{9D8B030D-6E8A-4147-A177-3AD203B41FA5}">
                      <a16:colId xmlns:a16="http://schemas.microsoft.com/office/drawing/2014/main" val="1429262531"/>
                    </a:ext>
                  </a:extLst>
                </a:gridCol>
                <a:gridCol w="4256936">
                  <a:extLst>
                    <a:ext uri="{9D8B030D-6E8A-4147-A177-3AD203B41FA5}">
                      <a16:colId xmlns:a16="http://schemas.microsoft.com/office/drawing/2014/main" val="571250449"/>
                    </a:ext>
                  </a:extLst>
                </a:gridCol>
              </a:tblGrid>
              <a:tr h="968714">
                <a:tc>
                  <a:txBody>
                    <a:bodyPr/>
                    <a:lstStyle/>
                    <a:p>
                      <a:pPr algn="ctr"/>
                      <a:endParaRPr kumimoji="1" lang="ja-JP" altLang="en-US" sz="28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/>
                        <a:t>従来手法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/>
                        <a:t>提案手法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937271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再学習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場合によって必要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-</a:t>
                      </a:r>
                      <a:endParaRPr kumimoji="1" lang="ja-JP" altLang="en-US"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833224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再学習時</a:t>
                      </a:r>
                      <a:endParaRPr kumimoji="1" lang="en-US" altLang="ja-JP" sz="2800" dirty="0"/>
                    </a:p>
                    <a:p>
                      <a:pPr algn="ctr"/>
                      <a:r>
                        <a:rPr kumimoji="1" lang="ja-JP" altLang="en-US" sz="2800"/>
                        <a:t>アノテーション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必要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-</a:t>
                      </a:r>
                      <a:endParaRPr kumimoji="1" lang="ja-JP" altLang="en-US"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9585195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事前学習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-</a:t>
                      </a:r>
                      <a:endParaRPr kumimoji="1" lang="ja-JP" alt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必要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8076001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容量・構造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変更不可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/>
                        <a:t>任意に変更可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9434204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B8876EA-13F5-11DE-E8B8-3E044B570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24</a:t>
            </a:fld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FAEAC07-324B-2B34-09B2-69D49F993EDE}"/>
              </a:ext>
            </a:extLst>
          </p:cNvPr>
          <p:cNvSpPr/>
          <p:nvPr/>
        </p:nvSpPr>
        <p:spPr>
          <a:xfrm>
            <a:off x="3216165" y="5236515"/>
            <a:ext cx="4246179" cy="92254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6298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76C15E-0768-3D14-4EF4-AB0E9D83C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従来手法との比較</a:t>
            </a:r>
          </a:p>
        </p:txBody>
      </p:sp>
      <p:graphicFrame>
        <p:nvGraphicFramePr>
          <p:cNvPr id="5" name="表 5">
            <a:extLst>
              <a:ext uri="{FF2B5EF4-FFF2-40B4-BE49-F238E27FC236}">
                <a16:creationId xmlns:a16="http://schemas.microsoft.com/office/drawing/2014/main" id="{FB94C7C0-D33B-D77D-D1A3-3465498AFB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4169536"/>
              </p:ext>
            </p:extLst>
          </p:nvPr>
        </p:nvGraphicFramePr>
        <p:xfrm>
          <a:off x="461962" y="1342960"/>
          <a:ext cx="11268075" cy="484357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54203">
                  <a:extLst>
                    <a:ext uri="{9D8B030D-6E8A-4147-A177-3AD203B41FA5}">
                      <a16:colId xmlns:a16="http://schemas.microsoft.com/office/drawing/2014/main" val="333151542"/>
                    </a:ext>
                  </a:extLst>
                </a:gridCol>
                <a:gridCol w="4256936">
                  <a:extLst>
                    <a:ext uri="{9D8B030D-6E8A-4147-A177-3AD203B41FA5}">
                      <a16:colId xmlns:a16="http://schemas.microsoft.com/office/drawing/2014/main" val="1429262531"/>
                    </a:ext>
                  </a:extLst>
                </a:gridCol>
                <a:gridCol w="4256936">
                  <a:extLst>
                    <a:ext uri="{9D8B030D-6E8A-4147-A177-3AD203B41FA5}">
                      <a16:colId xmlns:a16="http://schemas.microsoft.com/office/drawing/2014/main" val="571250449"/>
                    </a:ext>
                  </a:extLst>
                </a:gridCol>
              </a:tblGrid>
              <a:tr h="968714">
                <a:tc>
                  <a:txBody>
                    <a:bodyPr/>
                    <a:lstStyle/>
                    <a:p>
                      <a:pPr algn="ctr"/>
                      <a:endParaRPr kumimoji="1" lang="ja-JP" altLang="en-US" sz="28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/>
                        <a:t>従来手法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/>
                        <a:t>提案手法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937271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再学習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場合によって必要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-</a:t>
                      </a:r>
                      <a:endParaRPr kumimoji="1" lang="ja-JP" altLang="en-US"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833224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再学習時</a:t>
                      </a:r>
                      <a:endParaRPr kumimoji="1" lang="en-US" altLang="ja-JP" sz="2800" dirty="0"/>
                    </a:p>
                    <a:p>
                      <a:pPr algn="ctr"/>
                      <a:r>
                        <a:rPr kumimoji="1" lang="ja-JP" altLang="en-US" sz="2800"/>
                        <a:t>アノテーション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必要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-</a:t>
                      </a:r>
                      <a:endParaRPr kumimoji="1" lang="ja-JP" altLang="en-US"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9585195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事前学習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-</a:t>
                      </a:r>
                      <a:endParaRPr kumimoji="1" lang="ja-JP" alt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必要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8076001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容量・構造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変更不可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/>
                        <a:t>任意に変更可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9434204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B8876EA-13F5-11DE-E8B8-3E044B570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25</a:t>
            </a:fld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CE15FC2-EF67-5CB4-BBF2-891CE599D183}"/>
              </a:ext>
            </a:extLst>
          </p:cNvPr>
          <p:cNvSpPr/>
          <p:nvPr/>
        </p:nvSpPr>
        <p:spPr>
          <a:xfrm>
            <a:off x="7472853" y="4265478"/>
            <a:ext cx="4246179" cy="92254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3447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76C15E-0768-3D14-4EF4-AB0E9D83C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従来手法との比較</a:t>
            </a:r>
          </a:p>
        </p:txBody>
      </p:sp>
      <p:graphicFrame>
        <p:nvGraphicFramePr>
          <p:cNvPr id="5" name="表 5">
            <a:extLst>
              <a:ext uri="{FF2B5EF4-FFF2-40B4-BE49-F238E27FC236}">
                <a16:creationId xmlns:a16="http://schemas.microsoft.com/office/drawing/2014/main" id="{FB94C7C0-D33B-D77D-D1A3-3465498AFB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6106191"/>
              </p:ext>
            </p:extLst>
          </p:nvPr>
        </p:nvGraphicFramePr>
        <p:xfrm>
          <a:off x="461962" y="1342960"/>
          <a:ext cx="11268075" cy="484357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54203">
                  <a:extLst>
                    <a:ext uri="{9D8B030D-6E8A-4147-A177-3AD203B41FA5}">
                      <a16:colId xmlns:a16="http://schemas.microsoft.com/office/drawing/2014/main" val="333151542"/>
                    </a:ext>
                  </a:extLst>
                </a:gridCol>
                <a:gridCol w="4256936">
                  <a:extLst>
                    <a:ext uri="{9D8B030D-6E8A-4147-A177-3AD203B41FA5}">
                      <a16:colId xmlns:a16="http://schemas.microsoft.com/office/drawing/2014/main" val="1429262531"/>
                    </a:ext>
                  </a:extLst>
                </a:gridCol>
                <a:gridCol w="4256936">
                  <a:extLst>
                    <a:ext uri="{9D8B030D-6E8A-4147-A177-3AD203B41FA5}">
                      <a16:colId xmlns:a16="http://schemas.microsoft.com/office/drawing/2014/main" val="571250449"/>
                    </a:ext>
                  </a:extLst>
                </a:gridCol>
              </a:tblGrid>
              <a:tr h="968714">
                <a:tc>
                  <a:txBody>
                    <a:bodyPr/>
                    <a:lstStyle/>
                    <a:p>
                      <a:pPr algn="ctr"/>
                      <a:endParaRPr kumimoji="1" lang="ja-JP" altLang="en-US" sz="28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/>
                        <a:t>従来手法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/>
                        <a:t>提案手法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937271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再学習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場合によって必要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-</a:t>
                      </a:r>
                      <a:endParaRPr kumimoji="1" lang="ja-JP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833224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再学習時</a:t>
                      </a:r>
                      <a:endParaRPr kumimoji="1" lang="en-US" altLang="ja-JP" sz="2800" dirty="0"/>
                    </a:p>
                    <a:p>
                      <a:pPr algn="ctr"/>
                      <a:r>
                        <a:rPr kumimoji="1" lang="ja-JP" altLang="en-US" sz="2800"/>
                        <a:t>アノテーション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必要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-</a:t>
                      </a:r>
                      <a:endParaRPr kumimoji="1" lang="ja-JP" altLang="en-US"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9585195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事前学習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-</a:t>
                      </a:r>
                      <a:endParaRPr kumimoji="1" lang="ja-JP" alt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必要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8076001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容量・構造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/>
                        <a:t>変更不可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dirty="0"/>
                        <a:t>任意に変更可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9434204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B8876EA-13F5-11DE-E8B8-3E044B570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26</a:t>
            </a:fld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52CB2AF-DDBF-A32F-C9DF-5391DBCDB10A}"/>
              </a:ext>
            </a:extLst>
          </p:cNvPr>
          <p:cNvSpPr/>
          <p:nvPr/>
        </p:nvSpPr>
        <p:spPr>
          <a:xfrm>
            <a:off x="7472854" y="5236514"/>
            <a:ext cx="4246179" cy="9225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68551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7280FB-4400-9CDD-D253-EC86C08C6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80" y="1085039"/>
            <a:ext cx="11267440" cy="5297654"/>
          </a:xfrm>
        </p:spPr>
        <p:txBody>
          <a:bodyPr/>
          <a:lstStyle/>
          <a:p>
            <a:r>
              <a:rPr kumimoji="1" lang="ja-JP" altLang="en-US" dirty="0"/>
              <a:t>学習データ</a:t>
            </a:r>
            <a:endParaRPr kumimoji="1" lang="en-US" altLang="ja-JP" dirty="0"/>
          </a:p>
          <a:p>
            <a:pPr marL="457200" lvl="1" indent="0">
              <a:buNone/>
            </a:pPr>
            <a:r>
              <a:rPr lang="ja-JP" altLang="en-US" dirty="0"/>
              <a:t>お題画像</a:t>
            </a:r>
            <a:r>
              <a:rPr lang="en-US" altLang="ja-JP" dirty="0"/>
              <a:t>    </a:t>
            </a:r>
            <a:r>
              <a:rPr lang="en-US" altLang="ja-JP" sz="1400" dirty="0"/>
              <a:t> </a:t>
            </a:r>
            <a:r>
              <a:rPr lang="en-US" altLang="ja-JP" dirty="0"/>
              <a:t>: </a:t>
            </a:r>
            <a:r>
              <a:rPr kumimoji="1" lang="en-US" altLang="ja-JP" dirty="0"/>
              <a:t>69,365</a:t>
            </a:r>
            <a:r>
              <a:rPr kumimoji="1" lang="ja-JP" altLang="en-US" dirty="0"/>
              <a:t>枚</a:t>
            </a:r>
            <a:endParaRPr lang="en-US" altLang="ja-JP" dirty="0"/>
          </a:p>
          <a:p>
            <a:pPr marL="457200" lvl="1" indent="0">
              <a:buNone/>
            </a:pPr>
            <a:r>
              <a:rPr lang="ja-JP" altLang="en-US" dirty="0"/>
              <a:t>大喜利文章</a:t>
            </a:r>
            <a:r>
              <a:rPr lang="en-US" altLang="ja-JP" dirty="0"/>
              <a:t> : </a:t>
            </a:r>
            <a:r>
              <a:rPr kumimoji="1" lang="en-US" altLang="ja-JP" dirty="0"/>
              <a:t>552,618</a:t>
            </a:r>
            <a:r>
              <a:rPr kumimoji="1" lang="ja-JP" altLang="en-US" dirty="0"/>
              <a:t>文章</a:t>
            </a:r>
            <a:endParaRPr lang="en-US" altLang="ja-JP" dirty="0"/>
          </a:p>
          <a:p>
            <a:endParaRPr kumimoji="1" lang="en-US" altLang="ja-JP" sz="1200" dirty="0"/>
          </a:p>
          <a:p>
            <a:endParaRPr lang="en-US" altLang="ja-JP" sz="1200" dirty="0"/>
          </a:p>
          <a:p>
            <a:endParaRPr kumimoji="1" lang="en-US" altLang="ja-JP" sz="1200" dirty="0"/>
          </a:p>
          <a:p>
            <a:endParaRPr lang="en-US" altLang="ja-JP" sz="1200" dirty="0"/>
          </a:p>
          <a:p>
            <a:endParaRPr kumimoji="1" lang="en-US" altLang="ja-JP" sz="1200" dirty="0"/>
          </a:p>
          <a:p>
            <a:endParaRPr lang="en-US" altLang="ja-JP" sz="1200" dirty="0"/>
          </a:p>
          <a:p>
            <a:endParaRPr kumimoji="1" lang="en-US" altLang="ja-JP" sz="1200" dirty="0"/>
          </a:p>
          <a:p>
            <a:endParaRPr lang="en-US" altLang="ja-JP" sz="1200" dirty="0"/>
          </a:p>
          <a:p>
            <a:endParaRPr kumimoji="1" lang="en-US" altLang="ja-JP" sz="1200" dirty="0"/>
          </a:p>
          <a:p>
            <a:r>
              <a:rPr kumimoji="1" lang="en-US" altLang="ja-JP" dirty="0" err="1"/>
              <a:t>AutoEncoder</a:t>
            </a:r>
            <a:endParaRPr kumimoji="1" lang="en-US" altLang="ja-JP" dirty="0"/>
          </a:p>
          <a:p>
            <a:pPr marL="457200" lvl="1" indent="0">
              <a:buNone/>
            </a:pPr>
            <a:r>
              <a:rPr kumimoji="1" lang="en-US" altLang="ja-JP" dirty="0"/>
              <a:t>encoder </a:t>
            </a:r>
            <a:r>
              <a:rPr lang="en-US" altLang="ja-JP" dirty="0"/>
              <a:t>:</a:t>
            </a:r>
            <a:r>
              <a:rPr kumimoji="1" lang="en-US" altLang="ja-JP" dirty="0"/>
              <a:t> </a:t>
            </a:r>
            <a:r>
              <a:rPr kumimoji="1" lang="ja-JP" altLang="en-US" dirty="0"/>
              <a:t>畳み込み層５層の</a:t>
            </a:r>
            <a:r>
              <a:rPr kumimoji="1" lang="en-US" altLang="ja-JP" dirty="0"/>
              <a:t>CNN</a:t>
            </a:r>
          </a:p>
          <a:p>
            <a:pPr marL="457200" lvl="1" indent="0">
              <a:buNone/>
            </a:pPr>
            <a:r>
              <a:rPr kumimoji="1" lang="en-US" altLang="ja-JP" dirty="0"/>
              <a:t>decoder </a:t>
            </a:r>
            <a:r>
              <a:rPr lang="en-US" altLang="ja-JP" dirty="0"/>
              <a:t>:</a:t>
            </a:r>
            <a:r>
              <a:rPr kumimoji="1" lang="en-US" altLang="ja-JP" dirty="0"/>
              <a:t> </a:t>
            </a:r>
            <a:r>
              <a:rPr kumimoji="1" lang="ja-JP" altLang="en-US" dirty="0"/>
              <a:t>逆畳み込み層５層の</a:t>
            </a:r>
            <a:r>
              <a:rPr kumimoji="1" lang="en-US" altLang="ja-JP" dirty="0"/>
              <a:t>CNN</a:t>
            </a:r>
            <a:endParaRPr lang="en-US" altLang="ja-JP" dirty="0"/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0F9045B2-57AD-25F7-1742-89EA1E185362}"/>
              </a:ext>
            </a:extLst>
          </p:cNvPr>
          <p:cNvSpPr/>
          <p:nvPr/>
        </p:nvSpPr>
        <p:spPr>
          <a:xfrm>
            <a:off x="1924832" y="2455110"/>
            <a:ext cx="8342335" cy="2329841"/>
          </a:xfrm>
          <a:prstGeom prst="roundRect">
            <a:avLst>
              <a:gd name="adj" fmla="val 6564"/>
            </a:avLst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0714C15-660A-DE5B-B31C-AB952497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実験</a:t>
            </a:r>
            <a:r>
              <a:rPr kumimoji="1" lang="en-US" altLang="ja-JP" dirty="0"/>
              <a:t>1 : </a:t>
            </a:r>
            <a:r>
              <a:rPr kumimoji="1" lang="ja-JP" altLang="en-US"/>
              <a:t>大喜利生成</a:t>
            </a:r>
            <a:r>
              <a:rPr kumimoji="1" lang="en-US" altLang="ja-JP" dirty="0"/>
              <a:t>AI</a:t>
            </a:r>
            <a:r>
              <a:rPr kumimoji="1" lang="ja-JP" altLang="en-US"/>
              <a:t>の実装</a:t>
            </a:r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A96D77B3-1C0C-FEA0-9F26-9F93C39A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27</a:t>
            </a:fld>
            <a:endParaRPr kumimoji="1" lang="ja-JP" altLang="en-US"/>
          </a:p>
        </p:txBody>
      </p:sp>
      <p:sp>
        <p:nvSpPr>
          <p:cNvPr id="9" name="角丸四角形吹き出し 8">
            <a:extLst>
              <a:ext uri="{FF2B5EF4-FFF2-40B4-BE49-F238E27FC236}">
                <a16:creationId xmlns:a16="http://schemas.microsoft.com/office/drawing/2014/main" id="{7FA636F5-4066-56D4-0014-3769270FD454}"/>
              </a:ext>
            </a:extLst>
          </p:cNvPr>
          <p:cNvSpPr/>
          <p:nvPr/>
        </p:nvSpPr>
        <p:spPr>
          <a:xfrm>
            <a:off x="6004163" y="983220"/>
            <a:ext cx="4687503" cy="1395663"/>
          </a:xfrm>
          <a:prstGeom prst="wedgeRoundRectCallout">
            <a:avLst>
              <a:gd name="adj1" fmla="val -80026"/>
              <a:gd name="adj2" fmla="val -1003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err="1"/>
              <a:t>bokete</a:t>
            </a:r>
            <a:r>
              <a:rPr kumimoji="1" lang="en-US" altLang="ja-JP" sz="2400" dirty="0"/>
              <a:t>[</a:t>
            </a:r>
            <a:r>
              <a:rPr kumimoji="1" lang="ja-JP" altLang="en-US" sz="2400"/>
              <a:t>２</a:t>
            </a:r>
            <a:r>
              <a:rPr kumimoji="1" lang="en-US" altLang="ja-JP" sz="2400" dirty="0"/>
              <a:t>]</a:t>
            </a:r>
            <a:r>
              <a:rPr kumimoji="1" lang="ja-JP" altLang="en-US" sz="2400" dirty="0"/>
              <a:t>の</a:t>
            </a:r>
            <a:endParaRPr kumimoji="1" lang="en-US" altLang="ja-JP" sz="2400" dirty="0"/>
          </a:p>
          <a:p>
            <a:pPr algn="ctr"/>
            <a:r>
              <a:rPr kumimoji="1" lang="en-US" altLang="ja-JP" sz="2400" dirty="0"/>
              <a:t>Web</a:t>
            </a:r>
            <a:r>
              <a:rPr kumimoji="1" lang="ja-JP" altLang="en-US" sz="2400" dirty="0"/>
              <a:t>サイトからスクレイピング</a:t>
            </a:r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71E48818-6984-31E8-2294-395CB20038B3}"/>
              </a:ext>
            </a:extLst>
          </p:cNvPr>
          <p:cNvGrpSpPr/>
          <p:nvPr/>
        </p:nvGrpSpPr>
        <p:grpSpPr>
          <a:xfrm>
            <a:off x="2660151" y="2568101"/>
            <a:ext cx="7277225" cy="2031325"/>
            <a:chOff x="3881295" y="4202857"/>
            <a:chExt cx="7277225" cy="2031325"/>
          </a:xfrm>
        </p:grpSpPr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8B6E2337-E2DC-8CD3-2C0E-A42B92B24C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81295" y="4202857"/>
              <a:ext cx="2031325" cy="203132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C7E87BCD-D539-D028-2B39-B2195C65523B}"/>
                </a:ext>
              </a:extLst>
            </p:cNvPr>
            <p:cNvSpPr txBox="1"/>
            <p:nvPr/>
          </p:nvSpPr>
          <p:spPr>
            <a:xfrm>
              <a:off x="6279380" y="4202857"/>
              <a:ext cx="4879140" cy="203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/>
                <a:t>肌かエプロン 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/>
                <a:t>そのエプロンは家庭科の実習で作ったの？  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/>
                <a:t>ホームレス留学生 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/>
                <a:t>若かりし日のなかやまきんに君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/>
                <a:t>裸にエプロンは「男のロマン」です 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/>
                <a:t>コイツ・・・チラリズムを熟知してやがる！！ </a:t>
              </a:r>
              <a:endParaRPr lang="en-US" altLang="ja-JP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/>
                <a:t>ねぇ・・ご飯にする、それともア・タ・シ？ </a:t>
              </a:r>
              <a:endParaRPr lang="en-US" altLang="ja-JP" dirty="0"/>
            </a:p>
          </p:txBody>
        </p:sp>
      </p:grp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84B35CB-B5B0-5573-8402-61A0A4DC8E26}"/>
              </a:ext>
            </a:extLst>
          </p:cNvPr>
          <p:cNvSpPr txBox="1"/>
          <p:nvPr/>
        </p:nvSpPr>
        <p:spPr>
          <a:xfrm>
            <a:off x="4729054" y="4583518"/>
            <a:ext cx="274320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2400"/>
              <a:t>学習データ例</a:t>
            </a:r>
            <a:r>
              <a:rPr kumimoji="1" lang="en-US" altLang="ja-JP" sz="2400" dirty="0"/>
              <a:t>[2]</a:t>
            </a:r>
            <a:endParaRPr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40173992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表 13">
            <a:extLst>
              <a:ext uri="{FF2B5EF4-FFF2-40B4-BE49-F238E27FC236}">
                <a16:creationId xmlns:a16="http://schemas.microsoft.com/office/drawing/2014/main" id="{51089F76-90E3-F894-8649-7C8D8C757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747055"/>
              </p:ext>
            </p:extLst>
          </p:nvPr>
        </p:nvGraphicFramePr>
        <p:xfrm>
          <a:off x="505125" y="974142"/>
          <a:ext cx="11224596" cy="55536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6149">
                  <a:extLst>
                    <a:ext uri="{9D8B030D-6E8A-4147-A177-3AD203B41FA5}">
                      <a16:colId xmlns:a16="http://schemas.microsoft.com/office/drawing/2014/main" val="3590537841"/>
                    </a:ext>
                  </a:extLst>
                </a:gridCol>
                <a:gridCol w="2806149">
                  <a:extLst>
                    <a:ext uri="{9D8B030D-6E8A-4147-A177-3AD203B41FA5}">
                      <a16:colId xmlns:a16="http://schemas.microsoft.com/office/drawing/2014/main" val="1290516150"/>
                    </a:ext>
                  </a:extLst>
                </a:gridCol>
                <a:gridCol w="2806149">
                  <a:extLst>
                    <a:ext uri="{9D8B030D-6E8A-4147-A177-3AD203B41FA5}">
                      <a16:colId xmlns:a16="http://schemas.microsoft.com/office/drawing/2014/main" val="1980795362"/>
                    </a:ext>
                  </a:extLst>
                </a:gridCol>
                <a:gridCol w="2806149">
                  <a:extLst>
                    <a:ext uri="{9D8B030D-6E8A-4147-A177-3AD203B41FA5}">
                      <a16:colId xmlns:a16="http://schemas.microsoft.com/office/drawing/2014/main" val="1268407517"/>
                    </a:ext>
                  </a:extLst>
                </a:gridCol>
              </a:tblGrid>
              <a:tr h="57293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>
                          <a:solidFill>
                            <a:schemeClr val="bg1"/>
                          </a:solidFill>
                        </a:rPr>
                        <a:t>入力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>
                          <a:solidFill>
                            <a:schemeClr val="bg1"/>
                          </a:solidFill>
                        </a:rPr>
                        <a:t>出力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>
                          <a:solidFill>
                            <a:schemeClr val="bg1"/>
                          </a:solidFill>
                        </a:rPr>
                        <a:t>入力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>
                          <a:solidFill>
                            <a:schemeClr val="bg1"/>
                          </a:solidFill>
                        </a:rPr>
                        <a:t>出力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987265"/>
                  </a:ext>
                </a:extLst>
              </a:tr>
              <a:tr h="2224822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6627435"/>
                  </a:ext>
                </a:extLst>
              </a:tr>
              <a:tr h="60140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>
                          <a:solidFill>
                            <a:schemeClr val="bg1"/>
                          </a:solidFill>
                        </a:rPr>
                        <a:t>入力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>
                          <a:solidFill>
                            <a:schemeClr val="bg1"/>
                          </a:solidFill>
                        </a:rPr>
                        <a:t>出力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>
                          <a:solidFill>
                            <a:schemeClr val="bg1"/>
                          </a:solidFill>
                        </a:rPr>
                        <a:t>入力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>
                          <a:solidFill>
                            <a:schemeClr val="bg1"/>
                          </a:solidFill>
                        </a:rPr>
                        <a:t>出力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811298"/>
                  </a:ext>
                </a:extLst>
              </a:tr>
              <a:tr h="2154496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7626380"/>
                  </a:ext>
                </a:extLst>
              </a:tr>
            </a:tbl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75A31A51-0B6A-C775-E8DC-F3C707B7A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/>
              <a:t>実験</a:t>
            </a:r>
            <a:r>
              <a:rPr lang="en-US" altLang="ja-JP" dirty="0"/>
              <a:t>1</a:t>
            </a:r>
            <a:r>
              <a:rPr lang="ja-JP" altLang="en-US"/>
              <a:t>：</a:t>
            </a:r>
            <a:r>
              <a:rPr lang="en-US" altLang="ja-JP" dirty="0" err="1"/>
              <a:t>AutoEncoder</a:t>
            </a:r>
            <a:r>
              <a:rPr lang="ja-JP" altLang="en-US"/>
              <a:t>の学習結果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319001B-286C-3EE4-F413-109329454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28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B5CC6B2-6927-3444-77DD-EA5CC32FB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15" y="1594842"/>
            <a:ext cx="2204963" cy="2143429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93CD5827-A267-C0F3-3622-47429598C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1594842"/>
            <a:ext cx="2204963" cy="2143429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D2A357CD-67C0-C394-13A4-99DBD4FA16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315" y="4384371"/>
            <a:ext cx="2204963" cy="2143429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8D9A447A-1B90-2EDC-3FAF-3AF7473501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1" y="4384370"/>
            <a:ext cx="2204963" cy="2143429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85AFC36-1815-2364-EF65-A62713AE63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9561" y="1594398"/>
            <a:ext cx="2204963" cy="2143429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1DF14B68-B713-4D7E-6313-C089375F4E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1725" y="1594397"/>
            <a:ext cx="2204963" cy="2143429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20C0D84D-6413-EDD9-A0E8-E3DC8F9A7C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3487" y="4383483"/>
            <a:ext cx="2204963" cy="2143429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C6583FA6-CC92-39D9-49F5-D78802FA79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1725" y="4383483"/>
            <a:ext cx="2204963" cy="214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0420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CB94C0-5D11-EA33-F0A2-9B44A0EE5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実験</a:t>
            </a:r>
            <a:r>
              <a:rPr kumimoji="1" lang="en-US" altLang="ja-JP" dirty="0"/>
              <a:t>1</a:t>
            </a:r>
            <a:r>
              <a:rPr kumimoji="1" lang="ja-JP" altLang="en-US"/>
              <a:t>：学習に使用した画像を入力</a:t>
            </a:r>
          </a:p>
        </p:txBody>
      </p:sp>
      <p:graphicFrame>
        <p:nvGraphicFramePr>
          <p:cNvPr id="11" name="表 11">
            <a:extLst>
              <a:ext uri="{FF2B5EF4-FFF2-40B4-BE49-F238E27FC236}">
                <a16:creationId xmlns:a16="http://schemas.microsoft.com/office/drawing/2014/main" id="{5A3195EF-8286-D75A-F8A2-B365F001EE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2812426"/>
              </p:ext>
            </p:extLst>
          </p:nvPr>
        </p:nvGraphicFramePr>
        <p:xfrm>
          <a:off x="472721" y="4108569"/>
          <a:ext cx="11268074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4037">
                  <a:extLst>
                    <a:ext uri="{9D8B030D-6E8A-4147-A177-3AD203B41FA5}">
                      <a16:colId xmlns:a16="http://schemas.microsoft.com/office/drawing/2014/main" val="1942013592"/>
                    </a:ext>
                  </a:extLst>
                </a:gridCol>
                <a:gridCol w="5634037">
                  <a:extLst>
                    <a:ext uri="{9D8B030D-6E8A-4147-A177-3AD203B41FA5}">
                      <a16:colId xmlns:a16="http://schemas.microsoft.com/office/drawing/2014/main" val="814314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学習データ</a:t>
                      </a:r>
                      <a:r>
                        <a:rPr kumimoji="1" lang="en-US" altLang="ja-JP" sz="2000" dirty="0"/>
                        <a:t>[2](</a:t>
                      </a:r>
                      <a:r>
                        <a:rPr kumimoji="1" lang="ja-JP" altLang="en-US" sz="2000"/>
                        <a:t>一部</a:t>
                      </a:r>
                      <a:r>
                        <a:rPr kumimoji="1" lang="en-US" altLang="ja-JP" sz="2000" dirty="0"/>
                        <a:t>)</a:t>
                      </a:r>
                      <a:endParaRPr kumimoji="1" lang="ja-JP" altLang="en-US" sz="200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生成データ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275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000" b="0" i="0">
                          <a:effectLst/>
                          <a:latin typeface="Menlo" panose="020B0609030804020204" pitchFamily="49" charset="0"/>
                        </a:rPr>
                        <a:t>「ほれミラクルミ～！」「</a:t>
                      </a:r>
                      <a:r>
                        <a:rPr lang="en-US" altLang="ja-JP" sz="2000" b="0" i="0" dirty="0">
                          <a:effectLst/>
                          <a:latin typeface="Menlo" panose="020B0609030804020204" pitchFamily="49" charset="0"/>
                        </a:rPr>
                        <a:t>…</a:t>
                      </a:r>
                      <a:r>
                        <a:rPr lang="ja-JP" altLang="en-US" sz="2000" b="0" i="0">
                          <a:effectLst/>
                          <a:latin typeface="Menlo" panose="020B0609030804020204" pitchFamily="49" charset="0"/>
                        </a:rPr>
                        <a:t>お前トコトンじゃのう」 </a:t>
                      </a:r>
                      <a:endParaRPr lang="en-US" altLang="ja-JP" sz="2000" b="0" i="0" dirty="0">
                        <a:effectLst/>
                        <a:latin typeface="Menlo" panose="020B0609030804020204" pitchFamily="49" charset="0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000" b="0" i="0">
                          <a:effectLst/>
                          <a:latin typeface="Menlo" panose="020B0609030804020204" pitchFamily="49" charset="0"/>
                        </a:rPr>
                        <a:t>１秒後に</a:t>
                      </a:r>
                      <a:r>
                        <a:rPr lang="en-US" altLang="ja-JP" sz="2000" b="0" i="0" dirty="0">
                          <a:effectLst/>
                          <a:latin typeface="Menlo" panose="020B0609030804020204" pitchFamily="49" charset="0"/>
                        </a:rPr>
                        <a:t>2</a:t>
                      </a:r>
                      <a:r>
                        <a:rPr lang="ja-JP" altLang="en-US" sz="2000" b="0" i="0">
                          <a:effectLst/>
                          <a:latin typeface="Menlo" panose="020B0609030804020204" pitchFamily="49" charset="0"/>
                        </a:rPr>
                        <a:t>頭とも振り向き、噛み殺されました。 </a:t>
                      </a:r>
                      <a:endParaRPr lang="en-US" altLang="ja-JP" sz="2000" b="0" i="0" dirty="0">
                        <a:effectLst/>
                        <a:latin typeface="Menlo" panose="020B0609030804020204" pitchFamily="49" charset="0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000" b="0" i="0">
                          <a:effectLst/>
                          <a:latin typeface="Menlo" panose="020B0609030804020204" pitchFamily="49" charset="0"/>
                        </a:rPr>
                        <a:t>あ～</a:t>
                      </a:r>
                      <a:r>
                        <a:rPr lang="ja-JP" altLang="en-US" sz="2000" b="0" i="0">
                          <a:solidFill>
                            <a:srgbClr val="FF0000"/>
                          </a:solidFill>
                          <a:effectLst/>
                          <a:latin typeface="Menlo" panose="020B0609030804020204" pitchFamily="49" charset="0"/>
                        </a:rPr>
                        <a:t>溜まってる</a:t>
                      </a:r>
                      <a:r>
                        <a:rPr lang="ja-JP" altLang="en-US" sz="2000" b="0" i="0">
                          <a:effectLst/>
                          <a:latin typeface="Menlo" panose="020B0609030804020204" pitchFamily="49" charset="0"/>
                        </a:rPr>
                        <a:t>ね。奥さん相手してくれないんだね。 </a:t>
                      </a:r>
                      <a:endParaRPr lang="en-US" altLang="ja-JP" sz="2000" b="0" i="0" dirty="0">
                        <a:effectLst/>
                        <a:latin typeface="Menlo" panose="020B0609030804020204" pitchFamily="49" charset="0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000" b="0" i="0">
                          <a:effectLst/>
                          <a:latin typeface="Menlo" panose="020B0609030804020204" pitchFamily="49" charset="0"/>
                        </a:rPr>
                        <a:t>あっ、ちょっと待って鍵出すから・・ </a:t>
                      </a:r>
                      <a:endParaRPr lang="en-US" altLang="ja-JP" sz="2000" b="0" i="0" dirty="0">
                        <a:effectLst/>
                        <a:latin typeface="Menlo" panose="020B0609030804020204" pitchFamily="49" charset="0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000" b="0" i="0">
                          <a:effectLst/>
                          <a:latin typeface="Menlo" panose="020B0609030804020204" pitchFamily="49" charset="0"/>
                        </a:rPr>
                        <a:t>おお・・・気持ちイイねぇ。お小遣いをはずもう </a:t>
                      </a:r>
                      <a:endParaRPr lang="en-US" altLang="ja-JP" sz="2000" b="0" i="0" dirty="0">
                        <a:effectLst/>
                        <a:latin typeface="Menlo" panose="020B0609030804020204" pitchFamily="49" charset="0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000" b="0" i="0">
                          <a:effectLst/>
                          <a:latin typeface="Menlo" panose="020B0609030804020204" pitchFamily="49" charset="0"/>
                        </a:rPr>
                        <a:t>「うん、痔だね、イボ痔。」「やっぱり･･･」</a:t>
                      </a:r>
                      <a:endParaRPr lang="ja-JP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000">
                          <a:solidFill>
                            <a:srgbClr val="FF0000"/>
                          </a:solidFill>
                        </a:rPr>
                        <a:t>溜まってる</a:t>
                      </a:r>
                      <a:r>
                        <a:rPr lang="ja-JP" altLang="en-US" sz="2000">
                          <a:solidFill>
                            <a:schemeClr val="tx1"/>
                          </a:solidFill>
                        </a:rPr>
                        <a:t>んだね</a:t>
                      </a:r>
                      <a:r>
                        <a:rPr lang="ja-JP" altLang="en-US" sz="2000">
                          <a:solidFill>
                            <a:srgbClr val="7030A0"/>
                          </a:solidFill>
                        </a:rPr>
                        <a:t>イボ痔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000">
                          <a:solidFill>
                            <a:schemeClr val="tx1"/>
                          </a:solidFill>
                        </a:rPr>
                        <a:t>やっぱり</a:t>
                      </a:r>
                      <a:r>
                        <a:rPr lang="ja-JP" altLang="en-US" sz="2000">
                          <a:solidFill>
                            <a:srgbClr val="FF0000"/>
                          </a:solidFill>
                        </a:rPr>
                        <a:t>溜まってる</a:t>
                      </a:r>
                      <a:r>
                        <a:rPr lang="ja-JP" altLang="en-US" sz="2000">
                          <a:solidFill>
                            <a:schemeClr val="tx1"/>
                          </a:solidFill>
                        </a:rPr>
                        <a:t>のね</a:t>
                      </a:r>
                      <a:r>
                        <a:rPr lang="ja-JP" altLang="en-US" sz="2000">
                          <a:solidFill>
                            <a:srgbClr val="7030A0"/>
                          </a:solidFill>
                        </a:rPr>
                        <a:t>イボ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000">
                          <a:solidFill>
                            <a:schemeClr val="tx1"/>
                          </a:solidFill>
                        </a:rPr>
                        <a:t>なれてるライオンさんが透明人間になってしまう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635134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CCAB50-7B5C-E430-CD97-39A636020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29</a:t>
            </a:fld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20AF3B5-99B5-0EE9-985B-C0234946C4B7}"/>
              </a:ext>
            </a:extLst>
          </p:cNvPr>
          <p:cNvSpPr txBox="1"/>
          <p:nvPr/>
        </p:nvSpPr>
        <p:spPr>
          <a:xfrm>
            <a:off x="4997375" y="3708459"/>
            <a:ext cx="2197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2000"/>
              <a:t>入力画像</a:t>
            </a:r>
            <a:r>
              <a:rPr kumimoji="1" lang="en-US" altLang="ja-JP" sz="2000" dirty="0"/>
              <a:t>[2]</a:t>
            </a:r>
            <a:endParaRPr kumimoji="1" lang="ja-JP" altLang="en-US" sz="200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37D53CD-E752-78D9-162F-83A4B578D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973" y="997008"/>
            <a:ext cx="2711451" cy="271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9200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81F3C1-801C-78D1-E6E2-B3A90A41941B}"/>
              </a:ext>
            </a:extLst>
          </p:cNvPr>
          <p:cNvSpPr txBox="1">
            <a:spLocks/>
          </p:cNvSpPr>
          <p:nvPr/>
        </p:nvSpPr>
        <p:spPr>
          <a:xfrm>
            <a:off x="462280" y="1085039"/>
            <a:ext cx="11267440" cy="5286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Wingdings" pitchFamily="2" charset="2"/>
              <a:buChar char="l"/>
              <a:defRPr kumimoji="1" sz="2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24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20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1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1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dirty="0"/>
              <a:t>実装した</a:t>
            </a:r>
            <a:r>
              <a:rPr lang="en-US" altLang="ja-JP" dirty="0"/>
              <a:t>AI</a:t>
            </a:r>
            <a:r>
              <a:rPr lang="ja-JP" altLang="en-US" dirty="0"/>
              <a:t>が生成した</a:t>
            </a:r>
            <a:r>
              <a:rPr lang="ja-JP" altLang="en-US"/>
              <a:t>大喜利</a:t>
            </a:r>
            <a:endParaRPr lang="ja-JP" alt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6170184-9553-8DC1-4C47-F3E9682DD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実験</a:t>
            </a:r>
            <a:r>
              <a:rPr kumimoji="1" lang="en-US" altLang="ja-JP" dirty="0"/>
              <a:t>1:</a:t>
            </a:r>
            <a:r>
              <a:rPr kumimoji="1" lang="ja-JP" altLang="en-US"/>
              <a:t>学習に使用していない画像を入力</a:t>
            </a:r>
          </a:p>
        </p:txBody>
      </p:sp>
      <p:graphicFrame>
        <p:nvGraphicFramePr>
          <p:cNvPr id="5" name="表 5">
            <a:extLst>
              <a:ext uri="{FF2B5EF4-FFF2-40B4-BE49-F238E27FC236}">
                <a16:creationId xmlns:a16="http://schemas.microsoft.com/office/drawing/2014/main" id="{0772C59C-A1D3-4815-A287-ECA02E950A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6794227"/>
              </p:ext>
            </p:extLst>
          </p:nvPr>
        </p:nvGraphicFramePr>
        <p:xfrm>
          <a:off x="136633" y="1573143"/>
          <a:ext cx="11960775" cy="433132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30015">
                  <a:extLst>
                    <a:ext uri="{9D8B030D-6E8A-4147-A177-3AD203B41FA5}">
                      <a16:colId xmlns:a16="http://schemas.microsoft.com/office/drawing/2014/main" val="612670568"/>
                    </a:ext>
                  </a:extLst>
                </a:gridCol>
                <a:gridCol w="2732690">
                  <a:extLst>
                    <a:ext uri="{9D8B030D-6E8A-4147-A177-3AD203B41FA5}">
                      <a16:colId xmlns:a16="http://schemas.microsoft.com/office/drawing/2014/main" val="1960179461"/>
                    </a:ext>
                  </a:extLst>
                </a:gridCol>
                <a:gridCol w="2732690">
                  <a:extLst>
                    <a:ext uri="{9D8B030D-6E8A-4147-A177-3AD203B41FA5}">
                      <a16:colId xmlns:a16="http://schemas.microsoft.com/office/drawing/2014/main" val="1936922339"/>
                    </a:ext>
                  </a:extLst>
                </a:gridCol>
                <a:gridCol w="2732690">
                  <a:extLst>
                    <a:ext uri="{9D8B030D-6E8A-4147-A177-3AD203B41FA5}">
                      <a16:colId xmlns:a16="http://schemas.microsoft.com/office/drawing/2014/main" val="1642500427"/>
                    </a:ext>
                  </a:extLst>
                </a:gridCol>
                <a:gridCol w="2732690">
                  <a:extLst>
                    <a:ext uri="{9D8B030D-6E8A-4147-A177-3AD203B41FA5}">
                      <a16:colId xmlns:a16="http://schemas.microsoft.com/office/drawing/2014/main" val="2197124767"/>
                    </a:ext>
                  </a:extLst>
                </a:gridCol>
              </a:tblGrid>
              <a:tr h="213991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画像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372475"/>
                  </a:ext>
                </a:extLst>
              </a:tr>
              <a:tr h="219141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文章</a:t>
                      </a:r>
                    </a:p>
                  </a:txBody>
                  <a:tcPr anchor="ctr">
                    <a:solidFill>
                      <a:srgbClr val="E1EC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私のすっぴんよ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私すっぴんでしょ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ママすっぴんなの</a:t>
                      </a:r>
                    </a:p>
                  </a:txBody>
                  <a:tcPr anchor="ctr">
                    <a:solidFill>
                      <a:srgbClr val="E1EC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あっち向いてホイ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これからダシを出します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おい晩御飯はあっちに置いてな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キラーフィンガー一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ガチャピン募集中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en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WBC</a:t>
                      </a: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の中継のワンシーン</a:t>
                      </a:r>
                      <a:endParaRPr kumimoji="1" lang="en-US" altLang="ja-JP" sz="20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E1EC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あちゃ生命線が無い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800" b="0" kern="1200">
                          <a:solidFill>
                            <a:schemeClr val="tx1"/>
                          </a:solidFill>
                          <a:effectLst/>
                        </a:rPr>
                        <a:t>あっそれロン</a:t>
                      </a:r>
                      <a:endParaRPr kumimoji="1" lang="en-US" altLang="ja-JP" sz="18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こう見えても僕のパパです</a:t>
                      </a:r>
                      <a:endParaRPr kumimoji="1" lang="ja-JP" altLang="en-US" sz="1800" b="0" kern="1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446736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5FF80D7-58FE-9C61-6945-0285D1BDA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30</a:t>
            </a:fld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44F818E0-EE0D-6C15-0796-8C518E971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475" y="1596606"/>
            <a:ext cx="2059965" cy="2059965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8A99061B-825E-9266-4866-4B222E8BE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6889" y="1596606"/>
            <a:ext cx="2059965" cy="2059965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BEE9F858-B653-135D-350C-51F8668F38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707" y="1596606"/>
            <a:ext cx="2059965" cy="2059965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466DD25-B15B-8AF9-24E6-6B6F7A9BEB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3656" y="1596605"/>
            <a:ext cx="2059966" cy="205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021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B9DE10-148C-04C3-BF86-F1792BC05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実験</a:t>
            </a:r>
            <a:r>
              <a:rPr kumimoji="1" lang="en-US" altLang="ja-JP" dirty="0"/>
              <a:t>1:</a:t>
            </a:r>
            <a:r>
              <a:rPr kumimoji="1" lang="ja-JP" altLang="en-US"/>
              <a:t>学習に使用していない画像を入力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18F5942-17D9-46DF-8F00-3CBBD7117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3860" y="1685519"/>
            <a:ext cx="5297389" cy="3486961"/>
          </a:xfrm>
        </p:spPr>
        <p:txBody>
          <a:bodyPr>
            <a:normAutofit fontScale="92500" lnSpcReduction="10000"/>
          </a:bodyPr>
          <a:lstStyle/>
          <a:p>
            <a:r>
              <a:rPr kumimoji="1" lang="ja-JP" altLang="en-US"/>
              <a:t>私のすっぴんよ</a:t>
            </a:r>
          </a:p>
          <a:p>
            <a:r>
              <a:rPr kumimoji="1" lang="ja-JP" altLang="en-US"/>
              <a:t>私すっぴんでしょ</a:t>
            </a:r>
          </a:p>
          <a:p>
            <a:r>
              <a:rPr kumimoji="1" lang="ja-JP" altLang="en-US"/>
              <a:t>ママすっぴんなの</a:t>
            </a:r>
          </a:p>
          <a:p>
            <a:r>
              <a:rPr kumimoji="1" lang="ja-JP" altLang="en-US"/>
              <a:t>メイク忘れてる</a:t>
            </a:r>
            <a:endParaRPr kumimoji="1" lang="en-US" altLang="ja-JP" dirty="0"/>
          </a:p>
          <a:p>
            <a:endParaRPr kumimoji="1" lang="en-US" altLang="ja-JP" sz="1500" dirty="0"/>
          </a:p>
          <a:p>
            <a:r>
              <a:rPr kumimoji="1" lang="ja-JP" altLang="en-US"/>
              <a:t>森口ロールの新</a:t>
            </a:r>
            <a:r>
              <a:rPr kumimoji="1" lang="en" altLang="ja-JP" dirty="0"/>
              <a:t>CM</a:t>
            </a:r>
          </a:p>
          <a:p>
            <a:r>
              <a:rPr kumimoji="1" lang="ja-JP" altLang="en-US"/>
              <a:t>この歯医者って書いて買ったんですけど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B488B69-73AE-4EB9-09F0-D3F55C9E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31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0161912-6B77-FA20-1715-45F8A9EEC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767" y="1525307"/>
            <a:ext cx="4406095" cy="4406095"/>
          </a:xfrm>
          <a:prstGeom prst="rect">
            <a:avLst/>
          </a:prstGeom>
        </p:spPr>
      </p:pic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CBC0F6EB-9957-912A-FDFB-79A3675A251A}"/>
              </a:ext>
            </a:extLst>
          </p:cNvPr>
          <p:cNvSpPr txBox="1">
            <a:spLocks/>
          </p:cNvSpPr>
          <p:nvPr/>
        </p:nvSpPr>
        <p:spPr>
          <a:xfrm>
            <a:off x="462280" y="1085039"/>
            <a:ext cx="11267440" cy="5286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Wingdings" pitchFamily="2" charset="2"/>
              <a:buChar char="l"/>
              <a:defRPr kumimoji="1" sz="2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24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20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1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1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dirty="0"/>
              <a:t>実装した</a:t>
            </a:r>
            <a:r>
              <a:rPr lang="en-US" altLang="ja-JP" dirty="0"/>
              <a:t>AI</a:t>
            </a:r>
            <a:r>
              <a:rPr lang="ja-JP" altLang="en-US" dirty="0"/>
              <a:t>が生成した大喜利</a:t>
            </a:r>
            <a:r>
              <a:rPr lang="en-US" altLang="ja-JP" dirty="0"/>
              <a:t>(</a:t>
            </a:r>
            <a:r>
              <a:rPr lang="ja-JP" altLang="en-US" dirty="0"/>
              <a:t>抜粋</a:t>
            </a:r>
            <a:r>
              <a:rPr lang="en-US" altLang="ja-JP" dirty="0"/>
              <a:t>)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235347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B9DE10-148C-04C3-BF86-F1792BC05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実験</a:t>
            </a:r>
            <a:r>
              <a:rPr kumimoji="1" lang="en-US" altLang="ja-JP" dirty="0"/>
              <a:t>1:</a:t>
            </a:r>
            <a:r>
              <a:rPr kumimoji="1" lang="ja-JP" altLang="en-US"/>
              <a:t>学習に使用していない画像を入力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18F5942-17D9-46DF-8F00-3CBBD7117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3860" y="1685519"/>
            <a:ext cx="5297389" cy="3486961"/>
          </a:xfrm>
        </p:spPr>
        <p:txBody>
          <a:bodyPr>
            <a:normAutofit fontScale="92500" lnSpcReduction="10000"/>
          </a:bodyPr>
          <a:lstStyle/>
          <a:p>
            <a:r>
              <a:rPr kumimoji="1" lang="ja-JP" altLang="en-US"/>
              <a:t>私の</a:t>
            </a:r>
            <a:r>
              <a:rPr kumimoji="1" lang="ja-JP" altLang="en-US">
                <a:solidFill>
                  <a:srgbClr val="FF0000"/>
                </a:solidFill>
              </a:rPr>
              <a:t>すっぴん</a:t>
            </a:r>
            <a:r>
              <a:rPr kumimoji="1" lang="ja-JP" altLang="en-US"/>
              <a:t>よ</a:t>
            </a:r>
          </a:p>
          <a:p>
            <a:r>
              <a:rPr kumimoji="1" lang="ja-JP" altLang="en-US">
                <a:solidFill>
                  <a:srgbClr val="FF0000"/>
                </a:solidFill>
              </a:rPr>
              <a:t>私すっぴん</a:t>
            </a:r>
            <a:r>
              <a:rPr kumimoji="1" lang="ja-JP" altLang="en-US"/>
              <a:t>でしょ</a:t>
            </a:r>
          </a:p>
          <a:p>
            <a:r>
              <a:rPr kumimoji="1" lang="ja-JP" altLang="en-US">
                <a:solidFill>
                  <a:srgbClr val="FF0000"/>
                </a:solidFill>
              </a:rPr>
              <a:t>ママ</a:t>
            </a:r>
            <a:r>
              <a:rPr kumimoji="1" lang="ja-JP" altLang="en-US"/>
              <a:t>すっぴんなの</a:t>
            </a:r>
          </a:p>
          <a:p>
            <a:r>
              <a:rPr kumimoji="1" lang="ja-JP" altLang="en-US">
                <a:solidFill>
                  <a:srgbClr val="FF0000"/>
                </a:solidFill>
              </a:rPr>
              <a:t>メイク</a:t>
            </a:r>
            <a:r>
              <a:rPr kumimoji="1" lang="ja-JP" altLang="en-US"/>
              <a:t>忘れてる</a:t>
            </a:r>
            <a:endParaRPr kumimoji="1" lang="en-US" altLang="ja-JP" dirty="0"/>
          </a:p>
          <a:p>
            <a:endParaRPr kumimoji="1" lang="en-US" altLang="ja-JP" sz="1500" dirty="0"/>
          </a:p>
          <a:p>
            <a:r>
              <a:rPr kumimoji="1" lang="ja-JP" altLang="en-US"/>
              <a:t>森口ロールの新</a:t>
            </a:r>
            <a:r>
              <a:rPr kumimoji="1" lang="en" altLang="ja-JP" dirty="0"/>
              <a:t>CM</a:t>
            </a:r>
          </a:p>
          <a:p>
            <a:r>
              <a:rPr kumimoji="1" lang="ja-JP" altLang="en-US"/>
              <a:t>この歯医者って書いて買ったんですけど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B488B69-73AE-4EB9-09F0-D3F55C9E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32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0161912-6B77-FA20-1715-45F8A9EEC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767" y="1525307"/>
            <a:ext cx="4406095" cy="4406095"/>
          </a:xfrm>
          <a:prstGeom prst="rect">
            <a:avLst/>
          </a:prstGeom>
        </p:spPr>
      </p:pic>
      <p:sp>
        <p:nvSpPr>
          <p:cNvPr id="6" name="角丸四角形吹き出し 5">
            <a:extLst>
              <a:ext uri="{FF2B5EF4-FFF2-40B4-BE49-F238E27FC236}">
                <a16:creationId xmlns:a16="http://schemas.microsoft.com/office/drawing/2014/main" id="{BAB7A717-9B13-0C87-E650-45049BEF4F0A}"/>
              </a:ext>
            </a:extLst>
          </p:cNvPr>
          <p:cNvSpPr/>
          <p:nvPr/>
        </p:nvSpPr>
        <p:spPr>
          <a:xfrm>
            <a:off x="6463860" y="3979365"/>
            <a:ext cx="4889940" cy="939476"/>
          </a:xfrm>
          <a:prstGeom prst="wedgeRoundRectCallout">
            <a:avLst>
              <a:gd name="adj1" fmla="val -31397"/>
              <a:gd name="adj2" fmla="val -110113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/>
              <a:t>画像の特徴を捉えた</a:t>
            </a:r>
            <a:endParaRPr kumimoji="1" lang="en-US" altLang="ja-JP" sz="2400" dirty="0"/>
          </a:p>
          <a:p>
            <a:pPr algn="ctr"/>
            <a:r>
              <a:rPr kumimoji="1" lang="ja-JP" altLang="en-US" sz="2400"/>
              <a:t>大喜利を生成している</a:t>
            </a: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CBC0F6EB-9957-912A-FDFB-79A3675A251A}"/>
              </a:ext>
            </a:extLst>
          </p:cNvPr>
          <p:cNvSpPr txBox="1">
            <a:spLocks/>
          </p:cNvSpPr>
          <p:nvPr/>
        </p:nvSpPr>
        <p:spPr>
          <a:xfrm>
            <a:off x="462280" y="1085039"/>
            <a:ext cx="11267440" cy="5286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Wingdings" pitchFamily="2" charset="2"/>
              <a:buChar char="l"/>
              <a:defRPr kumimoji="1" sz="2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24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20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1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1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dirty="0"/>
              <a:t>実装した</a:t>
            </a:r>
            <a:r>
              <a:rPr lang="en-US" altLang="ja-JP" dirty="0"/>
              <a:t>AI</a:t>
            </a:r>
            <a:r>
              <a:rPr lang="ja-JP" altLang="en-US" dirty="0"/>
              <a:t>が生成した大喜利</a:t>
            </a:r>
            <a:r>
              <a:rPr lang="en-US" altLang="ja-JP" dirty="0"/>
              <a:t>(</a:t>
            </a:r>
            <a:r>
              <a:rPr lang="ja-JP" altLang="en-US" dirty="0"/>
              <a:t>抜粋</a:t>
            </a:r>
            <a:r>
              <a:rPr lang="en-US" altLang="ja-JP" dirty="0"/>
              <a:t>)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976160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B9DE10-148C-04C3-BF86-F1792BC05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実験</a:t>
            </a:r>
            <a:r>
              <a:rPr kumimoji="1" lang="en-US" altLang="ja-JP" dirty="0"/>
              <a:t>1:</a:t>
            </a:r>
            <a:r>
              <a:rPr kumimoji="1" lang="ja-JP" altLang="en-US"/>
              <a:t>学習に使用していない画像を入力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18F5942-17D9-46DF-8F00-3CBBD7117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3860" y="1685519"/>
            <a:ext cx="5297389" cy="3486961"/>
          </a:xfrm>
        </p:spPr>
        <p:txBody>
          <a:bodyPr>
            <a:normAutofit fontScale="92500" lnSpcReduction="10000"/>
          </a:bodyPr>
          <a:lstStyle/>
          <a:p>
            <a:r>
              <a:rPr kumimoji="1" lang="ja-JP" altLang="en-US"/>
              <a:t>私のすっぴんよ</a:t>
            </a:r>
          </a:p>
          <a:p>
            <a:r>
              <a:rPr kumimoji="1" lang="ja-JP" altLang="en-US"/>
              <a:t>私すっぴんでしょ</a:t>
            </a:r>
          </a:p>
          <a:p>
            <a:r>
              <a:rPr kumimoji="1" lang="ja-JP" altLang="en-US"/>
              <a:t>ママすっぴんなの</a:t>
            </a:r>
          </a:p>
          <a:p>
            <a:r>
              <a:rPr kumimoji="1" lang="ja-JP" altLang="en-US"/>
              <a:t>メイク忘れてる</a:t>
            </a:r>
            <a:endParaRPr kumimoji="1" lang="en-US" altLang="ja-JP" dirty="0"/>
          </a:p>
          <a:p>
            <a:endParaRPr kumimoji="1" lang="en-US" altLang="ja-JP" sz="1500" dirty="0"/>
          </a:p>
          <a:p>
            <a:r>
              <a:rPr kumimoji="1" lang="ja-JP" altLang="en-US"/>
              <a:t>森口ロールの新</a:t>
            </a:r>
            <a:r>
              <a:rPr kumimoji="1" lang="en" altLang="ja-JP" dirty="0"/>
              <a:t>CM</a:t>
            </a:r>
          </a:p>
          <a:p>
            <a:r>
              <a:rPr kumimoji="1" lang="ja-JP" altLang="en-US"/>
              <a:t>この歯医者って書いて買ったんですけど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B488B69-73AE-4EB9-09F0-D3F55C9E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33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0161912-6B77-FA20-1715-45F8A9EEC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767" y="1525307"/>
            <a:ext cx="4406095" cy="4406095"/>
          </a:xfrm>
          <a:prstGeom prst="rect">
            <a:avLst/>
          </a:prstGeom>
        </p:spPr>
      </p:pic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CBC0F6EB-9957-912A-FDFB-79A3675A251A}"/>
              </a:ext>
            </a:extLst>
          </p:cNvPr>
          <p:cNvSpPr txBox="1">
            <a:spLocks/>
          </p:cNvSpPr>
          <p:nvPr/>
        </p:nvSpPr>
        <p:spPr>
          <a:xfrm>
            <a:off x="462280" y="1085039"/>
            <a:ext cx="11267440" cy="5286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Wingdings" pitchFamily="2" charset="2"/>
              <a:buChar char="l"/>
              <a:defRPr kumimoji="1" sz="2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24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20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1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1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dirty="0"/>
              <a:t>実装した</a:t>
            </a:r>
            <a:r>
              <a:rPr lang="en-US" altLang="ja-JP" dirty="0"/>
              <a:t>AI</a:t>
            </a:r>
            <a:r>
              <a:rPr lang="ja-JP" altLang="en-US" dirty="0"/>
              <a:t>が生成した大喜利</a:t>
            </a:r>
            <a:r>
              <a:rPr lang="en-US" altLang="ja-JP" dirty="0"/>
              <a:t>(</a:t>
            </a:r>
            <a:r>
              <a:rPr lang="ja-JP" altLang="en-US" dirty="0"/>
              <a:t>抜粋</a:t>
            </a:r>
            <a:r>
              <a:rPr lang="en-US" altLang="ja-JP" dirty="0"/>
              <a:t>)</a:t>
            </a:r>
            <a:endParaRPr lang="ja-JP" altLang="en-US" dirty="0"/>
          </a:p>
        </p:txBody>
      </p:sp>
      <p:sp>
        <p:nvSpPr>
          <p:cNvPr id="7" name="角丸四角形吹き出し 6">
            <a:extLst>
              <a:ext uri="{FF2B5EF4-FFF2-40B4-BE49-F238E27FC236}">
                <a16:creationId xmlns:a16="http://schemas.microsoft.com/office/drawing/2014/main" id="{3BF4607D-7D9C-C5F3-116F-FA6E047A4058}"/>
              </a:ext>
            </a:extLst>
          </p:cNvPr>
          <p:cNvSpPr/>
          <p:nvPr/>
        </p:nvSpPr>
        <p:spPr>
          <a:xfrm>
            <a:off x="6463860" y="5471834"/>
            <a:ext cx="4889940" cy="939476"/>
          </a:xfrm>
          <a:prstGeom prst="wedgeRoundRectCallout">
            <a:avLst>
              <a:gd name="adj1" fmla="val -34345"/>
              <a:gd name="adj2" fmla="val -112103"/>
              <a:gd name="adj3" fmla="val 1666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/>
              <a:t>関連性の低い大喜利を</a:t>
            </a:r>
            <a:endParaRPr kumimoji="1" lang="en-US" altLang="ja-JP" sz="2400" dirty="0"/>
          </a:p>
          <a:p>
            <a:pPr algn="ctr"/>
            <a:r>
              <a:rPr kumimoji="1" lang="ja-JP" altLang="en-US" sz="2400" dirty="0"/>
              <a:t>生成する場合もある</a:t>
            </a:r>
          </a:p>
        </p:txBody>
      </p:sp>
    </p:spTree>
    <p:extLst>
      <p:ext uri="{BB962C8B-B14F-4D97-AF65-F5344CB8AC3E}">
        <p14:creationId xmlns:p14="http://schemas.microsoft.com/office/powerpoint/2010/main" val="34356340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14406C-C96E-F7F6-796E-CD01D88BA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実験</a:t>
            </a:r>
            <a:r>
              <a:rPr kumimoji="1" lang="en-US" altLang="ja-JP" dirty="0"/>
              <a:t>2 : </a:t>
            </a:r>
            <a:r>
              <a:rPr kumimoji="1" lang="ja-JP" altLang="en-US"/>
              <a:t>従来手法との比較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96763F-2B67-E917-33E1-62DCFB1E7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提案手法と従来手法で大喜利生成</a:t>
            </a:r>
            <a:r>
              <a:rPr kumimoji="1" lang="en-US" altLang="ja-JP" dirty="0"/>
              <a:t>AI</a:t>
            </a:r>
            <a:r>
              <a:rPr kumimoji="1" lang="ja-JP" altLang="en-US" dirty="0"/>
              <a:t>を実装し， 生成する大喜利を比較</a:t>
            </a:r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DFFE42B-6802-87E3-1776-640AF497E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34</a:t>
            </a:fld>
            <a:endParaRPr kumimoji="1" lang="ja-JP" altLang="en-US"/>
          </a:p>
        </p:txBody>
      </p:sp>
      <p:graphicFrame>
        <p:nvGraphicFramePr>
          <p:cNvPr id="5" name="表 5">
            <a:extLst>
              <a:ext uri="{FF2B5EF4-FFF2-40B4-BE49-F238E27FC236}">
                <a16:creationId xmlns:a16="http://schemas.microsoft.com/office/drawing/2014/main" id="{962289FB-16A8-ABD3-D331-B418A40C66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493001"/>
              </p:ext>
            </p:extLst>
          </p:nvPr>
        </p:nvGraphicFramePr>
        <p:xfrm>
          <a:off x="462280" y="1807043"/>
          <a:ext cx="11267439" cy="2608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32865">
                  <a:extLst>
                    <a:ext uri="{9D8B030D-6E8A-4147-A177-3AD203B41FA5}">
                      <a16:colId xmlns:a16="http://schemas.microsoft.com/office/drawing/2014/main" val="1187942338"/>
                    </a:ext>
                  </a:extLst>
                </a:gridCol>
                <a:gridCol w="4267287">
                  <a:extLst>
                    <a:ext uri="{9D8B030D-6E8A-4147-A177-3AD203B41FA5}">
                      <a16:colId xmlns:a16="http://schemas.microsoft.com/office/drawing/2014/main" val="239723031"/>
                    </a:ext>
                  </a:extLst>
                </a:gridCol>
                <a:gridCol w="4267287">
                  <a:extLst>
                    <a:ext uri="{9D8B030D-6E8A-4147-A177-3AD203B41FA5}">
                      <a16:colId xmlns:a16="http://schemas.microsoft.com/office/drawing/2014/main" val="2667431523"/>
                    </a:ext>
                  </a:extLst>
                </a:gridCol>
              </a:tblGrid>
              <a:tr h="652090">
                <a:tc>
                  <a:txBody>
                    <a:bodyPr/>
                    <a:lstStyle/>
                    <a:p>
                      <a:pPr algn="ctr"/>
                      <a:endParaRPr kumimoji="1" lang="ja-JP" altLang="en-US" sz="24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従来手法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提案手法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712558"/>
                  </a:ext>
                </a:extLst>
              </a:tr>
              <a:tr h="65209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画像の特徴抽出器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/>
                        <a:t>事前学習済みの</a:t>
                      </a:r>
                      <a:r>
                        <a:rPr kumimoji="1" lang="en-US" altLang="ja-JP" sz="2400"/>
                        <a:t>ResNet152</a:t>
                      </a:r>
                      <a:endParaRPr kumimoji="1" lang="ja-JP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err="1"/>
                        <a:t>AutoEncoder</a:t>
                      </a:r>
                      <a:r>
                        <a:rPr kumimoji="1" lang="ja-JP" altLang="en-US" sz="2400" dirty="0"/>
                        <a:t>のエンコーダ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777519"/>
                  </a:ext>
                </a:extLst>
              </a:tr>
              <a:tr h="65209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畳み込み層の数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152</a:t>
                      </a:r>
                      <a:r>
                        <a:rPr kumimoji="1" lang="ja-JP" altLang="en-US" sz="2400"/>
                        <a:t>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5</a:t>
                      </a:r>
                      <a:r>
                        <a:rPr kumimoji="1" lang="ja-JP" altLang="en-US" sz="2400"/>
                        <a:t>層</a:t>
                      </a:r>
                      <a:endParaRPr kumimoji="1" lang="ja-JP" altLang="en-US" sz="2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377130"/>
                  </a:ext>
                </a:extLst>
              </a:tr>
              <a:tr h="65209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特徴量次元数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2,048</a:t>
                      </a:r>
                      <a:endParaRPr kumimoji="1" lang="ja-JP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１６</a:t>
                      </a:r>
                      <a:r>
                        <a:rPr kumimoji="1" lang="en-US" altLang="ja-JP" sz="2400" dirty="0"/>
                        <a:t>,</a:t>
                      </a:r>
                      <a:r>
                        <a:rPr kumimoji="1" lang="ja-JP" altLang="en-US" sz="2400"/>
                        <a:t>３８４</a:t>
                      </a:r>
                      <a:endParaRPr kumimoji="1" lang="ja-JP" altLang="en-US" sz="2400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9441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55213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81F3C1-801C-78D1-E6E2-B3A90A41941B}"/>
              </a:ext>
            </a:extLst>
          </p:cNvPr>
          <p:cNvSpPr txBox="1">
            <a:spLocks/>
          </p:cNvSpPr>
          <p:nvPr/>
        </p:nvSpPr>
        <p:spPr>
          <a:xfrm>
            <a:off x="462280" y="1085039"/>
            <a:ext cx="11267440" cy="5286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Wingdings" pitchFamily="2" charset="2"/>
              <a:buChar char="l"/>
              <a:defRPr kumimoji="1" sz="2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24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20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1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1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dirty="0"/>
              <a:t>実装した</a:t>
            </a:r>
            <a:r>
              <a:rPr lang="en-US" altLang="ja-JP" dirty="0"/>
              <a:t>AI</a:t>
            </a:r>
            <a:r>
              <a:rPr lang="ja-JP" altLang="en-US" dirty="0"/>
              <a:t>が生成した</a:t>
            </a:r>
            <a:r>
              <a:rPr lang="ja-JP" altLang="en-US"/>
              <a:t>大喜利</a:t>
            </a:r>
            <a:endParaRPr lang="ja-JP" alt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6170184-9553-8DC1-4C47-F3E9682DD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実験</a:t>
            </a:r>
            <a:r>
              <a:rPr kumimoji="1" lang="en-US" altLang="ja-JP" dirty="0"/>
              <a:t>2:</a:t>
            </a:r>
            <a:r>
              <a:rPr kumimoji="1" lang="ja-JP" altLang="en-US"/>
              <a:t>学習に使用していない画像を入力</a:t>
            </a:r>
          </a:p>
        </p:txBody>
      </p:sp>
      <p:graphicFrame>
        <p:nvGraphicFramePr>
          <p:cNvPr id="5" name="表 5">
            <a:extLst>
              <a:ext uri="{FF2B5EF4-FFF2-40B4-BE49-F238E27FC236}">
                <a16:creationId xmlns:a16="http://schemas.microsoft.com/office/drawing/2014/main" id="{0772C59C-A1D3-4815-A287-ECA02E950A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1823739"/>
              </p:ext>
            </p:extLst>
          </p:nvPr>
        </p:nvGraphicFramePr>
        <p:xfrm>
          <a:off x="136633" y="1573143"/>
          <a:ext cx="11960775" cy="501777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30015">
                  <a:extLst>
                    <a:ext uri="{9D8B030D-6E8A-4147-A177-3AD203B41FA5}">
                      <a16:colId xmlns:a16="http://schemas.microsoft.com/office/drawing/2014/main" val="612670568"/>
                    </a:ext>
                  </a:extLst>
                </a:gridCol>
                <a:gridCol w="2732690">
                  <a:extLst>
                    <a:ext uri="{9D8B030D-6E8A-4147-A177-3AD203B41FA5}">
                      <a16:colId xmlns:a16="http://schemas.microsoft.com/office/drawing/2014/main" val="1960179461"/>
                    </a:ext>
                  </a:extLst>
                </a:gridCol>
                <a:gridCol w="2732690">
                  <a:extLst>
                    <a:ext uri="{9D8B030D-6E8A-4147-A177-3AD203B41FA5}">
                      <a16:colId xmlns:a16="http://schemas.microsoft.com/office/drawing/2014/main" val="1936922339"/>
                    </a:ext>
                  </a:extLst>
                </a:gridCol>
                <a:gridCol w="2732690">
                  <a:extLst>
                    <a:ext uri="{9D8B030D-6E8A-4147-A177-3AD203B41FA5}">
                      <a16:colId xmlns:a16="http://schemas.microsoft.com/office/drawing/2014/main" val="1642500427"/>
                    </a:ext>
                  </a:extLst>
                </a:gridCol>
                <a:gridCol w="2732690">
                  <a:extLst>
                    <a:ext uri="{9D8B030D-6E8A-4147-A177-3AD203B41FA5}">
                      <a16:colId xmlns:a16="http://schemas.microsoft.com/office/drawing/2014/main" val="2197124767"/>
                    </a:ext>
                  </a:extLst>
                </a:gridCol>
              </a:tblGrid>
              <a:tr h="686451"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従来手法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提案手法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従来手法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提案手法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7863360"/>
                  </a:ext>
                </a:extLst>
              </a:tr>
              <a:tr h="213991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画像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372475"/>
                  </a:ext>
                </a:extLst>
              </a:tr>
              <a:tr h="219141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文章</a:t>
                      </a:r>
                    </a:p>
                  </a:txBody>
                  <a:tcPr anchor="ctr">
                    <a:solidFill>
                      <a:srgbClr val="E1EC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2000" b="0" kern="1200" spc="-200" baseline="0">
                          <a:solidFill>
                            <a:schemeClr val="tx1"/>
                          </a:solidFill>
                          <a:effectLst/>
                        </a:rPr>
                        <a:t>八丁味噌蟹クリーム味</a:t>
                      </a:r>
                      <a:r>
                        <a:rPr kumimoji="1" lang="en" altLang="ja-JP" sz="2000" b="0" kern="1200" spc="-200" baseline="0" dirty="0" err="1">
                          <a:solidFill>
                            <a:schemeClr val="tx1"/>
                          </a:solidFill>
                          <a:effectLst/>
                        </a:rPr>
                        <a:t>ver</a:t>
                      </a:r>
                      <a:endParaRPr kumimoji="1" lang="en" altLang="ja-JP" sz="2000" b="0" kern="1200" spc="-200" baseline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2000" b="0" kern="1200" spc="-250" baseline="0">
                          <a:solidFill>
                            <a:schemeClr val="tx1"/>
                          </a:solidFill>
                          <a:effectLst/>
                        </a:rPr>
                        <a:t>和民のメニュー変ですね</a:t>
                      </a:r>
                      <a:endParaRPr kumimoji="1" lang="en-US" altLang="ja-JP" sz="2000" b="0" kern="1200" spc="-250" baseline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2000" b="0" kern="1200">
                          <a:solidFill>
                            <a:schemeClr val="tx1"/>
                          </a:solidFill>
                          <a:effectLst/>
                        </a:rPr>
                        <a:t>また失敗して放置してみたわわ</a:t>
                      </a:r>
                      <a:endParaRPr kumimoji="1" lang="en-US" altLang="ja-JP" sz="20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E1EC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ja-JP" altLang="en-US" sz="2000" dirty="0">
                          <a:solidFill>
                            <a:schemeClr val="tx1"/>
                          </a:solidFill>
                        </a:rPr>
                        <a:t>私のすっぴんよ</a:t>
                      </a:r>
                      <a:endParaRPr kumimoji="1" lang="en-US" altLang="ja-JP" sz="2000" dirty="0">
                        <a:solidFill>
                          <a:schemeClr val="tx1"/>
                        </a:solidFill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ja-JP" altLang="en-US" sz="2000" dirty="0">
                          <a:solidFill>
                            <a:schemeClr val="tx1"/>
                          </a:solidFill>
                        </a:rPr>
                        <a:t>ママすっぴんなの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ja-JP" altLang="en-US" sz="2000" dirty="0">
                          <a:solidFill>
                            <a:schemeClr val="tx1"/>
                          </a:solidFill>
                        </a:rPr>
                        <a:t>メイク忘れてる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kumimoji="1" lang="ja-JP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2000" b="0" kern="1200">
                          <a:solidFill>
                            <a:schemeClr val="tx1"/>
                          </a:solidFill>
                          <a:effectLst/>
                        </a:rPr>
                        <a:t>アンパンマン新しい顔よ</a:t>
                      </a:r>
                      <a:endParaRPr kumimoji="1" lang="en-US" altLang="ja-JP" sz="20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ja-JP" altLang="en-US" sz="2000" b="0" kern="1200">
                          <a:solidFill>
                            <a:schemeClr val="tx1"/>
                          </a:solidFill>
                          <a:effectLst/>
                        </a:rPr>
                        <a:t>実はいなかっぺ監督の発明です</a:t>
                      </a:r>
                      <a:endParaRPr kumimoji="1" lang="en-US" altLang="ja-JP" sz="20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ja-JP" altLang="en-US" sz="2000" b="0" kern="1200">
                          <a:solidFill>
                            <a:schemeClr val="tx1"/>
                          </a:solidFill>
                          <a:effectLst/>
                        </a:rPr>
                        <a:t>洗濯機壊れちゃった</a:t>
                      </a:r>
                      <a:endParaRPr kumimoji="1" lang="en-US" altLang="ja-JP" sz="20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E1EC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2000" b="0" kern="1200">
                          <a:solidFill>
                            <a:schemeClr val="tx1"/>
                          </a:solidFill>
                          <a:effectLst/>
                        </a:rPr>
                        <a:t>オレのスタンドモンスター</a:t>
                      </a:r>
                      <a:endParaRPr kumimoji="1" lang="en-US" altLang="ja-JP" sz="20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2000" b="0" kern="1200">
                          <a:solidFill>
                            <a:schemeClr val="tx1"/>
                          </a:solidFill>
                          <a:effectLst/>
                        </a:rPr>
                        <a:t>ほれ捕まえてごらん</a:t>
                      </a:r>
                      <a:endParaRPr kumimoji="1" lang="en-US" altLang="ja-JP" sz="20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ja-JP" altLang="en-US" sz="2000" b="0" kern="1200">
                          <a:solidFill>
                            <a:schemeClr val="tx1"/>
                          </a:solidFill>
                          <a:effectLst/>
                        </a:rPr>
                        <a:t>行けカリン塔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446736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5FF80D7-58FE-9C61-6945-0285D1BDA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35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6702AE9-E499-B32F-B23B-BCBA7199E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149" y="2308677"/>
            <a:ext cx="2059966" cy="2059966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F41858BD-315A-15E4-0E46-255F77DB6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2908" y="2308677"/>
            <a:ext cx="2059965" cy="205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9671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角丸四角形 5">
            <a:extLst>
              <a:ext uri="{FF2B5EF4-FFF2-40B4-BE49-F238E27FC236}">
                <a16:creationId xmlns:a16="http://schemas.microsoft.com/office/drawing/2014/main" id="{4F8839BB-31B3-F6FE-CF5A-EFB93C75B856}"/>
              </a:ext>
            </a:extLst>
          </p:cNvPr>
          <p:cNvSpPr/>
          <p:nvPr/>
        </p:nvSpPr>
        <p:spPr>
          <a:xfrm>
            <a:off x="1418398" y="1142237"/>
            <a:ext cx="9357858" cy="3426373"/>
          </a:xfrm>
          <a:prstGeom prst="roundRect">
            <a:avLst>
              <a:gd name="adj" fmla="val 4223"/>
            </a:avLst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B8B4419-CB02-E0D0-5B7E-25C17CD78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実験</a:t>
            </a:r>
            <a:r>
              <a:rPr kumimoji="1" lang="en-US" altLang="ja-JP" dirty="0"/>
              <a:t>2:</a:t>
            </a:r>
            <a:r>
              <a:rPr kumimoji="1" lang="ja-JP" altLang="en-US"/>
              <a:t>学習に使用した画像を入力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C4D2AD2-305A-B24C-EA3E-718620F0D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36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C647ED9-A32D-51DF-2C6F-4AFA7CF11156}"/>
              </a:ext>
            </a:extLst>
          </p:cNvPr>
          <p:cNvSpPr txBox="1"/>
          <p:nvPr/>
        </p:nvSpPr>
        <p:spPr>
          <a:xfrm>
            <a:off x="5707117" y="1340010"/>
            <a:ext cx="5045465" cy="2960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b="0" i="0">
                <a:effectLst/>
                <a:latin typeface="Menlo" panose="020B0609030804020204" pitchFamily="49" charset="0"/>
              </a:rPr>
              <a:t>ある意味二卵性双生児</a:t>
            </a:r>
            <a:endParaRPr lang="en-US" altLang="ja-JP" b="0" i="0" dirty="0">
              <a:effectLst/>
              <a:latin typeface="Menlo" panose="020B0609030804020204" pitchFamily="49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b="0" i="0">
                <a:effectLst/>
                <a:latin typeface="Menlo" panose="020B0609030804020204" pitchFamily="49" charset="0"/>
              </a:rPr>
              <a:t>旦那は妊娠中</a:t>
            </a:r>
            <a:endParaRPr lang="en-US" altLang="ja-JP" b="0" i="0" dirty="0">
              <a:effectLst/>
              <a:latin typeface="Menlo" panose="020B0609030804020204" pitchFamily="49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b="0" i="0">
                <a:effectLst/>
                <a:latin typeface="Menlo" panose="020B0609030804020204" pitchFamily="49" charset="0"/>
              </a:rPr>
              <a:t>誠にすいまめ</a:t>
            </a:r>
            <a:r>
              <a:rPr lang="en-US" altLang="ja-JP" b="0" i="0" dirty="0">
                <a:effectLst/>
                <a:latin typeface="Menlo" panose="020B0609030804020204" pitchFamily="49" charset="0"/>
              </a:rPr>
              <a:t>〜</a:t>
            </a:r>
            <a:r>
              <a:rPr lang="ja-JP" altLang="en-US" b="0" i="0">
                <a:effectLst/>
                <a:latin typeface="Menlo" panose="020B0609030804020204" pitchFamily="49" charset="0"/>
              </a:rPr>
              <a:t>ん</a:t>
            </a:r>
            <a:endParaRPr lang="en-US" altLang="ja-JP" b="0" i="0" dirty="0">
              <a:effectLst/>
              <a:latin typeface="Menlo" panose="020B0609030804020204" pitchFamily="49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b="0" i="0">
                <a:effectLst/>
                <a:latin typeface="Menlo" panose="020B0609030804020204" pitchFamily="49" charset="0"/>
              </a:rPr>
              <a:t>おネエ★</a:t>
            </a:r>
            <a:r>
              <a:rPr lang="en" altLang="ja-JP" b="0" i="0" dirty="0">
                <a:effectLst/>
                <a:latin typeface="Menlo" panose="020B0609030804020204" pitchFamily="49" charset="0"/>
              </a:rPr>
              <a:t>MANS</a:t>
            </a:r>
            <a:r>
              <a:rPr lang="ja-JP" altLang="en-US" b="0" i="0">
                <a:effectLst/>
                <a:latin typeface="Menlo" panose="020B0609030804020204" pitchFamily="49" charset="0"/>
              </a:rPr>
              <a:t>に入れるかしら？</a:t>
            </a:r>
            <a:endParaRPr lang="en-US" altLang="ja-JP" b="0" i="0" dirty="0">
              <a:effectLst/>
              <a:latin typeface="Menlo" panose="020B0609030804020204" pitchFamily="49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b="0" i="0">
                <a:effectLst/>
                <a:latin typeface="Menlo" panose="020B0609030804020204" pitchFamily="49" charset="0"/>
              </a:rPr>
              <a:t>実は</a:t>
            </a:r>
            <a:r>
              <a:rPr lang="ja-JP" altLang="en-US" b="0" i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どちら</a:t>
            </a:r>
            <a:r>
              <a:rPr lang="ja-JP" altLang="en-US" b="0" i="0">
                <a:effectLst/>
                <a:latin typeface="Menlo" panose="020B0609030804020204" pitchFamily="49" charset="0"/>
              </a:rPr>
              <a:t>も</a:t>
            </a:r>
            <a:r>
              <a:rPr lang="ja-JP" altLang="en-US" b="0" i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妊娠</a:t>
            </a:r>
            <a:r>
              <a:rPr lang="ja-JP" altLang="en-US" b="0" i="0">
                <a:effectLst/>
                <a:latin typeface="Menlo" panose="020B0609030804020204" pitchFamily="49" charset="0"/>
              </a:rPr>
              <a:t>してません。 </a:t>
            </a:r>
            <a:endParaRPr lang="en-US" altLang="ja-JP" b="0" i="0" dirty="0">
              <a:effectLst/>
              <a:latin typeface="Menlo" panose="020B0609030804020204" pitchFamily="49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b="0" i="0">
                <a:effectLst/>
                <a:latin typeface="Menlo" panose="020B0609030804020204" pitchFamily="49" charset="0"/>
              </a:rPr>
              <a:t>メタボじゃないんです。妊娠なんです。</a:t>
            </a:r>
            <a:endParaRPr lang="en-US" altLang="ja-JP" b="0" i="0" dirty="0">
              <a:effectLst/>
              <a:latin typeface="Menlo" panose="020B0609030804020204" pitchFamily="49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b="0" i="0">
                <a:effectLst/>
                <a:latin typeface="Menlo" panose="020B0609030804020204" pitchFamily="49" charset="0"/>
              </a:rPr>
              <a:t>彼、タレチチ♡</a:t>
            </a:r>
            <a:endParaRPr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B92DAE0-3CEB-DD63-0A8A-8689E74ECB9A}"/>
              </a:ext>
            </a:extLst>
          </p:cNvPr>
          <p:cNvSpPr txBox="1"/>
          <p:nvPr/>
        </p:nvSpPr>
        <p:spPr>
          <a:xfrm>
            <a:off x="4720020" y="4341910"/>
            <a:ext cx="274320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2400"/>
              <a:t>学習データ </a:t>
            </a:r>
            <a:r>
              <a:rPr kumimoji="1" lang="en-US" altLang="ja-JP" sz="2400" dirty="0"/>
              <a:t>[2]</a:t>
            </a:r>
            <a:endParaRPr lang="ja-JP" altLang="en-US" sz="2400"/>
          </a:p>
        </p:txBody>
      </p:sp>
      <p:graphicFrame>
        <p:nvGraphicFramePr>
          <p:cNvPr id="11" name="表 11">
            <a:extLst>
              <a:ext uri="{FF2B5EF4-FFF2-40B4-BE49-F238E27FC236}">
                <a16:creationId xmlns:a16="http://schemas.microsoft.com/office/drawing/2014/main" id="{D4718D9B-100E-18B8-9F31-3750680260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439212"/>
              </p:ext>
            </p:extLst>
          </p:nvPr>
        </p:nvGraphicFramePr>
        <p:xfrm>
          <a:off x="735725" y="5384210"/>
          <a:ext cx="10699531" cy="98746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96965">
                  <a:extLst>
                    <a:ext uri="{9D8B030D-6E8A-4147-A177-3AD203B41FA5}">
                      <a16:colId xmlns:a16="http://schemas.microsoft.com/office/drawing/2014/main" val="1843029081"/>
                    </a:ext>
                  </a:extLst>
                </a:gridCol>
                <a:gridCol w="4351283">
                  <a:extLst>
                    <a:ext uri="{9D8B030D-6E8A-4147-A177-3AD203B41FA5}">
                      <a16:colId xmlns:a16="http://schemas.microsoft.com/office/drawing/2014/main" val="2551026990"/>
                    </a:ext>
                  </a:extLst>
                </a:gridCol>
                <a:gridCol w="4351283">
                  <a:extLst>
                    <a:ext uri="{9D8B030D-6E8A-4147-A177-3AD203B41FA5}">
                      <a16:colId xmlns:a16="http://schemas.microsoft.com/office/drawing/2014/main" val="1472761651"/>
                    </a:ext>
                  </a:extLst>
                </a:gridCol>
              </a:tblGrid>
              <a:tr h="493731"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従来手法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提案手法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3858585"/>
                  </a:ext>
                </a:extLst>
              </a:tr>
              <a:tr h="49373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生成大喜利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ああまた敵が逃げたよ</a:t>
                      </a:r>
                      <a:endParaRPr lang="ja-JP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i="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どちら</a:t>
                      </a: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から</a:t>
                      </a:r>
                      <a:r>
                        <a:rPr kumimoji="1" lang="ja-JP" altLang="en-US" sz="1800" b="0" i="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妊娠</a:t>
                      </a: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かしら</a:t>
                      </a:r>
                      <a:endParaRPr lang="ja-JP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184970"/>
                  </a:ext>
                </a:extLst>
              </a:tr>
            </a:tbl>
          </a:graphicData>
        </a:graphic>
      </p:graphicFrame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5B91F275-2F35-9751-90D6-D00BEC7D8EB0}"/>
              </a:ext>
            </a:extLst>
          </p:cNvPr>
          <p:cNvSpPr txBox="1">
            <a:spLocks/>
          </p:cNvSpPr>
          <p:nvPr/>
        </p:nvSpPr>
        <p:spPr>
          <a:xfrm>
            <a:off x="462280" y="1085039"/>
            <a:ext cx="11267440" cy="5286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Wingdings" pitchFamily="2" charset="2"/>
              <a:buChar char="l"/>
              <a:defRPr kumimoji="1" sz="2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24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20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1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1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 algn="ctr">
              <a:buNone/>
            </a:pPr>
            <a:endParaRPr lang="en-US" altLang="ja-JP" sz="1050" dirty="0"/>
          </a:p>
          <a:p>
            <a:pPr marL="0" indent="0" algn="ctr">
              <a:buNone/>
            </a:pPr>
            <a:r>
              <a:rPr lang="ja-JP" altLang="en-US"/>
              <a:t>実装</a:t>
            </a:r>
            <a:r>
              <a:rPr lang="ja-JP" altLang="en-US" dirty="0"/>
              <a:t>した</a:t>
            </a:r>
            <a:r>
              <a:rPr lang="en-US" altLang="ja-JP" dirty="0"/>
              <a:t>AI</a:t>
            </a:r>
            <a:r>
              <a:rPr lang="ja-JP" altLang="en-US" dirty="0"/>
              <a:t>が生成した</a:t>
            </a:r>
            <a:r>
              <a:rPr lang="ja-JP" altLang="en-US"/>
              <a:t>大喜利</a:t>
            </a:r>
            <a:endParaRPr lang="ja-JP" altLang="en-US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4A119E8-BADB-E46F-76D6-EF40D9FF6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227" y="1265208"/>
            <a:ext cx="3076701" cy="3076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6513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714C15-660A-DE5B-B31C-AB952497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実験</a:t>
            </a:r>
            <a:r>
              <a:rPr kumimoji="1" lang="en-US" altLang="ja-JP" dirty="0"/>
              <a:t>3 :</a:t>
            </a:r>
            <a:r>
              <a:rPr lang="ja-JP" altLang="en-US"/>
              <a:t>実装した大喜利生成</a:t>
            </a:r>
            <a:r>
              <a:rPr lang="en-US" altLang="ja-JP" dirty="0"/>
              <a:t>AI</a:t>
            </a:r>
            <a:r>
              <a:rPr lang="ja-JP" altLang="en-US"/>
              <a:t>を評価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7280FB-4400-9CDD-D253-EC86C08C6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80" y="1085039"/>
            <a:ext cx="11729720" cy="5286633"/>
          </a:xfrm>
        </p:spPr>
        <p:txBody>
          <a:bodyPr/>
          <a:lstStyle/>
          <a:p>
            <a:r>
              <a:rPr kumimoji="1" lang="ja-JP" altLang="en-US"/>
              <a:t>キャプション</a:t>
            </a:r>
            <a:r>
              <a:rPr kumimoji="1" lang="en-US" altLang="ja-JP" dirty="0"/>
              <a:t>AI, </a:t>
            </a:r>
            <a:r>
              <a:rPr kumimoji="1" lang="ja-JP" altLang="en-US"/>
              <a:t>従来手法</a:t>
            </a:r>
            <a:r>
              <a:rPr kumimoji="1" lang="en-US" altLang="ja-JP" dirty="0"/>
              <a:t>[1], </a:t>
            </a:r>
            <a:r>
              <a:rPr kumimoji="1" lang="ja-JP" altLang="en-US"/>
              <a:t>提案手法</a:t>
            </a:r>
            <a:r>
              <a:rPr kumimoji="1" lang="en-US" altLang="ja-JP" dirty="0"/>
              <a:t>, </a:t>
            </a:r>
            <a:r>
              <a:rPr kumimoji="1" lang="ja-JP" altLang="en-US"/>
              <a:t>人間の大喜利でアンケート</a:t>
            </a:r>
            <a:endParaRPr kumimoji="1" lang="en-US" altLang="ja-JP" sz="1200" dirty="0"/>
          </a:p>
          <a:p>
            <a:pPr marL="457200" lvl="1" indent="0">
              <a:buNone/>
            </a:pPr>
            <a:endParaRPr kumimoji="1" lang="en-US" altLang="ja-JP" sz="1200" dirty="0"/>
          </a:p>
          <a:p>
            <a:pPr marL="457200" lvl="1" indent="0">
              <a:buNone/>
            </a:pPr>
            <a:r>
              <a:rPr lang="ja-JP" altLang="en-US"/>
              <a:t>従来手法</a:t>
            </a:r>
            <a:r>
              <a:rPr lang="en-US" altLang="ja-JP" dirty="0"/>
              <a:t>, </a:t>
            </a:r>
            <a:r>
              <a:rPr lang="ja-JP" altLang="en-US"/>
              <a:t>提案手法は実験</a:t>
            </a:r>
            <a:r>
              <a:rPr lang="en-US" altLang="ja-JP" dirty="0"/>
              <a:t>1, </a:t>
            </a:r>
            <a:r>
              <a:rPr lang="ja-JP" altLang="en-US"/>
              <a:t>実験</a:t>
            </a:r>
            <a:r>
              <a:rPr lang="en-US" altLang="ja-JP" dirty="0"/>
              <a:t>2</a:t>
            </a:r>
            <a:r>
              <a:rPr lang="ja-JP" altLang="en-US"/>
              <a:t>で実装した大喜利生成</a:t>
            </a:r>
            <a:r>
              <a:rPr lang="en-US" altLang="ja-JP" dirty="0"/>
              <a:t>AI</a:t>
            </a:r>
          </a:p>
          <a:p>
            <a:pPr marL="457200" lvl="1" indent="0">
              <a:buNone/>
            </a:pPr>
            <a:r>
              <a:rPr kumimoji="1" lang="ja-JP" altLang="en-US"/>
              <a:t>キャプション</a:t>
            </a:r>
            <a:r>
              <a:rPr kumimoji="1" lang="en-US" altLang="ja-JP" dirty="0"/>
              <a:t>AI</a:t>
            </a:r>
            <a:r>
              <a:rPr kumimoji="1" lang="ja-JP" altLang="en-US"/>
              <a:t>は提案手法と同様のモデルに</a:t>
            </a:r>
            <a:r>
              <a:rPr kumimoji="1" lang="en-US" altLang="ja-JP" dirty="0"/>
              <a:t>STAIR</a:t>
            </a:r>
            <a:r>
              <a:rPr kumimoji="1" lang="ja-JP" altLang="en-US"/>
              <a:t>　</a:t>
            </a:r>
            <a:r>
              <a:rPr kumimoji="1" lang="en-US" altLang="ja-JP" dirty="0"/>
              <a:t>Caption</a:t>
            </a:r>
            <a:r>
              <a:rPr kumimoji="1" lang="ja-JP" altLang="en-US"/>
              <a:t>データ</a:t>
            </a:r>
            <a:r>
              <a:rPr kumimoji="1" lang="en-US" altLang="ja-JP" dirty="0"/>
              <a:t>[5]</a:t>
            </a:r>
            <a:r>
              <a:rPr kumimoji="1" lang="ja-JP" altLang="en-US"/>
              <a:t>を学習</a:t>
            </a:r>
            <a:r>
              <a:rPr kumimoji="1" lang="en-US" altLang="ja-JP" dirty="0"/>
              <a:t>[1]</a:t>
            </a:r>
          </a:p>
          <a:p>
            <a:pPr marL="457200" lvl="1" indent="0">
              <a:buNone/>
            </a:pPr>
            <a:r>
              <a:rPr lang="ja-JP" altLang="en-US"/>
              <a:t>人間の大喜利はスクレイピングした</a:t>
            </a:r>
            <a:r>
              <a:rPr lang="en-US" altLang="ja-JP" dirty="0" err="1"/>
              <a:t>bokete</a:t>
            </a:r>
            <a:r>
              <a:rPr lang="ja-JP" altLang="en-US"/>
              <a:t>のデータからランダムに選択</a:t>
            </a:r>
            <a:endParaRPr lang="en-US" altLang="ja-JP" dirty="0"/>
          </a:p>
          <a:p>
            <a:pPr marL="457200" lvl="1" indent="0">
              <a:buNone/>
            </a:pPr>
            <a:endParaRPr kumimoji="1" lang="en-US" altLang="ja-JP" dirty="0"/>
          </a:p>
          <a:p>
            <a:pPr marL="457200" lvl="1" indent="0">
              <a:buNone/>
            </a:pPr>
            <a:r>
              <a:rPr kumimoji="1" lang="ja-JP" altLang="en-US"/>
              <a:t>アンケートでは</a:t>
            </a:r>
            <a:r>
              <a:rPr kumimoji="1" lang="en-US" altLang="ja-JP" dirty="0"/>
              <a:t>, </a:t>
            </a:r>
            <a:r>
              <a:rPr kumimoji="1" lang="ja-JP" altLang="en-US"/>
              <a:t>人間が画像とそれに対応する文章を見て</a:t>
            </a:r>
            <a:r>
              <a:rPr kumimoji="1" lang="en-US" altLang="ja-JP" dirty="0"/>
              <a:t>, </a:t>
            </a:r>
          </a:p>
          <a:p>
            <a:pPr marL="457200" lvl="1" indent="0">
              <a:buNone/>
            </a:pPr>
            <a:r>
              <a:rPr lang="en-US" altLang="ja-JP" dirty="0"/>
              <a:t>『</a:t>
            </a:r>
            <a:r>
              <a:rPr lang="ja-JP" altLang="en-US"/>
              <a:t>面白くない</a:t>
            </a:r>
            <a:r>
              <a:rPr lang="en-US" altLang="ja-JP" dirty="0"/>
              <a:t>』, 『</a:t>
            </a:r>
            <a:r>
              <a:rPr lang="ja-JP" altLang="en-US"/>
              <a:t>やや面白くない</a:t>
            </a:r>
            <a:r>
              <a:rPr lang="en-US" altLang="ja-JP" dirty="0"/>
              <a:t>』, 『</a:t>
            </a:r>
            <a:r>
              <a:rPr lang="ja-JP" altLang="en-US"/>
              <a:t>やや面白い</a:t>
            </a:r>
            <a:r>
              <a:rPr lang="en-US" altLang="ja-JP" dirty="0"/>
              <a:t>』, 『</a:t>
            </a:r>
            <a:r>
              <a:rPr lang="ja-JP" altLang="en-US"/>
              <a:t>面白い</a:t>
            </a:r>
            <a:r>
              <a:rPr lang="en-US" altLang="ja-JP" dirty="0"/>
              <a:t>』</a:t>
            </a:r>
            <a:r>
              <a:rPr lang="ja-JP" altLang="en-US"/>
              <a:t>の</a:t>
            </a:r>
            <a:r>
              <a:rPr lang="en-US" altLang="ja-JP" dirty="0"/>
              <a:t>4</a:t>
            </a:r>
            <a:r>
              <a:rPr lang="ja-JP" altLang="en-US"/>
              <a:t>段階で評価する</a:t>
            </a:r>
            <a:endParaRPr lang="en-US" altLang="ja-JP" dirty="0"/>
          </a:p>
          <a:p>
            <a:pPr marL="457200" lvl="1" indent="0">
              <a:buNone/>
            </a:pPr>
            <a:r>
              <a:rPr lang="ja-JP" altLang="en-US"/>
              <a:t>何が文章を作ったかは人間には伝えない</a:t>
            </a:r>
            <a:endParaRPr lang="en-US" altLang="ja-JP" dirty="0"/>
          </a:p>
          <a:p>
            <a:pPr marL="457200" lvl="1" indent="0">
              <a:buNone/>
            </a:pPr>
            <a:endParaRPr lang="en-US" altLang="ja-JP" dirty="0"/>
          </a:p>
          <a:p>
            <a:pPr marL="457200" lvl="1" indent="0">
              <a:buNone/>
            </a:pPr>
            <a:r>
              <a:rPr lang="ja-JP" altLang="en-US"/>
              <a:t>アンケートは</a:t>
            </a:r>
            <a:r>
              <a:rPr lang="en-US" altLang="ja-JP" dirty="0"/>
              <a:t>LINE</a:t>
            </a:r>
            <a:r>
              <a:rPr lang="ja-JP" altLang="en-US"/>
              <a:t>　</a:t>
            </a:r>
            <a:r>
              <a:rPr lang="en-US" altLang="ja-JP" dirty="0"/>
              <a:t>Bot</a:t>
            </a:r>
            <a:r>
              <a:rPr lang="ja-JP" altLang="en-US"/>
              <a:t>を用いて実施</a:t>
            </a:r>
            <a:endParaRPr lang="en-US" altLang="ja-JP" dirty="0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A96D77B3-1C0C-FEA0-9F26-9F93C39A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37</a:t>
            </a:fld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20F0426-54E9-FF10-52E2-25370B1EA68A}"/>
              </a:ext>
            </a:extLst>
          </p:cNvPr>
          <p:cNvSpPr txBox="1"/>
          <p:nvPr/>
        </p:nvSpPr>
        <p:spPr>
          <a:xfrm>
            <a:off x="462281" y="6330165"/>
            <a:ext cx="112674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altLang="ja-JP" sz="1050" dirty="0">
                <a:effectLst/>
                <a:latin typeface="+mj-lt"/>
                <a:ea typeface="ＭＳ 明朝" panose="02020609040205080304" pitchFamily="49" charset="-128"/>
                <a:cs typeface="Times New Roman" panose="02020603050405020304" pitchFamily="18" charset="0"/>
              </a:rPr>
              <a:t>[5] </a:t>
            </a:r>
            <a:r>
              <a:rPr lang="en" altLang="ja-JP" sz="1050" b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Y, </a:t>
            </a:r>
            <a:r>
              <a:rPr lang="en" altLang="ja-JP" sz="1050" b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Yuya</a:t>
            </a:r>
            <a:r>
              <a:rPr lang="en" altLang="ja-JP" sz="1050" b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et al. "Stair captions: Constructing a large-scale </a:t>
            </a:r>
            <a:r>
              <a:rPr lang="en" altLang="ja-JP" sz="1050" b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japanese</a:t>
            </a:r>
            <a:r>
              <a:rPr lang="en" altLang="ja-JP" sz="1050" b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image caption dataset." </a:t>
            </a:r>
            <a:r>
              <a:rPr lang="en" altLang="ja-JP" sz="1050" b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" altLang="ja-JP" sz="1050" b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arXiv:1705.00823 (2017).</a:t>
            </a:r>
            <a:endParaRPr lang="ja-JP" altLang="ja-JP" sz="1050">
              <a:effectLst/>
              <a:latin typeface="+mj-lt"/>
              <a:ea typeface="ＭＳ 明朝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42317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66467C-19DF-1677-F905-FC58F7F6F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実験</a:t>
            </a:r>
            <a:r>
              <a:rPr kumimoji="1" lang="en-US" altLang="ja-JP" dirty="0"/>
              <a:t>3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706638F-124B-015A-BA5A-8C82272ED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80" y="1085039"/>
            <a:ext cx="11607800" cy="54973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/>
              <a:t>得票数</a:t>
            </a:r>
            <a:r>
              <a:rPr kumimoji="1" lang="en-US" altLang="ja-JP" dirty="0"/>
              <a:t> : 509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EB12B90-137C-AD5A-FC36-F0B7AE217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38</a:t>
            </a:fld>
            <a:endParaRPr kumimoji="1" lang="ja-JP" altLang="en-US"/>
          </a:p>
        </p:txBody>
      </p:sp>
      <p:graphicFrame>
        <p:nvGraphicFramePr>
          <p:cNvPr id="5" name="表 5">
            <a:extLst>
              <a:ext uri="{FF2B5EF4-FFF2-40B4-BE49-F238E27FC236}">
                <a16:creationId xmlns:a16="http://schemas.microsoft.com/office/drawing/2014/main" id="{BE95D4A0-EA22-291C-3F30-2225EE4528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995146"/>
              </p:ext>
            </p:extLst>
          </p:nvPr>
        </p:nvGraphicFramePr>
        <p:xfrm>
          <a:off x="381277" y="1776330"/>
          <a:ext cx="1142944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5889">
                  <a:extLst>
                    <a:ext uri="{9D8B030D-6E8A-4147-A177-3AD203B41FA5}">
                      <a16:colId xmlns:a16="http://schemas.microsoft.com/office/drawing/2014/main" val="1985653471"/>
                    </a:ext>
                  </a:extLst>
                </a:gridCol>
                <a:gridCol w="2285889">
                  <a:extLst>
                    <a:ext uri="{9D8B030D-6E8A-4147-A177-3AD203B41FA5}">
                      <a16:colId xmlns:a16="http://schemas.microsoft.com/office/drawing/2014/main" val="106126374"/>
                    </a:ext>
                  </a:extLst>
                </a:gridCol>
                <a:gridCol w="2285889">
                  <a:extLst>
                    <a:ext uri="{9D8B030D-6E8A-4147-A177-3AD203B41FA5}">
                      <a16:colId xmlns:a16="http://schemas.microsoft.com/office/drawing/2014/main" val="1486637586"/>
                    </a:ext>
                  </a:extLst>
                </a:gridCol>
                <a:gridCol w="2285889">
                  <a:extLst>
                    <a:ext uri="{9D8B030D-6E8A-4147-A177-3AD203B41FA5}">
                      <a16:colId xmlns:a16="http://schemas.microsoft.com/office/drawing/2014/main" val="1782136652"/>
                    </a:ext>
                  </a:extLst>
                </a:gridCol>
                <a:gridCol w="2285889">
                  <a:extLst>
                    <a:ext uri="{9D8B030D-6E8A-4147-A177-3AD203B41FA5}">
                      <a16:colId xmlns:a16="http://schemas.microsoft.com/office/drawing/2014/main" val="212092965"/>
                    </a:ext>
                  </a:extLst>
                </a:gridCol>
              </a:tblGrid>
              <a:tr h="620749">
                <a:tc>
                  <a:txBody>
                    <a:bodyPr/>
                    <a:lstStyle/>
                    <a:p>
                      <a:pPr algn="ctr"/>
                      <a:endParaRPr kumimoji="1" lang="ja-JP" altLang="en-US" sz="24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dirty="0"/>
                        <a:t>３</a:t>
                      </a:r>
                      <a:endParaRPr kumimoji="1" lang="en-US" altLang="ja-JP" sz="24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dirty="0"/>
                        <a:t>面白い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dirty="0"/>
                        <a:t>２</a:t>
                      </a:r>
                      <a:endParaRPr kumimoji="1" lang="en-US" altLang="ja-JP" sz="24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dirty="0"/>
                        <a:t>やや面白い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dirty="0"/>
                        <a:t>１</a:t>
                      </a:r>
                      <a:endParaRPr kumimoji="1" lang="en-US" altLang="ja-JP" sz="24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spc="-200" baseline="0" dirty="0"/>
                        <a:t>やや面白くない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０</a:t>
                      </a:r>
                      <a:endParaRPr kumimoji="1" lang="en-US" altLang="ja-JP" sz="2400" dirty="0"/>
                    </a:p>
                    <a:p>
                      <a:pPr algn="ctr"/>
                      <a:r>
                        <a:rPr kumimoji="1" lang="ja-JP" altLang="en-US" sz="2400" dirty="0"/>
                        <a:t>面白くない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488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spc="-100" baseline="0"/>
                        <a:t>キャプション</a:t>
                      </a:r>
                      <a:r>
                        <a:rPr kumimoji="1" lang="en-US" altLang="ja-JP" sz="2400" spc="-100" baseline="0" dirty="0"/>
                        <a:t>AI</a:t>
                      </a:r>
                    </a:p>
                    <a:p>
                      <a:pPr algn="ctr"/>
                      <a:r>
                        <a:rPr kumimoji="1" lang="en-US" altLang="ja-JP" sz="2400" dirty="0"/>
                        <a:t>(Baseline)</a:t>
                      </a:r>
                      <a:endParaRPr kumimoji="1" lang="ja-JP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5%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8%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5%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79%</a:t>
                      </a:r>
                      <a:endParaRPr kumimoji="1" lang="ja-JP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89135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従来手法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9%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13%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12%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64%</a:t>
                      </a:r>
                      <a:endParaRPr kumimoji="1" lang="ja-JP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976862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提案手法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16%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12%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16%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54%</a:t>
                      </a:r>
                      <a:endParaRPr kumimoji="1" lang="ja-JP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60679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人間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32%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29%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10%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28%</a:t>
                      </a:r>
                      <a:endParaRPr kumimoji="1" lang="ja-JP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540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52235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 5">
            <a:extLst>
              <a:ext uri="{FF2B5EF4-FFF2-40B4-BE49-F238E27FC236}">
                <a16:creationId xmlns:a16="http://schemas.microsoft.com/office/drawing/2014/main" id="{A56DC8D6-D3CC-07CA-F192-A14963994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972114"/>
              </p:ext>
            </p:extLst>
          </p:nvPr>
        </p:nvGraphicFramePr>
        <p:xfrm>
          <a:off x="381277" y="1776330"/>
          <a:ext cx="1142944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5889">
                  <a:extLst>
                    <a:ext uri="{9D8B030D-6E8A-4147-A177-3AD203B41FA5}">
                      <a16:colId xmlns:a16="http://schemas.microsoft.com/office/drawing/2014/main" val="1985653471"/>
                    </a:ext>
                  </a:extLst>
                </a:gridCol>
                <a:gridCol w="2285889">
                  <a:extLst>
                    <a:ext uri="{9D8B030D-6E8A-4147-A177-3AD203B41FA5}">
                      <a16:colId xmlns:a16="http://schemas.microsoft.com/office/drawing/2014/main" val="106126374"/>
                    </a:ext>
                  </a:extLst>
                </a:gridCol>
                <a:gridCol w="2285889">
                  <a:extLst>
                    <a:ext uri="{9D8B030D-6E8A-4147-A177-3AD203B41FA5}">
                      <a16:colId xmlns:a16="http://schemas.microsoft.com/office/drawing/2014/main" val="1486637586"/>
                    </a:ext>
                  </a:extLst>
                </a:gridCol>
                <a:gridCol w="2285889">
                  <a:extLst>
                    <a:ext uri="{9D8B030D-6E8A-4147-A177-3AD203B41FA5}">
                      <a16:colId xmlns:a16="http://schemas.microsoft.com/office/drawing/2014/main" val="1782136652"/>
                    </a:ext>
                  </a:extLst>
                </a:gridCol>
                <a:gridCol w="2285889">
                  <a:extLst>
                    <a:ext uri="{9D8B030D-6E8A-4147-A177-3AD203B41FA5}">
                      <a16:colId xmlns:a16="http://schemas.microsoft.com/office/drawing/2014/main" val="212092965"/>
                    </a:ext>
                  </a:extLst>
                </a:gridCol>
              </a:tblGrid>
              <a:tr h="620749">
                <a:tc>
                  <a:txBody>
                    <a:bodyPr/>
                    <a:lstStyle/>
                    <a:p>
                      <a:pPr algn="ctr"/>
                      <a:endParaRPr kumimoji="1" lang="ja-JP" altLang="en-US" sz="24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dirty="0"/>
                        <a:t>３</a:t>
                      </a:r>
                      <a:endParaRPr kumimoji="1" lang="en-US" altLang="ja-JP" sz="24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dirty="0"/>
                        <a:t>面白い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dirty="0"/>
                        <a:t>２</a:t>
                      </a:r>
                      <a:endParaRPr kumimoji="1" lang="en-US" altLang="ja-JP" sz="24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dirty="0"/>
                        <a:t>やや面白い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dirty="0"/>
                        <a:t>１</a:t>
                      </a:r>
                      <a:endParaRPr kumimoji="1" lang="en-US" altLang="ja-JP" sz="24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spc="-200" baseline="0" dirty="0"/>
                        <a:t>やや面白くない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０</a:t>
                      </a:r>
                      <a:endParaRPr kumimoji="1" lang="en-US" altLang="ja-JP" sz="2400" dirty="0"/>
                    </a:p>
                    <a:p>
                      <a:pPr algn="ctr"/>
                      <a:r>
                        <a:rPr kumimoji="1" lang="ja-JP" altLang="en-US" sz="2400" dirty="0"/>
                        <a:t>面白くない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488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spc="-100" baseline="0"/>
                        <a:t>キャプション</a:t>
                      </a:r>
                      <a:r>
                        <a:rPr kumimoji="1" lang="en-US" altLang="ja-JP" sz="2400" spc="-100" baseline="0" dirty="0"/>
                        <a:t>AI</a:t>
                      </a:r>
                    </a:p>
                    <a:p>
                      <a:pPr algn="ctr"/>
                      <a:r>
                        <a:rPr kumimoji="1" lang="en-US" altLang="ja-JP" sz="2400" dirty="0"/>
                        <a:t>(Baseline)</a:t>
                      </a:r>
                      <a:endParaRPr kumimoji="1" lang="ja-JP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5%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8%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5%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79%</a:t>
                      </a:r>
                      <a:endParaRPr kumimoji="1" lang="ja-JP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89135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従来手法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9%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13%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12%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64%</a:t>
                      </a:r>
                      <a:endParaRPr kumimoji="1" lang="ja-JP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976862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提案手法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16%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12%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16%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54%</a:t>
                      </a:r>
                      <a:endParaRPr kumimoji="1" lang="ja-JP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60679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人間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32%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29%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10%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28%</a:t>
                      </a:r>
                      <a:endParaRPr kumimoji="1" lang="ja-JP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540263"/>
                  </a:ext>
                </a:extLst>
              </a:tr>
            </a:tbl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1766467C-19DF-1677-F905-FC58F7F6F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実験</a:t>
            </a:r>
            <a:r>
              <a:rPr kumimoji="1" lang="en-US" altLang="ja-JP" dirty="0"/>
              <a:t>3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EB12B90-137C-AD5A-FC36-F0B7AE217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39</a:t>
            </a:fld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EE9AC6C-BB60-E622-CA87-A54E80B4E6FD}"/>
              </a:ext>
            </a:extLst>
          </p:cNvPr>
          <p:cNvSpPr/>
          <p:nvPr/>
        </p:nvSpPr>
        <p:spPr>
          <a:xfrm>
            <a:off x="2666082" y="3429000"/>
            <a:ext cx="4571999" cy="16474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4606BC4B-AED9-ED87-97D5-C621272BC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80" y="1085039"/>
            <a:ext cx="11607800" cy="54973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/>
              <a:t>得票数</a:t>
            </a:r>
            <a:r>
              <a:rPr kumimoji="1" lang="en-US" altLang="ja-JP" dirty="0"/>
              <a:t> : 509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047997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 5">
            <a:extLst>
              <a:ext uri="{FF2B5EF4-FFF2-40B4-BE49-F238E27FC236}">
                <a16:creationId xmlns:a16="http://schemas.microsoft.com/office/drawing/2014/main" id="{7FFEC2CA-7DF6-153E-7E05-DB14840509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984894"/>
              </p:ext>
            </p:extLst>
          </p:nvPr>
        </p:nvGraphicFramePr>
        <p:xfrm>
          <a:off x="381277" y="1776330"/>
          <a:ext cx="1142944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5889">
                  <a:extLst>
                    <a:ext uri="{9D8B030D-6E8A-4147-A177-3AD203B41FA5}">
                      <a16:colId xmlns:a16="http://schemas.microsoft.com/office/drawing/2014/main" val="1985653471"/>
                    </a:ext>
                  </a:extLst>
                </a:gridCol>
                <a:gridCol w="2285889">
                  <a:extLst>
                    <a:ext uri="{9D8B030D-6E8A-4147-A177-3AD203B41FA5}">
                      <a16:colId xmlns:a16="http://schemas.microsoft.com/office/drawing/2014/main" val="106126374"/>
                    </a:ext>
                  </a:extLst>
                </a:gridCol>
                <a:gridCol w="2285889">
                  <a:extLst>
                    <a:ext uri="{9D8B030D-6E8A-4147-A177-3AD203B41FA5}">
                      <a16:colId xmlns:a16="http://schemas.microsoft.com/office/drawing/2014/main" val="1486637586"/>
                    </a:ext>
                  </a:extLst>
                </a:gridCol>
                <a:gridCol w="2285889">
                  <a:extLst>
                    <a:ext uri="{9D8B030D-6E8A-4147-A177-3AD203B41FA5}">
                      <a16:colId xmlns:a16="http://schemas.microsoft.com/office/drawing/2014/main" val="1782136652"/>
                    </a:ext>
                  </a:extLst>
                </a:gridCol>
                <a:gridCol w="2285889">
                  <a:extLst>
                    <a:ext uri="{9D8B030D-6E8A-4147-A177-3AD203B41FA5}">
                      <a16:colId xmlns:a16="http://schemas.microsoft.com/office/drawing/2014/main" val="212092965"/>
                    </a:ext>
                  </a:extLst>
                </a:gridCol>
              </a:tblGrid>
              <a:tr h="620749">
                <a:tc>
                  <a:txBody>
                    <a:bodyPr/>
                    <a:lstStyle/>
                    <a:p>
                      <a:pPr algn="ctr"/>
                      <a:endParaRPr kumimoji="1" lang="ja-JP" altLang="en-US" sz="24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dirty="0"/>
                        <a:t>３</a:t>
                      </a:r>
                      <a:endParaRPr kumimoji="1" lang="en-US" altLang="ja-JP" sz="24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dirty="0"/>
                        <a:t>面白い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dirty="0"/>
                        <a:t>２</a:t>
                      </a:r>
                      <a:endParaRPr kumimoji="1" lang="en-US" altLang="ja-JP" sz="24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dirty="0"/>
                        <a:t>やや面白い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dirty="0"/>
                        <a:t>１</a:t>
                      </a:r>
                      <a:endParaRPr kumimoji="1" lang="en-US" altLang="ja-JP" sz="24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spc="-200" baseline="0" dirty="0"/>
                        <a:t>やや面白くない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０</a:t>
                      </a:r>
                      <a:endParaRPr kumimoji="1" lang="en-US" altLang="ja-JP" sz="2400" dirty="0"/>
                    </a:p>
                    <a:p>
                      <a:pPr algn="ctr"/>
                      <a:r>
                        <a:rPr kumimoji="1" lang="ja-JP" altLang="en-US" sz="2400" dirty="0"/>
                        <a:t>面白くない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488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spc="-100" baseline="0"/>
                        <a:t>キャプション</a:t>
                      </a:r>
                      <a:r>
                        <a:rPr kumimoji="1" lang="en-US" altLang="ja-JP" sz="2400" spc="-100" baseline="0" dirty="0"/>
                        <a:t>AI</a:t>
                      </a:r>
                    </a:p>
                    <a:p>
                      <a:pPr algn="ctr"/>
                      <a:r>
                        <a:rPr kumimoji="1" lang="en-US" altLang="ja-JP" sz="2400" dirty="0"/>
                        <a:t>(Baseline)</a:t>
                      </a:r>
                      <a:endParaRPr kumimoji="1" lang="ja-JP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5%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8%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5%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79%</a:t>
                      </a:r>
                      <a:endParaRPr kumimoji="1" lang="ja-JP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89135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従来手法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9%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13%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12%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64%</a:t>
                      </a:r>
                      <a:endParaRPr kumimoji="1" lang="ja-JP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976862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提案手法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16%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12%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16%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54%</a:t>
                      </a:r>
                      <a:endParaRPr kumimoji="1" lang="ja-JP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60679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人間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32%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29%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10%</a:t>
                      </a:r>
                      <a:endParaRPr kumimoji="1" lang="ja-JP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28%</a:t>
                      </a:r>
                      <a:endParaRPr kumimoji="1" lang="ja-JP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540263"/>
                  </a:ext>
                </a:extLst>
              </a:tr>
            </a:tbl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1766467C-19DF-1677-F905-FC58F7F6F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実験</a:t>
            </a:r>
            <a:r>
              <a:rPr kumimoji="1" lang="en-US" altLang="ja-JP" dirty="0"/>
              <a:t>3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EB12B90-137C-AD5A-FC36-F0B7AE217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40</a:t>
            </a:fld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AEE1F93-6786-E4AC-6EA4-FA5189B3F5F1}"/>
              </a:ext>
            </a:extLst>
          </p:cNvPr>
          <p:cNvSpPr/>
          <p:nvPr/>
        </p:nvSpPr>
        <p:spPr>
          <a:xfrm>
            <a:off x="2666081" y="4263258"/>
            <a:ext cx="4583017" cy="1647497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C982A10D-589C-F29B-57CC-3BEFAA6A7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80" y="1085039"/>
            <a:ext cx="11607800" cy="54973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/>
              <a:t>得票数</a:t>
            </a:r>
            <a:r>
              <a:rPr kumimoji="1" lang="en-US" altLang="ja-JP" dirty="0"/>
              <a:t> : 509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342054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AF6759-E1C0-AFC6-381D-FB9065C34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57FD28-2B77-9ED5-02DB-DD16EDE65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まとめ</a:t>
            </a:r>
            <a:endParaRPr kumimoji="1" lang="en-US" altLang="ja-JP" dirty="0"/>
          </a:p>
          <a:p>
            <a:pPr lvl="1"/>
            <a:r>
              <a:rPr kumimoji="1" lang="en-US" altLang="ja-JP" dirty="0" err="1"/>
              <a:t>bokete</a:t>
            </a:r>
            <a:r>
              <a:rPr kumimoji="1" lang="ja-JP" altLang="en-US" dirty="0"/>
              <a:t>のデータと</a:t>
            </a:r>
            <a:r>
              <a:rPr kumimoji="1" lang="en-US" altLang="ja-JP" dirty="0"/>
              <a:t>Pix2Seq</a:t>
            </a:r>
            <a:r>
              <a:rPr kumimoji="1" lang="ja-JP" altLang="en-US" dirty="0"/>
              <a:t>を用いて大喜利生成</a:t>
            </a:r>
            <a:r>
              <a:rPr kumimoji="1" lang="en-US" altLang="ja-JP" dirty="0"/>
              <a:t>AI</a:t>
            </a:r>
            <a:r>
              <a:rPr kumimoji="1" lang="ja-JP" altLang="en-US" dirty="0"/>
              <a:t>を実装</a:t>
            </a:r>
            <a:endParaRPr kumimoji="1" lang="en-US" altLang="ja-JP" dirty="0"/>
          </a:p>
          <a:p>
            <a:pPr lvl="1"/>
            <a:endParaRPr lang="en-US" altLang="ja-JP" sz="1200" dirty="0"/>
          </a:p>
          <a:p>
            <a:pPr lvl="1"/>
            <a:r>
              <a:rPr kumimoji="1" lang="ja-JP" altLang="en-US" dirty="0"/>
              <a:t>アノテーションのない画像⇆文章データに適した</a:t>
            </a:r>
            <a:r>
              <a:rPr kumimoji="1" lang="en-US" altLang="ja-JP" dirty="0"/>
              <a:t>, </a:t>
            </a:r>
          </a:p>
          <a:p>
            <a:pPr marL="457200" lvl="1" indent="0">
              <a:buNone/>
            </a:pPr>
            <a:r>
              <a:rPr lang="ja-JP" altLang="en-US" dirty="0"/>
              <a:t>  </a:t>
            </a:r>
            <a:r>
              <a:rPr kumimoji="1" lang="ja-JP" altLang="en-US" dirty="0"/>
              <a:t>新たな</a:t>
            </a:r>
            <a:r>
              <a:rPr kumimoji="1" lang="en-US" altLang="ja-JP" dirty="0"/>
              <a:t>Pix2Seq</a:t>
            </a:r>
            <a:r>
              <a:rPr kumimoji="1" lang="ja-JP" altLang="en-US" dirty="0"/>
              <a:t>の学習モデル</a:t>
            </a:r>
            <a:r>
              <a:rPr kumimoji="1" lang="ja-JP" altLang="en-US"/>
              <a:t>を提案</a:t>
            </a:r>
            <a:endParaRPr kumimoji="1" lang="en-US" altLang="ja-JP" dirty="0"/>
          </a:p>
          <a:p>
            <a:pPr marL="457200" lvl="1" indent="0">
              <a:buNone/>
            </a:pPr>
            <a:endParaRPr lang="en-US" altLang="ja-JP" sz="1200" dirty="0"/>
          </a:p>
          <a:p>
            <a:pPr lvl="1"/>
            <a:r>
              <a:rPr kumimoji="1" lang="ja-JP" altLang="en-US"/>
              <a:t>実装した</a:t>
            </a:r>
            <a:r>
              <a:rPr lang="ja-JP" altLang="en-US"/>
              <a:t>大喜利生成</a:t>
            </a:r>
            <a:r>
              <a:rPr lang="en-US" altLang="ja-JP" dirty="0"/>
              <a:t>AI</a:t>
            </a:r>
            <a:r>
              <a:rPr lang="ja-JP" altLang="en-US"/>
              <a:t>の大喜利は， 従来手法より面白く人間より面白くない</a:t>
            </a:r>
            <a:endParaRPr kumimoji="1" lang="en-US" altLang="ja-JP" dirty="0"/>
          </a:p>
          <a:p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今後</a:t>
            </a:r>
            <a:r>
              <a:rPr kumimoji="1" lang="ja-JP" altLang="en-US"/>
              <a:t>の課題</a:t>
            </a:r>
            <a:endParaRPr kumimoji="1" lang="en-US" altLang="ja-JP" sz="1100" dirty="0"/>
          </a:p>
          <a:p>
            <a:pPr lvl="1"/>
            <a:r>
              <a:rPr lang="en-US" altLang="ja-JP" dirty="0"/>
              <a:t>AI</a:t>
            </a:r>
            <a:r>
              <a:rPr lang="ja-JP" altLang="en-US" dirty="0"/>
              <a:t>に対し</a:t>
            </a:r>
            <a:r>
              <a:rPr lang="en-US" altLang="ja-JP" dirty="0"/>
              <a:t>, </a:t>
            </a:r>
            <a:r>
              <a:rPr lang="ja-JP" altLang="en-US" dirty="0"/>
              <a:t>大喜利を面白くする工夫</a:t>
            </a:r>
            <a:r>
              <a:rPr lang="ja-JP" altLang="en-US"/>
              <a:t>を加える</a:t>
            </a:r>
            <a:endParaRPr lang="en-US" altLang="ja-JP" dirty="0"/>
          </a:p>
          <a:p>
            <a:pPr lvl="1"/>
            <a:endParaRPr lang="en-US" altLang="ja-JP" sz="1200" dirty="0"/>
          </a:p>
          <a:p>
            <a:pPr lvl="1"/>
            <a:r>
              <a:rPr lang="ja-JP" altLang="en-US"/>
              <a:t>大喜利の面白さの照り量的評価</a:t>
            </a:r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BEADC98-9250-C542-6884-F725E0928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41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85250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CB94C0-5D11-EA33-F0A2-9B44A0EE5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実験</a:t>
            </a:r>
            <a:r>
              <a:rPr kumimoji="1" lang="en-US" altLang="ja-JP" dirty="0"/>
              <a:t>1</a:t>
            </a:r>
            <a:endParaRPr kumimoji="1" lang="ja-JP" altLang="en-US"/>
          </a:p>
        </p:txBody>
      </p:sp>
      <p:graphicFrame>
        <p:nvGraphicFramePr>
          <p:cNvPr id="11" name="表 11">
            <a:extLst>
              <a:ext uri="{FF2B5EF4-FFF2-40B4-BE49-F238E27FC236}">
                <a16:creationId xmlns:a16="http://schemas.microsoft.com/office/drawing/2014/main" id="{5A3195EF-8286-D75A-F8A2-B365F001EE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8647162"/>
              </p:ext>
            </p:extLst>
          </p:nvPr>
        </p:nvGraphicFramePr>
        <p:xfrm>
          <a:off x="472721" y="4108569"/>
          <a:ext cx="11268074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4037">
                  <a:extLst>
                    <a:ext uri="{9D8B030D-6E8A-4147-A177-3AD203B41FA5}">
                      <a16:colId xmlns:a16="http://schemas.microsoft.com/office/drawing/2014/main" val="1942013592"/>
                    </a:ext>
                  </a:extLst>
                </a:gridCol>
                <a:gridCol w="5634037">
                  <a:extLst>
                    <a:ext uri="{9D8B030D-6E8A-4147-A177-3AD203B41FA5}">
                      <a16:colId xmlns:a16="http://schemas.microsoft.com/office/drawing/2014/main" val="814314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学習データ</a:t>
                      </a:r>
                      <a:r>
                        <a:rPr kumimoji="1" lang="en-US" altLang="ja-JP" sz="2000" dirty="0"/>
                        <a:t>[2]</a:t>
                      </a:r>
                      <a:endParaRPr kumimoji="1" lang="ja-JP" altLang="en-US" sz="200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生成データ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275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000" b="0" i="0">
                          <a:effectLst/>
                          <a:latin typeface="Menlo" panose="020B0609030804020204" pitchFamily="49" charset="0"/>
                        </a:rPr>
                        <a:t>おはよう、昨日</a:t>
                      </a:r>
                      <a:r>
                        <a:rPr lang="ja-JP" altLang="en-US" sz="2000" b="0" i="0">
                          <a:solidFill>
                            <a:srgbClr val="7030A0"/>
                          </a:solidFill>
                          <a:effectLst/>
                          <a:latin typeface="Menlo" panose="020B0609030804020204" pitchFamily="49" charset="0"/>
                        </a:rPr>
                        <a:t>酔って</a:t>
                      </a:r>
                      <a:r>
                        <a:rPr lang="ja-JP" altLang="en-US" sz="2000" b="0" i="0">
                          <a:effectLst/>
                          <a:latin typeface="Menlo" panose="020B0609030804020204" pitchFamily="49" charset="0"/>
                        </a:rPr>
                        <a:t>て全然憶えてないや </a:t>
                      </a:r>
                      <a:endParaRPr lang="en-US" altLang="ja-JP" sz="2000" b="0" i="0" dirty="0">
                        <a:effectLst/>
                        <a:latin typeface="Menlo" panose="020B0609030804020204" pitchFamily="49" charset="0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000" b="0" i="0">
                          <a:effectLst/>
                          <a:latin typeface="Menlo" panose="020B0609030804020204" pitchFamily="49" charset="0"/>
                        </a:rPr>
                        <a:t>和田アキ子「ワシの</a:t>
                      </a:r>
                      <a:r>
                        <a:rPr lang="ja-JP" altLang="en-US" sz="2000" b="0" i="0">
                          <a:solidFill>
                            <a:srgbClr val="FF0000"/>
                          </a:solidFill>
                          <a:effectLst/>
                          <a:latin typeface="Menlo" panose="020B0609030804020204" pitchFamily="49" charset="0"/>
                        </a:rPr>
                        <a:t>酒</a:t>
                      </a:r>
                      <a:r>
                        <a:rPr lang="ja-JP" altLang="en-US" sz="2000" b="0" i="0">
                          <a:effectLst/>
                          <a:latin typeface="Menlo" panose="020B0609030804020204" pitchFamily="49" charset="0"/>
                        </a:rPr>
                        <a:t>が飲めへんいうのか」 </a:t>
                      </a:r>
                      <a:endParaRPr lang="en-US" altLang="ja-JP" sz="2000" b="0" i="0" dirty="0">
                        <a:effectLst/>
                        <a:latin typeface="Menlo" panose="020B0609030804020204" pitchFamily="49" charset="0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000" b="0" i="0">
                          <a:effectLst/>
                          <a:latin typeface="Menlo" panose="020B0609030804020204" pitchFamily="49" charset="0"/>
                        </a:rPr>
                        <a:t>ちょっと凄いから写メ撮っとこ♪ </a:t>
                      </a:r>
                      <a:endParaRPr lang="en-US" altLang="ja-JP" sz="2000" b="0" i="0" dirty="0">
                        <a:effectLst/>
                        <a:latin typeface="Menlo" panose="020B0609030804020204" pitchFamily="49" charset="0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000" b="0" i="0">
                          <a:effectLst/>
                          <a:latin typeface="Menlo" panose="020B0609030804020204" pitchFamily="49" charset="0"/>
                        </a:rPr>
                        <a:t>「ごめんね、はじまっちゃった」 </a:t>
                      </a:r>
                      <a:endParaRPr lang="en-US" altLang="ja-JP" sz="2000" b="0" i="0" dirty="0">
                        <a:effectLst/>
                        <a:latin typeface="Menlo" panose="020B0609030804020204" pitchFamily="49" charset="0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000" b="0" i="0">
                          <a:effectLst/>
                          <a:latin typeface="Menlo" panose="020B0609030804020204" pitchFamily="49" charset="0"/>
                        </a:rPr>
                        <a:t>ヘディングのしすぎ </a:t>
                      </a:r>
                      <a:endParaRPr lang="en-US" altLang="ja-JP" sz="2000" b="0" i="0" dirty="0">
                        <a:effectLst/>
                        <a:latin typeface="Menlo" panose="020B0609030804020204" pitchFamily="49" charset="0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000" b="0" i="0">
                          <a:effectLst/>
                          <a:latin typeface="Menlo" panose="020B0609030804020204" pitchFamily="49" charset="0"/>
                        </a:rPr>
                        <a:t>友達の持ってたブラックゼウスを壁に貼った人</a:t>
                      </a:r>
                      <a:endParaRPr lang="ja-JP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000">
                          <a:solidFill>
                            <a:srgbClr val="FF0000"/>
                          </a:solidFill>
                        </a:rPr>
                        <a:t>酒</a:t>
                      </a:r>
                      <a:r>
                        <a:rPr lang="ja-JP" altLang="en-US" sz="2000"/>
                        <a:t>や</a:t>
                      </a:r>
                      <a:r>
                        <a:rPr lang="ja-JP" altLang="en-US" sz="2000">
                          <a:solidFill>
                            <a:srgbClr val="FF0000"/>
                          </a:solidFill>
                        </a:rPr>
                        <a:t>酒酒</a:t>
                      </a:r>
                      <a:r>
                        <a:rPr lang="ja-JP" altLang="en-US" sz="2000"/>
                        <a:t>もってこいや</a:t>
                      </a:r>
                      <a:endParaRPr lang="en-US" altLang="ja-JP" sz="2000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000">
                          <a:solidFill>
                            <a:srgbClr val="7030A0"/>
                          </a:solidFill>
                        </a:rPr>
                        <a:t>酔って</a:t>
                      </a:r>
                      <a:r>
                        <a:rPr lang="ja-JP" altLang="en-US" sz="2000"/>
                        <a:t>ないから写メしてやってマジ</a:t>
                      </a:r>
                      <a:endParaRPr lang="en-US" altLang="ja-JP" sz="2000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2000">
                          <a:solidFill>
                            <a:srgbClr val="FF0000"/>
                          </a:solidFill>
                        </a:rPr>
                        <a:t>酒</a:t>
                      </a:r>
                      <a:r>
                        <a:rPr lang="ja-JP" altLang="en-US" sz="2000"/>
                        <a:t>のつまみすぎちゃってね</a:t>
                      </a:r>
                      <a:endParaRPr lang="en-US" altLang="ja-JP" sz="20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635134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CCAB50-7B5C-E430-CD97-39A636020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42</a:t>
            </a:fld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A9902601-EEF8-7E17-BC92-2561032BA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591" y="1016135"/>
            <a:ext cx="2706818" cy="2706818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20AF3B5-99B5-0EE9-985B-C0234946C4B7}"/>
              </a:ext>
            </a:extLst>
          </p:cNvPr>
          <p:cNvSpPr txBox="1"/>
          <p:nvPr/>
        </p:nvSpPr>
        <p:spPr>
          <a:xfrm>
            <a:off x="4997375" y="3708459"/>
            <a:ext cx="2197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2000"/>
              <a:t>入力画像</a:t>
            </a:r>
            <a:r>
              <a:rPr kumimoji="1" lang="en-US" altLang="ja-JP" sz="2000" dirty="0"/>
              <a:t>[2]</a:t>
            </a:r>
            <a:endParaRPr kumimoji="1" lang="ja-JP" altLang="en-US" sz="2000"/>
          </a:p>
        </p:txBody>
      </p:sp>
    </p:spTree>
    <p:extLst>
      <p:ext uri="{BB962C8B-B14F-4D97-AF65-F5344CB8AC3E}">
        <p14:creationId xmlns:p14="http://schemas.microsoft.com/office/powerpoint/2010/main" val="30628440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CB94C0-5D11-EA33-F0A2-9B44A0EE5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実験</a:t>
            </a:r>
            <a:r>
              <a:rPr kumimoji="1" lang="en-US" altLang="ja-JP" dirty="0"/>
              <a:t>1</a:t>
            </a:r>
            <a:endParaRPr kumimoji="1" lang="ja-JP" altLang="en-US"/>
          </a:p>
        </p:txBody>
      </p:sp>
      <p:graphicFrame>
        <p:nvGraphicFramePr>
          <p:cNvPr id="11" name="表 11">
            <a:extLst>
              <a:ext uri="{FF2B5EF4-FFF2-40B4-BE49-F238E27FC236}">
                <a16:creationId xmlns:a16="http://schemas.microsoft.com/office/drawing/2014/main" id="{5A3195EF-8286-D75A-F8A2-B365F001EE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5275421"/>
              </p:ext>
            </p:extLst>
          </p:nvPr>
        </p:nvGraphicFramePr>
        <p:xfrm>
          <a:off x="472721" y="4108569"/>
          <a:ext cx="11268074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4037">
                  <a:extLst>
                    <a:ext uri="{9D8B030D-6E8A-4147-A177-3AD203B41FA5}">
                      <a16:colId xmlns:a16="http://schemas.microsoft.com/office/drawing/2014/main" val="1942013592"/>
                    </a:ext>
                  </a:extLst>
                </a:gridCol>
                <a:gridCol w="5634037">
                  <a:extLst>
                    <a:ext uri="{9D8B030D-6E8A-4147-A177-3AD203B41FA5}">
                      <a16:colId xmlns:a16="http://schemas.microsoft.com/office/drawing/2014/main" val="814314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学習データ</a:t>
                      </a:r>
                      <a:r>
                        <a:rPr kumimoji="1" lang="en-US" altLang="ja-JP" sz="2000" dirty="0"/>
                        <a:t>[2]</a:t>
                      </a:r>
                      <a:endParaRPr kumimoji="1" lang="ja-JP" altLang="en-US" sz="200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生成データ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275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2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カラオケ間奏中のオッサン </a:t>
                      </a:r>
                      <a:endParaRPr kumimoji="1" lang="en-US" altLang="ja-JP" sz="2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2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どやさどやさ！！ </a:t>
                      </a:r>
                      <a:endParaRPr kumimoji="1" lang="en-US" altLang="ja-JP" sz="2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2000" b="0" i="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笑えばいい</a:t>
                      </a:r>
                      <a:r>
                        <a:rPr kumimoji="1" lang="ja-JP" altLang="en-US" sz="2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と思うよ </a:t>
                      </a:r>
                      <a:endParaRPr kumimoji="1" lang="en-US" altLang="ja-JP" sz="2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2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リアルビリケン</a:t>
                      </a:r>
                      <a:endParaRPr lang="ja-JP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2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パパよお前の弁当の弁当が欲しいんだ</a:t>
                      </a:r>
                      <a:endParaRPr kumimoji="1" lang="en-US" altLang="ja-JP" sz="2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2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ライダーナックル，こうだ</a:t>
                      </a:r>
                      <a:endParaRPr kumimoji="1" lang="en-US" altLang="ja-JP" sz="2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2000" b="0" i="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笑えばいい</a:t>
                      </a:r>
                      <a:r>
                        <a:rPr kumimoji="1" lang="ja-JP" altLang="en-US" sz="2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のに笑えない</a:t>
                      </a:r>
                      <a:endParaRPr kumimoji="1" lang="en-US" altLang="ja-JP" sz="2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635134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CCAB50-7B5C-E430-CD97-39A636020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43</a:t>
            </a:fld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20AF3B5-99B5-0EE9-985B-C0234946C4B7}"/>
              </a:ext>
            </a:extLst>
          </p:cNvPr>
          <p:cNvSpPr txBox="1"/>
          <p:nvPr/>
        </p:nvSpPr>
        <p:spPr>
          <a:xfrm>
            <a:off x="4997375" y="3708459"/>
            <a:ext cx="2197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2000"/>
              <a:t>入力画像</a:t>
            </a:r>
            <a:r>
              <a:rPr kumimoji="1" lang="en-US" altLang="ja-JP" sz="2000" dirty="0"/>
              <a:t>[2]</a:t>
            </a:r>
            <a:endParaRPr kumimoji="1" lang="ja-JP" altLang="en-US" sz="2000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E17C5D9E-B7C4-26C5-B1BB-4F2AD4D1C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158" y="1001259"/>
            <a:ext cx="2707200" cy="270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9549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81F3C1-801C-78D1-E6E2-B3A90A41941B}"/>
              </a:ext>
            </a:extLst>
          </p:cNvPr>
          <p:cNvSpPr txBox="1">
            <a:spLocks/>
          </p:cNvSpPr>
          <p:nvPr/>
        </p:nvSpPr>
        <p:spPr>
          <a:xfrm>
            <a:off x="462280" y="1085039"/>
            <a:ext cx="11267440" cy="5286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Wingdings" pitchFamily="2" charset="2"/>
              <a:buChar char="l"/>
              <a:defRPr kumimoji="1" sz="2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24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20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1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1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dirty="0"/>
              <a:t>実装した</a:t>
            </a:r>
            <a:r>
              <a:rPr lang="en-US" altLang="ja-JP" dirty="0"/>
              <a:t>AI</a:t>
            </a:r>
            <a:r>
              <a:rPr lang="ja-JP" altLang="en-US" dirty="0"/>
              <a:t>が生成した大喜</a:t>
            </a:r>
            <a:r>
              <a:rPr lang="ja-JP" altLang="en-US"/>
              <a:t>利</a:t>
            </a:r>
            <a:r>
              <a:rPr lang="en-US" altLang="ja-JP" dirty="0"/>
              <a:t>(</a:t>
            </a:r>
            <a:r>
              <a:rPr lang="ja-JP" altLang="en-US"/>
              <a:t>非学習</a:t>
            </a:r>
            <a:r>
              <a:rPr lang="ja-JP" altLang="en-US" dirty="0"/>
              <a:t>データ</a:t>
            </a:r>
            <a:r>
              <a:rPr lang="en-US" altLang="ja-JP" dirty="0"/>
              <a:t>)</a:t>
            </a:r>
            <a:endParaRPr lang="ja-JP" alt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6170184-9553-8DC1-4C47-F3E9682DD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実験</a:t>
            </a:r>
            <a:r>
              <a:rPr kumimoji="1" lang="en-US" altLang="ja-JP" dirty="0"/>
              <a:t>1</a:t>
            </a:r>
            <a:endParaRPr kumimoji="1" lang="ja-JP" altLang="en-US"/>
          </a:p>
        </p:txBody>
      </p:sp>
      <p:graphicFrame>
        <p:nvGraphicFramePr>
          <p:cNvPr id="5" name="表 5">
            <a:extLst>
              <a:ext uri="{FF2B5EF4-FFF2-40B4-BE49-F238E27FC236}">
                <a16:creationId xmlns:a16="http://schemas.microsoft.com/office/drawing/2014/main" id="{0772C59C-A1D3-4815-A287-ECA02E950A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0409928"/>
              </p:ext>
            </p:extLst>
          </p:nvPr>
        </p:nvGraphicFramePr>
        <p:xfrm>
          <a:off x="136633" y="1573143"/>
          <a:ext cx="11960775" cy="433132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30015">
                  <a:extLst>
                    <a:ext uri="{9D8B030D-6E8A-4147-A177-3AD203B41FA5}">
                      <a16:colId xmlns:a16="http://schemas.microsoft.com/office/drawing/2014/main" val="612670568"/>
                    </a:ext>
                  </a:extLst>
                </a:gridCol>
                <a:gridCol w="2732690">
                  <a:extLst>
                    <a:ext uri="{9D8B030D-6E8A-4147-A177-3AD203B41FA5}">
                      <a16:colId xmlns:a16="http://schemas.microsoft.com/office/drawing/2014/main" val="1960179461"/>
                    </a:ext>
                  </a:extLst>
                </a:gridCol>
                <a:gridCol w="2732690">
                  <a:extLst>
                    <a:ext uri="{9D8B030D-6E8A-4147-A177-3AD203B41FA5}">
                      <a16:colId xmlns:a16="http://schemas.microsoft.com/office/drawing/2014/main" val="1936922339"/>
                    </a:ext>
                  </a:extLst>
                </a:gridCol>
                <a:gridCol w="2732690">
                  <a:extLst>
                    <a:ext uri="{9D8B030D-6E8A-4147-A177-3AD203B41FA5}">
                      <a16:colId xmlns:a16="http://schemas.microsoft.com/office/drawing/2014/main" val="1642500427"/>
                    </a:ext>
                  </a:extLst>
                </a:gridCol>
                <a:gridCol w="2732690">
                  <a:extLst>
                    <a:ext uri="{9D8B030D-6E8A-4147-A177-3AD203B41FA5}">
                      <a16:colId xmlns:a16="http://schemas.microsoft.com/office/drawing/2014/main" val="2197124767"/>
                    </a:ext>
                  </a:extLst>
                </a:gridCol>
              </a:tblGrid>
              <a:tr h="213991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画像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372475"/>
                  </a:ext>
                </a:extLst>
              </a:tr>
              <a:tr h="219141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文章</a:t>
                      </a:r>
                    </a:p>
                  </a:txBody>
                  <a:tcPr anchor="ctr">
                    <a:solidFill>
                      <a:srgbClr val="E1EC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じゃカレー食べて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カレー食べ放題三人ならどうしても勝てない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くらえカレーラーメン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E1EC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あのデブ結婚やめるんだよね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２次会までは帰ってきなよ♪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おねえちゃんだよー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800" b="0" kern="1200">
                          <a:solidFill>
                            <a:schemeClr val="tx1"/>
                          </a:solidFill>
                          <a:effectLst/>
                        </a:rPr>
                        <a:t>オレのスタンドモンスター</a:t>
                      </a:r>
                      <a:endParaRPr kumimoji="1" lang="en-US" altLang="ja-JP" sz="18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800" b="0" kern="1200">
                          <a:solidFill>
                            <a:schemeClr val="tx1"/>
                          </a:solidFill>
                          <a:effectLst/>
                        </a:rPr>
                        <a:t>ほれ捕まえてごらん</a:t>
                      </a:r>
                      <a:endParaRPr kumimoji="1" lang="en-US" altLang="ja-JP" sz="18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ja-JP" altLang="en-US" sz="1800" b="0" kern="1200">
                          <a:solidFill>
                            <a:schemeClr val="tx1"/>
                          </a:solidFill>
                          <a:effectLst/>
                        </a:rPr>
                        <a:t>行けカリン塔</a:t>
                      </a:r>
                    </a:p>
                  </a:txBody>
                  <a:tcPr anchor="ctr">
                    <a:solidFill>
                      <a:srgbClr val="E1EC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俺メッチャくさいねん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くくさいでちゅぅ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くくさいぅ</a:t>
                      </a:r>
                      <a:endParaRPr kumimoji="1" lang="ja-JP" altLang="en-US" sz="1800" b="0" kern="1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446736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5FF80D7-58FE-9C61-6945-0285D1BDA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44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C96BCC0-61D0-7EB9-ABFA-7D6F6BFBB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401" y="1596606"/>
            <a:ext cx="2059965" cy="2059965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1AF0086D-91BE-3C46-E732-9A5D113E0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219" y="1596606"/>
            <a:ext cx="2059965" cy="205996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A926F5A-2D10-E0A0-51BE-9D0CF3080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6889" y="1596606"/>
            <a:ext cx="2059965" cy="2059965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83D4319B-AACF-060C-B747-DB4419AE0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7069" y="1596606"/>
            <a:ext cx="2059965" cy="205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6452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角丸四角形 5">
            <a:extLst>
              <a:ext uri="{FF2B5EF4-FFF2-40B4-BE49-F238E27FC236}">
                <a16:creationId xmlns:a16="http://schemas.microsoft.com/office/drawing/2014/main" id="{4F8839BB-31B3-F6FE-CF5A-EFB93C75B856}"/>
              </a:ext>
            </a:extLst>
          </p:cNvPr>
          <p:cNvSpPr/>
          <p:nvPr/>
        </p:nvSpPr>
        <p:spPr>
          <a:xfrm>
            <a:off x="1418398" y="1662937"/>
            <a:ext cx="9357858" cy="3426373"/>
          </a:xfrm>
          <a:prstGeom prst="roundRect">
            <a:avLst>
              <a:gd name="adj" fmla="val 4223"/>
            </a:avLst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B8B4419-CB02-E0D0-5B7E-25C17CD78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実験</a:t>
            </a:r>
            <a:r>
              <a:rPr kumimoji="1" lang="en-US" altLang="ja-JP" dirty="0"/>
              <a:t>2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C4D2AD2-305A-B24C-EA3E-718620F0D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733-A267-4C27-B924-90460700986B}" type="slidenum">
              <a:rPr kumimoji="1" lang="ja-JP" altLang="en-US" smtClean="0"/>
              <a:t>45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A48D5E1-7910-E2DD-CDFE-82327C429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356" y="1785908"/>
            <a:ext cx="3076702" cy="3076702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C647ED9-A32D-51DF-2C6F-4AFA7CF11156}"/>
              </a:ext>
            </a:extLst>
          </p:cNvPr>
          <p:cNvSpPr txBox="1"/>
          <p:nvPr/>
        </p:nvSpPr>
        <p:spPr>
          <a:xfrm>
            <a:off x="5707117" y="1860710"/>
            <a:ext cx="5045465" cy="2963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/>
              <a:t>うん、フセインおった！ </a:t>
            </a:r>
            <a:endParaRPr lang="en-US" altLang="ja-JP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/>
              <a:t>バブルへ</a:t>
            </a:r>
            <a:r>
              <a:rPr lang="en" altLang="ja-JP" dirty="0"/>
              <a:t>GO</a:t>
            </a:r>
            <a:r>
              <a:rPr lang="ja-JP" altLang="en"/>
              <a:t>！！ </a:t>
            </a:r>
            <a:endParaRPr lang="en-US" altLang="ja-JP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/>
              <a:t>いい感じだ！これなら人気ボケまでいくぞ！ </a:t>
            </a:r>
            <a:endParaRPr lang="en-US" altLang="ja-JP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>
                <a:solidFill>
                  <a:srgbClr val="FF0000"/>
                </a:solidFill>
              </a:rPr>
              <a:t>金魚すくいクリア</a:t>
            </a:r>
            <a:r>
              <a:rPr lang="ja-JP" altLang="en-US"/>
              <a:t>！ </a:t>
            </a:r>
            <a:endParaRPr lang="en-US" altLang="ja-JP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/>
              <a:t>カレーできたよぉ </a:t>
            </a:r>
            <a:endParaRPr lang="en-US" altLang="ja-JP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/>
              <a:t>陽気な汲み取り屋さん </a:t>
            </a:r>
            <a:endParaRPr lang="en-US" altLang="ja-JP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/>
              <a:t>よし！いい墨だ！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B92DAE0-3CEB-DD63-0A8A-8689E74ECB9A}"/>
              </a:ext>
            </a:extLst>
          </p:cNvPr>
          <p:cNvSpPr txBox="1"/>
          <p:nvPr/>
        </p:nvSpPr>
        <p:spPr>
          <a:xfrm>
            <a:off x="4720020" y="4862610"/>
            <a:ext cx="274320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2400"/>
              <a:t>学習データ </a:t>
            </a:r>
            <a:r>
              <a:rPr kumimoji="1" lang="en-US" altLang="ja-JP" sz="2400" dirty="0"/>
              <a:t>[2]</a:t>
            </a:r>
            <a:endParaRPr lang="ja-JP" altLang="en-US" sz="2400"/>
          </a:p>
        </p:txBody>
      </p:sp>
      <p:graphicFrame>
        <p:nvGraphicFramePr>
          <p:cNvPr id="11" name="表 11">
            <a:extLst>
              <a:ext uri="{FF2B5EF4-FFF2-40B4-BE49-F238E27FC236}">
                <a16:creationId xmlns:a16="http://schemas.microsoft.com/office/drawing/2014/main" id="{D4718D9B-100E-18B8-9F31-3750680260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448231"/>
              </p:ext>
            </p:extLst>
          </p:nvPr>
        </p:nvGraphicFramePr>
        <p:xfrm>
          <a:off x="735725" y="5384210"/>
          <a:ext cx="10699531" cy="98746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96965">
                  <a:extLst>
                    <a:ext uri="{9D8B030D-6E8A-4147-A177-3AD203B41FA5}">
                      <a16:colId xmlns:a16="http://schemas.microsoft.com/office/drawing/2014/main" val="1843029081"/>
                    </a:ext>
                  </a:extLst>
                </a:gridCol>
                <a:gridCol w="4351283">
                  <a:extLst>
                    <a:ext uri="{9D8B030D-6E8A-4147-A177-3AD203B41FA5}">
                      <a16:colId xmlns:a16="http://schemas.microsoft.com/office/drawing/2014/main" val="2551026990"/>
                    </a:ext>
                  </a:extLst>
                </a:gridCol>
                <a:gridCol w="4351283">
                  <a:extLst>
                    <a:ext uri="{9D8B030D-6E8A-4147-A177-3AD203B41FA5}">
                      <a16:colId xmlns:a16="http://schemas.microsoft.com/office/drawing/2014/main" val="1472761651"/>
                    </a:ext>
                  </a:extLst>
                </a:gridCol>
              </a:tblGrid>
              <a:tr h="493731"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従来手法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提案手法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3858585"/>
                  </a:ext>
                </a:extLst>
              </a:tr>
              <a:tr h="49373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生成大喜利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2000"/>
                        <a:t>お客さんかゆいところはございませんか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2000" b="0" dirty="0">
                          <a:solidFill>
                            <a:srgbClr val="FF0000"/>
                          </a:solidFill>
                          <a:effectLst/>
                        </a:rPr>
                        <a:t>金魚すくいクリア</a:t>
                      </a:r>
                      <a:endParaRPr lang="ja-JP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184970"/>
                  </a:ext>
                </a:extLst>
              </a:tr>
            </a:tbl>
          </a:graphicData>
        </a:graphic>
      </p:graphicFrame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5B91F275-2F35-9751-90D6-D00BEC7D8EB0}"/>
              </a:ext>
            </a:extLst>
          </p:cNvPr>
          <p:cNvSpPr txBox="1">
            <a:spLocks/>
          </p:cNvSpPr>
          <p:nvPr/>
        </p:nvSpPr>
        <p:spPr>
          <a:xfrm>
            <a:off x="462280" y="1085039"/>
            <a:ext cx="11267440" cy="5286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Wingdings" pitchFamily="2" charset="2"/>
              <a:buChar char="l"/>
              <a:defRPr kumimoji="1" sz="2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24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20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1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l"/>
              <a:defRPr kumimoji="1" sz="1800" kern="12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dirty="0"/>
              <a:t>実装した</a:t>
            </a:r>
            <a:r>
              <a:rPr lang="en-US" altLang="ja-JP" dirty="0"/>
              <a:t>AI</a:t>
            </a:r>
            <a:r>
              <a:rPr lang="ja-JP" altLang="en-US" dirty="0"/>
              <a:t>が生成した大喜利</a:t>
            </a:r>
            <a:r>
              <a:rPr lang="en-US" altLang="ja-JP" dirty="0"/>
              <a:t>(</a:t>
            </a:r>
            <a:r>
              <a:rPr lang="ja-JP" altLang="en-US" dirty="0"/>
              <a:t>画像は学習データ</a:t>
            </a:r>
            <a:r>
              <a:rPr lang="en-US" altLang="ja-JP" dirty="0"/>
              <a:t>)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12651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4">
      <a:majorFont>
        <a:latin typeface="UD デジタル 教科書体 NK-R"/>
        <a:ea typeface="UD デジタル 教科書体 NK-R"/>
        <a:cs typeface=""/>
      </a:majorFont>
      <a:minorFont>
        <a:latin typeface="UD デジタル 教科書体 NK-R"/>
        <a:ea typeface="UD デジタル 教科書体 NK-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B0F0"/>
        </a:solidFill>
        <a:ln w="38100">
          <a:solidFill>
            <a:srgbClr val="00B0F0"/>
          </a:solidFill>
        </a:ln>
      </a:spPr>
      <a:bodyPr rtlCol="0" anchor="ctr"/>
      <a:lstStyle>
        <a:defPPr algn="ctr">
          <a:defRPr kumimoji="1" sz="24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ctr">
          <a:defRPr kumimoji="1" sz="2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7622</TotalTime>
  <Words>3094</Words>
  <Application>Microsoft Macintosh PowerPoint</Application>
  <PresentationFormat>ワイド画面</PresentationFormat>
  <Paragraphs>812</Paragraphs>
  <Slides>45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45</vt:i4>
      </vt:variant>
    </vt:vector>
  </HeadingPairs>
  <TitlesOfParts>
    <vt:vector size="53" baseType="lpstr">
      <vt:lpstr>UD デジタル 教科書体 NK-R</vt:lpstr>
      <vt:lpstr>游ゴシック</vt:lpstr>
      <vt:lpstr>Arial</vt:lpstr>
      <vt:lpstr>Cambria Math</vt:lpstr>
      <vt:lpstr>Helvetica Neue</vt:lpstr>
      <vt:lpstr>Menlo</vt:lpstr>
      <vt:lpstr>Wingdings</vt:lpstr>
      <vt:lpstr>Office テーマ</vt:lpstr>
      <vt:lpstr> AutoEncoderとPix2Seqを用いた 大喜利生成AIの実装に関する研究</vt:lpstr>
      <vt:lpstr>研究背景</vt:lpstr>
      <vt:lpstr>研究背景</vt:lpstr>
      <vt:lpstr>研究目的</vt:lpstr>
      <vt:lpstr>Neural Joking Machine : Humorous Image Caption[1]</vt:lpstr>
      <vt:lpstr>bokete[2]</vt:lpstr>
      <vt:lpstr>Neural Joking Machine : Humorous Image Caption[1]</vt:lpstr>
      <vt:lpstr>Neural Joking Machine : Humorous Image Caption[1]</vt:lpstr>
      <vt:lpstr>Pix2Seq[3]</vt:lpstr>
      <vt:lpstr>Pix2Seq</vt:lpstr>
      <vt:lpstr>Pix2Seq</vt:lpstr>
      <vt:lpstr>Pix2Seq</vt:lpstr>
      <vt:lpstr>事前学習済みモデルの問題点Ⅰ</vt:lpstr>
      <vt:lpstr>事前学習済みモデルの問題点Ⅱ</vt:lpstr>
      <vt:lpstr>事前学習済みモデルの問題点Ⅲ</vt:lpstr>
      <vt:lpstr>事前学習済みモデルの問題点Ⅲ</vt:lpstr>
      <vt:lpstr>提案手法</vt:lpstr>
      <vt:lpstr>AutoEncoder[4]</vt:lpstr>
      <vt:lpstr>AutoEncoder</vt:lpstr>
      <vt:lpstr>提案手法の学習モデル</vt:lpstr>
      <vt:lpstr>提案手法の学習モデル</vt:lpstr>
      <vt:lpstr>従来手法との比較</vt:lpstr>
      <vt:lpstr>従来手法との比較</vt:lpstr>
      <vt:lpstr>従来手法との比較</vt:lpstr>
      <vt:lpstr>従来手法との比較</vt:lpstr>
      <vt:lpstr>従来手法との比較</vt:lpstr>
      <vt:lpstr>実験1 : 大喜利生成AIの実装</vt:lpstr>
      <vt:lpstr>実験1：AutoEncoderの学習結果</vt:lpstr>
      <vt:lpstr>実験1：学習に使用した画像を入力</vt:lpstr>
      <vt:lpstr>実験1:学習に使用していない画像を入力</vt:lpstr>
      <vt:lpstr>実験1:学習に使用していない画像を入力</vt:lpstr>
      <vt:lpstr>実験1:学習に使用していない画像を入力</vt:lpstr>
      <vt:lpstr>実験1:学習に使用していない画像を入力</vt:lpstr>
      <vt:lpstr>実験2 : 従来手法との比較</vt:lpstr>
      <vt:lpstr>実験2:学習に使用していない画像を入力</vt:lpstr>
      <vt:lpstr>実験2:学習に使用した画像を入力</vt:lpstr>
      <vt:lpstr>実験3 :実装した大喜利生成AIを評価</vt:lpstr>
      <vt:lpstr>実験3</vt:lpstr>
      <vt:lpstr>実験3</vt:lpstr>
      <vt:lpstr>実験3</vt:lpstr>
      <vt:lpstr>PowerPoint プレゼンテーション</vt:lpstr>
      <vt:lpstr>実験1</vt:lpstr>
      <vt:lpstr>実験1</vt:lpstr>
      <vt:lpstr>実験1</vt:lpstr>
      <vt:lpstr>実験2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山富龍</dc:creator>
  <cp:lastModifiedBy>山富龍</cp:lastModifiedBy>
  <cp:revision>112</cp:revision>
  <dcterms:created xsi:type="dcterms:W3CDTF">2022-02-11T03:49:06Z</dcterms:created>
  <dcterms:modified xsi:type="dcterms:W3CDTF">2023-03-26T05:16:31Z</dcterms:modified>
</cp:coreProperties>
</file>