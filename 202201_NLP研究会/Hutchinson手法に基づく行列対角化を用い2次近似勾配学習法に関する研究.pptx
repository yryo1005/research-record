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ink/ink2.xml" ContentType="application/inkml+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ink/ink3.xml" ContentType="application/inkml+xml"/>
  <Override PartName="/ppt/ink/ink4.xml" ContentType="application/inkml+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ink/ink5.xml" ContentType="application/inkml+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ink/ink6.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3"/>
  </p:notesMasterIdLst>
  <p:sldIdLst>
    <p:sldId id="256" r:id="rId2"/>
    <p:sldId id="283" r:id="rId3"/>
    <p:sldId id="258" r:id="rId4"/>
    <p:sldId id="294" r:id="rId5"/>
    <p:sldId id="295" r:id="rId6"/>
    <p:sldId id="296" r:id="rId7"/>
    <p:sldId id="280" r:id="rId8"/>
    <p:sldId id="297" r:id="rId9"/>
    <p:sldId id="282" r:id="rId10"/>
    <p:sldId id="285" r:id="rId11"/>
    <p:sldId id="260" r:id="rId12"/>
    <p:sldId id="276" r:id="rId13"/>
    <p:sldId id="261" r:id="rId14"/>
    <p:sldId id="277" r:id="rId15"/>
    <p:sldId id="286" r:id="rId16"/>
    <p:sldId id="262" r:id="rId17"/>
    <p:sldId id="307" r:id="rId18"/>
    <p:sldId id="308" r:id="rId19"/>
    <p:sldId id="309" r:id="rId20"/>
    <p:sldId id="310" r:id="rId21"/>
    <p:sldId id="292" r:id="rId22"/>
    <p:sldId id="291" r:id="rId23"/>
    <p:sldId id="293" r:id="rId24"/>
    <p:sldId id="324" r:id="rId25"/>
    <p:sldId id="325" r:id="rId26"/>
    <p:sldId id="327" r:id="rId27"/>
    <p:sldId id="274" r:id="rId28"/>
    <p:sldId id="328" r:id="rId29"/>
    <p:sldId id="312" r:id="rId30"/>
    <p:sldId id="329" r:id="rId31"/>
    <p:sldId id="316" r:id="rId32"/>
    <p:sldId id="326" r:id="rId33"/>
    <p:sldId id="330" r:id="rId34"/>
    <p:sldId id="265" r:id="rId35"/>
    <p:sldId id="331" r:id="rId36"/>
    <p:sldId id="318" r:id="rId37"/>
    <p:sldId id="332" r:id="rId38"/>
    <p:sldId id="320" r:id="rId39"/>
    <p:sldId id="333" r:id="rId40"/>
    <p:sldId id="322" r:id="rId41"/>
    <p:sldId id="269" r:id="rId42"/>
    <p:sldId id="323" r:id="rId43"/>
    <p:sldId id="264" r:id="rId44"/>
    <p:sldId id="315" r:id="rId45"/>
    <p:sldId id="304" r:id="rId46"/>
    <p:sldId id="273" r:id="rId47"/>
    <p:sldId id="317" r:id="rId48"/>
    <p:sldId id="319" r:id="rId49"/>
    <p:sldId id="321" r:id="rId50"/>
    <p:sldId id="257" r:id="rId51"/>
    <p:sldId id="275" r:id="rId52"/>
    <p:sldId id="302" r:id="rId53"/>
    <p:sldId id="313" r:id="rId54"/>
    <p:sldId id="314" r:id="rId55"/>
    <p:sldId id="271" r:id="rId56"/>
    <p:sldId id="268" r:id="rId57"/>
    <p:sldId id="267" r:id="rId58"/>
    <p:sldId id="284" r:id="rId59"/>
    <p:sldId id="259" r:id="rId60"/>
    <p:sldId id="306" r:id="rId61"/>
    <p:sldId id="305" r:id="rId6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F3B7"/>
    <a:srgbClr val="033BED"/>
    <a:srgbClr val="E5E5E5"/>
    <a:srgbClr val="E4E4E4"/>
    <a:srgbClr val="FBB7B7"/>
    <a:srgbClr val="E8E8E8"/>
    <a:srgbClr val="CC3300"/>
    <a:srgbClr val="339933"/>
    <a:srgbClr val="0066CC"/>
    <a:srgbClr val="A22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745" autoAdjust="0"/>
    <p:restoredTop sz="52738" autoAdjust="0"/>
  </p:normalViewPr>
  <p:slideViewPr>
    <p:cSldViewPr snapToGrid="0">
      <p:cViewPr varScale="1">
        <p:scale>
          <a:sx n="60" d="100"/>
          <a:sy n="60" d="100"/>
        </p:scale>
        <p:origin x="3032" y="176"/>
      </p:cViewPr>
      <p:guideLst>
        <p:guide orient="horz" pos="2160"/>
        <p:guide pos="3863"/>
      </p:guideLst>
    </p:cSldViewPr>
  </p:slideViewPr>
  <p:notesTextViewPr>
    <p:cViewPr>
      <p:scale>
        <a:sx n="125" d="100"/>
        <a:sy n="125" d="100"/>
      </p:scale>
      <p:origin x="0" y="-108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14T08:30:25.869"/>
    </inkml:context>
    <inkml:brush xml:id="br0">
      <inkml:brushProperty name="width" value="0.05" units="cm"/>
      <inkml:brushProperty name="height" value="0.05" units="cm"/>
    </inkml:brush>
  </inkml:definitions>
  <inkml:trace contextRef="#ctx0" brushRef="#br0">0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14T08:25:23.820"/>
    </inkml:context>
    <inkml:brush xml:id="br0">
      <inkml:brushProperty name="width" value="0.05" units="cm"/>
      <inkml:brushProperty name="height" value="0.05" units="cm"/>
    </inkml:brush>
  </inkml:definitions>
  <inkml:trace contextRef="#ctx0" brushRef="#br0">0 0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14T08:28:33.509"/>
    </inkml:context>
    <inkml:brush xml:id="br0">
      <inkml:brushProperty name="width" value="0.05" units="cm"/>
      <inkml:brushProperty name="height" value="0.05" units="cm"/>
    </inkml:brush>
  </inkml:definitions>
  <inkml:trace contextRef="#ctx0" brushRef="#br0">0 0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17T04:09:43.606"/>
    </inkml:context>
    <inkml:brush xml:id="br0">
      <inkml:brushProperty name="width" value="0.05" units="cm"/>
      <inkml:brushProperty name="height" value="0.05" units="cm"/>
    </inkml:brush>
  </inkml:definitions>
  <inkml:trace contextRef="#ctx0" brushRef="#br0">0 0 24575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17T04:09:28.569"/>
    </inkml:context>
    <inkml:brush xml:id="br0">
      <inkml:brushProperty name="width" value="0.05" units="cm"/>
      <inkml:brushProperty name="height" value="0.05" units="cm"/>
    </inkml:brush>
  </inkml:definitions>
  <inkml:trace contextRef="#ctx0" brushRef="#br0">0 0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17T04:17:39.034"/>
    </inkml:context>
    <inkml:brush xml:id="br0">
      <inkml:brushProperty name="width" value="0.05" units="cm"/>
      <inkml:brushProperty name="height" value="0.05" units="cm"/>
    </inkml:brush>
  </inkml:definitions>
  <inkml:trace contextRef="#ctx0" brushRef="#br0">0 0 24575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F9C869-1842-4FD4-9254-5E59754274E3}" type="datetimeFigureOut">
              <a:rPr kumimoji="1" lang="ja-JP" altLang="en-US" smtClean="0"/>
              <a:t>2022/1/21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51A242-CBBB-4193-9B7E-3C60E9FC111C}" type="slidenum">
              <a:rPr kumimoji="1" lang="ja-JP" altLang="en-US" smtClean="0"/>
              <a:t>‹#›</a:t>
            </a:fld>
            <a:endParaRPr kumimoji="1" lang="ja-JP" altLang="en-US"/>
          </a:p>
        </p:txBody>
      </p:sp>
    </p:spTree>
    <p:extLst>
      <p:ext uri="{BB962C8B-B14F-4D97-AF65-F5344CB8AC3E}">
        <p14:creationId xmlns:p14="http://schemas.microsoft.com/office/powerpoint/2010/main" val="201946710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sz="1200" spc="-100" dirty="0"/>
              <a:t>Hutchinson</a:t>
            </a:r>
            <a:r>
              <a:rPr kumimoji="1" lang="ja-JP" altLang="en-US" sz="1200" spc="-100" dirty="0"/>
              <a:t>手法に基づく行列対角化を用いた</a:t>
            </a:r>
            <a:r>
              <a:rPr kumimoji="1" lang="en-US" altLang="ja-JP" sz="1200" spc="-100" dirty="0"/>
              <a:t>2</a:t>
            </a:r>
            <a:r>
              <a:rPr kumimoji="1" lang="ja-JP" altLang="en-US" sz="1200" spc="-100" dirty="0"/>
              <a:t>次近似勾配学習法に関する研究、というタイトルで発表させていただきます</a:t>
            </a:r>
          </a:p>
          <a:p>
            <a:endParaRPr kumimoji="1" lang="en-US" altLang="ja-JP" sz="1200" spc="-100" dirty="0"/>
          </a:p>
          <a:p>
            <a:r>
              <a:rPr kumimoji="1" lang="ja-JP" altLang="en-US" sz="1200" spc="-100" dirty="0"/>
              <a:t>湘南工科大学　山富です</a:t>
            </a:r>
            <a:endParaRPr kumimoji="1" lang="ja-JP" altLang="en-US"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1</a:t>
            </a:fld>
            <a:endParaRPr kumimoji="1" lang="ja-JP" altLang="en-US"/>
          </a:p>
        </p:txBody>
      </p:sp>
    </p:spTree>
    <p:extLst>
      <p:ext uri="{BB962C8B-B14F-4D97-AF65-F5344CB8AC3E}">
        <p14:creationId xmlns:p14="http://schemas.microsoft.com/office/powerpoint/2010/main" val="12896764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近年のビッグデータの登場により、膨大なデータを処理することができる</a:t>
            </a:r>
            <a:r>
              <a:rPr kumimoji="1" lang="en-US" altLang="ja-JP" dirty="0"/>
              <a:t>AI</a:t>
            </a:r>
            <a:r>
              <a:rPr kumimoji="1" lang="ja-JP" altLang="en-US" dirty="0"/>
              <a:t>は様々な分野で使用されています。</a:t>
            </a:r>
            <a:endParaRPr kumimoji="1" lang="en-US" altLang="ja-JP" dirty="0"/>
          </a:p>
          <a:p>
            <a:endParaRPr kumimoji="1" lang="en-US" altLang="ja-JP" dirty="0"/>
          </a:p>
          <a:p>
            <a:r>
              <a:rPr kumimoji="1" lang="en-US" altLang="ja-JP" dirty="0"/>
              <a:t>AI</a:t>
            </a:r>
            <a:r>
              <a:rPr kumimoji="1" lang="ja-JP" altLang="en-US" dirty="0"/>
              <a:t>の中でも特にニューラルネットワークは、分類問題や回帰問題等幅広い問題設定で使用できるため注目されています</a:t>
            </a:r>
            <a:endParaRPr kumimoji="1" lang="en-US" altLang="ja-JP" dirty="0"/>
          </a:p>
          <a:p>
            <a:endParaRPr kumimoji="1" lang="en-US" altLang="ja-JP" dirty="0"/>
          </a:p>
          <a:p>
            <a:r>
              <a:rPr kumimoji="1" lang="ja-JP" altLang="en-US" dirty="0"/>
              <a:t>ニューラルネットワークの精度を上げるためには、ニューラルネットワークの構造や、データの前処理を工夫するなどの手段がありますが</a:t>
            </a:r>
            <a:endParaRPr kumimoji="1" lang="en-US" altLang="ja-JP" dirty="0"/>
          </a:p>
          <a:p>
            <a:endParaRPr kumimoji="1" lang="en-US" altLang="ja-JP" dirty="0"/>
          </a:p>
          <a:p>
            <a:r>
              <a:rPr kumimoji="1" lang="ja-JP" altLang="en-US" dirty="0"/>
              <a:t>優秀な学習アルゴリズムを使用する、というのが非常に重要になってきます</a:t>
            </a:r>
            <a:endParaRPr kumimoji="1" lang="en-US" altLang="ja-JP" dirty="0"/>
          </a:p>
          <a:p>
            <a:endParaRPr kumimoji="1" lang="en-US" altLang="ja-JP" dirty="0"/>
          </a:p>
          <a:p>
            <a:endParaRPr kumimoji="1" lang="en-US" altLang="ja-JP" dirty="0"/>
          </a:p>
          <a:p>
            <a:r>
              <a:rPr kumimoji="1" lang="ja-JP" altLang="en-US" dirty="0"/>
              <a:t>本研究ではそんなニューラルネットワークの新たな学習アルゴリズムを提案させていただくのですが、</a:t>
            </a:r>
            <a:endParaRPr kumimoji="1" lang="en-US" altLang="ja-JP" dirty="0"/>
          </a:p>
          <a:p>
            <a:endParaRPr kumimoji="1" lang="en-US" altLang="ja-JP" dirty="0"/>
          </a:p>
          <a:p>
            <a:r>
              <a:rPr kumimoji="1" lang="ja-JP" altLang="en-US" dirty="0"/>
              <a:t>具体的な提案の前にニューラルネットワークがどのようにして学習するのか説明します</a:t>
            </a:r>
            <a:endParaRPr kumimoji="1" lang="en-US" altLang="ja-JP" dirty="0"/>
          </a:p>
          <a:p>
            <a:endParaRPr kumimoji="1" lang="en-US" altLang="ja-JP" dirty="0"/>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本研究で対象とするニューラルネットワークの学習は式１のような誤差関数を最小になるように、</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ニューラルネットワークの重みを最適化する</a:t>
            </a:r>
            <a:r>
              <a:rPr kumimoji="1" lang="ja-JP" altLang="en-US" sz="1200" kern="1200" dirty="0">
                <a:solidFill>
                  <a:schemeClr val="tx1"/>
                </a:solidFill>
                <a:effectLst/>
                <a:latin typeface="+mn-lt"/>
                <a:ea typeface="+mn-ea"/>
                <a:cs typeface="+mn-cs"/>
              </a:rPr>
              <a:t>最適化問題になります</a:t>
            </a:r>
            <a:endParaRPr kumimoji="1" lang="en-US" altLang="ja-JP"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kern="1200" dirty="0">
                <a:solidFill>
                  <a:schemeClr val="tx1"/>
                </a:solidFill>
                <a:effectLst/>
                <a:latin typeface="+mn-lt"/>
                <a:ea typeface="+mn-ea"/>
                <a:cs typeface="+mn-cs"/>
              </a:rPr>
              <a:t>ここで</a:t>
            </a:r>
            <a:r>
              <a:rPr kumimoji="1" lang="en-US" altLang="ja-JP" sz="1200" kern="1200" dirty="0">
                <a:solidFill>
                  <a:schemeClr val="tx1"/>
                </a:solidFill>
                <a:effectLst/>
                <a:latin typeface="+mn-lt"/>
                <a:ea typeface="+mn-ea"/>
                <a:cs typeface="+mn-cs"/>
              </a:rPr>
              <a:t>w</a:t>
            </a:r>
            <a:r>
              <a:rPr kumimoji="1" lang="ja-JP" altLang="en-US" sz="1200" kern="1200" dirty="0">
                <a:solidFill>
                  <a:schemeClr val="tx1"/>
                </a:solidFill>
                <a:effectLst/>
                <a:latin typeface="+mn-lt"/>
                <a:ea typeface="+mn-ea"/>
                <a:cs typeface="+mn-cs"/>
              </a:rPr>
              <a:t>が重み、</a:t>
            </a:r>
            <a:r>
              <a:rPr kumimoji="1" lang="en-US" altLang="ja-JP" sz="1200" kern="1200" dirty="0">
                <a:solidFill>
                  <a:schemeClr val="tx1"/>
                </a:solidFill>
                <a:effectLst/>
                <a:latin typeface="+mn-lt"/>
                <a:ea typeface="+mn-ea"/>
                <a:cs typeface="+mn-cs"/>
              </a:rPr>
              <a:t>Tr</a:t>
            </a:r>
            <a:r>
              <a:rPr kumimoji="1" lang="ja-JP" altLang="en-US" sz="1200" kern="1200" dirty="0">
                <a:solidFill>
                  <a:schemeClr val="tx1"/>
                </a:solidFill>
                <a:effectLst/>
                <a:latin typeface="+mn-lt"/>
                <a:ea typeface="+mn-ea"/>
                <a:cs typeface="+mn-cs"/>
              </a:rPr>
              <a:t>が学習サンプルとなります</a:t>
            </a:r>
            <a:endParaRPr kumimoji="1" lang="en-US" altLang="ja-JP"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kern="1200" dirty="0">
                <a:solidFill>
                  <a:schemeClr val="tx1"/>
                </a:solidFill>
                <a:effectLst/>
                <a:latin typeface="+mn-lt"/>
                <a:ea typeface="+mn-ea"/>
                <a:cs typeface="+mn-cs"/>
              </a:rPr>
              <a:t>重みは式２のように勾配降下法に基づき更新されます</a:t>
            </a:r>
            <a:endParaRPr kumimoji="1" lang="en-US" altLang="ja-JP"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kern="1200" dirty="0">
                <a:solidFill>
                  <a:schemeClr val="tx1"/>
                </a:solidFill>
                <a:effectLst/>
                <a:latin typeface="+mn-lt"/>
                <a:ea typeface="+mn-ea"/>
                <a:cs typeface="+mn-cs"/>
              </a:rPr>
              <a:t>ここで</a:t>
            </a:r>
            <a:r>
              <a:rPr kumimoji="1" lang="en-US" altLang="ja-JP" sz="1200" kern="1200" dirty="0" err="1">
                <a:solidFill>
                  <a:schemeClr val="tx1"/>
                </a:solidFill>
                <a:effectLst/>
                <a:latin typeface="+mn-lt"/>
                <a:ea typeface="+mn-ea"/>
                <a:cs typeface="+mn-cs"/>
              </a:rPr>
              <a:t>vk</a:t>
            </a:r>
            <a:r>
              <a:rPr kumimoji="1" lang="ja-JP" altLang="en-US" sz="1200" kern="1200" dirty="0">
                <a:solidFill>
                  <a:schemeClr val="tx1"/>
                </a:solidFill>
                <a:effectLst/>
                <a:latin typeface="+mn-lt"/>
                <a:ea typeface="+mn-ea"/>
                <a:cs typeface="+mn-cs"/>
              </a:rPr>
              <a:t>＋１は更新ベクトルであり学習アルゴリズムによってこの更新ベクトルが異なります</a:t>
            </a:r>
            <a:endParaRPr kumimoji="1" lang="en-US" altLang="ja-JP"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有名な手法である再急降下法、</a:t>
            </a:r>
            <a:r>
              <a:rPr lang="en-US" altLang="ja-JP" dirty="0"/>
              <a:t>GD</a:t>
            </a:r>
            <a:r>
              <a:rPr lang="ja-JP" altLang="en-US" dirty="0"/>
              <a:t>では式３のような更新ベクトルになっており、</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ここでナブラ</a:t>
            </a:r>
            <a:r>
              <a:rPr lang="en-US" altLang="ja-JP" dirty="0"/>
              <a:t>E </a:t>
            </a:r>
            <a:r>
              <a:rPr lang="en-US" altLang="ja-JP" dirty="0" err="1"/>
              <a:t>wk</a:t>
            </a:r>
            <a:r>
              <a:rPr lang="ja-JP" altLang="en-US" dirty="0"/>
              <a:t>が誤差関数を重みで微分した勾配、</a:t>
            </a:r>
            <a:r>
              <a:rPr lang="en-US" altLang="ja-JP" dirty="0"/>
              <a:t>α</a:t>
            </a:r>
            <a:r>
              <a:rPr lang="ja-JP" altLang="en-US" dirty="0"/>
              <a:t>がスカラーの学習率となります</a:t>
            </a:r>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2</a:t>
            </a:fld>
            <a:endParaRPr kumimoji="1" lang="ja-JP" altLang="en-US"/>
          </a:p>
        </p:txBody>
      </p:sp>
    </p:spTree>
    <p:extLst>
      <p:ext uri="{BB962C8B-B14F-4D97-AF65-F5344CB8AC3E}">
        <p14:creationId xmlns:p14="http://schemas.microsoft.com/office/powerpoint/2010/main" val="30862653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次に現在どのような学習アルゴリズムがあるか説明します</a:t>
            </a:r>
            <a:endParaRPr kumimoji="1" lang="en-US" altLang="ja-JP" dirty="0"/>
          </a:p>
          <a:p>
            <a:endParaRPr kumimoji="1" lang="en-US" altLang="ja-JP" dirty="0"/>
          </a:p>
          <a:p>
            <a:r>
              <a:rPr kumimoji="1" lang="ja-JP" altLang="en-US" dirty="0"/>
              <a:t>現在主流な学習アルゴリズムは一次近似手法というくくりに入っており、</a:t>
            </a:r>
            <a:endParaRPr kumimoji="1" lang="en-US" altLang="ja-JP" dirty="0"/>
          </a:p>
          <a:p>
            <a:endParaRPr kumimoji="1" lang="en-US" altLang="ja-JP" dirty="0"/>
          </a:p>
          <a:p>
            <a:r>
              <a:rPr kumimoji="1" lang="ja-JP" altLang="en-US" dirty="0"/>
              <a:t>この一次近似手法の特徴としてスカラーの学習率をもつことが挙げられます</a:t>
            </a:r>
            <a:endParaRPr kumimoji="1" lang="en-US" altLang="ja-JP" dirty="0"/>
          </a:p>
          <a:p>
            <a:endParaRPr kumimoji="1" lang="en-US" altLang="ja-JP" dirty="0"/>
          </a:p>
          <a:p>
            <a:endParaRPr kumimoji="1" lang="en-US" altLang="ja-JP" dirty="0"/>
          </a:p>
          <a:p>
            <a:r>
              <a:rPr kumimoji="1" lang="ja-JP" altLang="en-US" dirty="0"/>
              <a:t>一次近似手法の基になるアルゴリズムに先ほどの</a:t>
            </a:r>
            <a:r>
              <a:rPr kumimoji="1" lang="en-US" altLang="ja-JP" dirty="0"/>
              <a:t>GD</a:t>
            </a:r>
            <a:r>
              <a:rPr kumimoji="1" lang="ja-JP" altLang="en-US" dirty="0"/>
              <a:t>があり、</a:t>
            </a:r>
            <a:endParaRPr kumimoji="1" lang="en-US" altLang="ja-JP" dirty="0"/>
          </a:p>
          <a:p>
            <a:endParaRPr kumimoji="1" lang="en-US" altLang="ja-JP" dirty="0"/>
          </a:p>
          <a:p>
            <a:r>
              <a:rPr kumimoji="1" lang="ja-JP" altLang="en-US" dirty="0"/>
              <a:t>その</a:t>
            </a:r>
            <a:r>
              <a:rPr kumimoji="1" lang="en-US" altLang="ja-JP" dirty="0"/>
              <a:t>GD</a:t>
            </a:r>
            <a:r>
              <a:rPr kumimoji="1" lang="ja-JP" altLang="en-US" dirty="0"/>
              <a:t>に慣性項を追加することで学習を高速化した</a:t>
            </a:r>
            <a:r>
              <a:rPr kumimoji="1" lang="en-US" altLang="ja-JP" dirty="0"/>
              <a:t>CM</a:t>
            </a:r>
            <a:r>
              <a:rPr kumimoji="1" lang="ja-JP" altLang="en-US" dirty="0"/>
              <a:t>法、</a:t>
            </a:r>
            <a:endParaRPr kumimoji="1" lang="en-US" altLang="ja-JP" dirty="0"/>
          </a:p>
          <a:p>
            <a:endParaRPr kumimoji="1" lang="en-US" altLang="ja-JP" dirty="0"/>
          </a:p>
          <a:p>
            <a:r>
              <a:rPr kumimoji="1" lang="en-US" altLang="ja-JP" dirty="0"/>
              <a:t>GD</a:t>
            </a:r>
            <a:r>
              <a:rPr kumimoji="1" lang="ja-JP" altLang="en-US" dirty="0"/>
              <a:t>の学習率を適応的に変化させた</a:t>
            </a:r>
            <a:r>
              <a:rPr kumimoji="1" lang="en-US" altLang="ja-JP" dirty="0" err="1"/>
              <a:t>AdaGrad</a:t>
            </a:r>
            <a:r>
              <a:rPr kumimoji="1" lang="ja-JP" altLang="en-US" dirty="0"/>
              <a:t>、</a:t>
            </a:r>
            <a:endParaRPr kumimoji="1" lang="en-US" altLang="ja-JP" dirty="0"/>
          </a:p>
          <a:p>
            <a:endParaRPr kumimoji="1" lang="en-US" altLang="ja-JP" dirty="0"/>
          </a:p>
          <a:p>
            <a:r>
              <a:rPr kumimoji="1" lang="ja-JP" altLang="en-US" dirty="0"/>
              <a:t>そして</a:t>
            </a:r>
            <a:r>
              <a:rPr kumimoji="1" lang="en-US" altLang="ja-JP" dirty="0"/>
              <a:t>CM</a:t>
            </a:r>
            <a:r>
              <a:rPr kumimoji="1" lang="ja-JP" altLang="en-US" dirty="0"/>
              <a:t>法と</a:t>
            </a:r>
            <a:r>
              <a:rPr kumimoji="1" lang="en-US" altLang="ja-JP" dirty="0" err="1"/>
              <a:t>AdaGrad</a:t>
            </a:r>
            <a:r>
              <a:rPr kumimoji="1" lang="ja-JP" altLang="en-US" dirty="0"/>
              <a:t>の両方の性質をもつ</a:t>
            </a:r>
            <a:r>
              <a:rPr kumimoji="1" lang="en-US" altLang="ja-JP" dirty="0"/>
              <a:t>Adam</a:t>
            </a:r>
            <a:r>
              <a:rPr kumimoji="1" lang="ja-JP" altLang="en-US" dirty="0"/>
              <a:t>などがあり、</a:t>
            </a:r>
            <a:endParaRPr kumimoji="1" lang="en-US" altLang="ja-JP" dirty="0"/>
          </a:p>
          <a:p>
            <a:endParaRPr kumimoji="1" lang="en-US" altLang="ja-JP" dirty="0"/>
          </a:p>
          <a:p>
            <a:r>
              <a:rPr kumimoji="1" lang="ja-JP" altLang="en-US" dirty="0"/>
              <a:t>特に</a:t>
            </a:r>
            <a:r>
              <a:rPr kumimoji="1" lang="en-US" altLang="ja-JP" dirty="0"/>
              <a:t>Adam</a:t>
            </a:r>
            <a:r>
              <a:rPr kumimoji="1" lang="ja-JP" altLang="en-US" dirty="0"/>
              <a:t>は一時金時手法の中では早く高い精度を出すことができるため、よく使われており現在のデフォルトスタンダードな学習アルゴリズムとなっています。</a:t>
            </a:r>
            <a:endParaRPr kumimoji="1" lang="en-US" altLang="ja-JP" dirty="0"/>
          </a:p>
          <a:p>
            <a:endParaRPr kumimoji="1" lang="en-US" altLang="ja-JP" dirty="0"/>
          </a:p>
          <a:p>
            <a:endParaRPr kumimoji="1" lang="en-US" altLang="ja-JP" dirty="0"/>
          </a:p>
          <a:p>
            <a:r>
              <a:rPr kumimoji="1" lang="ja-JP" altLang="en-US" dirty="0"/>
              <a:t>一次近似手法は学習率がスカラーなため計算コストが低いというメリットがありますが、</a:t>
            </a:r>
            <a:endParaRPr kumimoji="1" lang="en-US" altLang="ja-JP" dirty="0"/>
          </a:p>
          <a:p>
            <a:endParaRPr kumimoji="1" lang="en-US" altLang="ja-JP" dirty="0"/>
          </a:p>
          <a:p>
            <a:r>
              <a:rPr kumimoji="1" lang="ja-JP" altLang="en-US" dirty="0"/>
              <a:t>その反面学習の収束が遅いという問題があります</a:t>
            </a:r>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3</a:t>
            </a:fld>
            <a:endParaRPr kumimoji="1" lang="ja-JP" altLang="en-US"/>
          </a:p>
        </p:txBody>
      </p:sp>
    </p:spTree>
    <p:extLst>
      <p:ext uri="{BB962C8B-B14F-4D97-AF65-F5344CB8AC3E}">
        <p14:creationId xmlns:p14="http://schemas.microsoft.com/office/powerpoint/2010/main" val="21790841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一次近似手法とは逆に計算コストが膨大ですが、学習の収束が早い二次近似手法というものがあります</a:t>
            </a:r>
            <a:endParaRPr kumimoji="1" lang="en-US" altLang="ja-JP" dirty="0"/>
          </a:p>
          <a:p>
            <a:endParaRPr kumimoji="1" lang="en-US" altLang="ja-JP" dirty="0"/>
          </a:p>
          <a:p>
            <a:r>
              <a:rPr kumimoji="1" lang="ja-JP" altLang="en-US" dirty="0"/>
              <a:t>二次近似手法は一次近似手法と違いスカラーの学習率だけではなく、誤差関数の曲率情報であるヘッセ行列の情報を使用しているのが特徴です</a:t>
            </a:r>
            <a:endParaRPr kumimoji="1" lang="en-US" altLang="ja-JP" dirty="0"/>
          </a:p>
          <a:p>
            <a:endParaRPr kumimoji="1" lang="en-US" altLang="ja-JP" dirty="0"/>
          </a:p>
          <a:p>
            <a:r>
              <a:rPr kumimoji="1" lang="ja-JP" altLang="en-US" dirty="0"/>
              <a:t>二次近似手法の基となる学習アルゴリズムにニュートン法があります</a:t>
            </a:r>
            <a:endParaRPr kumimoji="1" lang="en-US" altLang="ja-JP"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4</a:t>
            </a:fld>
            <a:endParaRPr kumimoji="1" lang="ja-JP" altLang="en-US"/>
          </a:p>
        </p:txBody>
      </p:sp>
    </p:spTree>
    <p:extLst>
      <p:ext uri="{BB962C8B-B14F-4D97-AF65-F5344CB8AC3E}">
        <p14:creationId xmlns:p14="http://schemas.microsoft.com/office/powerpoint/2010/main" val="28280172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また、ヘッセ行列を直接計算するのではなく</a:t>
            </a:r>
            <a:r>
              <a:rPr kumimoji="1" lang="en-US" altLang="ja-JP" dirty="0"/>
              <a:t>BFGS</a:t>
            </a:r>
            <a:r>
              <a:rPr kumimoji="1" lang="ja-JP" altLang="en-US" dirty="0"/>
              <a:t>公式を用いて計算する準ニュートン法、準ニュートン法に慣性項を追加し学習を高速化した</a:t>
            </a:r>
            <a:r>
              <a:rPr kumimoji="1" lang="en-US" altLang="ja-JP" dirty="0" err="1"/>
              <a:t>NAQ,MoQ</a:t>
            </a:r>
            <a:r>
              <a:rPr kumimoji="1" lang="ja-JP" altLang="en-US" dirty="0"/>
              <a:t>といった超一次近似手法があります</a:t>
            </a:r>
            <a:endParaRPr kumimoji="1" lang="en-US" altLang="ja-JP"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5</a:t>
            </a:fld>
            <a:endParaRPr kumimoji="1" lang="ja-JP" altLang="en-US"/>
          </a:p>
        </p:txBody>
      </p:sp>
    </p:spTree>
    <p:extLst>
      <p:ext uri="{BB962C8B-B14F-4D97-AF65-F5344CB8AC3E}">
        <p14:creationId xmlns:p14="http://schemas.microsoft.com/office/powerpoint/2010/main" val="23041219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二次近似、超一次近似手法では学習に行列を使用していたのですが、ニュートン法をベースにしつつ行列を使わない学習アルゴリズムに、</a:t>
            </a:r>
            <a:r>
              <a:rPr kumimoji="1" lang="en-US" altLang="ja-JP" dirty="0"/>
              <a:t>L-BFGS</a:t>
            </a:r>
            <a:r>
              <a:rPr kumimoji="1" lang="ja-JP" altLang="en-US" dirty="0"/>
              <a:t>などがあります。</a:t>
            </a:r>
            <a:endParaRPr kumimoji="1" lang="en-US" altLang="ja-JP" dirty="0"/>
          </a:p>
          <a:p>
            <a:endParaRPr kumimoji="1" lang="en-US" altLang="ja-JP" dirty="0"/>
          </a:p>
          <a:p>
            <a:r>
              <a:rPr kumimoji="1" lang="ja-JP" altLang="en-US" dirty="0"/>
              <a:t>本研究で提案する学習アルゴリズムも</a:t>
            </a:r>
            <a:r>
              <a:rPr kumimoji="1" lang="en-US" altLang="ja-JP" dirty="0"/>
              <a:t>L-BFGS</a:t>
            </a:r>
            <a:r>
              <a:rPr kumimoji="1" lang="ja-JP" altLang="en-US" dirty="0"/>
              <a:t>などと同じく、ニュートン法に基づくアルゴリズムでありながら行列は使用しないため　この立ち位置にいます</a:t>
            </a:r>
            <a:endParaRPr kumimoji="1" lang="en-US" altLang="ja-JP"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6</a:t>
            </a:fld>
            <a:endParaRPr kumimoji="1" lang="ja-JP" altLang="en-US"/>
          </a:p>
        </p:txBody>
      </p:sp>
    </p:spTree>
    <p:extLst>
      <p:ext uri="{BB962C8B-B14F-4D97-AF65-F5344CB8AC3E}">
        <p14:creationId xmlns:p14="http://schemas.microsoft.com/office/powerpoint/2010/main" val="20222417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本研究ではニュートン法に基づく学習アルゴリズムを提案するのですが、</a:t>
            </a:r>
            <a:endParaRPr kumimoji="1" lang="en-US" altLang="ja-JP" dirty="0"/>
          </a:p>
          <a:p>
            <a:endParaRPr kumimoji="1" lang="en-US" altLang="ja-JP" dirty="0"/>
          </a:p>
          <a:p>
            <a:r>
              <a:rPr kumimoji="1" lang="ja-JP" altLang="en-US" dirty="0"/>
              <a:t>先ほども申し上げた通り、ニュートン法はヘッセ行列を使用します。</a:t>
            </a:r>
            <a:endParaRPr kumimoji="1" lang="en-US" altLang="ja-JP" dirty="0"/>
          </a:p>
          <a:p>
            <a:endParaRPr kumimoji="1" lang="en-US" altLang="ja-JP" dirty="0"/>
          </a:p>
          <a:p>
            <a:r>
              <a:rPr kumimoji="1" lang="ja-JP" altLang="en-US" dirty="0"/>
              <a:t>これによりニュートン法は計算コストが膨大になるという問題を抱えています</a:t>
            </a:r>
            <a:endParaRPr kumimoji="1" lang="en-US" altLang="ja-JP" dirty="0"/>
          </a:p>
          <a:p>
            <a:endParaRPr kumimoji="1" lang="en-US" altLang="ja-JP" dirty="0"/>
          </a:p>
          <a:p>
            <a:r>
              <a:rPr kumimoji="1" lang="ja-JP" altLang="en-US" dirty="0"/>
              <a:t>このヘッセ行列の計算コストが膨大という問題を回避した手法が従来研究されてきました</a:t>
            </a:r>
            <a:endParaRPr kumimoji="1" lang="en-US" altLang="ja-JP"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7</a:t>
            </a:fld>
            <a:endParaRPr kumimoji="1" lang="ja-JP" altLang="en-US"/>
          </a:p>
        </p:txBody>
      </p:sp>
    </p:spTree>
    <p:extLst>
      <p:ext uri="{BB962C8B-B14F-4D97-AF65-F5344CB8AC3E}">
        <p14:creationId xmlns:p14="http://schemas.microsoft.com/office/powerpoint/2010/main" val="34002206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本研究でも従来と同様にヘッセ行列の計算コストを削減することでニュートン法の計算コストが膨大という問題の克服に試みるのですが</a:t>
            </a:r>
            <a:endParaRPr kumimoji="1" lang="en-US" altLang="ja-JP" dirty="0"/>
          </a:p>
          <a:p>
            <a:endParaRPr kumimoji="1" lang="en-US" altLang="ja-JP" dirty="0"/>
          </a:p>
          <a:p>
            <a:r>
              <a:rPr kumimoji="1" lang="ja-JP" altLang="en-US" dirty="0"/>
              <a:t>本研究では</a:t>
            </a:r>
            <a:r>
              <a:rPr kumimoji="1" lang="en-US" altLang="ja-JP" dirty="0"/>
              <a:t>Hutchinson</a:t>
            </a:r>
            <a:r>
              <a:rPr kumimoji="1" lang="ja-JP" altLang="en-US" dirty="0"/>
              <a:t>手法という行列の対角和を近似する手法　に基づく行列を対角行列に近似する手法に着目しました</a:t>
            </a:r>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8</a:t>
            </a:fld>
            <a:endParaRPr kumimoji="1" lang="ja-JP" altLang="en-US"/>
          </a:p>
        </p:txBody>
      </p:sp>
    </p:spTree>
    <p:extLst>
      <p:ext uri="{BB962C8B-B14F-4D97-AF65-F5344CB8AC3E}">
        <p14:creationId xmlns:p14="http://schemas.microsoft.com/office/powerpoint/2010/main" val="36174984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Hutchinson</a:t>
            </a:r>
            <a:r>
              <a:rPr kumimoji="1" lang="ja-JP" altLang="en-US" dirty="0"/>
              <a:t>手法に基づく行列対角化手法を用いてヘッセ行列を対角行列に近似し、</a:t>
            </a:r>
            <a:endParaRPr kumimoji="1" lang="en-US" altLang="ja-JP" dirty="0"/>
          </a:p>
          <a:p>
            <a:endParaRPr kumimoji="1" lang="en-US" altLang="ja-JP" dirty="0"/>
          </a:p>
          <a:p>
            <a:r>
              <a:rPr kumimoji="1" lang="ja-JP" altLang="en-US" dirty="0"/>
              <a:t>ニュートン法のヘッセ行列の計算に膨大なコストが必要という問題を解決した学習アルゴリズムが提案手法である</a:t>
            </a:r>
            <a:endParaRPr kumimoji="1" lang="en-US" altLang="ja-JP" dirty="0"/>
          </a:p>
          <a:p>
            <a:endParaRPr kumimoji="1" lang="en-US" altLang="ja-JP" dirty="0"/>
          </a:p>
          <a:p>
            <a:r>
              <a:rPr kumimoji="1" lang="en-US" altLang="ja-JP" dirty="0"/>
              <a:t>Hutchinson</a:t>
            </a:r>
            <a:r>
              <a:rPr kumimoji="1" lang="ja-JP" altLang="en-US" dirty="0"/>
              <a:t> </a:t>
            </a:r>
            <a:r>
              <a:rPr kumimoji="1" lang="en-US" altLang="ja-JP" dirty="0"/>
              <a:t>diagonalized Newton method, </a:t>
            </a:r>
            <a:r>
              <a:rPr kumimoji="1" lang="en-US" altLang="ja-JP" dirty="0" err="1"/>
              <a:t>HdN</a:t>
            </a:r>
            <a:r>
              <a:rPr kumimoji="1" lang="ja-JP" altLang="en-US" dirty="0"/>
              <a:t>になります</a:t>
            </a:r>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9</a:t>
            </a:fld>
            <a:endParaRPr kumimoji="1" lang="ja-JP" altLang="en-US"/>
          </a:p>
        </p:txBody>
      </p:sp>
    </p:spTree>
    <p:extLst>
      <p:ext uri="{BB962C8B-B14F-4D97-AF65-F5344CB8AC3E}">
        <p14:creationId xmlns:p14="http://schemas.microsoft.com/office/powerpoint/2010/main" val="20181041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提案手法の基になる　ニュートン法の更新式は式</a:t>
            </a:r>
            <a:r>
              <a:rPr kumimoji="1" lang="en-US" altLang="ja-JP" dirty="0"/>
              <a:t>4</a:t>
            </a:r>
            <a:r>
              <a:rPr kumimoji="1" lang="ja-JP" altLang="en-US" dirty="0"/>
              <a:t>のようになっています</a:t>
            </a:r>
            <a:endParaRPr kumimoji="1" lang="en-US" altLang="ja-JP" dirty="0"/>
          </a:p>
          <a:p>
            <a:endParaRPr kumimoji="1" lang="en-US" altLang="ja-JP" dirty="0"/>
          </a:p>
          <a:p>
            <a:r>
              <a:rPr kumimoji="1" lang="ja-JP" altLang="en-US" dirty="0"/>
              <a:t>ここで</a:t>
            </a:r>
            <a:r>
              <a:rPr kumimoji="1" lang="en-US" altLang="ja-JP" dirty="0" err="1"/>
              <a:t>Hk</a:t>
            </a:r>
            <a:r>
              <a:rPr kumimoji="1" lang="ja-JP" altLang="en-US" dirty="0"/>
              <a:t>がヘッセ行列、ｇｋが勾配となっています</a:t>
            </a:r>
            <a:endParaRPr kumimoji="1" lang="en-US" altLang="ja-JP" dirty="0"/>
          </a:p>
          <a:p>
            <a:endParaRPr kumimoji="1" lang="en-US" altLang="ja-JP" dirty="0"/>
          </a:p>
          <a:p>
            <a:endParaRPr kumimoji="1" lang="en-US" altLang="ja-JP" dirty="0"/>
          </a:p>
          <a:p>
            <a:r>
              <a:rPr kumimoji="1" lang="ja-JP" altLang="en-US" dirty="0"/>
              <a:t>このニュートン法は式中にもあるようにヘッセ行列の逆行列を必要とします</a:t>
            </a:r>
            <a:endParaRPr kumimoji="1" lang="en-US" altLang="ja-JP" dirty="0"/>
          </a:p>
          <a:p>
            <a:endParaRPr kumimoji="1" lang="en-US" altLang="ja-JP" dirty="0"/>
          </a:p>
          <a:p>
            <a:r>
              <a:rPr kumimoji="1" lang="ja-JP" altLang="en-US" dirty="0"/>
              <a:t>ヘッセ行列はニューラルネットワークのパラメーター数の二乗だけ要素があり、</a:t>
            </a:r>
            <a:endParaRPr kumimoji="1" lang="en-US" altLang="ja-JP" dirty="0"/>
          </a:p>
          <a:p>
            <a:endParaRPr kumimoji="1" lang="en-US" altLang="ja-JP" dirty="0"/>
          </a:p>
          <a:p>
            <a:r>
              <a:rPr kumimoji="1" lang="ja-JP" altLang="en-US" dirty="0"/>
              <a:t>そもそもこれを計算するのにコストがかかるのに加え</a:t>
            </a:r>
            <a:endParaRPr kumimoji="1" lang="en-US" altLang="ja-JP" dirty="0"/>
          </a:p>
          <a:p>
            <a:endParaRPr kumimoji="1" lang="en-US" altLang="ja-JP" dirty="0"/>
          </a:p>
          <a:p>
            <a:r>
              <a:rPr kumimoji="1" lang="ja-JP" altLang="en-US" dirty="0"/>
              <a:t>更新式ではこのヘッセ行列の逆行列を使用</a:t>
            </a:r>
            <a:r>
              <a:rPr kumimoji="1" lang="ja-JP" altLang="en-US"/>
              <a:t>するため更に</a:t>
            </a:r>
            <a:r>
              <a:rPr kumimoji="1" lang="ja-JP" altLang="en-US" dirty="0"/>
              <a:t>計算コストが膨大となります。</a:t>
            </a:r>
            <a:endParaRPr kumimoji="1" lang="en-US" altLang="ja-JP" dirty="0"/>
          </a:p>
          <a:p>
            <a:endParaRPr kumimoji="1" lang="en-US" altLang="ja-JP" dirty="0"/>
          </a:p>
          <a:p>
            <a:r>
              <a:rPr kumimoji="1" lang="ja-JP" altLang="en-US" dirty="0"/>
              <a:t>これが原因でニュートン法は現実的にが使用されていません</a:t>
            </a:r>
            <a:endParaRPr kumimoji="1" lang="en-US" altLang="ja-JP" dirty="0"/>
          </a:p>
          <a:p>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10</a:t>
            </a:fld>
            <a:endParaRPr kumimoji="1" lang="ja-JP" altLang="en-US"/>
          </a:p>
        </p:txBody>
      </p:sp>
    </p:spTree>
    <p:extLst>
      <p:ext uri="{BB962C8B-B14F-4D97-AF65-F5344CB8AC3E}">
        <p14:creationId xmlns:p14="http://schemas.microsoft.com/office/powerpoint/2010/main" val="229291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本研究ではハッチンソン手法に基づく行列対角化手法を用いてヘッセ行列を対角行列に近似するのですが</a:t>
            </a:r>
            <a:endParaRPr kumimoji="1" lang="en-US" altLang="ja-JP" dirty="0"/>
          </a:p>
          <a:p>
            <a:endParaRPr kumimoji="1" lang="en-US" altLang="ja-JP" dirty="0"/>
          </a:p>
          <a:p>
            <a:r>
              <a:rPr kumimoji="1" lang="ja-JP" altLang="en-US" dirty="0"/>
              <a:t>まずハッチンソン手法について説明します</a:t>
            </a:r>
            <a:endParaRPr kumimoji="1" lang="en-US" altLang="ja-JP" dirty="0"/>
          </a:p>
          <a:p>
            <a:endParaRPr kumimoji="1" lang="en-US" altLang="ja-JP" dirty="0"/>
          </a:p>
          <a:p>
            <a:endParaRPr kumimoji="1" lang="en-US" altLang="ja-JP" dirty="0"/>
          </a:p>
          <a:p>
            <a:r>
              <a:rPr kumimoji="1" lang="en-US" altLang="ja-JP" dirty="0"/>
              <a:t>Hutchinson</a:t>
            </a:r>
            <a:r>
              <a:rPr kumimoji="1" lang="ja-JP" altLang="en-US" dirty="0"/>
              <a:t>手法は行列の対角和を確率的に近似する手法です</a:t>
            </a:r>
            <a:endParaRPr kumimoji="1" lang="en-US" altLang="ja-JP" dirty="0"/>
          </a:p>
          <a:p>
            <a:endParaRPr kumimoji="1" lang="en-US" altLang="ja-JP" dirty="0"/>
          </a:p>
          <a:p>
            <a:r>
              <a:rPr kumimoji="1" lang="ja-JP" altLang="en-US" dirty="0"/>
              <a:t>具体的な式は</a:t>
            </a:r>
            <a:r>
              <a:rPr kumimoji="1" lang="en-US" altLang="ja-JP" dirty="0"/>
              <a:t>5</a:t>
            </a:r>
            <a:r>
              <a:rPr kumimoji="1" lang="ja-JP" altLang="en-US" dirty="0"/>
              <a:t>のようになっていて、ここで</a:t>
            </a:r>
            <a:r>
              <a:rPr kumimoji="1" lang="en-US" altLang="ja-JP" dirty="0"/>
              <a:t>A</a:t>
            </a:r>
            <a:r>
              <a:rPr kumimoji="1" lang="ja-JP" altLang="en-US" dirty="0"/>
              <a:t>ｋが対角和を求めたい行列</a:t>
            </a:r>
            <a:endParaRPr kumimoji="1" lang="en-US" altLang="ja-JP" dirty="0"/>
          </a:p>
          <a:p>
            <a:endParaRPr kumimoji="1" lang="en-US" altLang="ja-JP" dirty="0"/>
          </a:p>
          <a:p>
            <a:r>
              <a:rPr kumimoji="1" lang="en-US" altLang="ja-JP" dirty="0"/>
              <a:t>Z</a:t>
            </a:r>
            <a:r>
              <a:rPr kumimoji="1" lang="ja-JP" altLang="en-US" dirty="0"/>
              <a:t>ｌは</a:t>
            </a:r>
            <a:r>
              <a:rPr kumimoji="1" lang="en-US" altLang="ja-JP" dirty="0"/>
              <a:t>-1</a:t>
            </a:r>
            <a:r>
              <a:rPr kumimoji="1" lang="ja-JP" altLang="en-US" dirty="0"/>
              <a:t>か</a:t>
            </a:r>
            <a:r>
              <a:rPr kumimoji="1" lang="en-US" altLang="ja-JP" dirty="0"/>
              <a:t>1</a:t>
            </a:r>
            <a:r>
              <a:rPr kumimoji="1" lang="ja-JP" altLang="en-US" dirty="0"/>
              <a:t>が一様の分布で存在するランダムに生成されたベクトル</a:t>
            </a:r>
            <a:endParaRPr kumimoji="1" lang="en-US" altLang="ja-JP" dirty="0"/>
          </a:p>
          <a:p>
            <a:endParaRPr kumimoji="1" lang="en-US" altLang="ja-JP" dirty="0"/>
          </a:p>
          <a:p>
            <a:r>
              <a:rPr kumimoji="1" lang="en-US" altLang="ja-JP" dirty="0"/>
              <a:t>S</a:t>
            </a:r>
            <a:r>
              <a:rPr kumimoji="1" lang="ja-JP" altLang="en-US" dirty="0"/>
              <a:t>が近似回数になります</a:t>
            </a:r>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11</a:t>
            </a:fld>
            <a:endParaRPr kumimoji="1" lang="ja-JP" altLang="en-US"/>
          </a:p>
        </p:txBody>
      </p:sp>
    </p:spTree>
    <p:extLst>
      <p:ext uri="{BB962C8B-B14F-4D97-AF65-F5344CB8AC3E}">
        <p14:creationId xmlns:p14="http://schemas.microsoft.com/office/powerpoint/2010/main" val="26455111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この手法ではｚｌ転置　Ａｋ　ｚｌのサンプルを近似回数ｓの数だけ取りその平均を求め対角和の近似としています</a:t>
            </a:r>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12</a:t>
            </a:fld>
            <a:endParaRPr kumimoji="1" lang="ja-JP" altLang="en-US"/>
          </a:p>
        </p:txBody>
      </p:sp>
    </p:spTree>
    <p:extLst>
      <p:ext uri="{BB962C8B-B14F-4D97-AF65-F5344CB8AC3E}">
        <p14:creationId xmlns:p14="http://schemas.microsoft.com/office/powerpoint/2010/main" val="17252251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次に</a:t>
            </a:r>
            <a:r>
              <a:rPr kumimoji="1" lang="en-US" altLang="ja-JP" dirty="0"/>
              <a:t>Hutchinson</a:t>
            </a:r>
            <a:r>
              <a:rPr kumimoji="1" lang="ja-JP" altLang="en-US" dirty="0"/>
              <a:t>手法に基づく行列対角化手法を用いたヘッセ行列の対角化について説明します</a:t>
            </a:r>
            <a:endParaRPr kumimoji="1" lang="en-US" altLang="ja-JP" dirty="0"/>
          </a:p>
          <a:p>
            <a:endParaRPr kumimoji="1" lang="en-US" altLang="ja-JP" dirty="0"/>
          </a:p>
          <a:p>
            <a:r>
              <a:rPr kumimoji="1" lang="en-US" altLang="ja-JP" dirty="0"/>
              <a:t>Hutchinson</a:t>
            </a:r>
            <a:r>
              <a:rPr kumimoji="1" lang="ja-JP" altLang="en-US" dirty="0"/>
              <a:t>手法に基づく行列対角化手法は先ほどの</a:t>
            </a:r>
            <a:r>
              <a:rPr kumimoji="1" lang="en-US" altLang="ja-JP" dirty="0"/>
              <a:t>Hutchinson</a:t>
            </a:r>
            <a:r>
              <a:rPr kumimoji="1" lang="ja-JP" altLang="en-US" dirty="0"/>
              <a:t>手法を応用した手法で、行列を対角行列に近似する確率的手法になっています</a:t>
            </a:r>
            <a:endParaRPr kumimoji="1" lang="en-US" altLang="ja-JP" dirty="0"/>
          </a:p>
          <a:p>
            <a:endParaRPr kumimoji="1" lang="en-US" altLang="ja-JP" sz="1200" spc="-100" dirty="0"/>
          </a:p>
          <a:p>
            <a:r>
              <a:rPr kumimoji="1" lang="ja-JP" altLang="en-US" sz="1200" spc="-100" dirty="0"/>
              <a:t>式は</a:t>
            </a:r>
            <a:r>
              <a:rPr kumimoji="1" lang="en-US" altLang="ja-JP" sz="1200" spc="-100" dirty="0"/>
              <a:t>6</a:t>
            </a:r>
            <a:r>
              <a:rPr kumimoji="1" lang="ja-JP" altLang="en-US" sz="1200" spc="-100" dirty="0"/>
              <a:t>のようになっており、ここで</a:t>
            </a:r>
            <a:r>
              <a:rPr kumimoji="1" lang="en-US" altLang="ja-JP" sz="1200" spc="-100" dirty="0"/>
              <a:t>H</a:t>
            </a:r>
            <a:r>
              <a:rPr kumimoji="1" lang="ja-JP" altLang="en-US" sz="1200" spc="-100" dirty="0"/>
              <a:t>ｋが対角行列にしたいヘッセ行列行列で、</a:t>
            </a:r>
            <a:r>
              <a:rPr kumimoji="1" lang="en-US" altLang="ja-JP" sz="1200" spc="-100" dirty="0"/>
              <a:t>z</a:t>
            </a:r>
            <a:r>
              <a:rPr kumimoji="1" lang="ja-JP" altLang="en-US" sz="1200" spc="-100" dirty="0"/>
              <a:t>ｌが−１と１が一様の分布で存在するランダムに生成されたベクトル、</a:t>
            </a:r>
            <a:r>
              <a:rPr kumimoji="1" lang="en-US" altLang="ja-JP" sz="1200" spc="-100" dirty="0"/>
              <a:t>s</a:t>
            </a:r>
            <a:r>
              <a:rPr kumimoji="1" lang="ja-JP" altLang="en-US" sz="1200" spc="-100" dirty="0"/>
              <a:t>が近似回数となります</a:t>
            </a:r>
            <a:endParaRPr kumimoji="1" lang="en-US" altLang="ja-JP" sz="1200" spc="-100" dirty="0"/>
          </a:p>
          <a:p>
            <a:endParaRPr kumimoji="1" lang="en-US" altLang="ja-JP" sz="1200" spc="-100" dirty="0"/>
          </a:p>
          <a:p>
            <a:endParaRPr kumimoji="1" lang="en-US" altLang="ja-JP" sz="1200" spc="-100"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13</a:t>
            </a:fld>
            <a:endParaRPr kumimoji="1" lang="ja-JP" altLang="en-US"/>
          </a:p>
        </p:txBody>
      </p:sp>
    </p:spTree>
    <p:extLst>
      <p:ext uri="{BB962C8B-B14F-4D97-AF65-F5344CB8AC3E}">
        <p14:creationId xmlns:p14="http://schemas.microsoft.com/office/powerpoint/2010/main" val="31098001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spc="-100" dirty="0"/>
              <a:t>この手法では</a:t>
            </a:r>
            <a:r>
              <a:rPr kumimoji="1" lang="en-US" altLang="ja-JP" sz="1200" spc="-100" dirty="0" err="1"/>
              <a:t>Hk</a:t>
            </a:r>
            <a:r>
              <a:rPr kumimoji="1" lang="ja-JP" altLang="en-US" sz="1200" spc="-100" dirty="0"/>
              <a:t> </a:t>
            </a:r>
            <a:r>
              <a:rPr kumimoji="1" lang="en-US" altLang="ja-JP" sz="1200" spc="-100" dirty="0"/>
              <a:t>z</a:t>
            </a:r>
            <a:r>
              <a:rPr kumimoji="1" lang="ja-JP" altLang="en-US" sz="1200" spc="-100" dirty="0"/>
              <a:t>ｌと</a:t>
            </a:r>
            <a:r>
              <a:rPr kumimoji="1" lang="en-US" altLang="ja-JP" sz="1200" spc="-100" dirty="0"/>
              <a:t>z</a:t>
            </a:r>
            <a:r>
              <a:rPr kumimoji="1" lang="ja-JP" altLang="en-US" sz="1200" spc="-100" dirty="0"/>
              <a:t>ｌのアダマール積のサンプルを近似回数ｓの数だけ取得し、その平均を取って対角行列としています</a:t>
            </a:r>
            <a:endParaRPr kumimoji="1" lang="en-US" altLang="ja-JP" sz="1200" spc="-100"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14</a:t>
            </a:fld>
            <a:endParaRPr kumimoji="1" lang="ja-JP" altLang="en-US"/>
          </a:p>
        </p:txBody>
      </p:sp>
    </p:spTree>
    <p:extLst>
      <p:ext uri="{BB962C8B-B14F-4D97-AF65-F5344CB8AC3E}">
        <p14:creationId xmlns:p14="http://schemas.microsoft.com/office/powerpoint/2010/main" val="25714321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sz="1200" spc="-100" dirty="0"/>
              <a:t>Hutchinson</a:t>
            </a:r>
            <a:r>
              <a:rPr kumimoji="1" lang="ja-JP" altLang="en-US" sz="1200" spc="-100" dirty="0"/>
              <a:t>手法に基づく行列対角化を用いたヘッセ行列の対角化の式が</a:t>
            </a:r>
            <a:r>
              <a:rPr kumimoji="1" lang="en-US" altLang="ja-JP" sz="1200" spc="-100" dirty="0"/>
              <a:t>6</a:t>
            </a:r>
            <a:r>
              <a:rPr kumimoji="1" lang="ja-JP" altLang="en-US" sz="1200" spc="-100" dirty="0"/>
              <a:t>となりますが、</a:t>
            </a:r>
            <a:endParaRPr kumimoji="1" lang="en-US" altLang="ja-JP" sz="1200" spc="-100" dirty="0"/>
          </a:p>
          <a:p>
            <a:endParaRPr kumimoji="1" lang="en-US" altLang="ja-JP" sz="1200" spc="-100" dirty="0"/>
          </a:p>
          <a:p>
            <a:r>
              <a:rPr kumimoji="1" lang="ja-JP" altLang="en-US" sz="1200" spc="-100" dirty="0"/>
              <a:t>この式中には赤文字部分のヘッセ行列があるのがわかると思います</a:t>
            </a:r>
            <a:endParaRPr kumimoji="1" lang="en-US" altLang="ja-JP" sz="1200" spc="-100" dirty="0"/>
          </a:p>
          <a:p>
            <a:endParaRPr kumimoji="1" lang="en-US" altLang="ja-JP" sz="1200" spc="-100" dirty="0"/>
          </a:p>
          <a:p>
            <a:r>
              <a:rPr kumimoji="1" lang="ja-JP" altLang="en-US" sz="1200" spc="-100" dirty="0"/>
              <a:t>この手法はあくまですでにある行列を対角行列にするための手法であり、対角行列にする元の行列を必要とします</a:t>
            </a:r>
            <a:endParaRPr kumimoji="1" lang="en-US" altLang="ja-JP" sz="1200" spc="-100" dirty="0"/>
          </a:p>
          <a:p>
            <a:endParaRPr kumimoji="1" lang="en-US" altLang="ja-JP" sz="1200" spc="-100" dirty="0"/>
          </a:p>
          <a:p>
            <a:r>
              <a:rPr kumimoji="1" lang="ja-JP" altLang="en-US" sz="1200" spc="-100" dirty="0"/>
              <a:t>これではヘッセ行列を求める必要があり、ニュートン法の問題点であるヘッセ行列そのものを求める計算コストが膨大という問題を解決できていません</a:t>
            </a:r>
            <a:endParaRPr kumimoji="1" lang="en-US" altLang="ja-JP" sz="1200" spc="-100"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15</a:t>
            </a:fld>
            <a:endParaRPr kumimoji="1" lang="ja-JP" altLang="en-US"/>
          </a:p>
        </p:txBody>
      </p:sp>
    </p:spTree>
    <p:extLst>
      <p:ext uri="{BB962C8B-B14F-4D97-AF65-F5344CB8AC3E}">
        <p14:creationId xmlns:p14="http://schemas.microsoft.com/office/powerpoint/2010/main" val="16889338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そこで次のように考えることでヘッセ行列の計算と、ヘッセ行列とランダムベクトルの積、青枠部分の計算を、勾配ベクトルｇｋとランダムベクトルｚｌの内積を重みｗで微分したものに置き換えます</a:t>
            </a:r>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16</a:t>
            </a:fld>
            <a:endParaRPr kumimoji="1" lang="ja-JP" altLang="en-US"/>
          </a:p>
        </p:txBody>
      </p:sp>
    </p:spTree>
    <p:extLst>
      <p:ext uri="{BB962C8B-B14F-4D97-AF65-F5344CB8AC3E}">
        <p14:creationId xmlns:p14="http://schemas.microsoft.com/office/powerpoint/2010/main" val="8332846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ここで式</a:t>
            </a:r>
            <a:r>
              <a:rPr kumimoji="1" lang="en-US" altLang="ja-JP" dirty="0"/>
              <a:t>7</a:t>
            </a:r>
            <a:r>
              <a:rPr kumimoji="1" lang="ja-JP" altLang="en-US" dirty="0"/>
              <a:t>の等式は積の微分公式により左辺が右辺に分解されるので成り立ちます</a:t>
            </a:r>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17</a:t>
            </a:fld>
            <a:endParaRPr kumimoji="1" lang="ja-JP" altLang="en-US"/>
          </a:p>
        </p:txBody>
      </p:sp>
    </p:spTree>
    <p:extLst>
      <p:ext uri="{BB962C8B-B14F-4D97-AF65-F5344CB8AC3E}">
        <p14:creationId xmlns:p14="http://schemas.microsoft.com/office/powerpoint/2010/main" val="4528916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次にこの等式は、赤枠部分である、ｚベクトルを重みｗで微分している部分が</a:t>
            </a:r>
            <a:endParaRPr kumimoji="1" lang="en-US" altLang="ja-JP" dirty="0"/>
          </a:p>
          <a:p>
            <a:endParaRPr kumimoji="1" lang="en-US" altLang="ja-JP" dirty="0"/>
          </a:p>
          <a:p>
            <a:r>
              <a:rPr kumimoji="1" lang="ja-JP" altLang="en-US" dirty="0"/>
              <a:t>ｚベクトルが重みｗとは独立したランダムに生成されたベクトルのため</a:t>
            </a:r>
            <a:r>
              <a:rPr kumimoji="1" lang="en-US" altLang="ja-JP" dirty="0"/>
              <a:t>0</a:t>
            </a:r>
            <a:r>
              <a:rPr kumimoji="1" lang="ja-JP" altLang="en-US" dirty="0"/>
              <a:t>になり、この項が無くなるため成立します</a:t>
            </a:r>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18</a:t>
            </a:fld>
            <a:endParaRPr kumimoji="1" lang="ja-JP" altLang="en-US"/>
          </a:p>
        </p:txBody>
      </p:sp>
    </p:spTree>
    <p:extLst>
      <p:ext uri="{BB962C8B-B14F-4D97-AF65-F5344CB8AC3E}">
        <p14:creationId xmlns:p14="http://schemas.microsoft.com/office/powerpoint/2010/main" val="5415589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最後にこの等式は勾配ベクトルであるｇｋを重みｗで微分していて、これはヘッセ行列となるため成り立ちます</a:t>
            </a:r>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19</a:t>
            </a:fld>
            <a:endParaRPr kumimoji="1" lang="ja-JP" altLang="en-US"/>
          </a:p>
        </p:txBody>
      </p:sp>
    </p:spTree>
    <p:extLst>
      <p:ext uri="{BB962C8B-B14F-4D97-AF65-F5344CB8AC3E}">
        <p14:creationId xmlns:p14="http://schemas.microsoft.com/office/powerpoint/2010/main" val="8594837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以上のように考えることでヘッセ行列の計算と、ヘッセ行列とランダムベクトルの積、青枠部分の計算を、勾配ベクトルｇｋとランダムベクトルｚｌの内積を重みｗで微分したものに置き換えました</a:t>
            </a:r>
            <a:endParaRPr kumimoji="1" lang="en-US" altLang="ja-JP"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20</a:t>
            </a:fld>
            <a:endParaRPr kumimoji="1" lang="ja-JP" altLang="en-US"/>
          </a:p>
        </p:txBody>
      </p:sp>
    </p:spTree>
    <p:extLst>
      <p:ext uri="{BB962C8B-B14F-4D97-AF65-F5344CB8AC3E}">
        <p14:creationId xmlns:p14="http://schemas.microsoft.com/office/powerpoint/2010/main" val="31953931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先の置き換えも考慮した、ハッチンソン手法に基づく行列対角化を用いたヘッセ行列の対角化は</a:t>
            </a:r>
            <a:endParaRPr kumimoji="1" lang="en-US" altLang="ja-JP" dirty="0"/>
          </a:p>
          <a:p>
            <a:endParaRPr kumimoji="1" lang="en-US" altLang="ja-JP" dirty="0"/>
          </a:p>
          <a:p>
            <a:r>
              <a:rPr kumimoji="1" lang="ja-JP" altLang="en-US" dirty="0"/>
              <a:t>式</a:t>
            </a:r>
            <a:r>
              <a:rPr kumimoji="1" lang="en-US" altLang="ja-JP" dirty="0"/>
              <a:t>12</a:t>
            </a:r>
            <a:r>
              <a:rPr kumimoji="1" lang="ja-JP" altLang="en-US" dirty="0"/>
              <a:t>から行えます</a:t>
            </a:r>
            <a:endParaRPr kumimoji="1" lang="en-US" altLang="ja-JP" dirty="0"/>
          </a:p>
          <a:p>
            <a:endParaRPr kumimoji="1" lang="en-US" altLang="ja-JP" dirty="0"/>
          </a:p>
          <a:p>
            <a:r>
              <a:rPr kumimoji="1" lang="ja-JP" altLang="en-US" dirty="0"/>
              <a:t>これによりパラメータ数の二乗だけ要素があるヘッセ行列を、パラメータの数と同様のベクトルに置き換えることができるため計算効率を向上できます</a:t>
            </a:r>
            <a:endParaRPr kumimoji="1" lang="en-US" altLang="ja-JP"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21</a:t>
            </a:fld>
            <a:endParaRPr kumimoji="1" lang="ja-JP" altLang="en-US"/>
          </a:p>
        </p:txBody>
      </p:sp>
    </p:spTree>
    <p:extLst>
      <p:ext uri="{BB962C8B-B14F-4D97-AF65-F5344CB8AC3E}">
        <p14:creationId xmlns:p14="http://schemas.microsoft.com/office/powerpoint/2010/main" val="24797438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提案手法</a:t>
            </a:r>
            <a:r>
              <a:rPr lang="en-US" altLang="ja-JP" sz="1200" dirty="0"/>
              <a:t>Hutchinson diagonalized Newton method</a:t>
            </a:r>
            <a:r>
              <a:rPr kumimoji="1" lang="ja-JP" altLang="en-US" dirty="0"/>
              <a:t>はニュートン法に基づく学習アルゴリズムで、</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ニュートン法のヘッセ行列を</a:t>
            </a:r>
            <a:r>
              <a:rPr kumimoji="1" lang="en-US" altLang="ja-JP" dirty="0"/>
              <a:t>Hutchinson</a:t>
            </a:r>
            <a:r>
              <a:rPr kumimoji="1" lang="ja-JP" altLang="en-US" dirty="0"/>
              <a:t>手法に基づく行列対角化手法に基づき対角行列に近似します</a:t>
            </a:r>
            <a:endParaRPr kumimoji="1" lang="en-US" altLang="ja-JP" dirty="0"/>
          </a:p>
          <a:p>
            <a:endParaRPr kumimoji="1" lang="en-US" altLang="ja-JP" dirty="0"/>
          </a:p>
          <a:p>
            <a:r>
              <a:rPr kumimoji="1" lang="en-US" altLang="ja-JP" dirty="0" err="1"/>
              <a:t>HdN</a:t>
            </a:r>
            <a:r>
              <a:rPr kumimoji="1" lang="ja-JP" altLang="en-US" dirty="0"/>
              <a:t>の更新式はこのようになっています</a:t>
            </a:r>
            <a:endParaRPr kumimoji="1" lang="en-US" altLang="ja-JP" dirty="0"/>
          </a:p>
          <a:p>
            <a:endParaRPr kumimoji="1" lang="en-US" altLang="ja-JP" dirty="0"/>
          </a:p>
          <a:p>
            <a:r>
              <a:rPr kumimoji="1" lang="en-US" altLang="ja-JP" dirty="0" err="1"/>
              <a:t>HdN</a:t>
            </a:r>
            <a:r>
              <a:rPr kumimoji="1" lang="ja-JP" altLang="en-US" dirty="0"/>
              <a:t>ではニュートン法の問題点であった、ヘッセ行列の計算に膨大なコストがかかる問題を</a:t>
            </a:r>
            <a:endParaRPr kumimoji="1" lang="en-US" altLang="ja-JP" dirty="0"/>
          </a:p>
          <a:p>
            <a:endParaRPr kumimoji="1" lang="en-US" altLang="ja-JP" dirty="0"/>
          </a:p>
          <a:p>
            <a:r>
              <a:rPr kumimoji="1" lang="ja-JP" altLang="en-US" dirty="0"/>
              <a:t>ヘッセ行列を対角行列に近似することで克服しています</a:t>
            </a:r>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22</a:t>
            </a:fld>
            <a:endParaRPr kumimoji="1" lang="ja-JP" altLang="en-US"/>
          </a:p>
        </p:txBody>
      </p:sp>
    </p:spTree>
    <p:extLst>
      <p:ext uri="{BB962C8B-B14F-4D97-AF65-F5344CB8AC3E}">
        <p14:creationId xmlns:p14="http://schemas.microsoft.com/office/powerpoint/2010/main" val="3646136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こちらが提案手法のアルゴリズムになります</a:t>
            </a:r>
            <a:endParaRPr kumimoji="1" lang="en-US" altLang="ja-JP" dirty="0"/>
          </a:p>
          <a:p>
            <a:endParaRPr kumimoji="1" lang="en-US" altLang="ja-JP" dirty="0"/>
          </a:p>
          <a:p>
            <a:r>
              <a:rPr kumimoji="1" lang="ja-JP" altLang="en-US" dirty="0"/>
              <a:t>左側が学習のメインループとなり、学習の反復回数ｋだけ　手順Ａ，Ｂ，Ｃを繰り返します</a:t>
            </a:r>
            <a:endParaRPr kumimoji="1" lang="en-US" altLang="ja-JP" dirty="0"/>
          </a:p>
          <a:p>
            <a:endParaRPr kumimoji="1" lang="en-US" altLang="ja-JP" dirty="0"/>
          </a:p>
          <a:p>
            <a:r>
              <a:rPr kumimoji="1" lang="ja-JP" altLang="en-US" dirty="0"/>
              <a:t>手順Ａでは誤差関数の勾配を求め、手順Ｂではアルゴリズム</a:t>
            </a:r>
            <a:r>
              <a:rPr kumimoji="1" lang="en-US" altLang="ja-JP" dirty="0"/>
              <a:t>2</a:t>
            </a:r>
            <a:r>
              <a:rPr kumimoji="1" lang="ja-JP" altLang="en-US" dirty="0"/>
              <a:t>に則り対角ヘッセ行列を近似し、</a:t>
            </a:r>
            <a:endParaRPr kumimoji="1" lang="en-US" altLang="ja-JP" dirty="0"/>
          </a:p>
          <a:p>
            <a:endParaRPr kumimoji="1" lang="en-US" altLang="ja-JP" dirty="0"/>
          </a:p>
          <a:p>
            <a:r>
              <a:rPr kumimoji="1" lang="ja-JP" altLang="en-US" dirty="0"/>
              <a:t>手順Ｃで勾配、対角ヘッセ行列を用いてパラメータを更新します</a:t>
            </a:r>
            <a:endParaRPr kumimoji="1" lang="en-US" altLang="ja-JP" dirty="0"/>
          </a:p>
          <a:p>
            <a:endParaRPr kumimoji="1" lang="en-US" altLang="ja-JP" dirty="0"/>
          </a:p>
          <a:p>
            <a:endParaRPr kumimoji="1" lang="en-US" altLang="ja-JP" dirty="0"/>
          </a:p>
          <a:p>
            <a:r>
              <a:rPr kumimoji="1" lang="ja-JP" altLang="en-US" dirty="0"/>
              <a:t>右側のアルゴリズムが対角ヘッセ行列を近似するアルゴリズムで</a:t>
            </a:r>
            <a:endParaRPr kumimoji="1" lang="en-US" altLang="ja-JP" dirty="0"/>
          </a:p>
          <a:p>
            <a:endParaRPr kumimoji="1" lang="en-US" altLang="ja-JP" dirty="0"/>
          </a:p>
          <a:p>
            <a:r>
              <a:rPr kumimoji="1" lang="ja-JP" altLang="en-US" dirty="0"/>
              <a:t>近似回数ｓだけ、手順Ａ，Ｂ，</a:t>
            </a:r>
            <a:r>
              <a:rPr kumimoji="1" lang="en-US" altLang="ja-JP" dirty="0"/>
              <a:t>C</a:t>
            </a:r>
            <a:r>
              <a:rPr kumimoji="1" lang="ja-JP" altLang="en-US" dirty="0"/>
              <a:t>を繰り返します</a:t>
            </a:r>
            <a:endParaRPr kumimoji="1" lang="en-US" altLang="ja-JP" dirty="0"/>
          </a:p>
          <a:p>
            <a:endParaRPr kumimoji="1" lang="en-US" altLang="ja-JP" dirty="0"/>
          </a:p>
          <a:p>
            <a:r>
              <a:rPr kumimoji="1" lang="ja-JP" altLang="en-US" dirty="0"/>
              <a:t>手順Ａでは</a:t>
            </a:r>
            <a:r>
              <a:rPr kumimoji="1" lang="en-US" altLang="ja-JP" dirty="0"/>
              <a:t>-1</a:t>
            </a:r>
            <a:r>
              <a:rPr kumimoji="1" lang="ja-JP" altLang="en-US" dirty="0"/>
              <a:t>と</a:t>
            </a:r>
            <a:r>
              <a:rPr kumimoji="1" lang="en-US" altLang="ja-JP" dirty="0"/>
              <a:t>1</a:t>
            </a:r>
            <a:r>
              <a:rPr kumimoji="1" lang="ja-JP" altLang="en-US" dirty="0"/>
              <a:t>でできたランダムなベクトルを生成し</a:t>
            </a:r>
            <a:endParaRPr kumimoji="1" lang="en-US" altLang="ja-JP" dirty="0"/>
          </a:p>
          <a:p>
            <a:endParaRPr kumimoji="1" lang="en-US" altLang="ja-JP" dirty="0"/>
          </a:p>
          <a:p>
            <a:r>
              <a:rPr kumimoji="1" lang="ja-JP" altLang="en-US" dirty="0"/>
              <a:t>手順Ｂでランダムベクトルと勾配の内積を重みｗで微分したものと、ランダムベクトルのアダマール積を計算</a:t>
            </a:r>
            <a:endParaRPr kumimoji="1" lang="en-US" altLang="ja-JP" dirty="0"/>
          </a:p>
          <a:p>
            <a:endParaRPr kumimoji="1" lang="en-US" altLang="ja-JP" dirty="0"/>
          </a:p>
          <a:p>
            <a:r>
              <a:rPr kumimoji="1" lang="ja-JP" altLang="en-US" dirty="0"/>
              <a:t>手順Ｃでｚベクトルにランダムベクトルとランダムベクトルのアダマール積を足し</a:t>
            </a:r>
            <a:endParaRPr kumimoji="1" lang="en-US" altLang="ja-JP" dirty="0"/>
          </a:p>
          <a:p>
            <a:endParaRPr kumimoji="1" lang="en-US" altLang="ja-JP" dirty="0"/>
          </a:p>
          <a:p>
            <a:r>
              <a:rPr kumimoji="1" lang="ja-JP" altLang="en-US" dirty="0"/>
              <a:t>最終的にｈベクトルをｚベクトルでアダマール除算したものを返します</a:t>
            </a:r>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23</a:t>
            </a:fld>
            <a:endParaRPr kumimoji="1" lang="ja-JP" altLang="en-US"/>
          </a:p>
        </p:txBody>
      </p:sp>
    </p:spTree>
    <p:extLst>
      <p:ext uri="{BB962C8B-B14F-4D97-AF65-F5344CB8AC3E}">
        <p14:creationId xmlns:p14="http://schemas.microsoft.com/office/powerpoint/2010/main" val="24889293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本研究では提案手法を</a:t>
            </a:r>
            <a:r>
              <a:rPr kumimoji="1" lang="en-US" altLang="ja-JP" dirty="0"/>
              <a:t>TensorFlow</a:t>
            </a:r>
            <a:r>
              <a:rPr kumimoji="1" lang="ja-JP" altLang="en-US" dirty="0"/>
              <a:t>というニューラルネットワーク系のライブラリに実装し</a:t>
            </a:r>
            <a:endParaRPr kumimoji="1" lang="en-US" altLang="ja-JP" dirty="0"/>
          </a:p>
          <a:p>
            <a:endParaRPr kumimoji="1" lang="en-US" altLang="ja-JP" dirty="0"/>
          </a:p>
          <a:p>
            <a:r>
              <a:rPr kumimoji="1" lang="en-US" altLang="ja-JP" dirty="0"/>
              <a:t>Iris</a:t>
            </a:r>
            <a:r>
              <a:rPr kumimoji="1" lang="ja-JP" altLang="en-US" dirty="0"/>
              <a:t>データ、</a:t>
            </a:r>
            <a:r>
              <a:rPr kumimoji="1" lang="en-US" altLang="ja-JP" dirty="0"/>
              <a:t>MNIST</a:t>
            </a:r>
            <a:r>
              <a:rPr kumimoji="1" lang="ja-JP" altLang="en-US" dirty="0"/>
              <a:t>を使用していくつか実験を行いました</a:t>
            </a:r>
            <a:endParaRPr kumimoji="1" lang="en-US" altLang="ja-JP"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24</a:t>
            </a:fld>
            <a:endParaRPr kumimoji="1" lang="ja-JP" altLang="en-US"/>
          </a:p>
        </p:txBody>
      </p:sp>
    </p:spTree>
    <p:extLst>
      <p:ext uri="{BB962C8B-B14F-4D97-AF65-F5344CB8AC3E}">
        <p14:creationId xmlns:p14="http://schemas.microsoft.com/office/powerpoint/2010/main" val="14632031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実験</a:t>
            </a:r>
            <a:r>
              <a:rPr kumimoji="1" lang="en-US" altLang="ja-JP" dirty="0"/>
              <a:t>1</a:t>
            </a:r>
            <a:r>
              <a:rPr kumimoji="1" lang="ja-JP" altLang="en-US" dirty="0"/>
              <a:t>では</a:t>
            </a:r>
            <a:r>
              <a:rPr kumimoji="1" lang="en-US" altLang="ja-JP" dirty="0"/>
              <a:t>Iris</a:t>
            </a:r>
            <a:r>
              <a:rPr kumimoji="1" lang="ja-JP" altLang="en-US" dirty="0"/>
              <a:t>データを使用して実験を行います</a:t>
            </a:r>
            <a:endParaRPr kumimoji="1" lang="en-US" altLang="ja-JP" dirty="0"/>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Iris</a:t>
            </a:r>
            <a:r>
              <a:rPr kumimoji="1" lang="ja-JP" altLang="en-US" dirty="0"/>
              <a:t>データは、セトサ、バージ二カ、バージカラーの三種のアヤメの　花弁とガクの幅と長さの四次元の特徴量で構成されたデータセットで、</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サンプル総数が</a:t>
            </a:r>
            <a:r>
              <a:rPr kumimoji="1" lang="en-US" altLang="ja-JP" dirty="0"/>
              <a:t>150</a:t>
            </a:r>
            <a:r>
              <a:rPr kumimoji="1" lang="ja-JP" altLang="en-US" dirty="0"/>
              <a:t>で、本実験では学習用データが</a:t>
            </a:r>
            <a:r>
              <a:rPr kumimoji="1" lang="en-US" altLang="ja-JP" dirty="0"/>
              <a:t>120</a:t>
            </a:r>
            <a:r>
              <a:rPr kumimoji="1" lang="ja-JP" altLang="en-US" dirty="0"/>
              <a:t>、検証用データが</a:t>
            </a:r>
            <a:r>
              <a:rPr kumimoji="1" lang="en-US" altLang="ja-JP" dirty="0"/>
              <a:t>30</a:t>
            </a:r>
            <a:r>
              <a:rPr kumimoji="1" lang="ja-JP" altLang="en-US" dirty="0"/>
              <a:t>個としました</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またすべての実験においてニューラルネットワークの構造をスライド右下にあるように入力</a:t>
            </a:r>
            <a:r>
              <a:rPr kumimoji="1" lang="en-US" altLang="ja-JP" dirty="0"/>
              <a:t>4</a:t>
            </a:r>
            <a:r>
              <a:rPr kumimoji="1" lang="ja-JP" altLang="en-US" dirty="0"/>
              <a:t>　中間層</a:t>
            </a:r>
            <a:r>
              <a:rPr kumimoji="1" lang="en-US" altLang="ja-JP" dirty="0"/>
              <a:t>10</a:t>
            </a:r>
            <a:r>
              <a:rPr kumimoji="1" lang="ja-JP" altLang="en-US" dirty="0"/>
              <a:t>　出力層</a:t>
            </a:r>
            <a:r>
              <a:rPr kumimoji="1" lang="en-US" altLang="ja-JP" dirty="0"/>
              <a:t>3</a:t>
            </a:r>
            <a:r>
              <a:rPr kumimoji="1" lang="ja-JP" altLang="en-US" dirty="0"/>
              <a:t>　としました</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r>
              <a:rPr kumimoji="1" lang="ja-JP" altLang="en-US" dirty="0"/>
              <a:t>この</a:t>
            </a:r>
            <a:r>
              <a:rPr kumimoji="1" lang="en-US" altLang="ja-JP" dirty="0"/>
              <a:t>Iris</a:t>
            </a:r>
            <a:r>
              <a:rPr kumimoji="1" lang="ja-JP" altLang="en-US" dirty="0"/>
              <a:t>データを使用した実験として</a:t>
            </a:r>
            <a:endParaRPr kumimoji="1" lang="en-US" altLang="ja-JP" dirty="0"/>
          </a:p>
          <a:p>
            <a:endParaRPr kumimoji="1" lang="en-US" altLang="ja-JP" dirty="0"/>
          </a:p>
          <a:p>
            <a:r>
              <a:rPr kumimoji="1" lang="ja-JP" altLang="en-US" dirty="0"/>
              <a:t>提案手法の</a:t>
            </a:r>
            <a:r>
              <a:rPr kumimoji="1" lang="en-US" altLang="ja-JP" dirty="0"/>
              <a:t>Hutchinson</a:t>
            </a:r>
            <a:r>
              <a:rPr kumimoji="1" lang="ja-JP" altLang="en-US" dirty="0"/>
              <a:t>近似の近似の</a:t>
            </a:r>
            <a:r>
              <a:rPr kumimoji="1" lang="ja-JP" altLang="en-US"/>
              <a:t>回数をいくつかの値に変え比較</a:t>
            </a:r>
            <a:r>
              <a:rPr kumimoji="1" lang="ja-JP" altLang="en-US" dirty="0"/>
              <a:t>し最適値を探索する実験</a:t>
            </a:r>
            <a:endParaRPr kumimoji="1" lang="en-US" altLang="ja-JP" dirty="0"/>
          </a:p>
          <a:p>
            <a:endParaRPr kumimoji="1" lang="en-US" altLang="ja-JP" dirty="0"/>
          </a:p>
          <a:p>
            <a:r>
              <a:rPr kumimoji="1" lang="ja-JP" altLang="en-US" dirty="0"/>
              <a:t>提案手法の</a:t>
            </a:r>
            <a:r>
              <a:rPr kumimoji="1" lang="ja-JP" altLang="en-US"/>
              <a:t>学習率をいくつかの値に変え比較</a:t>
            </a:r>
            <a:r>
              <a:rPr kumimoji="1" lang="ja-JP" altLang="en-US" dirty="0"/>
              <a:t>して最適値を探索する実験</a:t>
            </a:r>
            <a:endParaRPr kumimoji="1" lang="en-US" altLang="ja-JP" dirty="0"/>
          </a:p>
          <a:p>
            <a:endParaRPr kumimoji="1" lang="en-US" altLang="ja-JP" dirty="0"/>
          </a:p>
          <a:p>
            <a:r>
              <a:rPr kumimoji="1" lang="en-US" altLang="ja-JP" dirty="0"/>
              <a:t>2</a:t>
            </a:r>
            <a:r>
              <a:rPr kumimoji="1" lang="ja-JP" altLang="en-US" dirty="0"/>
              <a:t>つの実験をもとに従来手法と提案手法で同じ問題を学習した結果を比較する実験を行います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25</a:t>
            </a:fld>
            <a:endParaRPr kumimoji="1" lang="ja-JP" altLang="en-US"/>
          </a:p>
        </p:txBody>
      </p:sp>
    </p:spTree>
    <p:extLst>
      <p:ext uri="{BB962C8B-B14F-4D97-AF65-F5344CB8AC3E}">
        <p14:creationId xmlns:p14="http://schemas.microsoft.com/office/powerpoint/2010/main" val="14832012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この実験では</a:t>
            </a:r>
            <a:r>
              <a:rPr kumimoji="1" lang="en-US" altLang="ja-JP" dirty="0"/>
              <a:t>Iris</a:t>
            </a:r>
            <a:r>
              <a:rPr kumimoji="1" lang="ja-JP" altLang="en-US" dirty="0"/>
              <a:t>データの分類問題を　提案手法のハイパーパラメータである</a:t>
            </a:r>
            <a:r>
              <a:rPr lang="en-US" altLang="ja-JP" sz="1200" dirty="0">
                <a:latin typeface="UD デジタル 教科書体 NK-R" panose="02020400000000000000" pitchFamily="18" charset="-128"/>
                <a:ea typeface="UD デジタル 教科書体 NK-R" panose="02020400000000000000" pitchFamily="18" charset="-128"/>
              </a:rPr>
              <a:t>Hutchinson</a:t>
            </a:r>
            <a:r>
              <a:rPr lang="ja-JP" altLang="en-US" sz="1200" dirty="0">
                <a:latin typeface="UD デジタル 教科書体 NK-R" panose="02020400000000000000" pitchFamily="18" charset="-128"/>
                <a:ea typeface="UD デジタル 教科書体 NK-R" panose="02020400000000000000" pitchFamily="18" charset="-128"/>
              </a:rPr>
              <a:t>近似</a:t>
            </a:r>
            <a:r>
              <a:rPr kumimoji="1" lang="ja-JP" altLang="en-US" dirty="0"/>
              <a:t>の近似回数をいくつかのパターンで学習させ、その結果を比較します</a:t>
            </a:r>
            <a:endParaRPr kumimoji="1" lang="en-US" altLang="ja-JP" dirty="0"/>
          </a:p>
          <a:p>
            <a:endParaRPr kumimoji="1" lang="en-US" altLang="ja-JP" dirty="0"/>
          </a:p>
          <a:p>
            <a:r>
              <a:rPr kumimoji="1" lang="ja-JP" altLang="en-US" dirty="0"/>
              <a:t>この近似回数は、学習全体の計算効率に大きく影響するため、重要なパラメータとなっています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r>
              <a:rPr kumimoji="1" lang="ja-JP" altLang="en-US" dirty="0"/>
              <a:t>学習反復回数エポックは１００、バッチサイズが３２、提案手法の学習率を</a:t>
            </a:r>
            <a:r>
              <a:rPr kumimoji="1" lang="en-US" altLang="ja-JP" dirty="0"/>
              <a:t>0.05</a:t>
            </a:r>
            <a:r>
              <a:rPr kumimoji="1" lang="ja-JP" altLang="en-US" dirty="0"/>
              <a:t>に固定し</a:t>
            </a:r>
            <a:endParaRPr kumimoji="1" lang="en-US" altLang="ja-JP" dirty="0"/>
          </a:p>
          <a:p>
            <a:endParaRPr kumimoji="1" lang="en-US" altLang="ja-JP" dirty="0"/>
          </a:p>
          <a:p>
            <a:r>
              <a:rPr kumimoji="1" lang="ja-JP" altLang="en-US" dirty="0"/>
              <a:t>比較するステップ数を</a:t>
            </a:r>
            <a:r>
              <a:rPr kumimoji="1" lang="en-US" altLang="ja-JP" dirty="0"/>
              <a:t>1</a:t>
            </a:r>
            <a:r>
              <a:rPr kumimoji="1" lang="ja-JP" altLang="en-US" dirty="0"/>
              <a:t>、</a:t>
            </a:r>
            <a:r>
              <a:rPr kumimoji="1" lang="en-US" altLang="ja-JP" dirty="0"/>
              <a:t>3</a:t>
            </a:r>
            <a:r>
              <a:rPr kumimoji="1" lang="ja-JP" altLang="en-US" dirty="0"/>
              <a:t>，</a:t>
            </a:r>
            <a:r>
              <a:rPr kumimoji="1" lang="en-US" altLang="ja-JP" dirty="0"/>
              <a:t>5</a:t>
            </a:r>
            <a:r>
              <a:rPr kumimoji="1" lang="ja-JP" altLang="en-US" dirty="0"/>
              <a:t>，</a:t>
            </a:r>
            <a:r>
              <a:rPr kumimoji="1" lang="en-US" altLang="ja-JP" dirty="0"/>
              <a:t>10</a:t>
            </a:r>
            <a:r>
              <a:rPr kumimoji="1" lang="ja-JP" altLang="en-US" dirty="0"/>
              <a:t>としました</a:t>
            </a:r>
            <a:endParaRPr kumimoji="1" lang="en-US" altLang="ja-JP"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26</a:t>
            </a:fld>
            <a:endParaRPr kumimoji="1" lang="ja-JP" altLang="en-US"/>
          </a:p>
        </p:txBody>
      </p:sp>
    </p:spTree>
    <p:extLst>
      <p:ext uri="{BB962C8B-B14F-4D97-AF65-F5344CB8AC3E}">
        <p14:creationId xmlns:p14="http://schemas.microsoft.com/office/powerpoint/2010/main" val="5857085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こちらが実験結果となります</a:t>
            </a:r>
            <a:endParaRPr kumimoji="1" lang="en-US" altLang="ja-JP" dirty="0"/>
          </a:p>
          <a:p>
            <a:endParaRPr kumimoji="1" lang="en-US" altLang="ja-JP" dirty="0"/>
          </a:p>
          <a:p>
            <a:r>
              <a:rPr kumimoji="1" lang="ja-JP" altLang="en-US" dirty="0"/>
              <a:t>左側のグラフが損失関数ののグラフになっており、縦軸が損失関数でＬｏｇスケールになっており、横軸が学習反復回数</a:t>
            </a:r>
            <a:r>
              <a:rPr kumimoji="1" lang="en-US" altLang="ja-JP" dirty="0" err="1"/>
              <a:t>Epoc</a:t>
            </a:r>
            <a:r>
              <a:rPr kumimoji="1" lang="ja-JP" altLang="en-US" dirty="0"/>
              <a:t>ｈになります</a:t>
            </a:r>
            <a:endParaRPr kumimoji="1" lang="en-US" altLang="ja-JP" dirty="0"/>
          </a:p>
          <a:p>
            <a:endParaRPr kumimoji="1" lang="en-US" altLang="ja-JP" dirty="0"/>
          </a:p>
          <a:p>
            <a:r>
              <a:rPr kumimoji="1" lang="ja-JP" altLang="en-US" dirty="0"/>
              <a:t>右側のグラフが検証用データに対する正答率のグラフになっており、縦軸が正答率、横軸が学習反復回数</a:t>
            </a:r>
            <a:r>
              <a:rPr kumimoji="1" lang="en-US" altLang="ja-JP" dirty="0"/>
              <a:t>Epoch</a:t>
            </a:r>
            <a:r>
              <a:rPr kumimoji="1" lang="ja-JP" altLang="en-US" dirty="0"/>
              <a:t>になります</a:t>
            </a:r>
            <a:endParaRPr kumimoji="1" lang="en-US" altLang="ja-JP" dirty="0"/>
          </a:p>
          <a:p>
            <a:endParaRPr kumimoji="1" lang="en-US" altLang="ja-JP" dirty="0"/>
          </a:p>
          <a:p>
            <a:r>
              <a:rPr kumimoji="1" lang="ja-JP" altLang="en-US" dirty="0"/>
              <a:t>両方のグラフで青線が近似回数１、オレンジ線が近似回数３、緑線が近似回数５、赤線が近似回数１０となっています</a:t>
            </a:r>
            <a:endParaRPr kumimoji="1" lang="en-US" altLang="ja-JP" dirty="0"/>
          </a:p>
          <a:p>
            <a:endParaRPr kumimoji="1" lang="en-US" altLang="ja-JP" dirty="0"/>
          </a:p>
          <a:p>
            <a:r>
              <a:rPr kumimoji="1" lang="en-US" altLang="ja-JP" dirty="0"/>
              <a:t>Hutchinson</a:t>
            </a:r>
            <a:r>
              <a:rPr kumimoji="1" lang="ja-JP" altLang="en-US" dirty="0"/>
              <a:t>手法に基づく行列対角化手法を用いたヘッセ行列の対角行列化は確率的手法なので近似回数の個数が増えれば増えるほど近似の信頼性が向上します</a:t>
            </a:r>
            <a:endParaRPr kumimoji="1" lang="en-US" altLang="ja-JP" dirty="0"/>
          </a:p>
          <a:p>
            <a:endParaRPr kumimoji="1" lang="en-US" altLang="ja-JP" dirty="0"/>
          </a:p>
          <a:p>
            <a:r>
              <a:rPr kumimoji="1" lang="ja-JP" altLang="en-US" dirty="0"/>
              <a:t>左側の損失関数のグラフをみると、近似回数</a:t>
            </a:r>
            <a:r>
              <a:rPr kumimoji="1" lang="en-US" altLang="ja-JP" dirty="0"/>
              <a:t>1</a:t>
            </a:r>
            <a:r>
              <a:rPr kumimoji="1" lang="ja-JP" altLang="en-US" dirty="0"/>
              <a:t>の場合だけヘッセ行列の近似に失敗し損失関数が大きくなってしまっているのがわかります</a:t>
            </a:r>
            <a:endParaRPr kumimoji="1" lang="en-US" altLang="ja-JP" dirty="0"/>
          </a:p>
          <a:p>
            <a:endParaRPr kumimoji="1" lang="en-US" altLang="ja-JP" dirty="0"/>
          </a:p>
          <a:p>
            <a:r>
              <a:rPr kumimoji="1" lang="ja-JP" altLang="en-US" dirty="0"/>
              <a:t>右側の検証用データの正答率を見ると、近似回数</a:t>
            </a:r>
            <a:r>
              <a:rPr kumimoji="1" lang="en-US" altLang="ja-JP" dirty="0"/>
              <a:t>3</a:t>
            </a:r>
            <a:r>
              <a:rPr kumimoji="1" lang="ja-JP" altLang="en-US" dirty="0"/>
              <a:t>，</a:t>
            </a:r>
            <a:r>
              <a:rPr kumimoji="1" lang="en-US" altLang="ja-JP" dirty="0"/>
              <a:t>5</a:t>
            </a:r>
            <a:r>
              <a:rPr kumimoji="1" lang="ja-JP" altLang="en-US" dirty="0"/>
              <a:t>，</a:t>
            </a:r>
            <a:r>
              <a:rPr kumimoji="1" lang="en-US" altLang="ja-JP" dirty="0"/>
              <a:t>10</a:t>
            </a:r>
            <a:r>
              <a:rPr kumimoji="1" lang="ja-JP" altLang="en-US" dirty="0"/>
              <a:t>では正答率の上がり具合や、最終的な正答率に大きく差が無いことがわかります</a:t>
            </a:r>
            <a:endParaRPr kumimoji="1" lang="en-US" altLang="ja-JP" dirty="0"/>
          </a:p>
          <a:p>
            <a:endParaRPr kumimoji="1" lang="en-US" altLang="ja-JP" dirty="0"/>
          </a:p>
          <a:p>
            <a:r>
              <a:rPr kumimoji="1" lang="ja-JP" altLang="en-US" dirty="0"/>
              <a:t>このことから以降の実験では近似回数を</a:t>
            </a:r>
            <a:r>
              <a:rPr kumimoji="1" lang="en-US" altLang="ja-JP" dirty="0"/>
              <a:t>3</a:t>
            </a:r>
            <a:r>
              <a:rPr kumimoji="1" lang="ja-JP" altLang="en-US" dirty="0"/>
              <a:t>に固定して実験します</a:t>
            </a:r>
            <a:endParaRPr kumimoji="1" lang="en-US" altLang="ja-JP"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27</a:t>
            </a:fld>
            <a:endParaRPr kumimoji="1" lang="ja-JP" altLang="en-US"/>
          </a:p>
        </p:txBody>
      </p:sp>
    </p:spTree>
    <p:extLst>
      <p:ext uri="{BB962C8B-B14F-4D97-AF65-F5344CB8AC3E}">
        <p14:creationId xmlns:p14="http://schemas.microsoft.com/office/powerpoint/2010/main" val="29231445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次に同様の</a:t>
            </a:r>
            <a:r>
              <a:rPr kumimoji="1" lang="ja-JP" altLang="en-US"/>
              <a:t>問題を　</a:t>
            </a:r>
            <a:r>
              <a:rPr kumimoji="1" lang="ja-JP" altLang="en-US" dirty="0"/>
              <a:t>提案手法のハイパーパラメータである学習率をいくつかのパターンで学習させ、その結果を比較します</a:t>
            </a:r>
            <a:endParaRPr kumimoji="1" lang="en-US" altLang="ja-JP" dirty="0"/>
          </a:p>
          <a:p>
            <a:endParaRPr kumimoji="1" lang="en-US" altLang="ja-JP" dirty="0"/>
          </a:p>
          <a:p>
            <a:r>
              <a:rPr kumimoji="1" lang="ja-JP" altLang="en-US" dirty="0"/>
              <a:t>学習率は学習の速度や精度の影響を与えるパラメータとなっています</a:t>
            </a:r>
            <a:endParaRPr kumimoji="1" lang="en-US" altLang="ja-JP" dirty="0"/>
          </a:p>
          <a:p>
            <a:endParaRPr kumimoji="1" lang="en-US" altLang="ja-JP" dirty="0"/>
          </a:p>
          <a:p>
            <a:r>
              <a:rPr kumimoji="1" lang="ja-JP" altLang="en-US" dirty="0"/>
              <a:t>学習反復回数　バッチサイズは先の実験と同様、</a:t>
            </a:r>
            <a:r>
              <a:rPr lang="en-US" altLang="ja-JP" sz="1200" dirty="0">
                <a:latin typeface="UD デジタル 教科書体 NK-R" panose="02020400000000000000" pitchFamily="18" charset="-128"/>
                <a:ea typeface="UD デジタル 教科書体 NK-R" panose="02020400000000000000" pitchFamily="18" charset="-128"/>
              </a:rPr>
              <a:t>Hutchinson</a:t>
            </a:r>
            <a:r>
              <a:rPr lang="ja-JP" altLang="en-US" sz="1200" dirty="0">
                <a:latin typeface="UD デジタル 教科書体 NK-R" panose="02020400000000000000" pitchFamily="18" charset="-128"/>
                <a:ea typeface="UD デジタル 教科書体 NK-R" panose="02020400000000000000" pitchFamily="18" charset="-128"/>
              </a:rPr>
              <a:t>近似の近似回数</a:t>
            </a:r>
            <a:r>
              <a:rPr kumimoji="1" lang="ja-JP" altLang="en-US" dirty="0"/>
              <a:t>を３に固定し</a:t>
            </a:r>
            <a:endParaRPr kumimoji="1" lang="en-US" altLang="ja-JP" dirty="0"/>
          </a:p>
          <a:p>
            <a:endParaRPr kumimoji="1" lang="en-US" altLang="ja-JP" dirty="0"/>
          </a:p>
          <a:p>
            <a:r>
              <a:rPr kumimoji="1" lang="ja-JP" altLang="en-US" dirty="0"/>
              <a:t>学習率を</a:t>
            </a:r>
            <a:r>
              <a:rPr lang="en-US" altLang="ja-JP" sz="1200" spc="-100" dirty="0">
                <a:latin typeface="UD デジタル 教科書体 NK-R" panose="02020400000000000000" pitchFamily="18" charset="-128"/>
                <a:ea typeface="UD デジタル 教科書体 NK-R" panose="02020400000000000000" pitchFamily="18" charset="-128"/>
              </a:rPr>
              <a:t>0.5, 0.1, 0.05, 0.01</a:t>
            </a:r>
            <a:r>
              <a:rPr lang="ja-JP" altLang="en-US" sz="1200" spc="-100" dirty="0">
                <a:latin typeface="UD デジタル 教科書体 NK-R" panose="02020400000000000000" pitchFamily="18" charset="-128"/>
                <a:ea typeface="UD デジタル 教科書体 NK-R" panose="02020400000000000000" pitchFamily="18" charset="-128"/>
              </a:rPr>
              <a:t>に変更します</a:t>
            </a:r>
            <a:endParaRPr kumimoji="1" lang="en-US" altLang="ja-JP"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28</a:t>
            </a:fld>
            <a:endParaRPr kumimoji="1" lang="ja-JP" altLang="en-US"/>
          </a:p>
        </p:txBody>
      </p:sp>
    </p:spTree>
    <p:extLst>
      <p:ext uri="{BB962C8B-B14F-4D97-AF65-F5344CB8AC3E}">
        <p14:creationId xmlns:p14="http://schemas.microsoft.com/office/powerpoint/2010/main" val="20826250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こちらが実験結果となります</a:t>
            </a:r>
            <a:endParaRPr kumimoji="1" lang="en-US" altLang="ja-JP" dirty="0"/>
          </a:p>
          <a:p>
            <a:endParaRPr kumimoji="1" lang="en-US" altLang="ja-JP" dirty="0"/>
          </a:p>
          <a:p>
            <a:r>
              <a:rPr kumimoji="1" lang="ja-JP" altLang="en-US" dirty="0"/>
              <a:t>先ほどの実験同様左側のグラフが損失関数の下がり具合、右側のグラフが検証用データの正答率のグラフとなっています</a:t>
            </a:r>
            <a:endParaRPr kumimoji="1" lang="en-US" altLang="ja-JP" dirty="0"/>
          </a:p>
          <a:p>
            <a:endParaRPr kumimoji="1" lang="en-US" altLang="ja-JP" dirty="0"/>
          </a:p>
          <a:p>
            <a:r>
              <a:rPr kumimoji="1" lang="ja-JP" altLang="en-US" dirty="0"/>
              <a:t>また、両方のグラフで青線が</a:t>
            </a:r>
            <a:r>
              <a:rPr kumimoji="1" lang="en-US" altLang="ja-JP" dirty="0"/>
              <a:t>0.5</a:t>
            </a:r>
            <a:r>
              <a:rPr kumimoji="1" lang="ja-JP" altLang="en-US" dirty="0"/>
              <a:t>　オレンジ線が</a:t>
            </a:r>
            <a:r>
              <a:rPr kumimoji="1" lang="en-US" altLang="ja-JP" dirty="0"/>
              <a:t>0.1</a:t>
            </a:r>
            <a:r>
              <a:rPr kumimoji="1" lang="ja-JP" altLang="en-US" dirty="0"/>
              <a:t>　緑線が</a:t>
            </a:r>
            <a:r>
              <a:rPr kumimoji="1" lang="en-US" altLang="ja-JP" dirty="0"/>
              <a:t>0.05</a:t>
            </a:r>
            <a:r>
              <a:rPr kumimoji="1" lang="ja-JP" altLang="en-US" dirty="0"/>
              <a:t>　赤線が</a:t>
            </a:r>
            <a:r>
              <a:rPr kumimoji="1" lang="en-US" altLang="ja-JP" dirty="0"/>
              <a:t>0.01</a:t>
            </a:r>
            <a:r>
              <a:rPr kumimoji="1" lang="ja-JP" altLang="en-US" dirty="0"/>
              <a:t>となっています</a:t>
            </a:r>
            <a:endParaRPr kumimoji="1" lang="en-US" altLang="ja-JP" dirty="0"/>
          </a:p>
          <a:p>
            <a:endParaRPr kumimoji="1" lang="en-US" altLang="ja-JP" dirty="0"/>
          </a:p>
          <a:p>
            <a:r>
              <a:rPr kumimoji="1" lang="ja-JP" altLang="en-US" dirty="0"/>
              <a:t>左側のグラフをみると、学習率が</a:t>
            </a:r>
            <a:r>
              <a:rPr kumimoji="1" lang="en-US" altLang="ja-JP" dirty="0"/>
              <a:t>0.1</a:t>
            </a:r>
            <a:r>
              <a:rPr kumimoji="1" lang="ja-JP" altLang="en-US" dirty="0"/>
              <a:t>　</a:t>
            </a:r>
            <a:r>
              <a:rPr kumimoji="1" lang="en-US" altLang="ja-JP" dirty="0"/>
              <a:t>0.05</a:t>
            </a:r>
            <a:r>
              <a:rPr kumimoji="1" lang="ja-JP" altLang="en-US" dirty="0"/>
              <a:t>　</a:t>
            </a:r>
            <a:r>
              <a:rPr kumimoji="1" lang="en-US" altLang="ja-JP" dirty="0"/>
              <a:t>0.01</a:t>
            </a:r>
            <a:r>
              <a:rPr kumimoji="1" lang="ja-JP" altLang="en-US" dirty="0"/>
              <a:t>の場合は学習ができているのに対し、</a:t>
            </a:r>
            <a:r>
              <a:rPr kumimoji="1" lang="en-US" altLang="ja-JP" dirty="0"/>
              <a:t>0.5</a:t>
            </a:r>
            <a:r>
              <a:rPr kumimoji="1" lang="ja-JP" altLang="en-US" dirty="0"/>
              <a:t>の場合は発散してしまっているの</a:t>
            </a:r>
            <a:r>
              <a:rPr kumimoji="1" lang="ja-JP" altLang="en-US"/>
              <a:t>がわかります</a:t>
            </a:r>
            <a:endParaRPr kumimoji="1" lang="en-US" altLang="ja-JP" dirty="0"/>
          </a:p>
          <a:p>
            <a:endParaRPr kumimoji="1" lang="en-US" altLang="ja-JP" dirty="0"/>
          </a:p>
          <a:p>
            <a:r>
              <a:rPr kumimoji="1" lang="ja-JP" altLang="en-US" dirty="0"/>
              <a:t>右側の検証用データに対する正答率をみると学習率が</a:t>
            </a:r>
            <a:r>
              <a:rPr kumimoji="1" lang="en-US" altLang="ja-JP" dirty="0"/>
              <a:t>0.1</a:t>
            </a:r>
            <a:r>
              <a:rPr kumimoji="1" lang="ja-JP" altLang="en-US" dirty="0"/>
              <a:t>　</a:t>
            </a:r>
            <a:r>
              <a:rPr kumimoji="1" lang="en-US" altLang="ja-JP" dirty="0"/>
              <a:t>0.05</a:t>
            </a:r>
            <a:r>
              <a:rPr kumimoji="1" lang="ja-JP" altLang="en-US" dirty="0"/>
              <a:t>の場合の正答率の最終的な正答率に多く差がありませんが</a:t>
            </a:r>
            <a:endParaRPr kumimoji="1" lang="en-US" altLang="ja-JP" dirty="0"/>
          </a:p>
          <a:p>
            <a:endParaRPr kumimoji="1" lang="en-US" altLang="ja-JP" dirty="0"/>
          </a:p>
          <a:p>
            <a:r>
              <a:rPr kumimoji="1" lang="ja-JP" altLang="en-US" dirty="0"/>
              <a:t>損失関数の最終的な数値が学習率が</a:t>
            </a:r>
            <a:r>
              <a:rPr kumimoji="1" lang="en-US" altLang="ja-JP" dirty="0"/>
              <a:t>0.1</a:t>
            </a:r>
            <a:r>
              <a:rPr kumimoji="1" lang="ja-JP" altLang="en-US" dirty="0"/>
              <a:t>の場合が一番良い結果となったため、以降の実験では学習率を</a:t>
            </a:r>
            <a:r>
              <a:rPr kumimoji="1" lang="en-US" altLang="ja-JP" dirty="0"/>
              <a:t>0.1</a:t>
            </a:r>
            <a:r>
              <a:rPr kumimoji="1" lang="ja-JP" altLang="en-US" dirty="0"/>
              <a:t>に固定します</a:t>
            </a:r>
            <a:endParaRPr kumimoji="1" lang="en-US" altLang="ja-JP"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29</a:t>
            </a:fld>
            <a:endParaRPr kumimoji="1" lang="ja-JP" altLang="en-US"/>
          </a:p>
        </p:txBody>
      </p:sp>
    </p:spTree>
    <p:extLst>
      <p:ext uri="{BB962C8B-B14F-4D97-AF65-F5344CB8AC3E}">
        <p14:creationId xmlns:p14="http://schemas.microsoft.com/office/powerpoint/2010/main" val="104127629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次に提案手法の有効性を確認するために　従来手法である</a:t>
            </a:r>
            <a:r>
              <a:rPr kumimoji="1" lang="en-US" altLang="ja-JP" dirty="0"/>
              <a:t>SGD</a:t>
            </a:r>
            <a:r>
              <a:rPr kumimoji="1" lang="ja-JP" altLang="en-US" dirty="0"/>
              <a:t>　</a:t>
            </a:r>
            <a:r>
              <a:rPr kumimoji="1" lang="en-US" altLang="ja-JP" dirty="0"/>
              <a:t>Adam</a:t>
            </a:r>
            <a:r>
              <a:rPr kumimoji="1" lang="ja-JP" altLang="en-US" dirty="0"/>
              <a:t>と提案手法で</a:t>
            </a:r>
            <a:r>
              <a:rPr kumimoji="1" lang="en-US" altLang="ja-JP" dirty="0"/>
              <a:t>Iris</a:t>
            </a:r>
            <a:r>
              <a:rPr kumimoji="1" lang="ja-JP" altLang="en-US" dirty="0"/>
              <a:t>データを学習させその結果を比較します</a:t>
            </a:r>
            <a:endParaRPr kumimoji="1" lang="en-US" altLang="ja-JP" dirty="0"/>
          </a:p>
          <a:p>
            <a:endParaRPr kumimoji="1" lang="en-US" altLang="ja-JP" dirty="0"/>
          </a:p>
          <a:p>
            <a:r>
              <a:rPr kumimoji="1" lang="ja-JP" altLang="en-US" dirty="0"/>
              <a:t>実験条件として学習反復回数　バッチサイズは先の実験と同様</a:t>
            </a:r>
            <a:endParaRPr kumimoji="1" lang="en-US" altLang="ja-JP" dirty="0"/>
          </a:p>
          <a:p>
            <a:endParaRPr kumimoji="1" lang="en-US" altLang="ja-JP" dirty="0"/>
          </a:p>
          <a:p>
            <a:r>
              <a:rPr kumimoji="1" lang="ja-JP" altLang="en-US" dirty="0"/>
              <a:t>これまでの実験結果から提案手法の学習率を</a:t>
            </a:r>
            <a:r>
              <a:rPr kumimoji="1" lang="en-US" altLang="ja-JP" dirty="0"/>
              <a:t>0.1Hutchinson</a:t>
            </a:r>
            <a:r>
              <a:rPr kumimoji="1" lang="ja-JP" altLang="en-US" dirty="0"/>
              <a:t>近似の近似回数を</a:t>
            </a:r>
            <a:r>
              <a:rPr kumimoji="1" lang="en-US" altLang="ja-JP" dirty="0"/>
              <a:t>3</a:t>
            </a:r>
            <a:r>
              <a:rPr kumimoji="1" lang="ja-JP" altLang="en-US" dirty="0"/>
              <a:t>とし</a:t>
            </a:r>
            <a:endParaRPr kumimoji="1" lang="en-US" altLang="ja-JP" dirty="0"/>
          </a:p>
          <a:p>
            <a:endParaRPr kumimoji="1" lang="en-US" altLang="ja-JP" dirty="0"/>
          </a:p>
          <a:p>
            <a:r>
              <a:rPr kumimoji="1" lang="ja-JP" altLang="en-US" dirty="0"/>
              <a:t>比較対象である</a:t>
            </a:r>
            <a:r>
              <a:rPr kumimoji="1" lang="en-US" altLang="ja-JP" dirty="0"/>
              <a:t>Adam</a:t>
            </a:r>
            <a:r>
              <a:rPr kumimoji="1" lang="ja-JP" altLang="en-US" dirty="0"/>
              <a:t>の学習率を</a:t>
            </a:r>
            <a:r>
              <a:rPr kumimoji="1" lang="en-US" altLang="ja-JP" dirty="0"/>
              <a:t>0.001</a:t>
            </a:r>
            <a:r>
              <a:rPr kumimoji="1" lang="ja-JP" altLang="en-US" dirty="0"/>
              <a:t>、　ＳＧＤの学習率を</a:t>
            </a:r>
            <a:r>
              <a:rPr kumimoji="1" lang="en-US" altLang="ja-JP" dirty="0"/>
              <a:t>0.01</a:t>
            </a:r>
            <a:r>
              <a:rPr kumimoji="1" lang="ja-JP" altLang="en-US" dirty="0"/>
              <a:t>としました</a:t>
            </a:r>
            <a:endParaRPr kumimoji="1" lang="en-US" altLang="ja-JP"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30</a:t>
            </a:fld>
            <a:endParaRPr kumimoji="1" lang="ja-JP" altLang="en-US"/>
          </a:p>
        </p:txBody>
      </p:sp>
    </p:spTree>
    <p:extLst>
      <p:ext uri="{BB962C8B-B14F-4D97-AF65-F5344CB8AC3E}">
        <p14:creationId xmlns:p14="http://schemas.microsoft.com/office/powerpoint/2010/main" val="191476718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こちらが実験結果となります</a:t>
            </a:r>
            <a:endParaRPr kumimoji="1" lang="en-US" altLang="ja-JP" dirty="0"/>
          </a:p>
          <a:p>
            <a:endParaRPr kumimoji="1" lang="en-US" altLang="ja-JP" dirty="0"/>
          </a:p>
          <a:p>
            <a:r>
              <a:rPr kumimoji="1" lang="ja-JP" altLang="en-US" dirty="0"/>
              <a:t>左側が誤差関数の下がり具合、右側が検証用データの正答の上がり具合、両方のグラフで緑線が提案手法、オレンジ線がＡｄａｍ、青線がＳＧＤとなります</a:t>
            </a:r>
            <a:endParaRPr kumimoji="1" lang="en-US" altLang="ja-JP" dirty="0"/>
          </a:p>
          <a:p>
            <a:endParaRPr kumimoji="1" lang="en-US" altLang="ja-JP" dirty="0"/>
          </a:p>
          <a:p>
            <a:r>
              <a:rPr kumimoji="1" lang="ja-JP" altLang="en-US" dirty="0"/>
              <a:t>左のグラフを見ると提案手法の誤差関数が他の手法と比べ大幅に下がっており、また右のグラフを</a:t>
            </a:r>
            <a:r>
              <a:rPr kumimoji="1" lang="ja-JP" altLang="en-US"/>
              <a:t>見ると提案手法の検証用データに対する正答率が　学習</a:t>
            </a:r>
            <a:r>
              <a:rPr kumimoji="1" lang="ja-JP" altLang="en-US" dirty="0"/>
              <a:t>反復回数が少ない</a:t>
            </a:r>
            <a:r>
              <a:rPr kumimoji="1" lang="ja-JP" altLang="en-US"/>
              <a:t>段階から他</a:t>
            </a:r>
            <a:r>
              <a:rPr kumimoji="1" lang="ja-JP" altLang="en-US" dirty="0"/>
              <a:t>の手法が至れないくらい高い数値となっているのがわかります</a:t>
            </a:r>
            <a:endParaRPr kumimoji="1" lang="en-US" altLang="ja-JP" dirty="0"/>
          </a:p>
          <a:p>
            <a:endParaRPr kumimoji="1" lang="en-US" altLang="ja-JP" dirty="0"/>
          </a:p>
          <a:p>
            <a:r>
              <a:rPr kumimoji="1" lang="ja-JP" altLang="en-US" dirty="0"/>
              <a:t>これは提案手法が対角行列に近似されたものとはいえ、誤差関数の曲率情報であるヘッセ行列を用いてるため、</a:t>
            </a:r>
            <a:endParaRPr kumimoji="1" lang="en-US" altLang="ja-JP" dirty="0"/>
          </a:p>
          <a:p>
            <a:endParaRPr kumimoji="1" lang="en-US" altLang="ja-JP" dirty="0"/>
          </a:p>
          <a:p>
            <a:r>
              <a:rPr kumimoji="1" lang="ja-JP" altLang="en-US" dirty="0"/>
              <a:t>二次近似手法の早い収束という特性を持っているからだと考えられます。</a:t>
            </a:r>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31</a:t>
            </a:fld>
            <a:endParaRPr kumimoji="1" lang="ja-JP" altLang="en-US"/>
          </a:p>
        </p:txBody>
      </p:sp>
    </p:spTree>
    <p:extLst>
      <p:ext uri="{BB962C8B-B14F-4D97-AF65-F5344CB8AC3E}">
        <p14:creationId xmlns:p14="http://schemas.microsoft.com/office/powerpoint/2010/main" val="19941100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実験</a:t>
            </a:r>
            <a:r>
              <a:rPr kumimoji="1" lang="en-US" altLang="ja-JP" dirty="0"/>
              <a:t>2</a:t>
            </a:r>
            <a:r>
              <a:rPr kumimoji="1" lang="ja-JP" altLang="en-US" dirty="0"/>
              <a:t>では手書き数字文字</a:t>
            </a:r>
            <a:r>
              <a:rPr kumimoji="1" lang="en-US" altLang="ja-JP" dirty="0"/>
              <a:t>MNIST</a:t>
            </a:r>
            <a:r>
              <a:rPr kumimoji="1" lang="ja-JP" altLang="en-US" dirty="0"/>
              <a:t>を使用していくつか実験を行います</a:t>
            </a:r>
            <a:endParaRPr kumimoji="1" lang="en-US" altLang="ja-JP" dirty="0"/>
          </a:p>
          <a:p>
            <a:endParaRPr kumimoji="1" lang="en-US" altLang="ja-JP" dirty="0"/>
          </a:p>
          <a:p>
            <a:r>
              <a:rPr kumimoji="1" lang="en-US" altLang="ja-JP" dirty="0"/>
              <a:t>MNIST</a:t>
            </a:r>
            <a:r>
              <a:rPr kumimoji="1" lang="ja-JP" altLang="en-US" dirty="0"/>
              <a:t>は縦横</a:t>
            </a:r>
            <a:r>
              <a:rPr kumimoji="1" lang="en-US" altLang="ja-JP" dirty="0"/>
              <a:t>28</a:t>
            </a:r>
            <a:r>
              <a:rPr kumimoji="1" lang="ja-JP" altLang="en-US" dirty="0"/>
              <a:t>ピクセルでできた</a:t>
            </a:r>
            <a:r>
              <a:rPr kumimoji="1" lang="en-US" altLang="ja-JP" dirty="0"/>
              <a:t>0</a:t>
            </a:r>
            <a:r>
              <a:rPr kumimoji="1" lang="ja-JP" altLang="en-US" dirty="0"/>
              <a:t>から</a:t>
            </a:r>
            <a:r>
              <a:rPr kumimoji="1" lang="en-US" altLang="ja-JP" dirty="0"/>
              <a:t>9</a:t>
            </a:r>
            <a:r>
              <a:rPr kumimoji="1" lang="ja-JP" altLang="en-US" dirty="0"/>
              <a:t>までの</a:t>
            </a:r>
            <a:r>
              <a:rPr kumimoji="1" lang="en-US" altLang="ja-JP" dirty="0"/>
              <a:t>10</a:t>
            </a:r>
            <a:r>
              <a:rPr kumimoji="1" lang="ja-JP" altLang="en-US" dirty="0"/>
              <a:t>種類の数字が描かれた画像でできたデータセットです</a:t>
            </a:r>
            <a:endParaRPr kumimoji="1" lang="en-US" altLang="ja-JP" dirty="0"/>
          </a:p>
          <a:p>
            <a:endParaRPr kumimoji="1" lang="en-US" altLang="ja-JP" dirty="0"/>
          </a:p>
          <a:p>
            <a:r>
              <a:rPr kumimoji="1" lang="ja-JP" altLang="en-US" dirty="0"/>
              <a:t>サンプル総数が</a:t>
            </a:r>
            <a:r>
              <a:rPr kumimoji="1" lang="en-US" altLang="ja-JP" dirty="0"/>
              <a:t>70000</a:t>
            </a:r>
            <a:r>
              <a:rPr kumimoji="1" lang="ja-JP" altLang="en-US" dirty="0"/>
              <a:t>枚、本実験では学習用データが</a:t>
            </a:r>
            <a:r>
              <a:rPr kumimoji="1" lang="en-US" altLang="ja-JP" dirty="0"/>
              <a:t>60000</a:t>
            </a:r>
            <a:r>
              <a:rPr kumimoji="1" lang="ja-JP" altLang="en-US" dirty="0"/>
              <a:t>、検証用データが</a:t>
            </a:r>
            <a:r>
              <a:rPr kumimoji="1" lang="en-US" altLang="ja-JP" dirty="0"/>
              <a:t>10000</a:t>
            </a:r>
            <a:r>
              <a:rPr kumimoji="1" lang="ja-JP" altLang="en-US" dirty="0"/>
              <a:t>個になります</a:t>
            </a:r>
            <a:endParaRPr kumimoji="1" lang="en-US" altLang="ja-JP" dirty="0"/>
          </a:p>
          <a:p>
            <a:endParaRPr kumimoji="1" lang="en-US" altLang="ja-JP" dirty="0"/>
          </a:p>
          <a:p>
            <a:r>
              <a:rPr kumimoji="1" lang="ja-JP" altLang="en-US" dirty="0"/>
              <a:t>またすべての実験で統一してスライド左下にある入力</a:t>
            </a:r>
            <a:r>
              <a:rPr kumimoji="1" lang="en-US" altLang="ja-JP" dirty="0"/>
              <a:t>784</a:t>
            </a:r>
            <a:r>
              <a:rPr kumimoji="1" lang="ja-JP" altLang="en-US" dirty="0"/>
              <a:t>　中間層</a:t>
            </a:r>
            <a:r>
              <a:rPr kumimoji="1" lang="en-US" altLang="ja-JP" dirty="0"/>
              <a:t>10</a:t>
            </a:r>
            <a:r>
              <a:rPr kumimoji="1" lang="ja-JP" altLang="en-US" dirty="0"/>
              <a:t>　出力層</a:t>
            </a:r>
            <a:r>
              <a:rPr kumimoji="1" lang="en-US" altLang="ja-JP" dirty="0"/>
              <a:t>10</a:t>
            </a:r>
            <a:r>
              <a:rPr kumimoji="1" lang="ja-JP" altLang="en-US" dirty="0"/>
              <a:t>の構造のニューラルネットワークを使用しています</a:t>
            </a:r>
            <a:endParaRPr kumimoji="1" lang="en-US" altLang="ja-JP" dirty="0"/>
          </a:p>
          <a:p>
            <a:endParaRPr kumimoji="1" lang="en-US" altLang="ja-JP" dirty="0"/>
          </a:p>
          <a:p>
            <a:r>
              <a:rPr kumimoji="1" lang="ja-JP" altLang="en-US" dirty="0"/>
              <a:t>この</a:t>
            </a:r>
            <a:r>
              <a:rPr kumimoji="1" lang="en-US" altLang="ja-JP" dirty="0"/>
              <a:t>MNIST</a:t>
            </a:r>
            <a:r>
              <a:rPr kumimoji="1" lang="ja-JP" altLang="en-US" dirty="0"/>
              <a:t>を使用した実験として、</a:t>
            </a:r>
            <a:endParaRPr kumimoji="1" lang="en-US" altLang="ja-JP" dirty="0"/>
          </a:p>
          <a:p>
            <a:endParaRPr kumimoji="1" lang="en-US" altLang="ja-JP" dirty="0"/>
          </a:p>
          <a:p>
            <a:r>
              <a:rPr kumimoji="1" lang="ja-JP" altLang="en-US" dirty="0"/>
              <a:t>提案手法の</a:t>
            </a:r>
            <a:r>
              <a:rPr kumimoji="1" lang="en-US" altLang="ja-JP" dirty="0"/>
              <a:t>Hutchinson</a:t>
            </a:r>
            <a:r>
              <a:rPr kumimoji="1" lang="ja-JP" altLang="en-US" dirty="0"/>
              <a:t>近似の近似の回数を比較し最適値を探索する実験</a:t>
            </a:r>
            <a:endParaRPr kumimoji="1" lang="en-US" altLang="ja-JP" dirty="0"/>
          </a:p>
          <a:p>
            <a:endParaRPr kumimoji="1" lang="en-US" altLang="ja-JP" dirty="0"/>
          </a:p>
          <a:p>
            <a:r>
              <a:rPr kumimoji="1" lang="ja-JP" altLang="en-US" dirty="0"/>
              <a:t>提案手法の学習率を比較して最適値を探索する実験</a:t>
            </a:r>
            <a:endParaRPr kumimoji="1" lang="en-US" altLang="ja-JP" dirty="0"/>
          </a:p>
          <a:p>
            <a:endParaRPr kumimoji="1" lang="en-US" altLang="ja-JP" dirty="0"/>
          </a:p>
          <a:p>
            <a:r>
              <a:rPr kumimoji="1" lang="en-US" altLang="ja-JP" dirty="0"/>
              <a:t>2</a:t>
            </a:r>
            <a:r>
              <a:rPr kumimoji="1" lang="ja-JP" altLang="en-US" dirty="0"/>
              <a:t>つの実験をもとに従来手法と提案手法で同じ問題を学習した結果を比較する実験</a:t>
            </a:r>
            <a:endParaRPr kumimoji="1" lang="en-US" altLang="ja-JP" dirty="0"/>
          </a:p>
          <a:p>
            <a:endParaRPr kumimoji="1" lang="en-US" altLang="ja-JP" dirty="0"/>
          </a:p>
          <a:p>
            <a:r>
              <a:rPr kumimoji="1" lang="ja-JP" altLang="en-US"/>
              <a:t>バッチサイズをいくつかの値に変更</a:t>
            </a:r>
            <a:r>
              <a:rPr kumimoji="1" lang="ja-JP" altLang="en-US" dirty="0"/>
              <a:t>して学習を行った結果を比較する実験を行います</a:t>
            </a:r>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32</a:t>
            </a:fld>
            <a:endParaRPr kumimoji="1" lang="ja-JP" altLang="en-US"/>
          </a:p>
        </p:txBody>
      </p:sp>
    </p:spTree>
    <p:extLst>
      <p:ext uri="{BB962C8B-B14F-4D97-AF65-F5344CB8AC3E}">
        <p14:creationId xmlns:p14="http://schemas.microsoft.com/office/powerpoint/2010/main" val="104483416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本実験では</a:t>
            </a:r>
            <a:r>
              <a:rPr kumimoji="1" lang="en-US" altLang="ja-JP" dirty="0"/>
              <a:t>MNIST</a:t>
            </a:r>
            <a:r>
              <a:rPr kumimoji="1" lang="ja-JP" altLang="en-US" dirty="0"/>
              <a:t>の分類問題を　提案手法のハイパーパラメータである</a:t>
            </a:r>
            <a:r>
              <a:rPr kumimoji="1" lang="en-US" altLang="ja-JP" dirty="0"/>
              <a:t>Hutchinson</a:t>
            </a:r>
            <a:r>
              <a:rPr kumimoji="1" lang="ja-JP" altLang="en-US" dirty="0"/>
              <a:t>手法に基づく対角行列化を用いた対角ヘッセ行列の近似の近似回数をいくつかのパターンで学習させ、その結果を</a:t>
            </a:r>
            <a:r>
              <a:rPr kumimoji="1" lang="ja-JP" altLang="en-US"/>
              <a:t>比較します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r>
              <a:rPr kumimoji="1" lang="ja-JP" altLang="en-US" dirty="0"/>
              <a:t>学習反復回数エポックは</a:t>
            </a:r>
            <a:r>
              <a:rPr kumimoji="1" lang="en-US" altLang="ja-JP" dirty="0"/>
              <a:t>20</a:t>
            </a:r>
            <a:r>
              <a:rPr kumimoji="1" lang="ja-JP" altLang="en-US" dirty="0"/>
              <a:t>、バッチサイズが</a:t>
            </a:r>
            <a:r>
              <a:rPr kumimoji="1" lang="en-US" altLang="ja-JP" dirty="0"/>
              <a:t>512</a:t>
            </a:r>
            <a:r>
              <a:rPr kumimoji="1" lang="ja-JP" altLang="en-US" dirty="0"/>
              <a:t>、提案手法の学習率を</a:t>
            </a:r>
            <a:r>
              <a:rPr kumimoji="1" lang="en-US" altLang="ja-JP" dirty="0"/>
              <a:t>0.05</a:t>
            </a:r>
            <a:r>
              <a:rPr kumimoji="1" lang="ja-JP" altLang="en-US" dirty="0"/>
              <a:t>に固定し</a:t>
            </a:r>
            <a:endParaRPr kumimoji="1" lang="en-US" altLang="ja-JP" dirty="0"/>
          </a:p>
          <a:p>
            <a:endParaRPr kumimoji="1" lang="en-US" altLang="ja-JP" dirty="0"/>
          </a:p>
          <a:p>
            <a:r>
              <a:rPr kumimoji="1" lang="ja-JP" altLang="en-US" dirty="0"/>
              <a:t>比較するステップ数を</a:t>
            </a:r>
            <a:r>
              <a:rPr kumimoji="1" lang="en-US" altLang="ja-JP" dirty="0"/>
              <a:t>1</a:t>
            </a:r>
            <a:r>
              <a:rPr kumimoji="1" lang="ja-JP" altLang="en-US" dirty="0"/>
              <a:t>、</a:t>
            </a:r>
            <a:r>
              <a:rPr kumimoji="1" lang="en-US" altLang="ja-JP" dirty="0"/>
              <a:t>3</a:t>
            </a:r>
            <a:r>
              <a:rPr kumimoji="1" lang="ja-JP" altLang="en-US" dirty="0"/>
              <a:t>，</a:t>
            </a:r>
            <a:r>
              <a:rPr kumimoji="1" lang="en-US" altLang="ja-JP" dirty="0"/>
              <a:t>5</a:t>
            </a:r>
            <a:r>
              <a:rPr kumimoji="1" lang="ja-JP" altLang="en-US" dirty="0"/>
              <a:t>，</a:t>
            </a:r>
            <a:r>
              <a:rPr kumimoji="1" lang="en-US" altLang="ja-JP" dirty="0"/>
              <a:t>10</a:t>
            </a:r>
            <a:r>
              <a:rPr kumimoji="1" lang="ja-JP" altLang="en-US" dirty="0"/>
              <a:t>としました</a:t>
            </a:r>
            <a:endParaRPr kumimoji="1" lang="en-US" altLang="ja-JP"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33</a:t>
            </a:fld>
            <a:endParaRPr kumimoji="1" lang="ja-JP" altLang="en-US"/>
          </a:p>
        </p:txBody>
      </p:sp>
    </p:spTree>
    <p:extLst>
      <p:ext uri="{BB962C8B-B14F-4D97-AF65-F5344CB8AC3E}">
        <p14:creationId xmlns:p14="http://schemas.microsoft.com/office/powerpoint/2010/main" val="93255930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こちらが実験結果となります</a:t>
            </a:r>
            <a:endParaRPr kumimoji="1" lang="en-US" altLang="ja-JP" dirty="0"/>
          </a:p>
          <a:p>
            <a:endParaRPr kumimoji="1" lang="en-US" altLang="ja-JP" dirty="0"/>
          </a:p>
          <a:p>
            <a:r>
              <a:rPr kumimoji="1" lang="ja-JP" altLang="en-US" dirty="0"/>
              <a:t>左側が損失関数の下がり具合、右側が検証用データの正答率のグラフとなっています</a:t>
            </a:r>
            <a:endParaRPr kumimoji="1" lang="en-US" altLang="ja-JP" dirty="0"/>
          </a:p>
          <a:p>
            <a:endParaRPr kumimoji="1" lang="en-US" altLang="ja-JP" dirty="0"/>
          </a:p>
          <a:p>
            <a:r>
              <a:rPr kumimoji="1" lang="ja-JP" altLang="en-US" dirty="0"/>
              <a:t>両方のグラフで青線が近似回数１、オレンジ線が近似回数３、緑線が近似回数５、赤線が近似回数１０となっています</a:t>
            </a:r>
            <a:endParaRPr kumimoji="1" lang="en-US" altLang="ja-JP" dirty="0"/>
          </a:p>
          <a:p>
            <a:endParaRPr kumimoji="1" lang="en-US" altLang="ja-JP" dirty="0"/>
          </a:p>
          <a:p>
            <a:r>
              <a:rPr kumimoji="1" lang="en-US" altLang="ja-JP" dirty="0"/>
              <a:t>MNIST</a:t>
            </a:r>
            <a:r>
              <a:rPr kumimoji="1" lang="ja-JP" altLang="en-US" dirty="0"/>
              <a:t>の場合でも</a:t>
            </a:r>
            <a:r>
              <a:rPr kumimoji="1" lang="en-US" altLang="ja-JP" dirty="0"/>
              <a:t>Iris</a:t>
            </a:r>
            <a:r>
              <a:rPr kumimoji="1" lang="ja-JP" altLang="en-US" dirty="0"/>
              <a:t>の場合と同じく、近似回数数が</a:t>
            </a:r>
            <a:r>
              <a:rPr kumimoji="1" lang="en-US" altLang="ja-JP" dirty="0"/>
              <a:t>1</a:t>
            </a:r>
            <a:r>
              <a:rPr kumimoji="1" lang="ja-JP" altLang="en-US" dirty="0"/>
              <a:t>の場合、対角ヘッセ行列の近似に失敗し、発散するという結果になりました</a:t>
            </a:r>
            <a:endParaRPr kumimoji="1" lang="en-US" altLang="ja-JP" dirty="0"/>
          </a:p>
          <a:p>
            <a:endParaRPr kumimoji="1" lang="en-US" altLang="ja-JP" dirty="0"/>
          </a:p>
          <a:p>
            <a:r>
              <a:rPr kumimoji="1" lang="ja-JP" altLang="en-US" dirty="0"/>
              <a:t>また近似回数数が</a:t>
            </a:r>
            <a:r>
              <a:rPr kumimoji="1" lang="en-US" altLang="ja-JP" dirty="0"/>
              <a:t>3</a:t>
            </a:r>
            <a:r>
              <a:rPr kumimoji="1" lang="ja-JP" altLang="en-US" dirty="0"/>
              <a:t>，</a:t>
            </a:r>
            <a:r>
              <a:rPr kumimoji="1" lang="en-US" altLang="ja-JP" dirty="0"/>
              <a:t>5</a:t>
            </a:r>
            <a:r>
              <a:rPr kumimoji="1" lang="ja-JP" altLang="en-US" dirty="0"/>
              <a:t>，</a:t>
            </a:r>
            <a:r>
              <a:rPr kumimoji="1" lang="en-US" altLang="ja-JP" dirty="0"/>
              <a:t>10</a:t>
            </a:r>
            <a:r>
              <a:rPr kumimoji="1" lang="ja-JP" altLang="en-US" dirty="0"/>
              <a:t>の場合の検証用データの正答率に大きく差が無いため、以降の実験でもステップ数を</a:t>
            </a:r>
            <a:r>
              <a:rPr kumimoji="1" lang="en-US" altLang="ja-JP" dirty="0"/>
              <a:t>3</a:t>
            </a:r>
            <a:r>
              <a:rPr kumimoji="1" lang="ja-JP" altLang="en-US" dirty="0"/>
              <a:t>に固定します</a:t>
            </a:r>
            <a:endParaRPr kumimoji="1" lang="en-US" altLang="ja-JP"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34</a:t>
            </a:fld>
            <a:endParaRPr kumimoji="1" lang="ja-JP" altLang="en-US"/>
          </a:p>
        </p:txBody>
      </p:sp>
    </p:spTree>
    <p:extLst>
      <p:ext uri="{BB962C8B-B14F-4D97-AF65-F5344CB8AC3E}">
        <p14:creationId xmlns:p14="http://schemas.microsoft.com/office/powerpoint/2010/main" val="12513311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次に同様の問題をを　提案手法のハイパーパラメータである学習率をいくつかのパターンで学習させ、その結果を</a:t>
            </a:r>
            <a:r>
              <a:rPr kumimoji="1" lang="ja-JP" altLang="en-US"/>
              <a:t>比較します</a:t>
            </a:r>
            <a:endParaRPr kumimoji="1" lang="en-US" altLang="ja-JP" dirty="0"/>
          </a:p>
          <a:p>
            <a:endParaRPr kumimoji="1" lang="en-US" altLang="ja-JP" dirty="0"/>
          </a:p>
          <a:p>
            <a:r>
              <a:rPr kumimoji="1" lang="ja-JP" altLang="en-US" dirty="0"/>
              <a:t>学習反復回数　バッチサイズは先の実験と同様、</a:t>
            </a:r>
            <a:r>
              <a:rPr lang="en-US" altLang="ja-JP" sz="1200" dirty="0">
                <a:latin typeface="UD デジタル 教科書体 NK-R" panose="02020400000000000000" pitchFamily="18" charset="-128"/>
                <a:ea typeface="UD デジタル 教科書体 NK-R" panose="02020400000000000000" pitchFamily="18" charset="-128"/>
              </a:rPr>
              <a:t>Hutchinson</a:t>
            </a:r>
            <a:r>
              <a:rPr lang="ja-JP" altLang="en-US" sz="1200" dirty="0">
                <a:latin typeface="UD デジタル 教科書体 NK-R" panose="02020400000000000000" pitchFamily="18" charset="-128"/>
                <a:ea typeface="UD デジタル 教科書体 NK-R" panose="02020400000000000000" pitchFamily="18" charset="-128"/>
              </a:rPr>
              <a:t>近似の近似回数</a:t>
            </a:r>
            <a:r>
              <a:rPr kumimoji="1" lang="ja-JP" altLang="en-US" dirty="0"/>
              <a:t>を３に固定し</a:t>
            </a:r>
            <a:endParaRPr kumimoji="1" lang="en-US" altLang="ja-JP" dirty="0"/>
          </a:p>
          <a:p>
            <a:endParaRPr kumimoji="1" lang="en-US" altLang="ja-JP" dirty="0"/>
          </a:p>
          <a:p>
            <a:r>
              <a:rPr kumimoji="1" lang="ja-JP" altLang="en-US" dirty="0"/>
              <a:t>学習率を</a:t>
            </a:r>
            <a:r>
              <a:rPr lang="en-US" altLang="ja-JP" sz="1200" spc="-100" dirty="0">
                <a:latin typeface="UD デジタル 教科書体 NK-R" panose="02020400000000000000" pitchFamily="18" charset="-128"/>
                <a:ea typeface="UD デジタル 教科書体 NK-R" panose="02020400000000000000" pitchFamily="18" charset="-128"/>
              </a:rPr>
              <a:t>0.5, 0.1, 0.05, 0.01</a:t>
            </a:r>
            <a:r>
              <a:rPr lang="ja-JP" altLang="en-US" sz="1200" spc="-100" dirty="0">
                <a:latin typeface="UD デジタル 教科書体 NK-R" panose="02020400000000000000" pitchFamily="18" charset="-128"/>
                <a:ea typeface="UD デジタル 教科書体 NK-R" panose="02020400000000000000" pitchFamily="18" charset="-128"/>
              </a:rPr>
              <a:t>に変更します</a:t>
            </a:r>
            <a:endParaRPr kumimoji="1" lang="en-US" altLang="ja-JP"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35</a:t>
            </a:fld>
            <a:endParaRPr kumimoji="1" lang="ja-JP" altLang="en-US"/>
          </a:p>
        </p:txBody>
      </p:sp>
    </p:spTree>
    <p:extLst>
      <p:ext uri="{BB962C8B-B14F-4D97-AF65-F5344CB8AC3E}">
        <p14:creationId xmlns:p14="http://schemas.microsoft.com/office/powerpoint/2010/main" val="290352070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こちらが実験結果となります</a:t>
            </a:r>
            <a:endParaRPr kumimoji="1" lang="en-US" altLang="ja-JP" dirty="0"/>
          </a:p>
          <a:p>
            <a:endParaRPr kumimoji="1" lang="en-US" altLang="ja-JP" dirty="0"/>
          </a:p>
          <a:p>
            <a:r>
              <a:rPr kumimoji="1" lang="ja-JP" altLang="en-US" dirty="0"/>
              <a:t>左側が誤差関数の下がり具合、右側が検証用データの正答の上がり具合、青線の学習率が</a:t>
            </a:r>
            <a:r>
              <a:rPr kumimoji="1" lang="en-US" altLang="ja-JP" dirty="0"/>
              <a:t>0.5</a:t>
            </a:r>
            <a:r>
              <a:rPr kumimoji="1" lang="ja-JP" altLang="en-US" dirty="0"/>
              <a:t>、オレンジ線が</a:t>
            </a:r>
            <a:r>
              <a:rPr kumimoji="1" lang="en-US" altLang="ja-JP" dirty="0"/>
              <a:t>0.1</a:t>
            </a:r>
            <a:r>
              <a:rPr kumimoji="1" lang="ja-JP" altLang="en-US" dirty="0"/>
              <a:t>、緑線が</a:t>
            </a:r>
            <a:r>
              <a:rPr kumimoji="1" lang="en-US" altLang="ja-JP" dirty="0"/>
              <a:t>0.05</a:t>
            </a:r>
            <a:r>
              <a:rPr kumimoji="1" lang="ja-JP" altLang="en-US" dirty="0"/>
              <a:t>、赤線が</a:t>
            </a:r>
            <a:r>
              <a:rPr kumimoji="1" lang="en-US" altLang="ja-JP" dirty="0"/>
              <a:t>0.01</a:t>
            </a:r>
            <a:r>
              <a:rPr kumimoji="1" lang="ja-JP" altLang="en-US" dirty="0"/>
              <a:t>となります</a:t>
            </a:r>
            <a:endParaRPr kumimoji="1" lang="en-US" altLang="ja-JP" dirty="0"/>
          </a:p>
          <a:p>
            <a:endParaRPr kumimoji="1" lang="en-US" altLang="ja-JP" dirty="0"/>
          </a:p>
          <a:p>
            <a:r>
              <a:rPr kumimoji="1" lang="ja-JP" altLang="en-US" dirty="0"/>
              <a:t>左のグラフを見ると学習率が</a:t>
            </a:r>
            <a:r>
              <a:rPr kumimoji="1" lang="en-US" altLang="ja-JP" dirty="0"/>
              <a:t>0.5</a:t>
            </a:r>
            <a:r>
              <a:rPr kumimoji="1" lang="ja-JP" altLang="en-US" dirty="0"/>
              <a:t>、</a:t>
            </a:r>
            <a:r>
              <a:rPr kumimoji="1" lang="en-US" altLang="ja-JP" dirty="0"/>
              <a:t>0.1</a:t>
            </a:r>
            <a:r>
              <a:rPr kumimoji="1" lang="ja-JP" altLang="en-US" dirty="0"/>
              <a:t>の場合は損失関数が発散しているのがわかります</a:t>
            </a:r>
            <a:endParaRPr kumimoji="1" lang="en-US" altLang="ja-JP" dirty="0"/>
          </a:p>
          <a:p>
            <a:endParaRPr kumimoji="1" lang="en-US" altLang="ja-JP" dirty="0"/>
          </a:p>
          <a:p>
            <a:r>
              <a:rPr kumimoji="1" lang="ja-JP" altLang="en-US" dirty="0"/>
              <a:t>また検証用データの正答率のグラフを見ると学習率が</a:t>
            </a:r>
            <a:r>
              <a:rPr kumimoji="1" lang="en-US" altLang="ja-JP" dirty="0"/>
              <a:t>0.05</a:t>
            </a:r>
            <a:r>
              <a:rPr kumimoji="1" lang="ja-JP" altLang="en-US" dirty="0"/>
              <a:t>、</a:t>
            </a:r>
            <a:r>
              <a:rPr kumimoji="1" lang="en-US" altLang="ja-JP" dirty="0"/>
              <a:t>0.01</a:t>
            </a:r>
            <a:r>
              <a:rPr kumimoji="1" lang="ja-JP" altLang="en-US" dirty="0"/>
              <a:t>の最終的な精度に大きな違いはありませんが</a:t>
            </a:r>
            <a:endParaRPr kumimoji="1" lang="en-US" altLang="ja-JP" dirty="0"/>
          </a:p>
          <a:p>
            <a:endParaRPr kumimoji="1" lang="en-US" altLang="ja-JP" dirty="0"/>
          </a:p>
          <a:p>
            <a:r>
              <a:rPr kumimoji="1" lang="ja-JP" altLang="en-US" dirty="0"/>
              <a:t>正答率の立ち上がりが学習率が</a:t>
            </a:r>
            <a:r>
              <a:rPr kumimoji="1" lang="en-US" altLang="ja-JP" dirty="0"/>
              <a:t>0.05</a:t>
            </a:r>
            <a:r>
              <a:rPr kumimoji="1" lang="ja-JP" altLang="en-US" dirty="0"/>
              <a:t>の場合のほうが早いのがわかります</a:t>
            </a:r>
            <a:endParaRPr kumimoji="1" lang="en-US" altLang="ja-JP" dirty="0"/>
          </a:p>
          <a:p>
            <a:endParaRPr kumimoji="1" lang="en-US" altLang="ja-JP" dirty="0"/>
          </a:p>
          <a:p>
            <a:r>
              <a:rPr kumimoji="1" lang="ja-JP" altLang="en-US" dirty="0"/>
              <a:t>このことから以降の実験では学習率を</a:t>
            </a:r>
            <a:r>
              <a:rPr kumimoji="1" lang="en-US" altLang="ja-JP" dirty="0"/>
              <a:t>0.05</a:t>
            </a:r>
            <a:r>
              <a:rPr kumimoji="1" lang="ja-JP" altLang="en-US" dirty="0"/>
              <a:t>に固定して行います</a:t>
            </a:r>
            <a:endParaRPr kumimoji="1" lang="en-US" altLang="ja-JP"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36</a:t>
            </a:fld>
            <a:endParaRPr kumimoji="1" lang="ja-JP" altLang="en-US"/>
          </a:p>
        </p:txBody>
      </p:sp>
    </p:spTree>
    <p:extLst>
      <p:ext uri="{BB962C8B-B14F-4D97-AF65-F5344CB8AC3E}">
        <p14:creationId xmlns:p14="http://schemas.microsoft.com/office/powerpoint/2010/main" val="9528878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次に提案手法の有効性を確認するために　従来手法である</a:t>
            </a:r>
            <a:r>
              <a:rPr kumimoji="1" lang="en-US" altLang="ja-JP" dirty="0"/>
              <a:t>SGD</a:t>
            </a:r>
            <a:r>
              <a:rPr kumimoji="1" lang="ja-JP" altLang="en-US" dirty="0"/>
              <a:t>　</a:t>
            </a:r>
            <a:r>
              <a:rPr kumimoji="1" lang="en-US" altLang="ja-JP" dirty="0"/>
              <a:t>Adam</a:t>
            </a:r>
            <a:r>
              <a:rPr kumimoji="1" lang="ja-JP" altLang="en-US" dirty="0"/>
              <a:t>と提案手法</a:t>
            </a:r>
            <a:r>
              <a:rPr kumimoji="1" lang="en-US" altLang="ja-JP" dirty="0"/>
              <a:t>MNIST</a:t>
            </a:r>
            <a:r>
              <a:rPr kumimoji="1" lang="ja-JP" altLang="en-US" dirty="0"/>
              <a:t>を学習させその結果を比較します</a:t>
            </a:r>
            <a:endParaRPr kumimoji="1" lang="en-US" altLang="ja-JP" dirty="0"/>
          </a:p>
          <a:p>
            <a:endParaRPr kumimoji="1" lang="en-US" altLang="ja-JP" dirty="0"/>
          </a:p>
          <a:p>
            <a:r>
              <a:rPr kumimoji="1" lang="ja-JP" altLang="en-US" dirty="0"/>
              <a:t>実験条件として学習反復回数　バッチサイズは先の実験と同様</a:t>
            </a:r>
            <a:endParaRPr kumimoji="1" lang="en-US" altLang="ja-JP" dirty="0"/>
          </a:p>
          <a:p>
            <a:endParaRPr kumimoji="1" lang="en-US" altLang="ja-JP" dirty="0"/>
          </a:p>
          <a:p>
            <a:r>
              <a:rPr kumimoji="1" lang="ja-JP" altLang="en-US" dirty="0"/>
              <a:t>これまでの実験結果から提案手法の学習率を</a:t>
            </a:r>
            <a:r>
              <a:rPr kumimoji="1" lang="en-US" altLang="ja-JP" dirty="0"/>
              <a:t>0.1Hutchinson</a:t>
            </a:r>
            <a:r>
              <a:rPr kumimoji="1" lang="ja-JP" altLang="en-US" dirty="0"/>
              <a:t>近似の近似回数を</a:t>
            </a:r>
            <a:r>
              <a:rPr kumimoji="1" lang="en-US" altLang="ja-JP" dirty="0"/>
              <a:t>3</a:t>
            </a:r>
            <a:r>
              <a:rPr kumimoji="1" lang="ja-JP" altLang="en-US" dirty="0"/>
              <a:t>とし</a:t>
            </a:r>
            <a:endParaRPr kumimoji="1" lang="en-US" altLang="ja-JP" dirty="0"/>
          </a:p>
          <a:p>
            <a:endParaRPr kumimoji="1" lang="en-US" altLang="ja-JP" dirty="0"/>
          </a:p>
          <a:p>
            <a:r>
              <a:rPr kumimoji="1" lang="ja-JP" altLang="en-US" dirty="0"/>
              <a:t>比較対象である</a:t>
            </a:r>
            <a:r>
              <a:rPr kumimoji="1" lang="en-US" altLang="ja-JP" dirty="0"/>
              <a:t>Adam</a:t>
            </a:r>
            <a:r>
              <a:rPr kumimoji="1" lang="ja-JP" altLang="en-US" dirty="0"/>
              <a:t>の学習率を</a:t>
            </a:r>
            <a:r>
              <a:rPr kumimoji="1" lang="en-US" altLang="ja-JP" dirty="0"/>
              <a:t>0.001</a:t>
            </a:r>
            <a:r>
              <a:rPr kumimoji="1" lang="ja-JP" altLang="en-US" dirty="0"/>
              <a:t>、　ＳＧＤの学習率を</a:t>
            </a:r>
            <a:r>
              <a:rPr kumimoji="1" lang="en-US" altLang="ja-JP" dirty="0"/>
              <a:t>0.01</a:t>
            </a:r>
            <a:r>
              <a:rPr kumimoji="1" lang="ja-JP" altLang="en-US" dirty="0"/>
              <a:t>としました</a:t>
            </a:r>
            <a:endParaRPr kumimoji="1" lang="en-US" altLang="ja-JP"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37</a:t>
            </a:fld>
            <a:endParaRPr kumimoji="1" lang="ja-JP" altLang="en-US"/>
          </a:p>
        </p:txBody>
      </p:sp>
    </p:spTree>
    <p:extLst>
      <p:ext uri="{BB962C8B-B14F-4D97-AF65-F5344CB8AC3E}">
        <p14:creationId xmlns:p14="http://schemas.microsoft.com/office/powerpoint/2010/main" val="348737645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こちらが実験結果となります</a:t>
            </a:r>
            <a:endParaRPr kumimoji="1" lang="en-US" altLang="ja-JP" dirty="0"/>
          </a:p>
          <a:p>
            <a:endParaRPr kumimoji="1" lang="en-US" altLang="ja-JP" dirty="0"/>
          </a:p>
          <a:p>
            <a:r>
              <a:rPr kumimoji="1" lang="ja-JP" altLang="en-US" dirty="0"/>
              <a:t>左側が誤差関数の下がり具合、右側が検証用データの正答の上がり具合、両方のグラフで青線が提案</a:t>
            </a:r>
            <a:r>
              <a:rPr kumimoji="1" lang="ja-JP" altLang="en-US"/>
              <a:t>手法、緑線</a:t>
            </a:r>
            <a:r>
              <a:rPr kumimoji="1" lang="ja-JP" altLang="en-US" dirty="0"/>
              <a:t>が</a:t>
            </a:r>
            <a:r>
              <a:rPr kumimoji="1" lang="ja-JP" altLang="en-US"/>
              <a:t>Ａｄａｍ、オレンジ線</a:t>
            </a:r>
            <a:r>
              <a:rPr kumimoji="1" lang="ja-JP" altLang="en-US" dirty="0"/>
              <a:t>がＳＧＤとなります</a:t>
            </a:r>
            <a:endParaRPr kumimoji="1" lang="en-US" altLang="ja-JP" dirty="0"/>
          </a:p>
          <a:p>
            <a:endParaRPr kumimoji="1" lang="en-US" altLang="ja-JP" dirty="0"/>
          </a:p>
          <a:p>
            <a:r>
              <a:rPr kumimoji="1" lang="ja-JP" altLang="en-US" dirty="0"/>
              <a:t>左側の誤差関数の下がり具合、右側の検証用データの正答率ともに最終的には</a:t>
            </a:r>
            <a:r>
              <a:rPr kumimoji="1" lang="en-US" altLang="ja-JP" dirty="0"/>
              <a:t>Adam</a:t>
            </a:r>
            <a:r>
              <a:rPr kumimoji="1" lang="ja-JP" altLang="en-US" dirty="0"/>
              <a:t>と同じような値となっていますが、</a:t>
            </a:r>
            <a:endParaRPr kumimoji="1" lang="en-US" altLang="ja-JP" dirty="0"/>
          </a:p>
          <a:p>
            <a:endParaRPr kumimoji="1" lang="en-US" altLang="ja-JP" dirty="0"/>
          </a:p>
          <a:p>
            <a:r>
              <a:rPr kumimoji="1" lang="en-US" altLang="ja-JP" dirty="0"/>
              <a:t>Adam</a:t>
            </a:r>
            <a:r>
              <a:rPr kumimoji="1" lang="ja-JP" altLang="en-US" dirty="0"/>
              <a:t>と比べ少ない反復回数で収束しているのがわかります。</a:t>
            </a:r>
            <a:endParaRPr kumimoji="1" lang="en-US" altLang="ja-JP" dirty="0"/>
          </a:p>
          <a:p>
            <a:endParaRPr kumimoji="1" lang="en-US" altLang="ja-JP" dirty="0"/>
          </a:p>
          <a:p>
            <a:r>
              <a:rPr kumimoji="1" lang="ja-JP" altLang="en-US" dirty="0"/>
              <a:t>これは二次近似手法の特徴である少ない反復数での学習の終息という特徴が表れているからだと考えられます</a:t>
            </a:r>
            <a:endParaRPr kumimoji="1" lang="en-US" altLang="ja-JP"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38</a:t>
            </a:fld>
            <a:endParaRPr kumimoji="1" lang="ja-JP" altLang="en-US"/>
          </a:p>
        </p:txBody>
      </p:sp>
    </p:spTree>
    <p:extLst>
      <p:ext uri="{BB962C8B-B14F-4D97-AF65-F5344CB8AC3E}">
        <p14:creationId xmlns:p14="http://schemas.microsoft.com/office/powerpoint/2010/main" val="136290567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次に手書き数字文字</a:t>
            </a:r>
            <a:r>
              <a:rPr kumimoji="1" lang="en-US" altLang="ja-JP" dirty="0"/>
              <a:t>MNIST</a:t>
            </a:r>
            <a:r>
              <a:rPr kumimoji="1" lang="ja-JP" altLang="en-US" dirty="0"/>
              <a:t>の分類問題を、従来手法の</a:t>
            </a:r>
            <a:r>
              <a:rPr kumimoji="1" lang="en-US" altLang="ja-JP" dirty="0"/>
              <a:t>Adam</a:t>
            </a:r>
            <a:r>
              <a:rPr kumimoji="1" lang="ja-JP" altLang="en-US" dirty="0"/>
              <a:t>と提案手法で</a:t>
            </a:r>
            <a:endParaRPr kumimoji="1" lang="en-US" altLang="ja-JP" dirty="0"/>
          </a:p>
          <a:p>
            <a:endParaRPr kumimoji="1" lang="en-US" altLang="ja-JP" dirty="0"/>
          </a:p>
          <a:p>
            <a:r>
              <a:rPr kumimoji="1" lang="ja-JP" altLang="en-US" dirty="0"/>
              <a:t>バッチサイズをいくつかの値に変更し学習を行い結果を比較します</a:t>
            </a:r>
            <a:endParaRPr kumimoji="1" lang="en-US" altLang="ja-JP" dirty="0"/>
          </a:p>
          <a:p>
            <a:endParaRPr kumimoji="1" lang="en-US" altLang="ja-JP" dirty="0"/>
          </a:p>
          <a:p>
            <a:r>
              <a:rPr kumimoji="1" lang="ja-JP" altLang="en-US" dirty="0"/>
              <a:t>バッチサイズは全データの内、いくつのデータを纏めて学習するかのハイパーパラメータで</a:t>
            </a:r>
            <a:endParaRPr kumimoji="1" lang="en-US" altLang="ja-JP" dirty="0"/>
          </a:p>
          <a:p>
            <a:endParaRPr kumimoji="1" lang="en-US" altLang="ja-JP" dirty="0"/>
          </a:p>
          <a:p>
            <a:r>
              <a:rPr kumimoji="1" lang="ja-JP" altLang="en-US" dirty="0"/>
              <a:t>一般に大きな数字にすればするほどデータ全体を学習するのにかかる計算コストが少なくなり、また学習が安定するようになるのですが</a:t>
            </a:r>
            <a:endParaRPr kumimoji="1" lang="en-US" altLang="ja-JP" dirty="0"/>
          </a:p>
          <a:p>
            <a:endParaRPr kumimoji="1" lang="en-US" altLang="ja-JP" dirty="0"/>
          </a:p>
          <a:p>
            <a:r>
              <a:rPr kumimoji="1" lang="ja-JP" altLang="en-US" dirty="0"/>
              <a:t>学習回数が少なくなるため学習の終息にかかる時間が長くなります</a:t>
            </a:r>
            <a:endParaRPr kumimoji="1" lang="en-US" altLang="ja-JP" dirty="0"/>
          </a:p>
          <a:p>
            <a:endParaRPr kumimoji="1" lang="en-US" altLang="ja-JP" dirty="0"/>
          </a:p>
          <a:p>
            <a:r>
              <a:rPr kumimoji="1" lang="ja-JP" altLang="en-US" dirty="0"/>
              <a:t>学習用データ、ネットワークの構造、それぞれの手法の学習率は先の実験と同じ条件で</a:t>
            </a:r>
            <a:endParaRPr kumimoji="1" lang="en-US" altLang="ja-JP" dirty="0"/>
          </a:p>
          <a:p>
            <a:endParaRPr kumimoji="1" lang="en-US" altLang="ja-JP" dirty="0"/>
          </a:p>
          <a:p>
            <a:r>
              <a:rPr kumimoji="1" lang="ja-JP" altLang="en-US" dirty="0"/>
              <a:t>バッチサイズを</a:t>
            </a:r>
            <a:r>
              <a:rPr kumimoji="1" lang="en-US" altLang="ja-JP" dirty="0"/>
              <a:t>256</a:t>
            </a:r>
            <a:r>
              <a:rPr kumimoji="1" lang="ja-JP" altLang="en-US" dirty="0"/>
              <a:t>，</a:t>
            </a:r>
            <a:r>
              <a:rPr kumimoji="1" lang="en-US" altLang="ja-JP" dirty="0"/>
              <a:t>512</a:t>
            </a:r>
            <a:r>
              <a:rPr kumimoji="1" lang="ja-JP" altLang="en-US" dirty="0"/>
              <a:t>、</a:t>
            </a:r>
            <a:r>
              <a:rPr kumimoji="1" lang="en-US" altLang="ja-JP" dirty="0"/>
              <a:t>1024</a:t>
            </a:r>
            <a:r>
              <a:rPr kumimoji="1" lang="ja-JP" altLang="en-US" dirty="0"/>
              <a:t>、</a:t>
            </a:r>
            <a:r>
              <a:rPr kumimoji="1" lang="en-US" altLang="ja-JP" dirty="0"/>
              <a:t>2048</a:t>
            </a:r>
            <a:r>
              <a:rPr kumimoji="1" lang="ja-JP" altLang="en-US" dirty="0"/>
              <a:t>に変更して学習を行います</a:t>
            </a:r>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39</a:t>
            </a:fld>
            <a:endParaRPr kumimoji="1" lang="ja-JP" altLang="en-US"/>
          </a:p>
        </p:txBody>
      </p:sp>
    </p:spTree>
    <p:extLst>
      <p:ext uri="{BB962C8B-B14F-4D97-AF65-F5344CB8AC3E}">
        <p14:creationId xmlns:p14="http://schemas.microsoft.com/office/powerpoint/2010/main" val="413864662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こちらが実験結果となります</a:t>
            </a:r>
            <a:endParaRPr kumimoji="1" lang="en-US" altLang="ja-JP" dirty="0"/>
          </a:p>
          <a:p>
            <a:endParaRPr kumimoji="1" lang="en-US" altLang="ja-JP" dirty="0"/>
          </a:p>
          <a:p>
            <a:r>
              <a:rPr kumimoji="1" lang="ja-JP" altLang="en-US" dirty="0"/>
              <a:t>左側が損失関数のグラフ　右側が検証用データに対する正答率のグラフとなっています</a:t>
            </a:r>
            <a:endParaRPr kumimoji="1" lang="en-US" altLang="ja-JP" dirty="0"/>
          </a:p>
          <a:p>
            <a:endParaRPr kumimoji="1" lang="en-US" altLang="ja-JP" dirty="0"/>
          </a:p>
          <a:p>
            <a:r>
              <a:rPr kumimoji="1" lang="ja-JP" altLang="en-US" dirty="0"/>
              <a:t>いずれのグラフでも青線が提案手法　赤線が</a:t>
            </a:r>
            <a:r>
              <a:rPr kumimoji="1" lang="en-US" altLang="ja-JP" dirty="0"/>
              <a:t>Adam</a:t>
            </a:r>
            <a:r>
              <a:rPr kumimoji="1" lang="ja-JP" altLang="en-US" dirty="0"/>
              <a:t>となっており</a:t>
            </a:r>
            <a:endParaRPr kumimoji="1" lang="en-US" altLang="ja-JP" dirty="0"/>
          </a:p>
          <a:p>
            <a:endParaRPr kumimoji="1" lang="en-US" altLang="ja-JP" dirty="0"/>
          </a:p>
          <a:p>
            <a:r>
              <a:rPr kumimoji="1" lang="ja-JP" altLang="en-US" dirty="0"/>
              <a:t>ドット線がバッチサイズが</a:t>
            </a:r>
            <a:r>
              <a:rPr kumimoji="1" lang="en-US" altLang="ja-JP" dirty="0"/>
              <a:t>256</a:t>
            </a:r>
            <a:r>
              <a:rPr kumimoji="1" lang="ja-JP" altLang="en-US" dirty="0"/>
              <a:t>　ドットと破線のものがバッチサイズ</a:t>
            </a:r>
            <a:r>
              <a:rPr kumimoji="1" lang="en-US" altLang="ja-JP" dirty="0"/>
              <a:t>512</a:t>
            </a:r>
            <a:r>
              <a:rPr kumimoji="1" lang="ja-JP" altLang="en-US" dirty="0"/>
              <a:t>　破線がバッチサイズ</a:t>
            </a:r>
            <a:r>
              <a:rPr kumimoji="1" lang="en-US" altLang="ja-JP" dirty="0"/>
              <a:t>1024</a:t>
            </a:r>
            <a:r>
              <a:rPr kumimoji="1" lang="ja-JP" altLang="en-US" dirty="0"/>
              <a:t>　実線がバッチサイズ</a:t>
            </a:r>
            <a:r>
              <a:rPr kumimoji="1" lang="en-US" altLang="ja-JP" dirty="0"/>
              <a:t>2048</a:t>
            </a:r>
            <a:r>
              <a:rPr kumimoji="1" lang="ja-JP" altLang="en-US" dirty="0"/>
              <a:t>となっています</a:t>
            </a:r>
            <a:endParaRPr kumimoji="1" lang="en-US" altLang="ja-JP" dirty="0"/>
          </a:p>
          <a:p>
            <a:endParaRPr kumimoji="1" lang="en-US" altLang="ja-JP" dirty="0"/>
          </a:p>
          <a:p>
            <a:r>
              <a:rPr kumimoji="1" lang="ja-JP" altLang="en-US" dirty="0"/>
              <a:t>実験結果から、Ａｄａｍの場合バッチサイズを大きくすればするほど性能の低下がみられますが</a:t>
            </a:r>
            <a:endParaRPr kumimoji="1" lang="en-US" altLang="ja-JP" dirty="0"/>
          </a:p>
          <a:p>
            <a:endParaRPr kumimoji="1" lang="en-US" altLang="ja-JP" dirty="0"/>
          </a:p>
          <a:p>
            <a:r>
              <a:rPr kumimoji="1" lang="ja-JP" altLang="en-US" dirty="0"/>
              <a:t>提案手法の場合、バッチサイズを大きくしても性能の低下がみられないことが確認されました</a:t>
            </a:r>
            <a:endParaRPr kumimoji="1" lang="en-US" altLang="ja-JP" dirty="0"/>
          </a:p>
          <a:p>
            <a:endParaRPr kumimoji="1" lang="en-US" altLang="ja-JP" dirty="0"/>
          </a:p>
          <a:p>
            <a:r>
              <a:rPr kumimoji="1" lang="ja-JP" altLang="en-US" dirty="0"/>
              <a:t>このことから提案手法は広い範囲のバッチサイズに対して堅牢な性質をもっていることが示唆されます</a:t>
            </a:r>
            <a:endParaRPr kumimoji="1" lang="en-US" altLang="ja-JP"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40</a:t>
            </a:fld>
            <a:endParaRPr kumimoji="1" lang="ja-JP" altLang="en-US"/>
          </a:p>
        </p:txBody>
      </p:sp>
    </p:spTree>
    <p:extLst>
      <p:ext uri="{BB962C8B-B14F-4D97-AF65-F5344CB8AC3E}">
        <p14:creationId xmlns:p14="http://schemas.microsoft.com/office/powerpoint/2010/main" val="363976276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まとめといたしまして、</a:t>
            </a:r>
            <a:r>
              <a:rPr kumimoji="1" lang="en-US" altLang="ja-JP" dirty="0"/>
              <a:t>Hutchinson</a:t>
            </a:r>
            <a:r>
              <a:rPr kumimoji="1" lang="ja-JP" altLang="en-US" dirty="0"/>
              <a:t>手法に基づく行列対角化手法をを用いてヘッセ行列を対角行列に近似することで</a:t>
            </a:r>
            <a:endParaRPr kumimoji="1" lang="en-US" altLang="ja-JP" dirty="0"/>
          </a:p>
          <a:p>
            <a:endParaRPr kumimoji="1" lang="en-US" altLang="ja-JP" dirty="0"/>
          </a:p>
          <a:p>
            <a:r>
              <a:rPr kumimoji="1" lang="ja-JP" altLang="en-US" dirty="0"/>
              <a:t>オリジナルのニュートン法から大幅に計算効率を向上させた新たな学習アルゴリズムを提案しました</a:t>
            </a:r>
            <a:endParaRPr kumimoji="1" lang="en-US" altLang="ja-JP" dirty="0"/>
          </a:p>
          <a:p>
            <a:endParaRPr kumimoji="1" lang="en-US" altLang="ja-JP" dirty="0"/>
          </a:p>
          <a:p>
            <a:r>
              <a:rPr kumimoji="1" lang="ja-JP" altLang="en-US" dirty="0"/>
              <a:t>また、実験から提案手法が一次近似手法とくらべ少ない反復回数で学習が収束する特徴を持つことがわかりました</a:t>
            </a:r>
            <a:endParaRPr kumimoji="1" lang="en-US" altLang="ja-JP" dirty="0"/>
          </a:p>
          <a:p>
            <a:endParaRPr kumimoji="1" lang="en-US" altLang="ja-JP" dirty="0"/>
          </a:p>
          <a:p>
            <a:r>
              <a:rPr kumimoji="1" lang="ja-JP" altLang="en-US" dirty="0"/>
              <a:t>今後の課題として、他の問題設定でも実験を行うコト</a:t>
            </a:r>
            <a:endParaRPr kumimoji="1" lang="en-US" altLang="ja-JP" dirty="0"/>
          </a:p>
          <a:p>
            <a:endParaRPr kumimoji="1" lang="en-US" altLang="ja-JP" dirty="0"/>
          </a:p>
          <a:p>
            <a:r>
              <a:rPr kumimoji="1" lang="ja-JP" altLang="en-US" dirty="0"/>
              <a:t>本研究では</a:t>
            </a:r>
            <a:r>
              <a:rPr kumimoji="1" lang="en-US" altLang="ja-JP" dirty="0"/>
              <a:t>TensorFlow</a:t>
            </a:r>
            <a:r>
              <a:rPr kumimoji="1" lang="ja-JP" altLang="en-US" dirty="0"/>
              <a:t>にデフォルトからある学習アルゴリズムとしか比較できていないので、</a:t>
            </a:r>
            <a:endParaRPr kumimoji="1" lang="en-US" altLang="ja-JP" dirty="0"/>
          </a:p>
          <a:p>
            <a:endParaRPr kumimoji="1" lang="en-US" altLang="ja-JP" dirty="0"/>
          </a:p>
          <a:p>
            <a:r>
              <a:rPr kumimoji="1" lang="ja-JP" altLang="en-US" dirty="0"/>
              <a:t>他の学習アルゴリズム、特に提案手法の基となる</a:t>
            </a:r>
            <a:r>
              <a:rPr kumimoji="1" lang="ja-JP" altLang="en-US"/>
              <a:t>ニュートン法や提案手法と同じ</a:t>
            </a:r>
            <a:r>
              <a:rPr kumimoji="1" lang="ja-JP" altLang="en-US" dirty="0"/>
              <a:t>立ち位置にあるヘッシアンフリー手法との比較を行う必要があると考えています</a:t>
            </a:r>
            <a:endParaRPr kumimoji="1" lang="en-US" altLang="ja-JP" dirty="0"/>
          </a:p>
          <a:p>
            <a:endParaRPr kumimoji="1" lang="en-US" altLang="ja-JP" dirty="0"/>
          </a:p>
          <a:p>
            <a:r>
              <a:rPr kumimoji="1" lang="ja-JP" altLang="en-US"/>
              <a:t>また、多く</a:t>
            </a:r>
            <a:r>
              <a:rPr kumimoji="1" lang="ja-JP" altLang="en-US" dirty="0"/>
              <a:t>の問題にとって最適なデフォルトのハイパーパラメータの探索を行うこと</a:t>
            </a:r>
            <a:endParaRPr kumimoji="1" lang="en-US" altLang="ja-JP" dirty="0"/>
          </a:p>
          <a:p>
            <a:endParaRPr kumimoji="1" lang="en-US" altLang="ja-JP" dirty="0"/>
          </a:p>
          <a:p>
            <a:r>
              <a:rPr kumimoji="1" lang="ja-JP" altLang="en-US" dirty="0"/>
              <a:t>特に</a:t>
            </a:r>
            <a:r>
              <a:rPr kumimoji="1" lang="en-US" altLang="ja-JP" dirty="0"/>
              <a:t>Hutchinson</a:t>
            </a:r>
            <a:r>
              <a:rPr kumimoji="1" lang="ja-JP" altLang="en-US" dirty="0"/>
              <a:t>手法に基づく行列対角化手法の近似回数は計算効率に大きく影響するために最適値を探すことが重要であると考えています</a:t>
            </a:r>
            <a:endParaRPr kumimoji="1" lang="en-US" altLang="ja-JP" dirty="0"/>
          </a:p>
          <a:p>
            <a:endParaRPr kumimoji="1" lang="en-US" altLang="ja-JP" dirty="0"/>
          </a:p>
          <a:p>
            <a:r>
              <a:rPr kumimoji="1" lang="ja-JP" altLang="en-US" dirty="0"/>
              <a:t>最後に、ニュートン法や準ニュートン法では慣性項を追加することで学習を早める先行研究があり、</a:t>
            </a:r>
            <a:endParaRPr kumimoji="1" lang="en-US" altLang="ja-JP" dirty="0"/>
          </a:p>
          <a:p>
            <a:endParaRPr kumimoji="1" lang="en-US" altLang="ja-JP" dirty="0"/>
          </a:p>
          <a:p>
            <a:r>
              <a:rPr kumimoji="1" lang="ja-JP" altLang="en-US" dirty="0"/>
              <a:t>ニュートン法に基づく本研究の学習アルゴリズムにも慣性項を追加することで学習を早められると思うので、</a:t>
            </a:r>
            <a:endParaRPr kumimoji="1" lang="en-US" altLang="ja-JP" dirty="0"/>
          </a:p>
          <a:p>
            <a:endParaRPr kumimoji="1" lang="en-US" altLang="ja-JP" dirty="0"/>
          </a:p>
          <a:p>
            <a:r>
              <a:rPr kumimoji="1" lang="ja-JP" altLang="en-US" dirty="0"/>
              <a:t>慣性項を追加した本アルゴリズムの実装が挙げられます</a:t>
            </a:r>
            <a:endParaRPr kumimoji="1" lang="en-US" altLang="ja-JP" dirty="0"/>
          </a:p>
          <a:p>
            <a:endParaRPr kumimoji="1" lang="en-US" altLang="ja-JP" dirty="0"/>
          </a:p>
          <a:p>
            <a:r>
              <a:rPr kumimoji="1" lang="ja-JP" altLang="en-US" dirty="0"/>
              <a:t>以上で発表を終了します、ご清聴ありがとうございました</a:t>
            </a:r>
            <a:endParaRPr kumimoji="1" lang="en-US" altLang="ja-JP"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41</a:t>
            </a:fld>
            <a:endParaRPr kumimoji="1" lang="ja-JP" altLang="en-US"/>
          </a:p>
        </p:txBody>
      </p:sp>
    </p:spTree>
    <p:extLst>
      <p:ext uri="{BB962C8B-B14F-4D97-AF65-F5344CB8AC3E}">
        <p14:creationId xmlns:p14="http://schemas.microsoft.com/office/powerpoint/2010/main" val="329085255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本研究では提案手法を</a:t>
            </a:r>
            <a:r>
              <a:rPr kumimoji="1" lang="en-US" altLang="ja-JP" dirty="0"/>
              <a:t>TensorFlow</a:t>
            </a:r>
            <a:r>
              <a:rPr kumimoji="1" lang="ja-JP" altLang="en-US" dirty="0"/>
              <a:t>というニューラルネットワーク系のライブラリに実装し実験を行いました</a:t>
            </a:r>
            <a:endParaRPr kumimoji="1" lang="en-US" altLang="ja-JP" dirty="0"/>
          </a:p>
          <a:p>
            <a:endParaRPr kumimoji="1" lang="en-US" altLang="ja-JP" dirty="0"/>
          </a:p>
          <a:p>
            <a:r>
              <a:rPr kumimoji="1" lang="ja-JP" altLang="en-US" dirty="0"/>
              <a:t>本実験では</a:t>
            </a:r>
            <a:r>
              <a:rPr kumimoji="1" lang="en-US" altLang="ja-JP" dirty="0"/>
              <a:t>Iris</a:t>
            </a:r>
            <a:r>
              <a:rPr kumimoji="1" lang="ja-JP" altLang="en-US" dirty="0"/>
              <a:t>データの分類問題を　提案手法のハイパーパラメータである</a:t>
            </a:r>
            <a:r>
              <a:rPr kumimoji="1" lang="en-US" altLang="ja-JP" dirty="0"/>
              <a:t>Hutchinson</a:t>
            </a:r>
            <a:r>
              <a:rPr kumimoji="1" lang="ja-JP" altLang="en-US" dirty="0"/>
              <a:t>手法に基づく対角行列化を用いた対角ヘッセ行列の近似の近似回数をいくつかのパターンで学習させ、その結果を比較します</a:t>
            </a:r>
            <a:endParaRPr kumimoji="1" lang="en-US" altLang="ja-JP" dirty="0"/>
          </a:p>
          <a:p>
            <a:endParaRPr kumimoji="1" lang="en-US" altLang="ja-JP" dirty="0"/>
          </a:p>
          <a:p>
            <a:r>
              <a:rPr kumimoji="1" lang="ja-JP" altLang="en-US" dirty="0"/>
              <a:t>この近似回数は、学習全体の計算効率に大きく影響するため、重要なパラメータとなっています</a:t>
            </a:r>
            <a:endParaRPr kumimoji="1" lang="en-US" altLang="ja-JP" dirty="0"/>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Iris</a:t>
            </a:r>
            <a:r>
              <a:rPr kumimoji="1" lang="ja-JP" altLang="en-US" dirty="0"/>
              <a:t>データは、セトサ、バージ二カ、バージカラーの三種のアヤメの花弁とガクの幅と長さの四次元の特徴量で構成されたデータセットで、</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サンプル数が</a:t>
            </a:r>
            <a:r>
              <a:rPr kumimoji="1" lang="en-US" altLang="ja-JP" dirty="0"/>
              <a:t>150</a:t>
            </a:r>
            <a:r>
              <a:rPr kumimoji="1" lang="ja-JP" altLang="en-US" dirty="0"/>
              <a:t>で、本実験では学習用データが</a:t>
            </a:r>
            <a:r>
              <a:rPr kumimoji="1" lang="en-US" altLang="ja-JP" dirty="0"/>
              <a:t>120</a:t>
            </a:r>
            <a:r>
              <a:rPr kumimoji="1" lang="ja-JP" altLang="en-US" dirty="0"/>
              <a:t>、検証用データが</a:t>
            </a:r>
            <a:r>
              <a:rPr kumimoji="1" lang="en-US" altLang="ja-JP" dirty="0"/>
              <a:t>30</a:t>
            </a:r>
            <a:r>
              <a:rPr kumimoji="1" lang="ja-JP" altLang="en-US" dirty="0"/>
              <a:t>個としました</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r>
              <a:rPr kumimoji="1" lang="ja-JP" altLang="en-US" dirty="0"/>
              <a:t>学習反復回数エポックは１００、バッチサイズが３２、提案手法の学習率を</a:t>
            </a:r>
            <a:r>
              <a:rPr kumimoji="1" lang="en-US" altLang="ja-JP" dirty="0"/>
              <a:t>0.05</a:t>
            </a:r>
          </a:p>
          <a:p>
            <a:endParaRPr kumimoji="1" lang="en-US" altLang="ja-JP" dirty="0"/>
          </a:p>
          <a:p>
            <a:r>
              <a:rPr kumimoji="1" lang="ja-JP" altLang="en-US" dirty="0"/>
              <a:t>比較するステップ数を</a:t>
            </a:r>
            <a:r>
              <a:rPr kumimoji="1" lang="en-US" altLang="ja-JP" dirty="0"/>
              <a:t>1</a:t>
            </a:r>
            <a:r>
              <a:rPr kumimoji="1" lang="ja-JP" altLang="en-US" dirty="0"/>
              <a:t>、</a:t>
            </a:r>
            <a:r>
              <a:rPr kumimoji="1" lang="en-US" altLang="ja-JP" dirty="0"/>
              <a:t>3</a:t>
            </a:r>
            <a:r>
              <a:rPr kumimoji="1" lang="ja-JP" altLang="en-US" dirty="0"/>
              <a:t>，</a:t>
            </a:r>
            <a:r>
              <a:rPr kumimoji="1" lang="en-US" altLang="ja-JP" dirty="0"/>
              <a:t>5</a:t>
            </a:r>
            <a:r>
              <a:rPr kumimoji="1" lang="ja-JP" altLang="en-US" dirty="0"/>
              <a:t>，</a:t>
            </a:r>
            <a:r>
              <a:rPr kumimoji="1" lang="en-US" altLang="ja-JP" dirty="0"/>
              <a:t>10</a:t>
            </a:r>
            <a:r>
              <a:rPr kumimoji="1" lang="ja-JP" altLang="en-US" dirty="0"/>
              <a:t>としました</a:t>
            </a:r>
            <a:endParaRPr kumimoji="1" lang="en-US" altLang="ja-JP" dirty="0"/>
          </a:p>
          <a:p>
            <a:endParaRPr kumimoji="1" lang="en-US" altLang="ja-JP" dirty="0"/>
          </a:p>
          <a:p>
            <a:r>
              <a:rPr kumimoji="1" lang="ja-JP" altLang="en-US" dirty="0"/>
              <a:t>使用したネットワークはスライド右下にあるように　入力</a:t>
            </a:r>
            <a:r>
              <a:rPr kumimoji="1" lang="en-US" altLang="ja-JP" dirty="0"/>
              <a:t>4</a:t>
            </a:r>
            <a:r>
              <a:rPr kumimoji="1" lang="ja-JP" altLang="en-US" dirty="0"/>
              <a:t>　中間層</a:t>
            </a:r>
            <a:r>
              <a:rPr kumimoji="1" lang="en-US" altLang="ja-JP" dirty="0"/>
              <a:t>10</a:t>
            </a:r>
            <a:r>
              <a:rPr kumimoji="1" lang="ja-JP" altLang="en-US" dirty="0"/>
              <a:t>　出力層</a:t>
            </a:r>
            <a:r>
              <a:rPr kumimoji="1" lang="en-US" altLang="ja-JP" dirty="0"/>
              <a:t>3</a:t>
            </a:r>
            <a:r>
              <a:rPr kumimoji="1" lang="ja-JP" altLang="en-US" dirty="0"/>
              <a:t>のようになっています</a:t>
            </a:r>
            <a:endParaRPr kumimoji="1" lang="en-US" altLang="ja-JP"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42</a:t>
            </a:fld>
            <a:endParaRPr kumimoji="1" lang="ja-JP" altLang="en-US"/>
          </a:p>
        </p:txBody>
      </p:sp>
    </p:spTree>
    <p:extLst>
      <p:ext uri="{BB962C8B-B14F-4D97-AF65-F5344CB8AC3E}">
        <p14:creationId xmlns:p14="http://schemas.microsoft.com/office/powerpoint/2010/main" val="37338244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次に提案手法のハイパーパラメータである学習率をいくつかの数値に変更し、</a:t>
            </a:r>
            <a:r>
              <a:rPr kumimoji="1" lang="en-US" altLang="ja-JP" dirty="0"/>
              <a:t>Iris</a:t>
            </a:r>
            <a:r>
              <a:rPr kumimoji="1" lang="ja-JP" altLang="en-US" dirty="0"/>
              <a:t>データを学習させその結果を比較しました</a:t>
            </a:r>
            <a:endParaRPr kumimoji="1" lang="en-US" altLang="ja-JP" dirty="0"/>
          </a:p>
          <a:p>
            <a:endParaRPr kumimoji="1" lang="en-US" altLang="ja-JP" dirty="0"/>
          </a:p>
          <a:p>
            <a:r>
              <a:rPr kumimoji="1" lang="ja-JP" altLang="en-US" dirty="0"/>
              <a:t>学習率は学習の速度や精度に影響を及ぼす値となっており、問題によって最適地が異なります</a:t>
            </a:r>
            <a:endParaRPr kumimoji="1" lang="en-US" altLang="ja-JP" dirty="0"/>
          </a:p>
          <a:p>
            <a:endParaRPr kumimoji="1" lang="en-US" altLang="ja-JP" dirty="0"/>
          </a:p>
          <a:p>
            <a:r>
              <a:rPr kumimoji="1" lang="ja-JP" altLang="en-US" dirty="0"/>
              <a:t>学習サンプル、バッチサイズ、学習反復回数</a:t>
            </a:r>
            <a:r>
              <a:rPr kumimoji="1" lang="en-US" altLang="ja-JP" dirty="0"/>
              <a:t>Epoch</a:t>
            </a:r>
            <a:r>
              <a:rPr kumimoji="1" lang="ja-JP" altLang="en-US" dirty="0"/>
              <a:t>、ネットワークの構造は先ほどの実験と同様です</a:t>
            </a:r>
            <a:endParaRPr kumimoji="1" lang="en-US" altLang="ja-JP" dirty="0"/>
          </a:p>
          <a:p>
            <a:endParaRPr kumimoji="1" lang="en-US" altLang="ja-JP" dirty="0"/>
          </a:p>
          <a:p>
            <a:r>
              <a:rPr kumimoji="1" lang="ja-JP" altLang="en-US" dirty="0"/>
              <a:t>本実験では学習率を</a:t>
            </a:r>
            <a:r>
              <a:rPr kumimoji="1" lang="en-US" altLang="ja-JP" dirty="0"/>
              <a:t>0.5</a:t>
            </a:r>
            <a:r>
              <a:rPr kumimoji="1" lang="ja-JP" altLang="en-US" dirty="0"/>
              <a:t>，</a:t>
            </a:r>
            <a:r>
              <a:rPr kumimoji="1" lang="en-US" altLang="ja-JP" dirty="0"/>
              <a:t>0.1</a:t>
            </a:r>
            <a:r>
              <a:rPr kumimoji="1" lang="ja-JP" altLang="en-US" dirty="0"/>
              <a:t>，</a:t>
            </a:r>
            <a:r>
              <a:rPr kumimoji="1" lang="en-US" altLang="ja-JP" dirty="0"/>
              <a:t>0.05</a:t>
            </a:r>
            <a:r>
              <a:rPr kumimoji="1" lang="ja-JP" altLang="en-US" dirty="0"/>
              <a:t>，</a:t>
            </a:r>
            <a:r>
              <a:rPr kumimoji="1" lang="en-US" altLang="ja-JP" dirty="0"/>
              <a:t>0.01</a:t>
            </a:r>
            <a:r>
              <a:rPr kumimoji="1" lang="ja-JP" altLang="en-US" dirty="0"/>
              <a:t>に変更し結果を比較します</a:t>
            </a:r>
            <a:endParaRPr kumimoji="1" lang="en-US" altLang="ja-JP"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43</a:t>
            </a:fld>
            <a:endParaRPr kumimoji="1" lang="ja-JP" altLang="en-US"/>
          </a:p>
        </p:txBody>
      </p:sp>
    </p:spTree>
    <p:extLst>
      <p:ext uri="{BB962C8B-B14F-4D97-AF65-F5344CB8AC3E}">
        <p14:creationId xmlns:p14="http://schemas.microsoft.com/office/powerpoint/2010/main" val="2850604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提案手法の有効性を確認するために、先ほどまでの</a:t>
            </a:r>
            <a:r>
              <a:rPr kumimoji="1" lang="en-US" altLang="ja-JP" dirty="0"/>
              <a:t>Iris</a:t>
            </a:r>
            <a:r>
              <a:rPr kumimoji="1" lang="ja-JP" altLang="en-US" dirty="0"/>
              <a:t>データの分類問題を、</a:t>
            </a:r>
            <a:r>
              <a:rPr kumimoji="1" lang="en-US" altLang="ja-JP" dirty="0"/>
              <a:t>Adam</a:t>
            </a:r>
            <a:r>
              <a:rPr kumimoji="1" lang="ja-JP" altLang="en-US" dirty="0"/>
              <a:t>、</a:t>
            </a:r>
            <a:r>
              <a:rPr kumimoji="1" lang="en-US" altLang="ja-JP" dirty="0"/>
              <a:t>SGD</a:t>
            </a:r>
            <a:r>
              <a:rPr kumimoji="1" lang="ja-JP" altLang="en-US" dirty="0"/>
              <a:t>、提案手法でそれぞれ学習させその結果を比較します</a:t>
            </a:r>
            <a:endParaRPr kumimoji="1" lang="en-US" altLang="ja-JP" dirty="0"/>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学習用検証用データ、学習反復回数、バッチサイズ、ネットワークの構造は先ほどまでの実験と同様で</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提案手法の学習率を</a:t>
            </a:r>
            <a:r>
              <a:rPr kumimoji="1" lang="en-US" altLang="ja-JP" dirty="0"/>
              <a:t>0.1</a:t>
            </a:r>
            <a:r>
              <a:rPr kumimoji="1" lang="ja-JP" altLang="en-US" dirty="0"/>
              <a:t>、</a:t>
            </a:r>
            <a:r>
              <a:rPr kumimoji="1" lang="en-US" altLang="ja-JP" dirty="0"/>
              <a:t>Hutchinson</a:t>
            </a:r>
            <a:r>
              <a:rPr kumimoji="1" lang="ja-JP" altLang="en-US" dirty="0"/>
              <a:t>近似の近似回数を</a:t>
            </a:r>
            <a:r>
              <a:rPr kumimoji="1" lang="en-US" altLang="ja-JP" dirty="0"/>
              <a:t>3</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比較対象の</a:t>
            </a:r>
            <a:r>
              <a:rPr kumimoji="1" lang="en-US" altLang="ja-JP" dirty="0"/>
              <a:t>Adam</a:t>
            </a:r>
            <a:r>
              <a:rPr kumimoji="1" lang="ja-JP" altLang="en-US" dirty="0"/>
              <a:t>の学習率を</a:t>
            </a:r>
            <a:r>
              <a:rPr kumimoji="1" lang="en-US" altLang="ja-JP" dirty="0"/>
              <a:t>0.001</a:t>
            </a:r>
            <a:r>
              <a:rPr kumimoji="1" lang="ja-JP" altLang="en-US" dirty="0"/>
              <a:t>、</a:t>
            </a:r>
            <a:r>
              <a:rPr kumimoji="1" lang="en-US" altLang="ja-JP" dirty="0"/>
              <a:t>SGD</a:t>
            </a:r>
            <a:r>
              <a:rPr kumimoji="1" lang="ja-JP" altLang="en-US" dirty="0"/>
              <a:t>の学習率を</a:t>
            </a:r>
            <a:r>
              <a:rPr kumimoji="1" lang="en-US" altLang="ja-JP" dirty="0"/>
              <a:t>0.01</a:t>
            </a:r>
            <a:r>
              <a:rPr kumimoji="1" lang="ja-JP" altLang="en-US" dirty="0"/>
              <a:t>としました</a:t>
            </a:r>
            <a:endParaRPr kumimoji="1" lang="en-US" altLang="ja-JP"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44</a:t>
            </a:fld>
            <a:endParaRPr kumimoji="1" lang="ja-JP" altLang="en-US"/>
          </a:p>
        </p:txBody>
      </p:sp>
    </p:spTree>
    <p:extLst>
      <p:ext uri="{BB962C8B-B14F-4D97-AF65-F5344CB8AC3E}">
        <p14:creationId xmlns:p14="http://schemas.microsoft.com/office/powerpoint/2010/main" val="47712775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次に手書き数字文字</a:t>
            </a:r>
            <a:r>
              <a:rPr kumimoji="1" lang="en-US" altLang="ja-JP" dirty="0"/>
              <a:t>MNIST</a:t>
            </a:r>
            <a:r>
              <a:rPr kumimoji="1" lang="ja-JP" altLang="en-US" dirty="0"/>
              <a:t>の分類問題を、実験</a:t>
            </a:r>
            <a:r>
              <a:rPr kumimoji="1" lang="en-US" altLang="ja-JP" dirty="0"/>
              <a:t>1</a:t>
            </a:r>
            <a:r>
              <a:rPr kumimoji="1" lang="ja-JP" altLang="en-US" dirty="0"/>
              <a:t>と同様に</a:t>
            </a:r>
            <a:r>
              <a:rPr kumimoji="1" lang="en-US" altLang="ja-JP" dirty="0"/>
              <a:t>Adam</a:t>
            </a:r>
            <a:r>
              <a:rPr kumimoji="1" lang="ja-JP" altLang="en-US" dirty="0"/>
              <a:t>、</a:t>
            </a:r>
            <a:r>
              <a:rPr kumimoji="1" lang="en-US" altLang="ja-JP" dirty="0"/>
              <a:t>SGD</a:t>
            </a:r>
            <a:r>
              <a:rPr kumimoji="1" lang="ja-JP" altLang="en-US" dirty="0"/>
              <a:t>、提案手法でそれぞれ学習させその結果を比較します</a:t>
            </a:r>
            <a:endParaRPr kumimoji="1" lang="en-US" altLang="ja-JP" dirty="0"/>
          </a:p>
          <a:p>
            <a:endParaRPr kumimoji="1" lang="en-US" altLang="ja-JP" dirty="0"/>
          </a:p>
          <a:p>
            <a:r>
              <a:rPr kumimoji="1" lang="en-US" altLang="ja-JP" dirty="0"/>
              <a:t>MNIST</a:t>
            </a:r>
            <a:r>
              <a:rPr kumimoji="1" lang="ja-JP" altLang="en-US" dirty="0"/>
              <a:t>は縦横</a:t>
            </a:r>
            <a:r>
              <a:rPr kumimoji="1" lang="en-US" altLang="ja-JP" dirty="0"/>
              <a:t>28</a:t>
            </a:r>
            <a:r>
              <a:rPr kumimoji="1" lang="ja-JP" altLang="en-US" dirty="0"/>
              <a:t>ピクセルでできたモノクロ画像で、</a:t>
            </a:r>
            <a:r>
              <a:rPr kumimoji="1" lang="en-US" altLang="ja-JP" dirty="0"/>
              <a:t>0</a:t>
            </a:r>
            <a:r>
              <a:rPr kumimoji="1" lang="ja-JP" altLang="en-US" dirty="0"/>
              <a:t>から</a:t>
            </a:r>
            <a:r>
              <a:rPr kumimoji="1" lang="en-US" altLang="ja-JP" dirty="0"/>
              <a:t>9</a:t>
            </a:r>
            <a:r>
              <a:rPr kumimoji="1" lang="ja-JP" altLang="en-US" dirty="0"/>
              <a:t>までの</a:t>
            </a:r>
            <a:r>
              <a:rPr kumimoji="1" lang="en-US" altLang="ja-JP" dirty="0"/>
              <a:t>10</a:t>
            </a:r>
            <a:r>
              <a:rPr kumimoji="1" lang="ja-JP" altLang="en-US" dirty="0"/>
              <a:t>種類でできたデータセットです</a:t>
            </a:r>
            <a:endParaRPr kumimoji="1" lang="en-US" altLang="ja-JP" dirty="0"/>
          </a:p>
          <a:p>
            <a:endParaRPr kumimoji="1" lang="en-US" altLang="ja-JP" dirty="0"/>
          </a:p>
          <a:p>
            <a:r>
              <a:rPr kumimoji="1" lang="ja-JP" altLang="en-US" dirty="0"/>
              <a:t>学習用データが</a:t>
            </a:r>
            <a:r>
              <a:rPr kumimoji="1" lang="en-US" altLang="ja-JP" dirty="0"/>
              <a:t>60000</a:t>
            </a:r>
            <a:r>
              <a:rPr kumimoji="1" lang="ja-JP" altLang="en-US" dirty="0"/>
              <a:t>、検証用データが</a:t>
            </a:r>
            <a:r>
              <a:rPr kumimoji="1" lang="en-US" altLang="ja-JP" dirty="0"/>
              <a:t>10000</a:t>
            </a:r>
            <a:r>
              <a:rPr kumimoji="1" lang="ja-JP" altLang="en-US" dirty="0"/>
              <a:t>個になります</a:t>
            </a:r>
            <a:endParaRPr kumimoji="1" lang="en-US" altLang="ja-JP" dirty="0"/>
          </a:p>
          <a:p>
            <a:endParaRPr kumimoji="1" lang="en-US" altLang="ja-JP" dirty="0"/>
          </a:p>
          <a:p>
            <a:r>
              <a:rPr kumimoji="1" lang="ja-JP" altLang="en-US" dirty="0"/>
              <a:t>学習反復回数を</a:t>
            </a:r>
            <a:r>
              <a:rPr kumimoji="1" lang="en-US" altLang="ja-JP" dirty="0"/>
              <a:t>20</a:t>
            </a:r>
            <a:r>
              <a:rPr kumimoji="1" lang="ja-JP" altLang="en-US" dirty="0"/>
              <a:t>、バッチサイズを</a:t>
            </a:r>
            <a:r>
              <a:rPr kumimoji="1" lang="en-US" altLang="ja-JP" dirty="0"/>
              <a:t>256</a:t>
            </a:r>
            <a:r>
              <a:rPr kumimoji="1" lang="ja-JP" altLang="en-US" dirty="0"/>
              <a:t>、提案手法の学習率が</a:t>
            </a:r>
            <a:r>
              <a:rPr kumimoji="1" lang="en-US" altLang="ja-JP" dirty="0"/>
              <a:t>0.05</a:t>
            </a:r>
            <a:r>
              <a:rPr kumimoji="1" lang="ja-JP" altLang="en-US" dirty="0"/>
              <a:t>、</a:t>
            </a:r>
            <a:r>
              <a:rPr kumimoji="1" lang="en-US" altLang="ja-JP" dirty="0"/>
              <a:t>SGD</a:t>
            </a:r>
            <a:r>
              <a:rPr kumimoji="1" lang="ja-JP" altLang="en-US" dirty="0"/>
              <a:t>の学習率が</a:t>
            </a:r>
            <a:r>
              <a:rPr kumimoji="1" lang="en-US" altLang="ja-JP" dirty="0"/>
              <a:t>0.01</a:t>
            </a:r>
            <a:r>
              <a:rPr kumimoji="1" lang="ja-JP" altLang="en-US" dirty="0"/>
              <a:t>、</a:t>
            </a:r>
            <a:r>
              <a:rPr kumimoji="1" lang="en-US" altLang="ja-JP" dirty="0"/>
              <a:t>Adam</a:t>
            </a:r>
            <a:r>
              <a:rPr kumimoji="1" lang="ja-JP" altLang="en-US" dirty="0"/>
              <a:t>の学習率が</a:t>
            </a:r>
            <a:r>
              <a:rPr kumimoji="1" lang="en-US" altLang="ja-JP" dirty="0"/>
              <a:t>0.001</a:t>
            </a:r>
            <a:r>
              <a:rPr kumimoji="1" lang="ja-JP" altLang="en-US" dirty="0"/>
              <a:t>となります</a:t>
            </a:r>
            <a:endParaRPr kumimoji="1" lang="en-US" altLang="ja-JP" dirty="0"/>
          </a:p>
          <a:p>
            <a:endParaRPr kumimoji="1" lang="en-US" altLang="ja-JP" dirty="0"/>
          </a:p>
          <a:p>
            <a:r>
              <a:rPr kumimoji="1" lang="ja-JP" altLang="en-US" dirty="0"/>
              <a:t>また提案手法で</a:t>
            </a:r>
            <a:r>
              <a:rPr kumimoji="1" lang="en-US" altLang="ja-JP" dirty="0"/>
              <a:t>Hutchinson</a:t>
            </a:r>
            <a:r>
              <a:rPr kumimoji="1" lang="ja-JP" altLang="en-US" dirty="0"/>
              <a:t>手法に基づく行列対角化を用いた対角ヘッセ行列の近似のステップ回数を</a:t>
            </a:r>
            <a:r>
              <a:rPr kumimoji="1" lang="en-US" altLang="ja-JP" dirty="0"/>
              <a:t>5</a:t>
            </a:r>
            <a:r>
              <a:rPr kumimoji="1" lang="ja-JP" altLang="en-US" dirty="0"/>
              <a:t>回としました</a:t>
            </a:r>
            <a:endParaRPr kumimoji="1" lang="en-US" altLang="ja-JP" dirty="0"/>
          </a:p>
          <a:p>
            <a:endParaRPr kumimoji="1" lang="en-US" altLang="ja-JP" dirty="0"/>
          </a:p>
          <a:p>
            <a:r>
              <a:rPr kumimoji="1" lang="ja-JP" altLang="en-US" dirty="0"/>
              <a:t>ネットワークの構造はスライド右下にあるように、入力</a:t>
            </a:r>
            <a:r>
              <a:rPr kumimoji="1" lang="en-US" altLang="ja-JP" dirty="0"/>
              <a:t>784</a:t>
            </a:r>
            <a:r>
              <a:rPr kumimoji="1" lang="ja-JP" altLang="en-US" dirty="0"/>
              <a:t> 中間層１０ 出力層</a:t>
            </a:r>
            <a:r>
              <a:rPr kumimoji="1" lang="en-US" altLang="ja-JP" dirty="0"/>
              <a:t>10</a:t>
            </a:r>
            <a:r>
              <a:rPr kumimoji="1" lang="ja-JP" altLang="en-US" dirty="0"/>
              <a:t>となっています</a:t>
            </a:r>
            <a:endParaRPr kumimoji="1" lang="en-US" altLang="ja-JP" dirty="0"/>
          </a:p>
          <a:p>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45</a:t>
            </a:fld>
            <a:endParaRPr kumimoji="1" lang="ja-JP" altLang="en-US"/>
          </a:p>
        </p:txBody>
      </p:sp>
    </p:spTree>
    <p:extLst>
      <p:ext uri="{BB962C8B-B14F-4D97-AF65-F5344CB8AC3E}">
        <p14:creationId xmlns:p14="http://schemas.microsoft.com/office/powerpoint/2010/main" val="335878775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次に手書き数字文字</a:t>
            </a:r>
            <a:r>
              <a:rPr kumimoji="1" lang="en-US" altLang="ja-JP" dirty="0"/>
              <a:t>MNIST</a:t>
            </a:r>
            <a:r>
              <a:rPr kumimoji="1" lang="ja-JP" altLang="en-US" dirty="0"/>
              <a:t>の分類問題を、実験</a:t>
            </a:r>
            <a:r>
              <a:rPr kumimoji="1" lang="en-US" altLang="ja-JP" dirty="0"/>
              <a:t>1</a:t>
            </a:r>
            <a:r>
              <a:rPr kumimoji="1" lang="ja-JP" altLang="en-US" dirty="0"/>
              <a:t>と同様に提案手法の対角ヘッセ行列の近似のステップ数をいくつかの値に変更し、学習を行いその結果を比較します</a:t>
            </a:r>
            <a:endParaRPr kumimoji="1" lang="en-US" altLang="ja-JP" dirty="0"/>
          </a:p>
          <a:p>
            <a:endParaRPr kumimoji="1" lang="en-US" altLang="ja-JP" dirty="0"/>
          </a:p>
          <a:p>
            <a:r>
              <a:rPr kumimoji="1" lang="en-US" altLang="ja-JP" dirty="0"/>
              <a:t>MNIST</a:t>
            </a:r>
            <a:r>
              <a:rPr kumimoji="1" lang="ja-JP" altLang="en-US" dirty="0"/>
              <a:t>は縦横</a:t>
            </a:r>
            <a:r>
              <a:rPr kumimoji="1" lang="en-US" altLang="ja-JP" dirty="0"/>
              <a:t>28</a:t>
            </a:r>
            <a:r>
              <a:rPr kumimoji="1" lang="ja-JP" altLang="en-US" dirty="0"/>
              <a:t>ピクセルでできたモノクロ画像で、</a:t>
            </a:r>
            <a:r>
              <a:rPr kumimoji="1" lang="en-US" altLang="ja-JP" dirty="0"/>
              <a:t>0</a:t>
            </a:r>
            <a:r>
              <a:rPr kumimoji="1" lang="ja-JP" altLang="en-US" dirty="0"/>
              <a:t>から</a:t>
            </a:r>
            <a:r>
              <a:rPr kumimoji="1" lang="en-US" altLang="ja-JP" dirty="0"/>
              <a:t>9</a:t>
            </a:r>
            <a:r>
              <a:rPr kumimoji="1" lang="ja-JP" altLang="en-US" dirty="0"/>
              <a:t>までの</a:t>
            </a:r>
            <a:r>
              <a:rPr kumimoji="1" lang="en-US" altLang="ja-JP" dirty="0"/>
              <a:t>10</a:t>
            </a:r>
            <a:r>
              <a:rPr kumimoji="1" lang="ja-JP" altLang="en-US" dirty="0"/>
              <a:t>種類でできたデータセットです</a:t>
            </a:r>
            <a:endParaRPr kumimoji="1" lang="en-US" altLang="ja-JP" dirty="0"/>
          </a:p>
          <a:p>
            <a:endParaRPr kumimoji="1" lang="en-US" altLang="ja-JP" dirty="0"/>
          </a:p>
          <a:p>
            <a:r>
              <a:rPr kumimoji="1" lang="ja-JP" altLang="en-US" dirty="0"/>
              <a:t>学習用データが</a:t>
            </a:r>
            <a:r>
              <a:rPr kumimoji="1" lang="en-US" altLang="ja-JP" dirty="0"/>
              <a:t>60000</a:t>
            </a:r>
            <a:r>
              <a:rPr kumimoji="1" lang="ja-JP" altLang="en-US" dirty="0"/>
              <a:t>、検証用データが</a:t>
            </a:r>
            <a:r>
              <a:rPr kumimoji="1" lang="en-US" altLang="ja-JP" dirty="0"/>
              <a:t>10000</a:t>
            </a:r>
            <a:r>
              <a:rPr kumimoji="1" lang="ja-JP" altLang="en-US" dirty="0"/>
              <a:t>個になります</a:t>
            </a:r>
            <a:endParaRPr kumimoji="1" lang="en-US" altLang="ja-JP" dirty="0"/>
          </a:p>
          <a:p>
            <a:endParaRPr kumimoji="1" lang="en-US" altLang="ja-JP" dirty="0"/>
          </a:p>
          <a:p>
            <a:r>
              <a:rPr kumimoji="1" lang="ja-JP" altLang="en-US" dirty="0"/>
              <a:t>学習反復回数を</a:t>
            </a:r>
            <a:r>
              <a:rPr kumimoji="1" lang="en-US" altLang="ja-JP" dirty="0"/>
              <a:t>20</a:t>
            </a:r>
            <a:r>
              <a:rPr kumimoji="1" lang="ja-JP" altLang="en-US" dirty="0"/>
              <a:t>、バッチサイズを</a:t>
            </a:r>
            <a:r>
              <a:rPr kumimoji="1" lang="en-US" altLang="ja-JP" dirty="0"/>
              <a:t>512</a:t>
            </a:r>
            <a:r>
              <a:rPr kumimoji="1" lang="ja-JP" altLang="en-US" dirty="0"/>
              <a:t>、提案手法の学習率を</a:t>
            </a:r>
            <a:r>
              <a:rPr kumimoji="1" lang="en-US" altLang="ja-JP" dirty="0"/>
              <a:t>0.1</a:t>
            </a:r>
            <a:r>
              <a:rPr kumimoji="1" lang="ja-JP" altLang="en-US" dirty="0"/>
              <a:t>に固定し、</a:t>
            </a:r>
            <a:endParaRPr kumimoji="1" lang="en-US" altLang="ja-JP" dirty="0"/>
          </a:p>
          <a:p>
            <a:endParaRPr kumimoji="1" lang="en-US" altLang="ja-JP" dirty="0"/>
          </a:p>
          <a:p>
            <a:r>
              <a:rPr kumimoji="1" lang="ja-JP" altLang="en-US" dirty="0"/>
              <a:t>近似回数が</a:t>
            </a:r>
            <a:r>
              <a:rPr kumimoji="1" lang="en-US" altLang="ja-JP" dirty="0"/>
              <a:t>1</a:t>
            </a:r>
            <a:r>
              <a:rPr kumimoji="1" lang="ja-JP" altLang="en-US" dirty="0"/>
              <a:t>，</a:t>
            </a:r>
            <a:r>
              <a:rPr kumimoji="1" lang="en-US" altLang="ja-JP" dirty="0"/>
              <a:t>3</a:t>
            </a:r>
            <a:r>
              <a:rPr kumimoji="1" lang="ja-JP" altLang="en-US" dirty="0"/>
              <a:t>，</a:t>
            </a:r>
            <a:r>
              <a:rPr kumimoji="1" lang="en-US" altLang="ja-JP" dirty="0"/>
              <a:t>5</a:t>
            </a:r>
            <a:r>
              <a:rPr kumimoji="1" lang="ja-JP" altLang="en-US" dirty="0"/>
              <a:t>，</a:t>
            </a:r>
            <a:r>
              <a:rPr kumimoji="1" lang="en-US" altLang="ja-JP" dirty="0"/>
              <a:t>10</a:t>
            </a:r>
            <a:r>
              <a:rPr kumimoji="1" lang="ja-JP" altLang="en-US" dirty="0"/>
              <a:t>回のパターンを比較します</a:t>
            </a:r>
            <a:endParaRPr kumimoji="1" lang="en-US" altLang="ja-JP" dirty="0"/>
          </a:p>
          <a:p>
            <a:endParaRPr kumimoji="1" lang="en-US" altLang="ja-JP" dirty="0"/>
          </a:p>
          <a:p>
            <a:r>
              <a:rPr kumimoji="1" lang="ja-JP" altLang="en-US" dirty="0"/>
              <a:t>ネットワークの構造はスライド右下にあるように、入力</a:t>
            </a:r>
            <a:r>
              <a:rPr kumimoji="1" lang="en-US" altLang="ja-JP" dirty="0"/>
              <a:t>784</a:t>
            </a:r>
            <a:r>
              <a:rPr kumimoji="1" lang="ja-JP" altLang="en-US" dirty="0"/>
              <a:t> 中間層１０ 出力層</a:t>
            </a:r>
            <a:r>
              <a:rPr kumimoji="1" lang="en-US" altLang="ja-JP" dirty="0"/>
              <a:t>10</a:t>
            </a:r>
            <a:r>
              <a:rPr kumimoji="1" lang="ja-JP" altLang="en-US" dirty="0"/>
              <a:t>となっています</a:t>
            </a:r>
            <a:endParaRPr kumimoji="1" lang="en-US" altLang="ja-JP" dirty="0"/>
          </a:p>
          <a:p>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46</a:t>
            </a:fld>
            <a:endParaRPr kumimoji="1" lang="ja-JP" altLang="en-US"/>
          </a:p>
        </p:txBody>
      </p:sp>
    </p:spTree>
    <p:extLst>
      <p:ext uri="{BB962C8B-B14F-4D97-AF65-F5344CB8AC3E}">
        <p14:creationId xmlns:p14="http://schemas.microsoft.com/office/powerpoint/2010/main" val="191194208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次に提案手法のハイパーパラメータである学習率をいくつかの数値に変更し、</a:t>
            </a:r>
            <a:r>
              <a:rPr kumimoji="1" lang="en-US" altLang="ja-JP" dirty="0"/>
              <a:t>MNIST</a:t>
            </a:r>
            <a:r>
              <a:rPr kumimoji="1" lang="ja-JP" altLang="en-US" dirty="0"/>
              <a:t>を学習させその結果を比較しました</a:t>
            </a:r>
            <a:endParaRPr kumimoji="1" lang="en-US" altLang="ja-JP" dirty="0"/>
          </a:p>
          <a:p>
            <a:endParaRPr kumimoji="1" lang="en-US" altLang="ja-JP" dirty="0"/>
          </a:p>
          <a:p>
            <a:r>
              <a:rPr kumimoji="1" lang="ja-JP" altLang="en-US" dirty="0"/>
              <a:t>学習サンプル、バッチサイズ、学習反復回数</a:t>
            </a:r>
            <a:r>
              <a:rPr kumimoji="1" lang="en-US" altLang="ja-JP" dirty="0"/>
              <a:t>Epoch</a:t>
            </a:r>
            <a:r>
              <a:rPr kumimoji="1" lang="ja-JP" altLang="en-US" dirty="0"/>
              <a:t>、ネットワークの構造は先ほどの実験と同様です</a:t>
            </a:r>
            <a:endParaRPr kumimoji="1" lang="en-US" altLang="ja-JP" dirty="0"/>
          </a:p>
          <a:p>
            <a:endParaRPr kumimoji="1" lang="en-US" altLang="ja-JP" dirty="0"/>
          </a:p>
          <a:p>
            <a:r>
              <a:rPr kumimoji="1" lang="ja-JP" altLang="en-US" dirty="0"/>
              <a:t>本実験では学習率を</a:t>
            </a:r>
            <a:r>
              <a:rPr kumimoji="1" lang="en-US" altLang="ja-JP" dirty="0"/>
              <a:t>0.5</a:t>
            </a:r>
            <a:r>
              <a:rPr kumimoji="1" lang="ja-JP" altLang="en-US" dirty="0"/>
              <a:t>，</a:t>
            </a:r>
            <a:r>
              <a:rPr kumimoji="1" lang="en-US" altLang="ja-JP" dirty="0"/>
              <a:t>0.1</a:t>
            </a:r>
            <a:r>
              <a:rPr kumimoji="1" lang="ja-JP" altLang="en-US" dirty="0"/>
              <a:t>，</a:t>
            </a:r>
            <a:r>
              <a:rPr kumimoji="1" lang="en-US" altLang="ja-JP" dirty="0"/>
              <a:t>0.05</a:t>
            </a:r>
            <a:r>
              <a:rPr kumimoji="1" lang="ja-JP" altLang="en-US" dirty="0"/>
              <a:t>，</a:t>
            </a:r>
            <a:r>
              <a:rPr kumimoji="1" lang="en-US" altLang="ja-JP" dirty="0"/>
              <a:t>0.01</a:t>
            </a:r>
            <a:r>
              <a:rPr kumimoji="1" lang="ja-JP" altLang="en-US" dirty="0"/>
              <a:t>に変更し結果を比較します</a:t>
            </a:r>
            <a:endParaRPr kumimoji="1" lang="en-US" altLang="ja-JP" dirty="0"/>
          </a:p>
          <a:p>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47</a:t>
            </a:fld>
            <a:endParaRPr kumimoji="1" lang="ja-JP" altLang="en-US"/>
          </a:p>
        </p:txBody>
      </p:sp>
    </p:spTree>
    <p:extLst>
      <p:ext uri="{BB962C8B-B14F-4D97-AF65-F5344CB8AC3E}">
        <p14:creationId xmlns:p14="http://schemas.microsoft.com/office/powerpoint/2010/main" val="90631084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次に提案手法の有効性を確認するために従来手法である</a:t>
            </a:r>
            <a:r>
              <a:rPr kumimoji="1" lang="en-US" altLang="ja-JP" dirty="0"/>
              <a:t>Adam</a:t>
            </a:r>
            <a:r>
              <a:rPr kumimoji="1" lang="ja-JP" altLang="en-US" dirty="0"/>
              <a:t>、</a:t>
            </a:r>
            <a:r>
              <a:rPr kumimoji="1" lang="en-US" altLang="ja-JP" dirty="0"/>
              <a:t>SGD</a:t>
            </a:r>
            <a:r>
              <a:rPr kumimoji="1" lang="ja-JP" altLang="en-US" dirty="0"/>
              <a:t>と提案手法で、</a:t>
            </a:r>
            <a:r>
              <a:rPr kumimoji="1" lang="en-US" altLang="ja-JP" dirty="0"/>
              <a:t>MNIST</a:t>
            </a:r>
            <a:r>
              <a:rPr kumimoji="1" lang="ja-JP" altLang="en-US" dirty="0"/>
              <a:t>を学習させその結果を比較しました</a:t>
            </a:r>
            <a:endParaRPr kumimoji="1" lang="en-US" altLang="ja-JP" dirty="0"/>
          </a:p>
          <a:p>
            <a:endParaRPr kumimoji="1" lang="en-US" altLang="ja-JP" dirty="0"/>
          </a:p>
          <a:p>
            <a:r>
              <a:rPr kumimoji="1" lang="ja-JP" altLang="en-US" dirty="0"/>
              <a:t>学習サンプル、バッチサイズ、学習反復回数</a:t>
            </a:r>
            <a:r>
              <a:rPr kumimoji="1" lang="en-US" altLang="ja-JP" dirty="0"/>
              <a:t>Epoch</a:t>
            </a:r>
            <a:r>
              <a:rPr kumimoji="1" lang="ja-JP" altLang="en-US" dirty="0"/>
              <a:t>、ネットワークの構造は先ほどの実験と同様です</a:t>
            </a:r>
            <a:endParaRPr kumimoji="1" lang="en-US" altLang="ja-JP" dirty="0"/>
          </a:p>
          <a:p>
            <a:endParaRPr kumimoji="1" lang="en-US" altLang="ja-JP" dirty="0"/>
          </a:p>
          <a:p>
            <a:r>
              <a:rPr kumimoji="1" lang="ja-JP" altLang="en-US" dirty="0"/>
              <a:t>提案手法の学習率を</a:t>
            </a:r>
            <a:r>
              <a:rPr kumimoji="1" lang="en-US" altLang="ja-JP" dirty="0"/>
              <a:t>0.05</a:t>
            </a:r>
            <a:r>
              <a:rPr kumimoji="1" lang="ja-JP" altLang="en-US" dirty="0"/>
              <a:t>、比較対象である従来手法の</a:t>
            </a:r>
            <a:r>
              <a:rPr kumimoji="1" lang="en-US" altLang="ja-JP" dirty="0"/>
              <a:t>Adam</a:t>
            </a:r>
            <a:r>
              <a:rPr kumimoji="1" lang="ja-JP" altLang="en-US" dirty="0"/>
              <a:t>の学習率を</a:t>
            </a:r>
            <a:r>
              <a:rPr kumimoji="1" lang="en-US" altLang="ja-JP" dirty="0"/>
              <a:t>0.001</a:t>
            </a:r>
            <a:r>
              <a:rPr kumimoji="1" lang="ja-JP" altLang="en-US" dirty="0"/>
              <a:t>、</a:t>
            </a:r>
            <a:r>
              <a:rPr kumimoji="1" lang="en-US" altLang="ja-JP" dirty="0"/>
              <a:t>SGD</a:t>
            </a:r>
            <a:r>
              <a:rPr kumimoji="1" lang="ja-JP" altLang="en-US" dirty="0"/>
              <a:t>の学習率を</a:t>
            </a:r>
            <a:r>
              <a:rPr kumimoji="1" lang="en-US" altLang="ja-JP" dirty="0"/>
              <a:t>0.01</a:t>
            </a:r>
            <a:r>
              <a:rPr kumimoji="1" lang="ja-JP" altLang="en-US" dirty="0"/>
              <a:t>としました</a:t>
            </a:r>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48</a:t>
            </a:fld>
            <a:endParaRPr kumimoji="1" lang="ja-JP" altLang="en-US"/>
          </a:p>
        </p:txBody>
      </p:sp>
    </p:spTree>
    <p:extLst>
      <p:ext uri="{BB962C8B-B14F-4D97-AF65-F5344CB8AC3E}">
        <p14:creationId xmlns:p14="http://schemas.microsoft.com/office/powerpoint/2010/main" val="60542353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次に手書き数字文字</a:t>
            </a:r>
            <a:r>
              <a:rPr kumimoji="1" lang="en-US" altLang="ja-JP" dirty="0"/>
              <a:t>MNIST</a:t>
            </a:r>
            <a:r>
              <a:rPr kumimoji="1" lang="ja-JP" altLang="en-US" dirty="0"/>
              <a:t>の分類問題を、従来手法の</a:t>
            </a:r>
            <a:r>
              <a:rPr kumimoji="1" lang="en-US" altLang="ja-JP" dirty="0"/>
              <a:t>Adam</a:t>
            </a:r>
            <a:r>
              <a:rPr kumimoji="1" lang="ja-JP" altLang="en-US" dirty="0"/>
              <a:t>と提案手法で</a:t>
            </a:r>
            <a:endParaRPr kumimoji="1" lang="en-US" altLang="ja-JP" dirty="0"/>
          </a:p>
          <a:p>
            <a:endParaRPr kumimoji="1" lang="en-US" altLang="ja-JP" dirty="0"/>
          </a:p>
          <a:p>
            <a:r>
              <a:rPr kumimoji="1" lang="ja-JP" altLang="en-US" dirty="0"/>
              <a:t>バッチサイズをいくつかの値に変更し学習を行い結果を比較します</a:t>
            </a:r>
            <a:endParaRPr kumimoji="1" lang="en-US" altLang="ja-JP" dirty="0"/>
          </a:p>
          <a:p>
            <a:endParaRPr kumimoji="1" lang="en-US" altLang="ja-JP" dirty="0"/>
          </a:p>
          <a:p>
            <a:r>
              <a:rPr kumimoji="1" lang="ja-JP" altLang="en-US" dirty="0"/>
              <a:t>学習用データ、ネットワークの構造、それぞれの手法の学習率は先の実験と同じ条件で</a:t>
            </a:r>
            <a:endParaRPr kumimoji="1" lang="en-US" altLang="ja-JP" dirty="0"/>
          </a:p>
          <a:p>
            <a:endParaRPr kumimoji="1" lang="en-US" altLang="ja-JP" dirty="0"/>
          </a:p>
          <a:p>
            <a:r>
              <a:rPr kumimoji="1" lang="ja-JP" altLang="en-US" dirty="0"/>
              <a:t>バッチサイズを</a:t>
            </a:r>
            <a:r>
              <a:rPr kumimoji="1" lang="en-US" altLang="ja-JP" dirty="0"/>
              <a:t>256</a:t>
            </a:r>
            <a:r>
              <a:rPr kumimoji="1" lang="ja-JP" altLang="en-US" dirty="0"/>
              <a:t>，</a:t>
            </a:r>
            <a:r>
              <a:rPr kumimoji="1" lang="en-US" altLang="ja-JP" dirty="0"/>
              <a:t>512</a:t>
            </a:r>
            <a:r>
              <a:rPr kumimoji="1" lang="ja-JP" altLang="en-US" dirty="0"/>
              <a:t>、</a:t>
            </a:r>
            <a:r>
              <a:rPr kumimoji="1" lang="en-US" altLang="ja-JP" dirty="0"/>
              <a:t>1024</a:t>
            </a:r>
            <a:r>
              <a:rPr kumimoji="1" lang="ja-JP" altLang="en-US" dirty="0"/>
              <a:t>、</a:t>
            </a:r>
            <a:r>
              <a:rPr kumimoji="1" lang="en-US" altLang="ja-JP" dirty="0"/>
              <a:t>2048</a:t>
            </a:r>
            <a:r>
              <a:rPr kumimoji="1" lang="ja-JP" altLang="en-US" dirty="0"/>
              <a:t>に変更して学習を行います</a:t>
            </a:r>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49</a:t>
            </a:fld>
            <a:endParaRPr kumimoji="1" lang="ja-JP" altLang="en-US"/>
          </a:p>
        </p:txBody>
      </p:sp>
    </p:spTree>
    <p:extLst>
      <p:ext uri="{BB962C8B-B14F-4D97-AF65-F5344CB8AC3E}">
        <p14:creationId xmlns:p14="http://schemas.microsoft.com/office/powerpoint/2010/main" val="249867778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現在自分は１月末の学会での発表を目指して日々取り組んでいます</a:t>
            </a:r>
            <a:endParaRPr kumimoji="1" lang="en-US" altLang="ja-JP" dirty="0"/>
          </a:p>
          <a:p>
            <a:endParaRPr kumimoji="1" lang="en-US" altLang="ja-JP" dirty="0"/>
          </a:p>
          <a:p>
            <a:r>
              <a:rPr kumimoji="1" lang="ja-JP" altLang="en-US" dirty="0"/>
              <a:t>ロードマップはこのスライドのようになっていて、現在は提案手法は大体理解できたので、</a:t>
            </a:r>
            <a:endParaRPr kumimoji="1" lang="en-US" altLang="ja-JP" dirty="0"/>
          </a:p>
          <a:p>
            <a:endParaRPr kumimoji="1" lang="en-US" altLang="ja-JP" dirty="0"/>
          </a:p>
          <a:p>
            <a:r>
              <a:rPr kumimoji="1" lang="ja-JP" altLang="en-US" dirty="0"/>
              <a:t>プログラムに実装、いくつかの問題設定で実験を取得しています</a:t>
            </a:r>
            <a:endParaRPr kumimoji="1" lang="en-US" altLang="ja-JP" dirty="0"/>
          </a:p>
          <a:p>
            <a:endParaRPr kumimoji="1" lang="en-US" altLang="ja-JP" dirty="0"/>
          </a:p>
          <a:p>
            <a:r>
              <a:rPr kumimoji="1" lang="ja-JP" altLang="en-US" dirty="0"/>
              <a:t>今回は提案手法について軽く説明できればと思っています</a:t>
            </a:r>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50</a:t>
            </a:fld>
            <a:endParaRPr kumimoji="1" lang="ja-JP" altLang="en-US"/>
          </a:p>
        </p:txBody>
      </p:sp>
    </p:spTree>
    <p:extLst>
      <p:ext uri="{BB962C8B-B14F-4D97-AF65-F5344CB8AC3E}">
        <p14:creationId xmlns:p14="http://schemas.microsoft.com/office/powerpoint/2010/main" val="127327106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近年のビッグデータの登場により、膨大なデータを処理することができる</a:t>
            </a:r>
            <a:r>
              <a:rPr kumimoji="1" lang="en-US" altLang="ja-JP" dirty="0"/>
              <a:t>AI</a:t>
            </a:r>
            <a:r>
              <a:rPr kumimoji="1" lang="ja-JP" altLang="en-US" dirty="0"/>
              <a:t>は色んな分野で使用されています。</a:t>
            </a:r>
            <a:endParaRPr kumimoji="1" lang="en-US" altLang="ja-JP" dirty="0"/>
          </a:p>
          <a:p>
            <a:endParaRPr kumimoji="1" lang="en-US" altLang="ja-JP" dirty="0"/>
          </a:p>
          <a:p>
            <a:r>
              <a:rPr kumimoji="1" lang="en-US" altLang="ja-JP" dirty="0"/>
              <a:t>AI</a:t>
            </a:r>
            <a:r>
              <a:rPr kumimoji="1" lang="ja-JP" altLang="en-US" dirty="0"/>
              <a:t>の中でも特にニューラルネットワークは分類問題や回帰問題等幅広い問題設定で使用できるため近年注目</a:t>
            </a:r>
            <a:r>
              <a:rPr kumimoji="1" lang="ja-JP" altLang="en-US"/>
              <a:t>されています</a:t>
            </a:r>
            <a:endParaRPr kumimoji="1" lang="en-US" altLang="ja-JP" dirty="0"/>
          </a:p>
          <a:p>
            <a:endParaRPr kumimoji="1" lang="en-US" altLang="ja-JP" dirty="0"/>
          </a:p>
          <a:p>
            <a:r>
              <a:rPr kumimoji="1" lang="ja-JP" altLang="en-US"/>
              <a:t>ニューラルネットワークの精度を上げるためにはニューラルネットワークの構造や、データの前処理など色々な手段がありますが</a:t>
            </a:r>
            <a:endParaRPr kumimoji="1" lang="en-US" altLang="ja-JP" dirty="0"/>
          </a:p>
          <a:p>
            <a:endParaRPr kumimoji="1" lang="en-US" altLang="ja-JP" dirty="0"/>
          </a:p>
          <a:p>
            <a:r>
              <a:rPr kumimoji="1" lang="ja-JP" altLang="en-US"/>
              <a:t>優秀な学習アルゴリズムを使用する、というのが非常に重要になってきます</a:t>
            </a:r>
            <a:endParaRPr kumimoji="1" lang="en-US" altLang="ja-JP" dirty="0"/>
          </a:p>
          <a:p>
            <a:endParaRPr kumimoji="1" lang="en-US" altLang="ja-JP" dirty="0"/>
          </a:p>
          <a:p>
            <a:r>
              <a:rPr kumimoji="1" lang="ja-JP" altLang="en-US" dirty="0"/>
              <a:t>本研究ではニューラルネットワークの新たな学習アルゴリズムを提案させていただくのですが、</a:t>
            </a:r>
            <a:endParaRPr kumimoji="1" lang="en-US" altLang="ja-JP" dirty="0"/>
          </a:p>
          <a:p>
            <a:endParaRPr kumimoji="1" lang="en-US" altLang="ja-JP" dirty="0"/>
          </a:p>
          <a:p>
            <a:r>
              <a:rPr kumimoji="1" lang="ja-JP" altLang="en-US" dirty="0"/>
              <a:t>具体的な提案の前にニューラルネットワークがどのようにして学習するのか軽く説明します</a:t>
            </a:r>
            <a:endParaRPr kumimoji="1" lang="en-US" altLang="ja-JP" dirty="0"/>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本研究で対象とするニューラルネットワークのは式１のような誤差関数を最小になるように、</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ニューラルネットワークの重みを</a:t>
            </a:r>
            <a:r>
              <a:rPr kumimoji="1" lang="ja-JP" altLang="en-US"/>
              <a:t>最適化する</a:t>
            </a:r>
            <a:r>
              <a:rPr kumimoji="1" lang="ja-JP" altLang="en-US" sz="1200" kern="1200">
                <a:solidFill>
                  <a:schemeClr val="tx1"/>
                </a:solidFill>
                <a:effectLst/>
                <a:latin typeface="+mn-lt"/>
                <a:ea typeface="+mn-ea"/>
                <a:cs typeface="+mn-cs"/>
              </a:rPr>
              <a:t>最適化</a:t>
            </a:r>
            <a:r>
              <a:rPr kumimoji="1" lang="ja-JP" altLang="en-US" sz="1200" kern="1200" dirty="0">
                <a:solidFill>
                  <a:schemeClr val="tx1"/>
                </a:solidFill>
                <a:effectLst/>
                <a:latin typeface="+mn-lt"/>
                <a:ea typeface="+mn-ea"/>
                <a:cs typeface="+mn-cs"/>
              </a:rPr>
              <a:t>問題</a:t>
            </a:r>
            <a:r>
              <a:rPr kumimoji="1" lang="ja-JP" altLang="en-US" sz="1200" kern="1200">
                <a:solidFill>
                  <a:schemeClr val="tx1"/>
                </a:solidFill>
                <a:effectLst/>
                <a:latin typeface="+mn-lt"/>
                <a:ea typeface="+mn-ea"/>
                <a:cs typeface="+mn-cs"/>
              </a:rPr>
              <a:t>になります</a:t>
            </a:r>
            <a:endParaRPr kumimoji="1" lang="en-US" altLang="ja-JP"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kern="1200">
                <a:solidFill>
                  <a:schemeClr val="tx1"/>
                </a:solidFill>
                <a:effectLst/>
                <a:latin typeface="+mn-lt"/>
                <a:ea typeface="+mn-ea"/>
                <a:cs typeface="+mn-cs"/>
              </a:rPr>
              <a:t>ここで</a:t>
            </a:r>
            <a:r>
              <a:rPr kumimoji="1" lang="en-US" altLang="ja-JP" sz="1200" kern="1200" dirty="0">
                <a:solidFill>
                  <a:schemeClr val="tx1"/>
                </a:solidFill>
                <a:effectLst/>
                <a:latin typeface="+mn-lt"/>
                <a:ea typeface="+mn-ea"/>
                <a:cs typeface="+mn-cs"/>
              </a:rPr>
              <a:t>w</a:t>
            </a:r>
            <a:r>
              <a:rPr kumimoji="1" lang="ja-JP" altLang="en-US" sz="1200" kern="1200">
                <a:solidFill>
                  <a:schemeClr val="tx1"/>
                </a:solidFill>
                <a:effectLst/>
                <a:latin typeface="+mn-lt"/>
                <a:ea typeface="+mn-ea"/>
                <a:cs typeface="+mn-cs"/>
              </a:rPr>
              <a:t>が重み、</a:t>
            </a:r>
            <a:r>
              <a:rPr kumimoji="1" lang="en-US" altLang="ja-JP" sz="1200" kern="1200" dirty="0">
                <a:solidFill>
                  <a:schemeClr val="tx1"/>
                </a:solidFill>
                <a:effectLst/>
                <a:latin typeface="+mn-lt"/>
                <a:ea typeface="+mn-ea"/>
                <a:cs typeface="+mn-cs"/>
              </a:rPr>
              <a:t>Tr</a:t>
            </a:r>
            <a:r>
              <a:rPr kumimoji="1" lang="ja-JP" altLang="en-US" sz="1200" kern="1200">
                <a:solidFill>
                  <a:schemeClr val="tx1"/>
                </a:solidFill>
                <a:effectLst/>
                <a:latin typeface="+mn-lt"/>
                <a:ea typeface="+mn-ea"/>
                <a:cs typeface="+mn-cs"/>
              </a:rPr>
              <a:t>が学習サンプルとなります</a:t>
            </a:r>
            <a:endParaRPr kumimoji="1" lang="en-US" altLang="ja-JP"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kern="1200">
                <a:solidFill>
                  <a:schemeClr val="tx1"/>
                </a:solidFill>
                <a:effectLst/>
                <a:latin typeface="+mn-lt"/>
                <a:ea typeface="+mn-ea"/>
                <a:cs typeface="+mn-cs"/>
              </a:rPr>
              <a:t>重みは式２のように勾配降下法に基づき更新されます</a:t>
            </a:r>
            <a:endParaRPr kumimoji="1" lang="en-US" altLang="ja-JP"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kern="1200">
                <a:solidFill>
                  <a:schemeClr val="tx1"/>
                </a:solidFill>
                <a:effectLst/>
                <a:latin typeface="+mn-lt"/>
                <a:ea typeface="+mn-ea"/>
                <a:cs typeface="+mn-cs"/>
              </a:rPr>
              <a:t>ここで</a:t>
            </a:r>
            <a:r>
              <a:rPr kumimoji="1" lang="en-US" altLang="ja-JP" sz="1200" kern="1200" dirty="0" err="1">
                <a:solidFill>
                  <a:schemeClr val="tx1"/>
                </a:solidFill>
                <a:effectLst/>
                <a:latin typeface="+mn-lt"/>
                <a:ea typeface="+mn-ea"/>
                <a:cs typeface="+mn-cs"/>
              </a:rPr>
              <a:t>vk</a:t>
            </a:r>
            <a:r>
              <a:rPr kumimoji="1" lang="ja-JP" altLang="en-US" sz="1200" kern="1200">
                <a:solidFill>
                  <a:schemeClr val="tx1"/>
                </a:solidFill>
                <a:effectLst/>
                <a:latin typeface="+mn-lt"/>
                <a:ea typeface="+mn-ea"/>
                <a:cs typeface="+mn-cs"/>
              </a:rPr>
              <a:t>＋１は更新ベクトルであり学習アルゴリズムによってこの更新ベクトルが異なります</a:t>
            </a:r>
            <a:endParaRPr kumimoji="1" lang="en-US" altLang="ja-JP"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重みは式２のように現在の値と更新ベクトルを用いて更新されます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有名な手法</a:t>
            </a:r>
            <a:r>
              <a:rPr lang="ja-JP" altLang="en-US"/>
              <a:t>である確立的勾配降下法では式３のような更新ベクトルになっており、</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ここでナブラ</a:t>
            </a:r>
            <a:r>
              <a:rPr lang="en-US" altLang="ja-JP" dirty="0"/>
              <a:t>E </a:t>
            </a:r>
            <a:r>
              <a:rPr lang="en-US" altLang="ja-JP" dirty="0" err="1"/>
              <a:t>wk</a:t>
            </a:r>
            <a:r>
              <a:rPr lang="ja-JP" altLang="en-US"/>
              <a:t>が誤差関数を重みで微分した勾配、</a:t>
            </a:r>
            <a:r>
              <a:rPr lang="en-US" altLang="ja-JP" dirty="0"/>
              <a:t>α</a:t>
            </a:r>
            <a:r>
              <a:rPr lang="ja-JP" altLang="en-US"/>
              <a:t>がスカラーの学習率となります</a:t>
            </a:r>
            <a:endParaRPr lang="ja-JP" altLang="en-US"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51</a:t>
            </a:fld>
            <a:endParaRPr kumimoji="1" lang="ja-JP" altLang="en-US"/>
          </a:p>
        </p:txBody>
      </p:sp>
    </p:spTree>
    <p:extLst>
      <p:ext uri="{BB962C8B-B14F-4D97-AF65-F5344CB8AC3E}">
        <p14:creationId xmlns:p14="http://schemas.microsoft.com/office/powerpoint/2010/main" val="325918403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さて、先ほどビッグデータを使用して</a:t>
            </a:r>
            <a:r>
              <a:rPr lang="en-US" altLang="ja-JP" dirty="0"/>
              <a:t>AI</a:t>
            </a:r>
            <a:r>
              <a:rPr lang="ja-JP" altLang="en-US" dirty="0"/>
              <a:t>を活用すると申し上げたのですが</a:t>
            </a:r>
            <a:endParaRPr lang="en-US" altLang="ja-JP" dirty="0"/>
          </a:p>
          <a:p>
            <a:endParaRPr lang="en-US" altLang="ja-JP" dirty="0"/>
          </a:p>
          <a:p>
            <a:r>
              <a:rPr lang="ja-JP" altLang="en-US" dirty="0"/>
              <a:t>そのような学習サンプルを学習するのにオンライン学習、ミニバッチ学習、バッチ学習という手法があります</a:t>
            </a:r>
            <a:endParaRPr lang="en-US" altLang="ja-JP" dirty="0"/>
          </a:p>
          <a:p>
            <a:endParaRPr lang="en-US" altLang="ja-JP" dirty="0"/>
          </a:p>
          <a:p>
            <a:r>
              <a:rPr lang="ja-JP" altLang="en-US" dirty="0"/>
              <a:t>オンライン学習では学習サンプルを</a:t>
            </a:r>
            <a:r>
              <a:rPr lang="en-US" altLang="ja-JP" dirty="0"/>
              <a:t>1</a:t>
            </a:r>
            <a:r>
              <a:rPr lang="ja-JP" altLang="en-US" dirty="0"/>
              <a:t>件ずつ学習していきます</a:t>
            </a:r>
            <a:endParaRPr lang="en-US" altLang="ja-JP" dirty="0"/>
          </a:p>
          <a:p>
            <a:endParaRPr lang="en-US" altLang="ja-JP" dirty="0"/>
          </a:p>
          <a:p>
            <a:r>
              <a:rPr lang="ja-JP" altLang="en-US" dirty="0"/>
              <a:t>これにより一回の学習に必要な時間やメモリ量は少なく済みますが、学習サンプルが大きくなればなるほど、学習サンプルすべてを学習するのに時間がかかるようになります</a:t>
            </a:r>
            <a:endParaRPr lang="en-US" altLang="ja-JP" dirty="0"/>
          </a:p>
          <a:p>
            <a:endParaRPr lang="en-US" altLang="ja-JP" dirty="0"/>
          </a:p>
          <a:p>
            <a:r>
              <a:rPr lang="ja-JP" altLang="en-US" dirty="0"/>
              <a:t>また学習サンプルに外れ値があった場合、そのデータにモデルが引っ張られてしまう可能性があります</a:t>
            </a:r>
            <a:endParaRPr lang="en-US" altLang="ja-JP"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52</a:t>
            </a:fld>
            <a:endParaRPr kumimoji="1" lang="ja-JP" altLang="en-US"/>
          </a:p>
        </p:txBody>
      </p:sp>
    </p:spTree>
    <p:extLst>
      <p:ext uri="{BB962C8B-B14F-4D97-AF65-F5344CB8AC3E}">
        <p14:creationId xmlns:p14="http://schemas.microsoft.com/office/powerpoint/2010/main" val="179925113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次にバッチ学習では学習サンプルを全て一度に学習します</a:t>
            </a:r>
            <a:endParaRPr lang="en-US" altLang="ja-JP" dirty="0"/>
          </a:p>
          <a:p>
            <a:endParaRPr lang="en-US" altLang="ja-JP" dirty="0"/>
          </a:p>
          <a:p>
            <a:r>
              <a:rPr lang="ja-JP" altLang="en-US" dirty="0"/>
              <a:t>これによりモデルが外れ値のデータに引っ張られることは無くなり、また学習サンプルすべてを学習するのにかかる時間が少なく済みます</a:t>
            </a:r>
            <a:endParaRPr lang="en-US" altLang="ja-JP" dirty="0"/>
          </a:p>
          <a:p>
            <a:endParaRPr lang="en-US" altLang="ja-JP" dirty="0"/>
          </a:p>
          <a:p>
            <a:r>
              <a:rPr lang="ja-JP" altLang="en-US" dirty="0"/>
              <a:t>しかし学習サンプルを一度に処理する必要があるのでメモリ量が大きく、計算コストは膨大です</a:t>
            </a:r>
            <a:endParaRPr lang="en-US" altLang="ja-JP"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53</a:t>
            </a:fld>
            <a:endParaRPr kumimoji="1" lang="ja-JP" altLang="en-US"/>
          </a:p>
        </p:txBody>
      </p:sp>
    </p:spTree>
    <p:extLst>
      <p:ext uri="{BB962C8B-B14F-4D97-AF65-F5344CB8AC3E}">
        <p14:creationId xmlns:p14="http://schemas.microsoft.com/office/powerpoint/2010/main" val="124751544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オンライン学習、バッチ学習ともに一長一短のある学習法でしたが、この</a:t>
            </a:r>
            <a:r>
              <a:rPr lang="en-US" altLang="ja-JP" dirty="0"/>
              <a:t>2</a:t>
            </a:r>
            <a:r>
              <a:rPr lang="ja-JP" altLang="en-US" dirty="0"/>
              <a:t>つの性質のいいとこどりをした学習法にミニバッチ学習法があります</a:t>
            </a:r>
            <a:endParaRPr lang="en-US" altLang="ja-JP" dirty="0"/>
          </a:p>
          <a:p>
            <a:endParaRPr lang="en-US" altLang="ja-JP" dirty="0"/>
          </a:p>
          <a:p>
            <a:r>
              <a:rPr lang="ja-JP" altLang="en-US" dirty="0"/>
              <a:t>ミニバッチ学習法では学習サンプルをいくつかのまとまりに分割し、まとまりごとに学習します</a:t>
            </a:r>
            <a:endParaRPr lang="en-US" altLang="ja-JP" dirty="0"/>
          </a:p>
          <a:p>
            <a:endParaRPr lang="en-US" altLang="ja-JP" dirty="0"/>
          </a:p>
          <a:p>
            <a:r>
              <a:rPr lang="ja-JP" altLang="en-US" dirty="0"/>
              <a:t>これによりバッチ学習法の外れ値に強いという性質を持ちながら、オンライン学習の一回の学習に対する計算コストがすくないという性質も持つことができます</a:t>
            </a:r>
            <a:endParaRPr lang="en-US" altLang="ja-JP" dirty="0"/>
          </a:p>
          <a:p>
            <a:endParaRPr lang="en-US" altLang="ja-JP" dirty="0"/>
          </a:p>
          <a:p>
            <a:endParaRPr lang="en-US" altLang="ja-JP"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54</a:t>
            </a:fld>
            <a:endParaRPr kumimoji="1" lang="ja-JP" altLang="en-US"/>
          </a:p>
        </p:txBody>
      </p:sp>
    </p:spTree>
    <p:extLst>
      <p:ext uri="{BB962C8B-B14F-4D97-AF65-F5344CB8AC3E}">
        <p14:creationId xmlns:p14="http://schemas.microsoft.com/office/powerpoint/2010/main" val="22300550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本研究ではニューラルネットワークの新たな学習アルゴリズムを提案させていただくのですが、</a:t>
            </a:r>
            <a:endParaRPr kumimoji="1" lang="en-US" altLang="ja-JP" dirty="0"/>
          </a:p>
          <a:p>
            <a:endParaRPr kumimoji="1" lang="en-US" altLang="ja-JP" dirty="0"/>
          </a:p>
          <a:p>
            <a:r>
              <a:rPr kumimoji="1" lang="ja-JP" altLang="en-US" dirty="0"/>
              <a:t>具体的な提案の前にニューラルネットワークがどのようにして学習するのか軽く説明します</a:t>
            </a:r>
            <a:endParaRPr kumimoji="1" lang="en-US" altLang="ja-JP" dirty="0"/>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ニューラルネットワークの学習はニューラルネットワークの出力と、教師信号からなる誤差関数を最小にするように、</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ニューラルネットワークの重みを最適化する</a:t>
            </a:r>
            <a:r>
              <a:rPr kumimoji="1" lang="ja-JP" altLang="en-US" sz="1200" kern="1200" dirty="0">
                <a:solidFill>
                  <a:schemeClr val="tx1"/>
                </a:solidFill>
                <a:effectLst/>
                <a:latin typeface="+mn-lt"/>
                <a:ea typeface="+mn-ea"/>
                <a:cs typeface="+mn-cs"/>
              </a:rPr>
              <a:t>無制約最適化問題になります</a:t>
            </a:r>
            <a:endParaRPr kumimoji="1" lang="en-US" altLang="ja-JP"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重みは式２のように現在の値と更新ベクトルを用いて更新されます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有名な手法である最急降下法では式３のように誤差関数の勾配と学習率により更新ベクトルが構成されます</a:t>
            </a:r>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55</a:t>
            </a:fld>
            <a:endParaRPr kumimoji="1" lang="ja-JP" altLang="en-US"/>
          </a:p>
        </p:txBody>
      </p:sp>
    </p:spTree>
    <p:extLst>
      <p:ext uri="{BB962C8B-B14F-4D97-AF65-F5344CB8AC3E}">
        <p14:creationId xmlns:p14="http://schemas.microsoft.com/office/powerpoint/2010/main" val="265233967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もっとも有名な二次近似手法で、提案手法の元にもなるニュートン法は次のように導出されます</a:t>
            </a:r>
            <a:endParaRPr kumimoji="1" lang="en-US" altLang="ja-JP" dirty="0"/>
          </a:p>
          <a:p>
            <a:endParaRPr kumimoji="1" lang="en-US" altLang="ja-JP" dirty="0"/>
          </a:p>
          <a:p>
            <a:r>
              <a:rPr kumimoji="1" lang="ja-JP" altLang="en-US" dirty="0"/>
              <a:t>先ほどのような誤差関数式１を今の重みの付近で二次の項までテーラー展開したのが式</a:t>
            </a:r>
            <a:r>
              <a:rPr kumimoji="1" lang="en-US" altLang="ja-JP" dirty="0"/>
              <a:t>4</a:t>
            </a:r>
            <a:r>
              <a:rPr kumimoji="1" lang="ja-JP" altLang="en-US" dirty="0"/>
              <a:t>で</a:t>
            </a:r>
            <a:endParaRPr kumimoji="1" lang="en-US" altLang="ja-JP" dirty="0"/>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ここで、ナブラ２乗</a:t>
            </a:r>
            <a:r>
              <a:rPr kumimoji="1" lang="en-US" altLang="ja-JP" dirty="0"/>
              <a:t>E </a:t>
            </a:r>
            <a:r>
              <a:rPr kumimoji="1" lang="en-US" altLang="ja-JP" dirty="0" err="1"/>
              <a:t>wk</a:t>
            </a:r>
            <a:r>
              <a:rPr kumimoji="1" lang="ja-JP" altLang="en-US" dirty="0"/>
              <a:t>がヘッセ行列となります</a:t>
            </a:r>
            <a:endParaRPr kumimoji="1" lang="en-US" altLang="ja-JP" dirty="0"/>
          </a:p>
          <a:p>
            <a:endParaRPr kumimoji="1" lang="en-US" altLang="ja-JP" dirty="0"/>
          </a:p>
          <a:p>
            <a:r>
              <a:rPr kumimoji="1" lang="ja-JP" altLang="en-US" dirty="0"/>
              <a:t>式</a:t>
            </a:r>
            <a:r>
              <a:rPr kumimoji="1" lang="en-US" altLang="ja-JP" dirty="0"/>
              <a:t>4</a:t>
            </a:r>
            <a:r>
              <a:rPr kumimoji="1" lang="ja-JP" altLang="en-US" dirty="0"/>
              <a:t>を重みｗについて微分すると式</a:t>
            </a:r>
            <a:r>
              <a:rPr kumimoji="1" lang="en-US" altLang="ja-JP" dirty="0"/>
              <a:t>5</a:t>
            </a:r>
            <a:r>
              <a:rPr kumimoji="1" lang="ja-JP" altLang="en-US" dirty="0"/>
              <a:t>になります</a:t>
            </a:r>
            <a:endParaRPr kumimoji="1" lang="en-US" altLang="ja-JP"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57</a:t>
            </a:fld>
            <a:endParaRPr kumimoji="1" lang="ja-JP" altLang="en-US"/>
          </a:p>
        </p:txBody>
      </p:sp>
    </p:spTree>
    <p:extLst>
      <p:ext uri="{BB962C8B-B14F-4D97-AF65-F5344CB8AC3E}">
        <p14:creationId xmlns:p14="http://schemas.microsoft.com/office/powerpoint/2010/main" val="86837155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式５は二次の項までテーラ展開した誤差関数を重み</a:t>
            </a:r>
            <a:r>
              <a:rPr kumimoji="1" lang="en-US" altLang="ja-JP" dirty="0"/>
              <a:t>w</a:t>
            </a:r>
            <a:r>
              <a:rPr kumimoji="1" lang="ja-JP" altLang="en-US" dirty="0"/>
              <a:t>で微分したもので、誤差関数の傾きです</a:t>
            </a:r>
            <a:endParaRPr kumimoji="1" lang="en-US" altLang="ja-JP" dirty="0"/>
          </a:p>
          <a:p>
            <a:endParaRPr kumimoji="1" lang="en-US" altLang="ja-JP" dirty="0"/>
          </a:p>
          <a:p>
            <a:r>
              <a:rPr kumimoji="1" lang="ja-JP" altLang="en-US" dirty="0"/>
              <a:t>誤差関数が最小になると言うことは微分した傾きが０になるということでなので、式６ができ、</a:t>
            </a:r>
            <a:endParaRPr kumimoji="1" lang="en-US" altLang="ja-JP" dirty="0"/>
          </a:p>
          <a:p>
            <a:endParaRPr kumimoji="1" lang="en-US" altLang="ja-JP" dirty="0"/>
          </a:p>
          <a:p>
            <a:r>
              <a:rPr kumimoji="1" lang="ja-JP" altLang="en-US" dirty="0"/>
              <a:t>式６を</a:t>
            </a:r>
            <a:r>
              <a:rPr kumimoji="1" lang="en-US" altLang="ja-JP" dirty="0"/>
              <a:t>w</a:t>
            </a:r>
            <a:r>
              <a:rPr kumimoji="1" lang="ja-JP" altLang="en-US" dirty="0"/>
              <a:t>についての式に変形することで式７ができます</a:t>
            </a:r>
            <a:endParaRPr kumimoji="1" lang="en-US" altLang="ja-JP"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58</a:t>
            </a:fld>
            <a:endParaRPr kumimoji="1" lang="ja-JP" altLang="en-US"/>
          </a:p>
        </p:txBody>
      </p:sp>
    </p:spTree>
    <p:extLst>
      <p:ext uri="{BB962C8B-B14F-4D97-AF65-F5344CB8AC3E}">
        <p14:creationId xmlns:p14="http://schemas.microsoft.com/office/powerpoint/2010/main" val="416364072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先の式</a:t>
            </a:r>
            <a:r>
              <a:rPr kumimoji="1" lang="en-US" altLang="ja-JP" dirty="0"/>
              <a:t>7</a:t>
            </a:r>
            <a:r>
              <a:rPr kumimoji="1" lang="ja-JP" altLang="en-US" dirty="0"/>
              <a:t>のナブラ２乗</a:t>
            </a:r>
            <a:r>
              <a:rPr kumimoji="1" lang="en-US" altLang="ja-JP" dirty="0"/>
              <a:t>E </a:t>
            </a:r>
            <a:r>
              <a:rPr kumimoji="1" lang="en-US" altLang="ja-JP" dirty="0" err="1"/>
              <a:t>wk</a:t>
            </a:r>
            <a:r>
              <a:rPr kumimoji="1" lang="ja-JP" altLang="en-US" dirty="0"/>
              <a:t>の逆行列を</a:t>
            </a:r>
            <a:r>
              <a:rPr kumimoji="1" lang="en-US" altLang="ja-JP" dirty="0" err="1"/>
              <a:t>Hk</a:t>
            </a:r>
            <a:r>
              <a:rPr kumimoji="1" lang="ja-JP" altLang="en-US" dirty="0"/>
              <a:t>の逆行列に、ナブラ</a:t>
            </a:r>
            <a:r>
              <a:rPr kumimoji="1" lang="en-US" altLang="ja-JP" dirty="0"/>
              <a:t>E </a:t>
            </a:r>
            <a:r>
              <a:rPr kumimoji="1" lang="en-US" altLang="ja-JP" dirty="0" err="1"/>
              <a:t>wk</a:t>
            </a:r>
            <a:r>
              <a:rPr kumimoji="1" lang="ja-JP" altLang="en-US" dirty="0"/>
              <a:t>を</a:t>
            </a:r>
            <a:r>
              <a:rPr kumimoji="1" lang="en-US" altLang="ja-JP" dirty="0" err="1"/>
              <a:t>gk</a:t>
            </a:r>
            <a:r>
              <a:rPr kumimoji="1" lang="ja-JP" altLang="en-US" dirty="0"/>
              <a:t>に置き換え、</a:t>
            </a:r>
            <a:endParaRPr kumimoji="1" lang="en-US" altLang="ja-JP" dirty="0"/>
          </a:p>
          <a:p>
            <a:endParaRPr kumimoji="1" lang="en-US" altLang="ja-JP" dirty="0"/>
          </a:p>
          <a:p>
            <a:r>
              <a:rPr kumimoji="1" lang="ja-JP" altLang="en-US" dirty="0"/>
              <a:t>また、ｗを満たすということは次のｗとして考えられるためｗがｗｋ</a:t>
            </a:r>
            <a:r>
              <a:rPr kumimoji="1" lang="en-US" altLang="ja-JP" dirty="0"/>
              <a:t>+1</a:t>
            </a:r>
            <a:r>
              <a:rPr kumimoji="1" lang="ja-JP" altLang="en-US" dirty="0"/>
              <a:t>になります</a:t>
            </a:r>
            <a:endParaRPr kumimoji="1" lang="en-US" altLang="ja-JP" dirty="0"/>
          </a:p>
          <a:p>
            <a:endParaRPr kumimoji="1" lang="en-US" altLang="ja-JP" dirty="0"/>
          </a:p>
          <a:p>
            <a:r>
              <a:rPr kumimoji="1" lang="ja-JP" altLang="en-US" dirty="0"/>
              <a:t>そうしてできた、スカラーの学習率</a:t>
            </a:r>
            <a:r>
              <a:rPr kumimoji="1" lang="en-US" altLang="ja-JP" dirty="0"/>
              <a:t>α</a:t>
            </a:r>
            <a:r>
              <a:rPr kumimoji="1" lang="ja-JP" altLang="en-US" dirty="0"/>
              <a:t>を追加した式８がニュートン法の更新式になります</a:t>
            </a:r>
            <a:endParaRPr kumimoji="1" lang="en-US" altLang="ja-JP"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59</a:t>
            </a:fld>
            <a:endParaRPr kumimoji="1" lang="ja-JP" altLang="en-US"/>
          </a:p>
        </p:txBody>
      </p:sp>
    </p:spTree>
    <p:extLst>
      <p:ext uri="{BB962C8B-B14F-4D97-AF65-F5344CB8AC3E}">
        <p14:creationId xmlns:p14="http://schemas.microsoft.com/office/powerpoint/2010/main" val="342852859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spc="-100" dirty="0"/>
              <a:t>この手法では</a:t>
            </a:r>
            <a:r>
              <a:rPr kumimoji="1" lang="en-US" altLang="ja-JP" sz="1200" spc="-100" dirty="0"/>
              <a:t>A</a:t>
            </a:r>
            <a:r>
              <a:rPr kumimoji="1" lang="ja-JP" altLang="en-US" sz="1200" spc="-100" dirty="0"/>
              <a:t> </a:t>
            </a:r>
            <a:r>
              <a:rPr kumimoji="1" lang="en-US" altLang="ja-JP" sz="1200" spc="-100" dirty="0" err="1"/>
              <a:t>zk</a:t>
            </a:r>
            <a:r>
              <a:rPr kumimoji="1" lang="ja-JP" altLang="en-US" sz="1200" spc="-100" dirty="0"/>
              <a:t>と</a:t>
            </a:r>
            <a:r>
              <a:rPr kumimoji="1" lang="en-US" altLang="ja-JP" sz="1200" spc="-100" dirty="0" err="1"/>
              <a:t>zk</a:t>
            </a:r>
            <a:r>
              <a:rPr kumimoji="1" lang="ja-JP" altLang="en-US" sz="1200" spc="-100" dirty="0"/>
              <a:t>のアダマール積のサンプルをステップ数の数だけ取得し、その平均を取って対角行列としています</a:t>
            </a:r>
            <a:endParaRPr kumimoji="1" lang="en-US" altLang="ja-JP" sz="1200" spc="-100"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60</a:t>
            </a:fld>
            <a:endParaRPr kumimoji="1" lang="ja-JP" altLang="en-US"/>
          </a:p>
        </p:txBody>
      </p:sp>
    </p:spTree>
    <p:extLst>
      <p:ext uri="{BB962C8B-B14F-4D97-AF65-F5344CB8AC3E}">
        <p14:creationId xmlns:p14="http://schemas.microsoft.com/office/powerpoint/2010/main" val="422154187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このようにして行列の</a:t>
            </a:r>
            <a:r>
              <a:rPr kumimoji="1" lang="ja-JP" altLang="en-US"/>
              <a:t>対角和を近似します</a:t>
            </a:r>
            <a:endParaRPr kumimoji="1" lang="en-US" altLang="ja-JP" dirty="0"/>
          </a:p>
        </p:txBody>
      </p:sp>
      <p:sp>
        <p:nvSpPr>
          <p:cNvPr id="4" name="スライド番号プレースホルダー 3"/>
          <p:cNvSpPr>
            <a:spLocks noGrp="1"/>
          </p:cNvSpPr>
          <p:nvPr>
            <p:ph type="sldNum" sz="quarter" idx="5"/>
          </p:nvPr>
        </p:nvSpPr>
        <p:spPr/>
        <p:txBody>
          <a:bodyPr/>
          <a:lstStyle/>
          <a:p>
            <a:fld id="{7751A242-CBBB-4193-9B7E-3C60E9FC111C}" type="slidenum">
              <a:rPr kumimoji="1" lang="ja-JP" altLang="en-US" smtClean="0"/>
              <a:t>61</a:t>
            </a:fld>
            <a:endParaRPr kumimoji="1" lang="ja-JP" altLang="en-US"/>
          </a:p>
        </p:txBody>
      </p:sp>
    </p:spTree>
    <p:extLst>
      <p:ext uri="{BB962C8B-B14F-4D97-AF65-F5344CB8AC3E}">
        <p14:creationId xmlns:p14="http://schemas.microsoft.com/office/powerpoint/2010/main" val="12571179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ED24BD-42C7-4F8C-A760-AA2C8949A075}"/>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8BB30988-DF3C-40B9-95CD-8AB95D355C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DFE2282E-A2A0-4374-9E8B-C5D281B9B6F7}"/>
              </a:ext>
            </a:extLst>
          </p:cNvPr>
          <p:cNvSpPr>
            <a:spLocks noGrp="1"/>
          </p:cNvSpPr>
          <p:nvPr>
            <p:ph type="dt" sz="half" idx="10"/>
          </p:nvPr>
        </p:nvSpPr>
        <p:spPr/>
        <p:txBody>
          <a:bodyPr/>
          <a:lstStyle/>
          <a:p>
            <a:fld id="{A392A4DD-BA6A-4A98-B7A0-E7B240D1068D}" type="datetime1">
              <a:rPr kumimoji="1" lang="ja-JP" altLang="en-US" smtClean="0"/>
              <a:t>2022/1/21</a:t>
            </a:fld>
            <a:endParaRPr kumimoji="1" lang="ja-JP" altLang="en-US"/>
          </a:p>
        </p:txBody>
      </p:sp>
      <p:sp>
        <p:nvSpPr>
          <p:cNvPr id="5" name="フッター プレースホルダー 4">
            <a:extLst>
              <a:ext uri="{FF2B5EF4-FFF2-40B4-BE49-F238E27FC236}">
                <a16:creationId xmlns:a16="http://schemas.microsoft.com/office/drawing/2014/main" id="{7A2C6433-16B2-46EB-B555-672A215F75E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15D11B4-C2AC-4808-A7B6-D154CB478442}"/>
              </a:ext>
            </a:extLst>
          </p:cNvPr>
          <p:cNvSpPr>
            <a:spLocks noGrp="1"/>
          </p:cNvSpPr>
          <p:nvPr>
            <p:ph type="sldNum" sz="quarter" idx="12"/>
          </p:nvPr>
        </p:nvSpPr>
        <p:spPr/>
        <p:txBody>
          <a:bodyPr/>
          <a:lstStyle/>
          <a:p>
            <a:fld id="{E0941385-F5BA-408B-94FB-C48DC2364AB1}" type="slidenum">
              <a:rPr kumimoji="1" lang="ja-JP" altLang="en-US" smtClean="0"/>
              <a:t>‹#›</a:t>
            </a:fld>
            <a:endParaRPr kumimoji="1" lang="ja-JP" altLang="en-US" dirty="0"/>
          </a:p>
        </p:txBody>
      </p:sp>
    </p:spTree>
    <p:extLst>
      <p:ext uri="{BB962C8B-B14F-4D97-AF65-F5344CB8AC3E}">
        <p14:creationId xmlns:p14="http://schemas.microsoft.com/office/powerpoint/2010/main" val="27366282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F2F7BC8-0455-4F27-B5EC-5B0E42C2E436}"/>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6E3E66C-195C-41BF-B7A5-03338149C814}"/>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FA132FC-D64E-44C7-AF9A-19263ED8154B}"/>
              </a:ext>
            </a:extLst>
          </p:cNvPr>
          <p:cNvSpPr>
            <a:spLocks noGrp="1"/>
          </p:cNvSpPr>
          <p:nvPr>
            <p:ph type="dt" sz="half" idx="10"/>
          </p:nvPr>
        </p:nvSpPr>
        <p:spPr/>
        <p:txBody>
          <a:bodyPr/>
          <a:lstStyle/>
          <a:p>
            <a:fld id="{1F94F3B9-95C7-418B-8C79-AA10F0D6502C}" type="datetime1">
              <a:rPr kumimoji="1" lang="ja-JP" altLang="en-US" smtClean="0"/>
              <a:t>2022/1/21</a:t>
            </a:fld>
            <a:endParaRPr kumimoji="1" lang="ja-JP" altLang="en-US"/>
          </a:p>
        </p:txBody>
      </p:sp>
      <p:sp>
        <p:nvSpPr>
          <p:cNvPr id="5" name="フッター プレースホルダー 4">
            <a:extLst>
              <a:ext uri="{FF2B5EF4-FFF2-40B4-BE49-F238E27FC236}">
                <a16:creationId xmlns:a16="http://schemas.microsoft.com/office/drawing/2014/main" id="{729B9E07-37C9-46F2-A166-0C7C84CC7F6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01C475A-FFC0-4D62-BA5F-13C7F7037A04}"/>
              </a:ext>
            </a:extLst>
          </p:cNvPr>
          <p:cNvSpPr>
            <a:spLocks noGrp="1"/>
          </p:cNvSpPr>
          <p:nvPr>
            <p:ph type="sldNum" sz="quarter" idx="12"/>
          </p:nvPr>
        </p:nvSpPr>
        <p:spPr/>
        <p:txBody>
          <a:bodyPr/>
          <a:lstStyle/>
          <a:p>
            <a:fld id="{E0941385-F5BA-408B-94FB-C48DC2364AB1}" type="slidenum">
              <a:rPr kumimoji="1" lang="ja-JP" altLang="en-US" smtClean="0"/>
              <a:t>‹#›</a:t>
            </a:fld>
            <a:endParaRPr kumimoji="1" lang="ja-JP" altLang="en-US"/>
          </a:p>
        </p:txBody>
      </p:sp>
    </p:spTree>
    <p:extLst>
      <p:ext uri="{BB962C8B-B14F-4D97-AF65-F5344CB8AC3E}">
        <p14:creationId xmlns:p14="http://schemas.microsoft.com/office/powerpoint/2010/main" val="1761312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368BB7-1D8E-4DA2-9CE3-8D4D6C60F73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0E1DB1B-1DCE-4013-9E12-46630E8F3B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0E78424E-1212-46C0-858B-885411BDF4A0}"/>
              </a:ext>
            </a:extLst>
          </p:cNvPr>
          <p:cNvSpPr>
            <a:spLocks noGrp="1"/>
          </p:cNvSpPr>
          <p:nvPr>
            <p:ph type="dt" sz="half" idx="10"/>
          </p:nvPr>
        </p:nvSpPr>
        <p:spPr/>
        <p:txBody>
          <a:bodyPr/>
          <a:lstStyle/>
          <a:p>
            <a:fld id="{A323093E-D266-4445-BC06-8C84F4E1EAB1}" type="datetime1">
              <a:rPr kumimoji="1" lang="ja-JP" altLang="en-US" smtClean="0"/>
              <a:t>2022/1/21</a:t>
            </a:fld>
            <a:endParaRPr kumimoji="1" lang="ja-JP" altLang="en-US"/>
          </a:p>
        </p:txBody>
      </p:sp>
      <p:sp>
        <p:nvSpPr>
          <p:cNvPr id="5" name="フッター プレースホルダー 4">
            <a:extLst>
              <a:ext uri="{FF2B5EF4-FFF2-40B4-BE49-F238E27FC236}">
                <a16:creationId xmlns:a16="http://schemas.microsoft.com/office/drawing/2014/main" id="{BF60AEFC-7924-4372-8645-9D22E503648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761CD20-EBEF-4BDC-966B-04D817939562}"/>
              </a:ext>
            </a:extLst>
          </p:cNvPr>
          <p:cNvSpPr>
            <a:spLocks noGrp="1"/>
          </p:cNvSpPr>
          <p:nvPr>
            <p:ph type="sldNum" sz="quarter" idx="12"/>
          </p:nvPr>
        </p:nvSpPr>
        <p:spPr/>
        <p:txBody>
          <a:bodyPr/>
          <a:lstStyle/>
          <a:p>
            <a:fld id="{E0941385-F5BA-408B-94FB-C48DC2364AB1}" type="slidenum">
              <a:rPr kumimoji="1" lang="ja-JP" altLang="en-US" smtClean="0"/>
              <a:t>‹#›</a:t>
            </a:fld>
            <a:endParaRPr kumimoji="1" lang="ja-JP" altLang="en-US"/>
          </a:p>
        </p:txBody>
      </p:sp>
    </p:spTree>
    <p:extLst>
      <p:ext uri="{BB962C8B-B14F-4D97-AF65-F5344CB8AC3E}">
        <p14:creationId xmlns:p14="http://schemas.microsoft.com/office/powerpoint/2010/main" val="38292247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4C7A45F-45EF-4235-BED8-4BE1E8DB23CE}"/>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8AC0471-77F7-408E-8E7D-BF070D6537DD}"/>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3E2CBDCE-B6B5-49FA-9E36-17E11845A87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DC028523-856F-460B-8EDF-44D621341A71}"/>
              </a:ext>
            </a:extLst>
          </p:cNvPr>
          <p:cNvSpPr>
            <a:spLocks noGrp="1"/>
          </p:cNvSpPr>
          <p:nvPr>
            <p:ph type="dt" sz="half" idx="10"/>
          </p:nvPr>
        </p:nvSpPr>
        <p:spPr/>
        <p:txBody>
          <a:bodyPr/>
          <a:lstStyle/>
          <a:p>
            <a:fld id="{A56E54FA-7DC1-4DE3-94FB-CDE65933B24E}" type="datetime1">
              <a:rPr kumimoji="1" lang="ja-JP" altLang="en-US" smtClean="0"/>
              <a:t>2022/1/21</a:t>
            </a:fld>
            <a:endParaRPr kumimoji="1" lang="ja-JP" altLang="en-US"/>
          </a:p>
        </p:txBody>
      </p:sp>
      <p:sp>
        <p:nvSpPr>
          <p:cNvPr id="6" name="フッター プレースホルダー 5">
            <a:extLst>
              <a:ext uri="{FF2B5EF4-FFF2-40B4-BE49-F238E27FC236}">
                <a16:creationId xmlns:a16="http://schemas.microsoft.com/office/drawing/2014/main" id="{DC7C9542-BE39-48F2-AC06-98A0F35620F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7F0D93D-E7AA-4080-A903-7C12320AC96F}"/>
              </a:ext>
            </a:extLst>
          </p:cNvPr>
          <p:cNvSpPr>
            <a:spLocks noGrp="1"/>
          </p:cNvSpPr>
          <p:nvPr>
            <p:ph type="sldNum" sz="quarter" idx="12"/>
          </p:nvPr>
        </p:nvSpPr>
        <p:spPr/>
        <p:txBody>
          <a:bodyPr/>
          <a:lstStyle/>
          <a:p>
            <a:fld id="{E0941385-F5BA-408B-94FB-C48DC2364AB1}" type="slidenum">
              <a:rPr kumimoji="1" lang="ja-JP" altLang="en-US" smtClean="0"/>
              <a:t>‹#›</a:t>
            </a:fld>
            <a:endParaRPr kumimoji="1" lang="ja-JP" altLang="en-US"/>
          </a:p>
        </p:txBody>
      </p:sp>
    </p:spTree>
    <p:extLst>
      <p:ext uri="{BB962C8B-B14F-4D97-AF65-F5344CB8AC3E}">
        <p14:creationId xmlns:p14="http://schemas.microsoft.com/office/powerpoint/2010/main" val="41856509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A2606F-DF48-420F-B5F9-B910B862AB99}"/>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F341118-8819-461B-88EA-75D3D23900D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E5004D3B-BD87-428F-8D57-1A3CF9610F23}"/>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0014A554-5CD8-45C2-B745-F537567343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C0620E05-8354-4854-BAEB-603181FAB63A}"/>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D64C9EE8-20D7-4DA4-97B0-BBF42A8EF6FE}"/>
              </a:ext>
            </a:extLst>
          </p:cNvPr>
          <p:cNvSpPr>
            <a:spLocks noGrp="1"/>
          </p:cNvSpPr>
          <p:nvPr>
            <p:ph type="dt" sz="half" idx="10"/>
          </p:nvPr>
        </p:nvSpPr>
        <p:spPr/>
        <p:txBody>
          <a:bodyPr/>
          <a:lstStyle/>
          <a:p>
            <a:fld id="{3D82226C-4AFB-468D-9508-E875DDBD645F}" type="datetime1">
              <a:rPr kumimoji="1" lang="ja-JP" altLang="en-US" smtClean="0"/>
              <a:t>2022/1/21</a:t>
            </a:fld>
            <a:endParaRPr kumimoji="1" lang="ja-JP" altLang="en-US"/>
          </a:p>
        </p:txBody>
      </p:sp>
      <p:sp>
        <p:nvSpPr>
          <p:cNvPr id="8" name="フッター プレースホルダー 7">
            <a:extLst>
              <a:ext uri="{FF2B5EF4-FFF2-40B4-BE49-F238E27FC236}">
                <a16:creationId xmlns:a16="http://schemas.microsoft.com/office/drawing/2014/main" id="{84DA4C9F-B13B-40C3-9295-C4FAA60AE511}"/>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E0017414-8780-44DF-8D6A-95C4A5DDA243}"/>
              </a:ext>
            </a:extLst>
          </p:cNvPr>
          <p:cNvSpPr>
            <a:spLocks noGrp="1"/>
          </p:cNvSpPr>
          <p:nvPr>
            <p:ph type="sldNum" sz="quarter" idx="12"/>
          </p:nvPr>
        </p:nvSpPr>
        <p:spPr/>
        <p:txBody>
          <a:bodyPr/>
          <a:lstStyle/>
          <a:p>
            <a:fld id="{E0941385-F5BA-408B-94FB-C48DC2364AB1}" type="slidenum">
              <a:rPr kumimoji="1" lang="ja-JP" altLang="en-US" smtClean="0"/>
              <a:t>‹#›</a:t>
            </a:fld>
            <a:endParaRPr kumimoji="1" lang="ja-JP" altLang="en-US"/>
          </a:p>
        </p:txBody>
      </p:sp>
    </p:spTree>
    <p:extLst>
      <p:ext uri="{BB962C8B-B14F-4D97-AF65-F5344CB8AC3E}">
        <p14:creationId xmlns:p14="http://schemas.microsoft.com/office/powerpoint/2010/main" val="34199465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BC645B-F0B8-4635-AE66-A6FE47699CF0}"/>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88407398-4C26-4721-9D91-B737BFB720F1}"/>
              </a:ext>
            </a:extLst>
          </p:cNvPr>
          <p:cNvSpPr>
            <a:spLocks noGrp="1"/>
          </p:cNvSpPr>
          <p:nvPr>
            <p:ph type="dt" sz="half" idx="10"/>
          </p:nvPr>
        </p:nvSpPr>
        <p:spPr/>
        <p:txBody>
          <a:bodyPr/>
          <a:lstStyle/>
          <a:p>
            <a:fld id="{2B3052A8-F414-4D06-B2EC-DDFC6191CBE8}" type="datetime1">
              <a:rPr kumimoji="1" lang="ja-JP" altLang="en-US" smtClean="0"/>
              <a:t>2022/1/21</a:t>
            </a:fld>
            <a:endParaRPr kumimoji="1" lang="ja-JP" altLang="en-US"/>
          </a:p>
        </p:txBody>
      </p:sp>
      <p:sp>
        <p:nvSpPr>
          <p:cNvPr id="4" name="フッター プレースホルダー 3">
            <a:extLst>
              <a:ext uri="{FF2B5EF4-FFF2-40B4-BE49-F238E27FC236}">
                <a16:creationId xmlns:a16="http://schemas.microsoft.com/office/drawing/2014/main" id="{42AD9AAD-83FF-45B2-BE7D-C78262E47D28}"/>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63D4E19F-19A1-4A67-9B9B-C3F4DC804275}"/>
              </a:ext>
            </a:extLst>
          </p:cNvPr>
          <p:cNvSpPr>
            <a:spLocks noGrp="1"/>
          </p:cNvSpPr>
          <p:nvPr>
            <p:ph type="sldNum" sz="quarter" idx="12"/>
          </p:nvPr>
        </p:nvSpPr>
        <p:spPr/>
        <p:txBody>
          <a:bodyPr/>
          <a:lstStyle/>
          <a:p>
            <a:fld id="{E0941385-F5BA-408B-94FB-C48DC2364AB1}" type="slidenum">
              <a:rPr kumimoji="1" lang="ja-JP" altLang="en-US" smtClean="0"/>
              <a:t>‹#›</a:t>
            </a:fld>
            <a:endParaRPr kumimoji="1" lang="ja-JP" altLang="en-US"/>
          </a:p>
        </p:txBody>
      </p:sp>
    </p:spTree>
    <p:extLst>
      <p:ext uri="{BB962C8B-B14F-4D97-AF65-F5344CB8AC3E}">
        <p14:creationId xmlns:p14="http://schemas.microsoft.com/office/powerpoint/2010/main" val="6606712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D6E114AE-9982-4A28-BA03-FAC3887D416A}"/>
              </a:ext>
            </a:extLst>
          </p:cNvPr>
          <p:cNvSpPr>
            <a:spLocks noGrp="1"/>
          </p:cNvSpPr>
          <p:nvPr>
            <p:ph type="dt" sz="half" idx="10"/>
          </p:nvPr>
        </p:nvSpPr>
        <p:spPr/>
        <p:txBody>
          <a:bodyPr/>
          <a:lstStyle/>
          <a:p>
            <a:fld id="{ECD8EDC9-69A0-4095-8453-547393639BD3}" type="datetime1">
              <a:rPr kumimoji="1" lang="ja-JP" altLang="en-US" smtClean="0"/>
              <a:t>2022/1/21</a:t>
            </a:fld>
            <a:endParaRPr kumimoji="1" lang="ja-JP" altLang="en-US"/>
          </a:p>
        </p:txBody>
      </p:sp>
      <p:sp>
        <p:nvSpPr>
          <p:cNvPr id="3" name="フッター プレースホルダー 2">
            <a:extLst>
              <a:ext uri="{FF2B5EF4-FFF2-40B4-BE49-F238E27FC236}">
                <a16:creationId xmlns:a16="http://schemas.microsoft.com/office/drawing/2014/main" id="{CD4A507C-E08F-445A-A2A2-2A5B5E899725}"/>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A0862C9-7841-4378-A579-AFB5D4E3983C}"/>
              </a:ext>
            </a:extLst>
          </p:cNvPr>
          <p:cNvSpPr>
            <a:spLocks noGrp="1"/>
          </p:cNvSpPr>
          <p:nvPr>
            <p:ph type="sldNum" sz="quarter" idx="12"/>
          </p:nvPr>
        </p:nvSpPr>
        <p:spPr/>
        <p:txBody>
          <a:bodyPr/>
          <a:lstStyle/>
          <a:p>
            <a:fld id="{E0941385-F5BA-408B-94FB-C48DC2364AB1}" type="slidenum">
              <a:rPr kumimoji="1" lang="ja-JP" altLang="en-US" smtClean="0"/>
              <a:t>‹#›</a:t>
            </a:fld>
            <a:endParaRPr kumimoji="1" lang="ja-JP" altLang="en-US"/>
          </a:p>
        </p:txBody>
      </p:sp>
    </p:spTree>
    <p:extLst>
      <p:ext uri="{BB962C8B-B14F-4D97-AF65-F5344CB8AC3E}">
        <p14:creationId xmlns:p14="http://schemas.microsoft.com/office/powerpoint/2010/main" val="4679539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E2A699-ADDE-43E8-839D-B8FDE788BFA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57CE681-7BCE-4AD7-AA22-343504A541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94B857B7-4F14-4581-A5A2-EFA219C9A9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FB509BE-AFF1-4423-8ADD-0EACD953DF9B}"/>
              </a:ext>
            </a:extLst>
          </p:cNvPr>
          <p:cNvSpPr>
            <a:spLocks noGrp="1"/>
          </p:cNvSpPr>
          <p:nvPr>
            <p:ph type="dt" sz="half" idx="10"/>
          </p:nvPr>
        </p:nvSpPr>
        <p:spPr/>
        <p:txBody>
          <a:bodyPr/>
          <a:lstStyle/>
          <a:p>
            <a:fld id="{4458DD94-EB27-49CB-A77E-9BA633DBFF6E}" type="datetime1">
              <a:rPr kumimoji="1" lang="ja-JP" altLang="en-US" smtClean="0"/>
              <a:t>2022/1/21</a:t>
            </a:fld>
            <a:endParaRPr kumimoji="1" lang="ja-JP" altLang="en-US"/>
          </a:p>
        </p:txBody>
      </p:sp>
      <p:sp>
        <p:nvSpPr>
          <p:cNvPr id="6" name="フッター プレースホルダー 5">
            <a:extLst>
              <a:ext uri="{FF2B5EF4-FFF2-40B4-BE49-F238E27FC236}">
                <a16:creationId xmlns:a16="http://schemas.microsoft.com/office/drawing/2014/main" id="{1F74BD1F-22D2-43E9-9C42-7F8DDCC903A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3F2957F-31D8-4A59-B95D-F44A2E0A0FA5}"/>
              </a:ext>
            </a:extLst>
          </p:cNvPr>
          <p:cNvSpPr>
            <a:spLocks noGrp="1"/>
          </p:cNvSpPr>
          <p:nvPr>
            <p:ph type="sldNum" sz="quarter" idx="12"/>
          </p:nvPr>
        </p:nvSpPr>
        <p:spPr/>
        <p:txBody>
          <a:bodyPr/>
          <a:lstStyle/>
          <a:p>
            <a:fld id="{E0941385-F5BA-408B-94FB-C48DC2364AB1}" type="slidenum">
              <a:rPr kumimoji="1" lang="ja-JP" altLang="en-US" smtClean="0"/>
              <a:t>‹#›</a:t>
            </a:fld>
            <a:endParaRPr kumimoji="1" lang="ja-JP" altLang="en-US"/>
          </a:p>
        </p:txBody>
      </p:sp>
    </p:spTree>
    <p:extLst>
      <p:ext uri="{BB962C8B-B14F-4D97-AF65-F5344CB8AC3E}">
        <p14:creationId xmlns:p14="http://schemas.microsoft.com/office/powerpoint/2010/main" val="33524972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C64F25-FE7F-4026-AC3A-2AB883C0BA2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46873EFF-65A8-4F6E-A1B0-1365157729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C1526273-E10B-463A-A31B-645B37EA43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D0BD7F6-19BB-4AEC-8B82-2F2997757FE2}"/>
              </a:ext>
            </a:extLst>
          </p:cNvPr>
          <p:cNvSpPr>
            <a:spLocks noGrp="1"/>
          </p:cNvSpPr>
          <p:nvPr>
            <p:ph type="dt" sz="half" idx="10"/>
          </p:nvPr>
        </p:nvSpPr>
        <p:spPr/>
        <p:txBody>
          <a:bodyPr/>
          <a:lstStyle/>
          <a:p>
            <a:fld id="{5D5AFC9F-45EC-41A8-917B-7812F66BF02B}" type="datetime1">
              <a:rPr kumimoji="1" lang="ja-JP" altLang="en-US" smtClean="0"/>
              <a:t>2022/1/21</a:t>
            </a:fld>
            <a:endParaRPr kumimoji="1" lang="ja-JP" altLang="en-US"/>
          </a:p>
        </p:txBody>
      </p:sp>
      <p:sp>
        <p:nvSpPr>
          <p:cNvPr id="6" name="フッター プレースホルダー 5">
            <a:extLst>
              <a:ext uri="{FF2B5EF4-FFF2-40B4-BE49-F238E27FC236}">
                <a16:creationId xmlns:a16="http://schemas.microsoft.com/office/drawing/2014/main" id="{19701DBF-A12C-4B9C-AC19-5E313F95EB9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F71B729-C8F4-439A-A0C2-09FB21F56CE9}"/>
              </a:ext>
            </a:extLst>
          </p:cNvPr>
          <p:cNvSpPr>
            <a:spLocks noGrp="1"/>
          </p:cNvSpPr>
          <p:nvPr>
            <p:ph type="sldNum" sz="quarter" idx="12"/>
          </p:nvPr>
        </p:nvSpPr>
        <p:spPr/>
        <p:txBody>
          <a:bodyPr/>
          <a:lstStyle/>
          <a:p>
            <a:fld id="{E0941385-F5BA-408B-94FB-C48DC2364AB1}" type="slidenum">
              <a:rPr kumimoji="1" lang="ja-JP" altLang="en-US" smtClean="0"/>
              <a:t>‹#›</a:t>
            </a:fld>
            <a:endParaRPr kumimoji="1" lang="ja-JP" altLang="en-US"/>
          </a:p>
        </p:txBody>
      </p:sp>
    </p:spTree>
    <p:extLst>
      <p:ext uri="{BB962C8B-B14F-4D97-AF65-F5344CB8AC3E}">
        <p14:creationId xmlns:p14="http://schemas.microsoft.com/office/powerpoint/2010/main" val="30631899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B0069B-3897-4943-BD80-6F4C5E5AA4AC}"/>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D0311D8-BD21-415B-AE74-29213C64E016}"/>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5BAFF12-E4DB-4F6F-AE7E-1ED347BFAB54}"/>
              </a:ext>
            </a:extLst>
          </p:cNvPr>
          <p:cNvSpPr>
            <a:spLocks noGrp="1"/>
          </p:cNvSpPr>
          <p:nvPr>
            <p:ph type="dt" sz="half" idx="10"/>
          </p:nvPr>
        </p:nvSpPr>
        <p:spPr/>
        <p:txBody>
          <a:bodyPr/>
          <a:lstStyle/>
          <a:p>
            <a:fld id="{26477500-1263-452D-85DA-96C932254173}" type="datetime1">
              <a:rPr kumimoji="1" lang="ja-JP" altLang="en-US" smtClean="0"/>
              <a:t>2022/1/21</a:t>
            </a:fld>
            <a:endParaRPr kumimoji="1" lang="ja-JP" altLang="en-US"/>
          </a:p>
        </p:txBody>
      </p:sp>
      <p:sp>
        <p:nvSpPr>
          <p:cNvPr id="5" name="フッター プレースホルダー 4">
            <a:extLst>
              <a:ext uri="{FF2B5EF4-FFF2-40B4-BE49-F238E27FC236}">
                <a16:creationId xmlns:a16="http://schemas.microsoft.com/office/drawing/2014/main" id="{FE2E44F0-018A-48AB-BF30-DC8217DB523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04C80F8-9786-4297-B57B-9A117B42CD28}"/>
              </a:ext>
            </a:extLst>
          </p:cNvPr>
          <p:cNvSpPr>
            <a:spLocks noGrp="1"/>
          </p:cNvSpPr>
          <p:nvPr>
            <p:ph type="sldNum" sz="quarter" idx="12"/>
          </p:nvPr>
        </p:nvSpPr>
        <p:spPr/>
        <p:txBody>
          <a:bodyPr/>
          <a:lstStyle/>
          <a:p>
            <a:fld id="{E0941385-F5BA-408B-94FB-C48DC2364AB1}" type="slidenum">
              <a:rPr kumimoji="1" lang="ja-JP" altLang="en-US" smtClean="0"/>
              <a:t>‹#›</a:t>
            </a:fld>
            <a:endParaRPr kumimoji="1" lang="ja-JP" altLang="en-US"/>
          </a:p>
        </p:txBody>
      </p:sp>
    </p:spTree>
    <p:extLst>
      <p:ext uri="{BB962C8B-B14F-4D97-AF65-F5344CB8AC3E}">
        <p14:creationId xmlns:p14="http://schemas.microsoft.com/office/powerpoint/2010/main" val="31605573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747F4D33-65C7-432B-8495-39482493B9A4}"/>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0B53BF7-3DA0-4346-AAFD-2DD7EC5C4EA2}"/>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8B3CEF7-A97A-4CBD-A1EF-7B55529679C2}"/>
              </a:ext>
            </a:extLst>
          </p:cNvPr>
          <p:cNvSpPr>
            <a:spLocks noGrp="1"/>
          </p:cNvSpPr>
          <p:nvPr>
            <p:ph type="dt" sz="half" idx="10"/>
          </p:nvPr>
        </p:nvSpPr>
        <p:spPr/>
        <p:txBody>
          <a:bodyPr/>
          <a:lstStyle/>
          <a:p>
            <a:fld id="{3F71A4C1-8ABE-4BE3-97C9-014B8C75658B}" type="datetime1">
              <a:rPr kumimoji="1" lang="ja-JP" altLang="en-US" smtClean="0"/>
              <a:t>2022/1/21</a:t>
            </a:fld>
            <a:endParaRPr kumimoji="1" lang="ja-JP" altLang="en-US"/>
          </a:p>
        </p:txBody>
      </p:sp>
      <p:sp>
        <p:nvSpPr>
          <p:cNvPr id="5" name="フッター プレースホルダー 4">
            <a:extLst>
              <a:ext uri="{FF2B5EF4-FFF2-40B4-BE49-F238E27FC236}">
                <a16:creationId xmlns:a16="http://schemas.microsoft.com/office/drawing/2014/main" id="{DE4B22A7-6ABD-4ED4-A2FE-03DDFC0C170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009613B-9DA9-4966-95D5-9F66B645EBBE}"/>
              </a:ext>
            </a:extLst>
          </p:cNvPr>
          <p:cNvSpPr>
            <a:spLocks noGrp="1"/>
          </p:cNvSpPr>
          <p:nvPr>
            <p:ph type="sldNum" sz="quarter" idx="12"/>
          </p:nvPr>
        </p:nvSpPr>
        <p:spPr/>
        <p:txBody>
          <a:bodyPr/>
          <a:lstStyle/>
          <a:p>
            <a:fld id="{E0941385-F5BA-408B-94FB-C48DC2364AB1}" type="slidenum">
              <a:rPr kumimoji="1" lang="ja-JP" altLang="en-US" smtClean="0"/>
              <a:t>‹#›</a:t>
            </a:fld>
            <a:endParaRPr kumimoji="1" lang="ja-JP" altLang="en-US"/>
          </a:p>
        </p:txBody>
      </p:sp>
    </p:spTree>
    <p:extLst>
      <p:ext uri="{BB962C8B-B14F-4D97-AF65-F5344CB8AC3E}">
        <p14:creationId xmlns:p14="http://schemas.microsoft.com/office/powerpoint/2010/main" val="33609588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EBF9E9F-93B8-4AD5-8555-493051919FDC}"/>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E0EA9450-2F18-41D4-A4C6-823E51C0C990}"/>
              </a:ext>
            </a:extLst>
          </p:cNvPr>
          <p:cNvSpPr>
            <a:spLocks noGrp="1"/>
          </p:cNvSpPr>
          <p:nvPr>
            <p:ph type="dt" sz="half" idx="10"/>
          </p:nvPr>
        </p:nvSpPr>
        <p:spPr/>
        <p:txBody>
          <a:bodyPr/>
          <a:lstStyle/>
          <a:p>
            <a:fld id="{2B8C6717-C63F-46B3-A8DC-A237E6840C0C}" type="datetime1">
              <a:rPr lang="ja-JP" altLang="en-US" smtClean="0"/>
              <a:t>2022/1/21</a:t>
            </a:fld>
            <a:endParaRPr lang="ja-JP" altLang="en-US"/>
          </a:p>
        </p:txBody>
      </p:sp>
      <p:sp>
        <p:nvSpPr>
          <p:cNvPr id="4" name="フッター プレースホルダー 3">
            <a:extLst>
              <a:ext uri="{FF2B5EF4-FFF2-40B4-BE49-F238E27FC236}">
                <a16:creationId xmlns:a16="http://schemas.microsoft.com/office/drawing/2014/main" id="{99B37BAF-F423-4593-9C00-C532F01A58D4}"/>
              </a:ext>
            </a:extLst>
          </p:cNvPr>
          <p:cNvSpPr>
            <a:spLocks noGrp="1"/>
          </p:cNvSpPr>
          <p:nvPr>
            <p:ph type="ftr" sz="quarter" idx="11"/>
          </p:nvPr>
        </p:nvSpPr>
        <p:spPr/>
        <p:txBody>
          <a:bodyPr/>
          <a:lstStyle/>
          <a:p>
            <a:endParaRPr lang="ja-JP" altLang="en-US"/>
          </a:p>
        </p:txBody>
      </p:sp>
      <p:sp>
        <p:nvSpPr>
          <p:cNvPr id="5" name="スライド番号プレースホルダー 4">
            <a:extLst>
              <a:ext uri="{FF2B5EF4-FFF2-40B4-BE49-F238E27FC236}">
                <a16:creationId xmlns:a16="http://schemas.microsoft.com/office/drawing/2014/main" id="{241F7483-5584-4926-AB93-C3C5F54B6A44}"/>
              </a:ext>
            </a:extLst>
          </p:cNvPr>
          <p:cNvSpPr>
            <a:spLocks noGrp="1"/>
          </p:cNvSpPr>
          <p:nvPr>
            <p:ph type="sldNum" sz="quarter" idx="12"/>
          </p:nvPr>
        </p:nvSpPr>
        <p:spPr/>
        <p:txBody>
          <a:bodyPr/>
          <a:lstStyle/>
          <a:p>
            <a:fld id="{E0941385-F5BA-408B-94FB-C48DC2364AB1}" type="slidenum">
              <a:rPr lang="ja-JP" altLang="en-US" smtClean="0"/>
              <a:pPr/>
              <a:t>‹#›</a:t>
            </a:fld>
            <a:endParaRPr lang="ja-JP" altLang="en-US" dirty="0"/>
          </a:p>
        </p:txBody>
      </p:sp>
    </p:spTree>
    <p:extLst>
      <p:ext uri="{BB962C8B-B14F-4D97-AF65-F5344CB8AC3E}">
        <p14:creationId xmlns:p14="http://schemas.microsoft.com/office/powerpoint/2010/main" val="10483057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alpha val="10000"/>
          </a:schemeClr>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A8F2DDF3-0836-4332-8E82-5C2CA871A2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8BF3808-1A77-4EF1-A70E-FCC10501DA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76DF397-F433-4D63-8953-D8F7C2A957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defRPr>
            </a:lvl1pPr>
          </a:lstStyle>
          <a:p>
            <a:fld id="{1248F908-8615-4355-8CB7-13A1887291D4}" type="datetime1">
              <a:rPr lang="ja-JP" altLang="en-US" smtClean="0"/>
              <a:t>2022/1/21</a:t>
            </a:fld>
            <a:endParaRPr lang="ja-JP" altLang="en-US"/>
          </a:p>
        </p:txBody>
      </p:sp>
      <p:sp>
        <p:nvSpPr>
          <p:cNvPr id="5" name="フッター プレースホルダー 4">
            <a:extLst>
              <a:ext uri="{FF2B5EF4-FFF2-40B4-BE49-F238E27FC236}">
                <a16:creationId xmlns:a16="http://schemas.microsoft.com/office/drawing/2014/main" id="{1F2A8AED-1F99-4373-8DD8-EE5C9174EA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defRPr>
            </a:lvl1pPr>
          </a:lstStyle>
          <a:p>
            <a:endParaRPr lang="ja-JP" altLang="en-US"/>
          </a:p>
        </p:txBody>
      </p:sp>
      <p:sp>
        <p:nvSpPr>
          <p:cNvPr id="6" name="スライド番号プレースホルダー 5">
            <a:extLst>
              <a:ext uri="{FF2B5EF4-FFF2-40B4-BE49-F238E27FC236}">
                <a16:creationId xmlns:a16="http://schemas.microsoft.com/office/drawing/2014/main" id="{737987CC-852C-4319-A9F7-74CBB75E4FDA}"/>
              </a:ext>
            </a:extLst>
          </p:cNvPr>
          <p:cNvSpPr>
            <a:spLocks noGrp="1"/>
          </p:cNvSpPr>
          <p:nvPr>
            <p:ph type="sldNum" sz="quarter" idx="4"/>
          </p:nvPr>
        </p:nvSpPr>
        <p:spPr>
          <a:xfrm>
            <a:off x="9329693" y="6356350"/>
            <a:ext cx="2743200" cy="365125"/>
          </a:xfrm>
          <a:prstGeom prst="rect">
            <a:avLst/>
          </a:prstGeom>
        </p:spPr>
        <p:txBody>
          <a:bodyPr vert="horz" lIns="91440" tIns="45720" rIns="91440" bIns="45720" rtlCol="0" anchor="ctr"/>
          <a:lstStyle>
            <a:lvl1pPr algn="r">
              <a:defRPr sz="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defRPr>
            </a:lvl1pPr>
          </a:lstStyle>
          <a:p>
            <a:fld id="{E0941385-F5BA-408B-94FB-C48DC2364AB1}" type="slidenum">
              <a:rPr lang="ja-JP" altLang="en-US" smtClean="0"/>
              <a:pPr/>
              <a:t>‹#›</a:t>
            </a:fld>
            <a:endParaRPr lang="ja-JP" altLang="en-US" dirty="0"/>
          </a:p>
        </p:txBody>
      </p:sp>
    </p:spTree>
    <p:extLst>
      <p:ext uri="{BB962C8B-B14F-4D97-AF65-F5344CB8AC3E}">
        <p14:creationId xmlns:p14="http://schemas.microsoft.com/office/powerpoint/2010/main" val="29646578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kumimoji="1" sz="4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customXml" Target="../ink/ink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5.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41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12.png"/></Relationships>
</file>

<file path=ppt/slides/_rels/slide14.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png"/><Relationship Id="rId3" Type="http://schemas.openxmlformats.org/officeDocument/2006/relationships/image" Target="../media/image512.png"/><Relationship Id="rId7" Type="http://schemas.openxmlformats.org/officeDocument/2006/relationships/image" Target="../media/image31.png"/><Relationship Id="rId12" Type="http://schemas.openxmlformats.org/officeDocument/2006/relationships/image" Target="../media/image36.png"/><Relationship Id="rId17" Type="http://schemas.openxmlformats.org/officeDocument/2006/relationships/image" Target="../media/image41.png"/><Relationship Id="rId2" Type="http://schemas.openxmlformats.org/officeDocument/2006/relationships/notesSlide" Target="../notesSlides/notesSlide14.xml"/><Relationship Id="rId16"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5" Type="http://schemas.openxmlformats.org/officeDocument/2006/relationships/image" Target="../media/image3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image" Target="../media/image38.png"/></Relationships>
</file>

<file path=ppt/slides/_rels/slide15.xml.rels><?xml version="1.0" encoding="UTF-8" standalone="yes"?>
<Relationships xmlns="http://schemas.openxmlformats.org/package/2006/relationships"><Relationship Id="rId3" Type="http://schemas.openxmlformats.org/officeDocument/2006/relationships/image" Target="../media/image440.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1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1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1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1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20.xml.rels><?xml version="1.0" encoding="UTF-8" standalone="yes"?>
<Relationships xmlns="http://schemas.openxmlformats.org/package/2006/relationships"><Relationship Id="rId3" Type="http://schemas.openxmlformats.org/officeDocument/2006/relationships/image" Target="../media/image51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42.png"/><Relationship Id="rId4" Type="http://schemas.openxmlformats.org/officeDocument/2006/relationships/image" Target="../media/image41.png"/></Relationships>
</file>

<file path=ppt/slides/_rels/slide22.xml.rels><?xml version="1.0" encoding="UTF-8" standalone="yes"?>
<Relationships xmlns="http://schemas.openxmlformats.org/package/2006/relationships"><Relationship Id="rId3" Type="http://schemas.openxmlformats.org/officeDocument/2006/relationships/image" Target="../media/image611.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57.png"/><Relationship Id="rId3" Type="http://schemas.openxmlformats.org/officeDocument/2006/relationships/image" Target="../media/image47.png"/><Relationship Id="rId7" Type="http://schemas.openxmlformats.org/officeDocument/2006/relationships/image" Target="../media/image51.png"/><Relationship Id="rId12" Type="http://schemas.openxmlformats.org/officeDocument/2006/relationships/image" Target="../media/image56.png"/><Relationship Id="rId2" Type="http://schemas.openxmlformats.org/officeDocument/2006/relationships/notesSlide" Target="../notesSlides/notesSlide23.xml"/><Relationship Id="rId16" Type="http://schemas.openxmlformats.org/officeDocument/2006/relationships/image" Target="../media/image60.png"/><Relationship Id="rId1" Type="http://schemas.openxmlformats.org/officeDocument/2006/relationships/slideLayout" Target="../slideLayouts/slideLayout2.xml"/><Relationship Id="rId6" Type="http://schemas.openxmlformats.org/officeDocument/2006/relationships/image" Target="../media/image50.png"/><Relationship Id="rId11" Type="http://schemas.openxmlformats.org/officeDocument/2006/relationships/image" Target="../media/image55.png"/><Relationship Id="rId5" Type="http://schemas.openxmlformats.org/officeDocument/2006/relationships/image" Target="../media/image49.png"/><Relationship Id="rId15" Type="http://schemas.openxmlformats.org/officeDocument/2006/relationships/image" Target="../media/image59.pn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png"/><Relationship Id="rId14" Type="http://schemas.openxmlformats.org/officeDocument/2006/relationships/image" Target="../media/image58.png"/></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customXml" Target="../ink/ink2.xml"/><Relationship Id="rId7"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image" Target="../media/image7.png"/><Relationship Id="rId7"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2.xml"/><Relationship Id="rId11" Type="http://schemas.openxmlformats.org/officeDocument/2006/relationships/image" Target="../media/image240.png"/><Relationship Id="rId4" Type="http://schemas.openxmlformats.org/officeDocument/2006/relationships/customXml" Target="../ink/ink3.xml"/></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240.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customXml" Target="../ink/ink5.xml"/></Relationships>
</file>

<file path=ppt/slides/_rels/slide4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68.svg"/></Relationships>
</file>

<file path=ppt/slides/_rels/slide5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68.svg"/></Relationships>
</file>

<file path=ppt/slides/_rels/slide5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68.sv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00.png"/><Relationship Id="rId2" Type="http://schemas.openxmlformats.org/officeDocument/2006/relationships/image" Target="../media/image30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11.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notesSlide" Target="../notesSlides/notesSlide58.xml"/><Relationship Id="rId1" Type="http://schemas.openxmlformats.org/officeDocument/2006/relationships/slideLayout" Target="../slideLayouts/slideLayout2.xml"/><Relationship Id="rId5" Type="http://schemas.openxmlformats.org/officeDocument/2006/relationships/image" Target="../media/image610.png"/><Relationship Id="rId4" Type="http://schemas.openxmlformats.org/officeDocument/2006/relationships/image" Target="../media/image510.png"/></Relationships>
</file>

<file path=ppt/slides/_rels/slide60.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30.png"/><Relationship Id="rId4" Type="http://schemas.openxmlformats.org/officeDocument/2006/relationships/image" Target="../media/image42.png"/></Relationships>
</file>

<file path=ppt/slides/_rels/slide61.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200.png"/><Relationship Id="rId7" Type="http://schemas.openxmlformats.org/officeDocument/2006/relationships/image" Target="../media/image241.png"/><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image" Target="../media/image230.png"/><Relationship Id="rId5" Type="http://schemas.openxmlformats.org/officeDocument/2006/relationships/image" Target="../media/image220.png"/><Relationship Id="rId10" Type="http://schemas.openxmlformats.org/officeDocument/2006/relationships/image" Target="../media/image240.png"/><Relationship Id="rId4" Type="http://schemas.openxmlformats.org/officeDocument/2006/relationships/image" Target="../media/image210.png"/><Relationship Id="rId9" Type="http://schemas.openxmlformats.org/officeDocument/2006/relationships/customXml" Target="../ink/ink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444FB32-0CCC-4F54-BBA2-FBD4D30D738B}"/>
              </a:ext>
            </a:extLst>
          </p:cNvPr>
          <p:cNvSpPr>
            <a:spLocks noGrp="1"/>
          </p:cNvSpPr>
          <p:nvPr>
            <p:ph type="ctrTitle"/>
          </p:nvPr>
        </p:nvSpPr>
        <p:spPr>
          <a:xfrm>
            <a:off x="642622" y="2192338"/>
            <a:ext cx="10906754" cy="1236662"/>
          </a:xfrm>
        </p:spPr>
        <p:txBody>
          <a:bodyPr>
            <a:noAutofit/>
          </a:bodyPr>
          <a:lstStyle/>
          <a:p>
            <a:r>
              <a:rPr kumimoji="1" lang="en-US" altLang="ja-JP" sz="4400" spc="-100" dirty="0"/>
              <a:t>Hutchinson</a:t>
            </a:r>
            <a:r>
              <a:rPr kumimoji="1" lang="ja-JP" altLang="en-US" sz="4400" spc="-100" dirty="0"/>
              <a:t>手法に基づく行列対角化を用いた</a:t>
            </a:r>
            <a:br>
              <a:rPr kumimoji="1" lang="ja-JP" altLang="en-US" sz="4400" spc="-100" dirty="0"/>
            </a:br>
            <a:r>
              <a:rPr kumimoji="1" lang="en-US" altLang="ja-JP" sz="4400" spc="-100" dirty="0"/>
              <a:t>2</a:t>
            </a:r>
            <a:r>
              <a:rPr kumimoji="1" lang="ja-JP" altLang="en-US" sz="4400" spc="-100" dirty="0"/>
              <a:t>次近似勾配学習法に関する研究</a:t>
            </a:r>
          </a:p>
        </p:txBody>
      </p:sp>
      <p:sp>
        <p:nvSpPr>
          <p:cNvPr id="3" name="字幕 2">
            <a:extLst>
              <a:ext uri="{FF2B5EF4-FFF2-40B4-BE49-F238E27FC236}">
                <a16:creationId xmlns:a16="http://schemas.microsoft.com/office/drawing/2014/main" id="{51ACB9B2-4ABA-46EA-BE5F-54837B41C637}"/>
              </a:ext>
            </a:extLst>
          </p:cNvPr>
          <p:cNvSpPr>
            <a:spLocks noGrp="1"/>
          </p:cNvSpPr>
          <p:nvPr>
            <p:ph type="subTitle" idx="1"/>
          </p:nvPr>
        </p:nvSpPr>
        <p:spPr>
          <a:xfrm>
            <a:off x="1047749" y="4137705"/>
            <a:ext cx="10096500" cy="1920196"/>
          </a:xfrm>
        </p:spPr>
        <p:txBody>
          <a:bodyPr>
            <a:normAutofit lnSpcReduction="10000"/>
          </a:bodyPr>
          <a:lstStyle/>
          <a:p>
            <a:r>
              <a:rPr kumimoji="1" lang="ja-JP" altLang="en-US" sz="2800" dirty="0"/>
              <a:t>湘南工科大学</a:t>
            </a:r>
            <a:endParaRPr kumimoji="1" lang="en-US" altLang="ja-JP" sz="2800" dirty="0"/>
          </a:p>
          <a:p>
            <a:r>
              <a:rPr lang="ja-JP" altLang="en-US" sz="2800" dirty="0"/>
              <a:t>*情報工学科　山富　龍</a:t>
            </a:r>
            <a:endParaRPr lang="en-US" altLang="ja-JP" sz="2800" dirty="0"/>
          </a:p>
          <a:p>
            <a:r>
              <a:rPr lang="zh-TW" altLang="en-US" sz="2800" dirty="0"/>
              <a:t>電気情報工学専攻</a:t>
            </a:r>
            <a:r>
              <a:rPr lang="ja-JP" altLang="en-US" sz="2800" dirty="0"/>
              <a:t>　マハブービ　シェヘラザード</a:t>
            </a:r>
            <a:endParaRPr lang="en-US" altLang="ja-JP" sz="2800" dirty="0"/>
          </a:p>
          <a:p>
            <a:r>
              <a:rPr lang="ja-JP" altLang="en-US" sz="2800" dirty="0"/>
              <a:t>二宮　洋</a:t>
            </a:r>
            <a:endParaRPr kumimoji="1" lang="ja-JP" altLang="en-US" sz="2800" dirty="0"/>
          </a:p>
        </p:txBody>
      </p:sp>
      <p:sp>
        <p:nvSpPr>
          <p:cNvPr id="4" name="スライド番号プレースホルダー 3">
            <a:extLst>
              <a:ext uri="{FF2B5EF4-FFF2-40B4-BE49-F238E27FC236}">
                <a16:creationId xmlns:a16="http://schemas.microsoft.com/office/drawing/2014/main" id="{B6BADB2C-81A0-444C-91D5-F3E4E9F85078}"/>
              </a:ext>
            </a:extLst>
          </p:cNvPr>
          <p:cNvSpPr>
            <a:spLocks noGrp="1"/>
          </p:cNvSpPr>
          <p:nvPr>
            <p:ph type="sldNum" sz="quarter" idx="12"/>
          </p:nvPr>
        </p:nvSpPr>
        <p:spPr/>
        <p:txBody>
          <a:bodyPr/>
          <a:lstStyle/>
          <a:p>
            <a:fld id="{E0941385-F5BA-408B-94FB-C48DC2364AB1}" type="slidenum">
              <a:rPr kumimoji="1" lang="ja-JP" altLang="en-US" smtClean="0"/>
              <a:t>1</a:t>
            </a:fld>
            <a:endParaRPr kumimoji="1" lang="ja-JP" altLang="en-US" dirty="0"/>
          </a:p>
        </p:txBody>
      </p:sp>
    </p:spTree>
    <p:extLst>
      <p:ext uri="{BB962C8B-B14F-4D97-AF65-F5344CB8AC3E}">
        <p14:creationId xmlns:p14="http://schemas.microsoft.com/office/powerpoint/2010/main" val="36199892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CE7686-0B4E-42B0-A196-FC29E037A8A4}"/>
              </a:ext>
            </a:extLst>
          </p:cNvPr>
          <p:cNvSpPr>
            <a:spLocks noGrp="1"/>
          </p:cNvSpPr>
          <p:nvPr>
            <p:ph type="title"/>
          </p:nvPr>
        </p:nvSpPr>
        <p:spPr/>
        <p:txBody>
          <a:bodyPr/>
          <a:lstStyle/>
          <a:p>
            <a:r>
              <a:rPr kumimoji="1" lang="ja-JP" altLang="en-US" dirty="0"/>
              <a:t>はじめに：ニューラルネットワークの学習</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320ACA7A-6F7B-44A4-94CC-84F664409AC7}"/>
                  </a:ext>
                </a:extLst>
              </p:cNvPr>
              <p:cNvSpPr>
                <a:spLocks noGrp="1"/>
              </p:cNvSpPr>
              <p:nvPr>
                <p:ph idx="1"/>
              </p:nvPr>
            </p:nvSpPr>
            <p:spPr>
              <a:xfrm>
                <a:off x="838200" y="1481959"/>
                <a:ext cx="10515600" cy="4695004"/>
              </a:xfrm>
            </p:spPr>
            <p:txBody>
              <a:bodyPr>
                <a:normAutofit fontScale="70000" lnSpcReduction="20000"/>
              </a:bodyPr>
              <a:lstStyle/>
              <a:p>
                <a:r>
                  <a:rPr lang="ja-JP" altLang="en-US" dirty="0"/>
                  <a:t>誤差関数</a:t>
                </a:r>
                <a:endParaRPr lang="en-US" altLang="ja-JP" dirty="0"/>
              </a:p>
              <a:p>
                <a:pPr marL="0" indent="0">
                  <a:buNone/>
                </a:pPr>
                <a14:m>
                  <m:oMathPara xmlns:m="http://schemas.openxmlformats.org/officeDocument/2006/math">
                    <m:oMathParaPr>
                      <m:jc m:val="centerGroup"/>
                    </m:oMathParaPr>
                    <m:oMath xmlns:m="http://schemas.openxmlformats.org/officeDocument/2006/math">
                      <m:eqArr>
                        <m:eqArrPr>
                          <m:ctrlPr>
                            <a:rPr lang="en-US" altLang="ja-JP" b="0" i="1" smtClean="0">
                              <a:latin typeface="Cambria Math" panose="02040503050406030204" pitchFamily="18" charset="0"/>
                            </a:rPr>
                          </m:ctrlPr>
                        </m:eqArrPr>
                        <m:e>
                          <m:r>
                            <a:rPr lang="en-ZA" altLang="ja-JP" b="0" i="1" smtClean="0">
                              <a:latin typeface="Cambria Math" panose="02040503050406030204" pitchFamily="18" charset="0"/>
                            </a:rPr>
                            <m:t>𝐸</m:t>
                          </m:r>
                          <m:d>
                            <m:dPr>
                              <m:ctrlPr>
                                <a:rPr lang="en-ZA" altLang="ja-JP" b="0" i="1" smtClean="0">
                                  <a:latin typeface="Cambria Math" panose="02040503050406030204" pitchFamily="18" charset="0"/>
                                </a:rPr>
                              </m:ctrlPr>
                            </m:dPr>
                            <m:e>
                              <m:r>
                                <a:rPr lang="en-ZA" altLang="ja-JP" b="1" i="0" smtClean="0">
                                  <a:latin typeface="Cambria Math" panose="02040503050406030204" pitchFamily="18" charset="0"/>
                                </a:rPr>
                                <m:t>𝐰</m:t>
                              </m:r>
                            </m:e>
                          </m:d>
                          <m:r>
                            <a:rPr lang="en-ZA" altLang="ja-JP" b="0" i="1" smtClean="0">
                              <a:latin typeface="Cambria Math" panose="02040503050406030204" pitchFamily="18" charset="0"/>
                            </a:rPr>
                            <m:t>= </m:t>
                          </m:r>
                          <m:f>
                            <m:fPr>
                              <m:ctrlPr>
                                <a:rPr lang="en-ZA" altLang="ja-JP" b="0" i="1" smtClean="0">
                                  <a:latin typeface="Cambria Math" panose="02040503050406030204" pitchFamily="18" charset="0"/>
                                </a:rPr>
                              </m:ctrlPr>
                            </m:fPr>
                            <m:num>
                              <m:r>
                                <a:rPr lang="en-ZA" altLang="ja-JP" b="0" i="1" smtClean="0">
                                  <a:latin typeface="Cambria Math" panose="02040503050406030204" pitchFamily="18" charset="0"/>
                                </a:rPr>
                                <m:t>1</m:t>
                              </m:r>
                            </m:num>
                            <m:den>
                              <m:d>
                                <m:dPr>
                                  <m:begChr m:val="|"/>
                                  <m:endChr m:val="|"/>
                                  <m:ctrlPr>
                                    <a:rPr lang="en-ZA" altLang="ja-JP" b="0" i="1" smtClean="0">
                                      <a:latin typeface="Cambria Math" panose="02040503050406030204" pitchFamily="18" charset="0"/>
                                    </a:rPr>
                                  </m:ctrlPr>
                                </m:dPr>
                                <m:e>
                                  <m:sSub>
                                    <m:sSubPr>
                                      <m:ctrlPr>
                                        <a:rPr lang="en-ZA" altLang="ja-JP" b="0" i="1" smtClean="0">
                                          <a:latin typeface="Cambria Math" panose="02040503050406030204" pitchFamily="18" charset="0"/>
                                        </a:rPr>
                                      </m:ctrlPr>
                                    </m:sSubPr>
                                    <m:e>
                                      <m:r>
                                        <a:rPr lang="en-ZA" altLang="ja-JP" b="0" i="1" smtClean="0">
                                          <a:latin typeface="Cambria Math" panose="02040503050406030204" pitchFamily="18" charset="0"/>
                                        </a:rPr>
                                        <m:t>𝑇</m:t>
                                      </m:r>
                                    </m:e>
                                    <m:sub>
                                      <m:r>
                                        <a:rPr lang="en-ZA" altLang="ja-JP" b="0" i="1" smtClean="0">
                                          <a:latin typeface="Cambria Math" panose="02040503050406030204" pitchFamily="18" charset="0"/>
                                        </a:rPr>
                                        <m:t>𝑟</m:t>
                                      </m:r>
                                    </m:sub>
                                  </m:sSub>
                                </m:e>
                              </m:d>
                            </m:den>
                          </m:f>
                          <m:nary>
                            <m:naryPr>
                              <m:chr m:val="∑"/>
                              <m:supHide m:val="on"/>
                              <m:ctrlPr>
                                <a:rPr lang="en-ZA" altLang="ja-JP" b="0" i="1" smtClean="0">
                                  <a:latin typeface="Cambria Math" panose="02040503050406030204" pitchFamily="18" charset="0"/>
                                </a:rPr>
                              </m:ctrlPr>
                            </m:naryPr>
                            <m:sub>
                              <m:r>
                                <m:rPr>
                                  <m:brk m:alnAt="7"/>
                                </m:rPr>
                                <a:rPr lang="en-ZA" altLang="ja-JP" b="0" i="1" smtClean="0">
                                  <a:latin typeface="Cambria Math" panose="02040503050406030204" pitchFamily="18" charset="0"/>
                                </a:rPr>
                                <m:t>𝑝</m:t>
                              </m:r>
                              <m:r>
                                <a:rPr lang="en-ZA" altLang="ja-JP" b="0" i="1" smtClean="0">
                                  <a:latin typeface="Cambria Math" panose="02040503050406030204" pitchFamily="18" charset="0"/>
                                </a:rPr>
                                <m:t> ∈ </m:t>
                              </m:r>
                              <m:sSub>
                                <m:sSubPr>
                                  <m:ctrlPr>
                                    <a:rPr lang="en-ZA" altLang="ja-JP" b="0" i="1" smtClean="0">
                                      <a:latin typeface="Cambria Math" panose="02040503050406030204" pitchFamily="18" charset="0"/>
                                      <a:ea typeface="Cambria Math" panose="02040503050406030204" pitchFamily="18" charset="0"/>
                                    </a:rPr>
                                  </m:ctrlPr>
                                </m:sSubPr>
                                <m:e>
                                  <m:r>
                                    <a:rPr lang="en-ZA" altLang="ja-JP" b="0" i="1" smtClean="0">
                                      <a:latin typeface="Cambria Math" panose="02040503050406030204" pitchFamily="18" charset="0"/>
                                      <a:ea typeface="Cambria Math" panose="02040503050406030204" pitchFamily="18" charset="0"/>
                                    </a:rPr>
                                    <m:t>𝑇</m:t>
                                  </m:r>
                                </m:e>
                                <m:sub>
                                  <m:r>
                                    <a:rPr lang="en-ZA" altLang="ja-JP" b="0" i="1" smtClean="0">
                                      <a:latin typeface="Cambria Math" panose="02040503050406030204" pitchFamily="18" charset="0"/>
                                      <a:ea typeface="Cambria Math" panose="02040503050406030204" pitchFamily="18" charset="0"/>
                                    </a:rPr>
                                    <m:t>𝑟</m:t>
                                  </m:r>
                                </m:sub>
                              </m:sSub>
                            </m:sub>
                            <m:sup/>
                            <m:e>
                              <m:sSub>
                                <m:sSubPr>
                                  <m:ctrlPr>
                                    <a:rPr lang="en-ZA" altLang="ja-JP" b="0" i="1" smtClean="0">
                                      <a:latin typeface="Cambria Math" panose="02040503050406030204" pitchFamily="18" charset="0"/>
                                    </a:rPr>
                                  </m:ctrlPr>
                                </m:sSubPr>
                                <m:e>
                                  <m:r>
                                    <a:rPr lang="en-ZA" altLang="ja-JP" b="0" i="1" smtClean="0">
                                      <a:latin typeface="Cambria Math" panose="02040503050406030204" pitchFamily="18" charset="0"/>
                                    </a:rPr>
                                    <m:t>𝐸</m:t>
                                  </m:r>
                                </m:e>
                                <m:sub>
                                  <m:r>
                                    <a:rPr lang="en-ZA" altLang="ja-JP" b="0" i="1" smtClean="0">
                                      <a:latin typeface="Cambria Math" panose="02040503050406030204" pitchFamily="18" charset="0"/>
                                    </a:rPr>
                                    <m:t>𝑝</m:t>
                                  </m:r>
                                </m:sub>
                              </m:sSub>
                              <m:r>
                                <a:rPr lang="en-ZA" altLang="ja-JP" b="0" i="1" smtClean="0">
                                  <a:latin typeface="Cambria Math" panose="02040503050406030204" pitchFamily="18" charset="0"/>
                                </a:rPr>
                                <m:t>(</m:t>
                              </m:r>
                              <m:r>
                                <a:rPr lang="en-ZA" altLang="ja-JP" b="1" i="0" smtClean="0">
                                  <a:latin typeface="Cambria Math" panose="02040503050406030204" pitchFamily="18" charset="0"/>
                                </a:rPr>
                                <m:t>𝐰</m:t>
                              </m:r>
                              <m:r>
                                <a:rPr lang="en-ZA" altLang="ja-JP" b="0" i="1" smtClean="0">
                                  <a:latin typeface="Cambria Math" panose="02040503050406030204" pitchFamily="18" charset="0"/>
                                </a:rPr>
                                <m:t>)</m:t>
                              </m:r>
                            </m:e>
                          </m:nary>
                          <m:r>
                            <a:rPr lang="en-ZA" altLang="ja-JP" b="0" i="1" smtClean="0">
                              <a:latin typeface="Cambria Math" panose="02040503050406030204" pitchFamily="18" charset="0"/>
                            </a:rPr>
                            <m:t> </m:t>
                          </m:r>
                        </m:e>
                      </m:eqArr>
                    </m:oMath>
                  </m:oMathPara>
                </a14:m>
                <a:endParaRPr lang="en-US" altLang="ja-JP" dirty="0"/>
              </a:p>
              <a:p>
                <a:pPr marL="0" indent="0">
                  <a:buNone/>
                </a:pPr>
                <a:r>
                  <a:rPr lang="en-US" altLang="ja-JP" dirty="0"/>
                  <a:t>  ※</a:t>
                </a:r>
                <a14:m>
                  <m:oMath xmlns:m="http://schemas.openxmlformats.org/officeDocument/2006/math">
                    <m:r>
                      <a:rPr lang="ja-JP" altLang="en-US" b="1" i="1">
                        <a:latin typeface="Cambria Math" panose="02040503050406030204" pitchFamily="18" charset="0"/>
                      </a:rPr>
                      <m:t>　</m:t>
                    </m:r>
                    <m:r>
                      <a:rPr lang="en-ZA" altLang="ja-JP" b="1" i="0" smtClean="0">
                        <a:latin typeface="Cambria Math" panose="02040503050406030204" pitchFamily="18" charset="0"/>
                      </a:rPr>
                      <m:t>𝐰</m:t>
                    </m:r>
                  </m:oMath>
                </a14:m>
                <a:r>
                  <a:rPr lang="en-US" altLang="ja-JP" dirty="0"/>
                  <a:t> </a:t>
                </a:r>
                <a:r>
                  <a:rPr lang="ja-JP" altLang="en-US" dirty="0"/>
                  <a:t>：</a:t>
                </a:r>
                <a:r>
                  <a:rPr lang="en-US" altLang="ja-JP" dirty="0"/>
                  <a:t> </a:t>
                </a:r>
                <a:r>
                  <a:rPr lang="ja-JP" altLang="en-US" dirty="0"/>
                  <a:t>重み， </a:t>
                </a:r>
                <a14:m>
                  <m:oMath xmlns:m="http://schemas.openxmlformats.org/officeDocument/2006/math">
                    <m:d>
                      <m:dPr>
                        <m:begChr m:val="|"/>
                        <m:endChr m:val="|"/>
                        <m:ctrlPr>
                          <a:rPr lang="en-ZA" altLang="ja-JP" i="1">
                            <a:latin typeface="Cambria Math" panose="02040503050406030204" pitchFamily="18" charset="0"/>
                          </a:rPr>
                        </m:ctrlPr>
                      </m:dPr>
                      <m:e>
                        <m:sSub>
                          <m:sSubPr>
                            <m:ctrlPr>
                              <a:rPr lang="en-ZA" altLang="ja-JP" i="1">
                                <a:latin typeface="Cambria Math" panose="02040503050406030204" pitchFamily="18" charset="0"/>
                              </a:rPr>
                            </m:ctrlPr>
                          </m:sSubPr>
                          <m:e>
                            <m:r>
                              <a:rPr lang="en-ZA" altLang="ja-JP" i="1">
                                <a:latin typeface="Cambria Math" panose="02040503050406030204" pitchFamily="18" charset="0"/>
                              </a:rPr>
                              <m:t>𝑇</m:t>
                            </m:r>
                          </m:e>
                          <m:sub>
                            <m:r>
                              <a:rPr lang="en-ZA" altLang="ja-JP" i="1">
                                <a:latin typeface="Cambria Math" panose="02040503050406030204" pitchFamily="18" charset="0"/>
                              </a:rPr>
                              <m:t>𝑟</m:t>
                            </m:r>
                          </m:sub>
                        </m:sSub>
                      </m:e>
                    </m:d>
                  </m:oMath>
                </a14:m>
                <a:r>
                  <a:rPr lang="en-ZA" altLang="ja-JP" dirty="0"/>
                  <a:t> </a:t>
                </a:r>
                <a:r>
                  <a:rPr lang="ja-JP" altLang="en-US" dirty="0"/>
                  <a:t>：</a:t>
                </a:r>
                <a:r>
                  <a:rPr lang="en-ZA" altLang="ja-JP" dirty="0"/>
                  <a:t> </a:t>
                </a:r>
                <a:r>
                  <a:rPr lang="ja-JP" altLang="en-US" dirty="0"/>
                  <a:t>学習サンプル</a:t>
                </a:r>
                <a:endParaRPr kumimoji="1" lang="en-US" altLang="ja-JP" dirty="0"/>
              </a:p>
              <a:p>
                <a:pPr marL="0" indent="0">
                  <a:buNone/>
                </a:pPr>
                <a:r>
                  <a:rPr kumimoji="1" lang="ja-JP" altLang="en-US" dirty="0"/>
                  <a:t>  ニューラルネットワークの学習では</a:t>
                </a:r>
                <a14:m>
                  <m:oMath xmlns:m="http://schemas.openxmlformats.org/officeDocument/2006/math">
                    <m:r>
                      <a:rPr lang="en-ZA" altLang="ja-JP" b="0" i="1" smtClean="0">
                        <a:latin typeface="Cambria Math" panose="02040503050406030204" pitchFamily="18" charset="0"/>
                      </a:rPr>
                      <m:t>𝐸</m:t>
                    </m:r>
                    <m:d>
                      <m:dPr>
                        <m:ctrlPr>
                          <a:rPr lang="en-ZA" altLang="ja-JP" b="0" i="1" smtClean="0">
                            <a:latin typeface="Cambria Math" panose="02040503050406030204" pitchFamily="18" charset="0"/>
                          </a:rPr>
                        </m:ctrlPr>
                      </m:dPr>
                      <m:e>
                        <m:r>
                          <a:rPr lang="en-ZA" altLang="ja-JP" b="1" i="0" smtClean="0">
                            <a:latin typeface="Cambria Math" panose="02040503050406030204" pitchFamily="18" charset="0"/>
                          </a:rPr>
                          <m:t>𝐰</m:t>
                        </m:r>
                      </m:e>
                    </m:d>
                    <m:r>
                      <a:rPr lang="ja-JP" altLang="en-US" i="1">
                        <a:latin typeface="Cambria Math" panose="02040503050406030204" pitchFamily="18" charset="0"/>
                      </a:rPr>
                      <m:t>が</m:t>
                    </m:r>
                  </m:oMath>
                </a14:m>
                <a:r>
                  <a:rPr kumimoji="1" lang="ja-JP" altLang="en-US" dirty="0"/>
                  <a:t>最小になるように重みの最適化を行う</a:t>
                </a:r>
                <a:endParaRPr kumimoji="1" lang="en-US" altLang="ja-JP" dirty="0"/>
              </a:p>
              <a:p>
                <a:pPr marL="0" indent="0">
                  <a:buNone/>
                </a:pPr>
                <a:endParaRPr kumimoji="1" lang="en-US" altLang="ja-JP" dirty="0"/>
              </a:p>
              <a:p>
                <a:r>
                  <a:rPr lang="ja-JP" altLang="en-US" dirty="0"/>
                  <a:t>重みの更新式 ： </a:t>
                </a:r>
                <a:endParaRPr lang="en-US" altLang="ja-JP" dirty="0"/>
              </a:p>
              <a:p>
                <a:pPr marL="0" indent="0">
                  <a:buNone/>
                </a:pPr>
                <a14:m>
                  <m:oMathPara xmlns:m="http://schemas.openxmlformats.org/officeDocument/2006/math">
                    <m:oMathParaPr>
                      <m:jc m:val="centerGroup"/>
                    </m:oMathParaPr>
                    <m:oMath xmlns:m="http://schemas.openxmlformats.org/officeDocument/2006/math">
                      <m:eqArr>
                        <m:eqArrPr>
                          <m:ctrlPr>
                            <a:rPr kumimoji="1" lang="en-ZA" altLang="ja-JP" b="0" i="1" smtClean="0">
                              <a:latin typeface="Cambria Math" panose="02040503050406030204" pitchFamily="18" charset="0"/>
                            </a:rPr>
                          </m:ctrlPr>
                        </m:eqArrPr>
                        <m:e>
                          <m:sSub>
                            <m:sSubPr>
                              <m:ctrlPr>
                                <a:rPr kumimoji="1" lang="en-US" altLang="ja-JP" i="1" smtClean="0">
                                  <a:latin typeface="Cambria Math" panose="02040503050406030204" pitchFamily="18" charset="0"/>
                                </a:rPr>
                              </m:ctrlPr>
                            </m:sSubPr>
                            <m:e>
                              <m:r>
                                <a:rPr kumimoji="1" lang="en-US" altLang="ja-JP" b="1" i="0" smtClean="0">
                                  <a:latin typeface="Cambria Math" panose="02040503050406030204" pitchFamily="18" charset="0"/>
                                </a:rPr>
                                <m:t>𝐰</m:t>
                              </m:r>
                            </m:e>
                            <m:sub>
                              <m:r>
                                <a:rPr kumimoji="1" lang="en-US" altLang="ja-JP" b="0" i="1" smtClean="0">
                                  <a:latin typeface="Cambria Math" panose="02040503050406030204" pitchFamily="18" charset="0"/>
                                </a:rPr>
                                <m:t>𝑘</m:t>
                              </m:r>
                              <m:r>
                                <a:rPr kumimoji="1" lang="en-US" altLang="ja-JP" b="0" i="1" smtClean="0">
                                  <a:latin typeface="Cambria Math" panose="02040503050406030204" pitchFamily="18" charset="0"/>
                                </a:rPr>
                                <m:t>+1</m:t>
                              </m:r>
                            </m:sub>
                          </m:sSub>
                          <m:r>
                            <a:rPr kumimoji="1" lang="en-ZA" altLang="ja-JP" b="0" i="1" smtClean="0">
                              <a:latin typeface="Cambria Math" panose="02040503050406030204" pitchFamily="18" charset="0"/>
                            </a:rPr>
                            <m:t>= </m:t>
                          </m:r>
                          <m:sSub>
                            <m:sSubPr>
                              <m:ctrlPr>
                                <a:rPr kumimoji="1" lang="en-ZA" altLang="ja-JP" b="0" i="1" smtClean="0">
                                  <a:latin typeface="Cambria Math" panose="02040503050406030204" pitchFamily="18" charset="0"/>
                                </a:rPr>
                              </m:ctrlPr>
                            </m:sSubPr>
                            <m:e>
                              <m:r>
                                <a:rPr kumimoji="1" lang="en-ZA" altLang="ja-JP" b="1" i="0" smtClean="0">
                                  <a:latin typeface="Cambria Math" panose="02040503050406030204" pitchFamily="18" charset="0"/>
                                </a:rPr>
                                <m:t>𝐰</m:t>
                              </m:r>
                            </m:e>
                            <m:sub>
                              <m:r>
                                <a:rPr kumimoji="1" lang="en-ZA" altLang="ja-JP" b="0" i="1" smtClean="0">
                                  <a:latin typeface="Cambria Math" panose="02040503050406030204" pitchFamily="18" charset="0"/>
                                </a:rPr>
                                <m:t>𝑘</m:t>
                              </m:r>
                            </m:sub>
                          </m:sSub>
                          <m:r>
                            <a:rPr kumimoji="1" lang="en-ZA" altLang="ja-JP" b="0" i="1" smtClean="0">
                              <a:latin typeface="Cambria Math" panose="02040503050406030204" pitchFamily="18" charset="0"/>
                            </a:rPr>
                            <m:t>+ </m:t>
                          </m:r>
                          <m:sSub>
                            <m:sSubPr>
                              <m:ctrlPr>
                                <a:rPr kumimoji="1" lang="en-ZA" altLang="ja-JP" b="0" i="1" smtClean="0">
                                  <a:latin typeface="Cambria Math" panose="02040503050406030204" pitchFamily="18" charset="0"/>
                                </a:rPr>
                              </m:ctrlPr>
                            </m:sSubPr>
                            <m:e>
                              <m:r>
                                <a:rPr kumimoji="1" lang="en-ZA" altLang="ja-JP" b="1" i="0" smtClean="0">
                                  <a:latin typeface="Cambria Math" panose="02040503050406030204" pitchFamily="18" charset="0"/>
                                </a:rPr>
                                <m:t>𝐯</m:t>
                              </m:r>
                            </m:e>
                            <m:sub>
                              <m:r>
                                <a:rPr kumimoji="1" lang="en-ZA" altLang="ja-JP" b="0" i="1" smtClean="0">
                                  <a:latin typeface="Cambria Math" panose="02040503050406030204" pitchFamily="18" charset="0"/>
                                </a:rPr>
                                <m:t>𝑘</m:t>
                              </m:r>
                              <m:r>
                                <a:rPr lang="en-US" altLang="ja-JP" i="1">
                                  <a:latin typeface="Cambria Math" panose="02040503050406030204" pitchFamily="18" charset="0"/>
                                </a:rPr>
                                <m:t>+1</m:t>
                              </m:r>
                            </m:sub>
                          </m:sSub>
                          <m:r>
                            <a:rPr kumimoji="1" lang="en-ZA" altLang="ja-JP" b="0" i="1" smtClean="0">
                              <a:latin typeface="Cambria Math" panose="02040503050406030204" pitchFamily="18" charset="0"/>
                            </a:rPr>
                            <m:t>#</m:t>
                          </m:r>
                        </m:e>
                      </m:eqArr>
                    </m:oMath>
                  </m:oMathPara>
                </a14:m>
                <a:endParaRPr kumimoji="1" lang="en-US" altLang="ja-JP" dirty="0"/>
              </a:p>
              <a:p>
                <a:pPr marL="0" indent="0">
                  <a:buNone/>
                </a:pPr>
                <a:r>
                  <a:rPr kumimoji="1" lang="en-US" altLang="ja-JP" dirty="0"/>
                  <a:t>  ※</a:t>
                </a:r>
                <a:r>
                  <a:rPr lang="en-ZA" altLang="ja-JP" dirty="0"/>
                  <a:t> </a:t>
                </a:r>
                <a14:m>
                  <m:oMath xmlns:m="http://schemas.openxmlformats.org/officeDocument/2006/math">
                    <m:sSub>
                      <m:sSubPr>
                        <m:ctrlPr>
                          <a:rPr lang="en-ZA" altLang="ja-JP" i="1">
                            <a:latin typeface="Cambria Math" panose="02040503050406030204" pitchFamily="18" charset="0"/>
                          </a:rPr>
                        </m:ctrlPr>
                      </m:sSubPr>
                      <m:e>
                        <m:r>
                          <a:rPr lang="en-ZA" altLang="ja-JP" b="1">
                            <a:latin typeface="Cambria Math" panose="02040503050406030204" pitchFamily="18" charset="0"/>
                          </a:rPr>
                          <m:t>𝐯</m:t>
                        </m:r>
                      </m:e>
                      <m:sub>
                        <m:r>
                          <a:rPr lang="en-ZA" altLang="ja-JP" i="1">
                            <a:latin typeface="Cambria Math" panose="02040503050406030204" pitchFamily="18" charset="0"/>
                          </a:rPr>
                          <m:t>𝑘</m:t>
                        </m:r>
                        <m:r>
                          <a:rPr lang="en-US" altLang="ja-JP" i="1">
                            <a:latin typeface="Cambria Math" panose="02040503050406030204" pitchFamily="18" charset="0"/>
                          </a:rPr>
                          <m:t>+1</m:t>
                        </m:r>
                      </m:sub>
                    </m:sSub>
                  </m:oMath>
                </a14:m>
                <a:r>
                  <a:rPr lang="en-ZA" altLang="ja-JP" dirty="0"/>
                  <a:t> : </a:t>
                </a:r>
                <a:r>
                  <a:rPr lang="ja-JP" altLang="en-US" dirty="0"/>
                  <a:t>更新ベクトル</a:t>
                </a:r>
                <a:endParaRPr kumimoji="1" lang="en-US" altLang="ja-JP" dirty="0"/>
              </a:p>
              <a:p>
                <a:pPr marL="0" indent="0">
                  <a:buNone/>
                </a:pPr>
                <a:endParaRPr kumimoji="1" lang="en-US" altLang="ja-JP" dirty="0"/>
              </a:p>
              <a:p>
                <a:pPr marL="0" indent="0">
                  <a:buNone/>
                </a:pPr>
                <a:r>
                  <a:rPr kumimoji="1" lang="en-US" altLang="ja-JP" dirty="0"/>
                  <a:t>  Ex</a:t>
                </a:r>
                <a:r>
                  <a:rPr lang="en-US" altLang="ja-JP" dirty="0"/>
                  <a:t>)</a:t>
                </a:r>
                <a:r>
                  <a:rPr lang="en-ZA" altLang="ja-JP" dirty="0"/>
                  <a:t> </a:t>
                </a:r>
                <a:r>
                  <a:rPr lang="ja-JP" altLang="en-US" dirty="0"/>
                  <a:t>最急降下法（</a:t>
                </a:r>
                <a:r>
                  <a:rPr lang="en-US" altLang="ja-JP" dirty="0"/>
                  <a:t>GD</a:t>
                </a:r>
                <a:r>
                  <a:rPr lang="ja-JP" altLang="en-US" dirty="0"/>
                  <a:t>）</a:t>
                </a:r>
                <a:endParaRPr lang="en-US" altLang="ja-JP" dirty="0"/>
              </a:p>
              <a:p>
                <a:pPr marL="0" indent="0">
                  <a:buNone/>
                </a:pPr>
                <a14:m>
                  <m:oMathPara xmlns:m="http://schemas.openxmlformats.org/officeDocument/2006/math">
                    <m:oMathParaPr>
                      <m:jc m:val="centerGroup"/>
                    </m:oMathParaPr>
                    <m:oMath xmlns:m="http://schemas.openxmlformats.org/officeDocument/2006/math">
                      <m:eqArr>
                        <m:eqArrPr>
                          <m:ctrlPr>
                            <a:rPr lang="en-ZA" altLang="ja-JP" b="0" i="1" smtClean="0">
                              <a:latin typeface="Cambria Math" panose="02040503050406030204" pitchFamily="18" charset="0"/>
                            </a:rPr>
                          </m:ctrlPr>
                        </m:eqArrPr>
                        <m:e>
                          <m:sSub>
                            <m:sSubPr>
                              <m:ctrlPr>
                                <a:rPr lang="en-US" altLang="ja-JP" i="1" smtClean="0">
                                  <a:latin typeface="Cambria Math" panose="02040503050406030204" pitchFamily="18" charset="0"/>
                                </a:rPr>
                              </m:ctrlPr>
                            </m:sSubPr>
                            <m:e>
                              <m:r>
                                <a:rPr lang="en-US" altLang="ja-JP" b="1" i="0" smtClean="0">
                                  <a:latin typeface="Cambria Math" panose="02040503050406030204" pitchFamily="18" charset="0"/>
                                </a:rPr>
                                <m:t>𝐯</m:t>
                              </m:r>
                            </m:e>
                            <m:sub>
                              <m:r>
                                <a:rPr lang="en-US" altLang="ja-JP" b="0" i="1" smtClean="0">
                                  <a:latin typeface="Cambria Math" panose="02040503050406030204" pitchFamily="18" charset="0"/>
                                </a:rPr>
                                <m:t>𝑘</m:t>
                              </m:r>
                              <m:r>
                                <a:rPr lang="en-US" altLang="ja-JP" i="1">
                                  <a:latin typeface="Cambria Math" panose="02040503050406030204" pitchFamily="18" charset="0"/>
                                </a:rPr>
                                <m:t>+1</m:t>
                              </m:r>
                            </m:sub>
                          </m:sSub>
                          <m:r>
                            <a:rPr lang="en-ZA" altLang="ja-JP" b="0" i="1" smtClean="0">
                              <a:latin typeface="Cambria Math" panose="02040503050406030204" pitchFamily="18" charset="0"/>
                            </a:rPr>
                            <m:t>=−</m:t>
                          </m:r>
                          <m:r>
                            <a:rPr lang="ja-JP" altLang="en-ZA" b="0" i="1" smtClean="0">
                              <a:latin typeface="Cambria Math" panose="02040503050406030204" pitchFamily="18" charset="0"/>
                            </a:rPr>
                            <m:t>𝛼</m:t>
                          </m:r>
                          <m:r>
                            <m:rPr>
                              <m:sty m:val="p"/>
                            </m:rPr>
                            <a:rPr lang="ja-JP" altLang="en-US" i="1">
                              <a:latin typeface="Cambria Math" panose="02040503050406030204" pitchFamily="18" charset="0"/>
                            </a:rPr>
                            <m:t>∇</m:t>
                          </m:r>
                          <m:r>
                            <a:rPr lang="en-ZA" altLang="ja-JP" b="0" i="1" smtClean="0">
                              <a:latin typeface="Cambria Math" panose="02040503050406030204" pitchFamily="18" charset="0"/>
                            </a:rPr>
                            <m:t>𝐸</m:t>
                          </m:r>
                          <m:d>
                            <m:dPr>
                              <m:ctrlPr>
                                <a:rPr lang="en-ZA" altLang="ja-JP" b="0" i="1" smtClean="0">
                                  <a:latin typeface="Cambria Math" panose="02040503050406030204" pitchFamily="18" charset="0"/>
                                </a:rPr>
                              </m:ctrlPr>
                            </m:dPr>
                            <m:e>
                              <m:sSub>
                                <m:sSubPr>
                                  <m:ctrlPr>
                                    <a:rPr lang="en-ZA" altLang="ja-JP" b="0" i="1" smtClean="0">
                                      <a:latin typeface="Cambria Math" panose="02040503050406030204" pitchFamily="18" charset="0"/>
                                    </a:rPr>
                                  </m:ctrlPr>
                                </m:sSubPr>
                                <m:e>
                                  <m:r>
                                    <a:rPr lang="en-ZA" altLang="ja-JP" b="1" i="0" smtClean="0">
                                      <a:latin typeface="Cambria Math" panose="02040503050406030204" pitchFamily="18" charset="0"/>
                                    </a:rPr>
                                    <m:t>𝐰</m:t>
                                  </m:r>
                                </m:e>
                                <m:sub>
                                  <m:r>
                                    <a:rPr lang="en-ZA" altLang="ja-JP" b="0" i="1" smtClean="0">
                                      <a:latin typeface="Cambria Math" panose="02040503050406030204" pitchFamily="18" charset="0"/>
                                    </a:rPr>
                                    <m:t>𝑘</m:t>
                                  </m:r>
                                </m:sub>
                              </m:sSub>
                            </m:e>
                          </m:d>
                          <m:r>
                            <a:rPr lang="en-ZA" altLang="ja-JP" b="0" i="1" smtClean="0">
                              <a:latin typeface="Cambria Math" panose="02040503050406030204" pitchFamily="18" charset="0"/>
                            </a:rPr>
                            <m:t>#</m:t>
                          </m:r>
                        </m:e>
                      </m:eqArr>
                    </m:oMath>
                  </m:oMathPara>
                </a14:m>
                <a:endParaRPr lang="en-US" altLang="ja-JP" b="0" dirty="0"/>
              </a:p>
              <a:p>
                <a:pPr marL="0" indent="0">
                  <a:buNone/>
                </a:pPr>
                <a:r>
                  <a:rPr lang="en-US" altLang="ja-JP" dirty="0"/>
                  <a:t>  ※</a:t>
                </a:r>
                <a14:m>
                  <m:oMath xmlns:m="http://schemas.openxmlformats.org/officeDocument/2006/math">
                    <m:r>
                      <a:rPr lang="ja-JP" altLang="en-US" i="1">
                        <a:latin typeface="Cambria Math" panose="02040503050406030204" pitchFamily="18" charset="0"/>
                      </a:rPr>
                      <m:t> </m:t>
                    </m:r>
                    <m:r>
                      <m:rPr>
                        <m:sty m:val="p"/>
                      </m:rPr>
                      <a:rPr lang="ja-JP" altLang="en-US" i="1" smtClean="0">
                        <a:latin typeface="Cambria Math" panose="02040503050406030204" pitchFamily="18" charset="0"/>
                      </a:rPr>
                      <m:t>∇</m:t>
                    </m:r>
                    <m:r>
                      <a:rPr lang="en-ZA" altLang="ja-JP" b="0" i="1" smtClean="0">
                        <a:latin typeface="Cambria Math" panose="02040503050406030204" pitchFamily="18" charset="0"/>
                      </a:rPr>
                      <m:t>𝐸</m:t>
                    </m:r>
                    <m:d>
                      <m:dPr>
                        <m:ctrlPr>
                          <a:rPr lang="en-ZA" altLang="ja-JP" b="0" i="1" smtClean="0">
                            <a:latin typeface="Cambria Math" panose="02040503050406030204" pitchFamily="18" charset="0"/>
                          </a:rPr>
                        </m:ctrlPr>
                      </m:dPr>
                      <m:e>
                        <m:sSub>
                          <m:sSubPr>
                            <m:ctrlPr>
                              <a:rPr lang="en-ZA" altLang="ja-JP" b="0" i="1" smtClean="0">
                                <a:latin typeface="Cambria Math" panose="02040503050406030204" pitchFamily="18" charset="0"/>
                              </a:rPr>
                            </m:ctrlPr>
                          </m:sSubPr>
                          <m:e>
                            <m:r>
                              <a:rPr lang="en-ZA" altLang="ja-JP" b="1" i="0" smtClean="0">
                                <a:latin typeface="Cambria Math" panose="02040503050406030204" pitchFamily="18" charset="0"/>
                              </a:rPr>
                              <m:t>𝐰</m:t>
                            </m:r>
                          </m:e>
                          <m:sub>
                            <m:r>
                              <a:rPr lang="en-ZA" altLang="ja-JP" b="0" i="1" smtClean="0">
                                <a:latin typeface="Cambria Math" panose="02040503050406030204" pitchFamily="18" charset="0"/>
                              </a:rPr>
                              <m:t>𝑘</m:t>
                            </m:r>
                          </m:sub>
                        </m:sSub>
                      </m:e>
                    </m:d>
                  </m:oMath>
                </a14:m>
                <a:r>
                  <a:rPr lang="ja-JP" altLang="en-US" b="0" dirty="0"/>
                  <a:t> ： 勾配</a:t>
                </a:r>
                <a:r>
                  <a:rPr lang="en-ZA" altLang="ja-JP" dirty="0"/>
                  <a:t>, </a:t>
                </a:r>
                <a14:m>
                  <m:oMath xmlns:m="http://schemas.openxmlformats.org/officeDocument/2006/math">
                    <m:r>
                      <a:rPr lang="ja-JP" altLang="en-ZA" i="1">
                        <a:latin typeface="Cambria Math" panose="02040503050406030204" pitchFamily="18" charset="0"/>
                      </a:rPr>
                      <m:t>𝛼</m:t>
                    </m:r>
                  </m:oMath>
                </a14:m>
                <a:r>
                  <a:rPr lang="en-ZA" altLang="ja-JP" b="0" dirty="0"/>
                  <a:t> : </a:t>
                </a:r>
                <a:r>
                  <a:rPr lang="ja-JP" altLang="en-US" b="0" dirty="0"/>
                  <a:t>学習率</a:t>
                </a:r>
                <a:br>
                  <a:rPr lang="en-ZA" altLang="ja-JP" b="0" dirty="0"/>
                </a:br>
                <a:endParaRPr kumimoji="1" lang="en-US" altLang="ja-JP" dirty="0"/>
              </a:p>
              <a:p>
                <a:endParaRPr lang="en-US" altLang="ja-JP" dirty="0"/>
              </a:p>
            </p:txBody>
          </p:sp>
        </mc:Choice>
        <mc:Fallback xmlns="">
          <p:sp>
            <p:nvSpPr>
              <p:cNvPr id="3" name="コンテンツ プレースホルダー 2">
                <a:extLst>
                  <a:ext uri="{FF2B5EF4-FFF2-40B4-BE49-F238E27FC236}">
                    <a16:creationId xmlns:a16="http://schemas.microsoft.com/office/drawing/2014/main" id="{320ACA7A-6F7B-44A4-94CC-84F664409AC7}"/>
                  </a:ext>
                </a:extLst>
              </p:cNvPr>
              <p:cNvSpPr>
                <a:spLocks noGrp="1" noRot="1" noChangeAspect="1" noMove="1" noResize="1" noEditPoints="1" noAdjustHandles="1" noChangeArrowheads="1" noChangeShapeType="1" noTextEdit="1"/>
              </p:cNvSpPr>
              <p:nvPr>
                <p:ph idx="1"/>
              </p:nvPr>
            </p:nvSpPr>
            <p:spPr>
              <a:xfrm>
                <a:off x="838200" y="1481959"/>
                <a:ext cx="10515600" cy="4695004"/>
              </a:xfrm>
              <a:blipFill>
                <a:blip r:embed="rId3"/>
                <a:stretch>
                  <a:fillRect l="-522" t="-2208"/>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F5E8E274-312B-44FD-91F5-62C4B096232F}"/>
              </a:ext>
            </a:extLst>
          </p:cNvPr>
          <p:cNvSpPr>
            <a:spLocks noGrp="1"/>
          </p:cNvSpPr>
          <p:nvPr>
            <p:ph type="sldNum" sz="quarter" idx="12"/>
          </p:nvPr>
        </p:nvSpPr>
        <p:spPr/>
        <p:txBody>
          <a:bodyPr/>
          <a:lstStyle/>
          <a:p>
            <a:fld id="{E0941385-F5BA-408B-94FB-C48DC2364AB1}" type="slidenum">
              <a:rPr kumimoji="1" lang="ja-JP" altLang="en-US" smtClean="0"/>
              <a:t>2</a:t>
            </a:fld>
            <a:endParaRPr kumimoji="1" lang="ja-JP" altLang="en-US"/>
          </a:p>
        </p:txBody>
      </p:sp>
      <p:sp>
        <p:nvSpPr>
          <p:cNvPr id="5" name="テキスト ボックス 4">
            <a:extLst>
              <a:ext uri="{FF2B5EF4-FFF2-40B4-BE49-F238E27FC236}">
                <a16:creationId xmlns:a16="http://schemas.microsoft.com/office/drawing/2014/main" id="{2E47D545-C9B0-4BF2-A237-8B217304CEAF}"/>
              </a:ext>
            </a:extLst>
          </p:cNvPr>
          <p:cNvSpPr txBox="1"/>
          <p:nvPr/>
        </p:nvSpPr>
        <p:spPr>
          <a:xfrm>
            <a:off x="10823121" y="1751648"/>
            <a:ext cx="667839" cy="596253"/>
          </a:xfrm>
          <a:prstGeom prst="rect">
            <a:avLst/>
          </a:prstGeom>
          <a:solidFill>
            <a:srgbClr val="E4E4E4"/>
          </a:solidFill>
        </p:spPr>
        <p:txBody>
          <a:bodyPr wrap="square" rtlCol="0">
            <a:spAutoFit/>
          </a:bodyPr>
          <a:lstStyle/>
          <a:p>
            <a:pPr>
              <a:lnSpc>
                <a:spcPct val="150000"/>
              </a:lnSpc>
            </a:pPr>
            <a:r>
              <a:rPr kumimoji="1" lang="en-US" altLang="ja-JP" sz="24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(1)</a:t>
            </a:r>
            <a:endParaRPr kumimoji="1" lang="ja-JP" altLang="en-US" sz="24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p:sp>
        <p:nvSpPr>
          <p:cNvPr id="8" name="テキスト ボックス 7">
            <a:extLst>
              <a:ext uri="{FF2B5EF4-FFF2-40B4-BE49-F238E27FC236}">
                <a16:creationId xmlns:a16="http://schemas.microsoft.com/office/drawing/2014/main" id="{1B94092F-EA87-4A16-84FC-D658EC0A5D2D}"/>
              </a:ext>
            </a:extLst>
          </p:cNvPr>
          <p:cNvSpPr txBox="1"/>
          <p:nvPr/>
        </p:nvSpPr>
        <p:spPr>
          <a:xfrm>
            <a:off x="10838453" y="3579594"/>
            <a:ext cx="667839" cy="596253"/>
          </a:xfrm>
          <a:prstGeom prst="rect">
            <a:avLst/>
          </a:prstGeom>
          <a:solidFill>
            <a:srgbClr val="E4E4E4"/>
          </a:solidFill>
        </p:spPr>
        <p:txBody>
          <a:bodyPr wrap="square" rtlCol="0">
            <a:spAutoFit/>
          </a:bodyPr>
          <a:lstStyle/>
          <a:p>
            <a:pPr>
              <a:lnSpc>
                <a:spcPct val="150000"/>
              </a:lnSpc>
            </a:pPr>
            <a:r>
              <a:rPr kumimoji="1" lang="en-US" altLang="ja-JP" sz="24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(2)</a:t>
            </a:r>
            <a:endParaRPr kumimoji="1" lang="ja-JP" altLang="en-US" sz="24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p:sp>
        <p:nvSpPr>
          <p:cNvPr id="9" name="テキスト ボックス 8">
            <a:extLst>
              <a:ext uri="{FF2B5EF4-FFF2-40B4-BE49-F238E27FC236}">
                <a16:creationId xmlns:a16="http://schemas.microsoft.com/office/drawing/2014/main" id="{2BE788FF-F7A0-485A-A007-119B75B357C0}"/>
              </a:ext>
            </a:extLst>
          </p:cNvPr>
          <p:cNvSpPr txBox="1"/>
          <p:nvPr/>
        </p:nvSpPr>
        <p:spPr>
          <a:xfrm>
            <a:off x="10841264" y="5010557"/>
            <a:ext cx="667839" cy="596253"/>
          </a:xfrm>
          <a:prstGeom prst="rect">
            <a:avLst/>
          </a:prstGeom>
          <a:solidFill>
            <a:srgbClr val="E4E4E4"/>
          </a:solidFill>
        </p:spPr>
        <p:txBody>
          <a:bodyPr wrap="square" rtlCol="0">
            <a:spAutoFit/>
          </a:bodyPr>
          <a:lstStyle/>
          <a:p>
            <a:pPr>
              <a:lnSpc>
                <a:spcPct val="150000"/>
              </a:lnSpc>
            </a:pPr>
            <a:r>
              <a:rPr kumimoji="1" lang="en-US" altLang="ja-JP" sz="24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(3)</a:t>
            </a:r>
            <a:endParaRPr kumimoji="1" lang="ja-JP" altLang="en-US" sz="24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mc:AlternateContent xmlns:mc="http://schemas.openxmlformats.org/markup-compatibility/2006" xmlns:p14="http://schemas.microsoft.com/office/powerpoint/2010/main">
        <mc:Choice Requires="p14">
          <p:contentPart p14:bwMode="auto" r:id="rId4">
            <p14:nvContentPartPr>
              <p14:cNvPr id="6" name="インク 5">
                <a:extLst>
                  <a:ext uri="{FF2B5EF4-FFF2-40B4-BE49-F238E27FC236}">
                    <a16:creationId xmlns:a16="http://schemas.microsoft.com/office/drawing/2014/main" id="{2FDB064C-FF27-4708-AD2A-76F808D063BA}"/>
                  </a:ext>
                </a:extLst>
              </p14:cNvPr>
              <p14:cNvContentPartPr/>
              <p14:nvPr/>
            </p14:nvContentPartPr>
            <p14:xfrm>
              <a:off x="1732320" y="4859937"/>
              <a:ext cx="360" cy="360"/>
            </p14:xfrm>
          </p:contentPart>
        </mc:Choice>
        <mc:Fallback xmlns="">
          <p:pic>
            <p:nvPicPr>
              <p:cNvPr id="6" name="インク 5">
                <a:extLst>
                  <a:ext uri="{FF2B5EF4-FFF2-40B4-BE49-F238E27FC236}">
                    <a16:creationId xmlns:a16="http://schemas.microsoft.com/office/drawing/2014/main" id="{2FDB064C-FF27-4708-AD2A-76F808D063BA}"/>
                  </a:ext>
                </a:extLst>
              </p:cNvPr>
              <p:cNvPicPr/>
              <p:nvPr/>
            </p:nvPicPr>
            <p:blipFill>
              <a:blip r:embed="rId5"/>
              <a:stretch>
                <a:fillRect/>
              </a:stretch>
            </p:blipFill>
            <p:spPr>
              <a:xfrm>
                <a:off x="1723320" y="4851297"/>
                <a:ext cx="18000" cy="18000"/>
              </a:xfrm>
              <a:prstGeom prst="rect">
                <a:avLst/>
              </a:prstGeom>
            </p:spPr>
          </p:pic>
        </mc:Fallback>
      </mc:AlternateContent>
    </p:spTree>
    <p:extLst>
      <p:ext uri="{BB962C8B-B14F-4D97-AF65-F5344CB8AC3E}">
        <p14:creationId xmlns:p14="http://schemas.microsoft.com/office/powerpoint/2010/main" val="1080862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四角形: 角を丸くする 7">
            <a:extLst>
              <a:ext uri="{FF2B5EF4-FFF2-40B4-BE49-F238E27FC236}">
                <a16:creationId xmlns:a16="http://schemas.microsoft.com/office/drawing/2014/main" id="{A889F3A4-896A-4958-872D-05B7D4D4B954}"/>
              </a:ext>
            </a:extLst>
          </p:cNvPr>
          <p:cNvSpPr/>
          <p:nvPr/>
        </p:nvSpPr>
        <p:spPr>
          <a:xfrm>
            <a:off x="232410" y="1336358"/>
            <a:ext cx="11791950" cy="5384482"/>
          </a:xfrm>
          <a:prstGeom prst="roundRect">
            <a:avLst/>
          </a:prstGeom>
          <a:noFill/>
          <a:ln w="57150">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lumMod val="75000"/>
                  <a:lumOff val="25000"/>
                </a:schemeClr>
              </a:solidFill>
            </a:endParaRPr>
          </a:p>
        </p:txBody>
      </p:sp>
      <p:sp>
        <p:nvSpPr>
          <p:cNvPr id="2" name="タイトル 1">
            <a:extLst>
              <a:ext uri="{FF2B5EF4-FFF2-40B4-BE49-F238E27FC236}">
                <a16:creationId xmlns:a16="http://schemas.microsoft.com/office/drawing/2014/main" id="{AC106782-666C-451B-97BE-992C06603F82}"/>
              </a:ext>
            </a:extLst>
          </p:cNvPr>
          <p:cNvSpPr>
            <a:spLocks noGrp="1"/>
          </p:cNvSpPr>
          <p:nvPr>
            <p:ph type="title"/>
          </p:nvPr>
        </p:nvSpPr>
        <p:spPr>
          <a:xfrm>
            <a:off x="838200" y="10795"/>
            <a:ext cx="10515600" cy="1325563"/>
          </a:xfrm>
        </p:spPr>
        <p:txBody>
          <a:bodyPr/>
          <a:lstStyle/>
          <a:p>
            <a:r>
              <a:rPr kumimoji="1" lang="ja-JP" altLang="en-US" dirty="0"/>
              <a:t>はじめに：従来手法・提案手法の位置づけ</a:t>
            </a:r>
          </a:p>
        </p:txBody>
      </p:sp>
      <p:sp>
        <p:nvSpPr>
          <p:cNvPr id="6" name="四角形: 角を丸くする 5">
            <a:extLst>
              <a:ext uri="{FF2B5EF4-FFF2-40B4-BE49-F238E27FC236}">
                <a16:creationId xmlns:a16="http://schemas.microsoft.com/office/drawing/2014/main" id="{91136D06-B0EF-46D1-98BE-F69CCF55C5A0}"/>
              </a:ext>
            </a:extLst>
          </p:cNvPr>
          <p:cNvSpPr/>
          <p:nvPr/>
        </p:nvSpPr>
        <p:spPr>
          <a:xfrm>
            <a:off x="548640" y="2045970"/>
            <a:ext cx="3317966" cy="4446905"/>
          </a:xfrm>
          <a:prstGeom prst="roundRect">
            <a:avLst/>
          </a:prstGeom>
          <a:noFill/>
          <a:ln w="57150">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lumMod val="75000"/>
                  <a:lumOff val="25000"/>
                </a:schemeClr>
              </a:solidFill>
            </a:endParaRPr>
          </a:p>
        </p:txBody>
      </p:sp>
      <p:sp>
        <p:nvSpPr>
          <p:cNvPr id="9" name="テキスト ボックス 8">
            <a:extLst>
              <a:ext uri="{FF2B5EF4-FFF2-40B4-BE49-F238E27FC236}">
                <a16:creationId xmlns:a16="http://schemas.microsoft.com/office/drawing/2014/main" id="{D7AF3C98-1194-472A-95AA-A10B8A90FF09}"/>
              </a:ext>
            </a:extLst>
          </p:cNvPr>
          <p:cNvSpPr txBox="1"/>
          <p:nvPr/>
        </p:nvSpPr>
        <p:spPr>
          <a:xfrm>
            <a:off x="2409825" y="1043970"/>
            <a:ext cx="7372350" cy="584775"/>
          </a:xfrm>
          <a:prstGeom prst="rect">
            <a:avLst/>
          </a:prstGeom>
          <a:solidFill>
            <a:srgbClr val="E4E4E4"/>
          </a:solidFill>
        </p:spPr>
        <p:txBody>
          <a:bodyPr wrap="square" rtlCol="0">
            <a:spAutoFit/>
          </a:bodyPr>
          <a:lstStyle/>
          <a:p>
            <a:r>
              <a:rPr kumimoji="1" lang="ja-JP" altLang="en-US" sz="32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ニューラルネットワークの学習アルゴリズム</a:t>
            </a:r>
          </a:p>
        </p:txBody>
      </p:sp>
      <p:sp>
        <p:nvSpPr>
          <p:cNvPr id="10" name="テキスト ボックス 9">
            <a:extLst>
              <a:ext uri="{FF2B5EF4-FFF2-40B4-BE49-F238E27FC236}">
                <a16:creationId xmlns:a16="http://schemas.microsoft.com/office/drawing/2014/main" id="{86A34877-ABFF-428B-998C-D85C42F5B44B}"/>
              </a:ext>
            </a:extLst>
          </p:cNvPr>
          <p:cNvSpPr txBox="1"/>
          <p:nvPr/>
        </p:nvSpPr>
        <p:spPr>
          <a:xfrm>
            <a:off x="811482" y="1675523"/>
            <a:ext cx="2741296" cy="584775"/>
          </a:xfrm>
          <a:prstGeom prst="rect">
            <a:avLst/>
          </a:prstGeom>
          <a:solidFill>
            <a:srgbClr val="E4E4E4"/>
          </a:solidFill>
        </p:spPr>
        <p:txBody>
          <a:bodyPr wrap="square" rtlCol="0">
            <a:spAutoFit/>
          </a:bodyPr>
          <a:lstStyle/>
          <a:p>
            <a:pPr algn="ctr"/>
            <a:r>
              <a:rPr kumimoji="1" lang="ja-JP" altLang="en-US" sz="32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一次近似手法</a:t>
            </a:r>
          </a:p>
        </p:txBody>
      </p:sp>
      <p:sp>
        <p:nvSpPr>
          <p:cNvPr id="4" name="四角形: 角を丸くする 3">
            <a:extLst>
              <a:ext uri="{FF2B5EF4-FFF2-40B4-BE49-F238E27FC236}">
                <a16:creationId xmlns:a16="http://schemas.microsoft.com/office/drawing/2014/main" id="{D63CD884-F702-44E7-AB57-6B2247B477A0}"/>
              </a:ext>
            </a:extLst>
          </p:cNvPr>
          <p:cNvSpPr/>
          <p:nvPr/>
        </p:nvSpPr>
        <p:spPr>
          <a:xfrm>
            <a:off x="963241" y="2351803"/>
            <a:ext cx="2392823" cy="424852"/>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latin typeface="UD デジタル 教科書体 NK-R" panose="02020400000000000000" pitchFamily="18" charset="-128"/>
                <a:ea typeface="UD デジタル 教科書体 NK-R" panose="02020400000000000000" pitchFamily="18" charset="-128"/>
              </a:rPr>
              <a:t>GD</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sp>
        <p:nvSpPr>
          <p:cNvPr id="19" name="四角形: 角を丸くする 18">
            <a:extLst>
              <a:ext uri="{FF2B5EF4-FFF2-40B4-BE49-F238E27FC236}">
                <a16:creationId xmlns:a16="http://schemas.microsoft.com/office/drawing/2014/main" id="{5D936B8A-4E49-4371-9647-6E2D6130CA2C}"/>
              </a:ext>
            </a:extLst>
          </p:cNvPr>
          <p:cNvSpPr/>
          <p:nvPr/>
        </p:nvSpPr>
        <p:spPr>
          <a:xfrm>
            <a:off x="2436294" y="3769977"/>
            <a:ext cx="1371769" cy="413475"/>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err="1">
                <a:latin typeface="UD デジタル 教科書体 NK-R" panose="02020400000000000000" pitchFamily="18" charset="-128"/>
                <a:ea typeface="UD デジタル 教科書体 NK-R" panose="02020400000000000000" pitchFamily="18" charset="-128"/>
              </a:rPr>
              <a:t>AdaGrad</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sp>
        <p:nvSpPr>
          <p:cNvPr id="20" name="四角形: 角を丸くする 19">
            <a:extLst>
              <a:ext uri="{FF2B5EF4-FFF2-40B4-BE49-F238E27FC236}">
                <a16:creationId xmlns:a16="http://schemas.microsoft.com/office/drawing/2014/main" id="{49B9E5C3-066A-48E4-BC0E-9FE3C873BF4A}"/>
              </a:ext>
            </a:extLst>
          </p:cNvPr>
          <p:cNvSpPr/>
          <p:nvPr/>
        </p:nvSpPr>
        <p:spPr>
          <a:xfrm>
            <a:off x="617122" y="3772264"/>
            <a:ext cx="1364516" cy="420596"/>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latin typeface="UD デジタル 教科書体 NK-R" panose="02020400000000000000" pitchFamily="18" charset="-128"/>
                <a:ea typeface="UD デジタル 教科書体 NK-R" panose="02020400000000000000" pitchFamily="18" charset="-128"/>
              </a:rPr>
              <a:t>CM</a:t>
            </a:r>
            <a:r>
              <a:rPr kumimoji="1" lang="ja-JP" altLang="en-US" dirty="0">
                <a:latin typeface="UD デジタル 教科書体 NK-R" panose="02020400000000000000" pitchFamily="18" charset="-128"/>
                <a:ea typeface="UD デジタル 教科書体 NK-R" panose="02020400000000000000" pitchFamily="18" charset="-128"/>
              </a:rPr>
              <a:t>法</a:t>
            </a:r>
          </a:p>
        </p:txBody>
      </p:sp>
      <p:sp>
        <p:nvSpPr>
          <p:cNvPr id="21" name="四角形: 角を丸くする 20">
            <a:extLst>
              <a:ext uri="{FF2B5EF4-FFF2-40B4-BE49-F238E27FC236}">
                <a16:creationId xmlns:a16="http://schemas.microsoft.com/office/drawing/2014/main" id="{367B0A7A-D5AA-4B1B-97E2-DDA9168EDEAA}"/>
              </a:ext>
            </a:extLst>
          </p:cNvPr>
          <p:cNvSpPr/>
          <p:nvPr/>
        </p:nvSpPr>
        <p:spPr>
          <a:xfrm>
            <a:off x="949793" y="5009229"/>
            <a:ext cx="2392823" cy="413475"/>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latin typeface="UD デジタル 教科書体 NK-R" panose="02020400000000000000" pitchFamily="18" charset="-128"/>
                <a:ea typeface="UD デジタル 教科書体 NK-R" panose="02020400000000000000" pitchFamily="18" charset="-128"/>
              </a:rPr>
              <a:t>Adam</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cxnSp>
        <p:nvCxnSpPr>
          <p:cNvPr id="23" name="直線矢印コネクタ 22">
            <a:extLst>
              <a:ext uri="{FF2B5EF4-FFF2-40B4-BE49-F238E27FC236}">
                <a16:creationId xmlns:a16="http://schemas.microsoft.com/office/drawing/2014/main" id="{CFF00908-9167-4341-BD3B-047C302461B3}"/>
              </a:ext>
            </a:extLst>
          </p:cNvPr>
          <p:cNvCxnSpPr>
            <a:cxnSpLocks/>
            <a:stCxn id="4" idx="2"/>
            <a:endCxn id="20" idx="0"/>
          </p:cNvCxnSpPr>
          <p:nvPr/>
        </p:nvCxnSpPr>
        <p:spPr>
          <a:xfrm flipH="1">
            <a:off x="1299380" y="2776655"/>
            <a:ext cx="860273" cy="995609"/>
          </a:xfrm>
          <a:prstGeom prst="straightConnector1">
            <a:avLst/>
          </a:prstGeom>
          <a:ln w="571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DB8F96D8-A3DD-4C29-80CB-87392D886EA2}"/>
              </a:ext>
            </a:extLst>
          </p:cNvPr>
          <p:cNvCxnSpPr>
            <a:cxnSpLocks/>
            <a:stCxn id="4" idx="2"/>
            <a:endCxn id="19" idx="0"/>
          </p:cNvCxnSpPr>
          <p:nvPr/>
        </p:nvCxnSpPr>
        <p:spPr>
          <a:xfrm>
            <a:off x="2159653" y="2776655"/>
            <a:ext cx="962526" cy="993322"/>
          </a:xfrm>
          <a:prstGeom prst="straightConnector1">
            <a:avLst/>
          </a:prstGeom>
          <a:ln w="571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17A71CAB-D1FF-443C-94D5-CA57C1CCCE6B}"/>
              </a:ext>
            </a:extLst>
          </p:cNvPr>
          <p:cNvCxnSpPr>
            <a:cxnSpLocks/>
            <a:stCxn id="20" idx="2"/>
            <a:endCxn id="21" idx="0"/>
          </p:cNvCxnSpPr>
          <p:nvPr/>
        </p:nvCxnSpPr>
        <p:spPr>
          <a:xfrm>
            <a:off x="1299380" y="4192860"/>
            <a:ext cx="846825" cy="816369"/>
          </a:xfrm>
          <a:prstGeom prst="straightConnector1">
            <a:avLst/>
          </a:prstGeom>
          <a:ln w="571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28AED442-501B-4873-9A0B-641BC7B72650}"/>
              </a:ext>
            </a:extLst>
          </p:cNvPr>
          <p:cNvCxnSpPr>
            <a:cxnSpLocks/>
            <a:stCxn id="19" idx="2"/>
            <a:endCxn id="21" idx="0"/>
          </p:cNvCxnSpPr>
          <p:nvPr/>
        </p:nvCxnSpPr>
        <p:spPr>
          <a:xfrm flipH="1">
            <a:off x="2146205" y="4183452"/>
            <a:ext cx="975974" cy="825777"/>
          </a:xfrm>
          <a:prstGeom prst="straightConnector1">
            <a:avLst/>
          </a:prstGeom>
          <a:ln w="571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DBE29ED8-02FF-4121-B885-9FA7A49579F0}"/>
              </a:ext>
            </a:extLst>
          </p:cNvPr>
          <p:cNvSpPr txBox="1"/>
          <p:nvPr/>
        </p:nvSpPr>
        <p:spPr>
          <a:xfrm>
            <a:off x="556969" y="2900525"/>
            <a:ext cx="1220224" cy="512191"/>
          </a:xfrm>
          <a:prstGeom prst="rect">
            <a:avLst/>
          </a:prstGeom>
          <a:noFill/>
          <a:effectLst>
            <a:softEdge rad="63500"/>
          </a:effectLst>
        </p:spPr>
        <p:txBody>
          <a:bodyPr wrap="square" rtlCol="0">
            <a:spAutoFit/>
          </a:bodyPr>
          <a:lstStyle/>
          <a:p>
            <a:pPr>
              <a:lnSpc>
                <a:spcPct val="150000"/>
              </a:lnSpc>
            </a:pPr>
            <a:r>
              <a:rPr kumimoji="1" lang="en-US" altLang="ja-JP" sz="2000" dirty="0">
                <a:ln w="3175">
                  <a:noFill/>
                </a:ln>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a:t>
            </a:r>
            <a:r>
              <a:rPr kumimoji="1" lang="ja-JP" altLang="en-US" sz="2000" dirty="0">
                <a:ln w="3175">
                  <a:noFill/>
                </a:ln>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慣性項</a:t>
            </a:r>
          </a:p>
        </p:txBody>
      </p:sp>
      <p:sp>
        <p:nvSpPr>
          <p:cNvPr id="36" name="テキスト ボックス 35">
            <a:extLst>
              <a:ext uri="{FF2B5EF4-FFF2-40B4-BE49-F238E27FC236}">
                <a16:creationId xmlns:a16="http://schemas.microsoft.com/office/drawing/2014/main" id="{0DA9AE62-622C-46B8-9E15-3AC727B98542}"/>
              </a:ext>
            </a:extLst>
          </p:cNvPr>
          <p:cNvSpPr txBox="1"/>
          <p:nvPr/>
        </p:nvSpPr>
        <p:spPr>
          <a:xfrm>
            <a:off x="1459826" y="5261696"/>
            <a:ext cx="1250756" cy="512191"/>
          </a:xfrm>
          <a:prstGeom prst="rect">
            <a:avLst/>
          </a:prstGeom>
          <a:noFill/>
          <a:effectLst>
            <a:softEdge rad="31750"/>
          </a:effectLst>
        </p:spPr>
        <p:txBody>
          <a:bodyPr wrap="square" rtlCol="0">
            <a:spAutoFit/>
          </a:bodyPr>
          <a:lstStyle/>
          <a:p>
            <a:pPr algn="ctr">
              <a:lnSpc>
                <a:spcPct val="150000"/>
              </a:lnSpc>
            </a:pPr>
            <a:r>
              <a:rPr lang="ja-JP" altLang="en-US" sz="2000" spc="-70">
                <a:solidFill>
                  <a:srgbClr val="C00000"/>
                </a:solidFill>
                <a:latin typeface="UD デジタル 教科書体 NK-R" panose="02020400000000000000" pitchFamily="18" charset="-128"/>
                <a:ea typeface="UD デジタル 教科書体 NK-R" panose="02020400000000000000" pitchFamily="18" charset="-128"/>
              </a:rPr>
              <a:t>現在主流</a:t>
            </a:r>
            <a:endParaRPr kumimoji="1" lang="ja-JP" altLang="en-US" sz="2000" spc="-70" dirty="0">
              <a:solidFill>
                <a:srgbClr val="C00000"/>
              </a:solidFill>
              <a:latin typeface="UD デジタル 教科書体 NK-R" panose="02020400000000000000" pitchFamily="18" charset="-128"/>
              <a:ea typeface="UD デジタル 教科書体 NK-R" panose="02020400000000000000" pitchFamily="18" charset="-128"/>
            </a:endParaRPr>
          </a:p>
        </p:txBody>
      </p:sp>
      <p:sp>
        <p:nvSpPr>
          <p:cNvPr id="58" name="テキスト ボックス 57">
            <a:extLst>
              <a:ext uri="{FF2B5EF4-FFF2-40B4-BE49-F238E27FC236}">
                <a16:creationId xmlns:a16="http://schemas.microsoft.com/office/drawing/2014/main" id="{08D4266F-D038-4DAA-8A80-5DE98E765574}"/>
              </a:ext>
            </a:extLst>
          </p:cNvPr>
          <p:cNvSpPr txBox="1"/>
          <p:nvPr/>
        </p:nvSpPr>
        <p:spPr>
          <a:xfrm>
            <a:off x="584263" y="5719797"/>
            <a:ext cx="3177841" cy="707886"/>
          </a:xfrm>
          <a:prstGeom prst="rect">
            <a:avLst/>
          </a:prstGeom>
          <a:noFill/>
        </p:spPr>
        <p:txBody>
          <a:bodyPr wrap="square" rtlCol="0">
            <a:spAutoFit/>
          </a:bodyPr>
          <a:lstStyle/>
          <a:p>
            <a:pPr algn="ctr"/>
            <a:r>
              <a:rPr lang="ja-JP" altLang="en-US" sz="2000" spc="300" dirty="0">
                <a:latin typeface="UD デジタル 教科書体 NK-R" panose="02020400000000000000" pitchFamily="18" charset="-128"/>
                <a:ea typeface="UD デジタル 教科書体 NK-R" panose="02020400000000000000" pitchFamily="18" charset="-128"/>
              </a:rPr>
              <a:t>メリット </a:t>
            </a:r>
            <a:r>
              <a:rPr lang="ja-JP" altLang="en-US" sz="2000" spc="-70" dirty="0">
                <a:latin typeface="UD デジタル 教科書体 NK-R" panose="02020400000000000000" pitchFamily="18" charset="-128"/>
                <a:ea typeface="UD デジタル 教科書体 NK-R" panose="02020400000000000000" pitchFamily="18" charset="-128"/>
              </a:rPr>
              <a:t>： 計算コストが低い</a:t>
            </a:r>
            <a:endParaRPr lang="en-US" altLang="ja-JP" sz="2000" spc="-70" dirty="0">
              <a:latin typeface="UD デジタル 教科書体 NK-R" panose="02020400000000000000" pitchFamily="18" charset="-128"/>
              <a:ea typeface="UD デジタル 教科書体 NK-R" panose="02020400000000000000" pitchFamily="18" charset="-128"/>
            </a:endParaRPr>
          </a:p>
          <a:p>
            <a:pPr algn="ctr"/>
            <a:r>
              <a:rPr kumimoji="1" lang="ja-JP" altLang="en-US" sz="2000" spc="-70" dirty="0">
                <a:latin typeface="UD デジタル 教科書体 NK-R" panose="02020400000000000000" pitchFamily="18" charset="-128"/>
                <a:ea typeface="UD デジタル 教科書体 NK-R" panose="02020400000000000000" pitchFamily="18" charset="-128"/>
              </a:rPr>
              <a:t>デメリット ： 収束が遅い</a:t>
            </a:r>
          </a:p>
        </p:txBody>
      </p:sp>
      <p:sp>
        <p:nvSpPr>
          <p:cNvPr id="3" name="スライド番号プレースホルダー 2">
            <a:extLst>
              <a:ext uri="{FF2B5EF4-FFF2-40B4-BE49-F238E27FC236}">
                <a16:creationId xmlns:a16="http://schemas.microsoft.com/office/drawing/2014/main" id="{021946E5-2168-431F-8EFC-EA8F06C962D1}"/>
              </a:ext>
            </a:extLst>
          </p:cNvPr>
          <p:cNvSpPr>
            <a:spLocks noGrp="1"/>
          </p:cNvSpPr>
          <p:nvPr>
            <p:ph type="sldNum" sz="quarter" idx="12"/>
          </p:nvPr>
        </p:nvSpPr>
        <p:spPr/>
        <p:txBody>
          <a:bodyPr/>
          <a:lstStyle/>
          <a:p>
            <a:fld id="{E0941385-F5BA-408B-94FB-C48DC2364AB1}" type="slidenum">
              <a:rPr kumimoji="1" lang="ja-JP" altLang="en-US" smtClean="0"/>
              <a:t>3</a:t>
            </a:fld>
            <a:endParaRPr kumimoji="1" lang="ja-JP" altLang="en-US"/>
          </a:p>
        </p:txBody>
      </p:sp>
      <p:sp>
        <p:nvSpPr>
          <p:cNvPr id="54" name="テキスト ボックス 53">
            <a:extLst>
              <a:ext uri="{FF2B5EF4-FFF2-40B4-BE49-F238E27FC236}">
                <a16:creationId xmlns:a16="http://schemas.microsoft.com/office/drawing/2014/main" id="{117F1B71-3B7A-AC4F-85C6-FF6A278F1DF7}"/>
              </a:ext>
            </a:extLst>
          </p:cNvPr>
          <p:cNvSpPr txBox="1"/>
          <p:nvPr/>
        </p:nvSpPr>
        <p:spPr>
          <a:xfrm>
            <a:off x="2560138" y="2882577"/>
            <a:ext cx="1469156" cy="470257"/>
          </a:xfrm>
          <a:prstGeom prst="rect">
            <a:avLst/>
          </a:prstGeom>
          <a:noFill/>
          <a:effectLst>
            <a:softEdge rad="63500"/>
          </a:effectLst>
        </p:spPr>
        <p:txBody>
          <a:bodyPr wrap="square" rtlCol="0">
            <a:spAutoFit/>
          </a:bodyPr>
          <a:lstStyle/>
          <a:p>
            <a:pPr>
              <a:lnSpc>
                <a:spcPct val="150000"/>
              </a:lnSpc>
            </a:pPr>
            <a:r>
              <a:rPr kumimoji="1" lang="en-US" altLang="ja-JP" dirty="0">
                <a:ln w="3175">
                  <a:noFill/>
                </a:ln>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+Adaptive</a:t>
            </a:r>
            <a:endParaRPr kumimoji="1" lang="ja-JP" altLang="en-US" dirty="0">
              <a:ln w="3175">
                <a:noFill/>
              </a:ln>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p:sp>
        <p:nvSpPr>
          <p:cNvPr id="57" name="テキスト ボックス 56">
            <a:extLst>
              <a:ext uri="{FF2B5EF4-FFF2-40B4-BE49-F238E27FC236}">
                <a16:creationId xmlns:a16="http://schemas.microsoft.com/office/drawing/2014/main" id="{41C6ABCE-D82B-5742-BF98-C8773CEBDA00}"/>
              </a:ext>
            </a:extLst>
          </p:cNvPr>
          <p:cNvSpPr txBox="1"/>
          <p:nvPr/>
        </p:nvSpPr>
        <p:spPr>
          <a:xfrm>
            <a:off x="2626950" y="4449057"/>
            <a:ext cx="1220224" cy="512191"/>
          </a:xfrm>
          <a:prstGeom prst="rect">
            <a:avLst/>
          </a:prstGeom>
          <a:noFill/>
          <a:effectLst>
            <a:softEdge rad="63500"/>
          </a:effectLst>
        </p:spPr>
        <p:txBody>
          <a:bodyPr wrap="square" rtlCol="0">
            <a:spAutoFit/>
          </a:bodyPr>
          <a:lstStyle/>
          <a:p>
            <a:pPr>
              <a:lnSpc>
                <a:spcPct val="150000"/>
              </a:lnSpc>
            </a:pPr>
            <a:r>
              <a:rPr kumimoji="1" lang="en-US" altLang="ja-JP" sz="2000" dirty="0">
                <a:ln w="3175">
                  <a:noFill/>
                </a:ln>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a:t>
            </a:r>
            <a:r>
              <a:rPr kumimoji="1" lang="ja-JP" altLang="en-US" sz="2000" dirty="0">
                <a:ln w="3175">
                  <a:noFill/>
                </a:ln>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慣性項</a:t>
            </a:r>
          </a:p>
        </p:txBody>
      </p:sp>
      <p:sp>
        <p:nvSpPr>
          <p:cNvPr id="25" name="テキスト ボックス 24">
            <a:extLst>
              <a:ext uri="{FF2B5EF4-FFF2-40B4-BE49-F238E27FC236}">
                <a16:creationId xmlns:a16="http://schemas.microsoft.com/office/drawing/2014/main" id="{7A631E5B-3361-44E2-A6F3-149D8AABFC98}"/>
              </a:ext>
            </a:extLst>
          </p:cNvPr>
          <p:cNvSpPr txBox="1"/>
          <p:nvPr/>
        </p:nvSpPr>
        <p:spPr>
          <a:xfrm>
            <a:off x="500107" y="4477007"/>
            <a:ext cx="1469156" cy="470257"/>
          </a:xfrm>
          <a:prstGeom prst="rect">
            <a:avLst/>
          </a:prstGeom>
          <a:noFill/>
          <a:effectLst>
            <a:softEdge rad="63500"/>
          </a:effectLst>
        </p:spPr>
        <p:txBody>
          <a:bodyPr wrap="square" rtlCol="0">
            <a:spAutoFit/>
          </a:bodyPr>
          <a:lstStyle/>
          <a:p>
            <a:pPr>
              <a:lnSpc>
                <a:spcPct val="150000"/>
              </a:lnSpc>
            </a:pPr>
            <a:r>
              <a:rPr kumimoji="1" lang="en-US" altLang="ja-JP" dirty="0">
                <a:ln w="3175">
                  <a:noFill/>
                </a:ln>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+Adaptive</a:t>
            </a:r>
            <a:endParaRPr kumimoji="1" lang="ja-JP" altLang="en-US" dirty="0">
              <a:ln w="3175">
                <a:noFill/>
              </a:ln>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p:spTree>
    <p:extLst>
      <p:ext uri="{BB962C8B-B14F-4D97-AF65-F5344CB8AC3E}">
        <p14:creationId xmlns:p14="http://schemas.microsoft.com/office/powerpoint/2010/main" val="2925424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四角形: 角を丸くする 7">
            <a:extLst>
              <a:ext uri="{FF2B5EF4-FFF2-40B4-BE49-F238E27FC236}">
                <a16:creationId xmlns:a16="http://schemas.microsoft.com/office/drawing/2014/main" id="{A889F3A4-896A-4958-872D-05B7D4D4B954}"/>
              </a:ext>
            </a:extLst>
          </p:cNvPr>
          <p:cNvSpPr/>
          <p:nvPr/>
        </p:nvSpPr>
        <p:spPr>
          <a:xfrm>
            <a:off x="232410" y="1336358"/>
            <a:ext cx="11791950" cy="5384482"/>
          </a:xfrm>
          <a:prstGeom prst="roundRect">
            <a:avLst/>
          </a:prstGeom>
          <a:noFill/>
          <a:ln w="57150">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lumMod val="75000"/>
                  <a:lumOff val="25000"/>
                </a:schemeClr>
              </a:solidFill>
            </a:endParaRPr>
          </a:p>
        </p:txBody>
      </p:sp>
      <p:sp>
        <p:nvSpPr>
          <p:cNvPr id="2" name="タイトル 1">
            <a:extLst>
              <a:ext uri="{FF2B5EF4-FFF2-40B4-BE49-F238E27FC236}">
                <a16:creationId xmlns:a16="http://schemas.microsoft.com/office/drawing/2014/main" id="{AC106782-666C-451B-97BE-992C06603F82}"/>
              </a:ext>
            </a:extLst>
          </p:cNvPr>
          <p:cNvSpPr>
            <a:spLocks noGrp="1"/>
          </p:cNvSpPr>
          <p:nvPr>
            <p:ph type="title"/>
          </p:nvPr>
        </p:nvSpPr>
        <p:spPr>
          <a:xfrm>
            <a:off x="838200" y="10795"/>
            <a:ext cx="10515600" cy="1325563"/>
          </a:xfrm>
        </p:spPr>
        <p:txBody>
          <a:bodyPr/>
          <a:lstStyle/>
          <a:p>
            <a:r>
              <a:rPr kumimoji="1" lang="ja-JP" altLang="en-US" dirty="0"/>
              <a:t>はじめに：従来手法・提案手法の位置づけ</a:t>
            </a:r>
          </a:p>
        </p:txBody>
      </p:sp>
      <p:sp>
        <p:nvSpPr>
          <p:cNvPr id="6" name="四角形: 角を丸くする 5">
            <a:extLst>
              <a:ext uri="{FF2B5EF4-FFF2-40B4-BE49-F238E27FC236}">
                <a16:creationId xmlns:a16="http://schemas.microsoft.com/office/drawing/2014/main" id="{91136D06-B0EF-46D1-98BE-F69CCF55C5A0}"/>
              </a:ext>
            </a:extLst>
          </p:cNvPr>
          <p:cNvSpPr/>
          <p:nvPr/>
        </p:nvSpPr>
        <p:spPr>
          <a:xfrm>
            <a:off x="548640" y="2045970"/>
            <a:ext cx="3317966" cy="4446905"/>
          </a:xfrm>
          <a:prstGeom prst="roundRect">
            <a:avLst/>
          </a:prstGeom>
          <a:noFill/>
          <a:ln w="57150">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lumMod val="75000"/>
                  <a:lumOff val="25000"/>
                </a:schemeClr>
              </a:solidFill>
            </a:endParaRPr>
          </a:p>
        </p:txBody>
      </p:sp>
      <p:sp>
        <p:nvSpPr>
          <p:cNvPr id="9" name="テキスト ボックス 8">
            <a:extLst>
              <a:ext uri="{FF2B5EF4-FFF2-40B4-BE49-F238E27FC236}">
                <a16:creationId xmlns:a16="http://schemas.microsoft.com/office/drawing/2014/main" id="{D7AF3C98-1194-472A-95AA-A10B8A90FF09}"/>
              </a:ext>
            </a:extLst>
          </p:cNvPr>
          <p:cNvSpPr txBox="1"/>
          <p:nvPr/>
        </p:nvSpPr>
        <p:spPr>
          <a:xfrm>
            <a:off x="2409825" y="1043970"/>
            <a:ext cx="7372350" cy="584775"/>
          </a:xfrm>
          <a:prstGeom prst="rect">
            <a:avLst/>
          </a:prstGeom>
          <a:solidFill>
            <a:srgbClr val="E4E4E4"/>
          </a:solidFill>
        </p:spPr>
        <p:txBody>
          <a:bodyPr wrap="square" rtlCol="0">
            <a:spAutoFit/>
          </a:bodyPr>
          <a:lstStyle/>
          <a:p>
            <a:r>
              <a:rPr kumimoji="1" lang="ja-JP" altLang="en-US" sz="32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ニューラルネットワークの学習アルゴリズム</a:t>
            </a:r>
          </a:p>
        </p:txBody>
      </p:sp>
      <p:sp>
        <p:nvSpPr>
          <p:cNvPr id="10" name="テキスト ボックス 9">
            <a:extLst>
              <a:ext uri="{FF2B5EF4-FFF2-40B4-BE49-F238E27FC236}">
                <a16:creationId xmlns:a16="http://schemas.microsoft.com/office/drawing/2014/main" id="{86A34877-ABFF-428B-998C-D85C42F5B44B}"/>
              </a:ext>
            </a:extLst>
          </p:cNvPr>
          <p:cNvSpPr txBox="1"/>
          <p:nvPr/>
        </p:nvSpPr>
        <p:spPr>
          <a:xfrm>
            <a:off x="811482" y="1675523"/>
            <a:ext cx="2741296" cy="584775"/>
          </a:xfrm>
          <a:prstGeom prst="rect">
            <a:avLst/>
          </a:prstGeom>
          <a:solidFill>
            <a:srgbClr val="E4E4E4"/>
          </a:solidFill>
        </p:spPr>
        <p:txBody>
          <a:bodyPr wrap="square" rtlCol="0">
            <a:spAutoFit/>
          </a:bodyPr>
          <a:lstStyle/>
          <a:p>
            <a:pPr algn="ctr"/>
            <a:r>
              <a:rPr kumimoji="1" lang="ja-JP" altLang="en-US" sz="32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一次近似手法</a:t>
            </a:r>
          </a:p>
        </p:txBody>
      </p:sp>
      <p:sp>
        <p:nvSpPr>
          <p:cNvPr id="4" name="四角形: 角を丸くする 3">
            <a:extLst>
              <a:ext uri="{FF2B5EF4-FFF2-40B4-BE49-F238E27FC236}">
                <a16:creationId xmlns:a16="http://schemas.microsoft.com/office/drawing/2014/main" id="{D63CD884-F702-44E7-AB57-6B2247B477A0}"/>
              </a:ext>
            </a:extLst>
          </p:cNvPr>
          <p:cNvSpPr/>
          <p:nvPr/>
        </p:nvSpPr>
        <p:spPr>
          <a:xfrm>
            <a:off x="963241" y="2351803"/>
            <a:ext cx="2392823" cy="424852"/>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latin typeface="UD デジタル 教科書体 NK-R" panose="02020400000000000000" pitchFamily="18" charset="-128"/>
                <a:ea typeface="UD デジタル 教科書体 NK-R" panose="02020400000000000000" pitchFamily="18" charset="-128"/>
              </a:rPr>
              <a:t>GD</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sp>
        <p:nvSpPr>
          <p:cNvPr id="19" name="四角形: 角を丸くする 18">
            <a:extLst>
              <a:ext uri="{FF2B5EF4-FFF2-40B4-BE49-F238E27FC236}">
                <a16:creationId xmlns:a16="http://schemas.microsoft.com/office/drawing/2014/main" id="{5D936B8A-4E49-4371-9647-6E2D6130CA2C}"/>
              </a:ext>
            </a:extLst>
          </p:cNvPr>
          <p:cNvSpPr/>
          <p:nvPr/>
        </p:nvSpPr>
        <p:spPr>
          <a:xfrm>
            <a:off x="2436294" y="3769977"/>
            <a:ext cx="1371769" cy="413475"/>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err="1">
                <a:latin typeface="UD デジタル 教科書体 NK-R" panose="02020400000000000000" pitchFamily="18" charset="-128"/>
                <a:ea typeface="UD デジタル 教科書体 NK-R" panose="02020400000000000000" pitchFamily="18" charset="-128"/>
              </a:rPr>
              <a:t>AdaGrad</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sp>
        <p:nvSpPr>
          <p:cNvPr id="20" name="四角形: 角を丸くする 19">
            <a:extLst>
              <a:ext uri="{FF2B5EF4-FFF2-40B4-BE49-F238E27FC236}">
                <a16:creationId xmlns:a16="http://schemas.microsoft.com/office/drawing/2014/main" id="{49B9E5C3-066A-48E4-BC0E-9FE3C873BF4A}"/>
              </a:ext>
            </a:extLst>
          </p:cNvPr>
          <p:cNvSpPr/>
          <p:nvPr/>
        </p:nvSpPr>
        <p:spPr>
          <a:xfrm>
            <a:off x="617122" y="3772264"/>
            <a:ext cx="1364516" cy="420596"/>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latin typeface="UD デジタル 教科書体 NK-R" panose="02020400000000000000" pitchFamily="18" charset="-128"/>
                <a:ea typeface="UD デジタル 教科書体 NK-R" panose="02020400000000000000" pitchFamily="18" charset="-128"/>
              </a:rPr>
              <a:t>CM</a:t>
            </a:r>
            <a:r>
              <a:rPr kumimoji="1" lang="ja-JP" altLang="en-US" dirty="0">
                <a:latin typeface="UD デジタル 教科書体 NK-R" panose="02020400000000000000" pitchFamily="18" charset="-128"/>
                <a:ea typeface="UD デジタル 教科書体 NK-R" panose="02020400000000000000" pitchFamily="18" charset="-128"/>
              </a:rPr>
              <a:t>法</a:t>
            </a:r>
          </a:p>
        </p:txBody>
      </p:sp>
      <p:sp>
        <p:nvSpPr>
          <p:cNvPr id="21" name="四角形: 角を丸くする 20">
            <a:extLst>
              <a:ext uri="{FF2B5EF4-FFF2-40B4-BE49-F238E27FC236}">
                <a16:creationId xmlns:a16="http://schemas.microsoft.com/office/drawing/2014/main" id="{367B0A7A-D5AA-4B1B-97E2-DDA9168EDEAA}"/>
              </a:ext>
            </a:extLst>
          </p:cNvPr>
          <p:cNvSpPr/>
          <p:nvPr/>
        </p:nvSpPr>
        <p:spPr>
          <a:xfrm>
            <a:off x="949793" y="5009229"/>
            <a:ext cx="2392823" cy="413475"/>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latin typeface="UD デジタル 教科書体 NK-R" panose="02020400000000000000" pitchFamily="18" charset="-128"/>
                <a:ea typeface="UD デジタル 教科書体 NK-R" panose="02020400000000000000" pitchFamily="18" charset="-128"/>
              </a:rPr>
              <a:t>Adam</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cxnSp>
        <p:nvCxnSpPr>
          <p:cNvPr id="23" name="直線矢印コネクタ 22">
            <a:extLst>
              <a:ext uri="{FF2B5EF4-FFF2-40B4-BE49-F238E27FC236}">
                <a16:creationId xmlns:a16="http://schemas.microsoft.com/office/drawing/2014/main" id="{CFF00908-9167-4341-BD3B-047C302461B3}"/>
              </a:ext>
            </a:extLst>
          </p:cNvPr>
          <p:cNvCxnSpPr>
            <a:cxnSpLocks/>
            <a:stCxn id="4" idx="2"/>
            <a:endCxn id="20" idx="0"/>
          </p:cNvCxnSpPr>
          <p:nvPr/>
        </p:nvCxnSpPr>
        <p:spPr>
          <a:xfrm flipH="1">
            <a:off x="1299380" y="2776655"/>
            <a:ext cx="860273" cy="995609"/>
          </a:xfrm>
          <a:prstGeom prst="straightConnector1">
            <a:avLst/>
          </a:prstGeom>
          <a:ln w="571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DB8F96D8-A3DD-4C29-80CB-87392D886EA2}"/>
              </a:ext>
            </a:extLst>
          </p:cNvPr>
          <p:cNvCxnSpPr>
            <a:cxnSpLocks/>
            <a:stCxn id="4" idx="2"/>
            <a:endCxn id="19" idx="0"/>
          </p:cNvCxnSpPr>
          <p:nvPr/>
        </p:nvCxnSpPr>
        <p:spPr>
          <a:xfrm>
            <a:off x="2159653" y="2776655"/>
            <a:ext cx="962526" cy="993322"/>
          </a:xfrm>
          <a:prstGeom prst="straightConnector1">
            <a:avLst/>
          </a:prstGeom>
          <a:ln w="571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17A71CAB-D1FF-443C-94D5-CA57C1CCCE6B}"/>
              </a:ext>
            </a:extLst>
          </p:cNvPr>
          <p:cNvCxnSpPr>
            <a:cxnSpLocks/>
            <a:stCxn id="20" idx="2"/>
            <a:endCxn id="21" idx="0"/>
          </p:cNvCxnSpPr>
          <p:nvPr/>
        </p:nvCxnSpPr>
        <p:spPr>
          <a:xfrm>
            <a:off x="1299380" y="4192860"/>
            <a:ext cx="846825" cy="816369"/>
          </a:xfrm>
          <a:prstGeom prst="straightConnector1">
            <a:avLst/>
          </a:prstGeom>
          <a:ln w="571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28AED442-501B-4873-9A0B-641BC7B72650}"/>
              </a:ext>
            </a:extLst>
          </p:cNvPr>
          <p:cNvCxnSpPr>
            <a:cxnSpLocks/>
            <a:stCxn id="19" idx="2"/>
            <a:endCxn id="21" idx="0"/>
          </p:cNvCxnSpPr>
          <p:nvPr/>
        </p:nvCxnSpPr>
        <p:spPr>
          <a:xfrm flipH="1">
            <a:off x="2146205" y="4183452"/>
            <a:ext cx="975974" cy="825777"/>
          </a:xfrm>
          <a:prstGeom prst="straightConnector1">
            <a:avLst/>
          </a:prstGeom>
          <a:ln w="571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DBE29ED8-02FF-4121-B885-9FA7A49579F0}"/>
              </a:ext>
            </a:extLst>
          </p:cNvPr>
          <p:cNvSpPr txBox="1"/>
          <p:nvPr/>
        </p:nvSpPr>
        <p:spPr>
          <a:xfrm>
            <a:off x="556969" y="2900525"/>
            <a:ext cx="1220224" cy="512191"/>
          </a:xfrm>
          <a:prstGeom prst="rect">
            <a:avLst/>
          </a:prstGeom>
          <a:noFill/>
          <a:effectLst>
            <a:softEdge rad="63500"/>
          </a:effectLst>
        </p:spPr>
        <p:txBody>
          <a:bodyPr wrap="square" rtlCol="0">
            <a:spAutoFit/>
          </a:bodyPr>
          <a:lstStyle/>
          <a:p>
            <a:pPr>
              <a:lnSpc>
                <a:spcPct val="150000"/>
              </a:lnSpc>
            </a:pPr>
            <a:r>
              <a:rPr kumimoji="1" lang="en-US" altLang="ja-JP" sz="2000" dirty="0">
                <a:ln w="3175">
                  <a:noFill/>
                </a:ln>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a:t>
            </a:r>
            <a:r>
              <a:rPr kumimoji="1" lang="ja-JP" altLang="en-US" sz="2000" dirty="0">
                <a:ln w="3175">
                  <a:noFill/>
                </a:ln>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慣性項</a:t>
            </a:r>
          </a:p>
        </p:txBody>
      </p:sp>
      <p:sp>
        <p:nvSpPr>
          <p:cNvPr id="36" name="テキスト ボックス 35">
            <a:extLst>
              <a:ext uri="{FF2B5EF4-FFF2-40B4-BE49-F238E27FC236}">
                <a16:creationId xmlns:a16="http://schemas.microsoft.com/office/drawing/2014/main" id="{0DA9AE62-622C-46B8-9E15-3AC727B98542}"/>
              </a:ext>
            </a:extLst>
          </p:cNvPr>
          <p:cNvSpPr txBox="1"/>
          <p:nvPr/>
        </p:nvSpPr>
        <p:spPr>
          <a:xfrm>
            <a:off x="1459826" y="5261696"/>
            <a:ext cx="1250756" cy="512191"/>
          </a:xfrm>
          <a:prstGeom prst="rect">
            <a:avLst/>
          </a:prstGeom>
          <a:noFill/>
          <a:effectLst>
            <a:softEdge rad="31750"/>
          </a:effectLst>
        </p:spPr>
        <p:txBody>
          <a:bodyPr wrap="square" rtlCol="0">
            <a:spAutoFit/>
          </a:bodyPr>
          <a:lstStyle/>
          <a:p>
            <a:pPr algn="ctr">
              <a:lnSpc>
                <a:spcPct val="150000"/>
              </a:lnSpc>
            </a:pPr>
            <a:r>
              <a:rPr lang="ja-JP" altLang="en-US" sz="2000" spc="-70">
                <a:solidFill>
                  <a:srgbClr val="C00000"/>
                </a:solidFill>
                <a:latin typeface="UD デジタル 教科書体 NK-R" panose="02020400000000000000" pitchFamily="18" charset="-128"/>
                <a:ea typeface="UD デジタル 教科書体 NK-R" panose="02020400000000000000" pitchFamily="18" charset="-128"/>
              </a:rPr>
              <a:t>現在主流</a:t>
            </a:r>
            <a:endParaRPr kumimoji="1" lang="ja-JP" altLang="en-US" sz="2000" spc="-70" dirty="0">
              <a:solidFill>
                <a:srgbClr val="C00000"/>
              </a:solidFill>
              <a:latin typeface="UD デジタル 教科書体 NK-R" panose="02020400000000000000" pitchFamily="18" charset="-128"/>
              <a:ea typeface="UD デジタル 教科書体 NK-R" panose="02020400000000000000" pitchFamily="18" charset="-128"/>
            </a:endParaRPr>
          </a:p>
        </p:txBody>
      </p:sp>
      <p:sp>
        <p:nvSpPr>
          <p:cNvPr id="58" name="テキスト ボックス 57">
            <a:extLst>
              <a:ext uri="{FF2B5EF4-FFF2-40B4-BE49-F238E27FC236}">
                <a16:creationId xmlns:a16="http://schemas.microsoft.com/office/drawing/2014/main" id="{08D4266F-D038-4DAA-8A80-5DE98E765574}"/>
              </a:ext>
            </a:extLst>
          </p:cNvPr>
          <p:cNvSpPr txBox="1"/>
          <p:nvPr/>
        </p:nvSpPr>
        <p:spPr>
          <a:xfrm>
            <a:off x="584263" y="5719797"/>
            <a:ext cx="3177841" cy="707886"/>
          </a:xfrm>
          <a:prstGeom prst="rect">
            <a:avLst/>
          </a:prstGeom>
          <a:noFill/>
        </p:spPr>
        <p:txBody>
          <a:bodyPr wrap="square" rtlCol="0">
            <a:spAutoFit/>
          </a:bodyPr>
          <a:lstStyle/>
          <a:p>
            <a:pPr algn="ctr"/>
            <a:r>
              <a:rPr lang="ja-JP" altLang="en-US" sz="2000" spc="300" dirty="0">
                <a:latin typeface="UD デジタル 教科書体 NK-R" panose="02020400000000000000" pitchFamily="18" charset="-128"/>
                <a:ea typeface="UD デジタル 教科書体 NK-R" panose="02020400000000000000" pitchFamily="18" charset="-128"/>
              </a:rPr>
              <a:t>メリット </a:t>
            </a:r>
            <a:r>
              <a:rPr lang="ja-JP" altLang="en-US" sz="2000" spc="-70" dirty="0">
                <a:latin typeface="UD デジタル 教科書体 NK-R" panose="02020400000000000000" pitchFamily="18" charset="-128"/>
                <a:ea typeface="UD デジタル 教科書体 NK-R" panose="02020400000000000000" pitchFamily="18" charset="-128"/>
              </a:rPr>
              <a:t>： 計算コストが低い</a:t>
            </a:r>
            <a:endParaRPr lang="en-US" altLang="ja-JP" sz="2000" spc="-70" dirty="0">
              <a:latin typeface="UD デジタル 教科書体 NK-R" panose="02020400000000000000" pitchFamily="18" charset="-128"/>
              <a:ea typeface="UD デジタル 教科書体 NK-R" panose="02020400000000000000" pitchFamily="18" charset="-128"/>
            </a:endParaRPr>
          </a:p>
          <a:p>
            <a:pPr algn="ctr"/>
            <a:r>
              <a:rPr kumimoji="1" lang="ja-JP" altLang="en-US" sz="2000" spc="-70" dirty="0">
                <a:latin typeface="UD デジタル 教科書体 NK-R" panose="02020400000000000000" pitchFamily="18" charset="-128"/>
                <a:ea typeface="UD デジタル 教科書体 NK-R" panose="02020400000000000000" pitchFamily="18" charset="-128"/>
              </a:rPr>
              <a:t>デメリット ： 収束が遅い</a:t>
            </a:r>
          </a:p>
        </p:txBody>
      </p:sp>
      <p:sp>
        <p:nvSpPr>
          <p:cNvPr id="57" name="テキスト ボックス 56">
            <a:extLst>
              <a:ext uri="{FF2B5EF4-FFF2-40B4-BE49-F238E27FC236}">
                <a16:creationId xmlns:a16="http://schemas.microsoft.com/office/drawing/2014/main" id="{41C6ABCE-D82B-5742-BF98-C8773CEBDA00}"/>
              </a:ext>
            </a:extLst>
          </p:cNvPr>
          <p:cNvSpPr txBox="1"/>
          <p:nvPr/>
        </p:nvSpPr>
        <p:spPr>
          <a:xfrm>
            <a:off x="2618351" y="4462120"/>
            <a:ext cx="1220224" cy="512191"/>
          </a:xfrm>
          <a:prstGeom prst="rect">
            <a:avLst/>
          </a:prstGeom>
          <a:noFill/>
          <a:effectLst>
            <a:softEdge rad="63500"/>
          </a:effectLst>
        </p:spPr>
        <p:txBody>
          <a:bodyPr wrap="square" rtlCol="0">
            <a:spAutoFit/>
          </a:bodyPr>
          <a:lstStyle/>
          <a:p>
            <a:pPr>
              <a:lnSpc>
                <a:spcPct val="150000"/>
              </a:lnSpc>
            </a:pPr>
            <a:r>
              <a:rPr kumimoji="1" lang="en-US" altLang="ja-JP" sz="2000" dirty="0">
                <a:ln w="3175">
                  <a:noFill/>
                </a:ln>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a:t>
            </a:r>
            <a:r>
              <a:rPr kumimoji="1" lang="ja-JP" altLang="en-US" sz="2000" dirty="0">
                <a:ln w="3175">
                  <a:noFill/>
                </a:ln>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慣性項</a:t>
            </a:r>
          </a:p>
        </p:txBody>
      </p:sp>
      <p:sp>
        <p:nvSpPr>
          <p:cNvPr id="28" name="テキスト ボックス 27">
            <a:extLst>
              <a:ext uri="{FF2B5EF4-FFF2-40B4-BE49-F238E27FC236}">
                <a16:creationId xmlns:a16="http://schemas.microsoft.com/office/drawing/2014/main" id="{B910781C-624B-492E-81D1-5C690C97E0E0}"/>
              </a:ext>
            </a:extLst>
          </p:cNvPr>
          <p:cNvSpPr txBox="1"/>
          <p:nvPr/>
        </p:nvSpPr>
        <p:spPr>
          <a:xfrm>
            <a:off x="2565616" y="2883020"/>
            <a:ext cx="1469156" cy="470257"/>
          </a:xfrm>
          <a:prstGeom prst="rect">
            <a:avLst/>
          </a:prstGeom>
          <a:noFill/>
          <a:effectLst>
            <a:softEdge rad="63500"/>
          </a:effectLst>
        </p:spPr>
        <p:txBody>
          <a:bodyPr wrap="square" rtlCol="0">
            <a:spAutoFit/>
          </a:bodyPr>
          <a:lstStyle/>
          <a:p>
            <a:pPr>
              <a:lnSpc>
                <a:spcPct val="150000"/>
              </a:lnSpc>
            </a:pPr>
            <a:r>
              <a:rPr kumimoji="1" lang="en-US" altLang="ja-JP" dirty="0">
                <a:ln w="3175">
                  <a:noFill/>
                </a:ln>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+Adaptive</a:t>
            </a:r>
            <a:endParaRPr kumimoji="1" lang="ja-JP" altLang="en-US" dirty="0">
              <a:ln w="3175">
                <a:noFill/>
              </a:ln>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p:sp>
        <p:nvSpPr>
          <p:cNvPr id="29" name="テキスト ボックス 28">
            <a:extLst>
              <a:ext uri="{FF2B5EF4-FFF2-40B4-BE49-F238E27FC236}">
                <a16:creationId xmlns:a16="http://schemas.microsoft.com/office/drawing/2014/main" id="{7C45F6A8-63F9-4806-8AFF-C2775C398D00}"/>
              </a:ext>
            </a:extLst>
          </p:cNvPr>
          <p:cNvSpPr txBox="1"/>
          <p:nvPr/>
        </p:nvSpPr>
        <p:spPr>
          <a:xfrm>
            <a:off x="497033" y="4476890"/>
            <a:ext cx="1469156" cy="470257"/>
          </a:xfrm>
          <a:prstGeom prst="rect">
            <a:avLst/>
          </a:prstGeom>
          <a:noFill/>
          <a:effectLst>
            <a:softEdge rad="63500"/>
          </a:effectLst>
        </p:spPr>
        <p:txBody>
          <a:bodyPr wrap="square" rtlCol="0">
            <a:spAutoFit/>
          </a:bodyPr>
          <a:lstStyle/>
          <a:p>
            <a:pPr>
              <a:lnSpc>
                <a:spcPct val="150000"/>
              </a:lnSpc>
            </a:pPr>
            <a:r>
              <a:rPr kumimoji="1" lang="en-US" altLang="ja-JP" dirty="0">
                <a:ln w="3175">
                  <a:noFill/>
                </a:ln>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+Adaptive</a:t>
            </a:r>
            <a:endParaRPr kumimoji="1" lang="ja-JP" altLang="en-US" dirty="0">
              <a:ln w="3175">
                <a:noFill/>
              </a:ln>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p:sp>
        <p:nvSpPr>
          <p:cNvPr id="61" name="四角形: 角を丸くする 60">
            <a:extLst>
              <a:ext uri="{FF2B5EF4-FFF2-40B4-BE49-F238E27FC236}">
                <a16:creationId xmlns:a16="http://schemas.microsoft.com/office/drawing/2014/main" id="{A214AABE-666D-4B0C-A0E3-FE092D1DCC03}"/>
              </a:ext>
            </a:extLst>
          </p:cNvPr>
          <p:cNvSpPr/>
          <p:nvPr/>
        </p:nvSpPr>
        <p:spPr>
          <a:xfrm>
            <a:off x="8449018" y="2443017"/>
            <a:ext cx="3170279" cy="949894"/>
          </a:xfrm>
          <a:prstGeom prst="roundRect">
            <a:avLst/>
          </a:prstGeom>
          <a:noFill/>
          <a:ln w="57150">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lumMod val="75000"/>
                  <a:lumOff val="25000"/>
                </a:schemeClr>
              </a:solidFill>
            </a:endParaRPr>
          </a:p>
        </p:txBody>
      </p:sp>
      <p:sp>
        <p:nvSpPr>
          <p:cNvPr id="62" name="テキスト ボックス 61">
            <a:extLst>
              <a:ext uri="{FF2B5EF4-FFF2-40B4-BE49-F238E27FC236}">
                <a16:creationId xmlns:a16="http://schemas.microsoft.com/office/drawing/2014/main" id="{94E2CCC7-CB54-43CB-BCC4-EFB52CDDCDF6}"/>
              </a:ext>
            </a:extLst>
          </p:cNvPr>
          <p:cNvSpPr txBox="1"/>
          <p:nvPr/>
        </p:nvSpPr>
        <p:spPr>
          <a:xfrm>
            <a:off x="8486943" y="5679812"/>
            <a:ext cx="3170278" cy="707886"/>
          </a:xfrm>
          <a:prstGeom prst="rect">
            <a:avLst/>
          </a:prstGeom>
          <a:noFill/>
        </p:spPr>
        <p:txBody>
          <a:bodyPr wrap="square" rtlCol="0">
            <a:spAutoFit/>
          </a:bodyPr>
          <a:lstStyle/>
          <a:p>
            <a:pPr algn="ctr"/>
            <a:r>
              <a:rPr lang="ja-JP" altLang="en-US" sz="2000" spc="300" dirty="0">
                <a:latin typeface="UD デジタル 教科書体 NK-R" panose="02020400000000000000" pitchFamily="18" charset="-128"/>
                <a:ea typeface="UD デジタル 教科書体 NK-R" panose="02020400000000000000" pitchFamily="18" charset="-128"/>
              </a:rPr>
              <a:t>メリット </a:t>
            </a:r>
            <a:r>
              <a:rPr lang="ja-JP" altLang="en-US" sz="2000" spc="-70" dirty="0">
                <a:latin typeface="UD デジタル 教科書体 NK-R" panose="02020400000000000000" pitchFamily="18" charset="-128"/>
                <a:ea typeface="UD デジタル 教科書体 NK-R" panose="02020400000000000000" pitchFamily="18" charset="-128"/>
              </a:rPr>
              <a:t>： 収束が速い</a:t>
            </a:r>
            <a:endParaRPr lang="en-US" altLang="ja-JP" sz="2000" spc="-70" dirty="0">
              <a:latin typeface="UD デジタル 教科書体 NK-R" panose="02020400000000000000" pitchFamily="18" charset="-128"/>
              <a:ea typeface="UD デジタル 教科書体 NK-R" panose="02020400000000000000" pitchFamily="18" charset="-128"/>
            </a:endParaRPr>
          </a:p>
          <a:p>
            <a:pPr algn="ctr"/>
            <a:r>
              <a:rPr kumimoji="1" lang="ja-JP" altLang="en-US" sz="2000" spc="-70" dirty="0">
                <a:latin typeface="UD デジタル 教科書体 NK-R" panose="02020400000000000000" pitchFamily="18" charset="-128"/>
                <a:ea typeface="UD デジタル 教科書体 NK-R" panose="02020400000000000000" pitchFamily="18" charset="-128"/>
              </a:rPr>
              <a:t>デメリット ： 計算コストが高い</a:t>
            </a:r>
          </a:p>
        </p:txBody>
      </p:sp>
      <p:sp>
        <p:nvSpPr>
          <p:cNvPr id="63" name="スライド番号プレースホルダー 2">
            <a:extLst>
              <a:ext uri="{FF2B5EF4-FFF2-40B4-BE49-F238E27FC236}">
                <a16:creationId xmlns:a16="http://schemas.microsoft.com/office/drawing/2014/main" id="{BF521C3A-F296-415A-B61F-81A824F1DBCA}"/>
              </a:ext>
            </a:extLst>
          </p:cNvPr>
          <p:cNvSpPr>
            <a:spLocks noGrp="1"/>
          </p:cNvSpPr>
          <p:nvPr>
            <p:ph type="sldNum" sz="quarter" idx="12"/>
          </p:nvPr>
        </p:nvSpPr>
        <p:spPr>
          <a:xfrm>
            <a:off x="9329693" y="6356350"/>
            <a:ext cx="2743200" cy="365125"/>
          </a:xfrm>
        </p:spPr>
        <p:txBody>
          <a:bodyPr/>
          <a:lstStyle/>
          <a:p>
            <a:r>
              <a:rPr kumimoji="1" lang="en-US" altLang="ja-JP" dirty="0"/>
              <a:t>3</a:t>
            </a:r>
            <a:endParaRPr kumimoji="1" lang="ja-JP" altLang="en-US" dirty="0"/>
          </a:p>
        </p:txBody>
      </p:sp>
      <p:sp>
        <p:nvSpPr>
          <p:cNvPr id="64" name="四角形: 角を丸くする 6">
            <a:extLst>
              <a:ext uri="{FF2B5EF4-FFF2-40B4-BE49-F238E27FC236}">
                <a16:creationId xmlns:a16="http://schemas.microsoft.com/office/drawing/2014/main" id="{4D508AF0-070B-4CFB-85E4-B7B575E0F96B}"/>
              </a:ext>
            </a:extLst>
          </p:cNvPr>
          <p:cNvSpPr/>
          <p:nvPr/>
        </p:nvSpPr>
        <p:spPr>
          <a:xfrm>
            <a:off x="8295579" y="2041958"/>
            <a:ext cx="3477582" cy="4503221"/>
          </a:xfrm>
          <a:prstGeom prst="roundRect">
            <a:avLst>
              <a:gd name="adj" fmla="val 8385"/>
            </a:avLst>
          </a:prstGeom>
          <a:noFill/>
          <a:ln w="57150">
            <a:solidFill>
              <a:srgbClr val="033BED"/>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033BED"/>
              </a:solidFill>
            </a:endParaRPr>
          </a:p>
        </p:txBody>
      </p:sp>
      <p:sp>
        <p:nvSpPr>
          <p:cNvPr id="65" name="テキスト ボックス 64">
            <a:extLst>
              <a:ext uri="{FF2B5EF4-FFF2-40B4-BE49-F238E27FC236}">
                <a16:creationId xmlns:a16="http://schemas.microsoft.com/office/drawing/2014/main" id="{91F03566-8640-48CC-B7A4-3921C6D46599}"/>
              </a:ext>
            </a:extLst>
          </p:cNvPr>
          <p:cNvSpPr txBox="1"/>
          <p:nvPr/>
        </p:nvSpPr>
        <p:spPr>
          <a:xfrm>
            <a:off x="8835449" y="2094919"/>
            <a:ext cx="2392823" cy="523220"/>
          </a:xfrm>
          <a:prstGeom prst="rect">
            <a:avLst/>
          </a:prstGeom>
          <a:solidFill>
            <a:srgbClr val="E4E4E4"/>
          </a:solidFill>
        </p:spPr>
        <p:txBody>
          <a:bodyPr wrap="square" rtlCol="0">
            <a:spAutoFit/>
          </a:bodyPr>
          <a:lstStyle/>
          <a:p>
            <a:pPr algn="ctr"/>
            <a:r>
              <a:rPr kumimoji="1"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二次近似手法</a:t>
            </a:r>
          </a:p>
        </p:txBody>
      </p:sp>
      <p:sp>
        <p:nvSpPr>
          <p:cNvPr id="72" name="四角形: 角を丸くする 3">
            <a:extLst>
              <a:ext uri="{FF2B5EF4-FFF2-40B4-BE49-F238E27FC236}">
                <a16:creationId xmlns:a16="http://schemas.microsoft.com/office/drawing/2014/main" id="{D66ACE04-1C61-4F5C-8AB0-58BD6648E5AB}"/>
              </a:ext>
            </a:extLst>
          </p:cNvPr>
          <p:cNvSpPr/>
          <p:nvPr/>
        </p:nvSpPr>
        <p:spPr>
          <a:xfrm>
            <a:off x="8818097" y="2670151"/>
            <a:ext cx="2392823" cy="424852"/>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a:latin typeface="UD デジタル 教科書体 NK-R" panose="02020400000000000000" pitchFamily="18" charset="-128"/>
                <a:ea typeface="UD デジタル 教科書体 NK-R" panose="02020400000000000000" pitchFamily="18" charset="-128"/>
              </a:rPr>
              <a:t>ニュートン法</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spTree>
    <p:extLst>
      <p:ext uri="{BB962C8B-B14F-4D97-AF65-F5344CB8AC3E}">
        <p14:creationId xmlns:p14="http://schemas.microsoft.com/office/powerpoint/2010/main" val="2412514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四角形: 角を丸くする 7">
            <a:extLst>
              <a:ext uri="{FF2B5EF4-FFF2-40B4-BE49-F238E27FC236}">
                <a16:creationId xmlns:a16="http://schemas.microsoft.com/office/drawing/2014/main" id="{A889F3A4-896A-4958-872D-05B7D4D4B954}"/>
              </a:ext>
            </a:extLst>
          </p:cNvPr>
          <p:cNvSpPr/>
          <p:nvPr/>
        </p:nvSpPr>
        <p:spPr>
          <a:xfrm>
            <a:off x="232410" y="1336358"/>
            <a:ext cx="11791950" cy="5384482"/>
          </a:xfrm>
          <a:prstGeom prst="roundRect">
            <a:avLst/>
          </a:prstGeom>
          <a:noFill/>
          <a:ln w="57150">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lumMod val="75000"/>
                  <a:lumOff val="25000"/>
                </a:schemeClr>
              </a:solidFill>
            </a:endParaRPr>
          </a:p>
        </p:txBody>
      </p:sp>
      <p:sp>
        <p:nvSpPr>
          <p:cNvPr id="2" name="タイトル 1">
            <a:extLst>
              <a:ext uri="{FF2B5EF4-FFF2-40B4-BE49-F238E27FC236}">
                <a16:creationId xmlns:a16="http://schemas.microsoft.com/office/drawing/2014/main" id="{AC106782-666C-451B-97BE-992C06603F82}"/>
              </a:ext>
            </a:extLst>
          </p:cNvPr>
          <p:cNvSpPr>
            <a:spLocks noGrp="1"/>
          </p:cNvSpPr>
          <p:nvPr>
            <p:ph type="title"/>
          </p:nvPr>
        </p:nvSpPr>
        <p:spPr>
          <a:xfrm>
            <a:off x="838200" y="10795"/>
            <a:ext cx="10515600" cy="1325563"/>
          </a:xfrm>
        </p:spPr>
        <p:txBody>
          <a:bodyPr/>
          <a:lstStyle/>
          <a:p>
            <a:r>
              <a:rPr kumimoji="1" lang="ja-JP" altLang="en-US" dirty="0"/>
              <a:t>はじめに：従来手法・提案手法の位置づけ</a:t>
            </a:r>
          </a:p>
        </p:txBody>
      </p:sp>
      <p:sp>
        <p:nvSpPr>
          <p:cNvPr id="6" name="四角形: 角を丸くする 5">
            <a:extLst>
              <a:ext uri="{FF2B5EF4-FFF2-40B4-BE49-F238E27FC236}">
                <a16:creationId xmlns:a16="http://schemas.microsoft.com/office/drawing/2014/main" id="{91136D06-B0EF-46D1-98BE-F69CCF55C5A0}"/>
              </a:ext>
            </a:extLst>
          </p:cNvPr>
          <p:cNvSpPr/>
          <p:nvPr/>
        </p:nvSpPr>
        <p:spPr>
          <a:xfrm>
            <a:off x="548640" y="2045970"/>
            <a:ext cx="3317966" cy="4446905"/>
          </a:xfrm>
          <a:prstGeom prst="roundRect">
            <a:avLst/>
          </a:prstGeom>
          <a:noFill/>
          <a:ln w="57150">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lumMod val="75000"/>
                  <a:lumOff val="25000"/>
                </a:schemeClr>
              </a:solidFill>
            </a:endParaRPr>
          </a:p>
        </p:txBody>
      </p:sp>
      <p:sp>
        <p:nvSpPr>
          <p:cNvPr id="9" name="テキスト ボックス 8">
            <a:extLst>
              <a:ext uri="{FF2B5EF4-FFF2-40B4-BE49-F238E27FC236}">
                <a16:creationId xmlns:a16="http://schemas.microsoft.com/office/drawing/2014/main" id="{D7AF3C98-1194-472A-95AA-A10B8A90FF09}"/>
              </a:ext>
            </a:extLst>
          </p:cNvPr>
          <p:cNvSpPr txBox="1"/>
          <p:nvPr/>
        </p:nvSpPr>
        <p:spPr>
          <a:xfrm>
            <a:off x="2409825" y="1043970"/>
            <a:ext cx="7372350" cy="584775"/>
          </a:xfrm>
          <a:prstGeom prst="rect">
            <a:avLst/>
          </a:prstGeom>
          <a:solidFill>
            <a:srgbClr val="E4E4E4"/>
          </a:solidFill>
        </p:spPr>
        <p:txBody>
          <a:bodyPr wrap="square" rtlCol="0">
            <a:spAutoFit/>
          </a:bodyPr>
          <a:lstStyle/>
          <a:p>
            <a:r>
              <a:rPr kumimoji="1" lang="ja-JP" altLang="en-US" sz="32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ニューラルネットワークの学習アルゴリズム</a:t>
            </a:r>
          </a:p>
        </p:txBody>
      </p:sp>
      <p:sp>
        <p:nvSpPr>
          <p:cNvPr id="10" name="テキスト ボックス 9">
            <a:extLst>
              <a:ext uri="{FF2B5EF4-FFF2-40B4-BE49-F238E27FC236}">
                <a16:creationId xmlns:a16="http://schemas.microsoft.com/office/drawing/2014/main" id="{86A34877-ABFF-428B-998C-D85C42F5B44B}"/>
              </a:ext>
            </a:extLst>
          </p:cNvPr>
          <p:cNvSpPr txBox="1"/>
          <p:nvPr/>
        </p:nvSpPr>
        <p:spPr>
          <a:xfrm>
            <a:off x="811482" y="1675523"/>
            <a:ext cx="2741296" cy="584775"/>
          </a:xfrm>
          <a:prstGeom prst="rect">
            <a:avLst/>
          </a:prstGeom>
          <a:solidFill>
            <a:srgbClr val="E4E4E4"/>
          </a:solidFill>
        </p:spPr>
        <p:txBody>
          <a:bodyPr wrap="square" rtlCol="0">
            <a:spAutoFit/>
          </a:bodyPr>
          <a:lstStyle/>
          <a:p>
            <a:pPr algn="ctr"/>
            <a:r>
              <a:rPr kumimoji="1" lang="ja-JP" altLang="en-US" sz="32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一次近似手法</a:t>
            </a:r>
          </a:p>
        </p:txBody>
      </p:sp>
      <p:sp>
        <p:nvSpPr>
          <p:cNvPr id="4" name="四角形: 角を丸くする 3">
            <a:extLst>
              <a:ext uri="{FF2B5EF4-FFF2-40B4-BE49-F238E27FC236}">
                <a16:creationId xmlns:a16="http://schemas.microsoft.com/office/drawing/2014/main" id="{D63CD884-F702-44E7-AB57-6B2247B477A0}"/>
              </a:ext>
            </a:extLst>
          </p:cNvPr>
          <p:cNvSpPr/>
          <p:nvPr/>
        </p:nvSpPr>
        <p:spPr>
          <a:xfrm>
            <a:off x="963241" y="2351803"/>
            <a:ext cx="2392823" cy="424852"/>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latin typeface="UD デジタル 教科書体 NK-R" panose="02020400000000000000" pitchFamily="18" charset="-128"/>
                <a:ea typeface="UD デジタル 教科書体 NK-R" panose="02020400000000000000" pitchFamily="18" charset="-128"/>
              </a:rPr>
              <a:t>GD</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sp>
        <p:nvSpPr>
          <p:cNvPr id="19" name="四角形: 角を丸くする 18">
            <a:extLst>
              <a:ext uri="{FF2B5EF4-FFF2-40B4-BE49-F238E27FC236}">
                <a16:creationId xmlns:a16="http://schemas.microsoft.com/office/drawing/2014/main" id="{5D936B8A-4E49-4371-9647-6E2D6130CA2C}"/>
              </a:ext>
            </a:extLst>
          </p:cNvPr>
          <p:cNvSpPr/>
          <p:nvPr/>
        </p:nvSpPr>
        <p:spPr>
          <a:xfrm>
            <a:off x="2436294" y="3769977"/>
            <a:ext cx="1371769" cy="413475"/>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err="1">
                <a:latin typeface="UD デジタル 教科書体 NK-R" panose="02020400000000000000" pitchFamily="18" charset="-128"/>
                <a:ea typeface="UD デジタル 教科書体 NK-R" panose="02020400000000000000" pitchFamily="18" charset="-128"/>
              </a:rPr>
              <a:t>AdaGrad</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sp>
        <p:nvSpPr>
          <p:cNvPr id="20" name="四角形: 角を丸くする 19">
            <a:extLst>
              <a:ext uri="{FF2B5EF4-FFF2-40B4-BE49-F238E27FC236}">
                <a16:creationId xmlns:a16="http://schemas.microsoft.com/office/drawing/2014/main" id="{49B9E5C3-066A-48E4-BC0E-9FE3C873BF4A}"/>
              </a:ext>
            </a:extLst>
          </p:cNvPr>
          <p:cNvSpPr/>
          <p:nvPr/>
        </p:nvSpPr>
        <p:spPr>
          <a:xfrm>
            <a:off x="617122" y="3772264"/>
            <a:ext cx="1364516" cy="420596"/>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latin typeface="UD デジタル 教科書体 NK-R" panose="02020400000000000000" pitchFamily="18" charset="-128"/>
                <a:ea typeface="UD デジタル 教科書体 NK-R" panose="02020400000000000000" pitchFamily="18" charset="-128"/>
              </a:rPr>
              <a:t>CM</a:t>
            </a:r>
            <a:r>
              <a:rPr kumimoji="1" lang="ja-JP" altLang="en-US" dirty="0">
                <a:latin typeface="UD デジタル 教科書体 NK-R" panose="02020400000000000000" pitchFamily="18" charset="-128"/>
                <a:ea typeface="UD デジタル 教科書体 NK-R" panose="02020400000000000000" pitchFamily="18" charset="-128"/>
              </a:rPr>
              <a:t>法</a:t>
            </a:r>
          </a:p>
        </p:txBody>
      </p:sp>
      <p:sp>
        <p:nvSpPr>
          <p:cNvPr id="21" name="四角形: 角を丸くする 20">
            <a:extLst>
              <a:ext uri="{FF2B5EF4-FFF2-40B4-BE49-F238E27FC236}">
                <a16:creationId xmlns:a16="http://schemas.microsoft.com/office/drawing/2014/main" id="{367B0A7A-D5AA-4B1B-97E2-DDA9168EDEAA}"/>
              </a:ext>
            </a:extLst>
          </p:cNvPr>
          <p:cNvSpPr/>
          <p:nvPr/>
        </p:nvSpPr>
        <p:spPr>
          <a:xfrm>
            <a:off x="949793" y="5009229"/>
            <a:ext cx="2392823" cy="413475"/>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latin typeface="UD デジタル 教科書体 NK-R" panose="02020400000000000000" pitchFamily="18" charset="-128"/>
                <a:ea typeface="UD デジタル 教科書体 NK-R" panose="02020400000000000000" pitchFamily="18" charset="-128"/>
              </a:rPr>
              <a:t>Adam</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cxnSp>
        <p:nvCxnSpPr>
          <p:cNvPr id="23" name="直線矢印コネクタ 22">
            <a:extLst>
              <a:ext uri="{FF2B5EF4-FFF2-40B4-BE49-F238E27FC236}">
                <a16:creationId xmlns:a16="http://schemas.microsoft.com/office/drawing/2014/main" id="{CFF00908-9167-4341-BD3B-047C302461B3}"/>
              </a:ext>
            </a:extLst>
          </p:cNvPr>
          <p:cNvCxnSpPr>
            <a:cxnSpLocks/>
            <a:stCxn id="4" idx="2"/>
            <a:endCxn id="20" idx="0"/>
          </p:cNvCxnSpPr>
          <p:nvPr/>
        </p:nvCxnSpPr>
        <p:spPr>
          <a:xfrm flipH="1">
            <a:off x="1299380" y="2776655"/>
            <a:ext cx="860273" cy="995609"/>
          </a:xfrm>
          <a:prstGeom prst="straightConnector1">
            <a:avLst/>
          </a:prstGeom>
          <a:ln w="571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DB8F96D8-A3DD-4C29-80CB-87392D886EA2}"/>
              </a:ext>
            </a:extLst>
          </p:cNvPr>
          <p:cNvCxnSpPr>
            <a:cxnSpLocks/>
            <a:stCxn id="4" idx="2"/>
            <a:endCxn id="19" idx="0"/>
          </p:cNvCxnSpPr>
          <p:nvPr/>
        </p:nvCxnSpPr>
        <p:spPr>
          <a:xfrm>
            <a:off x="2159653" y="2776655"/>
            <a:ext cx="962526" cy="993322"/>
          </a:xfrm>
          <a:prstGeom prst="straightConnector1">
            <a:avLst/>
          </a:prstGeom>
          <a:ln w="571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17A71CAB-D1FF-443C-94D5-CA57C1CCCE6B}"/>
              </a:ext>
            </a:extLst>
          </p:cNvPr>
          <p:cNvCxnSpPr>
            <a:cxnSpLocks/>
            <a:stCxn id="20" idx="2"/>
            <a:endCxn id="21" idx="0"/>
          </p:cNvCxnSpPr>
          <p:nvPr/>
        </p:nvCxnSpPr>
        <p:spPr>
          <a:xfrm>
            <a:off x="1299380" y="4192860"/>
            <a:ext cx="846825" cy="816369"/>
          </a:xfrm>
          <a:prstGeom prst="straightConnector1">
            <a:avLst/>
          </a:prstGeom>
          <a:ln w="571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28AED442-501B-4873-9A0B-641BC7B72650}"/>
              </a:ext>
            </a:extLst>
          </p:cNvPr>
          <p:cNvCxnSpPr>
            <a:cxnSpLocks/>
            <a:stCxn id="19" idx="2"/>
            <a:endCxn id="21" idx="0"/>
          </p:cNvCxnSpPr>
          <p:nvPr/>
        </p:nvCxnSpPr>
        <p:spPr>
          <a:xfrm flipH="1">
            <a:off x="2146205" y="4183452"/>
            <a:ext cx="975974" cy="825777"/>
          </a:xfrm>
          <a:prstGeom prst="straightConnector1">
            <a:avLst/>
          </a:prstGeom>
          <a:ln w="571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DBE29ED8-02FF-4121-B885-9FA7A49579F0}"/>
              </a:ext>
            </a:extLst>
          </p:cNvPr>
          <p:cNvSpPr txBox="1"/>
          <p:nvPr/>
        </p:nvSpPr>
        <p:spPr>
          <a:xfrm>
            <a:off x="556969" y="2900525"/>
            <a:ext cx="1220224" cy="512191"/>
          </a:xfrm>
          <a:prstGeom prst="rect">
            <a:avLst/>
          </a:prstGeom>
          <a:noFill/>
          <a:effectLst>
            <a:softEdge rad="63500"/>
          </a:effectLst>
        </p:spPr>
        <p:txBody>
          <a:bodyPr wrap="square" rtlCol="0">
            <a:spAutoFit/>
          </a:bodyPr>
          <a:lstStyle/>
          <a:p>
            <a:pPr>
              <a:lnSpc>
                <a:spcPct val="150000"/>
              </a:lnSpc>
            </a:pPr>
            <a:r>
              <a:rPr kumimoji="1" lang="en-US" altLang="ja-JP" sz="2000" dirty="0">
                <a:ln w="3175">
                  <a:noFill/>
                </a:ln>
                <a:latin typeface="UD デジタル 教科書体 NK-R" panose="02020400000000000000" pitchFamily="18" charset="-128"/>
                <a:ea typeface="UD デジタル 教科書体 NK-R" panose="02020400000000000000" pitchFamily="18" charset="-128"/>
              </a:rPr>
              <a:t>+</a:t>
            </a:r>
            <a:r>
              <a:rPr kumimoji="1" lang="ja-JP" altLang="en-US" sz="2000" dirty="0">
                <a:ln w="3175">
                  <a:noFill/>
                </a:ln>
                <a:latin typeface="UD デジタル 教科書体 NK-R" panose="02020400000000000000" pitchFamily="18" charset="-128"/>
                <a:ea typeface="UD デジタル 教科書体 NK-R" panose="02020400000000000000" pitchFamily="18" charset="-128"/>
              </a:rPr>
              <a:t>慣性項</a:t>
            </a:r>
          </a:p>
        </p:txBody>
      </p:sp>
      <p:sp>
        <p:nvSpPr>
          <p:cNvPr id="36" name="テキスト ボックス 35">
            <a:extLst>
              <a:ext uri="{FF2B5EF4-FFF2-40B4-BE49-F238E27FC236}">
                <a16:creationId xmlns:a16="http://schemas.microsoft.com/office/drawing/2014/main" id="{0DA9AE62-622C-46B8-9E15-3AC727B98542}"/>
              </a:ext>
            </a:extLst>
          </p:cNvPr>
          <p:cNvSpPr txBox="1"/>
          <p:nvPr/>
        </p:nvSpPr>
        <p:spPr>
          <a:xfrm>
            <a:off x="1459826" y="5261696"/>
            <a:ext cx="1250756" cy="512191"/>
          </a:xfrm>
          <a:prstGeom prst="rect">
            <a:avLst/>
          </a:prstGeom>
          <a:noFill/>
          <a:effectLst>
            <a:softEdge rad="31750"/>
          </a:effectLst>
        </p:spPr>
        <p:txBody>
          <a:bodyPr wrap="square" rtlCol="0">
            <a:spAutoFit/>
          </a:bodyPr>
          <a:lstStyle/>
          <a:p>
            <a:pPr algn="ctr">
              <a:lnSpc>
                <a:spcPct val="150000"/>
              </a:lnSpc>
            </a:pPr>
            <a:r>
              <a:rPr lang="ja-JP" altLang="en-US" sz="2000" spc="-70">
                <a:solidFill>
                  <a:srgbClr val="C00000"/>
                </a:solidFill>
                <a:latin typeface="UD デジタル 教科書体 NK-R" panose="02020400000000000000" pitchFamily="18" charset="-128"/>
                <a:ea typeface="UD デジタル 教科書体 NK-R" panose="02020400000000000000" pitchFamily="18" charset="-128"/>
              </a:rPr>
              <a:t>現在主流</a:t>
            </a:r>
            <a:endParaRPr kumimoji="1" lang="ja-JP" altLang="en-US" sz="2000" spc="-70" dirty="0">
              <a:solidFill>
                <a:srgbClr val="C00000"/>
              </a:solidFill>
              <a:latin typeface="UD デジタル 教科書体 NK-R" panose="02020400000000000000" pitchFamily="18" charset="-128"/>
              <a:ea typeface="UD デジタル 教科書体 NK-R" panose="02020400000000000000" pitchFamily="18" charset="-128"/>
            </a:endParaRPr>
          </a:p>
        </p:txBody>
      </p:sp>
      <p:sp>
        <p:nvSpPr>
          <p:cNvPr id="58" name="テキスト ボックス 57">
            <a:extLst>
              <a:ext uri="{FF2B5EF4-FFF2-40B4-BE49-F238E27FC236}">
                <a16:creationId xmlns:a16="http://schemas.microsoft.com/office/drawing/2014/main" id="{08D4266F-D038-4DAA-8A80-5DE98E765574}"/>
              </a:ext>
            </a:extLst>
          </p:cNvPr>
          <p:cNvSpPr txBox="1"/>
          <p:nvPr/>
        </p:nvSpPr>
        <p:spPr>
          <a:xfrm>
            <a:off x="584263" y="5719797"/>
            <a:ext cx="3177841" cy="707886"/>
          </a:xfrm>
          <a:prstGeom prst="rect">
            <a:avLst/>
          </a:prstGeom>
          <a:noFill/>
        </p:spPr>
        <p:txBody>
          <a:bodyPr wrap="square" rtlCol="0">
            <a:spAutoFit/>
          </a:bodyPr>
          <a:lstStyle/>
          <a:p>
            <a:pPr algn="ctr"/>
            <a:r>
              <a:rPr lang="ja-JP" altLang="en-US" sz="2000" spc="300" dirty="0">
                <a:latin typeface="UD デジタル 教科書体 NK-R" panose="02020400000000000000" pitchFamily="18" charset="-128"/>
                <a:ea typeface="UD デジタル 教科書体 NK-R" panose="02020400000000000000" pitchFamily="18" charset="-128"/>
              </a:rPr>
              <a:t>メリット </a:t>
            </a:r>
            <a:r>
              <a:rPr lang="ja-JP" altLang="en-US" sz="2000" spc="-70" dirty="0">
                <a:latin typeface="UD デジタル 教科書体 NK-R" panose="02020400000000000000" pitchFamily="18" charset="-128"/>
                <a:ea typeface="UD デジタル 教科書体 NK-R" panose="02020400000000000000" pitchFamily="18" charset="-128"/>
              </a:rPr>
              <a:t>： 計算コストが低い</a:t>
            </a:r>
            <a:endParaRPr lang="en-US" altLang="ja-JP" sz="2000" spc="-70" dirty="0">
              <a:latin typeface="UD デジタル 教科書体 NK-R" panose="02020400000000000000" pitchFamily="18" charset="-128"/>
              <a:ea typeface="UD デジタル 教科書体 NK-R" panose="02020400000000000000" pitchFamily="18" charset="-128"/>
            </a:endParaRPr>
          </a:p>
          <a:p>
            <a:pPr algn="ctr"/>
            <a:r>
              <a:rPr kumimoji="1" lang="ja-JP" altLang="en-US" sz="2000" spc="-70" dirty="0">
                <a:latin typeface="UD デジタル 教科書体 NK-R" panose="02020400000000000000" pitchFamily="18" charset="-128"/>
                <a:ea typeface="UD デジタル 教科書体 NK-R" panose="02020400000000000000" pitchFamily="18" charset="-128"/>
              </a:rPr>
              <a:t>デメリット ： 収束が遅い</a:t>
            </a:r>
          </a:p>
        </p:txBody>
      </p:sp>
      <p:sp>
        <p:nvSpPr>
          <p:cNvPr id="3" name="スライド番号プレースホルダー 2">
            <a:extLst>
              <a:ext uri="{FF2B5EF4-FFF2-40B4-BE49-F238E27FC236}">
                <a16:creationId xmlns:a16="http://schemas.microsoft.com/office/drawing/2014/main" id="{021946E5-2168-431F-8EFC-EA8F06C962D1}"/>
              </a:ext>
            </a:extLst>
          </p:cNvPr>
          <p:cNvSpPr>
            <a:spLocks noGrp="1"/>
          </p:cNvSpPr>
          <p:nvPr>
            <p:ph type="sldNum" sz="quarter" idx="12"/>
          </p:nvPr>
        </p:nvSpPr>
        <p:spPr/>
        <p:txBody>
          <a:bodyPr/>
          <a:lstStyle/>
          <a:p>
            <a:r>
              <a:rPr kumimoji="1" lang="en-US" altLang="ja-JP" dirty="0"/>
              <a:t>3</a:t>
            </a:r>
            <a:endParaRPr kumimoji="1" lang="ja-JP" altLang="en-US" dirty="0"/>
          </a:p>
        </p:txBody>
      </p:sp>
      <p:sp>
        <p:nvSpPr>
          <p:cNvPr id="57" name="テキスト ボックス 56">
            <a:extLst>
              <a:ext uri="{FF2B5EF4-FFF2-40B4-BE49-F238E27FC236}">
                <a16:creationId xmlns:a16="http://schemas.microsoft.com/office/drawing/2014/main" id="{41C6ABCE-D82B-5742-BF98-C8773CEBDA00}"/>
              </a:ext>
            </a:extLst>
          </p:cNvPr>
          <p:cNvSpPr txBox="1"/>
          <p:nvPr/>
        </p:nvSpPr>
        <p:spPr>
          <a:xfrm>
            <a:off x="2592225" y="4449057"/>
            <a:ext cx="1220224" cy="512191"/>
          </a:xfrm>
          <a:prstGeom prst="rect">
            <a:avLst/>
          </a:prstGeom>
          <a:noFill/>
          <a:effectLst>
            <a:softEdge rad="63500"/>
          </a:effectLst>
        </p:spPr>
        <p:txBody>
          <a:bodyPr wrap="square" rtlCol="0">
            <a:spAutoFit/>
          </a:bodyPr>
          <a:lstStyle/>
          <a:p>
            <a:pPr>
              <a:lnSpc>
                <a:spcPct val="150000"/>
              </a:lnSpc>
            </a:pPr>
            <a:r>
              <a:rPr kumimoji="1" lang="en-US" altLang="ja-JP" sz="2000" dirty="0">
                <a:ln w="3175">
                  <a:noFill/>
                </a:ln>
                <a:latin typeface="UD デジタル 教科書体 NK-R" panose="02020400000000000000" pitchFamily="18" charset="-128"/>
                <a:ea typeface="UD デジタル 教科書体 NK-R" panose="02020400000000000000" pitchFamily="18" charset="-128"/>
              </a:rPr>
              <a:t>+</a:t>
            </a:r>
            <a:r>
              <a:rPr kumimoji="1" lang="ja-JP" altLang="en-US" sz="2000" dirty="0">
                <a:ln w="3175">
                  <a:noFill/>
                </a:ln>
                <a:latin typeface="UD デジタル 教科書体 NK-R" panose="02020400000000000000" pitchFamily="18" charset="-128"/>
                <a:ea typeface="UD デジタル 教科書体 NK-R" panose="02020400000000000000" pitchFamily="18" charset="-128"/>
              </a:rPr>
              <a:t>慣性項</a:t>
            </a:r>
          </a:p>
        </p:txBody>
      </p:sp>
      <p:sp>
        <p:nvSpPr>
          <p:cNvPr id="34" name="テキスト ボックス 33">
            <a:extLst>
              <a:ext uri="{FF2B5EF4-FFF2-40B4-BE49-F238E27FC236}">
                <a16:creationId xmlns:a16="http://schemas.microsoft.com/office/drawing/2014/main" id="{13313337-40A7-4082-A8E4-64292220BBC7}"/>
              </a:ext>
            </a:extLst>
          </p:cNvPr>
          <p:cNvSpPr txBox="1"/>
          <p:nvPr/>
        </p:nvSpPr>
        <p:spPr>
          <a:xfrm>
            <a:off x="2565616" y="2883020"/>
            <a:ext cx="1469156" cy="470257"/>
          </a:xfrm>
          <a:prstGeom prst="rect">
            <a:avLst/>
          </a:prstGeom>
          <a:noFill/>
          <a:effectLst>
            <a:softEdge rad="63500"/>
          </a:effectLst>
        </p:spPr>
        <p:txBody>
          <a:bodyPr wrap="square" rtlCol="0">
            <a:spAutoFit/>
          </a:bodyPr>
          <a:lstStyle/>
          <a:p>
            <a:pPr>
              <a:lnSpc>
                <a:spcPct val="150000"/>
              </a:lnSpc>
            </a:pPr>
            <a:r>
              <a:rPr kumimoji="1" lang="en-US" altLang="ja-JP" dirty="0">
                <a:ln w="3175">
                  <a:noFill/>
                </a:ln>
                <a:latin typeface="UD デジタル 教科書体 NK-R" panose="02020400000000000000" pitchFamily="18" charset="-128"/>
                <a:ea typeface="UD デジタル 教科書体 NK-R" panose="02020400000000000000" pitchFamily="18" charset="-128"/>
              </a:rPr>
              <a:t>+Adaptive</a:t>
            </a:r>
            <a:endParaRPr kumimoji="1" lang="ja-JP" altLang="en-US" dirty="0">
              <a:ln w="3175">
                <a:noFill/>
              </a:ln>
              <a:latin typeface="UD デジタル 教科書体 NK-R" panose="02020400000000000000" pitchFamily="18" charset="-128"/>
              <a:ea typeface="UD デジタル 教科書体 NK-R" panose="02020400000000000000" pitchFamily="18" charset="-128"/>
            </a:endParaRPr>
          </a:p>
        </p:txBody>
      </p:sp>
      <p:sp>
        <p:nvSpPr>
          <p:cNvPr id="35" name="テキスト ボックス 34">
            <a:extLst>
              <a:ext uri="{FF2B5EF4-FFF2-40B4-BE49-F238E27FC236}">
                <a16:creationId xmlns:a16="http://schemas.microsoft.com/office/drawing/2014/main" id="{626E345C-2565-4398-9A20-223B1B436E72}"/>
              </a:ext>
            </a:extLst>
          </p:cNvPr>
          <p:cNvSpPr txBox="1"/>
          <p:nvPr/>
        </p:nvSpPr>
        <p:spPr>
          <a:xfrm>
            <a:off x="530965" y="4498332"/>
            <a:ext cx="1469156" cy="470257"/>
          </a:xfrm>
          <a:prstGeom prst="rect">
            <a:avLst/>
          </a:prstGeom>
          <a:noFill/>
          <a:effectLst>
            <a:softEdge rad="63500"/>
          </a:effectLst>
        </p:spPr>
        <p:txBody>
          <a:bodyPr wrap="square" rtlCol="0">
            <a:spAutoFit/>
          </a:bodyPr>
          <a:lstStyle/>
          <a:p>
            <a:pPr>
              <a:lnSpc>
                <a:spcPct val="150000"/>
              </a:lnSpc>
            </a:pPr>
            <a:r>
              <a:rPr kumimoji="1" lang="en-US" altLang="ja-JP" dirty="0">
                <a:ln w="3175">
                  <a:noFill/>
                </a:ln>
                <a:latin typeface="UD デジタル 教科書体 NK-R" panose="02020400000000000000" pitchFamily="18" charset="-128"/>
                <a:ea typeface="UD デジタル 教科書体 NK-R" panose="02020400000000000000" pitchFamily="18" charset="-128"/>
              </a:rPr>
              <a:t>+Adaptive</a:t>
            </a:r>
            <a:endParaRPr kumimoji="1" lang="ja-JP" altLang="en-US" dirty="0">
              <a:ln w="3175">
                <a:noFill/>
              </a:ln>
              <a:latin typeface="UD デジタル 教科書体 NK-R" panose="02020400000000000000" pitchFamily="18" charset="-128"/>
              <a:ea typeface="UD デジタル 教科書体 NK-R" panose="02020400000000000000" pitchFamily="18" charset="-128"/>
            </a:endParaRPr>
          </a:p>
        </p:txBody>
      </p:sp>
      <p:sp>
        <p:nvSpPr>
          <p:cNvPr id="37" name="四角形: 角を丸くする 36">
            <a:extLst>
              <a:ext uri="{FF2B5EF4-FFF2-40B4-BE49-F238E27FC236}">
                <a16:creationId xmlns:a16="http://schemas.microsoft.com/office/drawing/2014/main" id="{3D1422AF-4148-4C18-A6CC-C8C365CCF2DD}"/>
              </a:ext>
            </a:extLst>
          </p:cNvPr>
          <p:cNvSpPr/>
          <p:nvPr/>
        </p:nvSpPr>
        <p:spPr>
          <a:xfrm>
            <a:off x="8449018" y="2443017"/>
            <a:ext cx="3170279" cy="949894"/>
          </a:xfrm>
          <a:prstGeom prst="roundRect">
            <a:avLst/>
          </a:prstGeom>
          <a:noFill/>
          <a:ln w="57150">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lumMod val="75000"/>
                  <a:lumOff val="25000"/>
                </a:schemeClr>
              </a:solidFill>
            </a:endParaRPr>
          </a:p>
        </p:txBody>
      </p:sp>
      <p:sp>
        <p:nvSpPr>
          <p:cNvPr id="38" name="テキスト ボックス 37">
            <a:extLst>
              <a:ext uri="{FF2B5EF4-FFF2-40B4-BE49-F238E27FC236}">
                <a16:creationId xmlns:a16="http://schemas.microsoft.com/office/drawing/2014/main" id="{77D7E85D-3007-4AE9-A579-19703E55A982}"/>
              </a:ext>
            </a:extLst>
          </p:cNvPr>
          <p:cNvSpPr txBox="1"/>
          <p:nvPr/>
        </p:nvSpPr>
        <p:spPr>
          <a:xfrm>
            <a:off x="8486943" y="5679812"/>
            <a:ext cx="3170278" cy="707886"/>
          </a:xfrm>
          <a:prstGeom prst="rect">
            <a:avLst/>
          </a:prstGeom>
          <a:noFill/>
        </p:spPr>
        <p:txBody>
          <a:bodyPr wrap="square" rtlCol="0">
            <a:spAutoFit/>
          </a:bodyPr>
          <a:lstStyle/>
          <a:p>
            <a:pPr algn="ctr"/>
            <a:r>
              <a:rPr lang="ja-JP" altLang="en-US" sz="2000" spc="300" dirty="0">
                <a:latin typeface="UD デジタル 教科書体 NK-R" panose="02020400000000000000" pitchFamily="18" charset="-128"/>
                <a:ea typeface="UD デジタル 教科書体 NK-R" panose="02020400000000000000" pitchFamily="18" charset="-128"/>
              </a:rPr>
              <a:t>メリット </a:t>
            </a:r>
            <a:r>
              <a:rPr lang="ja-JP" altLang="en-US" sz="2000" spc="-70" dirty="0">
                <a:latin typeface="UD デジタル 教科書体 NK-R" panose="02020400000000000000" pitchFamily="18" charset="-128"/>
                <a:ea typeface="UD デジタル 教科書体 NK-R" panose="02020400000000000000" pitchFamily="18" charset="-128"/>
              </a:rPr>
              <a:t>： 収束が速い</a:t>
            </a:r>
            <a:endParaRPr lang="en-US" altLang="ja-JP" sz="2000" spc="-70" dirty="0">
              <a:latin typeface="UD デジタル 教科書体 NK-R" panose="02020400000000000000" pitchFamily="18" charset="-128"/>
              <a:ea typeface="UD デジタル 教科書体 NK-R" panose="02020400000000000000" pitchFamily="18" charset="-128"/>
            </a:endParaRPr>
          </a:p>
          <a:p>
            <a:pPr algn="ctr"/>
            <a:r>
              <a:rPr kumimoji="1" lang="ja-JP" altLang="en-US" sz="2000" spc="-70" dirty="0">
                <a:latin typeface="UD デジタル 教科書体 NK-R" panose="02020400000000000000" pitchFamily="18" charset="-128"/>
                <a:ea typeface="UD デジタル 教科書体 NK-R" panose="02020400000000000000" pitchFamily="18" charset="-128"/>
              </a:rPr>
              <a:t>デメリット ： 計算コストが高い</a:t>
            </a:r>
          </a:p>
        </p:txBody>
      </p:sp>
      <p:sp>
        <p:nvSpPr>
          <p:cNvPr id="40" name="四角形: 角を丸くする 6">
            <a:extLst>
              <a:ext uri="{FF2B5EF4-FFF2-40B4-BE49-F238E27FC236}">
                <a16:creationId xmlns:a16="http://schemas.microsoft.com/office/drawing/2014/main" id="{701C7CBE-8689-4DE3-9A80-9B93E8551433}"/>
              </a:ext>
            </a:extLst>
          </p:cNvPr>
          <p:cNvSpPr/>
          <p:nvPr/>
        </p:nvSpPr>
        <p:spPr>
          <a:xfrm>
            <a:off x="8295579" y="2041958"/>
            <a:ext cx="3477582" cy="4503221"/>
          </a:xfrm>
          <a:prstGeom prst="roundRect">
            <a:avLst>
              <a:gd name="adj" fmla="val 8385"/>
            </a:avLst>
          </a:prstGeom>
          <a:noFill/>
          <a:ln w="57150">
            <a:solidFill>
              <a:srgbClr val="033BED"/>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033BED"/>
              </a:solidFill>
            </a:endParaRPr>
          </a:p>
        </p:txBody>
      </p:sp>
      <p:sp>
        <p:nvSpPr>
          <p:cNvPr id="41" name="テキスト ボックス 40">
            <a:extLst>
              <a:ext uri="{FF2B5EF4-FFF2-40B4-BE49-F238E27FC236}">
                <a16:creationId xmlns:a16="http://schemas.microsoft.com/office/drawing/2014/main" id="{CEBB6DCF-7262-43A5-B04F-AEA41C339347}"/>
              </a:ext>
            </a:extLst>
          </p:cNvPr>
          <p:cNvSpPr txBox="1"/>
          <p:nvPr/>
        </p:nvSpPr>
        <p:spPr>
          <a:xfrm>
            <a:off x="8835449" y="2094919"/>
            <a:ext cx="2392823" cy="523220"/>
          </a:xfrm>
          <a:prstGeom prst="rect">
            <a:avLst/>
          </a:prstGeom>
          <a:solidFill>
            <a:srgbClr val="E4E4E4"/>
          </a:solidFill>
        </p:spPr>
        <p:txBody>
          <a:bodyPr wrap="square" rtlCol="0">
            <a:spAutoFit/>
          </a:bodyPr>
          <a:lstStyle/>
          <a:p>
            <a:pPr algn="ctr"/>
            <a:r>
              <a:rPr kumimoji="1"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二次近似手法</a:t>
            </a:r>
          </a:p>
        </p:txBody>
      </p:sp>
      <p:sp>
        <p:nvSpPr>
          <p:cNvPr id="42" name="四角形: 角を丸くする 6">
            <a:extLst>
              <a:ext uri="{FF2B5EF4-FFF2-40B4-BE49-F238E27FC236}">
                <a16:creationId xmlns:a16="http://schemas.microsoft.com/office/drawing/2014/main" id="{EC12D7EE-7AF0-40CC-B5D7-50CD46485192}"/>
              </a:ext>
            </a:extLst>
          </p:cNvPr>
          <p:cNvSpPr/>
          <p:nvPr/>
        </p:nvSpPr>
        <p:spPr>
          <a:xfrm>
            <a:off x="8457040" y="3714353"/>
            <a:ext cx="3170278" cy="1735951"/>
          </a:xfrm>
          <a:prstGeom prst="roundRect">
            <a:avLst/>
          </a:prstGeom>
          <a:noFill/>
          <a:ln w="57150">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lumMod val="75000"/>
                  <a:lumOff val="25000"/>
                </a:schemeClr>
              </a:solidFill>
            </a:endParaRPr>
          </a:p>
        </p:txBody>
      </p:sp>
      <p:sp>
        <p:nvSpPr>
          <p:cNvPr id="43" name="四角形: 角を丸くする 3">
            <a:extLst>
              <a:ext uri="{FF2B5EF4-FFF2-40B4-BE49-F238E27FC236}">
                <a16:creationId xmlns:a16="http://schemas.microsoft.com/office/drawing/2014/main" id="{FE1C8C78-1EBF-4844-847B-E06E8B705901}"/>
              </a:ext>
            </a:extLst>
          </p:cNvPr>
          <p:cNvSpPr/>
          <p:nvPr/>
        </p:nvSpPr>
        <p:spPr>
          <a:xfrm>
            <a:off x="8845767" y="4192860"/>
            <a:ext cx="2392823" cy="424852"/>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latin typeface="UD デジタル 教科書体 NK-R" panose="02020400000000000000" pitchFamily="18" charset="-128"/>
                <a:ea typeface="UD デジタル 教科書体 NK-R" panose="02020400000000000000" pitchFamily="18" charset="-128"/>
              </a:rPr>
              <a:t>準ニュートン法</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sp>
        <p:nvSpPr>
          <p:cNvPr id="44" name="四角形: 角を丸くする 3">
            <a:extLst>
              <a:ext uri="{FF2B5EF4-FFF2-40B4-BE49-F238E27FC236}">
                <a16:creationId xmlns:a16="http://schemas.microsoft.com/office/drawing/2014/main" id="{B5ADBFAE-B892-40B7-9A54-994518F47E8D}"/>
              </a:ext>
            </a:extLst>
          </p:cNvPr>
          <p:cNvSpPr/>
          <p:nvPr/>
        </p:nvSpPr>
        <p:spPr>
          <a:xfrm>
            <a:off x="8845767" y="4955277"/>
            <a:ext cx="2392823" cy="424852"/>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latin typeface="UD デジタル 教科書体 NK-R" panose="02020400000000000000" pitchFamily="18" charset="-128"/>
                <a:ea typeface="UD デジタル 教科書体 NK-R" panose="02020400000000000000" pitchFamily="18" charset="-128"/>
              </a:rPr>
              <a:t>NAQ</a:t>
            </a:r>
            <a:r>
              <a:rPr lang="ja-JP" altLang="en-US">
                <a:latin typeface="UD デジタル 教科書体 NK-R" panose="02020400000000000000" pitchFamily="18" charset="-128"/>
                <a:ea typeface="UD デジタル 教科書体 NK-R" panose="02020400000000000000" pitchFamily="18" charset="-128"/>
              </a:rPr>
              <a:t>・</a:t>
            </a:r>
            <a:r>
              <a:rPr lang="en-US" altLang="ja-JP" dirty="0" err="1">
                <a:latin typeface="UD デジタル 教科書体 NK-R" panose="02020400000000000000" pitchFamily="18" charset="-128"/>
                <a:ea typeface="UD デジタル 教科書体 NK-R" panose="02020400000000000000" pitchFamily="18" charset="-128"/>
              </a:rPr>
              <a:t>MoQ</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cxnSp>
        <p:nvCxnSpPr>
          <p:cNvPr id="45" name="直線矢印コネクタ 44">
            <a:extLst>
              <a:ext uri="{FF2B5EF4-FFF2-40B4-BE49-F238E27FC236}">
                <a16:creationId xmlns:a16="http://schemas.microsoft.com/office/drawing/2014/main" id="{A8FCDD36-2970-427B-A54B-E81836870A08}"/>
              </a:ext>
            </a:extLst>
          </p:cNvPr>
          <p:cNvCxnSpPr>
            <a:cxnSpLocks/>
            <a:stCxn id="48" idx="2"/>
            <a:endCxn id="43" idx="0"/>
          </p:cNvCxnSpPr>
          <p:nvPr/>
        </p:nvCxnSpPr>
        <p:spPr>
          <a:xfrm>
            <a:off x="10014509" y="3095003"/>
            <a:ext cx="27670" cy="1097857"/>
          </a:xfrm>
          <a:prstGeom prst="straightConnector1">
            <a:avLst/>
          </a:prstGeom>
          <a:ln w="571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6" name="テキスト ボックス 45">
            <a:extLst>
              <a:ext uri="{FF2B5EF4-FFF2-40B4-BE49-F238E27FC236}">
                <a16:creationId xmlns:a16="http://schemas.microsoft.com/office/drawing/2014/main" id="{0DAD6AF3-8184-4DCD-8C30-40789164E2B5}"/>
              </a:ext>
            </a:extLst>
          </p:cNvPr>
          <p:cNvSpPr txBox="1"/>
          <p:nvPr/>
        </p:nvSpPr>
        <p:spPr>
          <a:xfrm>
            <a:off x="8653836" y="3428864"/>
            <a:ext cx="2757021" cy="523220"/>
          </a:xfrm>
          <a:prstGeom prst="rect">
            <a:avLst/>
          </a:prstGeom>
          <a:solidFill>
            <a:srgbClr val="E4E4E4"/>
          </a:solidFill>
        </p:spPr>
        <p:txBody>
          <a:bodyPr wrap="square" rtlCol="0">
            <a:spAutoFit/>
          </a:bodyPr>
          <a:lstStyle/>
          <a:p>
            <a:pPr algn="ctr"/>
            <a:r>
              <a:rPr kumimoji="1"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超一次近似手法</a:t>
            </a:r>
          </a:p>
        </p:txBody>
      </p:sp>
      <p:cxnSp>
        <p:nvCxnSpPr>
          <p:cNvPr id="47" name="直線矢印コネクタ 46">
            <a:extLst>
              <a:ext uri="{FF2B5EF4-FFF2-40B4-BE49-F238E27FC236}">
                <a16:creationId xmlns:a16="http://schemas.microsoft.com/office/drawing/2014/main" id="{8A87A2F2-8C8D-4BED-90B9-E91C6968869B}"/>
              </a:ext>
            </a:extLst>
          </p:cNvPr>
          <p:cNvCxnSpPr>
            <a:cxnSpLocks/>
            <a:stCxn id="43" idx="2"/>
            <a:endCxn id="44" idx="0"/>
          </p:cNvCxnSpPr>
          <p:nvPr/>
        </p:nvCxnSpPr>
        <p:spPr>
          <a:xfrm>
            <a:off x="10042179" y="4617712"/>
            <a:ext cx="0" cy="337565"/>
          </a:xfrm>
          <a:prstGeom prst="straightConnector1">
            <a:avLst/>
          </a:prstGeom>
          <a:ln w="571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8" name="四角形: 角を丸くする 3">
            <a:extLst>
              <a:ext uri="{FF2B5EF4-FFF2-40B4-BE49-F238E27FC236}">
                <a16:creationId xmlns:a16="http://schemas.microsoft.com/office/drawing/2014/main" id="{29462830-1891-491B-891F-AF49815D2499}"/>
              </a:ext>
            </a:extLst>
          </p:cNvPr>
          <p:cNvSpPr/>
          <p:nvPr/>
        </p:nvSpPr>
        <p:spPr>
          <a:xfrm>
            <a:off x="8818097" y="2670151"/>
            <a:ext cx="2392823" cy="424852"/>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a:latin typeface="UD デジタル 教科書体 NK-R" panose="02020400000000000000" pitchFamily="18" charset="-128"/>
                <a:ea typeface="UD デジタル 教科書体 NK-R" panose="02020400000000000000" pitchFamily="18" charset="-128"/>
              </a:rPr>
              <a:t>ニュートン法</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sp>
        <p:nvSpPr>
          <p:cNvPr id="39" name="テキスト ボックス 38">
            <a:extLst>
              <a:ext uri="{FF2B5EF4-FFF2-40B4-BE49-F238E27FC236}">
                <a16:creationId xmlns:a16="http://schemas.microsoft.com/office/drawing/2014/main" id="{BF12A528-2D9F-4F96-B1AD-585B49DCAB70}"/>
              </a:ext>
            </a:extLst>
          </p:cNvPr>
          <p:cNvSpPr txBox="1"/>
          <p:nvPr/>
        </p:nvSpPr>
        <p:spPr>
          <a:xfrm>
            <a:off x="10081901" y="4462021"/>
            <a:ext cx="1220224" cy="512191"/>
          </a:xfrm>
          <a:prstGeom prst="rect">
            <a:avLst/>
          </a:prstGeom>
          <a:noFill/>
          <a:effectLst>
            <a:softEdge rad="63500"/>
          </a:effectLst>
        </p:spPr>
        <p:txBody>
          <a:bodyPr wrap="square" rtlCol="0">
            <a:spAutoFit/>
          </a:bodyPr>
          <a:lstStyle/>
          <a:p>
            <a:pPr>
              <a:lnSpc>
                <a:spcPct val="150000"/>
              </a:lnSpc>
            </a:pPr>
            <a:r>
              <a:rPr kumimoji="1" lang="en-US" altLang="ja-JP" sz="2000" dirty="0">
                <a:ln w="3175">
                  <a:noFill/>
                </a:ln>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a:t>
            </a:r>
            <a:r>
              <a:rPr kumimoji="1" lang="ja-JP" altLang="en-US" sz="2000" dirty="0">
                <a:ln w="3175">
                  <a:noFill/>
                </a:ln>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慣性項</a:t>
            </a:r>
          </a:p>
        </p:txBody>
      </p:sp>
    </p:spTree>
    <p:extLst>
      <p:ext uri="{BB962C8B-B14F-4D97-AF65-F5344CB8AC3E}">
        <p14:creationId xmlns:p14="http://schemas.microsoft.com/office/powerpoint/2010/main" val="15051624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四角形: 角を丸くする 5">
            <a:extLst>
              <a:ext uri="{FF2B5EF4-FFF2-40B4-BE49-F238E27FC236}">
                <a16:creationId xmlns:a16="http://schemas.microsoft.com/office/drawing/2014/main" id="{0C281DFD-68BB-A24D-A771-16C037C88240}"/>
              </a:ext>
            </a:extLst>
          </p:cNvPr>
          <p:cNvSpPr/>
          <p:nvPr/>
        </p:nvSpPr>
        <p:spPr>
          <a:xfrm>
            <a:off x="544448" y="2041955"/>
            <a:ext cx="7513371" cy="4446905"/>
          </a:xfrm>
          <a:prstGeom prst="roundRect">
            <a:avLst>
              <a:gd name="adj" fmla="val 12316"/>
            </a:avLst>
          </a:prstGeom>
          <a:noFill/>
          <a:ln w="57150">
            <a:solidFill>
              <a:schemeClr val="accent6">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lumMod val="75000"/>
                  <a:lumOff val="25000"/>
                </a:schemeClr>
              </a:solidFill>
            </a:endParaRPr>
          </a:p>
        </p:txBody>
      </p:sp>
      <p:sp>
        <p:nvSpPr>
          <p:cNvPr id="8" name="四角形: 角を丸くする 7">
            <a:extLst>
              <a:ext uri="{FF2B5EF4-FFF2-40B4-BE49-F238E27FC236}">
                <a16:creationId xmlns:a16="http://schemas.microsoft.com/office/drawing/2014/main" id="{A889F3A4-896A-4958-872D-05B7D4D4B954}"/>
              </a:ext>
            </a:extLst>
          </p:cNvPr>
          <p:cNvSpPr/>
          <p:nvPr/>
        </p:nvSpPr>
        <p:spPr>
          <a:xfrm>
            <a:off x="232410" y="1336358"/>
            <a:ext cx="11791950" cy="5384482"/>
          </a:xfrm>
          <a:prstGeom prst="roundRect">
            <a:avLst/>
          </a:prstGeom>
          <a:noFill/>
          <a:ln w="57150">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lumMod val="75000"/>
                  <a:lumOff val="25000"/>
                </a:schemeClr>
              </a:solidFill>
            </a:endParaRPr>
          </a:p>
        </p:txBody>
      </p:sp>
      <p:sp>
        <p:nvSpPr>
          <p:cNvPr id="2" name="タイトル 1">
            <a:extLst>
              <a:ext uri="{FF2B5EF4-FFF2-40B4-BE49-F238E27FC236}">
                <a16:creationId xmlns:a16="http://schemas.microsoft.com/office/drawing/2014/main" id="{AC106782-666C-451B-97BE-992C06603F82}"/>
              </a:ext>
            </a:extLst>
          </p:cNvPr>
          <p:cNvSpPr>
            <a:spLocks noGrp="1"/>
          </p:cNvSpPr>
          <p:nvPr>
            <p:ph type="title"/>
          </p:nvPr>
        </p:nvSpPr>
        <p:spPr>
          <a:xfrm>
            <a:off x="838200" y="10795"/>
            <a:ext cx="10515600" cy="1325563"/>
          </a:xfrm>
        </p:spPr>
        <p:txBody>
          <a:bodyPr/>
          <a:lstStyle/>
          <a:p>
            <a:r>
              <a:rPr kumimoji="1" lang="ja-JP" altLang="en-US" dirty="0"/>
              <a:t>はじめに：従来手法・提案手法の位置づけ</a:t>
            </a:r>
          </a:p>
        </p:txBody>
      </p:sp>
      <p:sp>
        <p:nvSpPr>
          <p:cNvPr id="6" name="四角形: 角を丸くする 5">
            <a:extLst>
              <a:ext uri="{FF2B5EF4-FFF2-40B4-BE49-F238E27FC236}">
                <a16:creationId xmlns:a16="http://schemas.microsoft.com/office/drawing/2014/main" id="{91136D06-B0EF-46D1-98BE-F69CCF55C5A0}"/>
              </a:ext>
            </a:extLst>
          </p:cNvPr>
          <p:cNvSpPr/>
          <p:nvPr/>
        </p:nvSpPr>
        <p:spPr>
          <a:xfrm>
            <a:off x="548640" y="2045970"/>
            <a:ext cx="3317966" cy="4446905"/>
          </a:xfrm>
          <a:prstGeom prst="roundRect">
            <a:avLst/>
          </a:prstGeom>
          <a:noFill/>
          <a:ln w="57150">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lumMod val="75000"/>
                  <a:lumOff val="25000"/>
                </a:schemeClr>
              </a:solidFill>
            </a:endParaRPr>
          </a:p>
        </p:txBody>
      </p:sp>
      <p:sp>
        <p:nvSpPr>
          <p:cNvPr id="7" name="四角形: 角を丸くする 6">
            <a:extLst>
              <a:ext uri="{FF2B5EF4-FFF2-40B4-BE49-F238E27FC236}">
                <a16:creationId xmlns:a16="http://schemas.microsoft.com/office/drawing/2014/main" id="{E0145C59-4DE2-4476-9C7F-F71D20307678}"/>
              </a:ext>
            </a:extLst>
          </p:cNvPr>
          <p:cNvSpPr/>
          <p:nvPr/>
        </p:nvSpPr>
        <p:spPr>
          <a:xfrm>
            <a:off x="8449018" y="2443017"/>
            <a:ext cx="3170279" cy="949894"/>
          </a:xfrm>
          <a:prstGeom prst="roundRect">
            <a:avLst/>
          </a:prstGeom>
          <a:noFill/>
          <a:ln w="57150">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lumMod val="75000"/>
                  <a:lumOff val="25000"/>
                </a:schemeClr>
              </a:solidFill>
            </a:endParaRPr>
          </a:p>
        </p:txBody>
      </p:sp>
      <p:sp>
        <p:nvSpPr>
          <p:cNvPr id="9" name="テキスト ボックス 8">
            <a:extLst>
              <a:ext uri="{FF2B5EF4-FFF2-40B4-BE49-F238E27FC236}">
                <a16:creationId xmlns:a16="http://schemas.microsoft.com/office/drawing/2014/main" id="{D7AF3C98-1194-472A-95AA-A10B8A90FF09}"/>
              </a:ext>
            </a:extLst>
          </p:cNvPr>
          <p:cNvSpPr txBox="1"/>
          <p:nvPr/>
        </p:nvSpPr>
        <p:spPr>
          <a:xfrm>
            <a:off x="2409825" y="1043970"/>
            <a:ext cx="7372350" cy="584775"/>
          </a:xfrm>
          <a:prstGeom prst="rect">
            <a:avLst/>
          </a:prstGeom>
          <a:solidFill>
            <a:srgbClr val="E4E4E4"/>
          </a:solidFill>
        </p:spPr>
        <p:txBody>
          <a:bodyPr wrap="square" rtlCol="0">
            <a:spAutoFit/>
          </a:bodyPr>
          <a:lstStyle/>
          <a:p>
            <a:r>
              <a:rPr kumimoji="1" lang="ja-JP" altLang="en-US" sz="32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ニューラルネットワークの学習アルゴリズム</a:t>
            </a:r>
          </a:p>
        </p:txBody>
      </p:sp>
      <p:sp>
        <p:nvSpPr>
          <p:cNvPr id="10" name="テキスト ボックス 9">
            <a:extLst>
              <a:ext uri="{FF2B5EF4-FFF2-40B4-BE49-F238E27FC236}">
                <a16:creationId xmlns:a16="http://schemas.microsoft.com/office/drawing/2014/main" id="{86A34877-ABFF-428B-998C-D85C42F5B44B}"/>
              </a:ext>
            </a:extLst>
          </p:cNvPr>
          <p:cNvSpPr txBox="1"/>
          <p:nvPr/>
        </p:nvSpPr>
        <p:spPr>
          <a:xfrm>
            <a:off x="811482" y="1675523"/>
            <a:ext cx="2741296" cy="584775"/>
          </a:xfrm>
          <a:prstGeom prst="rect">
            <a:avLst/>
          </a:prstGeom>
          <a:solidFill>
            <a:srgbClr val="E4E4E4"/>
          </a:solidFill>
        </p:spPr>
        <p:txBody>
          <a:bodyPr wrap="square" rtlCol="0">
            <a:spAutoFit/>
          </a:bodyPr>
          <a:lstStyle/>
          <a:p>
            <a:pPr algn="ctr"/>
            <a:r>
              <a:rPr kumimoji="1" lang="ja-JP" altLang="en-US" sz="32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一次近似手法</a:t>
            </a:r>
          </a:p>
        </p:txBody>
      </p:sp>
      <p:sp>
        <p:nvSpPr>
          <p:cNvPr id="4" name="四角形: 角を丸くする 3">
            <a:extLst>
              <a:ext uri="{FF2B5EF4-FFF2-40B4-BE49-F238E27FC236}">
                <a16:creationId xmlns:a16="http://schemas.microsoft.com/office/drawing/2014/main" id="{D63CD884-F702-44E7-AB57-6B2247B477A0}"/>
              </a:ext>
            </a:extLst>
          </p:cNvPr>
          <p:cNvSpPr/>
          <p:nvPr/>
        </p:nvSpPr>
        <p:spPr>
          <a:xfrm>
            <a:off x="963241" y="2351803"/>
            <a:ext cx="2392823" cy="424852"/>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latin typeface="UD デジタル 教科書体 NK-R" panose="02020400000000000000" pitchFamily="18" charset="-128"/>
                <a:ea typeface="UD デジタル 教科書体 NK-R" panose="02020400000000000000" pitchFamily="18" charset="-128"/>
              </a:rPr>
              <a:t>GD</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sp>
        <p:nvSpPr>
          <p:cNvPr id="19" name="四角形: 角を丸くする 18">
            <a:extLst>
              <a:ext uri="{FF2B5EF4-FFF2-40B4-BE49-F238E27FC236}">
                <a16:creationId xmlns:a16="http://schemas.microsoft.com/office/drawing/2014/main" id="{5D936B8A-4E49-4371-9647-6E2D6130CA2C}"/>
              </a:ext>
            </a:extLst>
          </p:cNvPr>
          <p:cNvSpPr/>
          <p:nvPr/>
        </p:nvSpPr>
        <p:spPr>
          <a:xfrm>
            <a:off x="2436294" y="3769977"/>
            <a:ext cx="1371769" cy="413475"/>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err="1">
                <a:latin typeface="UD デジタル 教科書体 NK-R" panose="02020400000000000000" pitchFamily="18" charset="-128"/>
                <a:ea typeface="UD デジタル 教科書体 NK-R" panose="02020400000000000000" pitchFamily="18" charset="-128"/>
              </a:rPr>
              <a:t>AdaGrad</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sp>
        <p:nvSpPr>
          <p:cNvPr id="20" name="四角形: 角を丸くする 19">
            <a:extLst>
              <a:ext uri="{FF2B5EF4-FFF2-40B4-BE49-F238E27FC236}">
                <a16:creationId xmlns:a16="http://schemas.microsoft.com/office/drawing/2014/main" id="{49B9E5C3-066A-48E4-BC0E-9FE3C873BF4A}"/>
              </a:ext>
            </a:extLst>
          </p:cNvPr>
          <p:cNvSpPr/>
          <p:nvPr/>
        </p:nvSpPr>
        <p:spPr>
          <a:xfrm>
            <a:off x="617122" y="3772264"/>
            <a:ext cx="1364516" cy="420596"/>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latin typeface="UD デジタル 教科書体 NK-R" panose="02020400000000000000" pitchFamily="18" charset="-128"/>
                <a:ea typeface="UD デジタル 教科書体 NK-R" panose="02020400000000000000" pitchFamily="18" charset="-128"/>
              </a:rPr>
              <a:t>CM</a:t>
            </a:r>
            <a:r>
              <a:rPr kumimoji="1" lang="ja-JP" altLang="en-US" dirty="0">
                <a:latin typeface="UD デジタル 教科書体 NK-R" panose="02020400000000000000" pitchFamily="18" charset="-128"/>
                <a:ea typeface="UD デジタル 教科書体 NK-R" panose="02020400000000000000" pitchFamily="18" charset="-128"/>
              </a:rPr>
              <a:t>法</a:t>
            </a:r>
          </a:p>
        </p:txBody>
      </p:sp>
      <p:sp>
        <p:nvSpPr>
          <p:cNvPr id="21" name="四角形: 角を丸くする 20">
            <a:extLst>
              <a:ext uri="{FF2B5EF4-FFF2-40B4-BE49-F238E27FC236}">
                <a16:creationId xmlns:a16="http://schemas.microsoft.com/office/drawing/2014/main" id="{367B0A7A-D5AA-4B1B-97E2-DDA9168EDEAA}"/>
              </a:ext>
            </a:extLst>
          </p:cNvPr>
          <p:cNvSpPr/>
          <p:nvPr/>
        </p:nvSpPr>
        <p:spPr>
          <a:xfrm>
            <a:off x="949793" y="5009229"/>
            <a:ext cx="2392823" cy="413475"/>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latin typeface="UD デジタル 教科書体 NK-R" panose="02020400000000000000" pitchFamily="18" charset="-128"/>
                <a:ea typeface="UD デジタル 教科書体 NK-R" panose="02020400000000000000" pitchFamily="18" charset="-128"/>
              </a:rPr>
              <a:t>Adam</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cxnSp>
        <p:nvCxnSpPr>
          <p:cNvPr id="23" name="直線矢印コネクタ 22">
            <a:extLst>
              <a:ext uri="{FF2B5EF4-FFF2-40B4-BE49-F238E27FC236}">
                <a16:creationId xmlns:a16="http://schemas.microsoft.com/office/drawing/2014/main" id="{CFF00908-9167-4341-BD3B-047C302461B3}"/>
              </a:ext>
            </a:extLst>
          </p:cNvPr>
          <p:cNvCxnSpPr>
            <a:cxnSpLocks/>
            <a:stCxn id="4" idx="2"/>
            <a:endCxn id="20" idx="0"/>
          </p:cNvCxnSpPr>
          <p:nvPr/>
        </p:nvCxnSpPr>
        <p:spPr>
          <a:xfrm flipH="1">
            <a:off x="1299380" y="2776655"/>
            <a:ext cx="860273" cy="995609"/>
          </a:xfrm>
          <a:prstGeom prst="straightConnector1">
            <a:avLst/>
          </a:prstGeom>
          <a:ln w="571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DB8F96D8-A3DD-4C29-80CB-87392D886EA2}"/>
              </a:ext>
            </a:extLst>
          </p:cNvPr>
          <p:cNvCxnSpPr>
            <a:cxnSpLocks/>
            <a:stCxn id="4" idx="2"/>
            <a:endCxn id="19" idx="0"/>
          </p:cNvCxnSpPr>
          <p:nvPr/>
        </p:nvCxnSpPr>
        <p:spPr>
          <a:xfrm>
            <a:off x="2159653" y="2776655"/>
            <a:ext cx="962526" cy="993322"/>
          </a:xfrm>
          <a:prstGeom prst="straightConnector1">
            <a:avLst/>
          </a:prstGeom>
          <a:ln w="571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17A71CAB-D1FF-443C-94D5-CA57C1CCCE6B}"/>
              </a:ext>
            </a:extLst>
          </p:cNvPr>
          <p:cNvCxnSpPr>
            <a:cxnSpLocks/>
            <a:stCxn id="20" idx="2"/>
            <a:endCxn id="21" idx="0"/>
          </p:cNvCxnSpPr>
          <p:nvPr/>
        </p:nvCxnSpPr>
        <p:spPr>
          <a:xfrm>
            <a:off x="1299380" y="4192860"/>
            <a:ext cx="846825" cy="816369"/>
          </a:xfrm>
          <a:prstGeom prst="straightConnector1">
            <a:avLst/>
          </a:prstGeom>
          <a:ln w="571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28AED442-501B-4873-9A0B-641BC7B72650}"/>
              </a:ext>
            </a:extLst>
          </p:cNvPr>
          <p:cNvCxnSpPr>
            <a:cxnSpLocks/>
            <a:stCxn id="19" idx="2"/>
            <a:endCxn id="21" idx="0"/>
          </p:cNvCxnSpPr>
          <p:nvPr/>
        </p:nvCxnSpPr>
        <p:spPr>
          <a:xfrm flipH="1">
            <a:off x="2146205" y="4183452"/>
            <a:ext cx="975974" cy="825777"/>
          </a:xfrm>
          <a:prstGeom prst="straightConnector1">
            <a:avLst/>
          </a:prstGeom>
          <a:ln w="571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DBE29ED8-02FF-4121-B885-9FA7A49579F0}"/>
              </a:ext>
            </a:extLst>
          </p:cNvPr>
          <p:cNvSpPr txBox="1"/>
          <p:nvPr/>
        </p:nvSpPr>
        <p:spPr>
          <a:xfrm>
            <a:off x="556969" y="2900525"/>
            <a:ext cx="1220224" cy="512191"/>
          </a:xfrm>
          <a:prstGeom prst="rect">
            <a:avLst/>
          </a:prstGeom>
          <a:noFill/>
          <a:effectLst>
            <a:softEdge rad="63500"/>
          </a:effectLst>
        </p:spPr>
        <p:txBody>
          <a:bodyPr wrap="square" rtlCol="0">
            <a:spAutoFit/>
          </a:bodyPr>
          <a:lstStyle/>
          <a:p>
            <a:pPr>
              <a:lnSpc>
                <a:spcPct val="150000"/>
              </a:lnSpc>
            </a:pPr>
            <a:r>
              <a:rPr kumimoji="1" lang="en-US" altLang="ja-JP" sz="2000" dirty="0">
                <a:ln w="3175">
                  <a:noFill/>
                </a:ln>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a:t>
            </a:r>
            <a:r>
              <a:rPr kumimoji="1" lang="ja-JP" altLang="en-US" sz="2000" dirty="0">
                <a:ln w="3175">
                  <a:noFill/>
                </a:ln>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慣性項</a:t>
            </a:r>
          </a:p>
        </p:txBody>
      </p:sp>
      <p:sp>
        <p:nvSpPr>
          <p:cNvPr id="36" name="テキスト ボックス 35">
            <a:extLst>
              <a:ext uri="{FF2B5EF4-FFF2-40B4-BE49-F238E27FC236}">
                <a16:creationId xmlns:a16="http://schemas.microsoft.com/office/drawing/2014/main" id="{0DA9AE62-622C-46B8-9E15-3AC727B98542}"/>
              </a:ext>
            </a:extLst>
          </p:cNvPr>
          <p:cNvSpPr txBox="1"/>
          <p:nvPr/>
        </p:nvSpPr>
        <p:spPr>
          <a:xfrm>
            <a:off x="1459826" y="5261696"/>
            <a:ext cx="1250756" cy="512191"/>
          </a:xfrm>
          <a:prstGeom prst="rect">
            <a:avLst/>
          </a:prstGeom>
          <a:noFill/>
          <a:effectLst>
            <a:softEdge rad="31750"/>
          </a:effectLst>
        </p:spPr>
        <p:txBody>
          <a:bodyPr wrap="square" rtlCol="0">
            <a:spAutoFit/>
          </a:bodyPr>
          <a:lstStyle/>
          <a:p>
            <a:pPr algn="ctr">
              <a:lnSpc>
                <a:spcPct val="150000"/>
              </a:lnSpc>
            </a:pPr>
            <a:r>
              <a:rPr lang="ja-JP" altLang="en-US" sz="2000" spc="-70" dirty="0">
                <a:solidFill>
                  <a:srgbClr val="C00000"/>
                </a:solidFill>
                <a:latin typeface="UD デジタル 教科書体 NK-R" panose="02020400000000000000" pitchFamily="18" charset="-128"/>
                <a:ea typeface="UD デジタル 教科書体 NK-R" panose="02020400000000000000" pitchFamily="18" charset="-128"/>
              </a:rPr>
              <a:t>現在主流</a:t>
            </a:r>
            <a:endParaRPr kumimoji="1" lang="ja-JP" altLang="en-US" sz="2000" spc="-70" dirty="0">
              <a:solidFill>
                <a:srgbClr val="C00000"/>
              </a:solidFill>
              <a:latin typeface="UD デジタル 教科書体 NK-R" panose="02020400000000000000" pitchFamily="18" charset="-128"/>
              <a:ea typeface="UD デジタル 教科書体 NK-R" panose="02020400000000000000" pitchFamily="18" charset="-128"/>
            </a:endParaRPr>
          </a:p>
        </p:txBody>
      </p:sp>
      <p:sp>
        <p:nvSpPr>
          <p:cNvPr id="44" name="四角形: 角を丸くする 43">
            <a:extLst>
              <a:ext uri="{FF2B5EF4-FFF2-40B4-BE49-F238E27FC236}">
                <a16:creationId xmlns:a16="http://schemas.microsoft.com/office/drawing/2014/main" id="{FFC37D3F-E81F-49B4-9151-986AEAA6BD8C}"/>
              </a:ext>
            </a:extLst>
          </p:cNvPr>
          <p:cNvSpPr/>
          <p:nvPr/>
        </p:nvSpPr>
        <p:spPr>
          <a:xfrm>
            <a:off x="4379621" y="5001885"/>
            <a:ext cx="2782491" cy="1055239"/>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800" b="1" dirty="0">
                <a:latin typeface="UD デジタル 教科書体 NK-R" panose="02020400000000000000" pitchFamily="18" charset="-128"/>
                <a:ea typeface="UD デジタル 教科書体 NK-R" panose="02020400000000000000" pitchFamily="18" charset="-128"/>
              </a:rPr>
              <a:t>提案手法</a:t>
            </a:r>
          </a:p>
        </p:txBody>
      </p:sp>
      <p:sp>
        <p:nvSpPr>
          <p:cNvPr id="56" name="テキスト ボックス 55">
            <a:extLst>
              <a:ext uri="{FF2B5EF4-FFF2-40B4-BE49-F238E27FC236}">
                <a16:creationId xmlns:a16="http://schemas.microsoft.com/office/drawing/2014/main" id="{4EA47353-9D21-4CBD-B56D-E058078C7221}"/>
              </a:ext>
            </a:extLst>
          </p:cNvPr>
          <p:cNvSpPr txBox="1"/>
          <p:nvPr/>
        </p:nvSpPr>
        <p:spPr>
          <a:xfrm>
            <a:off x="8486943" y="5679812"/>
            <a:ext cx="3170278" cy="707886"/>
          </a:xfrm>
          <a:prstGeom prst="rect">
            <a:avLst/>
          </a:prstGeom>
          <a:noFill/>
        </p:spPr>
        <p:txBody>
          <a:bodyPr wrap="square" rtlCol="0">
            <a:spAutoFit/>
          </a:bodyPr>
          <a:lstStyle/>
          <a:p>
            <a:pPr algn="ctr"/>
            <a:r>
              <a:rPr lang="ja-JP" altLang="en-US" sz="2000" spc="300" dirty="0">
                <a:latin typeface="UD デジタル 教科書体 NK-R" panose="02020400000000000000" pitchFamily="18" charset="-128"/>
                <a:ea typeface="UD デジタル 教科書体 NK-R" panose="02020400000000000000" pitchFamily="18" charset="-128"/>
              </a:rPr>
              <a:t>メリット </a:t>
            </a:r>
            <a:r>
              <a:rPr lang="ja-JP" altLang="en-US" sz="2000" spc="-70" dirty="0">
                <a:latin typeface="UD デジタル 教科書体 NK-R" panose="02020400000000000000" pitchFamily="18" charset="-128"/>
                <a:ea typeface="UD デジタル 教科書体 NK-R" panose="02020400000000000000" pitchFamily="18" charset="-128"/>
              </a:rPr>
              <a:t>： 収束が速い</a:t>
            </a:r>
            <a:endParaRPr lang="en-US" altLang="ja-JP" sz="2000" spc="-70" dirty="0">
              <a:latin typeface="UD デジタル 教科書体 NK-R" panose="02020400000000000000" pitchFamily="18" charset="-128"/>
              <a:ea typeface="UD デジタル 教科書体 NK-R" panose="02020400000000000000" pitchFamily="18" charset="-128"/>
            </a:endParaRPr>
          </a:p>
          <a:p>
            <a:pPr algn="ctr"/>
            <a:r>
              <a:rPr kumimoji="1" lang="ja-JP" altLang="en-US" sz="2000" spc="-70" dirty="0">
                <a:latin typeface="UD デジタル 教科書体 NK-R" panose="02020400000000000000" pitchFamily="18" charset="-128"/>
                <a:ea typeface="UD デジタル 教科書体 NK-R" panose="02020400000000000000" pitchFamily="18" charset="-128"/>
              </a:rPr>
              <a:t>デメリット ： 計算コストが高い</a:t>
            </a:r>
          </a:p>
        </p:txBody>
      </p:sp>
      <p:sp>
        <p:nvSpPr>
          <p:cNvPr id="58" name="テキスト ボックス 57">
            <a:extLst>
              <a:ext uri="{FF2B5EF4-FFF2-40B4-BE49-F238E27FC236}">
                <a16:creationId xmlns:a16="http://schemas.microsoft.com/office/drawing/2014/main" id="{08D4266F-D038-4DAA-8A80-5DE98E765574}"/>
              </a:ext>
            </a:extLst>
          </p:cNvPr>
          <p:cNvSpPr txBox="1"/>
          <p:nvPr/>
        </p:nvSpPr>
        <p:spPr>
          <a:xfrm>
            <a:off x="584263" y="5719797"/>
            <a:ext cx="3177841" cy="707886"/>
          </a:xfrm>
          <a:prstGeom prst="rect">
            <a:avLst/>
          </a:prstGeom>
          <a:noFill/>
        </p:spPr>
        <p:txBody>
          <a:bodyPr wrap="square" rtlCol="0">
            <a:spAutoFit/>
          </a:bodyPr>
          <a:lstStyle/>
          <a:p>
            <a:pPr algn="ctr"/>
            <a:r>
              <a:rPr lang="ja-JP" altLang="en-US" sz="2000" spc="300" dirty="0">
                <a:latin typeface="UD デジタル 教科書体 NK-R" panose="02020400000000000000" pitchFamily="18" charset="-128"/>
                <a:ea typeface="UD デジタル 教科書体 NK-R" panose="02020400000000000000" pitchFamily="18" charset="-128"/>
              </a:rPr>
              <a:t>メリット </a:t>
            </a:r>
            <a:r>
              <a:rPr lang="ja-JP" altLang="en-US" sz="2000" spc="-70" dirty="0">
                <a:latin typeface="UD デジタル 教科書体 NK-R" panose="02020400000000000000" pitchFamily="18" charset="-128"/>
                <a:ea typeface="UD デジタル 教科書体 NK-R" panose="02020400000000000000" pitchFamily="18" charset="-128"/>
              </a:rPr>
              <a:t>： 計算コストが低い</a:t>
            </a:r>
            <a:endParaRPr lang="en-US" altLang="ja-JP" sz="2000" spc="-70" dirty="0">
              <a:latin typeface="UD デジタル 教科書体 NK-R" panose="02020400000000000000" pitchFamily="18" charset="-128"/>
              <a:ea typeface="UD デジタル 教科書体 NK-R" panose="02020400000000000000" pitchFamily="18" charset="-128"/>
            </a:endParaRPr>
          </a:p>
          <a:p>
            <a:pPr algn="ctr"/>
            <a:r>
              <a:rPr kumimoji="1" lang="ja-JP" altLang="en-US" sz="2000" spc="-70" dirty="0">
                <a:latin typeface="UD デジタル 教科書体 NK-R" panose="02020400000000000000" pitchFamily="18" charset="-128"/>
                <a:ea typeface="UD デジタル 教科書体 NK-R" panose="02020400000000000000" pitchFamily="18" charset="-128"/>
              </a:rPr>
              <a:t>デメリット ： </a:t>
            </a:r>
            <a:r>
              <a:rPr lang="ja-JP" altLang="en-US" sz="2000" spc="-70" dirty="0">
                <a:latin typeface="UD デジタル 教科書体 NK-R" panose="02020400000000000000" pitchFamily="18" charset="-128"/>
                <a:ea typeface="UD デジタル 教科書体 NK-R" panose="02020400000000000000" pitchFamily="18" charset="-128"/>
              </a:rPr>
              <a:t>収束が遅い</a:t>
            </a:r>
            <a:endParaRPr kumimoji="1" lang="ja-JP" altLang="en-US" sz="2000" spc="-70" dirty="0">
              <a:latin typeface="UD デジタル 教科書体 NK-R" panose="02020400000000000000" pitchFamily="18" charset="-128"/>
              <a:ea typeface="UD デジタル 教科書体 NK-R" panose="02020400000000000000" pitchFamily="18" charset="-128"/>
            </a:endParaRPr>
          </a:p>
        </p:txBody>
      </p:sp>
      <p:sp>
        <p:nvSpPr>
          <p:cNvPr id="3" name="スライド番号プレースホルダー 2">
            <a:extLst>
              <a:ext uri="{FF2B5EF4-FFF2-40B4-BE49-F238E27FC236}">
                <a16:creationId xmlns:a16="http://schemas.microsoft.com/office/drawing/2014/main" id="{021946E5-2168-431F-8EFC-EA8F06C962D1}"/>
              </a:ext>
            </a:extLst>
          </p:cNvPr>
          <p:cNvSpPr>
            <a:spLocks noGrp="1"/>
          </p:cNvSpPr>
          <p:nvPr>
            <p:ph type="sldNum" sz="quarter" idx="12"/>
          </p:nvPr>
        </p:nvSpPr>
        <p:spPr/>
        <p:txBody>
          <a:bodyPr/>
          <a:lstStyle/>
          <a:p>
            <a:r>
              <a:rPr kumimoji="1" lang="en-US" altLang="ja-JP" dirty="0"/>
              <a:t>3</a:t>
            </a:r>
            <a:endParaRPr kumimoji="1" lang="ja-JP" altLang="en-US" dirty="0"/>
          </a:p>
        </p:txBody>
      </p:sp>
      <p:sp>
        <p:nvSpPr>
          <p:cNvPr id="57" name="テキスト ボックス 56">
            <a:extLst>
              <a:ext uri="{FF2B5EF4-FFF2-40B4-BE49-F238E27FC236}">
                <a16:creationId xmlns:a16="http://schemas.microsoft.com/office/drawing/2014/main" id="{41C6ABCE-D82B-5742-BF98-C8773CEBDA00}"/>
              </a:ext>
            </a:extLst>
          </p:cNvPr>
          <p:cNvSpPr txBox="1"/>
          <p:nvPr/>
        </p:nvSpPr>
        <p:spPr>
          <a:xfrm>
            <a:off x="2592225" y="4449057"/>
            <a:ext cx="1220224" cy="512191"/>
          </a:xfrm>
          <a:prstGeom prst="rect">
            <a:avLst/>
          </a:prstGeom>
          <a:noFill/>
          <a:effectLst>
            <a:softEdge rad="63500"/>
          </a:effectLst>
        </p:spPr>
        <p:txBody>
          <a:bodyPr wrap="square" rtlCol="0">
            <a:spAutoFit/>
          </a:bodyPr>
          <a:lstStyle/>
          <a:p>
            <a:pPr>
              <a:lnSpc>
                <a:spcPct val="150000"/>
              </a:lnSpc>
            </a:pPr>
            <a:r>
              <a:rPr kumimoji="1" lang="en-US" altLang="ja-JP" sz="2000" dirty="0">
                <a:ln w="3175">
                  <a:noFill/>
                </a:ln>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a:t>
            </a:r>
            <a:r>
              <a:rPr kumimoji="1" lang="ja-JP" altLang="en-US" sz="2000" dirty="0">
                <a:ln w="3175">
                  <a:noFill/>
                </a:ln>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慣性項</a:t>
            </a:r>
          </a:p>
        </p:txBody>
      </p:sp>
      <p:sp>
        <p:nvSpPr>
          <p:cNvPr id="86" name="四角形: 角を丸くする 6">
            <a:extLst>
              <a:ext uri="{FF2B5EF4-FFF2-40B4-BE49-F238E27FC236}">
                <a16:creationId xmlns:a16="http://schemas.microsoft.com/office/drawing/2014/main" id="{4BEE992A-9ADB-054C-9721-73E7E39ECD54}"/>
              </a:ext>
            </a:extLst>
          </p:cNvPr>
          <p:cNvSpPr/>
          <p:nvPr/>
        </p:nvSpPr>
        <p:spPr>
          <a:xfrm>
            <a:off x="8295579" y="2041958"/>
            <a:ext cx="3477582" cy="4503221"/>
          </a:xfrm>
          <a:prstGeom prst="roundRect">
            <a:avLst>
              <a:gd name="adj" fmla="val 8385"/>
            </a:avLst>
          </a:prstGeom>
          <a:noFill/>
          <a:ln w="57150">
            <a:solidFill>
              <a:srgbClr val="033BED"/>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033BED"/>
              </a:solidFill>
            </a:endParaRPr>
          </a:p>
        </p:txBody>
      </p:sp>
      <p:sp>
        <p:nvSpPr>
          <p:cNvPr id="11" name="テキスト ボックス 10">
            <a:extLst>
              <a:ext uri="{FF2B5EF4-FFF2-40B4-BE49-F238E27FC236}">
                <a16:creationId xmlns:a16="http://schemas.microsoft.com/office/drawing/2014/main" id="{D916888F-0E8F-4C07-AF61-0E23BBDB5EC7}"/>
              </a:ext>
            </a:extLst>
          </p:cNvPr>
          <p:cNvSpPr txBox="1"/>
          <p:nvPr/>
        </p:nvSpPr>
        <p:spPr>
          <a:xfrm>
            <a:off x="8835449" y="2094919"/>
            <a:ext cx="2392823" cy="523220"/>
          </a:xfrm>
          <a:prstGeom prst="rect">
            <a:avLst/>
          </a:prstGeom>
          <a:solidFill>
            <a:srgbClr val="E4E4E4"/>
          </a:solidFill>
        </p:spPr>
        <p:txBody>
          <a:bodyPr wrap="square" rtlCol="0">
            <a:spAutoFit/>
          </a:bodyPr>
          <a:lstStyle/>
          <a:p>
            <a:pPr algn="ctr"/>
            <a:r>
              <a:rPr kumimoji="1"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二次近似手法</a:t>
            </a:r>
          </a:p>
        </p:txBody>
      </p:sp>
      <p:sp>
        <p:nvSpPr>
          <p:cNvPr id="87" name="四角形: 角を丸くする 6">
            <a:extLst>
              <a:ext uri="{FF2B5EF4-FFF2-40B4-BE49-F238E27FC236}">
                <a16:creationId xmlns:a16="http://schemas.microsoft.com/office/drawing/2014/main" id="{EB548D47-3127-004A-905A-7E0615F2D0B7}"/>
              </a:ext>
            </a:extLst>
          </p:cNvPr>
          <p:cNvSpPr/>
          <p:nvPr/>
        </p:nvSpPr>
        <p:spPr>
          <a:xfrm>
            <a:off x="8457040" y="3714353"/>
            <a:ext cx="3170278" cy="1735951"/>
          </a:xfrm>
          <a:prstGeom prst="roundRect">
            <a:avLst/>
          </a:prstGeom>
          <a:noFill/>
          <a:ln w="57150">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lumMod val="75000"/>
                  <a:lumOff val="25000"/>
                </a:schemeClr>
              </a:solidFill>
            </a:endParaRPr>
          </a:p>
        </p:txBody>
      </p:sp>
      <p:sp>
        <p:nvSpPr>
          <p:cNvPr id="89" name="四角形: 角を丸くする 3">
            <a:extLst>
              <a:ext uri="{FF2B5EF4-FFF2-40B4-BE49-F238E27FC236}">
                <a16:creationId xmlns:a16="http://schemas.microsoft.com/office/drawing/2014/main" id="{731C2B96-2DD3-E548-ACBD-4F0FF9DA27DD}"/>
              </a:ext>
            </a:extLst>
          </p:cNvPr>
          <p:cNvSpPr/>
          <p:nvPr/>
        </p:nvSpPr>
        <p:spPr>
          <a:xfrm>
            <a:off x="8845767" y="4192860"/>
            <a:ext cx="2392823" cy="424852"/>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latin typeface="UD デジタル 教科書体 NK-R" panose="02020400000000000000" pitchFamily="18" charset="-128"/>
                <a:ea typeface="UD デジタル 教科書体 NK-R" panose="02020400000000000000" pitchFamily="18" charset="-128"/>
              </a:rPr>
              <a:t>準ニュートン法</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sp>
        <p:nvSpPr>
          <p:cNvPr id="90" name="四角形: 角を丸くする 3">
            <a:extLst>
              <a:ext uri="{FF2B5EF4-FFF2-40B4-BE49-F238E27FC236}">
                <a16:creationId xmlns:a16="http://schemas.microsoft.com/office/drawing/2014/main" id="{B9F2DCA8-386A-6A47-9B6D-BE61698B567D}"/>
              </a:ext>
            </a:extLst>
          </p:cNvPr>
          <p:cNvSpPr/>
          <p:nvPr/>
        </p:nvSpPr>
        <p:spPr>
          <a:xfrm>
            <a:off x="8845767" y="4955277"/>
            <a:ext cx="2392823" cy="424852"/>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latin typeface="UD デジタル 教科書体 NK-R" panose="02020400000000000000" pitchFamily="18" charset="-128"/>
                <a:ea typeface="UD デジタル 教科書体 NK-R" panose="02020400000000000000" pitchFamily="18" charset="-128"/>
              </a:rPr>
              <a:t>NAQ</a:t>
            </a:r>
            <a:r>
              <a:rPr lang="ja-JP" altLang="en-US">
                <a:latin typeface="UD デジタル 教科書体 NK-R" panose="02020400000000000000" pitchFamily="18" charset="-128"/>
                <a:ea typeface="UD デジタル 教科書体 NK-R" panose="02020400000000000000" pitchFamily="18" charset="-128"/>
              </a:rPr>
              <a:t>・</a:t>
            </a:r>
            <a:r>
              <a:rPr lang="en-US" altLang="ja-JP" dirty="0" err="1">
                <a:latin typeface="UD デジタル 教科書体 NK-R" panose="02020400000000000000" pitchFamily="18" charset="-128"/>
                <a:ea typeface="UD デジタル 教科書体 NK-R" panose="02020400000000000000" pitchFamily="18" charset="-128"/>
              </a:rPr>
              <a:t>MoQ</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cxnSp>
        <p:nvCxnSpPr>
          <p:cNvPr id="91" name="直線矢印コネクタ 90">
            <a:extLst>
              <a:ext uri="{FF2B5EF4-FFF2-40B4-BE49-F238E27FC236}">
                <a16:creationId xmlns:a16="http://schemas.microsoft.com/office/drawing/2014/main" id="{CC2230A7-F596-524B-8B16-9A470A75845D}"/>
              </a:ext>
            </a:extLst>
          </p:cNvPr>
          <p:cNvCxnSpPr>
            <a:cxnSpLocks/>
            <a:stCxn id="85" idx="2"/>
            <a:endCxn id="89" idx="0"/>
          </p:cNvCxnSpPr>
          <p:nvPr/>
        </p:nvCxnSpPr>
        <p:spPr>
          <a:xfrm>
            <a:off x="10014509" y="3095003"/>
            <a:ext cx="27670" cy="1097857"/>
          </a:xfrm>
          <a:prstGeom prst="straightConnector1">
            <a:avLst/>
          </a:prstGeom>
          <a:ln w="571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8" name="テキスト ボックス 87">
            <a:extLst>
              <a:ext uri="{FF2B5EF4-FFF2-40B4-BE49-F238E27FC236}">
                <a16:creationId xmlns:a16="http://schemas.microsoft.com/office/drawing/2014/main" id="{67F26495-3671-6146-B96D-B883F4105EA0}"/>
              </a:ext>
            </a:extLst>
          </p:cNvPr>
          <p:cNvSpPr txBox="1"/>
          <p:nvPr/>
        </p:nvSpPr>
        <p:spPr>
          <a:xfrm>
            <a:off x="8653836" y="3428864"/>
            <a:ext cx="2757021" cy="523220"/>
          </a:xfrm>
          <a:prstGeom prst="rect">
            <a:avLst/>
          </a:prstGeom>
          <a:solidFill>
            <a:srgbClr val="E4E4E4"/>
          </a:solidFill>
        </p:spPr>
        <p:txBody>
          <a:bodyPr wrap="square" rtlCol="0">
            <a:spAutoFit/>
          </a:bodyPr>
          <a:lstStyle/>
          <a:p>
            <a:pPr algn="ctr"/>
            <a:r>
              <a:rPr kumimoji="1"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超一次近似手法</a:t>
            </a:r>
          </a:p>
        </p:txBody>
      </p:sp>
      <p:cxnSp>
        <p:nvCxnSpPr>
          <p:cNvPr id="95" name="直線矢印コネクタ 94">
            <a:extLst>
              <a:ext uri="{FF2B5EF4-FFF2-40B4-BE49-F238E27FC236}">
                <a16:creationId xmlns:a16="http://schemas.microsoft.com/office/drawing/2014/main" id="{A21B81C0-F4BC-6C40-A8B9-CAEA3B3D2EF5}"/>
              </a:ext>
            </a:extLst>
          </p:cNvPr>
          <p:cNvCxnSpPr>
            <a:cxnSpLocks/>
            <a:stCxn id="89" idx="2"/>
            <a:endCxn id="90" idx="0"/>
          </p:cNvCxnSpPr>
          <p:nvPr/>
        </p:nvCxnSpPr>
        <p:spPr>
          <a:xfrm>
            <a:off x="10042179" y="4617712"/>
            <a:ext cx="0" cy="337565"/>
          </a:xfrm>
          <a:prstGeom prst="straightConnector1">
            <a:avLst/>
          </a:prstGeom>
          <a:ln w="571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直線矢印コネクタ 103">
            <a:extLst>
              <a:ext uri="{FF2B5EF4-FFF2-40B4-BE49-F238E27FC236}">
                <a16:creationId xmlns:a16="http://schemas.microsoft.com/office/drawing/2014/main" id="{25EEF960-B654-E94B-B5D8-785E22832E5E}"/>
              </a:ext>
            </a:extLst>
          </p:cNvPr>
          <p:cNvCxnSpPr>
            <a:cxnSpLocks/>
          </p:cNvCxnSpPr>
          <p:nvPr/>
        </p:nvCxnSpPr>
        <p:spPr>
          <a:xfrm>
            <a:off x="5055392" y="2895104"/>
            <a:ext cx="0" cy="245517"/>
          </a:xfrm>
          <a:prstGeom prst="straightConnector1">
            <a:avLst/>
          </a:prstGeom>
          <a:ln w="571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4" name="四角形: 角を丸くする 3">
            <a:extLst>
              <a:ext uri="{FF2B5EF4-FFF2-40B4-BE49-F238E27FC236}">
                <a16:creationId xmlns:a16="http://schemas.microsoft.com/office/drawing/2014/main" id="{A6C3F7AC-9EFC-7F4D-8A0D-FD6282C52FC8}"/>
              </a:ext>
            </a:extLst>
          </p:cNvPr>
          <p:cNvSpPr/>
          <p:nvPr/>
        </p:nvSpPr>
        <p:spPr>
          <a:xfrm>
            <a:off x="3975178" y="3768008"/>
            <a:ext cx="1411218" cy="424852"/>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latin typeface="UD デジタル 教科書体 NK-R" panose="02020400000000000000" pitchFamily="18" charset="-128"/>
                <a:ea typeface="UD デジタル 教科書体 NK-R" panose="02020400000000000000" pitchFamily="18" charset="-128"/>
              </a:rPr>
              <a:t>ML-BFGS</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sp>
        <p:nvSpPr>
          <p:cNvPr id="101" name="四角形: 角を丸くする 3">
            <a:extLst>
              <a:ext uri="{FF2B5EF4-FFF2-40B4-BE49-F238E27FC236}">
                <a16:creationId xmlns:a16="http://schemas.microsoft.com/office/drawing/2014/main" id="{609AA188-CCB6-C541-933D-1A4E9498277C}"/>
              </a:ext>
            </a:extLst>
          </p:cNvPr>
          <p:cNvSpPr/>
          <p:nvPr/>
        </p:nvSpPr>
        <p:spPr>
          <a:xfrm>
            <a:off x="6056195" y="3105006"/>
            <a:ext cx="1900409" cy="424852"/>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latin typeface="UD デジタル 教科書体 NK-R" panose="02020400000000000000" pitchFamily="18" charset="-128"/>
                <a:ea typeface="UD デジタル 教科書体 NK-R" panose="02020400000000000000" pitchFamily="18" charset="-128"/>
              </a:rPr>
              <a:t>L-NAQ/</a:t>
            </a:r>
            <a:r>
              <a:rPr lang="en-US" altLang="ja-JP" dirty="0" err="1">
                <a:latin typeface="UD デジタル 教科書体 NK-R" panose="02020400000000000000" pitchFamily="18" charset="-128"/>
                <a:ea typeface="UD デジタル 教科書体 NK-R" panose="02020400000000000000" pitchFamily="18" charset="-128"/>
              </a:rPr>
              <a:t>MoQ</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cxnSp>
        <p:nvCxnSpPr>
          <p:cNvPr id="49" name="直線矢印コネクタ 48">
            <a:extLst>
              <a:ext uri="{FF2B5EF4-FFF2-40B4-BE49-F238E27FC236}">
                <a16:creationId xmlns:a16="http://schemas.microsoft.com/office/drawing/2014/main" id="{3D321D89-3426-4F4E-9025-29F033C090DA}"/>
              </a:ext>
            </a:extLst>
          </p:cNvPr>
          <p:cNvCxnSpPr>
            <a:cxnSpLocks/>
            <a:endCxn id="114" idx="0"/>
          </p:cNvCxnSpPr>
          <p:nvPr/>
        </p:nvCxnSpPr>
        <p:spPr>
          <a:xfrm>
            <a:off x="4677138" y="2894502"/>
            <a:ext cx="3649" cy="873506"/>
          </a:xfrm>
          <a:prstGeom prst="straightConnector1">
            <a:avLst/>
          </a:prstGeom>
          <a:ln w="571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0" name="四角形: 角を丸くする 3">
            <a:extLst>
              <a:ext uri="{FF2B5EF4-FFF2-40B4-BE49-F238E27FC236}">
                <a16:creationId xmlns:a16="http://schemas.microsoft.com/office/drawing/2014/main" id="{1F24C8D9-B282-274F-BE2D-F71241FD8364}"/>
              </a:ext>
            </a:extLst>
          </p:cNvPr>
          <p:cNvSpPr/>
          <p:nvPr/>
        </p:nvSpPr>
        <p:spPr>
          <a:xfrm>
            <a:off x="3964936" y="3124598"/>
            <a:ext cx="1424404" cy="385668"/>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latin typeface="UD デジタル 教科書体 NK-R" panose="02020400000000000000" pitchFamily="18" charset="-128"/>
                <a:ea typeface="UD デジタル 教科書体 NK-R" panose="02020400000000000000" pitchFamily="18" charset="-128"/>
              </a:rPr>
              <a:t>L-BFGS</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sp>
        <p:nvSpPr>
          <p:cNvPr id="64" name="四角形: 角を丸くする 3">
            <a:extLst>
              <a:ext uri="{FF2B5EF4-FFF2-40B4-BE49-F238E27FC236}">
                <a16:creationId xmlns:a16="http://schemas.microsoft.com/office/drawing/2014/main" id="{970D043C-A4AF-4D47-8198-2481F750D966}"/>
              </a:ext>
            </a:extLst>
          </p:cNvPr>
          <p:cNvSpPr/>
          <p:nvPr/>
        </p:nvSpPr>
        <p:spPr>
          <a:xfrm>
            <a:off x="6042003" y="3765225"/>
            <a:ext cx="1900410" cy="424852"/>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latin typeface="UD デジタル 教科書体 NK-R" panose="02020400000000000000" pitchFamily="18" charset="-128"/>
                <a:ea typeface="UD デジタル 教科書体 NK-R" panose="02020400000000000000" pitchFamily="18" charset="-128"/>
              </a:rPr>
              <a:t>ML-NAQ/</a:t>
            </a:r>
            <a:r>
              <a:rPr lang="en-US" altLang="ja-JP" dirty="0" err="1">
                <a:latin typeface="UD デジタル 教科書体 NK-R" panose="02020400000000000000" pitchFamily="18" charset="-128"/>
                <a:ea typeface="UD デジタル 教科書体 NK-R" panose="02020400000000000000" pitchFamily="18" charset="-128"/>
              </a:rPr>
              <a:t>MoQ</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cxnSp>
        <p:nvCxnSpPr>
          <p:cNvPr id="65" name="直線矢印コネクタ 64">
            <a:extLst>
              <a:ext uri="{FF2B5EF4-FFF2-40B4-BE49-F238E27FC236}">
                <a16:creationId xmlns:a16="http://schemas.microsoft.com/office/drawing/2014/main" id="{943FC3A9-303A-4FF7-8041-FB276C749298}"/>
              </a:ext>
            </a:extLst>
          </p:cNvPr>
          <p:cNvCxnSpPr>
            <a:cxnSpLocks/>
            <a:stCxn id="114" idx="3"/>
            <a:endCxn id="101" idx="1"/>
          </p:cNvCxnSpPr>
          <p:nvPr/>
        </p:nvCxnSpPr>
        <p:spPr>
          <a:xfrm flipV="1">
            <a:off x="5386396" y="3317432"/>
            <a:ext cx="669799" cy="663002"/>
          </a:xfrm>
          <a:prstGeom prst="straightConnector1">
            <a:avLst/>
          </a:prstGeom>
          <a:ln w="571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線矢印コネクタ 67">
            <a:extLst>
              <a:ext uri="{FF2B5EF4-FFF2-40B4-BE49-F238E27FC236}">
                <a16:creationId xmlns:a16="http://schemas.microsoft.com/office/drawing/2014/main" id="{09CF7AD7-4DAA-47D4-8602-B36A7A4E1911}"/>
              </a:ext>
            </a:extLst>
          </p:cNvPr>
          <p:cNvCxnSpPr>
            <a:cxnSpLocks/>
            <a:stCxn id="114" idx="3"/>
            <a:endCxn id="64" idx="1"/>
          </p:cNvCxnSpPr>
          <p:nvPr/>
        </p:nvCxnSpPr>
        <p:spPr>
          <a:xfrm flipV="1">
            <a:off x="5386396" y="3977651"/>
            <a:ext cx="655607" cy="2783"/>
          </a:xfrm>
          <a:prstGeom prst="straightConnector1">
            <a:avLst/>
          </a:prstGeom>
          <a:ln w="571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9" name="テキスト ボックス 98">
            <a:extLst>
              <a:ext uri="{FF2B5EF4-FFF2-40B4-BE49-F238E27FC236}">
                <a16:creationId xmlns:a16="http://schemas.microsoft.com/office/drawing/2014/main" id="{F2EF054A-67BF-8F41-A21E-D89FDEFF48E3}"/>
              </a:ext>
            </a:extLst>
          </p:cNvPr>
          <p:cNvSpPr txBox="1"/>
          <p:nvPr/>
        </p:nvSpPr>
        <p:spPr>
          <a:xfrm>
            <a:off x="4660696" y="4062665"/>
            <a:ext cx="1220224" cy="512191"/>
          </a:xfrm>
          <a:prstGeom prst="rect">
            <a:avLst/>
          </a:prstGeom>
          <a:noFill/>
          <a:effectLst>
            <a:softEdge rad="63500"/>
          </a:effectLst>
        </p:spPr>
        <p:txBody>
          <a:bodyPr wrap="square" rtlCol="0">
            <a:spAutoFit/>
          </a:bodyPr>
          <a:lstStyle/>
          <a:p>
            <a:pPr>
              <a:lnSpc>
                <a:spcPct val="150000"/>
              </a:lnSpc>
            </a:pPr>
            <a:r>
              <a:rPr kumimoji="1" lang="en-US" altLang="ja-JP" sz="2000" dirty="0">
                <a:ln w="3175">
                  <a:noFill/>
                </a:ln>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a:t>
            </a:r>
            <a:r>
              <a:rPr kumimoji="1" lang="ja-JP" altLang="en-US" sz="2000" dirty="0">
                <a:ln w="3175">
                  <a:noFill/>
                </a:ln>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慣性項</a:t>
            </a:r>
          </a:p>
        </p:txBody>
      </p:sp>
      <p:cxnSp>
        <p:nvCxnSpPr>
          <p:cNvPr id="103" name="直線コネクタ 102">
            <a:extLst>
              <a:ext uri="{FF2B5EF4-FFF2-40B4-BE49-F238E27FC236}">
                <a16:creationId xmlns:a16="http://schemas.microsoft.com/office/drawing/2014/main" id="{B456E445-6F4A-8040-A85B-D1BB8F614468}"/>
              </a:ext>
            </a:extLst>
          </p:cNvPr>
          <p:cNvCxnSpPr>
            <a:cxnSpLocks/>
          </p:cNvCxnSpPr>
          <p:nvPr/>
        </p:nvCxnSpPr>
        <p:spPr>
          <a:xfrm flipH="1">
            <a:off x="4645288" y="2882577"/>
            <a:ext cx="4185509" cy="1"/>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76" name="テキスト ボックス 75">
            <a:extLst>
              <a:ext uri="{FF2B5EF4-FFF2-40B4-BE49-F238E27FC236}">
                <a16:creationId xmlns:a16="http://schemas.microsoft.com/office/drawing/2014/main" id="{B5B47022-FD62-41B5-BA88-A7AA60BAF07E}"/>
              </a:ext>
            </a:extLst>
          </p:cNvPr>
          <p:cNvSpPr txBox="1"/>
          <p:nvPr/>
        </p:nvSpPr>
        <p:spPr>
          <a:xfrm>
            <a:off x="2565616" y="2883020"/>
            <a:ext cx="1469156" cy="470257"/>
          </a:xfrm>
          <a:prstGeom prst="rect">
            <a:avLst/>
          </a:prstGeom>
          <a:noFill/>
          <a:effectLst>
            <a:softEdge rad="63500"/>
          </a:effectLst>
        </p:spPr>
        <p:txBody>
          <a:bodyPr wrap="square" rtlCol="0">
            <a:spAutoFit/>
          </a:bodyPr>
          <a:lstStyle/>
          <a:p>
            <a:pPr>
              <a:lnSpc>
                <a:spcPct val="150000"/>
              </a:lnSpc>
            </a:pPr>
            <a:r>
              <a:rPr kumimoji="1" lang="en-US" altLang="ja-JP" dirty="0">
                <a:ln w="3175">
                  <a:noFill/>
                </a:ln>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+Adaptive</a:t>
            </a:r>
            <a:endParaRPr kumimoji="1" lang="ja-JP" altLang="en-US" dirty="0">
              <a:ln w="3175">
                <a:noFill/>
              </a:ln>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p:sp>
        <p:nvSpPr>
          <p:cNvPr id="77" name="テキスト ボックス 76">
            <a:extLst>
              <a:ext uri="{FF2B5EF4-FFF2-40B4-BE49-F238E27FC236}">
                <a16:creationId xmlns:a16="http://schemas.microsoft.com/office/drawing/2014/main" id="{17CA0EE9-15A3-41B6-9DCC-67213EB24682}"/>
              </a:ext>
            </a:extLst>
          </p:cNvPr>
          <p:cNvSpPr txBox="1"/>
          <p:nvPr/>
        </p:nvSpPr>
        <p:spPr>
          <a:xfrm>
            <a:off x="522215" y="4482459"/>
            <a:ext cx="1469156" cy="470257"/>
          </a:xfrm>
          <a:prstGeom prst="rect">
            <a:avLst/>
          </a:prstGeom>
          <a:noFill/>
          <a:effectLst>
            <a:softEdge rad="63500"/>
          </a:effectLst>
        </p:spPr>
        <p:txBody>
          <a:bodyPr wrap="square" rtlCol="0">
            <a:spAutoFit/>
          </a:bodyPr>
          <a:lstStyle/>
          <a:p>
            <a:pPr>
              <a:lnSpc>
                <a:spcPct val="150000"/>
              </a:lnSpc>
            </a:pPr>
            <a:r>
              <a:rPr kumimoji="1" lang="en-US" altLang="ja-JP" dirty="0">
                <a:ln w="3175">
                  <a:noFill/>
                </a:ln>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+Adaptive</a:t>
            </a:r>
            <a:endParaRPr kumimoji="1" lang="ja-JP" altLang="en-US" dirty="0">
              <a:ln w="3175">
                <a:noFill/>
              </a:ln>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p:sp>
        <p:nvSpPr>
          <p:cNvPr id="48" name="テキスト ボックス 47">
            <a:extLst>
              <a:ext uri="{FF2B5EF4-FFF2-40B4-BE49-F238E27FC236}">
                <a16:creationId xmlns:a16="http://schemas.microsoft.com/office/drawing/2014/main" id="{5041456E-BE56-4348-883F-A71363BBC301}"/>
              </a:ext>
            </a:extLst>
          </p:cNvPr>
          <p:cNvSpPr txBox="1"/>
          <p:nvPr/>
        </p:nvSpPr>
        <p:spPr>
          <a:xfrm>
            <a:off x="10081901" y="4462021"/>
            <a:ext cx="1220224" cy="512191"/>
          </a:xfrm>
          <a:prstGeom prst="rect">
            <a:avLst/>
          </a:prstGeom>
          <a:noFill/>
          <a:effectLst>
            <a:softEdge rad="63500"/>
          </a:effectLst>
        </p:spPr>
        <p:txBody>
          <a:bodyPr wrap="square" rtlCol="0">
            <a:spAutoFit/>
          </a:bodyPr>
          <a:lstStyle/>
          <a:p>
            <a:pPr>
              <a:lnSpc>
                <a:spcPct val="150000"/>
              </a:lnSpc>
            </a:pPr>
            <a:r>
              <a:rPr kumimoji="1" lang="en-US" altLang="ja-JP" sz="2000" dirty="0">
                <a:ln w="3175">
                  <a:noFill/>
                </a:ln>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a:t>
            </a:r>
            <a:r>
              <a:rPr kumimoji="1" lang="ja-JP" altLang="en-US" sz="2000" dirty="0">
                <a:ln w="3175">
                  <a:noFill/>
                </a:ln>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慣性項</a:t>
            </a:r>
          </a:p>
        </p:txBody>
      </p:sp>
      <p:cxnSp>
        <p:nvCxnSpPr>
          <p:cNvPr id="72" name="直線矢印コネクタ 71">
            <a:extLst>
              <a:ext uri="{FF2B5EF4-FFF2-40B4-BE49-F238E27FC236}">
                <a16:creationId xmlns:a16="http://schemas.microsoft.com/office/drawing/2014/main" id="{D66F1A8A-868A-4DC4-80E7-94DB30366D13}"/>
              </a:ext>
            </a:extLst>
          </p:cNvPr>
          <p:cNvCxnSpPr>
            <a:cxnSpLocks/>
            <a:stCxn id="85" idx="1"/>
            <a:endCxn id="44" idx="3"/>
          </p:cNvCxnSpPr>
          <p:nvPr/>
        </p:nvCxnSpPr>
        <p:spPr>
          <a:xfrm flipH="1">
            <a:off x="7162112" y="2882577"/>
            <a:ext cx="1655985" cy="2646928"/>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5" name="四角形: 角を丸くする 3">
            <a:extLst>
              <a:ext uri="{FF2B5EF4-FFF2-40B4-BE49-F238E27FC236}">
                <a16:creationId xmlns:a16="http://schemas.microsoft.com/office/drawing/2014/main" id="{9A363908-6D7B-2141-A2DB-C38DE617BF03}"/>
              </a:ext>
            </a:extLst>
          </p:cNvPr>
          <p:cNvSpPr/>
          <p:nvPr/>
        </p:nvSpPr>
        <p:spPr>
          <a:xfrm>
            <a:off x="8818097" y="2670151"/>
            <a:ext cx="2392823" cy="424852"/>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a:latin typeface="UD デジタル 教科書体 NK-R" panose="02020400000000000000" pitchFamily="18" charset="-128"/>
                <a:ea typeface="UD デジタル 教科書体 NK-R" panose="02020400000000000000" pitchFamily="18" charset="-128"/>
              </a:rPr>
              <a:t>ニュートン法</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spTree>
    <p:extLst>
      <p:ext uri="{BB962C8B-B14F-4D97-AF65-F5344CB8AC3E}">
        <p14:creationId xmlns:p14="http://schemas.microsoft.com/office/powerpoint/2010/main" val="29148058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6729EAF-F2DF-4756-B564-3082D5989910}"/>
              </a:ext>
            </a:extLst>
          </p:cNvPr>
          <p:cNvSpPr>
            <a:spLocks noGrp="1"/>
          </p:cNvSpPr>
          <p:nvPr>
            <p:ph type="title"/>
          </p:nvPr>
        </p:nvSpPr>
        <p:spPr/>
        <p:txBody>
          <a:bodyPr/>
          <a:lstStyle/>
          <a:p>
            <a:r>
              <a:rPr kumimoji="1" lang="ja-JP" altLang="en-US" dirty="0"/>
              <a:t>はじめに</a:t>
            </a:r>
          </a:p>
        </p:txBody>
      </p:sp>
      <p:sp>
        <p:nvSpPr>
          <p:cNvPr id="3" name="コンテンツ プレースホルダー 2">
            <a:extLst>
              <a:ext uri="{FF2B5EF4-FFF2-40B4-BE49-F238E27FC236}">
                <a16:creationId xmlns:a16="http://schemas.microsoft.com/office/drawing/2014/main" id="{6C7FBBED-7F1C-437F-A6D9-1235F28A5DC3}"/>
              </a:ext>
            </a:extLst>
          </p:cNvPr>
          <p:cNvSpPr>
            <a:spLocks noGrp="1"/>
          </p:cNvSpPr>
          <p:nvPr>
            <p:ph idx="1"/>
          </p:nvPr>
        </p:nvSpPr>
        <p:spPr/>
        <p:txBody>
          <a:bodyPr>
            <a:normAutofit/>
          </a:bodyPr>
          <a:lstStyle/>
          <a:p>
            <a:r>
              <a:rPr kumimoji="1" lang="ja-JP" altLang="en-US" dirty="0"/>
              <a:t>ニュートン法の問題点：</a:t>
            </a:r>
            <a:r>
              <a:rPr kumimoji="1" lang="ja-JP" altLang="en-US" dirty="0">
                <a:solidFill>
                  <a:srgbClr val="C00000"/>
                </a:solidFill>
              </a:rPr>
              <a:t>ヘッセ行列の計算コストが高い</a:t>
            </a:r>
            <a:endParaRPr kumimoji="1" lang="en-US" altLang="ja-JP" dirty="0">
              <a:solidFill>
                <a:srgbClr val="C00000"/>
              </a:solidFill>
            </a:endParaRPr>
          </a:p>
          <a:p>
            <a:pPr marL="0" indent="0">
              <a:buNone/>
            </a:pPr>
            <a:r>
              <a:rPr lang="ja-JP" altLang="en-US" dirty="0"/>
              <a:t>  → この問題の回避のために様々なヘッセ行列の計算を削減した手法が提案される</a:t>
            </a:r>
            <a:endParaRPr lang="en-US" altLang="ja-JP" dirty="0"/>
          </a:p>
          <a:p>
            <a:pPr marL="0" indent="0">
              <a:buNone/>
            </a:pPr>
            <a:endParaRPr kumimoji="1" lang="en-US" altLang="ja-JP" dirty="0"/>
          </a:p>
          <a:p>
            <a:endParaRPr lang="en-US" altLang="ja-JP" dirty="0"/>
          </a:p>
          <a:p>
            <a:endParaRPr lang="en-US" altLang="ja-JP" dirty="0"/>
          </a:p>
        </p:txBody>
      </p:sp>
      <p:sp>
        <p:nvSpPr>
          <p:cNvPr id="5" name="スライド番号プレースホルダー 4">
            <a:extLst>
              <a:ext uri="{FF2B5EF4-FFF2-40B4-BE49-F238E27FC236}">
                <a16:creationId xmlns:a16="http://schemas.microsoft.com/office/drawing/2014/main" id="{900A1CB2-9191-4CDB-B457-9ADDFF33090A}"/>
              </a:ext>
            </a:extLst>
          </p:cNvPr>
          <p:cNvSpPr>
            <a:spLocks noGrp="1"/>
          </p:cNvSpPr>
          <p:nvPr>
            <p:ph type="sldNum" sz="quarter" idx="12"/>
          </p:nvPr>
        </p:nvSpPr>
        <p:spPr/>
        <p:txBody>
          <a:bodyPr/>
          <a:lstStyle/>
          <a:p>
            <a:r>
              <a:rPr kumimoji="1" lang="en-US" altLang="ja-JP" dirty="0"/>
              <a:t>4</a:t>
            </a:r>
            <a:endParaRPr kumimoji="1" lang="ja-JP" altLang="en-US" dirty="0"/>
          </a:p>
        </p:txBody>
      </p:sp>
    </p:spTree>
    <p:extLst>
      <p:ext uri="{BB962C8B-B14F-4D97-AF65-F5344CB8AC3E}">
        <p14:creationId xmlns:p14="http://schemas.microsoft.com/office/powerpoint/2010/main" val="29892247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6729EAF-F2DF-4756-B564-3082D5989910}"/>
              </a:ext>
            </a:extLst>
          </p:cNvPr>
          <p:cNvSpPr>
            <a:spLocks noGrp="1"/>
          </p:cNvSpPr>
          <p:nvPr>
            <p:ph type="title"/>
          </p:nvPr>
        </p:nvSpPr>
        <p:spPr/>
        <p:txBody>
          <a:bodyPr/>
          <a:lstStyle/>
          <a:p>
            <a:r>
              <a:rPr kumimoji="1" lang="ja-JP" altLang="en-US" dirty="0"/>
              <a:t>はじめに</a:t>
            </a:r>
          </a:p>
        </p:txBody>
      </p:sp>
      <p:sp>
        <p:nvSpPr>
          <p:cNvPr id="3" name="コンテンツ プレースホルダー 2">
            <a:extLst>
              <a:ext uri="{FF2B5EF4-FFF2-40B4-BE49-F238E27FC236}">
                <a16:creationId xmlns:a16="http://schemas.microsoft.com/office/drawing/2014/main" id="{6C7FBBED-7F1C-437F-A6D9-1235F28A5DC3}"/>
              </a:ext>
            </a:extLst>
          </p:cNvPr>
          <p:cNvSpPr>
            <a:spLocks noGrp="1"/>
          </p:cNvSpPr>
          <p:nvPr>
            <p:ph idx="1"/>
          </p:nvPr>
        </p:nvSpPr>
        <p:spPr>
          <a:xfrm>
            <a:off x="838200" y="1825625"/>
            <a:ext cx="10515600" cy="4667250"/>
          </a:xfrm>
        </p:spPr>
        <p:txBody>
          <a:bodyPr>
            <a:normAutofit/>
          </a:bodyPr>
          <a:lstStyle/>
          <a:p>
            <a:r>
              <a:rPr kumimoji="1" lang="ja-JP" altLang="en-US" dirty="0"/>
              <a:t>ニュートン法の問題点：</a:t>
            </a:r>
            <a:r>
              <a:rPr kumimoji="1" lang="ja-JP" altLang="en-US" dirty="0">
                <a:solidFill>
                  <a:srgbClr val="C00000"/>
                </a:solidFill>
              </a:rPr>
              <a:t>ヘッセ行列の計算コストが高い</a:t>
            </a:r>
            <a:endParaRPr kumimoji="1" lang="en-US" altLang="ja-JP" dirty="0">
              <a:solidFill>
                <a:srgbClr val="C00000"/>
              </a:solidFill>
            </a:endParaRPr>
          </a:p>
          <a:p>
            <a:pPr marL="0" indent="0">
              <a:buNone/>
            </a:pPr>
            <a:r>
              <a:rPr lang="ja-JP" altLang="en-US" dirty="0"/>
              <a:t>  → この問題の回避のために様々なヘッセ行列の計算を削減した手法が提案される</a:t>
            </a:r>
            <a:endParaRPr lang="en-US" altLang="ja-JP" dirty="0"/>
          </a:p>
          <a:p>
            <a:pPr marL="0" indent="0">
              <a:buNone/>
            </a:pPr>
            <a:endParaRPr kumimoji="1" lang="en-US" altLang="ja-JP" dirty="0"/>
          </a:p>
          <a:p>
            <a:r>
              <a:rPr kumimoji="1" lang="en-US" altLang="ja-JP" dirty="0"/>
              <a:t>Hutchinson</a:t>
            </a:r>
            <a:r>
              <a:rPr kumimoji="1" lang="ja-JP" altLang="en-US" dirty="0"/>
              <a:t>手法</a:t>
            </a:r>
            <a:endParaRPr kumimoji="1" lang="en-US" altLang="ja-JP" dirty="0"/>
          </a:p>
          <a:p>
            <a:pPr marL="0" indent="0">
              <a:buNone/>
            </a:pPr>
            <a:r>
              <a:rPr kumimoji="1" lang="ja-JP" altLang="en-US" dirty="0"/>
              <a:t>　→　行列の対角和を近似する手法</a:t>
            </a:r>
            <a:endParaRPr kumimoji="1" lang="en-US" altLang="ja-JP" dirty="0"/>
          </a:p>
          <a:p>
            <a:pPr marL="0" indent="0">
              <a:buNone/>
            </a:pPr>
            <a:endParaRPr kumimoji="1" lang="en-US" altLang="ja-JP" dirty="0"/>
          </a:p>
          <a:p>
            <a:r>
              <a:rPr lang="en-US" altLang="ja-JP" dirty="0"/>
              <a:t>Hutchinson</a:t>
            </a:r>
            <a:r>
              <a:rPr lang="ja-JP" altLang="en-US" dirty="0"/>
              <a:t>手法に基づく行列対角化手法</a:t>
            </a:r>
            <a:endParaRPr kumimoji="1" lang="en-US" altLang="ja-JP" dirty="0"/>
          </a:p>
          <a:p>
            <a:pPr marL="0" indent="0">
              <a:buNone/>
            </a:pPr>
            <a:r>
              <a:rPr kumimoji="1" lang="ja-JP" altLang="en-US" dirty="0"/>
              <a:t>　→　この手法を使用し</a:t>
            </a:r>
            <a:r>
              <a:rPr kumimoji="1" lang="ja-JP" altLang="en-US" b="1" dirty="0"/>
              <a:t>ヘッセ行列を対角行列に近似</a:t>
            </a:r>
            <a:r>
              <a:rPr kumimoji="1" lang="ja-JP" altLang="en-US" dirty="0"/>
              <a:t>する</a:t>
            </a:r>
            <a:endParaRPr lang="en-US" altLang="ja-JP" dirty="0"/>
          </a:p>
          <a:p>
            <a:endParaRPr lang="en-US" altLang="ja-JP" dirty="0"/>
          </a:p>
        </p:txBody>
      </p:sp>
      <p:sp>
        <p:nvSpPr>
          <p:cNvPr id="5" name="スライド番号プレースホルダー 4">
            <a:extLst>
              <a:ext uri="{FF2B5EF4-FFF2-40B4-BE49-F238E27FC236}">
                <a16:creationId xmlns:a16="http://schemas.microsoft.com/office/drawing/2014/main" id="{900A1CB2-9191-4CDB-B457-9ADDFF33090A}"/>
              </a:ext>
            </a:extLst>
          </p:cNvPr>
          <p:cNvSpPr>
            <a:spLocks noGrp="1"/>
          </p:cNvSpPr>
          <p:nvPr>
            <p:ph type="sldNum" sz="quarter" idx="12"/>
          </p:nvPr>
        </p:nvSpPr>
        <p:spPr/>
        <p:txBody>
          <a:bodyPr/>
          <a:lstStyle/>
          <a:p>
            <a:r>
              <a:rPr kumimoji="1" lang="en-US" altLang="ja-JP" dirty="0"/>
              <a:t>4</a:t>
            </a:r>
            <a:endParaRPr kumimoji="1" lang="ja-JP" altLang="en-US" dirty="0"/>
          </a:p>
        </p:txBody>
      </p:sp>
      <p:cxnSp>
        <p:nvCxnSpPr>
          <p:cNvPr id="11" name="直線コネクタ 10">
            <a:extLst>
              <a:ext uri="{FF2B5EF4-FFF2-40B4-BE49-F238E27FC236}">
                <a16:creationId xmlns:a16="http://schemas.microsoft.com/office/drawing/2014/main" id="{CED97673-D992-354E-927C-D4BAB9279D59}"/>
              </a:ext>
            </a:extLst>
          </p:cNvPr>
          <p:cNvCxnSpPr/>
          <p:nvPr/>
        </p:nvCxnSpPr>
        <p:spPr>
          <a:xfrm>
            <a:off x="794657" y="3481747"/>
            <a:ext cx="10559143" cy="0"/>
          </a:xfrm>
          <a:prstGeom prst="line">
            <a:avLst/>
          </a:prstGeom>
          <a:ln w="38100">
            <a:solidFill>
              <a:schemeClr val="tx1">
                <a:lumMod val="75000"/>
                <a:lumOff val="2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69051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6729EAF-F2DF-4756-B564-3082D5989910}"/>
              </a:ext>
            </a:extLst>
          </p:cNvPr>
          <p:cNvSpPr>
            <a:spLocks noGrp="1"/>
          </p:cNvSpPr>
          <p:nvPr>
            <p:ph type="title"/>
          </p:nvPr>
        </p:nvSpPr>
        <p:spPr/>
        <p:txBody>
          <a:bodyPr/>
          <a:lstStyle/>
          <a:p>
            <a:r>
              <a:rPr kumimoji="1" lang="ja-JP" altLang="en-US" dirty="0"/>
              <a:t>はじめに：提案手法の概要</a:t>
            </a:r>
          </a:p>
        </p:txBody>
      </p:sp>
      <p:sp>
        <p:nvSpPr>
          <p:cNvPr id="3" name="コンテンツ プレースホルダー 2">
            <a:extLst>
              <a:ext uri="{FF2B5EF4-FFF2-40B4-BE49-F238E27FC236}">
                <a16:creationId xmlns:a16="http://schemas.microsoft.com/office/drawing/2014/main" id="{6C7FBBED-7F1C-437F-A6D9-1235F28A5DC3}"/>
              </a:ext>
            </a:extLst>
          </p:cNvPr>
          <p:cNvSpPr>
            <a:spLocks noGrp="1"/>
          </p:cNvSpPr>
          <p:nvPr>
            <p:ph idx="1"/>
          </p:nvPr>
        </p:nvSpPr>
        <p:spPr>
          <a:xfrm>
            <a:off x="836064" y="1499053"/>
            <a:ext cx="10515600" cy="4351338"/>
          </a:xfrm>
        </p:spPr>
        <p:txBody>
          <a:bodyPr>
            <a:normAutofit/>
          </a:bodyPr>
          <a:lstStyle/>
          <a:p>
            <a:r>
              <a:rPr lang="ja-JP" altLang="en-US" dirty="0"/>
              <a:t>提案手法</a:t>
            </a:r>
            <a:endParaRPr lang="en-US" altLang="ja-JP" dirty="0"/>
          </a:p>
          <a:p>
            <a:pPr marL="0" indent="0">
              <a:buNone/>
            </a:pPr>
            <a:r>
              <a:rPr lang="ja-JP" altLang="en-US" dirty="0"/>
              <a:t>　　</a:t>
            </a:r>
            <a:r>
              <a:rPr lang="en-US" altLang="ja-JP" dirty="0"/>
              <a:t>Hutchinson</a:t>
            </a:r>
            <a:r>
              <a:rPr lang="ja-JP" altLang="en-US" dirty="0"/>
              <a:t>手法を応用し行列を対角近似する手法に着目</a:t>
            </a:r>
            <a:endParaRPr lang="en-US" altLang="ja-JP" dirty="0"/>
          </a:p>
          <a:p>
            <a:pPr marL="0" indent="0">
              <a:buNone/>
            </a:pPr>
            <a:r>
              <a:rPr lang="ja-JP" altLang="en-US" dirty="0"/>
              <a:t>　　→ ヘッセ行列を対角近似し</a:t>
            </a:r>
            <a:r>
              <a:rPr lang="ja-JP" altLang="en-US" b="1" dirty="0"/>
              <a:t>計算コストを大幅に削減</a:t>
            </a:r>
            <a:endParaRPr lang="en-US" altLang="ja-JP" b="1" dirty="0"/>
          </a:p>
          <a:p>
            <a:endParaRPr lang="en-US" altLang="ja-JP" dirty="0"/>
          </a:p>
        </p:txBody>
      </p:sp>
      <p:sp>
        <p:nvSpPr>
          <p:cNvPr id="5" name="スライド番号プレースホルダー 4">
            <a:extLst>
              <a:ext uri="{FF2B5EF4-FFF2-40B4-BE49-F238E27FC236}">
                <a16:creationId xmlns:a16="http://schemas.microsoft.com/office/drawing/2014/main" id="{900A1CB2-9191-4CDB-B457-9ADDFF33090A}"/>
              </a:ext>
            </a:extLst>
          </p:cNvPr>
          <p:cNvSpPr>
            <a:spLocks noGrp="1"/>
          </p:cNvSpPr>
          <p:nvPr>
            <p:ph type="sldNum" sz="quarter" idx="12"/>
          </p:nvPr>
        </p:nvSpPr>
        <p:spPr/>
        <p:txBody>
          <a:bodyPr/>
          <a:lstStyle/>
          <a:p>
            <a:r>
              <a:rPr kumimoji="1" lang="en-US" altLang="ja-JP" dirty="0"/>
              <a:t>5</a:t>
            </a:r>
            <a:endParaRPr kumimoji="1" lang="ja-JP" altLang="en-US" dirty="0"/>
          </a:p>
        </p:txBody>
      </p:sp>
      <p:grpSp>
        <p:nvGrpSpPr>
          <p:cNvPr id="9" name="グループ化 8">
            <a:extLst>
              <a:ext uri="{FF2B5EF4-FFF2-40B4-BE49-F238E27FC236}">
                <a16:creationId xmlns:a16="http://schemas.microsoft.com/office/drawing/2014/main" id="{DB72A1EB-E425-7440-A6D7-BA1E09E5BC93}"/>
              </a:ext>
            </a:extLst>
          </p:cNvPr>
          <p:cNvGrpSpPr/>
          <p:nvPr/>
        </p:nvGrpSpPr>
        <p:grpSpPr>
          <a:xfrm>
            <a:off x="991763" y="5017949"/>
            <a:ext cx="10231408" cy="660335"/>
            <a:chOff x="999221" y="5333852"/>
            <a:chExt cx="10231408" cy="660335"/>
          </a:xfrm>
        </p:grpSpPr>
        <p:sp>
          <p:nvSpPr>
            <p:cNvPr id="10" name="四角形: 角を丸くする 3">
              <a:extLst>
                <a:ext uri="{FF2B5EF4-FFF2-40B4-BE49-F238E27FC236}">
                  <a16:creationId xmlns:a16="http://schemas.microsoft.com/office/drawing/2014/main" id="{90408F8A-9CDD-6148-8DBE-880E318D9024}"/>
                </a:ext>
              </a:extLst>
            </p:cNvPr>
            <p:cNvSpPr/>
            <p:nvPr/>
          </p:nvSpPr>
          <p:spPr>
            <a:xfrm>
              <a:off x="999221" y="5333852"/>
              <a:ext cx="4585138" cy="660335"/>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spc="-200" dirty="0">
                  <a:latin typeface="UD デジタル 教科書体 NK-R" panose="02020400000000000000" pitchFamily="18" charset="-128"/>
                  <a:ea typeface="UD デジタル 教科書体 NK-R" panose="02020400000000000000" pitchFamily="18" charset="-128"/>
                </a:rPr>
                <a:t>Hutchinson</a:t>
              </a:r>
              <a:r>
                <a:rPr kumimoji="1" lang="ja-JP" altLang="en-US" sz="2000" spc="-200" dirty="0">
                  <a:latin typeface="UD デジタル 教科書体 NK-R" panose="02020400000000000000" pitchFamily="18" charset="-128"/>
                  <a:ea typeface="UD デジタル 教科書体 NK-R" panose="02020400000000000000" pitchFamily="18" charset="-128"/>
                </a:rPr>
                <a:t>手法を応用した行列対角化手法</a:t>
              </a:r>
            </a:p>
          </p:txBody>
        </p:sp>
        <p:sp>
          <p:nvSpPr>
            <p:cNvPr id="11" name="四角形: 角を丸くする 5">
              <a:extLst>
                <a:ext uri="{FF2B5EF4-FFF2-40B4-BE49-F238E27FC236}">
                  <a16:creationId xmlns:a16="http://schemas.microsoft.com/office/drawing/2014/main" id="{3B752C44-7489-E547-95BF-8456432E9905}"/>
                </a:ext>
              </a:extLst>
            </p:cNvPr>
            <p:cNvSpPr/>
            <p:nvPr/>
          </p:nvSpPr>
          <p:spPr>
            <a:xfrm>
              <a:off x="6645491" y="5333852"/>
              <a:ext cx="4585138" cy="660335"/>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000" dirty="0">
                  <a:latin typeface="UD デジタル 教科書体 NK-R" panose="02020400000000000000" pitchFamily="18" charset="-128"/>
                  <a:ea typeface="UD デジタル 教科書体 NK-R" panose="02020400000000000000" pitchFamily="18" charset="-128"/>
                </a:rPr>
                <a:t>ニュートン</a:t>
              </a:r>
              <a:r>
                <a:rPr kumimoji="1" lang="ja-JP" altLang="en-US" sz="2000" dirty="0">
                  <a:latin typeface="UD デジタル 教科書体 NK-R" panose="02020400000000000000" pitchFamily="18" charset="-128"/>
                  <a:ea typeface="UD デジタル 教科書体 NK-R" panose="02020400000000000000" pitchFamily="18" charset="-128"/>
                </a:rPr>
                <a:t>法</a:t>
              </a:r>
            </a:p>
          </p:txBody>
        </p:sp>
        <p:sp>
          <p:nvSpPr>
            <p:cNvPr id="12" name="テキスト ボックス 11">
              <a:extLst>
                <a:ext uri="{FF2B5EF4-FFF2-40B4-BE49-F238E27FC236}">
                  <a16:creationId xmlns:a16="http://schemas.microsoft.com/office/drawing/2014/main" id="{48B66B8A-20E0-EB4C-AA7D-6A92A41554E7}"/>
                </a:ext>
              </a:extLst>
            </p:cNvPr>
            <p:cNvSpPr txBox="1"/>
            <p:nvPr/>
          </p:nvSpPr>
          <p:spPr>
            <a:xfrm>
              <a:off x="5745380" y="5395951"/>
              <a:ext cx="727514" cy="584775"/>
            </a:xfrm>
            <a:prstGeom prst="rect">
              <a:avLst/>
            </a:prstGeom>
            <a:solidFill>
              <a:srgbClr val="E4E4E4"/>
            </a:solidFill>
          </p:spPr>
          <p:txBody>
            <a:bodyPr wrap="square" rtlCol="0">
              <a:spAutoFit/>
            </a:bodyPr>
            <a:lstStyle/>
            <a:p>
              <a:pPr algn="ctr"/>
              <a:r>
                <a:rPr kumimoji="1" lang="ja-JP" altLang="en-US" sz="32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a:t>
              </a:r>
            </a:p>
          </p:txBody>
        </p:sp>
      </p:grpSp>
      <p:sp>
        <p:nvSpPr>
          <p:cNvPr id="13" name="コンテンツ プレースホルダー 2">
            <a:extLst>
              <a:ext uri="{FF2B5EF4-FFF2-40B4-BE49-F238E27FC236}">
                <a16:creationId xmlns:a16="http://schemas.microsoft.com/office/drawing/2014/main" id="{5132780A-DB1A-C247-AFD7-0E626D91F3A6}"/>
              </a:ext>
            </a:extLst>
          </p:cNvPr>
          <p:cNvSpPr txBox="1">
            <a:spLocks/>
          </p:cNvSpPr>
          <p:nvPr/>
        </p:nvSpPr>
        <p:spPr>
          <a:xfrm>
            <a:off x="152400" y="5943601"/>
            <a:ext cx="11887200" cy="63137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None/>
            </a:pPr>
            <a:r>
              <a:rPr lang="en-US" altLang="ja-JP" sz="4000" u="sng" dirty="0">
                <a:solidFill>
                  <a:srgbClr val="C00000"/>
                </a:solidFill>
              </a:rPr>
              <a:t>H</a:t>
            </a:r>
            <a:r>
              <a:rPr lang="en-US" altLang="ja-JP" sz="4000" u="sng" dirty="0"/>
              <a:t>utchinson </a:t>
            </a:r>
            <a:r>
              <a:rPr lang="en-US" altLang="ja-JP" sz="4000" u="sng" dirty="0">
                <a:solidFill>
                  <a:srgbClr val="C00000"/>
                </a:solidFill>
              </a:rPr>
              <a:t>d</a:t>
            </a:r>
            <a:r>
              <a:rPr lang="en-US" altLang="ja-JP" sz="4000" u="sng" dirty="0"/>
              <a:t>iagonalized </a:t>
            </a:r>
            <a:r>
              <a:rPr lang="en-US" altLang="ja-JP" sz="4000" u="sng" dirty="0">
                <a:solidFill>
                  <a:srgbClr val="C00000"/>
                </a:solidFill>
              </a:rPr>
              <a:t>N</a:t>
            </a:r>
            <a:r>
              <a:rPr lang="en-US" altLang="ja-JP" sz="4000" u="sng" dirty="0"/>
              <a:t>ewton method(</a:t>
            </a:r>
            <a:r>
              <a:rPr lang="en-US" altLang="ja-JP" sz="4000" u="sng" dirty="0" err="1"/>
              <a:t>HdN</a:t>
            </a:r>
            <a:r>
              <a:rPr lang="en-US" altLang="ja-JP" sz="4000" u="sng" dirty="0"/>
              <a:t>)</a:t>
            </a:r>
          </a:p>
        </p:txBody>
      </p:sp>
      <p:grpSp>
        <p:nvGrpSpPr>
          <p:cNvPr id="43" name="グループ化 42">
            <a:extLst>
              <a:ext uri="{FF2B5EF4-FFF2-40B4-BE49-F238E27FC236}">
                <a16:creationId xmlns:a16="http://schemas.microsoft.com/office/drawing/2014/main" id="{E9D56CD3-327A-264D-8193-81B96DB43BBF}"/>
              </a:ext>
            </a:extLst>
          </p:cNvPr>
          <p:cNvGrpSpPr/>
          <p:nvPr/>
        </p:nvGrpSpPr>
        <p:grpSpPr>
          <a:xfrm>
            <a:off x="790772" y="3010129"/>
            <a:ext cx="2319094" cy="1827605"/>
            <a:chOff x="2322930" y="3353671"/>
            <a:chExt cx="2319094" cy="1827605"/>
          </a:xfrm>
        </p:grpSpPr>
        <p:grpSp>
          <p:nvGrpSpPr>
            <p:cNvPr id="25" name="グループ化 24">
              <a:extLst>
                <a:ext uri="{FF2B5EF4-FFF2-40B4-BE49-F238E27FC236}">
                  <a16:creationId xmlns:a16="http://schemas.microsoft.com/office/drawing/2014/main" id="{B28906CA-0D1F-2643-BFBA-49A31F4C0195}"/>
                </a:ext>
              </a:extLst>
            </p:cNvPr>
            <p:cNvGrpSpPr/>
            <p:nvPr/>
          </p:nvGrpSpPr>
          <p:grpSpPr>
            <a:xfrm>
              <a:off x="2652046" y="3451928"/>
              <a:ext cx="1700918" cy="1676670"/>
              <a:chOff x="1138989" y="3968713"/>
              <a:chExt cx="1700918" cy="1676670"/>
            </a:xfrm>
          </p:grpSpPr>
          <p:sp>
            <p:nvSpPr>
              <p:cNvPr id="27" name="正方形/長方形 26">
                <a:extLst>
                  <a:ext uri="{FF2B5EF4-FFF2-40B4-BE49-F238E27FC236}">
                    <a16:creationId xmlns:a16="http://schemas.microsoft.com/office/drawing/2014/main" id="{721AFCC1-10B1-414F-BEAA-5094D4124117}"/>
                  </a:ext>
                </a:extLst>
              </p:cNvPr>
              <p:cNvSpPr/>
              <p:nvPr/>
            </p:nvSpPr>
            <p:spPr>
              <a:xfrm>
                <a:off x="1138989" y="3974039"/>
                <a:ext cx="319421" cy="319421"/>
              </a:xfrm>
              <a:prstGeom prst="rect">
                <a:avLst/>
              </a:prstGeom>
              <a:solidFill>
                <a:schemeClr val="accent6">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a:extLst>
                  <a:ext uri="{FF2B5EF4-FFF2-40B4-BE49-F238E27FC236}">
                    <a16:creationId xmlns:a16="http://schemas.microsoft.com/office/drawing/2014/main" id="{AF2CECA8-6947-2E44-8BB6-9AD55205216E}"/>
                  </a:ext>
                </a:extLst>
              </p:cNvPr>
              <p:cNvSpPr/>
              <p:nvPr/>
            </p:nvSpPr>
            <p:spPr>
              <a:xfrm>
                <a:off x="1599488" y="3974039"/>
                <a:ext cx="319421" cy="319421"/>
              </a:xfrm>
              <a:prstGeom prst="rect">
                <a:avLst/>
              </a:prstGeom>
              <a:solidFill>
                <a:schemeClr val="accent6">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 name="正方形/長方形 28">
                <a:extLst>
                  <a:ext uri="{FF2B5EF4-FFF2-40B4-BE49-F238E27FC236}">
                    <a16:creationId xmlns:a16="http://schemas.microsoft.com/office/drawing/2014/main" id="{E61BA93F-909A-BA41-901C-C135B0DF4FA8}"/>
                  </a:ext>
                </a:extLst>
              </p:cNvPr>
              <p:cNvSpPr/>
              <p:nvPr/>
            </p:nvSpPr>
            <p:spPr>
              <a:xfrm>
                <a:off x="2059987" y="3968714"/>
                <a:ext cx="319421" cy="319421"/>
              </a:xfrm>
              <a:prstGeom prst="rect">
                <a:avLst/>
              </a:prstGeom>
              <a:solidFill>
                <a:schemeClr val="accent6">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a:extLst>
                  <a:ext uri="{FF2B5EF4-FFF2-40B4-BE49-F238E27FC236}">
                    <a16:creationId xmlns:a16="http://schemas.microsoft.com/office/drawing/2014/main" id="{F456AC71-7C76-2846-80C6-590F37C3FC9A}"/>
                  </a:ext>
                </a:extLst>
              </p:cNvPr>
              <p:cNvSpPr/>
              <p:nvPr/>
            </p:nvSpPr>
            <p:spPr>
              <a:xfrm>
                <a:off x="2520486" y="3968713"/>
                <a:ext cx="319421" cy="319421"/>
              </a:xfrm>
              <a:prstGeom prst="rect">
                <a:avLst/>
              </a:prstGeom>
              <a:solidFill>
                <a:schemeClr val="accent6">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正方形/長方形 30">
                <a:extLst>
                  <a:ext uri="{FF2B5EF4-FFF2-40B4-BE49-F238E27FC236}">
                    <a16:creationId xmlns:a16="http://schemas.microsoft.com/office/drawing/2014/main" id="{DEF73813-4058-8941-A2DC-B5CD3F9049CA}"/>
                  </a:ext>
                </a:extLst>
              </p:cNvPr>
              <p:cNvSpPr/>
              <p:nvPr/>
            </p:nvSpPr>
            <p:spPr>
              <a:xfrm>
                <a:off x="1138989" y="4424680"/>
                <a:ext cx="319421" cy="319421"/>
              </a:xfrm>
              <a:prstGeom prst="rect">
                <a:avLst/>
              </a:prstGeom>
              <a:solidFill>
                <a:schemeClr val="accent5">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正方形/長方形 31">
                <a:extLst>
                  <a:ext uri="{FF2B5EF4-FFF2-40B4-BE49-F238E27FC236}">
                    <a16:creationId xmlns:a16="http://schemas.microsoft.com/office/drawing/2014/main" id="{3E435180-1827-6540-98F7-2D96EC4F97F1}"/>
                  </a:ext>
                </a:extLst>
              </p:cNvPr>
              <p:cNvSpPr/>
              <p:nvPr/>
            </p:nvSpPr>
            <p:spPr>
              <a:xfrm>
                <a:off x="1599488" y="4424680"/>
                <a:ext cx="319421" cy="319421"/>
              </a:xfrm>
              <a:prstGeom prst="rect">
                <a:avLst/>
              </a:prstGeom>
              <a:solidFill>
                <a:schemeClr val="accent5">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正方形/長方形 32">
                <a:extLst>
                  <a:ext uri="{FF2B5EF4-FFF2-40B4-BE49-F238E27FC236}">
                    <a16:creationId xmlns:a16="http://schemas.microsoft.com/office/drawing/2014/main" id="{84420AE3-8D31-D147-B632-7CE0E95EF34B}"/>
                  </a:ext>
                </a:extLst>
              </p:cNvPr>
              <p:cNvSpPr/>
              <p:nvPr/>
            </p:nvSpPr>
            <p:spPr>
              <a:xfrm>
                <a:off x="2059987" y="4419355"/>
                <a:ext cx="319421" cy="319421"/>
              </a:xfrm>
              <a:prstGeom prst="rect">
                <a:avLst/>
              </a:prstGeom>
              <a:solidFill>
                <a:schemeClr val="accent5">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正方形/長方形 33">
                <a:extLst>
                  <a:ext uri="{FF2B5EF4-FFF2-40B4-BE49-F238E27FC236}">
                    <a16:creationId xmlns:a16="http://schemas.microsoft.com/office/drawing/2014/main" id="{D10ED0C2-4932-C54C-8071-5F1209C83CE7}"/>
                  </a:ext>
                </a:extLst>
              </p:cNvPr>
              <p:cNvSpPr/>
              <p:nvPr/>
            </p:nvSpPr>
            <p:spPr>
              <a:xfrm>
                <a:off x="2520486" y="4419354"/>
                <a:ext cx="319421" cy="319421"/>
              </a:xfrm>
              <a:prstGeom prst="rect">
                <a:avLst/>
              </a:prstGeom>
              <a:solidFill>
                <a:schemeClr val="accent5">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正方形/長方形 34">
                <a:extLst>
                  <a:ext uri="{FF2B5EF4-FFF2-40B4-BE49-F238E27FC236}">
                    <a16:creationId xmlns:a16="http://schemas.microsoft.com/office/drawing/2014/main" id="{C0836467-CA9D-F244-BBD0-3AE00A4F82FB}"/>
                  </a:ext>
                </a:extLst>
              </p:cNvPr>
              <p:cNvSpPr/>
              <p:nvPr/>
            </p:nvSpPr>
            <p:spPr>
              <a:xfrm>
                <a:off x="1138989" y="4875321"/>
                <a:ext cx="319421" cy="319421"/>
              </a:xfrm>
              <a:prstGeom prst="rect">
                <a:avLst/>
              </a:prstGeom>
              <a:solidFill>
                <a:schemeClr val="accent4">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正方形/長方形 35">
                <a:extLst>
                  <a:ext uri="{FF2B5EF4-FFF2-40B4-BE49-F238E27FC236}">
                    <a16:creationId xmlns:a16="http://schemas.microsoft.com/office/drawing/2014/main" id="{F29FE585-C559-0045-8CA9-43AD0C14A50A}"/>
                  </a:ext>
                </a:extLst>
              </p:cNvPr>
              <p:cNvSpPr/>
              <p:nvPr/>
            </p:nvSpPr>
            <p:spPr>
              <a:xfrm>
                <a:off x="1599488" y="4875321"/>
                <a:ext cx="319421" cy="319421"/>
              </a:xfrm>
              <a:prstGeom prst="rect">
                <a:avLst/>
              </a:prstGeom>
              <a:solidFill>
                <a:schemeClr val="accent4">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B7821739-E495-DE4E-9E73-CCC118F4B841}"/>
                  </a:ext>
                </a:extLst>
              </p:cNvPr>
              <p:cNvSpPr/>
              <p:nvPr/>
            </p:nvSpPr>
            <p:spPr>
              <a:xfrm>
                <a:off x="2059987" y="4869996"/>
                <a:ext cx="319421" cy="319421"/>
              </a:xfrm>
              <a:prstGeom prst="rect">
                <a:avLst/>
              </a:prstGeom>
              <a:solidFill>
                <a:schemeClr val="accent4">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a:extLst>
                  <a:ext uri="{FF2B5EF4-FFF2-40B4-BE49-F238E27FC236}">
                    <a16:creationId xmlns:a16="http://schemas.microsoft.com/office/drawing/2014/main" id="{6E69370B-D9CB-7F4C-9B8C-0FB3C1CC7B11}"/>
                  </a:ext>
                </a:extLst>
              </p:cNvPr>
              <p:cNvSpPr/>
              <p:nvPr/>
            </p:nvSpPr>
            <p:spPr>
              <a:xfrm>
                <a:off x="2520486" y="4869995"/>
                <a:ext cx="319421" cy="319421"/>
              </a:xfrm>
              <a:prstGeom prst="rect">
                <a:avLst/>
              </a:prstGeom>
              <a:solidFill>
                <a:schemeClr val="accent4">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正方形/長方形 38">
                <a:extLst>
                  <a:ext uri="{FF2B5EF4-FFF2-40B4-BE49-F238E27FC236}">
                    <a16:creationId xmlns:a16="http://schemas.microsoft.com/office/drawing/2014/main" id="{5F457260-05D0-5F42-AC10-7A06C0977260}"/>
                  </a:ext>
                </a:extLst>
              </p:cNvPr>
              <p:cNvSpPr/>
              <p:nvPr/>
            </p:nvSpPr>
            <p:spPr>
              <a:xfrm>
                <a:off x="1138989" y="5325962"/>
                <a:ext cx="319421" cy="319421"/>
              </a:xfrm>
              <a:prstGeom prst="rect">
                <a:avLst/>
              </a:prstGeom>
              <a:solidFill>
                <a:schemeClr val="accent2">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正方形/長方形 39">
                <a:extLst>
                  <a:ext uri="{FF2B5EF4-FFF2-40B4-BE49-F238E27FC236}">
                    <a16:creationId xmlns:a16="http://schemas.microsoft.com/office/drawing/2014/main" id="{531B49BD-D91F-944B-AAB5-179AEB8F8F6B}"/>
                  </a:ext>
                </a:extLst>
              </p:cNvPr>
              <p:cNvSpPr/>
              <p:nvPr/>
            </p:nvSpPr>
            <p:spPr>
              <a:xfrm>
                <a:off x="1599488" y="5325962"/>
                <a:ext cx="319421" cy="319421"/>
              </a:xfrm>
              <a:prstGeom prst="rect">
                <a:avLst/>
              </a:prstGeom>
              <a:solidFill>
                <a:schemeClr val="accent2">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正方形/長方形 40">
                <a:extLst>
                  <a:ext uri="{FF2B5EF4-FFF2-40B4-BE49-F238E27FC236}">
                    <a16:creationId xmlns:a16="http://schemas.microsoft.com/office/drawing/2014/main" id="{D8D97905-D4C6-5642-9F7E-80E90A53E467}"/>
                  </a:ext>
                </a:extLst>
              </p:cNvPr>
              <p:cNvSpPr/>
              <p:nvPr/>
            </p:nvSpPr>
            <p:spPr>
              <a:xfrm>
                <a:off x="2059987" y="5320637"/>
                <a:ext cx="319421" cy="319421"/>
              </a:xfrm>
              <a:prstGeom prst="rect">
                <a:avLst/>
              </a:prstGeom>
              <a:solidFill>
                <a:schemeClr val="accent2">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正方形/長方形 41">
                <a:extLst>
                  <a:ext uri="{FF2B5EF4-FFF2-40B4-BE49-F238E27FC236}">
                    <a16:creationId xmlns:a16="http://schemas.microsoft.com/office/drawing/2014/main" id="{1E1571FF-C713-604D-82AC-6A44258B45C3}"/>
                  </a:ext>
                </a:extLst>
              </p:cNvPr>
              <p:cNvSpPr/>
              <p:nvPr/>
            </p:nvSpPr>
            <p:spPr>
              <a:xfrm>
                <a:off x="2520486" y="5320636"/>
                <a:ext cx="319421" cy="319421"/>
              </a:xfrm>
              <a:prstGeom prst="rect">
                <a:avLst/>
              </a:prstGeom>
              <a:solidFill>
                <a:schemeClr val="accent2">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大かっこ 23">
              <a:extLst>
                <a:ext uri="{FF2B5EF4-FFF2-40B4-BE49-F238E27FC236}">
                  <a16:creationId xmlns:a16="http://schemas.microsoft.com/office/drawing/2014/main" id="{27FE7EEB-B43E-AC47-973D-18A0965E47EC}"/>
                </a:ext>
              </a:extLst>
            </p:cNvPr>
            <p:cNvSpPr/>
            <p:nvPr/>
          </p:nvSpPr>
          <p:spPr>
            <a:xfrm>
              <a:off x="2322930" y="3353671"/>
              <a:ext cx="2319094" cy="1827605"/>
            </a:xfrm>
            <a:prstGeom prst="bracketPair">
              <a:avLst/>
            </a:prstGeom>
            <a:ln w="571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sp>
        <p:nvSpPr>
          <p:cNvPr id="44" name="下矢印 43">
            <a:extLst>
              <a:ext uri="{FF2B5EF4-FFF2-40B4-BE49-F238E27FC236}">
                <a16:creationId xmlns:a16="http://schemas.microsoft.com/office/drawing/2014/main" id="{7A681D1D-2889-0145-A367-CC348905CDC6}"/>
              </a:ext>
            </a:extLst>
          </p:cNvPr>
          <p:cNvSpPr/>
          <p:nvPr/>
        </p:nvSpPr>
        <p:spPr>
          <a:xfrm rot="16200000">
            <a:off x="3708707" y="3417046"/>
            <a:ext cx="609600" cy="1230702"/>
          </a:xfrm>
          <a:prstGeom prst="downArrow">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5" name="グループ化 44">
            <a:extLst>
              <a:ext uri="{FF2B5EF4-FFF2-40B4-BE49-F238E27FC236}">
                <a16:creationId xmlns:a16="http://schemas.microsoft.com/office/drawing/2014/main" id="{F9F8C688-C780-4A82-B649-51A1781D9C32}"/>
              </a:ext>
            </a:extLst>
          </p:cNvPr>
          <p:cNvGrpSpPr/>
          <p:nvPr/>
        </p:nvGrpSpPr>
        <p:grpSpPr>
          <a:xfrm>
            <a:off x="4942132" y="3033917"/>
            <a:ext cx="2319094" cy="1827605"/>
            <a:chOff x="2322930" y="3353671"/>
            <a:chExt cx="2319094" cy="1827605"/>
          </a:xfrm>
        </p:grpSpPr>
        <p:grpSp>
          <p:nvGrpSpPr>
            <p:cNvPr id="46" name="グループ化 45">
              <a:extLst>
                <a:ext uri="{FF2B5EF4-FFF2-40B4-BE49-F238E27FC236}">
                  <a16:creationId xmlns:a16="http://schemas.microsoft.com/office/drawing/2014/main" id="{19ADB080-ED50-4AF8-A761-E03655ADFA95}"/>
                </a:ext>
              </a:extLst>
            </p:cNvPr>
            <p:cNvGrpSpPr/>
            <p:nvPr/>
          </p:nvGrpSpPr>
          <p:grpSpPr>
            <a:xfrm>
              <a:off x="2652046" y="3451928"/>
              <a:ext cx="1700918" cy="1676670"/>
              <a:chOff x="1138989" y="3968713"/>
              <a:chExt cx="1700918" cy="1676670"/>
            </a:xfrm>
          </p:grpSpPr>
          <p:sp>
            <p:nvSpPr>
              <p:cNvPr id="48" name="正方形/長方形 47">
                <a:extLst>
                  <a:ext uri="{FF2B5EF4-FFF2-40B4-BE49-F238E27FC236}">
                    <a16:creationId xmlns:a16="http://schemas.microsoft.com/office/drawing/2014/main" id="{ECB80B1C-43E4-4DF7-BF30-D6D52DB78D89}"/>
                  </a:ext>
                </a:extLst>
              </p:cNvPr>
              <p:cNvSpPr/>
              <p:nvPr/>
            </p:nvSpPr>
            <p:spPr>
              <a:xfrm>
                <a:off x="1138989" y="3974039"/>
                <a:ext cx="319421" cy="319421"/>
              </a:xfrm>
              <a:prstGeom prst="rect">
                <a:avLst/>
              </a:prstGeom>
              <a:solidFill>
                <a:schemeClr val="accent6">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正方形/長方形 48">
                <a:extLst>
                  <a:ext uri="{FF2B5EF4-FFF2-40B4-BE49-F238E27FC236}">
                    <a16:creationId xmlns:a16="http://schemas.microsoft.com/office/drawing/2014/main" id="{57E805B9-5471-47D7-AA7E-896D8EA41F03}"/>
                  </a:ext>
                </a:extLst>
              </p:cNvPr>
              <p:cNvSpPr/>
              <p:nvPr/>
            </p:nvSpPr>
            <p:spPr>
              <a:xfrm>
                <a:off x="1599488" y="3974039"/>
                <a:ext cx="319421" cy="319421"/>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0" name="正方形/長方形 49">
                <a:extLst>
                  <a:ext uri="{FF2B5EF4-FFF2-40B4-BE49-F238E27FC236}">
                    <a16:creationId xmlns:a16="http://schemas.microsoft.com/office/drawing/2014/main" id="{4BE25DE9-2F29-4797-80A6-2589532B866E}"/>
                  </a:ext>
                </a:extLst>
              </p:cNvPr>
              <p:cNvSpPr/>
              <p:nvPr/>
            </p:nvSpPr>
            <p:spPr>
              <a:xfrm>
                <a:off x="2059987" y="3968714"/>
                <a:ext cx="319421" cy="319421"/>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正方形/長方形 50">
                <a:extLst>
                  <a:ext uri="{FF2B5EF4-FFF2-40B4-BE49-F238E27FC236}">
                    <a16:creationId xmlns:a16="http://schemas.microsoft.com/office/drawing/2014/main" id="{9D82626A-2A73-4CC4-B26F-80904EAA960F}"/>
                  </a:ext>
                </a:extLst>
              </p:cNvPr>
              <p:cNvSpPr/>
              <p:nvPr/>
            </p:nvSpPr>
            <p:spPr>
              <a:xfrm>
                <a:off x="2520486" y="3968713"/>
                <a:ext cx="319421" cy="319421"/>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正方形/長方形 51">
                <a:extLst>
                  <a:ext uri="{FF2B5EF4-FFF2-40B4-BE49-F238E27FC236}">
                    <a16:creationId xmlns:a16="http://schemas.microsoft.com/office/drawing/2014/main" id="{03D82520-02AF-441D-A842-9C8E72E4CC71}"/>
                  </a:ext>
                </a:extLst>
              </p:cNvPr>
              <p:cNvSpPr/>
              <p:nvPr/>
            </p:nvSpPr>
            <p:spPr>
              <a:xfrm>
                <a:off x="1138989" y="4424680"/>
                <a:ext cx="319421" cy="319421"/>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正方形/長方形 52">
                <a:extLst>
                  <a:ext uri="{FF2B5EF4-FFF2-40B4-BE49-F238E27FC236}">
                    <a16:creationId xmlns:a16="http://schemas.microsoft.com/office/drawing/2014/main" id="{994E77A1-B2E6-42B6-ACE6-A1CEC0097509}"/>
                  </a:ext>
                </a:extLst>
              </p:cNvPr>
              <p:cNvSpPr/>
              <p:nvPr/>
            </p:nvSpPr>
            <p:spPr>
              <a:xfrm>
                <a:off x="1599488" y="4424680"/>
                <a:ext cx="319421" cy="319421"/>
              </a:xfrm>
              <a:prstGeom prst="rect">
                <a:avLst/>
              </a:prstGeom>
              <a:solidFill>
                <a:schemeClr val="accent5">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正方形/長方形 53">
                <a:extLst>
                  <a:ext uri="{FF2B5EF4-FFF2-40B4-BE49-F238E27FC236}">
                    <a16:creationId xmlns:a16="http://schemas.microsoft.com/office/drawing/2014/main" id="{3309AB9F-FAA1-4CDF-8960-B7D1B41493B7}"/>
                  </a:ext>
                </a:extLst>
              </p:cNvPr>
              <p:cNvSpPr/>
              <p:nvPr/>
            </p:nvSpPr>
            <p:spPr>
              <a:xfrm>
                <a:off x="2059987" y="4419355"/>
                <a:ext cx="319421" cy="319421"/>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5" name="正方形/長方形 54">
                <a:extLst>
                  <a:ext uri="{FF2B5EF4-FFF2-40B4-BE49-F238E27FC236}">
                    <a16:creationId xmlns:a16="http://schemas.microsoft.com/office/drawing/2014/main" id="{24D63EF6-8505-47E2-80CD-DB20C623008A}"/>
                  </a:ext>
                </a:extLst>
              </p:cNvPr>
              <p:cNvSpPr/>
              <p:nvPr/>
            </p:nvSpPr>
            <p:spPr>
              <a:xfrm>
                <a:off x="2520486" y="4419354"/>
                <a:ext cx="319421" cy="319421"/>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正方形/長方形 55">
                <a:extLst>
                  <a:ext uri="{FF2B5EF4-FFF2-40B4-BE49-F238E27FC236}">
                    <a16:creationId xmlns:a16="http://schemas.microsoft.com/office/drawing/2014/main" id="{FF11506D-6E54-430E-B1FF-0ACDA0F2B9A3}"/>
                  </a:ext>
                </a:extLst>
              </p:cNvPr>
              <p:cNvSpPr/>
              <p:nvPr/>
            </p:nvSpPr>
            <p:spPr>
              <a:xfrm>
                <a:off x="1138989" y="4875321"/>
                <a:ext cx="319421" cy="319421"/>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正方形/長方形 56">
                <a:extLst>
                  <a:ext uri="{FF2B5EF4-FFF2-40B4-BE49-F238E27FC236}">
                    <a16:creationId xmlns:a16="http://schemas.microsoft.com/office/drawing/2014/main" id="{B037BB6D-6BBC-4AB1-A1B6-27ADA790EC62}"/>
                  </a:ext>
                </a:extLst>
              </p:cNvPr>
              <p:cNvSpPr/>
              <p:nvPr/>
            </p:nvSpPr>
            <p:spPr>
              <a:xfrm>
                <a:off x="1599488" y="4875321"/>
                <a:ext cx="319421" cy="319421"/>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正方形/長方形 57">
                <a:extLst>
                  <a:ext uri="{FF2B5EF4-FFF2-40B4-BE49-F238E27FC236}">
                    <a16:creationId xmlns:a16="http://schemas.microsoft.com/office/drawing/2014/main" id="{6BC23076-B835-4A5E-8339-963F1547DB1B}"/>
                  </a:ext>
                </a:extLst>
              </p:cNvPr>
              <p:cNvSpPr/>
              <p:nvPr/>
            </p:nvSpPr>
            <p:spPr>
              <a:xfrm>
                <a:off x="2059987" y="4869996"/>
                <a:ext cx="319421" cy="319421"/>
              </a:xfrm>
              <a:prstGeom prst="rect">
                <a:avLst/>
              </a:prstGeom>
              <a:solidFill>
                <a:schemeClr val="accent4">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正方形/長方形 58">
                <a:extLst>
                  <a:ext uri="{FF2B5EF4-FFF2-40B4-BE49-F238E27FC236}">
                    <a16:creationId xmlns:a16="http://schemas.microsoft.com/office/drawing/2014/main" id="{8B2D2A4B-D322-4479-911E-8B9074E5C2E3}"/>
                  </a:ext>
                </a:extLst>
              </p:cNvPr>
              <p:cNvSpPr/>
              <p:nvPr/>
            </p:nvSpPr>
            <p:spPr>
              <a:xfrm>
                <a:off x="2520486" y="4869995"/>
                <a:ext cx="319421" cy="319421"/>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正方形/長方形 59">
                <a:extLst>
                  <a:ext uri="{FF2B5EF4-FFF2-40B4-BE49-F238E27FC236}">
                    <a16:creationId xmlns:a16="http://schemas.microsoft.com/office/drawing/2014/main" id="{7E29DE9C-4A52-4C9C-B34F-5F92DED2A45B}"/>
                  </a:ext>
                </a:extLst>
              </p:cNvPr>
              <p:cNvSpPr/>
              <p:nvPr/>
            </p:nvSpPr>
            <p:spPr>
              <a:xfrm>
                <a:off x="1138989" y="5325962"/>
                <a:ext cx="319421" cy="319421"/>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正方形/長方形 60">
                <a:extLst>
                  <a:ext uri="{FF2B5EF4-FFF2-40B4-BE49-F238E27FC236}">
                    <a16:creationId xmlns:a16="http://schemas.microsoft.com/office/drawing/2014/main" id="{E819ADFB-CAE4-4D4F-9DDC-105BF5566246}"/>
                  </a:ext>
                </a:extLst>
              </p:cNvPr>
              <p:cNvSpPr/>
              <p:nvPr/>
            </p:nvSpPr>
            <p:spPr>
              <a:xfrm>
                <a:off x="1599488" y="5325962"/>
                <a:ext cx="319421" cy="319421"/>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正方形/長方形 61">
                <a:extLst>
                  <a:ext uri="{FF2B5EF4-FFF2-40B4-BE49-F238E27FC236}">
                    <a16:creationId xmlns:a16="http://schemas.microsoft.com/office/drawing/2014/main" id="{9751CA6F-2599-4FA5-BEC1-35847FBAB247}"/>
                  </a:ext>
                </a:extLst>
              </p:cNvPr>
              <p:cNvSpPr/>
              <p:nvPr/>
            </p:nvSpPr>
            <p:spPr>
              <a:xfrm>
                <a:off x="2059987" y="5320637"/>
                <a:ext cx="319421" cy="319421"/>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正方形/長方形 62">
                <a:extLst>
                  <a:ext uri="{FF2B5EF4-FFF2-40B4-BE49-F238E27FC236}">
                    <a16:creationId xmlns:a16="http://schemas.microsoft.com/office/drawing/2014/main" id="{B926F583-6D90-4931-B48B-482B9361FBAB}"/>
                  </a:ext>
                </a:extLst>
              </p:cNvPr>
              <p:cNvSpPr/>
              <p:nvPr/>
            </p:nvSpPr>
            <p:spPr>
              <a:xfrm>
                <a:off x="2520486" y="5320636"/>
                <a:ext cx="319421" cy="319421"/>
              </a:xfrm>
              <a:prstGeom prst="rect">
                <a:avLst/>
              </a:prstGeom>
              <a:solidFill>
                <a:schemeClr val="accent2">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47" name="大かっこ 46">
              <a:extLst>
                <a:ext uri="{FF2B5EF4-FFF2-40B4-BE49-F238E27FC236}">
                  <a16:creationId xmlns:a16="http://schemas.microsoft.com/office/drawing/2014/main" id="{1F32FFEB-D993-49D5-B513-D4DDCDFA5565}"/>
                </a:ext>
              </a:extLst>
            </p:cNvPr>
            <p:cNvSpPr/>
            <p:nvPr/>
          </p:nvSpPr>
          <p:spPr>
            <a:xfrm>
              <a:off x="2322930" y="3353671"/>
              <a:ext cx="2319094" cy="1827605"/>
            </a:xfrm>
            <a:prstGeom prst="bracketPair">
              <a:avLst/>
            </a:prstGeom>
            <a:ln w="571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p:nvGrpSpPr>
          <p:cNvPr id="65" name="グループ化 64">
            <a:extLst>
              <a:ext uri="{FF2B5EF4-FFF2-40B4-BE49-F238E27FC236}">
                <a16:creationId xmlns:a16="http://schemas.microsoft.com/office/drawing/2014/main" id="{0C36F4DF-7037-4D44-887A-E6EE48C0DD76}"/>
              </a:ext>
            </a:extLst>
          </p:cNvPr>
          <p:cNvGrpSpPr/>
          <p:nvPr/>
        </p:nvGrpSpPr>
        <p:grpSpPr>
          <a:xfrm>
            <a:off x="9381814" y="3033916"/>
            <a:ext cx="1213468" cy="1827605"/>
            <a:chOff x="8116225" y="4270859"/>
            <a:chExt cx="1213468" cy="1827605"/>
          </a:xfrm>
        </p:grpSpPr>
        <p:sp>
          <p:nvSpPr>
            <p:cNvPr id="66" name="正方形/長方形 65">
              <a:extLst>
                <a:ext uri="{FF2B5EF4-FFF2-40B4-BE49-F238E27FC236}">
                  <a16:creationId xmlns:a16="http://schemas.microsoft.com/office/drawing/2014/main" id="{CE23A2E7-CD60-47CA-8E3A-5CA789894744}"/>
                </a:ext>
              </a:extLst>
            </p:cNvPr>
            <p:cNvSpPr/>
            <p:nvPr/>
          </p:nvSpPr>
          <p:spPr>
            <a:xfrm>
              <a:off x="8585041" y="4374442"/>
              <a:ext cx="319421" cy="319421"/>
            </a:xfrm>
            <a:prstGeom prst="rect">
              <a:avLst/>
            </a:prstGeom>
            <a:solidFill>
              <a:schemeClr val="accent6">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7" name="正方形/長方形 66">
              <a:extLst>
                <a:ext uri="{FF2B5EF4-FFF2-40B4-BE49-F238E27FC236}">
                  <a16:creationId xmlns:a16="http://schemas.microsoft.com/office/drawing/2014/main" id="{FE4C5367-BFE4-40AD-A232-E2E87671F37D}"/>
                </a:ext>
              </a:extLst>
            </p:cNvPr>
            <p:cNvSpPr/>
            <p:nvPr/>
          </p:nvSpPr>
          <p:spPr>
            <a:xfrm>
              <a:off x="8585041" y="4826319"/>
              <a:ext cx="319421" cy="319421"/>
            </a:xfrm>
            <a:prstGeom prst="rect">
              <a:avLst/>
            </a:prstGeom>
            <a:solidFill>
              <a:schemeClr val="accent5">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正方形/長方形 67">
              <a:extLst>
                <a:ext uri="{FF2B5EF4-FFF2-40B4-BE49-F238E27FC236}">
                  <a16:creationId xmlns:a16="http://schemas.microsoft.com/office/drawing/2014/main" id="{083AC484-631F-4DFB-A1CA-D04D7A1BD5FB}"/>
                </a:ext>
              </a:extLst>
            </p:cNvPr>
            <p:cNvSpPr/>
            <p:nvPr/>
          </p:nvSpPr>
          <p:spPr>
            <a:xfrm>
              <a:off x="8585041" y="5284270"/>
              <a:ext cx="319421" cy="319421"/>
            </a:xfrm>
            <a:prstGeom prst="rect">
              <a:avLst/>
            </a:prstGeom>
            <a:solidFill>
              <a:schemeClr val="accent4">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正方形/長方形 68">
              <a:extLst>
                <a:ext uri="{FF2B5EF4-FFF2-40B4-BE49-F238E27FC236}">
                  <a16:creationId xmlns:a16="http://schemas.microsoft.com/office/drawing/2014/main" id="{D0571155-E0C0-4551-87E0-652E02053475}"/>
                </a:ext>
              </a:extLst>
            </p:cNvPr>
            <p:cNvSpPr/>
            <p:nvPr/>
          </p:nvSpPr>
          <p:spPr>
            <a:xfrm>
              <a:off x="8585040" y="5758811"/>
              <a:ext cx="319421" cy="319421"/>
            </a:xfrm>
            <a:prstGeom prst="rect">
              <a:avLst/>
            </a:prstGeom>
            <a:solidFill>
              <a:schemeClr val="accent2">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大かっこ 69">
              <a:extLst>
                <a:ext uri="{FF2B5EF4-FFF2-40B4-BE49-F238E27FC236}">
                  <a16:creationId xmlns:a16="http://schemas.microsoft.com/office/drawing/2014/main" id="{1FB5078F-0C7C-4671-A300-18F89ACA8F5D}"/>
                </a:ext>
              </a:extLst>
            </p:cNvPr>
            <p:cNvSpPr/>
            <p:nvPr/>
          </p:nvSpPr>
          <p:spPr>
            <a:xfrm>
              <a:off x="8116225" y="4270859"/>
              <a:ext cx="1213468" cy="1827605"/>
            </a:xfrm>
            <a:prstGeom prst="bracketPair">
              <a:avLst/>
            </a:prstGeom>
            <a:ln w="571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sp>
        <p:nvSpPr>
          <p:cNvPr id="71" name="下矢印 43">
            <a:extLst>
              <a:ext uri="{FF2B5EF4-FFF2-40B4-BE49-F238E27FC236}">
                <a16:creationId xmlns:a16="http://schemas.microsoft.com/office/drawing/2014/main" id="{5DC46E65-3364-40FC-A13F-F65EA3D29063}"/>
              </a:ext>
            </a:extLst>
          </p:cNvPr>
          <p:cNvSpPr/>
          <p:nvPr/>
        </p:nvSpPr>
        <p:spPr>
          <a:xfrm rot="16200000">
            <a:off x="8016720" y="3507734"/>
            <a:ext cx="609600" cy="1230702"/>
          </a:xfrm>
          <a:prstGeom prst="downArrow">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3318667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CE7686-0B4E-42B0-A196-FC29E037A8A4}"/>
              </a:ext>
            </a:extLst>
          </p:cNvPr>
          <p:cNvSpPr>
            <a:spLocks noGrp="1"/>
          </p:cNvSpPr>
          <p:nvPr>
            <p:ph type="title"/>
          </p:nvPr>
        </p:nvSpPr>
        <p:spPr/>
        <p:txBody>
          <a:bodyPr/>
          <a:lstStyle/>
          <a:p>
            <a:r>
              <a:rPr kumimoji="1" lang="ja-JP" altLang="en-US" dirty="0"/>
              <a:t>ニュートン法</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320ACA7A-6F7B-44A4-94CC-84F664409AC7}"/>
                  </a:ext>
                </a:extLst>
              </p:cNvPr>
              <p:cNvSpPr>
                <a:spLocks noGrp="1"/>
              </p:cNvSpPr>
              <p:nvPr>
                <p:ph idx="1"/>
              </p:nvPr>
            </p:nvSpPr>
            <p:spPr>
              <a:xfrm>
                <a:off x="889000" y="1393825"/>
                <a:ext cx="10754710" cy="4351338"/>
              </a:xfrm>
            </p:spPr>
            <p:txBody>
              <a:bodyPr>
                <a:normAutofit/>
              </a:bodyPr>
              <a:lstStyle/>
              <a:p>
                <a:r>
                  <a:rPr lang="ja-JP" altLang="en-US" dirty="0"/>
                  <a:t>ニュートン法の更新式</a:t>
                </a:r>
                <a:endParaRPr lang="en-US" altLang="ja-JP" dirty="0"/>
              </a:p>
              <a:p>
                <a:pPr marL="0" indent="0">
                  <a:buNone/>
                </a:pPr>
                <a14:m>
                  <m:oMathPara xmlns:m="http://schemas.openxmlformats.org/officeDocument/2006/math">
                    <m:oMathParaPr>
                      <m:jc m:val="centerGroup"/>
                    </m:oMathParaPr>
                    <m:oMath xmlns:m="http://schemas.openxmlformats.org/officeDocument/2006/math">
                      <m:eqArr>
                        <m:eqArrPr>
                          <m:ctrlPr>
                            <a:rPr lang="en-ZA" altLang="ja-JP" i="1">
                              <a:latin typeface="Cambria Math" panose="02040503050406030204" pitchFamily="18" charset="0"/>
                            </a:rPr>
                          </m:ctrlPr>
                        </m:eqArrPr>
                        <m:e>
                          <m:eqArr>
                            <m:eqArrPr>
                              <m:ctrlPr>
                                <a:rPr lang="en-US" altLang="ja-JP" i="1">
                                  <a:latin typeface="Cambria Math" panose="02040503050406030204" pitchFamily="18" charset="0"/>
                                </a:rPr>
                              </m:ctrlPr>
                            </m:eqArrPr>
                            <m:e>
                              <m:sSub>
                                <m:sSubPr>
                                  <m:ctrlPr>
                                    <a:rPr lang="en-US" altLang="ja-JP" i="1">
                                      <a:latin typeface="Cambria Math" panose="02040503050406030204" pitchFamily="18" charset="0"/>
                                    </a:rPr>
                                  </m:ctrlPr>
                                </m:sSubPr>
                                <m:e>
                                  <m:r>
                                    <a:rPr lang="en-US" altLang="ja-JP" b="1">
                                      <a:latin typeface="Cambria Math" panose="02040503050406030204" pitchFamily="18" charset="0"/>
                                    </a:rPr>
                                    <m:t>𝐰</m:t>
                                  </m:r>
                                </m:e>
                                <m:sub>
                                  <m:r>
                                    <a:rPr lang="en-US" altLang="ja-JP" i="1">
                                      <a:latin typeface="Cambria Math" panose="02040503050406030204" pitchFamily="18" charset="0"/>
                                    </a:rPr>
                                    <m:t>𝑘</m:t>
                                  </m:r>
                                  <m:r>
                                    <a:rPr lang="en-US" altLang="ja-JP" i="1">
                                      <a:latin typeface="Cambria Math" panose="02040503050406030204" pitchFamily="18" charset="0"/>
                                    </a:rPr>
                                    <m:t>+1</m:t>
                                  </m:r>
                                </m:sub>
                              </m:sSub>
                              <m:r>
                                <a:rPr lang="en-US" altLang="ja-JP" i="1">
                                  <a:latin typeface="Cambria Math" panose="02040503050406030204" pitchFamily="18" charset="0"/>
                                </a:rPr>
                                <m:t>= </m:t>
                              </m:r>
                              <m:sSub>
                                <m:sSubPr>
                                  <m:ctrlPr>
                                    <a:rPr lang="en-US" altLang="ja-JP" i="1">
                                      <a:latin typeface="Cambria Math" panose="02040503050406030204" pitchFamily="18" charset="0"/>
                                    </a:rPr>
                                  </m:ctrlPr>
                                </m:sSubPr>
                                <m:e>
                                  <m:r>
                                    <a:rPr lang="en-US" altLang="ja-JP" b="1">
                                      <a:latin typeface="Cambria Math" panose="02040503050406030204" pitchFamily="18" charset="0"/>
                                    </a:rPr>
                                    <m:t>𝐰</m:t>
                                  </m:r>
                                </m:e>
                                <m:sub>
                                  <m:r>
                                    <a:rPr lang="en-US" altLang="ja-JP" i="1">
                                      <a:latin typeface="Cambria Math" panose="02040503050406030204" pitchFamily="18" charset="0"/>
                                    </a:rPr>
                                    <m:t>𝑘</m:t>
                                  </m:r>
                                </m:sub>
                              </m:sSub>
                              <m:r>
                                <a:rPr lang="en-US" altLang="ja-JP" i="1">
                                  <a:latin typeface="Cambria Math" panose="02040503050406030204" pitchFamily="18" charset="0"/>
                                </a:rPr>
                                <m:t> − </m:t>
                              </m:r>
                              <m:r>
                                <a:rPr lang="ja-JP" altLang="en-US" i="1">
                                  <a:latin typeface="Cambria Math" panose="02040503050406030204" pitchFamily="18" charset="0"/>
                                </a:rPr>
                                <m:t>𝛼</m:t>
                              </m:r>
                              <m:sSubSup>
                                <m:sSubSupPr>
                                  <m:ctrlPr>
                                    <a:rPr lang="en-US" altLang="ja-JP" i="1">
                                      <a:solidFill>
                                        <a:srgbClr val="C00000"/>
                                      </a:solidFill>
                                      <a:latin typeface="Cambria Math" panose="02040503050406030204" pitchFamily="18" charset="0"/>
                                    </a:rPr>
                                  </m:ctrlPr>
                                </m:sSubSupPr>
                                <m:e>
                                  <m:r>
                                    <a:rPr lang="en-US" altLang="ja-JP" b="1">
                                      <a:solidFill>
                                        <a:srgbClr val="C00000"/>
                                      </a:solidFill>
                                      <a:latin typeface="Cambria Math" panose="02040503050406030204" pitchFamily="18" charset="0"/>
                                    </a:rPr>
                                    <m:t>𝐇</m:t>
                                  </m:r>
                                </m:e>
                                <m:sub>
                                  <m:r>
                                    <a:rPr lang="en-US" altLang="ja-JP" i="1">
                                      <a:solidFill>
                                        <a:srgbClr val="C00000"/>
                                      </a:solidFill>
                                      <a:latin typeface="Cambria Math" panose="02040503050406030204" pitchFamily="18" charset="0"/>
                                    </a:rPr>
                                    <m:t>𝑘</m:t>
                                  </m:r>
                                </m:sub>
                                <m:sup>
                                  <m:r>
                                    <a:rPr lang="en-US" altLang="ja-JP" i="1">
                                      <a:solidFill>
                                        <a:srgbClr val="C00000"/>
                                      </a:solidFill>
                                      <a:latin typeface="Cambria Math" panose="02040503050406030204" pitchFamily="18" charset="0"/>
                                    </a:rPr>
                                    <m:t>−1</m:t>
                                  </m:r>
                                </m:sup>
                              </m:sSubSup>
                              <m:sSub>
                                <m:sSubPr>
                                  <m:ctrlPr>
                                    <a:rPr lang="en-US" altLang="ja-JP" i="1" smtClean="0">
                                      <a:solidFill>
                                        <a:schemeClr val="tx1">
                                          <a:lumMod val="75000"/>
                                          <a:lumOff val="25000"/>
                                        </a:schemeClr>
                                      </a:solidFill>
                                      <a:latin typeface="Cambria Math" panose="02040503050406030204" pitchFamily="18" charset="0"/>
                                    </a:rPr>
                                  </m:ctrlPr>
                                </m:sSubPr>
                                <m:e>
                                  <m:r>
                                    <a:rPr lang="en-US" altLang="ja-JP" b="1">
                                      <a:solidFill>
                                        <a:schemeClr val="tx1">
                                          <a:lumMod val="75000"/>
                                          <a:lumOff val="25000"/>
                                        </a:schemeClr>
                                      </a:solidFill>
                                      <a:latin typeface="Cambria Math" panose="02040503050406030204" pitchFamily="18" charset="0"/>
                                    </a:rPr>
                                    <m:t>𝐠</m:t>
                                  </m:r>
                                </m:e>
                                <m:sub>
                                  <m:r>
                                    <a:rPr lang="en-US" altLang="ja-JP" i="1">
                                      <a:solidFill>
                                        <a:schemeClr val="tx1">
                                          <a:lumMod val="75000"/>
                                          <a:lumOff val="25000"/>
                                        </a:schemeClr>
                                      </a:solidFill>
                                      <a:latin typeface="Cambria Math" panose="02040503050406030204" pitchFamily="18" charset="0"/>
                                    </a:rPr>
                                    <m:t>𝑘</m:t>
                                  </m:r>
                                </m:sub>
                              </m:sSub>
                            </m:e>
                          </m:eqArr>
                          <m:r>
                            <a:rPr lang="en-US" altLang="ja-JP" i="1">
                              <a:latin typeface="Cambria Math" panose="02040503050406030204" pitchFamily="18" charset="0"/>
                            </a:rPr>
                            <m:t>#</m:t>
                          </m:r>
                        </m:e>
                      </m:eqArr>
                    </m:oMath>
                  </m:oMathPara>
                </a14:m>
                <a:endParaRPr lang="en-US" altLang="ja-JP" dirty="0"/>
              </a:p>
              <a:p>
                <a:pPr marL="0" indent="0">
                  <a:buNone/>
                </a:pPr>
                <a:r>
                  <a:rPr lang="en-US" altLang="ja-JP" dirty="0"/>
                  <a:t>※</a:t>
                </a:r>
                <a:r>
                  <a:rPr lang="en-US" altLang="ja-JP" dirty="0">
                    <a:solidFill>
                      <a:srgbClr val="C00000"/>
                    </a:solidFill>
                  </a:rPr>
                  <a:t> </a:t>
                </a:r>
                <a14:m>
                  <m:oMath xmlns:m="http://schemas.openxmlformats.org/officeDocument/2006/math">
                    <m:sSub>
                      <m:sSubPr>
                        <m:ctrlPr>
                          <a:rPr lang="en-US" altLang="ja-JP" i="1">
                            <a:latin typeface="Cambria Math" panose="02040503050406030204" pitchFamily="18" charset="0"/>
                          </a:rPr>
                        </m:ctrlPr>
                      </m:sSubPr>
                      <m:e>
                        <m:r>
                          <a:rPr lang="en-US" altLang="ja-JP" b="1" i="0" smtClean="0">
                            <a:latin typeface="Cambria Math" panose="02040503050406030204" pitchFamily="18" charset="0"/>
                          </a:rPr>
                          <m:t>𝐇</m:t>
                        </m:r>
                      </m:e>
                      <m:sub>
                        <m:r>
                          <a:rPr lang="en-US" altLang="ja-JP" i="1">
                            <a:latin typeface="Cambria Math" panose="02040503050406030204" pitchFamily="18" charset="0"/>
                          </a:rPr>
                          <m:t>𝑘</m:t>
                        </m:r>
                      </m:sub>
                    </m:sSub>
                    <m:r>
                      <a:rPr lang="en-US" altLang="ja-JP" i="1">
                        <a:latin typeface="Cambria Math" panose="02040503050406030204" pitchFamily="18" charset="0"/>
                      </a:rPr>
                      <m:t> </m:t>
                    </m:r>
                  </m:oMath>
                </a14:m>
                <a:r>
                  <a:rPr lang="en-US" altLang="ja-JP" dirty="0"/>
                  <a:t>: </a:t>
                </a:r>
                <a:r>
                  <a:rPr lang="ja-JP" altLang="en-US" dirty="0"/>
                  <a:t>ヘッセ行列　</a:t>
                </a:r>
                <a:r>
                  <a:rPr lang="en-US" altLang="ja-JP" dirty="0"/>
                  <a:t> </a:t>
                </a:r>
                <a14:m>
                  <m:oMath xmlns:m="http://schemas.openxmlformats.org/officeDocument/2006/math">
                    <m:sSub>
                      <m:sSubPr>
                        <m:ctrlPr>
                          <a:rPr lang="en-US" altLang="ja-JP" i="1">
                            <a:latin typeface="Cambria Math" panose="02040503050406030204" pitchFamily="18" charset="0"/>
                          </a:rPr>
                        </m:ctrlPr>
                      </m:sSubPr>
                      <m:e>
                        <m:r>
                          <a:rPr lang="en-US" altLang="ja-JP" b="1">
                            <a:latin typeface="Cambria Math" panose="02040503050406030204" pitchFamily="18" charset="0"/>
                          </a:rPr>
                          <m:t>𝐠</m:t>
                        </m:r>
                      </m:e>
                      <m:sub>
                        <m:r>
                          <a:rPr lang="en-US" altLang="ja-JP" i="1">
                            <a:latin typeface="Cambria Math" panose="02040503050406030204" pitchFamily="18" charset="0"/>
                          </a:rPr>
                          <m:t>𝑘</m:t>
                        </m:r>
                      </m:sub>
                    </m:sSub>
                  </m:oMath>
                </a14:m>
                <a:r>
                  <a:rPr lang="ja-JP" altLang="en-US" dirty="0"/>
                  <a:t> </a:t>
                </a:r>
                <a:r>
                  <a:rPr lang="en-US" altLang="ja-JP" dirty="0"/>
                  <a:t>:</a:t>
                </a:r>
                <a:r>
                  <a:rPr lang="ja-JP" altLang="en-US" dirty="0"/>
                  <a:t> 勾配</a:t>
                </a:r>
                <a:endParaRPr lang="en-US" altLang="ja-JP" dirty="0"/>
              </a:p>
              <a:p>
                <a:endParaRPr lang="en-US" altLang="ja-JP" dirty="0"/>
              </a:p>
              <a:p>
                <a:r>
                  <a:rPr lang="ja-JP" altLang="en-US" dirty="0"/>
                  <a:t>ニュートン法の問題点</a:t>
                </a:r>
                <a:endParaRPr lang="en-US" altLang="ja-JP" dirty="0"/>
              </a:p>
              <a:p>
                <a:pPr marL="0" indent="0">
                  <a:buNone/>
                </a:pPr>
                <a:r>
                  <a:rPr lang="ja-JP" altLang="en-US" dirty="0"/>
                  <a:t>ヘッセ行列の逆行列の計算コストが高い</a:t>
                </a:r>
                <a:endParaRPr lang="en-US" altLang="ja-JP" dirty="0"/>
              </a:p>
            </p:txBody>
          </p:sp>
        </mc:Choice>
        <mc:Fallback xmlns="">
          <p:sp>
            <p:nvSpPr>
              <p:cNvPr id="3" name="コンテンツ プレースホルダー 2">
                <a:extLst>
                  <a:ext uri="{FF2B5EF4-FFF2-40B4-BE49-F238E27FC236}">
                    <a16:creationId xmlns:a16="http://schemas.microsoft.com/office/drawing/2014/main" id="{320ACA7A-6F7B-44A4-94CC-84F664409AC7}"/>
                  </a:ext>
                </a:extLst>
              </p:cNvPr>
              <p:cNvSpPr>
                <a:spLocks noGrp="1" noRot="1" noChangeAspect="1" noMove="1" noResize="1" noEditPoints="1" noAdjustHandles="1" noChangeArrowheads="1" noChangeShapeType="1" noTextEdit="1"/>
              </p:cNvSpPr>
              <p:nvPr>
                <p:ph idx="1"/>
              </p:nvPr>
            </p:nvSpPr>
            <p:spPr>
              <a:xfrm>
                <a:off x="889000" y="1393825"/>
                <a:ext cx="10754710" cy="4351338"/>
              </a:xfrm>
              <a:blipFill>
                <a:blip r:embed="rId3"/>
                <a:stretch>
                  <a:fillRect l="-1190" t="-2384"/>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3601ADDF-7BA4-49F0-BF6A-A1D8F6D505D0}"/>
              </a:ext>
            </a:extLst>
          </p:cNvPr>
          <p:cNvSpPr>
            <a:spLocks noGrp="1"/>
          </p:cNvSpPr>
          <p:nvPr>
            <p:ph type="sldNum" sz="quarter" idx="12"/>
          </p:nvPr>
        </p:nvSpPr>
        <p:spPr/>
        <p:txBody>
          <a:bodyPr/>
          <a:lstStyle/>
          <a:p>
            <a:r>
              <a:rPr kumimoji="1" lang="en-US" altLang="ja-JP" dirty="0"/>
              <a:t>6</a:t>
            </a:r>
            <a:endParaRPr kumimoji="1" lang="ja-JP" altLang="en-US" dirty="0"/>
          </a:p>
        </p:txBody>
      </p:sp>
      <p:sp>
        <p:nvSpPr>
          <p:cNvPr id="38" name="コンテンツ プレースホルダー 2">
            <a:extLst>
              <a:ext uri="{FF2B5EF4-FFF2-40B4-BE49-F238E27FC236}">
                <a16:creationId xmlns:a16="http://schemas.microsoft.com/office/drawing/2014/main" id="{03D439FB-FA3C-D540-A9ED-6F0B80E3C5BC}"/>
              </a:ext>
            </a:extLst>
          </p:cNvPr>
          <p:cNvSpPr txBox="1">
            <a:spLocks/>
          </p:cNvSpPr>
          <p:nvPr/>
        </p:nvSpPr>
        <p:spPr>
          <a:xfrm>
            <a:off x="549533" y="5037902"/>
            <a:ext cx="2413000" cy="434883"/>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dirty="0"/>
              <a:t>ヘッセ行列　＝</a:t>
            </a:r>
            <a:endParaRPr lang="en-US" altLang="ja-JP" dirty="0"/>
          </a:p>
        </p:txBody>
      </p:sp>
      <p:sp>
        <p:nvSpPr>
          <p:cNvPr id="41" name="コンテンツ プレースホルダー 2">
            <a:extLst>
              <a:ext uri="{FF2B5EF4-FFF2-40B4-BE49-F238E27FC236}">
                <a16:creationId xmlns:a16="http://schemas.microsoft.com/office/drawing/2014/main" id="{EBA29ED0-DD89-D246-8860-80844E7FE622}"/>
              </a:ext>
            </a:extLst>
          </p:cNvPr>
          <p:cNvSpPr txBox="1">
            <a:spLocks/>
          </p:cNvSpPr>
          <p:nvPr/>
        </p:nvSpPr>
        <p:spPr>
          <a:xfrm>
            <a:off x="3549363" y="6334344"/>
            <a:ext cx="482600" cy="439519"/>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dirty="0"/>
              <a:t>N</a:t>
            </a:r>
          </a:p>
        </p:txBody>
      </p:sp>
      <p:sp>
        <p:nvSpPr>
          <p:cNvPr id="42" name="コンテンツ プレースホルダー 2">
            <a:extLst>
              <a:ext uri="{FF2B5EF4-FFF2-40B4-BE49-F238E27FC236}">
                <a16:creationId xmlns:a16="http://schemas.microsoft.com/office/drawing/2014/main" id="{546ED133-8312-AC4C-B024-15A7DCACABCF}"/>
              </a:ext>
            </a:extLst>
          </p:cNvPr>
          <p:cNvSpPr txBox="1">
            <a:spLocks/>
          </p:cNvSpPr>
          <p:nvPr/>
        </p:nvSpPr>
        <p:spPr>
          <a:xfrm>
            <a:off x="5286178" y="4903750"/>
            <a:ext cx="482600" cy="5111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dirty="0"/>
              <a:t>N</a:t>
            </a:r>
          </a:p>
        </p:txBody>
      </p:sp>
      <p:sp>
        <p:nvSpPr>
          <p:cNvPr id="44" name="コンテンツ プレースホルダー 2">
            <a:extLst>
              <a:ext uri="{FF2B5EF4-FFF2-40B4-BE49-F238E27FC236}">
                <a16:creationId xmlns:a16="http://schemas.microsoft.com/office/drawing/2014/main" id="{EAC9FFF5-4FED-45B7-A9E4-0AA2399C8A0F}"/>
              </a:ext>
            </a:extLst>
          </p:cNvPr>
          <p:cNvSpPr txBox="1">
            <a:spLocks/>
          </p:cNvSpPr>
          <p:nvPr/>
        </p:nvSpPr>
        <p:spPr>
          <a:xfrm>
            <a:off x="4784889" y="5924707"/>
            <a:ext cx="4785360" cy="5111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dirty="0"/>
              <a:t>※</a:t>
            </a:r>
            <a:r>
              <a:rPr lang="ja-JP" altLang="en-US" dirty="0"/>
              <a:t> </a:t>
            </a:r>
            <a:r>
              <a:rPr lang="en-US" altLang="ja-JP" dirty="0"/>
              <a:t>N</a:t>
            </a:r>
            <a:r>
              <a:rPr lang="ja-JP" altLang="en-US" dirty="0"/>
              <a:t>：パラメータ数</a:t>
            </a:r>
            <a:endParaRPr lang="en-US" altLang="ja-JP" dirty="0"/>
          </a:p>
        </p:txBody>
      </p:sp>
      <p:sp>
        <p:nvSpPr>
          <p:cNvPr id="45" name="テキスト ボックス 44">
            <a:extLst>
              <a:ext uri="{FF2B5EF4-FFF2-40B4-BE49-F238E27FC236}">
                <a16:creationId xmlns:a16="http://schemas.microsoft.com/office/drawing/2014/main" id="{47481DA5-D561-4DF6-BC5E-F7F16E09CA51}"/>
              </a:ext>
            </a:extLst>
          </p:cNvPr>
          <p:cNvSpPr txBox="1"/>
          <p:nvPr/>
        </p:nvSpPr>
        <p:spPr>
          <a:xfrm>
            <a:off x="10830916" y="1690688"/>
            <a:ext cx="667839" cy="596253"/>
          </a:xfrm>
          <a:prstGeom prst="rect">
            <a:avLst/>
          </a:prstGeom>
          <a:solidFill>
            <a:srgbClr val="E4E4E4"/>
          </a:solidFill>
        </p:spPr>
        <p:txBody>
          <a:bodyPr wrap="square" rtlCol="0">
            <a:spAutoFit/>
          </a:bodyPr>
          <a:lstStyle/>
          <a:p>
            <a:pPr>
              <a:lnSpc>
                <a:spcPct val="150000"/>
              </a:lnSpc>
            </a:pPr>
            <a:r>
              <a:rPr kumimoji="1" lang="en-US" altLang="ja-JP" sz="24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(4)</a:t>
            </a:r>
            <a:endParaRPr kumimoji="1" lang="ja-JP" altLang="en-US" sz="24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p:grpSp>
        <p:nvGrpSpPr>
          <p:cNvPr id="5" name="グループ化 4">
            <a:extLst>
              <a:ext uri="{FF2B5EF4-FFF2-40B4-BE49-F238E27FC236}">
                <a16:creationId xmlns:a16="http://schemas.microsoft.com/office/drawing/2014/main" id="{1F54F61F-7B58-45A2-9253-A352D7EDA3DF}"/>
              </a:ext>
            </a:extLst>
          </p:cNvPr>
          <p:cNvGrpSpPr/>
          <p:nvPr/>
        </p:nvGrpSpPr>
        <p:grpSpPr>
          <a:xfrm>
            <a:off x="2816421" y="4335898"/>
            <a:ext cx="2368157" cy="1998445"/>
            <a:chOff x="2755900" y="3746718"/>
            <a:chExt cx="3009900" cy="2540000"/>
          </a:xfrm>
        </p:grpSpPr>
        <p:sp>
          <p:nvSpPr>
            <p:cNvPr id="39" name="左中かっこ 38">
              <a:extLst>
                <a:ext uri="{FF2B5EF4-FFF2-40B4-BE49-F238E27FC236}">
                  <a16:creationId xmlns:a16="http://schemas.microsoft.com/office/drawing/2014/main" id="{24E7A8A9-FA4C-6F40-99E9-8331FBA11A9D}"/>
                </a:ext>
              </a:extLst>
            </p:cNvPr>
            <p:cNvSpPr/>
            <p:nvPr/>
          </p:nvSpPr>
          <p:spPr>
            <a:xfrm flipH="1">
              <a:off x="5257800" y="3746718"/>
              <a:ext cx="508000" cy="1955800"/>
            </a:xfrm>
            <a:prstGeom prst="leftBrace">
              <a:avLst/>
            </a:prstGeom>
            <a:ln w="571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40" name="左中かっこ 39">
              <a:extLst>
                <a:ext uri="{FF2B5EF4-FFF2-40B4-BE49-F238E27FC236}">
                  <a16:creationId xmlns:a16="http://schemas.microsoft.com/office/drawing/2014/main" id="{726D7BEE-F911-FC40-B057-670EB6A27069}"/>
                </a:ext>
              </a:extLst>
            </p:cNvPr>
            <p:cNvSpPr/>
            <p:nvPr/>
          </p:nvSpPr>
          <p:spPr>
            <a:xfrm rot="5400000" flipH="1">
              <a:off x="3752850" y="4807168"/>
              <a:ext cx="482600" cy="2476500"/>
            </a:xfrm>
            <a:prstGeom prst="leftBrace">
              <a:avLst/>
            </a:prstGeom>
            <a:ln w="571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nvGrpSpPr>
            <p:cNvPr id="46" name="グループ化 45">
              <a:extLst>
                <a:ext uri="{FF2B5EF4-FFF2-40B4-BE49-F238E27FC236}">
                  <a16:creationId xmlns:a16="http://schemas.microsoft.com/office/drawing/2014/main" id="{CA467AF3-CF27-44B6-BA53-CE9BDCFCB059}"/>
                </a:ext>
              </a:extLst>
            </p:cNvPr>
            <p:cNvGrpSpPr/>
            <p:nvPr/>
          </p:nvGrpSpPr>
          <p:grpSpPr>
            <a:xfrm>
              <a:off x="2840953" y="3872727"/>
              <a:ext cx="2319094" cy="1827605"/>
              <a:chOff x="2322930" y="3353671"/>
              <a:chExt cx="2319094" cy="1827605"/>
            </a:xfrm>
          </p:grpSpPr>
          <p:grpSp>
            <p:nvGrpSpPr>
              <p:cNvPr id="47" name="グループ化 46">
                <a:extLst>
                  <a:ext uri="{FF2B5EF4-FFF2-40B4-BE49-F238E27FC236}">
                    <a16:creationId xmlns:a16="http://schemas.microsoft.com/office/drawing/2014/main" id="{8476888C-4116-4F73-B364-6E43941D0019}"/>
                  </a:ext>
                </a:extLst>
              </p:cNvPr>
              <p:cNvGrpSpPr/>
              <p:nvPr/>
            </p:nvGrpSpPr>
            <p:grpSpPr>
              <a:xfrm>
                <a:off x="2652046" y="3451928"/>
                <a:ext cx="1700918" cy="1676670"/>
                <a:chOff x="1138989" y="3968713"/>
                <a:chExt cx="1700918" cy="1676670"/>
              </a:xfrm>
            </p:grpSpPr>
            <p:sp>
              <p:nvSpPr>
                <p:cNvPr id="49" name="正方形/長方形 48">
                  <a:extLst>
                    <a:ext uri="{FF2B5EF4-FFF2-40B4-BE49-F238E27FC236}">
                      <a16:creationId xmlns:a16="http://schemas.microsoft.com/office/drawing/2014/main" id="{E6BCF6B0-401F-49B3-BBE9-C56C795C476A}"/>
                    </a:ext>
                  </a:extLst>
                </p:cNvPr>
                <p:cNvSpPr/>
                <p:nvPr/>
              </p:nvSpPr>
              <p:spPr>
                <a:xfrm>
                  <a:off x="1138989" y="3974039"/>
                  <a:ext cx="319421" cy="319421"/>
                </a:xfrm>
                <a:prstGeom prst="rect">
                  <a:avLst/>
                </a:prstGeom>
                <a:solidFill>
                  <a:schemeClr val="accent6">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正方形/長方形 49">
                  <a:extLst>
                    <a:ext uri="{FF2B5EF4-FFF2-40B4-BE49-F238E27FC236}">
                      <a16:creationId xmlns:a16="http://schemas.microsoft.com/office/drawing/2014/main" id="{59B0ADCE-431E-4998-9286-BA192893191D}"/>
                    </a:ext>
                  </a:extLst>
                </p:cNvPr>
                <p:cNvSpPr/>
                <p:nvPr/>
              </p:nvSpPr>
              <p:spPr>
                <a:xfrm>
                  <a:off x="1599488" y="3974039"/>
                  <a:ext cx="319421" cy="319421"/>
                </a:xfrm>
                <a:prstGeom prst="rect">
                  <a:avLst/>
                </a:prstGeom>
                <a:solidFill>
                  <a:schemeClr val="accent6">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1" name="正方形/長方形 50">
                  <a:extLst>
                    <a:ext uri="{FF2B5EF4-FFF2-40B4-BE49-F238E27FC236}">
                      <a16:creationId xmlns:a16="http://schemas.microsoft.com/office/drawing/2014/main" id="{AD197B6C-4011-4116-B0C5-50DA54E914C7}"/>
                    </a:ext>
                  </a:extLst>
                </p:cNvPr>
                <p:cNvSpPr/>
                <p:nvPr/>
              </p:nvSpPr>
              <p:spPr>
                <a:xfrm>
                  <a:off x="2059987" y="3968714"/>
                  <a:ext cx="319421" cy="319421"/>
                </a:xfrm>
                <a:prstGeom prst="rect">
                  <a:avLst/>
                </a:prstGeom>
                <a:solidFill>
                  <a:schemeClr val="accent6">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正方形/長方形 51">
                  <a:extLst>
                    <a:ext uri="{FF2B5EF4-FFF2-40B4-BE49-F238E27FC236}">
                      <a16:creationId xmlns:a16="http://schemas.microsoft.com/office/drawing/2014/main" id="{DB7EB9DF-3962-422D-8FFA-9672D5AC2F89}"/>
                    </a:ext>
                  </a:extLst>
                </p:cNvPr>
                <p:cNvSpPr/>
                <p:nvPr/>
              </p:nvSpPr>
              <p:spPr>
                <a:xfrm>
                  <a:off x="2520486" y="3968713"/>
                  <a:ext cx="319421" cy="319421"/>
                </a:xfrm>
                <a:prstGeom prst="rect">
                  <a:avLst/>
                </a:prstGeom>
                <a:solidFill>
                  <a:schemeClr val="accent6">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正方形/長方形 52">
                  <a:extLst>
                    <a:ext uri="{FF2B5EF4-FFF2-40B4-BE49-F238E27FC236}">
                      <a16:creationId xmlns:a16="http://schemas.microsoft.com/office/drawing/2014/main" id="{BAE830B7-D234-4AB3-811E-76134884A7DA}"/>
                    </a:ext>
                  </a:extLst>
                </p:cNvPr>
                <p:cNvSpPr/>
                <p:nvPr/>
              </p:nvSpPr>
              <p:spPr>
                <a:xfrm>
                  <a:off x="1138989" y="4424680"/>
                  <a:ext cx="319421" cy="319421"/>
                </a:xfrm>
                <a:prstGeom prst="rect">
                  <a:avLst/>
                </a:prstGeom>
                <a:solidFill>
                  <a:schemeClr val="accent5">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正方形/長方形 53">
                  <a:extLst>
                    <a:ext uri="{FF2B5EF4-FFF2-40B4-BE49-F238E27FC236}">
                      <a16:creationId xmlns:a16="http://schemas.microsoft.com/office/drawing/2014/main" id="{62F74A0D-EF47-453D-81BF-39F1E564F179}"/>
                    </a:ext>
                  </a:extLst>
                </p:cNvPr>
                <p:cNvSpPr/>
                <p:nvPr/>
              </p:nvSpPr>
              <p:spPr>
                <a:xfrm>
                  <a:off x="1599488" y="4424680"/>
                  <a:ext cx="319421" cy="319421"/>
                </a:xfrm>
                <a:prstGeom prst="rect">
                  <a:avLst/>
                </a:prstGeom>
                <a:solidFill>
                  <a:schemeClr val="accent5">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正方形/長方形 54">
                  <a:extLst>
                    <a:ext uri="{FF2B5EF4-FFF2-40B4-BE49-F238E27FC236}">
                      <a16:creationId xmlns:a16="http://schemas.microsoft.com/office/drawing/2014/main" id="{3887C54A-47C3-4A6D-82D3-018D948182AC}"/>
                    </a:ext>
                  </a:extLst>
                </p:cNvPr>
                <p:cNvSpPr/>
                <p:nvPr/>
              </p:nvSpPr>
              <p:spPr>
                <a:xfrm>
                  <a:off x="2059987" y="4419355"/>
                  <a:ext cx="319421" cy="319421"/>
                </a:xfrm>
                <a:prstGeom prst="rect">
                  <a:avLst/>
                </a:prstGeom>
                <a:solidFill>
                  <a:schemeClr val="accent5">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正方形/長方形 55">
                  <a:extLst>
                    <a:ext uri="{FF2B5EF4-FFF2-40B4-BE49-F238E27FC236}">
                      <a16:creationId xmlns:a16="http://schemas.microsoft.com/office/drawing/2014/main" id="{D7E3C706-3BDD-48E1-AF5D-527D94E30360}"/>
                    </a:ext>
                  </a:extLst>
                </p:cNvPr>
                <p:cNvSpPr/>
                <p:nvPr/>
              </p:nvSpPr>
              <p:spPr>
                <a:xfrm>
                  <a:off x="2520486" y="4419354"/>
                  <a:ext cx="319421" cy="319421"/>
                </a:xfrm>
                <a:prstGeom prst="rect">
                  <a:avLst/>
                </a:prstGeom>
                <a:solidFill>
                  <a:schemeClr val="accent5">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正方形/長方形 56">
                  <a:extLst>
                    <a:ext uri="{FF2B5EF4-FFF2-40B4-BE49-F238E27FC236}">
                      <a16:creationId xmlns:a16="http://schemas.microsoft.com/office/drawing/2014/main" id="{B6D9EB1A-BC10-4281-9A9E-E4E3527D466E}"/>
                    </a:ext>
                  </a:extLst>
                </p:cNvPr>
                <p:cNvSpPr/>
                <p:nvPr/>
              </p:nvSpPr>
              <p:spPr>
                <a:xfrm>
                  <a:off x="1138989" y="4875321"/>
                  <a:ext cx="319421" cy="319421"/>
                </a:xfrm>
                <a:prstGeom prst="rect">
                  <a:avLst/>
                </a:prstGeom>
                <a:solidFill>
                  <a:schemeClr val="accent4">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正方形/長方形 57">
                  <a:extLst>
                    <a:ext uri="{FF2B5EF4-FFF2-40B4-BE49-F238E27FC236}">
                      <a16:creationId xmlns:a16="http://schemas.microsoft.com/office/drawing/2014/main" id="{4817842D-0945-4A07-B002-8EB55162D3C0}"/>
                    </a:ext>
                  </a:extLst>
                </p:cNvPr>
                <p:cNvSpPr/>
                <p:nvPr/>
              </p:nvSpPr>
              <p:spPr>
                <a:xfrm>
                  <a:off x="1599488" y="4875321"/>
                  <a:ext cx="319421" cy="319421"/>
                </a:xfrm>
                <a:prstGeom prst="rect">
                  <a:avLst/>
                </a:prstGeom>
                <a:solidFill>
                  <a:schemeClr val="accent4">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正方形/長方形 58">
                  <a:extLst>
                    <a:ext uri="{FF2B5EF4-FFF2-40B4-BE49-F238E27FC236}">
                      <a16:creationId xmlns:a16="http://schemas.microsoft.com/office/drawing/2014/main" id="{2161ADE7-C1A1-4A1B-8D71-49F28D336239}"/>
                    </a:ext>
                  </a:extLst>
                </p:cNvPr>
                <p:cNvSpPr/>
                <p:nvPr/>
              </p:nvSpPr>
              <p:spPr>
                <a:xfrm>
                  <a:off x="2059987" y="4869996"/>
                  <a:ext cx="319421" cy="319421"/>
                </a:xfrm>
                <a:prstGeom prst="rect">
                  <a:avLst/>
                </a:prstGeom>
                <a:solidFill>
                  <a:schemeClr val="accent4">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正方形/長方形 59">
                  <a:extLst>
                    <a:ext uri="{FF2B5EF4-FFF2-40B4-BE49-F238E27FC236}">
                      <a16:creationId xmlns:a16="http://schemas.microsoft.com/office/drawing/2014/main" id="{E122175F-F979-431B-A1C1-8B0F4B63D3D3}"/>
                    </a:ext>
                  </a:extLst>
                </p:cNvPr>
                <p:cNvSpPr/>
                <p:nvPr/>
              </p:nvSpPr>
              <p:spPr>
                <a:xfrm>
                  <a:off x="2520486" y="4869995"/>
                  <a:ext cx="319421" cy="319421"/>
                </a:xfrm>
                <a:prstGeom prst="rect">
                  <a:avLst/>
                </a:prstGeom>
                <a:solidFill>
                  <a:schemeClr val="accent4">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正方形/長方形 60">
                  <a:extLst>
                    <a:ext uri="{FF2B5EF4-FFF2-40B4-BE49-F238E27FC236}">
                      <a16:creationId xmlns:a16="http://schemas.microsoft.com/office/drawing/2014/main" id="{8C4E6FBB-0A6D-4701-ADE0-5763007AB674}"/>
                    </a:ext>
                  </a:extLst>
                </p:cNvPr>
                <p:cNvSpPr/>
                <p:nvPr/>
              </p:nvSpPr>
              <p:spPr>
                <a:xfrm>
                  <a:off x="1138989" y="5325962"/>
                  <a:ext cx="319421" cy="319421"/>
                </a:xfrm>
                <a:prstGeom prst="rect">
                  <a:avLst/>
                </a:prstGeom>
                <a:solidFill>
                  <a:schemeClr val="accent2">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正方形/長方形 61">
                  <a:extLst>
                    <a:ext uri="{FF2B5EF4-FFF2-40B4-BE49-F238E27FC236}">
                      <a16:creationId xmlns:a16="http://schemas.microsoft.com/office/drawing/2014/main" id="{319DF871-60FA-4B0A-965B-E467F4299E48}"/>
                    </a:ext>
                  </a:extLst>
                </p:cNvPr>
                <p:cNvSpPr/>
                <p:nvPr/>
              </p:nvSpPr>
              <p:spPr>
                <a:xfrm>
                  <a:off x="1599488" y="5325962"/>
                  <a:ext cx="319421" cy="319421"/>
                </a:xfrm>
                <a:prstGeom prst="rect">
                  <a:avLst/>
                </a:prstGeom>
                <a:solidFill>
                  <a:schemeClr val="accent2">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正方形/長方形 62">
                  <a:extLst>
                    <a:ext uri="{FF2B5EF4-FFF2-40B4-BE49-F238E27FC236}">
                      <a16:creationId xmlns:a16="http://schemas.microsoft.com/office/drawing/2014/main" id="{C1CAE236-5F7B-45A4-8DB2-560987CEA8FF}"/>
                    </a:ext>
                  </a:extLst>
                </p:cNvPr>
                <p:cNvSpPr/>
                <p:nvPr/>
              </p:nvSpPr>
              <p:spPr>
                <a:xfrm>
                  <a:off x="2059987" y="5320637"/>
                  <a:ext cx="319421" cy="319421"/>
                </a:xfrm>
                <a:prstGeom prst="rect">
                  <a:avLst/>
                </a:prstGeom>
                <a:solidFill>
                  <a:schemeClr val="accent2">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6CDD0B4D-3A35-409D-B112-29805951B146}"/>
                    </a:ext>
                  </a:extLst>
                </p:cNvPr>
                <p:cNvSpPr/>
                <p:nvPr/>
              </p:nvSpPr>
              <p:spPr>
                <a:xfrm>
                  <a:off x="2520486" y="5320636"/>
                  <a:ext cx="319421" cy="319421"/>
                </a:xfrm>
                <a:prstGeom prst="rect">
                  <a:avLst/>
                </a:prstGeom>
                <a:solidFill>
                  <a:schemeClr val="accent2">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48" name="大かっこ 47">
                <a:extLst>
                  <a:ext uri="{FF2B5EF4-FFF2-40B4-BE49-F238E27FC236}">
                    <a16:creationId xmlns:a16="http://schemas.microsoft.com/office/drawing/2014/main" id="{13E18B23-C4E2-495C-B9E5-8436BEFA1844}"/>
                  </a:ext>
                </a:extLst>
              </p:cNvPr>
              <p:cNvSpPr/>
              <p:nvPr/>
            </p:nvSpPr>
            <p:spPr>
              <a:xfrm>
                <a:off x="2322930" y="3353671"/>
                <a:ext cx="2319094" cy="1827605"/>
              </a:xfrm>
              <a:prstGeom prst="bracketPair">
                <a:avLst/>
              </a:prstGeom>
              <a:ln w="571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p:spTree>
    <p:extLst>
      <p:ext uri="{BB962C8B-B14F-4D97-AF65-F5344CB8AC3E}">
        <p14:creationId xmlns:p14="http://schemas.microsoft.com/office/powerpoint/2010/main" val="29881608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074CAF-DB99-43A0-95DD-4DF60DD29C9E}"/>
              </a:ext>
            </a:extLst>
          </p:cNvPr>
          <p:cNvSpPr>
            <a:spLocks noGrp="1"/>
          </p:cNvSpPr>
          <p:nvPr>
            <p:ph type="title"/>
          </p:nvPr>
        </p:nvSpPr>
        <p:spPr/>
        <p:txBody>
          <a:bodyPr/>
          <a:lstStyle/>
          <a:p>
            <a:r>
              <a:rPr kumimoji="1" lang="en-US" altLang="ja-JP" dirty="0"/>
              <a:t>Hutchinson</a:t>
            </a:r>
            <a:r>
              <a:rPr kumimoji="1" lang="ja-JP" altLang="en-US" dirty="0"/>
              <a:t>手法</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E433D31A-9727-47B5-B756-DBFCDCF57EC9}"/>
                  </a:ext>
                </a:extLst>
              </p:cNvPr>
              <p:cNvSpPr>
                <a:spLocks noGrp="1"/>
              </p:cNvSpPr>
              <p:nvPr>
                <p:ph idx="1"/>
              </p:nvPr>
            </p:nvSpPr>
            <p:spPr/>
            <p:txBody>
              <a:bodyPr>
                <a:normAutofit/>
              </a:bodyPr>
              <a:lstStyle/>
              <a:p>
                <a:r>
                  <a:rPr kumimoji="1" lang="en-US" altLang="ja-JP" dirty="0"/>
                  <a:t>Hutchinson</a:t>
                </a:r>
                <a:r>
                  <a:rPr kumimoji="1" lang="ja-JP" altLang="en-US" dirty="0"/>
                  <a:t>手法</a:t>
                </a:r>
                <a:r>
                  <a:rPr kumimoji="1" lang="en-US" altLang="ja-JP" dirty="0"/>
                  <a:t>[1]</a:t>
                </a:r>
                <a:r>
                  <a:rPr kumimoji="1" lang="ja-JP" altLang="en-US" dirty="0"/>
                  <a:t>は行列の対角和を近似する方法</a:t>
                </a:r>
                <a:endParaRPr kumimoji="1" lang="en-US" altLang="ja-JP" dirty="0"/>
              </a:p>
              <a:p>
                <a:pPr marL="0" indent="0">
                  <a:buNone/>
                </a:pPr>
                <a:endParaRPr kumimoji="1" lang="en-US" altLang="ja-JP" dirty="0"/>
              </a:p>
              <a:p>
                <a:pPr marL="0" indent="0">
                  <a:buNone/>
                </a:pPr>
                <a14:m>
                  <m:oMathPara xmlns:m="http://schemas.openxmlformats.org/officeDocument/2006/math">
                    <m:oMathParaPr>
                      <m:jc m:val="centerGroup"/>
                    </m:oMathParaPr>
                    <m:oMath xmlns:m="http://schemas.openxmlformats.org/officeDocument/2006/math">
                      <m:eqArr>
                        <m:eqArrPr>
                          <m:ctrlPr>
                            <a:rPr lang="en-US" altLang="ja-JP" b="0" i="1" smtClean="0">
                              <a:latin typeface="Cambria Math" panose="02040503050406030204" pitchFamily="18" charset="0"/>
                              <a:ea typeface="Cambria Math" panose="02040503050406030204" pitchFamily="18" charset="0"/>
                            </a:rPr>
                          </m:ctrlPr>
                        </m:eqArrPr>
                        <m:e>
                          <m:r>
                            <a:rPr lang="en-US" altLang="ja-JP" i="1">
                              <a:latin typeface="Cambria Math" panose="02040503050406030204" pitchFamily="18" charset="0"/>
                            </a:rPr>
                            <m:t> </m:t>
                          </m:r>
                          <m:r>
                            <a:rPr lang="en-US" altLang="ja-JP" i="1" smtClean="0">
                              <a:latin typeface="Cambria Math" panose="02040503050406030204" pitchFamily="18" charset="0"/>
                            </a:rPr>
                            <m:t>𝑡𝑟</m:t>
                          </m:r>
                          <m:r>
                            <a:rPr lang="en-US" altLang="ja-JP" b="0" i="1" smtClean="0">
                              <a:latin typeface="Cambria Math" panose="02040503050406030204" pitchFamily="18" charset="0"/>
                            </a:rPr>
                            <m:t>𝑎𝑐𝑒</m:t>
                          </m:r>
                          <m:d>
                            <m:dPr>
                              <m:ctrlPr>
                                <a:rPr lang="en-US" altLang="ja-JP" i="1">
                                  <a:latin typeface="Cambria Math" panose="02040503050406030204" pitchFamily="18" charset="0"/>
                                </a:rPr>
                              </m:ctrlPr>
                            </m:dPr>
                            <m:e>
                              <m:sSub>
                                <m:sSubPr>
                                  <m:ctrlPr>
                                    <a:rPr lang="en-US" altLang="ja-JP" i="1">
                                      <a:latin typeface="Cambria Math" panose="02040503050406030204" pitchFamily="18" charset="0"/>
                                      <a:ea typeface="Cambria Math" panose="02040503050406030204" pitchFamily="18" charset="0"/>
                                    </a:rPr>
                                  </m:ctrlPr>
                                </m:sSubPr>
                                <m:e>
                                  <m:r>
                                    <a:rPr lang="en-US" altLang="ja-JP" b="1">
                                      <a:latin typeface="Cambria Math" panose="02040503050406030204" pitchFamily="18" charset="0"/>
                                      <a:ea typeface="Cambria Math" panose="02040503050406030204" pitchFamily="18" charset="0"/>
                                    </a:rPr>
                                    <m:t>𝐀</m:t>
                                  </m:r>
                                </m:e>
                                <m:sub>
                                  <m:r>
                                    <a:rPr lang="en-US" altLang="ja-JP" i="1">
                                      <a:latin typeface="Cambria Math" panose="02040503050406030204" pitchFamily="18" charset="0"/>
                                      <a:ea typeface="Cambria Math" panose="02040503050406030204" pitchFamily="18" charset="0"/>
                                    </a:rPr>
                                    <m:t>𝑘</m:t>
                                  </m:r>
                                </m:sub>
                              </m:sSub>
                            </m:e>
                          </m:d>
                          <m:r>
                            <a:rPr lang="en-US" altLang="ja-JP" i="1">
                              <a:latin typeface="Cambria Math" panose="02040503050406030204" pitchFamily="18" charset="0"/>
                            </a:rPr>
                            <m:t> </m:t>
                          </m:r>
                          <m:r>
                            <a:rPr lang="en-US" altLang="ja-JP" i="1">
                              <a:latin typeface="Cambria Math" panose="02040503050406030204" pitchFamily="18" charset="0"/>
                              <a:ea typeface="Cambria Math" panose="02040503050406030204" pitchFamily="18" charset="0"/>
                            </a:rPr>
                            <m:t>≈ </m:t>
                          </m:r>
                          <m:f>
                            <m:fPr>
                              <m:ctrlPr>
                                <a:rPr lang="en-US" altLang="ja-JP" i="1">
                                  <a:latin typeface="Cambria Math" panose="02040503050406030204" pitchFamily="18" charset="0"/>
                                  <a:ea typeface="Cambria Math" panose="02040503050406030204" pitchFamily="18" charset="0"/>
                                </a:rPr>
                              </m:ctrlPr>
                            </m:fPr>
                            <m:num>
                              <m:r>
                                <a:rPr lang="en-US" altLang="ja-JP" i="1">
                                  <a:latin typeface="Cambria Math" panose="02040503050406030204" pitchFamily="18" charset="0"/>
                                  <a:ea typeface="Cambria Math" panose="02040503050406030204" pitchFamily="18" charset="0"/>
                                </a:rPr>
                                <m:t>1</m:t>
                              </m:r>
                            </m:num>
                            <m:den>
                              <m:r>
                                <a:rPr lang="en-US" altLang="ja-JP" i="1">
                                  <a:latin typeface="Cambria Math" panose="02040503050406030204" pitchFamily="18" charset="0"/>
                                  <a:ea typeface="Cambria Math" panose="02040503050406030204" pitchFamily="18" charset="0"/>
                                </a:rPr>
                                <m:t>𝑠</m:t>
                              </m:r>
                            </m:den>
                          </m:f>
                          <m:r>
                            <a:rPr lang="en-US" altLang="ja-JP" i="1">
                              <a:latin typeface="Cambria Math" panose="02040503050406030204" pitchFamily="18" charset="0"/>
                              <a:ea typeface="Cambria Math" panose="02040503050406030204" pitchFamily="18" charset="0"/>
                            </a:rPr>
                            <m:t> </m:t>
                          </m:r>
                          <m:nary>
                            <m:naryPr>
                              <m:chr m:val="∑"/>
                              <m:ctrlPr>
                                <a:rPr lang="en-US" altLang="ja-JP" i="1">
                                  <a:latin typeface="Cambria Math" panose="02040503050406030204" pitchFamily="18" charset="0"/>
                                  <a:ea typeface="Cambria Math" panose="02040503050406030204" pitchFamily="18" charset="0"/>
                                </a:rPr>
                              </m:ctrlPr>
                            </m:naryPr>
                            <m:sub>
                              <m:r>
                                <a:rPr lang="en-US" altLang="ja-JP" b="0" i="1" smtClean="0">
                                  <a:latin typeface="Cambria Math" panose="02040503050406030204" pitchFamily="18" charset="0"/>
                                  <a:ea typeface="Cambria Math" panose="02040503050406030204" pitchFamily="18" charset="0"/>
                                </a:rPr>
                                <m:t>𝑙</m:t>
                              </m:r>
                              <m:r>
                                <a:rPr lang="en-US" altLang="ja-JP" i="1">
                                  <a:latin typeface="Cambria Math" panose="02040503050406030204" pitchFamily="18" charset="0"/>
                                  <a:ea typeface="Cambria Math" panose="02040503050406030204" pitchFamily="18" charset="0"/>
                                </a:rPr>
                                <m:t>=1</m:t>
                              </m:r>
                            </m:sub>
                            <m:sup>
                              <m:r>
                                <a:rPr lang="en-US" altLang="ja-JP" i="1">
                                  <a:latin typeface="Cambria Math" panose="02040503050406030204" pitchFamily="18" charset="0"/>
                                  <a:ea typeface="Cambria Math" panose="02040503050406030204" pitchFamily="18" charset="0"/>
                                </a:rPr>
                                <m:t>𝑠</m:t>
                              </m:r>
                            </m:sup>
                            <m:e>
                              <m:sSubSup>
                                <m:sSubSupPr>
                                  <m:ctrlPr>
                                    <a:rPr lang="en-US" altLang="ja-JP" i="1">
                                      <a:latin typeface="Cambria Math" panose="02040503050406030204" pitchFamily="18" charset="0"/>
                                      <a:ea typeface="Cambria Math" panose="02040503050406030204" pitchFamily="18" charset="0"/>
                                    </a:rPr>
                                  </m:ctrlPr>
                                </m:sSubSupPr>
                                <m:e>
                                  <m:r>
                                    <a:rPr lang="en-US" altLang="ja-JP" b="1">
                                      <a:latin typeface="Cambria Math" panose="02040503050406030204" pitchFamily="18" charset="0"/>
                                      <a:ea typeface="Cambria Math" panose="02040503050406030204" pitchFamily="18" charset="0"/>
                                    </a:rPr>
                                    <m:t>𝐳</m:t>
                                  </m:r>
                                </m:e>
                                <m:sub>
                                  <m:r>
                                    <a:rPr lang="en-US" altLang="ja-JP" b="0" i="1" smtClean="0">
                                      <a:latin typeface="Cambria Math" panose="02040503050406030204" pitchFamily="18" charset="0"/>
                                      <a:ea typeface="Cambria Math" panose="02040503050406030204" pitchFamily="18" charset="0"/>
                                    </a:rPr>
                                    <m:t>𝑙</m:t>
                                  </m:r>
                                </m:sub>
                                <m:sup>
                                  <m:r>
                                    <a:rPr lang="en-US" altLang="ja-JP" i="1">
                                      <a:latin typeface="Cambria Math" panose="02040503050406030204" pitchFamily="18" charset="0"/>
                                      <a:ea typeface="Cambria Math" panose="02040503050406030204" pitchFamily="18" charset="0"/>
                                    </a:rPr>
                                    <m:t>𝑇</m:t>
                                  </m:r>
                                </m:sup>
                              </m:sSubSup>
                              <m:sSub>
                                <m:sSubPr>
                                  <m:ctrlPr>
                                    <a:rPr lang="en-US" altLang="ja-JP" i="1" smtClean="0">
                                      <a:latin typeface="Cambria Math" panose="02040503050406030204" pitchFamily="18" charset="0"/>
                                      <a:ea typeface="Cambria Math" panose="02040503050406030204" pitchFamily="18" charset="0"/>
                                    </a:rPr>
                                  </m:ctrlPr>
                                </m:sSubPr>
                                <m:e>
                                  <m:r>
                                    <a:rPr lang="en-US" altLang="ja-JP" b="1" i="0" smtClean="0">
                                      <a:latin typeface="Cambria Math" panose="02040503050406030204" pitchFamily="18" charset="0"/>
                                      <a:ea typeface="Cambria Math" panose="02040503050406030204" pitchFamily="18" charset="0"/>
                                    </a:rPr>
                                    <m:t>𝐀</m:t>
                                  </m:r>
                                </m:e>
                                <m:sub>
                                  <m:r>
                                    <a:rPr lang="en-US" altLang="ja-JP" b="0" i="1" smtClean="0">
                                      <a:latin typeface="Cambria Math" panose="02040503050406030204" pitchFamily="18" charset="0"/>
                                      <a:ea typeface="Cambria Math" panose="02040503050406030204" pitchFamily="18" charset="0"/>
                                    </a:rPr>
                                    <m:t>𝑘</m:t>
                                  </m:r>
                                </m:sub>
                              </m:sSub>
                              <m:sSub>
                                <m:sSubPr>
                                  <m:ctrlPr>
                                    <a:rPr lang="en-US" altLang="ja-JP" i="1">
                                      <a:latin typeface="Cambria Math" panose="02040503050406030204" pitchFamily="18" charset="0"/>
                                      <a:ea typeface="Cambria Math" panose="02040503050406030204" pitchFamily="18" charset="0"/>
                                    </a:rPr>
                                  </m:ctrlPr>
                                </m:sSubPr>
                                <m:e>
                                  <m:r>
                                    <a:rPr lang="en-US" altLang="ja-JP" b="1">
                                      <a:latin typeface="Cambria Math" panose="02040503050406030204" pitchFamily="18" charset="0"/>
                                      <a:ea typeface="Cambria Math" panose="02040503050406030204" pitchFamily="18" charset="0"/>
                                    </a:rPr>
                                    <m:t>𝐳</m:t>
                                  </m:r>
                                </m:e>
                                <m:sub>
                                  <m:r>
                                    <a:rPr lang="en-US" altLang="ja-JP" b="0" i="1" smtClean="0">
                                      <a:latin typeface="Cambria Math" panose="02040503050406030204" pitchFamily="18" charset="0"/>
                                      <a:ea typeface="Cambria Math" panose="02040503050406030204" pitchFamily="18" charset="0"/>
                                    </a:rPr>
                                    <m:t>𝑙</m:t>
                                  </m:r>
                                </m:sub>
                              </m:sSub>
                            </m:e>
                          </m:nary>
                          <m:r>
                            <a:rPr lang="en-US" altLang="ja-JP" i="1">
                              <a:latin typeface="Cambria Math" panose="02040503050406030204" pitchFamily="18" charset="0"/>
                              <a:ea typeface="Cambria Math" panose="02040503050406030204" pitchFamily="18" charset="0"/>
                            </a:rPr>
                            <m:t>#</m:t>
                          </m:r>
                        </m:e>
                      </m:eqArr>
                    </m:oMath>
                  </m:oMathPara>
                </a14:m>
                <a:endParaRPr lang="en-US" altLang="ja-JP" b="0" dirty="0">
                  <a:ea typeface="Cambria Math" panose="02040503050406030204" pitchFamily="18" charset="0"/>
                </a:endParaRPr>
              </a:p>
              <a:p>
                <a:pPr marL="0" indent="0">
                  <a:buNone/>
                </a:pPr>
                <a:endParaRPr lang="en-US" altLang="ja-JP" b="0" dirty="0"/>
              </a:p>
              <a:p>
                <a:pPr marL="0" indent="0">
                  <a:buNone/>
                </a:pPr>
                <a:r>
                  <a:rPr lang="en-US" altLang="ja-JP" b="0" dirty="0"/>
                  <a:t>※ </a:t>
                </a:r>
                <a14:m>
                  <m:oMath xmlns:m="http://schemas.openxmlformats.org/officeDocument/2006/math">
                    <m:sSub>
                      <m:sSubPr>
                        <m:ctrlPr>
                          <a:rPr lang="en-US" altLang="ja-JP" i="1">
                            <a:latin typeface="Cambria Math" panose="02040503050406030204" pitchFamily="18" charset="0"/>
                            <a:ea typeface="Cambria Math" panose="02040503050406030204" pitchFamily="18" charset="0"/>
                          </a:rPr>
                        </m:ctrlPr>
                      </m:sSubPr>
                      <m:e>
                        <m:r>
                          <a:rPr lang="en-US" altLang="ja-JP" b="1">
                            <a:latin typeface="Cambria Math" panose="02040503050406030204" pitchFamily="18" charset="0"/>
                            <a:ea typeface="Cambria Math" panose="02040503050406030204" pitchFamily="18" charset="0"/>
                          </a:rPr>
                          <m:t>𝐀</m:t>
                        </m:r>
                      </m:e>
                      <m:sub>
                        <m:r>
                          <a:rPr lang="en-US" altLang="ja-JP" i="1">
                            <a:latin typeface="Cambria Math" panose="02040503050406030204" pitchFamily="18" charset="0"/>
                            <a:ea typeface="Cambria Math" panose="02040503050406030204" pitchFamily="18" charset="0"/>
                          </a:rPr>
                          <m:t>𝑘</m:t>
                        </m:r>
                      </m:sub>
                    </m:sSub>
                    <m:r>
                      <a:rPr lang="en-US" altLang="ja-JP" b="1" i="1" smtClean="0">
                        <a:latin typeface="Cambria Math" panose="02040503050406030204" pitchFamily="18" charset="0"/>
                      </a:rPr>
                      <m:t>∈ </m:t>
                    </m:r>
                    <m:sSup>
                      <m:sSupPr>
                        <m:ctrlPr>
                          <a:rPr lang="en-US" altLang="ja-JP" b="1" i="1" smtClean="0">
                            <a:latin typeface="Cambria Math" panose="02040503050406030204" pitchFamily="18" charset="0"/>
                            <a:ea typeface="Cambria Math" panose="02040503050406030204" pitchFamily="18" charset="0"/>
                          </a:rPr>
                        </m:ctrlPr>
                      </m:sSupPr>
                      <m:e>
                        <m:r>
                          <a:rPr lang="en-US" altLang="ja-JP" b="1" i="1" smtClean="0">
                            <a:latin typeface="Cambria Math" panose="02040503050406030204" pitchFamily="18" charset="0"/>
                            <a:ea typeface="Cambria Math" panose="02040503050406030204" pitchFamily="18" charset="0"/>
                          </a:rPr>
                          <m:t>ℝ</m:t>
                        </m:r>
                      </m:e>
                      <m:sup>
                        <m:r>
                          <a:rPr lang="en-US" altLang="ja-JP" b="0" i="1" smtClean="0">
                            <a:latin typeface="Cambria Math" panose="02040503050406030204" pitchFamily="18" charset="0"/>
                            <a:ea typeface="Cambria Math" panose="02040503050406030204" pitchFamily="18" charset="0"/>
                          </a:rPr>
                          <m:t>𝑛</m:t>
                        </m:r>
                        <m:r>
                          <a:rPr lang="en-US" altLang="ja-JP" b="0" i="1" smtClean="0">
                            <a:latin typeface="Cambria Math" panose="02040503050406030204" pitchFamily="18" charset="0"/>
                            <a:ea typeface="Cambria Math" panose="02040503050406030204" pitchFamily="18" charset="0"/>
                          </a:rPr>
                          <m:t> ×</m:t>
                        </m:r>
                        <m:r>
                          <a:rPr lang="en-US" altLang="ja-JP" b="0" i="1" smtClean="0">
                            <a:latin typeface="Cambria Math" panose="02040503050406030204" pitchFamily="18" charset="0"/>
                            <a:ea typeface="Cambria Math" panose="02040503050406030204" pitchFamily="18" charset="0"/>
                          </a:rPr>
                          <m:t>𝑛</m:t>
                        </m:r>
                      </m:sup>
                    </m:sSup>
                  </m:oMath>
                </a14:m>
                <a:r>
                  <a:rPr lang="en-US" altLang="ja-JP" b="1" dirty="0"/>
                  <a:t> : </a:t>
                </a:r>
                <a:r>
                  <a:rPr lang="ja-JP" altLang="en-US" dirty="0"/>
                  <a:t>対角和を求めたい行列</a:t>
                </a:r>
                <a:endParaRPr lang="en-US" altLang="ja-JP" dirty="0"/>
              </a:p>
              <a:p>
                <a:pPr marL="0" indent="0">
                  <a:buNone/>
                </a:pPr>
                <a:r>
                  <a:rPr lang="en-US" altLang="ja-JP" dirty="0">
                    <a:ea typeface="Cambria Math" panose="02040503050406030204" pitchFamily="18" charset="0"/>
                  </a:rPr>
                  <a:t>     </a:t>
                </a:r>
                <a14:m>
                  <m:oMath xmlns:m="http://schemas.openxmlformats.org/officeDocument/2006/math">
                    <m:sSub>
                      <m:sSubPr>
                        <m:ctrlPr>
                          <a:rPr lang="en-US" altLang="ja-JP" i="1">
                            <a:latin typeface="Cambria Math" panose="02040503050406030204" pitchFamily="18" charset="0"/>
                            <a:ea typeface="Cambria Math" panose="02040503050406030204" pitchFamily="18" charset="0"/>
                          </a:rPr>
                        </m:ctrlPr>
                      </m:sSubPr>
                      <m:e>
                        <m:r>
                          <a:rPr lang="en-US" altLang="ja-JP" b="1" i="0" smtClean="0">
                            <a:latin typeface="Cambria Math" panose="02040503050406030204" pitchFamily="18" charset="0"/>
                            <a:ea typeface="Cambria Math" panose="02040503050406030204" pitchFamily="18" charset="0"/>
                          </a:rPr>
                          <m:t>𝐳</m:t>
                        </m:r>
                      </m:e>
                      <m:sub>
                        <m:r>
                          <a:rPr lang="en-US" altLang="ja-JP" b="0" i="1" smtClean="0">
                            <a:latin typeface="Cambria Math" panose="02040503050406030204" pitchFamily="18" charset="0"/>
                            <a:ea typeface="Cambria Math" panose="02040503050406030204" pitchFamily="18" charset="0"/>
                          </a:rPr>
                          <m:t>𝑙</m:t>
                        </m:r>
                      </m:sub>
                    </m:sSub>
                    <m:r>
                      <a:rPr lang="en-US" altLang="ja-JP" b="0" i="1">
                        <a:latin typeface="Cambria Math" panose="02040503050406030204" pitchFamily="18" charset="0"/>
                        <a:ea typeface="Cambria Math" panose="02040503050406030204" pitchFamily="18" charset="0"/>
                      </a:rPr>
                      <m:t>∈ </m:t>
                    </m:r>
                    <m:sSup>
                      <m:sSupPr>
                        <m:ctrlPr>
                          <a:rPr lang="en-US" altLang="ja-JP" i="1">
                            <a:latin typeface="Cambria Math" panose="02040503050406030204" pitchFamily="18" charset="0"/>
                            <a:ea typeface="Cambria Math" panose="02040503050406030204" pitchFamily="18" charset="0"/>
                          </a:rPr>
                        </m:ctrlPr>
                      </m:sSupPr>
                      <m:e>
                        <m:r>
                          <a:rPr lang="en-US" altLang="ja-JP" b="0" i="1">
                            <a:latin typeface="Cambria Math" panose="02040503050406030204" pitchFamily="18" charset="0"/>
                            <a:ea typeface="Cambria Math" panose="02040503050406030204" pitchFamily="18" charset="0"/>
                          </a:rPr>
                          <m:t>ℝ</m:t>
                        </m:r>
                      </m:e>
                      <m:sup>
                        <m:r>
                          <a:rPr lang="en-US" altLang="ja-JP" b="0" i="1">
                            <a:latin typeface="Cambria Math" panose="02040503050406030204" pitchFamily="18" charset="0"/>
                            <a:ea typeface="Cambria Math" panose="02040503050406030204" pitchFamily="18" charset="0"/>
                          </a:rPr>
                          <m:t>𝑛</m:t>
                        </m:r>
                      </m:sup>
                    </m:sSup>
                  </m:oMath>
                </a14:m>
                <a:r>
                  <a:rPr lang="en-US" altLang="ja-JP" dirty="0"/>
                  <a:t> : -1</a:t>
                </a:r>
                <a:r>
                  <a:rPr lang="ja-JP" altLang="en-US" dirty="0"/>
                  <a:t>か</a:t>
                </a:r>
                <a:r>
                  <a:rPr lang="en-US" altLang="ja-JP" dirty="0"/>
                  <a:t>1</a:t>
                </a:r>
                <a:r>
                  <a:rPr lang="ja-JP" altLang="en-US" dirty="0"/>
                  <a:t>でできたランダムベクトル</a:t>
                </a:r>
                <a:endParaRPr lang="en-US" altLang="ja-JP" dirty="0"/>
              </a:p>
              <a:p>
                <a:pPr marL="0" indent="0">
                  <a:buNone/>
                </a:pPr>
                <a:r>
                  <a:rPr lang="ja-JP" altLang="en-US" dirty="0"/>
                  <a:t>　　  </a:t>
                </a:r>
                <a14:m>
                  <m:oMath xmlns:m="http://schemas.openxmlformats.org/officeDocument/2006/math">
                    <m:r>
                      <a:rPr lang="en-US" altLang="ja-JP" i="1">
                        <a:latin typeface="Cambria Math" panose="02040503050406030204" pitchFamily="18" charset="0"/>
                        <a:ea typeface="Cambria Math" panose="02040503050406030204" pitchFamily="18" charset="0"/>
                      </a:rPr>
                      <m:t>𝑠</m:t>
                    </m:r>
                  </m:oMath>
                </a14:m>
                <a:r>
                  <a:rPr lang="ja-JP" altLang="en-US" dirty="0"/>
                  <a:t>　： 近似回数</a:t>
                </a:r>
                <a:endParaRPr lang="en-US" altLang="ja-JP" dirty="0"/>
              </a:p>
            </p:txBody>
          </p:sp>
        </mc:Choice>
        <mc:Fallback xmlns="">
          <p:sp>
            <p:nvSpPr>
              <p:cNvPr id="3" name="コンテンツ プレースホルダー 2">
                <a:extLst>
                  <a:ext uri="{FF2B5EF4-FFF2-40B4-BE49-F238E27FC236}">
                    <a16:creationId xmlns:a16="http://schemas.microsoft.com/office/drawing/2014/main" id="{E433D31A-9727-47B5-B756-DBFCDCF57EC9}"/>
                  </a:ext>
                </a:extLst>
              </p:cNvPr>
              <p:cNvSpPr>
                <a:spLocks noGrp="1" noRot="1" noChangeAspect="1" noMove="1" noResize="1" noEditPoints="1" noAdjustHandles="1" noChangeArrowheads="1" noChangeShapeType="1" noTextEdit="1"/>
              </p:cNvSpPr>
              <p:nvPr>
                <p:ph idx="1"/>
              </p:nvPr>
            </p:nvSpPr>
            <p:spPr>
              <a:blipFill>
                <a:blip r:embed="rId3"/>
                <a:stretch>
                  <a:fillRect l="-1217" t="-2241"/>
                </a:stretch>
              </a:blipFill>
            </p:spPr>
            <p:txBody>
              <a:bodyPr/>
              <a:lstStyle/>
              <a:p>
                <a:r>
                  <a:rPr lang="ja-JP" altLang="en-US">
                    <a:noFill/>
                  </a:rPr>
                  <a:t> </a:t>
                </a:r>
              </a:p>
            </p:txBody>
          </p:sp>
        </mc:Fallback>
      </mc:AlternateContent>
      <p:sp>
        <p:nvSpPr>
          <p:cNvPr id="5" name="スライド番号プレースホルダー 4">
            <a:extLst>
              <a:ext uri="{FF2B5EF4-FFF2-40B4-BE49-F238E27FC236}">
                <a16:creationId xmlns:a16="http://schemas.microsoft.com/office/drawing/2014/main" id="{386CDC29-CA32-45AA-A1CF-7F4E410207B7}"/>
              </a:ext>
            </a:extLst>
          </p:cNvPr>
          <p:cNvSpPr>
            <a:spLocks noGrp="1"/>
          </p:cNvSpPr>
          <p:nvPr>
            <p:ph type="sldNum" sz="quarter" idx="12"/>
          </p:nvPr>
        </p:nvSpPr>
        <p:spPr/>
        <p:txBody>
          <a:bodyPr/>
          <a:lstStyle/>
          <a:p>
            <a:r>
              <a:rPr kumimoji="1" lang="en-US" altLang="ja-JP" dirty="0"/>
              <a:t>7</a:t>
            </a:r>
            <a:endParaRPr kumimoji="1" lang="ja-JP" altLang="en-US" dirty="0"/>
          </a:p>
        </p:txBody>
      </p:sp>
      <p:sp>
        <p:nvSpPr>
          <p:cNvPr id="6" name="テキスト ボックス 5">
            <a:extLst>
              <a:ext uri="{FF2B5EF4-FFF2-40B4-BE49-F238E27FC236}">
                <a16:creationId xmlns:a16="http://schemas.microsoft.com/office/drawing/2014/main" id="{10CC409E-9AF5-4C0E-A903-C8C74509E5FB}"/>
              </a:ext>
            </a:extLst>
          </p:cNvPr>
          <p:cNvSpPr txBox="1"/>
          <p:nvPr/>
        </p:nvSpPr>
        <p:spPr>
          <a:xfrm>
            <a:off x="10701293" y="2954744"/>
            <a:ext cx="667839" cy="596253"/>
          </a:xfrm>
          <a:prstGeom prst="rect">
            <a:avLst/>
          </a:prstGeom>
          <a:solidFill>
            <a:srgbClr val="E4E4E4"/>
          </a:solidFill>
        </p:spPr>
        <p:txBody>
          <a:bodyPr wrap="square" rtlCol="0">
            <a:spAutoFit/>
          </a:bodyPr>
          <a:lstStyle/>
          <a:p>
            <a:pPr>
              <a:lnSpc>
                <a:spcPct val="150000"/>
              </a:lnSpc>
            </a:pPr>
            <a:r>
              <a:rPr kumimoji="1" lang="en-US" altLang="ja-JP" sz="24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(5)</a:t>
            </a:r>
            <a:endParaRPr kumimoji="1" lang="ja-JP" altLang="en-US" sz="24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p:sp>
        <p:nvSpPr>
          <p:cNvPr id="8" name="テキスト ボックス 7">
            <a:extLst>
              <a:ext uri="{FF2B5EF4-FFF2-40B4-BE49-F238E27FC236}">
                <a16:creationId xmlns:a16="http://schemas.microsoft.com/office/drawing/2014/main" id="{EFC5C9D8-F0B4-4D7F-A018-EA9770CE9E32}"/>
              </a:ext>
            </a:extLst>
          </p:cNvPr>
          <p:cNvSpPr txBox="1"/>
          <p:nvPr/>
        </p:nvSpPr>
        <p:spPr>
          <a:xfrm>
            <a:off x="1498600" y="6231265"/>
            <a:ext cx="9194800" cy="523220"/>
          </a:xfrm>
          <a:prstGeom prst="rect">
            <a:avLst/>
          </a:prstGeom>
          <a:noFill/>
        </p:spPr>
        <p:txBody>
          <a:bodyPr wrap="square">
            <a:spAutoFit/>
          </a:bodyPr>
          <a:lstStyle/>
          <a:p>
            <a:r>
              <a:rPr lang="en-US" altLang="ja-JP" sz="1400" dirty="0">
                <a:latin typeface="UD デジタル 教科書体 NK-R" panose="02020400000000000000" pitchFamily="18" charset="-128"/>
                <a:ea typeface="UD デジタル 教科書体 NK-R" panose="02020400000000000000" pitchFamily="18" charset="-128"/>
              </a:rPr>
              <a:t>M. F. Hutchinson, “A stochastic estimator of the trace of the influence matrix for </a:t>
            </a:r>
            <a:r>
              <a:rPr lang="en-US" altLang="ja-JP" sz="1400" dirty="0" err="1">
                <a:latin typeface="UD デジタル 教科書体 NK-R" panose="02020400000000000000" pitchFamily="18" charset="-128"/>
                <a:ea typeface="UD デジタル 教科書体 NK-R" panose="02020400000000000000" pitchFamily="18" charset="-128"/>
              </a:rPr>
              <a:t>laplacian</a:t>
            </a:r>
            <a:r>
              <a:rPr lang="en-US" altLang="ja-JP" sz="1400" dirty="0">
                <a:latin typeface="UD デジタル 教科書体 NK-R" panose="02020400000000000000" pitchFamily="18" charset="-128"/>
                <a:ea typeface="UD デジタル 教科書体 NK-R" panose="02020400000000000000" pitchFamily="18" charset="-128"/>
              </a:rPr>
              <a:t> smoothing       splines”, Communications in Statistics-Simulation and Computation, vol. 19, no. 2, pp. 433–450, 1990.</a:t>
            </a:r>
            <a:endParaRPr lang="ja-JP" altLang="en-US" sz="1400" dirty="0">
              <a:latin typeface="UD デジタル 教科書体 NK-R" panose="02020400000000000000" pitchFamily="18" charset="-128"/>
              <a:ea typeface="UD デジタル 教科書体 NK-R" panose="02020400000000000000" pitchFamily="18" charset="-128"/>
            </a:endParaRPr>
          </a:p>
        </p:txBody>
      </p:sp>
      <p:sp>
        <p:nvSpPr>
          <p:cNvPr id="9" name="テキスト ボックス 8">
            <a:extLst>
              <a:ext uri="{FF2B5EF4-FFF2-40B4-BE49-F238E27FC236}">
                <a16:creationId xmlns:a16="http://schemas.microsoft.com/office/drawing/2014/main" id="{37344B6A-D868-4F81-969E-873BE7F51A6A}"/>
              </a:ext>
            </a:extLst>
          </p:cNvPr>
          <p:cNvSpPr txBox="1"/>
          <p:nvPr/>
        </p:nvSpPr>
        <p:spPr>
          <a:xfrm>
            <a:off x="1143000" y="6218565"/>
            <a:ext cx="482600" cy="307777"/>
          </a:xfrm>
          <a:prstGeom prst="rect">
            <a:avLst/>
          </a:prstGeom>
          <a:noFill/>
        </p:spPr>
        <p:txBody>
          <a:bodyPr wrap="square">
            <a:spAutoFit/>
          </a:bodyPr>
          <a:lstStyle/>
          <a:p>
            <a:r>
              <a:rPr lang="en-US" altLang="ja-JP" sz="1400" dirty="0">
                <a:latin typeface="UD デジタル 教科書体 NK-R" panose="02020400000000000000" pitchFamily="18" charset="-128"/>
                <a:ea typeface="UD デジタル 教科書体 NK-R" panose="02020400000000000000" pitchFamily="18" charset="-128"/>
              </a:rPr>
              <a:t>[1]</a:t>
            </a:r>
            <a:endParaRPr lang="ja-JP" altLang="en-US" sz="1400" dirty="0">
              <a:latin typeface="UD デジタル 教科書体 NK-R" panose="02020400000000000000" pitchFamily="18" charset="-128"/>
              <a:ea typeface="UD デジタル 教科書体 NK-R" panose="02020400000000000000" pitchFamily="18" charset="-128"/>
            </a:endParaRPr>
          </a:p>
        </p:txBody>
      </p:sp>
    </p:spTree>
    <p:extLst>
      <p:ext uri="{BB962C8B-B14F-4D97-AF65-F5344CB8AC3E}">
        <p14:creationId xmlns:p14="http://schemas.microsoft.com/office/powerpoint/2010/main" val="40105339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074CAF-DB99-43A0-95DD-4DF60DD29C9E}"/>
              </a:ext>
            </a:extLst>
          </p:cNvPr>
          <p:cNvSpPr>
            <a:spLocks noGrp="1"/>
          </p:cNvSpPr>
          <p:nvPr>
            <p:ph type="title"/>
          </p:nvPr>
        </p:nvSpPr>
        <p:spPr/>
        <p:txBody>
          <a:bodyPr/>
          <a:lstStyle/>
          <a:p>
            <a:r>
              <a:rPr kumimoji="1" lang="en-US" altLang="ja-JP" dirty="0"/>
              <a:t>Hutchinson</a:t>
            </a:r>
            <a:r>
              <a:rPr kumimoji="1" lang="ja-JP" altLang="en-US" dirty="0"/>
              <a:t>手法</a:t>
            </a:r>
          </a:p>
        </p:txBody>
      </p:sp>
      <p:sp>
        <p:nvSpPr>
          <p:cNvPr id="5" name="スライド番号プレースホルダー 4">
            <a:extLst>
              <a:ext uri="{FF2B5EF4-FFF2-40B4-BE49-F238E27FC236}">
                <a16:creationId xmlns:a16="http://schemas.microsoft.com/office/drawing/2014/main" id="{386CDC29-CA32-45AA-A1CF-7F4E410207B7}"/>
              </a:ext>
            </a:extLst>
          </p:cNvPr>
          <p:cNvSpPr>
            <a:spLocks noGrp="1"/>
          </p:cNvSpPr>
          <p:nvPr>
            <p:ph type="sldNum" sz="quarter" idx="12"/>
          </p:nvPr>
        </p:nvSpPr>
        <p:spPr/>
        <p:txBody>
          <a:bodyPr/>
          <a:lstStyle/>
          <a:p>
            <a:r>
              <a:rPr kumimoji="1" lang="en-US" altLang="ja-JP" dirty="0"/>
              <a:t>8</a:t>
            </a:r>
            <a:endParaRPr kumimoji="1" lang="ja-JP" altLang="en-US" dirty="0"/>
          </a:p>
        </p:txBody>
      </p:sp>
      <p:sp>
        <p:nvSpPr>
          <p:cNvPr id="6" name="テキスト ボックス 5">
            <a:extLst>
              <a:ext uri="{FF2B5EF4-FFF2-40B4-BE49-F238E27FC236}">
                <a16:creationId xmlns:a16="http://schemas.microsoft.com/office/drawing/2014/main" id="{10CC409E-9AF5-4C0E-A903-C8C74509E5FB}"/>
              </a:ext>
            </a:extLst>
          </p:cNvPr>
          <p:cNvSpPr txBox="1"/>
          <p:nvPr/>
        </p:nvSpPr>
        <p:spPr>
          <a:xfrm>
            <a:off x="10701293" y="2954744"/>
            <a:ext cx="667839" cy="596253"/>
          </a:xfrm>
          <a:prstGeom prst="rect">
            <a:avLst/>
          </a:prstGeom>
          <a:solidFill>
            <a:srgbClr val="E4E4E4"/>
          </a:solidFill>
        </p:spPr>
        <p:txBody>
          <a:bodyPr wrap="square" rtlCol="0">
            <a:spAutoFit/>
          </a:bodyPr>
          <a:lstStyle/>
          <a:p>
            <a:pPr>
              <a:lnSpc>
                <a:spcPct val="150000"/>
              </a:lnSpc>
            </a:pPr>
            <a:r>
              <a:rPr kumimoji="1" lang="en-US" altLang="ja-JP" sz="24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(5)</a:t>
            </a:r>
            <a:endParaRPr kumimoji="1" lang="ja-JP" altLang="en-US" sz="24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mc:AlternateContent xmlns:mc="http://schemas.openxmlformats.org/markup-compatibility/2006" xmlns:a14="http://schemas.microsoft.com/office/drawing/2010/main">
        <mc:Choice Requires="a14">
          <p:sp>
            <p:nvSpPr>
              <p:cNvPr id="51" name="コンテンツ プレースホルダー 2">
                <a:extLst>
                  <a:ext uri="{FF2B5EF4-FFF2-40B4-BE49-F238E27FC236}">
                    <a16:creationId xmlns:a16="http://schemas.microsoft.com/office/drawing/2014/main" id="{A182D1E6-92C8-4D8F-BC2A-3EEA8571182E}"/>
                  </a:ext>
                </a:extLst>
              </p:cNvPr>
              <p:cNvSpPr txBox="1">
                <a:spLocks/>
              </p:cNvSpPr>
              <p:nvPr/>
            </p:nvSpPr>
            <p:spPr>
              <a:xfrm>
                <a:off x="840832" y="1819649"/>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Hutchinson</a:t>
                </a:r>
                <a:r>
                  <a:rPr lang="ja-JP" altLang="en-US" dirty="0"/>
                  <a:t>手法は行列の対角和を近似する方法</a:t>
                </a:r>
                <a:endParaRPr lang="en-US" altLang="ja-JP" dirty="0"/>
              </a:p>
              <a:p>
                <a:pPr marL="0" indent="0">
                  <a:buFont typeface="Arial" panose="020B0604020202020204" pitchFamily="34" charset="0"/>
                  <a:buNone/>
                </a:pPr>
                <a:endParaRPr lang="en-US" altLang="ja-JP" dirty="0"/>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eqArr>
                        <m:eqArrPr>
                          <m:ctrlPr>
                            <a:rPr lang="en-US" altLang="ja-JP" i="1" smtClean="0">
                              <a:latin typeface="Cambria Math" panose="02040503050406030204" pitchFamily="18" charset="0"/>
                              <a:ea typeface="Cambria Math" panose="02040503050406030204" pitchFamily="18" charset="0"/>
                            </a:rPr>
                          </m:ctrlPr>
                        </m:eqArrPr>
                        <m:e>
                          <m:r>
                            <a:rPr lang="en-US" altLang="ja-JP" i="1">
                              <a:latin typeface="Cambria Math" panose="02040503050406030204" pitchFamily="18" charset="0"/>
                            </a:rPr>
                            <m:t> </m:t>
                          </m:r>
                          <m:r>
                            <a:rPr lang="en-US" altLang="ja-JP" i="1" smtClean="0">
                              <a:latin typeface="Cambria Math" panose="02040503050406030204" pitchFamily="18" charset="0"/>
                            </a:rPr>
                            <m:t>𝑡𝑟𝑎𝑐𝑒</m:t>
                          </m:r>
                          <m:d>
                            <m:dPr>
                              <m:ctrlPr>
                                <a:rPr lang="en-US" altLang="ja-JP" i="1">
                                  <a:latin typeface="Cambria Math" panose="02040503050406030204" pitchFamily="18" charset="0"/>
                                </a:rPr>
                              </m:ctrlPr>
                            </m:dPr>
                            <m:e>
                              <m:sSub>
                                <m:sSubPr>
                                  <m:ctrlPr>
                                    <a:rPr lang="en-US" altLang="ja-JP" i="1">
                                      <a:latin typeface="Cambria Math" panose="02040503050406030204" pitchFamily="18" charset="0"/>
                                      <a:ea typeface="Cambria Math" panose="02040503050406030204" pitchFamily="18" charset="0"/>
                                    </a:rPr>
                                  </m:ctrlPr>
                                </m:sSubPr>
                                <m:e>
                                  <m:r>
                                    <a:rPr lang="en-US" altLang="ja-JP" b="1">
                                      <a:latin typeface="Cambria Math" panose="02040503050406030204" pitchFamily="18" charset="0"/>
                                      <a:ea typeface="Cambria Math" panose="02040503050406030204" pitchFamily="18" charset="0"/>
                                    </a:rPr>
                                    <m:t>𝐀</m:t>
                                  </m:r>
                                </m:e>
                                <m:sub>
                                  <m:r>
                                    <a:rPr lang="en-US" altLang="ja-JP" i="1">
                                      <a:latin typeface="Cambria Math" panose="02040503050406030204" pitchFamily="18" charset="0"/>
                                      <a:ea typeface="Cambria Math" panose="02040503050406030204" pitchFamily="18" charset="0"/>
                                    </a:rPr>
                                    <m:t>𝑘</m:t>
                                  </m:r>
                                </m:sub>
                              </m:sSub>
                            </m:e>
                          </m:d>
                          <m:r>
                            <a:rPr lang="en-US" altLang="ja-JP" i="1">
                              <a:latin typeface="Cambria Math" panose="02040503050406030204" pitchFamily="18" charset="0"/>
                            </a:rPr>
                            <m:t> </m:t>
                          </m:r>
                          <m:r>
                            <a:rPr lang="en-US" altLang="ja-JP" i="1">
                              <a:latin typeface="Cambria Math" panose="02040503050406030204" pitchFamily="18" charset="0"/>
                              <a:ea typeface="Cambria Math" panose="02040503050406030204" pitchFamily="18" charset="0"/>
                            </a:rPr>
                            <m:t>≈ </m:t>
                          </m:r>
                          <m:f>
                            <m:fPr>
                              <m:ctrlPr>
                                <a:rPr lang="en-US" altLang="ja-JP" i="1">
                                  <a:latin typeface="Cambria Math" panose="02040503050406030204" pitchFamily="18" charset="0"/>
                                  <a:ea typeface="Cambria Math" panose="02040503050406030204" pitchFamily="18" charset="0"/>
                                </a:rPr>
                              </m:ctrlPr>
                            </m:fPr>
                            <m:num>
                              <m:r>
                                <a:rPr lang="en-US" altLang="ja-JP" i="1">
                                  <a:latin typeface="Cambria Math" panose="02040503050406030204" pitchFamily="18" charset="0"/>
                                  <a:ea typeface="Cambria Math" panose="02040503050406030204" pitchFamily="18" charset="0"/>
                                </a:rPr>
                                <m:t>1</m:t>
                              </m:r>
                            </m:num>
                            <m:den>
                              <m:r>
                                <a:rPr lang="en-US" altLang="ja-JP" i="1">
                                  <a:latin typeface="Cambria Math" panose="02040503050406030204" pitchFamily="18" charset="0"/>
                                  <a:ea typeface="Cambria Math" panose="02040503050406030204" pitchFamily="18" charset="0"/>
                                </a:rPr>
                                <m:t>𝑠</m:t>
                              </m:r>
                            </m:den>
                          </m:f>
                          <m:r>
                            <a:rPr lang="en-US" altLang="ja-JP" i="1">
                              <a:latin typeface="Cambria Math" panose="02040503050406030204" pitchFamily="18" charset="0"/>
                              <a:ea typeface="Cambria Math" panose="02040503050406030204" pitchFamily="18" charset="0"/>
                            </a:rPr>
                            <m:t> </m:t>
                          </m:r>
                          <m:nary>
                            <m:naryPr>
                              <m:chr m:val="∑"/>
                              <m:ctrlPr>
                                <a:rPr lang="en-US" altLang="ja-JP" i="1">
                                  <a:latin typeface="Cambria Math" panose="02040503050406030204" pitchFamily="18" charset="0"/>
                                  <a:ea typeface="Cambria Math" panose="02040503050406030204" pitchFamily="18" charset="0"/>
                                </a:rPr>
                              </m:ctrlPr>
                            </m:naryPr>
                            <m:sub>
                              <m:r>
                                <a:rPr lang="en-US" altLang="ja-JP" i="1" smtClean="0">
                                  <a:latin typeface="Cambria Math" panose="02040503050406030204" pitchFamily="18" charset="0"/>
                                  <a:ea typeface="Cambria Math" panose="02040503050406030204" pitchFamily="18" charset="0"/>
                                </a:rPr>
                                <m:t>𝑙</m:t>
                              </m:r>
                              <m:r>
                                <a:rPr lang="en-US" altLang="ja-JP" i="1">
                                  <a:latin typeface="Cambria Math" panose="02040503050406030204" pitchFamily="18" charset="0"/>
                                  <a:ea typeface="Cambria Math" panose="02040503050406030204" pitchFamily="18" charset="0"/>
                                </a:rPr>
                                <m:t>=1</m:t>
                              </m:r>
                            </m:sub>
                            <m:sup>
                              <m:r>
                                <a:rPr lang="en-US" altLang="ja-JP" i="1">
                                  <a:latin typeface="Cambria Math" panose="02040503050406030204" pitchFamily="18" charset="0"/>
                                  <a:ea typeface="Cambria Math" panose="02040503050406030204" pitchFamily="18" charset="0"/>
                                </a:rPr>
                                <m:t>𝑠</m:t>
                              </m:r>
                            </m:sup>
                            <m:e>
                              <m:sSubSup>
                                <m:sSubSupPr>
                                  <m:ctrlPr>
                                    <a:rPr lang="en-US" altLang="ja-JP" i="1" smtClean="0">
                                      <a:latin typeface="Cambria Math" panose="02040503050406030204" pitchFamily="18" charset="0"/>
                                      <a:ea typeface="Cambria Math" panose="02040503050406030204" pitchFamily="18" charset="0"/>
                                    </a:rPr>
                                  </m:ctrlPr>
                                </m:sSubSupPr>
                                <m:e>
                                  <m:r>
                                    <a:rPr lang="en-US" altLang="ja-JP" b="1">
                                      <a:latin typeface="Cambria Math" panose="02040503050406030204" pitchFamily="18" charset="0"/>
                                      <a:ea typeface="Cambria Math" panose="02040503050406030204" pitchFamily="18" charset="0"/>
                                    </a:rPr>
                                    <m:t>𝐳</m:t>
                                  </m:r>
                                </m:e>
                                <m:sub>
                                  <m:r>
                                    <a:rPr lang="en-US" altLang="ja-JP" i="1" smtClean="0">
                                      <a:latin typeface="Cambria Math" panose="02040503050406030204" pitchFamily="18" charset="0"/>
                                      <a:ea typeface="Cambria Math" panose="02040503050406030204" pitchFamily="18" charset="0"/>
                                    </a:rPr>
                                    <m:t>𝑙</m:t>
                                  </m:r>
                                </m:sub>
                                <m:sup>
                                  <m:r>
                                    <a:rPr lang="en-US" altLang="ja-JP" i="1">
                                      <a:latin typeface="Cambria Math" panose="02040503050406030204" pitchFamily="18" charset="0"/>
                                      <a:ea typeface="Cambria Math" panose="02040503050406030204" pitchFamily="18" charset="0"/>
                                    </a:rPr>
                                    <m:t>𝑇</m:t>
                                  </m:r>
                                </m:sup>
                              </m:sSubSup>
                              <m:sSub>
                                <m:sSubPr>
                                  <m:ctrlPr>
                                    <a:rPr lang="en-US" altLang="ja-JP" i="1" smtClean="0">
                                      <a:latin typeface="Cambria Math" panose="02040503050406030204" pitchFamily="18" charset="0"/>
                                      <a:ea typeface="Cambria Math" panose="02040503050406030204" pitchFamily="18" charset="0"/>
                                    </a:rPr>
                                  </m:ctrlPr>
                                </m:sSubPr>
                                <m:e>
                                  <m:r>
                                    <a:rPr lang="en-US" altLang="ja-JP" b="1" smtClean="0">
                                      <a:latin typeface="Cambria Math" panose="02040503050406030204" pitchFamily="18" charset="0"/>
                                      <a:ea typeface="Cambria Math" panose="02040503050406030204" pitchFamily="18" charset="0"/>
                                    </a:rPr>
                                    <m:t>𝐀</m:t>
                                  </m:r>
                                </m:e>
                                <m:sub>
                                  <m:r>
                                    <a:rPr lang="en-US" altLang="ja-JP" i="1" smtClean="0">
                                      <a:latin typeface="Cambria Math" panose="02040503050406030204" pitchFamily="18" charset="0"/>
                                      <a:ea typeface="Cambria Math" panose="02040503050406030204" pitchFamily="18" charset="0"/>
                                    </a:rPr>
                                    <m:t>𝑘</m:t>
                                  </m:r>
                                </m:sub>
                              </m:sSub>
                              <m:sSub>
                                <m:sSubPr>
                                  <m:ctrlPr>
                                    <a:rPr lang="en-US" altLang="ja-JP" i="1">
                                      <a:latin typeface="Cambria Math" panose="02040503050406030204" pitchFamily="18" charset="0"/>
                                      <a:ea typeface="Cambria Math" panose="02040503050406030204" pitchFamily="18" charset="0"/>
                                    </a:rPr>
                                  </m:ctrlPr>
                                </m:sSubPr>
                                <m:e>
                                  <m:r>
                                    <a:rPr lang="en-US" altLang="ja-JP" b="1">
                                      <a:latin typeface="Cambria Math" panose="02040503050406030204" pitchFamily="18" charset="0"/>
                                      <a:ea typeface="Cambria Math" panose="02040503050406030204" pitchFamily="18" charset="0"/>
                                    </a:rPr>
                                    <m:t>𝐳</m:t>
                                  </m:r>
                                </m:e>
                                <m:sub>
                                  <m:r>
                                    <a:rPr lang="en-US" altLang="ja-JP" i="1" smtClean="0">
                                      <a:latin typeface="Cambria Math" panose="02040503050406030204" pitchFamily="18" charset="0"/>
                                      <a:ea typeface="Cambria Math" panose="02040503050406030204" pitchFamily="18" charset="0"/>
                                    </a:rPr>
                                    <m:t>𝑙</m:t>
                                  </m:r>
                                </m:sub>
                              </m:sSub>
                            </m:e>
                          </m:nary>
                          <m:r>
                            <a:rPr lang="en-US" altLang="ja-JP" i="1">
                              <a:latin typeface="Cambria Math" panose="02040503050406030204" pitchFamily="18" charset="0"/>
                              <a:ea typeface="Cambria Math" panose="02040503050406030204" pitchFamily="18" charset="0"/>
                            </a:rPr>
                            <m:t>#</m:t>
                          </m:r>
                        </m:e>
                      </m:eqArr>
                    </m:oMath>
                  </m:oMathPara>
                </a14:m>
                <a:endParaRPr lang="en-US" altLang="ja-JP" dirty="0">
                  <a:ea typeface="Cambria Math" panose="02040503050406030204" pitchFamily="18" charset="0"/>
                </a:endParaRPr>
              </a:p>
              <a:p>
                <a:pPr marL="0" indent="0">
                  <a:buFont typeface="Arial" panose="020B0604020202020204" pitchFamily="34" charset="0"/>
                  <a:buNone/>
                </a:pPr>
                <a:endParaRPr lang="en-US" altLang="ja-JP" dirty="0"/>
              </a:p>
            </p:txBody>
          </p:sp>
        </mc:Choice>
        <mc:Fallback xmlns="">
          <p:sp>
            <p:nvSpPr>
              <p:cNvPr id="51" name="コンテンツ プレースホルダー 2">
                <a:extLst>
                  <a:ext uri="{FF2B5EF4-FFF2-40B4-BE49-F238E27FC236}">
                    <a16:creationId xmlns:a16="http://schemas.microsoft.com/office/drawing/2014/main" id="{A182D1E6-92C8-4D8F-BC2A-3EEA8571182E}"/>
                  </a:ext>
                </a:extLst>
              </p:cNvPr>
              <p:cNvSpPr txBox="1">
                <a:spLocks noRot="1" noChangeAspect="1" noMove="1" noResize="1" noEditPoints="1" noAdjustHandles="1" noChangeArrowheads="1" noChangeShapeType="1" noTextEdit="1"/>
              </p:cNvSpPr>
              <p:nvPr/>
            </p:nvSpPr>
            <p:spPr>
              <a:xfrm>
                <a:off x="840832" y="1819649"/>
                <a:ext cx="10515600" cy="4351338"/>
              </a:xfrm>
              <a:prstGeom prst="rect">
                <a:avLst/>
              </a:prstGeom>
              <a:blipFill>
                <a:blip r:embed="rId3"/>
                <a:stretch>
                  <a:fillRect l="-1043" t="-2241"/>
                </a:stretch>
              </a:blipFill>
            </p:spPr>
            <p:txBody>
              <a:bodyPr/>
              <a:lstStyle/>
              <a:p>
                <a:r>
                  <a:rPr lang="ja-JP" altLang="en-US">
                    <a:noFill/>
                  </a:rPr>
                  <a:t> </a:t>
                </a:r>
              </a:p>
            </p:txBody>
          </p:sp>
        </mc:Fallback>
      </mc:AlternateContent>
      <p:grpSp>
        <p:nvGrpSpPr>
          <p:cNvPr id="14" name="グループ化 13">
            <a:extLst>
              <a:ext uri="{FF2B5EF4-FFF2-40B4-BE49-F238E27FC236}">
                <a16:creationId xmlns:a16="http://schemas.microsoft.com/office/drawing/2014/main" id="{32B1B5F8-37A0-4450-8EBF-C6E38150AE73}"/>
              </a:ext>
            </a:extLst>
          </p:cNvPr>
          <p:cNvGrpSpPr/>
          <p:nvPr/>
        </p:nvGrpSpPr>
        <p:grpSpPr>
          <a:xfrm>
            <a:off x="498952" y="4011221"/>
            <a:ext cx="11194096" cy="1851941"/>
            <a:chOff x="127000" y="3941952"/>
            <a:chExt cx="11194096" cy="1851941"/>
          </a:xfrm>
        </p:grpSpPr>
        <p:grpSp>
          <p:nvGrpSpPr>
            <p:cNvPr id="13" name="グループ化 12">
              <a:extLst>
                <a:ext uri="{FF2B5EF4-FFF2-40B4-BE49-F238E27FC236}">
                  <a16:creationId xmlns:a16="http://schemas.microsoft.com/office/drawing/2014/main" id="{97FCAD01-0BAF-4EBC-94C3-2AC2632F16D0}"/>
                </a:ext>
              </a:extLst>
            </p:cNvPr>
            <p:cNvGrpSpPr/>
            <p:nvPr/>
          </p:nvGrpSpPr>
          <p:grpSpPr>
            <a:xfrm>
              <a:off x="127000" y="3995318"/>
              <a:ext cx="3434961" cy="1798575"/>
              <a:chOff x="127000" y="3995318"/>
              <a:chExt cx="3914912" cy="2049882"/>
            </a:xfrm>
          </p:grpSpPr>
          <p:grpSp>
            <p:nvGrpSpPr>
              <p:cNvPr id="38" name="グループ化 37">
                <a:extLst>
                  <a:ext uri="{FF2B5EF4-FFF2-40B4-BE49-F238E27FC236}">
                    <a16:creationId xmlns:a16="http://schemas.microsoft.com/office/drawing/2014/main" id="{13A50549-9D56-4E7D-8BA0-FEA28BD6FD3A}"/>
                  </a:ext>
                </a:extLst>
              </p:cNvPr>
              <p:cNvGrpSpPr/>
              <p:nvPr/>
            </p:nvGrpSpPr>
            <p:grpSpPr>
              <a:xfrm>
                <a:off x="1628566" y="4267110"/>
                <a:ext cx="1606312" cy="1265884"/>
                <a:chOff x="2322930" y="3353671"/>
                <a:chExt cx="2319094" cy="1827605"/>
              </a:xfrm>
            </p:grpSpPr>
            <p:grpSp>
              <p:nvGrpSpPr>
                <p:cNvPr id="39" name="グループ化 38">
                  <a:extLst>
                    <a:ext uri="{FF2B5EF4-FFF2-40B4-BE49-F238E27FC236}">
                      <a16:creationId xmlns:a16="http://schemas.microsoft.com/office/drawing/2014/main" id="{5E0C28B7-2309-4E0E-B992-36B420FC5B58}"/>
                    </a:ext>
                  </a:extLst>
                </p:cNvPr>
                <p:cNvGrpSpPr/>
                <p:nvPr/>
              </p:nvGrpSpPr>
              <p:grpSpPr>
                <a:xfrm>
                  <a:off x="2652046" y="3451928"/>
                  <a:ext cx="1700918" cy="1676670"/>
                  <a:chOff x="1138989" y="3968713"/>
                  <a:chExt cx="1700918" cy="1676670"/>
                </a:xfrm>
              </p:grpSpPr>
              <p:sp>
                <p:nvSpPr>
                  <p:cNvPr id="41" name="正方形/長方形 40">
                    <a:extLst>
                      <a:ext uri="{FF2B5EF4-FFF2-40B4-BE49-F238E27FC236}">
                        <a16:creationId xmlns:a16="http://schemas.microsoft.com/office/drawing/2014/main" id="{3844D5AD-7FD3-4D25-AB4E-82D3D8373FB9}"/>
                      </a:ext>
                    </a:extLst>
                  </p:cNvPr>
                  <p:cNvSpPr/>
                  <p:nvPr/>
                </p:nvSpPr>
                <p:spPr>
                  <a:xfrm>
                    <a:off x="1138989" y="3974039"/>
                    <a:ext cx="319421" cy="319421"/>
                  </a:xfrm>
                  <a:prstGeom prst="rect">
                    <a:avLst/>
                  </a:prstGeom>
                  <a:solidFill>
                    <a:schemeClr val="accent6">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正方形/長方形 41">
                    <a:extLst>
                      <a:ext uri="{FF2B5EF4-FFF2-40B4-BE49-F238E27FC236}">
                        <a16:creationId xmlns:a16="http://schemas.microsoft.com/office/drawing/2014/main" id="{DD1570CC-E815-47E6-AFEC-806740F8A540}"/>
                      </a:ext>
                    </a:extLst>
                  </p:cNvPr>
                  <p:cNvSpPr/>
                  <p:nvPr/>
                </p:nvSpPr>
                <p:spPr>
                  <a:xfrm>
                    <a:off x="1599488" y="3974039"/>
                    <a:ext cx="319421" cy="319421"/>
                  </a:xfrm>
                  <a:prstGeom prst="rect">
                    <a:avLst/>
                  </a:prstGeom>
                  <a:solidFill>
                    <a:schemeClr val="accent6">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3" name="正方形/長方形 42">
                    <a:extLst>
                      <a:ext uri="{FF2B5EF4-FFF2-40B4-BE49-F238E27FC236}">
                        <a16:creationId xmlns:a16="http://schemas.microsoft.com/office/drawing/2014/main" id="{047BF22E-AD31-45B5-9627-69F855D35EB3}"/>
                      </a:ext>
                    </a:extLst>
                  </p:cNvPr>
                  <p:cNvSpPr/>
                  <p:nvPr/>
                </p:nvSpPr>
                <p:spPr>
                  <a:xfrm>
                    <a:off x="2059987" y="3968714"/>
                    <a:ext cx="319421" cy="319421"/>
                  </a:xfrm>
                  <a:prstGeom prst="rect">
                    <a:avLst/>
                  </a:prstGeom>
                  <a:solidFill>
                    <a:schemeClr val="accent6">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正方形/長方形 43">
                    <a:extLst>
                      <a:ext uri="{FF2B5EF4-FFF2-40B4-BE49-F238E27FC236}">
                        <a16:creationId xmlns:a16="http://schemas.microsoft.com/office/drawing/2014/main" id="{C2796899-5B03-4D97-8087-CB5AB19431D0}"/>
                      </a:ext>
                    </a:extLst>
                  </p:cNvPr>
                  <p:cNvSpPr/>
                  <p:nvPr/>
                </p:nvSpPr>
                <p:spPr>
                  <a:xfrm>
                    <a:off x="2520486" y="3968713"/>
                    <a:ext cx="319421" cy="319421"/>
                  </a:xfrm>
                  <a:prstGeom prst="rect">
                    <a:avLst/>
                  </a:prstGeom>
                  <a:solidFill>
                    <a:schemeClr val="accent6">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正方形/長方形 44">
                    <a:extLst>
                      <a:ext uri="{FF2B5EF4-FFF2-40B4-BE49-F238E27FC236}">
                        <a16:creationId xmlns:a16="http://schemas.microsoft.com/office/drawing/2014/main" id="{EE2CD07F-9358-437C-A94C-9F51EAD96D11}"/>
                      </a:ext>
                    </a:extLst>
                  </p:cNvPr>
                  <p:cNvSpPr/>
                  <p:nvPr/>
                </p:nvSpPr>
                <p:spPr>
                  <a:xfrm>
                    <a:off x="1138989" y="4424680"/>
                    <a:ext cx="319421" cy="319421"/>
                  </a:xfrm>
                  <a:prstGeom prst="rect">
                    <a:avLst/>
                  </a:prstGeom>
                  <a:solidFill>
                    <a:schemeClr val="accent5">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正方形/長方形 52">
                    <a:extLst>
                      <a:ext uri="{FF2B5EF4-FFF2-40B4-BE49-F238E27FC236}">
                        <a16:creationId xmlns:a16="http://schemas.microsoft.com/office/drawing/2014/main" id="{BF977830-8696-41FD-8D3E-4016BEDE2BC3}"/>
                      </a:ext>
                    </a:extLst>
                  </p:cNvPr>
                  <p:cNvSpPr/>
                  <p:nvPr/>
                </p:nvSpPr>
                <p:spPr>
                  <a:xfrm>
                    <a:off x="1599488" y="4424680"/>
                    <a:ext cx="319421" cy="319421"/>
                  </a:xfrm>
                  <a:prstGeom prst="rect">
                    <a:avLst/>
                  </a:prstGeom>
                  <a:solidFill>
                    <a:schemeClr val="accent5">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正方形/長方形 53">
                    <a:extLst>
                      <a:ext uri="{FF2B5EF4-FFF2-40B4-BE49-F238E27FC236}">
                        <a16:creationId xmlns:a16="http://schemas.microsoft.com/office/drawing/2014/main" id="{F408347E-342A-4786-89AA-CBB06C9D69D1}"/>
                      </a:ext>
                    </a:extLst>
                  </p:cNvPr>
                  <p:cNvSpPr/>
                  <p:nvPr/>
                </p:nvSpPr>
                <p:spPr>
                  <a:xfrm>
                    <a:off x="2059987" y="4419355"/>
                    <a:ext cx="319421" cy="319421"/>
                  </a:xfrm>
                  <a:prstGeom prst="rect">
                    <a:avLst/>
                  </a:prstGeom>
                  <a:solidFill>
                    <a:schemeClr val="accent5">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正方形/長方形 54">
                    <a:extLst>
                      <a:ext uri="{FF2B5EF4-FFF2-40B4-BE49-F238E27FC236}">
                        <a16:creationId xmlns:a16="http://schemas.microsoft.com/office/drawing/2014/main" id="{8A46F4FF-00D1-4098-BDB8-42B0878BF065}"/>
                      </a:ext>
                    </a:extLst>
                  </p:cNvPr>
                  <p:cNvSpPr/>
                  <p:nvPr/>
                </p:nvSpPr>
                <p:spPr>
                  <a:xfrm>
                    <a:off x="2520486" y="4419354"/>
                    <a:ext cx="319421" cy="319421"/>
                  </a:xfrm>
                  <a:prstGeom prst="rect">
                    <a:avLst/>
                  </a:prstGeom>
                  <a:solidFill>
                    <a:schemeClr val="accent5">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正方形/長方形 55">
                    <a:extLst>
                      <a:ext uri="{FF2B5EF4-FFF2-40B4-BE49-F238E27FC236}">
                        <a16:creationId xmlns:a16="http://schemas.microsoft.com/office/drawing/2014/main" id="{C6CB4A87-32D2-4666-A408-677CB0BB2821}"/>
                      </a:ext>
                    </a:extLst>
                  </p:cNvPr>
                  <p:cNvSpPr/>
                  <p:nvPr/>
                </p:nvSpPr>
                <p:spPr>
                  <a:xfrm>
                    <a:off x="1138989" y="4875321"/>
                    <a:ext cx="319421" cy="319421"/>
                  </a:xfrm>
                  <a:prstGeom prst="rect">
                    <a:avLst/>
                  </a:prstGeom>
                  <a:solidFill>
                    <a:schemeClr val="accent4">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正方形/長方形 56">
                    <a:extLst>
                      <a:ext uri="{FF2B5EF4-FFF2-40B4-BE49-F238E27FC236}">
                        <a16:creationId xmlns:a16="http://schemas.microsoft.com/office/drawing/2014/main" id="{DA6739EE-092B-4AD7-AB18-7BF438A1683A}"/>
                      </a:ext>
                    </a:extLst>
                  </p:cNvPr>
                  <p:cNvSpPr/>
                  <p:nvPr/>
                </p:nvSpPr>
                <p:spPr>
                  <a:xfrm>
                    <a:off x="1599488" y="4875321"/>
                    <a:ext cx="319421" cy="319421"/>
                  </a:xfrm>
                  <a:prstGeom prst="rect">
                    <a:avLst/>
                  </a:prstGeom>
                  <a:solidFill>
                    <a:schemeClr val="accent4">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正方形/長方形 57">
                    <a:extLst>
                      <a:ext uri="{FF2B5EF4-FFF2-40B4-BE49-F238E27FC236}">
                        <a16:creationId xmlns:a16="http://schemas.microsoft.com/office/drawing/2014/main" id="{530305D8-D106-457A-9A5A-BBC5392A834C}"/>
                      </a:ext>
                    </a:extLst>
                  </p:cNvPr>
                  <p:cNvSpPr/>
                  <p:nvPr/>
                </p:nvSpPr>
                <p:spPr>
                  <a:xfrm>
                    <a:off x="2059987" y="4869996"/>
                    <a:ext cx="319421" cy="319421"/>
                  </a:xfrm>
                  <a:prstGeom prst="rect">
                    <a:avLst/>
                  </a:prstGeom>
                  <a:solidFill>
                    <a:schemeClr val="accent4">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正方形/長方形 58">
                    <a:extLst>
                      <a:ext uri="{FF2B5EF4-FFF2-40B4-BE49-F238E27FC236}">
                        <a16:creationId xmlns:a16="http://schemas.microsoft.com/office/drawing/2014/main" id="{33452430-2360-4C8F-8B7A-F26ADA6A12CD}"/>
                      </a:ext>
                    </a:extLst>
                  </p:cNvPr>
                  <p:cNvSpPr/>
                  <p:nvPr/>
                </p:nvSpPr>
                <p:spPr>
                  <a:xfrm>
                    <a:off x="2520486" y="4869995"/>
                    <a:ext cx="319421" cy="319421"/>
                  </a:xfrm>
                  <a:prstGeom prst="rect">
                    <a:avLst/>
                  </a:prstGeom>
                  <a:solidFill>
                    <a:schemeClr val="accent4">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正方形/長方形 59">
                    <a:extLst>
                      <a:ext uri="{FF2B5EF4-FFF2-40B4-BE49-F238E27FC236}">
                        <a16:creationId xmlns:a16="http://schemas.microsoft.com/office/drawing/2014/main" id="{38640AA2-84DB-41E1-999F-5496DC441127}"/>
                      </a:ext>
                    </a:extLst>
                  </p:cNvPr>
                  <p:cNvSpPr/>
                  <p:nvPr/>
                </p:nvSpPr>
                <p:spPr>
                  <a:xfrm>
                    <a:off x="1138989" y="5325962"/>
                    <a:ext cx="319421" cy="319421"/>
                  </a:xfrm>
                  <a:prstGeom prst="rect">
                    <a:avLst/>
                  </a:prstGeom>
                  <a:solidFill>
                    <a:schemeClr val="accent2">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正方形/長方形 60">
                    <a:extLst>
                      <a:ext uri="{FF2B5EF4-FFF2-40B4-BE49-F238E27FC236}">
                        <a16:creationId xmlns:a16="http://schemas.microsoft.com/office/drawing/2014/main" id="{F7D25167-95A5-49B4-82D6-3DECFEF25F46}"/>
                      </a:ext>
                    </a:extLst>
                  </p:cNvPr>
                  <p:cNvSpPr/>
                  <p:nvPr/>
                </p:nvSpPr>
                <p:spPr>
                  <a:xfrm>
                    <a:off x="1599488" y="5325962"/>
                    <a:ext cx="319421" cy="319421"/>
                  </a:xfrm>
                  <a:prstGeom prst="rect">
                    <a:avLst/>
                  </a:prstGeom>
                  <a:solidFill>
                    <a:schemeClr val="accent2">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正方形/長方形 61">
                    <a:extLst>
                      <a:ext uri="{FF2B5EF4-FFF2-40B4-BE49-F238E27FC236}">
                        <a16:creationId xmlns:a16="http://schemas.microsoft.com/office/drawing/2014/main" id="{5A2F2E0C-CE4E-4D61-9C77-18E77EAE30E5}"/>
                      </a:ext>
                    </a:extLst>
                  </p:cNvPr>
                  <p:cNvSpPr/>
                  <p:nvPr/>
                </p:nvSpPr>
                <p:spPr>
                  <a:xfrm>
                    <a:off x="2059987" y="5320637"/>
                    <a:ext cx="319421" cy="319421"/>
                  </a:xfrm>
                  <a:prstGeom prst="rect">
                    <a:avLst/>
                  </a:prstGeom>
                  <a:solidFill>
                    <a:schemeClr val="accent2">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正方形/長方形 62">
                    <a:extLst>
                      <a:ext uri="{FF2B5EF4-FFF2-40B4-BE49-F238E27FC236}">
                        <a16:creationId xmlns:a16="http://schemas.microsoft.com/office/drawing/2014/main" id="{9867D42C-E090-45B3-BCBC-2F9D356A2B40}"/>
                      </a:ext>
                    </a:extLst>
                  </p:cNvPr>
                  <p:cNvSpPr/>
                  <p:nvPr/>
                </p:nvSpPr>
                <p:spPr>
                  <a:xfrm>
                    <a:off x="2520486" y="5320636"/>
                    <a:ext cx="319421" cy="319421"/>
                  </a:xfrm>
                  <a:prstGeom prst="rect">
                    <a:avLst/>
                  </a:prstGeom>
                  <a:solidFill>
                    <a:schemeClr val="accent2">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40" name="大かっこ 39">
                  <a:extLst>
                    <a:ext uri="{FF2B5EF4-FFF2-40B4-BE49-F238E27FC236}">
                      <a16:creationId xmlns:a16="http://schemas.microsoft.com/office/drawing/2014/main" id="{1A73AF5B-82F7-4D7B-9E42-D85869B2A9FD}"/>
                    </a:ext>
                  </a:extLst>
                </p:cNvPr>
                <p:cNvSpPr/>
                <p:nvPr/>
              </p:nvSpPr>
              <p:spPr>
                <a:xfrm>
                  <a:off x="2322930" y="3353671"/>
                  <a:ext cx="2319094" cy="1827605"/>
                </a:xfrm>
                <a:prstGeom prst="bracketPair">
                  <a:avLst/>
                </a:prstGeom>
                <a:ln w="571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mc:AlternateContent xmlns:mc="http://schemas.openxmlformats.org/markup-compatibility/2006" xmlns:a14="http://schemas.microsoft.com/office/drawing/2010/main">
            <mc:Choice Requires="a14">
              <p:sp>
                <p:nvSpPr>
                  <p:cNvPr id="52" name="テキスト ボックス 51">
                    <a:extLst>
                      <a:ext uri="{FF2B5EF4-FFF2-40B4-BE49-F238E27FC236}">
                        <a16:creationId xmlns:a16="http://schemas.microsoft.com/office/drawing/2014/main" id="{43B26258-0440-495A-8427-351E44B323F7}"/>
                      </a:ext>
                    </a:extLst>
                  </p:cNvPr>
                  <p:cNvSpPr txBox="1"/>
                  <p:nvPr/>
                </p:nvSpPr>
                <p:spPr>
                  <a:xfrm>
                    <a:off x="2060486" y="5456230"/>
                    <a:ext cx="807034" cy="526171"/>
                  </a:xfrm>
                  <a:prstGeom prst="rect">
                    <a:avLst/>
                  </a:prstGeom>
                  <a:noFill/>
                  <a:effectLst>
                    <a:softEdge rad="63500"/>
                  </a:effectLst>
                </p:spPr>
                <p:txBody>
                  <a:bodyPr wrap="square" anchor="ctr">
                    <a:spAutoFit/>
                  </a:bodyPr>
                  <a:lstStyle/>
                  <a:p>
                    <a:pPr/>
                    <a14:m>
                      <m:oMathPara xmlns:m="http://schemas.openxmlformats.org/officeDocument/2006/math">
                        <m:oMathParaPr>
                          <m:jc m:val="centerGroup"/>
                        </m:oMathParaPr>
                        <m:oMath xmlns:m="http://schemas.openxmlformats.org/officeDocument/2006/math">
                          <m:sSub>
                            <m:sSubPr>
                              <m:ctrlPr>
                                <a:rPr lang="en-US" altLang="ja-JP" sz="2400" i="1" smtClean="0">
                                  <a:solidFill>
                                    <a:schemeClr val="tx1">
                                      <a:lumMod val="75000"/>
                                      <a:lumOff val="25000"/>
                                    </a:schemeClr>
                                  </a:solidFill>
                                  <a:latin typeface="Cambria Math" panose="02040503050406030204" pitchFamily="18" charset="0"/>
                                  <a:ea typeface="Cambria Math" panose="02040503050406030204" pitchFamily="18" charset="0"/>
                                </a:rPr>
                              </m:ctrlPr>
                            </m:sSubPr>
                            <m:e>
                              <m:r>
                                <a:rPr lang="en-US" altLang="ja-JP" sz="2400" b="1">
                                  <a:solidFill>
                                    <a:schemeClr val="tx1">
                                      <a:lumMod val="75000"/>
                                      <a:lumOff val="25000"/>
                                    </a:schemeClr>
                                  </a:solidFill>
                                  <a:latin typeface="Cambria Math" panose="02040503050406030204" pitchFamily="18" charset="0"/>
                                  <a:ea typeface="Cambria Math" panose="02040503050406030204" pitchFamily="18" charset="0"/>
                                </a:rPr>
                                <m:t>𝐀</m:t>
                              </m:r>
                            </m:e>
                            <m:sub>
                              <m:r>
                                <a:rPr lang="en-US" altLang="ja-JP" sz="2400" i="1">
                                  <a:solidFill>
                                    <a:schemeClr val="tx1">
                                      <a:lumMod val="75000"/>
                                      <a:lumOff val="25000"/>
                                    </a:schemeClr>
                                  </a:solidFill>
                                  <a:latin typeface="Cambria Math" panose="02040503050406030204" pitchFamily="18" charset="0"/>
                                  <a:ea typeface="Cambria Math" panose="02040503050406030204" pitchFamily="18" charset="0"/>
                                </a:rPr>
                                <m:t>𝑘</m:t>
                              </m:r>
                            </m:sub>
                          </m:sSub>
                        </m:oMath>
                      </m:oMathPara>
                    </a14:m>
                    <a:endParaRPr lang="ja-JP" altLang="en-US" sz="1400" dirty="0">
                      <a:solidFill>
                        <a:schemeClr val="tx1">
                          <a:lumMod val="75000"/>
                          <a:lumOff val="25000"/>
                        </a:schemeClr>
                      </a:solidFill>
                    </a:endParaRPr>
                  </a:p>
                </p:txBody>
              </p:sp>
            </mc:Choice>
            <mc:Fallback xmlns="">
              <p:sp>
                <p:nvSpPr>
                  <p:cNvPr id="52" name="テキスト ボックス 51">
                    <a:extLst>
                      <a:ext uri="{FF2B5EF4-FFF2-40B4-BE49-F238E27FC236}">
                        <a16:creationId xmlns:a16="http://schemas.microsoft.com/office/drawing/2014/main" id="{43B26258-0440-495A-8427-351E44B323F7}"/>
                      </a:ext>
                    </a:extLst>
                  </p:cNvPr>
                  <p:cNvSpPr txBox="1">
                    <a:spLocks noRot="1" noChangeAspect="1" noMove="1" noResize="1" noEditPoints="1" noAdjustHandles="1" noChangeArrowheads="1" noChangeShapeType="1" noTextEdit="1"/>
                  </p:cNvSpPr>
                  <p:nvPr/>
                </p:nvSpPr>
                <p:spPr>
                  <a:xfrm>
                    <a:off x="2060486" y="5456230"/>
                    <a:ext cx="807034" cy="526171"/>
                  </a:xfrm>
                  <a:prstGeom prst="rect">
                    <a:avLst/>
                  </a:prstGeom>
                  <a:blipFill>
                    <a:blip r:embed="rId4"/>
                    <a:stretch>
                      <a:fillRect b="-1316"/>
                    </a:stretch>
                  </a:blipFill>
                  <a:effectLst>
                    <a:softEdge rad="63500"/>
                  </a:effectLst>
                </p:spPr>
                <p:txBody>
                  <a:bodyPr/>
                  <a:lstStyle/>
                  <a:p>
                    <a:r>
                      <a:rPr lang="ja-JP" altLang="en-US">
                        <a:noFill/>
                      </a:rPr>
                      <a:t> </a:t>
                    </a:r>
                  </a:p>
                </p:txBody>
              </p:sp>
            </mc:Fallback>
          </mc:AlternateContent>
          <p:grpSp>
            <p:nvGrpSpPr>
              <p:cNvPr id="11" name="グループ化 10">
                <a:extLst>
                  <a:ext uri="{FF2B5EF4-FFF2-40B4-BE49-F238E27FC236}">
                    <a16:creationId xmlns:a16="http://schemas.microsoft.com/office/drawing/2014/main" id="{EBEB24F2-88CB-40C7-951C-6BF434F61A2B}"/>
                  </a:ext>
                </a:extLst>
              </p:cNvPr>
              <p:cNvGrpSpPr/>
              <p:nvPr/>
            </p:nvGrpSpPr>
            <p:grpSpPr>
              <a:xfrm>
                <a:off x="279399" y="4723477"/>
                <a:ext cx="1238193" cy="320858"/>
                <a:chOff x="4346724" y="4135172"/>
                <a:chExt cx="1374303" cy="356129"/>
              </a:xfrm>
            </p:grpSpPr>
            <p:sp>
              <p:nvSpPr>
                <p:cNvPr id="64" name="正方形/長方形 63">
                  <a:extLst>
                    <a:ext uri="{FF2B5EF4-FFF2-40B4-BE49-F238E27FC236}">
                      <a16:creationId xmlns:a16="http://schemas.microsoft.com/office/drawing/2014/main" id="{FD284699-5164-47D6-9007-297003151B25}"/>
                    </a:ext>
                  </a:extLst>
                </p:cNvPr>
                <p:cNvSpPr/>
                <p:nvPr/>
              </p:nvSpPr>
              <p:spPr>
                <a:xfrm>
                  <a:off x="4479368" y="4205172"/>
                  <a:ext cx="213992" cy="213992"/>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400" dirty="0"/>
                    <a:t>-1</a:t>
                  </a:r>
                  <a:endParaRPr kumimoji="1" lang="ja-JP" altLang="en-US" sz="400" dirty="0"/>
                </a:p>
              </p:txBody>
            </p:sp>
            <p:sp>
              <p:nvSpPr>
                <p:cNvPr id="65" name="正方形/長方形 64">
                  <a:extLst>
                    <a:ext uri="{FF2B5EF4-FFF2-40B4-BE49-F238E27FC236}">
                      <a16:creationId xmlns:a16="http://schemas.microsoft.com/office/drawing/2014/main" id="{985F2119-0820-4481-9DFE-97DA3CF391A4}"/>
                    </a:ext>
                  </a:extLst>
                </p:cNvPr>
                <p:cNvSpPr/>
                <p:nvPr/>
              </p:nvSpPr>
              <p:spPr>
                <a:xfrm>
                  <a:off x="4782260" y="4204815"/>
                  <a:ext cx="213992" cy="213992"/>
                </a:xfrm>
                <a:prstGeom prst="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正方形/長方形 65">
                  <a:extLst>
                    <a:ext uri="{FF2B5EF4-FFF2-40B4-BE49-F238E27FC236}">
                      <a16:creationId xmlns:a16="http://schemas.microsoft.com/office/drawing/2014/main" id="{440789C8-3602-4B8A-8D06-B740B458744E}"/>
                    </a:ext>
                  </a:extLst>
                </p:cNvPr>
                <p:cNvSpPr/>
                <p:nvPr/>
              </p:nvSpPr>
              <p:spPr>
                <a:xfrm>
                  <a:off x="5085152" y="4204815"/>
                  <a:ext cx="213992" cy="213992"/>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正方形/長方形 66">
                  <a:extLst>
                    <a:ext uri="{FF2B5EF4-FFF2-40B4-BE49-F238E27FC236}">
                      <a16:creationId xmlns:a16="http://schemas.microsoft.com/office/drawing/2014/main" id="{E592FF84-5BD3-44FF-B6CC-B1A04EA0100B}"/>
                    </a:ext>
                  </a:extLst>
                </p:cNvPr>
                <p:cNvSpPr/>
                <p:nvPr/>
              </p:nvSpPr>
              <p:spPr>
                <a:xfrm>
                  <a:off x="5388044" y="4204815"/>
                  <a:ext cx="213992" cy="213992"/>
                </a:xfrm>
                <a:prstGeom prst="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大かっこ 67">
                  <a:extLst>
                    <a:ext uri="{FF2B5EF4-FFF2-40B4-BE49-F238E27FC236}">
                      <a16:creationId xmlns:a16="http://schemas.microsoft.com/office/drawing/2014/main" id="{15A11C36-12B7-45A7-8801-BB0EAB9CF891}"/>
                    </a:ext>
                  </a:extLst>
                </p:cNvPr>
                <p:cNvSpPr/>
                <p:nvPr/>
              </p:nvSpPr>
              <p:spPr>
                <a:xfrm>
                  <a:off x="4346724" y="4135172"/>
                  <a:ext cx="1374303" cy="356129"/>
                </a:xfrm>
                <a:prstGeom prst="bracketPair">
                  <a:avLst/>
                </a:prstGeom>
                <a:ln w="571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mc:AlternateContent xmlns:mc="http://schemas.openxmlformats.org/markup-compatibility/2006" xmlns:a14="http://schemas.microsoft.com/office/drawing/2010/main">
            <mc:Choice Requires="a14">
              <p:sp>
                <p:nvSpPr>
                  <p:cNvPr id="69" name="テキスト ボックス 68">
                    <a:extLst>
                      <a:ext uri="{FF2B5EF4-FFF2-40B4-BE49-F238E27FC236}">
                        <a16:creationId xmlns:a16="http://schemas.microsoft.com/office/drawing/2014/main" id="{2C85DF07-9DDA-4058-BD6F-BF3CC2315153}"/>
                      </a:ext>
                    </a:extLst>
                  </p:cNvPr>
                  <p:cNvSpPr txBox="1"/>
                  <p:nvPr/>
                </p:nvSpPr>
                <p:spPr>
                  <a:xfrm>
                    <a:off x="520401" y="5437466"/>
                    <a:ext cx="807034" cy="543053"/>
                  </a:xfrm>
                  <a:prstGeom prst="rect">
                    <a:avLst/>
                  </a:prstGeom>
                  <a:noFill/>
                  <a:effectLst>
                    <a:softEdge rad="63500"/>
                  </a:effectLst>
                </p:spPr>
                <p:txBody>
                  <a:bodyPr wrap="square" anchor="ctr">
                    <a:spAutoFit/>
                  </a:bodyPr>
                  <a:lstStyle/>
                  <a:p>
                    <a:pPr/>
                    <a14:m>
                      <m:oMathPara xmlns:m="http://schemas.openxmlformats.org/officeDocument/2006/math">
                        <m:oMathParaPr>
                          <m:jc m:val="centerGroup"/>
                        </m:oMathParaPr>
                        <m:oMath xmlns:m="http://schemas.openxmlformats.org/officeDocument/2006/math">
                          <m:sSubSup>
                            <m:sSubSupPr>
                              <m:ctrlPr>
                                <a:rPr lang="en-US" altLang="ja-JP" sz="2400" i="1" smtClean="0">
                                  <a:solidFill>
                                    <a:schemeClr val="tx1">
                                      <a:lumMod val="75000"/>
                                      <a:lumOff val="25000"/>
                                    </a:schemeClr>
                                  </a:solidFill>
                                  <a:latin typeface="Cambria Math" panose="02040503050406030204" pitchFamily="18" charset="0"/>
                                  <a:ea typeface="Cambria Math" panose="02040503050406030204" pitchFamily="18" charset="0"/>
                                </a:rPr>
                              </m:ctrlPr>
                            </m:sSubSupPr>
                            <m:e>
                              <m:r>
                                <a:rPr lang="en-US" altLang="ja-JP" sz="2400" b="1">
                                  <a:solidFill>
                                    <a:schemeClr val="tx1">
                                      <a:lumMod val="75000"/>
                                      <a:lumOff val="25000"/>
                                    </a:schemeClr>
                                  </a:solidFill>
                                  <a:latin typeface="Cambria Math" panose="02040503050406030204" pitchFamily="18" charset="0"/>
                                  <a:ea typeface="Cambria Math" panose="02040503050406030204" pitchFamily="18" charset="0"/>
                                </a:rPr>
                                <m:t>𝐳</m:t>
                              </m:r>
                            </m:e>
                            <m:sub>
                              <m:r>
                                <a:rPr lang="en-US" altLang="ja-JP" sz="2400" i="1">
                                  <a:solidFill>
                                    <a:schemeClr val="tx1">
                                      <a:lumMod val="75000"/>
                                      <a:lumOff val="25000"/>
                                    </a:schemeClr>
                                  </a:solidFill>
                                  <a:latin typeface="Cambria Math" panose="02040503050406030204" pitchFamily="18" charset="0"/>
                                  <a:ea typeface="Cambria Math" panose="02040503050406030204" pitchFamily="18" charset="0"/>
                                </a:rPr>
                                <m:t>𝑙</m:t>
                              </m:r>
                              <m:r>
                                <a:rPr lang="en-US" altLang="ja-JP" sz="2400" b="0" i="1" smtClean="0">
                                  <a:solidFill>
                                    <a:schemeClr val="tx1">
                                      <a:lumMod val="75000"/>
                                      <a:lumOff val="25000"/>
                                    </a:schemeClr>
                                  </a:solidFill>
                                  <a:latin typeface="Cambria Math" panose="02040503050406030204" pitchFamily="18" charset="0"/>
                                  <a:ea typeface="Cambria Math" panose="02040503050406030204" pitchFamily="18" charset="0"/>
                                </a:rPr>
                                <m:t>1</m:t>
                              </m:r>
                            </m:sub>
                            <m:sup>
                              <m:r>
                                <a:rPr lang="en-US" altLang="ja-JP" sz="2400" i="1">
                                  <a:solidFill>
                                    <a:schemeClr val="tx1">
                                      <a:lumMod val="75000"/>
                                      <a:lumOff val="25000"/>
                                    </a:schemeClr>
                                  </a:solidFill>
                                  <a:latin typeface="Cambria Math" panose="02040503050406030204" pitchFamily="18" charset="0"/>
                                  <a:ea typeface="Cambria Math" panose="02040503050406030204" pitchFamily="18" charset="0"/>
                                </a:rPr>
                                <m:t>𝑇</m:t>
                              </m:r>
                            </m:sup>
                          </m:sSubSup>
                        </m:oMath>
                      </m:oMathPara>
                    </a14:m>
                    <a:endParaRPr lang="ja-JP" altLang="en-US" sz="1400" dirty="0">
                      <a:solidFill>
                        <a:schemeClr val="tx1">
                          <a:lumMod val="75000"/>
                          <a:lumOff val="25000"/>
                        </a:schemeClr>
                      </a:solidFill>
                    </a:endParaRPr>
                  </a:p>
                </p:txBody>
              </p:sp>
            </mc:Choice>
            <mc:Fallback xmlns="">
              <p:sp>
                <p:nvSpPr>
                  <p:cNvPr id="69" name="テキスト ボックス 68">
                    <a:extLst>
                      <a:ext uri="{FF2B5EF4-FFF2-40B4-BE49-F238E27FC236}">
                        <a16:creationId xmlns:a16="http://schemas.microsoft.com/office/drawing/2014/main" id="{2C85DF07-9DDA-4058-BD6F-BF3CC2315153}"/>
                      </a:ext>
                    </a:extLst>
                  </p:cNvPr>
                  <p:cNvSpPr txBox="1">
                    <a:spLocks noRot="1" noChangeAspect="1" noMove="1" noResize="1" noEditPoints="1" noAdjustHandles="1" noChangeArrowheads="1" noChangeShapeType="1" noTextEdit="1"/>
                  </p:cNvSpPr>
                  <p:nvPr/>
                </p:nvSpPr>
                <p:spPr>
                  <a:xfrm>
                    <a:off x="520401" y="5437466"/>
                    <a:ext cx="807034" cy="543053"/>
                  </a:xfrm>
                  <a:prstGeom prst="rect">
                    <a:avLst/>
                  </a:prstGeom>
                  <a:blipFill>
                    <a:blip r:embed="rId5"/>
                    <a:stretch>
                      <a:fillRect b="-5128"/>
                    </a:stretch>
                  </a:blipFill>
                  <a:effectLst>
                    <a:softEdge rad="63500"/>
                  </a:effectLst>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6" name="テキスト ボックス 75">
                    <a:extLst>
                      <a:ext uri="{FF2B5EF4-FFF2-40B4-BE49-F238E27FC236}">
                        <a16:creationId xmlns:a16="http://schemas.microsoft.com/office/drawing/2014/main" id="{567598FD-A6B2-4CED-B801-47F17727A972}"/>
                      </a:ext>
                    </a:extLst>
                  </p:cNvPr>
                  <p:cNvSpPr txBox="1"/>
                  <p:nvPr/>
                </p:nvSpPr>
                <p:spPr>
                  <a:xfrm>
                    <a:off x="3234878" y="5451070"/>
                    <a:ext cx="807034" cy="526171"/>
                  </a:xfrm>
                  <a:prstGeom prst="rect">
                    <a:avLst/>
                  </a:prstGeom>
                  <a:noFill/>
                  <a:effectLst>
                    <a:softEdge rad="63500"/>
                  </a:effectLst>
                </p:spPr>
                <p:txBody>
                  <a:bodyPr wrap="square" anchor="ctr">
                    <a:spAutoFit/>
                  </a:bodyPr>
                  <a:lstStyle/>
                  <a:p>
                    <a:pPr/>
                    <a14:m>
                      <m:oMathPara xmlns:m="http://schemas.openxmlformats.org/officeDocument/2006/math">
                        <m:oMathParaPr>
                          <m:jc m:val="centerGroup"/>
                        </m:oMathParaPr>
                        <m:oMath xmlns:m="http://schemas.openxmlformats.org/officeDocument/2006/math">
                          <m:sSub>
                            <m:sSubPr>
                              <m:ctrlPr>
                                <a:rPr lang="en-US" altLang="ja-JP" sz="2400" i="1" smtClean="0">
                                  <a:solidFill>
                                    <a:schemeClr val="tx1">
                                      <a:lumMod val="75000"/>
                                      <a:lumOff val="25000"/>
                                    </a:schemeClr>
                                  </a:solidFill>
                                  <a:latin typeface="Cambria Math" panose="02040503050406030204" pitchFamily="18" charset="0"/>
                                  <a:ea typeface="Cambria Math" panose="02040503050406030204" pitchFamily="18" charset="0"/>
                                </a:rPr>
                              </m:ctrlPr>
                            </m:sSubPr>
                            <m:e>
                              <m:r>
                                <a:rPr lang="en-US" altLang="ja-JP" sz="2400" b="1">
                                  <a:solidFill>
                                    <a:schemeClr val="tx1">
                                      <a:lumMod val="75000"/>
                                      <a:lumOff val="25000"/>
                                    </a:schemeClr>
                                  </a:solidFill>
                                  <a:latin typeface="Cambria Math" panose="02040503050406030204" pitchFamily="18" charset="0"/>
                                  <a:ea typeface="Cambria Math" panose="02040503050406030204" pitchFamily="18" charset="0"/>
                                </a:rPr>
                                <m:t>𝐳</m:t>
                              </m:r>
                            </m:e>
                            <m:sub>
                              <m:r>
                                <a:rPr lang="en-US" altLang="ja-JP" sz="2400" i="1">
                                  <a:solidFill>
                                    <a:schemeClr val="tx1">
                                      <a:lumMod val="75000"/>
                                      <a:lumOff val="25000"/>
                                    </a:schemeClr>
                                  </a:solidFill>
                                  <a:latin typeface="Cambria Math" panose="02040503050406030204" pitchFamily="18" charset="0"/>
                                  <a:ea typeface="Cambria Math" panose="02040503050406030204" pitchFamily="18" charset="0"/>
                                </a:rPr>
                                <m:t>𝑙</m:t>
                              </m:r>
                              <m:r>
                                <a:rPr lang="en-US" altLang="ja-JP" sz="2400" b="0" i="1" smtClean="0">
                                  <a:solidFill>
                                    <a:schemeClr val="tx1">
                                      <a:lumMod val="75000"/>
                                      <a:lumOff val="25000"/>
                                    </a:schemeClr>
                                  </a:solidFill>
                                  <a:latin typeface="Cambria Math" panose="02040503050406030204" pitchFamily="18" charset="0"/>
                                  <a:ea typeface="Cambria Math" panose="02040503050406030204" pitchFamily="18" charset="0"/>
                                </a:rPr>
                                <m:t>1</m:t>
                              </m:r>
                            </m:sub>
                          </m:sSub>
                        </m:oMath>
                      </m:oMathPara>
                    </a14:m>
                    <a:endParaRPr lang="ja-JP" altLang="en-US" sz="1400" dirty="0">
                      <a:solidFill>
                        <a:schemeClr val="tx1">
                          <a:lumMod val="75000"/>
                          <a:lumOff val="25000"/>
                        </a:schemeClr>
                      </a:solidFill>
                    </a:endParaRPr>
                  </a:p>
                </p:txBody>
              </p:sp>
            </mc:Choice>
            <mc:Fallback xmlns="">
              <p:sp>
                <p:nvSpPr>
                  <p:cNvPr id="76" name="テキスト ボックス 75">
                    <a:extLst>
                      <a:ext uri="{FF2B5EF4-FFF2-40B4-BE49-F238E27FC236}">
                        <a16:creationId xmlns:a16="http://schemas.microsoft.com/office/drawing/2014/main" id="{567598FD-A6B2-4CED-B801-47F17727A972}"/>
                      </a:ext>
                    </a:extLst>
                  </p:cNvPr>
                  <p:cNvSpPr txBox="1">
                    <a:spLocks noRot="1" noChangeAspect="1" noMove="1" noResize="1" noEditPoints="1" noAdjustHandles="1" noChangeArrowheads="1" noChangeShapeType="1" noTextEdit="1"/>
                  </p:cNvSpPr>
                  <p:nvPr/>
                </p:nvSpPr>
                <p:spPr>
                  <a:xfrm>
                    <a:off x="3234878" y="5451070"/>
                    <a:ext cx="807034" cy="526171"/>
                  </a:xfrm>
                  <a:prstGeom prst="rect">
                    <a:avLst/>
                  </a:prstGeom>
                  <a:blipFill>
                    <a:blip r:embed="rId6"/>
                    <a:stretch>
                      <a:fillRect b="-1316"/>
                    </a:stretch>
                  </a:blipFill>
                  <a:effectLst>
                    <a:softEdge rad="63500"/>
                  </a:effectLst>
                </p:spPr>
                <p:txBody>
                  <a:bodyPr/>
                  <a:lstStyle/>
                  <a:p>
                    <a:r>
                      <a:rPr lang="ja-JP" altLang="en-US">
                        <a:noFill/>
                      </a:rPr>
                      <a:t> </a:t>
                    </a:r>
                  </a:p>
                </p:txBody>
              </p:sp>
            </mc:Fallback>
          </mc:AlternateContent>
          <p:grpSp>
            <p:nvGrpSpPr>
              <p:cNvPr id="77" name="グループ化 76">
                <a:extLst>
                  <a:ext uri="{FF2B5EF4-FFF2-40B4-BE49-F238E27FC236}">
                    <a16:creationId xmlns:a16="http://schemas.microsoft.com/office/drawing/2014/main" id="{592FCA58-8CBE-4408-9299-FFFD0BB3F5F1}"/>
                  </a:ext>
                </a:extLst>
              </p:cNvPr>
              <p:cNvGrpSpPr/>
              <p:nvPr/>
            </p:nvGrpSpPr>
            <p:grpSpPr>
              <a:xfrm rot="5400000">
                <a:off x="2945242" y="4739623"/>
                <a:ext cx="1238193" cy="320858"/>
                <a:chOff x="4346724" y="4135172"/>
                <a:chExt cx="1374303" cy="356129"/>
              </a:xfrm>
            </p:grpSpPr>
            <p:sp>
              <p:nvSpPr>
                <p:cNvPr id="78" name="正方形/長方形 77">
                  <a:extLst>
                    <a:ext uri="{FF2B5EF4-FFF2-40B4-BE49-F238E27FC236}">
                      <a16:creationId xmlns:a16="http://schemas.microsoft.com/office/drawing/2014/main" id="{B2873203-F248-493B-825F-DB395B58E9C6}"/>
                    </a:ext>
                  </a:extLst>
                </p:cNvPr>
                <p:cNvSpPr/>
                <p:nvPr/>
              </p:nvSpPr>
              <p:spPr>
                <a:xfrm>
                  <a:off x="4479368" y="4205172"/>
                  <a:ext cx="213992" cy="213992"/>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400" dirty="0"/>
                    <a:t>-1</a:t>
                  </a:r>
                  <a:endParaRPr kumimoji="1" lang="ja-JP" altLang="en-US" sz="400" dirty="0"/>
                </a:p>
              </p:txBody>
            </p:sp>
            <p:sp>
              <p:nvSpPr>
                <p:cNvPr id="79" name="正方形/長方形 78">
                  <a:extLst>
                    <a:ext uri="{FF2B5EF4-FFF2-40B4-BE49-F238E27FC236}">
                      <a16:creationId xmlns:a16="http://schemas.microsoft.com/office/drawing/2014/main" id="{5120EFC5-0A35-4757-BCFD-D3C8CD227FBF}"/>
                    </a:ext>
                  </a:extLst>
                </p:cNvPr>
                <p:cNvSpPr/>
                <p:nvPr/>
              </p:nvSpPr>
              <p:spPr>
                <a:xfrm>
                  <a:off x="4782260" y="4204815"/>
                  <a:ext cx="213992" cy="213992"/>
                </a:xfrm>
                <a:prstGeom prst="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0" name="正方形/長方形 79">
                  <a:extLst>
                    <a:ext uri="{FF2B5EF4-FFF2-40B4-BE49-F238E27FC236}">
                      <a16:creationId xmlns:a16="http://schemas.microsoft.com/office/drawing/2014/main" id="{5223D530-D0E8-4257-A564-5EF106E6B434}"/>
                    </a:ext>
                  </a:extLst>
                </p:cNvPr>
                <p:cNvSpPr/>
                <p:nvPr/>
              </p:nvSpPr>
              <p:spPr>
                <a:xfrm>
                  <a:off x="5085152" y="4204815"/>
                  <a:ext cx="213992" cy="213992"/>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1" name="正方形/長方形 80">
                  <a:extLst>
                    <a:ext uri="{FF2B5EF4-FFF2-40B4-BE49-F238E27FC236}">
                      <a16:creationId xmlns:a16="http://schemas.microsoft.com/office/drawing/2014/main" id="{DCD38BA0-965E-4EE6-97BD-48AE191F5C89}"/>
                    </a:ext>
                  </a:extLst>
                </p:cNvPr>
                <p:cNvSpPr/>
                <p:nvPr/>
              </p:nvSpPr>
              <p:spPr>
                <a:xfrm>
                  <a:off x="5388044" y="4204815"/>
                  <a:ext cx="213992" cy="213992"/>
                </a:xfrm>
                <a:prstGeom prst="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2" name="大かっこ 81">
                  <a:extLst>
                    <a:ext uri="{FF2B5EF4-FFF2-40B4-BE49-F238E27FC236}">
                      <a16:creationId xmlns:a16="http://schemas.microsoft.com/office/drawing/2014/main" id="{36C387DA-DEFF-43FF-BCC8-89AED3A73A42}"/>
                    </a:ext>
                  </a:extLst>
                </p:cNvPr>
                <p:cNvSpPr/>
                <p:nvPr/>
              </p:nvSpPr>
              <p:spPr>
                <a:xfrm>
                  <a:off x="4346724" y="4135172"/>
                  <a:ext cx="1374303" cy="356129"/>
                </a:xfrm>
                <a:prstGeom prst="bracketPair">
                  <a:avLst/>
                </a:prstGeom>
                <a:ln w="571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sp>
            <p:nvSpPr>
              <p:cNvPr id="12" name="四角形: 角を丸くする 11">
                <a:extLst>
                  <a:ext uri="{FF2B5EF4-FFF2-40B4-BE49-F238E27FC236}">
                    <a16:creationId xmlns:a16="http://schemas.microsoft.com/office/drawing/2014/main" id="{F800F151-02D1-40CB-815A-A6D898B3A57B}"/>
                  </a:ext>
                </a:extLst>
              </p:cNvPr>
              <p:cNvSpPr/>
              <p:nvPr/>
            </p:nvSpPr>
            <p:spPr>
              <a:xfrm>
                <a:off x="127000" y="3995318"/>
                <a:ext cx="3810000" cy="2049882"/>
              </a:xfrm>
              <a:prstGeom prst="roundRect">
                <a:avLst/>
              </a:prstGeom>
              <a:noFill/>
              <a:ln w="381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5" name="グループ化 154">
              <a:extLst>
                <a:ext uri="{FF2B5EF4-FFF2-40B4-BE49-F238E27FC236}">
                  <a16:creationId xmlns:a16="http://schemas.microsoft.com/office/drawing/2014/main" id="{383E451B-22F4-4BB2-A9C7-DE884659583F}"/>
                </a:ext>
              </a:extLst>
            </p:cNvPr>
            <p:cNvGrpSpPr/>
            <p:nvPr/>
          </p:nvGrpSpPr>
          <p:grpSpPr>
            <a:xfrm>
              <a:off x="3682732" y="3959135"/>
              <a:ext cx="3434961" cy="1798575"/>
              <a:chOff x="127000" y="3995318"/>
              <a:chExt cx="3914912" cy="2049882"/>
            </a:xfrm>
          </p:grpSpPr>
          <p:grpSp>
            <p:nvGrpSpPr>
              <p:cNvPr id="156" name="グループ化 155">
                <a:extLst>
                  <a:ext uri="{FF2B5EF4-FFF2-40B4-BE49-F238E27FC236}">
                    <a16:creationId xmlns:a16="http://schemas.microsoft.com/office/drawing/2014/main" id="{0C957561-A766-4C54-BA3F-9BDE45D51151}"/>
                  </a:ext>
                </a:extLst>
              </p:cNvPr>
              <p:cNvGrpSpPr/>
              <p:nvPr/>
            </p:nvGrpSpPr>
            <p:grpSpPr>
              <a:xfrm>
                <a:off x="1628566" y="4267110"/>
                <a:ext cx="1606312" cy="1265884"/>
                <a:chOff x="2322930" y="3353671"/>
                <a:chExt cx="2319094" cy="1827605"/>
              </a:xfrm>
            </p:grpSpPr>
            <p:grpSp>
              <p:nvGrpSpPr>
                <p:cNvPr id="173" name="グループ化 172">
                  <a:extLst>
                    <a:ext uri="{FF2B5EF4-FFF2-40B4-BE49-F238E27FC236}">
                      <a16:creationId xmlns:a16="http://schemas.microsoft.com/office/drawing/2014/main" id="{0D45FB22-967C-43C3-91B5-E30A37D2AD9C}"/>
                    </a:ext>
                  </a:extLst>
                </p:cNvPr>
                <p:cNvGrpSpPr/>
                <p:nvPr/>
              </p:nvGrpSpPr>
              <p:grpSpPr>
                <a:xfrm>
                  <a:off x="2652046" y="3451928"/>
                  <a:ext cx="1700918" cy="1676670"/>
                  <a:chOff x="1138989" y="3968713"/>
                  <a:chExt cx="1700918" cy="1676670"/>
                </a:xfrm>
              </p:grpSpPr>
              <p:sp>
                <p:nvSpPr>
                  <p:cNvPr id="175" name="正方形/長方形 174">
                    <a:extLst>
                      <a:ext uri="{FF2B5EF4-FFF2-40B4-BE49-F238E27FC236}">
                        <a16:creationId xmlns:a16="http://schemas.microsoft.com/office/drawing/2014/main" id="{2848B491-EA0B-47DE-A332-15931157BE77}"/>
                      </a:ext>
                    </a:extLst>
                  </p:cNvPr>
                  <p:cNvSpPr/>
                  <p:nvPr/>
                </p:nvSpPr>
                <p:spPr>
                  <a:xfrm>
                    <a:off x="1138989" y="3974039"/>
                    <a:ext cx="319421" cy="319421"/>
                  </a:xfrm>
                  <a:prstGeom prst="rect">
                    <a:avLst/>
                  </a:prstGeom>
                  <a:solidFill>
                    <a:schemeClr val="accent6">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6" name="正方形/長方形 175">
                    <a:extLst>
                      <a:ext uri="{FF2B5EF4-FFF2-40B4-BE49-F238E27FC236}">
                        <a16:creationId xmlns:a16="http://schemas.microsoft.com/office/drawing/2014/main" id="{15F3088C-8021-45C7-9783-3E081CBA4D83}"/>
                      </a:ext>
                    </a:extLst>
                  </p:cNvPr>
                  <p:cNvSpPr/>
                  <p:nvPr/>
                </p:nvSpPr>
                <p:spPr>
                  <a:xfrm>
                    <a:off x="1599488" y="3974039"/>
                    <a:ext cx="319421" cy="319421"/>
                  </a:xfrm>
                  <a:prstGeom prst="rect">
                    <a:avLst/>
                  </a:prstGeom>
                  <a:solidFill>
                    <a:schemeClr val="accent6">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77" name="正方形/長方形 176">
                    <a:extLst>
                      <a:ext uri="{FF2B5EF4-FFF2-40B4-BE49-F238E27FC236}">
                        <a16:creationId xmlns:a16="http://schemas.microsoft.com/office/drawing/2014/main" id="{43837D28-6BF8-498B-B05C-DD9043967F1B}"/>
                      </a:ext>
                    </a:extLst>
                  </p:cNvPr>
                  <p:cNvSpPr/>
                  <p:nvPr/>
                </p:nvSpPr>
                <p:spPr>
                  <a:xfrm>
                    <a:off x="2059987" y="3968714"/>
                    <a:ext cx="319421" cy="319421"/>
                  </a:xfrm>
                  <a:prstGeom prst="rect">
                    <a:avLst/>
                  </a:prstGeom>
                  <a:solidFill>
                    <a:schemeClr val="accent6">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8" name="正方形/長方形 177">
                    <a:extLst>
                      <a:ext uri="{FF2B5EF4-FFF2-40B4-BE49-F238E27FC236}">
                        <a16:creationId xmlns:a16="http://schemas.microsoft.com/office/drawing/2014/main" id="{100BC939-B7C3-4548-8E9B-7706364AC204}"/>
                      </a:ext>
                    </a:extLst>
                  </p:cNvPr>
                  <p:cNvSpPr/>
                  <p:nvPr/>
                </p:nvSpPr>
                <p:spPr>
                  <a:xfrm>
                    <a:off x="2520486" y="3968713"/>
                    <a:ext cx="319421" cy="319421"/>
                  </a:xfrm>
                  <a:prstGeom prst="rect">
                    <a:avLst/>
                  </a:prstGeom>
                  <a:solidFill>
                    <a:schemeClr val="accent6">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9" name="正方形/長方形 178">
                    <a:extLst>
                      <a:ext uri="{FF2B5EF4-FFF2-40B4-BE49-F238E27FC236}">
                        <a16:creationId xmlns:a16="http://schemas.microsoft.com/office/drawing/2014/main" id="{507E77FA-1B9D-47AB-9D14-6035F8307BC3}"/>
                      </a:ext>
                    </a:extLst>
                  </p:cNvPr>
                  <p:cNvSpPr/>
                  <p:nvPr/>
                </p:nvSpPr>
                <p:spPr>
                  <a:xfrm>
                    <a:off x="1138989" y="4424680"/>
                    <a:ext cx="319421" cy="319421"/>
                  </a:xfrm>
                  <a:prstGeom prst="rect">
                    <a:avLst/>
                  </a:prstGeom>
                  <a:solidFill>
                    <a:schemeClr val="accent5">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0" name="正方形/長方形 179">
                    <a:extLst>
                      <a:ext uri="{FF2B5EF4-FFF2-40B4-BE49-F238E27FC236}">
                        <a16:creationId xmlns:a16="http://schemas.microsoft.com/office/drawing/2014/main" id="{F205D05D-4C0A-4638-834E-D7F116DFD038}"/>
                      </a:ext>
                    </a:extLst>
                  </p:cNvPr>
                  <p:cNvSpPr/>
                  <p:nvPr/>
                </p:nvSpPr>
                <p:spPr>
                  <a:xfrm>
                    <a:off x="1599488" y="4424680"/>
                    <a:ext cx="319421" cy="319421"/>
                  </a:xfrm>
                  <a:prstGeom prst="rect">
                    <a:avLst/>
                  </a:prstGeom>
                  <a:solidFill>
                    <a:schemeClr val="accent5">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1" name="正方形/長方形 180">
                    <a:extLst>
                      <a:ext uri="{FF2B5EF4-FFF2-40B4-BE49-F238E27FC236}">
                        <a16:creationId xmlns:a16="http://schemas.microsoft.com/office/drawing/2014/main" id="{4993B2CC-C5D8-44C5-ABA1-FD08574D546A}"/>
                      </a:ext>
                    </a:extLst>
                  </p:cNvPr>
                  <p:cNvSpPr/>
                  <p:nvPr/>
                </p:nvSpPr>
                <p:spPr>
                  <a:xfrm>
                    <a:off x="2059987" y="4419355"/>
                    <a:ext cx="319421" cy="319421"/>
                  </a:xfrm>
                  <a:prstGeom prst="rect">
                    <a:avLst/>
                  </a:prstGeom>
                  <a:solidFill>
                    <a:schemeClr val="accent5">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2" name="正方形/長方形 181">
                    <a:extLst>
                      <a:ext uri="{FF2B5EF4-FFF2-40B4-BE49-F238E27FC236}">
                        <a16:creationId xmlns:a16="http://schemas.microsoft.com/office/drawing/2014/main" id="{431C8E93-C51A-4990-A923-E69ADD5F0E1B}"/>
                      </a:ext>
                    </a:extLst>
                  </p:cNvPr>
                  <p:cNvSpPr/>
                  <p:nvPr/>
                </p:nvSpPr>
                <p:spPr>
                  <a:xfrm>
                    <a:off x="2520486" y="4419354"/>
                    <a:ext cx="319421" cy="319421"/>
                  </a:xfrm>
                  <a:prstGeom prst="rect">
                    <a:avLst/>
                  </a:prstGeom>
                  <a:solidFill>
                    <a:schemeClr val="accent5">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3" name="正方形/長方形 182">
                    <a:extLst>
                      <a:ext uri="{FF2B5EF4-FFF2-40B4-BE49-F238E27FC236}">
                        <a16:creationId xmlns:a16="http://schemas.microsoft.com/office/drawing/2014/main" id="{DBE5B71F-3A23-47CB-BDB6-8D2CF4282272}"/>
                      </a:ext>
                    </a:extLst>
                  </p:cNvPr>
                  <p:cNvSpPr/>
                  <p:nvPr/>
                </p:nvSpPr>
                <p:spPr>
                  <a:xfrm>
                    <a:off x="1138989" y="4875321"/>
                    <a:ext cx="319421" cy="319421"/>
                  </a:xfrm>
                  <a:prstGeom prst="rect">
                    <a:avLst/>
                  </a:prstGeom>
                  <a:solidFill>
                    <a:schemeClr val="accent4">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4" name="正方形/長方形 183">
                    <a:extLst>
                      <a:ext uri="{FF2B5EF4-FFF2-40B4-BE49-F238E27FC236}">
                        <a16:creationId xmlns:a16="http://schemas.microsoft.com/office/drawing/2014/main" id="{3B06A274-4AAC-46C6-BBC9-E7A80E10BB15}"/>
                      </a:ext>
                    </a:extLst>
                  </p:cNvPr>
                  <p:cNvSpPr/>
                  <p:nvPr/>
                </p:nvSpPr>
                <p:spPr>
                  <a:xfrm>
                    <a:off x="1599488" y="4875321"/>
                    <a:ext cx="319421" cy="319421"/>
                  </a:xfrm>
                  <a:prstGeom prst="rect">
                    <a:avLst/>
                  </a:prstGeom>
                  <a:solidFill>
                    <a:schemeClr val="accent4">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5" name="正方形/長方形 184">
                    <a:extLst>
                      <a:ext uri="{FF2B5EF4-FFF2-40B4-BE49-F238E27FC236}">
                        <a16:creationId xmlns:a16="http://schemas.microsoft.com/office/drawing/2014/main" id="{9873140D-6FA0-432E-AC7B-EB4C8C4C640B}"/>
                      </a:ext>
                    </a:extLst>
                  </p:cNvPr>
                  <p:cNvSpPr/>
                  <p:nvPr/>
                </p:nvSpPr>
                <p:spPr>
                  <a:xfrm>
                    <a:off x="2059987" y="4869996"/>
                    <a:ext cx="319421" cy="319421"/>
                  </a:xfrm>
                  <a:prstGeom prst="rect">
                    <a:avLst/>
                  </a:prstGeom>
                  <a:solidFill>
                    <a:schemeClr val="accent4">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6" name="正方形/長方形 185">
                    <a:extLst>
                      <a:ext uri="{FF2B5EF4-FFF2-40B4-BE49-F238E27FC236}">
                        <a16:creationId xmlns:a16="http://schemas.microsoft.com/office/drawing/2014/main" id="{0AFDE315-E6A8-411E-BDF8-BD3A3F610D5D}"/>
                      </a:ext>
                    </a:extLst>
                  </p:cNvPr>
                  <p:cNvSpPr/>
                  <p:nvPr/>
                </p:nvSpPr>
                <p:spPr>
                  <a:xfrm>
                    <a:off x="2520486" y="4869995"/>
                    <a:ext cx="319421" cy="319421"/>
                  </a:xfrm>
                  <a:prstGeom prst="rect">
                    <a:avLst/>
                  </a:prstGeom>
                  <a:solidFill>
                    <a:schemeClr val="accent4">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7" name="正方形/長方形 186">
                    <a:extLst>
                      <a:ext uri="{FF2B5EF4-FFF2-40B4-BE49-F238E27FC236}">
                        <a16:creationId xmlns:a16="http://schemas.microsoft.com/office/drawing/2014/main" id="{9CBFC7C3-A8F7-4AFD-82E5-336A02F133B2}"/>
                      </a:ext>
                    </a:extLst>
                  </p:cNvPr>
                  <p:cNvSpPr/>
                  <p:nvPr/>
                </p:nvSpPr>
                <p:spPr>
                  <a:xfrm>
                    <a:off x="1138989" y="5325962"/>
                    <a:ext cx="319421" cy="319421"/>
                  </a:xfrm>
                  <a:prstGeom prst="rect">
                    <a:avLst/>
                  </a:prstGeom>
                  <a:solidFill>
                    <a:schemeClr val="accent2">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8" name="正方形/長方形 187">
                    <a:extLst>
                      <a:ext uri="{FF2B5EF4-FFF2-40B4-BE49-F238E27FC236}">
                        <a16:creationId xmlns:a16="http://schemas.microsoft.com/office/drawing/2014/main" id="{83A0C94A-B1EE-4FC0-AA62-4EAD231F9561}"/>
                      </a:ext>
                    </a:extLst>
                  </p:cNvPr>
                  <p:cNvSpPr/>
                  <p:nvPr/>
                </p:nvSpPr>
                <p:spPr>
                  <a:xfrm>
                    <a:off x="1599488" y="5325962"/>
                    <a:ext cx="319421" cy="319421"/>
                  </a:xfrm>
                  <a:prstGeom prst="rect">
                    <a:avLst/>
                  </a:prstGeom>
                  <a:solidFill>
                    <a:schemeClr val="accent2">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9" name="正方形/長方形 188">
                    <a:extLst>
                      <a:ext uri="{FF2B5EF4-FFF2-40B4-BE49-F238E27FC236}">
                        <a16:creationId xmlns:a16="http://schemas.microsoft.com/office/drawing/2014/main" id="{26A08438-6AA1-42B4-98FB-F8899D51D409}"/>
                      </a:ext>
                    </a:extLst>
                  </p:cNvPr>
                  <p:cNvSpPr/>
                  <p:nvPr/>
                </p:nvSpPr>
                <p:spPr>
                  <a:xfrm>
                    <a:off x="2059987" y="5320637"/>
                    <a:ext cx="319421" cy="319421"/>
                  </a:xfrm>
                  <a:prstGeom prst="rect">
                    <a:avLst/>
                  </a:prstGeom>
                  <a:solidFill>
                    <a:schemeClr val="accent2">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0" name="正方形/長方形 189">
                    <a:extLst>
                      <a:ext uri="{FF2B5EF4-FFF2-40B4-BE49-F238E27FC236}">
                        <a16:creationId xmlns:a16="http://schemas.microsoft.com/office/drawing/2014/main" id="{15A59303-7D71-4272-B8CE-A371C4CDB181}"/>
                      </a:ext>
                    </a:extLst>
                  </p:cNvPr>
                  <p:cNvSpPr/>
                  <p:nvPr/>
                </p:nvSpPr>
                <p:spPr>
                  <a:xfrm>
                    <a:off x="2520486" y="5320636"/>
                    <a:ext cx="319421" cy="319421"/>
                  </a:xfrm>
                  <a:prstGeom prst="rect">
                    <a:avLst/>
                  </a:prstGeom>
                  <a:solidFill>
                    <a:schemeClr val="accent2">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74" name="大かっこ 173">
                  <a:extLst>
                    <a:ext uri="{FF2B5EF4-FFF2-40B4-BE49-F238E27FC236}">
                      <a16:creationId xmlns:a16="http://schemas.microsoft.com/office/drawing/2014/main" id="{DF3433AF-5500-4AF9-A21D-B1805238C3D8}"/>
                    </a:ext>
                  </a:extLst>
                </p:cNvPr>
                <p:cNvSpPr/>
                <p:nvPr/>
              </p:nvSpPr>
              <p:spPr>
                <a:xfrm>
                  <a:off x="2322930" y="3353671"/>
                  <a:ext cx="2319094" cy="1827605"/>
                </a:xfrm>
                <a:prstGeom prst="bracketPair">
                  <a:avLst/>
                </a:prstGeom>
                <a:ln w="571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mc:AlternateContent xmlns:mc="http://schemas.openxmlformats.org/markup-compatibility/2006" xmlns:a14="http://schemas.microsoft.com/office/drawing/2010/main">
            <mc:Choice Requires="a14">
              <p:sp>
                <p:nvSpPr>
                  <p:cNvPr id="157" name="テキスト ボックス 156">
                    <a:extLst>
                      <a:ext uri="{FF2B5EF4-FFF2-40B4-BE49-F238E27FC236}">
                        <a16:creationId xmlns:a16="http://schemas.microsoft.com/office/drawing/2014/main" id="{02651670-312E-475C-9E56-3E44D8D228BE}"/>
                      </a:ext>
                    </a:extLst>
                  </p:cNvPr>
                  <p:cNvSpPr txBox="1"/>
                  <p:nvPr/>
                </p:nvSpPr>
                <p:spPr>
                  <a:xfrm>
                    <a:off x="2060486" y="5456230"/>
                    <a:ext cx="807034" cy="526171"/>
                  </a:xfrm>
                  <a:prstGeom prst="rect">
                    <a:avLst/>
                  </a:prstGeom>
                  <a:noFill/>
                  <a:effectLst>
                    <a:softEdge rad="63500"/>
                  </a:effectLst>
                </p:spPr>
                <p:txBody>
                  <a:bodyPr wrap="square" anchor="ctr">
                    <a:spAutoFit/>
                  </a:bodyPr>
                  <a:lstStyle/>
                  <a:p>
                    <a:pPr/>
                    <a14:m>
                      <m:oMathPara xmlns:m="http://schemas.openxmlformats.org/officeDocument/2006/math">
                        <m:oMathParaPr>
                          <m:jc m:val="centerGroup"/>
                        </m:oMathParaPr>
                        <m:oMath xmlns:m="http://schemas.openxmlformats.org/officeDocument/2006/math">
                          <m:sSub>
                            <m:sSubPr>
                              <m:ctrlPr>
                                <a:rPr lang="en-US" altLang="ja-JP" sz="2400" i="1" smtClean="0">
                                  <a:solidFill>
                                    <a:schemeClr val="tx1">
                                      <a:lumMod val="75000"/>
                                      <a:lumOff val="25000"/>
                                    </a:schemeClr>
                                  </a:solidFill>
                                  <a:latin typeface="Cambria Math" panose="02040503050406030204" pitchFamily="18" charset="0"/>
                                  <a:ea typeface="Cambria Math" panose="02040503050406030204" pitchFamily="18" charset="0"/>
                                </a:rPr>
                              </m:ctrlPr>
                            </m:sSubPr>
                            <m:e>
                              <m:r>
                                <a:rPr lang="en-US" altLang="ja-JP" sz="2400" b="1">
                                  <a:solidFill>
                                    <a:schemeClr val="tx1">
                                      <a:lumMod val="75000"/>
                                      <a:lumOff val="25000"/>
                                    </a:schemeClr>
                                  </a:solidFill>
                                  <a:latin typeface="Cambria Math" panose="02040503050406030204" pitchFamily="18" charset="0"/>
                                  <a:ea typeface="Cambria Math" panose="02040503050406030204" pitchFamily="18" charset="0"/>
                                </a:rPr>
                                <m:t>𝐀</m:t>
                              </m:r>
                            </m:e>
                            <m:sub>
                              <m:r>
                                <a:rPr lang="en-US" altLang="ja-JP" sz="2400" i="1">
                                  <a:solidFill>
                                    <a:schemeClr val="tx1">
                                      <a:lumMod val="75000"/>
                                      <a:lumOff val="25000"/>
                                    </a:schemeClr>
                                  </a:solidFill>
                                  <a:latin typeface="Cambria Math" panose="02040503050406030204" pitchFamily="18" charset="0"/>
                                  <a:ea typeface="Cambria Math" panose="02040503050406030204" pitchFamily="18" charset="0"/>
                                </a:rPr>
                                <m:t>𝑘</m:t>
                              </m:r>
                            </m:sub>
                          </m:sSub>
                        </m:oMath>
                      </m:oMathPara>
                    </a14:m>
                    <a:endParaRPr lang="ja-JP" altLang="en-US" sz="1400" dirty="0">
                      <a:solidFill>
                        <a:schemeClr val="tx1">
                          <a:lumMod val="75000"/>
                          <a:lumOff val="25000"/>
                        </a:schemeClr>
                      </a:solidFill>
                    </a:endParaRPr>
                  </a:p>
                </p:txBody>
              </p:sp>
            </mc:Choice>
            <mc:Fallback xmlns="">
              <p:sp>
                <p:nvSpPr>
                  <p:cNvPr id="157" name="テキスト ボックス 156">
                    <a:extLst>
                      <a:ext uri="{FF2B5EF4-FFF2-40B4-BE49-F238E27FC236}">
                        <a16:creationId xmlns:a16="http://schemas.microsoft.com/office/drawing/2014/main" id="{02651670-312E-475C-9E56-3E44D8D228BE}"/>
                      </a:ext>
                    </a:extLst>
                  </p:cNvPr>
                  <p:cNvSpPr txBox="1">
                    <a:spLocks noRot="1" noChangeAspect="1" noMove="1" noResize="1" noEditPoints="1" noAdjustHandles="1" noChangeArrowheads="1" noChangeShapeType="1" noTextEdit="1"/>
                  </p:cNvSpPr>
                  <p:nvPr/>
                </p:nvSpPr>
                <p:spPr>
                  <a:xfrm>
                    <a:off x="2060486" y="5456230"/>
                    <a:ext cx="807034" cy="526171"/>
                  </a:xfrm>
                  <a:prstGeom prst="rect">
                    <a:avLst/>
                  </a:prstGeom>
                  <a:blipFill>
                    <a:blip r:embed="rId7"/>
                    <a:stretch>
                      <a:fillRect b="-1316"/>
                    </a:stretch>
                  </a:blipFill>
                  <a:effectLst>
                    <a:softEdge rad="63500"/>
                  </a:effectLst>
                </p:spPr>
                <p:txBody>
                  <a:bodyPr/>
                  <a:lstStyle/>
                  <a:p>
                    <a:r>
                      <a:rPr lang="ja-JP" altLang="en-US">
                        <a:noFill/>
                      </a:rPr>
                      <a:t> </a:t>
                    </a:r>
                  </a:p>
                </p:txBody>
              </p:sp>
            </mc:Fallback>
          </mc:AlternateContent>
          <p:grpSp>
            <p:nvGrpSpPr>
              <p:cNvPr id="158" name="グループ化 157">
                <a:extLst>
                  <a:ext uri="{FF2B5EF4-FFF2-40B4-BE49-F238E27FC236}">
                    <a16:creationId xmlns:a16="http://schemas.microsoft.com/office/drawing/2014/main" id="{624CD39D-BA0B-4231-921C-B7922D2B343A}"/>
                  </a:ext>
                </a:extLst>
              </p:cNvPr>
              <p:cNvGrpSpPr/>
              <p:nvPr/>
            </p:nvGrpSpPr>
            <p:grpSpPr>
              <a:xfrm>
                <a:off x="279399" y="4723477"/>
                <a:ext cx="1238193" cy="320858"/>
                <a:chOff x="4346724" y="4135172"/>
                <a:chExt cx="1374303" cy="356129"/>
              </a:xfrm>
            </p:grpSpPr>
            <p:sp>
              <p:nvSpPr>
                <p:cNvPr id="168" name="正方形/長方形 167">
                  <a:extLst>
                    <a:ext uri="{FF2B5EF4-FFF2-40B4-BE49-F238E27FC236}">
                      <a16:creationId xmlns:a16="http://schemas.microsoft.com/office/drawing/2014/main" id="{DA095A30-61B2-4B50-9DBE-53EF12C3410E}"/>
                    </a:ext>
                  </a:extLst>
                </p:cNvPr>
                <p:cNvSpPr/>
                <p:nvPr/>
              </p:nvSpPr>
              <p:spPr>
                <a:xfrm>
                  <a:off x="4479368" y="4205172"/>
                  <a:ext cx="213992" cy="213992"/>
                </a:xfrm>
                <a:prstGeom prst="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400" dirty="0"/>
                    <a:t>-1</a:t>
                  </a:r>
                  <a:endParaRPr kumimoji="1" lang="ja-JP" altLang="en-US" sz="400" dirty="0"/>
                </a:p>
              </p:txBody>
            </p:sp>
            <p:sp>
              <p:nvSpPr>
                <p:cNvPr id="169" name="正方形/長方形 168">
                  <a:extLst>
                    <a:ext uri="{FF2B5EF4-FFF2-40B4-BE49-F238E27FC236}">
                      <a16:creationId xmlns:a16="http://schemas.microsoft.com/office/drawing/2014/main" id="{8B38EBCC-EEAA-439E-B5E2-85B1B30B5BAF}"/>
                    </a:ext>
                  </a:extLst>
                </p:cNvPr>
                <p:cNvSpPr/>
                <p:nvPr/>
              </p:nvSpPr>
              <p:spPr>
                <a:xfrm>
                  <a:off x="4782260" y="4204815"/>
                  <a:ext cx="213992" cy="213992"/>
                </a:xfrm>
                <a:prstGeom prst="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0" name="正方形/長方形 169">
                  <a:extLst>
                    <a:ext uri="{FF2B5EF4-FFF2-40B4-BE49-F238E27FC236}">
                      <a16:creationId xmlns:a16="http://schemas.microsoft.com/office/drawing/2014/main" id="{F6BE41BF-B74A-4BBB-B88B-EB79B0A86DCF}"/>
                    </a:ext>
                  </a:extLst>
                </p:cNvPr>
                <p:cNvSpPr/>
                <p:nvPr/>
              </p:nvSpPr>
              <p:spPr>
                <a:xfrm>
                  <a:off x="5085152" y="4204815"/>
                  <a:ext cx="213992" cy="213992"/>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1" name="正方形/長方形 170">
                  <a:extLst>
                    <a:ext uri="{FF2B5EF4-FFF2-40B4-BE49-F238E27FC236}">
                      <a16:creationId xmlns:a16="http://schemas.microsoft.com/office/drawing/2014/main" id="{0139C0DE-E05C-478A-8641-7EA7B64A182C}"/>
                    </a:ext>
                  </a:extLst>
                </p:cNvPr>
                <p:cNvSpPr/>
                <p:nvPr/>
              </p:nvSpPr>
              <p:spPr>
                <a:xfrm>
                  <a:off x="5388044" y="4204815"/>
                  <a:ext cx="213992" cy="213992"/>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2" name="大かっこ 171">
                  <a:extLst>
                    <a:ext uri="{FF2B5EF4-FFF2-40B4-BE49-F238E27FC236}">
                      <a16:creationId xmlns:a16="http://schemas.microsoft.com/office/drawing/2014/main" id="{E31973EA-B589-4A95-8428-90C2C204259D}"/>
                    </a:ext>
                  </a:extLst>
                </p:cNvPr>
                <p:cNvSpPr/>
                <p:nvPr/>
              </p:nvSpPr>
              <p:spPr>
                <a:xfrm>
                  <a:off x="4346724" y="4135172"/>
                  <a:ext cx="1374303" cy="356129"/>
                </a:xfrm>
                <a:prstGeom prst="bracketPair">
                  <a:avLst/>
                </a:prstGeom>
                <a:ln w="571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mc:AlternateContent xmlns:mc="http://schemas.openxmlformats.org/markup-compatibility/2006" xmlns:a14="http://schemas.microsoft.com/office/drawing/2010/main">
            <mc:Choice Requires="a14">
              <p:sp>
                <p:nvSpPr>
                  <p:cNvPr id="159" name="テキスト ボックス 158">
                    <a:extLst>
                      <a:ext uri="{FF2B5EF4-FFF2-40B4-BE49-F238E27FC236}">
                        <a16:creationId xmlns:a16="http://schemas.microsoft.com/office/drawing/2014/main" id="{8243BA0C-B4A2-45FF-B97B-FEDC7A935573}"/>
                      </a:ext>
                    </a:extLst>
                  </p:cNvPr>
                  <p:cNvSpPr txBox="1"/>
                  <p:nvPr/>
                </p:nvSpPr>
                <p:spPr>
                  <a:xfrm>
                    <a:off x="520401" y="5437466"/>
                    <a:ext cx="807034" cy="543053"/>
                  </a:xfrm>
                  <a:prstGeom prst="rect">
                    <a:avLst/>
                  </a:prstGeom>
                  <a:noFill/>
                  <a:effectLst>
                    <a:softEdge rad="63500"/>
                  </a:effectLst>
                </p:spPr>
                <p:txBody>
                  <a:bodyPr wrap="square" anchor="ctr">
                    <a:spAutoFit/>
                  </a:bodyPr>
                  <a:lstStyle/>
                  <a:p>
                    <a:pPr/>
                    <a14:m>
                      <m:oMathPara xmlns:m="http://schemas.openxmlformats.org/officeDocument/2006/math">
                        <m:oMathParaPr>
                          <m:jc m:val="centerGroup"/>
                        </m:oMathParaPr>
                        <m:oMath xmlns:m="http://schemas.openxmlformats.org/officeDocument/2006/math">
                          <m:sSubSup>
                            <m:sSubSupPr>
                              <m:ctrlPr>
                                <a:rPr lang="en-US" altLang="ja-JP" sz="2400" i="1" smtClean="0">
                                  <a:solidFill>
                                    <a:schemeClr val="tx1">
                                      <a:lumMod val="75000"/>
                                      <a:lumOff val="25000"/>
                                    </a:schemeClr>
                                  </a:solidFill>
                                  <a:latin typeface="Cambria Math" panose="02040503050406030204" pitchFamily="18" charset="0"/>
                                  <a:ea typeface="Cambria Math" panose="02040503050406030204" pitchFamily="18" charset="0"/>
                                </a:rPr>
                              </m:ctrlPr>
                            </m:sSubSupPr>
                            <m:e>
                              <m:r>
                                <a:rPr lang="en-US" altLang="ja-JP" sz="2400" b="1">
                                  <a:solidFill>
                                    <a:schemeClr val="tx1">
                                      <a:lumMod val="75000"/>
                                      <a:lumOff val="25000"/>
                                    </a:schemeClr>
                                  </a:solidFill>
                                  <a:latin typeface="Cambria Math" panose="02040503050406030204" pitchFamily="18" charset="0"/>
                                  <a:ea typeface="Cambria Math" panose="02040503050406030204" pitchFamily="18" charset="0"/>
                                </a:rPr>
                                <m:t>𝐳</m:t>
                              </m:r>
                            </m:e>
                            <m:sub>
                              <m:r>
                                <a:rPr lang="en-US" altLang="ja-JP" sz="2400" i="1">
                                  <a:solidFill>
                                    <a:schemeClr val="tx1">
                                      <a:lumMod val="75000"/>
                                      <a:lumOff val="25000"/>
                                    </a:schemeClr>
                                  </a:solidFill>
                                  <a:latin typeface="Cambria Math" panose="02040503050406030204" pitchFamily="18" charset="0"/>
                                  <a:ea typeface="Cambria Math" panose="02040503050406030204" pitchFamily="18" charset="0"/>
                                </a:rPr>
                                <m:t>𝑙</m:t>
                              </m:r>
                              <m:r>
                                <a:rPr lang="en-US" altLang="ja-JP" sz="2400" b="0" i="1" smtClean="0">
                                  <a:solidFill>
                                    <a:schemeClr val="tx1">
                                      <a:lumMod val="75000"/>
                                      <a:lumOff val="25000"/>
                                    </a:schemeClr>
                                  </a:solidFill>
                                  <a:latin typeface="Cambria Math" panose="02040503050406030204" pitchFamily="18" charset="0"/>
                                  <a:ea typeface="Cambria Math" panose="02040503050406030204" pitchFamily="18" charset="0"/>
                                </a:rPr>
                                <m:t>2</m:t>
                              </m:r>
                            </m:sub>
                            <m:sup>
                              <m:r>
                                <a:rPr lang="en-US" altLang="ja-JP" sz="2400" i="1">
                                  <a:solidFill>
                                    <a:schemeClr val="tx1">
                                      <a:lumMod val="75000"/>
                                      <a:lumOff val="25000"/>
                                    </a:schemeClr>
                                  </a:solidFill>
                                  <a:latin typeface="Cambria Math" panose="02040503050406030204" pitchFamily="18" charset="0"/>
                                  <a:ea typeface="Cambria Math" panose="02040503050406030204" pitchFamily="18" charset="0"/>
                                </a:rPr>
                                <m:t>𝑇</m:t>
                              </m:r>
                            </m:sup>
                          </m:sSubSup>
                        </m:oMath>
                      </m:oMathPara>
                    </a14:m>
                    <a:endParaRPr lang="ja-JP" altLang="en-US" sz="1400" dirty="0">
                      <a:solidFill>
                        <a:schemeClr val="tx1">
                          <a:lumMod val="75000"/>
                          <a:lumOff val="25000"/>
                        </a:schemeClr>
                      </a:solidFill>
                    </a:endParaRPr>
                  </a:p>
                </p:txBody>
              </p:sp>
            </mc:Choice>
            <mc:Fallback xmlns="">
              <p:sp>
                <p:nvSpPr>
                  <p:cNvPr id="159" name="テキスト ボックス 158">
                    <a:extLst>
                      <a:ext uri="{FF2B5EF4-FFF2-40B4-BE49-F238E27FC236}">
                        <a16:creationId xmlns:a16="http://schemas.microsoft.com/office/drawing/2014/main" id="{8243BA0C-B4A2-45FF-B97B-FEDC7A935573}"/>
                      </a:ext>
                    </a:extLst>
                  </p:cNvPr>
                  <p:cNvSpPr txBox="1">
                    <a:spLocks noRot="1" noChangeAspect="1" noMove="1" noResize="1" noEditPoints="1" noAdjustHandles="1" noChangeArrowheads="1" noChangeShapeType="1" noTextEdit="1"/>
                  </p:cNvSpPr>
                  <p:nvPr/>
                </p:nvSpPr>
                <p:spPr>
                  <a:xfrm>
                    <a:off x="520401" y="5437466"/>
                    <a:ext cx="807034" cy="543053"/>
                  </a:xfrm>
                  <a:prstGeom prst="rect">
                    <a:avLst/>
                  </a:prstGeom>
                  <a:blipFill>
                    <a:blip r:embed="rId8"/>
                    <a:stretch>
                      <a:fillRect b="-3797"/>
                    </a:stretch>
                  </a:blipFill>
                  <a:effectLst>
                    <a:softEdge rad="63500"/>
                  </a:effectLst>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60" name="テキスト ボックス 159">
                    <a:extLst>
                      <a:ext uri="{FF2B5EF4-FFF2-40B4-BE49-F238E27FC236}">
                        <a16:creationId xmlns:a16="http://schemas.microsoft.com/office/drawing/2014/main" id="{F598F65B-BA1F-4240-BA08-1DF93DF23F6A}"/>
                      </a:ext>
                    </a:extLst>
                  </p:cNvPr>
                  <p:cNvSpPr txBox="1"/>
                  <p:nvPr/>
                </p:nvSpPr>
                <p:spPr>
                  <a:xfrm>
                    <a:off x="3234878" y="5451070"/>
                    <a:ext cx="807034" cy="526171"/>
                  </a:xfrm>
                  <a:prstGeom prst="rect">
                    <a:avLst/>
                  </a:prstGeom>
                  <a:noFill/>
                  <a:effectLst>
                    <a:softEdge rad="63500"/>
                  </a:effectLst>
                </p:spPr>
                <p:txBody>
                  <a:bodyPr wrap="square" anchor="ctr">
                    <a:spAutoFit/>
                  </a:bodyPr>
                  <a:lstStyle/>
                  <a:p>
                    <a:pPr/>
                    <a14:m>
                      <m:oMathPara xmlns:m="http://schemas.openxmlformats.org/officeDocument/2006/math">
                        <m:oMathParaPr>
                          <m:jc m:val="centerGroup"/>
                        </m:oMathParaPr>
                        <m:oMath xmlns:m="http://schemas.openxmlformats.org/officeDocument/2006/math">
                          <m:sSub>
                            <m:sSubPr>
                              <m:ctrlPr>
                                <a:rPr lang="en-US" altLang="ja-JP" sz="2400" i="1" smtClean="0">
                                  <a:solidFill>
                                    <a:schemeClr val="tx1">
                                      <a:lumMod val="75000"/>
                                      <a:lumOff val="25000"/>
                                    </a:schemeClr>
                                  </a:solidFill>
                                  <a:latin typeface="Cambria Math" panose="02040503050406030204" pitchFamily="18" charset="0"/>
                                  <a:ea typeface="Cambria Math" panose="02040503050406030204" pitchFamily="18" charset="0"/>
                                </a:rPr>
                              </m:ctrlPr>
                            </m:sSubPr>
                            <m:e>
                              <m:r>
                                <a:rPr lang="en-US" altLang="ja-JP" sz="2400" b="1">
                                  <a:solidFill>
                                    <a:schemeClr val="tx1">
                                      <a:lumMod val="75000"/>
                                      <a:lumOff val="25000"/>
                                    </a:schemeClr>
                                  </a:solidFill>
                                  <a:latin typeface="Cambria Math" panose="02040503050406030204" pitchFamily="18" charset="0"/>
                                  <a:ea typeface="Cambria Math" panose="02040503050406030204" pitchFamily="18" charset="0"/>
                                </a:rPr>
                                <m:t>𝐳</m:t>
                              </m:r>
                            </m:e>
                            <m:sub>
                              <m:r>
                                <a:rPr lang="en-US" altLang="ja-JP" sz="2400" i="1">
                                  <a:solidFill>
                                    <a:schemeClr val="tx1">
                                      <a:lumMod val="75000"/>
                                      <a:lumOff val="25000"/>
                                    </a:schemeClr>
                                  </a:solidFill>
                                  <a:latin typeface="Cambria Math" panose="02040503050406030204" pitchFamily="18" charset="0"/>
                                  <a:ea typeface="Cambria Math" panose="02040503050406030204" pitchFamily="18" charset="0"/>
                                </a:rPr>
                                <m:t>𝑙</m:t>
                              </m:r>
                              <m:r>
                                <a:rPr lang="en-US" altLang="ja-JP" sz="2400" b="0" i="1" smtClean="0">
                                  <a:solidFill>
                                    <a:schemeClr val="tx1">
                                      <a:lumMod val="75000"/>
                                      <a:lumOff val="25000"/>
                                    </a:schemeClr>
                                  </a:solidFill>
                                  <a:latin typeface="Cambria Math" panose="02040503050406030204" pitchFamily="18" charset="0"/>
                                  <a:ea typeface="Cambria Math" panose="02040503050406030204" pitchFamily="18" charset="0"/>
                                </a:rPr>
                                <m:t>2</m:t>
                              </m:r>
                            </m:sub>
                          </m:sSub>
                        </m:oMath>
                      </m:oMathPara>
                    </a14:m>
                    <a:endParaRPr lang="ja-JP" altLang="en-US" sz="1400" dirty="0">
                      <a:solidFill>
                        <a:schemeClr val="tx1">
                          <a:lumMod val="75000"/>
                          <a:lumOff val="25000"/>
                        </a:schemeClr>
                      </a:solidFill>
                    </a:endParaRPr>
                  </a:p>
                </p:txBody>
              </p:sp>
            </mc:Choice>
            <mc:Fallback xmlns="">
              <p:sp>
                <p:nvSpPr>
                  <p:cNvPr id="160" name="テキスト ボックス 159">
                    <a:extLst>
                      <a:ext uri="{FF2B5EF4-FFF2-40B4-BE49-F238E27FC236}">
                        <a16:creationId xmlns:a16="http://schemas.microsoft.com/office/drawing/2014/main" id="{F598F65B-BA1F-4240-BA08-1DF93DF23F6A}"/>
                      </a:ext>
                    </a:extLst>
                  </p:cNvPr>
                  <p:cNvSpPr txBox="1">
                    <a:spLocks noRot="1" noChangeAspect="1" noMove="1" noResize="1" noEditPoints="1" noAdjustHandles="1" noChangeArrowheads="1" noChangeShapeType="1" noTextEdit="1"/>
                  </p:cNvSpPr>
                  <p:nvPr/>
                </p:nvSpPr>
                <p:spPr>
                  <a:xfrm>
                    <a:off x="3234878" y="5451070"/>
                    <a:ext cx="807034" cy="526171"/>
                  </a:xfrm>
                  <a:prstGeom prst="rect">
                    <a:avLst/>
                  </a:prstGeom>
                  <a:blipFill>
                    <a:blip r:embed="rId9"/>
                    <a:stretch>
                      <a:fillRect b="-1316"/>
                    </a:stretch>
                  </a:blipFill>
                  <a:effectLst>
                    <a:softEdge rad="63500"/>
                  </a:effectLst>
                </p:spPr>
                <p:txBody>
                  <a:bodyPr/>
                  <a:lstStyle/>
                  <a:p>
                    <a:r>
                      <a:rPr lang="ja-JP" altLang="en-US">
                        <a:noFill/>
                      </a:rPr>
                      <a:t> </a:t>
                    </a:r>
                  </a:p>
                </p:txBody>
              </p:sp>
            </mc:Fallback>
          </mc:AlternateContent>
          <p:grpSp>
            <p:nvGrpSpPr>
              <p:cNvPr id="161" name="グループ化 160">
                <a:extLst>
                  <a:ext uri="{FF2B5EF4-FFF2-40B4-BE49-F238E27FC236}">
                    <a16:creationId xmlns:a16="http://schemas.microsoft.com/office/drawing/2014/main" id="{D54900C7-CFAE-402D-B5BD-E75A58EC0646}"/>
                  </a:ext>
                </a:extLst>
              </p:cNvPr>
              <p:cNvGrpSpPr/>
              <p:nvPr/>
            </p:nvGrpSpPr>
            <p:grpSpPr>
              <a:xfrm rot="5400000">
                <a:off x="2945242" y="4739623"/>
                <a:ext cx="1238193" cy="320858"/>
                <a:chOff x="4346724" y="4135172"/>
                <a:chExt cx="1374303" cy="356129"/>
              </a:xfrm>
            </p:grpSpPr>
            <p:sp>
              <p:nvSpPr>
                <p:cNvPr id="163" name="正方形/長方形 162">
                  <a:extLst>
                    <a:ext uri="{FF2B5EF4-FFF2-40B4-BE49-F238E27FC236}">
                      <a16:creationId xmlns:a16="http://schemas.microsoft.com/office/drawing/2014/main" id="{8D35C235-DF3C-4968-8436-3A8EFD395D1E}"/>
                    </a:ext>
                  </a:extLst>
                </p:cNvPr>
                <p:cNvSpPr/>
                <p:nvPr/>
              </p:nvSpPr>
              <p:spPr>
                <a:xfrm>
                  <a:off x="4479368" y="4205172"/>
                  <a:ext cx="213992" cy="213992"/>
                </a:xfrm>
                <a:prstGeom prst="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400" dirty="0"/>
                    <a:t>-1</a:t>
                  </a:r>
                  <a:endParaRPr kumimoji="1" lang="ja-JP" altLang="en-US" sz="400" dirty="0"/>
                </a:p>
              </p:txBody>
            </p:sp>
            <p:sp>
              <p:nvSpPr>
                <p:cNvPr id="164" name="正方形/長方形 163">
                  <a:extLst>
                    <a:ext uri="{FF2B5EF4-FFF2-40B4-BE49-F238E27FC236}">
                      <a16:creationId xmlns:a16="http://schemas.microsoft.com/office/drawing/2014/main" id="{9CCCF38E-7EDE-48F5-97EA-D3BBCF60E52A}"/>
                    </a:ext>
                  </a:extLst>
                </p:cNvPr>
                <p:cNvSpPr/>
                <p:nvPr/>
              </p:nvSpPr>
              <p:spPr>
                <a:xfrm>
                  <a:off x="4782260" y="4204815"/>
                  <a:ext cx="213992" cy="213992"/>
                </a:xfrm>
                <a:prstGeom prst="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5" name="正方形/長方形 164">
                  <a:extLst>
                    <a:ext uri="{FF2B5EF4-FFF2-40B4-BE49-F238E27FC236}">
                      <a16:creationId xmlns:a16="http://schemas.microsoft.com/office/drawing/2014/main" id="{42813E1F-8174-412F-9A97-F2335F20E482}"/>
                    </a:ext>
                  </a:extLst>
                </p:cNvPr>
                <p:cNvSpPr/>
                <p:nvPr/>
              </p:nvSpPr>
              <p:spPr>
                <a:xfrm>
                  <a:off x="5085152" y="4204815"/>
                  <a:ext cx="213992" cy="213992"/>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6" name="正方形/長方形 165">
                  <a:extLst>
                    <a:ext uri="{FF2B5EF4-FFF2-40B4-BE49-F238E27FC236}">
                      <a16:creationId xmlns:a16="http://schemas.microsoft.com/office/drawing/2014/main" id="{C2E5CBE9-F58E-47FA-A42F-A775AD7D7981}"/>
                    </a:ext>
                  </a:extLst>
                </p:cNvPr>
                <p:cNvSpPr/>
                <p:nvPr/>
              </p:nvSpPr>
              <p:spPr>
                <a:xfrm>
                  <a:off x="5388044" y="4204815"/>
                  <a:ext cx="213992" cy="213992"/>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7" name="大かっこ 166">
                  <a:extLst>
                    <a:ext uri="{FF2B5EF4-FFF2-40B4-BE49-F238E27FC236}">
                      <a16:creationId xmlns:a16="http://schemas.microsoft.com/office/drawing/2014/main" id="{5FEF5866-05C7-448B-B7EF-482B2B87D3B6}"/>
                    </a:ext>
                  </a:extLst>
                </p:cNvPr>
                <p:cNvSpPr/>
                <p:nvPr/>
              </p:nvSpPr>
              <p:spPr>
                <a:xfrm>
                  <a:off x="4346724" y="4135172"/>
                  <a:ext cx="1374303" cy="356129"/>
                </a:xfrm>
                <a:prstGeom prst="bracketPair">
                  <a:avLst/>
                </a:prstGeom>
                <a:ln w="571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sp>
            <p:nvSpPr>
              <p:cNvPr id="162" name="四角形: 角を丸くする 161">
                <a:extLst>
                  <a:ext uri="{FF2B5EF4-FFF2-40B4-BE49-F238E27FC236}">
                    <a16:creationId xmlns:a16="http://schemas.microsoft.com/office/drawing/2014/main" id="{6967813E-1FB3-402F-91CD-5D909B69EF76}"/>
                  </a:ext>
                </a:extLst>
              </p:cNvPr>
              <p:cNvSpPr/>
              <p:nvPr/>
            </p:nvSpPr>
            <p:spPr>
              <a:xfrm>
                <a:off x="127000" y="3995318"/>
                <a:ext cx="3810000" cy="2049882"/>
              </a:xfrm>
              <a:prstGeom prst="roundRect">
                <a:avLst/>
              </a:prstGeom>
              <a:noFill/>
              <a:ln w="381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91" name="グループ化 190">
              <a:extLst>
                <a:ext uri="{FF2B5EF4-FFF2-40B4-BE49-F238E27FC236}">
                  <a16:creationId xmlns:a16="http://schemas.microsoft.com/office/drawing/2014/main" id="{193C9A98-26F5-4DC5-9B51-F8B836F5961E}"/>
                </a:ext>
              </a:extLst>
            </p:cNvPr>
            <p:cNvGrpSpPr/>
            <p:nvPr/>
          </p:nvGrpSpPr>
          <p:grpSpPr>
            <a:xfrm>
              <a:off x="7886135" y="3941952"/>
              <a:ext cx="3434961" cy="1798575"/>
              <a:chOff x="127000" y="3995318"/>
              <a:chExt cx="3914912" cy="2049882"/>
            </a:xfrm>
          </p:grpSpPr>
          <p:grpSp>
            <p:nvGrpSpPr>
              <p:cNvPr id="192" name="グループ化 191">
                <a:extLst>
                  <a:ext uri="{FF2B5EF4-FFF2-40B4-BE49-F238E27FC236}">
                    <a16:creationId xmlns:a16="http://schemas.microsoft.com/office/drawing/2014/main" id="{379DC5B5-9B2D-449A-B9E2-C2F98C1D1BD3}"/>
                  </a:ext>
                </a:extLst>
              </p:cNvPr>
              <p:cNvGrpSpPr/>
              <p:nvPr/>
            </p:nvGrpSpPr>
            <p:grpSpPr>
              <a:xfrm>
                <a:off x="1628566" y="4267110"/>
                <a:ext cx="1606312" cy="1265884"/>
                <a:chOff x="2322930" y="3353671"/>
                <a:chExt cx="2319094" cy="1827605"/>
              </a:xfrm>
            </p:grpSpPr>
            <p:grpSp>
              <p:nvGrpSpPr>
                <p:cNvPr id="209" name="グループ化 208">
                  <a:extLst>
                    <a:ext uri="{FF2B5EF4-FFF2-40B4-BE49-F238E27FC236}">
                      <a16:creationId xmlns:a16="http://schemas.microsoft.com/office/drawing/2014/main" id="{2204C219-2764-4870-8382-AF5E45578CB1}"/>
                    </a:ext>
                  </a:extLst>
                </p:cNvPr>
                <p:cNvGrpSpPr/>
                <p:nvPr/>
              </p:nvGrpSpPr>
              <p:grpSpPr>
                <a:xfrm>
                  <a:off x="2652046" y="3451928"/>
                  <a:ext cx="1700918" cy="1676670"/>
                  <a:chOff x="1138989" y="3968713"/>
                  <a:chExt cx="1700918" cy="1676670"/>
                </a:xfrm>
              </p:grpSpPr>
              <p:sp>
                <p:nvSpPr>
                  <p:cNvPr id="211" name="正方形/長方形 210">
                    <a:extLst>
                      <a:ext uri="{FF2B5EF4-FFF2-40B4-BE49-F238E27FC236}">
                        <a16:creationId xmlns:a16="http://schemas.microsoft.com/office/drawing/2014/main" id="{6D3402CC-AFDA-4E11-BF60-13F08B2D4344}"/>
                      </a:ext>
                    </a:extLst>
                  </p:cNvPr>
                  <p:cNvSpPr/>
                  <p:nvPr/>
                </p:nvSpPr>
                <p:spPr>
                  <a:xfrm>
                    <a:off x="1138989" y="3974039"/>
                    <a:ext cx="319421" cy="319421"/>
                  </a:xfrm>
                  <a:prstGeom prst="rect">
                    <a:avLst/>
                  </a:prstGeom>
                  <a:solidFill>
                    <a:schemeClr val="accent6">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2" name="正方形/長方形 211">
                    <a:extLst>
                      <a:ext uri="{FF2B5EF4-FFF2-40B4-BE49-F238E27FC236}">
                        <a16:creationId xmlns:a16="http://schemas.microsoft.com/office/drawing/2014/main" id="{4E6E8BB8-0728-45DD-8095-2800176E8A84}"/>
                      </a:ext>
                    </a:extLst>
                  </p:cNvPr>
                  <p:cNvSpPr/>
                  <p:nvPr/>
                </p:nvSpPr>
                <p:spPr>
                  <a:xfrm>
                    <a:off x="1599488" y="3974039"/>
                    <a:ext cx="319421" cy="319421"/>
                  </a:xfrm>
                  <a:prstGeom prst="rect">
                    <a:avLst/>
                  </a:prstGeom>
                  <a:solidFill>
                    <a:schemeClr val="accent6">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13" name="正方形/長方形 212">
                    <a:extLst>
                      <a:ext uri="{FF2B5EF4-FFF2-40B4-BE49-F238E27FC236}">
                        <a16:creationId xmlns:a16="http://schemas.microsoft.com/office/drawing/2014/main" id="{1D9D69CA-734A-46CB-8698-3C067AFBBC43}"/>
                      </a:ext>
                    </a:extLst>
                  </p:cNvPr>
                  <p:cNvSpPr/>
                  <p:nvPr/>
                </p:nvSpPr>
                <p:spPr>
                  <a:xfrm>
                    <a:off x="2059987" y="3968714"/>
                    <a:ext cx="319421" cy="319421"/>
                  </a:xfrm>
                  <a:prstGeom prst="rect">
                    <a:avLst/>
                  </a:prstGeom>
                  <a:solidFill>
                    <a:schemeClr val="accent6">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4" name="正方形/長方形 213">
                    <a:extLst>
                      <a:ext uri="{FF2B5EF4-FFF2-40B4-BE49-F238E27FC236}">
                        <a16:creationId xmlns:a16="http://schemas.microsoft.com/office/drawing/2014/main" id="{1A1EAF0E-5E29-4CA7-A95D-B18D75E1FCDC}"/>
                      </a:ext>
                    </a:extLst>
                  </p:cNvPr>
                  <p:cNvSpPr/>
                  <p:nvPr/>
                </p:nvSpPr>
                <p:spPr>
                  <a:xfrm>
                    <a:off x="2520486" y="3968713"/>
                    <a:ext cx="319421" cy="319421"/>
                  </a:xfrm>
                  <a:prstGeom prst="rect">
                    <a:avLst/>
                  </a:prstGeom>
                  <a:solidFill>
                    <a:schemeClr val="accent6">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5" name="正方形/長方形 214">
                    <a:extLst>
                      <a:ext uri="{FF2B5EF4-FFF2-40B4-BE49-F238E27FC236}">
                        <a16:creationId xmlns:a16="http://schemas.microsoft.com/office/drawing/2014/main" id="{D6B8E53D-54BB-40FF-914C-504F0EC5BA75}"/>
                      </a:ext>
                    </a:extLst>
                  </p:cNvPr>
                  <p:cNvSpPr/>
                  <p:nvPr/>
                </p:nvSpPr>
                <p:spPr>
                  <a:xfrm>
                    <a:off x="1138989" y="4424680"/>
                    <a:ext cx="319421" cy="319421"/>
                  </a:xfrm>
                  <a:prstGeom prst="rect">
                    <a:avLst/>
                  </a:prstGeom>
                  <a:solidFill>
                    <a:schemeClr val="accent5">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6" name="正方形/長方形 215">
                    <a:extLst>
                      <a:ext uri="{FF2B5EF4-FFF2-40B4-BE49-F238E27FC236}">
                        <a16:creationId xmlns:a16="http://schemas.microsoft.com/office/drawing/2014/main" id="{588E8D6D-A9A0-4AF9-B9BB-B75647D1BC17}"/>
                      </a:ext>
                    </a:extLst>
                  </p:cNvPr>
                  <p:cNvSpPr/>
                  <p:nvPr/>
                </p:nvSpPr>
                <p:spPr>
                  <a:xfrm>
                    <a:off x="1599488" y="4424680"/>
                    <a:ext cx="319421" cy="319421"/>
                  </a:xfrm>
                  <a:prstGeom prst="rect">
                    <a:avLst/>
                  </a:prstGeom>
                  <a:solidFill>
                    <a:schemeClr val="accent5">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7" name="正方形/長方形 216">
                    <a:extLst>
                      <a:ext uri="{FF2B5EF4-FFF2-40B4-BE49-F238E27FC236}">
                        <a16:creationId xmlns:a16="http://schemas.microsoft.com/office/drawing/2014/main" id="{DA20D657-6229-4A1F-AB8D-29A969759A0C}"/>
                      </a:ext>
                    </a:extLst>
                  </p:cNvPr>
                  <p:cNvSpPr/>
                  <p:nvPr/>
                </p:nvSpPr>
                <p:spPr>
                  <a:xfrm>
                    <a:off x="2059987" y="4419355"/>
                    <a:ext cx="319421" cy="319421"/>
                  </a:xfrm>
                  <a:prstGeom prst="rect">
                    <a:avLst/>
                  </a:prstGeom>
                  <a:solidFill>
                    <a:schemeClr val="accent5">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8" name="正方形/長方形 217">
                    <a:extLst>
                      <a:ext uri="{FF2B5EF4-FFF2-40B4-BE49-F238E27FC236}">
                        <a16:creationId xmlns:a16="http://schemas.microsoft.com/office/drawing/2014/main" id="{EADF3A57-6FBE-40F0-9A27-4896ACC54479}"/>
                      </a:ext>
                    </a:extLst>
                  </p:cNvPr>
                  <p:cNvSpPr/>
                  <p:nvPr/>
                </p:nvSpPr>
                <p:spPr>
                  <a:xfrm>
                    <a:off x="2520486" y="4419354"/>
                    <a:ext cx="319421" cy="319421"/>
                  </a:xfrm>
                  <a:prstGeom prst="rect">
                    <a:avLst/>
                  </a:prstGeom>
                  <a:solidFill>
                    <a:schemeClr val="accent5">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9" name="正方形/長方形 218">
                    <a:extLst>
                      <a:ext uri="{FF2B5EF4-FFF2-40B4-BE49-F238E27FC236}">
                        <a16:creationId xmlns:a16="http://schemas.microsoft.com/office/drawing/2014/main" id="{B39E2C99-AC49-4BBF-8B90-E5BDB701B765}"/>
                      </a:ext>
                    </a:extLst>
                  </p:cNvPr>
                  <p:cNvSpPr/>
                  <p:nvPr/>
                </p:nvSpPr>
                <p:spPr>
                  <a:xfrm>
                    <a:off x="1138989" y="4875321"/>
                    <a:ext cx="319421" cy="319421"/>
                  </a:xfrm>
                  <a:prstGeom prst="rect">
                    <a:avLst/>
                  </a:prstGeom>
                  <a:solidFill>
                    <a:schemeClr val="accent4">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0" name="正方形/長方形 219">
                    <a:extLst>
                      <a:ext uri="{FF2B5EF4-FFF2-40B4-BE49-F238E27FC236}">
                        <a16:creationId xmlns:a16="http://schemas.microsoft.com/office/drawing/2014/main" id="{1D92B228-19E6-4B6B-9ABC-6F75A6E981FB}"/>
                      </a:ext>
                    </a:extLst>
                  </p:cNvPr>
                  <p:cNvSpPr/>
                  <p:nvPr/>
                </p:nvSpPr>
                <p:spPr>
                  <a:xfrm>
                    <a:off x="1599488" y="4875321"/>
                    <a:ext cx="319421" cy="319421"/>
                  </a:xfrm>
                  <a:prstGeom prst="rect">
                    <a:avLst/>
                  </a:prstGeom>
                  <a:solidFill>
                    <a:schemeClr val="accent4">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1" name="正方形/長方形 220">
                    <a:extLst>
                      <a:ext uri="{FF2B5EF4-FFF2-40B4-BE49-F238E27FC236}">
                        <a16:creationId xmlns:a16="http://schemas.microsoft.com/office/drawing/2014/main" id="{F12F3998-7965-4AAB-A606-5FB6C5CDF61D}"/>
                      </a:ext>
                    </a:extLst>
                  </p:cNvPr>
                  <p:cNvSpPr/>
                  <p:nvPr/>
                </p:nvSpPr>
                <p:spPr>
                  <a:xfrm>
                    <a:off x="2059987" y="4869996"/>
                    <a:ext cx="319421" cy="319421"/>
                  </a:xfrm>
                  <a:prstGeom prst="rect">
                    <a:avLst/>
                  </a:prstGeom>
                  <a:solidFill>
                    <a:schemeClr val="accent4">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2" name="正方形/長方形 221">
                    <a:extLst>
                      <a:ext uri="{FF2B5EF4-FFF2-40B4-BE49-F238E27FC236}">
                        <a16:creationId xmlns:a16="http://schemas.microsoft.com/office/drawing/2014/main" id="{FAC043EA-766B-49AE-B8A0-882D503B0FA8}"/>
                      </a:ext>
                    </a:extLst>
                  </p:cNvPr>
                  <p:cNvSpPr/>
                  <p:nvPr/>
                </p:nvSpPr>
                <p:spPr>
                  <a:xfrm>
                    <a:off x="2520486" y="4869995"/>
                    <a:ext cx="319421" cy="319421"/>
                  </a:xfrm>
                  <a:prstGeom prst="rect">
                    <a:avLst/>
                  </a:prstGeom>
                  <a:solidFill>
                    <a:schemeClr val="accent4">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3" name="正方形/長方形 222">
                    <a:extLst>
                      <a:ext uri="{FF2B5EF4-FFF2-40B4-BE49-F238E27FC236}">
                        <a16:creationId xmlns:a16="http://schemas.microsoft.com/office/drawing/2014/main" id="{9F2712B6-DAFD-4FA1-8203-386F3FA8F217}"/>
                      </a:ext>
                    </a:extLst>
                  </p:cNvPr>
                  <p:cNvSpPr/>
                  <p:nvPr/>
                </p:nvSpPr>
                <p:spPr>
                  <a:xfrm>
                    <a:off x="1138989" y="5325962"/>
                    <a:ext cx="319421" cy="319421"/>
                  </a:xfrm>
                  <a:prstGeom prst="rect">
                    <a:avLst/>
                  </a:prstGeom>
                  <a:solidFill>
                    <a:schemeClr val="accent2">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4" name="正方形/長方形 223">
                    <a:extLst>
                      <a:ext uri="{FF2B5EF4-FFF2-40B4-BE49-F238E27FC236}">
                        <a16:creationId xmlns:a16="http://schemas.microsoft.com/office/drawing/2014/main" id="{6071E149-6C00-4CB6-8C1C-C7280E9297D6}"/>
                      </a:ext>
                    </a:extLst>
                  </p:cNvPr>
                  <p:cNvSpPr/>
                  <p:nvPr/>
                </p:nvSpPr>
                <p:spPr>
                  <a:xfrm>
                    <a:off x="1599488" y="5325962"/>
                    <a:ext cx="319421" cy="319421"/>
                  </a:xfrm>
                  <a:prstGeom prst="rect">
                    <a:avLst/>
                  </a:prstGeom>
                  <a:solidFill>
                    <a:schemeClr val="accent2">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5" name="正方形/長方形 224">
                    <a:extLst>
                      <a:ext uri="{FF2B5EF4-FFF2-40B4-BE49-F238E27FC236}">
                        <a16:creationId xmlns:a16="http://schemas.microsoft.com/office/drawing/2014/main" id="{A4FFE9E1-A190-4162-A486-71421C1B0570}"/>
                      </a:ext>
                    </a:extLst>
                  </p:cNvPr>
                  <p:cNvSpPr/>
                  <p:nvPr/>
                </p:nvSpPr>
                <p:spPr>
                  <a:xfrm>
                    <a:off x="2059987" y="5320637"/>
                    <a:ext cx="319421" cy="319421"/>
                  </a:xfrm>
                  <a:prstGeom prst="rect">
                    <a:avLst/>
                  </a:prstGeom>
                  <a:solidFill>
                    <a:schemeClr val="accent2">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6" name="正方形/長方形 225">
                    <a:extLst>
                      <a:ext uri="{FF2B5EF4-FFF2-40B4-BE49-F238E27FC236}">
                        <a16:creationId xmlns:a16="http://schemas.microsoft.com/office/drawing/2014/main" id="{FADC2BA6-5AF0-4890-971B-273CB721ADD8}"/>
                      </a:ext>
                    </a:extLst>
                  </p:cNvPr>
                  <p:cNvSpPr/>
                  <p:nvPr/>
                </p:nvSpPr>
                <p:spPr>
                  <a:xfrm>
                    <a:off x="2520486" y="5320636"/>
                    <a:ext cx="319421" cy="319421"/>
                  </a:xfrm>
                  <a:prstGeom prst="rect">
                    <a:avLst/>
                  </a:prstGeom>
                  <a:solidFill>
                    <a:schemeClr val="accent2">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10" name="大かっこ 209">
                  <a:extLst>
                    <a:ext uri="{FF2B5EF4-FFF2-40B4-BE49-F238E27FC236}">
                      <a16:creationId xmlns:a16="http://schemas.microsoft.com/office/drawing/2014/main" id="{CA578CE7-294D-473B-B2D7-A1F1EC861216}"/>
                    </a:ext>
                  </a:extLst>
                </p:cNvPr>
                <p:cNvSpPr/>
                <p:nvPr/>
              </p:nvSpPr>
              <p:spPr>
                <a:xfrm>
                  <a:off x="2322930" y="3353671"/>
                  <a:ext cx="2319094" cy="1827605"/>
                </a:xfrm>
                <a:prstGeom prst="bracketPair">
                  <a:avLst/>
                </a:prstGeom>
                <a:ln w="571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mc:AlternateContent xmlns:mc="http://schemas.openxmlformats.org/markup-compatibility/2006" xmlns:a14="http://schemas.microsoft.com/office/drawing/2010/main">
            <mc:Choice Requires="a14">
              <p:sp>
                <p:nvSpPr>
                  <p:cNvPr id="193" name="テキスト ボックス 192">
                    <a:extLst>
                      <a:ext uri="{FF2B5EF4-FFF2-40B4-BE49-F238E27FC236}">
                        <a16:creationId xmlns:a16="http://schemas.microsoft.com/office/drawing/2014/main" id="{5B84BA98-CF58-4B0D-8EC1-5D5EA9A0D869}"/>
                      </a:ext>
                    </a:extLst>
                  </p:cNvPr>
                  <p:cNvSpPr txBox="1"/>
                  <p:nvPr/>
                </p:nvSpPr>
                <p:spPr>
                  <a:xfrm>
                    <a:off x="2060486" y="5456230"/>
                    <a:ext cx="807034" cy="526171"/>
                  </a:xfrm>
                  <a:prstGeom prst="rect">
                    <a:avLst/>
                  </a:prstGeom>
                  <a:noFill/>
                  <a:effectLst>
                    <a:softEdge rad="63500"/>
                  </a:effectLst>
                </p:spPr>
                <p:txBody>
                  <a:bodyPr wrap="square" anchor="ctr">
                    <a:spAutoFit/>
                  </a:bodyPr>
                  <a:lstStyle/>
                  <a:p>
                    <a:pPr/>
                    <a14:m>
                      <m:oMathPara xmlns:m="http://schemas.openxmlformats.org/officeDocument/2006/math">
                        <m:oMathParaPr>
                          <m:jc m:val="centerGroup"/>
                        </m:oMathParaPr>
                        <m:oMath xmlns:m="http://schemas.openxmlformats.org/officeDocument/2006/math">
                          <m:sSub>
                            <m:sSubPr>
                              <m:ctrlPr>
                                <a:rPr lang="en-US" altLang="ja-JP" sz="2400" i="1" smtClean="0">
                                  <a:solidFill>
                                    <a:schemeClr val="tx1">
                                      <a:lumMod val="75000"/>
                                      <a:lumOff val="25000"/>
                                    </a:schemeClr>
                                  </a:solidFill>
                                  <a:latin typeface="Cambria Math" panose="02040503050406030204" pitchFamily="18" charset="0"/>
                                  <a:ea typeface="Cambria Math" panose="02040503050406030204" pitchFamily="18" charset="0"/>
                                </a:rPr>
                              </m:ctrlPr>
                            </m:sSubPr>
                            <m:e>
                              <m:r>
                                <a:rPr lang="en-US" altLang="ja-JP" sz="2400" b="1">
                                  <a:solidFill>
                                    <a:schemeClr val="tx1">
                                      <a:lumMod val="75000"/>
                                      <a:lumOff val="25000"/>
                                    </a:schemeClr>
                                  </a:solidFill>
                                  <a:latin typeface="Cambria Math" panose="02040503050406030204" pitchFamily="18" charset="0"/>
                                  <a:ea typeface="Cambria Math" panose="02040503050406030204" pitchFamily="18" charset="0"/>
                                </a:rPr>
                                <m:t>𝐀</m:t>
                              </m:r>
                            </m:e>
                            <m:sub>
                              <m:r>
                                <a:rPr lang="en-US" altLang="ja-JP" sz="2400" i="1">
                                  <a:solidFill>
                                    <a:schemeClr val="tx1">
                                      <a:lumMod val="75000"/>
                                      <a:lumOff val="25000"/>
                                    </a:schemeClr>
                                  </a:solidFill>
                                  <a:latin typeface="Cambria Math" panose="02040503050406030204" pitchFamily="18" charset="0"/>
                                  <a:ea typeface="Cambria Math" panose="02040503050406030204" pitchFamily="18" charset="0"/>
                                </a:rPr>
                                <m:t>𝑘</m:t>
                              </m:r>
                            </m:sub>
                          </m:sSub>
                        </m:oMath>
                      </m:oMathPara>
                    </a14:m>
                    <a:endParaRPr lang="ja-JP" altLang="en-US" sz="1400" dirty="0">
                      <a:solidFill>
                        <a:schemeClr val="tx1">
                          <a:lumMod val="75000"/>
                          <a:lumOff val="25000"/>
                        </a:schemeClr>
                      </a:solidFill>
                    </a:endParaRPr>
                  </a:p>
                </p:txBody>
              </p:sp>
            </mc:Choice>
            <mc:Fallback xmlns="">
              <p:sp>
                <p:nvSpPr>
                  <p:cNvPr id="193" name="テキスト ボックス 192">
                    <a:extLst>
                      <a:ext uri="{FF2B5EF4-FFF2-40B4-BE49-F238E27FC236}">
                        <a16:creationId xmlns:a16="http://schemas.microsoft.com/office/drawing/2014/main" id="{5B84BA98-CF58-4B0D-8EC1-5D5EA9A0D869}"/>
                      </a:ext>
                    </a:extLst>
                  </p:cNvPr>
                  <p:cNvSpPr txBox="1">
                    <a:spLocks noRot="1" noChangeAspect="1" noMove="1" noResize="1" noEditPoints="1" noAdjustHandles="1" noChangeArrowheads="1" noChangeShapeType="1" noTextEdit="1"/>
                  </p:cNvSpPr>
                  <p:nvPr/>
                </p:nvSpPr>
                <p:spPr>
                  <a:xfrm>
                    <a:off x="2060486" y="5456230"/>
                    <a:ext cx="807034" cy="526171"/>
                  </a:xfrm>
                  <a:prstGeom prst="rect">
                    <a:avLst/>
                  </a:prstGeom>
                  <a:blipFill>
                    <a:blip r:embed="rId10"/>
                    <a:stretch>
                      <a:fillRect b="-1316"/>
                    </a:stretch>
                  </a:blipFill>
                  <a:effectLst>
                    <a:softEdge rad="63500"/>
                  </a:effectLst>
                </p:spPr>
                <p:txBody>
                  <a:bodyPr/>
                  <a:lstStyle/>
                  <a:p>
                    <a:r>
                      <a:rPr lang="ja-JP" altLang="en-US">
                        <a:noFill/>
                      </a:rPr>
                      <a:t> </a:t>
                    </a:r>
                  </a:p>
                </p:txBody>
              </p:sp>
            </mc:Fallback>
          </mc:AlternateContent>
          <p:grpSp>
            <p:nvGrpSpPr>
              <p:cNvPr id="194" name="グループ化 193">
                <a:extLst>
                  <a:ext uri="{FF2B5EF4-FFF2-40B4-BE49-F238E27FC236}">
                    <a16:creationId xmlns:a16="http://schemas.microsoft.com/office/drawing/2014/main" id="{F9E91D02-4F9D-4B1A-B538-37F923AF5A5D}"/>
                  </a:ext>
                </a:extLst>
              </p:cNvPr>
              <p:cNvGrpSpPr/>
              <p:nvPr/>
            </p:nvGrpSpPr>
            <p:grpSpPr>
              <a:xfrm>
                <a:off x="279399" y="4723477"/>
                <a:ext cx="1238193" cy="320858"/>
                <a:chOff x="4346724" y="4135172"/>
                <a:chExt cx="1374303" cy="356129"/>
              </a:xfrm>
            </p:grpSpPr>
            <p:sp>
              <p:nvSpPr>
                <p:cNvPr id="204" name="正方形/長方形 203">
                  <a:extLst>
                    <a:ext uri="{FF2B5EF4-FFF2-40B4-BE49-F238E27FC236}">
                      <a16:creationId xmlns:a16="http://schemas.microsoft.com/office/drawing/2014/main" id="{76AAB9AB-5660-4825-81BB-CFE90F020B9E}"/>
                    </a:ext>
                  </a:extLst>
                </p:cNvPr>
                <p:cNvSpPr/>
                <p:nvPr/>
              </p:nvSpPr>
              <p:spPr>
                <a:xfrm>
                  <a:off x="4479368" y="4205172"/>
                  <a:ext cx="213992" cy="213992"/>
                </a:xfrm>
                <a:prstGeom prst="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400" dirty="0"/>
                    <a:t>-1</a:t>
                  </a:r>
                  <a:endParaRPr kumimoji="1" lang="ja-JP" altLang="en-US" sz="400" dirty="0"/>
                </a:p>
              </p:txBody>
            </p:sp>
            <p:sp>
              <p:nvSpPr>
                <p:cNvPr id="205" name="正方形/長方形 204">
                  <a:extLst>
                    <a:ext uri="{FF2B5EF4-FFF2-40B4-BE49-F238E27FC236}">
                      <a16:creationId xmlns:a16="http://schemas.microsoft.com/office/drawing/2014/main" id="{78FC1453-C18F-470D-AB56-46FC07F225F4}"/>
                    </a:ext>
                  </a:extLst>
                </p:cNvPr>
                <p:cNvSpPr/>
                <p:nvPr/>
              </p:nvSpPr>
              <p:spPr>
                <a:xfrm>
                  <a:off x="4782260" y="4204815"/>
                  <a:ext cx="213992" cy="213992"/>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6" name="正方形/長方形 205">
                  <a:extLst>
                    <a:ext uri="{FF2B5EF4-FFF2-40B4-BE49-F238E27FC236}">
                      <a16:creationId xmlns:a16="http://schemas.microsoft.com/office/drawing/2014/main" id="{72E05B4D-58FC-4D4D-B110-478D9DAEDB70}"/>
                    </a:ext>
                  </a:extLst>
                </p:cNvPr>
                <p:cNvSpPr/>
                <p:nvPr/>
              </p:nvSpPr>
              <p:spPr>
                <a:xfrm>
                  <a:off x="5085152" y="4204815"/>
                  <a:ext cx="213992" cy="213992"/>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7" name="正方形/長方形 206">
                  <a:extLst>
                    <a:ext uri="{FF2B5EF4-FFF2-40B4-BE49-F238E27FC236}">
                      <a16:creationId xmlns:a16="http://schemas.microsoft.com/office/drawing/2014/main" id="{33DB9DF3-508E-4EA5-8ECF-EFB8D581C1FC}"/>
                    </a:ext>
                  </a:extLst>
                </p:cNvPr>
                <p:cNvSpPr/>
                <p:nvPr/>
              </p:nvSpPr>
              <p:spPr>
                <a:xfrm>
                  <a:off x="5388044" y="4204815"/>
                  <a:ext cx="213992" cy="213992"/>
                </a:xfrm>
                <a:prstGeom prst="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 name="大かっこ 207">
                  <a:extLst>
                    <a:ext uri="{FF2B5EF4-FFF2-40B4-BE49-F238E27FC236}">
                      <a16:creationId xmlns:a16="http://schemas.microsoft.com/office/drawing/2014/main" id="{4D346998-6808-47CD-940A-0636D8D9C3D2}"/>
                    </a:ext>
                  </a:extLst>
                </p:cNvPr>
                <p:cNvSpPr/>
                <p:nvPr/>
              </p:nvSpPr>
              <p:spPr>
                <a:xfrm>
                  <a:off x="4346724" y="4135172"/>
                  <a:ext cx="1374303" cy="356129"/>
                </a:xfrm>
                <a:prstGeom prst="bracketPair">
                  <a:avLst/>
                </a:prstGeom>
                <a:ln w="571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mc:AlternateContent xmlns:mc="http://schemas.openxmlformats.org/markup-compatibility/2006" xmlns:a14="http://schemas.microsoft.com/office/drawing/2010/main">
            <mc:Choice Requires="a14">
              <p:sp>
                <p:nvSpPr>
                  <p:cNvPr id="195" name="テキスト ボックス 194">
                    <a:extLst>
                      <a:ext uri="{FF2B5EF4-FFF2-40B4-BE49-F238E27FC236}">
                        <a16:creationId xmlns:a16="http://schemas.microsoft.com/office/drawing/2014/main" id="{F4A9B758-5061-40E9-BF2B-2A3E4AD8BC80}"/>
                      </a:ext>
                    </a:extLst>
                  </p:cNvPr>
                  <p:cNvSpPr txBox="1"/>
                  <p:nvPr/>
                </p:nvSpPr>
                <p:spPr>
                  <a:xfrm>
                    <a:off x="520401" y="5437466"/>
                    <a:ext cx="807034" cy="543053"/>
                  </a:xfrm>
                  <a:prstGeom prst="rect">
                    <a:avLst/>
                  </a:prstGeom>
                  <a:noFill/>
                  <a:effectLst>
                    <a:softEdge rad="63500"/>
                  </a:effectLst>
                </p:spPr>
                <p:txBody>
                  <a:bodyPr wrap="square" anchor="ctr">
                    <a:spAutoFit/>
                  </a:bodyPr>
                  <a:lstStyle/>
                  <a:p>
                    <a:pPr/>
                    <a14:m>
                      <m:oMathPara xmlns:m="http://schemas.openxmlformats.org/officeDocument/2006/math">
                        <m:oMathParaPr>
                          <m:jc m:val="centerGroup"/>
                        </m:oMathParaPr>
                        <m:oMath xmlns:m="http://schemas.openxmlformats.org/officeDocument/2006/math">
                          <m:sSubSup>
                            <m:sSubSupPr>
                              <m:ctrlPr>
                                <a:rPr lang="en-US" altLang="ja-JP" sz="2400" i="1" smtClean="0">
                                  <a:solidFill>
                                    <a:schemeClr val="tx1">
                                      <a:lumMod val="75000"/>
                                      <a:lumOff val="25000"/>
                                    </a:schemeClr>
                                  </a:solidFill>
                                  <a:latin typeface="Cambria Math" panose="02040503050406030204" pitchFamily="18" charset="0"/>
                                  <a:ea typeface="Cambria Math" panose="02040503050406030204" pitchFamily="18" charset="0"/>
                                </a:rPr>
                              </m:ctrlPr>
                            </m:sSubSupPr>
                            <m:e>
                              <m:r>
                                <a:rPr lang="en-US" altLang="ja-JP" sz="2400" b="1">
                                  <a:solidFill>
                                    <a:schemeClr val="tx1">
                                      <a:lumMod val="75000"/>
                                      <a:lumOff val="25000"/>
                                    </a:schemeClr>
                                  </a:solidFill>
                                  <a:latin typeface="Cambria Math" panose="02040503050406030204" pitchFamily="18" charset="0"/>
                                  <a:ea typeface="Cambria Math" panose="02040503050406030204" pitchFamily="18" charset="0"/>
                                </a:rPr>
                                <m:t>𝐳</m:t>
                              </m:r>
                            </m:e>
                            <m:sub>
                              <m:r>
                                <a:rPr lang="en-US" altLang="ja-JP" sz="2400" i="1">
                                  <a:solidFill>
                                    <a:schemeClr val="tx1">
                                      <a:lumMod val="75000"/>
                                      <a:lumOff val="25000"/>
                                    </a:schemeClr>
                                  </a:solidFill>
                                  <a:latin typeface="Cambria Math" panose="02040503050406030204" pitchFamily="18" charset="0"/>
                                  <a:ea typeface="Cambria Math" panose="02040503050406030204" pitchFamily="18" charset="0"/>
                                </a:rPr>
                                <m:t>𝑙</m:t>
                              </m:r>
                              <m:r>
                                <a:rPr lang="en-US" altLang="ja-JP" sz="2400" b="0" i="1" smtClean="0">
                                  <a:solidFill>
                                    <a:schemeClr val="tx1">
                                      <a:lumMod val="75000"/>
                                      <a:lumOff val="25000"/>
                                    </a:schemeClr>
                                  </a:solidFill>
                                  <a:latin typeface="Cambria Math" panose="02040503050406030204" pitchFamily="18" charset="0"/>
                                  <a:ea typeface="Cambria Math" panose="02040503050406030204" pitchFamily="18" charset="0"/>
                                </a:rPr>
                                <m:t>𝑠</m:t>
                              </m:r>
                            </m:sub>
                            <m:sup>
                              <m:r>
                                <a:rPr lang="en-US" altLang="ja-JP" sz="2400" i="1">
                                  <a:solidFill>
                                    <a:schemeClr val="tx1">
                                      <a:lumMod val="75000"/>
                                      <a:lumOff val="25000"/>
                                    </a:schemeClr>
                                  </a:solidFill>
                                  <a:latin typeface="Cambria Math" panose="02040503050406030204" pitchFamily="18" charset="0"/>
                                  <a:ea typeface="Cambria Math" panose="02040503050406030204" pitchFamily="18" charset="0"/>
                                </a:rPr>
                                <m:t>𝑇</m:t>
                              </m:r>
                            </m:sup>
                          </m:sSubSup>
                        </m:oMath>
                      </m:oMathPara>
                    </a14:m>
                    <a:endParaRPr lang="ja-JP" altLang="en-US" sz="1400" dirty="0">
                      <a:solidFill>
                        <a:schemeClr val="tx1">
                          <a:lumMod val="75000"/>
                          <a:lumOff val="25000"/>
                        </a:schemeClr>
                      </a:solidFill>
                    </a:endParaRPr>
                  </a:p>
                </p:txBody>
              </p:sp>
            </mc:Choice>
            <mc:Fallback xmlns="">
              <p:sp>
                <p:nvSpPr>
                  <p:cNvPr id="195" name="テキスト ボックス 194">
                    <a:extLst>
                      <a:ext uri="{FF2B5EF4-FFF2-40B4-BE49-F238E27FC236}">
                        <a16:creationId xmlns:a16="http://schemas.microsoft.com/office/drawing/2014/main" id="{F4A9B758-5061-40E9-BF2B-2A3E4AD8BC80}"/>
                      </a:ext>
                    </a:extLst>
                  </p:cNvPr>
                  <p:cNvSpPr txBox="1">
                    <a:spLocks noRot="1" noChangeAspect="1" noMove="1" noResize="1" noEditPoints="1" noAdjustHandles="1" noChangeArrowheads="1" noChangeShapeType="1" noTextEdit="1"/>
                  </p:cNvSpPr>
                  <p:nvPr/>
                </p:nvSpPr>
                <p:spPr>
                  <a:xfrm>
                    <a:off x="520401" y="5437466"/>
                    <a:ext cx="807034" cy="543053"/>
                  </a:xfrm>
                  <a:prstGeom prst="rect">
                    <a:avLst/>
                  </a:prstGeom>
                  <a:blipFill>
                    <a:blip r:embed="rId11"/>
                    <a:stretch>
                      <a:fillRect b="-3846"/>
                    </a:stretch>
                  </a:blipFill>
                  <a:effectLst>
                    <a:softEdge rad="63500"/>
                  </a:effectLst>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96" name="テキスト ボックス 195">
                    <a:extLst>
                      <a:ext uri="{FF2B5EF4-FFF2-40B4-BE49-F238E27FC236}">
                        <a16:creationId xmlns:a16="http://schemas.microsoft.com/office/drawing/2014/main" id="{6107F521-43FB-4BD4-806C-E10A78FB7645}"/>
                      </a:ext>
                    </a:extLst>
                  </p:cNvPr>
                  <p:cNvSpPr txBox="1"/>
                  <p:nvPr/>
                </p:nvSpPr>
                <p:spPr>
                  <a:xfrm>
                    <a:off x="3234878" y="5451070"/>
                    <a:ext cx="807034" cy="526171"/>
                  </a:xfrm>
                  <a:prstGeom prst="rect">
                    <a:avLst/>
                  </a:prstGeom>
                  <a:noFill/>
                  <a:effectLst>
                    <a:softEdge rad="63500"/>
                  </a:effectLst>
                </p:spPr>
                <p:txBody>
                  <a:bodyPr wrap="square" anchor="ctr">
                    <a:spAutoFit/>
                  </a:bodyPr>
                  <a:lstStyle/>
                  <a:p>
                    <a:pPr/>
                    <a14:m>
                      <m:oMathPara xmlns:m="http://schemas.openxmlformats.org/officeDocument/2006/math">
                        <m:oMathParaPr>
                          <m:jc m:val="centerGroup"/>
                        </m:oMathParaPr>
                        <m:oMath xmlns:m="http://schemas.openxmlformats.org/officeDocument/2006/math">
                          <m:sSub>
                            <m:sSubPr>
                              <m:ctrlPr>
                                <a:rPr lang="en-US" altLang="ja-JP" sz="2400" i="1" smtClean="0">
                                  <a:solidFill>
                                    <a:schemeClr val="tx1">
                                      <a:lumMod val="75000"/>
                                      <a:lumOff val="25000"/>
                                    </a:schemeClr>
                                  </a:solidFill>
                                  <a:latin typeface="Cambria Math" panose="02040503050406030204" pitchFamily="18" charset="0"/>
                                  <a:ea typeface="Cambria Math" panose="02040503050406030204" pitchFamily="18" charset="0"/>
                                </a:rPr>
                              </m:ctrlPr>
                            </m:sSubPr>
                            <m:e>
                              <m:r>
                                <a:rPr lang="en-US" altLang="ja-JP" sz="2400" b="1">
                                  <a:solidFill>
                                    <a:schemeClr val="tx1">
                                      <a:lumMod val="75000"/>
                                      <a:lumOff val="25000"/>
                                    </a:schemeClr>
                                  </a:solidFill>
                                  <a:latin typeface="Cambria Math" panose="02040503050406030204" pitchFamily="18" charset="0"/>
                                  <a:ea typeface="Cambria Math" panose="02040503050406030204" pitchFamily="18" charset="0"/>
                                </a:rPr>
                                <m:t>𝐳</m:t>
                              </m:r>
                            </m:e>
                            <m:sub>
                              <m:r>
                                <a:rPr lang="en-US" altLang="ja-JP" sz="2400" i="1">
                                  <a:solidFill>
                                    <a:schemeClr val="tx1">
                                      <a:lumMod val="75000"/>
                                      <a:lumOff val="25000"/>
                                    </a:schemeClr>
                                  </a:solidFill>
                                  <a:latin typeface="Cambria Math" panose="02040503050406030204" pitchFamily="18" charset="0"/>
                                  <a:ea typeface="Cambria Math" panose="02040503050406030204" pitchFamily="18" charset="0"/>
                                </a:rPr>
                                <m:t>𝑙</m:t>
                              </m:r>
                              <m:r>
                                <a:rPr lang="en-US" altLang="ja-JP" sz="2400" b="0" i="1" smtClean="0">
                                  <a:solidFill>
                                    <a:schemeClr val="tx1">
                                      <a:lumMod val="75000"/>
                                      <a:lumOff val="25000"/>
                                    </a:schemeClr>
                                  </a:solidFill>
                                  <a:latin typeface="Cambria Math" panose="02040503050406030204" pitchFamily="18" charset="0"/>
                                  <a:ea typeface="Cambria Math" panose="02040503050406030204" pitchFamily="18" charset="0"/>
                                </a:rPr>
                                <m:t>𝑠</m:t>
                              </m:r>
                            </m:sub>
                          </m:sSub>
                        </m:oMath>
                      </m:oMathPara>
                    </a14:m>
                    <a:endParaRPr lang="ja-JP" altLang="en-US" sz="1400" dirty="0">
                      <a:solidFill>
                        <a:schemeClr val="tx1">
                          <a:lumMod val="75000"/>
                          <a:lumOff val="25000"/>
                        </a:schemeClr>
                      </a:solidFill>
                    </a:endParaRPr>
                  </a:p>
                </p:txBody>
              </p:sp>
            </mc:Choice>
            <mc:Fallback xmlns="">
              <p:sp>
                <p:nvSpPr>
                  <p:cNvPr id="196" name="テキスト ボックス 195">
                    <a:extLst>
                      <a:ext uri="{FF2B5EF4-FFF2-40B4-BE49-F238E27FC236}">
                        <a16:creationId xmlns:a16="http://schemas.microsoft.com/office/drawing/2014/main" id="{6107F521-43FB-4BD4-806C-E10A78FB7645}"/>
                      </a:ext>
                    </a:extLst>
                  </p:cNvPr>
                  <p:cNvSpPr txBox="1">
                    <a:spLocks noRot="1" noChangeAspect="1" noMove="1" noResize="1" noEditPoints="1" noAdjustHandles="1" noChangeArrowheads="1" noChangeShapeType="1" noTextEdit="1"/>
                  </p:cNvSpPr>
                  <p:nvPr/>
                </p:nvSpPr>
                <p:spPr>
                  <a:xfrm>
                    <a:off x="3234878" y="5451070"/>
                    <a:ext cx="807034" cy="526171"/>
                  </a:xfrm>
                  <a:prstGeom prst="rect">
                    <a:avLst/>
                  </a:prstGeom>
                  <a:blipFill>
                    <a:blip r:embed="rId12"/>
                    <a:stretch>
                      <a:fillRect b="-1333"/>
                    </a:stretch>
                  </a:blipFill>
                  <a:effectLst>
                    <a:softEdge rad="63500"/>
                  </a:effectLst>
                </p:spPr>
                <p:txBody>
                  <a:bodyPr/>
                  <a:lstStyle/>
                  <a:p>
                    <a:r>
                      <a:rPr lang="ja-JP" altLang="en-US">
                        <a:noFill/>
                      </a:rPr>
                      <a:t> </a:t>
                    </a:r>
                  </a:p>
                </p:txBody>
              </p:sp>
            </mc:Fallback>
          </mc:AlternateContent>
          <p:grpSp>
            <p:nvGrpSpPr>
              <p:cNvPr id="197" name="グループ化 196">
                <a:extLst>
                  <a:ext uri="{FF2B5EF4-FFF2-40B4-BE49-F238E27FC236}">
                    <a16:creationId xmlns:a16="http://schemas.microsoft.com/office/drawing/2014/main" id="{EF9D4B19-CDBB-499C-B414-7E4DC736D40B}"/>
                  </a:ext>
                </a:extLst>
              </p:cNvPr>
              <p:cNvGrpSpPr/>
              <p:nvPr/>
            </p:nvGrpSpPr>
            <p:grpSpPr>
              <a:xfrm rot="5400000">
                <a:off x="2945242" y="4739623"/>
                <a:ext cx="1238193" cy="320858"/>
                <a:chOff x="4346724" y="4135172"/>
                <a:chExt cx="1374303" cy="356129"/>
              </a:xfrm>
            </p:grpSpPr>
            <p:sp>
              <p:nvSpPr>
                <p:cNvPr id="199" name="正方形/長方形 198">
                  <a:extLst>
                    <a:ext uri="{FF2B5EF4-FFF2-40B4-BE49-F238E27FC236}">
                      <a16:creationId xmlns:a16="http://schemas.microsoft.com/office/drawing/2014/main" id="{48EE0C30-8DA0-430A-90FB-BDF8F88BF29D}"/>
                    </a:ext>
                  </a:extLst>
                </p:cNvPr>
                <p:cNvSpPr/>
                <p:nvPr/>
              </p:nvSpPr>
              <p:spPr>
                <a:xfrm>
                  <a:off x="4479368" y="4205172"/>
                  <a:ext cx="213992" cy="213992"/>
                </a:xfrm>
                <a:prstGeom prst="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400" dirty="0"/>
                    <a:t>-1</a:t>
                  </a:r>
                  <a:endParaRPr kumimoji="1" lang="ja-JP" altLang="en-US" sz="400" dirty="0"/>
                </a:p>
              </p:txBody>
            </p:sp>
            <p:sp>
              <p:nvSpPr>
                <p:cNvPr id="200" name="正方形/長方形 199">
                  <a:extLst>
                    <a:ext uri="{FF2B5EF4-FFF2-40B4-BE49-F238E27FC236}">
                      <a16:creationId xmlns:a16="http://schemas.microsoft.com/office/drawing/2014/main" id="{4C47A7F0-C8F8-48D3-B33A-3205C83C50FB}"/>
                    </a:ext>
                  </a:extLst>
                </p:cNvPr>
                <p:cNvSpPr/>
                <p:nvPr/>
              </p:nvSpPr>
              <p:spPr>
                <a:xfrm>
                  <a:off x="4782260" y="4204815"/>
                  <a:ext cx="213992" cy="213992"/>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1" name="正方形/長方形 200">
                  <a:extLst>
                    <a:ext uri="{FF2B5EF4-FFF2-40B4-BE49-F238E27FC236}">
                      <a16:creationId xmlns:a16="http://schemas.microsoft.com/office/drawing/2014/main" id="{39268E88-D025-473D-A2CF-B39266072E0C}"/>
                    </a:ext>
                  </a:extLst>
                </p:cNvPr>
                <p:cNvSpPr/>
                <p:nvPr/>
              </p:nvSpPr>
              <p:spPr>
                <a:xfrm>
                  <a:off x="5085152" y="4204815"/>
                  <a:ext cx="213992" cy="213992"/>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2" name="正方形/長方形 201">
                  <a:extLst>
                    <a:ext uri="{FF2B5EF4-FFF2-40B4-BE49-F238E27FC236}">
                      <a16:creationId xmlns:a16="http://schemas.microsoft.com/office/drawing/2014/main" id="{C5C0A65F-CDE1-4345-95F6-85E75109A876}"/>
                    </a:ext>
                  </a:extLst>
                </p:cNvPr>
                <p:cNvSpPr/>
                <p:nvPr/>
              </p:nvSpPr>
              <p:spPr>
                <a:xfrm>
                  <a:off x="5388044" y="4204815"/>
                  <a:ext cx="213992" cy="213992"/>
                </a:xfrm>
                <a:prstGeom prst="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3" name="大かっこ 202">
                  <a:extLst>
                    <a:ext uri="{FF2B5EF4-FFF2-40B4-BE49-F238E27FC236}">
                      <a16:creationId xmlns:a16="http://schemas.microsoft.com/office/drawing/2014/main" id="{638646E3-F317-4AD9-B688-9042E903C375}"/>
                    </a:ext>
                  </a:extLst>
                </p:cNvPr>
                <p:cNvSpPr/>
                <p:nvPr/>
              </p:nvSpPr>
              <p:spPr>
                <a:xfrm>
                  <a:off x="4346724" y="4135172"/>
                  <a:ext cx="1374303" cy="356129"/>
                </a:xfrm>
                <a:prstGeom prst="bracketPair">
                  <a:avLst/>
                </a:prstGeom>
                <a:ln w="571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sp>
            <p:nvSpPr>
              <p:cNvPr id="198" name="四角形: 角を丸くする 197">
                <a:extLst>
                  <a:ext uri="{FF2B5EF4-FFF2-40B4-BE49-F238E27FC236}">
                    <a16:creationId xmlns:a16="http://schemas.microsoft.com/office/drawing/2014/main" id="{4D948BBF-71D2-4E53-BDBB-392188479F05}"/>
                  </a:ext>
                </a:extLst>
              </p:cNvPr>
              <p:cNvSpPr/>
              <p:nvPr/>
            </p:nvSpPr>
            <p:spPr>
              <a:xfrm>
                <a:off x="127000" y="3995318"/>
                <a:ext cx="3810000" cy="2049882"/>
              </a:xfrm>
              <a:prstGeom prst="roundRect">
                <a:avLst/>
              </a:prstGeom>
              <a:noFill/>
              <a:ln w="381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mc:AlternateContent xmlns:mc="http://schemas.openxmlformats.org/markup-compatibility/2006" xmlns:a14="http://schemas.microsoft.com/office/drawing/2010/main">
          <mc:Choice Requires="a14">
            <p:sp>
              <p:nvSpPr>
                <p:cNvPr id="227" name="テキスト ボックス 226">
                  <a:extLst>
                    <a:ext uri="{FF2B5EF4-FFF2-40B4-BE49-F238E27FC236}">
                      <a16:creationId xmlns:a16="http://schemas.microsoft.com/office/drawing/2014/main" id="{FAC7A905-0C8D-4594-AA33-BD3F1350AEBA}"/>
                    </a:ext>
                  </a:extLst>
                </p:cNvPr>
                <p:cNvSpPr txBox="1"/>
                <p:nvPr/>
              </p:nvSpPr>
              <p:spPr>
                <a:xfrm>
                  <a:off x="7111380" y="4468870"/>
                  <a:ext cx="708095" cy="584775"/>
                </a:xfrm>
                <a:prstGeom prst="rect">
                  <a:avLst/>
                </a:prstGeom>
                <a:noFill/>
                <a:effectLst>
                  <a:softEdge rad="63500"/>
                </a:effectLst>
              </p:spPr>
              <p:txBody>
                <a:bodyPr wrap="square" anchor="ctr">
                  <a:spAutoFit/>
                </a:bodyPr>
                <a:lstStyle/>
                <a:p>
                  <a:pPr/>
                  <a14:m>
                    <m:oMathPara xmlns:m="http://schemas.openxmlformats.org/officeDocument/2006/math">
                      <m:oMathParaPr>
                        <m:jc m:val="centerGroup"/>
                      </m:oMathParaPr>
                      <m:oMath xmlns:m="http://schemas.openxmlformats.org/officeDocument/2006/math">
                        <m:r>
                          <a:rPr lang="en-US" altLang="ja-JP" sz="3200" i="1" smtClean="0">
                            <a:solidFill>
                              <a:schemeClr val="tx1">
                                <a:lumMod val="75000"/>
                                <a:lumOff val="25000"/>
                              </a:schemeClr>
                            </a:solidFill>
                            <a:latin typeface="Cambria Math" panose="02040503050406030204" pitchFamily="18" charset="0"/>
                            <a:ea typeface="Cambria Math" panose="02040503050406030204" pitchFamily="18" charset="0"/>
                          </a:rPr>
                          <m:t>…</m:t>
                        </m:r>
                      </m:oMath>
                    </m:oMathPara>
                  </a14:m>
                  <a:endParaRPr lang="ja-JP" altLang="en-US" dirty="0">
                    <a:solidFill>
                      <a:schemeClr val="tx1">
                        <a:lumMod val="75000"/>
                        <a:lumOff val="25000"/>
                      </a:schemeClr>
                    </a:solidFill>
                  </a:endParaRPr>
                </a:p>
              </p:txBody>
            </p:sp>
          </mc:Choice>
          <mc:Fallback xmlns="">
            <p:sp>
              <p:nvSpPr>
                <p:cNvPr id="227" name="テキスト ボックス 226">
                  <a:extLst>
                    <a:ext uri="{FF2B5EF4-FFF2-40B4-BE49-F238E27FC236}">
                      <a16:creationId xmlns:a16="http://schemas.microsoft.com/office/drawing/2014/main" id="{FAC7A905-0C8D-4594-AA33-BD3F1350AEBA}"/>
                    </a:ext>
                  </a:extLst>
                </p:cNvPr>
                <p:cNvSpPr txBox="1">
                  <a:spLocks noRot="1" noChangeAspect="1" noMove="1" noResize="1" noEditPoints="1" noAdjustHandles="1" noChangeArrowheads="1" noChangeShapeType="1" noTextEdit="1"/>
                </p:cNvSpPr>
                <p:nvPr/>
              </p:nvSpPr>
              <p:spPr>
                <a:xfrm>
                  <a:off x="7111380" y="4468870"/>
                  <a:ext cx="708095" cy="584775"/>
                </a:xfrm>
                <a:prstGeom prst="rect">
                  <a:avLst/>
                </a:prstGeom>
                <a:blipFill>
                  <a:blip r:embed="rId13"/>
                  <a:stretch>
                    <a:fillRect/>
                  </a:stretch>
                </a:blipFill>
                <a:effectLst>
                  <a:softEdge rad="63500"/>
                </a:effectLst>
              </p:spPr>
              <p:txBody>
                <a:bodyPr/>
                <a:lstStyle/>
                <a:p>
                  <a:r>
                    <a:rPr lang="ja-JP" altLang="en-US">
                      <a:noFill/>
                    </a:rPr>
                    <a:t> </a:t>
                  </a:r>
                </a:p>
              </p:txBody>
            </p:sp>
          </mc:Fallback>
        </mc:AlternateContent>
      </p:grpSp>
      <p:sp>
        <p:nvSpPr>
          <p:cNvPr id="15" name="左中かっこ 14">
            <a:extLst>
              <a:ext uri="{FF2B5EF4-FFF2-40B4-BE49-F238E27FC236}">
                <a16:creationId xmlns:a16="http://schemas.microsoft.com/office/drawing/2014/main" id="{B9FEA938-701C-4C3C-B443-0CA5688000C4}"/>
              </a:ext>
            </a:extLst>
          </p:cNvPr>
          <p:cNvSpPr/>
          <p:nvPr/>
        </p:nvSpPr>
        <p:spPr>
          <a:xfrm rot="16200000">
            <a:off x="5695455" y="211786"/>
            <a:ext cx="657003" cy="11523287"/>
          </a:xfrm>
          <a:prstGeom prst="leftBrac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29" name="コンテンツ プレースホルダー 2">
            <a:extLst>
              <a:ext uri="{FF2B5EF4-FFF2-40B4-BE49-F238E27FC236}">
                <a16:creationId xmlns:a16="http://schemas.microsoft.com/office/drawing/2014/main" id="{1D9EDF0E-6E67-4D71-9E5E-230A08FFBADE}"/>
              </a:ext>
            </a:extLst>
          </p:cNvPr>
          <p:cNvSpPr txBox="1">
            <a:spLocks/>
          </p:cNvSpPr>
          <p:nvPr/>
        </p:nvSpPr>
        <p:spPr>
          <a:xfrm>
            <a:off x="3892357" y="6380199"/>
            <a:ext cx="4263197" cy="371729"/>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dirty="0"/>
              <a:t>サンプルをｓ個作り、平均を取得</a:t>
            </a:r>
            <a:endParaRPr lang="en-US" altLang="ja-JP" dirty="0"/>
          </a:p>
        </p:txBody>
      </p:sp>
    </p:spTree>
    <p:extLst>
      <p:ext uri="{BB962C8B-B14F-4D97-AF65-F5344CB8AC3E}">
        <p14:creationId xmlns:p14="http://schemas.microsoft.com/office/powerpoint/2010/main" val="698467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0F202FF-8D7C-4376-BFBF-B442ADAB6C4C}"/>
              </a:ext>
            </a:extLst>
          </p:cNvPr>
          <p:cNvSpPr>
            <a:spLocks noGrp="1"/>
          </p:cNvSpPr>
          <p:nvPr>
            <p:ph type="title"/>
          </p:nvPr>
        </p:nvSpPr>
        <p:spPr>
          <a:xfrm>
            <a:off x="838199" y="365125"/>
            <a:ext cx="10786241" cy="1325563"/>
          </a:xfrm>
        </p:spPr>
        <p:txBody>
          <a:bodyPr/>
          <a:lstStyle/>
          <a:p>
            <a:r>
              <a:rPr kumimoji="1" lang="ja-JP" altLang="en-US" spc="-130" dirty="0"/>
              <a:t>提案手法：ヘッセ行列の対角行列化</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52DD7415-7627-42E3-BDA6-0C7DA21E12F9}"/>
                  </a:ext>
                </a:extLst>
              </p:cNvPr>
              <p:cNvSpPr>
                <a:spLocks noGrp="1"/>
              </p:cNvSpPr>
              <p:nvPr>
                <p:ph idx="1"/>
              </p:nvPr>
            </p:nvSpPr>
            <p:spPr>
              <a:xfrm>
                <a:off x="838199" y="1825625"/>
                <a:ext cx="11017469" cy="4667250"/>
              </a:xfrm>
            </p:spPr>
            <p:txBody>
              <a:bodyPr>
                <a:normAutofit/>
              </a:bodyPr>
              <a:lstStyle/>
              <a:p>
                <a:pPr marL="0" indent="0">
                  <a:buNone/>
                </a:pPr>
                <a:r>
                  <a:rPr kumimoji="1" lang="en-US" altLang="ja-JP" spc="-130" dirty="0"/>
                  <a:t>Hutchinson</a:t>
                </a:r>
                <a:r>
                  <a:rPr kumimoji="1" lang="ja-JP" altLang="en-US" spc="-130" dirty="0"/>
                  <a:t>手法に基づく行列対角化手法</a:t>
                </a:r>
                <a:r>
                  <a:rPr kumimoji="1" lang="en-US" altLang="ja-JP" spc="-130" dirty="0"/>
                  <a:t>[2]</a:t>
                </a:r>
                <a:r>
                  <a:rPr lang="ja-JP" altLang="en-US" spc="-130" dirty="0"/>
                  <a:t>を用いてヘッセ行列を</a:t>
                </a:r>
                <a:endParaRPr lang="en-US" altLang="ja-JP" spc="-130" dirty="0"/>
              </a:p>
              <a:p>
                <a:pPr marL="0" indent="0">
                  <a:buNone/>
                </a:pPr>
                <a:r>
                  <a:rPr lang="ja-JP" altLang="en-US" spc="-130" dirty="0"/>
                  <a:t>対角行列に近似</a:t>
                </a:r>
                <a:endParaRPr kumimoji="1" lang="en-US" altLang="ja-JP" sz="1600" spc="-80" dirty="0"/>
              </a:p>
              <a:p>
                <a:pPr marL="0" indent="0">
                  <a:buNone/>
                </a:pPr>
                <a14:m>
                  <m:oMathPara xmlns:m="http://schemas.openxmlformats.org/officeDocument/2006/math">
                    <m:oMathParaPr>
                      <m:jc m:val="centerGroup"/>
                    </m:oMathParaPr>
                    <m:oMath xmlns:m="http://schemas.openxmlformats.org/officeDocument/2006/math">
                      <m:eqArr>
                        <m:eqArrPr>
                          <m:ctrlPr>
                            <a:rPr lang="en-US" altLang="ja-JP" b="0" i="1" smtClean="0">
                              <a:latin typeface="Cambria Math" panose="02040503050406030204" pitchFamily="18" charset="0"/>
                              <a:ea typeface="Cambria Math" panose="02040503050406030204" pitchFamily="18" charset="0"/>
                            </a:rPr>
                          </m:ctrlPr>
                        </m:eqArrPr>
                        <m:e>
                          <m:sSub>
                            <m:sSubPr>
                              <m:ctrlPr>
                                <a:rPr lang="en-US" altLang="ja-JP" b="0" i="1" smtClean="0">
                                  <a:latin typeface="Cambria Math" panose="02040503050406030204" pitchFamily="18" charset="0"/>
                                  <a:ea typeface="Cambria Math" panose="02040503050406030204" pitchFamily="18" charset="0"/>
                                </a:rPr>
                              </m:ctrlPr>
                            </m:sSubPr>
                            <m:e>
                              <m:r>
                                <a:rPr lang="en-US" altLang="ja-JP" b="1" i="0" smtClean="0">
                                  <a:latin typeface="Cambria Math" panose="02040503050406030204" pitchFamily="18" charset="0"/>
                                  <a:ea typeface="Cambria Math" panose="02040503050406030204" pitchFamily="18" charset="0"/>
                                </a:rPr>
                                <m:t>𝐡</m:t>
                              </m:r>
                            </m:e>
                            <m:sub>
                              <m:r>
                                <a:rPr lang="en-US" altLang="ja-JP" b="0" i="1" smtClean="0">
                                  <a:latin typeface="Cambria Math" panose="02040503050406030204" pitchFamily="18" charset="0"/>
                                  <a:ea typeface="Cambria Math" panose="02040503050406030204" pitchFamily="18" charset="0"/>
                                </a:rPr>
                                <m:t>𝑘</m:t>
                              </m:r>
                            </m:sub>
                          </m:sSub>
                          <m:r>
                            <a:rPr lang="en-US" altLang="ja-JP" b="0" i="1" smtClean="0">
                              <a:latin typeface="Cambria Math" panose="02040503050406030204" pitchFamily="18" charset="0"/>
                            </a:rPr>
                            <m:t>= </m:t>
                          </m:r>
                          <m:d>
                            <m:dPr>
                              <m:begChr m:val="["/>
                              <m:endChr m:val="]"/>
                              <m:ctrlPr>
                                <a:rPr lang="en-US" altLang="ja-JP" b="0" i="1" smtClean="0">
                                  <a:latin typeface="Cambria Math" panose="02040503050406030204" pitchFamily="18" charset="0"/>
                                </a:rPr>
                              </m:ctrlPr>
                            </m:dPr>
                            <m:e>
                              <m:nary>
                                <m:naryPr>
                                  <m:chr m:val="∑"/>
                                  <m:ctrlPr>
                                    <a:rPr lang="en-US" altLang="ja-JP" b="0" i="1" smtClean="0">
                                      <a:latin typeface="Cambria Math" panose="02040503050406030204" pitchFamily="18" charset="0"/>
                                    </a:rPr>
                                  </m:ctrlPr>
                                </m:naryPr>
                                <m:sub>
                                  <m:r>
                                    <a:rPr lang="en-US" altLang="ja-JP" b="0" i="1" smtClean="0">
                                      <a:latin typeface="Cambria Math" panose="02040503050406030204" pitchFamily="18" charset="0"/>
                                    </a:rPr>
                                    <m:t>𝑙</m:t>
                                  </m:r>
                                  <m:r>
                                    <a:rPr lang="en-US" altLang="ja-JP" b="0" i="1" smtClean="0">
                                      <a:latin typeface="Cambria Math" panose="02040503050406030204" pitchFamily="18" charset="0"/>
                                    </a:rPr>
                                    <m:t>=1</m:t>
                                  </m:r>
                                </m:sub>
                                <m:sup>
                                  <m:r>
                                    <a:rPr lang="en-US" altLang="ja-JP" b="0" i="1" smtClean="0">
                                      <a:latin typeface="Cambria Math" panose="02040503050406030204" pitchFamily="18" charset="0"/>
                                    </a:rPr>
                                    <m:t>𝑠</m:t>
                                  </m:r>
                                </m:sup>
                                <m:e>
                                  <m:sSub>
                                    <m:sSubPr>
                                      <m:ctrlPr>
                                        <a:rPr lang="en-US" altLang="ja-JP" b="0" i="1" smtClean="0">
                                          <a:latin typeface="Cambria Math" panose="02040503050406030204" pitchFamily="18" charset="0"/>
                                        </a:rPr>
                                      </m:ctrlPr>
                                    </m:sSubPr>
                                    <m:e>
                                      <m:r>
                                        <a:rPr lang="en-US" altLang="ja-JP" b="1" i="0" smtClean="0">
                                          <a:latin typeface="Cambria Math" panose="02040503050406030204" pitchFamily="18" charset="0"/>
                                        </a:rPr>
                                        <m:t>𝐳</m:t>
                                      </m:r>
                                    </m:e>
                                    <m:sub>
                                      <m:r>
                                        <a:rPr lang="en-US" altLang="ja-JP" b="0" i="1" smtClean="0">
                                          <a:latin typeface="Cambria Math" panose="02040503050406030204" pitchFamily="18" charset="0"/>
                                        </a:rPr>
                                        <m:t>𝑙</m:t>
                                      </m:r>
                                    </m:sub>
                                  </m:sSub>
                                  <m:r>
                                    <a:rPr lang="en-US" altLang="ja-JP" b="0" i="1" smtClean="0">
                                      <a:latin typeface="Cambria Math" panose="02040503050406030204" pitchFamily="18" charset="0"/>
                                      <a:ea typeface="Cambria Math" panose="02040503050406030204" pitchFamily="18" charset="0"/>
                                    </a:rPr>
                                    <m:t>⊙</m:t>
                                  </m:r>
                                  <m:sSub>
                                    <m:sSubPr>
                                      <m:ctrlPr>
                                        <a:rPr lang="en-US" altLang="ja-JP" i="1">
                                          <a:latin typeface="Cambria Math" panose="02040503050406030204" pitchFamily="18" charset="0"/>
                                          <a:ea typeface="Cambria Math" panose="02040503050406030204" pitchFamily="18" charset="0"/>
                                        </a:rPr>
                                      </m:ctrlPr>
                                    </m:sSubPr>
                                    <m:e>
                                      <m:r>
                                        <a:rPr lang="en-US" altLang="ja-JP" b="1" i="0" smtClean="0">
                                          <a:solidFill>
                                            <a:srgbClr val="C00000"/>
                                          </a:solidFill>
                                          <a:latin typeface="Cambria Math" panose="02040503050406030204" pitchFamily="18" charset="0"/>
                                          <a:ea typeface="Cambria Math" panose="02040503050406030204" pitchFamily="18" charset="0"/>
                                        </a:rPr>
                                        <m:t>𝐇</m:t>
                                      </m:r>
                                    </m:e>
                                    <m:sub>
                                      <m:r>
                                        <a:rPr lang="en-US" altLang="ja-JP" i="1">
                                          <a:latin typeface="Cambria Math" panose="02040503050406030204" pitchFamily="18" charset="0"/>
                                          <a:ea typeface="Cambria Math" panose="02040503050406030204" pitchFamily="18" charset="0"/>
                                        </a:rPr>
                                        <m:t>𝑘</m:t>
                                      </m:r>
                                    </m:sub>
                                  </m:sSub>
                                  <m:sSub>
                                    <m:sSubPr>
                                      <m:ctrlPr>
                                        <a:rPr lang="en-US" altLang="ja-JP" b="0" i="1" smtClean="0">
                                          <a:latin typeface="Cambria Math" panose="02040503050406030204" pitchFamily="18" charset="0"/>
                                          <a:ea typeface="Cambria Math" panose="02040503050406030204" pitchFamily="18" charset="0"/>
                                        </a:rPr>
                                      </m:ctrlPr>
                                    </m:sSubPr>
                                    <m:e>
                                      <m:r>
                                        <a:rPr lang="en-US" altLang="ja-JP" b="1" i="0" smtClean="0">
                                          <a:latin typeface="Cambria Math" panose="02040503050406030204" pitchFamily="18" charset="0"/>
                                          <a:ea typeface="Cambria Math" panose="02040503050406030204" pitchFamily="18" charset="0"/>
                                        </a:rPr>
                                        <m:t>𝐳</m:t>
                                      </m:r>
                                    </m:e>
                                    <m:sub>
                                      <m:r>
                                        <a:rPr lang="en-US" altLang="ja-JP" b="0" i="1" smtClean="0">
                                          <a:latin typeface="Cambria Math" panose="02040503050406030204" pitchFamily="18" charset="0"/>
                                          <a:ea typeface="Cambria Math" panose="02040503050406030204" pitchFamily="18" charset="0"/>
                                        </a:rPr>
                                        <m:t>𝑙</m:t>
                                      </m:r>
                                    </m:sub>
                                  </m:sSub>
                                </m:e>
                              </m:nary>
                            </m:e>
                          </m:d>
                          <m:r>
                            <a:rPr lang="en-US" altLang="ja-JP" i="1">
                              <a:latin typeface="Cambria Math" panose="02040503050406030204" pitchFamily="18" charset="0"/>
                              <a:ea typeface="Cambria Math" panose="02040503050406030204" pitchFamily="18" charset="0"/>
                            </a:rPr>
                            <m:t>⊘</m:t>
                          </m:r>
                          <m:d>
                            <m:dPr>
                              <m:begChr m:val="["/>
                              <m:endChr m:val="]"/>
                              <m:ctrlPr>
                                <a:rPr lang="en-US" altLang="ja-JP" b="0" i="1" smtClean="0">
                                  <a:latin typeface="Cambria Math" panose="02040503050406030204" pitchFamily="18" charset="0"/>
                                  <a:ea typeface="Cambria Math" panose="02040503050406030204" pitchFamily="18" charset="0"/>
                                </a:rPr>
                              </m:ctrlPr>
                            </m:dPr>
                            <m:e>
                              <m:nary>
                                <m:naryPr>
                                  <m:chr m:val="∑"/>
                                  <m:ctrlPr>
                                    <a:rPr lang="en-US" altLang="ja-JP" i="1">
                                      <a:latin typeface="Cambria Math" panose="02040503050406030204" pitchFamily="18" charset="0"/>
                                    </a:rPr>
                                  </m:ctrlPr>
                                </m:naryPr>
                                <m:sub>
                                  <m:r>
                                    <a:rPr lang="en-US" altLang="ja-JP" b="0" i="1" smtClean="0">
                                      <a:latin typeface="Cambria Math" panose="02040503050406030204" pitchFamily="18" charset="0"/>
                                    </a:rPr>
                                    <m:t>𝑙</m:t>
                                  </m:r>
                                  <m:r>
                                    <a:rPr lang="en-US" altLang="ja-JP" i="1">
                                      <a:latin typeface="Cambria Math" panose="02040503050406030204" pitchFamily="18" charset="0"/>
                                    </a:rPr>
                                    <m:t>=1</m:t>
                                  </m:r>
                                </m:sub>
                                <m:sup>
                                  <m:r>
                                    <a:rPr lang="en-US" altLang="ja-JP" i="1">
                                      <a:latin typeface="Cambria Math" panose="02040503050406030204" pitchFamily="18" charset="0"/>
                                    </a:rPr>
                                    <m:t>𝑠</m:t>
                                  </m:r>
                                </m:sup>
                                <m:e>
                                  <m:sSub>
                                    <m:sSubPr>
                                      <m:ctrlPr>
                                        <a:rPr lang="en-US" altLang="ja-JP" i="1">
                                          <a:latin typeface="Cambria Math" panose="02040503050406030204" pitchFamily="18" charset="0"/>
                                        </a:rPr>
                                      </m:ctrlPr>
                                    </m:sSubPr>
                                    <m:e>
                                      <m:r>
                                        <a:rPr lang="en-US" altLang="ja-JP" b="1" i="0">
                                          <a:latin typeface="Cambria Math" panose="02040503050406030204" pitchFamily="18" charset="0"/>
                                        </a:rPr>
                                        <m:t>𝐳</m:t>
                                      </m:r>
                                    </m:e>
                                    <m:sub>
                                      <m:r>
                                        <a:rPr lang="en-US" altLang="ja-JP" b="0" i="1" smtClean="0">
                                          <a:latin typeface="Cambria Math" panose="02040503050406030204" pitchFamily="18" charset="0"/>
                                        </a:rPr>
                                        <m:t>𝑙</m:t>
                                      </m:r>
                                    </m:sub>
                                  </m:sSub>
                                  <m:r>
                                    <a:rPr lang="en-US" altLang="ja-JP" i="1">
                                      <a:latin typeface="Cambria Math" panose="02040503050406030204" pitchFamily="18" charset="0"/>
                                      <a:ea typeface="Cambria Math" panose="02040503050406030204" pitchFamily="18" charset="0"/>
                                    </a:rPr>
                                    <m:t>⊙</m:t>
                                  </m:r>
                                  <m:sSub>
                                    <m:sSubPr>
                                      <m:ctrlPr>
                                        <a:rPr lang="en-US" altLang="ja-JP" i="1">
                                          <a:latin typeface="Cambria Math" panose="02040503050406030204" pitchFamily="18" charset="0"/>
                                          <a:ea typeface="Cambria Math" panose="02040503050406030204" pitchFamily="18" charset="0"/>
                                        </a:rPr>
                                      </m:ctrlPr>
                                    </m:sSubPr>
                                    <m:e>
                                      <m:r>
                                        <a:rPr lang="en-US" altLang="ja-JP" b="1" i="0">
                                          <a:latin typeface="Cambria Math" panose="02040503050406030204" pitchFamily="18" charset="0"/>
                                          <a:ea typeface="Cambria Math" panose="02040503050406030204" pitchFamily="18" charset="0"/>
                                        </a:rPr>
                                        <m:t>𝐳</m:t>
                                      </m:r>
                                    </m:e>
                                    <m:sub>
                                      <m:r>
                                        <a:rPr lang="en-US" altLang="ja-JP" b="0" i="1" smtClean="0">
                                          <a:latin typeface="Cambria Math" panose="02040503050406030204" pitchFamily="18" charset="0"/>
                                          <a:ea typeface="Cambria Math" panose="02040503050406030204" pitchFamily="18" charset="0"/>
                                        </a:rPr>
                                        <m:t>𝑙</m:t>
                                      </m:r>
                                    </m:sub>
                                  </m:sSub>
                                </m:e>
                              </m:nary>
                            </m:e>
                          </m:d>
                          <m:r>
                            <a:rPr lang="en-US" altLang="ja-JP" i="1">
                              <a:latin typeface="Cambria Math" panose="02040503050406030204" pitchFamily="18" charset="0"/>
                              <a:ea typeface="Cambria Math" panose="02040503050406030204" pitchFamily="18" charset="0"/>
                            </a:rPr>
                            <m:t>#</m:t>
                          </m:r>
                        </m:e>
                      </m:eqArr>
                    </m:oMath>
                  </m:oMathPara>
                </a14:m>
                <a:endParaRPr lang="en-US" altLang="ja-JP" b="0" dirty="0">
                  <a:ea typeface="Cambria Math" panose="02040503050406030204" pitchFamily="18" charset="0"/>
                </a:endParaRPr>
              </a:p>
              <a:p>
                <a:pPr marL="0" indent="0">
                  <a:buNone/>
                </a:pPr>
                <a:r>
                  <a:rPr lang="ja-JP" altLang="en-US" sz="300" dirty="0"/>
                  <a:t>　</a:t>
                </a:r>
                <a:endParaRPr lang="en-US" altLang="ja-JP" sz="300" dirty="0"/>
              </a:p>
              <a:p>
                <a:pPr marL="0" indent="0">
                  <a:buNone/>
                </a:pPr>
                <a:endParaRPr lang="en-US" altLang="ja-JP" dirty="0"/>
              </a:p>
              <a:p>
                <a:pPr marL="0" indent="0">
                  <a:buNone/>
                </a:pPr>
                <a:r>
                  <a:rPr lang="en-US" altLang="ja-JP" b="0" dirty="0"/>
                  <a:t>※</a:t>
                </a:r>
                <a14:m>
                  <m:oMath xmlns:m="http://schemas.openxmlformats.org/officeDocument/2006/math">
                    <m:r>
                      <a:rPr lang="en-US" altLang="ja-JP" b="0" i="1" smtClean="0">
                        <a:latin typeface="Cambria Math" panose="02040503050406030204" pitchFamily="18" charset="0"/>
                        <a:ea typeface="Cambria Math" panose="02040503050406030204" pitchFamily="18" charset="0"/>
                      </a:rPr>
                      <m:t>⊙</m:t>
                    </m:r>
                  </m:oMath>
                </a14:m>
                <a:r>
                  <a:rPr lang="en-US" altLang="ja-JP" b="1" dirty="0"/>
                  <a:t> : </a:t>
                </a:r>
                <a:r>
                  <a:rPr lang="ja-JP" altLang="en-US" b="1" dirty="0"/>
                  <a:t>アダマール乗算</a:t>
                </a:r>
                <a:endParaRPr lang="en-US" altLang="ja-JP" b="1" dirty="0"/>
              </a:p>
              <a:p>
                <a:pPr marL="0" indent="0">
                  <a:buNone/>
                </a:pPr>
                <a:r>
                  <a:rPr lang="ja-JP" altLang="en-US" b="1" dirty="0"/>
                  <a:t>　　</a:t>
                </a:r>
                <a14:m>
                  <m:oMath xmlns:m="http://schemas.openxmlformats.org/officeDocument/2006/math">
                    <m:r>
                      <a:rPr lang="en-US" altLang="ja-JP" b="0" i="1" smtClean="0">
                        <a:latin typeface="Cambria Math" panose="02040503050406030204" pitchFamily="18" charset="0"/>
                        <a:ea typeface="Cambria Math" panose="02040503050406030204" pitchFamily="18" charset="0"/>
                      </a:rPr>
                      <m:t>⊘</m:t>
                    </m:r>
                    <m:r>
                      <a:rPr lang="ja-JP" altLang="en-US" i="1">
                        <a:latin typeface="Cambria Math" panose="02040503050406030204" pitchFamily="18" charset="0"/>
                        <a:ea typeface="Cambria Math" panose="02040503050406030204" pitchFamily="18" charset="0"/>
                      </a:rPr>
                      <m:t> </m:t>
                    </m:r>
                  </m:oMath>
                </a14:m>
                <a:r>
                  <a:rPr lang="ja-JP" altLang="en-US" b="1" dirty="0"/>
                  <a:t>： アダマール除算</a:t>
                </a:r>
                <a:endParaRPr lang="en-US" altLang="ja-JP" b="1" dirty="0"/>
              </a:p>
            </p:txBody>
          </p:sp>
        </mc:Choice>
        <mc:Fallback xmlns="">
          <p:sp>
            <p:nvSpPr>
              <p:cNvPr id="3" name="コンテンツ プレースホルダー 2">
                <a:extLst>
                  <a:ext uri="{FF2B5EF4-FFF2-40B4-BE49-F238E27FC236}">
                    <a16:creationId xmlns:a16="http://schemas.microsoft.com/office/drawing/2014/main" id="{52DD7415-7627-42E3-BDA6-0C7DA21E12F9}"/>
                  </a:ext>
                </a:extLst>
              </p:cNvPr>
              <p:cNvSpPr>
                <a:spLocks noGrp="1" noRot="1" noChangeAspect="1" noMove="1" noResize="1" noEditPoints="1" noAdjustHandles="1" noChangeArrowheads="1" noChangeShapeType="1" noTextEdit="1"/>
              </p:cNvSpPr>
              <p:nvPr>
                <p:ph idx="1"/>
              </p:nvPr>
            </p:nvSpPr>
            <p:spPr>
              <a:xfrm>
                <a:off x="838199" y="1825625"/>
                <a:ext cx="11017469" cy="4667250"/>
              </a:xfrm>
              <a:blipFill>
                <a:blip r:embed="rId3"/>
                <a:stretch>
                  <a:fillRect l="-1106" t="-2089"/>
                </a:stretch>
              </a:blipFill>
            </p:spPr>
            <p:txBody>
              <a:bodyPr/>
              <a:lstStyle/>
              <a:p>
                <a:r>
                  <a:rPr lang="ja-JP" altLang="en-US">
                    <a:noFill/>
                  </a:rPr>
                  <a:t> </a:t>
                </a:r>
              </a:p>
            </p:txBody>
          </p:sp>
        </mc:Fallback>
      </mc:AlternateContent>
      <p:sp>
        <p:nvSpPr>
          <p:cNvPr id="5" name="スライド番号プレースホルダー 4">
            <a:extLst>
              <a:ext uri="{FF2B5EF4-FFF2-40B4-BE49-F238E27FC236}">
                <a16:creationId xmlns:a16="http://schemas.microsoft.com/office/drawing/2014/main" id="{3DDA1179-5159-47CB-A441-B97C16CAAADE}"/>
              </a:ext>
            </a:extLst>
          </p:cNvPr>
          <p:cNvSpPr>
            <a:spLocks noGrp="1"/>
          </p:cNvSpPr>
          <p:nvPr>
            <p:ph type="sldNum" sz="quarter" idx="12"/>
          </p:nvPr>
        </p:nvSpPr>
        <p:spPr/>
        <p:txBody>
          <a:bodyPr/>
          <a:lstStyle/>
          <a:p>
            <a:r>
              <a:rPr kumimoji="1" lang="en-US" altLang="ja-JP" dirty="0"/>
              <a:t>9</a:t>
            </a:r>
            <a:endParaRPr kumimoji="1" lang="ja-JP" altLang="en-US" dirty="0"/>
          </a:p>
        </p:txBody>
      </p:sp>
      <p:sp>
        <p:nvSpPr>
          <p:cNvPr id="6" name="テキスト ボックス 5">
            <a:extLst>
              <a:ext uri="{FF2B5EF4-FFF2-40B4-BE49-F238E27FC236}">
                <a16:creationId xmlns:a16="http://schemas.microsoft.com/office/drawing/2014/main" id="{314795C9-ECC0-49AA-8624-0D1D084B6613}"/>
              </a:ext>
            </a:extLst>
          </p:cNvPr>
          <p:cNvSpPr txBox="1"/>
          <p:nvPr/>
        </p:nvSpPr>
        <p:spPr>
          <a:xfrm>
            <a:off x="10727560" y="2753453"/>
            <a:ext cx="877830" cy="596253"/>
          </a:xfrm>
          <a:prstGeom prst="rect">
            <a:avLst/>
          </a:prstGeom>
          <a:solidFill>
            <a:srgbClr val="E4E4E4"/>
          </a:solidFill>
        </p:spPr>
        <p:txBody>
          <a:bodyPr wrap="square" rtlCol="0">
            <a:spAutoFit/>
          </a:bodyPr>
          <a:lstStyle/>
          <a:p>
            <a:pPr>
              <a:lnSpc>
                <a:spcPct val="150000"/>
              </a:lnSpc>
            </a:pPr>
            <a:r>
              <a:rPr kumimoji="1" lang="en-US" altLang="ja-JP" sz="24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(6)</a:t>
            </a:r>
            <a:endParaRPr kumimoji="1" lang="ja-JP" altLang="en-US" sz="24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mc:AlternateContent xmlns:mc="http://schemas.openxmlformats.org/markup-compatibility/2006" xmlns:a14="http://schemas.microsoft.com/office/drawing/2010/main">
        <mc:Choice Requires="a14">
          <p:sp>
            <p:nvSpPr>
              <p:cNvPr id="7" name="正方形/長方形 6">
                <a:extLst>
                  <a:ext uri="{FF2B5EF4-FFF2-40B4-BE49-F238E27FC236}">
                    <a16:creationId xmlns:a16="http://schemas.microsoft.com/office/drawing/2014/main" id="{D3D9C27B-7D83-D74C-8300-3A24407A819B}"/>
                  </a:ext>
                </a:extLst>
              </p:cNvPr>
              <p:cNvSpPr/>
              <p:nvPr/>
            </p:nvSpPr>
            <p:spPr>
              <a:xfrm>
                <a:off x="5384801" y="4334341"/>
                <a:ext cx="6579480" cy="1384995"/>
              </a:xfrm>
              <a:prstGeom prst="rect">
                <a:avLst/>
              </a:prstGeom>
            </p:spPr>
            <p:txBody>
              <a:bodyPr wrap="square">
                <a:spAutoFit/>
              </a:bodyPr>
              <a:lstStyle/>
              <a:p>
                <a14:m>
                  <m:oMath xmlns:m="http://schemas.openxmlformats.org/officeDocument/2006/math">
                    <m:sSub>
                      <m:sSubPr>
                        <m:ctrlPr>
                          <a:rPr lang="en-US" altLang="ja-JP" sz="2800" i="1" smtClean="0">
                            <a:solidFill>
                              <a:schemeClr val="tx1">
                                <a:lumMod val="75000"/>
                                <a:lumOff val="25000"/>
                              </a:schemeClr>
                            </a:solidFill>
                            <a:latin typeface="Cambria Math" panose="02040503050406030204" pitchFamily="18" charset="0"/>
                            <a:ea typeface="Cambria Math" panose="02040503050406030204" pitchFamily="18" charset="0"/>
                          </a:rPr>
                        </m:ctrlPr>
                      </m:sSubPr>
                      <m:e>
                        <m:r>
                          <a:rPr lang="en-US" altLang="ja-JP" sz="2800" b="1">
                            <a:solidFill>
                              <a:schemeClr val="tx1">
                                <a:lumMod val="75000"/>
                                <a:lumOff val="25000"/>
                              </a:schemeClr>
                            </a:solidFill>
                            <a:latin typeface="Cambria Math" panose="02040503050406030204" pitchFamily="18" charset="0"/>
                            <a:ea typeface="Cambria Math" panose="02040503050406030204" pitchFamily="18" charset="0"/>
                          </a:rPr>
                          <m:t>𝐇</m:t>
                        </m:r>
                      </m:e>
                      <m:sub>
                        <m:r>
                          <a:rPr lang="en-US" altLang="ja-JP" sz="2800" i="1">
                            <a:solidFill>
                              <a:schemeClr val="tx1">
                                <a:lumMod val="75000"/>
                                <a:lumOff val="25000"/>
                              </a:schemeClr>
                            </a:solidFill>
                            <a:latin typeface="Cambria Math" panose="02040503050406030204" pitchFamily="18" charset="0"/>
                            <a:ea typeface="Cambria Math" panose="02040503050406030204" pitchFamily="18" charset="0"/>
                          </a:rPr>
                          <m:t>𝑘</m:t>
                        </m:r>
                      </m:sub>
                    </m:sSub>
                    <m:r>
                      <a:rPr lang="en-US" altLang="ja-JP" sz="2800" b="1" i="1">
                        <a:solidFill>
                          <a:schemeClr val="tx1">
                            <a:lumMod val="75000"/>
                            <a:lumOff val="25000"/>
                          </a:schemeClr>
                        </a:solidFill>
                        <a:latin typeface="Cambria Math" panose="02040503050406030204" pitchFamily="18" charset="0"/>
                      </a:rPr>
                      <m:t>∈ </m:t>
                    </m:r>
                    <m:sSup>
                      <m:sSupPr>
                        <m:ctrlPr>
                          <a:rPr lang="en-US" altLang="ja-JP" sz="2800" b="1" i="1">
                            <a:solidFill>
                              <a:schemeClr val="tx1">
                                <a:lumMod val="75000"/>
                                <a:lumOff val="25000"/>
                              </a:schemeClr>
                            </a:solidFill>
                            <a:latin typeface="Cambria Math" panose="02040503050406030204" pitchFamily="18" charset="0"/>
                            <a:ea typeface="Cambria Math" panose="02040503050406030204" pitchFamily="18" charset="0"/>
                          </a:rPr>
                        </m:ctrlPr>
                      </m:sSupPr>
                      <m:e>
                        <m:r>
                          <a:rPr lang="en-US" altLang="ja-JP" sz="2800" b="1" i="1">
                            <a:solidFill>
                              <a:schemeClr val="tx1">
                                <a:lumMod val="75000"/>
                                <a:lumOff val="25000"/>
                              </a:schemeClr>
                            </a:solidFill>
                            <a:latin typeface="Cambria Math" panose="02040503050406030204" pitchFamily="18" charset="0"/>
                            <a:ea typeface="Cambria Math" panose="02040503050406030204" pitchFamily="18" charset="0"/>
                          </a:rPr>
                          <m:t>ℝ</m:t>
                        </m:r>
                      </m:e>
                      <m:sup>
                        <m:r>
                          <a:rPr lang="en-US" altLang="ja-JP" sz="2800" i="1">
                            <a:solidFill>
                              <a:schemeClr val="tx1">
                                <a:lumMod val="75000"/>
                                <a:lumOff val="25000"/>
                              </a:schemeClr>
                            </a:solidFill>
                            <a:latin typeface="Cambria Math" panose="02040503050406030204" pitchFamily="18" charset="0"/>
                            <a:ea typeface="Cambria Math" panose="02040503050406030204" pitchFamily="18" charset="0"/>
                          </a:rPr>
                          <m:t>𝑛</m:t>
                        </m:r>
                        <m:r>
                          <a:rPr lang="en-US" altLang="ja-JP" sz="2800" i="1">
                            <a:solidFill>
                              <a:schemeClr val="tx1">
                                <a:lumMod val="75000"/>
                                <a:lumOff val="25000"/>
                              </a:schemeClr>
                            </a:solidFill>
                            <a:latin typeface="Cambria Math" panose="02040503050406030204" pitchFamily="18" charset="0"/>
                            <a:ea typeface="Cambria Math" panose="02040503050406030204" pitchFamily="18" charset="0"/>
                          </a:rPr>
                          <m:t> ×</m:t>
                        </m:r>
                        <m:r>
                          <a:rPr lang="en-US" altLang="ja-JP" sz="2800" i="1">
                            <a:solidFill>
                              <a:schemeClr val="tx1">
                                <a:lumMod val="75000"/>
                                <a:lumOff val="25000"/>
                              </a:schemeClr>
                            </a:solidFill>
                            <a:latin typeface="Cambria Math" panose="02040503050406030204" pitchFamily="18" charset="0"/>
                            <a:ea typeface="Cambria Math" panose="02040503050406030204" pitchFamily="18" charset="0"/>
                          </a:rPr>
                          <m:t>𝑛</m:t>
                        </m:r>
                      </m:sup>
                    </m:sSup>
                  </m:oMath>
                </a14:m>
                <a:r>
                  <a:rPr lang="en-US" altLang="ja-JP" sz="2800"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 : </a:t>
                </a:r>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ヘッセ行列</a:t>
                </a:r>
                <a:endPar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14:m>
                  <m:oMath xmlns:m="http://schemas.openxmlformats.org/officeDocument/2006/math">
                    <m:sSub>
                      <m:sSubPr>
                        <m:ctrlPr>
                          <a:rPr lang="en-US" altLang="ja-JP" sz="2800" i="1">
                            <a:solidFill>
                              <a:schemeClr val="tx1">
                                <a:lumMod val="75000"/>
                                <a:lumOff val="25000"/>
                              </a:schemeClr>
                            </a:solidFill>
                            <a:latin typeface="Cambria Math" panose="02040503050406030204" pitchFamily="18" charset="0"/>
                            <a:ea typeface="Cambria Math" panose="02040503050406030204" pitchFamily="18" charset="0"/>
                          </a:rPr>
                        </m:ctrlPr>
                      </m:sSubPr>
                      <m:e>
                        <m:r>
                          <a:rPr lang="en-US" altLang="ja-JP" sz="2800" b="1">
                            <a:solidFill>
                              <a:schemeClr val="tx1">
                                <a:lumMod val="75000"/>
                                <a:lumOff val="25000"/>
                              </a:schemeClr>
                            </a:solidFill>
                            <a:latin typeface="Cambria Math" panose="02040503050406030204" pitchFamily="18" charset="0"/>
                            <a:ea typeface="Cambria Math" panose="02040503050406030204" pitchFamily="18" charset="0"/>
                          </a:rPr>
                          <m:t>𝐳</m:t>
                        </m:r>
                      </m:e>
                      <m:sub>
                        <m:r>
                          <a:rPr lang="en-US" altLang="ja-JP" sz="2800" i="1">
                            <a:solidFill>
                              <a:schemeClr val="tx1">
                                <a:lumMod val="75000"/>
                                <a:lumOff val="25000"/>
                              </a:schemeClr>
                            </a:solidFill>
                            <a:latin typeface="Cambria Math" panose="02040503050406030204" pitchFamily="18" charset="0"/>
                            <a:ea typeface="Cambria Math" panose="02040503050406030204" pitchFamily="18" charset="0"/>
                          </a:rPr>
                          <m:t>𝑙</m:t>
                        </m:r>
                      </m:sub>
                    </m:sSub>
                    <m:r>
                      <a:rPr lang="en-US" altLang="ja-JP" sz="2800" i="1">
                        <a:solidFill>
                          <a:schemeClr val="tx1">
                            <a:lumMod val="75000"/>
                            <a:lumOff val="25000"/>
                          </a:schemeClr>
                        </a:solidFill>
                        <a:latin typeface="Cambria Math" panose="02040503050406030204" pitchFamily="18" charset="0"/>
                        <a:ea typeface="Cambria Math" panose="02040503050406030204" pitchFamily="18" charset="0"/>
                      </a:rPr>
                      <m:t>∈ </m:t>
                    </m:r>
                    <m:sSup>
                      <m:sSupPr>
                        <m:ctrlPr>
                          <a:rPr lang="en-US" altLang="ja-JP" sz="2800" i="1">
                            <a:solidFill>
                              <a:schemeClr val="tx1">
                                <a:lumMod val="75000"/>
                                <a:lumOff val="25000"/>
                              </a:schemeClr>
                            </a:solidFill>
                            <a:latin typeface="Cambria Math" panose="02040503050406030204" pitchFamily="18" charset="0"/>
                            <a:ea typeface="Cambria Math" panose="02040503050406030204" pitchFamily="18" charset="0"/>
                          </a:rPr>
                        </m:ctrlPr>
                      </m:sSupPr>
                      <m:e>
                        <m:r>
                          <a:rPr lang="en-US" altLang="ja-JP" sz="2800" i="1">
                            <a:solidFill>
                              <a:schemeClr val="tx1">
                                <a:lumMod val="75000"/>
                                <a:lumOff val="25000"/>
                              </a:schemeClr>
                            </a:solidFill>
                            <a:latin typeface="Cambria Math" panose="02040503050406030204" pitchFamily="18" charset="0"/>
                            <a:ea typeface="Cambria Math" panose="02040503050406030204" pitchFamily="18" charset="0"/>
                          </a:rPr>
                          <m:t>ℝ</m:t>
                        </m:r>
                      </m:e>
                      <m:sup>
                        <m:r>
                          <a:rPr lang="en-US" altLang="ja-JP" sz="2800" i="1">
                            <a:solidFill>
                              <a:schemeClr val="tx1">
                                <a:lumMod val="75000"/>
                                <a:lumOff val="25000"/>
                              </a:schemeClr>
                            </a:solidFill>
                            <a:latin typeface="Cambria Math" panose="02040503050406030204" pitchFamily="18" charset="0"/>
                            <a:ea typeface="Cambria Math" panose="02040503050406030204" pitchFamily="18" charset="0"/>
                          </a:rPr>
                          <m:t>𝑛</m:t>
                        </m:r>
                      </m:sup>
                    </m:sSup>
                  </m:oMath>
                </a14:m>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 : -1</a:t>
                </a:r>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か</a:t>
                </a:r>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1</a:t>
                </a:r>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でできたランダムベクトル</a:t>
                </a:r>
                <a:endPar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14:m>
                  <m:oMath xmlns:m="http://schemas.openxmlformats.org/officeDocument/2006/math">
                    <m:r>
                      <a:rPr lang="en-US" altLang="ja-JP" sz="2800" i="1">
                        <a:solidFill>
                          <a:schemeClr val="tx1">
                            <a:lumMod val="75000"/>
                            <a:lumOff val="25000"/>
                          </a:schemeClr>
                        </a:solidFill>
                        <a:latin typeface="Cambria Math" panose="02040503050406030204" pitchFamily="18" charset="0"/>
                        <a:ea typeface="Cambria Math" panose="02040503050406030204" pitchFamily="18" charset="0"/>
                      </a:rPr>
                      <m:t>𝑠</m:t>
                    </m:r>
                  </m:oMath>
                </a14:m>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　： 近似回数</a:t>
                </a:r>
                <a:endPar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mc:Choice>
        <mc:Fallback xmlns="">
          <p:sp>
            <p:nvSpPr>
              <p:cNvPr id="7" name="正方形/長方形 6">
                <a:extLst>
                  <a:ext uri="{FF2B5EF4-FFF2-40B4-BE49-F238E27FC236}">
                    <a16:creationId xmlns:a16="http://schemas.microsoft.com/office/drawing/2014/main" id="{D3D9C27B-7D83-D74C-8300-3A24407A819B}"/>
                  </a:ext>
                </a:extLst>
              </p:cNvPr>
              <p:cNvSpPr>
                <a:spLocks noRot="1" noChangeAspect="1" noMove="1" noResize="1" noEditPoints="1" noAdjustHandles="1" noChangeArrowheads="1" noChangeShapeType="1" noTextEdit="1"/>
              </p:cNvSpPr>
              <p:nvPr/>
            </p:nvSpPr>
            <p:spPr>
              <a:xfrm>
                <a:off x="5384801" y="4334341"/>
                <a:ext cx="6579480" cy="1384995"/>
              </a:xfrm>
              <a:prstGeom prst="rect">
                <a:avLst/>
              </a:prstGeom>
              <a:blipFill>
                <a:blip r:embed="rId4"/>
                <a:stretch>
                  <a:fillRect t="-3965" r="-185" b="-11894"/>
                </a:stretch>
              </a:blipFill>
            </p:spPr>
            <p:txBody>
              <a:bodyPr/>
              <a:lstStyle/>
              <a:p>
                <a:r>
                  <a:rPr lang="ja-JP" altLang="en-US">
                    <a:noFill/>
                  </a:rPr>
                  <a:t> </a:t>
                </a:r>
              </a:p>
            </p:txBody>
          </p:sp>
        </mc:Fallback>
      </mc:AlternateContent>
      <p:sp>
        <p:nvSpPr>
          <p:cNvPr id="8" name="テキスト ボックス 7">
            <a:extLst>
              <a:ext uri="{FF2B5EF4-FFF2-40B4-BE49-F238E27FC236}">
                <a16:creationId xmlns:a16="http://schemas.microsoft.com/office/drawing/2014/main" id="{292B0D07-8EAB-46B9-850C-B783D591A1EF}"/>
              </a:ext>
            </a:extLst>
          </p:cNvPr>
          <p:cNvSpPr txBox="1"/>
          <p:nvPr/>
        </p:nvSpPr>
        <p:spPr>
          <a:xfrm>
            <a:off x="1498600" y="6231265"/>
            <a:ext cx="9194800" cy="523220"/>
          </a:xfrm>
          <a:prstGeom prst="rect">
            <a:avLst/>
          </a:prstGeom>
          <a:noFill/>
        </p:spPr>
        <p:txBody>
          <a:bodyPr wrap="square">
            <a:spAutoFit/>
          </a:bodyPr>
          <a:lstStyle/>
          <a:p>
            <a:r>
              <a:rPr lang="en-US" altLang="ja-JP" sz="1400" dirty="0">
                <a:latin typeface="UD デジタル 教科書体 NK-R" panose="02020400000000000000" pitchFamily="18" charset="-128"/>
                <a:ea typeface="UD デジタル 教科書体 NK-R" panose="02020400000000000000" pitchFamily="18" charset="-128"/>
              </a:rPr>
              <a:t>C. </a:t>
            </a:r>
            <a:r>
              <a:rPr lang="en-US" altLang="ja-JP" sz="1400" dirty="0" err="1">
                <a:latin typeface="UD デジタル 教科書体 NK-R" panose="02020400000000000000" pitchFamily="18" charset="-128"/>
                <a:ea typeface="UD デジタル 教科書体 NK-R" panose="02020400000000000000" pitchFamily="18" charset="-128"/>
              </a:rPr>
              <a:t>Bekas</a:t>
            </a:r>
            <a:r>
              <a:rPr lang="en-US" altLang="ja-JP" sz="1400" dirty="0">
                <a:latin typeface="UD デジタル 教科書体 NK-R" panose="02020400000000000000" pitchFamily="18" charset="-128"/>
                <a:ea typeface="UD デジタル 教科書体 NK-R" panose="02020400000000000000" pitchFamily="18" charset="-128"/>
              </a:rPr>
              <a:t>, E. </a:t>
            </a:r>
            <a:r>
              <a:rPr lang="en-US" altLang="ja-JP" sz="1400" dirty="0" err="1">
                <a:latin typeface="UD デジタル 教科書体 NK-R" panose="02020400000000000000" pitchFamily="18" charset="-128"/>
                <a:ea typeface="UD デジタル 教科書体 NK-R" panose="02020400000000000000" pitchFamily="18" charset="-128"/>
              </a:rPr>
              <a:t>Kokiopoulou</a:t>
            </a:r>
            <a:r>
              <a:rPr lang="en-US" altLang="ja-JP" sz="1400" dirty="0">
                <a:latin typeface="UD デジタル 教科書体 NK-R" panose="02020400000000000000" pitchFamily="18" charset="-128"/>
                <a:ea typeface="UD デジタル 教科書体 NK-R" panose="02020400000000000000" pitchFamily="18" charset="-128"/>
              </a:rPr>
              <a:t>, and Y. Saad, “An Estimator for the Diagonal of a matrix”, Applied numerical mathematics, vol. 57, no. 11-12,</a:t>
            </a:r>
            <a:r>
              <a:rPr lang="ja-JP" altLang="en-US" sz="1400" dirty="0">
                <a:latin typeface="UD デジタル 教科書体 NK-R" panose="02020400000000000000" pitchFamily="18" charset="-128"/>
                <a:ea typeface="UD デジタル 教科書体 NK-R" panose="02020400000000000000" pitchFamily="18" charset="-128"/>
              </a:rPr>
              <a:t> </a:t>
            </a:r>
            <a:r>
              <a:rPr lang="en-US" altLang="ja-JP" sz="1400" dirty="0">
                <a:latin typeface="UD デジタル 教科書体 NK-R" panose="02020400000000000000" pitchFamily="18" charset="-128"/>
                <a:ea typeface="UD デジタル 教科書体 NK-R" panose="02020400000000000000" pitchFamily="18" charset="-128"/>
              </a:rPr>
              <a:t>pp. 1214–1229, 2007.</a:t>
            </a:r>
            <a:endParaRPr lang="ja-JP" altLang="en-US" sz="1400" dirty="0">
              <a:latin typeface="UD デジタル 教科書体 NK-R" panose="02020400000000000000" pitchFamily="18" charset="-128"/>
              <a:ea typeface="UD デジタル 教科書体 NK-R" panose="02020400000000000000" pitchFamily="18" charset="-128"/>
            </a:endParaRPr>
          </a:p>
        </p:txBody>
      </p:sp>
      <p:sp>
        <p:nvSpPr>
          <p:cNvPr id="9" name="テキスト ボックス 8">
            <a:extLst>
              <a:ext uri="{FF2B5EF4-FFF2-40B4-BE49-F238E27FC236}">
                <a16:creationId xmlns:a16="http://schemas.microsoft.com/office/drawing/2014/main" id="{EE1093EA-1570-45A8-BB6E-CFDED8156B23}"/>
              </a:ext>
            </a:extLst>
          </p:cNvPr>
          <p:cNvSpPr txBox="1"/>
          <p:nvPr/>
        </p:nvSpPr>
        <p:spPr>
          <a:xfrm>
            <a:off x="1143000" y="6218565"/>
            <a:ext cx="482600" cy="307777"/>
          </a:xfrm>
          <a:prstGeom prst="rect">
            <a:avLst/>
          </a:prstGeom>
          <a:noFill/>
        </p:spPr>
        <p:txBody>
          <a:bodyPr wrap="square">
            <a:spAutoFit/>
          </a:bodyPr>
          <a:lstStyle/>
          <a:p>
            <a:r>
              <a:rPr lang="en-US" altLang="ja-JP" sz="1400" dirty="0">
                <a:latin typeface="UD デジタル 教科書体 NK-R" panose="02020400000000000000" pitchFamily="18" charset="-128"/>
                <a:ea typeface="UD デジタル 教科書体 NK-R" panose="02020400000000000000" pitchFamily="18" charset="-128"/>
              </a:rPr>
              <a:t>[2]</a:t>
            </a:r>
            <a:endParaRPr lang="ja-JP" altLang="en-US" sz="1400" dirty="0">
              <a:latin typeface="UD デジタル 教科書体 NK-R" panose="02020400000000000000" pitchFamily="18" charset="-128"/>
              <a:ea typeface="UD デジタル 教科書体 NK-R" panose="02020400000000000000" pitchFamily="18" charset="-128"/>
            </a:endParaRPr>
          </a:p>
        </p:txBody>
      </p:sp>
    </p:spTree>
    <p:extLst>
      <p:ext uri="{BB962C8B-B14F-4D97-AF65-F5344CB8AC3E}">
        <p14:creationId xmlns:p14="http://schemas.microsoft.com/office/powerpoint/2010/main" val="34210142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0F202FF-8D7C-4376-BFBF-B442ADAB6C4C}"/>
              </a:ext>
            </a:extLst>
          </p:cNvPr>
          <p:cNvSpPr>
            <a:spLocks noGrp="1"/>
          </p:cNvSpPr>
          <p:nvPr>
            <p:ph type="title"/>
          </p:nvPr>
        </p:nvSpPr>
        <p:spPr>
          <a:xfrm>
            <a:off x="838199" y="365125"/>
            <a:ext cx="10786241" cy="1325563"/>
          </a:xfrm>
        </p:spPr>
        <p:txBody>
          <a:bodyPr/>
          <a:lstStyle/>
          <a:p>
            <a:r>
              <a:rPr kumimoji="1" lang="ja-JP" altLang="en-US" spc="-130" dirty="0"/>
              <a:t>提案手法：ヘッセ行列の対角行列化</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52DD7415-7627-42E3-BDA6-0C7DA21E12F9}"/>
                  </a:ext>
                </a:extLst>
              </p:cNvPr>
              <p:cNvSpPr>
                <a:spLocks noGrp="1"/>
              </p:cNvSpPr>
              <p:nvPr>
                <p:ph idx="1"/>
              </p:nvPr>
            </p:nvSpPr>
            <p:spPr>
              <a:xfrm>
                <a:off x="838199" y="1825625"/>
                <a:ext cx="11017469" cy="4667250"/>
              </a:xfrm>
            </p:spPr>
            <p:txBody>
              <a:bodyPr>
                <a:normAutofit/>
              </a:bodyPr>
              <a:lstStyle/>
              <a:p>
                <a:pPr marL="0" indent="0">
                  <a:buNone/>
                </a:pPr>
                <a:r>
                  <a:rPr kumimoji="1" lang="en-US" altLang="ja-JP" spc="-130" dirty="0"/>
                  <a:t>Hutchinson</a:t>
                </a:r>
                <a:r>
                  <a:rPr kumimoji="1" lang="ja-JP" altLang="en-US" spc="-130" dirty="0"/>
                  <a:t>手法に基づく行列対角化手法</a:t>
                </a:r>
                <a:r>
                  <a:rPr lang="ja-JP" altLang="en-US" spc="-130" dirty="0"/>
                  <a:t>を用いてヘッセ行列を</a:t>
                </a:r>
                <a:endParaRPr lang="en-US" altLang="ja-JP" spc="-130" dirty="0"/>
              </a:p>
              <a:p>
                <a:pPr marL="0" indent="0">
                  <a:buNone/>
                </a:pPr>
                <a:r>
                  <a:rPr lang="ja-JP" altLang="en-US" spc="-130" dirty="0"/>
                  <a:t>対角行列に近似</a:t>
                </a:r>
                <a:endParaRPr kumimoji="1" lang="en-US" altLang="ja-JP" sz="1400" spc="-80" dirty="0"/>
              </a:p>
              <a:p>
                <a:pPr marL="0" indent="0">
                  <a:buNone/>
                </a:pPr>
                <a14:m>
                  <m:oMathPara xmlns:m="http://schemas.openxmlformats.org/officeDocument/2006/math">
                    <m:oMathParaPr>
                      <m:jc m:val="centerGroup"/>
                    </m:oMathParaPr>
                    <m:oMath xmlns:m="http://schemas.openxmlformats.org/officeDocument/2006/math">
                      <m:eqArr>
                        <m:eqArrPr>
                          <m:ctrlPr>
                            <a:rPr lang="en-US" altLang="ja-JP" b="0" i="1" smtClean="0">
                              <a:latin typeface="Cambria Math" panose="02040503050406030204" pitchFamily="18" charset="0"/>
                              <a:ea typeface="Cambria Math" panose="02040503050406030204" pitchFamily="18" charset="0"/>
                            </a:rPr>
                          </m:ctrlPr>
                        </m:eqArrPr>
                        <m:e>
                          <m:sSub>
                            <m:sSubPr>
                              <m:ctrlPr>
                                <a:rPr lang="en-US" altLang="ja-JP" i="1">
                                  <a:latin typeface="Cambria Math" panose="02040503050406030204" pitchFamily="18" charset="0"/>
                                  <a:ea typeface="Cambria Math" panose="02040503050406030204" pitchFamily="18" charset="0"/>
                                </a:rPr>
                              </m:ctrlPr>
                            </m:sSubPr>
                            <m:e>
                              <m:r>
                                <a:rPr lang="en-US" altLang="ja-JP" b="1">
                                  <a:latin typeface="Cambria Math" panose="02040503050406030204" pitchFamily="18" charset="0"/>
                                  <a:ea typeface="Cambria Math" panose="02040503050406030204" pitchFamily="18" charset="0"/>
                                </a:rPr>
                                <m:t>𝐡</m:t>
                              </m:r>
                            </m:e>
                            <m:sub>
                              <m:r>
                                <a:rPr lang="en-US" altLang="ja-JP" i="1">
                                  <a:latin typeface="Cambria Math" panose="02040503050406030204" pitchFamily="18" charset="0"/>
                                  <a:ea typeface="Cambria Math" panose="02040503050406030204" pitchFamily="18" charset="0"/>
                                </a:rPr>
                                <m:t>𝑘</m:t>
                              </m:r>
                            </m:sub>
                          </m:sSub>
                          <m:r>
                            <a:rPr lang="en-US" altLang="ja-JP" i="1">
                              <a:latin typeface="Cambria Math" panose="02040503050406030204" pitchFamily="18" charset="0"/>
                            </a:rPr>
                            <m:t>= </m:t>
                          </m:r>
                          <m:d>
                            <m:dPr>
                              <m:begChr m:val="["/>
                              <m:endChr m:val="]"/>
                              <m:ctrlPr>
                                <a:rPr lang="en-US" altLang="ja-JP" i="1">
                                  <a:latin typeface="Cambria Math" panose="02040503050406030204" pitchFamily="18" charset="0"/>
                                </a:rPr>
                              </m:ctrlPr>
                            </m:dPr>
                            <m:e>
                              <m:nary>
                                <m:naryPr>
                                  <m:chr m:val="∑"/>
                                  <m:ctrlPr>
                                    <a:rPr lang="en-US" altLang="ja-JP" i="1">
                                      <a:latin typeface="Cambria Math" panose="02040503050406030204" pitchFamily="18" charset="0"/>
                                    </a:rPr>
                                  </m:ctrlPr>
                                </m:naryPr>
                                <m:sub>
                                  <m:r>
                                    <a:rPr lang="en-US" altLang="ja-JP" i="1">
                                      <a:latin typeface="Cambria Math" panose="02040503050406030204" pitchFamily="18" charset="0"/>
                                    </a:rPr>
                                    <m:t>𝑙</m:t>
                                  </m:r>
                                  <m:r>
                                    <a:rPr lang="en-US" altLang="ja-JP" i="1">
                                      <a:latin typeface="Cambria Math" panose="02040503050406030204" pitchFamily="18" charset="0"/>
                                    </a:rPr>
                                    <m:t>=1</m:t>
                                  </m:r>
                                </m:sub>
                                <m:sup>
                                  <m:r>
                                    <a:rPr lang="en-US" altLang="ja-JP" i="1">
                                      <a:latin typeface="Cambria Math" panose="02040503050406030204" pitchFamily="18" charset="0"/>
                                    </a:rPr>
                                    <m:t>𝑠</m:t>
                                  </m:r>
                                </m:sup>
                                <m:e>
                                  <m:sSub>
                                    <m:sSubPr>
                                      <m:ctrlPr>
                                        <a:rPr lang="en-US" altLang="ja-JP" i="1">
                                          <a:latin typeface="Cambria Math" panose="02040503050406030204" pitchFamily="18" charset="0"/>
                                        </a:rPr>
                                      </m:ctrlPr>
                                    </m:sSubPr>
                                    <m:e>
                                      <m:r>
                                        <a:rPr lang="en-US" altLang="ja-JP" b="1">
                                          <a:latin typeface="Cambria Math" panose="02040503050406030204" pitchFamily="18" charset="0"/>
                                        </a:rPr>
                                        <m:t>𝐳</m:t>
                                      </m:r>
                                    </m:e>
                                    <m:sub>
                                      <m:r>
                                        <a:rPr lang="en-US" altLang="ja-JP" i="1">
                                          <a:latin typeface="Cambria Math" panose="02040503050406030204" pitchFamily="18" charset="0"/>
                                        </a:rPr>
                                        <m:t>𝑙</m:t>
                                      </m:r>
                                    </m:sub>
                                  </m:sSub>
                                  <m:r>
                                    <a:rPr lang="en-US" altLang="ja-JP" i="1">
                                      <a:latin typeface="Cambria Math" panose="02040503050406030204" pitchFamily="18" charset="0"/>
                                      <a:ea typeface="Cambria Math" panose="02040503050406030204" pitchFamily="18" charset="0"/>
                                    </a:rPr>
                                    <m:t>⊙</m:t>
                                  </m:r>
                                  <m:sSub>
                                    <m:sSubPr>
                                      <m:ctrlPr>
                                        <a:rPr lang="en-US" altLang="ja-JP" i="1">
                                          <a:latin typeface="Cambria Math" panose="02040503050406030204" pitchFamily="18" charset="0"/>
                                          <a:ea typeface="Cambria Math" panose="02040503050406030204" pitchFamily="18" charset="0"/>
                                        </a:rPr>
                                      </m:ctrlPr>
                                    </m:sSubPr>
                                    <m:e>
                                      <m:r>
                                        <a:rPr lang="en-US" altLang="ja-JP" b="1">
                                          <a:solidFill>
                                            <a:srgbClr val="C00000"/>
                                          </a:solidFill>
                                          <a:latin typeface="Cambria Math" panose="02040503050406030204" pitchFamily="18" charset="0"/>
                                          <a:ea typeface="Cambria Math" panose="02040503050406030204" pitchFamily="18" charset="0"/>
                                        </a:rPr>
                                        <m:t>𝐇</m:t>
                                      </m:r>
                                    </m:e>
                                    <m:sub>
                                      <m:r>
                                        <a:rPr lang="en-US" altLang="ja-JP" i="1">
                                          <a:latin typeface="Cambria Math" panose="02040503050406030204" pitchFamily="18" charset="0"/>
                                          <a:ea typeface="Cambria Math" panose="02040503050406030204" pitchFamily="18" charset="0"/>
                                        </a:rPr>
                                        <m:t>𝑘</m:t>
                                      </m:r>
                                    </m:sub>
                                  </m:sSub>
                                  <m:sSub>
                                    <m:sSubPr>
                                      <m:ctrlPr>
                                        <a:rPr lang="en-US" altLang="ja-JP" i="1">
                                          <a:latin typeface="Cambria Math" panose="02040503050406030204" pitchFamily="18" charset="0"/>
                                          <a:ea typeface="Cambria Math" panose="02040503050406030204" pitchFamily="18" charset="0"/>
                                        </a:rPr>
                                      </m:ctrlPr>
                                    </m:sSubPr>
                                    <m:e>
                                      <m:r>
                                        <a:rPr lang="en-US" altLang="ja-JP" b="1">
                                          <a:latin typeface="Cambria Math" panose="02040503050406030204" pitchFamily="18" charset="0"/>
                                          <a:ea typeface="Cambria Math" panose="02040503050406030204" pitchFamily="18" charset="0"/>
                                        </a:rPr>
                                        <m:t>𝐳</m:t>
                                      </m:r>
                                    </m:e>
                                    <m:sub>
                                      <m:r>
                                        <a:rPr lang="en-US" altLang="ja-JP" i="1">
                                          <a:latin typeface="Cambria Math" panose="02040503050406030204" pitchFamily="18" charset="0"/>
                                          <a:ea typeface="Cambria Math" panose="02040503050406030204" pitchFamily="18" charset="0"/>
                                        </a:rPr>
                                        <m:t>𝑙</m:t>
                                      </m:r>
                                    </m:sub>
                                  </m:sSub>
                                </m:e>
                              </m:nary>
                            </m:e>
                          </m:d>
                          <m:r>
                            <a:rPr lang="en-US" altLang="ja-JP" i="1">
                              <a:latin typeface="Cambria Math" panose="02040503050406030204" pitchFamily="18" charset="0"/>
                              <a:ea typeface="Cambria Math" panose="02040503050406030204" pitchFamily="18" charset="0"/>
                            </a:rPr>
                            <m:t>⊘</m:t>
                          </m:r>
                          <m:d>
                            <m:dPr>
                              <m:begChr m:val="["/>
                              <m:endChr m:val="]"/>
                              <m:ctrlPr>
                                <a:rPr lang="en-US" altLang="ja-JP" i="1">
                                  <a:latin typeface="Cambria Math" panose="02040503050406030204" pitchFamily="18" charset="0"/>
                                  <a:ea typeface="Cambria Math" panose="02040503050406030204" pitchFamily="18" charset="0"/>
                                </a:rPr>
                              </m:ctrlPr>
                            </m:dPr>
                            <m:e>
                              <m:nary>
                                <m:naryPr>
                                  <m:chr m:val="∑"/>
                                  <m:ctrlPr>
                                    <a:rPr lang="en-US" altLang="ja-JP" i="1">
                                      <a:latin typeface="Cambria Math" panose="02040503050406030204" pitchFamily="18" charset="0"/>
                                    </a:rPr>
                                  </m:ctrlPr>
                                </m:naryPr>
                                <m:sub>
                                  <m:r>
                                    <a:rPr lang="en-US" altLang="ja-JP" i="1">
                                      <a:latin typeface="Cambria Math" panose="02040503050406030204" pitchFamily="18" charset="0"/>
                                    </a:rPr>
                                    <m:t>𝑙</m:t>
                                  </m:r>
                                  <m:r>
                                    <a:rPr lang="en-US" altLang="ja-JP" i="1">
                                      <a:latin typeface="Cambria Math" panose="02040503050406030204" pitchFamily="18" charset="0"/>
                                    </a:rPr>
                                    <m:t>=1</m:t>
                                  </m:r>
                                </m:sub>
                                <m:sup>
                                  <m:r>
                                    <a:rPr lang="en-US" altLang="ja-JP" i="1">
                                      <a:latin typeface="Cambria Math" panose="02040503050406030204" pitchFamily="18" charset="0"/>
                                    </a:rPr>
                                    <m:t>𝑠</m:t>
                                  </m:r>
                                </m:sup>
                                <m:e>
                                  <m:sSub>
                                    <m:sSubPr>
                                      <m:ctrlPr>
                                        <a:rPr lang="en-US" altLang="ja-JP" i="1">
                                          <a:latin typeface="Cambria Math" panose="02040503050406030204" pitchFamily="18" charset="0"/>
                                        </a:rPr>
                                      </m:ctrlPr>
                                    </m:sSubPr>
                                    <m:e>
                                      <m:r>
                                        <a:rPr lang="en-US" altLang="ja-JP" b="1">
                                          <a:latin typeface="Cambria Math" panose="02040503050406030204" pitchFamily="18" charset="0"/>
                                        </a:rPr>
                                        <m:t>𝐳</m:t>
                                      </m:r>
                                    </m:e>
                                    <m:sub>
                                      <m:r>
                                        <a:rPr lang="en-US" altLang="ja-JP" i="1">
                                          <a:latin typeface="Cambria Math" panose="02040503050406030204" pitchFamily="18" charset="0"/>
                                        </a:rPr>
                                        <m:t>𝑙</m:t>
                                      </m:r>
                                    </m:sub>
                                  </m:sSub>
                                  <m:r>
                                    <a:rPr lang="en-US" altLang="ja-JP" i="1">
                                      <a:latin typeface="Cambria Math" panose="02040503050406030204" pitchFamily="18" charset="0"/>
                                      <a:ea typeface="Cambria Math" panose="02040503050406030204" pitchFamily="18" charset="0"/>
                                    </a:rPr>
                                    <m:t>⊙</m:t>
                                  </m:r>
                                  <m:sSub>
                                    <m:sSubPr>
                                      <m:ctrlPr>
                                        <a:rPr lang="en-US" altLang="ja-JP" i="1">
                                          <a:latin typeface="Cambria Math" panose="02040503050406030204" pitchFamily="18" charset="0"/>
                                          <a:ea typeface="Cambria Math" panose="02040503050406030204" pitchFamily="18" charset="0"/>
                                        </a:rPr>
                                      </m:ctrlPr>
                                    </m:sSubPr>
                                    <m:e>
                                      <m:r>
                                        <a:rPr lang="en-US" altLang="ja-JP" b="1">
                                          <a:latin typeface="Cambria Math" panose="02040503050406030204" pitchFamily="18" charset="0"/>
                                          <a:ea typeface="Cambria Math" panose="02040503050406030204" pitchFamily="18" charset="0"/>
                                        </a:rPr>
                                        <m:t>𝐳</m:t>
                                      </m:r>
                                    </m:e>
                                    <m:sub>
                                      <m:r>
                                        <a:rPr lang="en-US" altLang="ja-JP" i="1">
                                          <a:latin typeface="Cambria Math" panose="02040503050406030204" pitchFamily="18" charset="0"/>
                                          <a:ea typeface="Cambria Math" panose="02040503050406030204" pitchFamily="18" charset="0"/>
                                        </a:rPr>
                                        <m:t>𝑙</m:t>
                                      </m:r>
                                    </m:sub>
                                  </m:sSub>
                                </m:e>
                              </m:nary>
                            </m:e>
                          </m:d>
                          <m:r>
                            <a:rPr lang="en-US" altLang="ja-JP" i="1">
                              <a:latin typeface="Cambria Math" panose="02040503050406030204" pitchFamily="18" charset="0"/>
                              <a:ea typeface="Cambria Math" panose="02040503050406030204" pitchFamily="18" charset="0"/>
                            </a:rPr>
                            <m:t>#</m:t>
                          </m:r>
                        </m:e>
                      </m:eqArr>
                    </m:oMath>
                  </m:oMathPara>
                </a14:m>
                <a:endParaRPr lang="en-US" altLang="ja-JP" b="0" dirty="0">
                  <a:ea typeface="Cambria Math" panose="02040503050406030204" pitchFamily="18" charset="0"/>
                </a:endParaRPr>
              </a:p>
              <a:p>
                <a:pPr marL="0" indent="0">
                  <a:buNone/>
                </a:pPr>
                <a:endParaRPr lang="en-US" altLang="ja-JP" dirty="0"/>
              </a:p>
              <a:p>
                <a:pPr marL="0" indent="0">
                  <a:buNone/>
                </a:pPr>
                <a:endParaRPr lang="en-US" altLang="ja-JP" b="1" dirty="0"/>
              </a:p>
            </p:txBody>
          </p:sp>
        </mc:Choice>
        <mc:Fallback xmlns="">
          <p:sp>
            <p:nvSpPr>
              <p:cNvPr id="3" name="コンテンツ プレースホルダー 2">
                <a:extLst>
                  <a:ext uri="{FF2B5EF4-FFF2-40B4-BE49-F238E27FC236}">
                    <a16:creationId xmlns:a16="http://schemas.microsoft.com/office/drawing/2014/main" id="{52DD7415-7627-42E3-BDA6-0C7DA21E12F9}"/>
                  </a:ext>
                </a:extLst>
              </p:cNvPr>
              <p:cNvSpPr>
                <a:spLocks noGrp="1" noRot="1" noChangeAspect="1" noMove="1" noResize="1" noEditPoints="1" noAdjustHandles="1" noChangeArrowheads="1" noChangeShapeType="1" noTextEdit="1"/>
              </p:cNvSpPr>
              <p:nvPr>
                <p:ph idx="1"/>
              </p:nvPr>
            </p:nvSpPr>
            <p:spPr>
              <a:xfrm>
                <a:off x="838199" y="1825625"/>
                <a:ext cx="11017469" cy="4667250"/>
              </a:xfrm>
              <a:blipFill>
                <a:blip r:embed="rId3"/>
                <a:stretch>
                  <a:fillRect l="-1106" t="-2089"/>
                </a:stretch>
              </a:blipFill>
            </p:spPr>
            <p:txBody>
              <a:bodyPr/>
              <a:lstStyle/>
              <a:p>
                <a:r>
                  <a:rPr lang="ja-JP" altLang="en-US">
                    <a:noFill/>
                  </a:rPr>
                  <a:t> </a:t>
                </a:r>
              </a:p>
            </p:txBody>
          </p:sp>
        </mc:Fallback>
      </mc:AlternateContent>
      <p:sp>
        <p:nvSpPr>
          <p:cNvPr id="5" name="スライド番号プレースホルダー 4">
            <a:extLst>
              <a:ext uri="{FF2B5EF4-FFF2-40B4-BE49-F238E27FC236}">
                <a16:creationId xmlns:a16="http://schemas.microsoft.com/office/drawing/2014/main" id="{3DDA1179-5159-47CB-A441-B97C16CAAADE}"/>
              </a:ext>
            </a:extLst>
          </p:cNvPr>
          <p:cNvSpPr>
            <a:spLocks noGrp="1"/>
          </p:cNvSpPr>
          <p:nvPr>
            <p:ph type="sldNum" sz="quarter" idx="12"/>
          </p:nvPr>
        </p:nvSpPr>
        <p:spPr/>
        <p:txBody>
          <a:bodyPr/>
          <a:lstStyle/>
          <a:p>
            <a:r>
              <a:rPr kumimoji="1" lang="en-US" altLang="ja-JP" dirty="0"/>
              <a:t>10</a:t>
            </a:r>
            <a:endParaRPr kumimoji="1" lang="ja-JP" altLang="en-US" dirty="0"/>
          </a:p>
        </p:txBody>
      </p:sp>
      <p:sp>
        <p:nvSpPr>
          <p:cNvPr id="6" name="テキスト ボックス 5">
            <a:extLst>
              <a:ext uri="{FF2B5EF4-FFF2-40B4-BE49-F238E27FC236}">
                <a16:creationId xmlns:a16="http://schemas.microsoft.com/office/drawing/2014/main" id="{314795C9-ECC0-49AA-8624-0D1D084B6613}"/>
              </a:ext>
            </a:extLst>
          </p:cNvPr>
          <p:cNvSpPr txBox="1"/>
          <p:nvPr/>
        </p:nvSpPr>
        <p:spPr>
          <a:xfrm>
            <a:off x="10625819" y="2738120"/>
            <a:ext cx="877830" cy="596253"/>
          </a:xfrm>
          <a:prstGeom prst="rect">
            <a:avLst/>
          </a:prstGeom>
          <a:solidFill>
            <a:srgbClr val="E4E4E4"/>
          </a:solidFill>
        </p:spPr>
        <p:txBody>
          <a:bodyPr wrap="square" rtlCol="0">
            <a:spAutoFit/>
          </a:bodyPr>
          <a:lstStyle/>
          <a:p>
            <a:pPr>
              <a:lnSpc>
                <a:spcPct val="150000"/>
              </a:lnSpc>
            </a:pPr>
            <a:r>
              <a:rPr kumimoji="1" lang="en-US" altLang="ja-JP" sz="2400" dirty="0">
                <a:latin typeface="UD デジタル 教科書体 NK-R" panose="02020400000000000000" pitchFamily="18" charset="-128"/>
                <a:ea typeface="UD デジタル 教科書体 NK-R" panose="02020400000000000000" pitchFamily="18" charset="-128"/>
              </a:rPr>
              <a:t>(6)</a:t>
            </a:r>
            <a:endParaRPr kumimoji="1" lang="ja-JP" altLang="en-US" sz="2400" dirty="0">
              <a:latin typeface="UD デジタル 教科書体 NK-R" panose="02020400000000000000" pitchFamily="18" charset="-128"/>
              <a:ea typeface="UD デジタル 教科書体 NK-R" panose="02020400000000000000" pitchFamily="18" charset="-128"/>
            </a:endParaRPr>
          </a:p>
        </p:txBody>
      </p:sp>
      <p:grpSp>
        <p:nvGrpSpPr>
          <p:cNvPr id="11" name="グループ化 10">
            <a:extLst>
              <a:ext uri="{FF2B5EF4-FFF2-40B4-BE49-F238E27FC236}">
                <a16:creationId xmlns:a16="http://schemas.microsoft.com/office/drawing/2014/main" id="{2BB191B1-323D-4E61-91E1-3635605C7091}"/>
              </a:ext>
            </a:extLst>
          </p:cNvPr>
          <p:cNvGrpSpPr/>
          <p:nvPr/>
        </p:nvGrpSpPr>
        <p:grpSpPr>
          <a:xfrm>
            <a:off x="1142999" y="4064587"/>
            <a:ext cx="9930028" cy="1837865"/>
            <a:chOff x="838199" y="4064587"/>
            <a:chExt cx="9930028" cy="1837865"/>
          </a:xfrm>
        </p:grpSpPr>
        <mc:AlternateContent xmlns:mc="http://schemas.openxmlformats.org/markup-compatibility/2006" xmlns:a14="http://schemas.microsoft.com/office/drawing/2010/main">
          <mc:Choice Requires="a14">
            <p:sp>
              <p:nvSpPr>
                <p:cNvPr id="83" name="テキスト ボックス 82">
                  <a:extLst>
                    <a:ext uri="{FF2B5EF4-FFF2-40B4-BE49-F238E27FC236}">
                      <a16:creationId xmlns:a16="http://schemas.microsoft.com/office/drawing/2014/main" id="{E98E051A-8F0B-4BCB-A259-0A28BDB73632}"/>
                    </a:ext>
                  </a:extLst>
                </p:cNvPr>
                <p:cNvSpPr txBox="1"/>
                <p:nvPr/>
              </p:nvSpPr>
              <p:spPr>
                <a:xfrm>
                  <a:off x="6993239" y="4608869"/>
                  <a:ext cx="708095" cy="584775"/>
                </a:xfrm>
                <a:prstGeom prst="rect">
                  <a:avLst/>
                </a:prstGeom>
                <a:noFill/>
                <a:effectLst>
                  <a:softEdge rad="63500"/>
                </a:effectLst>
              </p:spPr>
              <p:txBody>
                <a:bodyPr wrap="square" anchor="ctr">
                  <a:spAutoFit/>
                </a:bodyPr>
                <a:lstStyle/>
                <a:p>
                  <a:pPr/>
                  <a14:m>
                    <m:oMathPara xmlns:m="http://schemas.openxmlformats.org/officeDocument/2006/math">
                      <m:oMathParaPr>
                        <m:jc m:val="centerGroup"/>
                      </m:oMathParaPr>
                      <m:oMath xmlns:m="http://schemas.openxmlformats.org/officeDocument/2006/math">
                        <m:r>
                          <a:rPr lang="en-US" altLang="ja-JP" sz="3200" i="1" smtClean="0">
                            <a:solidFill>
                              <a:schemeClr val="tx1">
                                <a:lumMod val="75000"/>
                                <a:lumOff val="25000"/>
                              </a:schemeClr>
                            </a:solidFill>
                            <a:latin typeface="Cambria Math" panose="02040503050406030204" pitchFamily="18" charset="0"/>
                            <a:ea typeface="Cambria Math" panose="02040503050406030204" pitchFamily="18" charset="0"/>
                          </a:rPr>
                          <m:t>…</m:t>
                        </m:r>
                      </m:oMath>
                    </m:oMathPara>
                  </a14:m>
                  <a:endParaRPr lang="ja-JP" altLang="en-US" dirty="0">
                    <a:solidFill>
                      <a:schemeClr val="tx1">
                        <a:lumMod val="75000"/>
                        <a:lumOff val="25000"/>
                      </a:schemeClr>
                    </a:solidFill>
                  </a:endParaRPr>
                </a:p>
              </p:txBody>
            </p:sp>
          </mc:Choice>
          <mc:Fallback xmlns="">
            <p:sp>
              <p:nvSpPr>
                <p:cNvPr id="83" name="テキスト ボックス 82">
                  <a:extLst>
                    <a:ext uri="{FF2B5EF4-FFF2-40B4-BE49-F238E27FC236}">
                      <a16:creationId xmlns:a16="http://schemas.microsoft.com/office/drawing/2014/main" id="{E98E051A-8F0B-4BCB-A259-0A28BDB73632}"/>
                    </a:ext>
                  </a:extLst>
                </p:cNvPr>
                <p:cNvSpPr txBox="1">
                  <a:spLocks noRot="1" noChangeAspect="1" noMove="1" noResize="1" noEditPoints="1" noAdjustHandles="1" noChangeArrowheads="1" noChangeShapeType="1" noTextEdit="1"/>
                </p:cNvSpPr>
                <p:nvPr/>
              </p:nvSpPr>
              <p:spPr>
                <a:xfrm>
                  <a:off x="6993239" y="4608869"/>
                  <a:ext cx="708095" cy="584775"/>
                </a:xfrm>
                <a:prstGeom prst="rect">
                  <a:avLst/>
                </a:prstGeom>
                <a:blipFill>
                  <a:blip r:embed="rId4"/>
                  <a:stretch>
                    <a:fillRect/>
                  </a:stretch>
                </a:blipFill>
                <a:effectLst>
                  <a:softEdge rad="63500"/>
                </a:effectLst>
              </p:spPr>
              <p:txBody>
                <a:bodyPr/>
                <a:lstStyle/>
                <a:p>
                  <a:r>
                    <a:rPr lang="ja-JP" altLang="en-US">
                      <a:noFill/>
                    </a:rPr>
                    <a:t> </a:t>
                  </a:r>
                </a:p>
              </p:txBody>
            </p:sp>
          </mc:Fallback>
        </mc:AlternateContent>
        <p:grpSp>
          <p:nvGrpSpPr>
            <p:cNvPr id="9" name="グループ化 8">
              <a:extLst>
                <a:ext uri="{FF2B5EF4-FFF2-40B4-BE49-F238E27FC236}">
                  <a16:creationId xmlns:a16="http://schemas.microsoft.com/office/drawing/2014/main" id="{358F2039-95E9-486F-AE05-DBF1BD06FE9C}"/>
                </a:ext>
              </a:extLst>
            </p:cNvPr>
            <p:cNvGrpSpPr/>
            <p:nvPr/>
          </p:nvGrpSpPr>
          <p:grpSpPr>
            <a:xfrm>
              <a:off x="838199" y="4064587"/>
              <a:ext cx="3095714" cy="1798575"/>
              <a:chOff x="838199" y="4064587"/>
              <a:chExt cx="3095714" cy="1798575"/>
            </a:xfrm>
          </p:grpSpPr>
          <p:grpSp>
            <p:nvGrpSpPr>
              <p:cNvPr id="154" name="グループ化 153">
                <a:extLst>
                  <a:ext uri="{FF2B5EF4-FFF2-40B4-BE49-F238E27FC236}">
                    <a16:creationId xmlns:a16="http://schemas.microsoft.com/office/drawing/2014/main" id="{E3037D9C-53E4-4ACA-A434-BE7AC6A30E15}"/>
                  </a:ext>
                </a:extLst>
              </p:cNvPr>
              <p:cNvGrpSpPr/>
              <p:nvPr/>
            </p:nvGrpSpPr>
            <p:grpSpPr>
              <a:xfrm>
                <a:off x="1816433" y="4303058"/>
                <a:ext cx="1409385" cy="1110692"/>
                <a:chOff x="2322930" y="3353671"/>
                <a:chExt cx="2319094" cy="1827605"/>
              </a:xfrm>
            </p:grpSpPr>
            <p:grpSp>
              <p:nvGrpSpPr>
                <p:cNvPr id="171" name="グループ化 170">
                  <a:extLst>
                    <a:ext uri="{FF2B5EF4-FFF2-40B4-BE49-F238E27FC236}">
                      <a16:creationId xmlns:a16="http://schemas.microsoft.com/office/drawing/2014/main" id="{6F7E58CC-5458-4FF6-B006-FC17F142E2C9}"/>
                    </a:ext>
                  </a:extLst>
                </p:cNvPr>
                <p:cNvGrpSpPr/>
                <p:nvPr/>
              </p:nvGrpSpPr>
              <p:grpSpPr>
                <a:xfrm>
                  <a:off x="2652046" y="3451928"/>
                  <a:ext cx="1700918" cy="1676670"/>
                  <a:chOff x="1138989" y="3968713"/>
                  <a:chExt cx="1700918" cy="1676670"/>
                </a:xfrm>
              </p:grpSpPr>
              <p:sp>
                <p:nvSpPr>
                  <p:cNvPr id="173" name="正方形/長方形 172">
                    <a:extLst>
                      <a:ext uri="{FF2B5EF4-FFF2-40B4-BE49-F238E27FC236}">
                        <a16:creationId xmlns:a16="http://schemas.microsoft.com/office/drawing/2014/main" id="{C2124834-70D2-41E3-B3C9-E9E55359CEA7}"/>
                      </a:ext>
                    </a:extLst>
                  </p:cNvPr>
                  <p:cNvSpPr/>
                  <p:nvPr/>
                </p:nvSpPr>
                <p:spPr>
                  <a:xfrm>
                    <a:off x="1138989" y="3974039"/>
                    <a:ext cx="319421" cy="319421"/>
                  </a:xfrm>
                  <a:prstGeom prst="rect">
                    <a:avLst/>
                  </a:prstGeom>
                  <a:solidFill>
                    <a:schemeClr val="accent6">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4" name="正方形/長方形 173">
                    <a:extLst>
                      <a:ext uri="{FF2B5EF4-FFF2-40B4-BE49-F238E27FC236}">
                        <a16:creationId xmlns:a16="http://schemas.microsoft.com/office/drawing/2014/main" id="{957940F5-90E3-4C9C-AF5F-E3A94DAD457D}"/>
                      </a:ext>
                    </a:extLst>
                  </p:cNvPr>
                  <p:cNvSpPr/>
                  <p:nvPr/>
                </p:nvSpPr>
                <p:spPr>
                  <a:xfrm>
                    <a:off x="1599488" y="3974039"/>
                    <a:ext cx="319421" cy="319421"/>
                  </a:xfrm>
                  <a:prstGeom prst="rect">
                    <a:avLst/>
                  </a:prstGeom>
                  <a:solidFill>
                    <a:schemeClr val="accent6">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75" name="正方形/長方形 174">
                    <a:extLst>
                      <a:ext uri="{FF2B5EF4-FFF2-40B4-BE49-F238E27FC236}">
                        <a16:creationId xmlns:a16="http://schemas.microsoft.com/office/drawing/2014/main" id="{0A207F5A-BA96-4814-83C9-D8D1A59606AE}"/>
                      </a:ext>
                    </a:extLst>
                  </p:cNvPr>
                  <p:cNvSpPr/>
                  <p:nvPr/>
                </p:nvSpPr>
                <p:spPr>
                  <a:xfrm>
                    <a:off x="2059987" y="3968714"/>
                    <a:ext cx="319421" cy="319421"/>
                  </a:xfrm>
                  <a:prstGeom prst="rect">
                    <a:avLst/>
                  </a:prstGeom>
                  <a:solidFill>
                    <a:schemeClr val="accent6">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6" name="正方形/長方形 175">
                    <a:extLst>
                      <a:ext uri="{FF2B5EF4-FFF2-40B4-BE49-F238E27FC236}">
                        <a16:creationId xmlns:a16="http://schemas.microsoft.com/office/drawing/2014/main" id="{13DA4001-7E53-476E-9B8B-3A5439BE3737}"/>
                      </a:ext>
                    </a:extLst>
                  </p:cNvPr>
                  <p:cNvSpPr/>
                  <p:nvPr/>
                </p:nvSpPr>
                <p:spPr>
                  <a:xfrm>
                    <a:off x="2520486" y="3968713"/>
                    <a:ext cx="319421" cy="319421"/>
                  </a:xfrm>
                  <a:prstGeom prst="rect">
                    <a:avLst/>
                  </a:prstGeom>
                  <a:solidFill>
                    <a:schemeClr val="accent6">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7" name="正方形/長方形 176">
                    <a:extLst>
                      <a:ext uri="{FF2B5EF4-FFF2-40B4-BE49-F238E27FC236}">
                        <a16:creationId xmlns:a16="http://schemas.microsoft.com/office/drawing/2014/main" id="{399FEFD0-EBD7-48B0-8C3C-12B03AD6A621}"/>
                      </a:ext>
                    </a:extLst>
                  </p:cNvPr>
                  <p:cNvSpPr/>
                  <p:nvPr/>
                </p:nvSpPr>
                <p:spPr>
                  <a:xfrm>
                    <a:off x="1138989" y="4424680"/>
                    <a:ext cx="319421" cy="319421"/>
                  </a:xfrm>
                  <a:prstGeom prst="rect">
                    <a:avLst/>
                  </a:prstGeom>
                  <a:solidFill>
                    <a:schemeClr val="accent5">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8" name="正方形/長方形 177">
                    <a:extLst>
                      <a:ext uri="{FF2B5EF4-FFF2-40B4-BE49-F238E27FC236}">
                        <a16:creationId xmlns:a16="http://schemas.microsoft.com/office/drawing/2014/main" id="{4DCEF050-1EB4-4817-BB21-5BFCE9C7BD6C}"/>
                      </a:ext>
                    </a:extLst>
                  </p:cNvPr>
                  <p:cNvSpPr/>
                  <p:nvPr/>
                </p:nvSpPr>
                <p:spPr>
                  <a:xfrm>
                    <a:off x="1599488" y="4424680"/>
                    <a:ext cx="319421" cy="319421"/>
                  </a:xfrm>
                  <a:prstGeom prst="rect">
                    <a:avLst/>
                  </a:prstGeom>
                  <a:solidFill>
                    <a:schemeClr val="accent5">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9" name="正方形/長方形 178">
                    <a:extLst>
                      <a:ext uri="{FF2B5EF4-FFF2-40B4-BE49-F238E27FC236}">
                        <a16:creationId xmlns:a16="http://schemas.microsoft.com/office/drawing/2014/main" id="{F894E185-167D-406E-A201-A3F6C51542CE}"/>
                      </a:ext>
                    </a:extLst>
                  </p:cNvPr>
                  <p:cNvSpPr/>
                  <p:nvPr/>
                </p:nvSpPr>
                <p:spPr>
                  <a:xfrm>
                    <a:off x="2059987" y="4419355"/>
                    <a:ext cx="319421" cy="319421"/>
                  </a:xfrm>
                  <a:prstGeom prst="rect">
                    <a:avLst/>
                  </a:prstGeom>
                  <a:solidFill>
                    <a:schemeClr val="accent5">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0" name="正方形/長方形 179">
                    <a:extLst>
                      <a:ext uri="{FF2B5EF4-FFF2-40B4-BE49-F238E27FC236}">
                        <a16:creationId xmlns:a16="http://schemas.microsoft.com/office/drawing/2014/main" id="{E242BE6A-BD79-42D2-8E08-0B6EA2C74315}"/>
                      </a:ext>
                    </a:extLst>
                  </p:cNvPr>
                  <p:cNvSpPr/>
                  <p:nvPr/>
                </p:nvSpPr>
                <p:spPr>
                  <a:xfrm>
                    <a:off x="2520486" y="4419354"/>
                    <a:ext cx="319421" cy="319421"/>
                  </a:xfrm>
                  <a:prstGeom prst="rect">
                    <a:avLst/>
                  </a:prstGeom>
                  <a:solidFill>
                    <a:schemeClr val="accent5">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1" name="正方形/長方形 180">
                    <a:extLst>
                      <a:ext uri="{FF2B5EF4-FFF2-40B4-BE49-F238E27FC236}">
                        <a16:creationId xmlns:a16="http://schemas.microsoft.com/office/drawing/2014/main" id="{0537418C-C187-4614-BE59-A1987D0C457F}"/>
                      </a:ext>
                    </a:extLst>
                  </p:cNvPr>
                  <p:cNvSpPr/>
                  <p:nvPr/>
                </p:nvSpPr>
                <p:spPr>
                  <a:xfrm>
                    <a:off x="1138989" y="4875321"/>
                    <a:ext cx="319421" cy="319421"/>
                  </a:xfrm>
                  <a:prstGeom prst="rect">
                    <a:avLst/>
                  </a:prstGeom>
                  <a:solidFill>
                    <a:schemeClr val="accent4">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2" name="正方形/長方形 181">
                    <a:extLst>
                      <a:ext uri="{FF2B5EF4-FFF2-40B4-BE49-F238E27FC236}">
                        <a16:creationId xmlns:a16="http://schemas.microsoft.com/office/drawing/2014/main" id="{0BEF5F5E-8280-429F-88CF-43F75BE891AC}"/>
                      </a:ext>
                    </a:extLst>
                  </p:cNvPr>
                  <p:cNvSpPr/>
                  <p:nvPr/>
                </p:nvSpPr>
                <p:spPr>
                  <a:xfrm>
                    <a:off x="1599488" y="4875321"/>
                    <a:ext cx="319421" cy="319421"/>
                  </a:xfrm>
                  <a:prstGeom prst="rect">
                    <a:avLst/>
                  </a:prstGeom>
                  <a:solidFill>
                    <a:schemeClr val="accent4">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3" name="正方形/長方形 182">
                    <a:extLst>
                      <a:ext uri="{FF2B5EF4-FFF2-40B4-BE49-F238E27FC236}">
                        <a16:creationId xmlns:a16="http://schemas.microsoft.com/office/drawing/2014/main" id="{C87E5193-4C44-4530-BB73-03A61B53E8B7}"/>
                      </a:ext>
                    </a:extLst>
                  </p:cNvPr>
                  <p:cNvSpPr/>
                  <p:nvPr/>
                </p:nvSpPr>
                <p:spPr>
                  <a:xfrm>
                    <a:off x="2059987" y="4869996"/>
                    <a:ext cx="319421" cy="319421"/>
                  </a:xfrm>
                  <a:prstGeom prst="rect">
                    <a:avLst/>
                  </a:prstGeom>
                  <a:solidFill>
                    <a:schemeClr val="accent4">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4" name="正方形/長方形 183">
                    <a:extLst>
                      <a:ext uri="{FF2B5EF4-FFF2-40B4-BE49-F238E27FC236}">
                        <a16:creationId xmlns:a16="http://schemas.microsoft.com/office/drawing/2014/main" id="{6A1373E3-2328-4D14-BADE-508B6726A5DE}"/>
                      </a:ext>
                    </a:extLst>
                  </p:cNvPr>
                  <p:cNvSpPr/>
                  <p:nvPr/>
                </p:nvSpPr>
                <p:spPr>
                  <a:xfrm>
                    <a:off x="2520486" y="4869995"/>
                    <a:ext cx="319421" cy="319421"/>
                  </a:xfrm>
                  <a:prstGeom prst="rect">
                    <a:avLst/>
                  </a:prstGeom>
                  <a:solidFill>
                    <a:schemeClr val="accent4">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5" name="正方形/長方形 184">
                    <a:extLst>
                      <a:ext uri="{FF2B5EF4-FFF2-40B4-BE49-F238E27FC236}">
                        <a16:creationId xmlns:a16="http://schemas.microsoft.com/office/drawing/2014/main" id="{07E7FB13-0B9A-4E5A-B533-FB0321EFD788}"/>
                      </a:ext>
                    </a:extLst>
                  </p:cNvPr>
                  <p:cNvSpPr/>
                  <p:nvPr/>
                </p:nvSpPr>
                <p:spPr>
                  <a:xfrm>
                    <a:off x="1138989" y="5325962"/>
                    <a:ext cx="319421" cy="319421"/>
                  </a:xfrm>
                  <a:prstGeom prst="rect">
                    <a:avLst/>
                  </a:prstGeom>
                  <a:solidFill>
                    <a:schemeClr val="accent2">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6" name="正方形/長方形 185">
                    <a:extLst>
                      <a:ext uri="{FF2B5EF4-FFF2-40B4-BE49-F238E27FC236}">
                        <a16:creationId xmlns:a16="http://schemas.microsoft.com/office/drawing/2014/main" id="{65778DF0-477D-4F62-9B5C-36DBA82E937B}"/>
                      </a:ext>
                    </a:extLst>
                  </p:cNvPr>
                  <p:cNvSpPr/>
                  <p:nvPr/>
                </p:nvSpPr>
                <p:spPr>
                  <a:xfrm>
                    <a:off x="1599488" y="5325962"/>
                    <a:ext cx="319421" cy="319421"/>
                  </a:xfrm>
                  <a:prstGeom prst="rect">
                    <a:avLst/>
                  </a:prstGeom>
                  <a:solidFill>
                    <a:schemeClr val="accent2">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7" name="正方形/長方形 186">
                    <a:extLst>
                      <a:ext uri="{FF2B5EF4-FFF2-40B4-BE49-F238E27FC236}">
                        <a16:creationId xmlns:a16="http://schemas.microsoft.com/office/drawing/2014/main" id="{27B5DA14-3A26-425E-9379-EF3C1800E6B2}"/>
                      </a:ext>
                    </a:extLst>
                  </p:cNvPr>
                  <p:cNvSpPr/>
                  <p:nvPr/>
                </p:nvSpPr>
                <p:spPr>
                  <a:xfrm>
                    <a:off x="2059987" y="5320637"/>
                    <a:ext cx="319421" cy="319421"/>
                  </a:xfrm>
                  <a:prstGeom prst="rect">
                    <a:avLst/>
                  </a:prstGeom>
                  <a:solidFill>
                    <a:schemeClr val="accent2">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8" name="正方形/長方形 187">
                    <a:extLst>
                      <a:ext uri="{FF2B5EF4-FFF2-40B4-BE49-F238E27FC236}">
                        <a16:creationId xmlns:a16="http://schemas.microsoft.com/office/drawing/2014/main" id="{73D4577F-F962-497C-9DB2-8350C37DCCEA}"/>
                      </a:ext>
                    </a:extLst>
                  </p:cNvPr>
                  <p:cNvSpPr/>
                  <p:nvPr/>
                </p:nvSpPr>
                <p:spPr>
                  <a:xfrm>
                    <a:off x="2520486" y="5320636"/>
                    <a:ext cx="319421" cy="319421"/>
                  </a:xfrm>
                  <a:prstGeom prst="rect">
                    <a:avLst/>
                  </a:prstGeom>
                  <a:solidFill>
                    <a:schemeClr val="accent2">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72" name="大かっこ 171">
                  <a:extLst>
                    <a:ext uri="{FF2B5EF4-FFF2-40B4-BE49-F238E27FC236}">
                      <a16:creationId xmlns:a16="http://schemas.microsoft.com/office/drawing/2014/main" id="{913BBE6F-3476-4E96-A6CD-F4646BE1E595}"/>
                    </a:ext>
                  </a:extLst>
                </p:cNvPr>
                <p:cNvSpPr/>
                <p:nvPr/>
              </p:nvSpPr>
              <p:spPr>
                <a:xfrm>
                  <a:off x="2322930" y="3353671"/>
                  <a:ext cx="2319094" cy="1827605"/>
                </a:xfrm>
                <a:prstGeom prst="bracketPair">
                  <a:avLst/>
                </a:prstGeom>
                <a:ln w="571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mc:AlternateContent xmlns:mc="http://schemas.openxmlformats.org/markup-compatibility/2006" xmlns:a14="http://schemas.microsoft.com/office/drawing/2010/main">
            <mc:Choice Requires="a14">
              <p:sp>
                <p:nvSpPr>
                  <p:cNvPr id="155" name="テキスト ボックス 154">
                    <a:extLst>
                      <a:ext uri="{FF2B5EF4-FFF2-40B4-BE49-F238E27FC236}">
                        <a16:creationId xmlns:a16="http://schemas.microsoft.com/office/drawing/2014/main" id="{BB31A90B-F461-4416-A93E-37EFD48172EE}"/>
                      </a:ext>
                    </a:extLst>
                  </p:cNvPr>
                  <p:cNvSpPr txBox="1"/>
                  <p:nvPr/>
                </p:nvSpPr>
                <p:spPr>
                  <a:xfrm>
                    <a:off x="2195401" y="5384497"/>
                    <a:ext cx="708095" cy="461665"/>
                  </a:xfrm>
                  <a:prstGeom prst="rect">
                    <a:avLst/>
                  </a:prstGeom>
                  <a:noFill/>
                  <a:effectLst>
                    <a:softEdge rad="63500"/>
                  </a:effectLst>
                </p:spPr>
                <p:txBody>
                  <a:bodyPr wrap="square" anchor="ctr">
                    <a:spAutoFit/>
                  </a:bodyPr>
                  <a:lstStyle/>
                  <a:p>
                    <a:pPr/>
                    <a14:m>
                      <m:oMathPara xmlns:m="http://schemas.openxmlformats.org/officeDocument/2006/math">
                        <m:oMathParaPr>
                          <m:jc m:val="centerGroup"/>
                        </m:oMathParaPr>
                        <m:oMath xmlns:m="http://schemas.openxmlformats.org/officeDocument/2006/math">
                          <m:sSub>
                            <m:sSubPr>
                              <m:ctrlPr>
                                <a:rPr lang="en-US" altLang="ja-JP" sz="2400" i="1" smtClean="0">
                                  <a:solidFill>
                                    <a:schemeClr val="tx1">
                                      <a:lumMod val="75000"/>
                                      <a:lumOff val="25000"/>
                                    </a:schemeClr>
                                  </a:solidFill>
                                  <a:latin typeface="Cambria Math" panose="02040503050406030204" pitchFamily="18" charset="0"/>
                                  <a:ea typeface="Cambria Math" panose="02040503050406030204" pitchFamily="18" charset="0"/>
                                </a:rPr>
                              </m:ctrlPr>
                            </m:sSubPr>
                            <m:e>
                              <m:r>
                                <a:rPr lang="en-US" altLang="ja-JP" sz="2400" b="1" i="0" smtClean="0">
                                  <a:solidFill>
                                    <a:schemeClr val="tx1">
                                      <a:lumMod val="75000"/>
                                      <a:lumOff val="25000"/>
                                    </a:schemeClr>
                                  </a:solidFill>
                                  <a:latin typeface="Cambria Math" panose="02040503050406030204" pitchFamily="18" charset="0"/>
                                  <a:ea typeface="Cambria Math" panose="02040503050406030204" pitchFamily="18" charset="0"/>
                                </a:rPr>
                                <m:t>𝐇</m:t>
                              </m:r>
                            </m:e>
                            <m:sub>
                              <m:r>
                                <a:rPr lang="en-US" altLang="ja-JP" sz="2400" i="1">
                                  <a:solidFill>
                                    <a:schemeClr val="tx1">
                                      <a:lumMod val="75000"/>
                                      <a:lumOff val="25000"/>
                                    </a:schemeClr>
                                  </a:solidFill>
                                  <a:latin typeface="Cambria Math" panose="02040503050406030204" pitchFamily="18" charset="0"/>
                                  <a:ea typeface="Cambria Math" panose="02040503050406030204" pitchFamily="18" charset="0"/>
                                </a:rPr>
                                <m:t>𝑘</m:t>
                              </m:r>
                            </m:sub>
                          </m:sSub>
                        </m:oMath>
                      </m:oMathPara>
                    </a14:m>
                    <a:endParaRPr lang="ja-JP" altLang="en-US" sz="1400" dirty="0">
                      <a:solidFill>
                        <a:schemeClr val="tx1">
                          <a:lumMod val="75000"/>
                          <a:lumOff val="25000"/>
                        </a:schemeClr>
                      </a:solidFill>
                    </a:endParaRPr>
                  </a:p>
                </p:txBody>
              </p:sp>
            </mc:Choice>
            <mc:Fallback xmlns="">
              <p:sp>
                <p:nvSpPr>
                  <p:cNvPr id="155" name="テキスト ボックス 154">
                    <a:extLst>
                      <a:ext uri="{FF2B5EF4-FFF2-40B4-BE49-F238E27FC236}">
                        <a16:creationId xmlns:a16="http://schemas.microsoft.com/office/drawing/2014/main" id="{BB31A90B-F461-4416-A93E-37EFD48172EE}"/>
                      </a:ext>
                    </a:extLst>
                  </p:cNvPr>
                  <p:cNvSpPr txBox="1">
                    <a:spLocks noRot="1" noChangeAspect="1" noMove="1" noResize="1" noEditPoints="1" noAdjustHandles="1" noChangeArrowheads="1" noChangeShapeType="1" noTextEdit="1"/>
                  </p:cNvSpPr>
                  <p:nvPr/>
                </p:nvSpPr>
                <p:spPr>
                  <a:xfrm>
                    <a:off x="2195401" y="5384497"/>
                    <a:ext cx="708095" cy="461665"/>
                  </a:xfrm>
                  <a:prstGeom prst="rect">
                    <a:avLst/>
                  </a:prstGeom>
                  <a:blipFill>
                    <a:blip r:embed="rId5"/>
                    <a:stretch>
                      <a:fillRect b="-1316"/>
                    </a:stretch>
                  </a:blipFill>
                  <a:effectLst>
                    <a:softEdge rad="63500"/>
                  </a:effectLst>
                </p:spPr>
                <p:txBody>
                  <a:bodyPr/>
                  <a:lstStyle/>
                  <a:p>
                    <a:r>
                      <a:rPr lang="ja-JP" altLang="en-US">
                        <a:noFill/>
                      </a:rPr>
                      <a:t> </a:t>
                    </a:r>
                  </a:p>
                </p:txBody>
              </p:sp>
            </mc:Fallback>
          </mc:AlternateContent>
          <p:grpSp>
            <p:nvGrpSpPr>
              <p:cNvPr id="156" name="グループ化 155">
                <a:extLst>
                  <a:ext uri="{FF2B5EF4-FFF2-40B4-BE49-F238E27FC236}">
                    <a16:creationId xmlns:a16="http://schemas.microsoft.com/office/drawing/2014/main" id="{D881CF2D-DCC2-4B4E-B95E-30291503C5D6}"/>
                  </a:ext>
                </a:extLst>
              </p:cNvPr>
              <p:cNvGrpSpPr/>
              <p:nvPr/>
            </p:nvGrpSpPr>
            <p:grpSpPr>
              <a:xfrm rot="5400000">
                <a:off x="632668" y="4703477"/>
                <a:ext cx="1086397" cy="281522"/>
                <a:chOff x="4346724" y="4135172"/>
                <a:chExt cx="1374304" cy="356129"/>
              </a:xfrm>
            </p:grpSpPr>
            <p:sp>
              <p:nvSpPr>
                <p:cNvPr id="166" name="正方形/長方形 165">
                  <a:extLst>
                    <a:ext uri="{FF2B5EF4-FFF2-40B4-BE49-F238E27FC236}">
                      <a16:creationId xmlns:a16="http://schemas.microsoft.com/office/drawing/2014/main" id="{E9632E26-4020-4804-AA0E-DAAB85617817}"/>
                    </a:ext>
                  </a:extLst>
                </p:cNvPr>
                <p:cNvSpPr/>
                <p:nvPr/>
              </p:nvSpPr>
              <p:spPr>
                <a:xfrm>
                  <a:off x="4479368" y="4205172"/>
                  <a:ext cx="213992" cy="213992"/>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400" dirty="0"/>
                    <a:t>-1</a:t>
                  </a:r>
                  <a:endParaRPr kumimoji="1" lang="ja-JP" altLang="en-US" sz="400" dirty="0"/>
                </a:p>
              </p:txBody>
            </p:sp>
            <p:sp>
              <p:nvSpPr>
                <p:cNvPr id="167" name="正方形/長方形 166">
                  <a:extLst>
                    <a:ext uri="{FF2B5EF4-FFF2-40B4-BE49-F238E27FC236}">
                      <a16:creationId xmlns:a16="http://schemas.microsoft.com/office/drawing/2014/main" id="{FAF78E02-50BB-42A0-9884-30E5AE07930B}"/>
                    </a:ext>
                  </a:extLst>
                </p:cNvPr>
                <p:cNvSpPr/>
                <p:nvPr/>
              </p:nvSpPr>
              <p:spPr>
                <a:xfrm>
                  <a:off x="4782260" y="4204815"/>
                  <a:ext cx="213992" cy="213992"/>
                </a:xfrm>
                <a:prstGeom prst="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8" name="正方形/長方形 167">
                  <a:extLst>
                    <a:ext uri="{FF2B5EF4-FFF2-40B4-BE49-F238E27FC236}">
                      <a16:creationId xmlns:a16="http://schemas.microsoft.com/office/drawing/2014/main" id="{C1E7768F-9187-46D3-8C35-1C360D794590}"/>
                    </a:ext>
                  </a:extLst>
                </p:cNvPr>
                <p:cNvSpPr/>
                <p:nvPr/>
              </p:nvSpPr>
              <p:spPr>
                <a:xfrm>
                  <a:off x="5085152" y="4204815"/>
                  <a:ext cx="213992" cy="213992"/>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9" name="正方形/長方形 168">
                  <a:extLst>
                    <a:ext uri="{FF2B5EF4-FFF2-40B4-BE49-F238E27FC236}">
                      <a16:creationId xmlns:a16="http://schemas.microsoft.com/office/drawing/2014/main" id="{6F298C44-0453-4ACC-A9A4-1C94F14F0306}"/>
                    </a:ext>
                  </a:extLst>
                </p:cNvPr>
                <p:cNvSpPr/>
                <p:nvPr/>
              </p:nvSpPr>
              <p:spPr>
                <a:xfrm>
                  <a:off x="5388044" y="4204815"/>
                  <a:ext cx="213992" cy="213992"/>
                </a:xfrm>
                <a:prstGeom prst="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0" name="大かっこ 169">
                  <a:extLst>
                    <a:ext uri="{FF2B5EF4-FFF2-40B4-BE49-F238E27FC236}">
                      <a16:creationId xmlns:a16="http://schemas.microsoft.com/office/drawing/2014/main" id="{7D5C18CE-A10E-4EE6-8544-A8AB30E41D66}"/>
                    </a:ext>
                  </a:extLst>
                </p:cNvPr>
                <p:cNvSpPr/>
                <p:nvPr/>
              </p:nvSpPr>
              <p:spPr>
                <a:xfrm>
                  <a:off x="4346724" y="4135172"/>
                  <a:ext cx="1374304" cy="356129"/>
                </a:xfrm>
                <a:prstGeom prst="bracketPair">
                  <a:avLst/>
                </a:prstGeom>
                <a:ln w="571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mc:AlternateContent xmlns:mc="http://schemas.openxmlformats.org/markup-compatibility/2006" xmlns:a14="http://schemas.microsoft.com/office/drawing/2010/main">
            <mc:Choice Requires="a14">
              <p:sp>
                <p:nvSpPr>
                  <p:cNvPr id="158" name="テキスト ボックス 157">
                    <a:extLst>
                      <a:ext uri="{FF2B5EF4-FFF2-40B4-BE49-F238E27FC236}">
                        <a16:creationId xmlns:a16="http://schemas.microsoft.com/office/drawing/2014/main" id="{AAB66133-4CCD-4C89-B9C8-C662A07ABDB4}"/>
                      </a:ext>
                    </a:extLst>
                  </p:cNvPr>
                  <p:cNvSpPr txBox="1"/>
                  <p:nvPr/>
                </p:nvSpPr>
                <p:spPr>
                  <a:xfrm>
                    <a:off x="3225818" y="5379970"/>
                    <a:ext cx="708095" cy="461665"/>
                  </a:xfrm>
                  <a:prstGeom prst="rect">
                    <a:avLst/>
                  </a:prstGeom>
                  <a:noFill/>
                  <a:effectLst>
                    <a:softEdge rad="63500"/>
                  </a:effectLst>
                </p:spPr>
                <p:txBody>
                  <a:bodyPr wrap="square" anchor="ctr">
                    <a:spAutoFit/>
                  </a:bodyPr>
                  <a:lstStyle/>
                  <a:p>
                    <a:pPr/>
                    <a14:m>
                      <m:oMathPara xmlns:m="http://schemas.openxmlformats.org/officeDocument/2006/math">
                        <m:oMathParaPr>
                          <m:jc m:val="centerGroup"/>
                        </m:oMathParaPr>
                        <m:oMath xmlns:m="http://schemas.openxmlformats.org/officeDocument/2006/math">
                          <m:sSub>
                            <m:sSubPr>
                              <m:ctrlPr>
                                <a:rPr lang="en-US" altLang="ja-JP" sz="2400" i="1" smtClean="0">
                                  <a:solidFill>
                                    <a:schemeClr val="tx1">
                                      <a:lumMod val="75000"/>
                                      <a:lumOff val="25000"/>
                                    </a:schemeClr>
                                  </a:solidFill>
                                  <a:latin typeface="Cambria Math" panose="02040503050406030204" pitchFamily="18" charset="0"/>
                                  <a:ea typeface="Cambria Math" panose="02040503050406030204" pitchFamily="18" charset="0"/>
                                </a:rPr>
                              </m:ctrlPr>
                            </m:sSubPr>
                            <m:e>
                              <m:r>
                                <a:rPr lang="en-US" altLang="ja-JP" sz="2400" b="1">
                                  <a:solidFill>
                                    <a:schemeClr val="tx1">
                                      <a:lumMod val="75000"/>
                                      <a:lumOff val="25000"/>
                                    </a:schemeClr>
                                  </a:solidFill>
                                  <a:latin typeface="Cambria Math" panose="02040503050406030204" pitchFamily="18" charset="0"/>
                                  <a:ea typeface="Cambria Math" panose="02040503050406030204" pitchFamily="18" charset="0"/>
                                </a:rPr>
                                <m:t>𝐳</m:t>
                              </m:r>
                            </m:e>
                            <m:sub>
                              <m:r>
                                <a:rPr lang="en-US" altLang="ja-JP" sz="2400" i="1">
                                  <a:solidFill>
                                    <a:schemeClr val="tx1">
                                      <a:lumMod val="75000"/>
                                      <a:lumOff val="25000"/>
                                    </a:schemeClr>
                                  </a:solidFill>
                                  <a:latin typeface="Cambria Math" panose="02040503050406030204" pitchFamily="18" charset="0"/>
                                  <a:ea typeface="Cambria Math" panose="02040503050406030204" pitchFamily="18" charset="0"/>
                                </a:rPr>
                                <m:t>𝑙</m:t>
                              </m:r>
                              <m:r>
                                <a:rPr lang="en-US" altLang="ja-JP" sz="2400" b="0" i="1" smtClean="0">
                                  <a:solidFill>
                                    <a:schemeClr val="tx1">
                                      <a:lumMod val="75000"/>
                                      <a:lumOff val="25000"/>
                                    </a:schemeClr>
                                  </a:solidFill>
                                  <a:latin typeface="Cambria Math" panose="02040503050406030204" pitchFamily="18" charset="0"/>
                                  <a:ea typeface="Cambria Math" panose="02040503050406030204" pitchFamily="18" charset="0"/>
                                </a:rPr>
                                <m:t>1</m:t>
                              </m:r>
                            </m:sub>
                          </m:sSub>
                        </m:oMath>
                      </m:oMathPara>
                    </a14:m>
                    <a:endParaRPr lang="ja-JP" altLang="en-US" sz="1400" dirty="0">
                      <a:solidFill>
                        <a:schemeClr val="tx1">
                          <a:lumMod val="75000"/>
                          <a:lumOff val="25000"/>
                        </a:schemeClr>
                      </a:solidFill>
                    </a:endParaRPr>
                  </a:p>
                </p:txBody>
              </p:sp>
            </mc:Choice>
            <mc:Fallback xmlns="">
              <p:sp>
                <p:nvSpPr>
                  <p:cNvPr id="158" name="テキスト ボックス 157">
                    <a:extLst>
                      <a:ext uri="{FF2B5EF4-FFF2-40B4-BE49-F238E27FC236}">
                        <a16:creationId xmlns:a16="http://schemas.microsoft.com/office/drawing/2014/main" id="{AAB66133-4CCD-4C89-B9C8-C662A07ABDB4}"/>
                      </a:ext>
                    </a:extLst>
                  </p:cNvPr>
                  <p:cNvSpPr txBox="1">
                    <a:spLocks noRot="1" noChangeAspect="1" noMove="1" noResize="1" noEditPoints="1" noAdjustHandles="1" noChangeArrowheads="1" noChangeShapeType="1" noTextEdit="1"/>
                  </p:cNvSpPr>
                  <p:nvPr/>
                </p:nvSpPr>
                <p:spPr>
                  <a:xfrm>
                    <a:off x="3225818" y="5379970"/>
                    <a:ext cx="708095" cy="461665"/>
                  </a:xfrm>
                  <a:prstGeom prst="rect">
                    <a:avLst/>
                  </a:prstGeom>
                  <a:blipFill>
                    <a:blip r:embed="rId6"/>
                    <a:stretch>
                      <a:fillRect b="-1333"/>
                    </a:stretch>
                  </a:blipFill>
                  <a:effectLst>
                    <a:softEdge rad="63500"/>
                  </a:effectLst>
                </p:spPr>
                <p:txBody>
                  <a:bodyPr/>
                  <a:lstStyle/>
                  <a:p>
                    <a:r>
                      <a:rPr lang="ja-JP" altLang="en-US">
                        <a:noFill/>
                      </a:rPr>
                      <a:t> </a:t>
                    </a:r>
                  </a:p>
                </p:txBody>
              </p:sp>
            </mc:Fallback>
          </mc:AlternateContent>
          <p:grpSp>
            <p:nvGrpSpPr>
              <p:cNvPr id="159" name="グループ化 158">
                <a:extLst>
                  <a:ext uri="{FF2B5EF4-FFF2-40B4-BE49-F238E27FC236}">
                    <a16:creationId xmlns:a16="http://schemas.microsoft.com/office/drawing/2014/main" id="{AAFBE391-37F8-48E7-80F9-C33B5676B5F3}"/>
                  </a:ext>
                </a:extLst>
              </p:cNvPr>
              <p:cNvGrpSpPr/>
              <p:nvPr/>
            </p:nvGrpSpPr>
            <p:grpSpPr>
              <a:xfrm rot="5400000">
                <a:off x="2971690" y="4717643"/>
                <a:ext cx="1086396" cy="281522"/>
                <a:chOff x="4346724" y="4135172"/>
                <a:chExt cx="1374303" cy="356129"/>
              </a:xfrm>
            </p:grpSpPr>
            <p:sp>
              <p:nvSpPr>
                <p:cNvPr id="161" name="正方形/長方形 160">
                  <a:extLst>
                    <a:ext uri="{FF2B5EF4-FFF2-40B4-BE49-F238E27FC236}">
                      <a16:creationId xmlns:a16="http://schemas.microsoft.com/office/drawing/2014/main" id="{954029D6-5E2F-4044-ACB5-28150ACA94E5}"/>
                    </a:ext>
                  </a:extLst>
                </p:cNvPr>
                <p:cNvSpPr/>
                <p:nvPr/>
              </p:nvSpPr>
              <p:spPr>
                <a:xfrm>
                  <a:off x="4479368" y="4205172"/>
                  <a:ext cx="213992" cy="213992"/>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400" dirty="0"/>
                    <a:t>-1</a:t>
                  </a:r>
                  <a:endParaRPr kumimoji="1" lang="ja-JP" altLang="en-US" sz="400" dirty="0"/>
                </a:p>
              </p:txBody>
            </p:sp>
            <p:sp>
              <p:nvSpPr>
                <p:cNvPr id="162" name="正方形/長方形 161">
                  <a:extLst>
                    <a:ext uri="{FF2B5EF4-FFF2-40B4-BE49-F238E27FC236}">
                      <a16:creationId xmlns:a16="http://schemas.microsoft.com/office/drawing/2014/main" id="{FAC08881-39CC-4D8D-87F1-C31E91341B44}"/>
                    </a:ext>
                  </a:extLst>
                </p:cNvPr>
                <p:cNvSpPr/>
                <p:nvPr/>
              </p:nvSpPr>
              <p:spPr>
                <a:xfrm>
                  <a:off x="4782260" y="4204815"/>
                  <a:ext cx="213992" cy="213992"/>
                </a:xfrm>
                <a:prstGeom prst="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3" name="正方形/長方形 162">
                  <a:extLst>
                    <a:ext uri="{FF2B5EF4-FFF2-40B4-BE49-F238E27FC236}">
                      <a16:creationId xmlns:a16="http://schemas.microsoft.com/office/drawing/2014/main" id="{65E4EC8E-8585-4C2C-BE22-A5E9E7AC4EE0}"/>
                    </a:ext>
                  </a:extLst>
                </p:cNvPr>
                <p:cNvSpPr/>
                <p:nvPr/>
              </p:nvSpPr>
              <p:spPr>
                <a:xfrm>
                  <a:off x="5085152" y="4204815"/>
                  <a:ext cx="213992" cy="213992"/>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4" name="正方形/長方形 163">
                  <a:extLst>
                    <a:ext uri="{FF2B5EF4-FFF2-40B4-BE49-F238E27FC236}">
                      <a16:creationId xmlns:a16="http://schemas.microsoft.com/office/drawing/2014/main" id="{0604F9FA-784F-469D-AE0D-3122D491895E}"/>
                    </a:ext>
                  </a:extLst>
                </p:cNvPr>
                <p:cNvSpPr/>
                <p:nvPr/>
              </p:nvSpPr>
              <p:spPr>
                <a:xfrm>
                  <a:off x="5388044" y="4204815"/>
                  <a:ext cx="213992" cy="213992"/>
                </a:xfrm>
                <a:prstGeom prst="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5" name="大かっこ 164">
                  <a:extLst>
                    <a:ext uri="{FF2B5EF4-FFF2-40B4-BE49-F238E27FC236}">
                      <a16:creationId xmlns:a16="http://schemas.microsoft.com/office/drawing/2014/main" id="{16D350C5-C83A-46D5-B6BE-20716EB83CCF}"/>
                    </a:ext>
                  </a:extLst>
                </p:cNvPr>
                <p:cNvSpPr/>
                <p:nvPr/>
              </p:nvSpPr>
              <p:spPr>
                <a:xfrm>
                  <a:off x="4346724" y="4135172"/>
                  <a:ext cx="1374303" cy="356129"/>
                </a:xfrm>
                <a:prstGeom prst="bracketPair">
                  <a:avLst/>
                </a:prstGeom>
                <a:ln w="571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sp>
            <p:nvSpPr>
              <p:cNvPr id="160" name="四角形: 角を丸くする 159">
                <a:extLst>
                  <a:ext uri="{FF2B5EF4-FFF2-40B4-BE49-F238E27FC236}">
                    <a16:creationId xmlns:a16="http://schemas.microsoft.com/office/drawing/2014/main" id="{4D8A24AB-0FEE-45DE-A8A4-1E4102872AE0}"/>
                  </a:ext>
                </a:extLst>
              </p:cNvPr>
              <p:cNvSpPr/>
              <p:nvPr/>
            </p:nvSpPr>
            <p:spPr>
              <a:xfrm>
                <a:off x="838199" y="4064587"/>
                <a:ext cx="3003664" cy="1798575"/>
              </a:xfrm>
              <a:prstGeom prst="roundRect">
                <a:avLst/>
              </a:prstGeom>
              <a:noFill/>
              <a:ln w="381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90" name="テキスト ボックス 189">
                    <a:extLst>
                      <a:ext uri="{FF2B5EF4-FFF2-40B4-BE49-F238E27FC236}">
                        <a16:creationId xmlns:a16="http://schemas.microsoft.com/office/drawing/2014/main" id="{773D082F-7A38-40EE-953B-04FD8C16A11F}"/>
                      </a:ext>
                    </a:extLst>
                  </p:cNvPr>
                  <p:cNvSpPr txBox="1"/>
                  <p:nvPr/>
                </p:nvSpPr>
                <p:spPr>
                  <a:xfrm>
                    <a:off x="891113" y="5354587"/>
                    <a:ext cx="708095" cy="461665"/>
                  </a:xfrm>
                  <a:prstGeom prst="rect">
                    <a:avLst/>
                  </a:prstGeom>
                  <a:noFill/>
                  <a:effectLst>
                    <a:softEdge rad="63500"/>
                  </a:effectLst>
                </p:spPr>
                <p:txBody>
                  <a:bodyPr wrap="square" anchor="ctr">
                    <a:spAutoFit/>
                  </a:bodyPr>
                  <a:lstStyle/>
                  <a:p>
                    <a:pPr/>
                    <a14:m>
                      <m:oMathPara xmlns:m="http://schemas.openxmlformats.org/officeDocument/2006/math">
                        <m:oMathParaPr>
                          <m:jc m:val="centerGroup"/>
                        </m:oMathParaPr>
                        <m:oMath xmlns:m="http://schemas.openxmlformats.org/officeDocument/2006/math">
                          <m:sSub>
                            <m:sSubPr>
                              <m:ctrlPr>
                                <a:rPr lang="en-US" altLang="ja-JP" sz="2400" i="1" smtClean="0">
                                  <a:solidFill>
                                    <a:schemeClr val="tx1">
                                      <a:lumMod val="75000"/>
                                      <a:lumOff val="25000"/>
                                    </a:schemeClr>
                                  </a:solidFill>
                                  <a:latin typeface="Cambria Math" panose="02040503050406030204" pitchFamily="18" charset="0"/>
                                  <a:ea typeface="Cambria Math" panose="02040503050406030204" pitchFamily="18" charset="0"/>
                                </a:rPr>
                              </m:ctrlPr>
                            </m:sSubPr>
                            <m:e>
                              <m:r>
                                <a:rPr lang="en-US" altLang="ja-JP" sz="2400" b="1">
                                  <a:solidFill>
                                    <a:schemeClr val="tx1">
                                      <a:lumMod val="75000"/>
                                      <a:lumOff val="25000"/>
                                    </a:schemeClr>
                                  </a:solidFill>
                                  <a:latin typeface="Cambria Math" panose="02040503050406030204" pitchFamily="18" charset="0"/>
                                  <a:ea typeface="Cambria Math" panose="02040503050406030204" pitchFamily="18" charset="0"/>
                                </a:rPr>
                                <m:t>𝐳</m:t>
                              </m:r>
                            </m:e>
                            <m:sub>
                              <m:r>
                                <a:rPr lang="en-US" altLang="ja-JP" sz="2400" i="1">
                                  <a:solidFill>
                                    <a:schemeClr val="tx1">
                                      <a:lumMod val="75000"/>
                                      <a:lumOff val="25000"/>
                                    </a:schemeClr>
                                  </a:solidFill>
                                  <a:latin typeface="Cambria Math" panose="02040503050406030204" pitchFamily="18" charset="0"/>
                                  <a:ea typeface="Cambria Math" panose="02040503050406030204" pitchFamily="18" charset="0"/>
                                </a:rPr>
                                <m:t>𝑙</m:t>
                              </m:r>
                              <m:r>
                                <a:rPr lang="en-US" altLang="ja-JP" sz="2400" b="0" i="1" smtClean="0">
                                  <a:solidFill>
                                    <a:schemeClr val="tx1">
                                      <a:lumMod val="75000"/>
                                      <a:lumOff val="25000"/>
                                    </a:schemeClr>
                                  </a:solidFill>
                                  <a:latin typeface="Cambria Math" panose="02040503050406030204" pitchFamily="18" charset="0"/>
                                  <a:ea typeface="Cambria Math" panose="02040503050406030204" pitchFamily="18" charset="0"/>
                                </a:rPr>
                                <m:t>1</m:t>
                              </m:r>
                            </m:sub>
                          </m:sSub>
                        </m:oMath>
                      </m:oMathPara>
                    </a14:m>
                    <a:endParaRPr lang="ja-JP" altLang="en-US" sz="1400" dirty="0">
                      <a:solidFill>
                        <a:schemeClr val="tx1">
                          <a:lumMod val="75000"/>
                          <a:lumOff val="25000"/>
                        </a:schemeClr>
                      </a:solidFill>
                    </a:endParaRPr>
                  </a:p>
                </p:txBody>
              </p:sp>
            </mc:Choice>
            <mc:Fallback xmlns="">
              <p:sp>
                <p:nvSpPr>
                  <p:cNvPr id="190" name="テキスト ボックス 189">
                    <a:extLst>
                      <a:ext uri="{FF2B5EF4-FFF2-40B4-BE49-F238E27FC236}">
                        <a16:creationId xmlns:a16="http://schemas.microsoft.com/office/drawing/2014/main" id="{773D082F-7A38-40EE-953B-04FD8C16A11F}"/>
                      </a:ext>
                    </a:extLst>
                  </p:cNvPr>
                  <p:cNvSpPr txBox="1">
                    <a:spLocks noRot="1" noChangeAspect="1" noMove="1" noResize="1" noEditPoints="1" noAdjustHandles="1" noChangeArrowheads="1" noChangeShapeType="1" noTextEdit="1"/>
                  </p:cNvSpPr>
                  <p:nvPr/>
                </p:nvSpPr>
                <p:spPr>
                  <a:xfrm>
                    <a:off x="891113" y="5354587"/>
                    <a:ext cx="708095" cy="461665"/>
                  </a:xfrm>
                  <a:prstGeom prst="rect">
                    <a:avLst/>
                  </a:prstGeom>
                  <a:blipFill>
                    <a:blip r:embed="rId7"/>
                    <a:stretch>
                      <a:fillRect b="-1316"/>
                    </a:stretch>
                  </a:blipFill>
                  <a:effectLst>
                    <a:softEdge rad="63500"/>
                  </a:effectLst>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91" name="テキスト ボックス 190">
                    <a:extLst>
                      <a:ext uri="{FF2B5EF4-FFF2-40B4-BE49-F238E27FC236}">
                        <a16:creationId xmlns:a16="http://schemas.microsoft.com/office/drawing/2014/main" id="{A889B70B-6B6F-4831-B26F-2E3327C5AA99}"/>
                      </a:ext>
                    </a:extLst>
                  </p:cNvPr>
                  <p:cNvSpPr txBox="1"/>
                  <p:nvPr/>
                </p:nvSpPr>
                <p:spPr>
                  <a:xfrm>
                    <a:off x="1183397" y="4655739"/>
                    <a:ext cx="708095" cy="461665"/>
                  </a:xfrm>
                  <a:prstGeom prst="rect">
                    <a:avLst/>
                  </a:prstGeom>
                  <a:noFill/>
                  <a:effectLst>
                    <a:softEdge rad="63500"/>
                  </a:effectLst>
                </p:spPr>
                <p:txBody>
                  <a:bodyPr wrap="square" anchor="ctr">
                    <a:spAutoFit/>
                  </a:bodyPr>
                  <a:lstStyle/>
                  <a:p>
                    <a:pPr/>
                    <a14:m>
                      <m:oMathPara xmlns:m="http://schemas.openxmlformats.org/officeDocument/2006/math">
                        <m:oMathParaPr>
                          <m:jc m:val="centerGroup"/>
                        </m:oMathParaPr>
                        <m:oMath xmlns:m="http://schemas.openxmlformats.org/officeDocument/2006/math">
                          <m:r>
                            <a:rPr lang="en-US" altLang="ja-JP" sz="2400" i="1" smtClean="0">
                              <a:solidFill>
                                <a:schemeClr val="tx1">
                                  <a:lumMod val="75000"/>
                                  <a:lumOff val="25000"/>
                                </a:schemeClr>
                              </a:solidFill>
                              <a:latin typeface="Cambria Math" panose="02040503050406030204" pitchFamily="18" charset="0"/>
                              <a:ea typeface="Cambria Math" panose="02040503050406030204" pitchFamily="18" charset="0"/>
                            </a:rPr>
                            <m:t>⊙</m:t>
                          </m:r>
                        </m:oMath>
                      </m:oMathPara>
                    </a14:m>
                    <a:endParaRPr lang="ja-JP" altLang="en-US" sz="1400" dirty="0">
                      <a:solidFill>
                        <a:schemeClr val="tx1">
                          <a:lumMod val="75000"/>
                          <a:lumOff val="25000"/>
                        </a:schemeClr>
                      </a:solidFill>
                    </a:endParaRPr>
                  </a:p>
                </p:txBody>
              </p:sp>
            </mc:Choice>
            <mc:Fallback xmlns="">
              <p:sp>
                <p:nvSpPr>
                  <p:cNvPr id="191" name="テキスト ボックス 190">
                    <a:extLst>
                      <a:ext uri="{FF2B5EF4-FFF2-40B4-BE49-F238E27FC236}">
                        <a16:creationId xmlns:a16="http://schemas.microsoft.com/office/drawing/2014/main" id="{A889B70B-6B6F-4831-B26F-2E3327C5AA99}"/>
                      </a:ext>
                    </a:extLst>
                  </p:cNvPr>
                  <p:cNvSpPr txBox="1">
                    <a:spLocks noRot="1" noChangeAspect="1" noMove="1" noResize="1" noEditPoints="1" noAdjustHandles="1" noChangeArrowheads="1" noChangeShapeType="1" noTextEdit="1"/>
                  </p:cNvSpPr>
                  <p:nvPr/>
                </p:nvSpPr>
                <p:spPr>
                  <a:xfrm>
                    <a:off x="1183397" y="4655739"/>
                    <a:ext cx="708095" cy="461665"/>
                  </a:xfrm>
                  <a:prstGeom prst="rect">
                    <a:avLst/>
                  </a:prstGeom>
                  <a:blipFill>
                    <a:blip r:embed="rId8"/>
                    <a:stretch>
                      <a:fillRect b="-9333"/>
                    </a:stretch>
                  </a:blipFill>
                  <a:effectLst>
                    <a:softEdge rad="63500"/>
                  </a:effectLst>
                </p:spPr>
                <p:txBody>
                  <a:bodyPr/>
                  <a:lstStyle/>
                  <a:p>
                    <a:r>
                      <a:rPr lang="ja-JP" altLang="en-US">
                        <a:noFill/>
                      </a:rPr>
                      <a:t> </a:t>
                    </a:r>
                  </a:p>
                </p:txBody>
              </p:sp>
            </mc:Fallback>
          </mc:AlternateContent>
        </p:grpSp>
        <p:grpSp>
          <p:nvGrpSpPr>
            <p:cNvPr id="192" name="グループ化 191">
              <a:extLst>
                <a:ext uri="{FF2B5EF4-FFF2-40B4-BE49-F238E27FC236}">
                  <a16:creationId xmlns:a16="http://schemas.microsoft.com/office/drawing/2014/main" id="{924D202C-042E-4095-8C26-5750EEB354AA}"/>
                </a:ext>
              </a:extLst>
            </p:cNvPr>
            <p:cNvGrpSpPr/>
            <p:nvPr/>
          </p:nvGrpSpPr>
          <p:grpSpPr>
            <a:xfrm>
              <a:off x="4059233" y="4084232"/>
              <a:ext cx="3095714" cy="1798575"/>
              <a:chOff x="838199" y="4064587"/>
              <a:chExt cx="3095714" cy="1798575"/>
            </a:xfrm>
          </p:grpSpPr>
          <p:grpSp>
            <p:nvGrpSpPr>
              <p:cNvPr id="193" name="グループ化 192">
                <a:extLst>
                  <a:ext uri="{FF2B5EF4-FFF2-40B4-BE49-F238E27FC236}">
                    <a16:creationId xmlns:a16="http://schemas.microsoft.com/office/drawing/2014/main" id="{D2DDAB7E-66E3-42AB-86C8-C37269CCE831}"/>
                  </a:ext>
                </a:extLst>
              </p:cNvPr>
              <p:cNvGrpSpPr/>
              <p:nvPr/>
            </p:nvGrpSpPr>
            <p:grpSpPr>
              <a:xfrm>
                <a:off x="1816433" y="4303058"/>
                <a:ext cx="1409385" cy="1110692"/>
                <a:chOff x="2322930" y="3353671"/>
                <a:chExt cx="2319094" cy="1827605"/>
              </a:xfrm>
            </p:grpSpPr>
            <p:grpSp>
              <p:nvGrpSpPr>
                <p:cNvPr id="211" name="グループ化 210">
                  <a:extLst>
                    <a:ext uri="{FF2B5EF4-FFF2-40B4-BE49-F238E27FC236}">
                      <a16:creationId xmlns:a16="http://schemas.microsoft.com/office/drawing/2014/main" id="{E5FB49BC-E9E1-455A-BB56-EB9282DC1B86}"/>
                    </a:ext>
                  </a:extLst>
                </p:cNvPr>
                <p:cNvGrpSpPr/>
                <p:nvPr/>
              </p:nvGrpSpPr>
              <p:grpSpPr>
                <a:xfrm>
                  <a:off x="2652046" y="3451928"/>
                  <a:ext cx="1700918" cy="1676670"/>
                  <a:chOff x="1138989" y="3968713"/>
                  <a:chExt cx="1700918" cy="1676670"/>
                </a:xfrm>
              </p:grpSpPr>
              <p:sp>
                <p:nvSpPr>
                  <p:cNvPr id="213" name="正方形/長方形 212">
                    <a:extLst>
                      <a:ext uri="{FF2B5EF4-FFF2-40B4-BE49-F238E27FC236}">
                        <a16:creationId xmlns:a16="http://schemas.microsoft.com/office/drawing/2014/main" id="{9F8C523D-6292-4194-B57F-D3ABB197D610}"/>
                      </a:ext>
                    </a:extLst>
                  </p:cNvPr>
                  <p:cNvSpPr/>
                  <p:nvPr/>
                </p:nvSpPr>
                <p:spPr>
                  <a:xfrm>
                    <a:off x="1138989" y="3974039"/>
                    <a:ext cx="319421" cy="319421"/>
                  </a:xfrm>
                  <a:prstGeom prst="rect">
                    <a:avLst/>
                  </a:prstGeom>
                  <a:solidFill>
                    <a:schemeClr val="accent6">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4" name="正方形/長方形 213">
                    <a:extLst>
                      <a:ext uri="{FF2B5EF4-FFF2-40B4-BE49-F238E27FC236}">
                        <a16:creationId xmlns:a16="http://schemas.microsoft.com/office/drawing/2014/main" id="{9E115C88-507E-4384-B32E-7AE1E15D3D36}"/>
                      </a:ext>
                    </a:extLst>
                  </p:cNvPr>
                  <p:cNvSpPr/>
                  <p:nvPr/>
                </p:nvSpPr>
                <p:spPr>
                  <a:xfrm>
                    <a:off x="1599488" y="3974039"/>
                    <a:ext cx="319421" cy="319421"/>
                  </a:xfrm>
                  <a:prstGeom prst="rect">
                    <a:avLst/>
                  </a:prstGeom>
                  <a:solidFill>
                    <a:schemeClr val="accent6">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15" name="正方形/長方形 214">
                    <a:extLst>
                      <a:ext uri="{FF2B5EF4-FFF2-40B4-BE49-F238E27FC236}">
                        <a16:creationId xmlns:a16="http://schemas.microsoft.com/office/drawing/2014/main" id="{C4AC1A17-0766-4986-84A6-DA0E6EEA7321}"/>
                      </a:ext>
                    </a:extLst>
                  </p:cNvPr>
                  <p:cNvSpPr/>
                  <p:nvPr/>
                </p:nvSpPr>
                <p:spPr>
                  <a:xfrm>
                    <a:off x="2059987" y="3968714"/>
                    <a:ext cx="319421" cy="319421"/>
                  </a:xfrm>
                  <a:prstGeom prst="rect">
                    <a:avLst/>
                  </a:prstGeom>
                  <a:solidFill>
                    <a:schemeClr val="accent6">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6" name="正方形/長方形 215">
                    <a:extLst>
                      <a:ext uri="{FF2B5EF4-FFF2-40B4-BE49-F238E27FC236}">
                        <a16:creationId xmlns:a16="http://schemas.microsoft.com/office/drawing/2014/main" id="{62480A3C-C708-4428-820D-A7993E22DCF3}"/>
                      </a:ext>
                    </a:extLst>
                  </p:cNvPr>
                  <p:cNvSpPr/>
                  <p:nvPr/>
                </p:nvSpPr>
                <p:spPr>
                  <a:xfrm>
                    <a:off x="2520486" y="3968713"/>
                    <a:ext cx="319421" cy="319421"/>
                  </a:xfrm>
                  <a:prstGeom prst="rect">
                    <a:avLst/>
                  </a:prstGeom>
                  <a:solidFill>
                    <a:schemeClr val="accent6">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7" name="正方形/長方形 216">
                    <a:extLst>
                      <a:ext uri="{FF2B5EF4-FFF2-40B4-BE49-F238E27FC236}">
                        <a16:creationId xmlns:a16="http://schemas.microsoft.com/office/drawing/2014/main" id="{69AB26DC-20D6-4240-AFFA-7487E2AD0EDD}"/>
                      </a:ext>
                    </a:extLst>
                  </p:cNvPr>
                  <p:cNvSpPr/>
                  <p:nvPr/>
                </p:nvSpPr>
                <p:spPr>
                  <a:xfrm>
                    <a:off x="1138989" y="4424680"/>
                    <a:ext cx="319421" cy="319421"/>
                  </a:xfrm>
                  <a:prstGeom prst="rect">
                    <a:avLst/>
                  </a:prstGeom>
                  <a:solidFill>
                    <a:schemeClr val="accent5">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8" name="正方形/長方形 217">
                    <a:extLst>
                      <a:ext uri="{FF2B5EF4-FFF2-40B4-BE49-F238E27FC236}">
                        <a16:creationId xmlns:a16="http://schemas.microsoft.com/office/drawing/2014/main" id="{7A7987DE-14C9-47CF-A3CE-C16F6451794A}"/>
                      </a:ext>
                    </a:extLst>
                  </p:cNvPr>
                  <p:cNvSpPr/>
                  <p:nvPr/>
                </p:nvSpPr>
                <p:spPr>
                  <a:xfrm>
                    <a:off x="1599488" y="4424680"/>
                    <a:ext cx="319421" cy="319421"/>
                  </a:xfrm>
                  <a:prstGeom prst="rect">
                    <a:avLst/>
                  </a:prstGeom>
                  <a:solidFill>
                    <a:schemeClr val="accent5">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9" name="正方形/長方形 218">
                    <a:extLst>
                      <a:ext uri="{FF2B5EF4-FFF2-40B4-BE49-F238E27FC236}">
                        <a16:creationId xmlns:a16="http://schemas.microsoft.com/office/drawing/2014/main" id="{7650454B-A7AA-451C-ACDC-3CB05AB5A16D}"/>
                      </a:ext>
                    </a:extLst>
                  </p:cNvPr>
                  <p:cNvSpPr/>
                  <p:nvPr/>
                </p:nvSpPr>
                <p:spPr>
                  <a:xfrm>
                    <a:off x="2059987" y="4419355"/>
                    <a:ext cx="319421" cy="319421"/>
                  </a:xfrm>
                  <a:prstGeom prst="rect">
                    <a:avLst/>
                  </a:prstGeom>
                  <a:solidFill>
                    <a:schemeClr val="accent5">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0" name="正方形/長方形 219">
                    <a:extLst>
                      <a:ext uri="{FF2B5EF4-FFF2-40B4-BE49-F238E27FC236}">
                        <a16:creationId xmlns:a16="http://schemas.microsoft.com/office/drawing/2014/main" id="{F7C81FA7-8064-49A3-9E11-4CFDD33CA4F1}"/>
                      </a:ext>
                    </a:extLst>
                  </p:cNvPr>
                  <p:cNvSpPr/>
                  <p:nvPr/>
                </p:nvSpPr>
                <p:spPr>
                  <a:xfrm>
                    <a:off x="2520486" y="4419354"/>
                    <a:ext cx="319421" cy="319421"/>
                  </a:xfrm>
                  <a:prstGeom prst="rect">
                    <a:avLst/>
                  </a:prstGeom>
                  <a:solidFill>
                    <a:schemeClr val="accent5">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1" name="正方形/長方形 220">
                    <a:extLst>
                      <a:ext uri="{FF2B5EF4-FFF2-40B4-BE49-F238E27FC236}">
                        <a16:creationId xmlns:a16="http://schemas.microsoft.com/office/drawing/2014/main" id="{AE6D965E-7DF2-4645-89DA-D66F96CAA8F2}"/>
                      </a:ext>
                    </a:extLst>
                  </p:cNvPr>
                  <p:cNvSpPr/>
                  <p:nvPr/>
                </p:nvSpPr>
                <p:spPr>
                  <a:xfrm>
                    <a:off x="1138989" y="4875321"/>
                    <a:ext cx="319421" cy="319421"/>
                  </a:xfrm>
                  <a:prstGeom prst="rect">
                    <a:avLst/>
                  </a:prstGeom>
                  <a:solidFill>
                    <a:schemeClr val="accent4">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2" name="正方形/長方形 221">
                    <a:extLst>
                      <a:ext uri="{FF2B5EF4-FFF2-40B4-BE49-F238E27FC236}">
                        <a16:creationId xmlns:a16="http://schemas.microsoft.com/office/drawing/2014/main" id="{DA909C71-9FBA-476D-B6E5-424B3055BC97}"/>
                      </a:ext>
                    </a:extLst>
                  </p:cNvPr>
                  <p:cNvSpPr/>
                  <p:nvPr/>
                </p:nvSpPr>
                <p:spPr>
                  <a:xfrm>
                    <a:off x="1599488" y="4875321"/>
                    <a:ext cx="319421" cy="319421"/>
                  </a:xfrm>
                  <a:prstGeom prst="rect">
                    <a:avLst/>
                  </a:prstGeom>
                  <a:solidFill>
                    <a:schemeClr val="accent4">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3" name="正方形/長方形 222">
                    <a:extLst>
                      <a:ext uri="{FF2B5EF4-FFF2-40B4-BE49-F238E27FC236}">
                        <a16:creationId xmlns:a16="http://schemas.microsoft.com/office/drawing/2014/main" id="{C8133256-BA80-412F-8AD9-108FC130916E}"/>
                      </a:ext>
                    </a:extLst>
                  </p:cNvPr>
                  <p:cNvSpPr/>
                  <p:nvPr/>
                </p:nvSpPr>
                <p:spPr>
                  <a:xfrm>
                    <a:off x="2059987" y="4869996"/>
                    <a:ext cx="319421" cy="319421"/>
                  </a:xfrm>
                  <a:prstGeom prst="rect">
                    <a:avLst/>
                  </a:prstGeom>
                  <a:solidFill>
                    <a:schemeClr val="accent4">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4" name="正方形/長方形 223">
                    <a:extLst>
                      <a:ext uri="{FF2B5EF4-FFF2-40B4-BE49-F238E27FC236}">
                        <a16:creationId xmlns:a16="http://schemas.microsoft.com/office/drawing/2014/main" id="{B2CDBD10-4845-48B9-B447-BA80082A574E}"/>
                      </a:ext>
                    </a:extLst>
                  </p:cNvPr>
                  <p:cNvSpPr/>
                  <p:nvPr/>
                </p:nvSpPr>
                <p:spPr>
                  <a:xfrm>
                    <a:off x="2520486" y="4869995"/>
                    <a:ext cx="319421" cy="319421"/>
                  </a:xfrm>
                  <a:prstGeom prst="rect">
                    <a:avLst/>
                  </a:prstGeom>
                  <a:solidFill>
                    <a:schemeClr val="accent4">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5" name="正方形/長方形 224">
                    <a:extLst>
                      <a:ext uri="{FF2B5EF4-FFF2-40B4-BE49-F238E27FC236}">
                        <a16:creationId xmlns:a16="http://schemas.microsoft.com/office/drawing/2014/main" id="{54C66014-8936-492B-97F7-058BE6B63693}"/>
                      </a:ext>
                    </a:extLst>
                  </p:cNvPr>
                  <p:cNvSpPr/>
                  <p:nvPr/>
                </p:nvSpPr>
                <p:spPr>
                  <a:xfrm>
                    <a:off x="1138989" y="5325962"/>
                    <a:ext cx="319421" cy="319421"/>
                  </a:xfrm>
                  <a:prstGeom prst="rect">
                    <a:avLst/>
                  </a:prstGeom>
                  <a:solidFill>
                    <a:schemeClr val="accent2">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6" name="正方形/長方形 225">
                    <a:extLst>
                      <a:ext uri="{FF2B5EF4-FFF2-40B4-BE49-F238E27FC236}">
                        <a16:creationId xmlns:a16="http://schemas.microsoft.com/office/drawing/2014/main" id="{9705BE4C-5DD9-42A8-B0B7-5A0747216AE5}"/>
                      </a:ext>
                    </a:extLst>
                  </p:cNvPr>
                  <p:cNvSpPr/>
                  <p:nvPr/>
                </p:nvSpPr>
                <p:spPr>
                  <a:xfrm>
                    <a:off x="1599488" y="5325962"/>
                    <a:ext cx="319421" cy="319421"/>
                  </a:xfrm>
                  <a:prstGeom prst="rect">
                    <a:avLst/>
                  </a:prstGeom>
                  <a:solidFill>
                    <a:schemeClr val="accent2">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7" name="正方形/長方形 226">
                    <a:extLst>
                      <a:ext uri="{FF2B5EF4-FFF2-40B4-BE49-F238E27FC236}">
                        <a16:creationId xmlns:a16="http://schemas.microsoft.com/office/drawing/2014/main" id="{98000A19-7D24-4771-908C-A74FFA6D549C}"/>
                      </a:ext>
                    </a:extLst>
                  </p:cNvPr>
                  <p:cNvSpPr/>
                  <p:nvPr/>
                </p:nvSpPr>
                <p:spPr>
                  <a:xfrm>
                    <a:off x="2059987" y="5320637"/>
                    <a:ext cx="319421" cy="319421"/>
                  </a:xfrm>
                  <a:prstGeom prst="rect">
                    <a:avLst/>
                  </a:prstGeom>
                  <a:solidFill>
                    <a:schemeClr val="accent2">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8" name="正方形/長方形 227">
                    <a:extLst>
                      <a:ext uri="{FF2B5EF4-FFF2-40B4-BE49-F238E27FC236}">
                        <a16:creationId xmlns:a16="http://schemas.microsoft.com/office/drawing/2014/main" id="{24F754B2-5517-44E9-A2BA-8FCF38219063}"/>
                      </a:ext>
                    </a:extLst>
                  </p:cNvPr>
                  <p:cNvSpPr/>
                  <p:nvPr/>
                </p:nvSpPr>
                <p:spPr>
                  <a:xfrm>
                    <a:off x="2520486" y="5320636"/>
                    <a:ext cx="319421" cy="319421"/>
                  </a:xfrm>
                  <a:prstGeom prst="rect">
                    <a:avLst/>
                  </a:prstGeom>
                  <a:solidFill>
                    <a:schemeClr val="accent2">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12" name="大かっこ 211">
                  <a:extLst>
                    <a:ext uri="{FF2B5EF4-FFF2-40B4-BE49-F238E27FC236}">
                      <a16:creationId xmlns:a16="http://schemas.microsoft.com/office/drawing/2014/main" id="{C3ED0F55-EB84-42A9-85EB-52755B271C22}"/>
                    </a:ext>
                  </a:extLst>
                </p:cNvPr>
                <p:cNvSpPr/>
                <p:nvPr/>
              </p:nvSpPr>
              <p:spPr>
                <a:xfrm>
                  <a:off x="2322930" y="3353671"/>
                  <a:ext cx="2319094" cy="1827605"/>
                </a:xfrm>
                <a:prstGeom prst="bracketPair">
                  <a:avLst/>
                </a:prstGeom>
                <a:ln w="571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mc:AlternateContent xmlns:mc="http://schemas.openxmlformats.org/markup-compatibility/2006" xmlns:a14="http://schemas.microsoft.com/office/drawing/2010/main">
            <mc:Choice Requires="a14">
              <p:sp>
                <p:nvSpPr>
                  <p:cNvPr id="194" name="テキスト ボックス 193">
                    <a:extLst>
                      <a:ext uri="{FF2B5EF4-FFF2-40B4-BE49-F238E27FC236}">
                        <a16:creationId xmlns:a16="http://schemas.microsoft.com/office/drawing/2014/main" id="{7467833F-0F5D-4A15-97D3-16D323BF3FD0}"/>
                      </a:ext>
                    </a:extLst>
                  </p:cNvPr>
                  <p:cNvSpPr txBox="1"/>
                  <p:nvPr/>
                </p:nvSpPr>
                <p:spPr>
                  <a:xfrm>
                    <a:off x="2195401" y="5384497"/>
                    <a:ext cx="708095" cy="461665"/>
                  </a:xfrm>
                  <a:prstGeom prst="rect">
                    <a:avLst/>
                  </a:prstGeom>
                  <a:noFill/>
                  <a:effectLst>
                    <a:softEdge rad="63500"/>
                  </a:effectLst>
                </p:spPr>
                <p:txBody>
                  <a:bodyPr wrap="square" anchor="ctr">
                    <a:spAutoFit/>
                  </a:bodyPr>
                  <a:lstStyle/>
                  <a:p>
                    <a:pPr/>
                    <a14:m>
                      <m:oMathPara xmlns:m="http://schemas.openxmlformats.org/officeDocument/2006/math">
                        <m:oMathParaPr>
                          <m:jc m:val="centerGroup"/>
                        </m:oMathParaPr>
                        <m:oMath xmlns:m="http://schemas.openxmlformats.org/officeDocument/2006/math">
                          <m:sSub>
                            <m:sSubPr>
                              <m:ctrlPr>
                                <a:rPr lang="en-US" altLang="ja-JP" sz="2400" i="1" smtClean="0">
                                  <a:solidFill>
                                    <a:schemeClr val="tx1">
                                      <a:lumMod val="75000"/>
                                      <a:lumOff val="25000"/>
                                    </a:schemeClr>
                                  </a:solidFill>
                                  <a:latin typeface="Cambria Math" panose="02040503050406030204" pitchFamily="18" charset="0"/>
                                  <a:ea typeface="Cambria Math" panose="02040503050406030204" pitchFamily="18" charset="0"/>
                                </a:rPr>
                              </m:ctrlPr>
                            </m:sSubPr>
                            <m:e>
                              <m:r>
                                <a:rPr lang="en-US" altLang="ja-JP" sz="2400" b="1" i="0" smtClean="0">
                                  <a:solidFill>
                                    <a:schemeClr val="tx1">
                                      <a:lumMod val="75000"/>
                                      <a:lumOff val="25000"/>
                                    </a:schemeClr>
                                  </a:solidFill>
                                  <a:latin typeface="Cambria Math" panose="02040503050406030204" pitchFamily="18" charset="0"/>
                                  <a:ea typeface="Cambria Math" panose="02040503050406030204" pitchFamily="18" charset="0"/>
                                </a:rPr>
                                <m:t>𝐇</m:t>
                              </m:r>
                            </m:e>
                            <m:sub>
                              <m:r>
                                <a:rPr lang="en-US" altLang="ja-JP" sz="2400" i="1">
                                  <a:solidFill>
                                    <a:schemeClr val="tx1">
                                      <a:lumMod val="75000"/>
                                      <a:lumOff val="25000"/>
                                    </a:schemeClr>
                                  </a:solidFill>
                                  <a:latin typeface="Cambria Math" panose="02040503050406030204" pitchFamily="18" charset="0"/>
                                  <a:ea typeface="Cambria Math" panose="02040503050406030204" pitchFamily="18" charset="0"/>
                                </a:rPr>
                                <m:t>𝑘</m:t>
                              </m:r>
                            </m:sub>
                          </m:sSub>
                        </m:oMath>
                      </m:oMathPara>
                    </a14:m>
                    <a:endParaRPr lang="ja-JP" altLang="en-US" sz="1400" dirty="0">
                      <a:solidFill>
                        <a:schemeClr val="tx1">
                          <a:lumMod val="75000"/>
                          <a:lumOff val="25000"/>
                        </a:schemeClr>
                      </a:solidFill>
                    </a:endParaRPr>
                  </a:p>
                </p:txBody>
              </p:sp>
            </mc:Choice>
            <mc:Fallback xmlns="">
              <p:sp>
                <p:nvSpPr>
                  <p:cNvPr id="194" name="テキスト ボックス 193">
                    <a:extLst>
                      <a:ext uri="{FF2B5EF4-FFF2-40B4-BE49-F238E27FC236}">
                        <a16:creationId xmlns:a16="http://schemas.microsoft.com/office/drawing/2014/main" id="{7467833F-0F5D-4A15-97D3-16D323BF3FD0}"/>
                      </a:ext>
                    </a:extLst>
                  </p:cNvPr>
                  <p:cNvSpPr txBox="1">
                    <a:spLocks noRot="1" noChangeAspect="1" noMove="1" noResize="1" noEditPoints="1" noAdjustHandles="1" noChangeArrowheads="1" noChangeShapeType="1" noTextEdit="1"/>
                  </p:cNvSpPr>
                  <p:nvPr/>
                </p:nvSpPr>
                <p:spPr>
                  <a:xfrm>
                    <a:off x="2195401" y="5384497"/>
                    <a:ext cx="708095" cy="461665"/>
                  </a:xfrm>
                  <a:prstGeom prst="rect">
                    <a:avLst/>
                  </a:prstGeom>
                  <a:blipFill>
                    <a:blip r:embed="rId9"/>
                    <a:stretch>
                      <a:fillRect b="-1333"/>
                    </a:stretch>
                  </a:blipFill>
                  <a:effectLst>
                    <a:softEdge rad="63500"/>
                  </a:effectLst>
                </p:spPr>
                <p:txBody>
                  <a:bodyPr/>
                  <a:lstStyle/>
                  <a:p>
                    <a:r>
                      <a:rPr lang="ja-JP" altLang="en-US">
                        <a:noFill/>
                      </a:rPr>
                      <a:t> </a:t>
                    </a:r>
                  </a:p>
                </p:txBody>
              </p:sp>
            </mc:Fallback>
          </mc:AlternateContent>
          <p:grpSp>
            <p:nvGrpSpPr>
              <p:cNvPr id="195" name="グループ化 194">
                <a:extLst>
                  <a:ext uri="{FF2B5EF4-FFF2-40B4-BE49-F238E27FC236}">
                    <a16:creationId xmlns:a16="http://schemas.microsoft.com/office/drawing/2014/main" id="{3FA1E694-94B7-4AA0-8ADC-268D68C6A8DB}"/>
                  </a:ext>
                </a:extLst>
              </p:cNvPr>
              <p:cNvGrpSpPr/>
              <p:nvPr/>
            </p:nvGrpSpPr>
            <p:grpSpPr>
              <a:xfrm rot="5400000">
                <a:off x="632668" y="4703477"/>
                <a:ext cx="1086397" cy="281522"/>
                <a:chOff x="4346724" y="4135172"/>
                <a:chExt cx="1374304" cy="356129"/>
              </a:xfrm>
            </p:grpSpPr>
            <p:sp>
              <p:nvSpPr>
                <p:cNvPr id="206" name="正方形/長方形 205">
                  <a:extLst>
                    <a:ext uri="{FF2B5EF4-FFF2-40B4-BE49-F238E27FC236}">
                      <a16:creationId xmlns:a16="http://schemas.microsoft.com/office/drawing/2014/main" id="{746FF948-0CC7-4F7F-A047-E857DD2ED460}"/>
                    </a:ext>
                  </a:extLst>
                </p:cNvPr>
                <p:cNvSpPr/>
                <p:nvPr/>
              </p:nvSpPr>
              <p:spPr>
                <a:xfrm>
                  <a:off x="4479368" y="4205172"/>
                  <a:ext cx="213992" cy="213992"/>
                </a:xfrm>
                <a:prstGeom prst="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400" dirty="0"/>
                    <a:t>-1</a:t>
                  </a:r>
                  <a:endParaRPr kumimoji="1" lang="ja-JP" altLang="en-US" sz="400" dirty="0"/>
                </a:p>
              </p:txBody>
            </p:sp>
            <p:sp>
              <p:nvSpPr>
                <p:cNvPr id="207" name="正方形/長方形 206">
                  <a:extLst>
                    <a:ext uri="{FF2B5EF4-FFF2-40B4-BE49-F238E27FC236}">
                      <a16:creationId xmlns:a16="http://schemas.microsoft.com/office/drawing/2014/main" id="{B42C81D7-F3DE-4E53-96EB-05D5C40B9D30}"/>
                    </a:ext>
                  </a:extLst>
                </p:cNvPr>
                <p:cNvSpPr/>
                <p:nvPr/>
              </p:nvSpPr>
              <p:spPr>
                <a:xfrm>
                  <a:off x="4782260" y="4204815"/>
                  <a:ext cx="213992" cy="213992"/>
                </a:xfrm>
                <a:prstGeom prst="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 name="正方形/長方形 207">
                  <a:extLst>
                    <a:ext uri="{FF2B5EF4-FFF2-40B4-BE49-F238E27FC236}">
                      <a16:creationId xmlns:a16="http://schemas.microsoft.com/office/drawing/2014/main" id="{A588927C-A30B-4514-87E7-3AA827BCA522}"/>
                    </a:ext>
                  </a:extLst>
                </p:cNvPr>
                <p:cNvSpPr/>
                <p:nvPr/>
              </p:nvSpPr>
              <p:spPr>
                <a:xfrm>
                  <a:off x="5085152" y="4204815"/>
                  <a:ext cx="213992" cy="213992"/>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 name="正方形/長方形 208">
                  <a:extLst>
                    <a:ext uri="{FF2B5EF4-FFF2-40B4-BE49-F238E27FC236}">
                      <a16:creationId xmlns:a16="http://schemas.microsoft.com/office/drawing/2014/main" id="{5F376E4D-5915-42AC-985E-04ECF331DAE7}"/>
                    </a:ext>
                  </a:extLst>
                </p:cNvPr>
                <p:cNvSpPr/>
                <p:nvPr/>
              </p:nvSpPr>
              <p:spPr>
                <a:xfrm>
                  <a:off x="5388044" y="4204815"/>
                  <a:ext cx="213992" cy="213992"/>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0" name="大かっこ 209">
                  <a:extLst>
                    <a:ext uri="{FF2B5EF4-FFF2-40B4-BE49-F238E27FC236}">
                      <a16:creationId xmlns:a16="http://schemas.microsoft.com/office/drawing/2014/main" id="{2E685194-57D5-4DEE-BE88-B02777422837}"/>
                    </a:ext>
                  </a:extLst>
                </p:cNvPr>
                <p:cNvSpPr/>
                <p:nvPr/>
              </p:nvSpPr>
              <p:spPr>
                <a:xfrm>
                  <a:off x="4346724" y="4135172"/>
                  <a:ext cx="1374304" cy="356129"/>
                </a:xfrm>
                <a:prstGeom prst="bracketPair">
                  <a:avLst/>
                </a:prstGeom>
                <a:ln w="571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mc:AlternateContent xmlns:mc="http://schemas.openxmlformats.org/markup-compatibility/2006" xmlns:a14="http://schemas.microsoft.com/office/drawing/2010/main">
            <mc:Choice Requires="a14">
              <p:sp>
                <p:nvSpPr>
                  <p:cNvPr id="196" name="テキスト ボックス 195">
                    <a:extLst>
                      <a:ext uri="{FF2B5EF4-FFF2-40B4-BE49-F238E27FC236}">
                        <a16:creationId xmlns:a16="http://schemas.microsoft.com/office/drawing/2014/main" id="{AE595B5A-E776-4154-AA20-D3DD6EB0A547}"/>
                      </a:ext>
                    </a:extLst>
                  </p:cNvPr>
                  <p:cNvSpPr txBox="1"/>
                  <p:nvPr/>
                </p:nvSpPr>
                <p:spPr>
                  <a:xfrm>
                    <a:off x="3225818" y="5379970"/>
                    <a:ext cx="708095" cy="461665"/>
                  </a:xfrm>
                  <a:prstGeom prst="rect">
                    <a:avLst/>
                  </a:prstGeom>
                  <a:noFill/>
                  <a:effectLst>
                    <a:softEdge rad="63500"/>
                  </a:effectLst>
                </p:spPr>
                <p:txBody>
                  <a:bodyPr wrap="square" anchor="ctr">
                    <a:spAutoFit/>
                  </a:bodyPr>
                  <a:lstStyle/>
                  <a:p>
                    <a:pPr/>
                    <a14:m>
                      <m:oMathPara xmlns:m="http://schemas.openxmlformats.org/officeDocument/2006/math">
                        <m:oMathParaPr>
                          <m:jc m:val="centerGroup"/>
                        </m:oMathParaPr>
                        <m:oMath xmlns:m="http://schemas.openxmlformats.org/officeDocument/2006/math">
                          <m:sSub>
                            <m:sSubPr>
                              <m:ctrlPr>
                                <a:rPr lang="en-US" altLang="ja-JP" sz="2400" i="1" smtClean="0">
                                  <a:solidFill>
                                    <a:schemeClr val="tx1">
                                      <a:lumMod val="75000"/>
                                      <a:lumOff val="25000"/>
                                    </a:schemeClr>
                                  </a:solidFill>
                                  <a:latin typeface="Cambria Math" panose="02040503050406030204" pitchFamily="18" charset="0"/>
                                  <a:ea typeface="Cambria Math" panose="02040503050406030204" pitchFamily="18" charset="0"/>
                                </a:rPr>
                              </m:ctrlPr>
                            </m:sSubPr>
                            <m:e>
                              <m:r>
                                <a:rPr lang="en-US" altLang="ja-JP" sz="2400" b="1">
                                  <a:solidFill>
                                    <a:schemeClr val="tx1">
                                      <a:lumMod val="75000"/>
                                      <a:lumOff val="25000"/>
                                    </a:schemeClr>
                                  </a:solidFill>
                                  <a:latin typeface="Cambria Math" panose="02040503050406030204" pitchFamily="18" charset="0"/>
                                  <a:ea typeface="Cambria Math" panose="02040503050406030204" pitchFamily="18" charset="0"/>
                                </a:rPr>
                                <m:t>𝐳</m:t>
                              </m:r>
                            </m:e>
                            <m:sub>
                              <m:r>
                                <a:rPr lang="en-US" altLang="ja-JP" sz="2400" i="1">
                                  <a:solidFill>
                                    <a:schemeClr val="tx1">
                                      <a:lumMod val="75000"/>
                                      <a:lumOff val="25000"/>
                                    </a:schemeClr>
                                  </a:solidFill>
                                  <a:latin typeface="Cambria Math" panose="02040503050406030204" pitchFamily="18" charset="0"/>
                                  <a:ea typeface="Cambria Math" panose="02040503050406030204" pitchFamily="18" charset="0"/>
                                </a:rPr>
                                <m:t>𝑙</m:t>
                              </m:r>
                              <m:r>
                                <a:rPr lang="en-US" altLang="ja-JP" sz="2400" b="0" i="1" smtClean="0">
                                  <a:solidFill>
                                    <a:schemeClr val="tx1">
                                      <a:lumMod val="75000"/>
                                      <a:lumOff val="25000"/>
                                    </a:schemeClr>
                                  </a:solidFill>
                                  <a:latin typeface="Cambria Math" panose="02040503050406030204" pitchFamily="18" charset="0"/>
                                  <a:ea typeface="Cambria Math" panose="02040503050406030204" pitchFamily="18" charset="0"/>
                                </a:rPr>
                                <m:t>2</m:t>
                              </m:r>
                            </m:sub>
                          </m:sSub>
                        </m:oMath>
                      </m:oMathPara>
                    </a14:m>
                    <a:endParaRPr lang="ja-JP" altLang="en-US" sz="1400" dirty="0">
                      <a:solidFill>
                        <a:schemeClr val="tx1">
                          <a:lumMod val="75000"/>
                          <a:lumOff val="25000"/>
                        </a:schemeClr>
                      </a:solidFill>
                    </a:endParaRPr>
                  </a:p>
                </p:txBody>
              </p:sp>
            </mc:Choice>
            <mc:Fallback xmlns="">
              <p:sp>
                <p:nvSpPr>
                  <p:cNvPr id="196" name="テキスト ボックス 195">
                    <a:extLst>
                      <a:ext uri="{FF2B5EF4-FFF2-40B4-BE49-F238E27FC236}">
                        <a16:creationId xmlns:a16="http://schemas.microsoft.com/office/drawing/2014/main" id="{AE595B5A-E776-4154-AA20-D3DD6EB0A547}"/>
                      </a:ext>
                    </a:extLst>
                  </p:cNvPr>
                  <p:cNvSpPr txBox="1">
                    <a:spLocks noRot="1" noChangeAspect="1" noMove="1" noResize="1" noEditPoints="1" noAdjustHandles="1" noChangeArrowheads="1" noChangeShapeType="1" noTextEdit="1"/>
                  </p:cNvSpPr>
                  <p:nvPr/>
                </p:nvSpPr>
                <p:spPr>
                  <a:xfrm>
                    <a:off x="3225818" y="5379970"/>
                    <a:ext cx="708095" cy="461665"/>
                  </a:xfrm>
                  <a:prstGeom prst="rect">
                    <a:avLst/>
                  </a:prstGeom>
                  <a:blipFill>
                    <a:blip r:embed="rId10"/>
                    <a:stretch>
                      <a:fillRect b="-2667"/>
                    </a:stretch>
                  </a:blipFill>
                  <a:effectLst>
                    <a:softEdge rad="63500"/>
                  </a:effectLst>
                </p:spPr>
                <p:txBody>
                  <a:bodyPr/>
                  <a:lstStyle/>
                  <a:p>
                    <a:r>
                      <a:rPr lang="ja-JP" altLang="en-US">
                        <a:noFill/>
                      </a:rPr>
                      <a:t> </a:t>
                    </a:r>
                  </a:p>
                </p:txBody>
              </p:sp>
            </mc:Fallback>
          </mc:AlternateContent>
          <p:grpSp>
            <p:nvGrpSpPr>
              <p:cNvPr id="197" name="グループ化 196">
                <a:extLst>
                  <a:ext uri="{FF2B5EF4-FFF2-40B4-BE49-F238E27FC236}">
                    <a16:creationId xmlns:a16="http://schemas.microsoft.com/office/drawing/2014/main" id="{5B103FF4-E7BD-4493-BADA-5EF6C3C9F1A7}"/>
                  </a:ext>
                </a:extLst>
              </p:cNvPr>
              <p:cNvGrpSpPr/>
              <p:nvPr/>
            </p:nvGrpSpPr>
            <p:grpSpPr>
              <a:xfrm rot="5400000">
                <a:off x="2971690" y="4717643"/>
                <a:ext cx="1086396" cy="281522"/>
                <a:chOff x="4346724" y="4135172"/>
                <a:chExt cx="1374303" cy="356129"/>
              </a:xfrm>
            </p:grpSpPr>
            <p:sp>
              <p:nvSpPr>
                <p:cNvPr id="201" name="正方形/長方形 200">
                  <a:extLst>
                    <a:ext uri="{FF2B5EF4-FFF2-40B4-BE49-F238E27FC236}">
                      <a16:creationId xmlns:a16="http://schemas.microsoft.com/office/drawing/2014/main" id="{DBC050FA-F032-43CB-9D62-CC2DF8DD4EB9}"/>
                    </a:ext>
                  </a:extLst>
                </p:cNvPr>
                <p:cNvSpPr/>
                <p:nvPr/>
              </p:nvSpPr>
              <p:spPr>
                <a:xfrm>
                  <a:off x="4479368" y="4205172"/>
                  <a:ext cx="213992" cy="213992"/>
                </a:xfrm>
                <a:prstGeom prst="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400" dirty="0"/>
                    <a:t>-1</a:t>
                  </a:r>
                  <a:endParaRPr kumimoji="1" lang="ja-JP" altLang="en-US" sz="400" dirty="0"/>
                </a:p>
              </p:txBody>
            </p:sp>
            <p:sp>
              <p:nvSpPr>
                <p:cNvPr id="202" name="正方形/長方形 201">
                  <a:extLst>
                    <a:ext uri="{FF2B5EF4-FFF2-40B4-BE49-F238E27FC236}">
                      <a16:creationId xmlns:a16="http://schemas.microsoft.com/office/drawing/2014/main" id="{8F4A7D50-FA1A-4024-AC8E-08D5E5BE4BC5}"/>
                    </a:ext>
                  </a:extLst>
                </p:cNvPr>
                <p:cNvSpPr/>
                <p:nvPr/>
              </p:nvSpPr>
              <p:spPr>
                <a:xfrm>
                  <a:off x="4782260" y="4204815"/>
                  <a:ext cx="213992" cy="213992"/>
                </a:xfrm>
                <a:prstGeom prst="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3" name="正方形/長方形 202">
                  <a:extLst>
                    <a:ext uri="{FF2B5EF4-FFF2-40B4-BE49-F238E27FC236}">
                      <a16:creationId xmlns:a16="http://schemas.microsoft.com/office/drawing/2014/main" id="{C9D651D8-31ED-4B4B-A416-29EEAFCC807D}"/>
                    </a:ext>
                  </a:extLst>
                </p:cNvPr>
                <p:cNvSpPr/>
                <p:nvPr/>
              </p:nvSpPr>
              <p:spPr>
                <a:xfrm>
                  <a:off x="5085152" y="4204815"/>
                  <a:ext cx="213992" cy="213992"/>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4" name="正方形/長方形 203">
                  <a:extLst>
                    <a:ext uri="{FF2B5EF4-FFF2-40B4-BE49-F238E27FC236}">
                      <a16:creationId xmlns:a16="http://schemas.microsoft.com/office/drawing/2014/main" id="{1D0F6288-F01E-49BF-80FC-FD6D01B7136A}"/>
                    </a:ext>
                  </a:extLst>
                </p:cNvPr>
                <p:cNvSpPr/>
                <p:nvPr/>
              </p:nvSpPr>
              <p:spPr>
                <a:xfrm>
                  <a:off x="5388044" y="4204815"/>
                  <a:ext cx="213992" cy="213992"/>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5" name="大かっこ 204">
                  <a:extLst>
                    <a:ext uri="{FF2B5EF4-FFF2-40B4-BE49-F238E27FC236}">
                      <a16:creationId xmlns:a16="http://schemas.microsoft.com/office/drawing/2014/main" id="{D25EDE1B-ECDA-4D6B-8697-A8534D669B96}"/>
                    </a:ext>
                  </a:extLst>
                </p:cNvPr>
                <p:cNvSpPr/>
                <p:nvPr/>
              </p:nvSpPr>
              <p:spPr>
                <a:xfrm>
                  <a:off x="4346724" y="4135172"/>
                  <a:ext cx="1374303" cy="356129"/>
                </a:xfrm>
                <a:prstGeom prst="bracketPair">
                  <a:avLst/>
                </a:prstGeom>
                <a:ln w="571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sp>
            <p:nvSpPr>
              <p:cNvPr id="198" name="四角形: 角を丸くする 197">
                <a:extLst>
                  <a:ext uri="{FF2B5EF4-FFF2-40B4-BE49-F238E27FC236}">
                    <a16:creationId xmlns:a16="http://schemas.microsoft.com/office/drawing/2014/main" id="{A9ED1C14-9DA1-488A-AED4-8AE646E6A9A1}"/>
                  </a:ext>
                </a:extLst>
              </p:cNvPr>
              <p:cNvSpPr/>
              <p:nvPr/>
            </p:nvSpPr>
            <p:spPr>
              <a:xfrm>
                <a:off x="838199" y="4064587"/>
                <a:ext cx="3003664" cy="1798575"/>
              </a:xfrm>
              <a:prstGeom prst="roundRect">
                <a:avLst/>
              </a:prstGeom>
              <a:noFill/>
              <a:ln w="381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99" name="テキスト ボックス 198">
                    <a:extLst>
                      <a:ext uri="{FF2B5EF4-FFF2-40B4-BE49-F238E27FC236}">
                        <a16:creationId xmlns:a16="http://schemas.microsoft.com/office/drawing/2014/main" id="{AADB3F7B-4AE1-4025-8001-B883E983BEFD}"/>
                      </a:ext>
                    </a:extLst>
                  </p:cNvPr>
                  <p:cNvSpPr txBox="1"/>
                  <p:nvPr/>
                </p:nvSpPr>
                <p:spPr>
                  <a:xfrm>
                    <a:off x="891113" y="5354587"/>
                    <a:ext cx="708095" cy="461665"/>
                  </a:xfrm>
                  <a:prstGeom prst="rect">
                    <a:avLst/>
                  </a:prstGeom>
                  <a:noFill/>
                  <a:effectLst>
                    <a:softEdge rad="63500"/>
                  </a:effectLst>
                </p:spPr>
                <p:txBody>
                  <a:bodyPr wrap="square" anchor="ctr">
                    <a:spAutoFit/>
                  </a:bodyPr>
                  <a:lstStyle/>
                  <a:p>
                    <a:pPr/>
                    <a14:m>
                      <m:oMathPara xmlns:m="http://schemas.openxmlformats.org/officeDocument/2006/math">
                        <m:oMathParaPr>
                          <m:jc m:val="centerGroup"/>
                        </m:oMathParaPr>
                        <m:oMath xmlns:m="http://schemas.openxmlformats.org/officeDocument/2006/math">
                          <m:sSub>
                            <m:sSubPr>
                              <m:ctrlPr>
                                <a:rPr lang="en-US" altLang="ja-JP" sz="2400" i="1" smtClean="0">
                                  <a:solidFill>
                                    <a:schemeClr val="tx1">
                                      <a:lumMod val="75000"/>
                                      <a:lumOff val="25000"/>
                                    </a:schemeClr>
                                  </a:solidFill>
                                  <a:latin typeface="Cambria Math" panose="02040503050406030204" pitchFamily="18" charset="0"/>
                                  <a:ea typeface="Cambria Math" panose="02040503050406030204" pitchFamily="18" charset="0"/>
                                </a:rPr>
                              </m:ctrlPr>
                            </m:sSubPr>
                            <m:e>
                              <m:r>
                                <a:rPr lang="en-US" altLang="ja-JP" sz="2400" b="1">
                                  <a:solidFill>
                                    <a:schemeClr val="tx1">
                                      <a:lumMod val="75000"/>
                                      <a:lumOff val="25000"/>
                                    </a:schemeClr>
                                  </a:solidFill>
                                  <a:latin typeface="Cambria Math" panose="02040503050406030204" pitchFamily="18" charset="0"/>
                                  <a:ea typeface="Cambria Math" panose="02040503050406030204" pitchFamily="18" charset="0"/>
                                </a:rPr>
                                <m:t>𝐳</m:t>
                              </m:r>
                            </m:e>
                            <m:sub>
                              <m:r>
                                <a:rPr lang="en-US" altLang="ja-JP" sz="2400" i="1">
                                  <a:solidFill>
                                    <a:schemeClr val="tx1">
                                      <a:lumMod val="75000"/>
                                      <a:lumOff val="25000"/>
                                    </a:schemeClr>
                                  </a:solidFill>
                                  <a:latin typeface="Cambria Math" panose="02040503050406030204" pitchFamily="18" charset="0"/>
                                  <a:ea typeface="Cambria Math" panose="02040503050406030204" pitchFamily="18" charset="0"/>
                                </a:rPr>
                                <m:t>𝑙</m:t>
                              </m:r>
                              <m:r>
                                <a:rPr lang="en-US" altLang="ja-JP" sz="2400" b="0" i="1" smtClean="0">
                                  <a:solidFill>
                                    <a:schemeClr val="tx1">
                                      <a:lumMod val="75000"/>
                                      <a:lumOff val="25000"/>
                                    </a:schemeClr>
                                  </a:solidFill>
                                  <a:latin typeface="Cambria Math" panose="02040503050406030204" pitchFamily="18" charset="0"/>
                                  <a:ea typeface="Cambria Math" panose="02040503050406030204" pitchFamily="18" charset="0"/>
                                </a:rPr>
                                <m:t>2</m:t>
                              </m:r>
                            </m:sub>
                          </m:sSub>
                        </m:oMath>
                      </m:oMathPara>
                    </a14:m>
                    <a:endParaRPr lang="ja-JP" altLang="en-US" sz="1400" dirty="0">
                      <a:solidFill>
                        <a:schemeClr val="tx1">
                          <a:lumMod val="75000"/>
                          <a:lumOff val="25000"/>
                        </a:schemeClr>
                      </a:solidFill>
                    </a:endParaRPr>
                  </a:p>
                </p:txBody>
              </p:sp>
            </mc:Choice>
            <mc:Fallback xmlns="">
              <p:sp>
                <p:nvSpPr>
                  <p:cNvPr id="199" name="テキスト ボックス 198">
                    <a:extLst>
                      <a:ext uri="{FF2B5EF4-FFF2-40B4-BE49-F238E27FC236}">
                        <a16:creationId xmlns:a16="http://schemas.microsoft.com/office/drawing/2014/main" id="{AADB3F7B-4AE1-4025-8001-B883E983BEFD}"/>
                      </a:ext>
                    </a:extLst>
                  </p:cNvPr>
                  <p:cNvSpPr txBox="1">
                    <a:spLocks noRot="1" noChangeAspect="1" noMove="1" noResize="1" noEditPoints="1" noAdjustHandles="1" noChangeArrowheads="1" noChangeShapeType="1" noTextEdit="1"/>
                  </p:cNvSpPr>
                  <p:nvPr/>
                </p:nvSpPr>
                <p:spPr>
                  <a:xfrm>
                    <a:off x="891113" y="5354587"/>
                    <a:ext cx="708095" cy="461665"/>
                  </a:xfrm>
                  <a:prstGeom prst="rect">
                    <a:avLst/>
                  </a:prstGeom>
                  <a:blipFill>
                    <a:blip r:embed="rId11"/>
                    <a:stretch>
                      <a:fillRect b="-1333"/>
                    </a:stretch>
                  </a:blipFill>
                  <a:effectLst>
                    <a:softEdge rad="63500"/>
                  </a:effectLst>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00" name="テキスト ボックス 199">
                    <a:extLst>
                      <a:ext uri="{FF2B5EF4-FFF2-40B4-BE49-F238E27FC236}">
                        <a16:creationId xmlns:a16="http://schemas.microsoft.com/office/drawing/2014/main" id="{AB60F285-DD1B-404C-A5BD-13A2E748DE70}"/>
                      </a:ext>
                    </a:extLst>
                  </p:cNvPr>
                  <p:cNvSpPr txBox="1"/>
                  <p:nvPr/>
                </p:nvSpPr>
                <p:spPr>
                  <a:xfrm>
                    <a:off x="1183397" y="4655739"/>
                    <a:ext cx="708095" cy="461665"/>
                  </a:xfrm>
                  <a:prstGeom prst="rect">
                    <a:avLst/>
                  </a:prstGeom>
                  <a:noFill/>
                  <a:effectLst>
                    <a:softEdge rad="63500"/>
                  </a:effectLst>
                </p:spPr>
                <p:txBody>
                  <a:bodyPr wrap="square" anchor="ctr">
                    <a:spAutoFit/>
                  </a:bodyPr>
                  <a:lstStyle/>
                  <a:p>
                    <a:pPr/>
                    <a14:m>
                      <m:oMathPara xmlns:m="http://schemas.openxmlformats.org/officeDocument/2006/math">
                        <m:oMathParaPr>
                          <m:jc m:val="centerGroup"/>
                        </m:oMathParaPr>
                        <m:oMath xmlns:m="http://schemas.openxmlformats.org/officeDocument/2006/math">
                          <m:r>
                            <a:rPr lang="en-US" altLang="ja-JP" sz="2400" i="1" smtClean="0">
                              <a:solidFill>
                                <a:schemeClr val="tx1">
                                  <a:lumMod val="75000"/>
                                  <a:lumOff val="25000"/>
                                </a:schemeClr>
                              </a:solidFill>
                              <a:latin typeface="Cambria Math" panose="02040503050406030204" pitchFamily="18" charset="0"/>
                              <a:ea typeface="Cambria Math" panose="02040503050406030204" pitchFamily="18" charset="0"/>
                            </a:rPr>
                            <m:t>⊙</m:t>
                          </m:r>
                        </m:oMath>
                      </m:oMathPara>
                    </a14:m>
                    <a:endParaRPr lang="ja-JP" altLang="en-US" sz="1400" dirty="0">
                      <a:solidFill>
                        <a:schemeClr val="tx1">
                          <a:lumMod val="75000"/>
                          <a:lumOff val="25000"/>
                        </a:schemeClr>
                      </a:solidFill>
                    </a:endParaRPr>
                  </a:p>
                </p:txBody>
              </p:sp>
            </mc:Choice>
            <mc:Fallback xmlns="">
              <p:sp>
                <p:nvSpPr>
                  <p:cNvPr id="200" name="テキスト ボックス 199">
                    <a:extLst>
                      <a:ext uri="{FF2B5EF4-FFF2-40B4-BE49-F238E27FC236}">
                        <a16:creationId xmlns:a16="http://schemas.microsoft.com/office/drawing/2014/main" id="{AB60F285-DD1B-404C-A5BD-13A2E748DE70}"/>
                      </a:ext>
                    </a:extLst>
                  </p:cNvPr>
                  <p:cNvSpPr txBox="1">
                    <a:spLocks noRot="1" noChangeAspect="1" noMove="1" noResize="1" noEditPoints="1" noAdjustHandles="1" noChangeArrowheads="1" noChangeShapeType="1" noTextEdit="1"/>
                  </p:cNvSpPr>
                  <p:nvPr/>
                </p:nvSpPr>
                <p:spPr>
                  <a:xfrm>
                    <a:off x="1183397" y="4655739"/>
                    <a:ext cx="708095" cy="461665"/>
                  </a:xfrm>
                  <a:prstGeom prst="rect">
                    <a:avLst/>
                  </a:prstGeom>
                  <a:blipFill>
                    <a:blip r:embed="rId12"/>
                    <a:stretch>
                      <a:fillRect b="-7895"/>
                    </a:stretch>
                  </a:blipFill>
                  <a:effectLst>
                    <a:softEdge rad="63500"/>
                  </a:effectLst>
                </p:spPr>
                <p:txBody>
                  <a:bodyPr/>
                  <a:lstStyle/>
                  <a:p>
                    <a:r>
                      <a:rPr lang="ja-JP" altLang="en-US">
                        <a:noFill/>
                      </a:rPr>
                      <a:t> </a:t>
                    </a:r>
                  </a:p>
                </p:txBody>
              </p:sp>
            </mc:Fallback>
          </mc:AlternateContent>
        </p:grpSp>
        <p:grpSp>
          <p:nvGrpSpPr>
            <p:cNvPr id="229" name="グループ化 228">
              <a:extLst>
                <a:ext uri="{FF2B5EF4-FFF2-40B4-BE49-F238E27FC236}">
                  <a16:creationId xmlns:a16="http://schemas.microsoft.com/office/drawing/2014/main" id="{904B44D2-BEF0-4A94-8EA9-1902CD943147}"/>
                </a:ext>
              </a:extLst>
            </p:cNvPr>
            <p:cNvGrpSpPr/>
            <p:nvPr/>
          </p:nvGrpSpPr>
          <p:grpSpPr>
            <a:xfrm>
              <a:off x="7672513" y="4103877"/>
              <a:ext cx="3095714" cy="1798575"/>
              <a:chOff x="838199" y="4064587"/>
              <a:chExt cx="3095714" cy="1798575"/>
            </a:xfrm>
          </p:grpSpPr>
          <p:grpSp>
            <p:nvGrpSpPr>
              <p:cNvPr id="230" name="グループ化 229">
                <a:extLst>
                  <a:ext uri="{FF2B5EF4-FFF2-40B4-BE49-F238E27FC236}">
                    <a16:creationId xmlns:a16="http://schemas.microsoft.com/office/drawing/2014/main" id="{9D0D64A9-D396-4B32-B873-877BA2828A18}"/>
                  </a:ext>
                </a:extLst>
              </p:cNvPr>
              <p:cNvGrpSpPr/>
              <p:nvPr/>
            </p:nvGrpSpPr>
            <p:grpSpPr>
              <a:xfrm>
                <a:off x="1816433" y="4303058"/>
                <a:ext cx="1409385" cy="1110692"/>
                <a:chOff x="2322930" y="3353671"/>
                <a:chExt cx="2319094" cy="1827605"/>
              </a:xfrm>
            </p:grpSpPr>
            <p:grpSp>
              <p:nvGrpSpPr>
                <p:cNvPr id="248" name="グループ化 247">
                  <a:extLst>
                    <a:ext uri="{FF2B5EF4-FFF2-40B4-BE49-F238E27FC236}">
                      <a16:creationId xmlns:a16="http://schemas.microsoft.com/office/drawing/2014/main" id="{3E2E20BE-F25A-491D-B67D-69254C05315F}"/>
                    </a:ext>
                  </a:extLst>
                </p:cNvPr>
                <p:cNvGrpSpPr/>
                <p:nvPr/>
              </p:nvGrpSpPr>
              <p:grpSpPr>
                <a:xfrm>
                  <a:off x="2652046" y="3451928"/>
                  <a:ext cx="1700918" cy="1676670"/>
                  <a:chOff x="1138989" y="3968713"/>
                  <a:chExt cx="1700918" cy="1676670"/>
                </a:xfrm>
              </p:grpSpPr>
              <p:sp>
                <p:nvSpPr>
                  <p:cNvPr id="250" name="正方形/長方形 249">
                    <a:extLst>
                      <a:ext uri="{FF2B5EF4-FFF2-40B4-BE49-F238E27FC236}">
                        <a16:creationId xmlns:a16="http://schemas.microsoft.com/office/drawing/2014/main" id="{E9C77B7C-AB24-4A18-A963-51E2F6AC3E6E}"/>
                      </a:ext>
                    </a:extLst>
                  </p:cNvPr>
                  <p:cNvSpPr/>
                  <p:nvPr/>
                </p:nvSpPr>
                <p:spPr>
                  <a:xfrm>
                    <a:off x="1138989" y="3974039"/>
                    <a:ext cx="319421" cy="319421"/>
                  </a:xfrm>
                  <a:prstGeom prst="rect">
                    <a:avLst/>
                  </a:prstGeom>
                  <a:solidFill>
                    <a:schemeClr val="accent6">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1" name="正方形/長方形 250">
                    <a:extLst>
                      <a:ext uri="{FF2B5EF4-FFF2-40B4-BE49-F238E27FC236}">
                        <a16:creationId xmlns:a16="http://schemas.microsoft.com/office/drawing/2014/main" id="{5E94C534-BE6B-4C2B-80F9-B71236968C57}"/>
                      </a:ext>
                    </a:extLst>
                  </p:cNvPr>
                  <p:cNvSpPr/>
                  <p:nvPr/>
                </p:nvSpPr>
                <p:spPr>
                  <a:xfrm>
                    <a:off x="1599488" y="3974039"/>
                    <a:ext cx="319421" cy="319421"/>
                  </a:xfrm>
                  <a:prstGeom prst="rect">
                    <a:avLst/>
                  </a:prstGeom>
                  <a:solidFill>
                    <a:schemeClr val="accent6">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52" name="正方形/長方形 251">
                    <a:extLst>
                      <a:ext uri="{FF2B5EF4-FFF2-40B4-BE49-F238E27FC236}">
                        <a16:creationId xmlns:a16="http://schemas.microsoft.com/office/drawing/2014/main" id="{D1CFED54-C015-48E4-B048-347F0BC84F3F}"/>
                      </a:ext>
                    </a:extLst>
                  </p:cNvPr>
                  <p:cNvSpPr/>
                  <p:nvPr/>
                </p:nvSpPr>
                <p:spPr>
                  <a:xfrm>
                    <a:off x="2059987" y="3968714"/>
                    <a:ext cx="319421" cy="319421"/>
                  </a:xfrm>
                  <a:prstGeom prst="rect">
                    <a:avLst/>
                  </a:prstGeom>
                  <a:solidFill>
                    <a:schemeClr val="accent6">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3" name="正方形/長方形 252">
                    <a:extLst>
                      <a:ext uri="{FF2B5EF4-FFF2-40B4-BE49-F238E27FC236}">
                        <a16:creationId xmlns:a16="http://schemas.microsoft.com/office/drawing/2014/main" id="{A8560688-464D-49D7-9CA8-FFFD4B7CB495}"/>
                      </a:ext>
                    </a:extLst>
                  </p:cNvPr>
                  <p:cNvSpPr/>
                  <p:nvPr/>
                </p:nvSpPr>
                <p:spPr>
                  <a:xfrm>
                    <a:off x="2520486" y="3968713"/>
                    <a:ext cx="319421" cy="319421"/>
                  </a:xfrm>
                  <a:prstGeom prst="rect">
                    <a:avLst/>
                  </a:prstGeom>
                  <a:solidFill>
                    <a:schemeClr val="accent6">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4" name="正方形/長方形 253">
                    <a:extLst>
                      <a:ext uri="{FF2B5EF4-FFF2-40B4-BE49-F238E27FC236}">
                        <a16:creationId xmlns:a16="http://schemas.microsoft.com/office/drawing/2014/main" id="{AD659CFF-D0DB-4762-9E66-11856C5CC8F5}"/>
                      </a:ext>
                    </a:extLst>
                  </p:cNvPr>
                  <p:cNvSpPr/>
                  <p:nvPr/>
                </p:nvSpPr>
                <p:spPr>
                  <a:xfrm>
                    <a:off x="1138989" y="4424680"/>
                    <a:ext cx="319421" cy="319421"/>
                  </a:xfrm>
                  <a:prstGeom prst="rect">
                    <a:avLst/>
                  </a:prstGeom>
                  <a:solidFill>
                    <a:schemeClr val="accent5">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5" name="正方形/長方形 254">
                    <a:extLst>
                      <a:ext uri="{FF2B5EF4-FFF2-40B4-BE49-F238E27FC236}">
                        <a16:creationId xmlns:a16="http://schemas.microsoft.com/office/drawing/2014/main" id="{00362827-B9F5-4980-ADDD-E61D22170BF2}"/>
                      </a:ext>
                    </a:extLst>
                  </p:cNvPr>
                  <p:cNvSpPr/>
                  <p:nvPr/>
                </p:nvSpPr>
                <p:spPr>
                  <a:xfrm>
                    <a:off x="1599488" y="4424680"/>
                    <a:ext cx="319421" cy="319421"/>
                  </a:xfrm>
                  <a:prstGeom prst="rect">
                    <a:avLst/>
                  </a:prstGeom>
                  <a:solidFill>
                    <a:schemeClr val="accent5">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6" name="正方形/長方形 255">
                    <a:extLst>
                      <a:ext uri="{FF2B5EF4-FFF2-40B4-BE49-F238E27FC236}">
                        <a16:creationId xmlns:a16="http://schemas.microsoft.com/office/drawing/2014/main" id="{68C6C632-E8E8-43DF-AACB-BB3B986322A7}"/>
                      </a:ext>
                    </a:extLst>
                  </p:cNvPr>
                  <p:cNvSpPr/>
                  <p:nvPr/>
                </p:nvSpPr>
                <p:spPr>
                  <a:xfrm>
                    <a:off x="2059987" y="4419355"/>
                    <a:ext cx="319421" cy="319421"/>
                  </a:xfrm>
                  <a:prstGeom prst="rect">
                    <a:avLst/>
                  </a:prstGeom>
                  <a:solidFill>
                    <a:schemeClr val="accent5">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7" name="正方形/長方形 256">
                    <a:extLst>
                      <a:ext uri="{FF2B5EF4-FFF2-40B4-BE49-F238E27FC236}">
                        <a16:creationId xmlns:a16="http://schemas.microsoft.com/office/drawing/2014/main" id="{E0A2154B-653A-45AF-BAB6-B778527065D5}"/>
                      </a:ext>
                    </a:extLst>
                  </p:cNvPr>
                  <p:cNvSpPr/>
                  <p:nvPr/>
                </p:nvSpPr>
                <p:spPr>
                  <a:xfrm>
                    <a:off x="2520486" y="4419354"/>
                    <a:ext cx="319421" cy="319421"/>
                  </a:xfrm>
                  <a:prstGeom prst="rect">
                    <a:avLst/>
                  </a:prstGeom>
                  <a:solidFill>
                    <a:schemeClr val="accent5">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8" name="正方形/長方形 257">
                    <a:extLst>
                      <a:ext uri="{FF2B5EF4-FFF2-40B4-BE49-F238E27FC236}">
                        <a16:creationId xmlns:a16="http://schemas.microsoft.com/office/drawing/2014/main" id="{CDF614F1-A8C4-481A-943D-0880CDFD787E}"/>
                      </a:ext>
                    </a:extLst>
                  </p:cNvPr>
                  <p:cNvSpPr/>
                  <p:nvPr/>
                </p:nvSpPr>
                <p:spPr>
                  <a:xfrm>
                    <a:off x="1138989" y="4875321"/>
                    <a:ext cx="319421" cy="319421"/>
                  </a:xfrm>
                  <a:prstGeom prst="rect">
                    <a:avLst/>
                  </a:prstGeom>
                  <a:solidFill>
                    <a:schemeClr val="accent4">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9" name="正方形/長方形 258">
                    <a:extLst>
                      <a:ext uri="{FF2B5EF4-FFF2-40B4-BE49-F238E27FC236}">
                        <a16:creationId xmlns:a16="http://schemas.microsoft.com/office/drawing/2014/main" id="{5D106671-BE84-488E-8F10-F9075CC0D3AC}"/>
                      </a:ext>
                    </a:extLst>
                  </p:cNvPr>
                  <p:cNvSpPr/>
                  <p:nvPr/>
                </p:nvSpPr>
                <p:spPr>
                  <a:xfrm>
                    <a:off x="1599488" y="4875321"/>
                    <a:ext cx="319421" cy="319421"/>
                  </a:xfrm>
                  <a:prstGeom prst="rect">
                    <a:avLst/>
                  </a:prstGeom>
                  <a:solidFill>
                    <a:schemeClr val="accent4">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0" name="正方形/長方形 259">
                    <a:extLst>
                      <a:ext uri="{FF2B5EF4-FFF2-40B4-BE49-F238E27FC236}">
                        <a16:creationId xmlns:a16="http://schemas.microsoft.com/office/drawing/2014/main" id="{F5CBB638-3C22-4A08-A5AE-FA740E959AAA}"/>
                      </a:ext>
                    </a:extLst>
                  </p:cNvPr>
                  <p:cNvSpPr/>
                  <p:nvPr/>
                </p:nvSpPr>
                <p:spPr>
                  <a:xfrm>
                    <a:off x="2059987" y="4869996"/>
                    <a:ext cx="319421" cy="319421"/>
                  </a:xfrm>
                  <a:prstGeom prst="rect">
                    <a:avLst/>
                  </a:prstGeom>
                  <a:solidFill>
                    <a:schemeClr val="accent4">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1" name="正方形/長方形 260">
                    <a:extLst>
                      <a:ext uri="{FF2B5EF4-FFF2-40B4-BE49-F238E27FC236}">
                        <a16:creationId xmlns:a16="http://schemas.microsoft.com/office/drawing/2014/main" id="{E8D718C6-C8E0-4EF7-A9FA-8699F7AD9CAC}"/>
                      </a:ext>
                    </a:extLst>
                  </p:cNvPr>
                  <p:cNvSpPr/>
                  <p:nvPr/>
                </p:nvSpPr>
                <p:spPr>
                  <a:xfrm>
                    <a:off x="2520486" y="4869995"/>
                    <a:ext cx="319421" cy="319421"/>
                  </a:xfrm>
                  <a:prstGeom prst="rect">
                    <a:avLst/>
                  </a:prstGeom>
                  <a:solidFill>
                    <a:schemeClr val="accent4">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2" name="正方形/長方形 261">
                    <a:extLst>
                      <a:ext uri="{FF2B5EF4-FFF2-40B4-BE49-F238E27FC236}">
                        <a16:creationId xmlns:a16="http://schemas.microsoft.com/office/drawing/2014/main" id="{12660BEA-DECD-44C1-B99D-D98E618000C4}"/>
                      </a:ext>
                    </a:extLst>
                  </p:cNvPr>
                  <p:cNvSpPr/>
                  <p:nvPr/>
                </p:nvSpPr>
                <p:spPr>
                  <a:xfrm>
                    <a:off x="1138989" y="5325962"/>
                    <a:ext cx="319421" cy="319421"/>
                  </a:xfrm>
                  <a:prstGeom prst="rect">
                    <a:avLst/>
                  </a:prstGeom>
                  <a:solidFill>
                    <a:schemeClr val="accent2">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3" name="正方形/長方形 262">
                    <a:extLst>
                      <a:ext uri="{FF2B5EF4-FFF2-40B4-BE49-F238E27FC236}">
                        <a16:creationId xmlns:a16="http://schemas.microsoft.com/office/drawing/2014/main" id="{BF041DB7-F30D-465D-985A-78435D383ADE}"/>
                      </a:ext>
                    </a:extLst>
                  </p:cNvPr>
                  <p:cNvSpPr/>
                  <p:nvPr/>
                </p:nvSpPr>
                <p:spPr>
                  <a:xfrm>
                    <a:off x="1599488" y="5325962"/>
                    <a:ext cx="319421" cy="319421"/>
                  </a:xfrm>
                  <a:prstGeom prst="rect">
                    <a:avLst/>
                  </a:prstGeom>
                  <a:solidFill>
                    <a:schemeClr val="accent2">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4" name="正方形/長方形 263">
                    <a:extLst>
                      <a:ext uri="{FF2B5EF4-FFF2-40B4-BE49-F238E27FC236}">
                        <a16:creationId xmlns:a16="http://schemas.microsoft.com/office/drawing/2014/main" id="{D3E1C8FD-0553-41E9-B88C-B69D32D078E7}"/>
                      </a:ext>
                    </a:extLst>
                  </p:cNvPr>
                  <p:cNvSpPr/>
                  <p:nvPr/>
                </p:nvSpPr>
                <p:spPr>
                  <a:xfrm>
                    <a:off x="2059987" y="5320637"/>
                    <a:ext cx="319421" cy="319421"/>
                  </a:xfrm>
                  <a:prstGeom prst="rect">
                    <a:avLst/>
                  </a:prstGeom>
                  <a:solidFill>
                    <a:schemeClr val="accent2">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5" name="正方形/長方形 264">
                    <a:extLst>
                      <a:ext uri="{FF2B5EF4-FFF2-40B4-BE49-F238E27FC236}">
                        <a16:creationId xmlns:a16="http://schemas.microsoft.com/office/drawing/2014/main" id="{AB98562E-0D2A-49A3-9916-E67EE95FDFD6}"/>
                      </a:ext>
                    </a:extLst>
                  </p:cNvPr>
                  <p:cNvSpPr/>
                  <p:nvPr/>
                </p:nvSpPr>
                <p:spPr>
                  <a:xfrm>
                    <a:off x="2520486" y="5320636"/>
                    <a:ext cx="319421" cy="319421"/>
                  </a:xfrm>
                  <a:prstGeom prst="rect">
                    <a:avLst/>
                  </a:prstGeom>
                  <a:solidFill>
                    <a:schemeClr val="accent2">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9" name="大かっこ 248">
                  <a:extLst>
                    <a:ext uri="{FF2B5EF4-FFF2-40B4-BE49-F238E27FC236}">
                      <a16:creationId xmlns:a16="http://schemas.microsoft.com/office/drawing/2014/main" id="{318DF8CD-A31F-433A-80A2-A9597ECCC561}"/>
                    </a:ext>
                  </a:extLst>
                </p:cNvPr>
                <p:cNvSpPr/>
                <p:nvPr/>
              </p:nvSpPr>
              <p:spPr>
                <a:xfrm>
                  <a:off x="2322930" y="3353671"/>
                  <a:ext cx="2319094" cy="1827605"/>
                </a:xfrm>
                <a:prstGeom prst="bracketPair">
                  <a:avLst/>
                </a:prstGeom>
                <a:ln w="571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mc:AlternateContent xmlns:mc="http://schemas.openxmlformats.org/markup-compatibility/2006" xmlns:a14="http://schemas.microsoft.com/office/drawing/2010/main">
            <mc:Choice Requires="a14">
              <p:sp>
                <p:nvSpPr>
                  <p:cNvPr id="231" name="テキスト ボックス 230">
                    <a:extLst>
                      <a:ext uri="{FF2B5EF4-FFF2-40B4-BE49-F238E27FC236}">
                        <a16:creationId xmlns:a16="http://schemas.microsoft.com/office/drawing/2014/main" id="{66B8CE6A-13EE-44F0-A610-9602363B3EE4}"/>
                      </a:ext>
                    </a:extLst>
                  </p:cNvPr>
                  <p:cNvSpPr txBox="1"/>
                  <p:nvPr/>
                </p:nvSpPr>
                <p:spPr>
                  <a:xfrm>
                    <a:off x="2195401" y="5384497"/>
                    <a:ext cx="708095" cy="461665"/>
                  </a:xfrm>
                  <a:prstGeom prst="rect">
                    <a:avLst/>
                  </a:prstGeom>
                  <a:noFill/>
                  <a:effectLst>
                    <a:softEdge rad="63500"/>
                  </a:effectLst>
                </p:spPr>
                <p:txBody>
                  <a:bodyPr wrap="square" anchor="ctr">
                    <a:spAutoFit/>
                  </a:bodyPr>
                  <a:lstStyle/>
                  <a:p>
                    <a:pPr/>
                    <a14:m>
                      <m:oMathPara xmlns:m="http://schemas.openxmlformats.org/officeDocument/2006/math">
                        <m:oMathParaPr>
                          <m:jc m:val="centerGroup"/>
                        </m:oMathParaPr>
                        <m:oMath xmlns:m="http://schemas.openxmlformats.org/officeDocument/2006/math">
                          <m:sSub>
                            <m:sSubPr>
                              <m:ctrlPr>
                                <a:rPr lang="en-US" altLang="ja-JP" sz="2400" i="1" smtClean="0">
                                  <a:solidFill>
                                    <a:schemeClr val="tx1">
                                      <a:lumMod val="75000"/>
                                      <a:lumOff val="25000"/>
                                    </a:schemeClr>
                                  </a:solidFill>
                                  <a:latin typeface="Cambria Math" panose="02040503050406030204" pitchFamily="18" charset="0"/>
                                  <a:ea typeface="Cambria Math" panose="02040503050406030204" pitchFamily="18" charset="0"/>
                                </a:rPr>
                              </m:ctrlPr>
                            </m:sSubPr>
                            <m:e>
                              <m:r>
                                <a:rPr lang="en-US" altLang="ja-JP" sz="2400" b="1" i="0" smtClean="0">
                                  <a:solidFill>
                                    <a:schemeClr val="tx1">
                                      <a:lumMod val="75000"/>
                                      <a:lumOff val="25000"/>
                                    </a:schemeClr>
                                  </a:solidFill>
                                  <a:latin typeface="Cambria Math" panose="02040503050406030204" pitchFamily="18" charset="0"/>
                                  <a:ea typeface="Cambria Math" panose="02040503050406030204" pitchFamily="18" charset="0"/>
                                </a:rPr>
                                <m:t>𝐇</m:t>
                              </m:r>
                            </m:e>
                            <m:sub>
                              <m:r>
                                <a:rPr lang="en-US" altLang="ja-JP" sz="2400" i="1">
                                  <a:solidFill>
                                    <a:schemeClr val="tx1">
                                      <a:lumMod val="75000"/>
                                      <a:lumOff val="25000"/>
                                    </a:schemeClr>
                                  </a:solidFill>
                                  <a:latin typeface="Cambria Math" panose="02040503050406030204" pitchFamily="18" charset="0"/>
                                  <a:ea typeface="Cambria Math" panose="02040503050406030204" pitchFamily="18" charset="0"/>
                                </a:rPr>
                                <m:t>𝑘</m:t>
                              </m:r>
                            </m:sub>
                          </m:sSub>
                        </m:oMath>
                      </m:oMathPara>
                    </a14:m>
                    <a:endParaRPr lang="ja-JP" altLang="en-US" sz="1400" dirty="0">
                      <a:solidFill>
                        <a:schemeClr val="tx1">
                          <a:lumMod val="75000"/>
                          <a:lumOff val="25000"/>
                        </a:schemeClr>
                      </a:solidFill>
                    </a:endParaRPr>
                  </a:p>
                </p:txBody>
              </p:sp>
            </mc:Choice>
            <mc:Fallback xmlns="">
              <p:sp>
                <p:nvSpPr>
                  <p:cNvPr id="231" name="テキスト ボックス 230">
                    <a:extLst>
                      <a:ext uri="{FF2B5EF4-FFF2-40B4-BE49-F238E27FC236}">
                        <a16:creationId xmlns:a16="http://schemas.microsoft.com/office/drawing/2014/main" id="{66B8CE6A-13EE-44F0-A610-9602363B3EE4}"/>
                      </a:ext>
                    </a:extLst>
                  </p:cNvPr>
                  <p:cNvSpPr txBox="1">
                    <a:spLocks noRot="1" noChangeAspect="1" noMove="1" noResize="1" noEditPoints="1" noAdjustHandles="1" noChangeArrowheads="1" noChangeShapeType="1" noTextEdit="1"/>
                  </p:cNvSpPr>
                  <p:nvPr/>
                </p:nvSpPr>
                <p:spPr>
                  <a:xfrm>
                    <a:off x="2195401" y="5384497"/>
                    <a:ext cx="708095" cy="461665"/>
                  </a:xfrm>
                  <a:prstGeom prst="rect">
                    <a:avLst/>
                  </a:prstGeom>
                  <a:blipFill>
                    <a:blip r:embed="rId13"/>
                    <a:stretch>
                      <a:fillRect b="-2667"/>
                    </a:stretch>
                  </a:blipFill>
                  <a:effectLst>
                    <a:softEdge rad="63500"/>
                  </a:effectLst>
                </p:spPr>
                <p:txBody>
                  <a:bodyPr/>
                  <a:lstStyle/>
                  <a:p>
                    <a:r>
                      <a:rPr lang="ja-JP" altLang="en-US">
                        <a:noFill/>
                      </a:rPr>
                      <a:t> </a:t>
                    </a:r>
                  </a:p>
                </p:txBody>
              </p:sp>
            </mc:Fallback>
          </mc:AlternateContent>
          <p:grpSp>
            <p:nvGrpSpPr>
              <p:cNvPr id="232" name="グループ化 231">
                <a:extLst>
                  <a:ext uri="{FF2B5EF4-FFF2-40B4-BE49-F238E27FC236}">
                    <a16:creationId xmlns:a16="http://schemas.microsoft.com/office/drawing/2014/main" id="{CEDB71D9-1F84-445C-AD05-68146E5551B6}"/>
                  </a:ext>
                </a:extLst>
              </p:cNvPr>
              <p:cNvGrpSpPr/>
              <p:nvPr/>
            </p:nvGrpSpPr>
            <p:grpSpPr>
              <a:xfrm rot="5400000">
                <a:off x="632668" y="4703477"/>
                <a:ext cx="1086397" cy="281522"/>
                <a:chOff x="4346724" y="4135172"/>
                <a:chExt cx="1374304" cy="356129"/>
              </a:xfrm>
            </p:grpSpPr>
            <p:sp>
              <p:nvSpPr>
                <p:cNvPr id="243" name="正方形/長方形 242">
                  <a:extLst>
                    <a:ext uri="{FF2B5EF4-FFF2-40B4-BE49-F238E27FC236}">
                      <a16:creationId xmlns:a16="http://schemas.microsoft.com/office/drawing/2014/main" id="{0FE7CFBD-BE6D-4908-A7D1-552D9B97DB57}"/>
                    </a:ext>
                  </a:extLst>
                </p:cNvPr>
                <p:cNvSpPr/>
                <p:nvPr/>
              </p:nvSpPr>
              <p:spPr>
                <a:xfrm>
                  <a:off x="4479368" y="4205172"/>
                  <a:ext cx="213992" cy="213992"/>
                </a:xfrm>
                <a:prstGeom prst="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400" dirty="0"/>
                    <a:t>-1</a:t>
                  </a:r>
                  <a:endParaRPr kumimoji="1" lang="ja-JP" altLang="en-US" sz="400" dirty="0"/>
                </a:p>
              </p:txBody>
            </p:sp>
            <p:sp>
              <p:nvSpPr>
                <p:cNvPr id="244" name="正方形/長方形 243">
                  <a:extLst>
                    <a:ext uri="{FF2B5EF4-FFF2-40B4-BE49-F238E27FC236}">
                      <a16:creationId xmlns:a16="http://schemas.microsoft.com/office/drawing/2014/main" id="{C04ECE7F-AF28-4FE3-8C7D-0E32E5C6B3DE}"/>
                    </a:ext>
                  </a:extLst>
                </p:cNvPr>
                <p:cNvSpPr/>
                <p:nvPr/>
              </p:nvSpPr>
              <p:spPr>
                <a:xfrm>
                  <a:off x="4782260" y="4204815"/>
                  <a:ext cx="213992" cy="213992"/>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5" name="正方形/長方形 244">
                  <a:extLst>
                    <a:ext uri="{FF2B5EF4-FFF2-40B4-BE49-F238E27FC236}">
                      <a16:creationId xmlns:a16="http://schemas.microsoft.com/office/drawing/2014/main" id="{86E8A1B9-7882-49E8-B047-24B245853926}"/>
                    </a:ext>
                  </a:extLst>
                </p:cNvPr>
                <p:cNvSpPr/>
                <p:nvPr/>
              </p:nvSpPr>
              <p:spPr>
                <a:xfrm>
                  <a:off x="5085152" y="4204815"/>
                  <a:ext cx="213992" cy="213992"/>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6" name="正方形/長方形 245">
                  <a:extLst>
                    <a:ext uri="{FF2B5EF4-FFF2-40B4-BE49-F238E27FC236}">
                      <a16:creationId xmlns:a16="http://schemas.microsoft.com/office/drawing/2014/main" id="{EB7A30EB-6E2B-48DB-8750-ECC03F191DC3}"/>
                    </a:ext>
                  </a:extLst>
                </p:cNvPr>
                <p:cNvSpPr/>
                <p:nvPr/>
              </p:nvSpPr>
              <p:spPr>
                <a:xfrm>
                  <a:off x="5388044" y="4204815"/>
                  <a:ext cx="213992" cy="213992"/>
                </a:xfrm>
                <a:prstGeom prst="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7" name="大かっこ 246">
                  <a:extLst>
                    <a:ext uri="{FF2B5EF4-FFF2-40B4-BE49-F238E27FC236}">
                      <a16:creationId xmlns:a16="http://schemas.microsoft.com/office/drawing/2014/main" id="{0153E35A-507B-43CB-8200-9859D80EC4AA}"/>
                    </a:ext>
                  </a:extLst>
                </p:cNvPr>
                <p:cNvSpPr/>
                <p:nvPr/>
              </p:nvSpPr>
              <p:spPr>
                <a:xfrm>
                  <a:off x="4346724" y="4135172"/>
                  <a:ext cx="1374304" cy="356129"/>
                </a:xfrm>
                <a:prstGeom prst="bracketPair">
                  <a:avLst/>
                </a:prstGeom>
                <a:ln w="571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mc:AlternateContent xmlns:mc="http://schemas.openxmlformats.org/markup-compatibility/2006" xmlns:a14="http://schemas.microsoft.com/office/drawing/2010/main">
            <mc:Choice Requires="a14">
              <p:sp>
                <p:nvSpPr>
                  <p:cNvPr id="233" name="テキスト ボックス 232">
                    <a:extLst>
                      <a:ext uri="{FF2B5EF4-FFF2-40B4-BE49-F238E27FC236}">
                        <a16:creationId xmlns:a16="http://schemas.microsoft.com/office/drawing/2014/main" id="{89ADF8FF-7F43-4A01-8440-A672C7912AED}"/>
                      </a:ext>
                    </a:extLst>
                  </p:cNvPr>
                  <p:cNvSpPr txBox="1"/>
                  <p:nvPr/>
                </p:nvSpPr>
                <p:spPr>
                  <a:xfrm>
                    <a:off x="3225818" y="5379970"/>
                    <a:ext cx="708095" cy="461665"/>
                  </a:xfrm>
                  <a:prstGeom prst="rect">
                    <a:avLst/>
                  </a:prstGeom>
                  <a:noFill/>
                  <a:effectLst>
                    <a:softEdge rad="63500"/>
                  </a:effectLst>
                </p:spPr>
                <p:txBody>
                  <a:bodyPr wrap="square" anchor="ctr">
                    <a:spAutoFit/>
                  </a:bodyPr>
                  <a:lstStyle/>
                  <a:p>
                    <a:pPr/>
                    <a14:m>
                      <m:oMathPara xmlns:m="http://schemas.openxmlformats.org/officeDocument/2006/math">
                        <m:oMathParaPr>
                          <m:jc m:val="centerGroup"/>
                        </m:oMathParaPr>
                        <m:oMath xmlns:m="http://schemas.openxmlformats.org/officeDocument/2006/math">
                          <m:sSub>
                            <m:sSubPr>
                              <m:ctrlPr>
                                <a:rPr lang="en-US" altLang="ja-JP" sz="2400" i="1" smtClean="0">
                                  <a:solidFill>
                                    <a:schemeClr val="tx1">
                                      <a:lumMod val="75000"/>
                                      <a:lumOff val="25000"/>
                                    </a:schemeClr>
                                  </a:solidFill>
                                  <a:latin typeface="Cambria Math" panose="02040503050406030204" pitchFamily="18" charset="0"/>
                                  <a:ea typeface="Cambria Math" panose="02040503050406030204" pitchFamily="18" charset="0"/>
                                </a:rPr>
                              </m:ctrlPr>
                            </m:sSubPr>
                            <m:e>
                              <m:r>
                                <a:rPr lang="en-US" altLang="ja-JP" sz="2400" b="1">
                                  <a:solidFill>
                                    <a:schemeClr val="tx1">
                                      <a:lumMod val="75000"/>
                                      <a:lumOff val="25000"/>
                                    </a:schemeClr>
                                  </a:solidFill>
                                  <a:latin typeface="Cambria Math" panose="02040503050406030204" pitchFamily="18" charset="0"/>
                                  <a:ea typeface="Cambria Math" panose="02040503050406030204" pitchFamily="18" charset="0"/>
                                </a:rPr>
                                <m:t>𝐳</m:t>
                              </m:r>
                            </m:e>
                            <m:sub>
                              <m:r>
                                <a:rPr lang="en-US" altLang="ja-JP" sz="2400" i="1">
                                  <a:solidFill>
                                    <a:schemeClr val="tx1">
                                      <a:lumMod val="75000"/>
                                      <a:lumOff val="25000"/>
                                    </a:schemeClr>
                                  </a:solidFill>
                                  <a:latin typeface="Cambria Math" panose="02040503050406030204" pitchFamily="18" charset="0"/>
                                  <a:ea typeface="Cambria Math" panose="02040503050406030204" pitchFamily="18" charset="0"/>
                                </a:rPr>
                                <m:t>𝑙</m:t>
                              </m:r>
                              <m:r>
                                <a:rPr lang="en-US" altLang="ja-JP" sz="2400" b="0" i="1" smtClean="0">
                                  <a:solidFill>
                                    <a:schemeClr val="tx1">
                                      <a:lumMod val="75000"/>
                                      <a:lumOff val="25000"/>
                                    </a:schemeClr>
                                  </a:solidFill>
                                  <a:latin typeface="Cambria Math" panose="02040503050406030204" pitchFamily="18" charset="0"/>
                                  <a:ea typeface="Cambria Math" panose="02040503050406030204" pitchFamily="18" charset="0"/>
                                </a:rPr>
                                <m:t>𝑠</m:t>
                              </m:r>
                            </m:sub>
                          </m:sSub>
                        </m:oMath>
                      </m:oMathPara>
                    </a14:m>
                    <a:endParaRPr lang="ja-JP" altLang="en-US" sz="1400" dirty="0">
                      <a:solidFill>
                        <a:schemeClr val="tx1">
                          <a:lumMod val="75000"/>
                          <a:lumOff val="25000"/>
                        </a:schemeClr>
                      </a:solidFill>
                    </a:endParaRPr>
                  </a:p>
                </p:txBody>
              </p:sp>
            </mc:Choice>
            <mc:Fallback xmlns="">
              <p:sp>
                <p:nvSpPr>
                  <p:cNvPr id="233" name="テキスト ボックス 232">
                    <a:extLst>
                      <a:ext uri="{FF2B5EF4-FFF2-40B4-BE49-F238E27FC236}">
                        <a16:creationId xmlns:a16="http://schemas.microsoft.com/office/drawing/2014/main" id="{89ADF8FF-7F43-4A01-8440-A672C7912AED}"/>
                      </a:ext>
                    </a:extLst>
                  </p:cNvPr>
                  <p:cNvSpPr txBox="1">
                    <a:spLocks noRot="1" noChangeAspect="1" noMove="1" noResize="1" noEditPoints="1" noAdjustHandles="1" noChangeArrowheads="1" noChangeShapeType="1" noTextEdit="1"/>
                  </p:cNvSpPr>
                  <p:nvPr/>
                </p:nvSpPr>
                <p:spPr>
                  <a:xfrm>
                    <a:off x="3225818" y="5379970"/>
                    <a:ext cx="708095" cy="461665"/>
                  </a:xfrm>
                  <a:prstGeom prst="rect">
                    <a:avLst/>
                  </a:prstGeom>
                  <a:blipFill>
                    <a:blip r:embed="rId14"/>
                    <a:stretch>
                      <a:fillRect b="-1316"/>
                    </a:stretch>
                  </a:blipFill>
                  <a:effectLst>
                    <a:softEdge rad="63500"/>
                  </a:effectLst>
                </p:spPr>
                <p:txBody>
                  <a:bodyPr/>
                  <a:lstStyle/>
                  <a:p>
                    <a:r>
                      <a:rPr lang="ja-JP" altLang="en-US">
                        <a:noFill/>
                      </a:rPr>
                      <a:t> </a:t>
                    </a:r>
                  </a:p>
                </p:txBody>
              </p:sp>
            </mc:Fallback>
          </mc:AlternateContent>
          <p:grpSp>
            <p:nvGrpSpPr>
              <p:cNvPr id="234" name="グループ化 233">
                <a:extLst>
                  <a:ext uri="{FF2B5EF4-FFF2-40B4-BE49-F238E27FC236}">
                    <a16:creationId xmlns:a16="http://schemas.microsoft.com/office/drawing/2014/main" id="{22B97906-B003-4B2C-8BB7-CD43989E92E2}"/>
                  </a:ext>
                </a:extLst>
              </p:cNvPr>
              <p:cNvGrpSpPr/>
              <p:nvPr/>
            </p:nvGrpSpPr>
            <p:grpSpPr>
              <a:xfrm rot="5400000">
                <a:off x="2971690" y="4717643"/>
                <a:ext cx="1086396" cy="281522"/>
                <a:chOff x="4346724" y="4135172"/>
                <a:chExt cx="1374303" cy="356129"/>
              </a:xfrm>
            </p:grpSpPr>
            <p:sp>
              <p:nvSpPr>
                <p:cNvPr id="238" name="正方形/長方形 237">
                  <a:extLst>
                    <a:ext uri="{FF2B5EF4-FFF2-40B4-BE49-F238E27FC236}">
                      <a16:creationId xmlns:a16="http://schemas.microsoft.com/office/drawing/2014/main" id="{F078819B-C5BA-4E92-B2C8-0FD623A9BBCF}"/>
                    </a:ext>
                  </a:extLst>
                </p:cNvPr>
                <p:cNvSpPr/>
                <p:nvPr/>
              </p:nvSpPr>
              <p:spPr>
                <a:xfrm>
                  <a:off x="4479368" y="4205172"/>
                  <a:ext cx="213992" cy="213992"/>
                </a:xfrm>
                <a:prstGeom prst="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400" dirty="0"/>
                    <a:t>-1</a:t>
                  </a:r>
                  <a:endParaRPr kumimoji="1" lang="ja-JP" altLang="en-US" sz="400" dirty="0"/>
                </a:p>
              </p:txBody>
            </p:sp>
            <p:sp>
              <p:nvSpPr>
                <p:cNvPr id="239" name="正方形/長方形 238">
                  <a:extLst>
                    <a:ext uri="{FF2B5EF4-FFF2-40B4-BE49-F238E27FC236}">
                      <a16:creationId xmlns:a16="http://schemas.microsoft.com/office/drawing/2014/main" id="{948AED9E-30CF-475C-B7B6-29C3AE2A1DD5}"/>
                    </a:ext>
                  </a:extLst>
                </p:cNvPr>
                <p:cNvSpPr/>
                <p:nvPr/>
              </p:nvSpPr>
              <p:spPr>
                <a:xfrm>
                  <a:off x="4782260" y="4204815"/>
                  <a:ext cx="213992" cy="213992"/>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0" name="正方形/長方形 239">
                  <a:extLst>
                    <a:ext uri="{FF2B5EF4-FFF2-40B4-BE49-F238E27FC236}">
                      <a16:creationId xmlns:a16="http://schemas.microsoft.com/office/drawing/2014/main" id="{C3FDF5E8-FA00-4006-A80E-D5C4AB5C2682}"/>
                    </a:ext>
                  </a:extLst>
                </p:cNvPr>
                <p:cNvSpPr/>
                <p:nvPr/>
              </p:nvSpPr>
              <p:spPr>
                <a:xfrm>
                  <a:off x="5085152" y="4204815"/>
                  <a:ext cx="213992" cy="213992"/>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1" name="正方形/長方形 240">
                  <a:extLst>
                    <a:ext uri="{FF2B5EF4-FFF2-40B4-BE49-F238E27FC236}">
                      <a16:creationId xmlns:a16="http://schemas.microsoft.com/office/drawing/2014/main" id="{3A3A963B-C316-4798-975C-C38E7AC32462}"/>
                    </a:ext>
                  </a:extLst>
                </p:cNvPr>
                <p:cNvSpPr/>
                <p:nvPr/>
              </p:nvSpPr>
              <p:spPr>
                <a:xfrm>
                  <a:off x="5388044" y="4204815"/>
                  <a:ext cx="213992" cy="213992"/>
                </a:xfrm>
                <a:prstGeom prst="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2" name="大かっこ 241">
                  <a:extLst>
                    <a:ext uri="{FF2B5EF4-FFF2-40B4-BE49-F238E27FC236}">
                      <a16:creationId xmlns:a16="http://schemas.microsoft.com/office/drawing/2014/main" id="{BB43AD3D-27E7-4015-ABC8-0C3F670A8CD3}"/>
                    </a:ext>
                  </a:extLst>
                </p:cNvPr>
                <p:cNvSpPr/>
                <p:nvPr/>
              </p:nvSpPr>
              <p:spPr>
                <a:xfrm>
                  <a:off x="4346724" y="4135172"/>
                  <a:ext cx="1374303" cy="356129"/>
                </a:xfrm>
                <a:prstGeom prst="bracketPair">
                  <a:avLst/>
                </a:prstGeom>
                <a:ln w="571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sp>
            <p:nvSpPr>
              <p:cNvPr id="235" name="四角形: 角を丸くする 234">
                <a:extLst>
                  <a:ext uri="{FF2B5EF4-FFF2-40B4-BE49-F238E27FC236}">
                    <a16:creationId xmlns:a16="http://schemas.microsoft.com/office/drawing/2014/main" id="{738ABE0F-5ECF-4D87-9756-40176A319DF4}"/>
                  </a:ext>
                </a:extLst>
              </p:cNvPr>
              <p:cNvSpPr/>
              <p:nvPr/>
            </p:nvSpPr>
            <p:spPr>
              <a:xfrm>
                <a:off x="838199" y="4064587"/>
                <a:ext cx="3003664" cy="1798575"/>
              </a:xfrm>
              <a:prstGeom prst="roundRect">
                <a:avLst/>
              </a:prstGeom>
              <a:noFill/>
              <a:ln w="381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236" name="テキスト ボックス 235">
                    <a:extLst>
                      <a:ext uri="{FF2B5EF4-FFF2-40B4-BE49-F238E27FC236}">
                        <a16:creationId xmlns:a16="http://schemas.microsoft.com/office/drawing/2014/main" id="{41E11BDE-C345-4B07-B203-C53F5412631D}"/>
                      </a:ext>
                    </a:extLst>
                  </p:cNvPr>
                  <p:cNvSpPr txBox="1"/>
                  <p:nvPr/>
                </p:nvSpPr>
                <p:spPr>
                  <a:xfrm>
                    <a:off x="891113" y="5354587"/>
                    <a:ext cx="708095" cy="461665"/>
                  </a:xfrm>
                  <a:prstGeom prst="rect">
                    <a:avLst/>
                  </a:prstGeom>
                  <a:noFill/>
                  <a:effectLst>
                    <a:softEdge rad="63500"/>
                  </a:effectLst>
                </p:spPr>
                <p:txBody>
                  <a:bodyPr wrap="square" anchor="ctr">
                    <a:spAutoFit/>
                  </a:bodyPr>
                  <a:lstStyle/>
                  <a:p>
                    <a:pPr/>
                    <a14:m>
                      <m:oMathPara xmlns:m="http://schemas.openxmlformats.org/officeDocument/2006/math">
                        <m:oMathParaPr>
                          <m:jc m:val="centerGroup"/>
                        </m:oMathParaPr>
                        <m:oMath xmlns:m="http://schemas.openxmlformats.org/officeDocument/2006/math">
                          <m:sSub>
                            <m:sSubPr>
                              <m:ctrlPr>
                                <a:rPr lang="en-US" altLang="ja-JP" sz="2400" i="1" smtClean="0">
                                  <a:solidFill>
                                    <a:schemeClr val="tx1">
                                      <a:lumMod val="75000"/>
                                      <a:lumOff val="25000"/>
                                    </a:schemeClr>
                                  </a:solidFill>
                                  <a:latin typeface="Cambria Math" panose="02040503050406030204" pitchFamily="18" charset="0"/>
                                  <a:ea typeface="Cambria Math" panose="02040503050406030204" pitchFamily="18" charset="0"/>
                                </a:rPr>
                              </m:ctrlPr>
                            </m:sSubPr>
                            <m:e>
                              <m:r>
                                <a:rPr lang="en-US" altLang="ja-JP" sz="2400" b="1">
                                  <a:solidFill>
                                    <a:schemeClr val="tx1">
                                      <a:lumMod val="75000"/>
                                      <a:lumOff val="25000"/>
                                    </a:schemeClr>
                                  </a:solidFill>
                                  <a:latin typeface="Cambria Math" panose="02040503050406030204" pitchFamily="18" charset="0"/>
                                  <a:ea typeface="Cambria Math" panose="02040503050406030204" pitchFamily="18" charset="0"/>
                                </a:rPr>
                                <m:t>𝐳</m:t>
                              </m:r>
                            </m:e>
                            <m:sub>
                              <m:r>
                                <a:rPr lang="en-US" altLang="ja-JP" sz="2400" i="1">
                                  <a:solidFill>
                                    <a:schemeClr val="tx1">
                                      <a:lumMod val="75000"/>
                                      <a:lumOff val="25000"/>
                                    </a:schemeClr>
                                  </a:solidFill>
                                  <a:latin typeface="Cambria Math" panose="02040503050406030204" pitchFamily="18" charset="0"/>
                                  <a:ea typeface="Cambria Math" panose="02040503050406030204" pitchFamily="18" charset="0"/>
                                </a:rPr>
                                <m:t>𝑙</m:t>
                              </m:r>
                              <m:r>
                                <a:rPr lang="en-US" altLang="ja-JP" sz="2400" b="0" i="1" smtClean="0">
                                  <a:solidFill>
                                    <a:schemeClr val="tx1">
                                      <a:lumMod val="75000"/>
                                      <a:lumOff val="25000"/>
                                    </a:schemeClr>
                                  </a:solidFill>
                                  <a:latin typeface="Cambria Math" panose="02040503050406030204" pitchFamily="18" charset="0"/>
                                  <a:ea typeface="Cambria Math" panose="02040503050406030204" pitchFamily="18" charset="0"/>
                                </a:rPr>
                                <m:t>𝑠</m:t>
                              </m:r>
                            </m:sub>
                          </m:sSub>
                        </m:oMath>
                      </m:oMathPara>
                    </a14:m>
                    <a:endParaRPr lang="ja-JP" altLang="en-US" sz="1400" dirty="0">
                      <a:solidFill>
                        <a:schemeClr val="tx1">
                          <a:lumMod val="75000"/>
                          <a:lumOff val="25000"/>
                        </a:schemeClr>
                      </a:solidFill>
                    </a:endParaRPr>
                  </a:p>
                </p:txBody>
              </p:sp>
            </mc:Choice>
            <mc:Fallback xmlns="">
              <p:sp>
                <p:nvSpPr>
                  <p:cNvPr id="236" name="テキスト ボックス 235">
                    <a:extLst>
                      <a:ext uri="{FF2B5EF4-FFF2-40B4-BE49-F238E27FC236}">
                        <a16:creationId xmlns:a16="http://schemas.microsoft.com/office/drawing/2014/main" id="{41E11BDE-C345-4B07-B203-C53F5412631D}"/>
                      </a:ext>
                    </a:extLst>
                  </p:cNvPr>
                  <p:cNvSpPr txBox="1">
                    <a:spLocks noRot="1" noChangeAspect="1" noMove="1" noResize="1" noEditPoints="1" noAdjustHandles="1" noChangeArrowheads="1" noChangeShapeType="1" noTextEdit="1"/>
                  </p:cNvSpPr>
                  <p:nvPr/>
                </p:nvSpPr>
                <p:spPr>
                  <a:xfrm>
                    <a:off x="891113" y="5354587"/>
                    <a:ext cx="708095" cy="461665"/>
                  </a:xfrm>
                  <a:prstGeom prst="rect">
                    <a:avLst/>
                  </a:prstGeom>
                  <a:blipFill>
                    <a:blip r:embed="rId15"/>
                    <a:stretch>
                      <a:fillRect b="-1316"/>
                    </a:stretch>
                  </a:blipFill>
                  <a:effectLst>
                    <a:softEdge rad="63500"/>
                  </a:effectLst>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37" name="テキスト ボックス 236">
                    <a:extLst>
                      <a:ext uri="{FF2B5EF4-FFF2-40B4-BE49-F238E27FC236}">
                        <a16:creationId xmlns:a16="http://schemas.microsoft.com/office/drawing/2014/main" id="{4C5B52B8-5DAD-4F85-9C34-6C5CAA7B17F5}"/>
                      </a:ext>
                    </a:extLst>
                  </p:cNvPr>
                  <p:cNvSpPr txBox="1"/>
                  <p:nvPr/>
                </p:nvSpPr>
                <p:spPr>
                  <a:xfrm>
                    <a:off x="1183397" y="4655739"/>
                    <a:ext cx="708095" cy="461665"/>
                  </a:xfrm>
                  <a:prstGeom prst="rect">
                    <a:avLst/>
                  </a:prstGeom>
                  <a:noFill/>
                  <a:effectLst>
                    <a:softEdge rad="63500"/>
                  </a:effectLst>
                </p:spPr>
                <p:txBody>
                  <a:bodyPr wrap="square" anchor="ctr">
                    <a:spAutoFit/>
                  </a:bodyPr>
                  <a:lstStyle/>
                  <a:p>
                    <a:pPr/>
                    <a14:m>
                      <m:oMathPara xmlns:m="http://schemas.openxmlformats.org/officeDocument/2006/math">
                        <m:oMathParaPr>
                          <m:jc m:val="centerGroup"/>
                        </m:oMathParaPr>
                        <m:oMath xmlns:m="http://schemas.openxmlformats.org/officeDocument/2006/math">
                          <m:r>
                            <a:rPr lang="en-US" altLang="ja-JP" sz="2400" i="1" smtClean="0">
                              <a:solidFill>
                                <a:schemeClr val="tx1">
                                  <a:lumMod val="75000"/>
                                  <a:lumOff val="25000"/>
                                </a:schemeClr>
                              </a:solidFill>
                              <a:latin typeface="Cambria Math" panose="02040503050406030204" pitchFamily="18" charset="0"/>
                              <a:ea typeface="Cambria Math" panose="02040503050406030204" pitchFamily="18" charset="0"/>
                            </a:rPr>
                            <m:t>⊙</m:t>
                          </m:r>
                        </m:oMath>
                      </m:oMathPara>
                    </a14:m>
                    <a:endParaRPr lang="ja-JP" altLang="en-US" sz="1400" dirty="0">
                      <a:solidFill>
                        <a:schemeClr val="tx1">
                          <a:lumMod val="75000"/>
                          <a:lumOff val="25000"/>
                        </a:schemeClr>
                      </a:solidFill>
                    </a:endParaRPr>
                  </a:p>
                </p:txBody>
              </p:sp>
            </mc:Choice>
            <mc:Fallback xmlns="">
              <p:sp>
                <p:nvSpPr>
                  <p:cNvPr id="237" name="テキスト ボックス 236">
                    <a:extLst>
                      <a:ext uri="{FF2B5EF4-FFF2-40B4-BE49-F238E27FC236}">
                        <a16:creationId xmlns:a16="http://schemas.microsoft.com/office/drawing/2014/main" id="{4C5B52B8-5DAD-4F85-9C34-6C5CAA7B17F5}"/>
                      </a:ext>
                    </a:extLst>
                  </p:cNvPr>
                  <p:cNvSpPr txBox="1">
                    <a:spLocks noRot="1" noChangeAspect="1" noMove="1" noResize="1" noEditPoints="1" noAdjustHandles="1" noChangeArrowheads="1" noChangeShapeType="1" noTextEdit="1"/>
                  </p:cNvSpPr>
                  <p:nvPr/>
                </p:nvSpPr>
                <p:spPr>
                  <a:xfrm>
                    <a:off x="1183397" y="4655739"/>
                    <a:ext cx="708095" cy="461665"/>
                  </a:xfrm>
                  <a:prstGeom prst="rect">
                    <a:avLst/>
                  </a:prstGeom>
                  <a:blipFill>
                    <a:blip r:embed="rId16"/>
                    <a:stretch>
                      <a:fillRect b="-9211"/>
                    </a:stretch>
                  </a:blipFill>
                  <a:effectLst>
                    <a:softEdge rad="63500"/>
                  </a:effectLst>
                </p:spPr>
                <p:txBody>
                  <a:bodyPr/>
                  <a:lstStyle/>
                  <a:p>
                    <a:r>
                      <a:rPr lang="ja-JP" altLang="en-US">
                        <a:noFill/>
                      </a:rPr>
                      <a:t> </a:t>
                    </a:r>
                  </a:p>
                </p:txBody>
              </p:sp>
            </mc:Fallback>
          </mc:AlternateContent>
        </p:grpSp>
      </p:grpSp>
      <p:sp>
        <p:nvSpPr>
          <p:cNvPr id="266" name="左中かっこ 265">
            <a:extLst>
              <a:ext uri="{FF2B5EF4-FFF2-40B4-BE49-F238E27FC236}">
                <a16:creationId xmlns:a16="http://schemas.microsoft.com/office/drawing/2014/main" id="{88251271-85D5-4002-9EE6-25F48FE98165}"/>
              </a:ext>
            </a:extLst>
          </p:cNvPr>
          <p:cNvSpPr/>
          <p:nvPr/>
        </p:nvSpPr>
        <p:spPr>
          <a:xfrm rot="16200000">
            <a:off x="5748450" y="874377"/>
            <a:ext cx="657003" cy="10198103"/>
          </a:xfrm>
          <a:prstGeom prst="leftBrac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67" name="コンテンツ プレースホルダー 2">
            <a:extLst>
              <a:ext uri="{FF2B5EF4-FFF2-40B4-BE49-F238E27FC236}">
                <a16:creationId xmlns:a16="http://schemas.microsoft.com/office/drawing/2014/main" id="{9CC385C2-9B50-431F-ACFF-F2DF40566FDD}"/>
              </a:ext>
            </a:extLst>
          </p:cNvPr>
          <p:cNvSpPr txBox="1">
            <a:spLocks/>
          </p:cNvSpPr>
          <p:nvPr/>
        </p:nvSpPr>
        <p:spPr>
          <a:xfrm>
            <a:off x="4197157" y="6380199"/>
            <a:ext cx="4263197" cy="371729"/>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dirty="0"/>
              <a:t>サンプルをｓ個作り、平均を取得</a:t>
            </a:r>
            <a:endParaRPr lang="en-US" altLang="ja-JP" dirty="0"/>
          </a:p>
        </p:txBody>
      </p:sp>
      <mc:AlternateContent xmlns:mc="http://schemas.openxmlformats.org/markup-compatibility/2006" xmlns:a14="http://schemas.microsoft.com/office/drawing/2010/main">
        <mc:Choice Requires="a14">
          <p:sp>
            <p:nvSpPr>
              <p:cNvPr id="268" name="テキスト ボックス 267">
                <a:extLst>
                  <a:ext uri="{FF2B5EF4-FFF2-40B4-BE49-F238E27FC236}">
                    <a16:creationId xmlns:a16="http://schemas.microsoft.com/office/drawing/2014/main" id="{4708DB6D-1C30-4540-989C-53D4C77763F3}"/>
                  </a:ext>
                </a:extLst>
              </p:cNvPr>
              <p:cNvSpPr txBox="1"/>
              <p:nvPr/>
            </p:nvSpPr>
            <p:spPr>
              <a:xfrm>
                <a:off x="9445148" y="6145733"/>
                <a:ext cx="2361342" cy="646331"/>
              </a:xfrm>
              <a:prstGeom prst="rect">
                <a:avLst/>
              </a:prstGeom>
              <a:noFill/>
            </p:spPr>
            <p:txBody>
              <a:bodyPr wrap="square">
                <a:spAutoFit/>
              </a:bodyPr>
              <a:lstStyle/>
              <a:p>
                <a:r>
                  <a:rPr lang="en-US" altLang="ja-JP" b="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a:t>
                </a:r>
                <a14:m>
                  <m:oMath xmlns:m="http://schemas.openxmlformats.org/officeDocument/2006/math">
                    <m:r>
                      <a:rPr lang="en-US" altLang="ja-JP" b="0" i="1" smtClean="0">
                        <a:solidFill>
                          <a:schemeClr val="tx1">
                            <a:lumMod val="75000"/>
                            <a:lumOff val="25000"/>
                          </a:schemeClr>
                        </a:solidFill>
                        <a:latin typeface="Cambria Math" panose="02040503050406030204" pitchFamily="18" charset="0"/>
                        <a:ea typeface="Cambria Math" panose="02040503050406030204" pitchFamily="18" charset="0"/>
                      </a:rPr>
                      <m:t>⊙</m:t>
                    </m:r>
                    <m:r>
                      <m:rPr>
                        <m:nor/>
                      </m:rPr>
                      <a:rPr lang="ja-JP" altLang="en-US"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m:t>：</m:t>
                    </m:r>
                  </m:oMath>
                </a14:m>
                <a:r>
                  <a:rPr lang="ja-JP" altLang="en-US"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アダマール乗算</a:t>
                </a:r>
                <a:endParaRPr lang="en-US" altLang="ja-JP"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pPr marL="0" indent="0">
                  <a:buNone/>
                </a:pPr>
                <a:r>
                  <a:rPr lang="ja-JP" altLang="en-US"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r>
                      <a:rPr lang="ja-JP" altLang="en-US" b="1" i="1" dirty="0">
                        <a:solidFill>
                          <a:schemeClr val="tx1">
                            <a:lumMod val="75000"/>
                            <a:lumOff val="25000"/>
                          </a:schemeClr>
                        </a:solidFill>
                        <a:latin typeface="Cambria Math" panose="02040503050406030204" pitchFamily="18" charset="0"/>
                        <a:ea typeface="Cambria Math" panose="02040503050406030204" pitchFamily="18" charset="0"/>
                      </a:rPr>
                      <m:t> </m:t>
                    </m:r>
                    <m:r>
                      <a:rPr lang="en-US" altLang="ja-JP" b="0" i="1" smtClean="0">
                        <a:solidFill>
                          <a:schemeClr val="tx1">
                            <a:lumMod val="75000"/>
                            <a:lumOff val="25000"/>
                          </a:schemeClr>
                        </a:solidFill>
                        <a:latin typeface="Cambria Math" panose="02040503050406030204" pitchFamily="18" charset="0"/>
                        <a:ea typeface="Cambria Math" panose="02040503050406030204" pitchFamily="18" charset="0"/>
                      </a:rPr>
                      <m:t>⊘</m:t>
                    </m:r>
                    <m:r>
                      <a:rPr lang="ja-JP" altLang="en-US" i="1">
                        <a:solidFill>
                          <a:schemeClr val="tx1">
                            <a:lumMod val="75000"/>
                            <a:lumOff val="25000"/>
                          </a:schemeClr>
                        </a:solidFill>
                        <a:latin typeface="Cambria Math" panose="02040503050406030204" pitchFamily="18" charset="0"/>
                        <a:ea typeface="Cambria Math" panose="02040503050406030204" pitchFamily="18" charset="0"/>
                      </a:rPr>
                      <m:t> </m:t>
                    </m:r>
                  </m:oMath>
                </a14:m>
                <a:r>
                  <a:rPr lang="ja-JP" altLang="en-US"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：アダマール除算</a:t>
                </a:r>
                <a:endParaRPr lang="en-US" altLang="ja-JP"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mc:Choice>
        <mc:Fallback xmlns="">
          <p:sp>
            <p:nvSpPr>
              <p:cNvPr id="268" name="テキスト ボックス 267">
                <a:extLst>
                  <a:ext uri="{FF2B5EF4-FFF2-40B4-BE49-F238E27FC236}">
                    <a16:creationId xmlns:a16="http://schemas.microsoft.com/office/drawing/2014/main" id="{4708DB6D-1C30-4540-989C-53D4C77763F3}"/>
                  </a:ext>
                </a:extLst>
              </p:cNvPr>
              <p:cNvSpPr txBox="1">
                <a:spLocks noRot="1" noChangeAspect="1" noMove="1" noResize="1" noEditPoints="1" noAdjustHandles="1" noChangeArrowheads="1" noChangeShapeType="1" noTextEdit="1"/>
              </p:cNvSpPr>
              <p:nvPr/>
            </p:nvSpPr>
            <p:spPr>
              <a:xfrm>
                <a:off x="9445148" y="6145733"/>
                <a:ext cx="2361342" cy="646331"/>
              </a:xfrm>
              <a:prstGeom prst="rect">
                <a:avLst/>
              </a:prstGeom>
              <a:blipFill>
                <a:blip r:embed="rId17"/>
                <a:stretch>
                  <a:fillRect l="-2062" t="-3774" r="-773" b="-15094"/>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78469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0F202FF-8D7C-4376-BFBF-B442ADAB6C4C}"/>
              </a:ext>
            </a:extLst>
          </p:cNvPr>
          <p:cNvSpPr>
            <a:spLocks noGrp="1"/>
          </p:cNvSpPr>
          <p:nvPr>
            <p:ph type="title"/>
          </p:nvPr>
        </p:nvSpPr>
        <p:spPr>
          <a:xfrm>
            <a:off x="838199" y="365125"/>
            <a:ext cx="10786241" cy="1325563"/>
          </a:xfrm>
        </p:spPr>
        <p:txBody>
          <a:bodyPr/>
          <a:lstStyle/>
          <a:p>
            <a:r>
              <a:rPr kumimoji="1" lang="ja-JP" altLang="en-US" spc="-130" dirty="0"/>
              <a:t>提案手法：ヘッセ行列の対角行列化</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52DD7415-7627-42E3-BDA6-0C7DA21E12F9}"/>
                  </a:ext>
                </a:extLst>
              </p:cNvPr>
              <p:cNvSpPr>
                <a:spLocks noGrp="1"/>
              </p:cNvSpPr>
              <p:nvPr>
                <p:ph idx="1"/>
              </p:nvPr>
            </p:nvSpPr>
            <p:spPr>
              <a:xfrm>
                <a:off x="838199" y="2309495"/>
                <a:ext cx="11017469" cy="2966435"/>
              </a:xfrm>
            </p:spPr>
            <p:txBody>
              <a:bodyPr>
                <a:normAutofit/>
              </a:bodyPr>
              <a:lstStyle/>
              <a:p>
                <a:pPr marL="0" indent="0">
                  <a:buNone/>
                </a:pPr>
                <a:r>
                  <a:rPr lang="en-US" altLang="ja-JP" spc="-80" dirty="0"/>
                  <a:t>(10)</a:t>
                </a:r>
                <a:r>
                  <a:rPr lang="ja-JP" altLang="en-US" spc="-80" dirty="0"/>
                  <a:t>には式中にヘッセ行列がある</a:t>
                </a:r>
                <a:endParaRPr lang="en-US" altLang="ja-JP" spc="-80" dirty="0"/>
              </a:p>
              <a:p>
                <a:endParaRPr kumimoji="1" lang="en-US" altLang="ja-JP" sz="1400" spc="-80" dirty="0"/>
              </a:p>
              <a:p>
                <a:pPr marL="0" indent="0">
                  <a:buNone/>
                </a:pPr>
                <a14:m>
                  <m:oMathPara xmlns:m="http://schemas.openxmlformats.org/officeDocument/2006/math">
                    <m:oMathParaPr>
                      <m:jc m:val="centerGroup"/>
                    </m:oMathParaPr>
                    <m:oMath xmlns:m="http://schemas.openxmlformats.org/officeDocument/2006/math">
                      <m:eqArr>
                        <m:eqArrPr>
                          <m:ctrlPr>
                            <a:rPr lang="en-US" altLang="ja-JP" b="0" i="1" smtClean="0">
                              <a:latin typeface="Cambria Math" panose="02040503050406030204" pitchFamily="18" charset="0"/>
                              <a:ea typeface="Cambria Math" panose="02040503050406030204" pitchFamily="18" charset="0"/>
                            </a:rPr>
                          </m:ctrlPr>
                        </m:eqArrPr>
                        <m:e>
                          <m:sSub>
                            <m:sSubPr>
                              <m:ctrlPr>
                                <a:rPr lang="en-US" altLang="ja-JP" i="1">
                                  <a:latin typeface="Cambria Math" panose="02040503050406030204" pitchFamily="18" charset="0"/>
                                  <a:ea typeface="Cambria Math" panose="02040503050406030204" pitchFamily="18" charset="0"/>
                                </a:rPr>
                              </m:ctrlPr>
                            </m:sSubPr>
                            <m:e>
                              <m:r>
                                <a:rPr lang="en-US" altLang="ja-JP" b="1">
                                  <a:latin typeface="Cambria Math" panose="02040503050406030204" pitchFamily="18" charset="0"/>
                                  <a:ea typeface="Cambria Math" panose="02040503050406030204" pitchFamily="18" charset="0"/>
                                </a:rPr>
                                <m:t>𝐡</m:t>
                              </m:r>
                            </m:e>
                            <m:sub>
                              <m:r>
                                <a:rPr lang="en-US" altLang="ja-JP" i="1">
                                  <a:latin typeface="Cambria Math" panose="02040503050406030204" pitchFamily="18" charset="0"/>
                                  <a:ea typeface="Cambria Math" panose="02040503050406030204" pitchFamily="18" charset="0"/>
                                </a:rPr>
                                <m:t>𝑘</m:t>
                              </m:r>
                            </m:sub>
                          </m:sSub>
                          <m:r>
                            <a:rPr lang="en-US" altLang="ja-JP" i="1">
                              <a:latin typeface="Cambria Math" panose="02040503050406030204" pitchFamily="18" charset="0"/>
                            </a:rPr>
                            <m:t>= </m:t>
                          </m:r>
                          <m:d>
                            <m:dPr>
                              <m:begChr m:val="["/>
                              <m:endChr m:val="]"/>
                              <m:ctrlPr>
                                <a:rPr lang="en-US" altLang="ja-JP" i="1">
                                  <a:latin typeface="Cambria Math" panose="02040503050406030204" pitchFamily="18" charset="0"/>
                                </a:rPr>
                              </m:ctrlPr>
                            </m:dPr>
                            <m:e>
                              <m:nary>
                                <m:naryPr>
                                  <m:chr m:val="∑"/>
                                  <m:ctrlPr>
                                    <a:rPr lang="en-US" altLang="ja-JP" i="1">
                                      <a:latin typeface="Cambria Math" panose="02040503050406030204" pitchFamily="18" charset="0"/>
                                    </a:rPr>
                                  </m:ctrlPr>
                                </m:naryPr>
                                <m:sub>
                                  <m:r>
                                    <a:rPr lang="en-US" altLang="ja-JP" i="1">
                                      <a:latin typeface="Cambria Math" panose="02040503050406030204" pitchFamily="18" charset="0"/>
                                    </a:rPr>
                                    <m:t>𝑙</m:t>
                                  </m:r>
                                  <m:r>
                                    <a:rPr lang="en-US" altLang="ja-JP" i="1">
                                      <a:latin typeface="Cambria Math" panose="02040503050406030204" pitchFamily="18" charset="0"/>
                                    </a:rPr>
                                    <m:t>=1</m:t>
                                  </m:r>
                                </m:sub>
                                <m:sup>
                                  <m:r>
                                    <a:rPr lang="en-US" altLang="ja-JP" i="1">
                                      <a:latin typeface="Cambria Math" panose="02040503050406030204" pitchFamily="18" charset="0"/>
                                    </a:rPr>
                                    <m:t>𝑠</m:t>
                                  </m:r>
                                </m:sup>
                                <m:e>
                                  <m:sSub>
                                    <m:sSubPr>
                                      <m:ctrlPr>
                                        <a:rPr lang="en-US" altLang="ja-JP" i="1">
                                          <a:latin typeface="Cambria Math" panose="02040503050406030204" pitchFamily="18" charset="0"/>
                                        </a:rPr>
                                      </m:ctrlPr>
                                    </m:sSubPr>
                                    <m:e>
                                      <m:r>
                                        <a:rPr lang="en-US" altLang="ja-JP" b="1">
                                          <a:latin typeface="Cambria Math" panose="02040503050406030204" pitchFamily="18" charset="0"/>
                                        </a:rPr>
                                        <m:t>𝐳</m:t>
                                      </m:r>
                                    </m:e>
                                    <m:sub>
                                      <m:r>
                                        <a:rPr lang="en-US" altLang="ja-JP" i="1">
                                          <a:latin typeface="Cambria Math" panose="02040503050406030204" pitchFamily="18" charset="0"/>
                                        </a:rPr>
                                        <m:t>𝑙</m:t>
                                      </m:r>
                                    </m:sub>
                                  </m:sSub>
                                  <m:r>
                                    <a:rPr lang="en-US" altLang="ja-JP" i="1">
                                      <a:latin typeface="Cambria Math" panose="02040503050406030204" pitchFamily="18" charset="0"/>
                                      <a:ea typeface="Cambria Math" panose="02040503050406030204" pitchFamily="18" charset="0"/>
                                    </a:rPr>
                                    <m:t>⊙</m:t>
                                  </m:r>
                                  <m:sSub>
                                    <m:sSubPr>
                                      <m:ctrlPr>
                                        <a:rPr lang="en-US" altLang="ja-JP" i="1">
                                          <a:latin typeface="Cambria Math" panose="02040503050406030204" pitchFamily="18" charset="0"/>
                                          <a:ea typeface="Cambria Math" panose="02040503050406030204" pitchFamily="18" charset="0"/>
                                        </a:rPr>
                                      </m:ctrlPr>
                                    </m:sSubPr>
                                    <m:e>
                                      <m:r>
                                        <a:rPr lang="en-US" altLang="ja-JP" b="1">
                                          <a:solidFill>
                                            <a:srgbClr val="C00000"/>
                                          </a:solidFill>
                                          <a:latin typeface="Cambria Math" panose="02040503050406030204" pitchFamily="18" charset="0"/>
                                          <a:ea typeface="Cambria Math" panose="02040503050406030204" pitchFamily="18" charset="0"/>
                                        </a:rPr>
                                        <m:t>𝐇</m:t>
                                      </m:r>
                                    </m:e>
                                    <m:sub>
                                      <m:r>
                                        <a:rPr lang="en-US" altLang="ja-JP" i="1">
                                          <a:latin typeface="Cambria Math" panose="02040503050406030204" pitchFamily="18" charset="0"/>
                                          <a:ea typeface="Cambria Math" panose="02040503050406030204" pitchFamily="18" charset="0"/>
                                        </a:rPr>
                                        <m:t>𝑘</m:t>
                                      </m:r>
                                    </m:sub>
                                  </m:sSub>
                                  <m:sSub>
                                    <m:sSubPr>
                                      <m:ctrlPr>
                                        <a:rPr lang="en-US" altLang="ja-JP" i="1">
                                          <a:latin typeface="Cambria Math" panose="02040503050406030204" pitchFamily="18" charset="0"/>
                                          <a:ea typeface="Cambria Math" panose="02040503050406030204" pitchFamily="18" charset="0"/>
                                        </a:rPr>
                                      </m:ctrlPr>
                                    </m:sSubPr>
                                    <m:e>
                                      <m:r>
                                        <a:rPr lang="en-US" altLang="ja-JP" b="1">
                                          <a:latin typeface="Cambria Math" panose="02040503050406030204" pitchFamily="18" charset="0"/>
                                          <a:ea typeface="Cambria Math" panose="02040503050406030204" pitchFamily="18" charset="0"/>
                                        </a:rPr>
                                        <m:t>𝐳</m:t>
                                      </m:r>
                                    </m:e>
                                    <m:sub>
                                      <m:r>
                                        <a:rPr lang="en-US" altLang="ja-JP" i="1">
                                          <a:latin typeface="Cambria Math" panose="02040503050406030204" pitchFamily="18" charset="0"/>
                                          <a:ea typeface="Cambria Math" panose="02040503050406030204" pitchFamily="18" charset="0"/>
                                        </a:rPr>
                                        <m:t>𝑙</m:t>
                                      </m:r>
                                    </m:sub>
                                  </m:sSub>
                                </m:e>
                              </m:nary>
                            </m:e>
                          </m:d>
                          <m:r>
                            <a:rPr lang="en-US" altLang="ja-JP" i="1">
                              <a:latin typeface="Cambria Math" panose="02040503050406030204" pitchFamily="18" charset="0"/>
                              <a:ea typeface="Cambria Math" panose="02040503050406030204" pitchFamily="18" charset="0"/>
                            </a:rPr>
                            <m:t>⊘</m:t>
                          </m:r>
                          <m:d>
                            <m:dPr>
                              <m:begChr m:val="["/>
                              <m:endChr m:val="]"/>
                              <m:ctrlPr>
                                <a:rPr lang="en-US" altLang="ja-JP" i="1">
                                  <a:latin typeface="Cambria Math" panose="02040503050406030204" pitchFamily="18" charset="0"/>
                                  <a:ea typeface="Cambria Math" panose="02040503050406030204" pitchFamily="18" charset="0"/>
                                </a:rPr>
                              </m:ctrlPr>
                            </m:dPr>
                            <m:e>
                              <m:nary>
                                <m:naryPr>
                                  <m:chr m:val="∑"/>
                                  <m:ctrlPr>
                                    <a:rPr lang="en-US" altLang="ja-JP" i="1">
                                      <a:latin typeface="Cambria Math" panose="02040503050406030204" pitchFamily="18" charset="0"/>
                                    </a:rPr>
                                  </m:ctrlPr>
                                </m:naryPr>
                                <m:sub>
                                  <m:r>
                                    <a:rPr lang="en-US" altLang="ja-JP" i="1">
                                      <a:latin typeface="Cambria Math" panose="02040503050406030204" pitchFamily="18" charset="0"/>
                                    </a:rPr>
                                    <m:t>𝑙</m:t>
                                  </m:r>
                                  <m:r>
                                    <a:rPr lang="en-US" altLang="ja-JP" i="1">
                                      <a:latin typeface="Cambria Math" panose="02040503050406030204" pitchFamily="18" charset="0"/>
                                    </a:rPr>
                                    <m:t>=1</m:t>
                                  </m:r>
                                </m:sub>
                                <m:sup>
                                  <m:r>
                                    <a:rPr lang="en-US" altLang="ja-JP" i="1">
                                      <a:latin typeface="Cambria Math" panose="02040503050406030204" pitchFamily="18" charset="0"/>
                                    </a:rPr>
                                    <m:t>𝑠</m:t>
                                  </m:r>
                                </m:sup>
                                <m:e>
                                  <m:sSub>
                                    <m:sSubPr>
                                      <m:ctrlPr>
                                        <a:rPr lang="en-US" altLang="ja-JP" i="1">
                                          <a:latin typeface="Cambria Math" panose="02040503050406030204" pitchFamily="18" charset="0"/>
                                        </a:rPr>
                                      </m:ctrlPr>
                                    </m:sSubPr>
                                    <m:e>
                                      <m:r>
                                        <a:rPr lang="en-US" altLang="ja-JP" b="1">
                                          <a:latin typeface="Cambria Math" panose="02040503050406030204" pitchFamily="18" charset="0"/>
                                        </a:rPr>
                                        <m:t>𝐳</m:t>
                                      </m:r>
                                    </m:e>
                                    <m:sub>
                                      <m:r>
                                        <a:rPr lang="en-US" altLang="ja-JP" i="1">
                                          <a:latin typeface="Cambria Math" panose="02040503050406030204" pitchFamily="18" charset="0"/>
                                        </a:rPr>
                                        <m:t>𝑙</m:t>
                                      </m:r>
                                    </m:sub>
                                  </m:sSub>
                                  <m:r>
                                    <a:rPr lang="en-US" altLang="ja-JP" i="1">
                                      <a:latin typeface="Cambria Math" panose="02040503050406030204" pitchFamily="18" charset="0"/>
                                      <a:ea typeface="Cambria Math" panose="02040503050406030204" pitchFamily="18" charset="0"/>
                                    </a:rPr>
                                    <m:t>⊙</m:t>
                                  </m:r>
                                  <m:sSub>
                                    <m:sSubPr>
                                      <m:ctrlPr>
                                        <a:rPr lang="en-US" altLang="ja-JP" i="1">
                                          <a:latin typeface="Cambria Math" panose="02040503050406030204" pitchFamily="18" charset="0"/>
                                          <a:ea typeface="Cambria Math" panose="02040503050406030204" pitchFamily="18" charset="0"/>
                                        </a:rPr>
                                      </m:ctrlPr>
                                    </m:sSubPr>
                                    <m:e>
                                      <m:r>
                                        <a:rPr lang="en-US" altLang="ja-JP" b="1">
                                          <a:latin typeface="Cambria Math" panose="02040503050406030204" pitchFamily="18" charset="0"/>
                                          <a:ea typeface="Cambria Math" panose="02040503050406030204" pitchFamily="18" charset="0"/>
                                        </a:rPr>
                                        <m:t>𝐳</m:t>
                                      </m:r>
                                    </m:e>
                                    <m:sub>
                                      <m:r>
                                        <a:rPr lang="en-US" altLang="ja-JP" i="1">
                                          <a:latin typeface="Cambria Math" panose="02040503050406030204" pitchFamily="18" charset="0"/>
                                          <a:ea typeface="Cambria Math" panose="02040503050406030204" pitchFamily="18" charset="0"/>
                                        </a:rPr>
                                        <m:t>𝑙</m:t>
                                      </m:r>
                                    </m:sub>
                                  </m:sSub>
                                </m:e>
                              </m:nary>
                            </m:e>
                          </m:d>
                          <m:r>
                            <a:rPr lang="en-US" altLang="ja-JP" i="1">
                              <a:latin typeface="Cambria Math" panose="02040503050406030204" pitchFamily="18" charset="0"/>
                              <a:ea typeface="Cambria Math" panose="02040503050406030204" pitchFamily="18" charset="0"/>
                            </a:rPr>
                            <m:t>#</m:t>
                          </m:r>
                        </m:e>
                      </m:eqArr>
                    </m:oMath>
                  </m:oMathPara>
                </a14:m>
                <a:endParaRPr lang="en-US" altLang="ja-JP" b="0" dirty="0">
                  <a:ea typeface="Cambria Math" panose="02040503050406030204" pitchFamily="18" charset="0"/>
                </a:endParaRPr>
              </a:p>
              <a:p>
                <a:pPr marL="0" indent="0">
                  <a:buNone/>
                </a:pPr>
                <a:endParaRPr lang="en-US" altLang="ja-JP" dirty="0"/>
              </a:p>
              <a:p>
                <a:pPr marL="0" indent="0">
                  <a:buNone/>
                </a:pPr>
                <a:endParaRPr lang="en-US" altLang="ja-JP" b="1" dirty="0"/>
              </a:p>
            </p:txBody>
          </p:sp>
        </mc:Choice>
        <mc:Fallback xmlns="">
          <p:sp>
            <p:nvSpPr>
              <p:cNvPr id="3" name="コンテンツ プレースホルダー 2">
                <a:extLst>
                  <a:ext uri="{FF2B5EF4-FFF2-40B4-BE49-F238E27FC236}">
                    <a16:creationId xmlns:a16="http://schemas.microsoft.com/office/drawing/2014/main" id="{52DD7415-7627-42E3-BDA6-0C7DA21E12F9}"/>
                  </a:ext>
                </a:extLst>
              </p:cNvPr>
              <p:cNvSpPr>
                <a:spLocks noGrp="1" noRot="1" noChangeAspect="1" noMove="1" noResize="1" noEditPoints="1" noAdjustHandles="1" noChangeArrowheads="1" noChangeShapeType="1" noTextEdit="1"/>
              </p:cNvSpPr>
              <p:nvPr>
                <p:ph idx="1"/>
              </p:nvPr>
            </p:nvSpPr>
            <p:spPr>
              <a:xfrm>
                <a:off x="838199" y="2309495"/>
                <a:ext cx="11017469" cy="2966435"/>
              </a:xfrm>
              <a:blipFill>
                <a:blip r:embed="rId3"/>
                <a:stretch>
                  <a:fillRect l="-1106" t="-3498"/>
                </a:stretch>
              </a:blipFill>
            </p:spPr>
            <p:txBody>
              <a:bodyPr/>
              <a:lstStyle/>
              <a:p>
                <a:r>
                  <a:rPr lang="ja-JP" altLang="en-US">
                    <a:noFill/>
                  </a:rPr>
                  <a:t> </a:t>
                </a:r>
              </a:p>
            </p:txBody>
          </p:sp>
        </mc:Fallback>
      </mc:AlternateContent>
      <p:sp>
        <p:nvSpPr>
          <p:cNvPr id="5" name="スライド番号プレースホルダー 4">
            <a:extLst>
              <a:ext uri="{FF2B5EF4-FFF2-40B4-BE49-F238E27FC236}">
                <a16:creationId xmlns:a16="http://schemas.microsoft.com/office/drawing/2014/main" id="{3DDA1179-5159-47CB-A441-B97C16CAAADE}"/>
              </a:ext>
            </a:extLst>
          </p:cNvPr>
          <p:cNvSpPr>
            <a:spLocks noGrp="1"/>
          </p:cNvSpPr>
          <p:nvPr>
            <p:ph type="sldNum" sz="quarter" idx="12"/>
          </p:nvPr>
        </p:nvSpPr>
        <p:spPr/>
        <p:txBody>
          <a:bodyPr/>
          <a:lstStyle/>
          <a:p>
            <a:r>
              <a:rPr kumimoji="1" lang="en-US" altLang="ja-JP" dirty="0"/>
              <a:t>11</a:t>
            </a:r>
            <a:endParaRPr kumimoji="1" lang="ja-JP" altLang="en-US" dirty="0"/>
          </a:p>
        </p:txBody>
      </p:sp>
      <p:sp>
        <p:nvSpPr>
          <p:cNvPr id="6" name="テキスト ボックス 5">
            <a:extLst>
              <a:ext uri="{FF2B5EF4-FFF2-40B4-BE49-F238E27FC236}">
                <a16:creationId xmlns:a16="http://schemas.microsoft.com/office/drawing/2014/main" id="{314795C9-ECC0-49AA-8624-0D1D084B6613}"/>
              </a:ext>
            </a:extLst>
          </p:cNvPr>
          <p:cNvSpPr txBox="1"/>
          <p:nvPr/>
        </p:nvSpPr>
        <p:spPr>
          <a:xfrm>
            <a:off x="10625819" y="3221990"/>
            <a:ext cx="877830" cy="596253"/>
          </a:xfrm>
          <a:prstGeom prst="rect">
            <a:avLst/>
          </a:prstGeom>
          <a:solidFill>
            <a:srgbClr val="E4E4E4"/>
          </a:solidFill>
        </p:spPr>
        <p:txBody>
          <a:bodyPr wrap="square" rtlCol="0">
            <a:spAutoFit/>
          </a:bodyPr>
          <a:lstStyle/>
          <a:p>
            <a:pPr>
              <a:lnSpc>
                <a:spcPct val="150000"/>
              </a:lnSpc>
            </a:pPr>
            <a:r>
              <a:rPr kumimoji="1" lang="en-US" altLang="ja-JP" sz="2400" dirty="0">
                <a:latin typeface="UD デジタル 教科書体 NK-R" panose="02020400000000000000" pitchFamily="18" charset="-128"/>
                <a:ea typeface="UD デジタル 教科書体 NK-R" panose="02020400000000000000" pitchFamily="18" charset="-128"/>
              </a:rPr>
              <a:t>(6)</a:t>
            </a:r>
            <a:endParaRPr kumimoji="1" lang="ja-JP" altLang="en-US" sz="2400" dirty="0">
              <a:latin typeface="UD デジタル 教科書体 NK-R" panose="02020400000000000000" pitchFamily="18" charset="-128"/>
              <a:ea typeface="UD デジタル 教科書体 NK-R" panose="02020400000000000000" pitchFamily="18" charset="-128"/>
            </a:endParaRPr>
          </a:p>
        </p:txBody>
      </p:sp>
      <p:sp>
        <p:nvSpPr>
          <p:cNvPr id="36" name="コンテンツ プレースホルダー 2">
            <a:extLst>
              <a:ext uri="{FF2B5EF4-FFF2-40B4-BE49-F238E27FC236}">
                <a16:creationId xmlns:a16="http://schemas.microsoft.com/office/drawing/2014/main" id="{17F5E04B-E383-8B45-8489-2185EE45E412}"/>
              </a:ext>
            </a:extLst>
          </p:cNvPr>
          <p:cNvSpPr txBox="1">
            <a:spLocks/>
          </p:cNvSpPr>
          <p:nvPr/>
        </p:nvSpPr>
        <p:spPr>
          <a:xfrm>
            <a:off x="834481" y="4554916"/>
            <a:ext cx="11017469" cy="56786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pc="-80" dirty="0"/>
              <a:t>ヘッセ行列そのものを求める必要があり、</a:t>
            </a:r>
            <a:r>
              <a:rPr lang="ja-JP" altLang="en-US" spc="-80" dirty="0">
                <a:solidFill>
                  <a:srgbClr val="C00000"/>
                </a:solidFill>
              </a:rPr>
              <a:t>根本的な解決にはならない</a:t>
            </a:r>
            <a:endParaRPr lang="en-US" altLang="ja-JP" dirty="0">
              <a:solidFill>
                <a:srgbClr val="C00000"/>
              </a:solidFill>
              <a:ea typeface="Cambria Math" panose="02040503050406030204" pitchFamily="18" charset="0"/>
            </a:endParaRPr>
          </a:p>
          <a:p>
            <a:pPr marL="0" indent="0">
              <a:buFont typeface="Arial" panose="020B0604020202020204" pitchFamily="34" charset="0"/>
              <a:buNone/>
            </a:pPr>
            <a:endParaRPr lang="en-US" altLang="ja-JP" dirty="0">
              <a:solidFill>
                <a:srgbClr val="C00000"/>
              </a:solidFill>
            </a:endParaRPr>
          </a:p>
          <a:p>
            <a:pPr marL="0" indent="0">
              <a:buFont typeface="Arial" panose="020B0604020202020204" pitchFamily="34" charset="0"/>
              <a:buNone/>
            </a:pPr>
            <a:endParaRPr lang="en-US" altLang="ja-JP" b="1" dirty="0">
              <a:solidFill>
                <a:srgbClr val="C00000"/>
              </a:solidFill>
            </a:endParaRPr>
          </a:p>
        </p:txBody>
      </p:sp>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63CB09B4-1864-4822-99F6-A4836849363D}"/>
                  </a:ext>
                </a:extLst>
              </p:cNvPr>
              <p:cNvSpPr txBox="1"/>
              <p:nvPr/>
            </p:nvSpPr>
            <p:spPr>
              <a:xfrm>
                <a:off x="9445148" y="6145733"/>
                <a:ext cx="2361342" cy="646331"/>
              </a:xfrm>
              <a:prstGeom prst="rect">
                <a:avLst/>
              </a:prstGeom>
              <a:noFill/>
            </p:spPr>
            <p:txBody>
              <a:bodyPr wrap="square">
                <a:spAutoFit/>
              </a:bodyPr>
              <a:lstStyle/>
              <a:p>
                <a:r>
                  <a:rPr lang="en-US" altLang="ja-JP" b="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a:t>
                </a:r>
                <a14:m>
                  <m:oMath xmlns:m="http://schemas.openxmlformats.org/officeDocument/2006/math">
                    <m:r>
                      <a:rPr lang="en-US" altLang="ja-JP" b="0" i="1" smtClean="0">
                        <a:solidFill>
                          <a:schemeClr val="tx1">
                            <a:lumMod val="75000"/>
                            <a:lumOff val="25000"/>
                          </a:schemeClr>
                        </a:solidFill>
                        <a:latin typeface="Cambria Math" panose="02040503050406030204" pitchFamily="18" charset="0"/>
                        <a:ea typeface="Cambria Math" panose="02040503050406030204" pitchFamily="18" charset="0"/>
                      </a:rPr>
                      <m:t>⊙</m:t>
                    </m:r>
                    <m:r>
                      <m:rPr>
                        <m:nor/>
                      </m:rPr>
                      <a:rPr lang="ja-JP" altLang="en-US"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m:t>：</m:t>
                    </m:r>
                  </m:oMath>
                </a14:m>
                <a:r>
                  <a:rPr lang="ja-JP" altLang="en-US"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アダマール乗算</a:t>
                </a:r>
                <a:endParaRPr lang="en-US" altLang="ja-JP"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pPr marL="0" indent="0">
                  <a:buNone/>
                </a:pPr>
                <a:r>
                  <a:rPr lang="ja-JP" altLang="en-US"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r>
                      <a:rPr lang="ja-JP" altLang="en-US" b="1" i="1" dirty="0">
                        <a:solidFill>
                          <a:schemeClr val="tx1">
                            <a:lumMod val="75000"/>
                            <a:lumOff val="25000"/>
                          </a:schemeClr>
                        </a:solidFill>
                        <a:latin typeface="Cambria Math" panose="02040503050406030204" pitchFamily="18" charset="0"/>
                        <a:ea typeface="Cambria Math" panose="02040503050406030204" pitchFamily="18" charset="0"/>
                      </a:rPr>
                      <m:t> </m:t>
                    </m:r>
                    <m:r>
                      <a:rPr lang="en-US" altLang="ja-JP" b="0" i="1" smtClean="0">
                        <a:solidFill>
                          <a:schemeClr val="tx1">
                            <a:lumMod val="75000"/>
                            <a:lumOff val="25000"/>
                          </a:schemeClr>
                        </a:solidFill>
                        <a:latin typeface="Cambria Math" panose="02040503050406030204" pitchFamily="18" charset="0"/>
                        <a:ea typeface="Cambria Math" panose="02040503050406030204" pitchFamily="18" charset="0"/>
                      </a:rPr>
                      <m:t>⊘</m:t>
                    </m:r>
                    <m:r>
                      <a:rPr lang="ja-JP" altLang="en-US" i="1">
                        <a:solidFill>
                          <a:schemeClr val="tx1">
                            <a:lumMod val="75000"/>
                            <a:lumOff val="25000"/>
                          </a:schemeClr>
                        </a:solidFill>
                        <a:latin typeface="Cambria Math" panose="02040503050406030204" pitchFamily="18" charset="0"/>
                        <a:ea typeface="Cambria Math" panose="02040503050406030204" pitchFamily="18" charset="0"/>
                      </a:rPr>
                      <m:t> </m:t>
                    </m:r>
                  </m:oMath>
                </a14:m>
                <a:r>
                  <a:rPr lang="ja-JP" altLang="en-US"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：アダマール除算</a:t>
                </a:r>
                <a:endParaRPr lang="en-US" altLang="ja-JP"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mc:Choice>
        <mc:Fallback xmlns="">
          <p:sp>
            <p:nvSpPr>
              <p:cNvPr id="7" name="テキスト ボックス 6">
                <a:extLst>
                  <a:ext uri="{FF2B5EF4-FFF2-40B4-BE49-F238E27FC236}">
                    <a16:creationId xmlns:a16="http://schemas.microsoft.com/office/drawing/2014/main" id="{63CB09B4-1864-4822-99F6-A4836849363D}"/>
                  </a:ext>
                </a:extLst>
              </p:cNvPr>
              <p:cNvSpPr txBox="1">
                <a:spLocks noRot="1" noChangeAspect="1" noMove="1" noResize="1" noEditPoints="1" noAdjustHandles="1" noChangeArrowheads="1" noChangeShapeType="1" noTextEdit="1"/>
              </p:cNvSpPr>
              <p:nvPr/>
            </p:nvSpPr>
            <p:spPr>
              <a:xfrm>
                <a:off x="9445148" y="6145733"/>
                <a:ext cx="2361342" cy="646331"/>
              </a:xfrm>
              <a:prstGeom prst="rect">
                <a:avLst/>
              </a:prstGeom>
              <a:blipFill>
                <a:blip r:embed="rId4"/>
                <a:stretch>
                  <a:fillRect l="-2062" t="-3774" r="-773" b="-15094"/>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5803411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DE90730F-5CC4-4500-833D-3F0214563641}"/>
                  </a:ext>
                </a:extLst>
              </p:cNvPr>
              <p:cNvSpPr>
                <a:spLocks noGrp="1"/>
              </p:cNvSpPr>
              <p:nvPr>
                <p:ph idx="1"/>
              </p:nvPr>
            </p:nvSpPr>
            <p:spPr>
              <a:xfrm>
                <a:off x="838200" y="1654900"/>
                <a:ext cx="10325100" cy="5194119"/>
              </a:xfrm>
            </p:spPr>
            <p:txBody>
              <a:bodyPr>
                <a:normAutofit/>
              </a:bodyPr>
              <a:lstStyle/>
              <a:p>
                <a:pPr marL="0" indent="0">
                  <a:buNone/>
                </a:pPr>
                <a:endParaRPr lang="en-US" altLang="ja-JP" dirty="0">
                  <a:solidFill>
                    <a:schemeClr val="tx1">
                      <a:lumMod val="75000"/>
                      <a:lumOff val="25000"/>
                    </a:schemeClr>
                  </a:solidFill>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eqArr>
                        <m:eqArrPr>
                          <m:ctrlPr>
                            <a:rPr lang="en-US" altLang="ja-JP" b="0" i="1" smtClean="0">
                              <a:latin typeface="Cambria Math" panose="02040503050406030204" pitchFamily="18" charset="0"/>
                              <a:ea typeface="Cambria Math" panose="02040503050406030204" pitchFamily="18" charset="0"/>
                            </a:rPr>
                          </m:ctrlPr>
                        </m:eqArrPr>
                        <m:e>
                          <m:eqArr>
                            <m:eqArrPr>
                              <m:ctrlPr>
                                <a:rPr lang="en-US" altLang="ja-JP" i="1">
                                  <a:latin typeface="Cambria Math" panose="02040503050406030204" pitchFamily="18" charset="0"/>
                                  <a:ea typeface="Cambria Math" panose="02040503050406030204" pitchFamily="18" charset="0"/>
                                </a:rPr>
                              </m:ctrlPr>
                            </m:eqArrPr>
                            <m:e>
                              <m:sSub>
                                <m:sSubPr>
                                  <m:ctrlPr>
                                    <a:rPr lang="en-US" altLang="ja-JP" i="1">
                                      <a:latin typeface="Cambria Math" panose="02040503050406030204" pitchFamily="18" charset="0"/>
                                      <a:ea typeface="Cambria Math" panose="02040503050406030204" pitchFamily="18" charset="0"/>
                                    </a:rPr>
                                  </m:ctrlPr>
                                </m:sSubPr>
                                <m:e>
                                  <m:r>
                                    <a:rPr lang="en-US" altLang="ja-JP" b="1">
                                      <a:latin typeface="Cambria Math" panose="02040503050406030204" pitchFamily="18" charset="0"/>
                                      <a:ea typeface="Cambria Math" panose="02040503050406030204" pitchFamily="18" charset="0"/>
                                    </a:rPr>
                                    <m:t>𝐡</m:t>
                                  </m:r>
                                </m:e>
                                <m:sub>
                                  <m:r>
                                    <a:rPr lang="en-US" altLang="ja-JP" i="1">
                                      <a:latin typeface="Cambria Math" panose="02040503050406030204" pitchFamily="18" charset="0"/>
                                      <a:ea typeface="Cambria Math" panose="02040503050406030204" pitchFamily="18" charset="0"/>
                                    </a:rPr>
                                    <m:t>𝑘</m:t>
                                  </m:r>
                                </m:sub>
                              </m:sSub>
                              <m:r>
                                <a:rPr lang="en-US" altLang="ja-JP" i="1">
                                  <a:latin typeface="Cambria Math" panose="02040503050406030204" pitchFamily="18" charset="0"/>
                                </a:rPr>
                                <m:t>= </m:t>
                              </m:r>
                              <m:d>
                                <m:dPr>
                                  <m:begChr m:val="["/>
                                  <m:endChr m:val="]"/>
                                  <m:ctrlPr>
                                    <a:rPr lang="en-US" altLang="ja-JP" i="1">
                                      <a:latin typeface="Cambria Math" panose="02040503050406030204" pitchFamily="18" charset="0"/>
                                    </a:rPr>
                                  </m:ctrlPr>
                                </m:dPr>
                                <m:e>
                                  <m:nary>
                                    <m:naryPr>
                                      <m:chr m:val="∑"/>
                                      <m:ctrlPr>
                                        <a:rPr lang="en-US" altLang="ja-JP" i="1">
                                          <a:latin typeface="Cambria Math" panose="02040503050406030204" pitchFamily="18" charset="0"/>
                                        </a:rPr>
                                      </m:ctrlPr>
                                    </m:naryPr>
                                    <m:sub>
                                      <m:r>
                                        <a:rPr lang="en-US" altLang="ja-JP" i="1">
                                          <a:latin typeface="Cambria Math" panose="02040503050406030204" pitchFamily="18" charset="0"/>
                                        </a:rPr>
                                        <m:t>𝑙</m:t>
                                      </m:r>
                                      <m:r>
                                        <a:rPr lang="en-US" altLang="ja-JP" i="1">
                                          <a:latin typeface="Cambria Math" panose="02040503050406030204" pitchFamily="18" charset="0"/>
                                        </a:rPr>
                                        <m:t>=1</m:t>
                                      </m:r>
                                    </m:sub>
                                    <m:sup>
                                      <m:r>
                                        <a:rPr lang="en-US" altLang="ja-JP" i="1">
                                          <a:latin typeface="Cambria Math" panose="02040503050406030204" pitchFamily="18" charset="0"/>
                                        </a:rPr>
                                        <m:t>𝑠</m:t>
                                      </m:r>
                                    </m:sup>
                                    <m:e>
                                      <m:sSub>
                                        <m:sSubPr>
                                          <m:ctrlPr>
                                            <a:rPr lang="en-US" altLang="ja-JP" i="1">
                                              <a:latin typeface="Cambria Math" panose="02040503050406030204" pitchFamily="18" charset="0"/>
                                            </a:rPr>
                                          </m:ctrlPr>
                                        </m:sSubPr>
                                        <m:e>
                                          <m:r>
                                            <a:rPr lang="en-US" altLang="ja-JP" b="1">
                                              <a:latin typeface="Cambria Math" panose="02040503050406030204" pitchFamily="18" charset="0"/>
                                            </a:rPr>
                                            <m:t>𝐳</m:t>
                                          </m:r>
                                        </m:e>
                                        <m:sub>
                                          <m:r>
                                            <a:rPr lang="en-US" altLang="ja-JP" i="1">
                                              <a:latin typeface="Cambria Math" panose="02040503050406030204" pitchFamily="18" charset="0"/>
                                            </a:rPr>
                                            <m:t>𝑙</m:t>
                                          </m:r>
                                        </m:sub>
                                      </m:sSub>
                                      <m:r>
                                        <a:rPr lang="en-US" altLang="ja-JP" i="1">
                                          <a:latin typeface="Cambria Math" panose="02040503050406030204" pitchFamily="18" charset="0"/>
                                          <a:ea typeface="Cambria Math" panose="02040503050406030204" pitchFamily="18" charset="0"/>
                                        </a:rPr>
                                        <m:t>⊙</m:t>
                                      </m:r>
                                      <m:sSub>
                                        <m:sSubPr>
                                          <m:ctrlPr>
                                            <a:rPr lang="en-US" altLang="ja-JP" i="1">
                                              <a:latin typeface="Cambria Math" panose="02040503050406030204" pitchFamily="18" charset="0"/>
                                              <a:ea typeface="Cambria Math" panose="02040503050406030204" pitchFamily="18" charset="0"/>
                                            </a:rPr>
                                          </m:ctrlPr>
                                        </m:sSubPr>
                                        <m:e>
                                          <m:r>
                                            <a:rPr lang="en-US" altLang="ja-JP" b="1">
                                              <a:solidFill>
                                                <a:srgbClr val="C00000"/>
                                              </a:solidFill>
                                              <a:latin typeface="Cambria Math" panose="02040503050406030204" pitchFamily="18" charset="0"/>
                                              <a:ea typeface="Cambria Math" panose="02040503050406030204" pitchFamily="18" charset="0"/>
                                            </a:rPr>
                                            <m:t>𝐇</m:t>
                                          </m:r>
                                        </m:e>
                                        <m:sub>
                                          <m:r>
                                            <a:rPr lang="en-US" altLang="ja-JP" i="1">
                                              <a:latin typeface="Cambria Math" panose="02040503050406030204" pitchFamily="18" charset="0"/>
                                              <a:ea typeface="Cambria Math" panose="02040503050406030204" pitchFamily="18" charset="0"/>
                                            </a:rPr>
                                            <m:t>𝑘</m:t>
                                          </m:r>
                                        </m:sub>
                                      </m:sSub>
                                      <m:sSub>
                                        <m:sSubPr>
                                          <m:ctrlPr>
                                            <a:rPr lang="en-US" altLang="ja-JP" i="1">
                                              <a:latin typeface="Cambria Math" panose="02040503050406030204" pitchFamily="18" charset="0"/>
                                              <a:ea typeface="Cambria Math" panose="02040503050406030204" pitchFamily="18" charset="0"/>
                                            </a:rPr>
                                          </m:ctrlPr>
                                        </m:sSubPr>
                                        <m:e>
                                          <m:r>
                                            <a:rPr lang="en-US" altLang="ja-JP" b="1">
                                              <a:latin typeface="Cambria Math" panose="02040503050406030204" pitchFamily="18" charset="0"/>
                                              <a:ea typeface="Cambria Math" panose="02040503050406030204" pitchFamily="18" charset="0"/>
                                            </a:rPr>
                                            <m:t>𝐳</m:t>
                                          </m:r>
                                        </m:e>
                                        <m:sub>
                                          <m:r>
                                            <a:rPr lang="en-US" altLang="ja-JP" i="1">
                                              <a:latin typeface="Cambria Math" panose="02040503050406030204" pitchFamily="18" charset="0"/>
                                              <a:ea typeface="Cambria Math" panose="02040503050406030204" pitchFamily="18" charset="0"/>
                                            </a:rPr>
                                            <m:t>𝑙</m:t>
                                          </m:r>
                                        </m:sub>
                                      </m:sSub>
                                    </m:e>
                                  </m:nary>
                                </m:e>
                              </m:d>
                              <m:r>
                                <a:rPr lang="en-US" altLang="ja-JP" i="1">
                                  <a:latin typeface="Cambria Math" panose="02040503050406030204" pitchFamily="18" charset="0"/>
                                  <a:ea typeface="Cambria Math" panose="02040503050406030204" pitchFamily="18" charset="0"/>
                                </a:rPr>
                                <m:t>⊘</m:t>
                              </m:r>
                              <m:d>
                                <m:dPr>
                                  <m:begChr m:val="["/>
                                  <m:endChr m:val="]"/>
                                  <m:ctrlPr>
                                    <a:rPr lang="en-US" altLang="ja-JP" i="1">
                                      <a:latin typeface="Cambria Math" panose="02040503050406030204" pitchFamily="18" charset="0"/>
                                      <a:ea typeface="Cambria Math" panose="02040503050406030204" pitchFamily="18" charset="0"/>
                                    </a:rPr>
                                  </m:ctrlPr>
                                </m:dPr>
                                <m:e>
                                  <m:nary>
                                    <m:naryPr>
                                      <m:chr m:val="∑"/>
                                      <m:ctrlPr>
                                        <a:rPr lang="en-US" altLang="ja-JP" i="1">
                                          <a:latin typeface="Cambria Math" panose="02040503050406030204" pitchFamily="18" charset="0"/>
                                        </a:rPr>
                                      </m:ctrlPr>
                                    </m:naryPr>
                                    <m:sub>
                                      <m:r>
                                        <a:rPr lang="en-US" altLang="ja-JP" i="1">
                                          <a:latin typeface="Cambria Math" panose="02040503050406030204" pitchFamily="18" charset="0"/>
                                        </a:rPr>
                                        <m:t>𝑙</m:t>
                                      </m:r>
                                      <m:r>
                                        <a:rPr lang="en-US" altLang="ja-JP" i="1">
                                          <a:latin typeface="Cambria Math" panose="02040503050406030204" pitchFamily="18" charset="0"/>
                                        </a:rPr>
                                        <m:t>=1</m:t>
                                      </m:r>
                                    </m:sub>
                                    <m:sup>
                                      <m:r>
                                        <a:rPr lang="en-US" altLang="ja-JP" i="1">
                                          <a:latin typeface="Cambria Math" panose="02040503050406030204" pitchFamily="18" charset="0"/>
                                        </a:rPr>
                                        <m:t>𝑠</m:t>
                                      </m:r>
                                    </m:sup>
                                    <m:e>
                                      <m:sSub>
                                        <m:sSubPr>
                                          <m:ctrlPr>
                                            <a:rPr lang="en-US" altLang="ja-JP" i="1">
                                              <a:latin typeface="Cambria Math" panose="02040503050406030204" pitchFamily="18" charset="0"/>
                                            </a:rPr>
                                          </m:ctrlPr>
                                        </m:sSubPr>
                                        <m:e>
                                          <m:r>
                                            <a:rPr lang="en-US" altLang="ja-JP" b="1">
                                              <a:latin typeface="Cambria Math" panose="02040503050406030204" pitchFamily="18" charset="0"/>
                                            </a:rPr>
                                            <m:t>𝐳</m:t>
                                          </m:r>
                                        </m:e>
                                        <m:sub>
                                          <m:r>
                                            <a:rPr lang="en-US" altLang="ja-JP" i="1">
                                              <a:latin typeface="Cambria Math" panose="02040503050406030204" pitchFamily="18" charset="0"/>
                                            </a:rPr>
                                            <m:t>𝑙</m:t>
                                          </m:r>
                                        </m:sub>
                                      </m:sSub>
                                      <m:r>
                                        <a:rPr lang="en-US" altLang="ja-JP" i="1">
                                          <a:latin typeface="Cambria Math" panose="02040503050406030204" pitchFamily="18" charset="0"/>
                                          <a:ea typeface="Cambria Math" panose="02040503050406030204" pitchFamily="18" charset="0"/>
                                        </a:rPr>
                                        <m:t>⊙</m:t>
                                      </m:r>
                                      <m:sSub>
                                        <m:sSubPr>
                                          <m:ctrlPr>
                                            <a:rPr lang="en-US" altLang="ja-JP" i="1">
                                              <a:latin typeface="Cambria Math" panose="02040503050406030204" pitchFamily="18" charset="0"/>
                                              <a:ea typeface="Cambria Math" panose="02040503050406030204" pitchFamily="18" charset="0"/>
                                            </a:rPr>
                                          </m:ctrlPr>
                                        </m:sSubPr>
                                        <m:e>
                                          <m:r>
                                            <a:rPr lang="en-US" altLang="ja-JP" b="1">
                                              <a:latin typeface="Cambria Math" panose="02040503050406030204" pitchFamily="18" charset="0"/>
                                              <a:ea typeface="Cambria Math" panose="02040503050406030204" pitchFamily="18" charset="0"/>
                                            </a:rPr>
                                            <m:t>𝐳</m:t>
                                          </m:r>
                                        </m:e>
                                        <m:sub>
                                          <m:r>
                                            <a:rPr lang="en-US" altLang="ja-JP" i="1">
                                              <a:latin typeface="Cambria Math" panose="02040503050406030204" pitchFamily="18" charset="0"/>
                                              <a:ea typeface="Cambria Math" panose="02040503050406030204" pitchFamily="18" charset="0"/>
                                            </a:rPr>
                                            <m:t>𝑙</m:t>
                                          </m:r>
                                        </m:sub>
                                      </m:sSub>
                                    </m:e>
                                  </m:nary>
                                </m:e>
                              </m:d>
                              <m:r>
                                <a:rPr lang="en-US" altLang="ja-JP" i="1">
                                  <a:latin typeface="Cambria Math" panose="02040503050406030204" pitchFamily="18" charset="0"/>
                                  <a:ea typeface="Cambria Math" panose="02040503050406030204" pitchFamily="18" charset="0"/>
                                </a:rPr>
                                <m:t>#</m:t>
                              </m:r>
                            </m:e>
                          </m:eqArr>
                          <m:r>
                            <a:rPr lang="en-US" altLang="ja-JP" i="1">
                              <a:latin typeface="Cambria Math" panose="02040503050406030204" pitchFamily="18" charset="0"/>
                              <a:ea typeface="Cambria Math" panose="02040503050406030204" pitchFamily="18" charset="0"/>
                            </a:rPr>
                            <m:t>#</m:t>
                          </m:r>
                        </m:e>
                      </m:eqArr>
                    </m:oMath>
                  </m:oMathPara>
                </a14:m>
                <a:endParaRPr lang="en-US" altLang="ja-JP" b="0" dirty="0">
                  <a:ea typeface="Cambria Math" panose="02040503050406030204" pitchFamily="18" charset="0"/>
                </a:endParaRPr>
              </a:p>
              <a:p>
                <a:pPr marL="0" indent="0">
                  <a:buNone/>
                </a:pPr>
                <a:endParaRPr lang="en-US" altLang="ja-JP" dirty="0">
                  <a:solidFill>
                    <a:schemeClr val="tx1">
                      <a:lumMod val="75000"/>
                      <a:lumOff val="25000"/>
                    </a:schemeClr>
                  </a:solidFill>
                </a:endParaRPr>
              </a:p>
              <a:p>
                <a:pPr marL="0" indent="0">
                  <a:buNone/>
                </a:pPr>
                <a:r>
                  <a:rPr lang="ja-JP" altLang="en-US" dirty="0">
                    <a:latin typeface="Cambria Math" panose="02040503050406030204" pitchFamily="18" charset="0"/>
                  </a:rPr>
                  <a:t>ヘッセ行列</a:t>
                </a:r>
                <a14:m>
                  <m:oMath xmlns:m="http://schemas.openxmlformats.org/officeDocument/2006/math">
                    <m:sSub>
                      <m:sSubPr>
                        <m:ctrlPr>
                          <a:rPr lang="en-US" altLang="ja-JP" i="1">
                            <a:latin typeface="Cambria Math" panose="02040503050406030204" pitchFamily="18" charset="0"/>
                            <a:ea typeface="Cambria Math" panose="02040503050406030204" pitchFamily="18" charset="0"/>
                          </a:rPr>
                        </m:ctrlPr>
                      </m:sSubPr>
                      <m:e>
                        <m:r>
                          <a:rPr lang="en-US" altLang="ja-JP" b="1" smtClean="0">
                            <a:solidFill>
                              <a:schemeClr val="tx1">
                                <a:lumMod val="75000"/>
                                <a:lumOff val="25000"/>
                              </a:schemeClr>
                            </a:solidFill>
                            <a:latin typeface="Cambria Math" panose="02040503050406030204" pitchFamily="18" charset="0"/>
                            <a:ea typeface="Cambria Math" panose="02040503050406030204" pitchFamily="18" charset="0"/>
                          </a:rPr>
                          <m:t>𝐇</m:t>
                        </m:r>
                      </m:e>
                      <m:sub>
                        <m:r>
                          <a:rPr lang="en-US" altLang="ja-JP" i="1">
                            <a:latin typeface="Cambria Math" panose="02040503050406030204" pitchFamily="18" charset="0"/>
                            <a:ea typeface="Cambria Math" panose="02040503050406030204" pitchFamily="18" charset="0"/>
                          </a:rPr>
                          <m:t>𝑘</m:t>
                        </m:r>
                      </m:sub>
                    </m:sSub>
                  </m:oMath>
                </a14:m>
                <a:r>
                  <a:rPr lang="ja-JP" altLang="en-US" dirty="0">
                    <a:latin typeface="Cambria Math" panose="02040503050406030204" pitchFamily="18" charset="0"/>
                  </a:rPr>
                  <a:t>と</a:t>
                </a:r>
                <a14:m>
                  <m:oMath xmlns:m="http://schemas.openxmlformats.org/officeDocument/2006/math">
                    <m:sSub>
                      <m:sSubPr>
                        <m:ctrlPr>
                          <a:rPr lang="en-US" altLang="ja-JP" i="1">
                            <a:latin typeface="Cambria Math" panose="02040503050406030204" pitchFamily="18" charset="0"/>
                            <a:ea typeface="Cambria Math" panose="02040503050406030204" pitchFamily="18" charset="0"/>
                          </a:rPr>
                        </m:ctrlPr>
                      </m:sSubPr>
                      <m:e>
                        <m:r>
                          <a:rPr lang="en-US" altLang="ja-JP" b="1">
                            <a:latin typeface="Cambria Math" panose="02040503050406030204" pitchFamily="18" charset="0"/>
                            <a:ea typeface="Cambria Math" panose="02040503050406030204" pitchFamily="18" charset="0"/>
                          </a:rPr>
                          <m:t>𝐳</m:t>
                        </m:r>
                      </m:e>
                      <m:sub>
                        <m:r>
                          <a:rPr lang="en-US" altLang="ja-JP" i="1">
                            <a:latin typeface="Cambria Math" panose="02040503050406030204" pitchFamily="18" charset="0"/>
                            <a:ea typeface="Cambria Math" panose="02040503050406030204" pitchFamily="18" charset="0"/>
                          </a:rPr>
                          <m:t>𝑙</m:t>
                        </m:r>
                      </m:sub>
                    </m:sSub>
                  </m:oMath>
                </a14:m>
                <a:r>
                  <a:rPr lang="ja-JP" altLang="en-US" dirty="0">
                    <a:latin typeface="Cambria Math" panose="02040503050406030204" pitchFamily="18" charset="0"/>
                  </a:rPr>
                  <a:t>ベクトルとの積を、勾配</a:t>
                </a:r>
                <a14:m>
                  <m:oMath xmlns:m="http://schemas.openxmlformats.org/officeDocument/2006/math">
                    <m:r>
                      <a:rPr lang="ja-JP" altLang="en-US" b="1" i="1" dirty="0" smtClean="0">
                        <a:latin typeface="Cambria Math" panose="02040503050406030204" pitchFamily="18" charset="0"/>
                      </a:rPr>
                      <m:t>の</m:t>
                    </m:r>
                    <m:sSub>
                      <m:sSubPr>
                        <m:ctrlPr>
                          <a:rPr lang="en-US" altLang="ja-JP" i="1" smtClean="0">
                            <a:latin typeface="Cambria Math" panose="02040503050406030204" pitchFamily="18" charset="0"/>
                            <a:ea typeface="Cambria Math" panose="02040503050406030204" pitchFamily="18" charset="0"/>
                          </a:rPr>
                        </m:ctrlPr>
                      </m:sSubPr>
                      <m:e>
                        <m:r>
                          <a:rPr lang="en-US" altLang="ja-JP" b="1" i="0" smtClean="0">
                            <a:latin typeface="Cambria Math" panose="02040503050406030204" pitchFamily="18" charset="0"/>
                            <a:ea typeface="Cambria Math" panose="02040503050406030204" pitchFamily="18" charset="0"/>
                          </a:rPr>
                          <m:t>𝐠</m:t>
                        </m:r>
                      </m:e>
                      <m:sub>
                        <m:r>
                          <a:rPr lang="en-US" altLang="ja-JP" b="0" i="1" smtClean="0">
                            <a:latin typeface="Cambria Math" panose="02040503050406030204" pitchFamily="18" charset="0"/>
                            <a:ea typeface="Cambria Math" panose="02040503050406030204" pitchFamily="18" charset="0"/>
                          </a:rPr>
                          <m:t>𝑘</m:t>
                        </m:r>
                      </m:sub>
                    </m:sSub>
                  </m:oMath>
                </a14:m>
                <a:r>
                  <a:rPr lang="ja-JP" altLang="en-US" dirty="0">
                    <a:latin typeface="Cambria Math" panose="02040503050406030204" pitchFamily="18" charset="0"/>
                  </a:rPr>
                  <a:t>ベクトルと</a:t>
                </a:r>
                <a14:m>
                  <m:oMath xmlns:m="http://schemas.openxmlformats.org/officeDocument/2006/math">
                    <m:sSub>
                      <m:sSubPr>
                        <m:ctrlPr>
                          <a:rPr lang="en-US" altLang="ja-JP" i="1">
                            <a:latin typeface="Cambria Math" panose="02040503050406030204" pitchFamily="18" charset="0"/>
                            <a:ea typeface="Cambria Math" panose="02040503050406030204" pitchFamily="18" charset="0"/>
                          </a:rPr>
                        </m:ctrlPr>
                      </m:sSubPr>
                      <m:e>
                        <m:r>
                          <a:rPr lang="en-US" altLang="ja-JP" b="1">
                            <a:latin typeface="Cambria Math" panose="02040503050406030204" pitchFamily="18" charset="0"/>
                            <a:ea typeface="Cambria Math" panose="02040503050406030204" pitchFamily="18" charset="0"/>
                          </a:rPr>
                          <m:t>𝐳</m:t>
                        </m:r>
                      </m:e>
                      <m:sub>
                        <m:r>
                          <a:rPr lang="en-US" altLang="ja-JP" i="1">
                            <a:latin typeface="Cambria Math" panose="02040503050406030204" pitchFamily="18" charset="0"/>
                            <a:ea typeface="Cambria Math" panose="02040503050406030204" pitchFamily="18" charset="0"/>
                          </a:rPr>
                          <m:t>𝑙</m:t>
                        </m:r>
                      </m:sub>
                    </m:sSub>
                  </m:oMath>
                </a14:m>
                <a:r>
                  <a:rPr lang="ja-JP" altLang="en-US" dirty="0">
                    <a:latin typeface="Cambria Math" panose="02040503050406030204" pitchFamily="18" charset="0"/>
                  </a:rPr>
                  <a:t>ベクトルの内積を重み</a:t>
                </a:r>
                <a14:m>
                  <m:oMath xmlns:m="http://schemas.openxmlformats.org/officeDocument/2006/math">
                    <m:r>
                      <a:rPr lang="en-US" altLang="ja-JP" b="1">
                        <a:latin typeface="Cambria Math" panose="02040503050406030204" pitchFamily="18" charset="0"/>
                      </a:rPr>
                      <m:t>𝐰</m:t>
                    </m:r>
                  </m:oMath>
                </a14:m>
                <a:r>
                  <a:rPr lang="ja-JP" altLang="en-US" dirty="0">
                    <a:latin typeface="Cambria Math" panose="02040503050406030204" pitchFamily="18" charset="0"/>
                  </a:rPr>
                  <a:t>で微分した</a:t>
                </a:r>
                <a14:m>
                  <m:oMath xmlns:m="http://schemas.openxmlformats.org/officeDocument/2006/math">
                    <m:f>
                      <m:fPr>
                        <m:ctrlPr>
                          <a:rPr lang="en-US" altLang="ja-JP" i="1">
                            <a:latin typeface="Cambria Math" panose="02040503050406030204" pitchFamily="18" charset="0"/>
                          </a:rPr>
                        </m:ctrlPr>
                      </m:fPr>
                      <m:num>
                        <m:r>
                          <a:rPr lang="ja-JP" altLang="en-US" i="1">
                            <a:latin typeface="Cambria Math" panose="02040503050406030204" pitchFamily="18" charset="0"/>
                          </a:rPr>
                          <m:t>𝜕</m:t>
                        </m:r>
                        <m:sSubSup>
                          <m:sSubSupPr>
                            <m:ctrlPr>
                              <a:rPr lang="en-US" altLang="ja-JP" i="1">
                                <a:latin typeface="Cambria Math" panose="02040503050406030204" pitchFamily="18" charset="0"/>
                                <a:ea typeface="Cambria Math" panose="02040503050406030204" pitchFamily="18" charset="0"/>
                              </a:rPr>
                            </m:ctrlPr>
                          </m:sSubSupPr>
                          <m:e>
                            <m:r>
                              <a:rPr lang="en-US" altLang="ja-JP" b="1">
                                <a:latin typeface="Cambria Math" panose="02040503050406030204" pitchFamily="18" charset="0"/>
                                <a:ea typeface="Cambria Math" panose="02040503050406030204" pitchFamily="18" charset="0"/>
                              </a:rPr>
                              <m:t>𝐠</m:t>
                            </m:r>
                          </m:e>
                          <m:sub>
                            <m:r>
                              <a:rPr lang="en-US" altLang="ja-JP" i="1">
                                <a:latin typeface="Cambria Math" panose="02040503050406030204" pitchFamily="18" charset="0"/>
                                <a:ea typeface="Cambria Math" panose="02040503050406030204" pitchFamily="18" charset="0"/>
                              </a:rPr>
                              <m:t>𝑘</m:t>
                            </m:r>
                          </m:sub>
                          <m:sup>
                            <m:r>
                              <a:rPr lang="en-US" altLang="ja-JP" i="1">
                                <a:latin typeface="Cambria Math" panose="02040503050406030204" pitchFamily="18" charset="0"/>
                                <a:ea typeface="Cambria Math" panose="02040503050406030204" pitchFamily="18" charset="0"/>
                              </a:rPr>
                              <m:t>𝑇</m:t>
                            </m:r>
                          </m:sup>
                        </m:sSubSup>
                        <m:sSub>
                          <m:sSubPr>
                            <m:ctrlPr>
                              <a:rPr lang="en-US" altLang="ja-JP" i="1">
                                <a:latin typeface="Cambria Math" panose="02040503050406030204" pitchFamily="18" charset="0"/>
                              </a:rPr>
                            </m:ctrlPr>
                          </m:sSubPr>
                          <m:e>
                            <m:r>
                              <a:rPr lang="en-US" altLang="ja-JP" b="1">
                                <a:latin typeface="Cambria Math" panose="02040503050406030204" pitchFamily="18" charset="0"/>
                              </a:rPr>
                              <m:t>𝐳</m:t>
                            </m:r>
                          </m:e>
                          <m:sub>
                            <m:r>
                              <a:rPr lang="en-US" altLang="ja-JP" i="1">
                                <a:latin typeface="Cambria Math" panose="02040503050406030204" pitchFamily="18" charset="0"/>
                              </a:rPr>
                              <m:t>𝑙</m:t>
                            </m:r>
                          </m:sub>
                        </m:sSub>
                      </m:num>
                      <m:den>
                        <m:r>
                          <a:rPr lang="ja-JP" altLang="en-US" i="1">
                            <a:latin typeface="Cambria Math" panose="02040503050406030204" pitchFamily="18" charset="0"/>
                          </a:rPr>
                          <m:t>𝜕</m:t>
                        </m:r>
                        <m:r>
                          <a:rPr lang="en-US" altLang="ja-JP" b="1">
                            <a:latin typeface="Cambria Math" panose="02040503050406030204" pitchFamily="18" charset="0"/>
                          </a:rPr>
                          <m:t>𝐰</m:t>
                        </m:r>
                      </m:den>
                    </m:f>
                  </m:oMath>
                </a14:m>
                <a:r>
                  <a:rPr lang="ja-JP" altLang="en-US" dirty="0">
                    <a:latin typeface="Cambria Math" panose="02040503050406030204" pitchFamily="18" charset="0"/>
                  </a:rPr>
                  <a:t>に置き換える</a:t>
                </a:r>
                <a:endParaRPr kumimoji="1" lang="en-US" altLang="ja-JP" b="0" dirty="0">
                  <a:solidFill>
                    <a:schemeClr val="tx1">
                      <a:lumMod val="75000"/>
                      <a:lumOff val="25000"/>
                    </a:schemeClr>
                  </a:solidFill>
                  <a:latin typeface="Cambria Math" panose="02040503050406030204" pitchFamily="18" charset="0"/>
                </a:endParaRPr>
              </a:p>
              <a:p>
                <a:pPr marL="0" indent="0">
                  <a:buNone/>
                </a:pPr>
                <a:endParaRPr kumimoji="1" lang="en-US" altLang="ja-JP" b="0" dirty="0">
                  <a:solidFill>
                    <a:schemeClr val="tx1">
                      <a:lumMod val="75000"/>
                      <a:lumOff val="25000"/>
                    </a:schemeClr>
                  </a:solidFill>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altLang="ja-JP" i="1">
                              <a:latin typeface="Cambria Math" panose="02040503050406030204" pitchFamily="18" charset="0"/>
                            </a:rPr>
                          </m:ctrlPr>
                        </m:fPr>
                        <m:num>
                          <m:r>
                            <a:rPr lang="ja-JP" altLang="en-US" i="1">
                              <a:latin typeface="Cambria Math" panose="02040503050406030204" pitchFamily="18" charset="0"/>
                            </a:rPr>
                            <m:t>𝜕</m:t>
                          </m:r>
                          <m:sSubSup>
                            <m:sSubSupPr>
                              <m:ctrlPr>
                                <a:rPr lang="en-US" altLang="ja-JP" i="1">
                                  <a:latin typeface="Cambria Math" panose="02040503050406030204" pitchFamily="18" charset="0"/>
                                  <a:ea typeface="Cambria Math" panose="02040503050406030204" pitchFamily="18" charset="0"/>
                                </a:rPr>
                              </m:ctrlPr>
                            </m:sSubSupPr>
                            <m:e>
                              <m:r>
                                <a:rPr lang="en-US" altLang="ja-JP" b="1" i="0" smtClean="0">
                                  <a:latin typeface="Cambria Math" panose="02040503050406030204" pitchFamily="18" charset="0"/>
                                  <a:ea typeface="Cambria Math" panose="02040503050406030204" pitchFamily="18" charset="0"/>
                                </a:rPr>
                                <m:t>𝐠</m:t>
                              </m:r>
                            </m:e>
                            <m:sub>
                              <m:r>
                                <a:rPr lang="en-US" altLang="ja-JP" i="1">
                                  <a:latin typeface="Cambria Math" panose="02040503050406030204" pitchFamily="18" charset="0"/>
                                  <a:ea typeface="Cambria Math" panose="02040503050406030204" pitchFamily="18" charset="0"/>
                                </a:rPr>
                                <m:t>𝑘</m:t>
                              </m:r>
                            </m:sub>
                            <m:sup>
                              <m:r>
                                <a:rPr lang="en-US" altLang="ja-JP" i="1">
                                  <a:latin typeface="Cambria Math" panose="02040503050406030204" pitchFamily="18" charset="0"/>
                                  <a:ea typeface="Cambria Math" panose="02040503050406030204" pitchFamily="18" charset="0"/>
                                </a:rPr>
                                <m:t>𝑇</m:t>
                              </m:r>
                            </m:sup>
                          </m:sSubSup>
                          <m:sSub>
                            <m:sSubPr>
                              <m:ctrlPr>
                                <a:rPr lang="en-US" altLang="ja-JP" i="1">
                                  <a:latin typeface="Cambria Math" panose="02040503050406030204" pitchFamily="18" charset="0"/>
                                </a:rPr>
                              </m:ctrlPr>
                            </m:sSubPr>
                            <m:e>
                              <m:r>
                                <a:rPr lang="en-US" altLang="ja-JP" b="1" i="0" smtClean="0">
                                  <a:latin typeface="Cambria Math" panose="02040503050406030204" pitchFamily="18" charset="0"/>
                                </a:rPr>
                                <m:t>𝐳</m:t>
                              </m:r>
                            </m:e>
                            <m:sub>
                              <m:r>
                                <a:rPr lang="en-US" altLang="ja-JP" b="0" i="1" smtClean="0">
                                  <a:latin typeface="Cambria Math" panose="02040503050406030204" pitchFamily="18" charset="0"/>
                                </a:rPr>
                                <m:t>𝑙</m:t>
                              </m:r>
                            </m:sub>
                          </m:sSub>
                        </m:num>
                        <m:den>
                          <m:r>
                            <a:rPr lang="ja-JP" altLang="en-US" i="1">
                              <a:latin typeface="Cambria Math" panose="02040503050406030204" pitchFamily="18" charset="0"/>
                            </a:rPr>
                            <m:t>𝜕</m:t>
                          </m:r>
                          <m:r>
                            <a:rPr lang="en-US" altLang="ja-JP" b="1">
                              <a:latin typeface="Cambria Math" panose="02040503050406030204" pitchFamily="18" charset="0"/>
                            </a:rPr>
                            <m:t>𝐰</m:t>
                          </m:r>
                        </m:den>
                      </m:f>
                      <m:r>
                        <a:rPr lang="en-US" altLang="ja-JP" i="1">
                          <a:latin typeface="Cambria Math" panose="02040503050406030204" pitchFamily="18" charset="0"/>
                        </a:rPr>
                        <m:t>=</m:t>
                      </m:r>
                      <m:f>
                        <m:fPr>
                          <m:ctrlPr>
                            <a:rPr lang="en-US" altLang="ja-JP" i="1">
                              <a:latin typeface="Cambria Math" panose="02040503050406030204" pitchFamily="18" charset="0"/>
                            </a:rPr>
                          </m:ctrlPr>
                        </m:fPr>
                        <m:num>
                          <m:r>
                            <a:rPr lang="ja-JP" altLang="en-US" i="1">
                              <a:latin typeface="Cambria Math" panose="02040503050406030204" pitchFamily="18" charset="0"/>
                            </a:rPr>
                            <m:t>𝜕</m:t>
                          </m:r>
                          <m:sSubSup>
                            <m:sSubSupPr>
                              <m:ctrlPr>
                                <a:rPr lang="en-US" altLang="ja-JP" i="1">
                                  <a:latin typeface="Cambria Math" panose="02040503050406030204" pitchFamily="18" charset="0"/>
                                  <a:ea typeface="Cambria Math" panose="02040503050406030204" pitchFamily="18" charset="0"/>
                                </a:rPr>
                              </m:ctrlPr>
                            </m:sSubSupPr>
                            <m:e>
                              <m:r>
                                <a:rPr lang="en-US" altLang="ja-JP" b="1">
                                  <a:latin typeface="Cambria Math" panose="02040503050406030204" pitchFamily="18" charset="0"/>
                                  <a:ea typeface="Cambria Math" panose="02040503050406030204" pitchFamily="18" charset="0"/>
                                </a:rPr>
                                <m:t>𝐠</m:t>
                              </m:r>
                            </m:e>
                            <m:sub>
                              <m:r>
                                <a:rPr lang="en-US" altLang="ja-JP" i="1">
                                  <a:latin typeface="Cambria Math" panose="02040503050406030204" pitchFamily="18" charset="0"/>
                                  <a:ea typeface="Cambria Math" panose="02040503050406030204" pitchFamily="18" charset="0"/>
                                </a:rPr>
                                <m:t>𝑘</m:t>
                              </m:r>
                            </m:sub>
                            <m:sup>
                              <m:r>
                                <a:rPr lang="en-US" altLang="ja-JP" i="1">
                                  <a:latin typeface="Cambria Math" panose="02040503050406030204" pitchFamily="18" charset="0"/>
                                  <a:ea typeface="Cambria Math" panose="02040503050406030204" pitchFamily="18" charset="0"/>
                                </a:rPr>
                                <m:t>𝑇</m:t>
                              </m:r>
                            </m:sup>
                          </m:sSubSup>
                        </m:num>
                        <m:den>
                          <m:r>
                            <a:rPr lang="ja-JP" altLang="en-US" i="1">
                              <a:latin typeface="Cambria Math" panose="02040503050406030204" pitchFamily="18" charset="0"/>
                            </a:rPr>
                            <m:t>𝜕</m:t>
                          </m:r>
                          <m:r>
                            <a:rPr lang="en-US" altLang="ja-JP" b="1">
                              <a:latin typeface="Cambria Math" panose="02040503050406030204" pitchFamily="18" charset="0"/>
                            </a:rPr>
                            <m:t>𝐰</m:t>
                          </m:r>
                        </m:den>
                      </m:f>
                      <m:sSub>
                        <m:sSubPr>
                          <m:ctrlPr>
                            <a:rPr lang="en-US" altLang="ja-JP" i="1">
                              <a:latin typeface="Cambria Math" panose="02040503050406030204" pitchFamily="18" charset="0"/>
                            </a:rPr>
                          </m:ctrlPr>
                        </m:sSubPr>
                        <m:e>
                          <m:r>
                            <a:rPr lang="en-US" altLang="ja-JP" b="1">
                              <a:latin typeface="Cambria Math" panose="02040503050406030204" pitchFamily="18" charset="0"/>
                            </a:rPr>
                            <m:t>𝐳</m:t>
                          </m:r>
                        </m:e>
                        <m:sub>
                          <m:r>
                            <a:rPr lang="en-US" altLang="ja-JP" i="1">
                              <a:latin typeface="Cambria Math" panose="02040503050406030204" pitchFamily="18" charset="0"/>
                            </a:rPr>
                            <m:t>𝑙</m:t>
                          </m:r>
                        </m:sub>
                      </m:sSub>
                      <m:r>
                        <a:rPr lang="en-US" altLang="ja-JP" i="1">
                          <a:latin typeface="Cambria Math" panose="02040503050406030204" pitchFamily="18" charset="0"/>
                        </a:rPr>
                        <m:t>+</m:t>
                      </m:r>
                      <m:sSubSup>
                        <m:sSubSupPr>
                          <m:ctrlPr>
                            <a:rPr lang="en-US" altLang="ja-JP" i="1">
                              <a:latin typeface="Cambria Math" panose="02040503050406030204" pitchFamily="18" charset="0"/>
                              <a:ea typeface="Cambria Math" panose="02040503050406030204" pitchFamily="18" charset="0"/>
                            </a:rPr>
                          </m:ctrlPr>
                        </m:sSubSupPr>
                        <m:e>
                          <m:r>
                            <a:rPr lang="en-US" altLang="ja-JP" b="1">
                              <a:latin typeface="Cambria Math" panose="02040503050406030204" pitchFamily="18" charset="0"/>
                              <a:ea typeface="Cambria Math" panose="02040503050406030204" pitchFamily="18" charset="0"/>
                            </a:rPr>
                            <m:t>𝐠</m:t>
                          </m:r>
                        </m:e>
                        <m:sub>
                          <m:r>
                            <a:rPr lang="en-US" altLang="ja-JP" i="1">
                              <a:latin typeface="Cambria Math" panose="02040503050406030204" pitchFamily="18" charset="0"/>
                              <a:ea typeface="Cambria Math" panose="02040503050406030204" pitchFamily="18" charset="0"/>
                            </a:rPr>
                            <m:t>𝑘</m:t>
                          </m:r>
                        </m:sub>
                        <m:sup>
                          <m:r>
                            <a:rPr lang="en-US" altLang="ja-JP" i="1">
                              <a:latin typeface="Cambria Math" panose="02040503050406030204" pitchFamily="18" charset="0"/>
                              <a:ea typeface="Cambria Math" panose="02040503050406030204" pitchFamily="18" charset="0"/>
                            </a:rPr>
                            <m:t>𝑇</m:t>
                          </m:r>
                        </m:sup>
                      </m:sSubSup>
                      <m:f>
                        <m:fPr>
                          <m:ctrlPr>
                            <a:rPr lang="en-US" altLang="ja-JP" i="1">
                              <a:latin typeface="Cambria Math" panose="02040503050406030204" pitchFamily="18" charset="0"/>
                            </a:rPr>
                          </m:ctrlPr>
                        </m:fPr>
                        <m:num>
                          <m:sSub>
                            <m:sSubPr>
                              <m:ctrlPr>
                                <a:rPr lang="en-US" altLang="ja-JP" i="1">
                                  <a:latin typeface="Cambria Math" panose="02040503050406030204" pitchFamily="18" charset="0"/>
                                </a:rPr>
                              </m:ctrlPr>
                            </m:sSubPr>
                            <m:e>
                              <m:r>
                                <a:rPr lang="en-US" altLang="ja-JP" b="1">
                                  <a:latin typeface="Cambria Math" panose="02040503050406030204" pitchFamily="18" charset="0"/>
                                </a:rPr>
                                <m:t>𝐳</m:t>
                              </m:r>
                            </m:e>
                            <m:sub>
                              <m:r>
                                <a:rPr lang="en-US" altLang="ja-JP" i="1">
                                  <a:latin typeface="Cambria Math" panose="02040503050406030204" pitchFamily="18" charset="0"/>
                                </a:rPr>
                                <m:t>𝑙</m:t>
                              </m:r>
                            </m:sub>
                          </m:sSub>
                        </m:num>
                        <m:den>
                          <m:r>
                            <a:rPr lang="ja-JP" altLang="en-US" i="1">
                              <a:latin typeface="Cambria Math" panose="02040503050406030204" pitchFamily="18" charset="0"/>
                            </a:rPr>
                            <m:t>𝜕</m:t>
                          </m:r>
                          <m:r>
                            <a:rPr lang="en-US" altLang="ja-JP" b="1">
                              <a:latin typeface="Cambria Math" panose="02040503050406030204" pitchFamily="18" charset="0"/>
                            </a:rPr>
                            <m:t>𝐰</m:t>
                          </m:r>
                        </m:den>
                      </m:f>
                      <m:r>
                        <a:rPr lang="en-US" altLang="ja-JP" b="0" i="1" smtClean="0">
                          <a:solidFill>
                            <a:schemeClr val="tx1">
                              <a:lumMod val="75000"/>
                              <a:lumOff val="25000"/>
                            </a:schemeClr>
                          </a:solidFill>
                          <a:latin typeface="Cambria Math" panose="02040503050406030204" pitchFamily="18" charset="0"/>
                        </a:rPr>
                        <m:t>=</m:t>
                      </m:r>
                      <m:f>
                        <m:fPr>
                          <m:ctrlPr>
                            <a:rPr lang="en-US" altLang="ja-JP" i="1">
                              <a:latin typeface="Cambria Math" panose="02040503050406030204" pitchFamily="18" charset="0"/>
                            </a:rPr>
                          </m:ctrlPr>
                        </m:fPr>
                        <m:num>
                          <m:r>
                            <a:rPr lang="ja-JP" altLang="en-US" i="1">
                              <a:latin typeface="Cambria Math" panose="02040503050406030204" pitchFamily="18" charset="0"/>
                            </a:rPr>
                            <m:t>𝜕</m:t>
                          </m:r>
                          <m:sSubSup>
                            <m:sSubSupPr>
                              <m:ctrlPr>
                                <a:rPr lang="en-US" altLang="ja-JP" i="1">
                                  <a:latin typeface="Cambria Math" panose="02040503050406030204" pitchFamily="18" charset="0"/>
                                  <a:ea typeface="Cambria Math" panose="02040503050406030204" pitchFamily="18" charset="0"/>
                                </a:rPr>
                              </m:ctrlPr>
                            </m:sSubSupPr>
                            <m:e>
                              <m:r>
                                <a:rPr lang="en-US" altLang="ja-JP" b="1">
                                  <a:latin typeface="Cambria Math" panose="02040503050406030204" pitchFamily="18" charset="0"/>
                                  <a:ea typeface="Cambria Math" panose="02040503050406030204" pitchFamily="18" charset="0"/>
                                </a:rPr>
                                <m:t>𝐠</m:t>
                              </m:r>
                            </m:e>
                            <m:sub>
                              <m:r>
                                <a:rPr lang="en-US" altLang="ja-JP" i="1">
                                  <a:latin typeface="Cambria Math" panose="02040503050406030204" pitchFamily="18" charset="0"/>
                                  <a:ea typeface="Cambria Math" panose="02040503050406030204" pitchFamily="18" charset="0"/>
                                </a:rPr>
                                <m:t>𝑘</m:t>
                              </m:r>
                            </m:sub>
                            <m:sup>
                              <m:r>
                                <a:rPr lang="en-US" altLang="ja-JP" i="1">
                                  <a:latin typeface="Cambria Math" panose="02040503050406030204" pitchFamily="18" charset="0"/>
                                  <a:ea typeface="Cambria Math" panose="02040503050406030204" pitchFamily="18" charset="0"/>
                                </a:rPr>
                                <m:t>𝑇</m:t>
                              </m:r>
                            </m:sup>
                          </m:sSubSup>
                        </m:num>
                        <m:den>
                          <m:r>
                            <a:rPr lang="ja-JP" altLang="en-US" i="1">
                              <a:latin typeface="Cambria Math" panose="02040503050406030204" pitchFamily="18" charset="0"/>
                            </a:rPr>
                            <m:t>𝜕</m:t>
                          </m:r>
                          <m:r>
                            <a:rPr lang="en-US" altLang="ja-JP" b="1">
                              <a:latin typeface="Cambria Math" panose="02040503050406030204" pitchFamily="18" charset="0"/>
                            </a:rPr>
                            <m:t>𝐰</m:t>
                          </m:r>
                        </m:den>
                      </m:f>
                      <m:sSub>
                        <m:sSubPr>
                          <m:ctrlPr>
                            <a:rPr lang="en-US" altLang="ja-JP" i="1">
                              <a:latin typeface="Cambria Math" panose="02040503050406030204" pitchFamily="18" charset="0"/>
                            </a:rPr>
                          </m:ctrlPr>
                        </m:sSubPr>
                        <m:e>
                          <m:r>
                            <a:rPr lang="en-US" altLang="ja-JP" b="1">
                              <a:latin typeface="Cambria Math" panose="02040503050406030204" pitchFamily="18" charset="0"/>
                            </a:rPr>
                            <m:t>𝐳</m:t>
                          </m:r>
                        </m:e>
                        <m:sub>
                          <m:r>
                            <a:rPr lang="en-US" altLang="ja-JP" b="0" i="1" smtClean="0">
                              <a:latin typeface="Cambria Math" panose="02040503050406030204" pitchFamily="18" charset="0"/>
                            </a:rPr>
                            <m:t>𝑙</m:t>
                          </m:r>
                        </m:sub>
                      </m:sSub>
                      <m:r>
                        <a:rPr lang="en-US" altLang="ja-JP" b="1" i="0" smtClean="0">
                          <a:latin typeface="Cambria Math" panose="02040503050406030204" pitchFamily="18" charset="0"/>
                        </a:rPr>
                        <m:t>=</m:t>
                      </m:r>
                      <m:sSub>
                        <m:sSubPr>
                          <m:ctrlPr>
                            <a:rPr lang="en-US" altLang="ja-JP" i="1">
                              <a:latin typeface="Cambria Math" panose="02040503050406030204" pitchFamily="18" charset="0"/>
                            </a:rPr>
                          </m:ctrlPr>
                        </m:sSubPr>
                        <m:e>
                          <m:r>
                            <a:rPr lang="en-US" altLang="ja-JP" b="1" i="0" smtClean="0">
                              <a:latin typeface="Cambria Math" panose="02040503050406030204" pitchFamily="18" charset="0"/>
                            </a:rPr>
                            <m:t>𝐇</m:t>
                          </m:r>
                        </m:e>
                        <m:sub>
                          <m:r>
                            <a:rPr lang="en-US" altLang="ja-JP" i="1">
                              <a:latin typeface="Cambria Math" panose="02040503050406030204" pitchFamily="18" charset="0"/>
                            </a:rPr>
                            <m:t>𝑘</m:t>
                          </m:r>
                        </m:sub>
                      </m:sSub>
                      <m:sSub>
                        <m:sSubPr>
                          <m:ctrlPr>
                            <a:rPr lang="en-US" altLang="ja-JP" i="1">
                              <a:latin typeface="Cambria Math" panose="02040503050406030204" pitchFamily="18" charset="0"/>
                            </a:rPr>
                          </m:ctrlPr>
                        </m:sSubPr>
                        <m:e>
                          <m:r>
                            <a:rPr lang="en-US" altLang="ja-JP" b="1">
                              <a:latin typeface="Cambria Math" panose="02040503050406030204" pitchFamily="18" charset="0"/>
                            </a:rPr>
                            <m:t>𝐳</m:t>
                          </m:r>
                        </m:e>
                        <m:sub>
                          <m:r>
                            <a:rPr lang="en-US" altLang="ja-JP" b="0" i="1" smtClean="0">
                              <a:latin typeface="Cambria Math" panose="02040503050406030204" pitchFamily="18" charset="0"/>
                            </a:rPr>
                            <m:t>𝑙</m:t>
                          </m:r>
                        </m:sub>
                      </m:sSub>
                    </m:oMath>
                  </m:oMathPara>
                </a14:m>
                <a:endParaRPr lang="en-US" altLang="ja-JP" b="0" i="1" dirty="0">
                  <a:solidFill>
                    <a:schemeClr val="tx1">
                      <a:lumMod val="75000"/>
                      <a:lumOff val="25000"/>
                    </a:schemeClr>
                  </a:solidFill>
                </a:endParaRPr>
              </a:p>
              <a:p>
                <a:pPr marL="0" indent="0">
                  <a:buNone/>
                </a:pPr>
                <a:endParaRPr lang="en-US" altLang="ja-JP" b="0" i="1" dirty="0">
                  <a:solidFill>
                    <a:schemeClr val="tx1">
                      <a:lumMod val="75000"/>
                      <a:lumOff val="25000"/>
                    </a:schemeClr>
                  </a:solidFill>
                </a:endParaRPr>
              </a:p>
            </p:txBody>
          </p:sp>
        </mc:Choice>
        <mc:Fallback xmlns="">
          <p:sp>
            <p:nvSpPr>
              <p:cNvPr id="3" name="コンテンツ プレースホルダー 2">
                <a:extLst>
                  <a:ext uri="{FF2B5EF4-FFF2-40B4-BE49-F238E27FC236}">
                    <a16:creationId xmlns:a16="http://schemas.microsoft.com/office/drawing/2014/main" id="{DE90730F-5CC4-4500-833D-3F0214563641}"/>
                  </a:ext>
                </a:extLst>
              </p:cNvPr>
              <p:cNvSpPr>
                <a:spLocks noGrp="1" noRot="1" noChangeAspect="1" noMove="1" noResize="1" noEditPoints="1" noAdjustHandles="1" noChangeArrowheads="1" noChangeShapeType="1" noTextEdit="1"/>
              </p:cNvSpPr>
              <p:nvPr>
                <p:ph idx="1"/>
              </p:nvPr>
            </p:nvSpPr>
            <p:spPr>
              <a:xfrm>
                <a:off x="838200" y="1654900"/>
                <a:ext cx="10325100" cy="5194119"/>
              </a:xfrm>
              <a:blipFill>
                <a:blip r:embed="rId3"/>
                <a:stretch>
                  <a:fillRect l="-1240"/>
                </a:stretch>
              </a:blipFill>
            </p:spPr>
            <p:txBody>
              <a:bodyPr/>
              <a:lstStyle/>
              <a:p>
                <a:r>
                  <a:rPr lang="ja-JP" altLang="en-US">
                    <a:noFill/>
                  </a:rPr>
                  <a:t> </a:t>
                </a:r>
              </a:p>
            </p:txBody>
          </p:sp>
        </mc:Fallback>
      </mc:AlternateContent>
      <p:sp>
        <p:nvSpPr>
          <p:cNvPr id="2" name="スライド番号プレースホルダー 1">
            <a:extLst>
              <a:ext uri="{FF2B5EF4-FFF2-40B4-BE49-F238E27FC236}">
                <a16:creationId xmlns:a16="http://schemas.microsoft.com/office/drawing/2014/main" id="{E7A79576-016E-4C4F-A9A1-4A578794F457}"/>
              </a:ext>
            </a:extLst>
          </p:cNvPr>
          <p:cNvSpPr>
            <a:spLocks noGrp="1"/>
          </p:cNvSpPr>
          <p:nvPr>
            <p:ph type="sldNum" sz="quarter" idx="12"/>
          </p:nvPr>
        </p:nvSpPr>
        <p:spPr>
          <a:xfrm>
            <a:off x="9329693" y="6356350"/>
            <a:ext cx="2743200" cy="365125"/>
          </a:xfrm>
        </p:spPr>
        <p:txBody>
          <a:bodyPr/>
          <a:lstStyle/>
          <a:p>
            <a:r>
              <a:rPr kumimoji="1" lang="en-US" altLang="ja-JP" dirty="0"/>
              <a:t>12</a:t>
            </a:r>
            <a:endParaRPr kumimoji="1" lang="ja-JP" altLang="en-US" dirty="0"/>
          </a:p>
        </p:txBody>
      </p:sp>
      <p:sp>
        <p:nvSpPr>
          <p:cNvPr id="7" name="テキスト ボックス 6">
            <a:extLst>
              <a:ext uri="{FF2B5EF4-FFF2-40B4-BE49-F238E27FC236}">
                <a16:creationId xmlns:a16="http://schemas.microsoft.com/office/drawing/2014/main" id="{78D4EC2B-83A3-4FC9-A886-46A1EC3496E6}"/>
              </a:ext>
            </a:extLst>
          </p:cNvPr>
          <p:cNvSpPr txBox="1"/>
          <p:nvPr/>
        </p:nvSpPr>
        <p:spPr>
          <a:xfrm>
            <a:off x="10638947" y="2265049"/>
            <a:ext cx="877830" cy="596253"/>
          </a:xfrm>
          <a:prstGeom prst="rect">
            <a:avLst/>
          </a:prstGeom>
          <a:solidFill>
            <a:srgbClr val="E4E4E4"/>
          </a:solidFill>
        </p:spPr>
        <p:txBody>
          <a:bodyPr wrap="square" rtlCol="0">
            <a:spAutoFit/>
          </a:bodyPr>
          <a:lstStyle/>
          <a:p>
            <a:pPr>
              <a:lnSpc>
                <a:spcPct val="150000"/>
              </a:lnSpc>
            </a:pPr>
            <a:r>
              <a:rPr kumimoji="1" lang="en-US" altLang="ja-JP" sz="2400" dirty="0">
                <a:latin typeface="UD デジタル 教科書体 NK-R" panose="02020400000000000000" pitchFamily="18" charset="-128"/>
                <a:ea typeface="UD デジタル 教科書体 NK-R" panose="02020400000000000000" pitchFamily="18" charset="-128"/>
              </a:rPr>
              <a:t>(6)</a:t>
            </a:r>
            <a:endParaRPr kumimoji="1" lang="ja-JP" altLang="en-US" sz="2400" dirty="0">
              <a:latin typeface="UD デジタル 教科書体 NK-R" panose="02020400000000000000" pitchFamily="18" charset="-128"/>
              <a:ea typeface="UD デジタル 教科書体 NK-R" panose="02020400000000000000" pitchFamily="18" charset="-128"/>
            </a:endParaRPr>
          </a:p>
        </p:txBody>
      </p:sp>
      <p:sp>
        <p:nvSpPr>
          <p:cNvPr id="8" name="テキスト ボックス 7">
            <a:extLst>
              <a:ext uri="{FF2B5EF4-FFF2-40B4-BE49-F238E27FC236}">
                <a16:creationId xmlns:a16="http://schemas.microsoft.com/office/drawing/2014/main" id="{2ACFB8A7-917A-44A3-9B26-E29955071252}"/>
              </a:ext>
            </a:extLst>
          </p:cNvPr>
          <p:cNvSpPr txBox="1"/>
          <p:nvPr/>
        </p:nvSpPr>
        <p:spPr>
          <a:xfrm>
            <a:off x="10618166" y="5179005"/>
            <a:ext cx="877830" cy="596253"/>
          </a:xfrm>
          <a:prstGeom prst="rect">
            <a:avLst/>
          </a:prstGeom>
          <a:solidFill>
            <a:srgbClr val="E4E4E4"/>
          </a:solidFill>
        </p:spPr>
        <p:txBody>
          <a:bodyPr wrap="square" rtlCol="0">
            <a:spAutoFit/>
          </a:bodyPr>
          <a:lstStyle/>
          <a:p>
            <a:pPr>
              <a:lnSpc>
                <a:spcPct val="150000"/>
              </a:lnSpc>
            </a:pPr>
            <a:r>
              <a:rPr kumimoji="1" lang="en-US" altLang="ja-JP" sz="2400" dirty="0">
                <a:latin typeface="UD デジタル 教科書体 NK-R" panose="02020400000000000000" pitchFamily="18" charset="-128"/>
                <a:ea typeface="UD デジタル 教科書体 NK-R" panose="02020400000000000000" pitchFamily="18" charset="-128"/>
              </a:rPr>
              <a:t>(11)</a:t>
            </a:r>
            <a:endParaRPr kumimoji="1" lang="ja-JP" altLang="en-US" sz="2400" dirty="0">
              <a:latin typeface="UD デジタル 教科書体 NK-R" panose="02020400000000000000" pitchFamily="18" charset="-128"/>
              <a:ea typeface="UD デジタル 教科書体 NK-R" panose="02020400000000000000" pitchFamily="18" charset="-128"/>
            </a:endParaRPr>
          </a:p>
        </p:txBody>
      </p:sp>
      <p:sp>
        <p:nvSpPr>
          <p:cNvPr id="6" name="正方形/長方形 5">
            <a:extLst>
              <a:ext uri="{FF2B5EF4-FFF2-40B4-BE49-F238E27FC236}">
                <a16:creationId xmlns:a16="http://schemas.microsoft.com/office/drawing/2014/main" id="{3A71FB6E-3740-7743-BF99-25FA059F4C5B}"/>
              </a:ext>
            </a:extLst>
          </p:cNvPr>
          <p:cNvSpPr/>
          <p:nvPr/>
        </p:nvSpPr>
        <p:spPr>
          <a:xfrm>
            <a:off x="5542000" y="2356424"/>
            <a:ext cx="744500" cy="468518"/>
          </a:xfrm>
          <a:prstGeom prst="rect">
            <a:avLst/>
          </a:prstGeom>
          <a:noFill/>
          <a:ln w="38100">
            <a:solidFill>
              <a:srgbClr val="033B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4B823F0A-7786-E943-98B7-004CB0C0EB04}"/>
              </a:ext>
            </a:extLst>
          </p:cNvPr>
          <p:cNvSpPr/>
          <p:nvPr/>
        </p:nvSpPr>
        <p:spPr>
          <a:xfrm>
            <a:off x="3808388" y="5165658"/>
            <a:ext cx="5832763" cy="1219200"/>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タイトル 1">
            <a:extLst>
              <a:ext uri="{FF2B5EF4-FFF2-40B4-BE49-F238E27FC236}">
                <a16:creationId xmlns:a16="http://schemas.microsoft.com/office/drawing/2014/main" id="{D74BAB55-BF99-3649-B554-AF5983FC7F16}"/>
              </a:ext>
            </a:extLst>
          </p:cNvPr>
          <p:cNvSpPr>
            <a:spLocks noGrp="1"/>
          </p:cNvSpPr>
          <p:nvPr>
            <p:ph type="title"/>
          </p:nvPr>
        </p:nvSpPr>
        <p:spPr>
          <a:xfrm>
            <a:off x="838199" y="365125"/>
            <a:ext cx="10786241" cy="1325563"/>
          </a:xfrm>
        </p:spPr>
        <p:txBody>
          <a:bodyPr/>
          <a:lstStyle/>
          <a:p>
            <a:r>
              <a:rPr kumimoji="1" lang="ja-JP" altLang="en-US" spc="-130" dirty="0"/>
              <a:t>提案手法：ヘッセ行列の対角行列化</a:t>
            </a:r>
          </a:p>
        </p:txBody>
      </p:sp>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D583353C-EC30-4B46-A35E-F105D37E7EA6}"/>
                  </a:ext>
                </a:extLst>
              </p:cNvPr>
              <p:cNvSpPr txBox="1"/>
              <p:nvPr/>
            </p:nvSpPr>
            <p:spPr>
              <a:xfrm>
                <a:off x="9445148" y="6145733"/>
                <a:ext cx="2361342" cy="646331"/>
              </a:xfrm>
              <a:prstGeom prst="rect">
                <a:avLst/>
              </a:prstGeom>
              <a:noFill/>
            </p:spPr>
            <p:txBody>
              <a:bodyPr wrap="square">
                <a:spAutoFit/>
              </a:bodyPr>
              <a:lstStyle/>
              <a:p>
                <a:r>
                  <a:rPr lang="en-US" altLang="ja-JP" b="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a:t>
                </a:r>
                <a14:m>
                  <m:oMath xmlns:m="http://schemas.openxmlformats.org/officeDocument/2006/math">
                    <m:r>
                      <a:rPr lang="en-US" altLang="ja-JP" b="0" i="1" smtClean="0">
                        <a:solidFill>
                          <a:schemeClr val="tx1">
                            <a:lumMod val="75000"/>
                            <a:lumOff val="25000"/>
                          </a:schemeClr>
                        </a:solidFill>
                        <a:latin typeface="Cambria Math" panose="02040503050406030204" pitchFamily="18" charset="0"/>
                        <a:ea typeface="Cambria Math" panose="02040503050406030204" pitchFamily="18" charset="0"/>
                      </a:rPr>
                      <m:t>⊙</m:t>
                    </m:r>
                    <m:r>
                      <m:rPr>
                        <m:nor/>
                      </m:rPr>
                      <a:rPr lang="ja-JP" altLang="en-US"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m:t>：</m:t>
                    </m:r>
                  </m:oMath>
                </a14:m>
                <a:r>
                  <a:rPr lang="ja-JP" altLang="en-US"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アダマール乗算</a:t>
                </a:r>
                <a:endParaRPr lang="en-US" altLang="ja-JP"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pPr marL="0" indent="0">
                  <a:buNone/>
                </a:pPr>
                <a:r>
                  <a:rPr lang="ja-JP" altLang="en-US"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r>
                      <a:rPr lang="ja-JP" altLang="en-US" b="1" i="1" dirty="0">
                        <a:solidFill>
                          <a:schemeClr val="tx1">
                            <a:lumMod val="75000"/>
                            <a:lumOff val="25000"/>
                          </a:schemeClr>
                        </a:solidFill>
                        <a:latin typeface="Cambria Math" panose="02040503050406030204" pitchFamily="18" charset="0"/>
                        <a:ea typeface="Cambria Math" panose="02040503050406030204" pitchFamily="18" charset="0"/>
                      </a:rPr>
                      <m:t> </m:t>
                    </m:r>
                    <m:r>
                      <a:rPr lang="en-US" altLang="ja-JP" b="0" i="1" smtClean="0">
                        <a:solidFill>
                          <a:schemeClr val="tx1">
                            <a:lumMod val="75000"/>
                            <a:lumOff val="25000"/>
                          </a:schemeClr>
                        </a:solidFill>
                        <a:latin typeface="Cambria Math" panose="02040503050406030204" pitchFamily="18" charset="0"/>
                        <a:ea typeface="Cambria Math" panose="02040503050406030204" pitchFamily="18" charset="0"/>
                      </a:rPr>
                      <m:t>⊘</m:t>
                    </m:r>
                    <m:r>
                      <a:rPr lang="ja-JP" altLang="en-US" i="1">
                        <a:solidFill>
                          <a:schemeClr val="tx1">
                            <a:lumMod val="75000"/>
                            <a:lumOff val="25000"/>
                          </a:schemeClr>
                        </a:solidFill>
                        <a:latin typeface="Cambria Math" panose="02040503050406030204" pitchFamily="18" charset="0"/>
                        <a:ea typeface="Cambria Math" panose="02040503050406030204" pitchFamily="18" charset="0"/>
                      </a:rPr>
                      <m:t> </m:t>
                    </m:r>
                  </m:oMath>
                </a14:m>
                <a:r>
                  <a:rPr lang="ja-JP" altLang="en-US"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：アダマール除算</a:t>
                </a:r>
                <a:endParaRPr lang="en-US" altLang="ja-JP"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mc:Choice>
        <mc:Fallback xmlns="">
          <p:sp>
            <p:nvSpPr>
              <p:cNvPr id="10" name="テキスト ボックス 9">
                <a:extLst>
                  <a:ext uri="{FF2B5EF4-FFF2-40B4-BE49-F238E27FC236}">
                    <a16:creationId xmlns:a16="http://schemas.microsoft.com/office/drawing/2014/main" id="{D583353C-EC30-4B46-A35E-F105D37E7EA6}"/>
                  </a:ext>
                </a:extLst>
              </p:cNvPr>
              <p:cNvSpPr txBox="1">
                <a:spLocks noRot="1" noChangeAspect="1" noMove="1" noResize="1" noEditPoints="1" noAdjustHandles="1" noChangeArrowheads="1" noChangeShapeType="1" noTextEdit="1"/>
              </p:cNvSpPr>
              <p:nvPr/>
            </p:nvSpPr>
            <p:spPr>
              <a:xfrm>
                <a:off x="9445148" y="6145733"/>
                <a:ext cx="2361342" cy="646331"/>
              </a:xfrm>
              <a:prstGeom prst="rect">
                <a:avLst/>
              </a:prstGeom>
              <a:blipFill>
                <a:blip r:embed="rId4"/>
                <a:stretch>
                  <a:fillRect l="-2062" t="-3774" r="-773" b="-15094"/>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9893977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DE90730F-5CC4-4500-833D-3F0214563641}"/>
                  </a:ext>
                </a:extLst>
              </p:cNvPr>
              <p:cNvSpPr>
                <a:spLocks noGrp="1"/>
              </p:cNvSpPr>
              <p:nvPr>
                <p:ph idx="1"/>
              </p:nvPr>
            </p:nvSpPr>
            <p:spPr>
              <a:xfrm>
                <a:off x="838200" y="1654900"/>
                <a:ext cx="10325100" cy="5194119"/>
              </a:xfrm>
            </p:spPr>
            <p:txBody>
              <a:bodyPr>
                <a:normAutofit/>
              </a:bodyPr>
              <a:lstStyle/>
              <a:p>
                <a:pPr marL="0" indent="0">
                  <a:buNone/>
                </a:pPr>
                <a:endParaRPr lang="en-US" altLang="ja-JP" dirty="0">
                  <a:solidFill>
                    <a:schemeClr val="tx1">
                      <a:lumMod val="75000"/>
                      <a:lumOff val="25000"/>
                    </a:schemeClr>
                  </a:solidFill>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eqArr>
                        <m:eqArrPr>
                          <m:ctrlPr>
                            <a:rPr lang="en-US" altLang="ja-JP" b="0" i="1" smtClean="0">
                              <a:latin typeface="Cambria Math" panose="02040503050406030204" pitchFamily="18" charset="0"/>
                              <a:ea typeface="Cambria Math" panose="02040503050406030204" pitchFamily="18" charset="0"/>
                            </a:rPr>
                          </m:ctrlPr>
                        </m:eqArrPr>
                        <m:e>
                          <m:eqArr>
                            <m:eqArrPr>
                              <m:ctrlPr>
                                <a:rPr lang="en-US" altLang="ja-JP" i="1">
                                  <a:latin typeface="Cambria Math" panose="02040503050406030204" pitchFamily="18" charset="0"/>
                                  <a:ea typeface="Cambria Math" panose="02040503050406030204" pitchFamily="18" charset="0"/>
                                </a:rPr>
                              </m:ctrlPr>
                            </m:eqArrPr>
                            <m:e>
                              <m:sSub>
                                <m:sSubPr>
                                  <m:ctrlPr>
                                    <a:rPr lang="en-US" altLang="ja-JP" i="1">
                                      <a:latin typeface="Cambria Math" panose="02040503050406030204" pitchFamily="18" charset="0"/>
                                      <a:ea typeface="Cambria Math" panose="02040503050406030204" pitchFamily="18" charset="0"/>
                                    </a:rPr>
                                  </m:ctrlPr>
                                </m:sSubPr>
                                <m:e>
                                  <m:r>
                                    <a:rPr lang="en-US" altLang="ja-JP" b="1">
                                      <a:latin typeface="Cambria Math" panose="02040503050406030204" pitchFamily="18" charset="0"/>
                                      <a:ea typeface="Cambria Math" panose="02040503050406030204" pitchFamily="18" charset="0"/>
                                    </a:rPr>
                                    <m:t>𝐡</m:t>
                                  </m:r>
                                </m:e>
                                <m:sub>
                                  <m:r>
                                    <a:rPr lang="en-US" altLang="ja-JP" i="1">
                                      <a:latin typeface="Cambria Math" panose="02040503050406030204" pitchFamily="18" charset="0"/>
                                      <a:ea typeface="Cambria Math" panose="02040503050406030204" pitchFamily="18" charset="0"/>
                                    </a:rPr>
                                    <m:t>𝑘</m:t>
                                  </m:r>
                                </m:sub>
                              </m:sSub>
                              <m:r>
                                <a:rPr lang="en-US" altLang="ja-JP" i="1">
                                  <a:latin typeface="Cambria Math" panose="02040503050406030204" pitchFamily="18" charset="0"/>
                                </a:rPr>
                                <m:t>= </m:t>
                              </m:r>
                              <m:d>
                                <m:dPr>
                                  <m:begChr m:val="["/>
                                  <m:endChr m:val="]"/>
                                  <m:ctrlPr>
                                    <a:rPr lang="en-US" altLang="ja-JP" i="1">
                                      <a:latin typeface="Cambria Math" panose="02040503050406030204" pitchFamily="18" charset="0"/>
                                    </a:rPr>
                                  </m:ctrlPr>
                                </m:dPr>
                                <m:e>
                                  <m:nary>
                                    <m:naryPr>
                                      <m:chr m:val="∑"/>
                                      <m:ctrlPr>
                                        <a:rPr lang="en-US" altLang="ja-JP" i="1">
                                          <a:latin typeface="Cambria Math" panose="02040503050406030204" pitchFamily="18" charset="0"/>
                                        </a:rPr>
                                      </m:ctrlPr>
                                    </m:naryPr>
                                    <m:sub>
                                      <m:r>
                                        <a:rPr lang="en-US" altLang="ja-JP" i="1">
                                          <a:latin typeface="Cambria Math" panose="02040503050406030204" pitchFamily="18" charset="0"/>
                                        </a:rPr>
                                        <m:t>𝑙</m:t>
                                      </m:r>
                                      <m:r>
                                        <a:rPr lang="en-US" altLang="ja-JP" i="1">
                                          <a:latin typeface="Cambria Math" panose="02040503050406030204" pitchFamily="18" charset="0"/>
                                        </a:rPr>
                                        <m:t>=1</m:t>
                                      </m:r>
                                    </m:sub>
                                    <m:sup>
                                      <m:r>
                                        <a:rPr lang="en-US" altLang="ja-JP" i="1">
                                          <a:latin typeface="Cambria Math" panose="02040503050406030204" pitchFamily="18" charset="0"/>
                                        </a:rPr>
                                        <m:t>𝑠</m:t>
                                      </m:r>
                                    </m:sup>
                                    <m:e>
                                      <m:sSub>
                                        <m:sSubPr>
                                          <m:ctrlPr>
                                            <a:rPr lang="en-US" altLang="ja-JP" i="1">
                                              <a:latin typeface="Cambria Math" panose="02040503050406030204" pitchFamily="18" charset="0"/>
                                            </a:rPr>
                                          </m:ctrlPr>
                                        </m:sSubPr>
                                        <m:e>
                                          <m:r>
                                            <a:rPr lang="en-US" altLang="ja-JP" b="1">
                                              <a:latin typeface="Cambria Math" panose="02040503050406030204" pitchFamily="18" charset="0"/>
                                            </a:rPr>
                                            <m:t>𝐳</m:t>
                                          </m:r>
                                        </m:e>
                                        <m:sub>
                                          <m:r>
                                            <a:rPr lang="en-US" altLang="ja-JP" i="1">
                                              <a:latin typeface="Cambria Math" panose="02040503050406030204" pitchFamily="18" charset="0"/>
                                            </a:rPr>
                                            <m:t>𝑙</m:t>
                                          </m:r>
                                        </m:sub>
                                      </m:sSub>
                                      <m:r>
                                        <a:rPr lang="en-US" altLang="ja-JP" i="1">
                                          <a:latin typeface="Cambria Math" panose="02040503050406030204" pitchFamily="18" charset="0"/>
                                          <a:ea typeface="Cambria Math" panose="02040503050406030204" pitchFamily="18" charset="0"/>
                                        </a:rPr>
                                        <m:t>⊙</m:t>
                                      </m:r>
                                      <m:sSub>
                                        <m:sSubPr>
                                          <m:ctrlPr>
                                            <a:rPr lang="en-US" altLang="ja-JP" i="1">
                                              <a:latin typeface="Cambria Math" panose="02040503050406030204" pitchFamily="18" charset="0"/>
                                              <a:ea typeface="Cambria Math" panose="02040503050406030204" pitchFamily="18" charset="0"/>
                                            </a:rPr>
                                          </m:ctrlPr>
                                        </m:sSubPr>
                                        <m:e>
                                          <m:r>
                                            <a:rPr lang="en-US" altLang="ja-JP" b="1">
                                              <a:solidFill>
                                                <a:srgbClr val="C00000"/>
                                              </a:solidFill>
                                              <a:latin typeface="Cambria Math" panose="02040503050406030204" pitchFamily="18" charset="0"/>
                                              <a:ea typeface="Cambria Math" panose="02040503050406030204" pitchFamily="18" charset="0"/>
                                            </a:rPr>
                                            <m:t>𝐇</m:t>
                                          </m:r>
                                        </m:e>
                                        <m:sub>
                                          <m:r>
                                            <a:rPr lang="en-US" altLang="ja-JP" i="1">
                                              <a:latin typeface="Cambria Math" panose="02040503050406030204" pitchFamily="18" charset="0"/>
                                              <a:ea typeface="Cambria Math" panose="02040503050406030204" pitchFamily="18" charset="0"/>
                                            </a:rPr>
                                            <m:t>𝑘</m:t>
                                          </m:r>
                                        </m:sub>
                                      </m:sSub>
                                      <m:sSub>
                                        <m:sSubPr>
                                          <m:ctrlPr>
                                            <a:rPr lang="en-US" altLang="ja-JP" i="1">
                                              <a:latin typeface="Cambria Math" panose="02040503050406030204" pitchFamily="18" charset="0"/>
                                              <a:ea typeface="Cambria Math" panose="02040503050406030204" pitchFamily="18" charset="0"/>
                                            </a:rPr>
                                          </m:ctrlPr>
                                        </m:sSubPr>
                                        <m:e>
                                          <m:r>
                                            <a:rPr lang="en-US" altLang="ja-JP" b="1">
                                              <a:latin typeface="Cambria Math" panose="02040503050406030204" pitchFamily="18" charset="0"/>
                                              <a:ea typeface="Cambria Math" panose="02040503050406030204" pitchFamily="18" charset="0"/>
                                            </a:rPr>
                                            <m:t>𝐳</m:t>
                                          </m:r>
                                        </m:e>
                                        <m:sub>
                                          <m:r>
                                            <a:rPr lang="en-US" altLang="ja-JP" i="1">
                                              <a:latin typeface="Cambria Math" panose="02040503050406030204" pitchFamily="18" charset="0"/>
                                              <a:ea typeface="Cambria Math" panose="02040503050406030204" pitchFamily="18" charset="0"/>
                                            </a:rPr>
                                            <m:t>𝑙</m:t>
                                          </m:r>
                                        </m:sub>
                                      </m:sSub>
                                    </m:e>
                                  </m:nary>
                                </m:e>
                              </m:d>
                              <m:r>
                                <a:rPr lang="en-US" altLang="ja-JP" i="1">
                                  <a:latin typeface="Cambria Math" panose="02040503050406030204" pitchFamily="18" charset="0"/>
                                  <a:ea typeface="Cambria Math" panose="02040503050406030204" pitchFamily="18" charset="0"/>
                                </a:rPr>
                                <m:t>⊘</m:t>
                              </m:r>
                              <m:d>
                                <m:dPr>
                                  <m:begChr m:val="["/>
                                  <m:endChr m:val="]"/>
                                  <m:ctrlPr>
                                    <a:rPr lang="en-US" altLang="ja-JP" i="1">
                                      <a:latin typeface="Cambria Math" panose="02040503050406030204" pitchFamily="18" charset="0"/>
                                      <a:ea typeface="Cambria Math" panose="02040503050406030204" pitchFamily="18" charset="0"/>
                                    </a:rPr>
                                  </m:ctrlPr>
                                </m:dPr>
                                <m:e>
                                  <m:nary>
                                    <m:naryPr>
                                      <m:chr m:val="∑"/>
                                      <m:ctrlPr>
                                        <a:rPr lang="en-US" altLang="ja-JP" i="1">
                                          <a:latin typeface="Cambria Math" panose="02040503050406030204" pitchFamily="18" charset="0"/>
                                        </a:rPr>
                                      </m:ctrlPr>
                                    </m:naryPr>
                                    <m:sub>
                                      <m:r>
                                        <a:rPr lang="en-US" altLang="ja-JP" i="1">
                                          <a:latin typeface="Cambria Math" panose="02040503050406030204" pitchFamily="18" charset="0"/>
                                        </a:rPr>
                                        <m:t>𝑙</m:t>
                                      </m:r>
                                      <m:r>
                                        <a:rPr lang="en-US" altLang="ja-JP" i="1">
                                          <a:latin typeface="Cambria Math" panose="02040503050406030204" pitchFamily="18" charset="0"/>
                                        </a:rPr>
                                        <m:t>=1</m:t>
                                      </m:r>
                                    </m:sub>
                                    <m:sup>
                                      <m:r>
                                        <a:rPr lang="en-US" altLang="ja-JP" i="1">
                                          <a:latin typeface="Cambria Math" panose="02040503050406030204" pitchFamily="18" charset="0"/>
                                        </a:rPr>
                                        <m:t>𝑠</m:t>
                                      </m:r>
                                    </m:sup>
                                    <m:e>
                                      <m:sSub>
                                        <m:sSubPr>
                                          <m:ctrlPr>
                                            <a:rPr lang="en-US" altLang="ja-JP" i="1">
                                              <a:latin typeface="Cambria Math" panose="02040503050406030204" pitchFamily="18" charset="0"/>
                                            </a:rPr>
                                          </m:ctrlPr>
                                        </m:sSubPr>
                                        <m:e>
                                          <m:r>
                                            <a:rPr lang="en-US" altLang="ja-JP" b="1">
                                              <a:latin typeface="Cambria Math" panose="02040503050406030204" pitchFamily="18" charset="0"/>
                                            </a:rPr>
                                            <m:t>𝐳</m:t>
                                          </m:r>
                                        </m:e>
                                        <m:sub>
                                          <m:r>
                                            <a:rPr lang="en-US" altLang="ja-JP" i="1">
                                              <a:latin typeface="Cambria Math" panose="02040503050406030204" pitchFamily="18" charset="0"/>
                                            </a:rPr>
                                            <m:t>𝑙</m:t>
                                          </m:r>
                                        </m:sub>
                                      </m:sSub>
                                      <m:r>
                                        <a:rPr lang="en-US" altLang="ja-JP" i="1">
                                          <a:latin typeface="Cambria Math" panose="02040503050406030204" pitchFamily="18" charset="0"/>
                                          <a:ea typeface="Cambria Math" panose="02040503050406030204" pitchFamily="18" charset="0"/>
                                        </a:rPr>
                                        <m:t>⊙</m:t>
                                      </m:r>
                                      <m:sSub>
                                        <m:sSubPr>
                                          <m:ctrlPr>
                                            <a:rPr lang="en-US" altLang="ja-JP" i="1">
                                              <a:latin typeface="Cambria Math" panose="02040503050406030204" pitchFamily="18" charset="0"/>
                                              <a:ea typeface="Cambria Math" panose="02040503050406030204" pitchFamily="18" charset="0"/>
                                            </a:rPr>
                                          </m:ctrlPr>
                                        </m:sSubPr>
                                        <m:e>
                                          <m:r>
                                            <a:rPr lang="en-US" altLang="ja-JP" b="1">
                                              <a:latin typeface="Cambria Math" panose="02040503050406030204" pitchFamily="18" charset="0"/>
                                              <a:ea typeface="Cambria Math" panose="02040503050406030204" pitchFamily="18" charset="0"/>
                                            </a:rPr>
                                            <m:t>𝐳</m:t>
                                          </m:r>
                                        </m:e>
                                        <m:sub>
                                          <m:r>
                                            <a:rPr lang="en-US" altLang="ja-JP" i="1">
                                              <a:latin typeface="Cambria Math" panose="02040503050406030204" pitchFamily="18" charset="0"/>
                                              <a:ea typeface="Cambria Math" panose="02040503050406030204" pitchFamily="18" charset="0"/>
                                            </a:rPr>
                                            <m:t>𝑙</m:t>
                                          </m:r>
                                        </m:sub>
                                      </m:sSub>
                                    </m:e>
                                  </m:nary>
                                </m:e>
                              </m:d>
                              <m:r>
                                <a:rPr lang="en-US" altLang="ja-JP" i="1">
                                  <a:latin typeface="Cambria Math" panose="02040503050406030204" pitchFamily="18" charset="0"/>
                                  <a:ea typeface="Cambria Math" panose="02040503050406030204" pitchFamily="18" charset="0"/>
                                </a:rPr>
                                <m:t>#</m:t>
                              </m:r>
                            </m:e>
                          </m:eqArr>
                          <m:r>
                            <a:rPr lang="en-US" altLang="ja-JP" i="1">
                              <a:latin typeface="Cambria Math" panose="02040503050406030204" pitchFamily="18" charset="0"/>
                              <a:ea typeface="Cambria Math" panose="02040503050406030204" pitchFamily="18" charset="0"/>
                            </a:rPr>
                            <m:t>#</m:t>
                          </m:r>
                        </m:e>
                      </m:eqArr>
                    </m:oMath>
                  </m:oMathPara>
                </a14:m>
                <a:endParaRPr lang="en-US" altLang="ja-JP" b="0" dirty="0">
                  <a:ea typeface="Cambria Math" panose="02040503050406030204" pitchFamily="18" charset="0"/>
                </a:endParaRPr>
              </a:p>
              <a:p>
                <a:pPr marL="0" indent="0">
                  <a:buNone/>
                </a:pPr>
                <a:endParaRPr lang="en-US" altLang="ja-JP" dirty="0">
                  <a:solidFill>
                    <a:schemeClr val="tx1">
                      <a:lumMod val="75000"/>
                      <a:lumOff val="25000"/>
                    </a:schemeClr>
                  </a:solidFill>
                </a:endParaRPr>
              </a:p>
              <a:p>
                <a:pPr marL="0" indent="0">
                  <a:buNone/>
                </a:pPr>
                <a:r>
                  <a:rPr lang="ja-JP" altLang="en-US" dirty="0">
                    <a:latin typeface="Cambria Math" panose="02040503050406030204" pitchFamily="18" charset="0"/>
                  </a:rPr>
                  <a:t>ヘッセ行列</a:t>
                </a:r>
                <a14:m>
                  <m:oMath xmlns:m="http://schemas.openxmlformats.org/officeDocument/2006/math">
                    <m:sSub>
                      <m:sSubPr>
                        <m:ctrlPr>
                          <a:rPr lang="en-US" altLang="ja-JP" i="1">
                            <a:latin typeface="Cambria Math" panose="02040503050406030204" pitchFamily="18" charset="0"/>
                            <a:ea typeface="Cambria Math" panose="02040503050406030204" pitchFamily="18" charset="0"/>
                          </a:rPr>
                        </m:ctrlPr>
                      </m:sSubPr>
                      <m:e>
                        <m:r>
                          <a:rPr lang="en-US" altLang="ja-JP" b="1" smtClean="0">
                            <a:solidFill>
                              <a:schemeClr val="tx1">
                                <a:lumMod val="75000"/>
                                <a:lumOff val="25000"/>
                              </a:schemeClr>
                            </a:solidFill>
                            <a:latin typeface="Cambria Math" panose="02040503050406030204" pitchFamily="18" charset="0"/>
                            <a:ea typeface="Cambria Math" panose="02040503050406030204" pitchFamily="18" charset="0"/>
                          </a:rPr>
                          <m:t>𝐇</m:t>
                        </m:r>
                      </m:e>
                      <m:sub>
                        <m:r>
                          <a:rPr lang="en-US" altLang="ja-JP" i="1">
                            <a:latin typeface="Cambria Math" panose="02040503050406030204" pitchFamily="18" charset="0"/>
                            <a:ea typeface="Cambria Math" panose="02040503050406030204" pitchFamily="18" charset="0"/>
                          </a:rPr>
                          <m:t>𝑘</m:t>
                        </m:r>
                      </m:sub>
                    </m:sSub>
                  </m:oMath>
                </a14:m>
                <a:r>
                  <a:rPr lang="ja-JP" altLang="en-US" dirty="0">
                    <a:latin typeface="Cambria Math" panose="02040503050406030204" pitchFamily="18" charset="0"/>
                  </a:rPr>
                  <a:t>と</a:t>
                </a:r>
                <a14:m>
                  <m:oMath xmlns:m="http://schemas.openxmlformats.org/officeDocument/2006/math">
                    <m:sSub>
                      <m:sSubPr>
                        <m:ctrlPr>
                          <a:rPr lang="en-US" altLang="ja-JP" i="1">
                            <a:latin typeface="Cambria Math" panose="02040503050406030204" pitchFamily="18" charset="0"/>
                            <a:ea typeface="Cambria Math" panose="02040503050406030204" pitchFamily="18" charset="0"/>
                          </a:rPr>
                        </m:ctrlPr>
                      </m:sSubPr>
                      <m:e>
                        <m:r>
                          <a:rPr lang="en-US" altLang="ja-JP" b="1">
                            <a:latin typeface="Cambria Math" panose="02040503050406030204" pitchFamily="18" charset="0"/>
                            <a:ea typeface="Cambria Math" panose="02040503050406030204" pitchFamily="18" charset="0"/>
                          </a:rPr>
                          <m:t>𝐳</m:t>
                        </m:r>
                      </m:e>
                      <m:sub>
                        <m:r>
                          <a:rPr lang="en-US" altLang="ja-JP" i="1">
                            <a:latin typeface="Cambria Math" panose="02040503050406030204" pitchFamily="18" charset="0"/>
                            <a:ea typeface="Cambria Math" panose="02040503050406030204" pitchFamily="18" charset="0"/>
                          </a:rPr>
                          <m:t>𝑙</m:t>
                        </m:r>
                      </m:sub>
                    </m:sSub>
                  </m:oMath>
                </a14:m>
                <a:r>
                  <a:rPr lang="ja-JP" altLang="en-US" dirty="0">
                    <a:latin typeface="Cambria Math" panose="02040503050406030204" pitchFamily="18" charset="0"/>
                  </a:rPr>
                  <a:t>ベクトルとの積を、勾配</a:t>
                </a:r>
                <a14:m>
                  <m:oMath xmlns:m="http://schemas.openxmlformats.org/officeDocument/2006/math">
                    <m:r>
                      <a:rPr lang="ja-JP" altLang="en-US" b="1" i="1" dirty="0" smtClean="0">
                        <a:latin typeface="Cambria Math" panose="02040503050406030204" pitchFamily="18" charset="0"/>
                      </a:rPr>
                      <m:t>の</m:t>
                    </m:r>
                    <m:sSub>
                      <m:sSubPr>
                        <m:ctrlPr>
                          <a:rPr lang="en-US" altLang="ja-JP" i="1" smtClean="0">
                            <a:latin typeface="Cambria Math" panose="02040503050406030204" pitchFamily="18" charset="0"/>
                            <a:ea typeface="Cambria Math" panose="02040503050406030204" pitchFamily="18" charset="0"/>
                          </a:rPr>
                        </m:ctrlPr>
                      </m:sSubPr>
                      <m:e>
                        <m:r>
                          <a:rPr lang="en-US" altLang="ja-JP" b="1" i="0" smtClean="0">
                            <a:latin typeface="Cambria Math" panose="02040503050406030204" pitchFamily="18" charset="0"/>
                            <a:ea typeface="Cambria Math" panose="02040503050406030204" pitchFamily="18" charset="0"/>
                          </a:rPr>
                          <m:t>𝐠</m:t>
                        </m:r>
                      </m:e>
                      <m:sub>
                        <m:r>
                          <a:rPr lang="en-US" altLang="ja-JP" b="0" i="1" smtClean="0">
                            <a:latin typeface="Cambria Math" panose="02040503050406030204" pitchFamily="18" charset="0"/>
                            <a:ea typeface="Cambria Math" panose="02040503050406030204" pitchFamily="18" charset="0"/>
                          </a:rPr>
                          <m:t>𝑘</m:t>
                        </m:r>
                      </m:sub>
                    </m:sSub>
                  </m:oMath>
                </a14:m>
                <a:r>
                  <a:rPr lang="ja-JP" altLang="en-US" dirty="0">
                    <a:latin typeface="Cambria Math" panose="02040503050406030204" pitchFamily="18" charset="0"/>
                  </a:rPr>
                  <a:t>ベクトルと</a:t>
                </a:r>
                <a14:m>
                  <m:oMath xmlns:m="http://schemas.openxmlformats.org/officeDocument/2006/math">
                    <m:sSub>
                      <m:sSubPr>
                        <m:ctrlPr>
                          <a:rPr lang="en-US" altLang="ja-JP" i="1">
                            <a:latin typeface="Cambria Math" panose="02040503050406030204" pitchFamily="18" charset="0"/>
                            <a:ea typeface="Cambria Math" panose="02040503050406030204" pitchFamily="18" charset="0"/>
                          </a:rPr>
                        </m:ctrlPr>
                      </m:sSubPr>
                      <m:e>
                        <m:r>
                          <a:rPr lang="en-US" altLang="ja-JP" b="1">
                            <a:latin typeface="Cambria Math" panose="02040503050406030204" pitchFamily="18" charset="0"/>
                            <a:ea typeface="Cambria Math" panose="02040503050406030204" pitchFamily="18" charset="0"/>
                          </a:rPr>
                          <m:t>𝐳</m:t>
                        </m:r>
                      </m:e>
                      <m:sub>
                        <m:r>
                          <a:rPr lang="en-US" altLang="ja-JP" i="1">
                            <a:latin typeface="Cambria Math" panose="02040503050406030204" pitchFamily="18" charset="0"/>
                            <a:ea typeface="Cambria Math" panose="02040503050406030204" pitchFamily="18" charset="0"/>
                          </a:rPr>
                          <m:t>𝑙</m:t>
                        </m:r>
                      </m:sub>
                    </m:sSub>
                  </m:oMath>
                </a14:m>
                <a:r>
                  <a:rPr lang="ja-JP" altLang="en-US" dirty="0">
                    <a:latin typeface="Cambria Math" panose="02040503050406030204" pitchFamily="18" charset="0"/>
                  </a:rPr>
                  <a:t>ベクトルの内積を重み</a:t>
                </a:r>
                <a14:m>
                  <m:oMath xmlns:m="http://schemas.openxmlformats.org/officeDocument/2006/math">
                    <m:r>
                      <a:rPr lang="en-US" altLang="ja-JP" b="1">
                        <a:latin typeface="Cambria Math" panose="02040503050406030204" pitchFamily="18" charset="0"/>
                      </a:rPr>
                      <m:t>𝐰</m:t>
                    </m:r>
                  </m:oMath>
                </a14:m>
                <a:r>
                  <a:rPr lang="ja-JP" altLang="en-US" dirty="0">
                    <a:latin typeface="Cambria Math" panose="02040503050406030204" pitchFamily="18" charset="0"/>
                  </a:rPr>
                  <a:t>で微分した</a:t>
                </a:r>
                <a14:m>
                  <m:oMath xmlns:m="http://schemas.openxmlformats.org/officeDocument/2006/math">
                    <m:f>
                      <m:fPr>
                        <m:ctrlPr>
                          <a:rPr lang="en-US" altLang="ja-JP" i="1">
                            <a:latin typeface="Cambria Math" panose="02040503050406030204" pitchFamily="18" charset="0"/>
                          </a:rPr>
                        </m:ctrlPr>
                      </m:fPr>
                      <m:num>
                        <m:r>
                          <a:rPr lang="ja-JP" altLang="en-US" i="1">
                            <a:latin typeface="Cambria Math" panose="02040503050406030204" pitchFamily="18" charset="0"/>
                          </a:rPr>
                          <m:t>𝜕</m:t>
                        </m:r>
                        <m:sSubSup>
                          <m:sSubSupPr>
                            <m:ctrlPr>
                              <a:rPr lang="en-US" altLang="ja-JP" i="1">
                                <a:latin typeface="Cambria Math" panose="02040503050406030204" pitchFamily="18" charset="0"/>
                                <a:ea typeface="Cambria Math" panose="02040503050406030204" pitchFamily="18" charset="0"/>
                              </a:rPr>
                            </m:ctrlPr>
                          </m:sSubSupPr>
                          <m:e>
                            <m:r>
                              <a:rPr lang="en-US" altLang="ja-JP" b="1">
                                <a:latin typeface="Cambria Math" panose="02040503050406030204" pitchFamily="18" charset="0"/>
                                <a:ea typeface="Cambria Math" panose="02040503050406030204" pitchFamily="18" charset="0"/>
                              </a:rPr>
                              <m:t>𝐠</m:t>
                            </m:r>
                          </m:e>
                          <m:sub>
                            <m:r>
                              <a:rPr lang="en-US" altLang="ja-JP" i="1">
                                <a:latin typeface="Cambria Math" panose="02040503050406030204" pitchFamily="18" charset="0"/>
                                <a:ea typeface="Cambria Math" panose="02040503050406030204" pitchFamily="18" charset="0"/>
                              </a:rPr>
                              <m:t>𝑘</m:t>
                            </m:r>
                          </m:sub>
                          <m:sup>
                            <m:r>
                              <a:rPr lang="en-US" altLang="ja-JP" i="1">
                                <a:latin typeface="Cambria Math" panose="02040503050406030204" pitchFamily="18" charset="0"/>
                                <a:ea typeface="Cambria Math" panose="02040503050406030204" pitchFamily="18" charset="0"/>
                              </a:rPr>
                              <m:t>𝑇</m:t>
                            </m:r>
                          </m:sup>
                        </m:sSubSup>
                        <m:sSub>
                          <m:sSubPr>
                            <m:ctrlPr>
                              <a:rPr lang="en-US" altLang="ja-JP" i="1">
                                <a:latin typeface="Cambria Math" panose="02040503050406030204" pitchFamily="18" charset="0"/>
                              </a:rPr>
                            </m:ctrlPr>
                          </m:sSubPr>
                          <m:e>
                            <m:r>
                              <a:rPr lang="en-US" altLang="ja-JP" b="1">
                                <a:latin typeface="Cambria Math" panose="02040503050406030204" pitchFamily="18" charset="0"/>
                              </a:rPr>
                              <m:t>𝐳</m:t>
                            </m:r>
                          </m:e>
                          <m:sub>
                            <m:r>
                              <a:rPr lang="en-US" altLang="ja-JP" i="1">
                                <a:latin typeface="Cambria Math" panose="02040503050406030204" pitchFamily="18" charset="0"/>
                              </a:rPr>
                              <m:t>𝑙</m:t>
                            </m:r>
                          </m:sub>
                        </m:sSub>
                      </m:num>
                      <m:den>
                        <m:r>
                          <a:rPr lang="ja-JP" altLang="en-US" i="1">
                            <a:latin typeface="Cambria Math" panose="02040503050406030204" pitchFamily="18" charset="0"/>
                          </a:rPr>
                          <m:t>𝜕</m:t>
                        </m:r>
                        <m:r>
                          <a:rPr lang="en-US" altLang="ja-JP" b="1">
                            <a:latin typeface="Cambria Math" panose="02040503050406030204" pitchFamily="18" charset="0"/>
                          </a:rPr>
                          <m:t>𝐰</m:t>
                        </m:r>
                      </m:den>
                    </m:f>
                  </m:oMath>
                </a14:m>
                <a:r>
                  <a:rPr lang="ja-JP" altLang="en-US" dirty="0">
                    <a:latin typeface="Cambria Math" panose="02040503050406030204" pitchFamily="18" charset="0"/>
                  </a:rPr>
                  <a:t>に置き換える</a:t>
                </a:r>
                <a:endParaRPr kumimoji="1" lang="en-US" altLang="ja-JP" b="0" dirty="0">
                  <a:solidFill>
                    <a:schemeClr val="tx1">
                      <a:lumMod val="75000"/>
                      <a:lumOff val="25000"/>
                    </a:schemeClr>
                  </a:solidFill>
                  <a:latin typeface="Cambria Math" panose="02040503050406030204" pitchFamily="18" charset="0"/>
                </a:endParaRPr>
              </a:p>
              <a:p>
                <a:pPr marL="0" indent="0">
                  <a:buNone/>
                </a:pPr>
                <a:endParaRPr kumimoji="1" lang="en-US" altLang="ja-JP" b="0" dirty="0">
                  <a:solidFill>
                    <a:schemeClr val="tx1">
                      <a:lumMod val="75000"/>
                      <a:lumOff val="25000"/>
                    </a:schemeClr>
                  </a:solidFill>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altLang="ja-JP" i="1">
                              <a:latin typeface="Cambria Math" panose="02040503050406030204" pitchFamily="18" charset="0"/>
                            </a:rPr>
                          </m:ctrlPr>
                        </m:fPr>
                        <m:num>
                          <m:r>
                            <a:rPr lang="ja-JP" altLang="en-US" i="1">
                              <a:latin typeface="Cambria Math" panose="02040503050406030204" pitchFamily="18" charset="0"/>
                            </a:rPr>
                            <m:t>𝜕</m:t>
                          </m:r>
                          <m:sSubSup>
                            <m:sSubSupPr>
                              <m:ctrlPr>
                                <a:rPr lang="en-US" altLang="ja-JP" i="1">
                                  <a:latin typeface="Cambria Math" panose="02040503050406030204" pitchFamily="18" charset="0"/>
                                  <a:ea typeface="Cambria Math" panose="02040503050406030204" pitchFamily="18" charset="0"/>
                                </a:rPr>
                              </m:ctrlPr>
                            </m:sSubSupPr>
                            <m:e>
                              <m:r>
                                <a:rPr lang="en-US" altLang="ja-JP" b="1" i="0" smtClean="0">
                                  <a:latin typeface="Cambria Math" panose="02040503050406030204" pitchFamily="18" charset="0"/>
                                  <a:ea typeface="Cambria Math" panose="02040503050406030204" pitchFamily="18" charset="0"/>
                                </a:rPr>
                                <m:t>𝐠</m:t>
                              </m:r>
                            </m:e>
                            <m:sub>
                              <m:r>
                                <a:rPr lang="en-US" altLang="ja-JP" i="1">
                                  <a:latin typeface="Cambria Math" panose="02040503050406030204" pitchFamily="18" charset="0"/>
                                  <a:ea typeface="Cambria Math" panose="02040503050406030204" pitchFamily="18" charset="0"/>
                                </a:rPr>
                                <m:t>𝑘</m:t>
                              </m:r>
                            </m:sub>
                            <m:sup>
                              <m:r>
                                <a:rPr lang="en-US" altLang="ja-JP" i="1">
                                  <a:latin typeface="Cambria Math" panose="02040503050406030204" pitchFamily="18" charset="0"/>
                                  <a:ea typeface="Cambria Math" panose="02040503050406030204" pitchFamily="18" charset="0"/>
                                </a:rPr>
                                <m:t>𝑇</m:t>
                              </m:r>
                            </m:sup>
                          </m:sSubSup>
                          <m:sSub>
                            <m:sSubPr>
                              <m:ctrlPr>
                                <a:rPr lang="en-US" altLang="ja-JP" i="1">
                                  <a:latin typeface="Cambria Math" panose="02040503050406030204" pitchFamily="18" charset="0"/>
                                </a:rPr>
                              </m:ctrlPr>
                            </m:sSubPr>
                            <m:e>
                              <m:r>
                                <a:rPr lang="en-US" altLang="ja-JP" b="1" i="0" smtClean="0">
                                  <a:latin typeface="Cambria Math" panose="02040503050406030204" pitchFamily="18" charset="0"/>
                                </a:rPr>
                                <m:t>𝐳</m:t>
                              </m:r>
                            </m:e>
                            <m:sub>
                              <m:r>
                                <a:rPr lang="en-US" altLang="ja-JP" b="0" i="1" smtClean="0">
                                  <a:latin typeface="Cambria Math" panose="02040503050406030204" pitchFamily="18" charset="0"/>
                                </a:rPr>
                                <m:t>𝑙</m:t>
                              </m:r>
                            </m:sub>
                          </m:sSub>
                        </m:num>
                        <m:den>
                          <m:r>
                            <a:rPr lang="ja-JP" altLang="en-US" i="1">
                              <a:latin typeface="Cambria Math" panose="02040503050406030204" pitchFamily="18" charset="0"/>
                            </a:rPr>
                            <m:t>𝜕</m:t>
                          </m:r>
                          <m:r>
                            <a:rPr lang="en-US" altLang="ja-JP" b="1">
                              <a:latin typeface="Cambria Math" panose="02040503050406030204" pitchFamily="18" charset="0"/>
                            </a:rPr>
                            <m:t>𝐰</m:t>
                          </m:r>
                        </m:den>
                      </m:f>
                      <m:r>
                        <a:rPr lang="en-US" altLang="ja-JP" i="1">
                          <a:latin typeface="Cambria Math" panose="02040503050406030204" pitchFamily="18" charset="0"/>
                        </a:rPr>
                        <m:t>=</m:t>
                      </m:r>
                      <m:f>
                        <m:fPr>
                          <m:ctrlPr>
                            <a:rPr lang="en-US" altLang="ja-JP" i="1">
                              <a:latin typeface="Cambria Math" panose="02040503050406030204" pitchFamily="18" charset="0"/>
                            </a:rPr>
                          </m:ctrlPr>
                        </m:fPr>
                        <m:num>
                          <m:r>
                            <a:rPr lang="ja-JP" altLang="en-US" i="1">
                              <a:latin typeface="Cambria Math" panose="02040503050406030204" pitchFamily="18" charset="0"/>
                            </a:rPr>
                            <m:t>𝜕</m:t>
                          </m:r>
                          <m:sSubSup>
                            <m:sSubSupPr>
                              <m:ctrlPr>
                                <a:rPr lang="en-US" altLang="ja-JP" i="1">
                                  <a:latin typeface="Cambria Math" panose="02040503050406030204" pitchFamily="18" charset="0"/>
                                  <a:ea typeface="Cambria Math" panose="02040503050406030204" pitchFamily="18" charset="0"/>
                                </a:rPr>
                              </m:ctrlPr>
                            </m:sSubSupPr>
                            <m:e>
                              <m:r>
                                <a:rPr lang="en-US" altLang="ja-JP" b="1">
                                  <a:latin typeface="Cambria Math" panose="02040503050406030204" pitchFamily="18" charset="0"/>
                                  <a:ea typeface="Cambria Math" panose="02040503050406030204" pitchFamily="18" charset="0"/>
                                </a:rPr>
                                <m:t>𝐠</m:t>
                              </m:r>
                            </m:e>
                            <m:sub>
                              <m:r>
                                <a:rPr lang="en-US" altLang="ja-JP" i="1">
                                  <a:latin typeface="Cambria Math" panose="02040503050406030204" pitchFamily="18" charset="0"/>
                                  <a:ea typeface="Cambria Math" panose="02040503050406030204" pitchFamily="18" charset="0"/>
                                </a:rPr>
                                <m:t>𝑘</m:t>
                              </m:r>
                            </m:sub>
                            <m:sup>
                              <m:r>
                                <a:rPr lang="en-US" altLang="ja-JP" i="1">
                                  <a:latin typeface="Cambria Math" panose="02040503050406030204" pitchFamily="18" charset="0"/>
                                  <a:ea typeface="Cambria Math" panose="02040503050406030204" pitchFamily="18" charset="0"/>
                                </a:rPr>
                                <m:t>𝑇</m:t>
                              </m:r>
                            </m:sup>
                          </m:sSubSup>
                        </m:num>
                        <m:den>
                          <m:r>
                            <a:rPr lang="ja-JP" altLang="en-US" i="1">
                              <a:latin typeface="Cambria Math" panose="02040503050406030204" pitchFamily="18" charset="0"/>
                            </a:rPr>
                            <m:t>𝜕</m:t>
                          </m:r>
                          <m:r>
                            <a:rPr lang="en-US" altLang="ja-JP" b="1">
                              <a:latin typeface="Cambria Math" panose="02040503050406030204" pitchFamily="18" charset="0"/>
                            </a:rPr>
                            <m:t>𝐰</m:t>
                          </m:r>
                        </m:den>
                      </m:f>
                      <m:sSub>
                        <m:sSubPr>
                          <m:ctrlPr>
                            <a:rPr lang="en-US" altLang="ja-JP" i="1">
                              <a:latin typeface="Cambria Math" panose="02040503050406030204" pitchFamily="18" charset="0"/>
                            </a:rPr>
                          </m:ctrlPr>
                        </m:sSubPr>
                        <m:e>
                          <m:r>
                            <a:rPr lang="en-US" altLang="ja-JP" b="1">
                              <a:latin typeface="Cambria Math" panose="02040503050406030204" pitchFamily="18" charset="0"/>
                            </a:rPr>
                            <m:t>𝐳</m:t>
                          </m:r>
                        </m:e>
                        <m:sub>
                          <m:r>
                            <a:rPr lang="en-US" altLang="ja-JP" i="1">
                              <a:latin typeface="Cambria Math" panose="02040503050406030204" pitchFamily="18" charset="0"/>
                            </a:rPr>
                            <m:t>𝑙</m:t>
                          </m:r>
                        </m:sub>
                      </m:sSub>
                      <m:r>
                        <a:rPr lang="en-US" altLang="ja-JP" i="1">
                          <a:latin typeface="Cambria Math" panose="02040503050406030204" pitchFamily="18" charset="0"/>
                        </a:rPr>
                        <m:t>+</m:t>
                      </m:r>
                      <m:sSubSup>
                        <m:sSubSupPr>
                          <m:ctrlPr>
                            <a:rPr lang="en-US" altLang="ja-JP" i="1">
                              <a:latin typeface="Cambria Math" panose="02040503050406030204" pitchFamily="18" charset="0"/>
                              <a:ea typeface="Cambria Math" panose="02040503050406030204" pitchFamily="18" charset="0"/>
                            </a:rPr>
                          </m:ctrlPr>
                        </m:sSubSupPr>
                        <m:e>
                          <m:r>
                            <a:rPr lang="en-US" altLang="ja-JP" b="1">
                              <a:latin typeface="Cambria Math" panose="02040503050406030204" pitchFamily="18" charset="0"/>
                              <a:ea typeface="Cambria Math" panose="02040503050406030204" pitchFamily="18" charset="0"/>
                            </a:rPr>
                            <m:t>𝐠</m:t>
                          </m:r>
                        </m:e>
                        <m:sub>
                          <m:r>
                            <a:rPr lang="en-US" altLang="ja-JP" i="1">
                              <a:latin typeface="Cambria Math" panose="02040503050406030204" pitchFamily="18" charset="0"/>
                              <a:ea typeface="Cambria Math" panose="02040503050406030204" pitchFamily="18" charset="0"/>
                            </a:rPr>
                            <m:t>𝑘</m:t>
                          </m:r>
                        </m:sub>
                        <m:sup>
                          <m:r>
                            <a:rPr lang="en-US" altLang="ja-JP" i="1">
                              <a:latin typeface="Cambria Math" panose="02040503050406030204" pitchFamily="18" charset="0"/>
                              <a:ea typeface="Cambria Math" panose="02040503050406030204" pitchFamily="18" charset="0"/>
                            </a:rPr>
                            <m:t>𝑇</m:t>
                          </m:r>
                        </m:sup>
                      </m:sSubSup>
                      <m:f>
                        <m:fPr>
                          <m:ctrlPr>
                            <a:rPr lang="en-US" altLang="ja-JP" i="1">
                              <a:latin typeface="Cambria Math" panose="02040503050406030204" pitchFamily="18" charset="0"/>
                            </a:rPr>
                          </m:ctrlPr>
                        </m:fPr>
                        <m:num>
                          <m:sSub>
                            <m:sSubPr>
                              <m:ctrlPr>
                                <a:rPr lang="en-US" altLang="ja-JP" i="1">
                                  <a:latin typeface="Cambria Math" panose="02040503050406030204" pitchFamily="18" charset="0"/>
                                </a:rPr>
                              </m:ctrlPr>
                            </m:sSubPr>
                            <m:e>
                              <m:r>
                                <a:rPr lang="en-US" altLang="ja-JP" b="1">
                                  <a:latin typeface="Cambria Math" panose="02040503050406030204" pitchFamily="18" charset="0"/>
                                </a:rPr>
                                <m:t>𝐳</m:t>
                              </m:r>
                            </m:e>
                            <m:sub>
                              <m:r>
                                <a:rPr lang="en-US" altLang="ja-JP" i="1">
                                  <a:latin typeface="Cambria Math" panose="02040503050406030204" pitchFamily="18" charset="0"/>
                                </a:rPr>
                                <m:t>𝑙</m:t>
                              </m:r>
                            </m:sub>
                          </m:sSub>
                        </m:num>
                        <m:den>
                          <m:r>
                            <a:rPr lang="ja-JP" altLang="en-US" i="1">
                              <a:latin typeface="Cambria Math" panose="02040503050406030204" pitchFamily="18" charset="0"/>
                            </a:rPr>
                            <m:t>𝜕</m:t>
                          </m:r>
                          <m:r>
                            <a:rPr lang="en-US" altLang="ja-JP" b="1">
                              <a:latin typeface="Cambria Math" panose="02040503050406030204" pitchFamily="18" charset="0"/>
                            </a:rPr>
                            <m:t>𝐰</m:t>
                          </m:r>
                        </m:den>
                      </m:f>
                      <m:r>
                        <a:rPr lang="en-US" altLang="ja-JP" b="0" i="1" smtClean="0">
                          <a:solidFill>
                            <a:schemeClr val="tx1">
                              <a:lumMod val="75000"/>
                              <a:lumOff val="25000"/>
                            </a:schemeClr>
                          </a:solidFill>
                          <a:latin typeface="Cambria Math" panose="02040503050406030204" pitchFamily="18" charset="0"/>
                        </a:rPr>
                        <m:t>=</m:t>
                      </m:r>
                      <m:f>
                        <m:fPr>
                          <m:ctrlPr>
                            <a:rPr lang="en-US" altLang="ja-JP" i="1">
                              <a:latin typeface="Cambria Math" panose="02040503050406030204" pitchFamily="18" charset="0"/>
                            </a:rPr>
                          </m:ctrlPr>
                        </m:fPr>
                        <m:num>
                          <m:r>
                            <a:rPr lang="ja-JP" altLang="en-US" i="1">
                              <a:latin typeface="Cambria Math" panose="02040503050406030204" pitchFamily="18" charset="0"/>
                            </a:rPr>
                            <m:t>𝜕</m:t>
                          </m:r>
                          <m:sSubSup>
                            <m:sSubSupPr>
                              <m:ctrlPr>
                                <a:rPr lang="en-US" altLang="ja-JP" i="1">
                                  <a:latin typeface="Cambria Math" panose="02040503050406030204" pitchFamily="18" charset="0"/>
                                  <a:ea typeface="Cambria Math" panose="02040503050406030204" pitchFamily="18" charset="0"/>
                                </a:rPr>
                              </m:ctrlPr>
                            </m:sSubSupPr>
                            <m:e>
                              <m:r>
                                <a:rPr lang="en-US" altLang="ja-JP" b="1">
                                  <a:latin typeface="Cambria Math" panose="02040503050406030204" pitchFamily="18" charset="0"/>
                                  <a:ea typeface="Cambria Math" panose="02040503050406030204" pitchFamily="18" charset="0"/>
                                </a:rPr>
                                <m:t>𝐠</m:t>
                              </m:r>
                            </m:e>
                            <m:sub>
                              <m:r>
                                <a:rPr lang="en-US" altLang="ja-JP" i="1">
                                  <a:latin typeface="Cambria Math" panose="02040503050406030204" pitchFamily="18" charset="0"/>
                                  <a:ea typeface="Cambria Math" panose="02040503050406030204" pitchFamily="18" charset="0"/>
                                </a:rPr>
                                <m:t>𝑘</m:t>
                              </m:r>
                            </m:sub>
                            <m:sup>
                              <m:r>
                                <a:rPr lang="en-US" altLang="ja-JP" i="1">
                                  <a:latin typeface="Cambria Math" panose="02040503050406030204" pitchFamily="18" charset="0"/>
                                  <a:ea typeface="Cambria Math" panose="02040503050406030204" pitchFamily="18" charset="0"/>
                                </a:rPr>
                                <m:t>𝑇</m:t>
                              </m:r>
                            </m:sup>
                          </m:sSubSup>
                        </m:num>
                        <m:den>
                          <m:r>
                            <a:rPr lang="ja-JP" altLang="en-US" i="1">
                              <a:latin typeface="Cambria Math" panose="02040503050406030204" pitchFamily="18" charset="0"/>
                            </a:rPr>
                            <m:t>𝜕</m:t>
                          </m:r>
                          <m:r>
                            <a:rPr lang="en-US" altLang="ja-JP" b="1">
                              <a:latin typeface="Cambria Math" panose="02040503050406030204" pitchFamily="18" charset="0"/>
                            </a:rPr>
                            <m:t>𝐰</m:t>
                          </m:r>
                        </m:den>
                      </m:f>
                      <m:sSub>
                        <m:sSubPr>
                          <m:ctrlPr>
                            <a:rPr lang="en-US" altLang="ja-JP" i="1">
                              <a:latin typeface="Cambria Math" panose="02040503050406030204" pitchFamily="18" charset="0"/>
                            </a:rPr>
                          </m:ctrlPr>
                        </m:sSubPr>
                        <m:e>
                          <m:r>
                            <a:rPr lang="en-US" altLang="ja-JP" b="1">
                              <a:latin typeface="Cambria Math" panose="02040503050406030204" pitchFamily="18" charset="0"/>
                            </a:rPr>
                            <m:t>𝐳</m:t>
                          </m:r>
                        </m:e>
                        <m:sub>
                          <m:r>
                            <a:rPr lang="en-US" altLang="ja-JP" b="0" i="1" smtClean="0">
                              <a:latin typeface="Cambria Math" panose="02040503050406030204" pitchFamily="18" charset="0"/>
                            </a:rPr>
                            <m:t>𝑙</m:t>
                          </m:r>
                        </m:sub>
                      </m:sSub>
                      <m:r>
                        <a:rPr lang="en-US" altLang="ja-JP" b="1" i="0" smtClean="0">
                          <a:latin typeface="Cambria Math" panose="02040503050406030204" pitchFamily="18" charset="0"/>
                        </a:rPr>
                        <m:t>=</m:t>
                      </m:r>
                      <m:sSub>
                        <m:sSubPr>
                          <m:ctrlPr>
                            <a:rPr lang="en-US" altLang="ja-JP" i="1">
                              <a:latin typeface="Cambria Math" panose="02040503050406030204" pitchFamily="18" charset="0"/>
                            </a:rPr>
                          </m:ctrlPr>
                        </m:sSubPr>
                        <m:e>
                          <m:r>
                            <a:rPr lang="en-US" altLang="ja-JP" b="1" i="0" smtClean="0">
                              <a:latin typeface="Cambria Math" panose="02040503050406030204" pitchFamily="18" charset="0"/>
                            </a:rPr>
                            <m:t>𝐇</m:t>
                          </m:r>
                        </m:e>
                        <m:sub>
                          <m:r>
                            <a:rPr lang="en-US" altLang="ja-JP" i="1">
                              <a:latin typeface="Cambria Math" panose="02040503050406030204" pitchFamily="18" charset="0"/>
                            </a:rPr>
                            <m:t>𝑘</m:t>
                          </m:r>
                        </m:sub>
                      </m:sSub>
                      <m:sSub>
                        <m:sSubPr>
                          <m:ctrlPr>
                            <a:rPr lang="en-US" altLang="ja-JP" i="1">
                              <a:latin typeface="Cambria Math" panose="02040503050406030204" pitchFamily="18" charset="0"/>
                            </a:rPr>
                          </m:ctrlPr>
                        </m:sSubPr>
                        <m:e>
                          <m:r>
                            <a:rPr lang="en-US" altLang="ja-JP" b="1">
                              <a:latin typeface="Cambria Math" panose="02040503050406030204" pitchFamily="18" charset="0"/>
                            </a:rPr>
                            <m:t>𝐳</m:t>
                          </m:r>
                        </m:e>
                        <m:sub>
                          <m:r>
                            <a:rPr lang="en-US" altLang="ja-JP" b="0" i="1" smtClean="0">
                              <a:latin typeface="Cambria Math" panose="02040503050406030204" pitchFamily="18" charset="0"/>
                            </a:rPr>
                            <m:t>𝑙</m:t>
                          </m:r>
                        </m:sub>
                      </m:sSub>
                    </m:oMath>
                  </m:oMathPara>
                </a14:m>
                <a:endParaRPr lang="en-US" altLang="ja-JP" b="0" i="1" dirty="0">
                  <a:solidFill>
                    <a:schemeClr val="tx1">
                      <a:lumMod val="75000"/>
                      <a:lumOff val="25000"/>
                    </a:schemeClr>
                  </a:solidFill>
                </a:endParaRPr>
              </a:p>
              <a:p>
                <a:pPr marL="0" indent="0">
                  <a:buNone/>
                </a:pPr>
                <a:endParaRPr lang="en-US" altLang="ja-JP" b="0" i="1" dirty="0">
                  <a:solidFill>
                    <a:schemeClr val="tx1">
                      <a:lumMod val="75000"/>
                      <a:lumOff val="25000"/>
                    </a:schemeClr>
                  </a:solidFill>
                </a:endParaRPr>
              </a:p>
            </p:txBody>
          </p:sp>
        </mc:Choice>
        <mc:Fallback xmlns="">
          <p:sp>
            <p:nvSpPr>
              <p:cNvPr id="3" name="コンテンツ プレースホルダー 2">
                <a:extLst>
                  <a:ext uri="{FF2B5EF4-FFF2-40B4-BE49-F238E27FC236}">
                    <a16:creationId xmlns:a16="http://schemas.microsoft.com/office/drawing/2014/main" id="{DE90730F-5CC4-4500-833D-3F0214563641}"/>
                  </a:ext>
                </a:extLst>
              </p:cNvPr>
              <p:cNvSpPr>
                <a:spLocks noGrp="1" noRot="1" noChangeAspect="1" noMove="1" noResize="1" noEditPoints="1" noAdjustHandles="1" noChangeArrowheads="1" noChangeShapeType="1" noTextEdit="1"/>
              </p:cNvSpPr>
              <p:nvPr>
                <p:ph idx="1"/>
              </p:nvPr>
            </p:nvSpPr>
            <p:spPr>
              <a:xfrm>
                <a:off x="838200" y="1654900"/>
                <a:ext cx="10325100" cy="5194119"/>
              </a:xfrm>
              <a:blipFill>
                <a:blip r:embed="rId3"/>
                <a:stretch>
                  <a:fillRect l="-1240"/>
                </a:stretch>
              </a:blipFill>
            </p:spPr>
            <p:txBody>
              <a:bodyPr/>
              <a:lstStyle/>
              <a:p>
                <a:r>
                  <a:rPr lang="ja-JP" altLang="en-US">
                    <a:noFill/>
                  </a:rPr>
                  <a:t> </a:t>
                </a:r>
              </a:p>
            </p:txBody>
          </p:sp>
        </mc:Fallback>
      </mc:AlternateContent>
      <p:sp>
        <p:nvSpPr>
          <p:cNvPr id="2" name="スライド番号プレースホルダー 1">
            <a:extLst>
              <a:ext uri="{FF2B5EF4-FFF2-40B4-BE49-F238E27FC236}">
                <a16:creationId xmlns:a16="http://schemas.microsoft.com/office/drawing/2014/main" id="{E7A79576-016E-4C4F-A9A1-4A578794F457}"/>
              </a:ext>
            </a:extLst>
          </p:cNvPr>
          <p:cNvSpPr>
            <a:spLocks noGrp="1"/>
          </p:cNvSpPr>
          <p:nvPr>
            <p:ph type="sldNum" sz="quarter" idx="12"/>
          </p:nvPr>
        </p:nvSpPr>
        <p:spPr>
          <a:xfrm>
            <a:off x="9329693" y="6356350"/>
            <a:ext cx="2743200" cy="365125"/>
          </a:xfrm>
        </p:spPr>
        <p:txBody>
          <a:bodyPr/>
          <a:lstStyle/>
          <a:p>
            <a:r>
              <a:rPr kumimoji="1" lang="en-US" altLang="ja-JP" dirty="0"/>
              <a:t>12</a:t>
            </a:r>
            <a:endParaRPr kumimoji="1" lang="ja-JP" altLang="en-US" dirty="0"/>
          </a:p>
        </p:txBody>
      </p:sp>
      <p:sp>
        <p:nvSpPr>
          <p:cNvPr id="7" name="テキスト ボックス 6">
            <a:extLst>
              <a:ext uri="{FF2B5EF4-FFF2-40B4-BE49-F238E27FC236}">
                <a16:creationId xmlns:a16="http://schemas.microsoft.com/office/drawing/2014/main" id="{78D4EC2B-83A3-4FC9-A886-46A1EC3496E6}"/>
              </a:ext>
            </a:extLst>
          </p:cNvPr>
          <p:cNvSpPr txBox="1"/>
          <p:nvPr/>
        </p:nvSpPr>
        <p:spPr>
          <a:xfrm>
            <a:off x="10638947" y="2265049"/>
            <a:ext cx="877830" cy="596253"/>
          </a:xfrm>
          <a:prstGeom prst="rect">
            <a:avLst/>
          </a:prstGeom>
          <a:solidFill>
            <a:srgbClr val="E4E4E4"/>
          </a:solidFill>
        </p:spPr>
        <p:txBody>
          <a:bodyPr wrap="square" rtlCol="0">
            <a:spAutoFit/>
          </a:bodyPr>
          <a:lstStyle/>
          <a:p>
            <a:pPr>
              <a:lnSpc>
                <a:spcPct val="150000"/>
              </a:lnSpc>
            </a:pPr>
            <a:r>
              <a:rPr kumimoji="1" lang="en-US" altLang="ja-JP" sz="2400" dirty="0">
                <a:latin typeface="UD デジタル 教科書体 NK-R" panose="02020400000000000000" pitchFamily="18" charset="-128"/>
                <a:ea typeface="UD デジタル 教科書体 NK-R" panose="02020400000000000000" pitchFamily="18" charset="-128"/>
              </a:rPr>
              <a:t>(6)</a:t>
            </a:r>
            <a:endParaRPr kumimoji="1" lang="ja-JP" altLang="en-US" sz="2400" dirty="0">
              <a:latin typeface="UD デジタル 教科書体 NK-R" panose="02020400000000000000" pitchFamily="18" charset="-128"/>
              <a:ea typeface="UD デジタル 教科書体 NK-R" panose="02020400000000000000" pitchFamily="18" charset="-128"/>
            </a:endParaRPr>
          </a:p>
        </p:txBody>
      </p:sp>
      <p:sp>
        <p:nvSpPr>
          <p:cNvPr id="8" name="テキスト ボックス 7">
            <a:extLst>
              <a:ext uri="{FF2B5EF4-FFF2-40B4-BE49-F238E27FC236}">
                <a16:creationId xmlns:a16="http://schemas.microsoft.com/office/drawing/2014/main" id="{2ACFB8A7-917A-44A3-9B26-E29955071252}"/>
              </a:ext>
            </a:extLst>
          </p:cNvPr>
          <p:cNvSpPr txBox="1"/>
          <p:nvPr/>
        </p:nvSpPr>
        <p:spPr>
          <a:xfrm>
            <a:off x="10618166" y="5179005"/>
            <a:ext cx="877830" cy="596253"/>
          </a:xfrm>
          <a:prstGeom prst="rect">
            <a:avLst/>
          </a:prstGeom>
          <a:solidFill>
            <a:srgbClr val="E4E4E4"/>
          </a:solidFill>
        </p:spPr>
        <p:txBody>
          <a:bodyPr wrap="square" rtlCol="0">
            <a:spAutoFit/>
          </a:bodyPr>
          <a:lstStyle/>
          <a:p>
            <a:pPr>
              <a:lnSpc>
                <a:spcPct val="150000"/>
              </a:lnSpc>
            </a:pPr>
            <a:r>
              <a:rPr kumimoji="1" lang="en-US" altLang="ja-JP" sz="2400" dirty="0">
                <a:latin typeface="UD デジタル 教科書体 NK-R" panose="02020400000000000000" pitchFamily="18" charset="-128"/>
                <a:ea typeface="UD デジタル 教科書体 NK-R" panose="02020400000000000000" pitchFamily="18" charset="-128"/>
              </a:rPr>
              <a:t>(7)</a:t>
            </a:r>
            <a:endParaRPr kumimoji="1" lang="ja-JP" altLang="en-US" sz="2400" dirty="0">
              <a:latin typeface="UD デジタル 教科書体 NK-R" panose="02020400000000000000" pitchFamily="18" charset="-128"/>
              <a:ea typeface="UD デジタル 教科書体 NK-R" panose="02020400000000000000" pitchFamily="18" charset="-128"/>
            </a:endParaRPr>
          </a:p>
        </p:txBody>
      </p:sp>
      <p:sp>
        <p:nvSpPr>
          <p:cNvPr id="6" name="正方形/長方形 5">
            <a:extLst>
              <a:ext uri="{FF2B5EF4-FFF2-40B4-BE49-F238E27FC236}">
                <a16:creationId xmlns:a16="http://schemas.microsoft.com/office/drawing/2014/main" id="{3A71FB6E-3740-7743-BF99-25FA059F4C5B}"/>
              </a:ext>
            </a:extLst>
          </p:cNvPr>
          <p:cNvSpPr/>
          <p:nvPr/>
        </p:nvSpPr>
        <p:spPr>
          <a:xfrm>
            <a:off x="5542000" y="2356424"/>
            <a:ext cx="744500" cy="468518"/>
          </a:xfrm>
          <a:prstGeom prst="rect">
            <a:avLst/>
          </a:prstGeom>
          <a:noFill/>
          <a:ln w="38100">
            <a:solidFill>
              <a:srgbClr val="033B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4B823F0A-7786-E943-98B7-004CB0C0EB04}"/>
              </a:ext>
            </a:extLst>
          </p:cNvPr>
          <p:cNvSpPr/>
          <p:nvPr/>
        </p:nvSpPr>
        <p:spPr>
          <a:xfrm>
            <a:off x="6561849" y="5203100"/>
            <a:ext cx="2883299" cy="1219200"/>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タイトル 1">
            <a:extLst>
              <a:ext uri="{FF2B5EF4-FFF2-40B4-BE49-F238E27FC236}">
                <a16:creationId xmlns:a16="http://schemas.microsoft.com/office/drawing/2014/main" id="{D74BAB55-BF99-3649-B554-AF5983FC7F16}"/>
              </a:ext>
            </a:extLst>
          </p:cNvPr>
          <p:cNvSpPr>
            <a:spLocks noGrp="1"/>
          </p:cNvSpPr>
          <p:nvPr>
            <p:ph type="title"/>
          </p:nvPr>
        </p:nvSpPr>
        <p:spPr>
          <a:xfrm>
            <a:off x="838199" y="365125"/>
            <a:ext cx="10786241" cy="1325563"/>
          </a:xfrm>
        </p:spPr>
        <p:txBody>
          <a:bodyPr/>
          <a:lstStyle/>
          <a:p>
            <a:r>
              <a:rPr kumimoji="1" lang="ja-JP" altLang="en-US" spc="-130" dirty="0"/>
              <a:t>提案手法：ヘッセ行列の対角行列化</a:t>
            </a:r>
          </a:p>
        </p:txBody>
      </p:sp>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D583353C-EC30-4B46-A35E-F105D37E7EA6}"/>
                  </a:ext>
                </a:extLst>
              </p:cNvPr>
              <p:cNvSpPr txBox="1"/>
              <p:nvPr/>
            </p:nvSpPr>
            <p:spPr>
              <a:xfrm>
                <a:off x="9445148" y="6145733"/>
                <a:ext cx="2361342" cy="646331"/>
              </a:xfrm>
              <a:prstGeom prst="rect">
                <a:avLst/>
              </a:prstGeom>
              <a:noFill/>
            </p:spPr>
            <p:txBody>
              <a:bodyPr wrap="square">
                <a:spAutoFit/>
              </a:bodyPr>
              <a:lstStyle/>
              <a:p>
                <a:r>
                  <a:rPr lang="en-US" altLang="ja-JP" b="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a:t>
                </a:r>
                <a14:m>
                  <m:oMath xmlns:m="http://schemas.openxmlformats.org/officeDocument/2006/math">
                    <m:r>
                      <a:rPr lang="en-US" altLang="ja-JP" b="0" i="1" smtClean="0">
                        <a:solidFill>
                          <a:schemeClr val="tx1">
                            <a:lumMod val="75000"/>
                            <a:lumOff val="25000"/>
                          </a:schemeClr>
                        </a:solidFill>
                        <a:latin typeface="Cambria Math" panose="02040503050406030204" pitchFamily="18" charset="0"/>
                        <a:ea typeface="Cambria Math" panose="02040503050406030204" pitchFamily="18" charset="0"/>
                      </a:rPr>
                      <m:t>⊙</m:t>
                    </m:r>
                    <m:r>
                      <m:rPr>
                        <m:nor/>
                      </m:rPr>
                      <a:rPr lang="ja-JP" altLang="en-US"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m:t>：</m:t>
                    </m:r>
                  </m:oMath>
                </a14:m>
                <a:r>
                  <a:rPr lang="ja-JP" altLang="en-US"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アダマール乗算</a:t>
                </a:r>
                <a:endParaRPr lang="en-US" altLang="ja-JP"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pPr marL="0" indent="0">
                  <a:buNone/>
                </a:pPr>
                <a:r>
                  <a:rPr lang="ja-JP" altLang="en-US"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r>
                      <a:rPr lang="ja-JP" altLang="en-US" b="1" i="1" dirty="0">
                        <a:solidFill>
                          <a:schemeClr val="tx1">
                            <a:lumMod val="75000"/>
                            <a:lumOff val="25000"/>
                          </a:schemeClr>
                        </a:solidFill>
                        <a:latin typeface="Cambria Math" panose="02040503050406030204" pitchFamily="18" charset="0"/>
                        <a:ea typeface="Cambria Math" panose="02040503050406030204" pitchFamily="18" charset="0"/>
                      </a:rPr>
                      <m:t> </m:t>
                    </m:r>
                    <m:r>
                      <a:rPr lang="en-US" altLang="ja-JP" b="0" i="1" smtClean="0">
                        <a:solidFill>
                          <a:schemeClr val="tx1">
                            <a:lumMod val="75000"/>
                            <a:lumOff val="25000"/>
                          </a:schemeClr>
                        </a:solidFill>
                        <a:latin typeface="Cambria Math" panose="02040503050406030204" pitchFamily="18" charset="0"/>
                        <a:ea typeface="Cambria Math" panose="02040503050406030204" pitchFamily="18" charset="0"/>
                      </a:rPr>
                      <m:t>⊘</m:t>
                    </m:r>
                    <m:r>
                      <a:rPr lang="ja-JP" altLang="en-US" i="1">
                        <a:solidFill>
                          <a:schemeClr val="tx1">
                            <a:lumMod val="75000"/>
                            <a:lumOff val="25000"/>
                          </a:schemeClr>
                        </a:solidFill>
                        <a:latin typeface="Cambria Math" panose="02040503050406030204" pitchFamily="18" charset="0"/>
                        <a:ea typeface="Cambria Math" panose="02040503050406030204" pitchFamily="18" charset="0"/>
                      </a:rPr>
                      <m:t> </m:t>
                    </m:r>
                  </m:oMath>
                </a14:m>
                <a:r>
                  <a:rPr lang="ja-JP" altLang="en-US"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：アダマール除算</a:t>
                </a:r>
                <a:endParaRPr lang="en-US" altLang="ja-JP"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mc:Choice>
        <mc:Fallback xmlns="">
          <p:sp>
            <p:nvSpPr>
              <p:cNvPr id="10" name="テキスト ボックス 9">
                <a:extLst>
                  <a:ext uri="{FF2B5EF4-FFF2-40B4-BE49-F238E27FC236}">
                    <a16:creationId xmlns:a16="http://schemas.microsoft.com/office/drawing/2014/main" id="{D583353C-EC30-4B46-A35E-F105D37E7EA6}"/>
                  </a:ext>
                </a:extLst>
              </p:cNvPr>
              <p:cNvSpPr txBox="1">
                <a:spLocks noRot="1" noChangeAspect="1" noMove="1" noResize="1" noEditPoints="1" noAdjustHandles="1" noChangeArrowheads="1" noChangeShapeType="1" noTextEdit="1"/>
              </p:cNvSpPr>
              <p:nvPr/>
            </p:nvSpPr>
            <p:spPr>
              <a:xfrm>
                <a:off x="9445148" y="6145733"/>
                <a:ext cx="2361342" cy="646331"/>
              </a:xfrm>
              <a:prstGeom prst="rect">
                <a:avLst/>
              </a:prstGeom>
              <a:blipFill>
                <a:blip r:embed="rId4"/>
                <a:stretch>
                  <a:fillRect l="-2062" t="-3774" r="-773" b="-15094"/>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2405158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DE90730F-5CC4-4500-833D-3F0214563641}"/>
                  </a:ext>
                </a:extLst>
              </p:cNvPr>
              <p:cNvSpPr>
                <a:spLocks noGrp="1"/>
              </p:cNvSpPr>
              <p:nvPr>
                <p:ph idx="1"/>
              </p:nvPr>
            </p:nvSpPr>
            <p:spPr>
              <a:xfrm>
                <a:off x="838200" y="1654900"/>
                <a:ext cx="10325100" cy="5194119"/>
              </a:xfrm>
            </p:spPr>
            <p:txBody>
              <a:bodyPr>
                <a:normAutofit/>
              </a:bodyPr>
              <a:lstStyle/>
              <a:p>
                <a:pPr marL="0" indent="0">
                  <a:buNone/>
                </a:pPr>
                <a:endParaRPr lang="en-US" altLang="ja-JP" dirty="0">
                  <a:solidFill>
                    <a:schemeClr val="tx1">
                      <a:lumMod val="75000"/>
                      <a:lumOff val="25000"/>
                    </a:schemeClr>
                  </a:solidFill>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eqArr>
                        <m:eqArrPr>
                          <m:ctrlPr>
                            <a:rPr lang="en-US" altLang="ja-JP" b="0" i="1" smtClean="0">
                              <a:latin typeface="Cambria Math" panose="02040503050406030204" pitchFamily="18" charset="0"/>
                              <a:ea typeface="Cambria Math" panose="02040503050406030204" pitchFamily="18" charset="0"/>
                            </a:rPr>
                          </m:ctrlPr>
                        </m:eqArrPr>
                        <m:e>
                          <m:eqArr>
                            <m:eqArrPr>
                              <m:ctrlPr>
                                <a:rPr lang="en-US" altLang="ja-JP" i="1">
                                  <a:latin typeface="Cambria Math" panose="02040503050406030204" pitchFamily="18" charset="0"/>
                                  <a:ea typeface="Cambria Math" panose="02040503050406030204" pitchFamily="18" charset="0"/>
                                </a:rPr>
                              </m:ctrlPr>
                            </m:eqArrPr>
                            <m:e>
                              <m:sSub>
                                <m:sSubPr>
                                  <m:ctrlPr>
                                    <a:rPr lang="en-US" altLang="ja-JP" i="1">
                                      <a:latin typeface="Cambria Math" panose="02040503050406030204" pitchFamily="18" charset="0"/>
                                      <a:ea typeface="Cambria Math" panose="02040503050406030204" pitchFamily="18" charset="0"/>
                                    </a:rPr>
                                  </m:ctrlPr>
                                </m:sSubPr>
                                <m:e>
                                  <m:r>
                                    <a:rPr lang="en-US" altLang="ja-JP" b="1">
                                      <a:latin typeface="Cambria Math" panose="02040503050406030204" pitchFamily="18" charset="0"/>
                                      <a:ea typeface="Cambria Math" panose="02040503050406030204" pitchFamily="18" charset="0"/>
                                    </a:rPr>
                                    <m:t>𝐡</m:t>
                                  </m:r>
                                </m:e>
                                <m:sub>
                                  <m:r>
                                    <a:rPr lang="en-US" altLang="ja-JP" i="1">
                                      <a:latin typeface="Cambria Math" panose="02040503050406030204" pitchFamily="18" charset="0"/>
                                      <a:ea typeface="Cambria Math" panose="02040503050406030204" pitchFamily="18" charset="0"/>
                                    </a:rPr>
                                    <m:t>𝑘</m:t>
                                  </m:r>
                                </m:sub>
                              </m:sSub>
                              <m:r>
                                <a:rPr lang="en-US" altLang="ja-JP" i="1">
                                  <a:latin typeface="Cambria Math" panose="02040503050406030204" pitchFamily="18" charset="0"/>
                                </a:rPr>
                                <m:t>= </m:t>
                              </m:r>
                              <m:d>
                                <m:dPr>
                                  <m:begChr m:val="["/>
                                  <m:endChr m:val="]"/>
                                  <m:ctrlPr>
                                    <a:rPr lang="en-US" altLang="ja-JP" i="1">
                                      <a:latin typeface="Cambria Math" panose="02040503050406030204" pitchFamily="18" charset="0"/>
                                    </a:rPr>
                                  </m:ctrlPr>
                                </m:dPr>
                                <m:e>
                                  <m:nary>
                                    <m:naryPr>
                                      <m:chr m:val="∑"/>
                                      <m:ctrlPr>
                                        <a:rPr lang="en-US" altLang="ja-JP" i="1">
                                          <a:latin typeface="Cambria Math" panose="02040503050406030204" pitchFamily="18" charset="0"/>
                                        </a:rPr>
                                      </m:ctrlPr>
                                    </m:naryPr>
                                    <m:sub>
                                      <m:r>
                                        <a:rPr lang="en-US" altLang="ja-JP" i="1">
                                          <a:latin typeface="Cambria Math" panose="02040503050406030204" pitchFamily="18" charset="0"/>
                                        </a:rPr>
                                        <m:t>𝑙</m:t>
                                      </m:r>
                                      <m:r>
                                        <a:rPr lang="en-US" altLang="ja-JP" i="1">
                                          <a:latin typeface="Cambria Math" panose="02040503050406030204" pitchFamily="18" charset="0"/>
                                        </a:rPr>
                                        <m:t>=1</m:t>
                                      </m:r>
                                    </m:sub>
                                    <m:sup>
                                      <m:r>
                                        <a:rPr lang="en-US" altLang="ja-JP" i="1">
                                          <a:latin typeface="Cambria Math" panose="02040503050406030204" pitchFamily="18" charset="0"/>
                                        </a:rPr>
                                        <m:t>𝑠</m:t>
                                      </m:r>
                                    </m:sup>
                                    <m:e>
                                      <m:sSub>
                                        <m:sSubPr>
                                          <m:ctrlPr>
                                            <a:rPr lang="en-US" altLang="ja-JP" i="1">
                                              <a:latin typeface="Cambria Math" panose="02040503050406030204" pitchFamily="18" charset="0"/>
                                            </a:rPr>
                                          </m:ctrlPr>
                                        </m:sSubPr>
                                        <m:e>
                                          <m:r>
                                            <a:rPr lang="en-US" altLang="ja-JP" b="1">
                                              <a:latin typeface="Cambria Math" panose="02040503050406030204" pitchFamily="18" charset="0"/>
                                            </a:rPr>
                                            <m:t>𝐳</m:t>
                                          </m:r>
                                        </m:e>
                                        <m:sub>
                                          <m:r>
                                            <a:rPr lang="en-US" altLang="ja-JP" i="1">
                                              <a:latin typeface="Cambria Math" panose="02040503050406030204" pitchFamily="18" charset="0"/>
                                            </a:rPr>
                                            <m:t>𝑙</m:t>
                                          </m:r>
                                        </m:sub>
                                      </m:sSub>
                                      <m:r>
                                        <a:rPr lang="en-US" altLang="ja-JP" i="1">
                                          <a:latin typeface="Cambria Math" panose="02040503050406030204" pitchFamily="18" charset="0"/>
                                          <a:ea typeface="Cambria Math" panose="02040503050406030204" pitchFamily="18" charset="0"/>
                                        </a:rPr>
                                        <m:t>⊙</m:t>
                                      </m:r>
                                      <m:sSub>
                                        <m:sSubPr>
                                          <m:ctrlPr>
                                            <a:rPr lang="en-US" altLang="ja-JP" i="1">
                                              <a:latin typeface="Cambria Math" panose="02040503050406030204" pitchFamily="18" charset="0"/>
                                              <a:ea typeface="Cambria Math" panose="02040503050406030204" pitchFamily="18" charset="0"/>
                                            </a:rPr>
                                          </m:ctrlPr>
                                        </m:sSubPr>
                                        <m:e>
                                          <m:r>
                                            <a:rPr lang="en-US" altLang="ja-JP" b="1">
                                              <a:solidFill>
                                                <a:srgbClr val="C00000"/>
                                              </a:solidFill>
                                              <a:latin typeface="Cambria Math" panose="02040503050406030204" pitchFamily="18" charset="0"/>
                                              <a:ea typeface="Cambria Math" panose="02040503050406030204" pitchFamily="18" charset="0"/>
                                            </a:rPr>
                                            <m:t>𝐇</m:t>
                                          </m:r>
                                        </m:e>
                                        <m:sub>
                                          <m:r>
                                            <a:rPr lang="en-US" altLang="ja-JP" i="1">
                                              <a:latin typeface="Cambria Math" panose="02040503050406030204" pitchFamily="18" charset="0"/>
                                              <a:ea typeface="Cambria Math" panose="02040503050406030204" pitchFamily="18" charset="0"/>
                                            </a:rPr>
                                            <m:t>𝑘</m:t>
                                          </m:r>
                                        </m:sub>
                                      </m:sSub>
                                      <m:sSub>
                                        <m:sSubPr>
                                          <m:ctrlPr>
                                            <a:rPr lang="en-US" altLang="ja-JP" i="1">
                                              <a:latin typeface="Cambria Math" panose="02040503050406030204" pitchFamily="18" charset="0"/>
                                              <a:ea typeface="Cambria Math" panose="02040503050406030204" pitchFamily="18" charset="0"/>
                                            </a:rPr>
                                          </m:ctrlPr>
                                        </m:sSubPr>
                                        <m:e>
                                          <m:r>
                                            <a:rPr lang="en-US" altLang="ja-JP" b="1">
                                              <a:latin typeface="Cambria Math" panose="02040503050406030204" pitchFamily="18" charset="0"/>
                                              <a:ea typeface="Cambria Math" panose="02040503050406030204" pitchFamily="18" charset="0"/>
                                            </a:rPr>
                                            <m:t>𝐳</m:t>
                                          </m:r>
                                        </m:e>
                                        <m:sub>
                                          <m:r>
                                            <a:rPr lang="en-US" altLang="ja-JP" i="1">
                                              <a:latin typeface="Cambria Math" panose="02040503050406030204" pitchFamily="18" charset="0"/>
                                              <a:ea typeface="Cambria Math" panose="02040503050406030204" pitchFamily="18" charset="0"/>
                                            </a:rPr>
                                            <m:t>𝑙</m:t>
                                          </m:r>
                                        </m:sub>
                                      </m:sSub>
                                    </m:e>
                                  </m:nary>
                                </m:e>
                              </m:d>
                              <m:r>
                                <a:rPr lang="en-US" altLang="ja-JP" i="1">
                                  <a:latin typeface="Cambria Math" panose="02040503050406030204" pitchFamily="18" charset="0"/>
                                  <a:ea typeface="Cambria Math" panose="02040503050406030204" pitchFamily="18" charset="0"/>
                                </a:rPr>
                                <m:t>⊘</m:t>
                              </m:r>
                              <m:d>
                                <m:dPr>
                                  <m:begChr m:val="["/>
                                  <m:endChr m:val="]"/>
                                  <m:ctrlPr>
                                    <a:rPr lang="en-US" altLang="ja-JP" i="1">
                                      <a:latin typeface="Cambria Math" panose="02040503050406030204" pitchFamily="18" charset="0"/>
                                      <a:ea typeface="Cambria Math" panose="02040503050406030204" pitchFamily="18" charset="0"/>
                                    </a:rPr>
                                  </m:ctrlPr>
                                </m:dPr>
                                <m:e>
                                  <m:nary>
                                    <m:naryPr>
                                      <m:chr m:val="∑"/>
                                      <m:ctrlPr>
                                        <a:rPr lang="en-US" altLang="ja-JP" i="1">
                                          <a:latin typeface="Cambria Math" panose="02040503050406030204" pitchFamily="18" charset="0"/>
                                        </a:rPr>
                                      </m:ctrlPr>
                                    </m:naryPr>
                                    <m:sub>
                                      <m:r>
                                        <a:rPr lang="en-US" altLang="ja-JP" i="1">
                                          <a:latin typeface="Cambria Math" panose="02040503050406030204" pitchFamily="18" charset="0"/>
                                        </a:rPr>
                                        <m:t>𝑙</m:t>
                                      </m:r>
                                      <m:r>
                                        <a:rPr lang="en-US" altLang="ja-JP" i="1">
                                          <a:latin typeface="Cambria Math" panose="02040503050406030204" pitchFamily="18" charset="0"/>
                                        </a:rPr>
                                        <m:t>=1</m:t>
                                      </m:r>
                                    </m:sub>
                                    <m:sup>
                                      <m:r>
                                        <a:rPr lang="en-US" altLang="ja-JP" i="1">
                                          <a:latin typeface="Cambria Math" panose="02040503050406030204" pitchFamily="18" charset="0"/>
                                        </a:rPr>
                                        <m:t>𝑠</m:t>
                                      </m:r>
                                    </m:sup>
                                    <m:e>
                                      <m:sSub>
                                        <m:sSubPr>
                                          <m:ctrlPr>
                                            <a:rPr lang="en-US" altLang="ja-JP" i="1">
                                              <a:latin typeface="Cambria Math" panose="02040503050406030204" pitchFamily="18" charset="0"/>
                                            </a:rPr>
                                          </m:ctrlPr>
                                        </m:sSubPr>
                                        <m:e>
                                          <m:r>
                                            <a:rPr lang="en-US" altLang="ja-JP" b="1">
                                              <a:latin typeface="Cambria Math" panose="02040503050406030204" pitchFamily="18" charset="0"/>
                                            </a:rPr>
                                            <m:t>𝐳</m:t>
                                          </m:r>
                                        </m:e>
                                        <m:sub>
                                          <m:r>
                                            <a:rPr lang="en-US" altLang="ja-JP" i="1">
                                              <a:latin typeface="Cambria Math" panose="02040503050406030204" pitchFamily="18" charset="0"/>
                                            </a:rPr>
                                            <m:t>𝑙</m:t>
                                          </m:r>
                                        </m:sub>
                                      </m:sSub>
                                      <m:r>
                                        <a:rPr lang="en-US" altLang="ja-JP" i="1">
                                          <a:latin typeface="Cambria Math" panose="02040503050406030204" pitchFamily="18" charset="0"/>
                                          <a:ea typeface="Cambria Math" panose="02040503050406030204" pitchFamily="18" charset="0"/>
                                        </a:rPr>
                                        <m:t>⊙</m:t>
                                      </m:r>
                                      <m:sSub>
                                        <m:sSubPr>
                                          <m:ctrlPr>
                                            <a:rPr lang="en-US" altLang="ja-JP" i="1">
                                              <a:latin typeface="Cambria Math" panose="02040503050406030204" pitchFamily="18" charset="0"/>
                                              <a:ea typeface="Cambria Math" panose="02040503050406030204" pitchFamily="18" charset="0"/>
                                            </a:rPr>
                                          </m:ctrlPr>
                                        </m:sSubPr>
                                        <m:e>
                                          <m:r>
                                            <a:rPr lang="en-US" altLang="ja-JP" b="1">
                                              <a:latin typeface="Cambria Math" panose="02040503050406030204" pitchFamily="18" charset="0"/>
                                              <a:ea typeface="Cambria Math" panose="02040503050406030204" pitchFamily="18" charset="0"/>
                                            </a:rPr>
                                            <m:t>𝐳</m:t>
                                          </m:r>
                                        </m:e>
                                        <m:sub>
                                          <m:r>
                                            <a:rPr lang="en-US" altLang="ja-JP" i="1">
                                              <a:latin typeface="Cambria Math" panose="02040503050406030204" pitchFamily="18" charset="0"/>
                                              <a:ea typeface="Cambria Math" panose="02040503050406030204" pitchFamily="18" charset="0"/>
                                            </a:rPr>
                                            <m:t>𝑙</m:t>
                                          </m:r>
                                        </m:sub>
                                      </m:sSub>
                                    </m:e>
                                  </m:nary>
                                </m:e>
                              </m:d>
                              <m:r>
                                <a:rPr lang="en-US" altLang="ja-JP" i="1">
                                  <a:latin typeface="Cambria Math" panose="02040503050406030204" pitchFamily="18" charset="0"/>
                                  <a:ea typeface="Cambria Math" panose="02040503050406030204" pitchFamily="18" charset="0"/>
                                </a:rPr>
                                <m:t>#</m:t>
                              </m:r>
                            </m:e>
                          </m:eqArr>
                          <m:r>
                            <a:rPr lang="en-US" altLang="ja-JP" i="1">
                              <a:latin typeface="Cambria Math" panose="02040503050406030204" pitchFamily="18" charset="0"/>
                              <a:ea typeface="Cambria Math" panose="02040503050406030204" pitchFamily="18" charset="0"/>
                            </a:rPr>
                            <m:t>#</m:t>
                          </m:r>
                        </m:e>
                      </m:eqArr>
                    </m:oMath>
                  </m:oMathPara>
                </a14:m>
                <a:endParaRPr lang="en-US" altLang="ja-JP" b="0" dirty="0">
                  <a:ea typeface="Cambria Math" panose="02040503050406030204" pitchFamily="18" charset="0"/>
                </a:endParaRPr>
              </a:p>
              <a:p>
                <a:pPr marL="0" indent="0">
                  <a:buNone/>
                </a:pPr>
                <a:endParaRPr lang="en-US" altLang="ja-JP" dirty="0">
                  <a:solidFill>
                    <a:schemeClr val="tx1">
                      <a:lumMod val="75000"/>
                      <a:lumOff val="25000"/>
                    </a:schemeClr>
                  </a:solidFill>
                </a:endParaRPr>
              </a:p>
              <a:p>
                <a:pPr marL="0" indent="0">
                  <a:buNone/>
                </a:pPr>
                <a:r>
                  <a:rPr lang="ja-JP" altLang="en-US" dirty="0">
                    <a:latin typeface="Cambria Math" panose="02040503050406030204" pitchFamily="18" charset="0"/>
                  </a:rPr>
                  <a:t>ヘッセ行列</a:t>
                </a:r>
                <a14:m>
                  <m:oMath xmlns:m="http://schemas.openxmlformats.org/officeDocument/2006/math">
                    <m:sSub>
                      <m:sSubPr>
                        <m:ctrlPr>
                          <a:rPr lang="en-US" altLang="ja-JP" i="1">
                            <a:latin typeface="Cambria Math" panose="02040503050406030204" pitchFamily="18" charset="0"/>
                            <a:ea typeface="Cambria Math" panose="02040503050406030204" pitchFamily="18" charset="0"/>
                          </a:rPr>
                        </m:ctrlPr>
                      </m:sSubPr>
                      <m:e>
                        <m:r>
                          <a:rPr lang="en-US" altLang="ja-JP" b="1" smtClean="0">
                            <a:solidFill>
                              <a:schemeClr val="tx1">
                                <a:lumMod val="75000"/>
                                <a:lumOff val="25000"/>
                              </a:schemeClr>
                            </a:solidFill>
                            <a:latin typeface="Cambria Math" panose="02040503050406030204" pitchFamily="18" charset="0"/>
                            <a:ea typeface="Cambria Math" panose="02040503050406030204" pitchFamily="18" charset="0"/>
                          </a:rPr>
                          <m:t>𝐇</m:t>
                        </m:r>
                      </m:e>
                      <m:sub>
                        <m:r>
                          <a:rPr lang="en-US" altLang="ja-JP" i="1">
                            <a:latin typeface="Cambria Math" panose="02040503050406030204" pitchFamily="18" charset="0"/>
                            <a:ea typeface="Cambria Math" panose="02040503050406030204" pitchFamily="18" charset="0"/>
                          </a:rPr>
                          <m:t>𝑘</m:t>
                        </m:r>
                      </m:sub>
                    </m:sSub>
                  </m:oMath>
                </a14:m>
                <a:r>
                  <a:rPr lang="ja-JP" altLang="en-US" dirty="0">
                    <a:latin typeface="Cambria Math" panose="02040503050406030204" pitchFamily="18" charset="0"/>
                  </a:rPr>
                  <a:t>と</a:t>
                </a:r>
                <a14:m>
                  <m:oMath xmlns:m="http://schemas.openxmlformats.org/officeDocument/2006/math">
                    <m:sSub>
                      <m:sSubPr>
                        <m:ctrlPr>
                          <a:rPr lang="en-US" altLang="ja-JP" i="1">
                            <a:latin typeface="Cambria Math" panose="02040503050406030204" pitchFamily="18" charset="0"/>
                            <a:ea typeface="Cambria Math" panose="02040503050406030204" pitchFamily="18" charset="0"/>
                          </a:rPr>
                        </m:ctrlPr>
                      </m:sSubPr>
                      <m:e>
                        <m:r>
                          <a:rPr lang="en-US" altLang="ja-JP" b="1">
                            <a:latin typeface="Cambria Math" panose="02040503050406030204" pitchFamily="18" charset="0"/>
                            <a:ea typeface="Cambria Math" panose="02040503050406030204" pitchFamily="18" charset="0"/>
                          </a:rPr>
                          <m:t>𝐳</m:t>
                        </m:r>
                      </m:e>
                      <m:sub>
                        <m:r>
                          <a:rPr lang="en-US" altLang="ja-JP" i="1">
                            <a:latin typeface="Cambria Math" panose="02040503050406030204" pitchFamily="18" charset="0"/>
                            <a:ea typeface="Cambria Math" panose="02040503050406030204" pitchFamily="18" charset="0"/>
                          </a:rPr>
                          <m:t>𝑙</m:t>
                        </m:r>
                      </m:sub>
                    </m:sSub>
                  </m:oMath>
                </a14:m>
                <a:r>
                  <a:rPr lang="ja-JP" altLang="en-US" dirty="0">
                    <a:latin typeface="Cambria Math" panose="02040503050406030204" pitchFamily="18" charset="0"/>
                  </a:rPr>
                  <a:t>ベクトルとの積を、勾配</a:t>
                </a:r>
                <a14:m>
                  <m:oMath xmlns:m="http://schemas.openxmlformats.org/officeDocument/2006/math">
                    <m:r>
                      <a:rPr lang="ja-JP" altLang="en-US" b="1" i="1" dirty="0" smtClean="0">
                        <a:latin typeface="Cambria Math" panose="02040503050406030204" pitchFamily="18" charset="0"/>
                      </a:rPr>
                      <m:t>の</m:t>
                    </m:r>
                    <m:sSub>
                      <m:sSubPr>
                        <m:ctrlPr>
                          <a:rPr lang="en-US" altLang="ja-JP" i="1" smtClean="0">
                            <a:latin typeface="Cambria Math" panose="02040503050406030204" pitchFamily="18" charset="0"/>
                            <a:ea typeface="Cambria Math" panose="02040503050406030204" pitchFamily="18" charset="0"/>
                          </a:rPr>
                        </m:ctrlPr>
                      </m:sSubPr>
                      <m:e>
                        <m:r>
                          <a:rPr lang="en-US" altLang="ja-JP" b="1" i="0" smtClean="0">
                            <a:latin typeface="Cambria Math" panose="02040503050406030204" pitchFamily="18" charset="0"/>
                            <a:ea typeface="Cambria Math" panose="02040503050406030204" pitchFamily="18" charset="0"/>
                          </a:rPr>
                          <m:t>𝐠</m:t>
                        </m:r>
                      </m:e>
                      <m:sub>
                        <m:r>
                          <a:rPr lang="en-US" altLang="ja-JP" b="0" i="1" smtClean="0">
                            <a:latin typeface="Cambria Math" panose="02040503050406030204" pitchFamily="18" charset="0"/>
                            <a:ea typeface="Cambria Math" panose="02040503050406030204" pitchFamily="18" charset="0"/>
                          </a:rPr>
                          <m:t>𝑘</m:t>
                        </m:r>
                      </m:sub>
                    </m:sSub>
                  </m:oMath>
                </a14:m>
                <a:r>
                  <a:rPr lang="ja-JP" altLang="en-US" dirty="0">
                    <a:latin typeface="Cambria Math" panose="02040503050406030204" pitchFamily="18" charset="0"/>
                  </a:rPr>
                  <a:t>ベクトルと</a:t>
                </a:r>
                <a14:m>
                  <m:oMath xmlns:m="http://schemas.openxmlformats.org/officeDocument/2006/math">
                    <m:sSub>
                      <m:sSubPr>
                        <m:ctrlPr>
                          <a:rPr lang="en-US" altLang="ja-JP" i="1">
                            <a:latin typeface="Cambria Math" panose="02040503050406030204" pitchFamily="18" charset="0"/>
                            <a:ea typeface="Cambria Math" panose="02040503050406030204" pitchFamily="18" charset="0"/>
                          </a:rPr>
                        </m:ctrlPr>
                      </m:sSubPr>
                      <m:e>
                        <m:r>
                          <a:rPr lang="en-US" altLang="ja-JP" b="1">
                            <a:latin typeface="Cambria Math" panose="02040503050406030204" pitchFamily="18" charset="0"/>
                            <a:ea typeface="Cambria Math" panose="02040503050406030204" pitchFamily="18" charset="0"/>
                          </a:rPr>
                          <m:t>𝐳</m:t>
                        </m:r>
                      </m:e>
                      <m:sub>
                        <m:r>
                          <a:rPr lang="en-US" altLang="ja-JP" i="1">
                            <a:latin typeface="Cambria Math" panose="02040503050406030204" pitchFamily="18" charset="0"/>
                            <a:ea typeface="Cambria Math" panose="02040503050406030204" pitchFamily="18" charset="0"/>
                          </a:rPr>
                          <m:t>𝑙</m:t>
                        </m:r>
                      </m:sub>
                    </m:sSub>
                  </m:oMath>
                </a14:m>
                <a:r>
                  <a:rPr lang="ja-JP" altLang="en-US" dirty="0">
                    <a:latin typeface="Cambria Math" panose="02040503050406030204" pitchFamily="18" charset="0"/>
                  </a:rPr>
                  <a:t>ベクトルの内積を重み</a:t>
                </a:r>
                <a14:m>
                  <m:oMath xmlns:m="http://schemas.openxmlformats.org/officeDocument/2006/math">
                    <m:r>
                      <a:rPr lang="en-US" altLang="ja-JP" b="1">
                        <a:latin typeface="Cambria Math" panose="02040503050406030204" pitchFamily="18" charset="0"/>
                      </a:rPr>
                      <m:t>𝐰</m:t>
                    </m:r>
                  </m:oMath>
                </a14:m>
                <a:r>
                  <a:rPr lang="ja-JP" altLang="en-US" dirty="0">
                    <a:latin typeface="Cambria Math" panose="02040503050406030204" pitchFamily="18" charset="0"/>
                  </a:rPr>
                  <a:t>で微分した</a:t>
                </a:r>
                <a14:m>
                  <m:oMath xmlns:m="http://schemas.openxmlformats.org/officeDocument/2006/math">
                    <m:f>
                      <m:fPr>
                        <m:ctrlPr>
                          <a:rPr lang="en-US" altLang="ja-JP" i="1">
                            <a:latin typeface="Cambria Math" panose="02040503050406030204" pitchFamily="18" charset="0"/>
                          </a:rPr>
                        </m:ctrlPr>
                      </m:fPr>
                      <m:num>
                        <m:r>
                          <a:rPr lang="ja-JP" altLang="en-US" i="1">
                            <a:latin typeface="Cambria Math" panose="02040503050406030204" pitchFamily="18" charset="0"/>
                          </a:rPr>
                          <m:t>𝜕</m:t>
                        </m:r>
                        <m:sSubSup>
                          <m:sSubSupPr>
                            <m:ctrlPr>
                              <a:rPr lang="en-US" altLang="ja-JP" i="1">
                                <a:latin typeface="Cambria Math" panose="02040503050406030204" pitchFamily="18" charset="0"/>
                                <a:ea typeface="Cambria Math" panose="02040503050406030204" pitchFamily="18" charset="0"/>
                              </a:rPr>
                            </m:ctrlPr>
                          </m:sSubSupPr>
                          <m:e>
                            <m:r>
                              <a:rPr lang="en-US" altLang="ja-JP" b="1">
                                <a:latin typeface="Cambria Math" panose="02040503050406030204" pitchFamily="18" charset="0"/>
                                <a:ea typeface="Cambria Math" panose="02040503050406030204" pitchFamily="18" charset="0"/>
                              </a:rPr>
                              <m:t>𝐠</m:t>
                            </m:r>
                          </m:e>
                          <m:sub>
                            <m:r>
                              <a:rPr lang="en-US" altLang="ja-JP" i="1">
                                <a:latin typeface="Cambria Math" panose="02040503050406030204" pitchFamily="18" charset="0"/>
                                <a:ea typeface="Cambria Math" panose="02040503050406030204" pitchFamily="18" charset="0"/>
                              </a:rPr>
                              <m:t>𝑘</m:t>
                            </m:r>
                          </m:sub>
                          <m:sup>
                            <m:r>
                              <a:rPr lang="en-US" altLang="ja-JP" i="1">
                                <a:latin typeface="Cambria Math" panose="02040503050406030204" pitchFamily="18" charset="0"/>
                                <a:ea typeface="Cambria Math" panose="02040503050406030204" pitchFamily="18" charset="0"/>
                              </a:rPr>
                              <m:t>𝑇</m:t>
                            </m:r>
                          </m:sup>
                        </m:sSubSup>
                        <m:sSub>
                          <m:sSubPr>
                            <m:ctrlPr>
                              <a:rPr lang="en-US" altLang="ja-JP" i="1">
                                <a:latin typeface="Cambria Math" panose="02040503050406030204" pitchFamily="18" charset="0"/>
                              </a:rPr>
                            </m:ctrlPr>
                          </m:sSubPr>
                          <m:e>
                            <m:r>
                              <a:rPr lang="en-US" altLang="ja-JP" b="1">
                                <a:latin typeface="Cambria Math" panose="02040503050406030204" pitchFamily="18" charset="0"/>
                              </a:rPr>
                              <m:t>𝐳</m:t>
                            </m:r>
                          </m:e>
                          <m:sub>
                            <m:r>
                              <a:rPr lang="en-US" altLang="ja-JP" i="1">
                                <a:latin typeface="Cambria Math" panose="02040503050406030204" pitchFamily="18" charset="0"/>
                              </a:rPr>
                              <m:t>𝑙</m:t>
                            </m:r>
                          </m:sub>
                        </m:sSub>
                      </m:num>
                      <m:den>
                        <m:r>
                          <a:rPr lang="ja-JP" altLang="en-US" i="1">
                            <a:latin typeface="Cambria Math" panose="02040503050406030204" pitchFamily="18" charset="0"/>
                          </a:rPr>
                          <m:t>𝜕</m:t>
                        </m:r>
                        <m:r>
                          <a:rPr lang="en-US" altLang="ja-JP" b="1">
                            <a:latin typeface="Cambria Math" panose="02040503050406030204" pitchFamily="18" charset="0"/>
                          </a:rPr>
                          <m:t>𝐰</m:t>
                        </m:r>
                      </m:den>
                    </m:f>
                  </m:oMath>
                </a14:m>
                <a:r>
                  <a:rPr lang="ja-JP" altLang="en-US" dirty="0">
                    <a:latin typeface="Cambria Math" panose="02040503050406030204" pitchFamily="18" charset="0"/>
                  </a:rPr>
                  <a:t>に置き換える</a:t>
                </a:r>
                <a:endParaRPr kumimoji="1" lang="en-US" altLang="ja-JP" b="0" dirty="0">
                  <a:solidFill>
                    <a:schemeClr val="tx1">
                      <a:lumMod val="75000"/>
                      <a:lumOff val="25000"/>
                    </a:schemeClr>
                  </a:solidFill>
                  <a:latin typeface="Cambria Math" panose="02040503050406030204" pitchFamily="18" charset="0"/>
                </a:endParaRPr>
              </a:p>
              <a:p>
                <a:pPr marL="0" indent="0">
                  <a:buNone/>
                </a:pPr>
                <a:endParaRPr kumimoji="1" lang="en-US" altLang="ja-JP" b="0" dirty="0">
                  <a:solidFill>
                    <a:schemeClr val="tx1">
                      <a:lumMod val="75000"/>
                      <a:lumOff val="25000"/>
                    </a:schemeClr>
                  </a:solidFill>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altLang="ja-JP" i="1">
                              <a:latin typeface="Cambria Math" panose="02040503050406030204" pitchFamily="18" charset="0"/>
                            </a:rPr>
                          </m:ctrlPr>
                        </m:fPr>
                        <m:num>
                          <m:r>
                            <a:rPr lang="ja-JP" altLang="en-US" i="1">
                              <a:latin typeface="Cambria Math" panose="02040503050406030204" pitchFamily="18" charset="0"/>
                            </a:rPr>
                            <m:t>𝜕</m:t>
                          </m:r>
                          <m:sSubSup>
                            <m:sSubSupPr>
                              <m:ctrlPr>
                                <a:rPr lang="en-US" altLang="ja-JP" i="1">
                                  <a:latin typeface="Cambria Math" panose="02040503050406030204" pitchFamily="18" charset="0"/>
                                  <a:ea typeface="Cambria Math" panose="02040503050406030204" pitchFamily="18" charset="0"/>
                                </a:rPr>
                              </m:ctrlPr>
                            </m:sSubSupPr>
                            <m:e>
                              <m:r>
                                <a:rPr lang="en-US" altLang="ja-JP" b="1" i="0" smtClean="0">
                                  <a:latin typeface="Cambria Math" panose="02040503050406030204" pitchFamily="18" charset="0"/>
                                  <a:ea typeface="Cambria Math" panose="02040503050406030204" pitchFamily="18" charset="0"/>
                                </a:rPr>
                                <m:t>𝐠</m:t>
                              </m:r>
                            </m:e>
                            <m:sub>
                              <m:r>
                                <a:rPr lang="en-US" altLang="ja-JP" i="1">
                                  <a:latin typeface="Cambria Math" panose="02040503050406030204" pitchFamily="18" charset="0"/>
                                  <a:ea typeface="Cambria Math" panose="02040503050406030204" pitchFamily="18" charset="0"/>
                                </a:rPr>
                                <m:t>𝑘</m:t>
                              </m:r>
                            </m:sub>
                            <m:sup>
                              <m:r>
                                <a:rPr lang="en-US" altLang="ja-JP" i="1">
                                  <a:latin typeface="Cambria Math" panose="02040503050406030204" pitchFamily="18" charset="0"/>
                                  <a:ea typeface="Cambria Math" panose="02040503050406030204" pitchFamily="18" charset="0"/>
                                </a:rPr>
                                <m:t>𝑇</m:t>
                              </m:r>
                            </m:sup>
                          </m:sSubSup>
                          <m:sSub>
                            <m:sSubPr>
                              <m:ctrlPr>
                                <a:rPr lang="en-US" altLang="ja-JP" i="1">
                                  <a:latin typeface="Cambria Math" panose="02040503050406030204" pitchFamily="18" charset="0"/>
                                </a:rPr>
                              </m:ctrlPr>
                            </m:sSubPr>
                            <m:e>
                              <m:r>
                                <a:rPr lang="en-US" altLang="ja-JP" b="1" i="0" smtClean="0">
                                  <a:latin typeface="Cambria Math" panose="02040503050406030204" pitchFamily="18" charset="0"/>
                                </a:rPr>
                                <m:t>𝐳</m:t>
                              </m:r>
                            </m:e>
                            <m:sub>
                              <m:r>
                                <a:rPr lang="en-US" altLang="ja-JP" b="0" i="1" smtClean="0">
                                  <a:latin typeface="Cambria Math" panose="02040503050406030204" pitchFamily="18" charset="0"/>
                                </a:rPr>
                                <m:t>𝑙</m:t>
                              </m:r>
                            </m:sub>
                          </m:sSub>
                        </m:num>
                        <m:den>
                          <m:r>
                            <a:rPr lang="ja-JP" altLang="en-US" i="1">
                              <a:latin typeface="Cambria Math" panose="02040503050406030204" pitchFamily="18" charset="0"/>
                            </a:rPr>
                            <m:t>𝜕</m:t>
                          </m:r>
                          <m:r>
                            <a:rPr lang="en-US" altLang="ja-JP" b="1">
                              <a:latin typeface="Cambria Math" panose="02040503050406030204" pitchFamily="18" charset="0"/>
                            </a:rPr>
                            <m:t>𝐰</m:t>
                          </m:r>
                        </m:den>
                      </m:f>
                      <m:r>
                        <a:rPr lang="en-US" altLang="ja-JP" i="1">
                          <a:latin typeface="Cambria Math" panose="02040503050406030204" pitchFamily="18" charset="0"/>
                        </a:rPr>
                        <m:t>=</m:t>
                      </m:r>
                      <m:f>
                        <m:fPr>
                          <m:ctrlPr>
                            <a:rPr lang="en-US" altLang="ja-JP" i="1">
                              <a:latin typeface="Cambria Math" panose="02040503050406030204" pitchFamily="18" charset="0"/>
                            </a:rPr>
                          </m:ctrlPr>
                        </m:fPr>
                        <m:num>
                          <m:r>
                            <a:rPr lang="ja-JP" altLang="en-US" i="1">
                              <a:latin typeface="Cambria Math" panose="02040503050406030204" pitchFamily="18" charset="0"/>
                            </a:rPr>
                            <m:t>𝜕</m:t>
                          </m:r>
                          <m:sSubSup>
                            <m:sSubSupPr>
                              <m:ctrlPr>
                                <a:rPr lang="en-US" altLang="ja-JP" i="1">
                                  <a:latin typeface="Cambria Math" panose="02040503050406030204" pitchFamily="18" charset="0"/>
                                  <a:ea typeface="Cambria Math" panose="02040503050406030204" pitchFamily="18" charset="0"/>
                                </a:rPr>
                              </m:ctrlPr>
                            </m:sSubSupPr>
                            <m:e>
                              <m:r>
                                <a:rPr lang="en-US" altLang="ja-JP" b="1">
                                  <a:latin typeface="Cambria Math" panose="02040503050406030204" pitchFamily="18" charset="0"/>
                                  <a:ea typeface="Cambria Math" panose="02040503050406030204" pitchFamily="18" charset="0"/>
                                </a:rPr>
                                <m:t>𝐠</m:t>
                              </m:r>
                            </m:e>
                            <m:sub>
                              <m:r>
                                <a:rPr lang="en-US" altLang="ja-JP" i="1">
                                  <a:latin typeface="Cambria Math" panose="02040503050406030204" pitchFamily="18" charset="0"/>
                                  <a:ea typeface="Cambria Math" panose="02040503050406030204" pitchFamily="18" charset="0"/>
                                </a:rPr>
                                <m:t>𝑘</m:t>
                              </m:r>
                            </m:sub>
                            <m:sup>
                              <m:r>
                                <a:rPr lang="en-US" altLang="ja-JP" i="1">
                                  <a:latin typeface="Cambria Math" panose="02040503050406030204" pitchFamily="18" charset="0"/>
                                  <a:ea typeface="Cambria Math" panose="02040503050406030204" pitchFamily="18" charset="0"/>
                                </a:rPr>
                                <m:t>𝑇</m:t>
                              </m:r>
                            </m:sup>
                          </m:sSubSup>
                        </m:num>
                        <m:den>
                          <m:r>
                            <a:rPr lang="ja-JP" altLang="en-US" i="1">
                              <a:latin typeface="Cambria Math" panose="02040503050406030204" pitchFamily="18" charset="0"/>
                            </a:rPr>
                            <m:t>𝜕</m:t>
                          </m:r>
                          <m:r>
                            <a:rPr lang="en-US" altLang="ja-JP" b="1">
                              <a:latin typeface="Cambria Math" panose="02040503050406030204" pitchFamily="18" charset="0"/>
                            </a:rPr>
                            <m:t>𝐰</m:t>
                          </m:r>
                        </m:den>
                      </m:f>
                      <m:sSub>
                        <m:sSubPr>
                          <m:ctrlPr>
                            <a:rPr lang="en-US" altLang="ja-JP" i="1">
                              <a:latin typeface="Cambria Math" panose="02040503050406030204" pitchFamily="18" charset="0"/>
                            </a:rPr>
                          </m:ctrlPr>
                        </m:sSubPr>
                        <m:e>
                          <m:r>
                            <a:rPr lang="en-US" altLang="ja-JP" b="1">
                              <a:latin typeface="Cambria Math" panose="02040503050406030204" pitchFamily="18" charset="0"/>
                            </a:rPr>
                            <m:t>𝐳</m:t>
                          </m:r>
                        </m:e>
                        <m:sub>
                          <m:r>
                            <a:rPr lang="en-US" altLang="ja-JP" i="1">
                              <a:latin typeface="Cambria Math" panose="02040503050406030204" pitchFamily="18" charset="0"/>
                            </a:rPr>
                            <m:t>𝑙</m:t>
                          </m:r>
                        </m:sub>
                      </m:sSub>
                      <m:r>
                        <a:rPr lang="en-US" altLang="ja-JP" i="1">
                          <a:latin typeface="Cambria Math" panose="02040503050406030204" pitchFamily="18" charset="0"/>
                        </a:rPr>
                        <m:t>+</m:t>
                      </m:r>
                      <m:sSubSup>
                        <m:sSubSupPr>
                          <m:ctrlPr>
                            <a:rPr lang="en-US" altLang="ja-JP" i="1">
                              <a:latin typeface="Cambria Math" panose="02040503050406030204" pitchFamily="18" charset="0"/>
                              <a:ea typeface="Cambria Math" panose="02040503050406030204" pitchFamily="18" charset="0"/>
                            </a:rPr>
                          </m:ctrlPr>
                        </m:sSubSupPr>
                        <m:e>
                          <m:r>
                            <a:rPr lang="en-US" altLang="ja-JP" b="1">
                              <a:latin typeface="Cambria Math" panose="02040503050406030204" pitchFamily="18" charset="0"/>
                              <a:ea typeface="Cambria Math" panose="02040503050406030204" pitchFamily="18" charset="0"/>
                            </a:rPr>
                            <m:t>𝐠</m:t>
                          </m:r>
                        </m:e>
                        <m:sub>
                          <m:r>
                            <a:rPr lang="en-US" altLang="ja-JP" i="1">
                              <a:latin typeface="Cambria Math" panose="02040503050406030204" pitchFamily="18" charset="0"/>
                              <a:ea typeface="Cambria Math" panose="02040503050406030204" pitchFamily="18" charset="0"/>
                            </a:rPr>
                            <m:t>𝑘</m:t>
                          </m:r>
                        </m:sub>
                        <m:sup>
                          <m:r>
                            <a:rPr lang="en-US" altLang="ja-JP" i="1">
                              <a:latin typeface="Cambria Math" panose="02040503050406030204" pitchFamily="18" charset="0"/>
                              <a:ea typeface="Cambria Math" panose="02040503050406030204" pitchFamily="18" charset="0"/>
                            </a:rPr>
                            <m:t>𝑇</m:t>
                          </m:r>
                        </m:sup>
                      </m:sSubSup>
                      <m:f>
                        <m:fPr>
                          <m:ctrlPr>
                            <a:rPr lang="en-US" altLang="ja-JP" i="1">
                              <a:latin typeface="Cambria Math" panose="02040503050406030204" pitchFamily="18" charset="0"/>
                            </a:rPr>
                          </m:ctrlPr>
                        </m:fPr>
                        <m:num>
                          <m:sSub>
                            <m:sSubPr>
                              <m:ctrlPr>
                                <a:rPr lang="en-US" altLang="ja-JP" i="1">
                                  <a:latin typeface="Cambria Math" panose="02040503050406030204" pitchFamily="18" charset="0"/>
                                </a:rPr>
                              </m:ctrlPr>
                            </m:sSubPr>
                            <m:e>
                              <m:r>
                                <a:rPr lang="en-US" altLang="ja-JP" b="1">
                                  <a:latin typeface="Cambria Math" panose="02040503050406030204" pitchFamily="18" charset="0"/>
                                </a:rPr>
                                <m:t>𝐳</m:t>
                              </m:r>
                            </m:e>
                            <m:sub>
                              <m:r>
                                <a:rPr lang="en-US" altLang="ja-JP" i="1">
                                  <a:latin typeface="Cambria Math" panose="02040503050406030204" pitchFamily="18" charset="0"/>
                                </a:rPr>
                                <m:t>𝑙</m:t>
                              </m:r>
                            </m:sub>
                          </m:sSub>
                        </m:num>
                        <m:den>
                          <m:r>
                            <a:rPr lang="ja-JP" altLang="en-US" i="1">
                              <a:latin typeface="Cambria Math" panose="02040503050406030204" pitchFamily="18" charset="0"/>
                            </a:rPr>
                            <m:t>𝜕</m:t>
                          </m:r>
                          <m:r>
                            <a:rPr lang="en-US" altLang="ja-JP" b="1">
                              <a:latin typeface="Cambria Math" panose="02040503050406030204" pitchFamily="18" charset="0"/>
                            </a:rPr>
                            <m:t>𝐰</m:t>
                          </m:r>
                        </m:den>
                      </m:f>
                      <m:r>
                        <a:rPr lang="en-US" altLang="ja-JP" b="0" i="1" smtClean="0">
                          <a:solidFill>
                            <a:schemeClr val="tx1">
                              <a:lumMod val="75000"/>
                              <a:lumOff val="25000"/>
                            </a:schemeClr>
                          </a:solidFill>
                          <a:latin typeface="Cambria Math" panose="02040503050406030204" pitchFamily="18" charset="0"/>
                        </a:rPr>
                        <m:t>=</m:t>
                      </m:r>
                      <m:f>
                        <m:fPr>
                          <m:ctrlPr>
                            <a:rPr lang="en-US" altLang="ja-JP" i="1">
                              <a:latin typeface="Cambria Math" panose="02040503050406030204" pitchFamily="18" charset="0"/>
                            </a:rPr>
                          </m:ctrlPr>
                        </m:fPr>
                        <m:num>
                          <m:r>
                            <a:rPr lang="ja-JP" altLang="en-US" i="1">
                              <a:latin typeface="Cambria Math" panose="02040503050406030204" pitchFamily="18" charset="0"/>
                            </a:rPr>
                            <m:t>𝜕</m:t>
                          </m:r>
                          <m:sSubSup>
                            <m:sSubSupPr>
                              <m:ctrlPr>
                                <a:rPr lang="en-US" altLang="ja-JP" i="1">
                                  <a:latin typeface="Cambria Math" panose="02040503050406030204" pitchFamily="18" charset="0"/>
                                  <a:ea typeface="Cambria Math" panose="02040503050406030204" pitchFamily="18" charset="0"/>
                                </a:rPr>
                              </m:ctrlPr>
                            </m:sSubSupPr>
                            <m:e>
                              <m:r>
                                <a:rPr lang="en-US" altLang="ja-JP" b="1">
                                  <a:latin typeface="Cambria Math" panose="02040503050406030204" pitchFamily="18" charset="0"/>
                                  <a:ea typeface="Cambria Math" panose="02040503050406030204" pitchFamily="18" charset="0"/>
                                </a:rPr>
                                <m:t>𝐠</m:t>
                              </m:r>
                            </m:e>
                            <m:sub>
                              <m:r>
                                <a:rPr lang="en-US" altLang="ja-JP" i="1">
                                  <a:latin typeface="Cambria Math" panose="02040503050406030204" pitchFamily="18" charset="0"/>
                                  <a:ea typeface="Cambria Math" panose="02040503050406030204" pitchFamily="18" charset="0"/>
                                </a:rPr>
                                <m:t>𝑘</m:t>
                              </m:r>
                            </m:sub>
                            <m:sup>
                              <m:r>
                                <a:rPr lang="en-US" altLang="ja-JP" i="1">
                                  <a:latin typeface="Cambria Math" panose="02040503050406030204" pitchFamily="18" charset="0"/>
                                  <a:ea typeface="Cambria Math" panose="02040503050406030204" pitchFamily="18" charset="0"/>
                                </a:rPr>
                                <m:t>𝑇</m:t>
                              </m:r>
                            </m:sup>
                          </m:sSubSup>
                        </m:num>
                        <m:den>
                          <m:r>
                            <a:rPr lang="ja-JP" altLang="en-US" i="1">
                              <a:latin typeface="Cambria Math" panose="02040503050406030204" pitchFamily="18" charset="0"/>
                            </a:rPr>
                            <m:t>𝜕</m:t>
                          </m:r>
                          <m:r>
                            <a:rPr lang="en-US" altLang="ja-JP" b="1">
                              <a:latin typeface="Cambria Math" panose="02040503050406030204" pitchFamily="18" charset="0"/>
                            </a:rPr>
                            <m:t>𝐰</m:t>
                          </m:r>
                        </m:den>
                      </m:f>
                      <m:sSub>
                        <m:sSubPr>
                          <m:ctrlPr>
                            <a:rPr lang="en-US" altLang="ja-JP" i="1">
                              <a:latin typeface="Cambria Math" panose="02040503050406030204" pitchFamily="18" charset="0"/>
                            </a:rPr>
                          </m:ctrlPr>
                        </m:sSubPr>
                        <m:e>
                          <m:r>
                            <a:rPr lang="en-US" altLang="ja-JP" b="1">
                              <a:latin typeface="Cambria Math" panose="02040503050406030204" pitchFamily="18" charset="0"/>
                            </a:rPr>
                            <m:t>𝐳</m:t>
                          </m:r>
                        </m:e>
                        <m:sub>
                          <m:r>
                            <a:rPr lang="en-US" altLang="ja-JP" b="0" i="1" smtClean="0">
                              <a:latin typeface="Cambria Math" panose="02040503050406030204" pitchFamily="18" charset="0"/>
                            </a:rPr>
                            <m:t>𝑙</m:t>
                          </m:r>
                        </m:sub>
                      </m:sSub>
                      <m:r>
                        <a:rPr lang="en-US" altLang="ja-JP" b="1" i="0" smtClean="0">
                          <a:latin typeface="Cambria Math" panose="02040503050406030204" pitchFamily="18" charset="0"/>
                        </a:rPr>
                        <m:t>=</m:t>
                      </m:r>
                      <m:sSub>
                        <m:sSubPr>
                          <m:ctrlPr>
                            <a:rPr lang="en-US" altLang="ja-JP" i="1">
                              <a:latin typeface="Cambria Math" panose="02040503050406030204" pitchFamily="18" charset="0"/>
                            </a:rPr>
                          </m:ctrlPr>
                        </m:sSubPr>
                        <m:e>
                          <m:r>
                            <a:rPr lang="en-US" altLang="ja-JP" b="1" i="0" smtClean="0">
                              <a:latin typeface="Cambria Math" panose="02040503050406030204" pitchFamily="18" charset="0"/>
                            </a:rPr>
                            <m:t>𝐇</m:t>
                          </m:r>
                        </m:e>
                        <m:sub>
                          <m:r>
                            <a:rPr lang="en-US" altLang="ja-JP" i="1">
                              <a:latin typeface="Cambria Math" panose="02040503050406030204" pitchFamily="18" charset="0"/>
                            </a:rPr>
                            <m:t>𝑘</m:t>
                          </m:r>
                        </m:sub>
                      </m:sSub>
                      <m:sSub>
                        <m:sSubPr>
                          <m:ctrlPr>
                            <a:rPr lang="en-US" altLang="ja-JP" i="1">
                              <a:latin typeface="Cambria Math" panose="02040503050406030204" pitchFamily="18" charset="0"/>
                            </a:rPr>
                          </m:ctrlPr>
                        </m:sSubPr>
                        <m:e>
                          <m:r>
                            <a:rPr lang="en-US" altLang="ja-JP" b="1">
                              <a:latin typeface="Cambria Math" panose="02040503050406030204" pitchFamily="18" charset="0"/>
                            </a:rPr>
                            <m:t>𝐳</m:t>
                          </m:r>
                        </m:e>
                        <m:sub>
                          <m:r>
                            <a:rPr lang="en-US" altLang="ja-JP" b="0" i="1" smtClean="0">
                              <a:latin typeface="Cambria Math" panose="02040503050406030204" pitchFamily="18" charset="0"/>
                            </a:rPr>
                            <m:t>𝑙</m:t>
                          </m:r>
                        </m:sub>
                      </m:sSub>
                    </m:oMath>
                  </m:oMathPara>
                </a14:m>
                <a:endParaRPr lang="en-US" altLang="ja-JP" b="0" i="1" dirty="0">
                  <a:solidFill>
                    <a:schemeClr val="tx1">
                      <a:lumMod val="75000"/>
                      <a:lumOff val="25000"/>
                    </a:schemeClr>
                  </a:solidFill>
                </a:endParaRPr>
              </a:p>
              <a:p>
                <a:pPr marL="0" indent="0">
                  <a:buNone/>
                </a:pPr>
                <a:endParaRPr lang="en-US" altLang="ja-JP" b="0" i="1" dirty="0">
                  <a:solidFill>
                    <a:schemeClr val="tx1">
                      <a:lumMod val="75000"/>
                      <a:lumOff val="25000"/>
                    </a:schemeClr>
                  </a:solidFill>
                </a:endParaRPr>
              </a:p>
            </p:txBody>
          </p:sp>
        </mc:Choice>
        <mc:Fallback xmlns="">
          <p:sp>
            <p:nvSpPr>
              <p:cNvPr id="3" name="コンテンツ プレースホルダー 2">
                <a:extLst>
                  <a:ext uri="{FF2B5EF4-FFF2-40B4-BE49-F238E27FC236}">
                    <a16:creationId xmlns:a16="http://schemas.microsoft.com/office/drawing/2014/main" id="{DE90730F-5CC4-4500-833D-3F0214563641}"/>
                  </a:ext>
                </a:extLst>
              </p:cNvPr>
              <p:cNvSpPr>
                <a:spLocks noGrp="1" noRot="1" noChangeAspect="1" noMove="1" noResize="1" noEditPoints="1" noAdjustHandles="1" noChangeArrowheads="1" noChangeShapeType="1" noTextEdit="1"/>
              </p:cNvSpPr>
              <p:nvPr>
                <p:ph idx="1"/>
              </p:nvPr>
            </p:nvSpPr>
            <p:spPr>
              <a:xfrm>
                <a:off x="838200" y="1654900"/>
                <a:ext cx="10325100" cy="5194119"/>
              </a:xfrm>
              <a:blipFill>
                <a:blip r:embed="rId3"/>
                <a:stretch>
                  <a:fillRect l="-1240"/>
                </a:stretch>
              </a:blipFill>
            </p:spPr>
            <p:txBody>
              <a:bodyPr/>
              <a:lstStyle/>
              <a:p>
                <a:r>
                  <a:rPr lang="ja-JP" altLang="en-US">
                    <a:noFill/>
                  </a:rPr>
                  <a:t> </a:t>
                </a:r>
              </a:p>
            </p:txBody>
          </p:sp>
        </mc:Fallback>
      </mc:AlternateContent>
      <p:sp>
        <p:nvSpPr>
          <p:cNvPr id="2" name="スライド番号プレースホルダー 1">
            <a:extLst>
              <a:ext uri="{FF2B5EF4-FFF2-40B4-BE49-F238E27FC236}">
                <a16:creationId xmlns:a16="http://schemas.microsoft.com/office/drawing/2014/main" id="{E7A79576-016E-4C4F-A9A1-4A578794F457}"/>
              </a:ext>
            </a:extLst>
          </p:cNvPr>
          <p:cNvSpPr>
            <a:spLocks noGrp="1"/>
          </p:cNvSpPr>
          <p:nvPr>
            <p:ph type="sldNum" sz="quarter" idx="12"/>
          </p:nvPr>
        </p:nvSpPr>
        <p:spPr>
          <a:xfrm>
            <a:off x="9329693" y="6356350"/>
            <a:ext cx="2743200" cy="365125"/>
          </a:xfrm>
        </p:spPr>
        <p:txBody>
          <a:bodyPr/>
          <a:lstStyle/>
          <a:p>
            <a:r>
              <a:rPr kumimoji="1" lang="en-US" altLang="ja-JP" dirty="0"/>
              <a:t>12</a:t>
            </a:r>
            <a:endParaRPr kumimoji="1" lang="ja-JP" altLang="en-US" dirty="0"/>
          </a:p>
        </p:txBody>
      </p:sp>
      <p:sp>
        <p:nvSpPr>
          <p:cNvPr id="7" name="テキスト ボックス 6">
            <a:extLst>
              <a:ext uri="{FF2B5EF4-FFF2-40B4-BE49-F238E27FC236}">
                <a16:creationId xmlns:a16="http://schemas.microsoft.com/office/drawing/2014/main" id="{78D4EC2B-83A3-4FC9-A886-46A1EC3496E6}"/>
              </a:ext>
            </a:extLst>
          </p:cNvPr>
          <p:cNvSpPr txBox="1"/>
          <p:nvPr/>
        </p:nvSpPr>
        <p:spPr>
          <a:xfrm>
            <a:off x="10638947" y="2265049"/>
            <a:ext cx="877830" cy="596253"/>
          </a:xfrm>
          <a:prstGeom prst="rect">
            <a:avLst/>
          </a:prstGeom>
          <a:solidFill>
            <a:srgbClr val="E4E4E4"/>
          </a:solidFill>
        </p:spPr>
        <p:txBody>
          <a:bodyPr wrap="square" rtlCol="0">
            <a:spAutoFit/>
          </a:bodyPr>
          <a:lstStyle/>
          <a:p>
            <a:pPr>
              <a:lnSpc>
                <a:spcPct val="150000"/>
              </a:lnSpc>
            </a:pPr>
            <a:r>
              <a:rPr kumimoji="1" lang="en-US" altLang="ja-JP" sz="2400" dirty="0">
                <a:latin typeface="UD デジタル 教科書体 NK-R" panose="02020400000000000000" pitchFamily="18" charset="-128"/>
                <a:ea typeface="UD デジタル 教科書体 NK-R" panose="02020400000000000000" pitchFamily="18" charset="-128"/>
              </a:rPr>
              <a:t>(6)</a:t>
            </a:r>
            <a:endParaRPr kumimoji="1" lang="ja-JP" altLang="en-US" sz="2400" dirty="0">
              <a:latin typeface="UD デジタル 教科書体 NK-R" panose="02020400000000000000" pitchFamily="18" charset="-128"/>
              <a:ea typeface="UD デジタル 教科書体 NK-R" panose="02020400000000000000" pitchFamily="18" charset="-128"/>
            </a:endParaRPr>
          </a:p>
        </p:txBody>
      </p:sp>
      <p:sp>
        <p:nvSpPr>
          <p:cNvPr id="8" name="テキスト ボックス 7">
            <a:extLst>
              <a:ext uri="{FF2B5EF4-FFF2-40B4-BE49-F238E27FC236}">
                <a16:creationId xmlns:a16="http://schemas.microsoft.com/office/drawing/2014/main" id="{2ACFB8A7-917A-44A3-9B26-E29955071252}"/>
              </a:ext>
            </a:extLst>
          </p:cNvPr>
          <p:cNvSpPr txBox="1"/>
          <p:nvPr/>
        </p:nvSpPr>
        <p:spPr>
          <a:xfrm>
            <a:off x="10618166" y="5179005"/>
            <a:ext cx="877830" cy="596253"/>
          </a:xfrm>
          <a:prstGeom prst="rect">
            <a:avLst/>
          </a:prstGeom>
          <a:solidFill>
            <a:srgbClr val="E4E4E4"/>
          </a:solidFill>
        </p:spPr>
        <p:txBody>
          <a:bodyPr wrap="square" rtlCol="0">
            <a:spAutoFit/>
          </a:bodyPr>
          <a:lstStyle/>
          <a:p>
            <a:pPr>
              <a:lnSpc>
                <a:spcPct val="150000"/>
              </a:lnSpc>
            </a:pPr>
            <a:r>
              <a:rPr kumimoji="1" lang="en-US" altLang="ja-JP" sz="2400" dirty="0">
                <a:latin typeface="UD デジタル 教科書体 NK-R" panose="02020400000000000000" pitchFamily="18" charset="-128"/>
                <a:ea typeface="UD デジタル 教科書体 NK-R" panose="02020400000000000000" pitchFamily="18" charset="-128"/>
              </a:rPr>
              <a:t>(7)</a:t>
            </a:r>
            <a:endParaRPr kumimoji="1" lang="ja-JP" altLang="en-US" sz="2400" dirty="0">
              <a:latin typeface="UD デジタル 教科書体 NK-R" panose="02020400000000000000" pitchFamily="18" charset="-128"/>
              <a:ea typeface="UD デジタル 教科書体 NK-R" panose="02020400000000000000" pitchFamily="18" charset="-128"/>
            </a:endParaRPr>
          </a:p>
        </p:txBody>
      </p:sp>
      <p:sp>
        <p:nvSpPr>
          <p:cNvPr id="6" name="正方形/長方形 5">
            <a:extLst>
              <a:ext uri="{FF2B5EF4-FFF2-40B4-BE49-F238E27FC236}">
                <a16:creationId xmlns:a16="http://schemas.microsoft.com/office/drawing/2014/main" id="{3A71FB6E-3740-7743-BF99-25FA059F4C5B}"/>
              </a:ext>
            </a:extLst>
          </p:cNvPr>
          <p:cNvSpPr/>
          <p:nvPr/>
        </p:nvSpPr>
        <p:spPr>
          <a:xfrm>
            <a:off x="5542000" y="2356424"/>
            <a:ext cx="744500" cy="468518"/>
          </a:xfrm>
          <a:prstGeom prst="rect">
            <a:avLst/>
          </a:prstGeom>
          <a:noFill/>
          <a:ln w="38100">
            <a:solidFill>
              <a:srgbClr val="033B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4B823F0A-7786-E943-98B7-004CB0C0EB04}"/>
              </a:ext>
            </a:extLst>
          </p:cNvPr>
          <p:cNvSpPr/>
          <p:nvPr/>
        </p:nvSpPr>
        <p:spPr>
          <a:xfrm>
            <a:off x="7888043" y="5258140"/>
            <a:ext cx="1557105" cy="1219200"/>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タイトル 1">
            <a:extLst>
              <a:ext uri="{FF2B5EF4-FFF2-40B4-BE49-F238E27FC236}">
                <a16:creationId xmlns:a16="http://schemas.microsoft.com/office/drawing/2014/main" id="{D74BAB55-BF99-3649-B554-AF5983FC7F16}"/>
              </a:ext>
            </a:extLst>
          </p:cNvPr>
          <p:cNvSpPr>
            <a:spLocks noGrp="1"/>
          </p:cNvSpPr>
          <p:nvPr>
            <p:ph type="title"/>
          </p:nvPr>
        </p:nvSpPr>
        <p:spPr>
          <a:xfrm>
            <a:off x="838199" y="365125"/>
            <a:ext cx="10786241" cy="1325563"/>
          </a:xfrm>
        </p:spPr>
        <p:txBody>
          <a:bodyPr/>
          <a:lstStyle/>
          <a:p>
            <a:r>
              <a:rPr kumimoji="1" lang="ja-JP" altLang="en-US" spc="-130" dirty="0"/>
              <a:t>提案手法：ヘッセ行列の対角行列化</a:t>
            </a:r>
          </a:p>
        </p:txBody>
      </p:sp>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D583353C-EC30-4B46-A35E-F105D37E7EA6}"/>
                  </a:ext>
                </a:extLst>
              </p:cNvPr>
              <p:cNvSpPr txBox="1"/>
              <p:nvPr/>
            </p:nvSpPr>
            <p:spPr>
              <a:xfrm>
                <a:off x="9445148" y="6145733"/>
                <a:ext cx="2361342" cy="646331"/>
              </a:xfrm>
              <a:prstGeom prst="rect">
                <a:avLst/>
              </a:prstGeom>
              <a:noFill/>
            </p:spPr>
            <p:txBody>
              <a:bodyPr wrap="square">
                <a:spAutoFit/>
              </a:bodyPr>
              <a:lstStyle/>
              <a:p>
                <a:r>
                  <a:rPr lang="en-US" altLang="ja-JP" b="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a:t>
                </a:r>
                <a14:m>
                  <m:oMath xmlns:m="http://schemas.openxmlformats.org/officeDocument/2006/math">
                    <m:r>
                      <a:rPr lang="en-US" altLang="ja-JP" b="0" i="1" smtClean="0">
                        <a:solidFill>
                          <a:schemeClr val="tx1">
                            <a:lumMod val="75000"/>
                            <a:lumOff val="25000"/>
                          </a:schemeClr>
                        </a:solidFill>
                        <a:latin typeface="Cambria Math" panose="02040503050406030204" pitchFamily="18" charset="0"/>
                        <a:ea typeface="Cambria Math" panose="02040503050406030204" pitchFamily="18" charset="0"/>
                      </a:rPr>
                      <m:t>⊙</m:t>
                    </m:r>
                    <m:r>
                      <m:rPr>
                        <m:nor/>
                      </m:rPr>
                      <a:rPr lang="ja-JP" altLang="en-US"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m:t>：</m:t>
                    </m:r>
                  </m:oMath>
                </a14:m>
                <a:r>
                  <a:rPr lang="ja-JP" altLang="en-US"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アダマール乗算</a:t>
                </a:r>
                <a:endParaRPr lang="en-US" altLang="ja-JP"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pPr marL="0" indent="0">
                  <a:buNone/>
                </a:pPr>
                <a:r>
                  <a:rPr lang="ja-JP" altLang="en-US"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r>
                      <a:rPr lang="ja-JP" altLang="en-US" b="1" i="1" dirty="0">
                        <a:solidFill>
                          <a:schemeClr val="tx1">
                            <a:lumMod val="75000"/>
                            <a:lumOff val="25000"/>
                          </a:schemeClr>
                        </a:solidFill>
                        <a:latin typeface="Cambria Math" panose="02040503050406030204" pitchFamily="18" charset="0"/>
                        <a:ea typeface="Cambria Math" panose="02040503050406030204" pitchFamily="18" charset="0"/>
                      </a:rPr>
                      <m:t> </m:t>
                    </m:r>
                    <m:r>
                      <a:rPr lang="en-US" altLang="ja-JP" b="0" i="1" smtClean="0">
                        <a:solidFill>
                          <a:schemeClr val="tx1">
                            <a:lumMod val="75000"/>
                            <a:lumOff val="25000"/>
                          </a:schemeClr>
                        </a:solidFill>
                        <a:latin typeface="Cambria Math" panose="02040503050406030204" pitchFamily="18" charset="0"/>
                        <a:ea typeface="Cambria Math" panose="02040503050406030204" pitchFamily="18" charset="0"/>
                      </a:rPr>
                      <m:t>⊘</m:t>
                    </m:r>
                    <m:r>
                      <a:rPr lang="ja-JP" altLang="en-US" i="1">
                        <a:solidFill>
                          <a:schemeClr val="tx1">
                            <a:lumMod val="75000"/>
                            <a:lumOff val="25000"/>
                          </a:schemeClr>
                        </a:solidFill>
                        <a:latin typeface="Cambria Math" panose="02040503050406030204" pitchFamily="18" charset="0"/>
                        <a:ea typeface="Cambria Math" panose="02040503050406030204" pitchFamily="18" charset="0"/>
                      </a:rPr>
                      <m:t> </m:t>
                    </m:r>
                  </m:oMath>
                </a14:m>
                <a:r>
                  <a:rPr lang="ja-JP" altLang="en-US"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：アダマール除算</a:t>
                </a:r>
                <a:endParaRPr lang="en-US" altLang="ja-JP"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mc:Choice>
        <mc:Fallback xmlns="">
          <p:sp>
            <p:nvSpPr>
              <p:cNvPr id="10" name="テキスト ボックス 9">
                <a:extLst>
                  <a:ext uri="{FF2B5EF4-FFF2-40B4-BE49-F238E27FC236}">
                    <a16:creationId xmlns:a16="http://schemas.microsoft.com/office/drawing/2014/main" id="{D583353C-EC30-4B46-A35E-F105D37E7EA6}"/>
                  </a:ext>
                </a:extLst>
              </p:cNvPr>
              <p:cNvSpPr txBox="1">
                <a:spLocks noRot="1" noChangeAspect="1" noMove="1" noResize="1" noEditPoints="1" noAdjustHandles="1" noChangeArrowheads="1" noChangeShapeType="1" noTextEdit="1"/>
              </p:cNvSpPr>
              <p:nvPr/>
            </p:nvSpPr>
            <p:spPr>
              <a:xfrm>
                <a:off x="9445148" y="6145733"/>
                <a:ext cx="2361342" cy="646331"/>
              </a:xfrm>
              <a:prstGeom prst="rect">
                <a:avLst/>
              </a:prstGeom>
              <a:blipFill>
                <a:blip r:embed="rId4"/>
                <a:stretch>
                  <a:fillRect l="-2062" t="-3774" r="-773" b="-15094"/>
                </a:stretch>
              </a:blipFill>
            </p:spPr>
            <p:txBody>
              <a:bodyPr/>
              <a:lstStyle/>
              <a:p>
                <a:r>
                  <a:rPr lang="ja-JP" altLang="en-US">
                    <a:noFill/>
                  </a:rPr>
                  <a:t> </a:t>
                </a:r>
              </a:p>
            </p:txBody>
          </p:sp>
        </mc:Fallback>
      </mc:AlternateContent>
      <p:sp>
        <p:nvSpPr>
          <p:cNvPr id="11" name="正方形/長方形 10">
            <a:extLst>
              <a:ext uri="{FF2B5EF4-FFF2-40B4-BE49-F238E27FC236}">
                <a16:creationId xmlns:a16="http://schemas.microsoft.com/office/drawing/2014/main" id="{0639817B-D10B-4E86-AA04-27D19C42CEA0}"/>
              </a:ext>
            </a:extLst>
          </p:cNvPr>
          <p:cNvSpPr/>
          <p:nvPr/>
        </p:nvSpPr>
        <p:spPr>
          <a:xfrm>
            <a:off x="2659907" y="5137150"/>
            <a:ext cx="1557105" cy="1219200"/>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45CBC787-730C-4C20-AC1A-69AE1AE9EF27}"/>
              </a:ext>
            </a:extLst>
          </p:cNvPr>
          <p:cNvSpPr/>
          <p:nvPr/>
        </p:nvSpPr>
        <p:spPr>
          <a:xfrm rot="5400000">
            <a:off x="5889205" y="5453033"/>
            <a:ext cx="795220" cy="59372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FA6EE3A8-5560-45CB-A2C7-CEBD43C86CD7}"/>
              </a:ext>
            </a:extLst>
          </p:cNvPr>
          <p:cNvSpPr txBox="1"/>
          <p:nvPr/>
        </p:nvSpPr>
        <p:spPr>
          <a:xfrm>
            <a:off x="6096000" y="6058223"/>
            <a:ext cx="489597" cy="596253"/>
          </a:xfrm>
          <a:prstGeom prst="rect">
            <a:avLst/>
          </a:prstGeom>
          <a:noFill/>
        </p:spPr>
        <p:txBody>
          <a:bodyPr wrap="square" rtlCol="0">
            <a:spAutoFit/>
          </a:bodyPr>
          <a:lstStyle/>
          <a:p>
            <a:pPr>
              <a:lnSpc>
                <a:spcPct val="150000"/>
              </a:lnSpc>
            </a:pPr>
            <a:r>
              <a:rPr kumimoji="1" lang="en-US" altLang="ja-JP" sz="2400" dirty="0">
                <a:solidFill>
                  <a:srgbClr val="C00000"/>
                </a:solidFill>
                <a:latin typeface="UD デジタル 教科書体 NK-R" panose="02020400000000000000" pitchFamily="18" charset="-128"/>
                <a:ea typeface="UD デジタル 教科書体 NK-R" panose="02020400000000000000" pitchFamily="18" charset="-128"/>
              </a:rPr>
              <a:t>0</a:t>
            </a:r>
            <a:endParaRPr kumimoji="1" lang="ja-JP" altLang="en-US" sz="2400" dirty="0">
              <a:solidFill>
                <a:srgbClr val="C00000"/>
              </a:solidFill>
              <a:latin typeface="UD デジタル 教科書体 NK-R" panose="02020400000000000000" pitchFamily="18" charset="-128"/>
              <a:ea typeface="UD デジタル 教科書体 NK-R" panose="02020400000000000000" pitchFamily="18" charset="-128"/>
            </a:endParaRPr>
          </a:p>
        </p:txBody>
      </p:sp>
    </p:spTree>
    <p:extLst>
      <p:ext uri="{BB962C8B-B14F-4D97-AF65-F5344CB8AC3E}">
        <p14:creationId xmlns:p14="http://schemas.microsoft.com/office/powerpoint/2010/main" val="12185657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DE90730F-5CC4-4500-833D-3F0214563641}"/>
                  </a:ext>
                </a:extLst>
              </p:cNvPr>
              <p:cNvSpPr>
                <a:spLocks noGrp="1"/>
              </p:cNvSpPr>
              <p:nvPr>
                <p:ph idx="1"/>
              </p:nvPr>
            </p:nvSpPr>
            <p:spPr>
              <a:xfrm>
                <a:off x="838200" y="1654900"/>
                <a:ext cx="10325100" cy="5194119"/>
              </a:xfrm>
            </p:spPr>
            <p:txBody>
              <a:bodyPr>
                <a:normAutofit/>
              </a:bodyPr>
              <a:lstStyle/>
              <a:p>
                <a:pPr marL="0" indent="0">
                  <a:buNone/>
                </a:pPr>
                <a:endParaRPr lang="en-US" altLang="ja-JP" dirty="0">
                  <a:solidFill>
                    <a:schemeClr val="tx1">
                      <a:lumMod val="75000"/>
                      <a:lumOff val="25000"/>
                    </a:schemeClr>
                  </a:solidFill>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eqArr>
                        <m:eqArrPr>
                          <m:ctrlPr>
                            <a:rPr lang="en-US" altLang="ja-JP" b="0" i="1" smtClean="0">
                              <a:latin typeface="Cambria Math" panose="02040503050406030204" pitchFamily="18" charset="0"/>
                              <a:ea typeface="Cambria Math" panose="02040503050406030204" pitchFamily="18" charset="0"/>
                            </a:rPr>
                          </m:ctrlPr>
                        </m:eqArrPr>
                        <m:e>
                          <m:eqArr>
                            <m:eqArrPr>
                              <m:ctrlPr>
                                <a:rPr lang="en-US" altLang="ja-JP" i="1">
                                  <a:latin typeface="Cambria Math" panose="02040503050406030204" pitchFamily="18" charset="0"/>
                                  <a:ea typeface="Cambria Math" panose="02040503050406030204" pitchFamily="18" charset="0"/>
                                </a:rPr>
                              </m:ctrlPr>
                            </m:eqArrPr>
                            <m:e>
                              <m:sSub>
                                <m:sSubPr>
                                  <m:ctrlPr>
                                    <a:rPr lang="en-US" altLang="ja-JP" i="1">
                                      <a:latin typeface="Cambria Math" panose="02040503050406030204" pitchFamily="18" charset="0"/>
                                      <a:ea typeface="Cambria Math" panose="02040503050406030204" pitchFamily="18" charset="0"/>
                                    </a:rPr>
                                  </m:ctrlPr>
                                </m:sSubPr>
                                <m:e>
                                  <m:r>
                                    <a:rPr lang="en-US" altLang="ja-JP" b="1">
                                      <a:latin typeface="Cambria Math" panose="02040503050406030204" pitchFamily="18" charset="0"/>
                                      <a:ea typeface="Cambria Math" panose="02040503050406030204" pitchFamily="18" charset="0"/>
                                    </a:rPr>
                                    <m:t>𝐡</m:t>
                                  </m:r>
                                </m:e>
                                <m:sub>
                                  <m:r>
                                    <a:rPr lang="en-US" altLang="ja-JP" i="1">
                                      <a:latin typeface="Cambria Math" panose="02040503050406030204" pitchFamily="18" charset="0"/>
                                      <a:ea typeface="Cambria Math" panose="02040503050406030204" pitchFamily="18" charset="0"/>
                                    </a:rPr>
                                    <m:t>𝑘</m:t>
                                  </m:r>
                                </m:sub>
                              </m:sSub>
                              <m:r>
                                <a:rPr lang="en-US" altLang="ja-JP" i="1">
                                  <a:latin typeface="Cambria Math" panose="02040503050406030204" pitchFamily="18" charset="0"/>
                                </a:rPr>
                                <m:t>= </m:t>
                              </m:r>
                              <m:d>
                                <m:dPr>
                                  <m:begChr m:val="["/>
                                  <m:endChr m:val="]"/>
                                  <m:ctrlPr>
                                    <a:rPr lang="en-US" altLang="ja-JP" i="1">
                                      <a:latin typeface="Cambria Math" panose="02040503050406030204" pitchFamily="18" charset="0"/>
                                    </a:rPr>
                                  </m:ctrlPr>
                                </m:dPr>
                                <m:e>
                                  <m:nary>
                                    <m:naryPr>
                                      <m:chr m:val="∑"/>
                                      <m:ctrlPr>
                                        <a:rPr lang="en-US" altLang="ja-JP" i="1">
                                          <a:latin typeface="Cambria Math" panose="02040503050406030204" pitchFamily="18" charset="0"/>
                                        </a:rPr>
                                      </m:ctrlPr>
                                    </m:naryPr>
                                    <m:sub>
                                      <m:r>
                                        <a:rPr lang="en-US" altLang="ja-JP" i="1">
                                          <a:latin typeface="Cambria Math" panose="02040503050406030204" pitchFamily="18" charset="0"/>
                                        </a:rPr>
                                        <m:t>𝑙</m:t>
                                      </m:r>
                                      <m:r>
                                        <a:rPr lang="en-US" altLang="ja-JP" i="1">
                                          <a:latin typeface="Cambria Math" panose="02040503050406030204" pitchFamily="18" charset="0"/>
                                        </a:rPr>
                                        <m:t>=1</m:t>
                                      </m:r>
                                    </m:sub>
                                    <m:sup>
                                      <m:r>
                                        <a:rPr lang="en-US" altLang="ja-JP" i="1">
                                          <a:latin typeface="Cambria Math" panose="02040503050406030204" pitchFamily="18" charset="0"/>
                                        </a:rPr>
                                        <m:t>𝑠</m:t>
                                      </m:r>
                                    </m:sup>
                                    <m:e>
                                      <m:sSub>
                                        <m:sSubPr>
                                          <m:ctrlPr>
                                            <a:rPr lang="en-US" altLang="ja-JP" i="1">
                                              <a:latin typeface="Cambria Math" panose="02040503050406030204" pitchFamily="18" charset="0"/>
                                            </a:rPr>
                                          </m:ctrlPr>
                                        </m:sSubPr>
                                        <m:e>
                                          <m:r>
                                            <a:rPr lang="en-US" altLang="ja-JP" b="1">
                                              <a:latin typeface="Cambria Math" panose="02040503050406030204" pitchFamily="18" charset="0"/>
                                            </a:rPr>
                                            <m:t>𝐳</m:t>
                                          </m:r>
                                        </m:e>
                                        <m:sub>
                                          <m:r>
                                            <a:rPr lang="en-US" altLang="ja-JP" i="1">
                                              <a:latin typeface="Cambria Math" panose="02040503050406030204" pitchFamily="18" charset="0"/>
                                            </a:rPr>
                                            <m:t>𝑙</m:t>
                                          </m:r>
                                        </m:sub>
                                      </m:sSub>
                                      <m:r>
                                        <a:rPr lang="en-US" altLang="ja-JP" i="1">
                                          <a:latin typeface="Cambria Math" panose="02040503050406030204" pitchFamily="18" charset="0"/>
                                          <a:ea typeface="Cambria Math" panose="02040503050406030204" pitchFamily="18" charset="0"/>
                                        </a:rPr>
                                        <m:t>⊙</m:t>
                                      </m:r>
                                      <m:sSub>
                                        <m:sSubPr>
                                          <m:ctrlPr>
                                            <a:rPr lang="en-US" altLang="ja-JP" i="1">
                                              <a:latin typeface="Cambria Math" panose="02040503050406030204" pitchFamily="18" charset="0"/>
                                              <a:ea typeface="Cambria Math" panose="02040503050406030204" pitchFamily="18" charset="0"/>
                                            </a:rPr>
                                          </m:ctrlPr>
                                        </m:sSubPr>
                                        <m:e>
                                          <m:r>
                                            <a:rPr lang="en-US" altLang="ja-JP" b="1">
                                              <a:solidFill>
                                                <a:srgbClr val="C00000"/>
                                              </a:solidFill>
                                              <a:latin typeface="Cambria Math" panose="02040503050406030204" pitchFamily="18" charset="0"/>
                                              <a:ea typeface="Cambria Math" panose="02040503050406030204" pitchFamily="18" charset="0"/>
                                            </a:rPr>
                                            <m:t>𝐇</m:t>
                                          </m:r>
                                        </m:e>
                                        <m:sub>
                                          <m:r>
                                            <a:rPr lang="en-US" altLang="ja-JP" i="1">
                                              <a:latin typeface="Cambria Math" panose="02040503050406030204" pitchFamily="18" charset="0"/>
                                              <a:ea typeface="Cambria Math" panose="02040503050406030204" pitchFamily="18" charset="0"/>
                                            </a:rPr>
                                            <m:t>𝑘</m:t>
                                          </m:r>
                                        </m:sub>
                                      </m:sSub>
                                      <m:sSub>
                                        <m:sSubPr>
                                          <m:ctrlPr>
                                            <a:rPr lang="en-US" altLang="ja-JP" i="1">
                                              <a:latin typeface="Cambria Math" panose="02040503050406030204" pitchFamily="18" charset="0"/>
                                              <a:ea typeface="Cambria Math" panose="02040503050406030204" pitchFamily="18" charset="0"/>
                                            </a:rPr>
                                          </m:ctrlPr>
                                        </m:sSubPr>
                                        <m:e>
                                          <m:r>
                                            <a:rPr lang="en-US" altLang="ja-JP" b="1">
                                              <a:latin typeface="Cambria Math" panose="02040503050406030204" pitchFamily="18" charset="0"/>
                                              <a:ea typeface="Cambria Math" panose="02040503050406030204" pitchFamily="18" charset="0"/>
                                            </a:rPr>
                                            <m:t>𝐳</m:t>
                                          </m:r>
                                        </m:e>
                                        <m:sub>
                                          <m:r>
                                            <a:rPr lang="en-US" altLang="ja-JP" i="1">
                                              <a:latin typeface="Cambria Math" panose="02040503050406030204" pitchFamily="18" charset="0"/>
                                              <a:ea typeface="Cambria Math" panose="02040503050406030204" pitchFamily="18" charset="0"/>
                                            </a:rPr>
                                            <m:t>𝑙</m:t>
                                          </m:r>
                                        </m:sub>
                                      </m:sSub>
                                    </m:e>
                                  </m:nary>
                                </m:e>
                              </m:d>
                              <m:r>
                                <a:rPr lang="en-US" altLang="ja-JP" i="1">
                                  <a:latin typeface="Cambria Math" panose="02040503050406030204" pitchFamily="18" charset="0"/>
                                  <a:ea typeface="Cambria Math" panose="02040503050406030204" pitchFamily="18" charset="0"/>
                                </a:rPr>
                                <m:t>⊘</m:t>
                              </m:r>
                              <m:d>
                                <m:dPr>
                                  <m:begChr m:val="["/>
                                  <m:endChr m:val="]"/>
                                  <m:ctrlPr>
                                    <a:rPr lang="en-US" altLang="ja-JP" i="1">
                                      <a:latin typeface="Cambria Math" panose="02040503050406030204" pitchFamily="18" charset="0"/>
                                      <a:ea typeface="Cambria Math" panose="02040503050406030204" pitchFamily="18" charset="0"/>
                                    </a:rPr>
                                  </m:ctrlPr>
                                </m:dPr>
                                <m:e>
                                  <m:nary>
                                    <m:naryPr>
                                      <m:chr m:val="∑"/>
                                      <m:ctrlPr>
                                        <a:rPr lang="en-US" altLang="ja-JP" i="1">
                                          <a:latin typeface="Cambria Math" panose="02040503050406030204" pitchFamily="18" charset="0"/>
                                        </a:rPr>
                                      </m:ctrlPr>
                                    </m:naryPr>
                                    <m:sub>
                                      <m:r>
                                        <a:rPr lang="en-US" altLang="ja-JP" i="1">
                                          <a:latin typeface="Cambria Math" panose="02040503050406030204" pitchFamily="18" charset="0"/>
                                        </a:rPr>
                                        <m:t>𝑙</m:t>
                                      </m:r>
                                      <m:r>
                                        <a:rPr lang="en-US" altLang="ja-JP" i="1">
                                          <a:latin typeface="Cambria Math" panose="02040503050406030204" pitchFamily="18" charset="0"/>
                                        </a:rPr>
                                        <m:t>=1</m:t>
                                      </m:r>
                                    </m:sub>
                                    <m:sup>
                                      <m:r>
                                        <a:rPr lang="en-US" altLang="ja-JP" i="1">
                                          <a:latin typeface="Cambria Math" panose="02040503050406030204" pitchFamily="18" charset="0"/>
                                        </a:rPr>
                                        <m:t>𝑠</m:t>
                                      </m:r>
                                    </m:sup>
                                    <m:e>
                                      <m:sSub>
                                        <m:sSubPr>
                                          <m:ctrlPr>
                                            <a:rPr lang="en-US" altLang="ja-JP" i="1">
                                              <a:latin typeface="Cambria Math" panose="02040503050406030204" pitchFamily="18" charset="0"/>
                                            </a:rPr>
                                          </m:ctrlPr>
                                        </m:sSubPr>
                                        <m:e>
                                          <m:r>
                                            <a:rPr lang="en-US" altLang="ja-JP" b="1">
                                              <a:latin typeface="Cambria Math" panose="02040503050406030204" pitchFamily="18" charset="0"/>
                                            </a:rPr>
                                            <m:t>𝐳</m:t>
                                          </m:r>
                                        </m:e>
                                        <m:sub>
                                          <m:r>
                                            <a:rPr lang="en-US" altLang="ja-JP" i="1">
                                              <a:latin typeface="Cambria Math" panose="02040503050406030204" pitchFamily="18" charset="0"/>
                                            </a:rPr>
                                            <m:t>𝑙</m:t>
                                          </m:r>
                                        </m:sub>
                                      </m:sSub>
                                      <m:r>
                                        <a:rPr lang="en-US" altLang="ja-JP" i="1">
                                          <a:latin typeface="Cambria Math" panose="02040503050406030204" pitchFamily="18" charset="0"/>
                                          <a:ea typeface="Cambria Math" panose="02040503050406030204" pitchFamily="18" charset="0"/>
                                        </a:rPr>
                                        <m:t>⊙</m:t>
                                      </m:r>
                                      <m:sSub>
                                        <m:sSubPr>
                                          <m:ctrlPr>
                                            <a:rPr lang="en-US" altLang="ja-JP" i="1">
                                              <a:latin typeface="Cambria Math" panose="02040503050406030204" pitchFamily="18" charset="0"/>
                                              <a:ea typeface="Cambria Math" panose="02040503050406030204" pitchFamily="18" charset="0"/>
                                            </a:rPr>
                                          </m:ctrlPr>
                                        </m:sSubPr>
                                        <m:e>
                                          <m:r>
                                            <a:rPr lang="en-US" altLang="ja-JP" b="1">
                                              <a:latin typeface="Cambria Math" panose="02040503050406030204" pitchFamily="18" charset="0"/>
                                              <a:ea typeface="Cambria Math" panose="02040503050406030204" pitchFamily="18" charset="0"/>
                                            </a:rPr>
                                            <m:t>𝐳</m:t>
                                          </m:r>
                                        </m:e>
                                        <m:sub>
                                          <m:r>
                                            <a:rPr lang="en-US" altLang="ja-JP" i="1">
                                              <a:latin typeface="Cambria Math" panose="02040503050406030204" pitchFamily="18" charset="0"/>
                                              <a:ea typeface="Cambria Math" panose="02040503050406030204" pitchFamily="18" charset="0"/>
                                            </a:rPr>
                                            <m:t>𝑙</m:t>
                                          </m:r>
                                        </m:sub>
                                      </m:sSub>
                                    </m:e>
                                  </m:nary>
                                </m:e>
                              </m:d>
                              <m:r>
                                <a:rPr lang="en-US" altLang="ja-JP" i="1">
                                  <a:latin typeface="Cambria Math" panose="02040503050406030204" pitchFamily="18" charset="0"/>
                                  <a:ea typeface="Cambria Math" panose="02040503050406030204" pitchFamily="18" charset="0"/>
                                </a:rPr>
                                <m:t>#</m:t>
                              </m:r>
                            </m:e>
                          </m:eqArr>
                          <m:r>
                            <a:rPr lang="en-US" altLang="ja-JP" i="1">
                              <a:latin typeface="Cambria Math" panose="02040503050406030204" pitchFamily="18" charset="0"/>
                              <a:ea typeface="Cambria Math" panose="02040503050406030204" pitchFamily="18" charset="0"/>
                            </a:rPr>
                            <m:t>#</m:t>
                          </m:r>
                        </m:e>
                      </m:eqArr>
                    </m:oMath>
                  </m:oMathPara>
                </a14:m>
                <a:endParaRPr lang="en-US" altLang="ja-JP" b="0" dirty="0">
                  <a:ea typeface="Cambria Math" panose="02040503050406030204" pitchFamily="18" charset="0"/>
                </a:endParaRPr>
              </a:p>
              <a:p>
                <a:pPr marL="0" indent="0">
                  <a:buNone/>
                </a:pPr>
                <a:endParaRPr lang="en-US" altLang="ja-JP" dirty="0">
                  <a:solidFill>
                    <a:schemeClr val="tx1">
                      <a:lumMod val="75000"/>
                      <a:lumOff val="25000"/>
                    </a:schemeClr>
                  </a:solidFill>
                </a:endParaRPr>
              </a:p>
              <a:p>
                <a:pPr marL="0" indent="0">
                  <a:buNone/>
                </a:pPr>
                <a:r>
                  <a:rPr lang="ja-JP" altLang="en-US" dirty="0">
                    <a:latin typeface="Cambria Math" panose="02040503050406030204" pitchFamily="18" charset="0"/>
                  </a:rPr>
                  <a:t>ヘッセ行列</a:t>
                </a:r>
                <a14:m>
                  <m:oMath xmlns:m="http://schemas.openxmlformats.org/officeDocument/2006/math">
                    <m:sSub>
                      <m:sSubPr>
                        <m:ctrlPr>
                          <a:rPr lang="en-US" altLang="ja-JP" i="1">
                            <a:latin typeface="Cambria Math" panose="02040503050406030204" pitchFamily="18" charset="0"/>
                            <a:ea typeface="Cambria Math" panose="02040503050406030204" pitchFamily="18" charset="0"/>
                          </a:rPr>
                        </m:ctrlPr>
                      </m:sSubPr>
                      <m:e>
                        <m:r>
                          <a:rPr lang="en-US" altLang="ja-JP" b="1" smtClean="0">
                            <a:solidFill>
                              <a:schemeClr val="tx1">
                                <a:lumMod val="75000"/>
                                <a:lumOff val="25000"/>
                              </a:schemeClr>
                            </a:solidFill>
                            <a:latin typeface="Cambria Math" panose="02040503050406030204" pitchFamily="18" charset="0"/>
                            <a:ea typeface="Cambria Math" panose="02040503050406030204" pitchFamily="18" charset="0"/>
                          </a:rPr>
                          <m:t>𝐇</m:t>
                        </m:r>
                      </m:e>
                      <m:sub>
                        <m:r>
                          <a:rPr lang="en-US" altLang="ja-JP" i="1">
                            <a:latin typeface="Cambria Math" panose="02040503050406030204" pitchFamily="18" charset="0"/>
                            <a:ea typeface="Cambria Math" panose="02040503050406030204" pitchFamily="18" charset="0"/>
                          </a:rPr>
                          <m:t>𝑘</m:t>
                        </m:r>
                      </m:sub>
                    </m:sSub>
                  </m:oMath>
                </a14:m>
                <a:r>
                  <a:rPr lang="ja-JP" altLang="en-US" dirty="0">
                    <a:latin typeface="Cambria Math" panose="02040503050406030204" pitchFamily="18" charset="0"/>
                  </a:rPr>
                  <a:t>と</a:t>
                </a:r>
                <a14:m>
                  <m:oMath xmlns:m="http://schemas.openxmlformats.org/officeDocument/2006/math">
                    <m:sSub>
                      <m:sSubPr>
                        <m:ctrlPr>
                          <a:rPr lang="en-US" altLang="ja-JP" i="1">
                            <a:latin typeface="Cambria Math" panose="02040503050406030204" pitchFamily="18" charset="0"/>
                            <a:ea typeface="Cambria Math" panose="02040503050406030204" pitchFamily="18" charset="0"/>
                          </a:rPr>
                        </m:ctrlPr>
                      </m:sSubPr>
                      <m:e>
                        <m:r>
                          <a:rPr lang="en-US" altLang="ja-JP" b="1">
                            <a:latin typeface="Cambria Math" panose="02040503050406030204" pitchFamily="18" charset="0"/>
                            <a:ea typeface="Cambria Math" panose="02040503050406030204" pitchFamily="18" charset="0"/>
                          </a:rPr>
                          <m:t>𝐳</m:t>
                        </m:r>
                      </m:e>
                      <m:sub>
                        <m:r>
                          <a:rPr lang="en-US" altLang="ja-JP" i="1">
                            <a:latin typeface="Cambria Math" panose="02040503050406030204" pitchFamily="18" charset="0"/>
                            <a:ea typeface="Cambria Math" panose="02040503050406030204" pitchFamily="18" charset="0"/>
                          </a:rPr>
                          <m:t>𝑙</m:t>
                        </m:r>
                      </m:sub>
                    </m:sSub>
                  </m:oMath>
                </a14:m>
                <a:r>
                  <a:rPr lang="ja-JP" altLang="en-US" dirty="0">
                    <a:latin typeface="Cambria Math" panose="02040503050406030204" pitchFamily="18" charset="0"/>
                  </a:rPr>
                  <a:t>ベクトルとの積を、勾配</a:t>
                </a:r>
                <a14:m>
                  <m:oMath xmlns:m="http://schemas.openxmlformats.org/officeDocument/2006/math">
                    <m:r>
                      <a:rPr lang="ja-JP" altLang="en-US" b="1" i="1" dirty="0" smtClean="0">
                        <a:latin typeface="Cambria Math" panose="02040503050406030204" pitchFamily="18" charset="0"/>
                      </a:rPr>
                      <m:t>の</m:t>
                    </m:r>
                    <m:sSub>
                      <m:sSubPr>
                        <m:ctrlPr>
                          <a:rPr lang="en-US" altLang="ja-JP" i="1" smtClean="0">
                            <a:latin typeface="Cambria Math" panose="02040503050406030204" pitchFamily="18" charset="0"/>
                            <a:ea typeface="Cambria Math" panose="02040503050406030204" pitchFamily="18" charset="0"/>
                          </a:rPr>
                        </m:ctrlPr>
                      </m:sSubPr>
                      <m:e>
                        <m:r>
                          <a:rPr lang="en-US" altLang="ja-JP" b="1" i="0" smtClean="0">
                            <a:latin typeface="Cambria Math" panose="02040503050406030204" pitchFamily="18" charset="0"/>
                            <a:ea typeface="Cambria Math" panose="02040503050406030204" pitchFamily="18" charset="0"/>
                          </a:rPr>
                          <m:t>𝐠</m:t>
                        </m:r>
                      </m:e>
                      <m:sub>
                        <m:r>
                          <a:rPr lang="en-US" altLang="ja-JP" b="0" i="1" smtClean="0">
                            <a:latin typeface="Cambria Math" panose="02040503050406030204" pitchFamily="18" charset="0"/>
                            <a:ea typeface="Cambria Math" panose="02040503050406030204" pitchFamily="18" charset="0"/>
                          </a:rPr>
                          <m:t>𝑘</m:t>
                        </m:r>
                      </m:sub>
                    </m:sSub>
                  </m:oMath>
                </a14:m>
                <a:r>
                  <a:rPr lang="ja-JP" altLang="en-US" dirty="0">
                    <a:latin typeface="Cambria Math" panose="02040503050406030204" pitchFamily="18" charset="0"/>
                  </a:rPr>
                  <a:t>ベクトルと</a:t>
                </a:r>
                <a14:m>
                  <m:oMath xmlns:m="http://schemas.openxmlformats.org/officeDocument/2006/math">
                    <m:sSub>
                      <m:sSubPr>
                        <m:ctrlPr>
                          <a:rPr lang="en-US" altLang="ja-JP" i="1">
                            <a:latin typeface="Cambria Math" panose="02040503050406030204" pitchFamily="18" charset="0"/>
                            <a:ea typeface="Cambria Math" panose="02040503050406030204" pitchFamily="18" charset="0"/>
                          </a:rPr>
                        </m:ctrlPr>
                      </m:sSubPr>
                      <m:e>
                        <m:r>
                          <a:rPr lang="en-US" altLang="ja-JP" b="1">
                            <a:latin typeface="Cambria Math" panose="02040503050406030204" pitchFamily="18" charset="0"/>
                            <a:ea typeface="Cambria Math" panose="02040503050406030204" pitchFamily="18" charset="0"/>
                          </a:rPr>
                          <m:t>𝐳</m:t>
                        </m:r>
                      </m:e>
                      <m:sub>
                        <m:r>
                          <a:rPr lang="en-US" altLang="ja-JP" i="1">
                            <a:latin typeface="Cambria Math" panose="02040503050406030204" pitchFamily="18" charset="0"/>
                            <a:ea typeface="Cambria Math" panose="02040503050406030204" pitchFamily="18" charset="0"/>
                          </a:rPr>
                          <m:t>𝑙</m:t>
                        </m:r>
                      </m:sub>
                    </m:sSub>
                  </m:oMath>
                </a14:m>
                <a:r>
                  <a:rPr lang="ja-JP" altLang="en-US" dirty="0">
                    <a:latin typeface="Cambria Math" panose="02040503050406030204" pitchFamily="18" charset="0"/>
                  </a:rPr>
                  <a:t>ベクトルの内積を重み</a:t>
                </a:r>
                <a14:m>
                  <m:oMath xmlns:m="http://schemas.openxmlformats.org/officeDocument/2006/math">
                    <m:r>
                      <a:rPr lang="en-US" altLang="ja-JP" b="1">
                        <a:latin typeface="Cambria Math" panose="02040503050406030204" pitchFamily="18" charset="0"/>
                      </a:rPr>
                      <m:t>𝐰</m:t>
                    </m:r>
                  </m:oMath>
                </a14:m>
                <a:r>
                  <a:rPr lang="ja-JP" altLang="en-US" dirty="0">
                    <a:latin typeface="Cambria Math" panose="02040503050406030204" pitchFamily="18" charset="0"/>
                  </a:rPr>
                  <a:t>で微分した</a:t>
                </a:r>
                <a14:m>
                  <m:oMath xmlns:m="http://schemas.openxmlformats.org/officeDocument/2006/math">
                    <m:f>
                      <m:fPr>
                        <m:ctrlPr>
                          <a:rPr lang="en-US" altLang="ja-JP" i="1">
                            <a:latin typeface="Cambria Math" panose="02040503050406030204" pitchFamily="18" charset="0"/>
                          </a:rPr>
                        </m:ctrlPr>
                      </m:fPr>
                      <m:num>
                        <m:r>
                          <a:rPr lang="ja-JP" altLang="en-US" i="1">
                            <a:latin typeface="Cambria Math" panose="02040503050406030204" pitchFamily="18" charset="0"/>
                          </a:rPr>
                          <m:t>𝜕</m:t>
                        </m:r>
                        <m:sSubSup>
                          <m:sSubSupPr>
                            <m:ctrlPr>
                              <a:rPr lang="en-US" altLang="ja-JP" i="1">
                                <a:latin typeface="Cambria Math" panose="02040503050406030204" pitchFamily="18" charset="0"/>
                                <a:ea typeface="Cambria Math" panose="02040503050406030204" pitchFamily="18" charset="0"/>
                              </a:rPr>
                            </m:ctrlPr>
                          </m:sSubSupPr>
                          <m:e>
                            <m:r>
                              <a:rPr lang="en-US" altLang="ja-JP" b="1">
                                <a:latin typeface="Cambria Math" panose="02040503050406030204" pitchFamily="18" charset="0"/>
                                <a:ea typeface="Cambria Math" panose="02040503050406030204" pitchFamily="18" charset="0"/>
                              </a:rPr>
                              <m:t>𝐠</m:t>
                            </m:r>
                          </m:e>
                          <m:sub>
                            <m:r>
                              <a:rPr lang="en-US" altLang="ja-JP" i="1">
                                <a:latin typeface="Cambria Math" panose="02040503050406030204" pitchFamily="18" charset="0"/>
                                <a:ea typeface="Cambria Math" panose="02040503050406030204" pitchFamily="18" charset="0"/>
                              </a:rPr>
                              <m:t>𝑘</m:t>
                            </m:r>
                          </m:sub>
                          <m:sup>
                            <m:r>
                              <a:rPr lang="en-US" altLang="ja-JP" i="1">
                                <a:latin typeface="Cambria Math" panose="02040503050406030204" pitchFamily="18" charset="0"/>
                                <a:ea typeface="Cambria Math" panose="02040503050406030204" pitchFamily="18" charset="0"/>
                              </a:rPr>
                              <m:t>𝑇</m:t>
                            </m:r>
                          </m:sup>
                        </m:sSubSup>
                        <m:sSub>
                          <m:sSubPr>
                            <m:ctrlPr>
                              <a:rPr lang="en-US" altLang="ja-JP" i="1">
                                <a:latin typeface="Cambria Math" panose="02040503050406030204" pitchFamily="18" charset="0"/>
                              </a:rPr>
                            </m:ctrlPr>
                          </m:sSubPr>
                          <m:e>
                            <m:r>
                              <a:rPr lang="en-US" altLang="ja-JP" b="1">
                                <a:latin typeface="Cambria Math" panose="02040503050406030204" pitchFamily="18" charset="0"/>
                              </a:rPr>
                              <m:t>𝐳</m:t>
                            </m:r>
                          </m:e>
                          <m:sub>
                            <m:r>
                              <a:rPr lang="en-US" altLang="ja-JP" i="1">
                                <a:latin typeface="Cambria Math" panose="02040503050406030204" pitchFamily="18" charset="0"/>
                              </a:rPr>
                              <m:t>𝑙</m:t>
                            </m:r>
                          </m:sub>
                        </m:sSub>
                      </m:num>
                      <m:den>
                        <m:r>
                          <a:rPr lang="ja-JP" altLang="en-US" i="1">
                            <a:latin typeface="Cambria Math" panose="02040503050406030204" pitchFamily="18" charset="0"/>
                          </a:rPr>
                          <m:t>𝜕</m:t>
                        </m:r>
                        <m:r>
                          <a:rPr lang="en-US" altLang="ja-JP" b="1">
                            <a:latin typeface="Cambria Math" panose="02040503050406030204" pitchFamily="18" charset="0"/>
                          </a:rPr>
                          <m:t>𝐰</m:t>
                        </m:r>
                      </m:den>
                    </m:f>
                  </m:oMath>
                </a14:m>
                <a:r>
                  <a:rPr lang="ja-JP" altLang="en-US" dirty="0">
                    <a:latin typeface="Cambria Math" panose="02040503050406030204" pitchFamily="18" charset="0"/>
                  </a:rPr>
                  <a:t>に置き換える</a:t>
                </a:r>
                <a:endParaRPr kumimoji="1" lang="en-US" altLang="ja-JP" b="0" dirty="0">
                  <a:solidFill>
                    <a:schemeClr val="tx1">
                      <a:lumMod val="75000"/>
                      <a:lumOff val="25000"/>
                    </a:schemeClr>
                  </a:solidFill>
                  <a:latin typeface="Cambria Math" panose="02040503050406030204" pitchFamily="18" charset="0"/>
                </a:endParaRPr>
              </a:p>
              <a:p>
                <a:pPr marL="0" indent="0">
                  <a:buNone/>
                </a:pPr>
                <a:endParaRPr kumimoji="1" lang="en-US" altLang="ja-JP" b="0" dirty="0">
                  <a:solidFill>
                    <a:schemeClr val="tx1">
                      <a:lumMod val="75000"/>
                      <a:lumOff val="25000"/>
                    </a:schemeClr>
                  </a:solidFill>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altLang="ja-JP" i="1">
                              <a:latin typeface="Cambria Math" panose="02040503050406030204" pitchFamily="18" charset="0"/>
                            </a:rPr>
                          </m:ctrlPr>
                        </m:fPr>
                        <m:num>
                          <m:r>
                            <a:rPr lang="ja-JP" altLang="en-US" i="1">
                              <a:latin typeface="Cambria Math" panose="02040503050406030204" pitchFamily="18" charset="0"/>
                            </a:rPr>
                            <m:t>𝜕</m:t>
                          </m:r>
                          <m:sSubSup>
                            <m:sSubSupPr>
                              <m:ctrlPr>
                                <a:rPr lang="en-US" altLang="ja-JP" i="1">
                                  <a:latin typeface="Cambria Math" panose="02040503050406030204" pitchFamily="18" charset="0"/>
                                  <a:ea typeface="Cambria Math" panose="02040503050406030204" pitchFamily="18" charset="0"/>
                                </a:rPr>
                              </m:ctrlPr>
                            </m:sSubSupPr>
                            <m:e>
                              <m:r>
                                <a:rPr lang="en-US" altLang="ja-JP" b="1" i="0" smtClean="0">
                                  <a:latin typeface="Cambria Math" panose="02040503050406030204" pitchFamily="18" charset="0"/>
                                  <a:ea typeface="Cambria Math" panose="02040503050406030204" pitchFamily="18" charset="0"/>
                                </a:rPr>
                                <m:t>𝐠</m:t>
                              </m:r>
                            </m:e>
                            <m:sub>
                              <m:r>
                                <a:rPr lang="en-US" altLang="ja-JP" i="1">
                                  <a:latin typeface="Cambria Math" panose="02040503050406030204" pitchFamily="18" charset="0"/>
                                  <a:ea typeface="Cambria Math" panose="02040503050406030204" pitchFamily="18" charset="0"/>
                                </a:rPr>
                                <m:t>𝑘</m:t>
                              </m:r>
                            </m:sub>
                            <m:sup>
                              <m:r>
                                <a:rPr lang="en-US" altLang="ja-JP" i="1">
                                  <a:latin typeface="Cambria Math" panose="02040503050406030204" pitchFamily="18" charset="0"/>
                                  <a:ea typeface="Cambria Math" panose="02040503050406030204" pitchFamily="18" charset="0"/>
                                </a:rPr>
                                <m:t>𝑇</m:t>
                              </m:r>
                            </m:sup>
                          </m:sSubSup>
                          <m:sSub>
                            <m:sSubPr>
                              <m:ctrlPr>
                                <a:rPr lang="en-US" altLang="ja-JP" i="1">
                                  <a:latin typeface="Cambria Math" panose="02040503050406030204" pitchFamily="18" charset="0"/>
                                </a:rPr>
                              </m:ctrlPr>
                            </m:sSubPr>
                            <m:e>
                              <m:r>
                                <a:rPr lang="en-US" altLang="ja-JP" b="1" i="0" smtClean="0">
                                  <a:latin typeface="Cambria Math" panose="02040503050406030204" pitchFamily="18" charset="0"/>
                                </a:rPr>
                                <m:t>𝐳</m:t>
                              </m:r>
                            </m:e>
                            <m:sub>
                              <m:r>
                                <a:rPr lang="en-US" altLang="ja-JP" b="0" i="1" smtClean="0">
                                  <a:latin typeface="Cambria Math" panose="02040503050406030204" pitchFamily="18" charset="0"/>
                                </a:rPr>
                                <m:t>𝑙</m:t>
                              </m:r>
                            </m:sub>
                          </m:sSub>
                        </m:num>
                        <m:den>
                          <m:r>
                            <a:rPr lang="ja-JP" altLang="en-US" i="1">
                              <a:latin typeface="Cambria Math" panose="02040503050406030204" pitchFamily="18" charset="0"/>
                            </a:rPr>
                            <m:t>𝜕</m:t>
                          </m:r>
                          <m:r>
                            <a:rPr lang="en-US" altLang="ja-JP" b="1">
                              <a:latin typeface="Cambria Math" panose="02040503050406030204" pitchFamily="18" charset="0"/>
                            </a:rPr>
                            <m:t>𝐰</m:t>
                          </m:r>
                        </m:den>
                      </m:f>
                      <m:r>
                        <a:rPr lang="en-US" altLang="ja-JP" i="1">
                          <a:latin typeface="Cambria Math" panose="02040503050406030204" pitchFamily="18" charset="0"/>
                        </a:rPr>
                        <m:t>=</m:t>
                      </m:r>
                      <m:f>
                        <m:fPr>
                          <m:ctrlPr>
                            <a:rPr lang="en-US" altLang="ja-JP" i="1">
                              <a:latin typeface="Cambria Math" panose="02040503050406030204" pitchFamily="18" charset="0"/>
                            </a:rPr>
                          </m:ctrlPr>
                        </m:fPr>
                        <m:num>
                          <m:r>
                            <a:rPr lang="ja-JP" altLang="en-US" i="1">
                              <a:latin typeface="Cambria Math" panose="02040503050406030204" pitchFamily="18" charset="0"/>
                            </a:rPr>
                            <m:t>𝜕</m:t>
                          </m:r>
                          <m:sSubSup>
                            <m:sSubSupPr>
                              <m:ctrlPr>
                                <a:rPr lang="en-US" altLang="ja-JP" i="1">
                                  <a:latin typeface="Cambria Math" panose="02040503050406030204" pitchFamily="18" charset="0"/>
                                  <a:ea typeface="Cambria Math" panose="02040503050406030204" pitchFamily="18" charset="0"/>
                                </a:rPr>
                              </m:ctrlPr>
                            </m:sSubSupPr>
                            <m:e>
                              <m:r>
                                <a:rPr lang="en-US" altLang="ja-JP" b="1">
                                  <a:latin typeface="Cambria Math" panose="02040503050406030204" pitchFamily="18" charset="0"/>
                                  <a:ea typeface="Cambria Math" panose="02040503050406030204" pitchFamily="18" charset="0"/>
                                </a:rPr>
                                <m:t>𝐠</m:t>
                              </m:r>
                            </m:e>
                            <m:sub>
                              <m:r>
                                <a:rPr lang="en-US" altLang="ja-JP" i="1">
                                  <a:latin typeface="Cambria Math" panose="02040503050406030204" pitchFamily="18" charset="0"/>
                                  <a:ea typeface="Cambria Math" panose="02040503050406030204" pitchFamily="18" charset="0"/>
                                </a:rPr>
                                <m:t>𝑘</m:t>
                              </m:r>
                            </m:sub>
                            <m:sup>
                              <m:r>
                                <a:rPr lang="en-US" altLang="ja-JP" i="1">
                                  <a:latin typeface="Cambria Math" panose="02040503050406030204" pitchFamily="18" charset="0"/>
                                  <a:ea typeface="Cambria Math" panose="02040503050406030204" pitchFamily="18" charset="0"/>
                                </a:rPr>
                                <m:t>𝑇</m:t>
                              </m:r>
                            </m:sup>
                          </m:sSubSup>
                        </m:num>
                        <m:den>
                          <m:r>
                            <a:rPr lang="ja-JP" altLang="en-US" i="1">
                              <a:latin typeface="Cambria Math" panose="02040503050406030204" pitchFamily="18" charset="0"/>
                            </a:rPr>
                            <m:t>𝜕</m:t>
                          </m:r>
                          <m:r>
                            <a:rPr lang="en-US" altLang="ja-JP" b="1">
                              <a:latin typeface="Cambria Math" panose="02040503050406030204" pitchFamily="18" charset="0"/>
                            </a:rPr>
                            <m:t>𝐰</m:t>
                          </m:r>
                        </m:den>
                      </m:f>
                      <m:sSub>
                        <m:sSubPr>
                          <m:ctrlPr>
                            <a:rPr lang="en-US" altLang="ja-JP" i="1">
                              <a:latin typeface="Cambria Math" panose="02040503050406030204" pitchFamily="18" charset="0"/>
                            </a:rPr>
                          </m:ctrlPr>
                        </m:sSubPr>
                        <m:e>
                          <m:r>
                            <a:rPr lang="en-US" altLang="ja-JP" b="1">
                              <a:latin typeface="Cambria Math" panose="02040503050406030204" pitchFamily="18" charset="0"/>
                            </a:rPr>
                            <m:t>𝐳</m:t>
                          </m:r>
                        </m:e>
                        <m:sub>
                          <m:r>
                            <a:rPr lang="en-US" altLang="ja-JP" i="1">
                              <a:latin typeface="Cambria Math" panose="02040503050406030204" pitchFamily="18" charset="0"/>
                            </a:rPr>
                            <m:t>𝑙</m:t>
                          </m:r>
                        </m:sub>
                      </m:sSub>
                      <m:r>
                        <a:rPr lang="en-US" altLang="ja-JP" i="1">
                          <a:latin typeface="Cambria Math" panose="02040503050406030204" pitchFamily="18" charset="0"/>
                        </a:rPr>
                        <m:t>+</m:t>
                      </m:r>
                      <m:sSubSup>
                        <m:sSubSupPr>
                          <m:ctrlPr>
                            <a:rPr lang="en-US" altLang="ja-JP" i="1">
                              <a:latin typeface="Cambria Math" panose="02040503050406030204" pitchFamily="18" charset="0"/>
                              <a:ea typeface="Cambria Math" panose="02040503050406030204" pitchFamily="18" charset="0"/>
                            </a:rPr>
                          </m:ctrlPr>
                        </m:sSubSupPr>
                        <m:e>
                          <m:r>
                            <a:rPr lang="en-US" altLang="ja-JP" b="1">
                              <a:latin typeface="Cambria Math" panose="02040503050406030204" pitchFamily="18" charset="0"/>
                              <a:ea typeface="Cambria Math" panose="02040503050406030204" pitchFamily="18" charset="0"/>
                            </a:rPr>
                            <m:t>𝐠</m:t>
                          </m:r>
                        </m:e>
                        <m:sub>
                          <m:r>
                            <a:rPr lang="en-US" altLang="ja-JP" i="1">
                              <a:latin typeface="Cambria Math" panose="02040503050406030204" pitchFamily="18" charset="0"/>
                              <a:ea typeface="Cambria Math" panose="02040503050406030204" pitchFamily="18" charset="0"/>
                            </a:rPr>
                            <m:t>𝑘</m:t>
                          </m:r>
                        </m:sub>
                        <m:sup>
                          <m:r>
                            <a:rPr lang="en-US" altLang="ja-JP" i="1">
                              <a:latin typeface="Cambria Math" panose="02040503050406030204" pitchFamily="18" charset="0"/>
                              <a:ea typeface="Cambria Math" panose="02040503050406030204" pitchFamily="18" charset="0"/>
                            </a:rPr>
                            <m:t>𝑇</m:t>
                          </m:r>
                        </m:sup>
                      </m:sSubSup>
                      <m:f>
                        <m:fPr>
                          <m:ctrlPr>
                            <a:rPr lang="en-US" altLang="ja-JP" i="1">
                              <a:latin typeface="Cambria Math" panose="02040503050406030204" pitchFamily="18" charset="0"/>
                            </a:rPr>
                          </m:ctrlPr>
                        </m:fPr>
                        <m:num>
                          <m:sSub>
                            <m:sSubPr>
                              <m:ctrlPr>
                                <a:rPr lang="en-US" altLang="ja-JP" i="1">
                                  <a:latin typeface="Cambria Math" panose="02040503050406030204" pitchFamily="18" charset="0"/>
                                </a:rPr>
                              </m:ctrlPr>
                            </m:sSubPr>
                            <m:e>
                              <m:r>
                                <a:rPr lang="en-US" altLang="ja-JP" b="1">
                                  <a:latin typeface="Cambria Math" panose="02040503050406030204" pitchFamily="18" charset="0"/>
                                </a:rPr>
                                <m:t>𝐳</m:t>
                              </m:r>
                            </m:e>
                            <m:sub>
                              <m:r>
                                <a:rPr lang="en-US" altLang="ja-JP" i="1">
                                  <a:latin typeface="Cambria Math" panose="02040503050406030204" pitchFamily="18" charset="0"/>
                                </a:rPr>
                                <m:t>𝑙</m:t>
                              </m:r>
                            </m:sub>
                          </m:sSub>
                        </m:num>
                        <m:den>
                          <m:r>
                            <a:rPr lang="ja-JP" altLang="en-US" i="1">
                              <a:latin typeface="Cambria Math" panose="02040503050406030204" pitchFamily="18" charset="0"/>
                            </a:rPr>
                            <m:t>𝜕</m:t>
                          </m:r>
                          <m:r>
                            <a:rPr lang="en-US" altLang="ja-JP" b="1">
                              <a:latin typeface="Cambria Math" panose="02040503050406030204" pitchFamily="18" charset="0"/>
                            </a:rPr>
                            <m:t>𝐰</m:t>
                          </m:r>
                        </m:den>
                      </m:f>
                      <m:r>
                        <a:rPr lang="en-US" altLang="ja-JP" b="0" i="1" smtClean="0">
                          <a:solidFill>
                            <a:schemeClr val="tx1">
                              <a:lumMod val="75000"/>
                              <a:lumOff val="25000"/>
                            </a:schemeClr>
                          </a:solidFill>
                          <a:latin typeface="Cambria Math" panose="02040503050406030204" pitchFamily="18" charset="0"/>
                        </a:rPr>
                        <m:t>=</m:t>
                      </m:r>
                      <m:f>
                        <m:fPr>
                          <m:ctrlPr>
                            <a:rPr lang="en-US" altLang="ja-JP" i="1">
                              <a:latin typeface="Cambria Math" panose="02040503050406030204" pitchFamily="18" charset="0"/>
                            </a:rPr>
                          </m:ctrlPr>
                        </m:fPr>
                        <m:num>
                          <m:r>
                            <a:rPr lang="ja-JP" altLang="en-US" i="1">
                              <a:latin typeface="Cambria Math" panose="02040503050406030204" pitchFamily="18" charset="0"/>
                            </a:rPr>
                            <m:t>𝜕</m:t>
                          </m:r>
                          <m:sSubSup>
                            <m:sSubSupPr>
                              <m:ctrlPr>
                                <a:rPr lang="en-US" altLang="ja-JP" i="1">
                                  <a:latin typeface="Cambria Math" panose="02040503050406030204" pitchFamily="18" charset="0"/>
                                  <a:ea typeface="Cambria Math" panose="02040503050406030204" pitchFamily="18" charset="0"/>
                                </a:rPr>
                              </m:ctrlPr>
                            </m:sSubSupPr>
                            <m:e>
                              <m:r>
                                <a:rPr lang="en-US" altLang="ja-JP" b="1">
                                  <a:latin typeface="Cambria Math" panose="02040503050406030204" pitchFamily="18" charset="0"/>
                                  <a:ea typeface="Cambria Math" panose="02040503050406030204" pitchFamily="18" charset="0"/>
                                </a:rPr>
                                <m:t>𝐠</m:t>
                              </m:r>
                            </m:e>
                            <m:sub>
                              <m:r>
                                <a:rPr lang="en-US" altLang="ja-JP" i="1">
                                  <a:latin typeface="Cambria Math" panose="02040503050406030204" pitchFamily="18" charset="0"/>
                                  <a:ea typeface="Cambria Math" panose="02040503050406030204" pitchFamily="18" charset="0"/>
                                </a:rPr>
                                <m:t>𝑘</m:t>
                              </m:r>
                            </m:sub>
                            <m:sup>
                              <m:r>
                                <a:rPr lang="en-US" altLang="ja-JP" i="1">
                                  <a:latin typeface="Cambria Math" panose="02040503050406030204" pitchFamily="18" charset="0"/>
                                  <a:ea typeface="Cambria Math" panose="02040503050406030204" pitchFamily="18" charset="0"/>
                                </a:rPr>
                                <m:t>𝑇</m:t>
                              </m:r>
                            </m:sup>
                          </m:sSubSup>
                        </m:num>
                        <m:den>
                          <m:r>
                            <a:rPr lang="ja-JP" altLang="en-US" i="1">
                              <a:latin typeface="Cambria Math" panose="02040503050406030204" pitchFamily="18" charset="0"/>
                            </a:rPr>
                            <m:t>𝜕</m:t>
                          </m:r>
                          <m:r>
                            <a:rPr lang="en-US" altLang="ja-JP" b="1">
                              <a:latin typeface="Cambria Math" panose="02040503050406030204" pitchFamily="18" charset="0"/>
                            </a:rPr>
                            <m:t>𝐰</m:t>
                          </m:r>
                        </m:den>
                      </m:f>
                      <m:sSub>
                        <m:sSubPr>
                          <m:ctrlPr>
                            <a:rPr lang="en-US" altLang="ja-JP" i="1">
                              <a:latin typeface="Cambria Math" panose="02040503050406030204" pitchFamily="18" charset="0"/>
                            </a:rPr>
                          </m:ctrlPr>
                        </m:sSubPr>
                        <m:e>
                          <m:r>
                            <a:rPr lang="en-US" altLang="ja-JP" b="1">
                              <a:latin typeface="Cambria Math" panose="02040503050406030204" pitchFamily="18" charset="0"/>
                            </a:rPr>
                            <m:t>𝐳</m:t>
                          </m:r>
                        </m:e>
                        <m:sub>
                          <m:r>
                            <a:rPr lang="en-US" altLang="ja-JP" b="0" i="1" smtClean="0">
                              <a:latin typeface="Cambria Math" panose="02040503050406030204" pitchFamily="18" charset="0"/>
                            </a:rPr>
                            <m:t>𝑙</m:t>
                          </m:r>
                        </m:sub>
                      </m:sSub>
                      <m:r>
                        <a:rPr lang="en-US" altLang="ja-JP" b="1" i="0" smtClean="0">
                          <a:latin typeface="Cambria Math" panose="02040503050406030204" pitchFamily="18" charset="0"/>
                        </a:rPr>
                        <m:t>=</m:t>
                      </m:r>
                      <m:sSub>
                        <m:sSubPr>
                          <m:ctrlPr>
                            <a:rPr lang="en-US" altLang="ja-JP" i="1">
                              <a:latin typeface="Cambria Math" panose="02040503050406030204" pitchFamily="18" charset="0"/>
                            </a:rPr>
                          </m:ctrlPr>
                        </m:sSubPr>
                        <m:e>
                          <m:r>
                            <a:rPr lang="en-US" altLang="ja-JP" b="1" i="0" smtClean="0">
                              <a:latin typeface="Cambria Math" panose="02040503050406030204" pitchFamily="18" charset="0"/>
                            </a:rPr>
                            <m:t>𝐇</m:t>
                          </m:r>
                        </m:e>
                        <m:sub>
                          <m:r>
                            <a:rPr lang="en-US" altLang="ja-JP" i="1">
                              <a:latin typeface="Cambria Math" panose="02040503050406030204" pitchFamily="18" charset="0"/>
                            </a:rPr>
                            <m:t>𝑘</m:t>
                          </m:r>
                        </m:sub>
                      </m:sSub>
                      <m:sSub>
                        <m:sSubPr>
                          <m:ctrlPr>
                            <a:rPr lang="en-US" altLang="ja-JP" i="1">
                              <a:latin typeface="Cambria Math" panose="02040503050406030204" pitchFamily="18" charset="0"/>
                            </a:rPr>
                          </m:ctrlPr>
                        </m:sSubPr>
                        <m:e>
                          <m:r>
                            <a:rPr lang="en-US" altLang="ja-JP" b="1">
                              <a:latin typeface="Cambria Math" panose="02040503050406030204" pitchFamily="18" charset="0"/>
                            </a:rPr>
                            <m:t>𝐳</m:t>
                          </m:r>
                        </m:e>
                        <m:sub>
                          <m:r>
                            <a:rPr lang="en-US" altLang="ja-JP" b="0" i="1" smtClean="0">
                              <a:latin typeface="Cambria Math" panose="02040503050406030204" pitchFamily="18" charset="0"/>
                            </a:rPr>
                            <m:t>𝑙</m:t>
                          </m:r>
                        </m:sub>
                      </m:sSub>
                    </m:oMath>
                  </m:oMathPara>
                </a14:m>
                <a:endParaRPr lang="en-US" altLang="ja-JP" b="0" i="1" dirty="0">
                  <a:solidFill>
                    <a:schemeClr val="tx1">
                      <a:lumMod val="75000"/>
                      <a:lumOff val="25000"/>
                    </a:schemeClr>
                  </a:solidFill>
                </a:endParaRPr>
              </a:p>
              <a:p>
                <a:pPr marL="0" indent="0">
                  <a:buNone/>
                </a:pPr>
                <a:endParaRPr lang="en-US" altLang="ja-JP" b="0" i="1" dirty="0">
                  <a:solidFill>
                    <a:schemeClr val="tx1">
                      <a:lumMod val="75000"/>
                      <a:lumOff val="25000"/>
                    </a:schemeClr>
                  </a:solidFill>
                </a:endParaRPr>
              </a:p>
            </p:txBody>
          </p:sp>
        </mc:Choice>
        <mc:Fallback xmlns="">
          <p:sp>
            <p:nvSpPr>
              <p:cNvPr id="3" name="コンテンツ プレースホルダー 2">
                <a:extLst>
                  <a:ext uri="{FF2B5EF4-FFF2-40B4-BE49-F238E27FC236}">
                    <a16:creationId xmlns:a16="http://schemas.microsoft.com/office/drawing/2014/main" id="{DE90730F-5CC4-4500-833D-3F0214563641}"/>
                  </a:ext>
                </a:extLst>
              </p:cNvPr>
              <p:cNvSpPr>
                <a:spLocks noGrp="1" noRot="1" noChangeAspect="1" noMove="1" noResize="1" noEditPoints="1" noAdjustHandles="1" noChangeArrowheads="1" noChangeShapeType="1" noTextEdit="1"/>
              </p:cNvSpPr>
              <p:nvPr>
                <p:ph idx="1"/>
              </p:nvPr>
            </p:nvSpPr>
            <p:spPr>
              <a:xfrm>
                <a:off x="838200" y="1654900"/>
                <a:ext cx="10325100" cy="5194119"/>
              </a:xfrm>
              <a:blipFill>
                <a:blip r:embed="rId3"/>
                <a:stretch>
                  <a:fillRect l="-1240"/>
                </a:stretch>
              </a:blipFill>
            </p:spPr>
            <p:txBody>
              <a:bodyPr/>
              <a:lstStyle/>
              <a:p>
                <a:r>
                  <a:rPr lang="ja-JP" altLang="en-US">
                    <a:noFill/>
                  </a:rPr>
                  <a:t> </a:t>
                </a:r>
              </a:p>
            </p:txBody>
          </p:sp>
        </mc:Fallback>
      </mc:AlternateContent>
      <p:sp>
        <p:nvSpPr>
          <p:cNvPr id="2" name="スライド番号プレースホルダー 1">
            <a:extLst>
              <a:ext uri="{FF2B5EF4-FFF2-40B4-BE49-F238E27FC236}">
                <a16:creationId xmlns:a16="http://schemas.microsoft.com/office/drawing/2014/main" id="{E7A79576-016E-4C4F-A9A1-4A578794F457}"/>
              </a:ext>
            </a:extLst>
          </p:cNvPr>
          <p:cNvSpPr>
            <a:spLocks noGrp="1"/>
          </p:cNvSpPr>
          <p:nvPr>
            <p:ph type="sldNum" sz="quarter" idx="12"/>
          </p:nvPr>
        </p:nvSpPr>
        <p:spPr>
          <a:xfrm>
            <a:off x="9329693" y="6356350"/>
            <a:ext cx="2743200" cy="365125"/>
          </a:xfrm>
        </p:spPr>
        <p:txBody>
          <a:bodyPr/>
          <a:lstStyle/>
          <a:p>
            <a:r>
              <a:rPr kumimoji="1" lang="en-US" altLang="ja-JP" dirty="0"/>
              <a:t>12</a:t>
            </a:r>
            <a:endParaRPr kumimoji="1" lang="ja-JP" altLang="en-US" dirty="0"/>
          </a:p>
        </p:txBody>
      </p:sp>
      <p:sp>
        <p:nvSpPr>
          <p:cNvPr id="7" name="テキスト ボックス 6">
            <a:extLst>
              <a:ext uri="{FF2B5EF4-FFF2-40B4-BE49-F238E27FC236}">
                <a16:creationId xmlns:a16="http://schemas.microsoft.com/office/drawing/2014/main" id="{78D4EC2B-83A3-4FC9-A886-46A1EC3496E6}"/>
              </a:ext>
            </a:extLst>
          </p:cNvPr>
          <p:cNvSpPr txBox="1"/>
          <p:nvPr/>
        </p:nvSpPr>
        <p:spPr>
          <a:xfrm>
            <a:off x="10638947" y="2265049"/>
            <a:ext cx="877830" cy="596253"/>
          </a:xfrm>
          <a:prstGeom prst="rect">
            <a:avLst/>
          </a:prstGeom>
          <a:solidFill>
            <a:srgbClr val="E4E4E4"/>
          </a:solidFill>
        </p:spPr>
        <p:txBody>
          <a:bodyPr wrap="square" rtlCol="0">
            <a:spAutoFit/>
          </a:bodyPr>
          <a:lstStyle/>
          <a:p>
            <a:pPr>
              <a:lnSpc>
                <a:spcPct val="150000"/>
              </a:lnSpc>
            </a:pPr>
            <a:r>
              <a:rPr kumimoji="1" lang="en-US" altLang="ja-JP" sz="2400" dirty="0">
                <a:latin typeface="UD デジタル 教科書体 NK-R" panose="02020400000000000000" pitchFamily="18" charset="-128"/>
                <a:ea typeface="UD デジタル 教科書体 NK-R" panose="02020400000000000000" pitchFamily="18" charset="-128"/>
              </a:rPr>
              <a:t>(6)</a:t>
            </a:r>
            <a:endParaRPr kumimoji="1" lang="ja-JP" altLang="en-US" sz="2400" dirty="0">
              <a:latin typeface="UD デジタル 教科書体 NK-R" panose="02020400000000000000" pitchFamily="18" charset="-128"/>
              <a:ea typeface="UD デジタル 教科書体 NK-R" panose="02020400000000000000" pitchFamily="18" charset="-128"/>
            </a:endParaRPr>
          </a:p>
        </p:txBody>
      </p:sp>
      <p:sp>
        <p:nvSpPr>
          <p:cNvPr id="8" name="テキスト ボックス 7">
            <a:extLst>
              <a:ext uri="{FF2B5EF4-FFF2-40B4-BE49-F238E27FC236}">
                <a16:creationId xmlns:a16="http://schemas.microsoft.com/office/drawing/2014/main" id="{2ACFB8A7-917A-44A3-9B26-E29955071252}"/>
              </a:ext>
            </a:extLst>
          </p:cNvPr>
          <p:cNvSpPr txBox="1"/>
          <p:nvPr/>
        </p:nvSpPr>
        <p:spPr>
          <a:xfrm>
            <a:off x="10618166" y="5179005"/>
            <a:ext cx="877830" cy="596253"/>
          </a:xfrm>
          <a:prstGeom prst="rect">
            <a:avLst/>
          </a:prstGeom>
          <a:solidFill>
            <a:srgbClr val="E4E4E4"/>
          </a:solidFill>
        </p:spPr>
        <p:txBody>
          <a:bodyPr wrap="square" rtlCol="0">
            <a:spAutoFit/>
          </a:bodyPr>
          <a:lstStyle/>
          <a:p>
            <a:pPr>
              <a:lnSpc>
                <a:spcPct val="150000"/>
              </a:lnSpc>
            </a:pPr>
            <a:r>
              <a:rPr kumimoji="1" lang="en-US" altLang="ja-JP" sz="2400" dirty="0">
                <a:latin typeface="UD デジタル 教科書体 NK-R" panose="02020400000000000000" pitchFamily="18" charset="-128"/>
                <a:ea typeface="UD デジタル 教科書体 NK-R" panose="02020400000000000000" pitchFamily="18" charset="-128"/>
              </a:rPr>
              <a:t>(7)</a:t>
            </a:r>
            <a:endParaRPr kumimoji="1" lang="ja-JP" altLang="en-US" sz="2400" dirty="0">
              <a:latin typeface="UD デジタル 教科書体 NK-R" panose="02020400000000000000" pitchFamily="18" charset="-128"/>
              <a:ea typeface="UD デジタル 教科書体 NK-R" panose="02020400000000000000" pitchFamily="18" charset="-128"/>
            </a:endParaRPr>
          </a:p>
        </p:txBody>
      </p:sp>
      <p:sp>
        <p:nvSpPr>
          <p:cNvPr id="6" name="正方形/長方形 5">
            <a:extLst>
              <a:ext uri="{FF2B5EF4-FFF2-40B4-BE49-F238E27FC236}">
                <a16:creationId xmlns:a16="http://schemas.microsoft.com/office/drawing/2014/main" id="{3A71FB6E-3740-7743-BF99-25FA059F4C5B}"/>
              </a:ext>
            </a:extLst>
          </p:cNvPr>
          <p:cNvSpPr/>
          <p:nvPr/>
        </p:nvSpPr>
        <p:spPr>
          <a:xfrm>
            <a:off x="5542000" y="2356424"/>
            <a:ext cx="744500" cy="468518"/>
          </a:xfrm>
          <a:prstGeom prst="rect">
            <a:avLst/>
          </a:prstGeom>
          <a:noFill/>
          <a:ln w="38100">
            <a:solidFill>
              <a:srgbClr val="033B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タイトル 1">
            <a:extLst>
              <a:ext uri="{FF2B5EF4-FFF2-40B4-BE49-F238E27FC236}">
                <a16:creationId xmlns:a16="http://schemas.microsoft.com/office/drawing/2014/main" id="{D74BAB55-BF99-3649-B554-AF5983FC7F16}"/>
              </a:ext>
            </a:extLst>
          </p:cNvPr>
          <p:cNvSpPr>
            <a:spLocks noGrp="1"/>
          </p:cNvSpPr>
          <p:nvPr>
            <p:ph type="title"/>
          </p:nvPr>
        </p:nvSpPr>
        <p:spPr>
          <a:xfrm>
            <a:off x="838199" y="365125"/>
            <a:ext cx="10786241" cy="1325563"/>
          </a:xfrm>
        </p:spPr>
        <p:txBody>
          <a:bodyPr/>
          <a:lstStyle/>
          <a:p>
            <a:r>
              <a:rPr kumimoji="1" lang="ja-JP" altLang="en-US" spc="-130" dirty="0"/>
              <a:t>提案手法：ヘッセ行列の対角行列化</a:t>
            </a:r>
          </a:p>
        </p:txBody>
      </p:sp>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D583353C-EC30-4B46-A35E-F105D37E7EA6}"/>
                  </a:ext>
                </a:extLst>
              </p:cNvPr>
              <p:cNvSpPr txBox="1"/>
              <p:nvPr/>
            </p:nvSpPr>
            <p:spPr>
              <a:xfrm>
                <a:off x="9445148" y="6145733"/>
                <a:ext cx="2361342" cy="646331"/>
              </a:xfrm>
              <a:prstGeom prst="rect">
                <a:avLst/>
              </a:prstGeom>
              <a:noFill/>
            </p:spPr>
            <p:txBody>
              <a:bodyPr wrap="square">
                <a:spAutoFit/>
              </a:bodyPr>
              <a:lstStyle/>
              <a:p>
                <a:r>
                  <a:rPr lang="en-US" altLang="ja-JP" b="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a:t>
                </a:r>
                <a14:m>
                  <m:oMath xmlns:m="http://schemas.openxmlformats.org/officeDocument/2006/math">
                    <m:r>
                      <a:rPr lang="en-US" altLang="ja-JP" b="0" i="1" smtClean="0">
                        <a:solidFill>
                          <a:schemeClr val="tx1">
                            <a:lumMod val="75000"/>
                            <a:lumOff val="25000"/>
                          </a:schemeClr>
                        </a:solidFill>
                        <a:latin typeface="Cambria Math" panose="02040503050406030204" pitchFamily="18" charset="0"/>
                        <a:ea typeface="Cambria Math" panose="02040503050406030204" pitchFamily="18" charset="0"/>
                      </a:rPr>
                      <m:t>⊙</m:t>
                    </m:r>
                    <m:r>
                      <m:rPr>
                        <m:nor/>
                      </m:rPr>
                      <a:rPr lang="ja-JP" altLang="en-US"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m:t>：</m:t>
                    </m:r>
                  </m:oMath>
                </a14:m>
                <a:r>
                  <a:rPr lang="ja-JP" altLang="en-US"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アダマール乗算</a:t>
                </a:r>
                <a:endParaRPr lang="en-US" altLang="ja-JP"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pPr marL="0" indent="0">
                  <a:buNone/>
                </a:pPr>
                <a:r>
                  <a:rPr lang="ja-JP" altLang="en-US"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r>
                      <a:rPr lang="ja-JP" altLang="en-US" b="1" i="1" dirty="0">
                        <a:solidFill>
                          <a:schemeClr val="tx1">
                            <a:lumMod val="75000"/>
                            <a:lumOff val="25000"/>
                          </a:schemeClr>
                        </a:solidFill>
                        <a:latin typeface="Cambria Math" panose="02040503050406030204" pitchFamily="18" charset="0"/>
                        <a:ea typeface="Cambria Math" panose="02040503050406030204" pitchFamily="18" charset="0"/>
                      </a:rPr>
                      <m:t> </m:t>
                    </m:r>
                    <m:r>
                      <a:rPr lang="en-US" altLang="ja-JP" b="0" i="1" smtClean="0">
                        <a:solidFill>
                          <a:schemeClr val="tx1">
                            <a:lumMod val="75000"/>
                            <a:lumOff val="25000"/>
                          </a:schemeClr>
                        </a:solidFill>
                        <a:latin typeface="Cambria Math" panose="02040503050406030204" pitchFamily="18" charset="0"/>
                        <a:ea typeface="Cambria Math" panose="02040503050406030204" pitchFamily="18" charset="0"/>
                      </a:rPr>
                      <m:t>⊘</m:t>
                    </m:r>
                    <m:r>
                      <a:rPr lang="ja-JP" altLang="en-US" i="1">
                        <a:solidFill>
                          <a:schemeClr val="tx1">
                            <a:lumMod val="75000"/>
                            <a:lumOff val="25000"/>
                          </a:schemeClr>
                        </a:solidFill>
                        <a:latin typeface="Cambria Math" panose="02040503050406030204" pitchFamily="18" charset="0"/>
                        <a:ea typeface="Cambria Math" panose="02040503050406030204" pitchFamily="18" charset="0"/>
                      </a:rPr>
                      <m:t> </m:t>
                    </m:r>
                  </m:oMath>
                </a14:m>
                <a:r>
                  <a:rPr lang="ja-JP" altLang="en-US"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：アダマール除算</a:t>
                </a:r>
                <a:endParaRPr lang="en-US" altLang="ja-JP"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mc:Choice>
        <mc:Fallback xmlns="">
          <p:sp>
            <p:nvSpPr>
              <p:cNvPr id="10" name="テキスト ボックス 9">
                <a:extLst>
                  <a:ext uri="{FF2B5EF4-FFF2-40B4-BE49-F238E27FC236}">
                    <a16:creationId xmlns:a16="http://schemas.microsoft.com/office/drawing/2014/main" id="{D583353C-EC30-4B46-A35E-F105D37E7EA6}"/>
                  </a:ext>
                </a:extLst>
              </p:cNvPr>
              <p:cNvSpPr txBox="1">
                <a:spLocks noRot="1" noChangeAspect="1" noMove="1" noResize="1" noEditPoints="1" noAdjustHandles="1" noChangeArrowheads="1" noChangeShapeType="1" noTextEdit="1"/>
              </p:cNvSpPr>
              <p:nvPr/>
            </p:nvSpPr>
            <p:spPr>
              <a:xfrm>
                <a:off x="9445148" y="6145733"/>
                <a:ext cx="2361342" cy="646331"/>
              </a:xfrm>
              <a:prstGeom prst="rect">
                <a:avLst/>
              </a:prstGeom>
              <a:blipFill>
                <a:blip r:embed="rId4"/>
                <a:stretch>
                  <a:fillRect l="-2062" t="-3774" r="-773" b="-15094"/>
                </a:stretch>
              </a:blipFill>
            </p:spPr>
            <p:txBody>
              <a:bodyPr/>
              <a:lstStyle/>
              <a:p>
                <a:r>
                  <a:rPr lang="ja-JP" altLang="en-US">
                    <a:noFill/>
                  </a:rPr>
                  <a:t> </a:t>
                </a:r>
              </a:p>
            </p:txBody>
          </p:sp>
        </mc:Fallback>
      </mc:AlternateContent>
      <p:sp>
        <p:nvSpPr>
          <p:cNvPr id="11" name="正方形/長方形 10">
            <a:extLst>
              <a:ext uri="{FF2B5EF4-FFF2-40B4-BE49-F238E27FC236}">
                <a16:creationId xmlns:a16="http://schemas.microsoft.com/office/drawing/2014/main" id="{0639817B-D10B-4E86-AA04-27D19C42CEA0}"/>
              </a:ext>
            </a:extLst>
          </p:cNvPr>
          <p:cNvSpPr/>
          <p:nvPr/>
        </p:nvSpPr>
        <p:spPr>
          <a:xfrm>
            <a:off x="2659907" y="5137150"/>
            <a:ext cx="4240765" cy="1219200"/>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24B3F723-57C2-4804-A5A9-B0A71A77F18C}"/>
              </a:ext>
            </a:extLst>
          </p:cNvPr>
          <p:cNvSpPr/>
          <p:nvPr/>
        </p:nvSpPr>
        <p:spPr>
          <a:xfrm rot="5400000">
            <a:off x="6789018" y="5314754"/>
            <a:ext cx="942633" cy="719328"/>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6ECC5856-1A9A-4D90-9FD0-CF10229C913F}"/>
              </a:ext>
            </a:extLst>
          </p:cNvPr>
          <p:cNvSpPr txBox="1"/>
          <p:nvPr/>
        </p:nvSpPr>
        <p:spPr>
          <a:xfrm>
            <a:off x="6457070" y="6037214"/>
            <a:ext cx="1658112" cy="596253"/>
          </a:xfrm>
          <a:prstGeom prst="rect">
            <a:avLst/>
          </a:prstGeom>
          <a:noFill/>
        </p:spPr>
        <p:txBody>
          <a:bodyPr wrap="square" rtlCol="0">
            <a:spAutoFit/>
          </a:bodyPr>
          <a:lstStyle/>
          <a:p>
            <a:pPr>
              <a:lnSpc>
                <a:spcPct val="150000"/>
              </a:lnSpc>
            </a:pPr>
            <a:r>
              <a:rPr kumimoji="1" lang="ja-JP" altLang="en-US" sz="2400" dirty="0">
                <a:solidFill>
                  <a:srgbClr val="C00000"/>
                </a:solidFill>
                <a:latin typeface="UD デジタル 教科書体 NK-R" panose="02020400000000000000" pitchFamily="18" charset="-128"/>
                <a:ea typeface="UD デジタル 教科書体 NK-R" panose="02020400000000000000" pitchFamily="18" charset="-128"/>
              </a:rPr>
              <a:t>ヘッセ行列</a:t>
            </a:r>
          </a:p>
        </p:txBody>
      </p:sp>
    </p:spTree>
    <p:extLst>
      <p:ext uri="{BB962C8B-B14F-4D97-AF65-F5344CB8AC3E}">
        <p14:creationId xmlns:p14="http://schemas.microsoft.com/office/powerpoint/2010/main" val="36799213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DE90730F-5CC4-4500-833D-3F0214563641}"/>
                  </a:ext>
                </a:extLst>
              </p:cNvPr>
              <p:cNvSpPr>
                <a:spLocks noGrp="1"/>
              </p:cNvSpPr>
              <p:nvPr>
                <p:ph idx="1"/>
              </p:nvPr>
            </p:nvSpPr>
            <p:spPr>
              <a:xfrm>
                <a:off x="838200" y="1654900"/>
                <a:ext cx="10325100" cy="5194119"/>
              </a:xfrm>
            </p:spPr>
            <p:txBody>
              <a:bodyPr>
                <a:normAutofit/>
              </a:bodyPr>
              <a:lstStyle/>
              <a:p>
                <a:pPr marL="0" indent="0">
                  <a:buNone/>
                </a:pPr>
                <a:endParaRPr lang="en-US" altLang="ja-JP" dirty="0">
                  <a:solidFill>
                    <a:schemeClr val="tx1">
                      <a:lumMod val="75000"/>
                      <a:lumOff val="25000"/>
                    </a:schemeClr>
                  </a:solidFill>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eqArr>
                        <m:eqArrPr>
                          <m:ctrlPr>
                            <a:rPr lang="en-US" altLang="ja-JP" b="0" i="1" smtClean="0">
                              <a:latin typeface="Cambria Math" panose="02040503050406030204" pitchFamily="18" charset="0"/>
                              <a:ea typeface="Cambria Math" panose="02040503050406030204" pitchFamily="18" charset="0"/>
                            </a:rPr>
                          </m:ctrlPr>
                        </m:eqArrPr>
                        <m:e>
                          <m:eqArr>
                            <m:eqArrPr>
                              <m:ctrlPr>
                                <a:rPr lang="en-US" altLang="ja-JP" i="1">
                                  <a:latin typeface="Cambria Math" panose="02040503050406030204" pitchFamily="18" charset="0"/>
                                  <a:ea typeface="Cambria Math" panose="02040503050406030204" pitchFamily="18" charset="0"/>
                                </a:rPr>
                              </m:ctrlPr>
                            </m:eqArrPr>
                            <m:e>
                              <m:sSub>
                                <m:sSubPr>
                                  <m:ctrlPr>
                                    <a:rPr lang="en-US" altLang="ja-JP" i="1">
                                      <a:latin typeface="Cambria Math" panose="02040503050406030204" pitchFamily="18" charset="0"/>
                                      <a:ea typeface="Cambria Math" panose="02040503050406030204" pitchFamily="18" charset="0"/>
                                    </a:rPr>
                                  </m:ctrlPr>
                                </m:sSubPr>
                                <m:e>
                                  <m:r>
                                    <a:rPr lang="en-US" altLang="ja-JP" b="1">
                                      <a:latin typeface="Cambria Math" panose="02040503050406030204" pitchFamily="18" charset="0"/>
                                      <a:ea typeface="Cambria Math" panose="02040503050406030204" pitchFamily="18" charset="0"/>
                                    </a:rPr>
                                    <m:t>𝐡</m:t>
                                  </m:r>
                                </m:e>
                                <m:sub>
                                  <m:r>
                                    <a:rPr lang="en-US" altLang="ja-JP" i="1">
                                      <a:latin typeface="Cambria Math" panose="02040503050406030204" pitchFamily="18" charset="0"/>
                                      <a:ea typeface="Cambria Math" panose="02040503050406030204" pitchFamily="18" charset="0"/>
                                    </a:rPr>
                                    <m:t>𝑘</m:t>
                                  </m:r>
                                </m:sub>
                              </m:sSub>
                              <m:r>
                                <a:rPr lang="en-US" altLang="ja-JP" i="1">
                                  <a:latin typeface="Cambria Math" panose="02040503050406030204" pitchFamily="18" charset="0"/>
                                </a:rPr>
                                <m:t>= </m:t>
                              </m:r>
                              <m:d>
                                <m:dPr>
                                  <m:begChr m:val="["/>
                                  <m:endChr m:val="]"/>
                                  <m:ctrlPr>
                                    <a:rPr lang="en-US" altLang="ja-JP" i="1">
                                      <a:latin typeface="Cambria Math" panose="02040503050406030204" pitchFamily="18" charset="0"/>
                                    </a:rPr>
                                  </m:ctrlPr>
                                </m:dPr>
                                <m:e>
                                  <m:nary>
                                    <m:naryPr>
                                      <m:chr m:val="∑"/>
                                      <m:ctrlPr>
                                        <a:rPr lang="en-US" altLang="ja-JP" i="1">
                                          <a:latin typeface="Cambria Math" panose="02040503050406030204" pitchFamily="18" charset="0"/>
                                        </a:rPr>
                                      </m:ctrlPr>
                                    </m:naryPr>
                                    <m:sub>
                                      <m:r>
                                        <a:rPr lang="en-US" altLang="ja-JP" i="1">
                                          <a:latin typeface="Cambria Math" panose="02040503050406030204" pitchFamily="18" charset="0"/>
                                        </a:rPr>
                                        <m:t>𝑙</m:t>
                                      </m:r>
                                      <m:r>
                                        <a:rPr lang="en-US" altLang="ja-JP" i="1">
                                          <a:latin typeface="Cambria Math" panose="02040503050406030204" pitchFamily="18" charset="0"/>
                                        </a:rPr>
                                        <m:t>=1</m:t>
                                      </m:r>
                                    </m:sub>
                                    <m:sup>
                                      <m:r>
                                        <a:rPr lang="en-US" altLang="ja-JP" i="1">
                                          <a:latin typeface="Cambria Math" panose="02040503050406030204" pitchFamily="18" charset="0"/>
                                        </a:rPr>
                                        <m:t>𝑠</m:t>
                                      </m:r>
                                    </m:sup>
                                    <m:e>
                                      <m:sSub>
                                        <m:sSubPr>
                                          <m:ctrlPr>
                                            <a:rPr lang="en-US" altLang="ja-JP" i="1">
                                              <a:latin typeface="Cambria Math" panose="02040503050406030204" pitchFamily="18" charset="0"/>
                                            </a:rPr>
                                          </m:ctrlPr>
                                        </m:sSubPr>
                                        <m:e>
                                          <m:r>
                                            <a:rPr lang="en-US" altLang="ja-JP" b="1">
                                              <a:latin typeface="Cambria Math" panose="02040503050406030204" pitchFamily="18" charset="0"/>
                                            </a:rPr>
                                            <m:t>𝐳</m:t>
                                          </m:r>
                                        </m:e>
                                        <m:sub>
                                          <m:r>
                                            <a:rPr lang="en-US" altLang="ja-JP" i="1">
                                              <a:latin typeface="Cambria Math" panose="02040503050406030204" pitchFamily="18" charset="0"/>
                                            </a:rPr>
                                            <m:t>𝑙</m:t>
                                          </m:r>
                                        </m:sub>
                                      </m:sSub>
                                      <m:r>
                                        <a:rPr lang="en-US" altLang="ja-JP" i="1">
                                          <a:latin typeface="Cambria Math" panose="02040503050406030204" pitchFamily="18" charset="0"/>
                                          <a:ea typeface="Cambria Math" panose="02040503050406030204" pitchFamily="18" charset="0"/>
                                        </a:rPr>
                                        <m:t>⊙</m:t>
                                      </m:r>
                                      <m:sSub>
                                        <m:sSubPr>
                                          <m:ctrlPr>
                                            <a:rPr lang="en-US" altLang="ja-JP" i="1">
                                              <a:latin typeface="Cambria Math" panose="02040503050406030204" pitchFamily="18" charset="0"/>
                                              <a:ea typeface="Cambria Math" panose="02040503050406030204" pitchFamily="18" charset="0"/>
                                            </a:rPr>
                                          </m:ctrlPr>
                                        </m:sSubPr>
                                        <m:e>
                                          <m:r>
                                            <a:rPr lang="en-US" altLang="ja-JP" b="1">
                                              <a:solidFill>
                                                <a:srgbClr val="C00000"/>
                                              </a:solidFill>
                                              <a:latin typeface="Cambria Math" panose="02040503050406030204" pitchFamily="18" charset="0"/>
                                              <a:ea typeface="Cambria Math" panose="02040503050406030204" pitchFamily="18" charset="0"/>
                                            </a:rPr>
                                            <m:t>𝐇</m:t>
                                          </m:r>
                                        </m:e>
                                        <m:sub>
                                          <m:r>
                                            <a:rPr lang="en-US" altLang="ja-JP" i="1">
                                              <a:latin typeface="Cambria Math" panose="02040503050406030204" pitchFamily="18" charset="0"/>
                                              <a:ea typeface="Cambria Math" panose="02040503050406030204" pitchFamily="18" charset="0"/>
                                            </a:rPr>
                                            <m:t>𝑘</m:t>
                                          </m:r>
                                        </m:sub>
                                      </m:sSub>
                                      <m:sSub>
                                        <m:sSubPr>
                                          <m:ctrlPr>
                                            <a:rPr lang="en-US" altLang="ja-JP" i="1">
                                              <a:latin typeface="Cambria Math" panose="02040503050406030204" pitchFamily="18" charset="0"/>
                                              <a:ea typeface="Cambria Math" panose="02040503050406030204" pitchFamily="18" charset="0"/>
                                            </a:rPr>
                                          </m:ctrlPr>
                                        </m:sSubPr>
                                        <m:e>
                                          <m:r>
                                            <a:rPr lang="en-US" altLang="ja-JP" b="1">
                                              <a:latin typeface="Cambria Math" panose="02040503050406030204" pitchFamily="18" charset="0"/>
                                              <a:ea typeface="Cambria Math" panose="02040503050406030204" pitchFamily="18" charset="0"/>
                                            </a:rPr>
                                            <m:t>𝐳</m:t>
                                          </m:r>
                                        </m:e>
                                        <m:sub>
                                          <m:r>
                                            <a:rPr lang="en-US" altLang="ja-JP" i="1">
                                              <a:latin typeface="Cambria Math" panose="02040503050406030204" pitchFamily="18" charset="0"/>
                                              <a:ea typeface="Cambria Math" panose="02040503050406030204" pitchFamily="18" charset="0"/>
                                            </a:rPr>
                                            <m:t>𝑙</m:t>
                                          </m:r>
                                        </m:sub>
                                      </m:sSub>
                                    </m:e>
                                  </m:nary>
                                </m:e>
                              </m:d>
                              <m:r>
                                <a:rPr lang="en-US" altLang="ja-JP" i="1">
                                  <a:latin typeface="Cambria Math" panose="02040503050406030204" pitchFamily="18" charset="0"/>
                                  <a:ea typeface="Cambria Math" panose="02040503050406030204" pitchFamily="18" charset="0"/>
                                </a:rPr>
                                <m:t>⊘</m:t>
                              </m:r>
                              <m:d>
                                <m:dPr>
                                  <m:begChr m:val="["/>
                                  <m:endChr m:val="]"/>
                                  <m:ctrlPr>
                                    <a:rPr lang="en-US" altLang="ja-JP" i="1">
                                      <a:latin typeface="Cambria Math" panose="02040503050406030204" pitchFamily="18" charset="0"/>
                                      <a:ea typeface="Cambria Math" panose="02040503050406030204" pitchFamily="18" charset="0"/>
                                    </a:rPr>
                                  </m:ctrlPr>
                                </m:dPr>
                                <m:e>
                                  <m:nary>
                                    <m:naryPr>
                                      <m:chr m:val="∑"/>
                                      <m:ctrlPr>
                                        <a:rPr lang="en-US" altLang="ja-JP" i="1">
                                          <a:latin typeface="Cambria Math" panose="02040503050406030204" pitchFamily="18" charset="0"/>
                                        </a:rPr>
                                      </m:ctrlPr>
                                    </m:naryPr>
                                    <m:sub>
                                      <m:r>
                                        <a:rPr lang="en-US" altLang="ja-JP" i="1">
                                          <a:latin typeface="Cambria Math" panose="02040503050406030204" pitchFamily="18" charset="0"/>
                                        </a:rPr>
                                        <m:t>𝑙</m:t>
                                      </m:r>
                                      <m:r>
                                        <a:rPr lang="en-US" altLang="ja-JP" i="1">
                                          <a:latin typeface="Cambria Math" panose="02040503050406030204" pitchFamily="18" charset="0"/>
                                        </a:rPr>
                                        <m:t>=1</m:t>
                                      </m:r>
                                    </m:sub>
                                    <m:sup>
                                      <m:r>
                                        <a:rPr lang="en-US" altLang="ja-JP" i="1">
                                          <a:latin typeface="Cambria Math" panose="02040503050406030204" pitchFamily="18" charset="0"/>
                                        </a:rPr>
                                        <m:t>𝑠</m:t>
                                      </m:r>
                                    </m:sup>
                                    <m:e>
                                      <m:sSub>
                                        <m:sSubPr>
                                          <m:ctrlPr>
                                            <a:rPr lang="en-US" altLang="ja-JP" i="1">
                                              <a:latin typeface="Cambria Math" panose="02040503050406030204" pitchFamily="18" charset="0"/>
                                            </a:rPr>
                                          </m:ctrlPr>
                                        </m:sSubPr>
                                        <m:e>
                                          <m:r>
                                            <a:rPr lang="en-US" altLang="ja-JP" b="1">
                                              <a:latin typeface="Cambria Math" panose="02040503050406030204" pitchFamily="18" charset="0"/>
                                            </a:rPr>
                                            <m:t>𝐳</m:t>
                                          </m:r>
                                        </m:e>
                                        <m:sub>
                                          <m:r>
                                            <a:rPr lang="en-US" altLang="ja-JP" i="1">
                                              <a:latin typeface="Cambria Math" panose="02040503050406030204" pitchFamily="18" charset="0"/>
                                            </a:rPr>
                                            <m:t>𝑙</m:t>
                                          </m:r>
                                        </m:sub>
                                      </m:sSub>
                                      <m:r>
                                        <a:rPr lang="en-US" altLang="ja-JP" i="1">
                                          <a:latin typeface="Cambria Math" panose="02040503050406030204" pitchFamily="18" charset="0"/>
                                          <a:ea typeface="Cambria Math" panose="02040503050406030204" pitchFamily="18" charset="0"/>
                                        </a:rPr>
                                        <m:t>⊙</m:t>
                                      </m:r>
                                      <m:sSub>
                                        <m:sSubPr>
                                          <m:ctrlPr>
                                            <a:rPr lang="en-US" altLang="ja-JP" i="1">
                                              <a:latin typeface="Cambria Math" panose="02040503050406030204" pitchFamily="18" charset="0"/>
                                              <a:ea typeface="Cambria Math" panose="02040503050406030204" pitchFamily="18" charset="0"/>
                                            </a:rPr>
                                          </m:ctrlPr>
                                        </m:sSubPr>
                                        <m:e>
                                          <m:r>
                                            <a:rPr lang="en-US" altLang="ja-JP" b="1">
                                              <a:latin typeface="Cambria Math" panose="02040503050406030204" pitchFamily="18" charset="0"/>
                                              <a:ea typeface="Cambria Math" panose="02040503050406030204" pitchFamily="18" charset="0"/>
                                            </a:rPr>
                                            <m:t>𝐳</m:t>
                                          </m:r>
                                        </m:e>
                                        <m:sub>
                                          <m:r>
                                            <a:rPr lang="en-US" altLang="ja-JP" i="1">
                                              <a:latin typeface="Cambria Math" panose="02040503050406030204" pitchFamily="18" charset="0"/>
                                              <a:ea typeface="Cambria Math" panose="02040503050406030204" pitchFamily="18" charset="0"/>
                                            </a:rPr>
                                            <m:t>𝑙</m:t>
                                          </m:r>
                                        </m:sub>
                                      </m:sSub>
                                    </m:e>
                                  </m:nary>
                                </m:e>
                              </m:d>
                              <m:r>
                                <a:rPr lang="en-US" altLang="ja-JP" i="1">
                                  <a:latin typeface="Cambria Math" panose="02040503050406030204" pitchFamily="18" charset="0"/>
                                  <a:ea typeface="Cambria Math" panose="02040503050406030204" pitchFamily="18" charset="0"/>
                                </a:rPr>
                                <m:t>#</m:t>
                              </m:r>
                            </m:e>
                          </m:eqArr>
                          <m:r>
                            <a:rPr lang="en-US" altLang="ja-JP" i="1">
                              <a:latin typeface="Cambria Math" panose="02040503050406030204" pitchFamily="18" charset="0"/>
                              <a:ea typeface="Cambria Math" panose="02040503050406030204" pitchFamily="18" charset="0"/>
                            </a:rPr>
                            <m:t>#</m:t>
                          </m:r>
                        </m:e>
                      </m:eqArr>
                    </m:oMath>
                  </m:oMathPara>
                </a14:m>
                <a:endParaRPr lang="en-US" altLang="ja-JP" b="0" dirty="0">
                  <a:ea typeface="Cambria Math" panose="02040503050406030204" pitchFamily="18" charset="0"/>
                </a:endParaRPr>
              </a:p>
              <a:p>
                <a:pPr marL="0" indent="0">
                  <a:buNone/>
                </a:pPr>
                <a:endParaRPr lang="en-US" altLang="ja-JP" dirty="0">
                  <a:solidFill>
                    <a:schemeClr val="tx1">
                      <a:lumMod val="75000"/>
                      <a:lumOff val="25000"/>
                    </a:schemeClr>
                  </a:solidFill>
                </a:endParaRPr>
              </a:p>
              <a:p>
                <a:pPr marL="0" indent="0">
                  <a:buNone/>
                </a:pPr>
                <a:r>
                  <a:rPr lang="ja-JP" altLang="en-US" dirty="0">
                    <a:solidFill>
                      <a:srgbClr val="033BED"/>
                    </a:solidFill>
                    <a:latin typeface="Cambria Math" panose="02040503050406030204" pitchFamily="18" charset="0"/>
                  </a:rPr>
                  <a:t>ヘッセ行列</a:t>
                </a:r>
                <a14:m>
                  <m:oMath xmlns:m="http://schemas.openxmlformats.org/officeDocument/2006/math">
                    <m:sSub>
                      <m:sSubPr>
                        <m:ctrlPr>
                          <a:rPr lang="en-US" altLang="ja-JP" i="1">
                            <a:solidFill>
                              <a:srgbClr val="033BED"/>
                            </a:solidFill>
                            <a:latin typeface="Cambria Math" panose="02040503050406030204" pitchFamily="18" charset="0"/>
                            <a:ea typeface="Cambria Math" panose="02040503050406030204" pitchFamily="18" charset="0"/>
                          </a:rPr>
                        </m:ctrlPr>
                      </m:sSubPr>
                      <m:e>
                        <m:r>
                          <a:rPr lang="en-US" altLang="ja-JP" b="1" smtClean="0">
                            <a:solidFill>
                              <a:srgbClr val="033BED"/>
                            </a:solidFill>
                            <a:latin typeface="Cambria Math" panose="02040503050406030204" pitchFamily="18" charset="0"/>
                            <a:ea typeface="Cambria Math" panose="02040503050406030204" pitchFamily="18" charset="0"/>
                          </a:rPr>
                          <m:t>𝐇</m:t>
                        </m:r>
                      </m:e>
                      <m:sub>
                        <m:r>
                          <a:rPr lang="en-US" altLang="ja-JP" i="1">
                            <a:solidFill>
                              <a:srgbClr val="033BED"/>
                            </a:solidFill>
                            <a:latin typeface="Cambria Math" panose="02040503050406030204" pitchFamily="18" charset="0"/>
                            <a:ea typeface="Cambria Math" panose="02040503050406030204" pitchFamily="18" charset="0"/>
                          </a:rPr>
                          <m:t>𝑘</m:t>
                        </m:r>
                      </m:sub>
                    </m:sSub>
                  </m:oMath>
                </a14:m>
                <a:r>
                  <a:rPr lang="ja-JP" altLang="en-US" dirty="0">
                    <a:solidFill>
                      <a:srgbClr val="033BED"/>
                    </a:solidFill>
                    <a:latin typeface="Cambria Math" panose="02040503050406030204" pitchFamily="18" charset="0"/>
                  </a:rPr>
                  <a:t>と</a:t>
                </a:r>
                <a14:m>
                  <m:oMath xmlns:m="http://schemas.openxmlformats.org/officeDocument/2006/math">
                    <m:sSub>
                      <m:sSubPr>
                        <m:ctrlPr>
                          <a:rPr lang="en-US" altLang="ja-JP" i="1">
                            <a:solidFill>
                              <a:srgbClr val="033BED"/>
                            </a:solidFill>
                            <a:latin typeface="Cambria Math" panose="02040503050406030204" pitchFamily="18" charset="0"/>
                            <a:ea typeface="Cambria Math" panose="02040503050406030204" pitchFamily="18" charset="0"/>
                          </a:rPr>
                        </m:ctrlPr>
                      </m:sSubPr>
                      <m:e>
                        <m:r>
                          <a:rPr lang="en-US" altLang="ja-JP" b="1">
                            <a:solidFill>
                              <a:srgbClr val="033BED"/>
                            </a:solidFill>
                            <a:latin typeface="Cambria Math" panose="02040503050406030204" pitchFamily="18" charset="0"/>
                            <a:ea typeface="Cambria Math" panose="02040503050406030204" pitchFamily="18" charset="0"/>
                          </a:rPr>
                          <m:t>𝐳</m:t>
                        </m:r>
                      </m:e>
                      <m:sub>
                        <m:r>
                          <a:rPr lang="en-US" altLang="ja-JP" i="1">
                            <a:solidFill>
                              <a:srgbClr val="033BED"/>
                            </a:solidFill>
                            <a:latin typeface="Cambria Math" panose="02040503050406030204" pitchFamily="18" charset="0"/>
                            <a:ea typeface="Cambria Math" panose="02040503050406030204" pitchFamily="18" charset="0"/>
                          </a:rPr>
                          <m:t>𝑙</m:t>
                        </m:r>
                      </m:sub>
                    </m:sSub>
                  </m:oMath>
                </a14:m>
                <a:r>
                  <a:rPr lang="ja-JP" altLang="en-US" dirty="0">
                    <a:solidFill>
                      <a:srgbClr val="033BED"/>
                    </a:solidFill>
                    <a:latin typeface="Cambria Math" panose="02040503050406030204" pitchFamily="18" charset="0"/>
                  </a:rPr>
                  <a:t>ベクトルとの積</a:t>
                </a:r>
                <a:r>
                  <a:rPr lang="ja-JP" altLang="en-US" dirty="0">
                    <a:latin typeface="Cambria Math" panose="02040503050406030204" pitchFamily="18" charset="0"/>
                  </a:rPr>
                  <a:t>を、</a:t>
                </a:r>
                <a:r>
                  <a:rPr lang="ja-JP" altLang="en-US" dirty="0">
                    <a:solidFill>
                      <a:srgbClr val="C00000"/>
                    </a:solidFill>
                    <a:latin typeface="Cambria Math" panose="02040503050406030204" pitchFamily="18" charset="0"/>
                  </a:rPr>
                  <a:t>勾配</a:t>
                </a:r>
                <a14:m>
                  <m:oMath xmlns:m="http://schemas.openxmlformats.org/officeDocument/2006/math">
                    <m:r>
                      <a:rPr lang="ja-JP" altLang="en-US" b="1" i="1" dirty="0" smtClean="0">
                        <a:solidFill>
                          <a:srgbClr val="C00000"/>
                        </a:solidFill>
                        <a:latin typeface="Cambria Math" panose="02040503050406030204" pitchFamily="18" charset="0"/>
                      </a:rPr>
                      <m:t>の</m:t>
                    </m:r>
                    <m:sSub>
                      <m:sSubPr>
                        <m:ctrlPr>
                          <a:rPr lang="en-US" altLang="ja-JP" i="1" smtClean="0">
                            <a:solidFill>
                              <a:srgbClr val="C00000"/>
                            </a:solidFill>
                            <a:latin typeface="Cambria Math" panose="02040503050406030204" pitchFamily="18" charset="0"/>
                            <a:ea typeface="Cambria Math" panose="02040503050406030204" pitchFamily="18" charset="0"/>
                          </a:rPr>
                        </m:ctrlPr>
                      </m:sSubPr>
                      <m:e>
                        <m:r>
                          <a:rPr lang="en-US" altLang="ja-JP" b="1" i="0" smtClean="0">
                            <a:solidFill>
                              <a:srgbClr val="C00000"/>
                            </a:solidFill>
                            <a:latin typeface="Cambria Math" panose="02040503050406030204" pitchFamily="18" charset="0"/>
                            <a:ea typeface="Cambria Math" panose="02040503050406030204" pitchFamily="18" charset="0"/>
                          </a:rPr>
                          <m:t>𝐠</m:t>
                        </m:r>
                      </m:e>
                      <m:sub>
                        <m:r>
                          <a:rPr lang="en-US" altLang="ja-JP" b="0" i="1" smtClean="0">
                            <a:solidFill>
                              <a:srgbClr val="C00000"/>
                            </a:solidFill>
                            <a:latin typeface="Cambria Math" panose="02040503050406030204" pitchFamily="18" charset="0"/>
                            <a:ea typeface="Cambria Math" panose="02040503050406030204" pitchFamily="18" charset="0"/>
                          </a:rPr>
                          <m:t>𝑘</m:t>
                        </m:r>
                      </m:sub>
                    </m:sSub>
                  </m:oMath>
                </a14:m>
                <a:r>
                  <a:rPr lang="ja-JP" altLang="en-US" dirty="0">
                    <a:solidFill>
                      <a:srgbClr val="C00000"/>
                    </a:solidFill>
                    <a:latin typeface="Cambria Math" panose="02040503050406030204" pitchFamily="18" charset="0"/>
                  </a:rPr>
                  <a:t>ベクトルと</a:t>
                </a:r>
                <a14:m>
                  <m:oMath xmlns:m="http://schemas.openxmlformats.org/officeDocument/2006/math">
                    <m:sSub>
                      <m:sSubPr>
                        <m:ctrlPr>
                          <a:rPr lang="en-US" altLang="ja-JP" i="1">
                            <a:solidFill>
                              <a:srgbClr val="C00000"/>
                            </a:solidFill>
                            <a:latin typeface="Cambria Math" panose="02040503050406030204" pitchFamily="18" charset="0"/>
                            <a:ea typeface="Cambria Math" panose="02040503050406030204" pitchFamily="18" charset="0"/>
                          </a:rPr>
                        </m:ctrlPr>
                      </m:sSubPr>
                      <m:e>
                        <m:r>
                          <a:rPr lang="en-US" altLang="ja-JP" b="1">
                            <a:solidFill>
                              <a:srgbClr val="C00000"/>
                            </a:solidFill>
                            <a:latin typeface="Cambria Math" panose="02040503050406030204" pitchFamily="18" charset="0"/>
                            <a:ea typeface="Cambria Math" panose="02040503050406030204" pitchFamily="18" charset="0"/>
                          </a:rPr>
                          <m:t>𝐳</m:t>
                        </m:r>
                      </m:e>
                      <m:sub>
                        <m:r>
                          <a:rPr lang="en-US" altLang="ja-JP" i="1">
                            <a:solidFill>
                              <a:srgbClr val="C00000"/>
                            </a:solidFill>
                            <a:latin typeface="Cambria Math" panose="02040503050406030204" pitchFamily="18" charset="0"/>
                            <a:ea typeface="Cambria Math" panose="02040503050406030204" pitchFamily="18" charset="0"/>
                          </a:rPr>
                          <m:t>𝑙</m:t>
                        </m:r>
                      </m:sub>
                    </m:sSub>
                  </m:oMath>
                </a14:m>
                <a:r>
                  <a:rPr lang="ja-JP" altLang="en-US" dirty="0">
                    <a:solidFill>
                      <a:srgbClr val="C00000"/>
                    </a:solidFill>
                    <a:latin typeface="Cambria Math" panose="02040503050406030204" pitchFamily="18" charset="0"/>
                  </a:rPr>
                  <a:t>ベクトルの内積を重み</a:t>
                </a:r>
                <a14:m>
                  <m:oMath xmlns:m="http://schemas.openxmlformats.org/officeDocument/2006/math">
                    <m:r>
                      <a:rPr lang="en-US" altLang="ja-JP" b="1">
                        <a:solidFill>
                          <a:srgbClr val="C00000"/>
                        </a:solidFill>
                        <a:latin typeface="Cambria Math" panose="02040503050406030204" pitchFamily="18" charset="0"/>
                      </a:rPr>
                      <m:t>𝐰</m:t>
                    </m:r>
                  </m:oMath>
                </a14:m>
                <a:r>
                  <a:rPr lang="ja-JP" altLang="en-US" dirty="0">
                    <a:solidFill>
                      <a:srgbClr val="C00000"/>
                    </a:solidFill>
                    <a:latin typeface="Cambria Math" panose="02040503050406030204" pitchFamily="18" charset="0"/>
                  </a:rPr>
                  <a:t>で微分した</a:t>
                </a:r>
                <a14:m>
                  <m:oMath xmlns:m="http://schemas.openxmlformats.org/officeDocument/2006/math">
                    <m:f>
                      <m:fPr>
                        <m:ctrlPr>
                          <a:rPr lang="en-US" altLang="ja-JP" i="1">
                            <a:solidFill>
                              <a:srgbClr val="C00000"/>
                            </a:solidFill>
                            <a:latin typeface="Cambria Math" panose="02040503050406030204" pitchFamily="18" charset="0"/>
                          </a:rPr>
                        </m:ctrlPr>
                      </m:fPr>
                      <m:num>
                        <m:r>
                          <a:rPr lang="ja-JP" altLang="en-US" i="1">
                            <a:solidFill>
                              <a:srgbClr val="C00000"/>
                            </a:solidFill>
                            <a:latin typeface="Cambria Math" panose="02040503050406030204" pitchFamily="18" charset="0"/>
                          </a:rPr>
                          <m:t>𝜕</m:t>
                        </m:r>
                        <m:sSubSup>
                          <m:sSubSupPr>
                            <m:ctrlPr>
                              <a:rPr lang="en-US" altLang="ja-JP" i="1">
                                <a:solidFill>
                                  <a:srgbClr val="C00000"/>
                                </a:solidFill>
                                <a:latin typeface="Cambria Math" panose="02040503050406030204" pitchFamily="18" charset="0"/>
                                <a:ea typeface="Cambria Math" panose="02040503050406030204" pitchFamily="18" charset="0"/>
                              </a:rPr>
                            </m:ctrlPr>
                          </m:sSubSupPr>
                          <m:e>
                            <m:r>
                              <a:rPr lang="en-US" altLang="ja-JP" b="1">
                                <a:solidFill>
                                  <a:srgbClr val="C00000"/>
                                </a:solidFill>
                                <a:latin typeface="Cambria Math" panose="02040503050406030204" pitchFamily="18" charset="0"/>
                                <a:ea typeface="Cambria Math" panose="02040503050406030204" pitchFamily="18" charset="0"/>
                              </a:rPr>
                              <m:t>𝐠</m:t>
                            </m:r>
                          </m:e>
                          <m:sub>
                            <m:r>
                              <a:rPr lang="en-US" altLang="ja-JP" i="1">
                                <a:solidFill>
                                  <a:srgbClr val="C00000"/>
                                </a:solidFill>
                                <a:latin typeface="Cambria Math" panose="02040503050406030204" pitchFamily="18" charset="0"/>
                                <a:ea typeface="Cambria Math" panose="02040503050406030204" pitchFamily="18" charset="0"/>
                              </a:rPr>
                              <m:t>𝑘</m:t>
                            </m:r>
                          </m:sub>
                          <m:sup>
                            <m:r>
                              <a:rPr lang="en-US" altLang="ja-JP" i="1">
                                <a:solidFill>
                                  <a:srgbClr val="C00000"/>
                                </a:solidFill>
                                <a:latin typeface="Cambria Math" panose="02040503050406030204" pitchFamily="18" charset="0"/>
                                <a:ea typeface="Cambria Math" panose="02040503050406030204" pitchFamily="18" charset="0"/>
                              </a:rPr>
                              <m:t>𝑇</m:t>
                            </m:r>
                          </m:sup>
                        </m:sSubSup>
                        <m:sSub>
                          <m:sSubPr>
                            <m:ctrlPr>
                              <a:rPr lang="en-US" altLang="ja-JP" i="1">
                                <a:solidFill>
                                  <a:srgbClr val="C00000"/>
                                </a:solidFill>
                                <a:latin typeface="Cambria Math" panose="02040503050406030204" pitchFamily="18" charset="0"/>
                              </a:rPr>
                            </m:ctrlPr>
                          </m:sSubPr>
                          <m:e>
                            <m:r>
                              <a:rPr lang="en-US" altLang="ja-JP" b="1">
                                <a:solidFill>
                                  <a:srgbClr val="C00000"/>
                                </a:solidFill>
                                <a:latin typeface="Cambria Math" panose="02040503050406030204" pitchFamily="18" charset="0"/>
                              </a:rPr>
                              <m:t>𝐳</m:t>
                            </m:r>
                          </m:e>
                          <m:sub>
                            <m:r>
                              <a:rPr lang="en-US" altLang="ja-JP" i="1">
                                <a:solidFill>
                                  <a:srgbClr val="C00000"/>
                                </a:solidFill>
                                <a:latin typeface="Cambria Math" panose="02040503050406030204" pitchFamily="18" charset="0"/>
                              </a:rPr>
                              <m:t>𝑙</m:t>
                            </m:r>
                          </m:sub>
                        </m:sSub>
                      </m:num>
                      <m:den>
                        <m:r>
                          <a:rPr lang="ja-JP" altLang="en-US" i="1">
                            <a:solidFill>
                              <a:srgbClr val="C00000"/>
                            </a:solidFill>
                            <a:latin typeface="Cambria Math" panose="02040503050406030204" pitchFamily="18" charset="0"/>
                          </a:rPr>
                          <m:t>𝜕</m:t>
                        </m:r>
                        <m:r>
                          <a:rPr lang="en-US" altLang="ja-JP" b="1">
                            <a:solidFill>
                              <a:srgbClr val="C00000"/>
                            </a:solidFill>
                            <a:latin typeface="Cambria Math" panose="02040503050406030204" pitchFamily="18" charset="0"/>
                          </a:rPr>
                          <m:t>𝐰</m:t>
                        </m:r>
                      </m:den>
                    </m:f>
                  </m:oMath>
                </a14:m>
                <a:r>
                  <a:rPr lang="ja-JP" altLang="en-US" dirty="0">
                    <a:latin typeface="Cambria Math" panose="02040503050406030204" pitchFamily="18" charset="0"/>
                  </a:rPr>
                  <a:t>に置き換える</a:t>
                </a:r>
                <a:endParaRPr kumimoji="1" lang="en-US" altLang="ja-JP" b="0" dirty="0">
                  <a:solidFill>
                    <a:schemeClr val="tx1">
                      <a:lumMod val="75000"/>
                      <a:lumOff val="25000"/>
                    </a:schemeClr>
                  </a:solidFill>
                  <a:latin typeface="Cambria Math" panose="02040503050406030204" pitchFamily="18" charset="0"/>
                </a:endParaRPr>
              </a:p>
              <a:p>
                <a:pPr marL="0" indent="0">
                  <a:buNone/>
                </a:pPr>
                <a:endParaRPr kumimoji="1" lang="en-US" altLang="ja-JP" b="0" dirty="0">
                  <a:solidFill>
                    <a:schemeClr val="tx1">
                      <a:lumMod val="75000"/>
                      <a:lumOff val="25000"/>
                    </a:schemeClr>
                  </a:solidFill>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altLang="ja-JP" i="1">
                              <a:latin typeface="Cambria Math" panose="02040503050406030204" pitchFamily="18" charset="0"/>
                            </a:rPr>
                          </m:ctrlPr>
                        </m:fPr>
                        <m:num>
                          <m:r>
                            <a:rPr lang="ja-JP" altLang="en-US" i="1">
                              <a:latin typeface="Cambria Math" panose="02040503050406030204" pitchFamily="18" charset="0"/>
                            </a:rPr>
                            <m:t>𝜕</m:t>
                          </m:r>
                          <m:sSubSup>
                            <m:sSubSupPr>
                              <m:ctrlPr>
                                <a:rPr lang="en-US" altLang="ja-JP" i="1">
                                  <a:latin typeface="Cambria Math" panose="02040503050406030204" pitchFamily="18" charset="0"/>
                                  <a:ea typeface="Cambria Math" panose="02040503050406030204" pitchFamily="18" charset="0"/>
                                </a:rPr>
                              </m:ctrlPr>
                            </m:sSubSupPr>
                            <m:e>
                              <m:r>
                                <a:rPr lang="en-US" altLang="ja-JP" b="1" i="0" smtClean="0">
                                  <a:latin typeface="Cambria Math" panose="02040503050406030204" pitchFamily="18" charset="0"/>
                                  <a:ea typeface="Cambria Math" panose="02040503050406030204" pitchFamily="18" charset="0"/>
                                </a:rPr>
                                <m:t>𝐠</m:t>
                              </m:r>
                            </m:e>
                            <m:sub>
                              <m:r>
                                <a:rPr lang="en-US" altLang="ja-JP" i="1">
                                  <a:latin typeface="Cambria Math" panose="02040503050406030204" pitchFamily="18" charset="0"/>
                                  <a:ea typeface="Cambria Math" panose="02040503050406030204" pitchFamily="18" charset="0"/>
                                </a:rPr>
                                <m:t>𝑘</m:t>
                              </m:r>
                            </m:sub>
                            <m:sup>
                              <m:r>
                                <a:rPr lang="en-US" altLang="ja-JP" i="1">
                                  <a:latin typeface="Cambria Math" panose="02040503050406030204" pitchFamily="18" charset="0"/>
                                  <a:ea typeface="Cambria Math" panose="02040503050406030204" pitchFamily="18" charset="0"/>
                                </a:rPr>
                                <m:t>𝑇</m:t>
                              </m:r>
                            </m:sup>
                          </m:sSubSup>
                          <m:sSub>
                            <m:sSubPr>
                              <m:ctrlPr>
                                <a:rPr lang="en-US" altLang="ja-JP" i="1">
                                  <a:latin typeface="Cambria Math" panose="02040503050406030204" pitchFamily="18" charset="0"/>
                                </a:rPr>
                              </m:ctrlPr>
                            </m:sSubPr>
                            <m:e>
                              <m:r>
                                <a:rPr lang="en-US" altLang="ja-JP" b="1" i="0" smtClean="0">
                                  <a:latin typeface="Cambria Math" panose="02040503050406030204" pitchFamily="18" charset="0"/>
                                </a:rPr>
                                <m:t>𝐳</m:t>
                              </m:r>
                            </m:e>
                            <m:sub>
                              <m:r>
                                <a:rPr lang="en-US" altLang="ja-JP" b="0" i="1" smtClean="0">
                                  <a:latin typeface="Cambria Math" panose="02040503050406030204" pitchFamily="18" charset="0"/>
                                </a:rPr>
                                <m:t>𝑙</m:t>
                              </m:r>
                            </m:sub>
                          </m:sSub>
                        </m:num>
                        <m:den>
                          <m:r>
                            <a:rPr lang="ja-JP" altLang="en-US" i="1">
                              <a:latin typeface="Cambria Math" panose="02040503050406030204" pitchFamily="18" charset="0"/>
                            </a:rPr>
                            <m:t>𝜕</m:t>
                          </m:r>
                          <m:r>
                            <a:rPr lang="en-US" altLang="ja-JP" b="1">
                              <a:latin typeface="Cambria Math" panose="02040503050406030204" pitchFamily="18" charset="0"/>
                            </a:rPr>
                            <m:t>𝐰</m:t>
                          </m:r>
                        </m:den>
                      </m:f>
                      <m:r>
                        <a:rPr lang="en-US" altLang="ja-JP" i="1">
                          <a:latin typeface="Cambria Math" panose="02040503050406030204" pitchFamily="18" charset="0"/>
                        </a:rPr>
                        <m:t>=</m:t>
                      </m:r>
                      <m:f>
                        <m:fPr>
                          <m:ctrlPr>
                            <a:rPr lang="en-US" altLang="ja-JP" i="1">
                              <a:latin typeface="Cambria Math" panose="02040503050406030204" pitchFamily="18" charset="0"/>
                            </a:rPr>
                          </m:ctrlPr>
                        </m:fPr>
                        <m:num>
                          <m:r>
                            <a:rPr lang="ja-JP" altLang="en-US" i="1">
                              <a:latin typeface="Cambria Math" panose="02040503050406030204" pitchFamily="18" charset="0"/>
                            </a:rPr>
                            <m:t>𝜕</m:t>
                          </m:r>
                          <m:sSubSup>
                            <m:sSubSupPr>
                              <m:ctrlPr>
                                <a:rPr lang="en-US" altLang="ja-JP" i="1">
                                  <a:latin typeface="Cambria Math" panose="02040503050406030204" pitchFamily="18" charset="0"/>
                                  <a:ea typeface="Cambria Math" panose="02040503050406030204" pitchFamily="18" charset="0"/>
                                </a:rPr>
                              </m:ctrlPr>
                            </m:sSubSupPr>
                            <m:e>
                              <m:r>
                                <a:rPr lang="en-US" altLang="ja-JP" b="1">
                                  <a:latin typeface="Cambria Math" panose="02040503050406030204" pitchFamily="18" charset="0"/>
                                  <a:ea typeface="Cambria Math" panose="02040503050406030204" pitchFamily="18" charset="0"/>
                                </a:rPr>
                                <m:t>𝐠</m:t>
                              </m:r>
                            </m:e>
                            <m:sub>
                              <m:r>
                                <a:rPr lang="en-US" altLang="ja-JP" i="1">
                                  <a:latin typeface="Cambria Math" panose="02040503050406030204" pitchFamily="18" charset="0"/>
                                  <a:ea typeface="Cambria Math" panose="02040503050406030204" pitchFamily="18" charset="0"/>
                                </a:rPr>
                                <m:t>𝑘</m:t>
                              </m:r>
                            </m:sub>
                            <m:sup>
                              <m:r>
                                <a:rPr lang="en-US" altLang="ja-JP" i="1">
                                  <a:latin typeface="Cambria Math" panose="02040503050406030204" pitchFamily="18" charset="0"/>
                                  <a:ea typeface="Cambria Math" panose="02040503050406030204" pitchFamily="18" charset="0"/>
                                </a:rPr>
                                <m:t>𝑇</m:t>
                              </m:r>
                            </m:sup>
                          </m:sSubSup>
                        </m:num>
                        <m:den>
                          <m:r>
                            <a:rPr lang="ja-JP" altLang="en-US" i="1">
                              <a:latin typeface="Cambria Math" panose="02040503050406030204" pitchFamily="18" charset="0"/>
                            </a:rPr>
                            <m:t>𝜕</m:t>
                          </m:r>
                          <m:r>
                            <a:rPr lang="en-US" altLang="ja-JP" b="1">
                              <a:latin typeface="Cambria Math" panose="02040503050406030204" pitchFamily="18" charset="0"/>
                            </a:rPr>
                            <m:t>𝐰</m:t>
                          </m:r>
                        </m:den>
                      </m:f>
                      <m:sSub>
                        <m:sSubPr>
                          <m:ctrlPr>
                            <a:rPr lang="en-US" altLang="ja-JP" i="1">
                              <a:latin typeface="Cambria Math" panose="02040503050406030204" pitchFamily="18" charset="0"/>
                            </a:rPr>
                          </m:ctrlPr>
                        </m:sSubPr>
                        <m:e>
                          <m:r>
                            <a:rPr lang="en-US" altLang="ja-JP" b="1">
                              <a:latin typeface="Cambria Math" panose="02040503050406030204" pitchFamily="18" charset="0"/>
                            </a:rPr>
                            <m:t>𝐳</m:t>
                          </m:r>
                        </m:e>
                        <m:sub>
                          <m:r>
                            <a:rPr lang="en-US" altLang="ja-JP" i="1">
                              <a:latin typeface="Cambria Math" panose="02040503050406030204" pitchFamily="18" charset="0"/>
                            </a:rPr>
                            <m:t>𝑙</m:t>
                          </m:r>
                        </m:sub>
                      </m:sSub>
                      <m:r>
                        <a:rPr lang="en-US" altLang="ja-JP" i="1">
                          <a:latin typeface="Cambria Math" panose="02040503050406030204" pitchFamily="18" charset="0"/>
                        </a:rPr>
                        <m:t>+</m:t>
                      </m:r>
                      <m:sSubSup>
                        <m:sSubSupPr>
                          <m:ctrlPr>
                            <a:rPr lang="en-US" altLang="ja-JP" i="1">
                              <a:latin typeface="Cambria Math" panose="02040503050406030204" pitchFamily="18" charset="0"/>
                              <a:ea typeface="Cambria Math" panose="02040503050406030204" pitchFamily="18" charset="0"/>
                            </a:rPr>
                          </m:ctrlPr>
                        </m:sSubSupPr>
                        <m:e>
                          <m:r>
                            <a:rPr lang="en-US" altLang="ja-JP" b="1">
                              <a:latin typeface="Cambria Math" panose="02040503050406030204" pitchFamily="18" charset="0"/>
                              <a:ea typeface="Cambria Math" panose="02040503050406030204" pitchFamily="18" charset="0"/>
                            </a:rPr>
                            <m:t>𝐠</m:t>
                          </m:r>
                        </m:e>
                        <m:sub>
                          <m:r>
                            <a:rPr lang="en-US" altLang="ja-JP" i="1">
                              <a:latin typeface="Cambria Math" panose="02040503050406030204" pitchFamily="18" charset="0"/>
                              <a:ea typeface="Cambria Math" panose="02040503050406030204" pitchFamily="18" charset="0"/>
                            </a:rPr>
                            <m:t>𝑘</m:t>
                          </m:r>
                        </m:sub>
                        <m:sup>
                          <m:r>
                            <a:rPr lang="en-US" altLang="ja-JP" i="1">
                              <a:latin typeface="Cambria Math" panose="02040503050406030204" pitchFamily="18" charset="0"/>
                              <a:ea typeface="Cambria Math" panose="02040503050406030204" pitchFamily="18" charset="0"/>
                            </a:rPr>
                            <m:t>𝑇</m:t>
                          </m:r>
                        </m:sup>
                      </m:sSubSup>
                      <m:f>
                        <m:fPr>
                          <m:ctrlPr>
                            <a:rPr lang="en-US" altLang="ja-JP" i="1">
                              <a:latin typeface="Cambria Math" panose="02040503050406030204" pitchFamily="18" charset="0"/>
                            </a:rPr>
                          </m:ctrlPr>
                        </m:fPr>
                        <m:num>
                          <m:sSub>
                            <m:sSubPr>
                              <m:ctrlPr>
                                <a:rPr lang="en-US" altLang="ja-JP" i="1">
                                  <a:latin typeface="Cambria Math" panose="02040503050406030204" pitchFamily="18" charset="0"/>
                                </a:rPr>
                              </m:ctrlPr>
                            </m:sSubPr>
                            <m:e>
                              <m:r>
                                <a:rPr lang="en-US" altLang="ja-JP" b="1">
                                  <a:latin typeface="Cambria Math" panose="02040503050406030204" pitchFamily="18" charset="0"/>
                                </a:rPr>
                                <m:t>𝐳</m:t>
                              </m:r>
                            </m:e>
                            <m:sub>
                              <m:r>
                                <a:rPr lang="en-US" altLang="ja-JP" i="1">
                                  <a:latin typeface="Cambria Math" panose="02040503050406030204" pitchFamily="18" charset="0"/>
                                </a:rPr>
                                <m:t>𝑙</m:t>
                              </m:r>
                            </m:sub>
                          </m:sSub>
                        </m:num>
                        <m:den>
                          <m:r>
                            <a:rPr lang="ja-JP" altLang="en-US" i="1">
                              <a:latin typeface="Cambria Math" panose="02040503050406030204" pitchFamily="18" charset="0"/>
                            </a:rPr>
                            <m:t>𝜕</m:t>
                          </m:r>
                          <m:r>
                            <a:rPr lang="en-US" altLang="ja-JP" b="1">
                              <a:latin typeface="Cambria Math" panose="02040503050406030204" pitchFamily="18" charset="0"/>
                            </a:rPr>
                            <m:t>𝐰</m:t>
                          </m:r>
                        </m:den>
                      </m:f>
                      <m:r>
                        <a:rPr lang="en-US" altLang="ja-JP" b="0" i="1" smtClean="0">
                          <a:solidFill>
                            <a:schemeClr val="tx1">
                              <a:lumMod val="75000"/>
                              <a:lumOff val="25000"/>
                            </a:schemeClr>
                          </a:solidFill>
                          <a:latin typeface="Cambria Math" panose="02040503050406030204" pitchFamily="18" charset="0"/>
                        </a:rPr>
                        <m:t>=</m:t>
                      </m:r>
                      <m:f>
                        <m:fPr>
                          <m:ctrlPr>
                            <a:rPr lang="en-US" altLang="ja-JP" i="1">
                              <a:latin typeface="Cambria Math" panose="02040503050406030204" pitchFamily="18" charset="0"/>
                            </a:rPr>
                          </m:ctrlPr>
                        </m:fPr>
                        <m:num>
                          <m:r>
                            <a:rPr lang="ja-JP" altLang="en-US" i="1">
                              <a:latin typeface="Cambria Math" panose="02040503050406030204" pitchFamily="18" charset="0"/>
                            </a:rPr>
                            <m:t>𝜕</m:t>
                          </m:r>
                          <m:sSubSup>
                            <m:sSubSupPr>
                              <m:ctrlPr>
                                <a:rPr lang="en-US" altLang="ja-JP" i="1">
                                  <a:latin typeface="Cambria Math" panose="02040503050406030204" pitchFamily="18" charset="0"/>
                                  <a:ea typeface="Cambria Math" panose="02040503050406030204" pitchFamily="18" charset="0"/>
                                </a:rPr>
                              </m:ctrlPr>
                            </m:sSubSupPr>
                            <m:e>
                              <m:r>
                                <a:rPr lang="en-US" altLang="ja-JP" b="1">
                                  <a:latin typeface="Cambria Math" panose="02040503050406030204" pitchFamily="18" charset="0"/>
                                  <a:ea typeface="Cambria Math" panose="02040503050406030204" pitchFamily="18" charset="0"/>
                                </a:rPr>
                                <m:t>𝐠</m:t>
                              </m:r>
                            </m:e>
                            <m:sub>
                              <m:r>
                                <a:rPr lang="en-US" altLang="ja-JP" i="1">
                                  <a:latin typeface="Cambria Math" panose="02040503050406030204" pitchFamily="18" charset="0"/>
                                  <a:ea typeface="Cambria Math" panose="02040503050406030204" pitchFamily="18" charset="0"/>
                                </a:rPr>
                                <m:t>𝑘</m:t>
                              </m:r>
                            </m:sub>
                            <m:sup>
                              <m:r>
                                <a:rPr lang="en-US" altLang="ja-JP" i="1">
                                  <a:latin typeface="Cambria Math" panose="02040503050406030204" pitchFamily="18" charset="0"/>
                                  <a:ea typeface="Cambria Math" panose="02040503050406030204" pitchFamily="18" charset="0"/>
                                </a:rPr>
                                <m:t>𝑇</m:t>
                              </m:r>
                            </m:sup>
                          </m:sSubSup>
                        </m:num>
                        <m:den>
                          <m:r>
                            <a:rPr lang="ja-JP" altLang="en-US" i="1">
                              <a:latin typeface="Cambria Math" panose="02040503050406030204" pitchFamily="18" charset="0"/>
                            </a:rPr>
                            <m:t>𝜕</m:t>
                          </m:r>
                          <m:r>
                            <a:rPr lang="en-US" altLang="ja-JP" b="1">
                              <a:latin typeface="Cambria Math" panose="02040503050406030204" pitchFamily="18" charset="0"/>
                            </a:rPr>
                            <m:t>𝐰</m:t>
                          </m:r>
                        </m:den>
                      </m:f>
                      <m:sSub>
                        <m:sSubPr>
                          <m:ctrlPr>
                            <a:rPr lang="en-US" altLang="ja-JP" i="1">
                              <a:latin typeface="Cambria Math" panose="02040503050406030204" pitchFamily="18" charset="0"/>
                            </a:rPr>
                          </m:ctrlPr>
                        </m:sSubPr>
                        <m:e>
                          <m:r>
                            <a:rPr lang="en-US" altLang="ja-JP" b="1">
                              <a:latin typeface="Cambria Math" panose="02040503050406030204" pitchFamily="18" charset="0"/>
                            </a:rPr>
                            <m:t>𝐳</m:t>
                          </m:r>
                        </m:e>
                        <m:sub>
                          <m:r>
                            <a:rPr lang="en-US" altLang="ja-JP" b="0" i="1" smtClean="0">
                              <a:latin typeface="Cambria Math" panose="02040503050406030204" pitchFamily="18" charset="0"/>
                            </a:rPr>
                            <m:t>𝑙</m:t>
                          </m:r>
                        </m:sub>
                      </m:sSub>
                      <m:r>
                        <a:rPr lang="en-US" altLang="ja-JP" b="1" i="0" smtClean="0">
                          <a:latin typeface="Cambria Math" panose="02040503050406030204" pitchFamily="18" charset="0"/>
                        </a:rPr>
                        <m:t>=</m:t>
                      </m:r>
                      <m:sSub>
                        <m:sSubPr>
                          <m:ctrlPr>
                            <a:rPr lang="en-US" altLang="ja-JP" i="1">
                              <a:latin typeface="Cambria Math" panose="02040503050406030204" pitchFamily="18" charset="0"/>
                            </a:rPr>
                          </m:ctrlPr>
                        </m:sSubPr>
                        <m:e>
                          <m:r>
                            <a:rPr lang="en-US" altLang="ja-JP" b="1" i="0" smtClean="0">
                              <a:latin typeface="Cambria Math" panose="02040503050406030204" pitchFamily="18" charset="0"/>
                            </a:rPr>
                            <m:t>𝐇</m:t>
                          </m:r>
                        </m:e>
                        <m:sub>
                          <m:r>
                            <a:rPr lang="en-US" altLang="ja-JP" i="1">
                              <a:latin typeface="Cambria Math" panose="02040503050406030204" pitchFamily="18" charset="0"/>
                            </a:rPr>
                            <m:t>𝑘</m:t>
                          </m:r>
                        </m:sub>
                      </m:sSub>
                      <m:sSub>
                        <m:sSubPr>
                          <m:ctrlPr>
                            <a:rPr lang="en-US" altLang="ja-JP" i="1">
                              <a:latin typeface="Cambria Math" panose="02040503050406030204" pitchFamily="18" charset="0"/>
                            </a:rPr>
                          </m:ctrlPr>
                        </m:sSubPr>
                        <m:e>
                          <m:r>
                            <a:rPr lang="en-US" altLang="ja-JP" b="1">
                              <a:latin typeface="Cambria Math" panose="02040503050406030204" pitchFamily="18" charset="0"/>
                            </a:rPr>
                            <m:t>𝐳</m:t>
                          </m:r>
                        </m:e>
                        <m:sub>
                          <m:r>
                            <a:rPr lang="en-US" altLang="ja-JP" b="0" i="1" smtClean="0">
                              <a:latin typeface="Cambria Math" panose="02040503050406030204" pitchFamily="18" charset="0"/>
                            </a:rPr>
                            <m:t>𝑙</m:t>
                          </m:r>
                        </m:sub>
                      </m:sSub>
                    </m:oMath>
                  </m:oMathPara>
                </a14:m>
                <a:endParaRPr lang="en-US" altLang="ja-JP" b="0" i="1" dirty="0">
                  <a:solidFill>
                    <a:schemeClr val="tx1">
                      <a:lumMod val="75000"/>
                      <a:lumOff val="25000"/>
                    </a:schemeClr>
                  </a:solidFill>
                </a:endParaRPr>
              </a:p>
              <a:p>
                <a:pPr marL="0" indent="0">
                  <a:buNone/>
                </a:pPr>
                <a:endParaRPr lang="en-US" altLang="ja-JP" b="0" i="1" dirty="0">
                  <a:solidFill>
                    <a:schemeClr val="tx1">
                      <a:lumMod val="75000"/>
                      <a:lumOff val="25000"/>
                    </a:schemeClr>
                  </a:solidFill>
                </a:endParaRPr>
              </a:p>
            </p:txBody>
          </p:sp>
        </mc:Choice>
        <mc:Fallback xmlns="">
          <p:sp>
            <p:nvSpPr>
              <p:cNvPr id="3" name="コンテンツ プレースホルダー 2">
                <a:extLst>
                  <a:ext uri="{FF2B5EF4-FFF2-40B4-BE49-F238E27FC236}">
                    <a16:creationId xmlns:a16="http://schemas.microsoft.com/office/drawing/2014/main" id="{DE90730F-5CC4-4500-833D-3F0214563641}"/>
                  </a:ext>
                </a:extLst>
              </p:cNvPr>
              <p:cNvSpPr>
                <a:spLocks noGrp="1" noRot="1" noChangeAspect="1" noMove="1" noResize="1" noEditPoints="1" noAdjustHandles="1" noChangeArrowheads="1" noChangeShapeType="1" noTextEdit="1"/>
              </p:cNvSpPr>
              <p:nvPr>
                <p:ph idx="1"/>
              </p:nvPr>
            </p:nvSpPr>
            <p:spPr>
              <a:xfrm>
                <a:off x="838200" y="1654900"/>
                <a:ext cx="10325100" cy="5194119"/>
              </a:xfrm>
              <a:blipFill>
                <a:blip r:embed="rId3"/>
                <a:stretch>
                  <a:fillRect l="-1240"/>
                </a:stretch>
              </a:blipFill>
            </p:spPr>
            <p:txBody>
              <a:bodyPr/>
              <a:lstStyle/>
              <a:p>
                <a:r>
                  <a:rPr lang="ja-JP" altLang="en-US">
                    <a:noFill/>
                  </a:rPr>
                  <a:t> </a:t>
                </a:r>
              </a:p>
            </p:txBody>
          </p:sp>
        </mc:Fallback>
      </mc:AlternateContent>
      <p:sp>
        <p:nvSpPr>
          <p:cNvPr id="2" name="スライド番号プレースホルダー 1">
            <a:extLst>
              <a:ext uri="{FF2B5EF4-FFF2-40B4-BE49-F238E27FC236}">
                <a16:creationId xmlns:a16="http://schemas.microsoft.com/office/drawing/2014/main" id="{E7A79576-016E-4C4F-A9A1-4A578794F457}"/>
              </a:ext>
            </a:extLst>
          </p:cNvPr>
          <p:cNvSpPr>
            <a:spLocks noGrp="1"/>
          </p:cNvSpPr>
          <p:nvPr>
            <p:ph type="sldNum" sz="quarter" idx="12"/>
          </p:nvPr>
        </p:nvSpPr>
        <p:spPr>
          <a:xfrm>
            <a:off x="9329693" y="6356350"/>
            <a:ext cx="2743200" cy="365125"/>
          </a:xfrm>
        </p:spPr>
        <p:txBody>
          <a:bodyPr/>
          <a:lstStyle/>
          <a:p>
            <a:r>
              <a:rPr kumimoji="1" lang="en-US" altLang="ja-JP" dirty="0"/>
              <a:t>12</a:t>
            </a:r>
            <a:endParaRPr kumimoji="1" lang="ja-JP" altLang="en-US" dirty="0"/>
          </a:p>
        </p:txBody>
      </p:sp>
      <p:sp>
        <p:nvSpPr>
          <p:cNvPr id="7" name="テキスト ボックス 6">
            <a:extLst>
              <a:ext uri="{FF2B5EF4-FFF2-40B4-BE49-F238E27FC236}">
                <a16:creationId xmlns:a16="http://schemas.microsoft.com/office/drawing/2014/main" id="{78D4EC2B-83A3-4FC9-A886-46A1EC3496E6}"/>
              </a:ext>
            </a:extLst>
          </p:cNvPr>
          <p:cNvSpPr txBox="1"/>
          <p:nvPr/>
        </p:nvSpPr>
        <p:spPr>
          <a:xfrm>
            <a:off x="10638947" y="2265049"/>
            <a:ext cx="877830" cy="596253"/>
          </a:xfrm>
          <a:prstGeom prst="rect">
            <a:avLst/>
          </a:prstGeom>
          <a:solidFill>
            <a:srgbClr val="E4E4E4"/>
          </a:solidFill>
        </p:spPr>
        <p:txBody>
          <a:bodyPr wrap="square" rtlCol="0">
            <a:spAutoFit/>
          </a:bodyPr>
          <a:lstStyle/>
          <a:p>
            <a:pPr>
              <a:lnSpc>
                <a:spcPct val="150000"/>
              </a:lnSpc>
            </a:pPr>
            <a:r>
              <a:rPr kumimoji="1" lang="en-US" altLang="ja-JP" sz="2400" dirty="0">
                <a:latin typeface="UD デジタル 教科書体 NK-R" panose="02020400000000000000" pitchFamily="18" charset="-128"/>
                <a:ea typeface="UD デジタル 教科書体 NK-R" panose="02020400000000000000" pitchFamily="18" charset="-128"/>
              </a:rPr>
              <a:t>(6)</a:t>
            </a:r>
            <a:endParaRPr kumimoji="1" lang="ja-JP" altLang="en-US" sz="2400" dirty="0">
              <a:latin typeface="UD デジタル 教科書体 NK-R" panose="02020400000000000000" pitchFamily="18" charset="-128"/>
              <a:ea typeface="UD デジタル 教科書体 NK-R" panose="02020400000000000000" pitchFamily="18" charset="-128"/>
            </a:endParaRPr>
          </a:p>
        </p:txBody>
      </p:sp>
      <p:sp>
        <p:nvSpPr>
          <p:cNvPr id="8" name="テキスト ボックス 7">
            <a:extLst>
              <a:ext uri="{FF2B5EF4-FFF2-40B4-BE49-F238E27FC236}">
                <a16:creationId xmlns:a16="http://schemas.microsoft.com/office/drawing/2014/main" id="{2ACFB8A7-917A-44A3-9B26-E29955071252}"/>
              </a:ext>
            </a:extLst>
          </p:cNvPr>
          <p:cNvSpPr txBox="1"/>
          <p:nvPr/>
        </p:nvSpPr>
        <p:spPr>
          <a:xfrm>
            <a:off x="10618166" y="5179005"/>
            <a:ext cx="877830" cy="596253"/>
          </a:xfrm>
          <a:prstGeom prst="rect">
            <a:avLst/>
          </a:prstGeom>
          <a:solidFill>
            <a:srgbClr val="E4E4E4"/>
          </a:solidFill>
        </p:spPr>
        <p:txBody>
          <a:bodyPr wrap="square" rtlCol="0">
            <a:spAutoFit/>
          </a:bodyPr>
          <a:lstStyle/>
          <a:p>
            <a:pPr>
              <a:lnSpc>
                <a:spcPct val="150000"/>
              </a:lnSpc>
            </a:pPr>
            <a:r>
              <a:rPr kumimoji="1" lang="en-US" altLang="ja-JP" sz="2400" dirty="0">
                <a:latin typeface="UD デジタル 教科書体 NK-R" panose="02020400000000000000" pitchFamily="18" charset="-128"/>
                <a:ea typeface="UD デジタル 教科書体 NK-R" panose="02020400000000000000" pitchFamily="18" charset="-128"/>
              </a:rPr>
              <a:t>(7)</a:t>
            </a:r>
            <a:endParaRPr kumimoji="1" lang="ja-JP" altLang="en-US" sz="2400" dirty="0">
              <a:latin typeface="UD デジタル 教科書体 NK-R" panose="02020400000000000000" pitchFamily="18" charset="-128"/>
              <a:ea typeface="UD デジタル 教科書体 NK-R" panose="02020400000000000000" pitchFamily="18" charset="-128"/>
            </a:endParaRPr>
          </a:p>
        </p:txBody>
      </p:sp>
      <p:sp>
        <p:nvSpPr>
          <p:cNvPr id="6" name="正方形/長方形 5">
            <a:extLst>
              <a:ext uri="{FF2B5EF4-FFF2-40B4-BE49-F238E27FC236}">
                <a16:creationId xmlns:a16="http://schemas.microsoft.com/office/drawing/2014/main" id="{3A71FB6E-3740-7743-BF99-25FA059F4C5B}"/>
              </a:ext>
            </a:extLst>
          </p:cNvPr>
          <p:cNvSpPr/>
          <p:nvPr/>
        </p:nvSpPr>
        <p:spPr>
          <a:xfrm>
            <a:off x="5542000" y="2356424"/>
            <a:ext cx="744500" cy="468518"/>
          </a:xfrm>
          <a:prstGeom prst="rect">
            <a:avLst/>
          </a:prstGeom>
          <a:noFill/>
          <a:ln w="38100">
            <a:solidFill>
              <a:srgbClr val="033B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タイトル 1">
            <a:extLst>
              <a:ext uri="{FF2B5EF4-FFF2-40B4-BE49-F238E27FC236}">
                <a16:creationId xmlns:a16="http://schemas.microsoft.com/office/drawing/2014/main" id="{D74BAB55-BF99-3649-B554-AF5983FC7F16}"/>
              </a:ext>
            </a:extLst>
          </p:cNvPr>
          <p:cNvSpPr>
            <a:spLocks noGrp="1"/>
          </p:cNvSpPr>
          <p:nvPr>
            <p:ph type="title"/>
          </p:nvPr>
        </p:nvSpPr>
        <p:spPr>
          <a:xfrm>
            <a:off x="838199" y="365125"/>
            <a:ext cx="10786241" cy="1325563"/>
          </a:xfrm>
        </p:spPr>
        <p:txBody>
          <a:bodyPr/>
          <a:lstStyle/>
          <a:p>
            <a:r>
              <a:rPr kumimoji="1" lang="ja-JP" altLang="en-US" spc="-130" dirty="0"/>
              <a:t>提案手法：ヘッセ行列の対角行列化</a:t>
            </a:r>
          </a:p>
        </p:txBody>
      </p:sp>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D583353C-EC30-4B46-A35E-F105D37E7EA6}"/>
                  </a:ext>
                </a:extLst>
              </p:cNvPr>
              <p:cNvSpPr txBox="1"/>
              <p:nvPr/>
            </p:nvSpPr>
            <p:spPr>
              <a:xfrm>
                <a:off x="9445148" y="6145733"/>
                <a:ext cx="2361342" cy="646331"/>
              </a:xfrm>
              <a:prstGeom prst="rect">
                <a:avLst/>
              </a:prstGeom>
              <a:noFill/>
            </p:spPr>
            <p:txBody>
              <a:bodyPr wrap="square">
                <a:spAutoFit/>
              </a:bodyPr>
              <a:lstStyle/>
              <a:p>
                <a:r>
                  <a:rPr lang="en-US" altLang="ja-JP" b="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a:t>
                </a:r>
                <a14:m>
                  <m:oMath xmlns:m="http://schemas.openxmlformats.org/officeDocument/2006/math">
                    <m:r>
                      <a:rPr lang="en-US" altLang="ja-JP" b="0" i="1" smtClean="0">
                        <a:solidFill>
                          <a:schemeClr val="tx1">
                            <a:lumMod val="75000"/>
                            <a:lumOff val="25000"/>
                          </a:schemeClr>
                        </a:solidFill>
                        <a:latin typeface="Cambria Math" panose="02040503050406030204" pitchFamily="18" charset="0"/>
                        <a:ea typeface="Cambria Math" panose="02040503050406030204" pitchFamily="18" charset="0"/>
                      </a:rPr>
                      <m:t>⊙</m:t>
                    </m:r>
                    <m:r>
                      <m:rPr>
                        <m:nor/>
                      </m:rPr>
                      <a:rPr lang="ja-JP" altLang="en-US"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m:t>：</m:t>
                    </m:r>
                  </m:oMath>
                </a14:m>
                <a:r>
                  <a:rPr lang="ja-JP" altLang="en-US"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アダマール乗算</a:t>
                </a:r>
                <a:endParaRPr lang="en-US" altLang="ja-JP"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pPr marL="0" indent="0">
                  <a:buNone/>
                </a:pPr>
                <a:r>
                  <a:rPr lang="ja-JP" altLang="en-US"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r>
                      <a:rPr lang="ja-JP" altLang="en-US" b="1" i="1" dirty="0">
                        <a:solidFill>
                          <a:schemeClr val="tx1">
                            <a:lumMod val="75000"/>
                            <a:lumOff val="25000"/>
                          </a:schemeClr>
                        </a:solidFill>
                        <a:latin typeface="Cambria Math" panose="02040503050406030204" pitchFamily="18" charset="0"/>
                        <a:ea typeface="Cambria Math" panose="02040503050406030204" pitchFamily="18" charset="0"/>
                      </a:rPr>
                      <m:t> </m:t>
                    </m:r>
                    <m:r>
                      <a:rPr lang="en-US" altLang="ja-JP" b="0" i="1" smtClean="0">
                        <a:solidFill>
                          <a:schemeClr val="tx1">
                            <a:lumMod val="75000"/>
                            <a:lumOff val="25000"/>
                          </a:schemeClr>
                        </a:solidFill>
                        <a:latin typeface="Cambria Math" panose="02040503050406030204" pitchFamily="18" charset="0"/>
                        <a:ea typeface="Cambria Math" panose="02040503050406030204" pitchFamily="18" charset="0"/>
                      </a:rPr>
                      <m:t>⊘</m:t>
                    </m:r>
                    <m:r>
                      <a:rPr lang="ja-JP" altLang="en-US" i="1">
                        <a:solidFill>
                          <a:schemeClr val="tx1">
                            <a:lumMod val="75000"/>
                            <a:lumOff val="25000"/>
                          </a:schemeClr>
                        </a:solidFill>
                        <a:latin typeface="Cambria Math" panose="02040503050406030204" pitchFamily="18" charset="0"/>
                        <a:ea typeface="Cambria Math" panose="02040503050406030204" pitchFamily="18" charset="0"/>
                      </a:rPr>
                      <m:t> </m:t>
                    </m:r>
                  </m:oMath>
                </a14:m>
                <a:r>
                  <a:rPr lang="ja-JP" altLang="en-US"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：アダマール除算</a:t>
                </a:r>
                <a:endParaRPr lang="en-US" altLang="ja-JP"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mc:Choice>
        <mc:Fallback xmlns="">
          <p:sp>
            <p:nvSpPr>
              <p:cNvPr id="10" name="テキスト ボックス 9">
                <a:extLst>
                  <a:ext uri="{FF2B5EF4-FFF2-40B4-BE49-F238E27FC236}">
                    <a16:creationId xmlns:a16="http://schemas.microsoft.com/office/drawing/2014/main" id="{D583353C-EC30-4B46-A35E-F105D37E7EA6}"/>
                  </a:ext>
                </a:extLst>
              </p:cNvPr>
              <p:cNvSpPr txBox="1">
                <a:spLocks noRot="1" noChangeAspect="1" noMove="1" noResize="1" noEditPoints="1" noAdjustHandles="1" noChangeArrowheads="1" noChangeShapeType="1" noTextEdit="1"/>
              </p:cNvSpPr>
              <p:nvPr/>
            </p:nvSpPr>
            <p:spPr>
              <a:xfrm>
                <a:off x="9445148" y="6145733"/>
                <a:ext cx="2361342" cy="646331"/>
              </a:xfrm>
              <a:prstGeom prst="rect">
                <a:avLst/>
              </a:prstGeom>
              <a:blipFill>
                <a:blip r:embed="rId4"/>
                <a:stretch>
                  <a:fillRect l="-2062" t="-3774" r="-773" b="-15094"/>
                </a:stretch>
              </a:blipFill>
            </p:spPr>
            <p:txBody>
              <a:bodyPr/>
              <a:lstStyle/>
              <a:p>
                <a:r>
                  <a:rPr lang="ja-JP" altLang="en-US">
                    <a:noFill/>
                  </a:rPr>
                  <a:t> </a:t>
                </a:r>
              </a:p>
            </p:txBody>
          </p:sp>
        </mc:Fallback>
      </mc:AlternateContent>
      <p:sp>
        <p:nvSpPr>
          <p:cNvPr id="14" name="正方形/長方形 13">
            <a:extLst>
              <a:ext uri="{FF2B5EF4-FFF2-40B4-BE49-F238E27FC236}">
                <a16:creationId xmlns:a16="http://schemas.microsoft.com/office/drawing/2014/main" id="{34917374-E07D-47D0-ACCE-648B0737CF8D}"/>
              </a:ext>
            </a:extLst>
          </p:cNvPr>
          <p:cNvSpPr/>
          <p:nvPr/>
        </p:nvSpPr>
        <p:spPr>
          <a:xfrm rot="5400000">
            <a:off x="2838811" y="5168451"/>
            <a:ext cx="942633" cy="1011936"/>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79857FC9-376B-4811-BAE9-84A93E20522C}"/>
              </a:ext>
            </a:extLst>
          </p:cNvPr>
          <p:cNvSpPr/>
          <p:nvPr/>
        </p:nvSpPr>
        <p:spPr>
          <a:xfrm>
            <a:off x="8363206" y="5502531"/>
            <a:ext cx="744500" cy="468518"/>
          </a:xfrm>
          <a:prstGeom prst="rect">
            <a:avLst/>
          </a:prstGeom>
          <a:noFill/>
          <a:ln w="38100">
            <a:solidFill>
              <a:srgbClr val="033B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0912810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DE90730F-5CC4-4500-833D-3F0214563641}"/>
                  </a:ext>
                </a:extLst>
              </p:cNvPr>
              <p:cNvSpPr>
                <a:spLocks noGrp="1"/>
              </p:cNvSpPr>
              <p:nvPr>
                <p:ph idx="1"/>
              </p:nvPr>
            </p:nvSpPr>
            <p:spPr>
              <a:xfrm>
                <a:off x="838200" y="1651090"/>
                <a:ext cx="10515600" cy="4132489"/>
              </a:xfrm>
            </p:spPr>
            <p:txBody>
              <a:bodyPr>
                <a:normAutofit/>
              </a:bodyPr>
              <a:lstStyle/>
              <a:p>
                <a:pPr marL="0" indent="0">
                  <a:buNone/>
                </a:pPr>
                <a:r>
                  <a:rPr lang="ja-JP" altLang="en-US" spc="-100" dirty="0">
                    <a:solidFill>
                      <a:schemeClr val="tx1">
                        <a:lumMod val="75000"/>
                        <a:lumOff val="25000"/>
                      </a:schemeClr>
                    </a:solidFill>
                    <a:latin typeface="Cambria Math" panose="02040503050406030204" pitchFamily="18" charset="0"/>
                  </a:rPr>
                  <a:t>ハッチンソン手法に基づく行列対角化手法を用いたヘッセ行列の対角化</a:t>
                </a:r>
                <a:endParaRPr lang="en-US" altLang="ja-JP" spc="-100" dirty="0">
                  <a:latin typeface="Cambria Math" panose="02040503050406030204" pitchFamily="18" charset="0"/>
                </a:endParaRPr>
              </a:p>
              <a:p>
                <a:pPr marL="0" indent="0">
                  <a:buNone/>
                </a:pPr>
                <a:endParaRPr lang="en-US" altLang="ja-JP" dirty="0">
                  <a:solidFill>
                    <a:schemeClr val="tx1">
                      <a:lumMod val="75000"/>
                      <a:lumOff val="25000"/>
                    </a:schemeClr>
                  </a:solidFill>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eqArr>
                        <m:eqArrPr>
                          <m:ctrlPr>
                            <a:rPr lang="en-US" altLang="ja-JP" b="0" i="1" smtClean="0">
                              <a:latin typeface="Cambria Math" panose="02040503050406030204" pitchFamily="18" charset="0"/>
                              <a:ea typeface="Cambria Math" panose="02040503050406030204" pitchFamily="18" charset="0"/>
                            </a:rPr>
                          </m:ctrlPr>
                        </m:eqArrPr>
                        <m:e>
                          <m:sSub>
                            <m:sSubPr>
                              <m:ctrlPr>
                                <a:rPr lang="en-US" altLang="ja-JP" i="1">
                                  <a:latin typeface="Cambria Math" panose="02040503050406030204" pitchFamily="18" charset="0"/>
                                  <a:ea typeface="Cambria Math" panose="02040503050406030204" pitchFamily="18" charset="0"/>
                                </a:rPr>
                              </m:ctrlPr>
                            </m:sSubPr>
                            <m:e>
                              <m:r>
                                <a:rPr lang="en-US" altLang="ja-JP" b="1">
                                  <a:latin typeface="Cambria Math" panose="02040503050406030204" pitchFamily="18" charset="0"/>
                                  <a:ea typeface="Cambria Math" panose="02040503050406030204" pitchFamily="18" charset="0"/>
                                </a:rPr>
                                <m:t>𝐡</m:t>
                              </m:r>
                            </m:e>
                            <m:sub>
                              <m:r>
                                <a:rPr lang="en-US" altLang="ja-JP" i="1">
                                  <a:latin typeface="Cambria Math" panose="02040503050406030204" pitchFamily="18" charset="0"/>
                                  <a:ea typeface="Cambria Math" panose="02040503050406030204" pitchFamily="18" charset="0"/>
                                </a:rPr>
                                <m:t>𝑘</m:t>
                              </m:r>
                            </m:sub>
                          </m:sSub>
                          <m:r>
                            <a:rPr lang="en-US" altLang="ja-JP" i="1">
                              <a:latin typeface="Cambria Math" panose="02040503050406030204" pitchFamily="18" charset="0"/>
                            </a:rPr>
                            <m:t>= </m:t>
                          </m:r>
                          <m:d>
                            <m:dPr>
                              <m:begChr m:val="["/>
                              <m:endChr m:val="]"/>
                              <m:ctrlPr>
                                <a:rPr lang="en-US" altLang="ja-JP" i="1">
                                  <a:latin typeface="Cambria Math" panose="02040503050406030204" pitchFamily="18" charset="0"/>
                                </a:rPr>
                              </m:ctrlPr>
                            </m:dPr>
                            <m:e>
                              <m:nary>
                                <m:naryPr>
                                  <m:chr m:val="∑"/>
                                  <m:ctrlPr>
                                    <a:rPr lang="en-US" altLang="ja-JP" i="1">
                                      <a:latin typeface="Cambria Math" panose="02040503050406030204" pitchFamily="18" charset="0"/>
                                    </a:rPr>
                                  </m:ctrlPr>
                                </m:naryPr>
                                <m:sub>
                                  <m:r>
                                    <a:rPr lang="en-US" altLang="ja-JP" i="1">
                                      <a:latin typeface="Cambria Math" panose="02040503050406030204" pitchFamily="18" charset="0"/>
                                    </a:rPr>
                                    <m:t>𝑙</m:t>
                                  </m:r>
                                  <m:r>
                                    <a:rPr lang="en-US" altLang="ja-JP" i="1">
                                      <a:latin typeface="Cambria Math" panose="02040503050406030204" pitchFamily="18" charset="0"/>
                                    </a:rPr>
                                    <m:t>=1</m:t>
                                  </m:r>
                                </m:sub>
                                <m:sup>
                                  <m:r>
                                    <a:rPr lang="en-US" altLang="ja-JP" i="1">
                                      <a:latin typeface="Cambria Math" panose="02040503050406030204" pitchFamily="18" charset="0"/>
                                    </a:rPr>
                                    <m:t>𝑠</m:t>
                                  </m:r>
                                </m:sup>
                                <m:e>
                                  <m:sSub>
                                    <m:sSubPr>
                                      <m:ctrlPr>
                                        <a:rPr lang="en-US" altLang="ja-JP" i="1">
                                          <a:latin typeface="Cambria Math" panose="02040503050406030204" pitchFamily="18" charset="0"/>
                                        </a:rPr>
                                      </m:ctrlPr>
                                    </m:sSubPr>
                                    <m:e>
                                      <m:r>
                                        <a:rPr lang="en-US" altLang="ja-JP" b="1">
                                          <a:latin typeface="Cambria Math" panose="02040503050406030204" pitchFamily="18" charset="0"/>
                                        </a:rPr>
                                        <m:t>𝐳</m:t>
                                      </m:r>
                                    </m:e>
                                    <m:sub>
                                      <m:r>
                                        <a:rPr lang="en-US" altLang="ja-JP" i="1">
                                          <a:latin typeface="Cambria Math" panose="02040503050406030204" pitchFamily="18" charset="0"/>
                                        </a:rPr>
                                        <m:t>𝑙</m:t>
                                      </m:r>
                                    </m:sub>
                                  </m:sSub>
                                  <m:r>
                                    <a:rPr lang="en-US" altLang="ja-JP" i="1">
                                      <a:latin typeface="Cambria Math" panose="02040503050406030204" pitchFamily="18" charset="0"/>
                                      <a:ea typeface="Cambria Math" panose="02040503050406030204" pitchFamily="18" charset="0"/>
                                    </a:rPr>
                                    <m:t>⊙</m:t>
                                  </m:r>
                                  <m:f>
                                    <m:fPr>
                                      <m:ctrlPr>
                                        <a:rPr lang="en-US" altLang="ja-JP" i="1">
                                          <a:latin typeface="Cambria Math" panose="02040503050406030204" pitchFamily="18" charset="0"/>
                                        </a:rPr>
                                      </m:ctrlPr>
                                    </m:fPr>
                                    <m:num>
                                      <m:r>
                                        <a:rPr lang="ja-JP" altLang="en-US" i="1">
                                          <a:latin typeface="Cambria Math" panose="02040503050406030204" pitchFamily="18" charset="0"/>
                                        </a:rPr>
                                        <m:t>𝜕</m:t>
                                      </m:r>
                                      <m:sSubSup>
                                        <m:sSubSupPr>
                                          <m:ctrlPr>
                                            <a:rPr lang="en-US" altLang="ja-JP" i="1">
                                              <a:latin typeface="Cambria Math" panose="02040503050406030204" pitchFamily="18" charset="0"/>
                                              <a:ea typeface="Cambria Math" panose="02040503050406030204" pitchFamily="18" charset="0"/>
                                            </a:rPr>
                                          </m:ctrlPr>
                                        </m:sSubSupPr>
                                        <m:e>
                                          <m:r>
                                            <a:rPr lang="en-US" altLang="ja-JP" b="1">
                                              <a:latin typeface="Cambria Math" panose="02040503050406030204" pitchFamily="18" charset="0"/>
                                              <a:ea typeface="Cambria Math" panose="02040503050406030204" pitchFamily="18" charset="0"/>
                                            </a:rPr>
                                            <m:t>𝐠</m:t>
                                          </m:r>
                                        </m:e>
                                        <m:sub>
                                          <m:r>
                                            <a:rPr lang="en-US" altLang="ja-JP" i="1">
                                              <a:latin typeface="Cambria Math" panose="02040503050406030204" pitchFamily="18" charset="0"/>
                                              <a:ea typeface="Cambria Math" panose="02040503050406030204" pitchFamily="18" charset="0"/>
                                            </a:rPr>
                                            <m:t>𝑘</m:t>
                                          </m:r>
                                        </m:sub>
                                        <m:sup>
                                          <m:r>
                                            <a:rPr lang="en-US" altLang="ja-JP" i="1">
                                              <a:latin typeface="Cambria Math" panose="02040503050406030204" pitchFamily="18" charset="0"/>
                                              <a:ea typeface="Cambria Math" panose="02040503050406030204" pitchFamily="18" charset="0"/>
                                            </a:rPr>
                                            <m:t>𝑇</m:t>
                                          </m:r>
                                        </m:sup>
                                      </m:sSubSup>
                                      <m:sSub>
                                        <m:sSubPr>
                                          <m:ctrlPr>
                                            <a:rPr lang="en-US" altLang="ja-JP" i="1">
                                              <a:latin typeface="Cambria Math" panose="02040503050406030204" pitchFamily="18" charset="0"/>
                                            </a:rPr>
                                          </m:ctrlPr>
                                        </m:sSubPr>
                                        <m:e>
                                          <m:r>
                                            <a:rPr lang="en-US" altLang="ja-JP" b="1">
                                              <a:latin typeface="Cambria Math" panose="02040503050406030204" pitchFamily="18" charset="0"/>
                                            </a:rPr>
                                            <m:t>𝐳</m:t>
                                          </m:r>
                                        </m:e>
                                        <m:sub>
                                          <m:r>
                                            <a:rPr lang="en-US" altLang="ja-JP" i="1">
                                              <a:latin typeface="Cambria Math" panose="02040503050406030204" pitchFamily="18" charset="0"/>
                                            </a:rPr>
                                            <m:t>𝑙</m:t>
                                          </m:r>
                                        </m:sub>
                                      </m:sSub>
                                    </m:num>
                                    <m:den>
                                      <m:r>
                                        <a:rPr lang="ja-JP" altLang="en-US" i="1">
                                          <a:latin typeface="Cambria Math" panose="02040503050406030204" pitchFamily="18" charset="0"/>
                                        </a:rPr>
                                        <m:t>𝜕</m:t>
                                      </m:r>
                                      <m:r>
                                        <a:rPr lang="en-US" altLang="ja-JP" b="1">
                                          <a:latin typeface="Cambria Math" panose="02040503050406030204" pitchFamily="18" charset="0"/>
                                        </a:rPr>
                                        <m:t>𝐰</m:t>
                                      </m:r>
                                    </m:den>
                                  </m:f>
                                </m:e>
                              </m:nary>
                            </m:e>
                          </m:d>
                          <m:r>
                            <a:rPr lang="en-US" altLang="ja-JP" i="1">
                              <a:latin typeface="Cambria Math" panose="02040503050406030204" pitchFamily="18" charset="0"/>
                              <a:ea typeface="Cambria Math" panose="02040503050406030204" pitchFamily="18" charset="0"/>
                            </a:rPr>
                            <m:t>⊘</m:t>
                          </m:r>
                          <m:d>
                            <m:dPr>
                              <m:begChr m:val="["/>
                              <m:endChr m:val="]"/>
                              <m:ctrlPr>
                                <a:rPr lang="en-US" altLang="ja-JP" i="1">
                                  <a:latin typeface="Cambria Math" panose="02040503050406030204" pitchFamily="18" charset="0"/>
                                  <a:ea typeface="Cambria Math" panose="02040503050406030204" pitchFamily="18" charset="0"/>
                                </a:rPr>
                              </m:ctrlPr>
                            </m:dPr>
                            <m:e>
                              <m:nary>
                                <m:naryPr>
                                  <m:chr m:val="∑"/>
                                  <m:ctrlPr>
                                    <a:rPr lang="en-US" altLang="ja-JP" i="1">
                                      <a:latin typeface="Cambria Math" panose="02040503050406030204" pitchFamily="18" charset="0"/>
                                    </a:rPr>
                                  </m:ctrlPr>
                                </m:naryPr>
                                <m:sub>
                                  <m:r>
                                    <a:rPr lang="en-US" altLang="ja-JP" i="1">
                                      <a:latin typeface="Cambria Math" panose="02040503050406030204" pitchFamily="18" charset="0"/>
                                    </a:rPr>
                                    <m:t>𝑙</m:t>
                                  </m:r>
                                  <m:r>
                                    <a:rPr lang="en-US" altLang="ja-JP" i="1">
                                      <a:latin typeface="Cambria Math" panose="02040503050406030204" pitchFamily="18" charset="0"/>
                                    </a:rPr>
                                    <m:t>=1</m:t>
                                  </m:r>
                                </m:sub>
                                <m:sup>
                                  <m:r>
                                    <a:rPr lang="en-US" altLang="ja-JP" i="1">
                                      <a:latin typeface="Cambria Math" panose="02040503050406030204" pitchFamily="18" charset="0"/>
                                    </a:rPr>
                                    <m:t>𝑠</m:t>
                                  </m:r>
                                </m:sup>
                                <m:e>
                                  <m:sSub>
                                    <m:sSubPr>
                                      <m:ctrlPr>
                                        <a:rPr lang="en-US" altLang="ja-JP" i="1">
                                          <a:latin typeface="Cambria Math" panose="02040503050406030204" pitchFamily="18" charset="0"/>
                                        </a:rPr>
                                      </m:ctrlPr>
                                    </m:sSubPr>
                                    <m:e>
                                      <m:r>
                                        <a:rPr lang="en-US" altLang="ja-JP" b="1">
                                          <a:latin typeface="Cambria Math" panose="02040503050406030204" pitchFamily="18" charset="0"/>
                                        </a:rPr>
                                        <m:t>𝐳</m:t>
                                      </m:r>
                                    </m:e>
                                    <m:sub>
                                      <m:r>
                                        <a:rPr lang="en-US" altLang="ja-JP" i="1">
                                          <a:latin typeface="Cambria Math" panose="02040503050406030204" pitchFamily="18" charset="0"/>
                                        </a:rPr>
                                        <m:t>𝑙</m:t>
                                      </m:r>
                                    </m:sub>
                                  </m:sSub>
                                  <m:r>
                                    <a:rPr lang="en-US" altLang="ja-JP" i="1">
                                      <a:latin typeface="Cambria Math" panose="02040503050406030204" pitchFamily="18" charset="0"/>
                                      <a:ea typeface="Cambria Math" panose="02040503050406030204" pitchFamily="18" charset="0"/>
                                    </a:rPr>
                                    <m:t>⊙</m:t>
                                  </m:r>
                                  <m:sSub>
                                    <m:sSubPr>
                                      <m:ctrlPr>
                                        <a:rPr lang="en-US" altLang="ja-JP" i="1">
                                          <a:latin typeface="Cambria Math" panose="02040503050406030204" pitchFamily="18" charset="0"/>
                                          <a:ea typeface="Cambria Math" panose="02040503050406030204" pitchFamily="18" charset="0"/>
                                        </a:rPr>
                                      </m:ctrlPr>
                                    </m:sSubPr>
                                    <m:e>
                                      <m:r>
                                        <a:rPr lang="en-US" altLang="ja-JP" b="1">
                                          <a:latin typeface="Cambria Math" panose="02040503050406030204" pitchFamily="18" charset="0"/>
                                          <a:ea typeface="Cambria Math" panose="02040503050406030204" pitchFamily="18" charset="0"/>
                                        </a:rPr>
                                        <m:t>𝐳</m:t>
                                      </m:r>
                                    </m:e>
                                    <m:sub>
                                      <m:r>
                                        <a:rPr lang="en-US" altLang="ja-JP" i="1">
                                          <a:latin typeface="Cambria Math" panose="02040503050406030204" pitchFamily="18" charset="0"/>
                                          <a:ea typeface="Cambria Math" panose="02040503050406030204" pitchFamily="18" charset="0"/>
                                        </a:rPr>
                                        <m:t>𝑙</m:t>
                                      </m:r>
                                    </m:sub>
                                  </m:sSub>
                                </m:e>
                              </m:nary>
                            </m:e>
                          </m:d>
                          <m:r>
                            <a:rPr lang="en-US" altLang="ja-JP" i="1">
                              <a:latin typeface="Cambria Math" panose="02040503050406030204" pitchFamily="18" charset="0"/>
                              <a:ea typeface="Cambria Math" panose="02040503050406030204" pitchFamily="18" charset="0"/>
                            </a:rPr>
                            <m:t>#</m:t>
                          </m:r>
                        </m:e>
                      </m:eqArr>
                    </m:oMath>
                  </m:oMathPara>
                </a14:m>
                <a:endParaRPr lang="en-US" altLang="ja-JP" b="0" dirty="0">
                  <a:ea typeface="Cambria Math" panose="02040503050406030204" pitchFamily="18" charset="0"/>
                </a:endParaRPr>
              </a:p>
              <a:p>
                <a:pPr marL="0" indent="0">
                  <a:buNone/>
                </a:pPr>
                <a:endParaRPr lang="en-US" altLang="ja-JP" dirty="0">
                  <a:solidFill>
                    <a:schemeClr val="tx1">
                      <a:lumMod val="75000"/>
                      <a:lumOff val="25000"/>
                    </a:schemeClr>
                  </a:solidFill>
                </a:endParaRPr>
              </a:p>
              <a:p>
                <a:pPr marL="0" indent="0">
                  <a:buNone/>
                </a:pPr>
                <a:endParaRPr kumimoji="1" lang="en-US" altLang="ja-JP" b="0" dirty="0">
                  <a:solidFill>
                    <a:schemeClr val="tx1">
                      <a:lumMod val="75000"/>
                      <a:lumOff val="25000"/>
                    </a:schemeClr>
                  </a:solidFill>
                  <a:latin typeface="Cambria Math" panose="02040503050406030204" pitchFamily="18" charset="0"/>
                </a:endParaRPr>
              </a:p>
              <a:p>
                <a:pPr marL="0" indent="0">
                  <a:buNone/>
                </a:pPr>
                <a:endParaRPr lang="en-US" altLang="ja-JP" b="0" i="1" dirty="0">
                  <a:solidFill>
                    <a:schemeClr val="tx1">
                      <a:lumMod val="75000"/>
                      <a:lumOff val="25000"/>
                    </a:schemeClr>
                  </a:solidFill>
                </a:endParaRPr>
              </a:p>
            </p:txBody>
          </p:sp>
        </mc:Choice>
        <mc:Fallback xmlns="">
          <p:sp>
            <p:nvSpPr>
              <p:cNvPr id="3" name="コンテンツ プレースホルダー 2">
                <a:extLst>
                  <a:ext uri="{FF2B5EF4-FFF2-40B4-BE49-F238E27FC236}">
                    <a16:creationId xmlns:a16="http://schemas.microsoft.com/office/drawing/2014/main" id="{DE90730F-5CC4-4500-833D-3F0214563641}"/>
                  </a:ext>
                </a:extLst>
              </p:cNvPr>
              <p:cNvSpPr>
                <a:spLocks noGrp="1" noRot="1" noChangeAspect="1" noMove="1" noResize="1" noEditPoints="1" noAdjustHandles="1" noChangeArrowheads="1" noChangeShapeType="1" noTextEdit="1"/>
              </p:cNvSpPr>
              <p:nvPr>
                <p:ph idx="1"/>
              </p:nvPr>
            </p:nvSpPr>
            <p:spPr>
              <a:xfrm>
                <a:off x="838200" y="1651090"/>
                <a:ext cx="10515600" cy="4132489"/>
              </a:xfrm>
              <a:blipFill>
                <a:blip r:embed="rId3"/>
                <a:stretch>
                  <a:fillRect l="-1217" t="-2507"/>
                </a:stretch>
              </a:blipFill>
            </p:spPr>
            <p:txBody>
              <a:bodyPr/>
              <a:lstStyle/>
              <a:p>
                <a:r>
                  <a:rPr lang="ja-JP" altLang="en-US">
                    <a:noFill/>
                  </a:rPr>
                  <a:t> </a:t>
                </a:r>
              </a:p>
            </p:txBody>
          </p:sp>
        </mc:Fallback>
      </mc:AlternateContent>
      <p:sp>
        <p:nvSpPr>
          <p:cNvPr id="2" name="スライド番号プレースホルダー 1">
            <a:extLst>
              <a:ext uri="{FF2B5EF4-FFF2-40B4-BE49-F238E27FC236}">
                <a16:creationId xmlns:a16="http://schemas.microsoft.com/office/drawing/2014/main" id="{E7A79576-016E-4C4F-A9A1-4A578794F457}"/>
              </a:ext>
            </a:extLst>
          </p:cNvPr>
          <p:cNvSpPr>
            <a:spLocks noGrp="1"/>
          </p:cNvSpPr>
          <p:nvPr>
            <p:ph type="sldNum" sz="quarter" idx="12"/>
          </p:nvPr>
        </p:nvSpPr>
        <p:spPr/>
        <p:txBody>
          <a:bodyPr/>
          <a:lstStyle/>
          <a:p>
            <a:r>
              <a:rPr kumimoji="1" lang="en-US" altLang="ja-JP" dirty="0"/>
              <a:t>13</a:t>
            </a:r>
            <a:endParaRPr kumimoji="1" lang="ja-JP" altLang="en-US" dirty="0"/>
          </a:p>
        </p:txBody>
      </p:sp>
      <p:sp>
        <p:nvSpPr>
          <p:cNvPr id="7" name="テキスト ボックス 6">
            <a:extLst>
              <a:ext uri="{FF2B5EF4-FFF2-40B4-BE49-F238E27FC236}">
                <a16:creationId xmlns:a16="http://schemas.microsoft.com/office/drawing/2014/main" id="{78D4EC2B-83A3-4FC9-A886-46A1EC3496E6}"/>
              </a:ext>
            </a:extLst>
          </p:cNvPr>
          <p:cNvSpPr txBox="1"/>
          <p:nvPr/>
        </p:nvSpPr>
        <p:spPr>
          <a:xfrm>
            <a:off x="10698959" y="2761301"/>
            <a:ext cx="877830" cy="596253"/>
          </a:xfrm>
          <a:prstGeom prst="rect">
            <a:avLst/>
          </a:prstGeom>
          <a:solidFill>
            <a:srgbClr val="E4E4E4"/>
          </a:solidFill>
        </p:spPr>
        <p:txBody>
          <a:bodyPr wrap="square" rtlCol="0">
            <a:spAutoFit/>
          </a:bodyPr>
          <a:lstStyle/>
          <a:p>
            <a:pPr>
              <a:lnSpc>
                <a:spcPct val="150000"/>
              </a:lnSpc>
            </a:pPr>
            <a:r>
              <a:rPr kumimoji="1" lang="en-US" altLang="ja-JP" sz="24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(8)</a:t>
            </a:r>
            <a:endParaRPr kumimoji="1" lang="ja-JP" altLang="en-US" sz="24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p:sp>
        <p:nvSpPr>
          <p:cNvPr id="11" name="タイトル 1">
            <a:extLst>
              <a:ext uri="{FF2B5EF4-FFF2-40B4-BE49-F238E27FC236}">
                <a16:creationId xmlns:a16="http://schemas.microsoft.com/office/drawing/2014/main" id="{2B70233D-1715-114A-BA51-81D95A157A68}"/>
              </a:ext>
            </a:extLst>
          </p:cNvPr>
          <p:cNvSpPr>
            <a:spLocks noGrp="1"/>
          </p:cNvSpPr>
          <p:nvPr>
            <p:ph type="title"/>
          </p:nvPr>
        </p:nvSpPr>
        <p:spPr>
          <a:xfrm>
            <a:off x="838199" y="365125"/>
            <a:ext cx="10786241" cy="1325563"/>
          </a:xfrm>
        </p:spPr>
        <p:txBody>
          <a:bodyPr/>
          <a:lstStyle/>
          <a:p>
            <a:r>
              <a:rPr kumimoji="1" lang="ja-JP" altLang="en-US" spc="-130" dirty="0"/>
              <a:t>提案手法：ヘッセ行列の対角行列化</a:t>
            </a:r>
          </a:p>
        </p:txBody>
      </p:sp>
      <mc:AlternateContent xmlns:mc="http://schemas.openxmlformats.org/markup-compatibility/2006" xmlns:a14="http://schemas.microsoft.com/office/drawing/2010/main">
        <mc:Choice Requires="a14">
          <p:sp>
            <p:nvSpPr>
              <p:cNvPr id="79" name="テキスト ボックス 78">
                <a:extLst>
                  <a:ext uri="{FF2B5EF4-FFF2-40B4-BE49-F238E27FC236}">
                    <a16:creationId xmlns:a16="http://schemas.microsoft.com/office/drawing/2014/main" id="{8210D5CA-C475-49E1-BB5B-747A7A94AAFC}"/>
                  </a:ext>
                </a:extLst>
              </p:cNvPr>
              <p:cNvSpPr txBox="1"/>
              <p:nvPr/>
            </p:nvSpPr>
            <p:spPr>
              <a:xfrm>
                <a:off x="9445148" y="6145733"/>
                <a:ext cx="2361342" cy="646331"/>
              </a:xfrm>
              <a:prstGeom prst="rect">
                <a:avLst/>
              </a:prstGeom>
              <a:noFill/>
            </p:spPr>
            <p:txBody>
              <a:bodyPr wrap="square">
                <a:spAutoFit/>
              </a:bodyPr>
              <a:lstStyle/>
              <a:p>
                <a:r>
                  <a:rPr lang="en-US" altLang="ja-JP" b="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a:t>
                </a:r>
                <a14:m>
                  <m:oMath xmlns:m="http://schemas.openxmlformats.org/officeDocument/2006/math">
                    <m:r>
                      <a:rPr lang="en-US" altLang="ja-JP" b="0" i="1" smtClean="0">
                        <a:solidFill>
                          <a:schemeClr val="tx1">
                            <a:lumMod val="75000"/>
                            <a:lumOff val="25000"/>
                          </a:schemeClr>
                        </a:solidFill>
                        <a:latin typeface="Cambria Math" panose="02040503050406030204" pitchFamily="18" charset="0"/>
                        <a:ea typeface="Cambria Math" panose="02040503050406030204" pitchFamily="18" charset="0"/>
                      </a:rPr>
                      <m:t>⊙</m:t>
                    </m:r>
                    <m:r>
                      <m:rPr>
                        <m:nor/>
                      </m:rPr>
                      <a:rPr lang="ja-JP" altLang="en-US"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m:t>：</m:t>
                    </m:r>
                  </m:oMath>
                </a14:m>
                <a:r>
                  <a:rPr lang="ja-JP" altLang="en-US"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アダマール乗算</a:t>
                </a:r>
                <a:endParaRPr lang="en-US" altLang="ja-JP"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pPr marL="0" indent="0">
                  <a:buNone/>
                </a:pPr>
                <a:r>
                  <a:rPr lang="ja-JP" altLang="en-US"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r>
                      <a:rPr lang="ja-JP" altLang="en-US" b="1" i="1" dirty="0">
                        <a:solidFill>
                          <a:schemeClr val="tx1">
                            <a:lumMod val="75000"/>
                            <a:lumOff val="25000"/>
                          </a:schemeClr>
                        </a:solidFill>
                        <a:latin typeface="Cambria Math" panose="02040503050406030204" pitchFamily="18" charset="0"/>
                        <a:ea typeface="Cambria Math" panose="02040503050406030204" pitchFamily="18" charset="0"/>
                      </a:rPr>
                      <m:t> </m:t>
                    </m:r>
                    <m:r>
                      <a:rPr lang="en-US" altLang="ja-JP" b="0" i="1" smtClean="0">
                        <a:solidFill>
                          <a:schemeClr val="tx1">
                            <a:lumMod val="75000"/>
                            <a:lumOff val="25000"/>
                          </a:schemeClr>
                        </a:solidFill>
                        <a:latin typeface="Cambria Math" panose="02040503050406030204" pitchFamily="18" charset="0"/>
                        <a:ea typeface="Cambria Math" panose="02040503050406030204" pitchFamily="18" charset="0"/>
                      </a:rPr>
                      <m:t>⊘</m:t>
                    </m:r>
                    <m:r>
                      <a:rPr lang="ja-JP" altLang="en-US" i="1">
                        <a:solidFill>
                          <a:schemeClr val="tx1">
                            <a:lumMod val="75000"/>
                            <a:lumOff val="25000"/>
                          </a:schemeClr>
                        </a:solidFill>
                        <a:latin typeface="Cambria Math" panose="02040503050406030204" pitchFamily="18" charset="0"/>
                        <a:ea typeface="Cambria Math" panose="02040503050406030204" pitchFamily="18" charset="0"/>
                      </a:rPr>
                      <m:t> </m:t>
                    </m:r>
                  </m:oMath>
                </a14:m>
                <a:r>
                  <a:rPr lang="ja-JP" altLang="en-US"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：アダマール除算</a:t>
                </a:r>
                <a:endParaRPr lang="en-US" altLang="ja-JP"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mc:Choice>
        <mc:Fallback xmlns="">
          <p:sp>
            <p:nvSpPr>
              <p:cNvPr id="79" name="テキスト ボックス 78">
                <a:extLst>
                  <a:ext uri="{FF2B5EF4-FFF2-40B4-BE49-F238E27FC236}">
                    <a16:creationId xmlns:a16="http://schemas.microsoft.com/office/drawing/2014/main" id="{8210D5CA-C475-49E1-BB5B-747A7A94AAFC}"/>
                  </a:ext>
                </a:extLst>
              </p:cNvPr>
              <p:cNvSpPr txBox="1">
                <a:spLocks noRot="1" noChangeAspect="1" noMove="1" noResize="1" noEditPoints="1" noAdjustHandles="1" noChangeArrowheads="1" noChangeShapeType="1" noTextEdit="1"/>
              </p:cNvSpPr>
              <p:nvPr/>
            </p:nvSpPr>
            <p:spPr>
              <a:xfrm>
                <a:off x="9445148" y="6145733"/>
                <a:ext cx="2361342" cy="646331"/>
              </a:xfrm>
              <a:prstGeom prst="rect">
                <a:avLst/>
              </a:prstGeom>
              <a:blipFill>
                <a:blip r:embed="rId4"/>
                <a:stretch>
                  <a:fillRect l="-2062" t="-3774" r="-773" b="-15094"/>
                </a:stretch>
              </a:blipFill>
            </p:spPr>
            <p:txBody>
              <a:bodyPr/>
              <a:lstStyle/>
              <a:p>
                <a:r>
                  <a:rPr lang="ja-JP" altLang="en-US">
                    <a:noFill/>
                  </a:rPr>
                  <a:t> </a:t>
                </a:r>
              </a:p>
            </p:txBody>
          </p:sp>
        </mc:Fallback>
      </mc:AlternateContent>
      <p:grpSp>
        <p:nvGrpSpPr>
          <p:cNvPr id="123" name="グループ化 122">
            <a:extLst>
              <a:ext uri="{FF2B5EF4-FFF2-40B4-BE49-F238E27FC236}">
                <a16:creationId xmlns:a16="http://schemas.microsoft.com/office/drawing/2014/main" id="{674367C5-8E6B-4CC1-B965-33E77094019D}"/>
              </a:ext>
            </a:extLst>
          </p:cNvPr>
          <p:cNvGrpSpPr/>
          <p:nvPr/>
        </p:nvGrpSpPr>
        <p:grpSpPr>
          <a:xfrm>
            <a:off x="1551107" y="4270858"/>
            <a:ext cx="3713975" cy="1827605"/>
            <a:chOff x="1746333" y="4361064"/>
            <a:chExt cx="3713975" cy="1827605"/>
          </a:xfrm>
        </p:grpSpPr>
        <mc:AlternateContent xmlns:mc="http://schemas.openxmlformats.org/markup-compatibility/2006" xmlns:a14="http://schemas.microsoft.com/office/drawing/2010/main">
          <mc:Choice Requires="a14">
            <p:sp>
              <p:nvSpPr>
                <p:cNvPr id="124" name="テキスト ボックス 123">
                  <a:extLst>
                    <a:ext uri="{FF2B5EF4-FFF2-40B4-BE49-F238E27FC236}">
                      <a16:creationId xmlns:a16="http://schemas.microsoft.com/office/drawing/2014/main" id="{7BE87682-519F-41B3-A6E1-653676877F95}"/>
                    </a:ext>
                  </a:extLst>
                </p:cNvPr>
                <p:cNvSpPr txBox="1"/>
                <p:nvPr/>
              </p:nvSpPr>
              <p:spPr>
                <a:xfrm>
                  <a:off x="1746333" y="4920924"/>
                  <a:ext cx="1394547" cy="7078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ja-JP" sz="4000" i="1" smtClean="0">
                                <a:solidFill>
                                  <a:schemeClr val="tx1">
                                    <a:lumMod val="75000"/>
                                    <a:lumOff val="25000"/>
                                  </a:schemeClr>
                                </a:solidFill>
                                <a:latin typeface="Cambria Math" panose="02040503050406030204" pitchFamily="18" charset="0"/>
                                <a:ea typeface="Cambria Math" panose="02040503050406030204" pitchFamily="18" charset="0"/>
                              </a:rPr>
                            </m:ctrlPr>
                          </m:sSubPr>
                          <m:e>
                            <m:r>
                              <a:rPr lang="en-US" altLang="ja-JP" sz="4000" b="1" smtClean="0">
                                <a:solidFill>
                                  <a:schemeClr val="tx1">
                                    <a:lumMod val="75000"/>
                                    <a:lumOff val="25000"/>
                                  </a:schemeClr>
                                </a:solidFill>
                                <a:latin typeface="Cambria Math" panose="02040503050406030204" pitchFamily="18" charset="0"/>
                                <a:ea typeface="Cambria Math" panose="02040503050406030204" pitchFamily="18" charset="0"/>
                              </a:rPr>
                              <m:t>𝐇</m:t>
                            </m:r>
                          </m:e>
                          <m:sub>
                            <m:r>
                              <a:rPr lang="en-US" altLang="ja-JP" sz="4000" i="1">
                                <a:solidFill>
                                  <a:schemeClr val="tx1">
                                    <a:lumMod val="75000"/>
                                    <a:lumOff val="25000"/>
                                  </a:schemeClr>
                                </a:solidFill>
                                <a:latin typeface="Cambria Math" panose="02040503050406030204" pitchFamily="18" charset="0"/>
                                <a:ea typeface="Cambria Math" panose="02040503050406030204" pitchFamily="18" charset="0"/>
                              </a:rPr>
                              <m:t>𝑘</m:t>
                            </m:r>
                          </m:sub>
                        </m:sSub>
                        <m:r>
                          <a:rPr lang="en-US" altLang="ja-JP" sz="4000" b="1" i="1" smtClean="0">
                            <a:solidFill>
                              <a:schemeClr val="tx1">
                                <a:lumMod val="75000"/>
                                <a:lumOff val="25000"/>
                              </a:schemeClr>
                            </a:solidFill>
                            <a:latin typeface="Cambria Math" panose="02040503050406030204" pitchFamily="18" charset="0"/>
                          </a:rPr>
                          <m:t>=</m:t>
                        </m:r>
                      </m:oMath>
                    </m:oMathPara>
                  </a14:m>
                  <a:endParaRPr lang="ja-JP" altLang="en-US" sz="4000" dirty="0">
                    <a:solidFill>
                      <a:schemeClr val="tx1">
                        <a:lumMod val="75000"/>
                        <a:lumOff val="25000"/>
                      </a:schemeClr>
                    </a:solidFill>
                  </a:endParaRPr>
                </a:p>
              </p:txBody>
            </p:sp>
          </mc:Choice>
          <mc:Fallback xmlns="">
            <p:sp>
              <p:nvSpPr>
                <p:cNvPr id="124" name="テキスト ボックス 123">
                  <a:extLst>
                    <a:ext uri="{FF2B5EF4-FFF2-40B4-BE49-F238E27FC236}">
                      <a16:creationId xmlns:a16="http://schemas.microsoft.com/office/drawing/2014/main" id="{7BE87682-519F-41B3-A6E1-653676877F95}"/>
                    </a:ext>
                  </a:extLst>
                </p:cNvPr>
                <p:cNvSpPr txBox="1">
                  <a:spLocks noRot="1" noChangeAspect="1" noMove="1" noResize="1" noEditPoints="1" noAdjustHandles="1" noChangeArrowheads="1" noChangeShapeType="1" noTextEdit="1"/>
                </p:cNvSpPr>
                <p:nvPr/>
              </p:nvSpPr>
              <p:spPr>
                <a:xfrm>
                  <a:off x="1746333" y="4920924"/>
                  <a:ext cx="1394547" cy="707886"/>
                </a:xfrm>
                <a:prstGeom prst="rect">
                  <a:avLst/>
                </a:prstGeom>
                <a:blipFill>
                  <a:blip r:embed="rId5"/>
                  <a:stretch>
                    <a:fillRect/>
                  </a:stretch>
                </a:blipFill>
              </p:spPr>
              <p:txBody>
                <a:bodyPr/>
                <a:lstStyle/>
                <a:p>
                  <a:r>
                    <a:rPr lang="ja-JP" altLang="en-US">
                      <a:noFill/>
                    </a:rPr>
                    <a:t> </a:t>
                  </a:r>
                </a:p>
              </p:txBody>
            </p:sp>
          </mc:Fallback>
        </mc:AlternateContent>
        <p:grpSp>
          <p:nvGrpSpPr>
            <p:cNvPr id="125" name="グループ化 124">
              <a:extLst>
                <a:ext uri="{FF2B5EF4-FFF2-40B4-BE49-F238E27FC236}">
                  <a16:creationId xmlns:a16="http://schemas.microsoft.com/office/drawing/2014/main" id="{B9463622-25C7-4B7D-819D-2A25893E22E8}"/>
                </a:ext>
              </a:extLst>
            </p:cNvPr>
            <p:cNvGrpSpPr/>
            <p:nvPr/>
          </p:nvGrpSpPr>
          <p:grpSpPr>
            <a:xfrm>
              <a:off x="3141214" y="4361064"/>
              <a:ext cx="2319094" cy="1827605"/>
              <a:chOff x="2322930" y="3353671"/>
              <a:chExt cx="2319094" cy="1827605"/>
            </a:xfrm>
          </p:grpSpPr>
          <p:grpSp>
            <p:nvGrpSpPr>
              <p:cNvPr id="126" name="グループ化 125">
                <a:extLst>
                  <a:ext uri="{FF2B5EF4-FFF2-40B4-BE49-F238E27FC236}">
                    <a16:creationId xmlns:a16="http://schemas.microsoft.com/office/drawing/2014/main" id="{B0685025-A036-4BB5-BADB-6E2F14CD25DF}"/>
                  </a:ext>
                </a:extLst>
              </p:cNvPr>
              <p:cNvGrpSpPr/>
              <p:nvPr/>
            </p:nvGrpSpPr>
            <p:grpSpPr>
              <a:xfrm>
                <a:off x="2652046" y="3451928"/>
                <a:ext cx="1700918" cy="1676670"/>
                <a:chOff x="1138989" y="3968713"/>
                <a:chExt cx="1700918" cy="1676670"/>
              </a:xfrm>
            </p:grpSpPr>
            <p:sp>
              <p:nvSpPr>
                <p:cNvPr id="128" name="正方形/長方形 127">
                  <a:extLst>
                    <a:ext uri="{FF2B5EF4-FFF2-40B4-BE49-F238E27FC236}">
                      <a16:creationId xmlns:a16="http://schemas.microsoft.com/office/drawing/2014/main" id="{869585DF-12E1-4284-8B7F-5BD2ADCEC21B}"/>
                    </a:ext>
                  </a:extLst>
                </p:cNvPr>
                <p:cNvSpPr/>
                <p:nvPr/>
              </p:nvSpPr>
              <p:spPr>
                <a:xfrm>
                  <a:off x="1138989" y="3974039"/>
                  <a:ext cx="319421" cy="319421"/>
                </a:xfrm>
                <a:prstGeom prst="rect">
                  <a:avLst/>
                </a:prstGeom>
                <a:solidFill>
                  <a:schemeClr val="accent6">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9" name="正方形/長方形 128">
                  <a:extLst>
                    <a:ext uri="{FF2B5EF4-FFF2-40B4-BE49-F238E27FC236}">
                      <a16:creationId xmlns:a16="http://schemas.microsoft.com/office/drawing/2014/main" id="{4F2F03DA-3670-44E0-BD86-E10527203740}"/>
                    </a:ext>
                  </a:extLst>
                </p:cNvPr>
                <p:cNvSpPr/>
                <p:nvPr/>
              </p:nvSpPr>
              <p:spPr>
                <a:xfrm>
                  <a:off x="1599488" y="3974039"/>
                  <a:ext cx="319421" cy="319421"/>
                </a:xfrm>
                <a:prstGeom prst="rect">
                  <a:avLst/>
                </a:prstGeom>
                <a:solidFill>
                  <a:schemeClr val="accent6">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0" name="正方形/長方形 129">
                  <a:extLst>
                    <a:ext uri="{FF2B5EF4-FFF2-40B4-BE49-F238E27FC236}">
                      <a16:creationId xmlns:a16="http://schemas.microsoft.com/office/drawing/2014/main" id="{198599B7-A4AA-4357-9C84-6695B8705F79}"/>
                    </a:ext>
                  </a:extLst>
                </p:cNvPr>
                <p:cNvSpPr/>
                <p:nvPr/>
              </p:nvSpPr>
              <p:spPr>
                <a:xfrm>
                  <a:off x="2059987" y="3968714"/>
                  <a:ext cx="319421" cy="319421"/>
                </a:xfrm>
                <a:prstGeom prst="rect">
                  <a:avLst/>
                </a:prstGeom>
                <a:solidFill>
                  <a:schemeClr val="accent6">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1" name="正方形/長方形 130">
                  <a:extLst>
                    <a:ext uri="{FF2B5EF4-FFF2-40B4-BE49-F238E27FC236}">
                      <a16:creationId xmlns:a16="http://schemas.microsoft.com/office/drawing/2014/main" id="{59DE03C0-DAB5-455F-8765-25E8580DC98F}"/>
                    </a:ext>
                  </a:extLst>
                </p:cNvPr>
                <p:cNvSpPr/>
                <p:nvPr/>
              </p:nvSpPr>
              <p:spPr>
                <a:xfrm>
                  <a:off x="2520486" y="3968713"/>
                  <a:ext cx="319421" cy="319421"/>
                </a:xfrm>
                <a:prstGeom prst="rect">
                  <a:avLst/>
                </a:prstGeom>
                <a:solidFill>
                  <a:schemeClr val="accent6">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2" name="正方形/長方形 131">
                  <a:extLst>
                    <a:ext uri="{FF2B5EF4-FFF2-40B4-BE49-F238E27FC236}">
                      <a16:creationId xmlns:a16="http://schemas.microsoft.com/office/drawing/2014/main" id="{CD8A8C07-EB45-4C9F-AA41-C0DD7E02DD4A}"/>
                    </a:ext>
                  </a:extLst>
                </p:cNvPr>
                <p:cNvSpPr/>
                <p:nvPr/>
              </p:nvSpPr>
              <p:spPr>
                <a:xfrm>
                  <a:off x="1138989" y="4424680"/>
                  <a:ext cx="319421" cy="319421"/>
                </a:xfrm>
                <a:prstGeom prst="rect">
                  <a:avLst/>
                </a:prstGeom>
                <a:solidFill>
                  <a:schemeClr val="accent5">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3" name="正方形/長方形 132">
                  <a:extLst>
                    <a:ext uri="{FF2B5EF4-FFF2-40B4-BE49-F238E27FC236}">
                      <a16:creationId xmlns:a16="http://schemas.microsoft.com/office/drawing/2014/main" id="{955323E7-48FA-4700-8015-DA94BC4523B9}"/>
                    </a:ext>
                  </a:extLst>
                </p:cNvPr>
                <p:cNvSpPr/>
                <p:nvPr/>
              </p:nvSpPr>
              <p:spPr>
                <a:xfrm>
                  <a:off x="1599488" y="4424680"/>
                  <a:ext cx="319421" cy="319421"/>
                </a:xfrm>
                <a:prstGeom prst="rect">
                  <a:avLst/>
                </a:prstGeom>
                <a:solidFill>
                  <a:schemeClr val="accent5">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4" name="正方形/長方形 133">
                  <a:extLst>
                    <a:ext uri="{FF2B5EF4-FFF2-40B4-BE49-F238E27FC236}">
                      <a16:creationId xmlns:a16="http://schemas.microsoft.com/office/drawing/2014/main" id="{F2E220E2-4C14-4446-B2AF-DE2AC64D8024}"/>
                    </a:ext>
                  </a:extLst>
                </p:cNvPr>
                <p:cNvSpPr/>
                <p:nvPr/>
              </p:nvSpPr>
              <p:spPr>
                <a:xfrm>
                  <a:off x="2059987" y="4419355"/>
                  <a:ext cx="319421" cy="319421"/>
                </a:xfrm>
                <a:prstGeom prst="rect">
                  <a:avLst/>
                </a:prstGeom>
                <a:solidFill>
                  <a:schemeClr val="accent5">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5" name="正方形/長方形 134">
                  <a:extLst>
                    <a:ext uri="{FF2B5EF4-FFF2-40B4-BE49-F238E27FC236}">
                      <a16:creationId xmlns:a16="http://schemas.microsoft.com/office/drawing/2014/main" id="{45B56571-6108-4CFD-BDB3-502605D4774C}"/>
                    </a:ext>
                  </a:extLst>
                </p:cNvPr>
                <p:cNvSpPr/>
                <p:nvPr/>
              </p:nvSpPr>
              <p:spPr>
                <a:xfrm>
                  <a:off x="2520486" y="4419354"/>
                  <a:ext cx="319421" cy="319421"/>
                </a:xfrm>
                <a:prstGeom prst="rect">
                  <a:avLst/>
                </a:prstGeom>
                <a:solidFill>
                  <a:schemeClr val="accent5">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6" name="正方形/長方形 135">
                  <a:extLst>
                    <a:ext uri="{FF2B5EF4-FFF2-40B4-BE49-F238E27FC236}">
                      <a16:creationId xmlns:a16="http://schemas.microsoft.com/office/drawing/2014/main" id="{30DFDD2A-A7A2-4173-A339-8A4E1F1DC786}"/>
                    </a:ext>
                  </a:extLst>
                </p:cNvPr>
                <p:cNvSpPr/>
                <p:nvPr/>
              </p:nvSpPr>
              <p:spPr>
                <a:xfrm>
                  <a:off x="1138989" y="4875321"/>
                  <a:ext cx="319421" cy="319421"/>
                </a:xfrm>
                <a:prstGeom prst="rect">
                  <a:avLst/>
                </a:prstGeom>
                <a:solidFill>
                  <a:schemeClr val="accent4">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7" name="正方形/長方形 136">
                  <a:extLst>
                    <a:ext uri="{FF2B5EF4-FFF2-40B4-BE49-F238E27FC236}">
                      <a16:creationId xmlns:a16="http://schemas.microsoft.com/office/drawing/2014/main" id="{D155A1E5-55C3-4B48-B58A-DBDFAF31578C}"/>
                    </a:ext>
                  </a:extLst>
                </p:cNvPr>
                <p:cNvSpPr/>
                <p:nvPr/>
              </p:nvSpPr>
              <p:spPr>
                <a:xfrm>
                  <a:off x="1599488" y="4875321"/>
                  <a:ext cx="319421" cy="319421"/>
                </a:xfrm>
                <a:prstGeom prst="rect">
                  <a:avLst/>
                </a:prstGeom>
                <a:solidFill>
                  <a:schemeClr val="accent4">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8" name="正方形/長方形 137">
                  <a:extLst>
                    <a:ext uri="{FF2B5EF4-FFF2-40B4-BE49-F238E27FC236}">
                      <a16:creationId xmlns:a16="http://schemas.microsoft.com/office/drawing/2014/main" id="{ECA7DDE6-7CE5-4DD9-931D-9879412F6C98}"/>
                    </a:ext>
                  </a:extLst>
                </p:cNvPr>
                <p:cNvSpPr/>
                <p:nvPr/>
              </p:nvSpPr>
              <p:spPr>
                <a:xfrm>
                  <a:off x="2059987" y="4869996"/>
                  <a:ext cx="319421" cy="319421"/>
                </a:xfrm>
                <a:prstGeom prst="rect">
                  <a:avLst/>
                </a:prstGeom>
                <a:solidFill>
                  <a:schemeClr val="accent4">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9" name="正方形/長方形 138">
                  <a:extLst>
                    <a:ext uri="{FF2B5EF4-FFF2-40B4-BE49-F238E27FC236}">
                      <a16:creationId xmlns:a16="http://schemas.microsoft.com/office/drawing/2014/main" id="{64E98DAF-7336-423D-BDEB-82826CD6F999}"/>
                    </a:ext>
                  </a:extLst>
                </p:cNvPr>
                <p:cNvSpPr/>
                <p:nvPr/>
              </p:nvSpPr>
              <p:spPr>
                <a:xfrm>
                  <a:off x="2520486" y="4869995"/>
                  <a:ext cx="319421" cy="319421"/>
                </a:xfrm>
                <a:prstGeom prst="rect">
                  <a:avLst/>
                </a:prstGeom>
                <a:solidFill>
                  <a:schemeClr val="accent4">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0" name="正方形/長方形 139">
                  <a:extLst>
                    <a:ext uri="{FF2B5EF4-FFF2-40B4-BE49-F238E27FC236}">
                      <a16:creationId xmlns:a16="http://schemas.microsoft.com/office/drawing/2014/main" id="{73D24E0B-77D6-42B3-822F-991F05239C76}"/>
                    </a:ext>
                  </a:extLst>
                </p:cNvPr>
                <p:cNvSpPr/>
                <p:nvPr/>
              </p:nvSpPr>
              <p:spPr>
                <a:xfrm>
                  <a:off x="1138989" y="5325962"/>
                  <a:ext cx="319421" cy="319421"/>
                </a:xfrm>
                <a:prstGeom prst="rect">
                  <a:avLst/>
                </a:prstGeom>
                <a:solidFill>
                  <a:schemeClr val="accent2">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1" name="正方形/長方形 140">
                  <a:extLst>
                    <a:ext uri="{FF2B5EF4-FFF2-40B4-BE49-F238E27FC236}">
                      <a16:creationId xmlns:a16="http://schemas.microsoft.com/office/drawing/2014/main" id="{7F9E68FA-7A58-442A-9519-A3136DD1496A}"/>
                    </a:ext>
                  </a:extLst>
                </p:cNvPr>
                <p:cNvSpPr/>
                <p:nvPr/>
              </p:nvSpPr>
              <p:spPr>
                <a:xfrm>
                  <a:off x="1599488" y="5325962"/>
                  <a:ext cx="319421" cy="319421"/>
                </a:xfrm>
                <a:prstGeom prst="rect">
                  <a:avLst/>
                </a:prstGeom>
                <a:solidFill>
                  <a:schemeClr val="accent2">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2" name="正方形/長方形 141">
                  <a:extLst>
                    <a:ext uri="{FF2B5EF4-FFF2-40B4-BE49-F238E27FC236}">
                      <a16:creationId xmlns:a16="http://schemas.microsoft.com/office/drawing/2014/main" id="{B9D157EB-AD8F-43E6-A267-A4F2E2D51F8B}"/>
                    </a:ext>
                  </a:extLst>
                </p:cNvPr>
                <p:cNvSpPr/>
                <p:nvPr/>
              </p:nvSpPr>
              <p:spPr>
                <a:xfrm>
                  <a:off x="2059987" y="5320637"/>
                  <a:ext cx="319421" cy="319421"/>
                </a:xfrm>
                <a:prstGeom prst="rect">
                  <a:avLst/>
                </a:prstGeom>
                <a:solidFill>
                  <a:schemeClr val="accent2">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3" name="正方形/長方形 142">
                  <a:extLst>
                    <a:ext uri="{FF2B5EF4-FFF2-40B4-BE49-F238E27FC236}">
                      <a16:creationId xmlns:a16="http://schemas.microsoft.com/office/drawing/2014/main" id="{11136B9D-9D75-4D62-AA91-1BABB31FD00A}"/>
                    </a:ext>
                  </a:extLst>
                </p:cNvPr>
                <p:cNvSpPr/>
                <p:nvPr/>
              </p:nvSpPr>
              <p:spPr>
                <a:xfrm>
                  <a:off x="2520486" y="5320636"/>
                  <a:ext cx="319421" cy="319421"/>
                </a:xfrm>
                <a:prstGeom prst="rect">
                  <a:avLst/>
                </a:prstGeom>
                <a:solidFill>
                  <a:schemeClr val="accent2">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27" name="大かっこ 126">
                <a:extLst>
                  <a:ext uri="{FF2B5EF4-FFF2-40B4-BE49-F238E27FC236}">
                    <a16:creationId xmlns:a16="http://schemas.microsoft.com/office/drawing/2014/main" id="{C573C385-C066-4200-AA8B-51B888833EA2}"/>
                  </a:ext>
                </a:extLst>
              </p:cNvPr>
              <p:cNvSpPr/>
              <p:nvPr/>
            </p:nvSpPr>
            <p:spPr>
              <a:xfrm>
                <a:off x="2322930" y="3353671"/>
                <a:ext cx="2319094" cy="1827605"/>
              </a:xfrm>
              <a:prstGeom prst="bracketPair">
                <a:avLst/>
              </a:prstGeom>
              <a:ln w="571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mc:AlternateContent xmlns:mc="http://schemas.openxmlformats.org/markup-compatibility/2006" xmlns:a14="http://schemas.microsoft.com/office/drawing/2010/main">
        <mc:Choice Requires="a14">
          <p:sp>
            <p:nvSpPr>
              <p:cNvPr id="145" name="テキスト ボックス 144">
                <a:extLst>
                  <a:ext uri="{FF2B5EF4-FFF2-40B4-BE49-F238E27FC236}">
                    <a16:creationId xmlns:a16="http://schemas.microsoft.com/office/drawing/2014/main" id="{51A70F0B-AA61-4736-B1B6-B98DE3035E10}"/>
                  </a:ext>
                </a:extLst>
              </p:cNvPr>
              <p:cNvSpPr txBox="1"/>
              <p:nvPr/>
            </p:nvSpPr>
            <p:spPr>
              <a:xfrm>
                <a:off x="6894890" y="4848578"/>
                <a:ext cx="1274188" cy="7078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ja-JP" sz="4000" i="1" smtClean="0">
                              <a:solidFill>
                                <a:schemeClr val="tx1">
                                  <a:lumMod val="75000"/>
                                  <a:lumOff val="25000"/>
                                </a:schemeClr>
                              </a:solidFill>
                              <a:latin typeface="Cambria Math" panose="02040503050406030204" pitchFamily="18" charset="0"/>
                              <a:ea typeface="Cambria Math" panose="02040503050406030204" pitchFamily="18" charset="0"/>
                            </a:rPr>
                          </m:ctrlPr>
                        </m:sSubPr>
                        <m:e>
                          <m:r>
                            <a:rPr lang="en-US" altLang="ja-JP" sz="4000" b="1">
                              <a:solidFill>
                                <a:schemeClr val="tx1">
                                  <a:lumMod val="75000"/>
                                  <a:lumOff val="25000"/>
                                </a:schemeClr>
                              </a:solidFill>
                              <a:latin typeface="Cambria Math" panose="02040503050406030204" pitchFamily="18" charset="0"/>
                              <a:ea typeface="Cambria Math" panose="02040503050406030204" pitchFamily="18" charset="0"/>
                            </a:rPr>
                            <m:t>𝐡</m:t>
                          </m:r>
                        </m:e>
                        <m:sub>
                          <m:r>
                            <a:rPr lang="en-US" altLang="ja-JP" sz="4000" i="1">
                              <a:solidFill>
                                <a:schemeClr val="tx1">
                                  <a:lumMod val="75000"/>
                                  <a:lumOff val="25000"/>
                                </a:schemeClr>
                              </a:solidFill>
                              <a:latin typeface="Cambria Math" panose="02040503050406030204" pitchFamily="18" charset="0"/>
                              <a:ea typeface="Cambria Math" panose="02040503050406030204" pitchFamily="18" charset="0"/>
                            </a:rPr>
                            <m:t>𝑘</m:t>
                          </m:r>
                        </m:sub>
                      </m:sSub>
                      <m:r>
                        <a:rPr lang="en-US" altLang="ja-JP" sz="4000" b="1" i="0" smtClean="0">
                          <a:solidFill>
                            <a:schemeClr val="tx1">
                              <a:lumMod val="75000"/>
                              <a:lumOff val="25000"/>
                            </a:schemeClr>
                          </a:solidFill>
                          <a:latin typeface="Cambria Math" panose="02040503050406030204" pitchFamily="18" charset="0"/>
                        </a:rPr>
                        <m:t>=</m:t>
                      </m:r>
                    </m:oMath>
                  </m:oMathPara>
                </a14:m>
                <a:endParaRPr lang="ja-JP" altLang="en-US" sz="4000" b="1" dirty="0">
                  <a:solidFill>
                    <a:schemeClr val="tx1">
                      <a:lumMod val="75000"/>
                      <a:lumOff val="25000"/>
                    </a:schemeClr>
                  </a:solidFill>
                </a:endParaRPr>
              </a:p>
            </p:txBody>
          </p:sp>
        </mc:Choice>
        <mc:Fallback xmlns="">
          <p:sp>
            <p:nvSpPr>
              <p:cNvPr id="145" name="テキスト ボックス 144">
                <a:extLst>
                  <a:ext uri="{FF2B5EF4-FFF2-40B4-BE49-F238E27FC236}">
                    <a16:creationId xmlns:a16="http://schemas.microsoft.com/office/drawing/2014/main" id="{51A70F0B-AA61-4736-B1B6-B98DE3035E10}"/>
                  </a:ext>
                </a:extLst>
              </p:cNvPr>
              <p:cNvSpPr txBox="1">
                <a:spLocks noRot="1" noChangeAspect="1" noMove="1" noResize="1" noEditPoints="1" noAdjustHandles="1" noChangeArrowheads="1" noChangeShapeType="1" noTextEdit="1"/>
              </p:cNvSpPr>
              <p:nvPr/>
            </p:nvSpPr>
            <p:spPr>
              <a:xfrm>
                <a:off x="6894890" y="4848578"/>
                <a:ext cx="1274188" cy="707886"/>
              </a:xfrm>
              <a:prstGeom prst="rect">
                <a:avLst/>
              </a:prstGeom>
              <a:blipFill>
                <a:blip r:embed="rId6"/>
                <a:stretch>
                  <a:fillRect/>
                </a:stretch>
              </a:blipFill>
            </p:spPr>
            <p:txBody>
              <a:bodyPr/>
              <a:lstStyle/>
              <a:p>
                <a:r>
                  <a:rPr lang="ja-JP" altLang="en-US">
                    <a:noFill/>
                  </a:rPr>
                  <a:t> </a:t>
                </a:r>
              </a:p>
            </p:txBody>
          </p:sp>
        </mc:Fallback>
      </mc:AlternateContent>
      <p:grpSp>
        <p:nvGrpSpPr>
          <p:cNvPr id="4" name="グループ化 3">
            <a:extLst>
              <a:ext uri="{FF2B5EF4-FFF2-40B4-BE49-F238E27FC236}">
                <a16:creationId xmlns:a16="http://schemas.microsoft.com/office/drawing/2014/main" id="{F562F021-9599-45C2-A79A-8F430D4AAA0B}"/>
              </a:ext>
            </a:extLst>
          </p:cNvPr>
          <p:cNvGrpSpPr/>
          <p:nvPr/>
        </p:nvGrpSpPr>
        <p:grpSpPr>
          <a:xfrm>
            <a:off x="8211475" y="4270859"/>
            <a:ext cx="1213468" cy="1827605"/>
            <a:chOff x="8116225" y="4270859"/>
            <a:chExt cx="1213468" cy="1827605"/>
          </a:xfrm>
        </p:grpSpPr>
        <p:sp>
          <p:nvSpPr>
            <p:cNvPr id="149" name="正方形/長方形 148">
              <a:extLst>
                <a:ext uri="{FF2B5EF4-FFF2-40B4-BE49-F238E27FC236}">
                  <a16:creationId xmlns:a16="http://schemas.microsoft.com/office/drawing/2014/main" id="{0F1DB34A-9268-4601-840B-A683F30DB338}"/>
                </a:ext>
              </a:extLst>
            </p:cNvPr>
            <p:cNvSpPr/>
            <p:nvPr/>
          </p:nvSpPr>
          <p:spPr>
            <a:xfrm>
              <a:off x="8585041" y="4374442"/>
              <a:ext cx="319421" cy="319421"/>
            </a:xfrm>
            <a:prstGeom prst="rect">
              <a:avLst/>
            </a:prstGeom>
            <a:solidFill>
              <a:schemeClr val="accent6">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54" name="正方形/長方形 153">
              <a:extLst>
                <a:ext uri="{FF2B5EF4-FFF2-40B4-BE49-F238E27FC236}">
                  <a16:creationId xmlns:a16="http://schemas.microsoft.com/office/drawing/2014/main" id="{25558D62-F33E-4927-ABDA-350410587F06}"/>
                </a:ext>
              </a:extLst>
            </p:cNvPr>
            <p:cNvSpPr/>
            <p:nvPr/>
          </p:nvSpPr>
          <p:spPr>
            <a:xfrm>
              <a:off x="8585041" y="4826319"/>
              <a:ext cx="319421" cy="319421"/>
            </a:xfrm>
            <a:prstGeom prst="rect">
              <a:avLst/>
            </a:prstGeom>
            <a:solidFill>
              <a:schemeClr val="accent5">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9" name="正方形/長方形 158">
              <a:extLst>
                <a:ext uri="{FF2B5EF4-FFF2-40B4-BE49-F238E27FC236}">
                  <a16:creationId xmlns:a16="http://schemas.microsoft.com/office/drawing/2014/main" id="{DA24E1AC-9D93-41F6-BD9E-95E566537748}"/>
                </a:ext>
              </a:extLst>
            </p:cNvPr>
            <p:cNvSpPr/>
            <p:nvPr/>
          </p:nvSpPr>
          <p:spPr>
            <a:xfrm>
              <a:off x="8585041" y="5284270"/>
              <a:ext cx="319421" cy="319421"/>
            </a:xfrm>
            <a:prstGeom prst="rect">
              <a:avLst/>
            </a:prstGeom>
            <a:solidFill>
              <a:schemeClr val="accent4">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4" name="正方形/長方形 163">
              <a:extLst>
                <a:ext uri="{FF2B5EF4-FFF2-40B4-BE49-F238E27FC236}">
                  <a16:creationId xmlns:a16="http://schemas.microsoft.com/office/drawing/2014/main" id="{7EF2962B-D554-4E7B-BEF6-6C23FA8A8404}"/>
                </a:ext>
              </a:extLst>
            </p:cNvPr>
            <p:cNvSpPr/>
            <p:nvPr/>
          </p:nvSpPr>
          <p:spPr>
            <a:xfrm>
              <a:off x="8585040" y="5758811"/>
              <a:ext cx="319421" cy="319421"/>
            </a:xfrm>
            <a:prstGeom prst="rect">
              <a:avLst/>
            </a:prstGeom>
            <a:solidFill>
              <a:schemeClr val="accent2">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8" name="大かっこ 147">
              <a:extLst>
                <a:ext uri="{FF2B5EF4-FFF2-40B4-BE49-F238E27FC236}">
                  <a16:creationId xmlns:a16="http://schemas.microsoft.com/office/drawing/2014/main" id="{75C9C5C9-3224-4566-BD1F-74AD5F02DF2B}"/>
                </a:ext>
              </a:extLst>
            </p:cNvPr>
            <p:cNvSpPr/>
            <p:nvPr/>
          </p:nvSpPr>
          <p:spPr>
            <a:xfrm>
              <a:off x="8116225" y="4270859"/>
              <a:ext cx="1213468" cy="1827605"/>
            </a:xfrm>
            <a:prstGeom prst="bracketPair">
              <a:avLst/>
            </a:prstGeom>
            <a:ln w="571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sp>
        <p:nvSpPr>
          <p:cNvPr id="165" name="下矢印 43">
            <a:extLst>
              <a:ext uri="{FF2B5EF4-FFF2-40B4-BE49-F238E27FC236}">
                <a16:creationId xmlns:a16="http://schemas.microsoft.com/office/drawing/2014/main" id="{1325E7C8-6C09-4A6E-A48E-348F561012E7}"/>
              </a:ext>
            </a:extLst>
          </p:cNvPr>
          <p:cNvSpPr/>
          <p:nvPr/>
        </p:nvSpPr>
        <p:spPr>
          <a:xfrm rot="16200000">
            <a:off x="5837092" y="4636313"/>
            <a:ext cx="609600" cy="1230702"/>
          </a:xfrm>
          <a:prstGeom prst="downArrow">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1382881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6729EAF-F2DF-4756-B564-3082D5989910}"/>
              </a:ext>
            </a:extLst>
          </p:cNvPr>
          <p:cNvSpPr>
            <a:spLocks noGrp="1"/>
          </p:cNvSpPr>
          <p:nvPr>
            <p:ph type="title"/>
          </p:nvPr>
        </p:nvSpPr>
        <p:spPr/>
        <p:txBody>
          <a:bodyPr/>
          <a:lstStyle/>
          <a:p>
            <a:r>
              <a:rPr kumimoji="1" lang="ja-JP" altLang="en-US" dirty="0"/>
              <a:t>提案手法</a:t>
            </a:r>
          </a:p>
        </p:txBody>
      </p:sp>
      <p:sp>
        <p:nvSpPr>
          <p:cNvPr id="5" name="スライド番号プレースホルダー 4">
            <a:extLst>
              <a:ext uri="{FF2B5EF4-FFF2-40B4-BE49-F238E27FC236}">
                <a16:creationId xmlns:a16="http://schemas.microsoft.com/office/drawing/2014/main" id="{900A1CB2-9191-4CDB-B457-9ADDFF33090A}"/>
              </a:ext>
            </a:extLst>
          </p:cNvPr>
          <p:cNvSpPr>
            <a:spLocks noGrp="1"/>
          </p:cNvSpPr>
          <p:nvPr>
            <p:ph type="sldNum" sz="quarter" idx="12"/>
          </p:nvPr>
        </p:nvSpPr>
        <p:spPr/>
        <p:txBody>
          <a:bodyPr/>
          <a:lstStyle/>
          <a:p>
            <a:r>
              <a:rPr kumimoji="1" lang="en-US" altLang="ja-JP" dirty="0"/>
              <a:t>14</a:t>
            </a:r>
            <a:endParaRPr kumimoji="1" lang="ja-JP" altLang="en-US" dirty="0"/>
          </a:p>
        </p:txBody>
      </p:sp>
      <p:sp>
        <p:nvSpPr>
          <p:cNvPr id="18" name="コンテンツ プレースホルダー 2">
            <a:extLst>
              <a:ext uri="{FF2B5EF4-FFF2-40B4-BE49-F238E27FC236}">
                <a16:creationId xmlns:a16="http://schemas.microsoft.com/office/drawing/2014/main" id="{C06F565A-7098-4E40-8D2D-E0C3CF24D312}"/>
              </a:ext>
            </a:extLst>
          </p:cNvPr>
          <p:cNvSpPr>
            <a:spLocks noGrp="1"/>
          </p:cNvSpPr>
          <p:nvPr>
            <p:ph idx="1"/>
          </p:nvPr>
        </p:nvSpPr>
        <p:spPr>
          <a:xfrm>
            <a:off x="1028700" y="4454259"/>
            <a:ext cx="10325100" cy="709909"/>
          </a:xfrm>
        </p:spPr>
        <p:txBody>
          <a:bodyPr>
            <a:normAutofit/>
          </a:bodyPr>
          <a:lstStyle/>
          <a:p>
            <a:pPr marL="0" indent="0">
              <a:buNone/>
            </a:pPr>
            <a:r>
              <a:rPr lang="ja-JP" altLang="en-US" b="0" dirty="0">
                <a:solidFill>
                  <a:schemeClr val="tx1">
                    <a:lumMod val="75000"/>
                    <a:lumOff val="25000"/>
                  </a:schemeClr>
                </a:solidFill>
              </a:rPr>
              <a:t>提案手法</a:t>
            </a:r>
            <a:r>
              <a:rPr lang="en-US" altLang="ja-JP" b="0" dirty="0" err="1">
                <a:solidFill>
                  <a:schemeClr val="tx1">
                    <a:lumMod val="75000"/>
                    <a:lumOff val="25000"/>
                  </a:schemeClr>
                </a:solidFill>
              </a:rPr>
              <a:t>HdN</a:t>
            </a:r>
            <a:r>
              <a:rPr lang="ja-JP" altLang="en-US" b="0" dirty="0">
                <a:solidFill>
                  <a:schemeClr val="tx1">
                    <a:lumMod val="75000"/>
                    <a:lumOff val="25000"/>
                  </a:schemeClr>
                </a:solidFill>
              </a:rPr>
              <a:t>はニュートン法の</a:t>
            </a:r>
            <a:r>
              <a:rPr lang="ja-JP" altLang="en-US" b="1" dirty="0">
                <a:solidFill>
                  <a:schemeClr val="tx1">
                    <a:lumMod val="75000"/>
                    <a:lumOff val="25000"/>
                  </a:schemeClr>
                </a:solidFill>
              </a:rPr>
              <a:t>計算コストが膨大</a:t>
            </a:r>
            <a:r>
              <a:rPr lang="ja-JP" altLang="en-US" b="0" dirty="0">
                <a:solidFill>
                  <a:schemeClr val="tx1">
                    <a:lumMod val="75000"/>
                    <a:lumOff val="25000"/>
                  </a:schemeClr>
                </a:solidFill>
              </a:rPr>
              <a:t>という問題を解決</a:t>
            </a:r>
            <a:endParaRPr lang="en-US" altLang="ja-JP" b="0" dirty="0">
              <a:solidFill>
                <a:schemeClr val="tx1">
                  <a:lumMod val="75000"/>
                  <a:lumOff val="25000"/>
                </a:schemeClr>
              </a:solidFill>
            </a:endParaRPr>
          </a:p>
        </p:txBody>
      </p:sp>
      <p:grpSp>
        <p:nvGrpSpPr>
          <p:cNvPr id="3" name="グループ化 2">
            <a:extLst>
              <a:ext uri="{FF2B5EF4-FFF2-40B4-BE49-F238E27FC236}">
                <a16:creationId xmlns:a16="http://schemas.microsoft.com/office/drawing/2014/main" id="{29B5C4C8-CF18-42FA-88E8-CA5857F66ABF}"/>
              </a:ext>
            </a:extLst>
          </p:cNvPr>
          <p:cNvGrpSpPr/>
          <p:nvPr/>
        </p:nvGrpSpPr>
        <p:grpSpPr>
          <a:xfrm>
            <a:off x="3235325" y="2892569"/>
            <a:ext cx="5721350" cy="1210610"/>
            <a:chOff x="3235325" y="1227971"/>
            <a:chExt cx="5721350" cy="2396254"/>
          </a:xfrm>
        </p:grpSpPr>
        <p:sp>
          <p:nvSpPr>
            <p:cNvPr id="54" name="正方形/長方形 53">
              <a:extLst>
                <a:ext uri="{FF2B5EF4-FFF2-40B4-BE49-F238E27FC236}">
                  <a16:creationId xmlns:a16="http://schemas.microsoft.com/office/drawing/2014/main" id="{D67C2CCB-98B5-7C49-83D2-FD3F8AC05A26}"/>
                </a:ext>
              </a:extLst>
            </p:cNvPr>
            <p:cNvSpPr/>
            <p:nvPr/>
          </p:nvSpPr>
          <p:spPr>
            <a:xfrm>
              <a:off x="3235325" y="1777185"/>
              <a:ext cx="5721350" cy="1847040"/>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コンテンツ プレースホルダー 2">
              <a:extLst>
                <a:ext uri="{FF2B5EF4-FFF2-40B4-BE49-F238E27FC236}">
                  <a16:creationId xmlns:a16="http://schemas.microsoft.com/office/drawing/2014/main" id="{BBEF1C96-8CA6-B840-990F-9D70E003141B}"/>
                </a:ext>
              </a:extLst>
            </p:cNvPr>
            <p:cNvSpPr txBox="1">
              <a:spLocks/>
            </p:cNvSpPr>
            <p:nvPr/>
          </p:nvSpPr>
          <p:spPr>
            <a:xfrm>
              <a:off x="4740897" y="1227971"/>
              <a:ext cx="2710206" cy="1098651"/>
            </a:xfrm>
            <a:prstGeom prst="rect">
              <a:avLst/>
            </a:prstGeom>
            <a:solidFill>
              <a:srgbClr val="E4E4E4"/>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en-US" altLang="ja-JP" dirty="0" err="1"/>
                <a:t>HdN</a:t>
              </a:r>
              <a:r>
                <a:rPr lang="ja-JP" altLang="en-US" dirty="0"/>
                <a:t>の更新式</a:t>
              </a:r>
              <a:endParaRPr lang="en-US" altLang="ja-JP" dirty="0"/>
            </a:p>
          </p:txBody>
        </p:sp>
        <mc:AlternateContent xmlns:mc="http://schemas.openxmlformats.org/markup-compatibility/2006" xmlns:a14="http://schemas.microsoft.com/office/drawing/2010/main">
          <mc:Choice Requires="a14">
            <p:sp>
              <p:nvSpPr>
                <p:cNvPr id="56" name="正方形/長方形 55">
                  <a:extLst>
                    <a:ext uri="{FF2B5EF4-FFF2-40B4-BE49-F238E27FC236}">
                      <a16:creationId xmlns:a16="http://schemas.microsoft.com/office/drawing/2014/main" id="{766F8378-1ADC-1940-9423-F2B40AF2C3AB}"/>
                    </a:ext>
                  </a:extLst>
                </p:cNvPr>
                <p:cNvSpPr/>
                <p:nvPr/>
              </p:nvSpPr>
              <p:spPr>
                <a:xfrm>
                  <a:off x="3598830" y="2472105"/>
                  <a:ext cx="3641386" cy="58477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eqArr>
                          <m:eqArrPr>
                            <m:ctrlPr>
                              <a:rPr lang="en-ZA" altLang="ja-JP" sz="3200" i="1" smtClean="0">
                                <a:solidFill>
                                  <a:schemeClr val="tx1">
                                    <a:lumMod val="75000"/>
                                    <a:lumOff val="25000"/>
                                  </a:schemeClr>
                                </a:solidFill>
                                <a:latin typeface="Cambria Math" panose="02040503050406030204" pitchFamily="18" charset="0"/>
                              </a:rPr>
                            </m:ctrlPr>
                          </m:eqArrPr>
                          <m:e>
                            <m:eqArr>
                              <m:eqArrPr>
                                <m:ctrlPr>
                                  <a:rPr lang="en-US" altLang="ja-JP" sz="3200" i="1">
                                    <a:solidFill>
                                      <a:schemeClr val="tx1">
                                        <a:lumMod val="75000"/>
                                        <a:lumOff val="25000"/>
                                      </a:schemeClr>
                                    </a:solidFill>
                                    <a:latin typeface="Cambria Math" panose="02040503050406030204" pitchFamily="18" charset="0"/>
                                  </a:rPr>
                                </m:ctrlPr>
                              </m:eqArrPr>
                              <m:e>
                                <m:sSub>
                                  <m:sSubPr>
                                    <m:ctrlPr>
                                      <a:rPr lang="en-US" altLang="ja-JP" sz="3200" i="1">
                                        <a:solidFill>
                                          <a:schemeClr val="tx1">
                                            <a:lumMod val="75000"/>
                                            <a:lumOff val="25000"/>
                                          </a:schemeClr>
                                        </a:solidFill>
                                        <a:latin typeface="Cambria Math" panose="02040503050406030204" pitchFamily="18" charset="0"/>
                                      </a:rPr>
                                    </m:ctrlPr>
                                  </m:sSubPr>
                                  <m:e>
                                    <m:r>
                                      <a:rPr lang="en-US" altLang="ja-JP" sz="3200" b="1">
                                        <a:solidFill>
                                          <a:schemeClr val="tx1">
                                            <a:lumMod val="75000"/>
                                            <a:lumOff val="25000"/>
                                          </a:schemeClr>
                                        </a:solidFill>
                                        <a:latin typeface="Cambria Math" panose="02040503050406030204" pitchFamily="18" charset="0"/>
                                      </a:rPr>
                                      <m:t>𝐰</m:t>
                                    </m:r>
                                  </m:e>
                                  <m:sub>
                                    <m:r>
                                      <a:rPr lang="en-US" altLang="ja-JP" sz="3200" i="1">
                                        <a:solidFill>
                                          <a:schemeClr val="tx1">
                                            <a:lumMod val="75000"/>
                                            <a:lumOff val="25000"/>
                                          </a:schemeClr>
                                        </a:solidFill>
                                        <a:latin typeface="Cambria Math" panose="02040503050406030204" pitchFamily="18" charset="0"/>
                                      </a:rPr>
                                      <m:t>𝑘</m:t>
                                    </m:r>
                                    <m:r>
                                      <a:rPr lang="en-US" altLang="ja-JP" sz="3200" i="1">
                                        <a:solidFill>
                                          <a:schemeClr val="tx1">
                                            <a:lumMod val="75000"/>
                                            <a:lumOff val="25000"/>
                                          </a:schemeClr>
                                        </a:solidFill>
                                        <a:latin typeface="Cambria Math" panose="02040503050406030204" pitchFamily="18" charset="0"/>
                                      </a:rPr>
                                      <m:t>+1</m:t>
                                    </m:r>
                                  </m:sub>
                                </m:sSub>
                                <m:r>
                                  <a:rPr lang="en-US" altLang="ja-JP" sz="3200" i="1">
                                    <a:solidFill>
                                      <a:schemeClr val="tx1">
                                        <a:lumMod val="75000"/>
                                        <a:lumOff val="25000"/>
                                      </a:schemeClr>
                                    </a:solidFill>
                                    <a:latin typeface="Cambria Math" panose="02040503050406030204" pitchFamily="18" charset="0"/>
                                  </a:rPr>
                                  <m:t>= </m:t>
                                </m:r>
                                <m:sSub>
                                  <m:sSubPr>
                                    <m:ctrlPr>
                                      <a:rPr lang="en-US" altLang="ja-JP" sz="3200" i="1">
                                        <a:solidFill>
                                          <a:schemeClr val="tx1">
                                            <a:lumMod val="75000"/>
                                            <a:lumOff val="25000"/>
                                          </a:schemeClr>
                                        </a:solidFill>
                                        <a:latin typeface="Cambria Math" panose="02040503050406030204" pitchFamily="18" charset="0"/>
                                      </a:rPr>
                                    </m:ctrlPr>
                                  </m:sSubPr>
                                  <m:e>
                                    <m:r>
                                      <a:rPr lang="en-US" altLang="ja-JP" sz="3200" b="1">
                                        <a:solidFill>
                                          <a:schemeClr val="tx1">
                                            <a:lumMod val="75000"/>
                                            <a:lumOff val="25000"/>
                                          </a:schemeClr>
                                        </a:solidFill>
                                        <a:latin typeface="Cambria Math" panose="02040503050406030204" pitchFamily="18" charset="0"/>
                                      </a:rPr>
                                      <m:t>𝐰</m:t>
                                    </m:r>
                                  </m:e>
                                  <m:sub>
                                    <m:r>
                                      <a:rPr lang="en-US" altLang="ja-JP" sz="3200" i="1">
                                        <a:solidFill>
                                          <a:schemeClr val="tx1">
                                            <a:lumMod val="75000"/>
                                            <a:lumOff val="25000"/>
                                          </a:schemeClr>
                                        </a:solidFill>
                                        <a:latin typeface="Cambria Math" panose="02040503050406030204" pitchFamily="18" charset="0"/>
                                      </a:rPr>
                                      <m:t>𝑘</m:t>
                                    </m:r>
                                  </m:sub>
                                </m:sSub>
                                <m:r>
                                  <a:rPr lang="en-US" altLang="ja-JP" sz="3200" i="1">
                                    <a:solidFill>
                                      <a:schemeClr val="tx1">
                                        <a:lumMod val="75000"/>
                                        <a:lumOff val="25000"/>
                                      </a:schemeClr>
                                    </a:solidFill>
                                    <a:latin typeface="Cambria Math" panose="02040503050406030204" pitchFamily="18" charset="0"/>
                                  </a:rPr>
                                  <m:t> − </m:t>
                                </m:r>
                                <m:r>
                                  <a:rPr lang="ja-JP" altLang="en-US" sz="3200" i="1">
                                    <a:solidFill>
                                      <a:schemeClr val="tx1">
                                        <a:lumMod val="75000"/>
                                        <a:lumOff val="25000"/>
                                      </a:schemeClr>
                                    </a:solidFill>
                                    <a:latin typeface="Cambria Math" panose="02040503050406030204" pitchFamily="18" charset="0"/>
                                  </a:rPr>
                                  <m:t>𝛼</m:t>
                                </m:r>
                                <m:sSub>
                                  <m:sSubPr>
                                    <m:ctrlPr>
                                      <a:rPr lang="en-US" altLang="ja-JP" sz="3200" i="1" smtClean="0">
                                        <a:solidFill>
                                          <a:schemeClr val="tx1">
                                            <a:lumMod val="75000"/>
                                            <a:lumOff val="25000"/>
                                          </a:schemeClr>
                                        </a:solidFill>
                                        <a:latin typeface="Cambria Math" panose="02040503050406030204" pitchFamily="18" charset="0"/>
                                      </a:rPr>
                                    </m:ctrlPr>
                                  </m:sSubPr>
                                  <m:e>
                                    <m:r>
                                      <a:rPr lang="en-US" altLang="ja-JP" sz="3200" b="1">
                                        <a:solidFill>
                                          <a:schemeClr val="tx1">
                                            <a:lumMod val="75000"/>
                                            <a:lumOff val="25000"/>
                                          </a:schemeClr>
                                        </a:solidFill>
                                        <a:latin typeface="Cambria Math" panose="02040503050406030204" pitchFamily="18" charset="0"/>
                                      </a:rPr>
                                      <m:t>𝐠</m:t>
                                    </m:r>
                                  </m:e>
                                  <m:sub>
                                    <m:r>
                                      <a:rPr lang="en-US" altLang="ja-JP" sz="3200" i="1">
                                        <a:solidFill>
                                          <a:schemeClr val="tx1">
                                            <a:lumMod val="75000"/>
                                            <a:lumOff val="25000"/>
                                          </a:schemeClr>
                                        </a:solidFill>
                                        <a:latin typeface="Cambria Math" panose="02040503050406030204" pitchFamily="18" charset="0"/>
                                      </a:rPr>
                                      <m:t>𝑘</m:t>
                                    </m:r>
                                  </m:sub>
                                </m:sSub>
                                <m:r>
                                  <a:rPr lang="en-US" altLang="ja-JP" sz="3200" i="1" smtClean="0">
                                    <a:solidFill>
                                      <a:schemeClr val="tx1">
                                        <a:lumMod val="75000"/>
                                        <a:lumOff val="25000"/>
                                      </a:schemeClr>
                                    </a:solidFill>
                                    <a:latin typeface="Cambria Math" panose="02040503050406030204" pitchFamily="18" charset="0"/>
                                    <a:ea typeface="Cambria Math" panose="02040503050406030204" pitchFamily="18" charset="0"/>
                                  </a:rPr>
                                  <m:t>⊘</m:t>
                                </m:r>
                                <m:sSub>
                                  <m:sSubPr>
                                    <m:ctrlPr>
                                      <a:rPr lang="en-US" altLang="ja-JP" sz="3200" i="1" smtClean="0">
                                        <a:solidFill>
                                          <a:srgbClr val="C00000"/>
                                        </a:solidFill>
                                        <a:latin typeface="Cambria Math" panose="02040503050406030204" pitchFamily="18" charset="0"/>
                                      </a:rPr>
                                    </m:ctrlPr>
                                  </m:sSubPr>
                                  <m:e>
                                    <m:r>
                                      <a:rPr lang="en-US" altLang="ja-JP" sz="3200" b="1" i="0" smtClean="0">
                                        <a:solidFill>
                                          <a:srgbClr val="C00000"/>
                                        </a:solidFill>
                                        <a:latin typeface="Cambria Math" panose="02040503050406030204" pitchFamily="18" charset="0"/>
                                      </a:rPr>
                                      <m:t>𝐡</m:t>
                                    </m:r>
                                  </m:e>
                                  <m:sub>
                                    <m:r>
                                      <a:rPr lang="en-US" altLang="ja-JP" sz="3200" b="0" i="1" smtClean="0">
                                        <a:solidFill>
                                          <a:srgbClr val="C00000"/>
                                        </a:solidFill>
                                        <a:latin typeface="Cambria Math" panose="02040503050406030204" pitchFamily="18" charset="0"/>
                                      </a:rPr>
                                      <m:t>𝑘</m:t>
                                    </m:r>
                                  </m:sub>
                                </m:sSub>
                              </m:e>
                            </m:eqArr>
                            <m:r>
                              <a:rPr lang="en-US" altLang="ja-JP" sz="3200" i="1">
                                <a:solidFill>
                                  <a:schemeClr val="tx1">
                                    <a:lumMod val="75000"/>
                                    <a:lumOff val="25000"/>
                                  </a:schemeClr>
                                </a:solidFill>
                                <a:latin typeface="Cambria Math" panose="02040503050406030204" pitchFamily="18" charset="0"/>
                              </a:rPr>
                              <m:t>#</m:t>
                            </m:r>
                          </m:e>
                        </m:eqArr>
                      </m:oMath>
                    </m:oMathPara>
                  </a14:m>
                  <a:endParaRPr lang="ja-JP" altLang="en-US" sz="3200" dirty="0">
                    <a:solidFill>
                      <a:schemeClr val="tx1">
                        <a:lumMod val="75000"/>
                        <a:lumOff val="25000"/>
                      </a:schemeClr>
                    </a:solidFill>
                  </a:endParaRPr>
                </a:p>
              </p:txBody>
            </p:sp>
          </mc:Choice>
          <mc:Fallback xmlns="">
            <p:sp>
              <p:nvSpPr>
                <p:cNvPr id="56" name="正方形/長方形 55">
                  <a:extLst>
                    <a:ext uri="{FF2B5EF4-FFF2-40B4-BE49-F238E27FC236}">
                      <a16:creationId xmlns:a16="http://schemas.microsoft.com/office/drawing/2014/main" id="{766F8378-1ADC-1940-9423-F2B40AF2C3AB}"/>
                    </a:ext>
                  </a:extLst>
                </p:cNvPr>
                <p:cNvSpPr>
                  <a:spLocks noRot="1" noChangeAspect="1" noMove="1" noResize="1" noEditPoints="1" noAdjustHandles="1" noChangeArrowheads="1" noChangeShapeType="1" noTextEdit="1"/>
                </p:cNvSpPr>
                <p:nvPr/>
              </p:nvSpPr>
              <p:spPr>
                <a:xfrm>
                  <a:off x="3598830" y="2472105"/>
                  <a:ext cx="3641386" cy="584775"/>
                </a:xfrm>
                <a:prstGeom prst="rect">
                  <a:avLst/>
                </a:prstGeom>
                <a:blipFill>
                  <a:blip r:embed="rId3"/>
                  <a:stretch>
                    <a:fillRect r="-23579"/>
                  </a:stretch>
                </a:blipFill>
              </p:spPr>
              <p:txBody>
                <a:bodyPr/>
                <a:lstStyle/>
                <a:p>
                  <a:r>
                    <a:rPr lang="ja-JP" altLang="en-US">
                      <a:noFill/>
                    </a:rPr>
                    <a:t> </a:t>
                  </a:r>
                </a:p>
              </p:txBody>
            </p:sp>
          </mc:Fallback>
        </mc:AlternateContent>
        <p:sp>
          <p:nvSpPr>
            <p:cNvPr id="9" name="テキスト ボックス 8">
              <a:extLst>
                <a:ext uri="{FF2B5EF4-FFF2-40B4-BE49-F238E27FC236}">
                  <a16:creationId xmlns:a16="http://schemas.microsoft.com/office/drawing/2014/main" id="{3D8E9125-4FEC-473B-AAAB-34F2D851C08F}"/>
                </a:ext>
              </a:extLst>
            </p:cNvPr>
            <p:cNvSpPr txBox="1"/>
            <p:nvPr/>
          </p:nvSpPr>
          <p:spPr>
            <a:xfrm>
              <a:off x="8183621" y="2411466"/>
              <a:ext cx="703331" cy="1013819"/>
            </a:xfrm>
            <a:prstGeom prst="rect">
              <a:avLst/>
            </a:prstGeom>
            <a:solidFill>
              <a:srgbClr val="E4E4E4"/>
            </a:solidFill>
          </p:spPr>
          <p:txBody>
            <a:bodyPr wrap="square" rtlCol="0">
              <a:spAutoFit/>
            </a:bodyPr>
            <a:lstStyle/>
            <a:p>
              <a:pPr>
                <a:lnSpc>
                  <a:spcPct val="150000"/>
                </a:lnSpc>
              </a:pPr>
              <a:r>
                <a:rPr kumimoji="1" lang="en-US" altLang="ja-JP" sz="20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(9)</a:t>
              </a:r>
              <a:endParaRPr kumimoji="1" lang="ja-JP" altLang="en-US" sz="20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p:grpSp>
      <p:sp>
        <p:nvSpPr>
          <p:cNvPr id="14" name="コンテンツ プレースホルダー 2">
            <a:extLst>
              <a:ext uri="{FF2B5EF4-FFF2-40B4-BE49-F238E27FC236}">
                <a16:creationId xmlns:a16="http://schemas.microsoft.com/office/drawing/2014/main" id="{A07A7B36-0561-4F24-AC8F-29ADF87C276C}"/>
              </a:ext>
            </a:extLst>
          </p:cNvPr>
          <p:cNvSpPr txBox="1">
            <a:spLocks/>
          </p:cNvSpPr>
          <p:nvPr/>
        </p:nvSpPr>
        <p:spPr>
          <a:xfrm>
            <a:off x="152400" y="1778128"/>
            <a:ext cx="11887200" cy="1151219"/>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None/>
            </a:pPr>
            <a:r>
              <a:rPr lang="en-US" altLang="ja-JP" sz="4000" dirty="0"/>
              <a:t>Hutchinson diagonalized Newton method</a:t>
            </a:r>
          </a:p>
          <a:p>
            <a:pPr marL="0" indent="0" algn="ctr">
              <a:buNone/>
            </a:pPr>
            <a:r>
              <a:rPr lang="en-US" altLang="ja-JP" sz="4000" dirty="0"/>
              <a:t>Hutchinson</a:t>
            </a:r>
            <a:r>
              <a:rPr lang="ja-JP" altLang="en-US" sz="4000" dirty="0"/>
              <a:t>対角化ニュートン法</a:t>
            </a:r>
            <a:endParaRPr lang="en-US" altLang="ja-JP" sz="4000" dirty="0"/>
          </a:p>
        </p:txBody>
      </p:sp>
      <mc:AlternateContent xmlns:mc="http://schemas.openxmlformats.org/markup-compatibility/2006" xmlns:a14="http://schemas.microsoft.com/office/drawing/2010/main">
        <mc:Choice Requires="a14">
          <p:sp>
            <p:nvSpPr>
              <p:cNvPr id="15" name="テキスト ボックス 14">
                <a:extLst>
                  <a:ext uri="{FF2B5EF4-FFF2-40B4-BE49-F238E27FC236}">
                    <a16:creationId xmlns:a16="http://schemas.microsoft.com/office/drawing/2014/main" id="{800F171F-8BF8-45F8-AA02-AF6ADFB86EC1}"/>
                  </a:ext>
                </a:extLst>
              </p:cNvPr>
              <p:cNvSpPr txBox="1"/>
              <p:nvPr/>
            </p:nvSpPr>
            <p:spPr>
              <a:xfrm>
                <a:off x="7485010" y="6488633"/>
                <a:ext cx="4385244" cy="369332"/>
              </a:xfrm>
              <a:prstGeom prst="rect">
                <a:avLst/>
              </a:prstGeom>
              <a:noFill/>
            </p:spPr>
            <p:txBody>
              <a:bodyPr wrap="square">
                <a:spAutoFit/>
              </a:bodyPr>
              <a:lstStyle/>
              <a:p>
                <a:r>
                  <a:rPr lang="en-US" altLang="ja-JP" b="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a:t>
                </a:r>
                <a14:m>
                  <m:oMath xmlns:m="http://schemas.openxmlformats.org/officeDocument/2006/math">
                    <m:r>
                      <a:rPr lang="en-US" altLang="ja-JP" b="0" i="1" smtClean="0">
                        <a:solidFill>
                          <a:schemeClr val="tx1">
                            <a:lumMod val="75000"/>
                            <a:lumOff val="25000"/>
                          </a:schemeClr>
                        </a:solidFill>
                        <a:latin typeface="Cambria Math" panose="02040503050406030204" pitchFamily="18" charset="0"/>
                        <a:ea typeface="Cambria Math" panose="02040503050406030204" pitchFamily="18" charset="0"/>
                      </a:rPr>
                      <m:t>⊙</m:t>
                    </m:r>
                    <m:r>
                      <m:rPr>
                        <m:nor/>
                      </m:rPr>
                      <a:rPr lang="ja-JP" altLang="en-US"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m:t>：</m:t>
                    </m:r>
                  </m:oMath>
                </a14:m>
                <a:r>
                  <a:rPr lang="ja-JP" altLang="en-US"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アダマール乗算　</a:t>
                </a:r>
                <a14:m>
                  <m:oMath xmlns:m="http://schemas.openxmlformats.org/officeDocument/2006/math">
                    <m:r>
                      <a:rPr lang="en-US" altLang="ja-JP" b="0" i="1" smtClean="0">
                        <a:solidFill>
                          <a:schemeClr val="tx1">
                            <a:lumMod val="75000"/>
                            <a:lumOff val="25000"/>
                          </a:schemeClr>
                        </a:solidFill>
                        <a:latin typeface="Cambria Math" panose="02040503050406030204" pitchFamily="18" charset="0"/>
                        <a:ea typeface="Cambria Math" panose="02040503050406030204" pitchFamily="18" charset="0"/>
                      </a:rPr>
                      <m:t>⊘</m:t>
                    </m:r>
                    <m:r>
                      <a:rPr lang="ja-JP" altLang="en-US" i="1">
                        <a:solidFill>
                          <a:schemeClr val="tx1">
                            <a:lumMod val="75000"/>
                            <a:lumOff val="25000"/>
                          </a:schemeClr>
                        </a:solidFill>
                        <a:latin typeface="Cambria Math" panose="02040503050406030204" pitchFamily="18" charset="0"/>
                        <a:ea typeface="Cambria Math" panose="02040503050406030204" pitchFamily="18" charset="0"/>
                      </a:rPr>
                      <m:t> </m:t>
                    </m:r>
                  </m:oMath>
                </a14:m>
                <a:r>
                  <a:rPr lang="ja-JP" altLang="en-US"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：アダマール除算</a:t>
                </a:r>
                <a:endParaRPr lang="en-US" altLang="ja-JP"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mc:Choice>
        <mc:Fallback xmlns="">
          <p:sp>
            <p:nvSpPr>
              <p:cNvPr id="15" name="テキスト ボックス 14">
                <a:extLst>
                  <a:ext uri="{FF2B5EF4-FFF2-40B4-BE49-F238E27FC236}">
                    <a16:creationId xmlns:a16="http://schemas.microsoft.com/office/drawing/2014/main" id="{800F171F-8BF8-45F8-AA02-AF6ADFB86EC1}"/>
                  </a:ext>
                </a:extLst>
              </p:cNvPr>
              <p:cNvSpPr txBox="1">
                <a:spLocks noRot="1" noChangeAspect="1" noMove="1" noResize="1" noEditPoints="1" noAdjustHandles="1" noChangeArrowheads="1" noChangeShapeType="1" noTextEdit="1"/>
              </p:cNvSpPr>
              <p:nvPr/>
            </p:nvSpPr>
            <p:spPr>
              <a:xfrm>
                <a:off x="7485010" y="6488633"/>
                <a:ext cx="4385244" cy="369332"/>
              </a:xfrm>
              <a:prstGeom prst="rect">
                <a:avLst/>
              </a:prstGeom>
              <a:blipFill>
                <a:blip r:embed="rId4"/>
                <a:stretch>
                  <a:fillRect l="-1252" t="-6557" b="-26230"/>
                </a:stretch>
              </a:blipFill>
            </p:spPr>
            <p:txBody>
              <a:bodyPr/>
              <a:lstStyle/>
              <a:p>
                <a:r>
                  <a:rPr lang="ja-JP" altLang="en-US">
                    <a:noFill/>
                  </a:rPr>
                  <a:t> </a:t>
                </a:r>
              </a:p>
            </p:txBody>
          </p:sp>
        </mc:Fallback>
      </mc:AlternateContent>
      <p:grpSp>
        <p:nvGrpSpPr>
          <p:cNvPr id="6" name="グループ化 5">
            <a:extLst>
              <a:ext uri="{FF2B5EF4-FFF2-40B4-BE49-F238E27FC236}">
                <a16:creationId xmlns:a16="http://schemas.microsoft.com/office/drawing/2014/main" id="{373D3153-1929-45FD-A7DA-0EA634AEEE4D}"/>
              </a:ext>
            </a:extLst>
          </p:cNvPr>
          <p:cNvGrpSpPr/>
          <p:nvPr/>
        </p:nvGrpSpPr>
        <p:grpSpPr>
          <a:xfrm>
            <a:off x="1600200" y="5241631"/>
            <a:ext cx="3078432" cy="1263512"/>
            <a:chOff x="1600200" y="5241631"/>
            <a:chExt cx="3078432" cy="1263512"/>
          </a:xfrm>
        </p:grpSpPr>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F6D0407D-074B-4C7F-AC67-AB9CE669B778}"/>
                    </a:ext>
                  </a:extLst>
                </p:cNvPr>
                <p:cNvSpPr txBox="1"/>
                <p:nvPr/>
              </p:nvSpPr>
              <p:spPr>
                <a:xfrm>
                  <a:off x="1600200" y="5628689"/>
                  <a:ext cx="1436799" cy="7078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ja-JP" sz="4000" i="1" smtClean="0">
                                <a:solidFill>
                                  <a:schemeClr val="tx1">
                                    <a:lumMod val="75000"/>
                                    <a:lumOff val="25000"/>
                                  </a:schemeClr>
                                </a:solidFill>
                                <a:latin typeface="Cambria Math" panose="02040503050406030204" pitchFamily="18" charset="0"/>
                                <a:ea typeface="Cambria Math" panose="02040503050406030204" pitchFamily="18" charset="0"/>
                              </a:rPr>
                            </m:ctrlPr>
                          </m:sSubPr>
                          <m:e>
                            <m:r>
                              <a:rPr lang="en-US" altLang="ja-JP" sz="4000" b="1" smtClean="0">
                                <a:solidFill>
                                  <a:schemeClr val="tx1">
                                    <a:lumMod val="75000"/>
                                    <a:lumOff val="25000"/>
                                  </a:schemeClr>
                                </a:solidFill>
                                <a:latin typeface="Cambria Math" panose="02040503050406030204" pitchFamily="18" charset="0"/>
                                <a:ea typeface="Cambria Math" panose="02040503050406030204" pitchFamily="18" charset="0"/>
                              </a:rPr>
                              <m:t>𝐇</m:t>
                            </m:r>
                          </m:e>
                          <m:sub>
                            <m:r>
                              <a:rPr lang="en-US" altLang="ja-JP" sz="4000" i="1">
                                <a:solidFill>
                                  <a:schemeClr val="tx1">
                                    <a:lumMod val="75000"/>
                                    <a:lumOff val="25000"/>
                                  </a:schemeClr>
                                </a:solidFill>
                                <a:latin typeface="Cambria Math" panose="02040503050406030204" pitchFamily="18" charset="0"/>
                                <a:ea typeface="Cambria Math" panose="02040503050406030204" pitchFamily="18" charset="0"/>
                              </a:rPr>
                              <m:t>𝑘</m:t>
                            </m:r>
                          </m:sub>
                        </m:sSub>
                        <m:r>
                          <a:rPr lang="en-US" altLang="ja-JP" sz="4000" b="1" i="1" smtClean="0">
                            <a:solidFill>
                              <a:schemeClr val="tx1">
                                <a:lumMod val="75000"/>
                                <a:lumOff val="25000"/>
                              </a:schemeClr>
                            </a:solidFill>
                            <a:latin typeface="Cambria Math" panose="02040503050406030204" pitchFamily="18" charset="0"/>
                          </a:rPr>
                          <m:t>=</m:t>
                        </m:r>
                      </m:oMath>
                    </m:oMathPara>
                  </a14:m>
                  <a:endParaRPr lang="ja-JP" altLang="en-US" sz="4000" dirty="0">
                    <a:solidFill>
                      <a:schemeClr val="tx1">
                        <a:lumMod val="75000"/>
                        <a:lumOff val="25000"/>
                      </a:schemeClr>
                    </a:solidFill>
                  </a:endParaRPr>
                </a:p>
              </p:txBody>
            </p:sp>
          </mc:Choice>
          <mc:Fallback xmlns="">
            <p:sp>
              <p:nvSpPr>
                <p:cNvPr id="13" name="テキスト ボックス 12">
                  <a:extLst>
                    <a:ext uri="{FF2B5EF4-FFF2-40B4-BE49-F238E27FC236}">
                      <a16:creationId xmlns:a16="http://schemas.microsoft.com/office/drawing/2014/main" id="{F6D0407D-074B-4C7F-AC67-AB9CE669B778}"/>
                    </a:ext>
                  </a:extLst>
                </p:cNvPr>
                <p:cNvSpPr txBox="1">
                  <a:spLocks noRot="1" noChangeAspect="1" noMove="1" noResize="1" noEditPoints="1" noAdjustHandles="1" noChangeArrowheads="1" noChangeShapeType="1" noTextEdit="1"/>
                </p:cNvSpPr>
                <p:nvPr/>
              </p:nvSpPr>
              <p:spPr>
                <a:xfrm>
                  <a:off x="1600200" y="5628689"/>
                  <a:ext cx="1436799" cy="707886"/>
                </a:xfrm>
                <a:prstGeom prst="rect">
                  <a:avLst/>
                </a:prstGeom>
                <a:blipFill>
                  <a:blip r:embed="rId5"/>
                  <a:stretch>
                    <a:fillRect/>
                  </a:stretch>
                </a:blipFill>
              </p:spPr>
              <p:txBody>
                <a:bodyPr/>
                <a:lstStyle/>
                <a:p>
                  <a:r>
                    <a:rPr lang="ja-JP" altLang="en-US">
                      <a:noFill/>
                    </a:rPr>
                    <a:t> </a:t>
                  </a:r>
                </a:p>
              </p:txBody>
            </p:sp>
          </mc:Fallback>
        </mc:AlternateContent>
        <p:grpSp>
          <p:nvGrpSpPr>
            <p:cNvPr id="16" name="グループ化 15">
              <a:extLst>
                <a:ext uri="{FF2B5EF4-FFF2-40B4-BE49-F238E27FC236}">
                  <a16:creationId xmlns:a16="http://schemas.microsoft.com/office/drawing/2014/main" id="{58D3D3C5-5F14-46AD-8E46-7CDFE249C4BF}"/>
                </a:ext>
              </a:extLst>
            </p:cNvPr>
            <p:cNvGrpSpPr/>
            <p:nvPr/>
          </p:nvGrpSpPr>
          <p:grpSpPr>
            <a:xfrm>
              <a:off x="3075330" y="5241631"/>
              <a:ext cx="1603302" cy="1263512"/>
              <a:chOff x="2322930" y="3353671"/>
              <a:chExt cx="2319094" cy="1827605"/>
            </a:xfrm>
          </p:grpSpPr>
          <p:grpSp>
            <p:nvGrpSpPr>
              <p:cNvPr id="17" name="グループ化 16">
                <a:extLst>
                  <a:ext uri="{FF2B5EF4-FFF2-40B4-BE49-F238E27FC236}">
                    <a16:creationId xmlns:a16="http://schemas.microsoft.com/office/drawing/2014/main" id="{2C06477D-AF81-4BF4-B770-5C0A8C88792D}"/>
                  </a:ext>
                </a:extLst>
              </p:cNvPr>
              <p:cNvGrpSpPr/>
              <p:nvPr/>
            </p:nvGrpSpPr>
            <p:grpSpPr>
              <a:xfrm>
                <a:off x="2652046" y="3451928"/>
                <a:ext cx="1700918" cy="1676670"/>
                <a:chOff x="1138989" y="3968713"/>
                <a:chExt cx="1700918" cy="1676670"/>
              </a:xfrm>
            </p:grpSpPr>
            <p:sp>
              <p:nvSpPr>
                <p:cNvPr id="20" name="正方形/長方形 19">
                  <a:extLst>
                    <a:ext uri="{FF2B5EF4-FFF2-40B4-BE49-F238E27FC236}">
                      <a16:creationId xmlns:a16="http://schemas.microsoft.com/office/drawing/2014/main" id="{CCD8866A-B76F-4A6F-A129-EC0A555B6C53}"/>
                    </a:ext>
                  </a:extLst>
                </p:cNvPr>
                <p:cNvSpPr/>
                <p:nvPr/>
              </p:nvSpPr>
              <p:spPr>
                <a:xfrm>
                  <a:off x="1138989" y="3974039"/>
                  <a:ext cx="319421" cy="319421"/>
                </a:xfrm>
                <a:prstGeom prst="rect">
                  <a:avLst/>
                </a:prstGeom>
                <a:solidFill>
                  <a:schemeClr val="accent6">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9A93B1F3-4590-4233-A79D-C2BD68BE1937}"/>
                    </a:ext>
                  </a:extLst>
                </p:cNvPr>
                <p:cNvSpPr/>
                <p:nvPr/>
              </p:nvSpPr>
              <p:spPr>
                <a:xfrm>
                  <a:off x="1599488" y="3974039"/>
                  <a:ext cx="319421" cy="319421"/>
                </a:xfrm>
                <a:prstGeom prst="rect">
                  <a:avLst/>
                </a:prstGeom>
                <a:solidFill>
                  <a:schemeClr val="accent6">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2" name="正方形/長方形 21">
                  <a:extLst>
                    <a:ext uri="{FF2B5EF4-FFF2-40B4-BE49-F238E27FC236}">
                      <a16:creationId xmlns:a16="http://schemas.microsoft.com/office/drawing/2014/main" id="{B2B2969E-B0F6-49EF-B644-751D40347988}"/>
                    </a:ext>
                  </a:extLst>
                </p:cNvPr>
                <p:cNvSpPr/>
                <p:nvPr/>
              </p:nvSpPr>
              <p:spPr>
                <a:xfrm>
                  <a:off x="2059987" y="3968714"/>
                  <a:ext cx="319421" cy="319421"/>
                </a:xfrm>
                <a:prstGeom prst="rect">
                  <a:avLst/>
                </a:prstGeom>
                <a:solidFill>
                  <a:schemeClr val="accent6">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6D20F89B-F0F1-4172-AB34-12F560819FD8}"/>
                    </a:ext>
                  </a:extLst>
                </p:cNvPr>
                <p:cNvSpPr/>
                <p:nvPr/>
              </p:nvSpPr>
              <p:spPr>
                <a:xfrm>
                  <a:off x="2520486" y="3968713"/>
                  <a:ext cx="319421" cy="319421"/>
                </a:xfrm>
                <a:prstGeom prst="rect">
                  <a:avLst/>
                </a:prstGeom>
                <a:solidFill>
                  <a:schemeClr val="accent6">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6BBEFCC6-C430-49E5-B38A-71313D580015}"/>
                    </a:ext>
                  </a:extLst>
                </p:cNvPr>
                <p:cNvSpPr/>
                <p:nvPr/>
              </p:nvSpPr>
              <p:spPr>
                <a:xfrm>
                  <a:off x="1138989" y="4424680"/>
                  <a:ext cx="319421" cy="319421"/>
                </a:xfrm>
                <a:prstGeom prst="rect">
                  <a:avLst/>
                </a:prstGeom>
                <a:solidFill>
                  <a:schemeClr val="accent5">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a:extLst>
                    <a:ext uri="{FF2B5EF4-FFF2-40B4-BE49-F238E27FC236}">
                      <a16:creationId xmlns:a16="http://schemas.microsoft.com/office/drawing/2014/main" id="{9255205C-3827-4DD4-B124-C3CF484A8577}"/>
                    </a:ext>
                  </a:extLst>
                </p:cNvPr>
                <p:cNvSpPr/>
                <p:nvPr/>
              </p:nvSpPr>
              <p:spPr>
                <a:xfrm>
                  <a:off x="1599488" y="4424680"/>
                  <a:ext cx="319421" cy="319421"/>
                </a:xfrm>
                <a:prstGeom prst="rect">
                  <a:avLst/>
                </a:prstGeom>
                <a:solidFill>
                  <a:schemeClr val="accent5">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CA2F80C0-7876-4439-B422-A9DCB064F8B7}"/>
                    </a:ext>
                  </a:extLst>
                </p:cNvPr>
                <p:cNvSpPr/>
                <p:nvPr/>
              </p:nvSpPr>
              <p:spPr>
                <a:xfrm>
                  <a:off x="2059987" y="4419355"/>
                  <a:ext cx="319421" cy="319421"/>
                </a:xfrm>
                <a:prstGeom prst="rect">
                  <a:avLst/>
                </a:prstGeom>
                <a:solidFill>
                  <a:schemeClr val="accent5">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正方形/長方形 26">
                  <a:extLst>
                    <a:ext uri="{FF2B5EF4-FFF2-40B4-BE49-F238E27FC236}">
                      <a16:creationId xmlns:a16="http://schemas.microsoft.com/office/drawing/2014/main" id="{1F7250F4-105E-472C-A22A-19A261E46782}"/>
                    </a:ext>
                  </a:extLst>
                </p:cNvPr>
                <p:cNvSpPr/>
                <p:nvPr/>
              </p:nvSpPr>
              <p:spPr>
                <a:xfrm>
                  <a:off x="2520486" y="4419354"/>
                  <a:ext cx="319421" cy="319421"/>
                </a:xfrm>
                <a:prstGeom prst="rect">
                  <a:avLst/>
                </a:prstGeom>
                <a:solidFill>
                  <a:schemeClr val="accent5">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a:extLst>
                    <a:ext uri="{FF2B5EF4-FFF2-40B4-BE49-F238E27FC236}">
                      <a16:creationId xmlns:a16="http://schemas.microsoft.com/office/drawing/2014/main" id="{8739F116-FDC0-4E15-B695-09DC7B6924BA}"/>
                    </a:ext>
                  </a:extLst>
                </p:cNvPr>
                <p:cNvSpPr/>
                <p:nvPr/>
              </p:nvSpPr>
              <p:spPr>
                <a:xfrm>
                  <a:off x="1138989" y="4875321"/>
                  <a:ext cx="319421" cy="319421"/>
                </a:xfrm>
                <a:prstGeom prst="rect">
                  <a:avLst/>
                </a:prstGeom>
                <a:solidFill>
                  <a:schemeClr val="accent4">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正方形/長方形 28">
                  <a:extLst>
                    <a:ext uri="{FF2B5EF4-FFF2-40B4-BE49-F238E27FC236}">
                      <a16:creationId xmlns:a16="http://schemas.microsoft.com/office/drawing/2014/main" id="{A13BB2F1-191A-48F0-A35F-728BF382005B}"/>
                    </a:ext>
                  </a:extLst>
                </p:cNvPr>
                <p:cNvSpPr/>
                <p:nvPr/>
              </p:nvSpPr>
              <p:spPr>
                <a:xfrm>
                  <a:off x="1599488" y="4875321"/>
                  <a:ext cx="319421" cy="319421"/>
                </a:xfrm>
                <a:prstGeom prst="rect">
                  <a:avLst/>
                </a:prstGeom>
                <a:solidFill>
                  <a:schemeClr val="accent4">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a:extLst>
                    <a:ext uri="{FF2B5EF4-FFF2-40B4-BE49-F238E27FC236}">
                      <a16:creationId xmlns:a16="http://schemas.microsoft.com/office/drawing/2014/main" id="{66ECB514-3423-4803-B45C-7A7533C3A644}"/>
                    </a:ext>
                  </a:extLst>
                </p:cNvPr>
                <p:cNvSpPr/>
                <p:nvPr/>
              </p:nvSpPr>
              <p:spPr>
                <a:xfrm>
                  <a:off x="2059987" y="4869996"/>
                  <a:ext cx="319421" cy="319421"/>
                </a:xfrm>
                <a:prstGeom prst="rect">
                  <a:avLst/>
                </a:prstGeom>
                <a:solidFill>
                  <a:schemeClr val="accent4">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正方形/長方形 30">
                  <a:extLst>
                    <a:ext uri="{FF2B5EF4-FFF2-40B4-BE49-F238E27FC236}">
                      <a16:creationId xmlns:a16="http://schemas.microsoft.com/office/drawing/2014/main" id="{11C27D55-4814-491F-8B84-F59E3AE61DF9}"/>
                    </a:ext>
                  </a:extLst>
                </p:cNvPr>
                <p:cNvSpPr/>
                <p:nvPr/>
              </p:nvSpPr>
              <p:spPr>
                <a:xfrm>
                  <a:off x="2520486" y="4869995"/>
                  <a:ext cx="319421" cy="319421"/>
                </a:xfrm>
                <a:prstGeom prst="rect">
                  <a:avLst/>
                </a:prstGeom>
                <a:solidFill>
                  <a:schemeClr val="accent4">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正方形/長方形 31">
                  <a:extLst>
                    <a:ext uri="{FF2B5EF4-FFF2-40B4-BE49-F238E27FC236}">
                      <a16:creationId xmlns:a16="http://schemas.microsoft.com/office/drawing/2014/main" id="{5872312E-FAC3-40EA-9C50-9797CCD6C58E}"/>
                    </a:ext>
                  </a:extLst>
                </p:cNvPr>
                <p:cNvSpPr/>
                <p:nvPr/>
              </p:nvSpPr>
              <p:spPr>
                <a:xfrm>
                  <a:off x="1138989" y="5325962"/>
                  <a:ext cx="319421" cy="319421"/>
                </a:xfrm>
                <a:prstGeom prst="rect">
                  <a:avLst/>
                </a:prstGeom>
                <a:solidFill>
                  <a:schemeClr val="accent2">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正方形/長方形 32">
                  <a:extLst>
                    <a:ext uri="{FF2B5EF4-FFF2-40B4-BE49-F238E27FC236}">
                      <a16:creationId xmlns:a16="http://schemas.microsoft.com/office/drawing/2014/main" id="{63DAF815-7729-4A96-A4DE-92F02973720F}"/>
                    </a:ext>
                  </a:extLst>
                </p:cNvPr>
                <p:cNvSpPr/>
                <p:nvPr/>
              </p:nvSpPr>
              <p:spPr>
                <a:xfrm>
                  <a:off x="1599488" y="5325962"/>
                  <a:ext cx="319421" cy="319421"/>
                </a:xfrm>
                <a:prstGeom prst="rect">
                  <a:avLst/>
                </a:prstGeom>
                <a:solidFill>
                  <a:schemeClr val="accent2">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正方形/長方形 33">
                  <a:extLst>
                    <a:ext uri="{FF2B5EF4-FFF2-40B4-BE49-F238E27FC236}">
                      <a16:creationId xmlns:a16="http://schemas.microsoft.com/office/drawing/2014/main" id="{41AA15C7-D0FC-48B8-835C-2239954D9007}"/>
                    </a:ext>
                  </a:extLst>
                </p:cNvPr>
                <p:cNvSpPr/>
                <p:nvPr/>
              </p:nvSpPr>
              <p:spPr>
                <a:xfrm>
                  <a:off x="2059987" y="5320637"/>
                  <a:ext cx="319421" cy="319421"/>
                </a:xfrm>
                <a:prstGeom prst="rect">
                  <a:avLst/>
                </a:prstGeom>
                <a:solidFill>
                  <a:schemeClr val="accent2">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正方形/長方形 34">
                  <a:extLst>
                    <a:ext uri="{FF2B5EF4-FFF2-40B4-BE49-F238E27FC236}">
                      <a16:creationId xmlns:a16="http://schemas.microsoft.com/office/drawing/2014/main" id="{F460D306-8E0A-498B-A307-D7B74BF4CCA6}"/>
                    </a:ext>
                  </a:extLst>
                </p:cNvPr>
                <p:cNvSpPr/>
                <p:nvPr/>
              </p:nvSpPr>
              <p:spPr>
                <a:xfrm>
                  <a:off x="2520486" y="5320636"/>
                  <a:ext cx="319421" cy="319421"/>
                </a:xfrm>
                <a:prstGeom prst="rect">
                  <a:avLst/>
                </a:prstGeom>
                <a:solidFill>
                  <a:schemeClr val="accent2">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9" name="大かっこ 18">
                <a:extLst>
                  <a:ext uri="{FF2B5EF4-FFF2-40B4-BE49-F238E27FC236}">
                    <a16:creationId xmlns:a16="http://schemas.microsoft.com/office/drawing/2014/main" id="{8723963F-6EA8-4F89-8123-5977458FDCBD}"/>
                  </a:ext>
                </a:extLst>
              </p:cNvPr>
              <p:cNvSpPr/>
              <p:nvPr/>
            </p:nvSpPr>
            <p:spPr>
              <a:xfrm>
                <a:off x="2322930" y="3353671"/>
                <a:ext cx="2319094" cy="1827605"/>
              </a:xfrm>
              <a:prstGeom prst="bracketPair">
                <a:avLst/>
              </a:prstGeom>
              <a:ln w="571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p:grpSp>
        <p:nvGrpSpPr>
          <p:cNvPr id="4" name="グループ化 3">
            <a:extLst>
              <a:ext uri="{FF2B5EF4-FFF2-40B4-BE49-F238E27FC236}">
                <a16:creationId xmlns:a16="http://schemas.microsoft.com/office/drawing/2014/main" id="{C1F1266A-18F6-4173-8559-B441D64F1A7E}"/>
              </a:ext>
            </a:extLst>
          </p:cNvPr>
          <p:cNvGrpSpPr/>
          <p:nvPr/>
        </p:nvGrpSpPr>
        <p:grpSpPr>
          <a:xfrm>
            <a:off x="6862992" y="5165573"/>
            <a:ext cx="2325801" cy="1297281"/>
            <a:chOff x="6862992" y="5165573"/>
            <a:chExt cx="2325801" cy="1297281"/>
          </a:xfrm>
        </p:grpSpPr>
        <mc:AlternateContent xmlns:mc="http://schemas.openxmlformats.org/markup-compatibility/2006" xmlns:a14="http://schemas.microsoft.com/office/drawing/2010/main">
          <mc:Choice Requires="a14">
            <p:sp>
              <p:nvSpPr>
                <p:cNvPr id="36" name="テキスト ボックス 35">
                  <a:extLst>
                    <a:ext uri="{FF2B5EF4-FFF2-40B4-BE49-F238E27FC236}">
                      <a16:creationId xmlns:a16="http://schemas.microsoft.com/office/drawing/2014/main" id="{0C345429-23BA-4350-BDEB-8127EB487856}"/>
                    </a:ext>
                  </a:extLst>
                </p:cNvPr>
                <p:cNvSpPr txBox="1"/>
                <p:nvPr/>
              </p:nvSpPr>
              <p:spPr>
                <a:xfrm>
                  <a:off x="6862992" y="5536325"/>
                  <a:ext cx="1274188" cy="7078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ja-JP" sz="4000" i="1" smtClean="0">
                                <a:solidFill>
                                  <a:schemeClr val="tx1">
                                    <a:lumMod val="75000"/>
                                    <a:lumOff val="25000"/>
                                  </a:schemeClr>
                                </a:solidFill>
                                <a:latin typeface="Cambria Math" panose="02040503050406030204" pitchFamily="18" charset="0"/>
                                <a:ea typeface="Cambria Math" panose="02040503050406030204" pitchFamily="18" charset="0"/>
                              </a:rPr>
                            </m:ctrlPr>
                          </m:sSubPr>
                          <m:e>
                            <m:r>
                              <a:rPr lang="en-US" altLang="ja-JP" sz="4000" b="1">
                                <a:solidFill>
                                  <a:schemeClr val="tx1">
                                    <a:lumMod val="75000"/>
                                    <a:lumOff val="25000"/>
                                  </a:schemeClr>
                                </a:solidFill>
                                <a:latin typeface="Cambria Math" panose="02040503050406030204" pitchFamily="18" charset="0"/>
                                <a:ea typeface="Cambria Math" panose="02040503050406030204" pitchFamily="18" charset="0"/>
                              </a:rPr>
                              <m:t>𝐡</m:t>
                            </m:r>
                          </m:e>
                          <m:sub>
                            <m:r>
                              <a:rPr lang="en-US" altLang="ja-JP" sz="4000" i="1">
                                <a:solidFill>
                                  <a:schemeClr val="tx1">
                                    <a:lumMod val="75000"/>
                                    <a:lumOff val="25000"/>
                                  </a:schemeClr>
                                </a:solidFill>
                                <a:latin typeface="Cambria Math" panose="02040503050406030204" pitchFamily="18" charset="0"/>
                                <a:ea typeface="Cambria Math" panose="02040503050406030204" pitchFamily="18" charset="0"/>
                              </a:rPr>
                              <m:t>𝑘</m:t>
                            </m:r>
                          </m:sub>
                        </m:sSub>
                        <m:r>
                          <a:rPr lang="en-US" altLang="ja-JP" sz="4000" b="1" i="0" smtClean="0">
                            <a:solidFill>
                              <a:schemeClr val="tx1">
                                <a:lumMod val="75000"/>
                                <a:lumOff val="25000"/>
                              </a:schemeClr>
                            </a:solidFill>
                            <a:latin typeface="Cambria Math" panose="02040503050406030204" pitchFamily="18" charset="0"/>
                          </a:rPr>
                          <m:t>=</m:t>
                        </m:r>
                      </m:oMath>
                    </m:oMathPara>
                  </a14:m>
                  <a:endParaRPr lang="ja-JP" altLang="en-US" sz="4000" b="1" dirty="0">
                    <a:solidFill>
                      <a:schemeClr val="tx1">
                        <a:lumMod val="75000"/>
                        <a:lumOff val="25000"/>
                      </a:schemeClr>
                    </a:solidFill>
                  </a:endParaRPr>
                </a:p>
              </p:txBody>
            </p:sp>
          </mc:Choice>
          <mc:Fallback xmlns="">
            <p:sp>
              <p:nvSpPr>
                <p:cNvPr id="36" name="テキスト ボックス 35">
                  <a:extLst>
                    <a:ext uri="{FF2B5EF4-FFF2-40B4-BE49-F238E27FC236}">
                      <a16:creationId xmlns:a16="http://schemas.microsoft.com/office/drawing/2014/main" id="{0C345429-23BA-4350-BDEB-8127EB487856}"/>
                    </a:ext>
                  </a:extLst>
                </p:cNvPr>
                <p:cNvSpPr txBox="1">
                  <a:spLocks noRot="1" noChangeAspect="1" noMove="1" noResize="1" noEditPoints="1" noAdjustHandles="1" noChangeArrowheads="1" noChangeShapeType="1" noTextEdit="1"/>
                </p:cNvSpPr>
                <p:nvPr/>
              </p:nvSpPr>
              <p:spPr>
                <a:xfrm>
                  <a:off x="6862992" y="5536325"/>
                  <a:ext cx="1274188" cy="707886"/>
                </a:xfrm>
                <a:prstGeom prst="rect">
                  <a:avLst/>
                </a:prstGeom>
                <a:blipFill>
                  <a:blip r:embed="rId6"/>
                  <a:stretch>
                    <a:fillRect/>
                  </a:stretch>
                </a:blipFill>
              </p:spPr>
              <p:txBody>
                <a:bodyPr/>
                <a:lstStyle/>
                <a:p>
                  <a:r>
                    <a:rPr lang="ja-JP" altLang="en-US">
                      <a:noFill/>
                    </a:rPr>
                    <a:t> </a:t>
                  </a:r>
                </a:p>
              </p:txBody>
            </p:sp>
          </mc:Fallback>
        </mc:AlternateContent>
        <p:grpSp>
          <p:nvGrpSpPr>
            <p:cNvPr id="37" name="グループ化 36">
              <a:extLst>
                <a:ext uri="{FF2B5EF4-FFF2-40B4-BE49-F238E27FC236}">
                  <a16:creationId xmlns:a16="http://schemas.microsoft.com/office/drawing/2014/main" id="{1EC392B3-9001-467F-A52B-E4BC1968152E}"/>
                </a:ext>
              </a:extLst>
            </p:cNvPr>
            <p:cNvGrpSpPr/>
            <p:nvPr/>
          </p:nvGrpSpPr>
          <p:grpSpPr>
            <a:xfrm>
              <a:off x="8327442" y="5165573"/>
              <a:ext cx="861351" cy="1297281"/>
              <a:chOff x="8116225" y="4270859"/>
              <a:chExt cx="1213468" cy="1827605"/>
            </a:xfrm>
          </p:grpSpPr>
          <p:sp>
            <p:nvSpPr>
              <p:cNvPr id="38" name="正方形/長方形 37">
                <a:extLst>
                  <a:ext uri="{FF2B5EF4-FFF2-40B4-BE49-F238E27FC236}">
                    <a16:creationId xmlns:a16="http://schemas.microsoft.com/office/drawing/2014/main" id="{86897183-5A8F-4820-B368-FFEA6B765788}"/>
                  </a:ext>
                </a:extLst>
              </p:cNvPr>
              <p:cNvSpPr/>
              <p:nvPr/>
            </p:nvSpPr>
            <p:spPr>
              <a:xfrm>
                <a:off x="8585041" y="4374442"/>
                <a:ext cx="319421" cy="319421"/>
              </a:xfrm>
              <a:prstGeom prst="rect">
                <a:avLst/>
              </a:prstGeom>
              <a:solidFill>
                <a:schemeClr val="accent6">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9" name="正方形/長方形 38">
                <a:extLst>
                  <a:ext uri="{FF2B5EF4-FFF2-40B4-BE49-F238E27FC236}">
                    <a16:creationId xmlns:a16="http://schemas.microsoft.com/office/drawing/2014/main" id="{26AD07AB-E134-481A-B601-15195C49BC54}"/>
                  </a:ext>
                </a:extLst>
              </p:cNvPr>
              <p:cNvSpPr/>
              <p:nvPr/>
            </p:nvSpPr>
            <p:spPr>
              <a:xfrm>
                <a:off x="8585041" y="4826319"/>
                <a:ext cx="319421" cy="319421"/>
              </a:xfrm>
              <a:prstGeom prst="rect">
                <a:avLst/>
              </a:prstGeom>
              <a:solidFill>
                <a:schemeClr val="accent5">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正方形/長方形 39">
                <a:extLst>
                  <a:ext uri="{FF2B5EF4-FFF2-40B4-BE49-F238E27FC236}">
                    <a16:creationId xmlns:a16="http://schemas.microsoft.com/office/drawing/2014/main" id="{387B5E3E-8D61-483C-A07A-D88208DC76C2}"/>
                  </a:ext>
                </a:extLst>
              </p:cNvPr>
              <p:cNvSpPr/>
              <p:nvPr/>
            </p:nvSpPr>
            <p:spPr>
              <a:xfrm>
                <a:off x="8585041" y="5284270"/>
                <a:ext cx="319421" cy="319421"/>
              </a:xfrm>
              <a:prstGeom prst="rect">
                <a:avLst/>
              </a:prstGeom>
              <a:solidFill>
                <a:schemeClr val="accent4">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正方形/長方形 40">
                <a:extLst>
                  <a:ext uri="{FF2B5EF4-FFF2-40B4-BE49-F238E27FC236}">
                    <a16:creationId xmlns:a16="http://schemas.microsoft.com/office/drawing/2014/main" id="{99BEE184-2975-43E7-82C9-3E929243A2B2}"/>
                  </a:ext>
                </a:extLst>
              </p:cNvPr>
              <p:cNvSpPr/>
              <p:nvPr/>
            </p:nvSpPr>
            <p:spPr>
              <a:xfrm>
                <a:off x="8585040" y="5758811"/>
                <a:ext cx="319421" cy="319421"/>
              </a:xfrm>
              <a:prstGeom prst="rect">
                <a:avLst/>
              </a:prstGeom>
              <a:solidFill>
                <a:schemeClr val="accent2">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大かっこ 41">
                <a:extLst>
                  <a:ext uri="{FF2B5EF4-FFF2-40B4-BE49-F238E27FC236}">
                    <a16:creationId xmlns:a16="http://schemas.microsoft.com/office/drawing/2014/main" id="{DC02B27A-1B0F-44CF-BAAA-35EC601A0EDC}"/>
                  </a:ext>
                </a:extLst>
              </p:cNvPr>
              <p:cNvSpPr/>
              <p:nvPr/>
            </p:nvSpPr>
            <p:spPr>
              <a:xfrm>
                <a:off x="8116225" y="4270859"/>
                <a:ext cx="1213468" cy="1827605"/>
              </a:xfrm>
              <a:prstGeom prst="bracketPair">
                <a:avLst/>
              </a:prstGeom>
              <a:ln w="571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p:sp>
        <p:nvSpPr>
          <p:cNvPr id="43" name="下矢印 43">
            <a:extLst>
              <a:ext uri="{FF2B5EF4-FFF2-40B4-BE49-F238E27FC236}">
                <a16:creationId xmlns:a16="http://schemas.microsoft.com/office/drawing/2014/main" id="{DB8B0D21-6E86-4FEC-B506-834FF31032DD}"/>
              </a:ext>
            </a:extLst>
          </p:cNvPr>
          <p:cNvSpPr/>
          <p:nvPr/>
        </p:nvSpPr>
        <p:spPr>
          <a:xfrm rot="16200000">
            <a:off x="5615507" y="5258036"/>
            <a:ext cx="609600" cy="1230702"/>
          </a:xfrm>
          <a:prstGeom prst="downArrow">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6422055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95C72B-B685-D347-8838-17C0CE9A67A3}"/>
              </a:ext>
            </a:extLst>
          </p:cNvPr>
          <p:cNvSpPr>
            <a:spLocks noGrp="1"/>
          </p:cNvSpPr>
          <p:nvPr>
            <p:ph type="title"/>
          </p:nvPr>
        </p:nvSpPr>
        <p:spPr/>
        <p:txBody>
          <a:bodyPr/>
          <a:lstStyle/>
          <a:p>
            <a:r>
              <a:rPr lang="ja-JP" altLang="en-US" dirty="0"/>
              <a:t>提案手法：</a:t>
            </a:r>
            <a:r>
              <a:rPr lang="en-US" altLang="ja-JP" dirty="0" err="1"/>
              <a:t>HdN</a:t>
            </a:r>
            <a:r>
              <a:rPr lang="ja-JP" altLang="en-US" dirty="0"/>
              <a:t>のアルゴリズム</a:t>
            </a:r>
            <a:endParaRPr kumimoji="1" lang="ja-JP" altLang="en-US" dirty="0"/>
          </a:p>
        </p:txBody>
      </p:sp>
      <p:sp>
        <p:nvSpPr>
          <p:cNvPr id="4" name="スライド番号プレースホルダー 3">
            <a:extLst>
              <a:ext uri="{FF2B5EF4-FFF2-40B4-BE49-F238E27FC236}">
                <a16:creationId xmlns:a16="http://schemas.microsoft.com/office/drawing/2014/main" id="{FD939AD3-3D18-E640-81C6-0D42CAA66133}"/>
              </a:ext>
            </a:extLst>
          </p:cNvPr>
          <p:cNvSpPr>
            <a:spLocks noGrp="1"/>
          </p:cNvSpPr>
          <p:nvPr>
            <p:ph type="sldNum" sz="quarter" idx="12"/>
          </p:nvPr>
        </p:nvSpPr>
        <p:spPr/>
        <p:txBody>
          <a:bodyPr/>
          <a:lstStyle/>
          <a:p>
            <a:r>
              <a:rPr kumimoji="1" lang="en-US" altLang="ja-JP" dirty="0"/>
              <a:t>15</a:t>
            </a:r>
            <a:endParaRPr kumimoji="1" lang="ja-JP" altLang="en-US" dirty="0"/>
          </a:p>
        </p:txBody>
      </p:sp>
      <p:sp>
        <p:nvSpPr>
          <p:cNvPr id="7" name="四角形: 角を丸くする 6">
            <a:extLst>
              <a:ext uri="{FF2B5EF4-FFF2-40B4-BE49-F238E27FC236}">
                <a16:creationId xmlns:a16="http://schemas.microsoft.com/office/drawing/2014/main" id="{C911A67F-F75B-4EA1-A470-29C71513AE9C}"/>
              </a:ext>
            </a:extLst>
          </p:cNvPr>
          <p:cNvSpPr/>
          <p:nvPr/>
        </p:nvSpPr>
        <p:spPr>
          <a:xfrm>
            <a:off x="624840" y="1874520"/>
            <a:ext cx="5227320" cy="4710747"/>
          </a:xfrm>
          <a:prstGeom prst="roundRect">
            <a:avLst/>
          </a:prstGeom>
          <a:noFill/>
          <a:ln w="571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コンテンツ プレースホルダー 2">
            <a:extLst>
              <a:ext uri="{FF2B5EF4-FFF2-40B4-BE49-F238E27FC236}">
                <a16:creationId xmlns:a16="http://schemas.microsoft.com/office/drawing/2014/main" id="{EA20D1DD-7A48-478C-A14B-7F48FE9F4272}"/>
              </a:ext>
            </a:extLst>
          </p:cNvPr>
          <p:cNvSpPr>
            <a:spLocks noGrp="1"/>
          </p:cNvSpPr>
          <p:nvPr>
            <p:ph idx="1"/>
          </p:nvPr>
        </p:nvSpPr>
        <p:spPr>
          <a:xfrm>
            <a:off x="1643312" y="1438636"/>
            <a:ext cx="3150093" cy="921683"/>
          </a:xfrm>
          <a:solidFill>
            <a:srgbClr val="E4E4E4"/>
          </a:solidFill>
        </p:spPr>
        <p:txBody>
          <a:bodyPr>
            <a:normAutofit/>
          </a:bodyPr>
          <a:lstStyle/>
          <a:p>
            <a:pPr marL="0" indent="0" algn="ctr">
              <a:buNone/>
            </a:pPr>
            <a:r>
              <a:rPr lang="en-US" altLang="ja-JP" sz="2400" dirty="0" err="1"/>
              <a:t>Algoritm</a:t>
            </a:r>
            <a:r>
              <a:rPr lang="en-US" altLang="ja-JP" sz="2400" dirty="0"/>
              <a:t> 1</a:t>
            </a:r>
          </a:p>
          <a:p>
            <a:pPr marL="0" indent="0" algn="ctr">
              <a:buNone/>
            </a:pPr>
            <a:r>
              <a:rPr lang="en-US" altLang="ja-JP" sz="2400" dirty="0"/>
              <a:t>Learning main </a:t>
            </a:r>
            <a:r>
              <a:rPr lang="ja-JP" altLang="en-US" sz="2400" dirty="0"/>
              <a:t>ｌ</a:t>
            </a:r>
            <a:r>
              <a:rPr lang="en-US" altLang="ja-JP" sz="2400" dirty="0" err="1"/>
              <a:t>oop</a:t>
            </a:r>
            <a:endParaRPr lang="en-US" altLang="ja-JP" sz="2400" dirty="0"/>
          </a:p>
        </p:txBody>
      </p:sp>
      <p:sp>
        <p:nvSpPr>
          <p:cNvPr id="16" name="四角形: 角を丸くする 15">
            <a:extLst>
              <a:ext uri="{FF2B5EF4-FFF2-40B4-BE49-F238E27FC236}">
                <a16:creationId xmlns:a16="http://schemas.microsoft.com/office/drawing/2014/main" id="{20C8D753-6987-4CB4-801F-83A055B4241A}"/>
              </a:ext>
            </a:extLst>
          </p:cNvPr>
          <p:cNvSpPr/>
          <p:nvPr/>
        </p:nvSpPr>
        <p:spPr>
          <a:xfrm>
            <a:off x="6321125" y="1782128"/>
            <a:ext cx="5227320" cy="4710747"/>
          </a:xfrm>
          <a:prstGeom prst="roundRect">
            <a:avLst/>
          </a:prstGeom>
          <a:noFill/>
          <a:ln w="571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コンテンツ プレースホルダー 2">
            <a:extLst>
              <a:ext uri="{FF2B5EF4-FFF2-40B4-BE49-F238E27FC236}">
                <a16:creationId xmlns:a16="http://schemas.microsoft.com/office/drawing/2014/main" id="{72564FD4-7977-48D2-A777-358C922C5BB0}"/>
              </a:ext>
            </a:extLst>
          </p:cNvPr>
          <p:cNvSpPr txBox="1">
            <a:spLocks/>
          </p:cNvSpPr>
          <p:nvPr/>
        </p:nvSpPr>
        <p:spPr>
          <a:xfrm>
            <a:off x="6831665" y="1489051"/>
            <a:ext cx="4206239" cy="921683"/>
          </a:xfrm>
          <a:prstGeom prst="rect">
            <a:avLst/>
          </a:prstGeom>
          <a:solidFill>
            <a:srgbClr val="E4E4E4"/>
          </a:solidFill>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en-US" altLang="ja-JP" dirty="0" err="1"/>
              <a:t>Algoritm</a:t>
            </a:r>
            <a:r>
              <a:rPr lang="en-US" altLang="ja-JP" dirty="0"/>
              <a:t> 2</a:t>
            </a:r>
          </a:p>
          <a:p>
            <a:pPr marL="0" indent="0" algn="ctr">
              <a:buFont typeface="Arial" panose="020B0604020202020204" pitchFamily="34" charset="0"/>
              <a:buNone/>
            </a:pPr>
            <a:r>
              <a:rPr lang="en-US" altLang="ja-JP" dirty="0"/>
              <a:t>Compute diagonal Hessian</a:t>
            </a:r>
          </a:p>
        </p:txBody>
      </p:sp>
      <p:grpSp>
        <p:nvGrpSpPr>
          <p:cNvPr id="51" name="グループ化 50">
            <a:extLst>
              <a:ext uri="{FF2B5EF4-FFF2-40B4-BE49-F238E27FC236}">
                <a16:creationId xmlns:a16="http://schemas.microsoft.com/office/drawing/2014/main" id="{5C7DE74C-84A3-4966-93FF-AC7451FDBDD2}"/>
              </a:ext>
            </a:extLst>
          </p:cNvPr>
          <p:cNvGrpSpPr/>
          <p:nvPr/>
        </p:nvGrpSpPr>
        <p:grpSpPr>
          <a:xfrm>
            <a:off x="663302" y="3409234"/>
            <a:ext cx="4691418" cy="669815"/>
            <a:chOff x="529190" y="3409234"/>
            <a:chExt cx="4691418" cy="669815"/>
          </a:xfrm>
        </p:grpSpPr>
        <mc:AlternateContent xmlns:mc="http://schemas.openxmlformats.org/markup-compatibility/2006" xmlns:a14="http://schemas.microsoft.com/office/drawing/2010/main">
          <mc:Choice Requires="a14">
            <p:sp>
              <p:nvSpPr>
                <p:cNvPr id="9" name="正方形/長方形 8">
                  <a:extLst>
                    <a:ext uri="{FF2B5EF4-FFF2-40B4-BE49-F238E27FC236}">
                      <a16:creationId xmlns:a16="http://schemas.microsoft.com/office/drawing/2014/main" id="{5DFE55F4-C6C6-4A21-88B3-04FE834D51C0}"/>
                    </a:ext>
                  </a:extLst>
                </p:cNvPr>
                <p:cNvSpPr/>
                <p:nvPr/>
              </p:nvSpPr>
              <p:spPr>
                <a:xfrm>
                  <a:off x="1071918" y="3409234"/>
                  <a:ext cx="4148690" cy="475515"/>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n-US" altLang="ja-JP" sz="2400" i="1" smtClean="0">
                            <a:solidFill>
                              <a:schemeClr val="tx1">
                                <a:lumMod val="75000"/>
                                <a:lumOff val="25000"/>
                              </a:schemeClr>
                            </a:solidFill>
                            <a:latin typeface="Cambria Math" panose="02040503050406030204" pitchFamily="18" charset="0"/>
                          </a:rPr>
                          <m:t>𝑓</m:t>
                        </m:r>
                        <m:r>
                          <a:rPr lang="en-US" altLang="ja-JP" sz="2400" b="0" i="1" smtClean="0">
                            <a:solidFill>
                              <a:schemeClr val="tx1">
                                <a:lumMod val="75000"/>
                                <a:lumOff val="25000"/>
                              </a:schemeClr>
                            </a:solidFill>
                            <a:latin typeface="Cambria Math" panose="02040503050406030204" pitchFamily="18" charset="0"/>
                          </a:rPr>
                          <m:t>𝑜𝑟</m:t>
                        </m:r>
                        <m:r>
                          <a:rPr lang="en-US" altLang="ja-JP" sz="2400" b="0" i="1" smtClean="0">
                            <a:solidFill>
                              <a:schemeClr val="tx1">
                                <a:lumMod val="75000"/>
                                <a:lumOff val="25000"/>
                              </a:schemeClr>
                            </a:solidFill>
                            <a:latin typeface="Cambria Math" panose="02040503050406030204" pitchFamily="18" charset="0"/>
                          </a:rPr>
                          <m:t> 1, 2, 3…</m:t>
                        </m:r>
                        <m:r>
                          <a:rPr lang="en-US" altLang="ja-JP" sz="2400" b="0" i="1" smtClean="0">
                            <a:solidFill>
                              <a:schemeClr val="tx1">
                                <a:lumMod val="75000"/>
                                <a:lumOff val="25000"/>
                              </a:schemeClr>
                            </a:solidFill>
                            <a:latin typeface="Cambria Math" panose="02040503050406030204" pitchFamily="18" charset="0"/>
                          </a:rPr>
                          <m:t>𝑘</m:t>
                        </m:r>
                      </m:oMath>
                    </m:oMathPara>
                  </a14:m>
                  <a:endParaRPr lang="ja-JP" altLang="en-US" sz="2400" dirty="0">
                    <a:solidFill>
                      <a:schemeClr val="tx1">
                        <a:lumMod val="75000"/>
                        <a:lumOff val="25000"/>
                      </a:schemeClr>
                    </a:solidFill>
                  </a:endParaRPr>
                </a:p>
              </p:txBody>
            </p:sp>
          </mc:Choice>
          <mc:Fallback xmlns="">
            <p:sp>
              <p:nvSpPr>
                <p:cNvPr id="9" name="正方形/長方形 8">
                  <a:extLst>
                    <a:ext uri="{FF2B5EF4-FFF2-40B4-BE49-F238E27FC236}">
                      <a16:creationId xmlns:a16="http://schemas.microsoft.com/office/drawing/2014/main" id="{5DFE55F4-C6C6-4A21-88B3-04FE834D51C0}"/>
                    </a:ext>
                  </a:extLst>
                </p:cNvPr>
                <p:cNvSpPr>
                  <a:spLocks noRot="1" noChangeAspect="1" noMove="1" noResize="1" noEditPoints="1" noAdjustHandles="1" noChangeArrowheads="1" noChangeShapeType="1" noTextEdit="1"/>
                </p:cNvSpPr>
                <p:nvPr/>
              </p:nvSpPr>
              <p:spPr>
                <a:xfrm>
                  <a:off x="1071918" y="3409234"/>
                  <a:ext cx="4148690" cy="475515"/>
                </a:xfrm>
                <a:prstGeom prst="rect">
                  <a:avLst/>
                </a:prstGeom>
                <a:blipFill>
                  <a:blip r:embed="rId3"/>
                  <a:stretch>
                    <a:fillRect l="-1324" b="-12821"/>
                  </a:stretch>
                </a:blipFill>
              </p:spPr>
              <p:txBody>
                <a:bodyPr/>
                <a:lstStyle/>
                <a:p>
                  <a:r>
                    <a:rPr lang="ja-JP" altLang="en-US">
                      <a:noFill/>
                    </a:rPr>
                    <a:t> </a:t>
                  </a:r>
                </a:p>
              </p:txBody>
            </p:sp>
          </mc:Fallback>
        </mc:AlternateContent>
        <p:sp>
          <p:nvSpPr>
            <p:cNvPr id="31" name="コンテンツ プレースホルダー 2">
              <a:extLst>
                <a:ext uri="{FF2B5EF4-FFF2-40B4-BE49-F238E27FC236}">
                  <a16:creationId xmlns:a16="http://schemas.microsoft.com/office/drawing/2014/main" id="{9A80F16F-6A6B-4375-9C8A-9E23364A70DA}"/>
                </a:ext>
              </a:extLst>
            </p:cNvPr>
            <p:cNvSpPr txBox="1">
              <a:spLocks/>
            </p:cNvSpPr>
            <p:nvPr/>
          </p:nvSpPr>
          <p:spPr>
            <a:xfrm>
              <a:off x="529190" y="3430936"/>
              <a:ext cx="718017" cy="648113"/>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en-US" altLang="ja-JP" dirty="0"/>
                <a:t>2.</a:t>
              </a:r>
            </a:p>
          </p:txBody>
        </p:sp>
      </p:grpSp>
      <p:grpSp>
        <p:nvGrpSpPr>
          <p:cNvPr id="50" name="グループ化 49">
            <a:extLst>
              <a:ext uri="{FF2B5EF4-FFF2-40B4-BE49-F238E27FC236}">
                <a16:creationId xmlns:a16="http://schemas.microsoft.com/office/drawing/2014/main" id="{44059779-0B62-449D-ACFC-2D8E1E072BE6}"/>
              </a:ext>
            </a:extLst>
          </p:cNvPr>
          <p:cNvGrpSpPr/>
          <p:nvPr/>
        </p:nvGrpSpPr>
        <p:grpSpPr>
          <a:xfrm>
            <a:off x="785222" y="3921325"/>
            <a:ext cx="4957210" cy="719942"/>
            <a:chOff x="651110" y="3921325"/>
            <a:chExt cx="4957210" cy="719942"/>
          </a:xfrm>
        </p:grpSpPr>
        <mc:AlternateContent xmlns:mc="http://schemas.openxmlformats.org/markup-compatibility/2006" xmlns:a14="http://schemas.microsoft.com/office/drawing/2010/main">
          <mc:Choice Requires="a14">
            <p:sp>
              <p:nvSpPr>
                <p:cNvPr id="10" name="正方形/長方形 9">
                  <a:extLst>
                    <a:ext uri="{FF2B5EF4-FFF2-40B4-BE49-F238E27FC236}">
                      <a16:creationId xmlns:a16="http://schemas.microsoft.com/office/drawing/2014/main" id="{0016337B-5B24-4BDD-8E61-5CF92A81032C}"/>
                    </a:ext>
                  </a:extLst>
                </p:cNvPr>
                <p:cNvSpPr/>
                <p:nvPr/>
              </p:nvSpPr>
              <p:spPr>
                <a:xfrm>
                  <a:off x="1459630" y="3921325"/>
                  <a:ext cx="4148690" cy="475515"/>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ja-JP" sz="2400" i="1" smtClean="0">
                                <a:solidFill>
                                  <a:schemeClr val="tx1">
                                    <a:lumMod val="75000"/>
                                    <a:lumOff val="25000"/>
                                  </a:schemeClr>
                                </a:solidFill>
                                <a:latin typeface="Cambria Math" panose="02040503050406030204" pitchFamily="18" charset="0"/>
                              </a:rPr>
                            </m:ctrlPr>
                          </m:sSubPr>
                          <m:e>
                            <m:r>
                              <a:rPr lang="en-US" altLang="ja-JP" sz="2400" b="1" i="0" smtClean="0">
                                <a:solidFill>
                                  <a:schemeClr val="tx1">
                                    <a:lumMod val="75000"/>
                                    <a:lumOff val="25000"/>
                                  </a:schemeClr>
                                </a:solidFill>
                                <a:latin typeface="Cambria Math" panose="02040503050406030204" pitchFamily="18" charset="0"/>
                              </a:rPr>
                              <m:t>𝐠</m:t>
                            </m:r>
                          </m:e>
                          <m:sub>
                            <m:r>
                              <a:rPr lang="en-US" altLang="ja-JP" sz="2400" b="0" i="1" smtClean="0">
                                <a:solidFill>
                                  <a:schemeClr val="tx1">
                                    <a:lumMod val="75000"/>
                                    <a:lumOff val="25000"/>
                                  </a:schemeClr>
                                </a:solidFill>
                                <a:latin typeface="Cambria Math" panose="02040503050406030204" pitchFamily="18" charset="0"/>
                              </a:rPr>
                              <m:t>𝑘</m:t>
                            </m:r>
                          </m:sub>
                        </m:sSub>
                        <m:r>
                          <a:rPr lang="en-US" altLang="ja-JP" sz="2400" b="0" i="1" smtClean="0">
                            <a:solidFill>
                              <a:schemeClr val="tx1">
                                <a:lumMod val="75000"/>
                                <a:lumOff val="25000"/>
                              </a:schemeClr>
                            </a:solidFill>
                            <a:latin typeface="Cambria Math" panose="02040503050406030204" pitchFamily="18" charset="0"/>
                          </a:rPr>
                          <m:t>=</m:t>
                        </m:r>
                        <m:r>
                          <m:rPr>
                            <m:sty m:val="p"/>
                          </m:rPr>
                          <a:rPr lang="ja-JP" altLang="en-US" sz="2400" i="1">
                            <a:solidFill>
                              <a:schemeClr val="tx1">
                                <a:lumMod val="75000"/>
                                <a:lumOff val="25000"/>
                              </a:schemeClr>
                            </a:solidFill>
                            <a:latin typeface="Cambria Math" panose="02040503050406030204" pitchFamily="18" charset="0"/>
                          </a:rPr>
                          <m:t>∇</m:t>
                        </m:r>
                        <m:r>
                          <a:rPr lang="en-US" altLang="ja-JP" sz="2400" b="0" i="1" smtClean="0">
                            <a:solidFill>
                              <a:schemeClr val="tx1">
                                <a:lumMod val="75000"/>
                                <a:lumOff val="25000"/>
                              </a:schemeClr>
                            </a:solidFill>
                            <a:latin typeface="Cambria Math" panose="02040503050406030204" pitchFamily="18" charset="0"/>
                          </a:rPr>
                          <m:t>𝐸</m:t>
                        </m:r>
                        <m:r>
                          <a:rPr lang="en-US" altLang="ja-JP" sz="2400" b="0" i="1" smtClean="0">
                            <a:solidFill>
                              <a:schemeClr val="tx1">
                                <a:lumMod val="75000"/>
                                <a:lumOff val="25000"/>
                              </a:schemeClr>
                            </a:solidFill>
                            <a:latin typeface="Cambria Math" panose="02040503050406030204" pitchFamily="18" charset="0"/>
                          </a:rPr>
                          <m:t>(</m:t>
                        </m:r>
                        <m:sSub>
                          <m:sSubPr>
                            <m:ctrlPr>
                              <a:rPr lang="en-US" altLang="ja-JP" sz="2400" b="0" i="1" smtClean="0">
                                <a:solidFill>
                                  <a:schemeClr val="tx1">
                                    <a:lumMod val="75000"/>
                                    <a:lumOff val="25000"/>
                                  </a:schemeClr>
                                </a:solidFill>
                                <a:latin typeface="Cambria Math" panose="02040503050406030204" pitchFamily="18" charset="0"/>
                              </a:rPr>
                            </m:ctrlPr>
                          </m:sSubPr>
                          <m:e>
                            <m:r>
                              <a:rPr lang="en-US" altLang="ja-JP" sz="2400" b="1" i="0" smtClean="0">
                                <a:solidFill>
                                  <a:schemeClr val="tx1">
                                    <a:lumMod val="75000"/>
                                    <a:lumOff val="25000"/>
                                  </a:schemeClr>
                                </a:solidFill>
                                <a:latin typeface="Cambria Math" panose="02040503050406030204" pitchFamily="18" charset="0"/>
                              </a:rPr>
                              <m:t>𝐰</m:t>
                            </m:r>
                          </m:e>
                          <m:sub>
                            <m:r>
                              <a:rPr lang="en-US" altLang="ja-JP" sz="2400" b="0" i="1" smtClean="0">
                                <a:solidFill>
                                  <a:schemeClr val="tx1">
                                    <a:lumMod val="75000"/>
                                    <a:lumOff val="25000"/>
                                  </a:schemeClr>
                                </a:solidFill>
                                <a:latin typeface="Cambria Math" panose="02040503050406030204" pitchFamily="18" charset="0"/>
                              </a:rPr>
                              <m:t>𝑘</m:t>
                            </m:r>
                          </m:sub>
                        </m:sSub>
                        <m:r>
                          <a:rPr lang="en-US" altLang="ja-JP" sz="2400" b="0" i="1" smtClean="0">
                            <a:solidFill>
                              <a:schemeClr val="tx1">
                                <a:lumMod val="75000"/>
                                <a:lumOff val="25000"/>
                              </a:schemeClr>
                            </a:solidFill>
                            <a:latin typeface="Cambria Math" panose="02040503050406030204" pitchFamily="18" charset="0"/>
                          </a:rPr>
                          <m:t>)</m:t>
                        </m:r>
                      </m:oMath>
                    </m:oMathPara>
                  </a14:m>
                  <a:endParaRPr lang="ja-JP" altLang="en-US" sz="2400" dirty="0">
                    <a:solidFill>
                      <a:schemeClr val="tx1">
                        <a:lumMod val="75000"/>
                        <a:lumOff val="25000"/>
                      </a:schemeClr>
                    </a:solidFill>
                  </a:endParaRPr>
                </a:p>
              </p:txBody>
            </p:sp>
          </mc:Choice>
          <mc:Fallback xmlns="">
            <p:sp>
              <p:nvSpPr>
                <p:cNvPr id="10" name="正方形/長方形 9">
                  <a:extLst>
                    <a:ext uri="{FF2B5EF4-FFF2-40B4-BE49-F238E27FC236}">
                      <a16:creationId xmlns:a16="http://schemas.microsoft.com/office/drawing/2014/main" id="{0016337B-5B24-4BDD-8E61-5CF92A81032C}"/>
                    </a:ext>
                  </a:extLst>
                </p:cNvPr>
                <p:cNvSpPr>
                  <a:spLocks noRot="1" noChangeAspect="1" noMove="1" noResize="1" noEditPoints="1" noAdjustHandles="1" noChangeArrowheads="1" noChangeShapeType="1" noTextEdit="1"/>
                </p:cNvSpPr>
                <p:nvPr/>
              </p:nvSpPr>
              <p:spPr>
                <a:xfrm>
                  <a:off x="1459630" y="3921325"/>
                  <a:ext cx="4148690" cy="475515"/>
                </a:xfrm>
                <a:prstGeom prst="rect">
                  <a:avLst/>
                </a:prstGeom>
                <a:blipFill>
                  <a:blip r:embed="rId4"/>
                  <a:stretch>
                    <a:fillRect l="-441" b="-12821"/>
                  </a:stretch>
                </a:blipFill>
              </p:spPr>
              <p:txBody>
                <a:bodyPr/>
                <a:lstStyle/>
                <a:p>
                  <a:r>
                    <a:rPr lang="ja-JP" altLang="en-US">
                      <a:noFill/>
                    </a:rPr>
                    <a:t> </a:t>
                  </a:r>
                </a:p>
              </p:txBody>
            </p:sp>
          </mc:Fallback>
        </mc:AlternateContent>
        <p:sp>
          <p:nvSpPr>
            <p:cNvPr id="32" name="コンテンツ プレースホルダー 2">
              <a:extLst>
                <a:ext uri="{FF2B5EF4-FFF2-40B4-BE49-F238E27FC236}">
                  <a16:creationId xmlns:a16="http://schemas.microsoft.com/office/drawing/2014/main" id="{79C637E3-EAE7-4F95-9A95-5105CED1E7A5}"/>
                </a:ext>
              </a:extLst>
            </p:cNvPr>
            <p:cNvSpPr txBox="1">
              <a:spLocks/>
            </p:cNvSpPr>
            <p:nvPr/>
          </p:nvSpPr>
          <p:spPr>
            <a:xfrm>
              <a:off x="651110" y="3993154"/>
              <a:ext cx="718017" cy="648113"/>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en-US" altLang="ja-JP" dirty="0"/>
                <a:t>2A.</a:t>
              </a:r>
            </a:p>
          </p:txBody>
        </p:sp>
      </p:grpSp>
      <p:grpSp>
        <p:nvGrpSpPr>
          <p:cNvPr id="49" name="グループ化 48">
            <a:extLst>
              <a:ext uri="{FF2B5EF4-FFF2-40B4-BE49-F238E27FC236}">
                <a16:creationId xmlns:a16="http://schemas.microsoft.com/office/drawing/2014/main" id="{7068AD76-AC13-4CF6-A161-9F898F725421}"/>
              </a:ext>
            </a:extLst>
          </p:cNvPr>
          <p:cNvGrpSpPr/>
          <p:nvPr/>
        </p:nvGrpSpPr>
        <p:grpSpPr>
          <a:xfrm>
            <a:off x="788261" y="4506192"/>
            <a:ext cx="4954171" cy="652230"/>
            <a:chOff x="654149" y="4506192"/>
            <a:chExt cx="4954171" cy="652230"/>
          </a:xfrm>
        </p:grpSpPr>
        <mc:AlternateContent xmlns:mc="http://schemas.openxmlformats.org/markup-compatibility/2006" xmlns:a14="http://schemas.microsoft.com/office/drawing/2010/main">
          <mc:Choice Requires="a14">
            <p:sp>
              <p:nvSpPr>
                <p:cNvPr id="11" name="正方形/長方形 10">
                  <a:extLst>
                    <a:ext uri="{FF2B5EF4-FFF2-40B4-BE49-F238E27FC236}">
                      <a16:creationId xmlns:a16="http://schemas.microsoft.com/office/drawing/2014/main" id="{E9D0E2A8-03AD-4648-B91D-25E98D7E3522}"/>
                    </a:ext>
                  </a:extLst>
                </p:cNvPr>
                <p:cNvSpPr/>
                <p:nvPr/>
              </p:nvSpPr>
              <p:spPr>
                <a:xfrm>
                  <a:off x="1459630" y="4506192"/>
                  <a:ext cx="4148690" cy="475515"/>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ja-JP" sz="2400" i="1" smtClean="0">
                                <a:solidFill>
                                  <a:schemeClr val="tx1">
                                    <a:lumMod val="75000"/>
                                    <a:lumOff val="25000"/>
                                  </a:schemeClr>
                                </a:solidFill>
                                <a:latin typeface="Cambria Math" panose="02040503050406030204" pitchFamily="18" charset="0"/>
                              </a:rPr>
                            </m:ctrlPr>
                          </m:sSubPr>
                          <m:e>
                            <m:r>
                              <a:rPr lang="en-US" altLang="ja-JP" sz="2400" b="1" i="0" smtClean="0">
                                <a:solidFill>
                                  <a:schemeClr val="tx1">
                                    <a:lumMod val="75000"/>
                                    <a:lumOff val="25000"/>
                                  </a:schemeClr>
                                </a:solidFill>
                                <a:latin typeface="Cambria Math" panose="02040503050406030204" pitchFamily="18" charset="0"/>
                              </a:rPr>
                              <m:t>𝐡</m:t>
                            </m:r>
                          </m:e>
                          <m:sub>
                            <m:r>
                              <a:rPr lang="en-US" altLang="ja-JP" sz="2400" b="0" i="1" smtClean="0">
                                <a:solidFill>
                                  <a:schemeClr val="tx1">
                                    <a:lumMod val="75000"/>
                                    <a:lumOff val="25000"/>
                                  </a:schemeClr>
                                </a:solidFill>
                                <a:latin typeface="Cambria Math" panose="02040503050406030204" pitchFamily="18" charset="0"/>
                              </a:rPr>
                              <m:t>𝑘</m:t>
                            </m:r>
                          </m:sub>
                        </m:sSub>
                        <m:r>
                          <a:rPr lang="en-US" altLang="ja-JP" sz="2400" b="0" i="1" smtClean="0">
                            <a:solidFill>
                              <a:schemeClr val="tx1">
                                <a:lumMod val="75000"/>
                                <a:lumOff val="25000"/>
                              </a:schemeClr>
                            </a:solidFill>
                            <a:latin typeface="Cambria Math" panose="02040503050406030204" pitchFamily="18" charset="0"/>
                          </a:rPr>
                          <m:t>=</m:t>
                        </m:r>
                        <m:r>
                          <a:rPr lang="en-US" altLang="ja-JP" sz="2400" i="1" smtClean="0">
                            <a:solidFill>
                              <a:schemeClr val="tx1">
                                <a:lumMod val="75000"/>
                                <a:lumOff val="25000"/>
                              </a:schemeClr>
                            </a:solidFill>
                            <a:latin typeface="Cambria Math" panose="02040503050406030204" pitchFamily="18" charset="0"/>
                          </a:rPr>
                          <m:t>𝑐</m:t>
                        </m:r>
                        <m:r>
                          <a:rPr lang="en-US" altLang="ja-JP" sz="2400" b="0" i="1" smtClean="0">
                            <a:solidFill>
                              <a:schemeClr val="tx1">
                                <a:lumMod val="75000"/>
                                <a:lumOff val="25000"/>
                              </a:schemeClr>
                            </a:solidFill>
                            <a:latin typeface="Cambria Math" panose="02040503050406030204" pitchFamily="18" charset="0"/>
                          </a:rPr>
                          <m:t>𝑜𝑚𝑝𝑢𝑡𝑒</m:t>
                        </m:r>
                        <m:r>
                          <a:rPr lang="en-US" altLang="ja-JP" sz="2400" b="0" i="1" smtClean="0">
                            <a:solidFill>
                              <a:schemeClr val="tx1">
                                <a:lumMod val="75000"/>
                                <a:lumOff val="25000"/>
                              </a:schemeClr>
                            </a:solidFill>
                            <a:latin typeface="Cambria Math" panose="02040503050406030204" pitchFamily="18" charset="0"/>
                          </a:rPr>
                          <m:t> </m:t>
                        </m:r>
                        <m:r>
                          <a:rPr lang="en-US" altLang="ja-JP" sz="2400" b="0" i="1" smtClean="0">
                            <a:solidFill>
                              <a:schemeClr val="tx1">
                                <a:lumMod val="75000"/>
                                <a:lumOff val="25000"/>
                              </a:schemeClr>
                            </a:solidFill>
                            <a:latin typeface="Cambria Math" panose="02040503050406030204" pitchFamily="18" charset="0"/>
                          </a:rPr>
                          <m:t>𝑏𝑦</m:t>
                        </m:r>
                        <m:r>
                          <a:rPr lang="en-US" altLang="ja-JP" sz="2400" b="0" i="1" smtClean="0">
                            <a:solidFill>
                              <a:schemeClr val="tx1">
                                <a:lumMod val="75000"/>
                                <a:lumOff val="25000"/>
                              </a:schemeClr>
                            </a:solidFill>
                            <a:latin typeface="Cambria Math" panose="02040503050406030204" pitchFamily="18" charset="0"/>
                          </a:rPr>
                          <m:t> </m:t>
                        </m:r>
                        <m:r>
                          <a:rPr lang="en-US" altLang="ja-JP" sz="2400" b="0" i="1" smtClean="0">
                            <a:solidFill>
                              <a:schemeClr val="tx1">
                                <a:lumMod val="75000"/>
                                <a:lumOff val="25000"/>
                              </a:schemeClr>
                            </a:solidFill>
                            <a:latin typeface="Cambria Math" panose="02040503050406030204" pitchFamily="18" charset="0"/>
                          </a:rPr>
                          <m:t>𝐴𝑙𝑔𝑜𝑟𝑖𝑡𝑚</m:t>
                        </m:r>
                        <m:r>
                          <a:rPr lang="en-US" altLang="ja-JP" sz="2400" b="0" i="1" smtClean="0">
                            <a:solidFill>
                              <a:schemeClr val="tx1">
                                <a:lumMod val="75000"/>
                                <a:lumOff val="25000"/>
                              </a:schemeClr>
                            </a:solidFill>
                            <a:latin typeface="Cambria Math" panose="02040503050406030204" pitchFamily="18" charset="0"/>
                          </a:rPr>
                          <m:t> 2</m:t>
                        </m:r>
                      </m:oMath>
                    </m:oMathPara>
                  </a14:m>
                  <a:endParaRPr lang="ja-JP" altLang="en-US" sz="2400" dirty="0">
                    <a:solidFill>
                      <a:schemeClr val="tx1">
                        <a:lumMod val="75000"/>
                        <a:lumOff val="25000"/>
                      </a:schemeClr>
                    </a:solidFill>
                  </a:endParaRPr>
                </a:p>
              </p:txBody>
            </p:sp>
          </mc:Choice>
          <mc:Fallback xmlns="">
            <p:sp>
              <p:nvSpPr>
                <p:cNvPr id="11" name="正方形/長方形 10">
                  <a:extLst>
                    <a:ext uri="{FF2B5EF4-FFF2-40B4-BE49-F238E27FC236}">
                      <a16:creationId xmlns:a16="http://schemas.microsoft.com/office/drawing/2014/main" id="{E9D0E2A8-03AD-4648-B91D-25E98D7E3522}"/>
                    </a:ext>
                  </a:extLst>
                </p:cNvPr>
                <p:cNvSpPr>
                  <a:spLocks noRot="1" noChangeAspect="1" noMove="1" noResize="1" noEditPoints="1" noAdjustHandles="1" noChangeArrowheads="1" noChangeShapeType="1" noTextEdit="1"/>
                </p:cNvSpPr>
                <p:nvPr/>
              </p:nvSpPr>
              <p:spPr>
                <a:xfrm>
                  <a:off x="1459630" y="4506192"/>
                  <a:ext cx="4148690" cy="475515"/>
                </a:xfrm>
                <a:prstGeom prst="rect">
                  <a:avLst/>
                </a:prstGeom>
                <a:blipFill>
                  <a:blip r:embed="rId5"/>
                  <a:stretch>
                    <a:fillRect l="-441" b="-12821"/>
                  </a:stretch>
                </a:blipFill>
              </p:spPr>
              <p:txBody>
                <a:bodyPr/>
                <a:lstStyle/>
                <a:p>
                  <a:r>
                    <a:rPr lang="ja-JP" altLang="en-US">
                      <a:noFill/>
                    </a:rPr>
                    <a:t> </a:t>
                  </a:r>
                </a:p>
              </p:txBody>
            </p:sp>
          </mc:Fallback>
        </mc:AlternateContent>
        <p:sp>
          <p:nvSpPr>
            <p:cNvPr id="33" name="コンテンツ プレースホルダー 2">
              <a:extLst>
                <a:ext uri="{FF2B5EF4-FFF2-40B4-BE49-F238E27FC236}">
                  <a16:creationId xmlns:a16="http://schemas.microsoft.com/office/drawing/2014/main" id="{C095EB11-F4C1-4A25-9B55-AED41345B1A9}"/>
                </a:ext>
              </a:extLst>
            </p:cNvPr>
            <p:cNvSpPr txBox="1">
              <a:spLocks/>
            </p:cNvSpPr>
            <p:nvPr/>
          </p:nvSpPr>
          <p:spPr>
            <a:xfrm>
              <a:off x="654149" y="4510309"/>
              <a:ext cx="718017" cy="648113"/>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en-US" altLang="ja-JP" dirty="0"/>
                <a:t>2B.</a:t>
              </a:r>
            </a:p>
          </p:txBody>
        </p:sp>
      </p:grpSp>
      <p:grpSp>
        <p:nvGrpSpPr>
          <p:cNvPr id="48" name="グループ化 47">
            <a:extLst>
              <a:ext uri="{FF2B5EF4-FFF2-40B4-BE49-F238E27FC236}">
                <a16:creationId xmlns:a16="http://schemas.microsoft.com/office/drawing/2014/main" id="{FFCB4A92-A2B3-4A8F-A4B8-A7B47244165C}"/>
              </a:ext>
            </a:extLst>
          </p:cNvPr>
          <p:cNvGrpSpPr/>
          <p:nvPr/>
        </p:nvGrpSpPr>
        <p:grpSpPr>
          <a:xfrm>
            <a:off x="799525" y="5098700"/>
            <a:ext cx="4942907" cy="685282"/>
            <a:chOff x="665413" y="5098700"/>
            <a:chExt cx="4942907" cy="685282"/>
          </a:xfrm>
        </p:grpSpPr>
        <mc:AlternateContent xmlns:mc="http://schemas.openxmlformats.org/markup-compatibility/2006" xmlns:a14="http://schemas.microsoft.com/office/drawing/2010/main">
          <mc:Choice Requires="a14">
            <p:sp>
              <p:nvSpPr>
                <p:cNvPr id="12" name="正方形/長方形 11">
                  <a:extLst>
                    <a:ext uri="{FF2B5EF4-FFF2-40B4-BE49-F238E27FC236}">
                      <a16:creationId xmlns:a16="http://schemas.microsoft.com/office/drawing/2014/main" id="{D44EBDE9-10A8-4897-8D36-505435270E5C}"/>
                    </a:ext>
                  </a:extLst>
                </p:cNvPr>
                <p:cNvSpPr/>
                <p:nvPr/>
              </p:nvSpPr>
              <p:spPr>
                <a:xfrm>
                  <a:off x="1459630" y="5098700"/>
                  <a:ext cx="4148690" cy="461665"/>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ja-JP" sz="2400" i="1" smtClean="0">
                                <a:solidFill>
                                  <a:schemeClr val="tx1">
                                    <a:lumMod val="75000"/>
                                    <a:lumOff val="25000"/>
                                  </a:schemeClr>
                                </a:solidFill>
                                <a:latin typeface="Cambria Math" panose="02040503050406030204" pitchFamily="18" charset="0"/>
                              </a:rPr>
                            </m:ctrlPr>
                          </m:sSubPr>
                          <m:e>
                            <m:r>
                              <a:rPr lang="en-US" altLang="ja-JP" sz="2400" b="1" i="0" smtClean="0">
                                <a:solidFill>
                                  <a:schemeClr val="tx1">
                                    <a:lumMod val="75000"/>
                                    <a:lumOff val="25000"/>
                                  </a:schemeClr>
                                </a:solidFill>
                                <a:latin typeface="Cambria Math" panose="02040503050406030204" pitchFamily="18" charset="0"/>
                              </a:rPr>
                              <m:t>𝐰</m:t>
                            </m:r>
                          </m:e>
                          <m:sub>
                            <m:r>
                              <a:rPr lang="en-US" altLang="ja-JP" sz="2400" b="0" i="1" smtClean="0">
                                <a:solidFill>
                                  <a:schemeClr val="tx1">
                                    <a:lumMod val="75000"/>
                                    <a:lumOff val="25000"/>
                                  </a:schemeClr>
                                </a:solidFill>
                                <a:latin typeface="Cambria Math" panose="02040503050406030204" pitchFamily="18" charset="0"/>
                              </a:rPr>
                              <m:t>𝑘</m:t>
                            </m:r>
                            <m:r>
                              <a:rPr lang="en-US" altLang="ja-JP" sz="2400" b="0" i="1" smtClean="0">
                                <a:solidFill>
                                  <a:schemeClr val="tx1">
                                    <a:lumMod val="75000"/>
                                    <a:lumOff val="25000"/>
                                  </a:schemeClr>
                                </a:solidFill>
                                <a:latin typeface="Cambria Math" panose="02040503050406030204" pitchFamily="18" charset="0"/>
                              </a:rPr>
                              <m:t>+1</m:t>
                            </m:r>
                          </m:sub>
                        </m:sSub>
                        <m:r>
                          <a:rPr lang="en-US" altLang="ja-JP" sz="2400" b="0" i="1" smtClean="0">
                            <a:solidFill>
                              <a:schemeClr val="tx1">
                                <a:lumMod val="75000"/>
                                <a:lumOff val="25000"/>
                              </a:schemeClr>
                            </a:solidFill>
                            <a:latin typeface="Cambria Math" panose="02040503050406030204" pitchFamily="18" charset="0"/>
                          </a:rPr>
                          <m:t>= </m:t>
                        </m:r>
                        <m:sSub>
                          <m:sSubPr>
                            <m:ctrlPr>
                              <a:rPr lang="en-US" altLang="ja-JP" sz="2400" b="0" i="1" smtClean="0">
                                <a:solidFill>
                                  <a:schemeClr val="tx1">
                                    <a:lumMod val="75000"/>
                                    <a:lumOff val="25000"/>
                                  </a:schemeClr>
                                </a:solidFill>
                                <a:latin typeface="Cambria Math" panose="02040503050406030204" pitchFamily="18" charset="0"/>
                              </a:rPr>
                            </m:ctrlPr>
                          </m:sSubPr>
                          <m:e>
                            <m:r>
                              <a:rPr lang="en-US" altLang="ja-JP" sz="2400" b="1" i="0" smtClean="0">
                                <a:solidFill>
                                  <a:schemeClr val="tx1">
                                    <a:lumMod val="75000"/>
                                    <a:lumOff val="25000"/>
                                  </a:schemeClr>
                                </a:solidFill>
                                <a:latin typeface="Cambria Math" panose="02040503050406030204" pitchFamily="18" charset="0"/>
                              </a:rPr>
                              <m:t>𝐰</m:t>
                            </m:r>
                          </m:e>
                          <m:sub>
                            <m:r>
                              <a:rPr lang="en-US" altLang="ja-JP" sz="2400" b="0" i="1" smtClean="0">
                                <a:solidFill>
                                  <a:schemeClr val="tx1">
                                    <a:lumMod val="75000"/>
                                    <a:lumOff val="25000"/>
                                  </a:schemeClr>
                                </a:solidFill>
                                <a:latin typeface="Cambria Math" panose="02040503050406030204" pitchFamily="18" charset="0"/>
                              </a:rPr>
                              <m:t>𝑘</m:t>
                            </m:r>
                          </m:sub>
                        </m:sSub>
                        <m:r>
                          <a:rPr lang="en-US" altLang="ja-JP" sz="2400" b="0" i="1" smtClean="0">
                            <a:solidFill>
                              <a:schemeClr val="tx1">
                                <a:lumMod val="75000"/>
                                <a:lumOff val="25000"/>
                              </a:schemeClr>
                            </a:solidFill>
                            <a:latin typeface="Cambria Math" panose="02040503050406030204" pitchFamily="18" charset="0"/>
                          </a:rPr>
                          <m:t> − </m:t>
                        </m:r>
                        <m:r>
                          <a:rPr lang="ja-JP" altLang="en-US" sz="2400" b="0" i="1" smtClean="0">
                            <a:solidFill>
                              <a:schemeClr val="tx1">
                                <a:lumMod val="75000"/>
                                <a:lumOff val="25000"/>
                              </a:schemeClr>
                            </a:solidFill>
                            <a:latin typeface="Cambria Math" panose="02040503050406030204" pitchFamily="18" charset="0"/>
                          </a:rPr>
                          <m:t>𝛼</m:t>
                        </m:r>
                        <m:sSub>
                          <m:sSubPr>
                            <m:ctrlPr>
                              <a:rPr lang="en-US" altLang="ja-JP" sz="2400" b="0" i="1" smtClean="0">
                                <a:solidFill>
                                  <a:schemeClr val="tx1">
                                    <a:lumMod val="75000"/>
                                    <a:lumOff val="25000"/>
                                  </a:schemeClr>
                                </a:solidFill>
                                <a:latin typeface="Cambria Math" panose="02040503050406030204" pitchFamily="18" charset="0"/>
                              </a:rPr>
                            </m:ctrlPr>
                          </m:sSubPr>
                          <m:e>
                            <m:r>
                              <a:rPr lang="en-US" altLang="ja-JP" sz="2400" b="1" i="0" smtClean="0">
                                <a:solidFill>
                                  <a:schemeClr val="tx1">
                                    <a:lumMod val="75000"/>
                                    <a:lumOff val="25000"/>
                                  </a:schemeClr>
                                </a:solidFill>
                                <a:latin typeface="Cambria Math" panose="02040503050406030204" pitchFamily="18" charset="0"/>
                              </a:rPr>
                              <m:t>𝐠</m:t>
                            </m:r>
                          </m:e>
                          <m:sub>
                            <m:r>
                              <a:rPr lang="en-US" altLang="ja-JP" sz="2400" b="0" i="1" smtClean="0">
                                <a:solidFill>
                                  <a:schemeClr val="tx1">
                                    <a:lumMod val="75000"/>
                                    <a:lumOff val="25000"/>
                                  </a:schemeClr>
                                </a:solidFill>
                                <a:latin typeface="Cambria Math" panose="02040503050406030204" pitchFamily="18" charset="0"/>
                              </a:rPr>
                              <m:t>𝑘</m:t>
                            </m:r>
                          </m:sub>
                        </m:sSub>
                        <m:r>
                          <a:rPr lang="en-US" altLang="ja-JP" sz="2400" b="0" i="1" smtClean="0">
                            <a:solidFill>
                              <a:schemeClr val="tx1">
                                <a:lumMod val="75000"/>
                                <a:lumOff val="25000"/>
                              </a:schemeClr>
                            </a:solidFill>
                            <a:latin typeface="Cambria Math" panose="02040503050406030204" pitchFamily="18" charset="0"/>
                            <a:ea typeface="Cambria Math" panose="02040503050406030204" pitchFamily="18" charset="0"/>
                          </a:rPr>
                          <m:t>⊘</m:t>
                        </m:r>
                        <m:sSub>
                          <m:sSubPr>
                            <m:ctrlPr>
                              <a:rPr lang="en-US" altLang="ja-JP" sz="2400" b="0" i="1" smtClean="0">
                                <a:solidFill>
                                  <a:schemeClr val="tx1">
                                    <a:lumMod val="75000"/>
                                    <a:lumOff val="25000"/>
                                  </a:schemeClr>
                                </a:solidFill>
                                <a:latin typeface="Cambria Math" panose="02040503050406030204" pitchFamily="18" charset="0"/>
                              </a:rPr>
                            </m:ctrlPr>
                          </m:sSubPr>
                          <m:e>
                            <m:r>
                              <a:rPr lang="en-US" altLang="ja-JP" sz="2400" b="1" i="0" smtClean="0">
                                <a:solidFill>
                                  <a:schemeClr val="tx1">
                                    <a:lumMod val="75000"/>
                                    <a:lumOff val="25000"/>
                                  </a:schemeClr>
                                </a:solidFill>
                                <a:latin typeface="Cambria Math" panose="02040503050406030204" pitchFamily="18" charset="0"/>
                              </a:rPr>
                              <m:t>𝐡</m:t>
                            </m:r>
                          </m:e>
                          <m:sub>
                            <m:r>
                              <a:rPr lang="en-US" altLang="ja-JP" sz="2400" b="0" i="1" smtClean="0">
                                <a:solidFill>
                                  <a:schemeClr val="tx1">
                                    <a:lumMod val="75000"/>
                                    <a:lumOff val="25000"/>
                                  </a:schemeClr>
                                </a:solidFill>
                                <a:latin typeface="Cambria Math" panose="02040503050406030204" pitchFamily="18" charset="0"/>
                              </a:rPr>
                              <m:t>𝑘</m:t>
                            </m:r>
                          </m:sub>
                        </m:sSub>
                      </m:oMath>
                    </m:oMathPara>
                  </a14:m>
                  <a:endParaRPr lang="ja-JP" altLang="en-US" sz="2400" dirty="0">
                    <a:solidFill>
                      <a:schemeClr val="tx1">
                        <a:lumMod val="75000"/>
                        <a:lumOff val="25000"/>
                      </a:schemeClr>
                    </a:solidFill>
                  </a:endParaRPr>
                </a:p>
              </p:txBody>
            </p:sp>
          </mc:Choice>
          <mc:Fallback xmlns="">
            <p:sp>
              <p:nvSpPr>
                <p:cNvPr id="12" name="正方形/長方形 11">
                  <a:extLst>
                    <a:ext uri="{FF2B5EF4-FFF2-40B4-BE49-F238E27FC236}">
                      <a16:creationId xmlns:a16="http://schemas.microsoft.com/office/drawing/2014/main" id="{D44EBDE9-10A8-4897-8D36-505435270E5C}"/>
                    </a:ext>
                  </a:extLst>
                </p:cNvPr>
                <p:cNvSpPr>
                  <a:spLocks noRot="1" noChangeAspect="1" noMove="1" noResize="1" noEditPoints="1" noAdjustHandles="1" noChangeArrowheads="1" noChangeShapeType="1" noTextEdit="1"/>
                </p:cNvSpPr>
                <p:nvPr/>
              </p:nvSpPr>
              <p:spPr>
                <a:xfrm>
                  <a:off x="1459630" y="5098700"/>
                  <a:ext cx="4148690" cy="461665"/>
                </a:xfrm>
                <a:prstGeom prst="rect">
                  <a:avLst/>
                </a:prstGeom>
                <a:blipFill>
                  <a:blip r:embed="rId6"/>
                  <a:stretch>
                    <a:fillRect b="-9211"/>
                  </a:stretch>
                </a:blipFill>
              </p:spPr>
              <p:txBody>
                <a:bodyPr/>
                <a:lstStyle/>
                <a:p>
                  <a:r>
                    <a:rPr lang="ja-JP" altLang="en-US">
                      <a:noFill/>
                    </a:rPr>
                    <a:t> </a:t>
                  </a:r>
                </a:p>
              </p:txBody>
            </p:sp>
          </mc:Fallback>
        </mc:AlternateContent>
        <p:sp>
          <p:nvSpPr>
            <p:cNvPr id="34" name="コンテンツ プレースホルダー 2">
              <a:extLst>
                <a:ext uri="{FF2B5EF4-FFF2-40B4-BE49-F238E27FC236}">
                  <a16:creationId xmlns:a16="http://schemas.microsoft.com/office/drawing/2014/main" id="{F041248C-EFA0-49D7-86D5-C24CFF81EDED}"/>
                </a:ext>
              </a:extLst>
            </p:cNvPr>
            <p:cNvSpPr txBox="1">
              <a:spLocks/>
            </p:cNvSpPr>
            <p:nvPr/>
          </p:nvSpPr>
          <p:spPr>
            <a:xfrm>
              <a:off x="665413" y="5135869"/>
              <a:ext cx="718017" cy="648113"/>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en-US" altLang="ja-JP" dirty="0"/>
                <a:t>2C.</a:t>
              </a:r>
            </a:p>
          </p:txBody>
        </p:sp>
      </p:grpSp>
      <p:grpSp>
        <p:nvGrpSpPr>
          <p:cNvPr id="47" name="グループ化 46">
            <a:extLst>
              <a:ext uri="{FF2B5EF4-FFF2-40B4-BE49-F238E27FC236}">
                <a16:creationId xmlns:a16="http://schemas.microsoft.com/office/drawing/2014/main" id="{967A8736-60F8-48DB-AC53-CF73DC0C6C85}"/>
              </a:ext>
            </a:extLst>
          </p:cNvPr>
          <p:cNvGrpSpPr/>
          <p:nvPr/>
        </p:nvGrpSpPr>
        <p:grpSpPr>
          <a:xfrm>
            <a:off x="677605" y="5685725"/>
            <a:ext cx="4695395" cy="648113"/>
            <a:chOff x="543493" y="5685725"/>
            <a:chExt cx="4695395" cy="648113"/>
          </a:xfrm>
        </p:grpSpPr>
        <mc:AlternateContent xmlns:mc="http://schemas.openxmlformats.org/markup-compatibility/2006" xmlns:a14="http://schemas.microsoft.com/office/drawing/2010/main">
          <mc:Choice Requires="a14">
            <p:sp>
              <p:nvSpPr>
                <p:cNvPr id="13" name="正方形/長方形 12">
                  <a:extLst>
                    <a:ext uri="{FF2B5EF4-FFF2-40B4-BE49-F238E27FC236}">
                      <a16:creationId xmlns:a16="http://schemas.microsoft.com/office/drawing/2014/main" id="{D2B1AD26-533A-481D-A2BB-66FE87DE17FA}"/>
                    </a:ext>
                  </a:extLst>
                </p:cNvPr>
                <p:cNvSpPr/>
                <p:nvPr/>
              </p:nvSpPr>
              <p:spPr>
                <a:xfrm>
                  <a:off x="1090198" y="5686194"/>
                  <a:ext cx="4148690" cy="461665"/>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n-US" altLang="ja-JP" sz="2400" i="1" smtClean="0">
                            <a:solidFill>
                              <a:schemeClr val="tx1">
                                <a:lumMod val="75000"/>
                                <a:lumOff val="25000"/>
                              </a:schemeClr>
                            </a:solidFill>
                            <a:latin typeface="Cambria Math" panose="02040503050406030204" pitchFamily="18" charset="0"/>
                          </a:rPr>
                          <m:t>𝑟</m:t>
                        </m:r>
                        <m:r>
                          <a:rPr lang="en-US" altLang="ja-JP" sz="2400" b="0" i="1" smtClean="0">
                            <a:solidFill>
                              <a:schemeClr val="tx1">
                                <a:lumMod val="75000"/>
                                <a:lumOff val="25000"/>
                              </a:schemeClr>
                            </a:solidFill>
                            <a:latin typeface="Cambria Math" panose="02040503050406030204" pitchFamily="18" charset="0"/>
                          </a:rPr>
                          <m:t>𝑒𝑡𝑢𝑟𝑛</m:t>
                        </m:r>
                        <m:r>
                          <a:rPr lang="en-US" altLang="ja-JP" sz="2400" b="0" i="1" smtClean="0">
                            <a:solidFill>
                              <a:schemeClr val="tx1">
                                <a:lumMod val="75000"/>
                                <a:lumOff val="25000"/>
                              </a:schemeClr>
                            </a:solidFill>
                            <a:latin typeface="Cambria Math" panose="02040503050406030204" pitchFamily="18" charset="0"/>
                          </a:rPr>
                          <m:t>  </m:t>
                        </m:r>
                        <m:sSub>
                          <m:sSubPr>
                            <m:ctrlPr>
                              <a:rPr lang="en-US" altLang="ja-JP" sz="2400" b="0" i="1" smtClean="0">
                                <a:solidFill>
                                  <a:schemeClr val="tx1">
                                    <a:lumMod val="75000"/>
                                    <a:lumOff val="25000"/>
                                  </a:schemeClr>
                                </a:solidFill>
                                <a:latin typeface="Cambria Math" panose="02040503050406030204" pitchFamily="18" charset="0"/>
                              </a:rPr>
                            </m:ctrlPr>
                          </m:sSubPr>
                          <m:e>
                            <m:r>
                              <a:rPr lang="en-US" altLang="ja-JP" sz="2400" b="1" i="0" smtClean="0">
                                <a:solidFill>
                                  <a:schemeClr val="tx1">
                                    <a:lumMod val="75000"/>
                                    <a:lumOff val="25000"/>
                                  </a:schemeClr>
                                </a:solidFill>
                                <a:latin typeface="Cambria Math" panose="02040503050406030204" pitchFamily="18" charset="0"/>
                              </a:rPr>
                              <m:t>𝐰</m:t>
                            </m:r>
                          </m:e>
                          <m:sub>
                            <m:r>
                              <a:rPr lang="en-US" altLang="ja-JP" sz="2400" b="0" i="1" smtClean="0">
                                <a:solidFill>
                                  <a:schemeClr val="tx1">
                                    <a:lumMod val="75000"/>
                                    <a:lumOff val="25000"/>
                                  </a:schemeClr>
                                </a:solidFill>
                                <a:latin typeface="Cambria Math" panose="02040503050406030204" pitchFamily="18" charset="0"/>
                              </a:rPr>
                              <m:t>𝑘</m:t>
                            </m:r>
                          </m:sub>
                        </m:sSub>
                      </m:oMath>
                    </m:oMathPara>
                  </a14:m>
                  <a:endParaRPr lang="ja-JP" altLang="en-US" sz="2400" dirty="0">
                    <a:solidFill>
                      <a:schemeClr val="tx1">
                        <a:lumMod val="75000"/>
                        <a:lumOff val="25000"/>
                      </a:schemeClr>
                    </a:solidFill>
                  </a:endParaRPr>
                </a:p>
              </p:txBody>
            </p:sp>
          </mc:Choice>
          <mc:Fallback xmlns="">
            <p:sp>
              <p:nvSpPr>
                <p:cNvPr id="13" name="正方形/長方形 12">
                  <a:extLst>
                    <a:ext uri="{FF2B5EF4-FFF2-40B4-BE49-F238E27FC236}">
                      <a16:creationId xmlns:a16="http://schemas.microsoft.com/office/drawing/2014/main" id="{D2B1AD26-533A-481D-A2BB-66FE87DE17FA}"/>
                    </a:ext>
                  </a:extLst>
                </p:cNvPr>
                <p:cNvSpPr>
                  <a:spLocks noRot="1" noChangeAspect="1" noMove="1" noResize="1" noEditPoints="1" noAdjustHandles="1" noChangeArrowheads="1" noChangeShapeType="1" noTextEdit="1"/>
                </p:cNvSpPr>
                <p:nvPr/>
              </p:nvSpPr>
              <p:spPr>
                <a:xfrm>
                  <a:off x="1090198" y="5686194"/>
                  <a:ext cx="4148690" cy="461665"/>
                </a:xfrm>
                <a:prstGeom prst="rect">
                  <a:avLst/>
                </a:prstGeom>
                <a:blipFill>
                  <a:blip r:embed="rId7"/>
                  <a:stretch>
                    <a:fillRect/>
                  </a:stretch>
                </a:blipFill>
              </p:spPr>
              <p:txBody>
                <a:bodyPr/>
                <a:lstStyle/>
                <a:p>
                  <a:r>
                    <a:rPr lang="ja-JP" altLang="en-US">
                      <a:noFill/>
                    </a:rPr>
                    <a:t> </a:t>
                  </a:r>
                </a:p>
              </p:txBody>
            </p:sp>
          </mc:Fallback>
        </mc:AlternateContent>
        <p:sp>
          <p:nvSpPr>
            <p:cNvPr id="35" name="コンテンツ プレースホルダー 2">
              <a:extLst>
                <a:ext uri="{FF2B5EF4-FFF2-40B4-BE49-F238E27FC236}">
                  <a16:creationId xmlns:a16="http://schemas.microsoft.com/office/drawing/2014/main" id="{EF52EB90-BA1E-4B49-BF75-9F12941CFA3D}"/>
                </a:ext>
              </a:extLst>
            </p:cNvPr>
            <p:cNvSpPr txBox="1">
              <a:spLocks/>
            </p:cNvSpPr>
            <p:nvPr/>
          </p:nvSpPr>
          <p:spPr>
            <a:xfrm>
              <a:off x="543493" y="5685725"/>
              <a:ext cx="718017" cy="648113"/>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en-US" altLang="ja-JP" dirty="0"/>
                <a:t>3.</a:t>
              </a:r>
            </a:p>
          </p:txBody>
        </p:sp>
      </p:grpSp>
      <p:grpSp>
        <p:nvGrpSpPr>
          <p:cNvPr id="24" name="グループ化 23">
            <a:extLst>
              <a:ext uri="{FF2B5EF4-FFF2-40B4-BE49-F238E27FC236}">
                <a16:creationId xmlns:a16="http://schemas.microsoft.com/office/drawing/2014/main" id="{2D5454C0-C890-4335-AA2B-1F339ECE8368}"/>
              </a:ext>
            </a:extLst>
          </p:cNvPr>
          <p:cNvGrpSpPr/>
          <p:nvPr/>
        </p:nvGrpSpPr>
        <p:grpSpPr>
          <a:xfrm>
            <a:off x="6283584" y="2631631"/>
            <a:ext cx="4742181" cy="662439"/>
            <a:chOff x="6283584" y="2534095"/>
            <a:chExt cx="4742181" cy="662439"/>
          </a:xfrm>
        </p:grpSpPr>
        <mc:AlternateContent xmlns:mc="http://schemas.openxmlformats.org/markup-compatibility/2006" xmlns:a14="http://schemas.microsoft.com/office/drawing/2010/main">
          <mc:Choice Requires="a14">
            <p:sp>
              <p:nvSpPr>
                <p:cNvPr id="20" name="正方形/長方形 19">
                  <a:extLst>
                    <a:ext uri="{FF2B5EF4-FFF2-40B4-BE49-F238E27FC236}">
                      <a16:creationId xmlns:a16="http://schemas.microsoft.com/office/drawing/2014/main" id="{E8247077-3DF9-4585-8361-B2842E48B6B8}"/>
                    </a:ext>
                  </a:extLst>
                </p:cNvPr>
                <p:cNvSpPr/>
                <p:nvPr/>
              </p:nvSpPr>
              <p:spPr>
                <a:xfrm>
                  <a:off x="6877075" y="2534095"/>
                  <a:ext cx="4148690" cy="475515"/>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eqArr>
                          <m:eqArrPr>
                            <m:ctrlPr>
                              <a:rPr lang="en-US" altLang="ja-JP" sz="2400" i="1" smtClean="0">
                                <a:solidFill>
                                  <a:schemeClr val="tx1">
                                    <a:lumMod val="75000"/>
                                    <a:lumOff val="25000"/>
                                  </a:schemeClr>
                                </a:solidFill>
                                <a:latin typeface="Cambria Math" panose="02040503050406030204" pitchFamily="18" charset="0"/>
                              </a:rPr>
                            </m:ctrlPr>
                          </m:eqArrPr>
                          <m:e>
                            <m:sSub>
                              <m:sSubPr>
                                <m:ctrlPr>
                                  <a:rPr lang="en-US" altLang="ja-JP" sz="2400" i="1">
                                    <a:solidFill>
                                      <a:schemeClr val="tx1">
                                        <a:lumMod val="75000"/>
                                        <a:lumOff val="25000"/>
                                      </a:schemeClr>
                                    </a:solidFill>
                                    <a:latin typeface="Cambria Math" panose="02040503050406030204" pitchFamily="18" charset="0"/>
                                  </a:rPr>
                                </m:ctrlPr>
                              </m:sSubPr>
                              <m:e>
                                <m:r>
                                  <a:rPr lang="en-US" altLang="ja-JP" sz="2400" b="1" i="0" smtClean="0">
                                    <a:solidFill>
                                      <a:schemeClr val="tx1">
                                        <a:lumMod val="75000"/>
                                        <a:lumOff val="25000"/>
                                      </a:schemeClr>
                                    </a:solidFill>
                                    <a:latin typeface="Cambria Math" panose="02040503050406030204" pitchFamily="18" charset="0"/>
                                  </a:rPr>
                                  <m:t>𝐡</m:t>
                                </m:r>
                              </m:e>
                              <m:sub>
                                <m:r>
                                  <a:rPr lang="en-US" altLang="ja-JP" sz="2400" b="0" i="1" smtClean="0">
                                    <a:solidFill>
                                      <a:schemeClr val="tx1">
                                        <a:lumMod val="75000"/>
                                        <a:lumOff val="25000"/>
                                      </a:schemeClr>
                                    </a:solidFill>
                                    <a:latin typeface="Cambria Math" panose="02040503050406030204" pitchFamily="18" charset="0"/>
                                  </a:rPr>
                                  <m:t>0</m:t>
                                </m:r>
                              </m:sub>
                            </m:sSub>
                          </m:e>
                        </m:eqArr>
                        <m:eqArr>
                          <m:eqArrPr>
                            <m:ctrlPr>
                              <a:rPr lang="en-US" altLang="ja-JP" sz="2400" i="1">
                                <a:solidFill>
                                  <a:schemeClr val="tx1">
                                    <a:lumMod val="75000"/>
                                    <a:lumOff val="25000"/>
                                  </a:schemeClr>
                                </a:solidFill>
                                <a:latin typeface="Cambria Math" panose="02040503050406030204" pitchFamily="18" charset="0"/>
                              </a:rPr>
                            </m:ctrlPr>
                          </m:eqArrPr>
                          <m:e>
                            <m:sSub>
                              <m:sSubPr>
                                <m:ctrlPr>
                                  <a:rPr lang="en-US" altLang="ja-JP" sz="2400" i="1">
                                    <a:solidFill>
                                      <a:schemeClr val="tx1">
                                        <a:lumMod val="75000"/>
                                        <a:lumOff val="25000"/>
                                      </a:schemeClr>
                                    </a:solidFill>
                                    <a:latin typeface="Cambria Math" panose="02040503050406030204" pitchFamily="18" charset="0"/>
                                  </a:rPr>
                                </m:ctrlPr>
                              </m:sSubPr>
                              <m:e>
                                <m:r>
                                  <a:rPr lang="en-US" altLang="ja-JP" sz="2400" b="1" i="0" smtClean="0">
                                    <a:solidFill>
                                      <a:schemeClr val="tx1">
                                        <a:lumMod val="75000"/>
                                        <a:lumOff val="25000"/>
                                      </a:schemeClr>
                                    </a:solidFill>
                                    <a:latin typeface="Cambria Math" panose="02040503050406030204" pitchFamily="18" charset="0"/>
                                  </a:rPr>
                                  <m:t>, </m:t>
                                </m:r>
                                <m:r>
                                  <a:rPr lang="en-US" altLang="ja-JP" sz="2400" b="1">
                                    <a:solidFill>
                                      <a:schemeClr val="tx1">
                                        <a:lumMod val="75000"/>
                                        <a:lumOff val="25000"/>
                                      </a:schemeClr>
                                    </a:solidFill>
                                    <a:latin typeface="Cambria Math" panose="02040503050406030204" pitchFamily="18" charset="0"/>
                                  </a:rPr>
                                  <m:t>𝐳</m:t>
                                </m:r>
                              </m:e>
                              <m:sub>
                                <m:r>
                                  <a:rPr lang="en-US" altLang="ja-JP" sz="2400" b="0" i="1" smtClean="0">
                                    <a:solidFill>
                                      <a:schemeClr val="tx1">
                                        <a:lumMod val="75000"/>
                                        <a:lumOff val="25000"/>
                                      </a:schemeClr>
                                    </a:solidFill>
                                    <a:latin typeface="Cambria Math" panose="02040503050406030204" pitchFamily="18" charset="0"/>
                                  </a:rPr>
                                  <m:t>0</m:t>
                                </m:r>
                              </m:sub>
                            </m:sSub>
                          </m:e>
                        </m:eqArr>
                        <m:r>
                          <a:rPr lang="en-US" altLang="ja-JP" sz="2400" b="0" i="1" smtClean="0">
                            <a:solidFill>
                              <a:schemeClr val="tx1">
                                <a:lumMod val="75000"/>
                                <a:lumOff val="25000"/>
                              </a:schemeClr>
                            </a:solidFill>
                            <a:latin typeface="Cambria Math" panose="02040503050406030204" pitchFamily="18" charset="0"/>
                          </a:rPr>
                          <m:t>=</m:t>
                        </m:r>
                        <m:r>
                          <a:rPr lang="en-US" altLang="ja-JP" sz="2400" b="0" i="1" smtClean="0">
                            <a:solidFill>
                              <a:schemeClr val="tx1">
                                <a:lumMod val="75000"/>
                                <a:lumOff val="25000"/>
                              </a:schemeClr>
                            </a:solidFill>
                            <a:latin typeface="Cambria Math" panose="02040503050406030204" pitchFamily="18" charset="0"/>
                          </a:rPr>
                          <m:t>𝑧𝑒𝑟𝑜</m:t>
                        </m:r>
                        <m:r>
                          <a:rPr lang="en-US" altLang="ja-JP" sz="2400" b="0" i="1" smtClean="0">
                            <a:solidFill>
                              <a:schemeClr val="tx1">
                                <a:lumMod val="75000"/>
                                <a:lumOff val="25000"/>
                              </a:schemeClr>
                            </a:solidFill>
                            <a:latin typeface="Cambria Math" panose="02040503050406030204" pitchFamily="18" charset="0"/>
                          </a:rPr>
                          <m:t> </m:t>
                        </m:r>
                        <m:r>
                          <a:rPr lang="en-US" altLang="ja-JP" sz="2400" b="0" i="1" smtClean="0">
                            <a:solidFill>
                              <a:schemeClr val="tx1">
                                <a:lumMod val="75000"/>
                                <a:lumOff val="25000"/>
                              </a:schemeClr>
                            </a:solidFill>
                            <a:latin typeface="Cambria Math" panose="02040503050406030204" pitchFamily="18" charset="0"/>
                          </a:rPr>
                          <m:t>𝑣𝑒𝑐𝑡𝑜𝑟</m:t>
                        </m:r>
                        <m:r>
                          <a:rPr lang="en-US" altLang="ja-JP" sz="2400" b="0" i="1" smtClean="0">
                            <a:solidFill>
                              <a:schemeClr val="tx1">
                                <a:lumMod val="75000"/>
                                <a:lumOff val="25000"/>
                              </a:schemeClr>
                            </a:solidFill>
                            <a:latin typeface="Cambria Math" panose="02040503050406030204" pitchFamily="18" charset="0"/>
                          </a:rPr>
                          <m:t>(</m:t>
                        </m:r>
                        <m:sSup>
                          <m:sSupPr>
                            <m:ctrlPr>
                              <a:rPr lang="en-US" altLang="ja-JP" sz="2400" i="1">
                                <a:solidFill>
                                  <a:prstClr val="black">
                                    <a:lumMod val="75000"/>
                                    <a:lumOff val="25000"/>
                                  </a:prstClr>
                                </a:solidFill>
                                <a:latin typeface="Cambria Math" panose="02040503050406030204" pitchFamily="18" charset="0"/>
                                <a:ea typeface="Cambria Math" panose="02040503050406030204" pitchFamily="18" charset="0"/>
                              </a:rPr>
                            </m:ctrlPr>
                          </m:sSupPr>
                          <m:e>
                            <m:r>
                              <a:rPr lang="en-US" altLang="ja-JP" sz="2400" i="1">
                                <a:solidFill>
                                  <a:prstClr val="black">
                                    <a:lumMod val="75000"/>
                                    <a:lumOff val="25000"/>
                                  </a:prstClr>
                                </a:solidFill>
                                <a:latin typeface="Cambria Math" panose="02040503050406030204" pitchFamily="18" charset="0"/>
                                <a:ea typeface="Cambria Math" panose="02040503050406030204" pitchFamily="18" charset="0"/>
                              </a:rPr>
                              <m:t>ℝ</m:t>
                            </m:r>
                          </m:e>
                          <m:sup>
                            <m:r>
                              <a:rPr lang="en-US" altLang="ja-JP" sz="2400" i="1">
                                <a:solidFill>
                                  <a:prstClr val="black">
                                    <a:lumMod val="75000"/>
                                    <a:lumOff val="25000"/>
                                  </a:prstClr>
                                </a:solidFill>
                                <a:latin typeface="Cambria Math" panose="02040503050406030204" pitchFamily="18" charset="0"/>
                                <a:ea typeface="Cambria Math" panose="02040503050406030204" pitchFamily="18" charset="0"/>
                              </a:rPr>
                              <m:t>𝑛</m:t>
                            </m:r>
                          </m:sup>
                        </m:sSup>
                        <m:r>
                          <a:rPr lang="en-US" altLang="ja-JP" sz="2400" b="0" i="1" smtClean="0">
                            <a:solidFill>
                              <a:schemeClr val="tx1">
                                <a:lumMod val="75000"/>
                                <a:lumOff val="25000"/>
                              </a:schemeClr>
                            </a:solidFill>
                            <a:latin typeface="Cambria Math" panose="02040503050406030204" pitchFamily="18" charset="0"/>
                          </a:rPr>
                          <m:t>)</m:t>
                        </m:r>
                      </m:oMath>
                    </m:oMathPara>
                  </a14:m>
                  <a:endParaRPr lang="ja-JP" altLang="en-US" sz="2400" dirty="0">
                    <a:solidFill>
                      <a:schemeClr val="tx1">
                        <a:lumMod val="75000"/>
                        <a:lumOff val="25000"/>
                      </a:schemeClr>
                    </a:solidFill>
                  </a:endParaRPr>
                </a:p>
              </p:txBody>
            </p:sp>
          </mc:Choice>
          <mc:Fallback xmlns="">
            <p:sp>
              <p:nvSpPr>
                <p:cNvPr id="20" name="正方形/長方形 19">
                  <a:extLst>
                    <a:ext uri="{FF2B5EF4-FFF2-40B4-BE49-F238E27FC236}">
                      <a16:creationId xmlns:a16="http://schemas.microsoft.com/office/drawing/2014/main" id="{E8247077-3DF9-4585-8361-B2842E48B6B8}"/>
                    </a:ext>
                  </a:extLst>
                </p:cNvPr>
                <p:cNvSpPr>
                  <a:spLocks noRot="1" noChangeAspect="1" noMove="1" noResize="1" noEditPoints="1" noAdjustHandles="1" noChangeArrowheads="1" noChangeShapeType="1" noTextEdit="1"/>
                </p:cNvSpPr>
                <p:nvPr/>
              </p:nvSpPr>
              <p:spPr>
                <a:xfrm>
                  <a:off x="6877075" y="2534095"/>
                  <a:ext cx="4148690" cy="475515"/>
                </a:xfrm>
                <a:prstGeom prst="rect">
                  <a:avLst/>
                </a:prstGeom>
                <a:blipFill>
                  <a:blip r:embed="rId8"/>
                  <a:stretch>
                    <a:fillRect l="-441" b="-12821"/>
                  </a:stretch>
                </a:blipFill>
              </p:spPr>
              <p:txBody>
                <a:bodyPr/>
                <a:lstStyle/>
                <a:p>
                  <a:r>
                    <a:rPr lang="ja-JP" altLang="en-US">
                      <a:noFill/>
                    </a:rPr>
                    <a:t> </a:t>
                  </a:r>
                </a:p>
              </p:txBody>
            </p:sp>
          </mc:Fallback>
        </mc:AlternateContent>
        <p:sp>
          <p:nvSpPr>
            <p:cNvPr id="37" name="コンテンツ プレースホルダー 2">
              <a:extLst>
                <a:ext uri="{FF2B5EF4-FFF2-40B4-BE49-F238E27FC236}">
                  <a16:creationId xmlns:a16="http://schemas.microsoft.com/office/drawing/2014/main" id="{67140513-6A23-4181-A162-0A5796668C38}"/>
                </a:ext>
              </a:extLst>
            </p:cNvPr>
            <p:cNvSpPr txBox="1">
              <a:spLocks/>
            </p:cNvSpPr>
            <p:nvPr/>
          </p:nvSpPr>
          <p:spPr>
            <a:xfrm>
              <a:off x="6283584" y="2548421"/>
              <a:ext cx="718017" cy="648113"/>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en-US" altLang="ja-JP" dirty="0"/>
                <a:t>1.</a:t>
              </a:r>
            </a:p>
          </p:txBody>
        </p:sp>
      </p:grpSp>
      <p:grpSp>
        <p:nvGrpSpPr>
          <p:cNvPr id="23" name="グループ化 22">
            <a:extLst>
              <a:ext uri="{FF2B5EF4-FFF2-40B4-BE49-F238E27FC236}">
                <a16:creationId xmlns:a16="http://schemas.microsoft.com/office/drawing/2014/main" id="{98CEB973-164C-4367-BACB-A8AE5225BC83}"/>
              </a:ext>
            </a:extLst>
          </p:cNvPr>
          <p:cNvGrpSpPr/>
          <p:nvPr/>
        </p:nvGrpSpPr>
        <p:grpSpPr>
          <a:xfrm>
            <a:off x="6290753" y="3179363"/>
            <a:ext cx="4708043" cy="686186"/>
            <a:chOff x="6290753" y="3033059"/>
            <a:chExt cx="4708043" cy="686186"/>
          </a:xfrm>
        </p:grpSpPr>
        <mc:AlternateContent xmlns:mc="http://schemas.openxmlformats.org/markup-compatibility/2006" xmlns:a14="http://schemas.microsoft.com/office/drawing/2010/main">
          <mc:Choice Requires="a14">
            <p:sp>
              <p:nvSpPr>
                <p:cNvPr id="21" name="正方形/長方形 20">
                  <a:extLst>
                    <a:ext uri="{FF2B5EF4-FFF2-40B4-BE49-F238E27FC236}">
                      <a16:creationId xmlns:a16="http://schemas.microsoft.com/office/drawing/2014/main" id="{63A3AD52-1F4C-4E93-A326-883736145232}"/>
                    </a:ext>
                  </a:extLst>
                </p:cNvPr>
                <p:cNvSpPr/>
                <p:nvPr/>
              </p:nvSpPr>
              <p:spPr>
                <a:xfrm>
                  <a:off x="6850106" y="3033059"/>
                  <a:ext cx="4148690" cy="475515"/>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n-US" altLang="ja-JP" sz="2400" i="1" smtClean="0">
                            <a:solidFill>
                              <a:schemeClr val="tx1">
                                <a:lumMod val="75000"/>
                                <a:lumOff val="25000"/>
                              </a:schemeClr>
                            </a:solidFill>
                            <a:latin typeface="Cambria Math" panose="02040503050406030204" pitchFamily="18" charset="0"/>
                          </a:rPr>
                          <m:t>𝑓</m:t>
                        </m:r>
                        <m:r>
                          <a:rPr lang="en-US" altLang="ja-JP" sz="2400" b="0" i="1" smtClean="0">
                            <a:solidFill>
                              <a:schemeClr val="tx1">
                                <a:lumMod val="75000"/>
                                <a:lumOff val="25000"/>
                              </a:schemeClr>
                            </a:solidFill>
                            <a:latin typeface="Cambria Math" panose="02040503050406030204" pitchFamily="18" charset="0"/>
                          </a:rPr>
                          <m:t>𝑜𝑟</m:t>
                        </m:r>
                        <m:r>
                          <a:rPr lang="en-US" altLang="ja-JP" sz="2400" b="0" i="1" smtClean="0">
                            <a:solidFill>
                              <a:schemeClr val="tx1">
                                <a:lumMod val="75000"/>
                                <a:lumOff val="25000"/>
                              </a:schemeClr>
                            </a:solidFill>
                            <a:latin typeface="Cambria Math" panose="02040503050406030204" pitchFamily="18" charset="0"/>
                          </a:rPr>
                          <m:t>  </m:t>
                        </m:r>
                        <m:r>
                          <a:rPr lang="en-US" altLang="ja-JP" sz="2400" b="0" i="1" smtClean="0">
                            <a:solidFill>
                              <a:schemeClr val="tx1">
                                <a:lumMod val="75000"/>
                                <a:lumOff val="25000"/>
                              </a:schemeClr>
                            </a:solidFill>
                            <a:latin typeface="Cambria Math" panose="02040503050406030204" pitchFamily="18" charset="0"/>
                          </a:rPr>
                          <m:t>𝑟</m:t>
                        </m:r>
                        <m:r>
                          <a:rPr lang="en-US" altLang="ja-JP" sz="2400" b="0" i="1" smtClean="0">
                            <a:solidFill>
                              <a:schemeClr val="tx1">
                                <a:lumMod val="75000"/>
                                <a:lumOff val="25000"/>
                              </a:schemeClr>
                            </a:solidFill>
                            <a:latin typeface="Cambria Math" panose="02040503050406030204" pitchFamily="18" charset="0"/>
                          </a:rPr>
                          <m:t> :1, 2, 3, …</m:t>
                        </m:r>
                        <m:r>
                          <a:rPr lang="en-US" altLang="ja-JP" sz="2400" b="0" i="1" smtClean="0">
                            <a:solidFill>
                              <a:schemeClr val="tx1">
                                <a:lumMod val="75000"/>
                                <a:lumOff val="25000"/>
                              </a:schemeClr>
                            </a:solidFill>
                            <a:latin typeface="Cambria Math" panose="02040503050406030204" pitchFamily="18" charset="0"/>
                          </a:rPr>
                          <m:t>𝑠</m:t>
                        </m:r>
                      </m:oMath>
                    </m:oMathPara>
                  </a14:m>
                  <a:endParaRPr lang="ja-JP" altLang="en-US" sz="2400" dirty="0">
                    <a:solidFill>
                      <a:schemeClr val="tx1">
                        <a:lumMod val="75000"/>
                        <a:lumOff val="25000"/>
                      </a:schemeClr>
                    </a:solidFill>
                  </a:endParaRPr>
                </a:p>
              </p:txBody>
            </p:sp>
          </mc:Choice>
          <mc:Fallback xmlns="">
            <p:sp>
              <p:nvSpPr>
                <p:cNvPr id="21" name="正方形/長方形 20">
                  <a:extLst>
                    <a:ext uri="{FF2B5EF4-FFF2-40B4-BE49-F238E27FC236}">
                      <a16:creationId xmlns:a16="http://schemas.microsoft.com/office/drawing/2014/main" id="{63A3AD52-1F4C-4E93-A326-883736145232}"/>
                    </a:ext>
                  </a:extLst>
                </p:cNvPr>
                <p:cNvSpPr>
                  <a:spLocks noRot="1" noChangeAspect="1" noMove="1" noResize="1" noEditPoints="1" noAdjustHandles="1" noChangeArrowheads="1" noChangeShapeType="1" noTextEdit="1"/>
                </p:cNvSpPr>
                <p:nvPr/>
              </p:nvSpPr>
              <p:spPr>
                <a:xfrm>
                  <a:off x="6850106" y="3033059"/>
                  <a:ext cx="4148690" cy="475515"/>
                </a:xfrm>
                <a:prstGeom prst="rect">
                  <a:avLst/>
                </a:prstGeom>
                <a:blipFill>
                  <a:blip r:embed="rId9"/>
                  <a:stretch>
                    <a:fillRect l="-1324" b="-12821"/>
                  </a:stretch>
                </a:blipFill>
              </p:spPr>
              <p:txBody>
                <a:bodyPr/>
                <a:lstStyle/>
                <a:p>
                  <a:r>
                    <a:rPr lang="ja-JP" altLang="en-US">
                      <a:noFill/>
                    </a:rPr>
                    <a:t> </a:t>
                  </a:r>
                </a:p>
              </p:txBody>
            </p:sp>
          </mc:Fallback>
        </mc:AlternateContent>
        <p:sp>
          <p:nvSpPr>
            <p:cNvPr id="38" name="コンテンツ プレースホルダー 2">
              <a:extLst>
                <a:ext uri="{FF2B5EF4-FFF2-40B4-BE49-F238E27FC236}">
                  <a16:creationId xmlns:a16="http://schemas.microsoft.com/office/drawing/2014/main" id="{D72CABA0-D666-4937-8362-41A405A15829}"/>
                </a:ext>
              </a:extLst>
            </p:cNvPr>
            <p:cNvSpPr txBox="1">
              <a:spLocks/>
            </p:cNvSpPr>
            <p:nvPr/>
          </p:nvSpPr>
          <p:spPr>
            <a:xfrm>
              <a:off x="6290753" y="3071132"/>
              <a:ext cx="718017" cy="648113"/>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en-US" altLang="ja-JP" dirty="0"/>
                <a:t>2.</a:t>
              </a:r>
            </a:p>
          </p:txBody>
        </p:sp>
      </p:grpSp>
      <p:grpSp>
        <p:nvGrpSpPr>
          <p:cNvPr id="22" name="グループ化 21">
            <a:extLst>
              <a:ext uri="{FF2B5EF4-FFF2-40B4-BE49-F238E27FC236}">
                <a16:creationId xmlns:a16="http://schemas.microsoft.com/office/drawing/2014/main" id="{B3D88306-CFDA-4FF9-8FB8-4FD11A817C01}"/>
              </a:ext>
            </a:extLst>
          </p:cNvPr>
          <p:cNvGrpSpPr/>
          <p:nvPr/>
        </p:nvGrpSpPr>
        <p:grpSpPr>
          <a:xfrm>
            <a:off x="6407756" y="3788532"/>
            <a:ext cx="4959244" cy="648113"/>
            <a:chOff x="6407756" y="3544692"/>
            <a:chExt cx="4959244" cy="648113"/>
          </a:xfrm>
        </p:grpSpPr>
        <mc:AlternateContent xmlns:mc="http://schemas.openxmlformats.org/markup-compatibility/2006" xmlns:a14="http://schemas.microsoft.com/office/drawing/2010/main">
          <mc:Choice Requires="a14">
            <p:sp>
              <p:nvSpPr>
                <p:cNvPr id="25" name="正方形/長方形 24">
                  <a:extLst>
                    <a:ext uri="{FF2B5EF4-FFF2-40B4-BE49-F238E27FC236}">
                      <a16:creationId xmlns:a16="http://schemas.microsoft.com/office/drawing/2014/main" id="{E8D73959-2E79-4C4F-953C-BC10D70BD8CB}"/>
                    </a:ext>
                  </a:extLst>
                </p:cNvPr>
                <p:cNvSpPr/>
                <p:nvPr/>
              </p:nvSpPr>
              <p:spPr>
                <a:xfrm>
                  <a:off x="7218310" y="3561546"/>
                  <a:ext cx="4148690" cy="475515"/>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eqArr>
                          <m:eqArrPr>
                            <m:ctrlPr>
                              <a:rPr lang="en-ZA" altLang="ja-JP" sz="2400" i="1" smtClean="0">
                                <a:solidFill>
                                  <a:schemeClr val="tx1">
                                    <a:lumMod val="75000"/>
                                    <a:lumOff val="25000"/>
                                  </a:schemeClr>
                                </a:solidFill>
                                <a:latin typeface="Cambria Math" panose="02040503050406030204" pitchFamily="18" charset="0"/>
                              </a:rPr>
                            </m:ctrlPr>
                          </m:eqArrPr>
                          <m:e>
                            <m:eqArr>
                              <m:eqArrPr>
                                <m:ctrlPr>
                                  <a:rPr lang="en-US" altLang="ja-JP" sz="2400" i="1">
                                    <a:solidFill>
                                      <a:schemeClr val="tx1">
                                        <a:lumMod val="75000"/>
                                        <a:lumOff val="25000"/>
                                      </a:schemeClr>
                                    </a:solidFill>
                                    <a:latin typeface="Cambria Math" panose="02040503050406030204" pitchFamily="18" charset="0"/>
                                  </a:rPr>
                                </m:ctrlPr>
                              </m:eqArrPr>
                              <m:e>
                                <m:sSub>
                                  <m:sSubPr>
                                    <m:ctrlPr>
                                      <a:rPr lang="en-US" altLang="ja-JP" sz="2400" i="1">
                                        <a:solidFill>
                                          <a:schemeClr val="tx1">
                                            <a:lumMod val="75000"/>
                                            <a:lumOff val="25000"/>
                                          </a:schemeClr>
                                        </a:solidFill>
                                        <a:latin typeface="Cambria Math" panose="02040503050406030204" pitchFamily="18" charset="0"/>
                                      </a:rPr>
                                    </m:ctrlPr>
                                  </m:sSubPr>
                                  <m:e>
                                    <m:r>
                                      <a:rPr lang="en-US" altLang="ja-JP" sz="2400" b="1" i="0" smtClean="0">
                                        <a:solidFill>
                                          <a:schemeClr val="tx1">
                                            <a:lumMod val="75000"/>
                                            <a:lumOff val="25000"/>
                                          </a:schemeClr>
                                        </a:solidFill>
                                        <a:latin typeface="Cambria Math" panose="02040503050406030204" pitchFamily="18" charset="0"/>
                                      </a:rPr>
                                      <m:t>𝐳</m:t>
                                    </m:r>
                                  </m:e>
                                  <m:sub>
                                    <m:r>
                                      <a:rPr lang="en-US" altLang="ja-JP" sz="2400" b="0" i="1" smtClean="0">
                                        <a:solidFill>
                                          <a:schemeClr val="tx1">
                                            <a:lumMod val="75000"/>
                                            <a:lumOff val="25000"/>
                                          </a:schemeClr>
                                        </a:solidFill>
                                        <a:latin typeface="Cambria Math" panose="02040503050406030204" pitchFamily="18" charset="0"/>
                                      </a:rPr>
                                      <m:t>𝑟</m:t>
                                    </m:r>
                                  </m:sub>
                                </m:sSub>
                              </m:e>
                            </m:eqArr>
                            <m:r>
                              <a:rPr lang="en-US" altLang="ja-JP" sz="2400" b="0" i="1" smtClean="0">
                                <a:solidFill>
                                  <a:schemeClr val="tx1">
                                    <a:lumMod val="75000"/>
                                    <a:lumOff val="25000"/>
                                  </a:schemeClr>
                                </a:solidFill>
                                <a:latin typeface="Cambria Math" panose="02040503050406030204" pitchFamily="18" charset="0"/>
                              </a:rPr>
                              <m:t>=</m:t>
                            </m:r>
                            <m:r>
                              <a:rPr lang="en-US" altLang="ja-JP" sz="2400" b="0" i="1" smtClean="0">
                                <a:solidFill>
                                  <a:schemeClr val="tx1">
                                    <a:lumMod val="75000"/>
                                    <a:lumOff val="25000"/>
                                  </a:schemeClr>
                                </a:solidFill>
                                <a:latin typeface="Cambria Math" panose="02040503050406030204" pitchFamily="18" charset="0"/>
                              </a:rPr>
                              <m:t>𝑟𝑎𝑛𝑑𝑜𝑚</m:t>
                            </m:r>
                            <m:r>
                              <a:rPr lang="en-US" altLang="ja-JP" sz="2400" b="0" i="1" smtClean="0">
                                <a:solidFill>
                                  <a:schemeClr val="tx1">
                                    <a:lumMod val="75000"/>
                                    <a:lumOff val="25000"/>
                                  </a:schemeClr>
                                </a:solidFill>
                                <a:latin typeface="Cambria Math" panose="02040503050406030204" pitchFamily="18" charset="0"/>
                              </a:rPr>
                              <m:t> </m:t>
                            </m:r>
                            <m:r>
                              <a:rPr lang="en-US" altLang="ja-JP" sz="2400" b="0" i="1" smtClean="0">
                                <a:solidFill>
                                  <a:schemeClr val="tx1">
                                    <a:lumMod val="75000"/>
                                    <a:lumOff val="25000"/>
                                  </a:schemeClr>
                                </a:solidFill>
                                <a:latin typeface="Cambria Math" panose="02040503050406030204" pitchFamily="18" charset="0"/>
                              </a:rPr>
                              <m:t>𝑣𝑒𝑐𝑡𝑜𝑟</m:t>
                            </m:r>
                            <m:r>
                              <a:rPr lang="en-US" altLang="ja-JP" sz="2400" b="0" i="1" smtClean="0">
                                <a:solidFill>
                                  <a:schemeClr val="tx1">
                                    <a:lumMod val="75000"/>
                                    <a:lumOff val="25000"/>
                                  </a:schemeClr>
                                </a:solidFill>
                                <a:latin typeface="Cambria Math" panose="02040503050406030204" pitchFamily="18" charset="0"/>
                              </a:rPr>
                              <m:t>(±1)#</m:t>
                            </m:r>
                          </m:e>
                        </m:eqArr>
                      </m:oMath>
                    </m:oMathPara>
                  </a14:m>
                  <a:endParaRPr lang="ja-JP" altLang="en-US" sz="2400" dirty="0">
                    <a:solidFill>
                      <a:schemeClr val="tx1">
                        <a:lumMod val="75000"/>
                        <a:lumOff val="25000"/>
                      </a:schemeClr>
                    </a:solidFill>
                  </a:endParaRPr>
                </a:p>
              </p:txBody>
            </p:sp>
          </mc:Choice>
          <mc:Fallback xmlns="">
            <p:sp>
              <p:nvSpPr>
                <p:cNvPr id="25" name="正方形/長方形 24">
                  <a:extLst>
                    <a:ext uri="{FF2B5EF4-FFF2-40B4-BE49-F238E27FC236}">
                      <a16:creationId xmlns:a16="http://schemas.microsoft.com/office/drawing/2014/main" id="{E8D73959-2E79-4C4F-953C-BC10D70BD8CB}"/>
                    </a:ext>
                  </a:extLst>
                </p:cNvPr>
                <p:cNvSpPr>
                  <a:spLocks noRot="1" noChangeAspect="1" noMove="1" noResize="1" noEditPoints="1" noAdjustHandles="1" noChangeArrowheads="1" noChangeShapeType="1" noTextEdit="1"/>
                </p:cNvSpPr>
                <p:nvPr/>
              </p:nvSpPr>
              <p:spPr>
                <a:xfrm>
                  <a:off x="7218310" y="3561546"/>
                  <a:ext cx="4148690" cy="475515"/>
                </a:xfrm>
                <a:prstGeom prst="rect">
                  <a:avLst/>
                </a:prstGeom>
                <a:blipFill>
                  <a:blip r:embed="rId10"/>
                  <a:stretch>
                    <a:fillRect b="-10256"/>
                  </a:stretch>
                </a:blipFill>
              </p:spPr>
              <p:txBody>
                <a:bodyPr/>
                <a:lstStyle/>
                <a:p>
                  <a:r>
                    <a:rPr lang="ja-JP" altLang="en-US">
                      <a:noFill/>
                    </a:rPr>
                    <a:t> </a:t>
                  </a:r>
                </a:p>
              </p:txBody>
            </p:sp>
          </mc:Fallback>
        </mc:AlternateContent>
        <p:sp>
          <p:nvSpPr>
            <p:cNvPr id="39" name="コンテンツ プレースホルダー 2">
              <a:extLst>
                <a:ext uri="{FF2B5EF4-FFF2-40B4-BE49-F238E27FC236}">
                  <a16:creationId xmlns:a16="http://schemas.microsoft.com/office/drawing/2014/main" id="{1F19E462-8C96-4AE9-B081-201824184E0B}"/>
                </a:ext>
              </a:extLst>
            </p:cNvPr>
            <p:cNvSpPr txBox="1">
              <a:spLocks/>
            </p:cNvSpPr>
            <p:nvPr/>
          </p:nvSpPr>
          <p:spPr>
            <a:xfrm>
              <a:off x="6407756" y="3544692"/>
              <a:ext cx="718017" cy="648113"/>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en-US" altLang="ja-JP" dirty="0"/>
                <a:t>2A.</a:t>
              </a:r>
            </a:p>
          </p:txBody>
        </p:sp>
      </p:grpSp>
      <p:grpSp>
        <p:nvGrpSpPr>
          <p:cNvPr id="18" name="グループ化 17">
            <a:extLst>
              <a:ext uri="{FF2B5EF4-FFF2-40B4-BE49-F238E27FC236}">
                <a16:creationId xmlns:a16="http://schemas.microsoft.com/office/drawing/2014/main" id="{F16C41EC-F88B-4262-8DA3-225176313A21}"/>
              </a:ext>
            </a:extLst>
          </p:cNvPr>
          <p:cNvGrpSpPr/>
          <p:nvPr/>
        </p:nvGrpSpPr>
        <p:grpSpPr>
          <a:xfrm>
            <a:off x="6402978" y="4183872"/>
            <a:ext cx="4964022" cy="910519"/>
            <a:chOff x="6402978" y="3891264"/>
            <a:chExt cx="4964022" cy="910519"/>
          </a:xfrm>
        </p:grpSpPr>
        <mc:AlternateContent xmlns:mc="http://schemas.openxmlformats.org/markup-compatibility/2006" xmlns:a14="http://schemas.microsoft.com/office/drawing/2010/main">
          <mc:Choice Requires="a14">
            <p:sp>
              <p:nvSpPr>
                <p:cNvPr id="26" name="正方形/長方形 25">
                  <a:extLst>
                    <a:ext uri="{FF2B5EF4-FFF2-40B4-BE49-F238E27FC236}">
                      <a16:creationId xmlns:a16="http://schemas.microsoft.com/office/drawing/2014/main" id="{5ECAEF11-14C4-4927-B5DD-3ADEF2FEBFC5}"/>
                    </a:ext>
                  </a:extLst>
                </p:cNvPr>
                <p:cNvSpPr/>
                <p:nvPr/>
              </p:nvSpPr>
              <p:spPr>
                <a:xfrm>
                  <a:off x="7218310" y="3891264"/>
                  <a:ext cx="4148690" cy="863185"/>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eqArr>
                          <m:eqArrPr>
                            <m:ctrlPr>
                              <a:rPr lang="en-ZA" altLang="ja-JP" sz="2400" i="1" smtClean="0">
                                <a:solidFill>
                                  <a:schemeClr val="tx1">
                                    <a:lumMod val="75000"/>
                                    <a:lumOff val="25000"/>
                                  </a:schemeClr>
                                </a:solidFill>
                                <a:latin typeface="Cambria Math" panose="02040503050406030204" pitchFamily="18" charset="0"/>
                              </a:rPr>
                            </m:ctrlPr>
                          </m:eqArrPr>
                          <m:e>
                            <m:eqArr>
                              <m:eqArrPr>
                                <m:ctrlPr>
                                  <a:rPr lang="en-US" altLang="ja-JP" sz="2400" i="1">
                                    <a:solidFill>
                                      <a:schemeClr val="tx1">
                                        <a:lumMod val="75000"/>
                                        <a:lumOff val="25000"/>
                                      </a:schemeClr>
                                    </a:solidFill>
                                    <a:latin typeface="Cambria Math" panose="02040503050406030204" pitchFamily="18" charset="0"/>
                                  </a:rPr>
                                </m:ctrlPr>
                              </m:eqArrPr>
                              <m:e>
                                <m:sSub>
                                  <m:sSubPr>
                                    <m:ctrlPr>
                                      <a:rPr lang="en-US" altLang="ja-JP" sz="2400" i="1">
                                        <a:solidFill>
                                          <a:schemeClr val="tx1">
                                            <a:lumMod val="75000"/>
                                            <a:lumOff val="25000"/>
                                          </a:schemeClr>
                                        </a:solidFill>
                                        <a:latin typeface="Cambria Math" panose="02040503050406030204" pitchFamily="18" charset="0"/>
                                      </a:rPr>
                                    </m:ctrlPr>
                                  </m:sSubPr>
                                  <m:e>
                                    <m:r>
                                      <a:rPr lang="en-US" altLang="ja-JP" sz="2400" b="1" i="0" smtClean="0">
                                        <a:solidFill>
                                          <a:schemeClr val="tx1">
                                            <a:lumMod val="75000"/>
                                            <a:lumOff val="25000"/>
                                          </a:schemeClr>
                                        </a:solidFill>
                                        <a:latin typeface="Cambria Math" panose="02040503050406030204" pitchFamily="18" charset="0"/>
                                      </a:rPr>
                                      <m:t>𝐡</m:t>
                                    </m:r>
                                  </m:e>
                                  <m:sub>
                                    <m:r>
                                      <a:rPr lang="en-US" altLang="ja-JP" sz="2400" b="0" i="1" smtClean="0">
                                        <a:solidFill>
                                          <a:schemeClr val="tx1">
                                            <a:lumMod val="75000"/>
                                            <a:lumOff val="25000"/>
                                          </a:schemeClr>
                                        </a:solidFill>
                                        <a:latin typeface="Cambria Math" panose="02040503050406030204" pitchFamily="18" charset="0"/>
                                      </a:rPr>
                                      <m:t>𝑟</m:t>
                                    </m:r>
                                  </m:sub>
                                </m:sSub>
                              </m:e>
                            </m:eqArr>
                            <m:r>
                              <a:rPr lang="en-US" altLang="ja-JP" sz="2400" b="0" i="1" smtClean="0">
                                <a:solidFill>
                                  <a:schemeClr val="tx1">
                                    <a:lumMod val="75000"/>
                                    <a:lumOff val="25000"/>
                                  </a:schemeClr>
                                </a:solidFill>
                                <a:latin typeface="Cambria Math" panose="02040503050406030204" pitchFamily="18" charset="0"/>
                              </a:rPr>
                              <m:t>=</m:t>
                            </m:r>
                            <m:sSub>
                              <m:sSubPr>
                                <m:ctrlPr>
                                  <a:rPr lang="en-US" altLang="ja-JP" sz="2400" i="1">
                                    <a:solidFill>
                                      <a:schemeClr val="tx1">
                                        <a:lumMod val="75000"/>
                                        <a:lumOff val="25000"/>
                                      </a:schemeClr>
                                    </a:solidFill>
                                    <a:latin typeface="Cambria Math" panose="02040503050406030204" pitchFamily="18" charset="0"/>
                                  </a:rPr>
                                </m:ctrlPr>
                              </m:sSubPr>
                              <m:e>
                                <m:r>
                                  <a:rPr lang="en-US" altLang="ja-JP" sz="2400" b="1">
                                    <a:solidFill>
                                      <a:schemeClr val="tx1">
                                        <a:lumMod val="75000"/>
                                        <a:lumOff val="25000"/>
                                      </a:schemeClr>
                                    </a:solidFill>
                                    <a:latin typeface="Cambria Math" panose="02040503050406030204" pitchFamily="18" charset="0"/>
                                  </a:rPr>
                                  <m:t>𝐡</m:t>
                                </m:r>
                              </m:e>
                              <m:sub>
                                <m:r>
                                  <a:rPr lang="en-US" altLang="ja-JP" sz="2400" b="0" i="1" smtClean="0">
                                    <a:solidFill>
                                      <a:schemeClr val="tx1">
                                        <a:lumMod val="75000"/>
                                        <a:lumOff val="25000"/>
                                      </a:schemeClr>
                                    </a:solidFill>
                                    <a:latin typeface="Cambria Math" panose="02040503050406030204" pitchFamily="18" charset="0"/>
                                  </a:rPr>
                                  <m:t>𝑟</m:t>
                                </m:r>
                                <m:r>
                                  <a:rPr lang="en-US" altLang="ja-JP" sz="2400" b="0" i="1" smtClean="0">
                                    <a:solidFill>
                                      <a:schemeClr val="tx1">
                                        <a:lumMod val="75000"/>
                                        <a:lumOff val="25000"/>
                                      </a:schemeClr>
                                    </a:solidFill>
                                    <a:latin typeface="Cambria Math" panose="02040503050406030204" pitchFamily="18" charset="0"/>
                                  </a:rPr>
                                  <m:t> −1</m:t>
                                </m:r>
                              </m:sub>
                            </m:sSub>
                            <m:r>
                              <a:rPr lang="en-US" altLang="ja-JP" sz="2400" b="0" i="1" smtClean="0">
                                <a:solidFill>
                                  <a:schemeClr val="tx1">
                                    <a:lumMod val="75000"/>
                                    <a:lumOff val="25000"/>
                                  </a:schemeClr>
                                </a:solidFill>
                                <a:latin typeface="Cambria Math" panose="02040503050406030204" pitchFamily="18" charset="0"/>
                              </a:rPr>
                              <m:t>+</m:t>
                            </m:r>
                            <m:sSub>
                              <m:sSubPr>
                                <m:ctrlPr>
                                  <a:rPr lang="en-US" altLang="ja-JP" sz="2400" i="1">
                                    <a:solidFill>
                                      <a:schemeClr val="tx1">
                                        <a:lumMod val="75000"/>
                                        <a:lumOff val="25000"/>
                                      </a:schemeClr>
                                    </a:solidFill>
                                    <a:latin typeface="Cambria Math" panose="02040503050406030204" pitchFamily="18" charset="0"/>
                                  </a:rPr>
                                </m:ctrlPr>
                              </m:sSubPr>
                              <m:e>
                                <m:r>
                                  <a:rPr lang="en-US" altLang="ja-JP" sz="2400" b="1" i="0" smtClean="0">
                                    <a:solidFill>
                                      <a:schemeClr val="tx1">
                                        <a:lumMod val="75000"/>
                                        <a:lumOff val="25000"/>
                                      </a:schemeClr>
                                    </a:solidFill>
                                    <a:latin typeface="Cambria Math" panose="02040503050406030204" pitchFamily="18" charset="0"/>
                                  </a:rPr>
                                  <m:t>𝐳</m:t>
                                </m:r>
                              </m:e>
                              <m:sub>
                                <m:r>
                                  <a:rPr lang="en-US" altLang="ja-JP" sz="2400" i="1">
                                    <a:solidFill>
                                      <a:schemeClr val="tx1">
                                        <a:lumMod val="75000"/>
                                        <a:lumOff val="25000"/>
                                      </a:schemeClr>
                                    </a:solidFill>
                                    <a:latin typeface="Cambria Math" panose="02040503050406030204" pitchFamily="18" charset="0"/>
                                  </a:rPr>
                                  <m:t>𝑟</m:t>
                                </m:r>
                              </m:sub>
                            </m:sSub>
                            <m:r>
                              <a:rPr lang="en-US" altLang="ja-JP" sz="2400" i="1">
                                <a:solidFill>
                                  <a:schemeClr val="tx1">
                                    <a:lumMod val="75000"/>
                                    <a:lumOff val="25000"/>
                                  </a:schemeClr>
                                </a:solidFill>
                                <a:latin typeface="Cambria Math" panose="02040503050406030204" pitchFamily="18" charset="0"/>
                                <a:ea typeface="Cambria Math" panose="02040503050406030204" pitchFamily="18" charset="0"/>
                              </a:rPr>
                              <m:t>⊙</m:t>
                            </m:r>
                            <m:f>
                              <m:fPr>
                                <m:ctrlPr>
                                  <a:rPr lang="en-US" altLang="ja-JP" sz="2400" i="1">
                                    <a:solidFill>
                                      <a:schemeClr val="tx1">
                                        <a:lumMod val="75000"/>
                                        <a:lumOff val="25000"/>
                                      </a:schemeClr>
                                    </a:solidFill>
                                    <a:latin typeface="Cambria Math" panose="02040503050406030204" pitchFamily="18" charset="0"/>
                                  </a:rPr>
                                </m:ctrlPr>
                              </m:fPr>
                              <m:num>
                                <m:r>
                                  <a:rPr lang="ja-JP" altLang="en-US" sz="2400" i="1">
                                    <a:solidFill>
                                      <a:schemeClr val="tx1">
                                        <a:lumMod val="75000"/>
                                        <a:lumOff val="25000"/>
                                      </a:schemeClr>
                                    </a:solidFill>
                                    <a:latin typeface="Cambria Math" panose="02040503050406030204" pitchFamily="18" charset="0"/>
                                  </a:rPr>
                                  <m:t>𝜕</m:t>
                                </m:r>
                                <m:sSub>
                                  <m:sSubPr>
                                    <m:ctrlPr>
                                      <a:rPr lang="en-US" altLang="ja-JP" sz="2400" i="1">
                                        <a:solidFill>
                                          <a:schemeClr val="tx1">
                                            <a:lumMod val="75000"/>
                                            <a:lumOff val="25000"/>
                                          </a:schemeClr>
                                        </a:solidFill>
                                        <a:latin typeface="Cambria Math" panose="02040503050406030204" pitchFamily="18" charset="0"/>
                                      </a:rPr>
                                    </m:ctrlPr>
                                  </m:sSubPr>
                                  <m:e>
                                    <m:r>
                                      <a:rPr lang="en-US" altLang="ja-JP" sz="2400" b="1">
                                        <a:solidFill>
                                          <a:schemeClr val="tx1">
                                            <a:lumMod val="75000"/>
                                            <a:lumOff val="25000"/>
                                          </a:schemeClr>
                                        </a:solidFill>
                                        <a:latin typeface="Cambria Math" panose="02040503050406030204" pitchFamily="18" charset="0"/>
                                      </a:rPr>
                                      <m:t>𝐠</m:t>
                                    </m:r>
                                  </m:e>
                                  <m:sub>
                                    <m:r>
                                      <a:rPr lang="en-US" altLang="ja-JP" sz="2400" i="1">
                                        <a:solidFill>
                                          <a:schemeClr val="tx1">
                                            <a:lumMod val="75000"/>
                                            <a:lumOff val="25000"/>
                                          </a:schemeClr>
                                        </a:solidFill>
                                        <a:latin typeface="Cambria Math" panose="02040503050406030204" pitchFamily="18" charset="0"/>
                                      </a:rPr>
                                      <m:t>𝑘</m:t>
                                    </m:r>
                                  </m:sub>
                                </m:sSub>
                                <m:sSubSup>
                                  <m:sSubSupPr>
                                    <m:ctrlPr>
                                      <a:rPr lang="en-US" altLang="ja-JP" sz="2400" i="1">
                                        <a:solidFill>
                                          <a:schemeClr val="tx1">
                                            <a:lumMod val="75000"/>
                                            <a:lumOff val="25000"/>
                                          </a:schemeClr>
                                        </a:solidFill>
                                        <a:latin typeface="Cambria Math" panose="02040503050406030204" pitchFamily="18" charset="0"/>
                                        <a:ea typeface="Cambria Math" panose="02040503050406030204" pitchFamily="18" charset="0"/>
                                      </a:rPr>
                                    </m:ctrlPr>
                                  </m:sSubSupPr>
                                  <m:e>
                                    <m:r>
                                      <a:rPr lang="en-US" altLang="ja-JP" sz="2400" b="1">
                                        <a:solidFill>
                                          <a:schemeClr val="tx1">
                                            <a:lumMod val="75000"/>
                                            <a:lumOff val="25000"/>
                                          </a:schemeClr>
                                        </a:solidFill>
                                        <a:latin typeface="Cambria Math" panose="02040503050406030204" pitchFamily="18" charset="0"/>
                                        <a:ea typeface="Cambria Math" panose="02040503050406030204" pitchFamily="18" charset="0"/>
                                      </a:rPr>
                                      <m:t>𝐳</m:t>
                                    </m:r>
                                  </m:e>
                                  <m:sub>
                                    <m:r>
                                      <a:rPr lang="en-US" altLang="ja-JP" sz="2400" b="0" i="1" smtClean="0">
                                        <a:solidFill>
                                          <a:schemeClr val="tx1">
                                            <a:lumMod val="75000"/>
                                            <a:lumOff val="25000"/>
                                          </a:schemeClr>
                                        </a:solidFill>
                                        <a:latin typeface="Cambria Math" panose="02040503050406030204" pitchFamily="18" charset="0"/>
                                        <a:ea typeface="Cambria Math" panose="02040503050406030204" pitchFamily="18" charset="0"/>
                                      </a:rPr>
                                      <m:t>𝑟</m:t>
                                    </m:r>
                                  </m:sub>
                                  <m:sup>
                                    <m:r>
                                      <m:rPr>
                                        <m:sty m:val="p"/>
                                      </m:rPr>
                                      <a:rPr lang="en-US" altLang="ja-JP" sz="2400" b="0" i="0">
                                        <a:solidFill>
                                          <a:schemeClr val="tx1">
                                            <a:lumMod val="75000"/>
                                            <a:lumOff val="25000"/>
                                          </a:schemeClr>
                                        </a:solidFill>
                                        <a:latin typeface="Cambria Math" panose="02040503050406030204" pitchFamily="18" charset="0"/>
                                        <a:ea typeface="Cambria Math" panose="02040503050406030204" pitchFamily="18" charset="0"/>
                                      </a:rPr>
                                      <m:t>T</m:t>
                                    </m:r>
                                  </m:sup>
                                </m:sSubSup>
                              </m:num>
                              <m:den>
                                <m:r>
                                  <a:rPr lang="ja-JP" altLang="en-US" sz="2400" i="1">
                                    <a:solidFill>
                                      <a:schemeClr val="tx1">
                                        <a:lumMod val="75000"/>
                                        <a:lumOff val="25000"/>
                                      </a:schemeClr>
                                    </a:solidFill>
                                    <a:latin typeface="Cambria Math" panose="02040503050406030204" pitchFamily="18" charset="0"/>
                                  </a:rPr>
                                  <m:t>𝜕</m:t>
                                </m:r>
                                <m:r>
                                  <a:rPr lang="en-US" altLang="ja-JP" sz="2400" b="1">
                                    <a:solidFill>
                                      <a:schemeClr val="tx1">
                                        <a:lumMod val="75000"/>
                                        <a:lumOff val="25000"/>
                                      </a:schemeClr>
                                    </a:solidFill>
                                    <a:latin typeface="Cambria Math" panose="02040503050406030204" pitchFamily="18" charset="0"/>
                                  </a:rPr>
                                  <m:t>𝐰</m:t>
                                </m:r>
                              </m:den>
                            </m:f>
                          </m:e>
                        </m:eqArr>
                      </m:oMath>
                    </m:oMathPara>
                  </a14:m>
                  <a:endParaRPr lang="ja-JP" altLang="en-US" sz="2400" dirty="0">
                    <a:solidFill>
                      <a:schemeClr val="tx1">
                        <a:lumMod val="75000"/>
                        <a:lumOff val="25000"/>
                      </a:schemeClr>
                    </a:solidFill>
                  </a:endParaRPr>
                </a:p>
              </p:txBody>
            </p:sp>
          </mc:Choice>
          <mc:Fallback xmlns="">
            <p:sp>
              <p:nvSpPr>
                <p:cNvPr id="26" name="正方形/長方形 25">
                  <a:extLst>
                    <a:ext uri="{FF2B5EF4-FFF2-40B4-BE49-F238E27FC236}">
                      <a16:creationId xmlns:a16="http://schemas.microsoft.com/office/drawing/2014/main" id="{5ECAEF11-14C4-4927-B5DD-3ADEF2FEBFC5}"/>
                    </a:ext>
                  </a:extLst>
                </p:cNvPr>
                <p:cNvSpPr>
                  <a:spLocks noRot="1" noChangeAspect="1" noMove="1" noResize="1" noEditPoints="1" noAdjustHandles="1" noChangeArrowheads="1" noChangeShapeType="1" noTextEdit="1"/>
                </p:cNvSpPr>
                <p:nvPr/>
              </p:nvSpPr>
              <p:spPr>
                <a:xfrm>
                  <a:off x="7218310" y="3891264"/>
                  <a:ext cx="4148690" cy="863185"/>
                </a:xfrm>
                <a:prstGeom prst="rect">
                  <a:avLst/>
                </a:prstGeom>
                <a:blipFill>
                  <a:blip r:embed="rId11"/>
                  <a:stretch>
                    <a:fillRect/>
                  </a:stretch>
                </a:blipFill>
              </p:spPr>
              <p:txBody>
                <a:bodyPr/>
                <a:lstStyle/>
                <a:p>
                  <a:r>
                    <a:rPr lang="ja-JP" altLang="en-US">
                      <a:noFill/>
                    </a:rPr>
                    <a:t> </a:t>
                  </a:r>
                </a:p>
              </p:txBody>
            </p:sp>
          </mc:Fallback>
        </mc:AlternateContent>
        <p:sp>
          <p:nvSpPr>
            <p:cNvPr id="40" name="コンテンツ プレースホルダー 2">
              <a:extLst>
                <a:ext uri="{FF2B5EF4-FFF2-40B4-BE49-F238E27FC236}">
                  <a16:creationId xmlns:a16="http://schemas.microsoft.com/office/drawing/2014/main" id="{17C6AF95-537A-46B7-B9A7-5B713010ACEB}"/>
                </a:ext>
              </a:extLst>
            </p:cNvPr>
            <p:cNvSpPr txBox="1">
              <a:spLocks/>
            </p:cNvSpPr>
            <p:nvPr/>
          </p:nvSpPr>
          <p:spPr>
            <a:xfrm>
              <a:off x="6402978" y="4153670"/>
              <a:ext cx="718017" cy="648113"/>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en-US" altLang="ja-JP" dirty="0"/>
                <a:t>2B.</a:t>
              </a:r>
            </a:p>
          </p:txBody>
        </p:sp>
      </p:grpSp>
      <p:grpSp>
        <p:nvGrpSpPr>
          <p:cNvPr id="6" name="グループ化 5">
            <a:extLst>
              <a:ext uri="{FF2B5EF4-FFF2-40B4-BE49-F238E27FC236}">
                <a16:creationId xmlns:a16="http://schemas.microsoft.com/office/drawing/2014/main" id="{8392A8BF-2BD4-462B-B22B-C0C7B07D8812}"/>
              </a:ext>
            </a:extLst>
          </p:cNvPr>
          <p:cNvGrpSpPr/>
          <p:nvPr/>
        </p:nvGrpSpPr>
        <p:grpSpPr>
          <a:xfrm>
            <a:off x="6402978" y="5045834"/>
            <a:ext cx="4964022" cy="657364"/>
            <a:chOff x="6402978" y="4680074"/>
            <a:chExt cx="4964022" cy="657364"/>
          </a:xfrm>
        </p:grpSpPr>
        <mc:AlternateContent xmlns:mc="http://schemas.openxmlformats.org/markup-compatibility/2006" xmlns:a14="http://schemas.microsoft.com/office/drawing/2010/main">
          <mc:Choice Requires="a14">
            <p:sp>
              <p:nvSpPr>
                <p:cNvPr id="27" name="正方形/長方形 26">
                  <a:extLst>
                    <a:ext uri="{FF2B5EF4-FFF2-40B4-BE49-F238E27FC236}">
                      <a16:creationId xmlns:a16="http://schemas.microsoft.com/office/drawing/2014/main" id="{03BFE41D-F1A3-493D-9919-1530D5D17DB0}"/>
                    </a:ext>
                  </a:extLst>
                </p:cNvPr>
                <p:cNvSpPr/>
                <p:nvPr/>
              </p:nvSpPr>
              <p:spPr>
                <a:xfrm>
                  <a:off x="7218310" y="4680074"/>
                  <a:ext cx="4148690" cy="475515"/>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eqArr>
                          <m:eqArrPr>
                            <m:ctrlPr>
                              <a:rPr lang="en-ZA" altLang="ja-JP" sz="2400" i="1" smtClean="0">
                                <a:solidFill>
                                  <a:schemeClr val="tx1">
                                    <a:lumMod val="75000"/>
                                    <a:lumOff val="25000"/>
                                  </a:schemeClr>
                                </a:solidFill>
                                <a:latin typeface="Cambria Math" panose="02040503050406030204" pitchFamily="18" charset="0"/>
                              </a:rPr>
                            </m:ctrlPr>
                          </m:eqArrPr>
                          <m:e>
                            <m:sSub>
                              <m:sSubPr>
                                <m:ctrlPr>
                                  <a:rPr lang="en-US" altLang="ja-JP" sz="2400" i="1">
                                    <a:solidFill>
                                      <a:schemeClr val="tx1">
                                        <a:lumMod val="75000"/>
                                        <a:lumOff val="25000"/>
                                      </a:schemeClr>
                                    </a:solidFill>
                                    <a:latin typeface="Cambria Math" panose="02040503050406030204" pitchFamily="18" charset="0"/>
                                  </a:rPr>
                                </m:ctrlPr>
                              </m:sSubPr>
                              <m:e>
                                <m:r>
                                  <a:rPr lang="en-US" altLang="ja-JP" sz="2400" b="1">
                                    <a:solidFill>
                                      <a:schemeClr val="tx1">
                                        <a:lumMod val="75000"/>
                                        <a:lumOff val="25000"/>
                                      </a:schemeClr>
                                    </a:solidFill>
                                    <a:latin typeface="Cambria Math" panose="02040503050406030204" pitchFamily="18" charset="0"/>
                                  </a:rPr>
                                  <m:t>𝐳</m:t>
                                </m:r>
                              </m:e>
                              <m:sub>
                                <m:r>
                                  <a:rPr lang="en-US" altLang="ja-JP" sz="2400" b="0" i="1" smtClean="0">
                                    <a:solidFill>
                                      <a:schemeClr val="tx1">
                                        <a:lumMod val="75000"/>
                                        <a:lumOff val="25000"/>
                                      </a:schemeClr>
                                    </a:solidFill>
                                    <a:latin typeface="Cambria Math" panose="02040503050406030204" pitchFamily="18" charset="0"/>
                                  </a:rPr>
                                  <m:t>𝑟</m:t>
                                </m:r>
                              </m:sub>
                            </m:sSub>
                            <m:r>
                              <a:rPr lang="en-US" altLang="ja-JP" sz="2400" b="0" i="1" smtClean="0">
                                <a:solidFill>
                                  <a:schemeClr val="tx1">
                                    <a:lumMod val="75000"/>
                                    <a:lumOff val="25000"/>
                                  </a:schemeClr>
                                </a:solidFill>
                                <a:latin typeface="Cambria Math" panose="02040503050406030204" pitchFamily="18" charset="0"/>
                              </a:rPr>
                              <m:t>=</m:t>
                            </m:r>
                            <m:sSub>
                              <m:sSubPr>
                                <m:ctrlPr>
                                  <a:rPr lang="en-US" altLang="ja-JP" sz="2400" i="1">
                                    <a:solidFill>
                                      <a:schemeClr val="tx1">
                                        <a:lumMod val="75000"/>
                                        <a:lumOff val="25000"/>
                                      </a:schemeClr>
                                    </a:solidFill>
                                    <a:latin typeface="Cambria Math" panose="02040503050406030204" pitchFamily="18" charset="0"/>
                                  </a:rPr>
                                </m:ctrlPr>
                              </m:sSubPr>
                              <m:e>
                                <m:r>
                                  <a:rPr lang="en-US" altLang="ja-JP" sz="2400" b="1">
                                    <a:solidFill>
                                      <a:schemeClr val="tx1">
                                        <a:lumMod val="75000"/>
                                        <a:lumOff val="25000"/>
                                      </a:schemeClr>
                                    </a:solidFill>
                                    <a:latin typeface="Cambria Math" panose="02040503050406030204" pitchFamily="18" charset="0"/>
                                  </a:rPr>
                                  <m:t>𝐳</m:t>
                                </m:r>
                              </m:e>
                              <m:sub>
                                <m:r>
                                  <a:rPr lang="en-US" altLang="ja-JP" sz="2400" b="0" i="1" smtClean="0">
                                    <a:solidFill>
                                      <a:schemeClr val="tx1">
                                        <a:lumMod val="75000"/>
                                        <a:lumOff val="25000"/>
                                      </a:schemeClr>
                                    </a:solidFill>
                                    <a:latin typeface="Cambria Math" panose="02040503050406030204" pitchFamily="18" charset="0"/>
                                  </a:rPr>
                                  <m:t>𝑟</m:t>
                                </m:r>
                                <m:r>
                                  <a:rPr lang="en-US" altLang="ja-JP" sz="2400" b="0" i="1" smtClean="0">
                                    <a:solidFill>
                                      <a:schemeClr val="tx1">
                                        <a:lumMod val="75000"/>
                                        <a:lumOff val="25000"/>
                                      </a:schemeClr>
                                    </a:solidFill>
                                    <a:latin typeface="Cambria Math" panose="02040503050406030204" pitchFamily="18" charset="0"/>
                                  </a:rPr>
                                  <m:t>−1</m:t>
                                </m:r>
                              </m:sub>
                            </m:sSub>
                            <m:r>
                              <a:rPr lang="en-US" altLang="ja-JP" sz="2400" b="0" i="1" smtClean="0">
                                <a:solidFill>
                                  <a:schemeClr val="tx1">
                                    <a:lumMod val="75000"/>
                                    <a:lumOff val="25000"/>
                                  </a:schemeClr>
                                </a:solidFill>
                                <a:latin typeface="Cambria Math" panose="02040503050406030204" pitchFamily="18" charset="0"/>
                              </a:rPr>
                              <m:t>+ </m:t>
                            </m:r>
                            <m:sSub>
                              <m:sSubPr>
                                <m:ctrlPr>
                                  <a:rPr lang="en-US" altLang="ja-JP" sz="2400" b="0" i="1" smtClean="0">
                                    <a:solidFill>
                                      <a:schemeClr val="tx1">
                                        <a:lumMod val="75000"/>
                                        <a:lumOff val="25000"/>
                                      </a:schemeClr>
                                    </a:solidFill>
                                    <a:latin typeface="Cambria Math" panose="02040503050406030204" pitchFamily="18" charset="0"/>
                                  </a:rPr>
                                </m:ctrlPr>
                              </m:sSubPr>
                              <m:e>
                                <m:r>
                                  <a:rPr lang="en-US" altLang="ja-JP" sz="2400" b="1" i="0" smtClean="0">
                                    <a:solidFill>
                                      <a:schemeClr val="tx1">
                                        <a:lumMod val="75000"/>
                                        <a:lumOff val="25000"/>
                                      </a:schemeClr>
                                    </a:solidFill>
                                    <a:latin typeface="Cambria Math" panose="02040503050406030204" pitchFamily="18" charset="0"/>
                                  </a:rPr>
                                  <m:t>𝐳</m:t>
                                </m:r>
                              </m:e>
                              <m:sub>
                                <m:r>
                                  <a:rPr lang="en-US" altLang="ja-JP" sz="2400" b="0" i="1" smtClean="0">
                                    <a:solidFill>
                                      <a:schemeClr val="tx1">
                                        <a:lumMod val="75000"/>
                                        <a:lumOff val="25000"/>
                                      </a:schemeClr>
                                    </a:solidFill>
                                    <a:latin typeface="Cambria Math" panose="02040503050406030204" pitchFamily="18" charset="0"/>
                                  </a:rPr>
                                  <m:t>𝑟</m:t>
                                </m:r>
                              </m:sub>
                            </m:sSub>
                            <m:r>
                              <a:rPr lang="en-US" altLang="ja-JP" sz="2400" b="0" i="1" smtClean="0">
                                <a:solidFill>
                                  <a:schemeClr val="tx1">
                                    <a:lumMod val="75000"/>
                                    <a:lumOff val="25000"/>
                                  </a:schemeClr>
                                </a:solidFill>
                                <a:latin typeface="Cambria Math" panose="02040503050406030204" pitchFamily="18" charset="0"/>
                              </a:rPr>
                              <m:t> </m:t>
                            </m:r>
                            <m:r>
                              <a:rPr lang="en-US" altLang="ja-JP" sz="2400" b="0" i="1" smtClean="0">
                                <a:solidFill>
                                  <a:schemeClr val="tx1">
                                    <a:lumMod val="75000"/>
                                    <a:lumOff val="25000"/>
                                  </a:schemeClr>
                                </a:solidFill>
                                <a:latin typeface="Cambria Math" panose="02040503050406030204" pitchFamily="18" charset="0"/>
                                <a:ea typeface="Cambria Math" panose="02040503050406030204" pitchFamily="18" charset="0"/>
                              </a:rPr>
                              <m:t>⨀</m:t>
                            </m:r>
                            <m:sSub>
                              <m:sSubPr>
                                <m:ctrlPr>
                                  <a:rPr lang="en-US" altLang="ja-JP" sz="2400" b="0" i="1" smtClean="0">
                                    <a:solidFill>
                                      <a:schemeClr val="tx1">
                                        <a:lumMod val="75000"/>
                                        <a:lumOff val="25000"/>
                                      </a:schemeClr>
                                    </a:solidFill>
                                    <a:latin typeface="Cambria Math" panose="02040503050406030204" pitchFamily="18" charset="0"/>
                                  </a:rPr>
                                </m:ctrlPr>
                              </m:sSubPr>
                              <m:e>
                                <m:r>
                                  <a:rPr lang="en-US" altLang="ja-JP" sz="2400" b="0" i="1" smtClean="0">
                                    <a:solidFill>
                                      <a:schemeClr val="tx1">
                                        <a:lumMod val="75000"/>
                                        <a:lumOff val="25000"/>
                                      </a:schemeClr>
                                    </a:solidFill>
                                    <a:latin typeface="Cambria Math" panose="02040503050406030204" pitchFamily="18" charset="0"/>
                                  </a:rPr>
                                  <m:t> </m:t>
                                </m:r>
                                <m:r>
                                  <a:rPr lang="en-US" altLang="ja-JP" sz="2400" b="1" i="0" smtClean="0">
                                    <a:solidFill>
                                      <a:schemeClr val="tx1">
                                        <a:lumMod val="75000"/>
                                        <a:lumOff val="25000"/>
                                      </a:schemeClr>
                                    </a:solidFill>
                                    <a:latin typeface="Cambria Math" panose="02040503050406030204" pitchFamily="18" charset="0"/>
                                  </a:rPr>
                                  <m:t>𝐳</m:t>
                                </m:r>
                              </m:e>
                              <m:sub>
                                <m:r>
                                  <a:rPr lang="en-US" altLang="ja-JP" sz="2400" b="0" i="1" smtClean="0">
                                    <a:solidFill>
                                      <a:schemeClr val="tx1">
                                        <a:lumMod val="75000"/>
                                        <a:lumOff val="25000"/>
                                      </a:schemeClr>
                                    </a:solidFill>
                                    <a:latin typeface="Cambria Math" panose="02040503050406030204" pitchFamily="18" charset="0"/>
                                  </a:rPr>
                                  <m:t>𝑟</m:t>
                                </m:r>
                              </m:sub>
                            </m:sSub>
                          </m:e>
                        </m:eqArr>
                      </m:oMath>
                    </m:oMathPara>
                  </a14:m>
                  <a:endParaRPr lang="ja-JP" altLang="en-US" sz="2400" dirty="0">
                    <a:solidFill>
                      <a:schemeClr val="tx1">
                        <a:lumMod val="75000"/>
                        <a:lumOff val="25000"/>
                      </a:schemeClr>
                    </a:solidFill>
                  </a:endParaRPr>
                </a:p>
              </p:txBody>
            </p:sp>
          </mc:Choice>
          <mc:Fallback xmlns="">
            <p:sp>
              <p:nvSpPr>
                <p:cNvPr id="27" name="正方形/長方形 26">
                  <a:extLst>
                    <a:ext uri="{FF2B5EF4-FFF2-40B4-BE49-F238E27FC236}">
                      <a16:creationId xmlns:a16="http://schemas.microsoft.com/office/drawing/2014/main" id="{03BFE41D-F1A3-493D-9919-1530D5D17DB0}"/>
                    </a:ext>
                  </a:extLst>
                </p:cNvPr>
                <p:cNvSpPr>
                  <a:spLocks noRot="1" noChangeAspect="1" noMove="1" noResize="1" noEditPoints="1" noAdjustHandles="1" noChangeArrowheads="1" noChangeShapeType="1" noTextEdit="1"/>
                </p:cNvSpPr>
                <p:nvPr/>
              </p:nvSpPr>
              <p:spPr>
                <a:xfrm>
                  <a:off x="7218310" y="4680074"/>
                  <a:ext cx="4148690" cy="475515"/>
                </a:xfrm>
                <a:prstGeom prst="rect">
                  <a:avLst/>
                </a:prstGeom>
                <a:blipFill>
                  <a:blip r:embed="rId12"/>
                  <a:stretch>
                    <a:fillRect/>
                  </a:stretch>
                </a:blipFill>
              </p:spPr>
              <p:txBody>
                <a:bodyPr/>
                <a:lstStyle/>
                <a:p>
                  <a:r>
                    <a:rPr lang="ja-JP" altLang="en-US">
                      <a:noFill/>
                    </a:rPr>
                    <a:t> </a:t>
                  </a:r>
                </a:p>
              </p:txBody>
            </p:sp>
          </mc:Fallback>
        </mc:AlternateContent>
        <p:sp>
          <p:nvSpPr>
            <p:cNvPr id="41" name="コンテンツ プレースホルダー 2">
              <a:extLst>
                <a:ext uri="{FF2B5EF4-FFF2-40B4-BE49-F238E27FC236}">
                  <a16:creationId xmlns:a16="http://schemas.microsoft.com/office/drawing/2014/main" id="{FC5CC0F0-33C4-4BBF-939A-36C4CEB2D46D}"/>
                </a:ext>
              </a:extLst>
            </p:cNvPr>
            <p:cNvSpPr txBox="1">
              <a:spLocks/>
            </p:cNvSpPr>
            <p:nvPr/>
          </p:nvSpPr>
          <p:spPr>
            <a:xfrm>
              <a:off x="6402978" y="4689325"/>
              <a:ext cx="718017" cy="648113"/>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en-US" altLang="ja-JP" dirty="0"/>
                <a:t>2C.</a:t>
              </a:r>
            </a:p>
          </p:txBody>
        </p:sp>
      </p:grpSp>
      <p:grpSp>
        <p:nvGrpSpPr>
          <p:cNvPr id="5" name="グループ化 4">
            <a:extLst>
              <a:ext uri="{FF2B5EF4-FFF2-40B4-BE49-F238E27FC236}">
                <a16:creationId xmlns:a16="http://schemas.microsoft.com/office/drawing/2014/main" id="{CE8D68F5-459E-4B6F-97BF-7CBB896E7BF0}"/>
              </a:ext>
            </a:extLst>
          </p:cNvPr>
          <p:cNvGrpSpPr/>
          <p:nvPr/>
        </p:nvGrpSpPr>
        <p:grpSpPr>
          <a:xfrm>
            <a:off x="6275911" y="5602430"/>
            <a:ext cx="4749801" cy="650407"/>
            <a:chOff x="6275911" y="5102558"/>
            <a:chExt cx="4749801" cy="650407"/>
          </a:xfrm>
        </p:grpSpPr>
        <mc:AlternateContent xmlns:mc="http://schemas.openxmlformats.org/markup-compatibility/2006" xmlns:a14="http://schemas.microsoft.com/office/drawing/2010/main">
          <mc:Choice Requires="a14">
            <p:sp>
              <p:nvSpPr>
                <p:cNvPr id="29" name="正方形/長方形 28">
                  <a:extLst>
                    <a:ext uri="{FF2B5EF4-FFF2-40B4-BE49-F238E27FC236}">
                      <a16:creationId xmlns:a16="http://schemas.microsoft.com/office/drawing/2014/main" id="{DD5E2AF9-66BC-43D0-9290-8DAE3C0F0BB2}"/>
                    </a:ext>
                  </a:extLst>
                </p:cNvPr>
                <p:cNvSpPr/>
                <p:nvPr/>
              </p:nvSpPr>
              <p:spPr>
                <a:xfrm>
                  <a:off x="6877022" y="5102558"/>
                  <a:ext cx="4148690" cy="475515"/>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eqArr>
                          <m:eqArrPr>
                            <m:ctrlPr>
                              <a:rPr lang="en-ZA" altLang="ja-JP" sz="2400" i="1" smtClean="0">
                                <a:solidFill>
                                  <a:schemeClr val="tx1">
                                    <a:lumMod val="75000"/>
                                    <a:lumOff val="25000"/>
                                  </a:schemeClr>
                                </a:solidFill>
                                <a:latin typeface="Cambria Math" panose="02040503050406030204" pitchFamily="18" charset="0"/>
                              </a:rPr>
                            </m:ctrlPr>
                          </m:eqArrPr>
                          <m:e>
                            <m:r>
                              <a:rPr lang="en-US" altLang="ja-JP" sz="2400" b="0" i="1" smtClean="0">
                                <a:solidFill>
                                  <a:schemeClr val="tx1">
                                    <a:lumMod val="75000"/>
                                    <a:lumOff val="25000"/>
                                  </a:schemeClr>
                                </a:solidFill>
                                <a:latin typeface="Cambria Math" panose="02040503050406030204" pitchFamily="18" charset="0"/>
                              </a:rPr>
                              <m:t>𝑟𝑒𝑡𝑢𝑟𝑛</m:t>
                            </m:r>
                            <m:sSub>
                              <m:sSubPr>
                                <m:ctrlPr>
                                  <a:rPr lang="en-US" altLang="ja-JP" sz="2400" i="1">
                                    <a:solidFill>
                                      <a:schemeClr val="tx1">
                                        <a:lumMod val="75000"/>
                                        <a:lumOff val="25000"/>
                                      </a:schemeClr>
                                    </a:solidFill>
                                    <a:latin typeface="Cambria Math" panose="02040503050406030204" pitchFamily="18" charset="0"/>
                                  </a:rPr>
                                </m:ctrlPr>
                              </m:sSubPr>
                              <m:e>
                                <m:r>
                                  <a:rPr lang="en-US" altLang="ja-JP" sz="2400" b="0" i="1" smtClean="0">
                                    <a:solidFill>
                                      <a:schemeClr val="tx1">
                                        <a:lumMod val="75000"/>
                                        <a:lumOff val="25000"/>
                                      </a:schemeClr>
                                    </a:solidFill>
                                    <a:latin typeface="Cambria Math" panose="02040503050406030204" pitchFamily="18" charset="0"/>
                                  </a:rPr>
                                  <m:t> </m:t>
                                </m:r>
                                <m:r>
                                  <a:rPr lang="en-US" altLang="ja-JP" sz="2400" b="1">
                                    <a:solidFill>
                                      <a:schemeClr val="tx1">
                                        <a:lumMod val="75000"/>
                                        <a:lumOff val="25000"/>
                                      </a:schemeClr>
                                    </a:solidFill>
                                    <a:latin typeface="Cambria Math" panose="02040503050406030204" pitchFamily="18" charset="0"/>
                                  </a:rPr>
                                  <m:t>𝐡</m:t>
                                </m:r>
                              </m:e>
                              <m:sub>
                                <m:r>
                                  <a:rPr lang="en-US" altLang="ja-JP" sz="2400" b="0" i="1" smtClean="0">
                                    <a:solidFill>
                                      <a:schemeClr val="tx1">
                                        <a:lumMod val="75000"/>
                                        <a:lumOff val="25000"/>
                                      </a:schemeClr>
                                    </a:solidFill>
                                    <a:latin typeface="Cambria Math" panose="02040503050406030204" pitchFamily="18" charset="0"/>
                                  </a:rPr>
                                  <m:t>𝑠</m:t>
                                </m:r>
                              </m:sub>
                            </m:sSub>
                            <m:r>
                              <a:rPr lang="en-US" altLang="ja-JP" sz="2400" b="0" i="1" smtClean="0">
                                <a:solidFill>
                                  <a:schemeClr val="tx1">
                                    <a:lumMod val="75000"/>
                                    <a:lumOff val="25000"/>
                                  </a:schemeClr>
                                </a:solidFill>
                                <a:latin typeface="Cambria Math" panose="02040503050406030204" pitchFamily="18" charset="0"/>
                                <a:ea typeface="Cambria Math" panose="02040503050406030204" pitchFamily="18" charset="0"/>
                              </a:rPr>
                              <m:t>⊘</m:t>
                            </m:r>
                            <m:sSub>
                              <m:sSubPr>
                                <m:ctrlPr>
                                  <a:rPr lang="en-US" altLang="ja-JP" sz="2400" i="1">
                                    <a:solidFill>
                                      <a:schemeClr val="tx1">
                                        <a:lumMod val="75000"/>
                                        <a:lumOff val="25000"/>
                                      </a:schemeClr>
                                    </a:solidFill>
                                    <a:latin typeface="Cambria Math" panose="02040503050406030204" pitchFamily="18" charset="0"/>
                                  </a:rPr>
                                </m:ctrlPr>
                              </m:sSubPr>
                              <m:e>
                                <m:r>
                                  <a:rPr lang="en-US" altLang="ja-JP" sz="2400" b="1" i="0" smtClean="0">
                                    <a:solidFill>
                                      <a:schemeClr val="tx1">
                                        <a:lumMod val="75000"/>
                                        <a:lumOff val="25000"/>
                                      </a:schemeClr>
                                    </a:solidFill>
                                    <a:latin typeface="Cambria Math" panose="02040503050406030204" pitchFamily="18" charset="0"/>
                                  </a:rPr>
                                  <m:t>𝐳</m:t>
                                </m:r>
                              </m:e>
                              <m:sub>
                                <m:r>
                                  <a:rPr lang="en-US" altLang="ja-JP" sz="2400" b="0" i="1" smtClean="0">
                                    <a:solidFill>
                                      <a:schemeClr val="tx1">
                                        <a:lumMod val="75000"/>
                                        <a:lumOff val="25000"/>
                                      </a:schemeClr>
                                    </a:solidFill>
                                    <a:latin typeface="Cambria Math" panose="02040503050406030204" pitchFamily="18" charset="0"/>
                                  </a:rPr>
                                  <m:t>𝑠</m:t>
                                </m:r>
                              </m:sub>
                            </m:sSub>
                          </m:e>
                        </m:eqArr>
                      </m:oMath>
                    </m:oMathPara>
                  </a14:m>
                  <a:endParaRPr lang="ja-JP" altLang="en-US" sz="2400" dirty="0">
                    <a:solidFill>
                      <a:schemeClr val="tx1">
                        <a:lumMod val="75000"/>
                        <a:lumOff val="25000"/>
                      </a:schemeClr>
                    </a:solidFill>
                  </a:endParaRPr>
                </a:p>
              </p:txBody>
            </p:sp>
          </mc:Choice>
          <mc:Fallback xmlns="">
            <p:sp>
              <p:nvSpPr>
                <p:cNvPr id="29" name="正方形/長方形 28">
                  <a:extLst>
                    <a:ext uri="{FF2B5EF4-FFF2-40B4-BE49-F238E27FC236}">
                      <a16:creationId xmlns:a16="http://schemas.microsoft.com/office/drawing/2014/main" id="{DD5E2AF9-66BC-43D0-9290-8DAE3C0F0BB2}"/>
                    </a:ext>
                  </a:extLst>
                </p:cNvPr>
                <p:cNvSpPr>
                  <a:spLocks noRot="1" noChangeAspect="1" noMove="1" noResize="1" noEditPoints="1" noAdjustHandles="1" noChangeArrowheads="1" noChangeShapeType="1" noTextEdit="1"/>
                </p:cNvSpPr>
                <p:nvPr/>
              </p:nvSpPr>
              <p:spPr>
                <a:xfrm>
                  <a:off x="6877022" y="5102558"/>
                  <a:ext cx="4148690" cy="475515"/>
                </a:xfrm>
                <a:prstGeom prst="rect">
                  <a:avLst/>
                </a:prstGeom>
                <a:blipFill>
                  <a:blip r:embed="rId13"/>
                  <a:stretch>
                    <a:fillRect b="-2564"/>
                  </a:stretch>
                </a:blipFill>
              </p:spPr>
              <p:txBody>
                <a:bodyPr/>
                <a:lstStyle/>
                <a:p>
                  <a:r>
                    <a:rPr lang="ja-JP" altLang="en-US">
                      <a:noFill/>
                    </a:rPr>
                    <a:t> </a:t>
                  </a:r>
                </a:p>
              </p:txBody>
            </p:sp>
          </mc:Fallback>
        </mc:AlternateContent>
        <p:sp>
          <p:nvSpPr>
            <p:cNvPr id="43" name="コンテンツ プレースホルダー 2">
              <a:extLst>
                <a:ext uri="{FF2B5EF4-FFF2-40B4-BE49-F238E27FC236}">
                  <a16:creationId xmlns:a16="http://schemas.microsoft.com/office/drawing/2014/main" id="{A43C23F3-2AA7-4816-81F9-1DC8DA5BDB8C}"/>
                </a:ext>
              </a:extLst>
            </p:cNvPr>
            <p:cNvSpPr txBox="1">
              <a:spLocks/>
            </p:cNvSpPr>
            <p:nvPr/>
          </p:nvSpPr>
          <p:spPr>
            <a:xfrm>
              <a:off x="6275911" y="5104852"/>
              <a:ext cx="718017" cy="648113"/>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en-US" altLang="ja-JP" dirty="0"/>
                <a:t>3.</a:t>
              </a:r>
            </a:p>
          </p:txBody>
        </p:sp>
      </p:grpSp>
      <mc:AlternateContent xmlns:mc="http://schemas.openxmlformats.org/markup-compatibility/2006" xmlns:a14="http://schemas.microsoft.com/office/drawing/2010/main">
        <mc:Choice Requires="a14">
          <p:sp>
            <p:nvSpPr>
              <p:cNvPr id="44" name="テキスト ボックス 43">
                <a:extLst>
                  <a:ext uri="{FF2B5EF4-FFF2-40B4-BE49-F238E27FC236}">
                    <a16:creationId xmlns:a16="http://schemas.microsoft.com/office/drawing/2014/main" id="{78E55202-08DF-460C-8942-FC8C4D4392AF}"/>
                  </a:ext>
                </a:extLst>
              </p:cNvPr>
              <p:cNvSpPr txBox="1"/>
              <p:nvPr/>
            </p:nvSpPr>
            <p:spPr>
              <a:xfrm>
                <a:off x="7485010" y="6488633"/>
                <a:ext cx="4385244" cy="369332"/>
              </a:xfrm>
              <a:prstGeom prst="rect">
                <a:avLst/>
              </a:prstGeom>
              <a:noFill/>
            </p:spPr>
            <p:txBody>
              <a:bodyPr wrap="square">
                <a:spAutoFit/>
              </a:bodyPr>
              <a:lstStyle/>
              <a:p>
                <a:r>
                  <a:rPr lang="en-US" altLang="ja-JP" b="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a:t>
                </a:r>
                <a14:m>
                  <m:oMath xmlns:m="http://schemas.openxmlformats.org/officeDocument/2006/math">
                    <m:r>
                      <a:rPr lang="en-US" altLang="ja-JP" b="0" i="1" smtClean="0">
                        <a:solidFill>
                          <a:schemeClr val="tx1">
                            <a:lumMod val="75000"/>
                            <a:lumOff val="25000"/>
                          </a:schemeClr>
                        </a:solidFill>
                        <a:latin typeface="Cambria Math" panose="02040503050406030204" pitchFamily="18" charset="0"/>
                        <a:ea typeface="Cambria Math" panose="02040503050406030204" pitchFamily="18" charset="0"/>
                      </a:rPr>
                      <m:t>⊙</m:t>
                    </m:r>
                    <m:r>
                      <m:rPr>
                        <m:nor/>
                      </m:rPr>
                      <a:rPr lang="ja-JP" altLang="en-US"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m:t>：</m:t>
                    </m:r>
                  </m:oMath>
                </a14:m>
                <a:r>
                  <a:rPr lang="ja-JP" altLang="en-US"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アダマール乗算　</a:t>
                </a:r>
                <a14:m>
                  <m:oMath xmlns:m="http://schemas.openxmlformats.org/officeDocument/2006/math">
                    <m:r>
                      <a:rPr lang="en-US" altLang="ja-JP" b="0" i="1" smtClean="0">
                        <a:solidFill>
                          <a:schemeClr val="tx1">
                            <a:lumMod val="75000"/>
                            <a:lumOff val="25000"/>
                          </a:schemeClr>
                        </a:solidFill>
                        <a:latin typeface="Cambria Math" panose="02040503050406030204" pitchFamily="18" charset="0"/>
                        <a:ea typeface="Cambria Math" panose="02040503050406030204" pitchFamily="18" charset="0"/>
                      </a:rPr>
                      <m:t>⊘</m:t>
                    </m:r>
                    <m:r>
                      <a:rPr lang="ja-JP" altLang="en-US" i="1">
                        <a:solidFill>
                          <a:schemeClr val="tx1">
                            <a:lumMod val="75000"/>
                            <a:lumOff val="25000"/>
                          </a:schemeClr>
                        </a:solidFill>
                        <a:latin typeface="Cambria Math" panose="02040503050406030204" pitchFamily="18" charset="0"/>
                        <a:ea typeface="Cambria Math" panose="02040503050406030204" pitchFamily="18" charset="0"/>
                      </a:rPr>
                      <m:t> </m:t>
                    </m:r>
                  </m:oMath>
                </a14:m>
                <a:r>
                  <a:rPr lang="ja-JP" altLang="en-US"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：アダマール除算</a:t>
                </a:r>
                <a:endParaRPr lang="en-US" altLang="ja-JP"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mc:Choice>
        <mc:Fallback xmlns="">
          <p:sp>
            <p:nvSpPr>
              <p:cNvPr id="44" name="テキスト ボックス 43">
                <a:extLst>
                  <a:ext uri="{FF2B5EF4-FFF2-40B4-BE49-F238E27FC236}">
                    <a16:creationId xmlns:a16="http://schemas.microsoft.com/office/drawing/2014/main" id="{78E55202-08DF-460C-8942-FC8C4D4392AF}"/>
                  </a:ext>
                </a:extLst>
              </p:cNvPr>
              <p:cNvSpPr txBox="1">
                <a:spLocks noRot="1" noChangeAspect="1" noMove="1" noResize="1" noEditPoints="1" noAdjustHandles="1" noChangeArrowheads="1" noChangeShapeType="1" noTextEdit="1"/>
              </p:cNvSpPr>
              <p:nvPr/>
            </p:nvSpPr>
            <p:spPr>
              <a:xfrm>
                <a:off x="7485010" y="6488633"/>
                <a:ext cx="4385244" cy="369332"/>
              </a:xfrm>
              <a:prstGeom prst="rect">
                <a:avLst/>
              </a:prstGeom>
              <a:blipFill>
                <a:blip r:embed="rId14"/>
                <a:stretch>
                  <a:fillRect l="-1252" t="-6557" b="-26230"/>
                </a:stretch>
              </a:blipFill>
            </p:spPr>
            <p:txBody>
              <a:bodyPr/>
              <a:lstStyle/>
              <a:p>
                <a:r>
                  <a:rPr lang="ja-JP" altLang="en-US">
                    <a:noFill/>
                  </a:rPr>
                  <a:t> </a:t>
                </a:r>
              </a:p>
            </p:txBody>
          </p:sp>
        </mc:Fallback>
      </mc:AlternateContent>
      <p:grpSp>
        <p:nvGrpSpPr>
          <p:cNvPr id="52" name="グループ化 51">
            <a:extLst>
              <a:ext uri="{FF2B5EF4-FFF2-40B4-BE49-F238E27FC236}">
                <a16:creationId xmlns:a16="http://schemas.microsoft.com/office/drawing/2014/main" id="{41F22E4D-962C-46F1-8EF1-C0236ED49431}"/>
              </a:ext>
            </a:extLst>
          </p:cNvPr>
          <p:cNvGrpSpPr/>
          <p:nvPr/>
        </p:nvGrpSpPr>
        <p:grpSpPr>
          <a:xfrm>
            <a:off x="681582" y="2631601"/>
            <a:ext cx="4691418" cy="891679"/>
            <a:chOff x="547470" y="2631601"/>
            <a:chExt cx="4691418" cy="891679"/>
          </a:xfrm>
        </p:grpSpPr>
        <mc:AlternateContent xmlns:mc="http://schemas.openxmlformats.org/markup-compatibility/2006" xmlns:a14="http://schemas.microsoft.com/office/drawing/2010/main">
          <mc:Choice Requires="a14">
            <p:sp>
              <p:nvSpPr>
                <p:cNvPr id="8" name="正方形/長方形 7">
                  <a:extLst>
                    <a:ext uri="{FF2B5EF4-FFF2-40B4-BE49-F238E27FC236}">
                      <a16:creationId xmlns:a16="http://schemas.microsoft.com/office/drawing/2014/main" id="{DE4E4317-8CED-45DA-A61A-F9706378F3A3}"/>
                    </a:ext>
                  </a:extLst>
                </p:cNvPr>
                <p:cNvSpPr/>
                <p:nvPr/>
              </p:nvSpPr>
              <p:spPr>
                <a:xfrm>
                  <a:off x="1071918" y="2653303"/>
                  <a:ext cx="4148690" cy="475515"/>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eqArr>
                          <m:eqArrPr>
                            <m:ctrlPr>
                              <a:rPr lang="en-ZA" altLang="ja-JP" sz="2400" i="1" smtClean="0">
                                <a:solidFill>
                                  <a:schemeClr val="tx1">
                                    <a:lumMod val="75000"/>
                                    <a:lumOff val="25000"/>
                                  </a:schemeClr>
                                </a:solidFill>
                                <a:latin typeface="Cambria Math" panose="02040503050406030204" pitchFamily="18" charset="0"/>
                              </a:rPr>
                            </m:ctrlPr>
                          </m:eqArrPr>
                          <m:e>
                            <m:eqArr>
                              <m:eqArrPr>
                                <m:ctrlPr>
                                  <a:rPr lang="en-US" altLang="ja-JP" sz="2400" i="1">
                                    <a:solidFill>
                                      <a:schemeClr val="tx1">
                                        <a:lumMod val="75000"/>
                                        <a:lumOff val="25000"/>
                                      </a:schemeClr>
                                    </a:solidFill>
                                    <a:latin typeface="Cambria Math" panose="02040503050406030204" pitchFamily="18" charset="0"/>
                                  </a:rPr>
                                </m:ctrlPr>
                              </m:eqArrPr>
                              <m:e>
                                <m:sSub>
                                  <m:sSubPr>
                                    <m:ctrlPr>
                                      <a:rPr lang="en-US" altLang="ja-JP" sz="2400" i="1">
                                        <a:solidFill>
                                          <a:schemeClr val="tx1">
                                            <a:lumMod val="75000"/>
                                            <a:lumOff val="25000"/>
                                          </a:schemeClr>
                                        </a:solidFill>
                                        <a:latin typeface="Cambria Math" panose="02040503050406030204" pitchFamily="18" charset="0"/>
                                      </a:rPr>
                                    </m:ctrlPr>
                                  </m:sSubPr>
                                  <m:e>
                                    <m:r>
                                      <a:rPr lang="en-US" altLang="ja-JP" sz="2400" b="1">
                                        <a:solidFill>
                                          <a:schemeClr val="tx1">
                                            <a:lumMod val="75000"/>
                                            <a:lumOff val="25000"/>
                                          </a:schemeClr>
                                        </a:solidFill>
                                        <a:latin typeface="Cambria Math" panose="02040503050406030204" pitchFamily="18" charset="0"/>
                                      </a:rPr>
                                      <m:t>𝐰</m:t>
                                    </m:r>
                                  </m:e>
                                  <m:sub>
                                    <m:r>
                                      <a:rPr lang="en-US" altLang="ja-JP" sz="2400" b="0" i="1" smtClean="0">
                                        <a:solidFill>
                                          <a:schemeClr val="tx1">
                                            <a:lumMod val="75000"/>
                                            <a:lumOff val="25000"/>
                                          </a:schemeClr>
                                        </a:solidFill>
                                        <a:latin typeface="Cambria Math" panose="02040503050406030204" pitchFamily="18" charset="0"/>
                                      </a:rPr>
                                      <m:t>0</m:t>
                                    </m:r>
                                  </m:sub>
                                </m:sSub>
                              </m:e>
                            </m:eqArr>
                            <m:r>
                              <a:rPr lang="en-US" altLang="ja-JP" sz="2400" b="0" i="1" smtClean="0">
                                <a:solidFill>
                                  <a:schemeClr val="tx1">
                                    <a:lumMod val="75000"/>
                                    <a:lumOff val="25000"/>
                                  </a:schemeClr>
                                </a:solidFill>
                                <a:latin typeface="Cambria Math" panose="02040503050406030204" pitchFamily="18" charset="0"/>
                              </a:rPr>
                              <m:t>=</m:t>
                            </m:r>
                            <m:r>
                              <a:rPr lang="en-US" altLang="ja-JP" sz="2400" b="0" i="1" smtClean="0">
                                <a:solidFill>
                                  <a:schemeClr val="tx1">
                                    <a:lumMod val="75000"/>
                                    <a:lumOff val="25000"/>
                                  </a:schemeClr>
                                </a:solidFill>
                                <a:latin typeface="Cambria Math" panose="02040503050406030204" pitchFamily="18" charset="0"/>
                              </a:rPr>
                              <m:t>𝑟𝑎𝑛𝑑𝑜𝑚</m:t>
                            </m:r>
                            <m:r>
                              <a:rPr lang="en-US" altLang="ja-JP" sz="2400" b="0" i="1" smtClean="0">
                                <a:solidFill>
                                  <a:schemeClr val="tx1">
                                    <a:lumMod val="75000"/>
                                    <a:lumOff val="25000"/>
                                  </a:schemeClr>
                                </a:solidFill>
                                <a:latin typeface="Cambria Math" panose="02040503050406030204" pitchFamily="18" charset="0"/>
                              </a:rPr>
                              <m:t> </m:t>
                            </m:r>
                            <m:r>
                              <a:rPr lang="en-US" altLang="ja-JP" sz="2400" b="0" i="1" smtClean="0">
                                <a:solidFill>
                                  <a:schemeClr val="tx1">
                                    <a:lumMod val="75000"/>
                                    <a:lumOff val="25000"/>
                                  </a:schemeClr>
                                </a:solidFill>
                                <a:latin typeface="Cambria Math" panose="02040503050406030204" pitchFamily="18" charset="0"/>
                              </a:rPr>
                              <m:t>𝑝𝑎𝑟𝑎𝑚𝑒𝑡𝑒𝑟</m:t>
                            </m:r>
                            <m:r>
                              <a:rPr lang="en-US" altLang="ja-JP" sz="2400" i="1">
                                <a:solidFill>
                                  <a:schemeClr val="tx1">
                                    <a:lumMod val="75000"/>
                                    <a:lumOff val="25000"/>
                                  </a:schemeClr>
                                </a:solidFill>
                                <a:latin typeface="Cambria Math" panose="02040503050406030204" pitchFamily="18" charset="0"/>
                              </a:rPr>
                              <m:t>#</m:t>
                            </m:r>
                          </m:e>
                        </m:eqArr>
                      </m:oMath>
                    </m:oMathPara>
                  </a14:m>
                  <a:endParaRPr lang="ja-JP" altLang="en-US" sz="2400" dirty="0">
                    <a:solidFill>
                      <a:schemeClr val="tx1">
                        <a:lumMod val="75000"/>
                        <a:lumOff val="25000"/>
                      </a:schemeClr>
                    </a:solidFill>
                  </a:endParaRPr>
                </a:p>
              </p:txBody>
            </p:sp>
          </mc:Choice>
          <mc:Fallback xmlns="">
            <p:sp>
              <p:nvSpPr>
                <p:cNvPr id="8" name="正方形/長方形 7">
                  <a:extLst>
                    <a:ext uri="{FF2B5EF4-FFF2-40B4-BE49-F238E27FC236}">
                      <a16:creationId xmlns:a16="http://schemas.microsoft.com/office/drawing/2014/main" id="{DE4E4317-8CED-45DA-A61A-F9706378F3A3}"/>
                    </a:ext>
                  </a:extLst>
                </p:cNvPr>
                <p:cNvSpPr>
                  <a:spLocks noRot="1" noChangeAspect="1" noMove="1" noResize="1" noEditPoints="1" noAdjustHandles="1" noChangeArrowheads="1" noChangeShapeType="1" noTextEdit="1"/>
                </p:cNvSpPr>
                <p:nvPr/>
              </p:nvSpPr>
              <p:spPr>
                <a:xfrm>
                  <a:off x="1071918" y="2653303"/>
                  <a:ext cx="4148690" cy="475515"/>
                </a:xfrm>
                <a:prstGeom prst="rect">
                  <a:avLst/>
                </a:prstGeom>
                <a:blipFill>
                  <a:blip r:embed="rId15"/>
                  <a:stretch>
                    <a:fillRect b="-7692"/>
                  </a:stretch>
                </a:blipFill>
              </p:spPr>
              <p:txBody>
                <a:bodyPr/>
                <a:lstStyle/>
                <a:p>
                  <a:r>
                    <a:rPr lang="ja-JP" altLang="en-US">
                      <a:noFill/>
                    </a:rPr>
                    <a:t> </a:t>
                  </a:r>
                </a:p>
              </p:txBody>
            </p:sp>
          </mc:Fallback>
        </mc:AlternateContent>
        <p:sp>
          <p:nvSpPr>
            <p:cNvPr id="30" name="コンテンツ プレースホルダー 2">
              <a:extLst>
                <a:ext uri="{FF2B5EF4-FFF2-40B4-BE49-F238E27FC236}">
                  <a16:creationId xmlns:a16="http://schemas.microsoft.com/office/drawing/2014/main" id="{7E6B71D3-F26A-4A11-831D-EB3F02098B44}"/>
                </a:ext>
              </a:extLst>
            </p:cNvPr>
            <p:cNvSpPr txBox="1">
              <a:spLocks/>
            </p:cNvSpPr>
            <p:nvPr/>
          </p:nvSpPr>
          <p:spPr>
            <a:xfrm>
              <a:off x="547470" y="2631601"/>
              <a:ext cx="718017" cy="648113"/>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en-US" altLang="ja-JP" dirty="0"/>
                <a:t>1.</a:t>
              </a:r>
            </a:p>
          </p:txBody>
        </p:sp>
        <mc:AlternateContent xmlns:mc="http://schemas.openxmlformats.org/markup-compatibility/2006" xmlns:a14="http://schemas.microsoft.com/office/drawing/2010/main">
          <mc:Choice Requires="a14">
            <p:sp>
              <p:nvSpPr>
                <p:cNvPr id="45" name="正方形/長方形 44">
                  <a:extLst>
                    <a:ext uri="{FF2B5EF4-FFF2-40B4-BE49-F238E27FC236}">
                      <a16:creationId xmlns:a16="http://schemas.microsoft.com/office/drawing/2014/main" id="{E5BDE1AD-552E-4CD8-B2A6-C91F86CB28B8}"/>
                    </a:ext>
                  </a:extLst>
                </p:cNvPr>
                <p:cNvSpPr/>
                <p:nvPr/>
              </p:nvSpPr>
              <p:spPr>
                <a:xfrm>
                  <a:off x="1090198" y="3047765"/>
                  <a:ext cx="4148690" cy="475515"/>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eqArr>
                          <m:eqArrPr>
                            <m:ctrlPr>
                              <a:rPr lang="en-ZA" altLang="ja-JP" sz="2400" i="1" smtClean="0">
                                <a:solidFill>
                                  <a:schemeClr val="tx1">
                                    <a:lumMod val="75000"/>
                                    <a:lumOff val="25000"/>
                                  </a:schemeClr>
                                </a:solidFill>
                                <a:latin typeface="Cambria Math" panose="02040503050406030204" pitchFamily="18" charset="0"/>
                              </a:rPr>
                            </m:ctrlPr>
                          </m:eqArrPr>
                          <m:e>
                            <m:eqArr>
                              <m:eqArrPr>
                                <m:ctrlPr>
                                  <a:rPr lang="en-US" altLang="ja-JP" sz="2400" i="1">
                                    <a:solidFill>
                                      <a:schemeClr val="tx1">
                                        <a:lumMod val="75000"/>
                                        <a:lumOff val="25000"/>
                                      </a:schemeClr>
                                    </a:solidFill>
                                    <a:latin typeface="Cambria Math" panose="02040503050406030204" pitchFamily="18" charset="0"/>
                                  </a:rPr>
                                </m:ctrlPr>
                              </m:eqArrPr>
                              <m:e>
                                <m:r>
                                  <m:rPr>
                                    <m:sty m:val="p"/>
                                  </m:rPr>
                                  <a:rPr lang="el-GR" altLang="ja-JP" sz="2400" i="1" smtClean="0">
                                    <a:solidFill>
                                      <a:schemeClr val="tx1">
                                        <a:lumMod val="75000"/>
                                        <a:lumOff val="25000"/>
                                      </a:schemeClr>
                                    </a:solidFill>
                                    <a:latin typeface="Cambria Math" panose="02040503050406030204" pitchFamily="18" charset="0"/>
                                    <a:ea typeface="Cambria Math" panose="02040503050406030204" pitchFamily="18" charset="0"/>
                                  </a:rPr>
                                  <m:t>α</m:t>
                                </m:r>
                              </m:e>
                            </m:eqArr>
                            <m:r>
                              <a:rPr lang="en-US" altLang="ja-JP" sz="2400" b="0" i="1" smtClean="0">
                                <a:solidFill>
                                  <a:schemeClr val="tx1">
                                    <a:lumMod val="75000"/>
                                    <a:lumOff val="25000"/>
                                  </a:schemeClr>
                                </a:solidFill>
                                <a:latin typeface="Cambria Math" panose="02040503050406030204" pitchFamily="18" charset="0"/>
                              </a:rPr>
                              <m:t>=</m:t>
                            </m:r>
                            <m:r>
                              <a:rPr lang="en-US" altLang="ja-JP" sz="2400" b="0" i="1" smtClean="0">
                                <a:solidFill>
                                  <a:schemeClr val="tx1">
                                    <a:lumMod val="75000"/>
                                    <a:lumOff val="25000"/>
                                  </a:schemeClr>
                                </a:solidFill>
                                <a:latin typeface="Cambria Math" panose="02040503050406030204" pitchFamily="18" charset="0"/>
                              </a:rPr>
                              <m:t>𝑙𝑒𝑎𝑟𝑛𝑖𝑛𝑔</m:t>
                            </m:r>
                            <m:r>
                              <a:rPr lang="en-US" altLang="ja-JP" sz="2400" b="0" i="1" smtClean="0">
                                <a:solidFill>
                                  <a:schemeClr val="tx1">
                                    <a:lumMod val="75000"/>
                                    <a:lumOff val="25000"/>
                                  </a:schemeClr>
                                </a:solidFill>
                                <a:latin typeface="Cambria Math" panose="02040503050406030204" pitchFamily="18" charset="0"/>
                              </a:rPr>
                              <m:t> </m:t>
                            </m:r>
                            <m:r>
                              <a:rPr lang="en-US" altLang="ja-JP" sz="2400" b="0" i="1" smtClean="0">
                                <a:solidFill>
                                  <a:schemeClr val="tx1">
                                    <a:lumMod val="75000"/>
                                    <a:lumOff val="25000"/>
                                  </a:schemeClr>
                                </a:solidFill>
                                <a:latin typeface="Cambria Math" panose="02040503050406030204" pitchFamily="18" charset="0"/>
                              </a:rPr>
                              <m:t>𝑟𝑎𝑡𝑒</m:t>
                            </m:r>
                            <m:r>
                              <a:rPr lang="en-US" altLang="ja-JP" sz="2400" i="1">
                                <a:solidFill>
                                  <a:schemeClr val="tx1">
                                    <a:lumMod val="75000"/>
                                    <a:lumOff val="25000"/>
                                  </a:schemeClr>
                                </a:solidFill>
                                <a:latin typeface="Cambria Math" panose="02040503050406030204" pitchFamily="18" charset="0"/>
                              </a:rPr>
                              <m:t>#</m:t>
                            </m:r>
                          </m:e>
                        </m:eqArr>
                      </m:oMath>
                    </m:oMathPara>
                  </a14:m>
                  <a:endParaRPr lang="ja-JP" altLang="en-US" sz="2400" dirty="0">
                    <a:solidFill>
                      <a:schemeClr val="tx1">
                        <a:lumMod val="75000"/>
                        <a:lumOff val="25000"/>
                      </a:schemeClr>
                    </a:solidFill>
                  </a:endParaRPr>
                </a:p>
              </p:txBody>
            </p:sp>
          </mc:Choice>
          <mc:Fallback xmlns="">
            <p:sp>
              <p:nvSpPr>
                <p:cNvPr id="45" name="正方形/長方形 44">
                  <a:extLst>
                    <a:ext uri="{FF2B5EF4-FFF2-40B4-BE49-F238E27FC236}">
                      <a16:creationId xmlns:a16="http://schemas.microsoft.com/office/drawing/2014/main" id="{E5BDE1AD-552E-4CD8-B2A6-C91F86CB28B8}"/>
                    </a:ext>
                  </a:extLst>
                </p:cNvPr>
                <p:cNvSpPr>
                  <a:spLocks noRot="1" noChangeAspect="1" noMove="1" noResize="1" noEditPoints="1" noAdjustHandles="1" noChangeArrowheads="1" noChangeShapeType="1" noTextEdit="1"/>
                </p:cNvSpPr>
                <p:nvPr/>
              </p:nvSpPr>
              <p:spPr>
                <a:xfrm>
                  <a:off x="1090198" y="3047765"/>
                  <a:ext cx="4148690" cy="475515"/>
                </a:xfrm>
                <a:prstGeom prst="rect">
                  <a:avLst/>
                </a:prstGeom>
                <a:blipFill>
                  <a:blip r:embed="rId16"/>
                  <a:stretch>
                    <a:fillRect b="-10256"/>
                  </a:stretch>
                </a:blipFill>
              </p:spPr>
              <p:txBody>
                <a:bodyPr/>
                <a:lstStyle/>
                <a:p>
                  <a:r>
                    <a:rPr lang="ja-JP" altLang="en-US">
                      <a:noFill/>
                    </a:rPr>
                    <a:t> </a:t>
                  </a:r>
                </a:p>
              </p:txBody>
            </p:sp>
          </mc:Fallback>
        </mc:AlternateContent>
      </p:grpSp>
      <p:sp>
        <p:nvSpPr>
          <p:cNvPr id="53" name="左中かっこ 52">
            <a:extLst>
              <a:ext uri="{FF2B5EF4-FFF2-40B4-BE49-F238E27FC236}">
                <a16:creationId xmlns:a16="http://schemas.microsoft.com/office/drawing/2014/main" id="{EDAC471D-A654-469D-9D1E-9F25BC956235}"/>
              </a:ext>
            </a:extLst>
          </p:cNvPr>
          <p:cNvSpPr/>
          <p:nvPr/>
        </p:nvSpPr>
        <p:spPr>
          <a:xfrm>
            <a:off x="5638799" y="1690688"/>
            <a:ext cx="1000817" cy="4797945"/>
          </a:xfrm>
          <a:prstGeom prst="leftBrace">
            <a:avLst>
              <a:gd name="adj1" fmla="val 8333"/>
              <a:gd name="adj2" fmla="val 64039"/>
            </a:avLst>
          </a:prstGeom>
          <a:ln w="762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Tree>
    <p:extLst>
      <p:ext uri="{BB962C8B-B14F-4D97-AF65-F5344CB8AC3E}">
        <p14:creationId xmlns:p14="http://schemas.microsoft.com/office/powerpoint/2010/main" val="1434945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7F143C-FFC7-4AB3-82E6-343F2BFB6DDD}"/>
              </a:ext>
            </a:extLst>
          </p:cNvPr>
          <p:cNvSpPr>
            <a:spLocks noGrp="1"/>
          </p:cNvSpPr>
          <p:nvPr>
            <p:ph type="title"/>
          </p:nvPr>
        </p:nvSpPr>
        <p:spPr/>
        <p:txBody>
          <a:bodyPr/>
          <a:lstStyle/>
          <a:p>
            <a:r>
              <a:rPr kumimoji="1" lang="ja-JP" altLang="en-US" dirty="0"/>
              <a:t>実験</a:t>
            </a:r>
          </a:p>
        </p:txBody>
      </p:sp>
      <p:sp>
        <p:nvSpPr>
          <p:cNvPr id="4" name="スライド番号プレースホルダー 3">
            <a:extLst>
              <a:ext uri="{FF2B5EF4-FFF2-40B4-BE49-F238E27FC236}">
                <a16:creationId xmlns:a16="http://schemas.microsoft.com/office/drawing/2014/main" id="{7A9D3A2A-3389-4103-9CAB-1FE176EF9752}"/>
              </a:ext>
            </a:extLst>
          </p:cNvPr>
          <p:cNvSpPr>
            <a:spLocks noGrp="1"/>
          </p:cNvSpPr>
          <p:nvPr>
            <p:ph type="sldNum" sz="quarter" idx="12"/>
          </p:nvPr>
        </p:nvSpPr>
        <p:spPr/>
        <p:txBody>
          <a:bodyPr/>
          <a:lstStyle/>
          <a:p>
            <a:r>
              <a:rPr kumimoji="1" lang="en-US" altLang="ja-JP" dirty="0"/>
              <a:t>16</a:t>
            </a:r>
            <a:endParaRPr kumimoji="1" lang="ja-JP" altLang="en-US" dirty="0"/>
          </a:p>
        </p:txBody>
      </p:sp>
      <p:pic>
        <p:nvPicPr>
          <p:cNvPr id="14" name="図 13" descr="花が咲いている&#10;&#10;自動的に生成された説明">
            <a:extLst>
              <a:ext uri="{FF2B5EF4-FFF2-40B4-BE49-F238E27FC236}">
                <a16:creationId xmlns:a16="http://schemas.microsoft.com/office/drawing/2014/main" id="{152FB6BD-2DD7-4718-8531-E414748D65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9891" y="3053898"/>
            <a:ext cx="4640307" cy="1399826"/>
          </a:xfrm>
          <a:prstGeom prst="rect">
            <a:avLst/>
          </a:prstGeom>
        </p:spPr>
      </p:pic>
      <p:pic>
        <p:nvPicPr>
          <p:cNvPr id="13" name="図 12" descr="テーブル が含まれている画像&#10;&#10;自動的に生成された説明">
            <a:extLst>
              <a:ext uri="{FF2B5EF4-FFF2-40B4-BE49-F238E27FC236}">
                <a16:creationId xmlns:a16="http://schemas.microsoft.com/office/drawing/2014/main" id="{16A808FF-B1E7-4353-A72F-32DDB81E9B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67513" y="2453991"/>
            <a:ext cx="4586287" cy="2787290"/>
          </a:xfrm>
          <a:prstGeom prst="rect">
            <a:avLst/>
          </a:prstGeom>
        </p:spPr>
      </p:pic>
      <p:sp>
        <p:nvSpPr>
          <p:cNvPr id="16" name="四角形: 角を丸くする 15">
            <a:extLst>
              <a:ext uri="{FF2B5EF4-FFF2-40B4-BE49-F238E27FC236}">
                <a16:creationId xmlns:a16="http://schemas.microsoft.com/office/drawing/2014/main" id="{1B64DB94-A630-4ECF-A937-29DBFB547AC7}"/>
              </a:ext>
            </a:extLst>
          </p:cNvPr>
          <p:cNvSpPr/>
          <p:nvPr/>
        </p:nvSpPr>
        <p:spPr>
          <a:xfrm>
            <a:off x="476386" y="1828165"/>
            <a:ext cx="5227320" cy="4710747"/>
          </a:xfrm>
          <a:prstGeom prst="roundRect">
            <a:avLst/>
          </a:prstGeom>
          <a:noFill/>
          <a:ln w="571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四角形: 角を丸くする 16">
            <a:extLst>
              <a:ext uri="{FF2B5EF4-FFF2-40B4-BE49-F238E27FC236}">
                <a16:creationId xmlns:a16="http://schemas.microsoft.com/office/drawing/2014/main" id="{9629BA64-AE37-4425-9E63-888D77A0EED1}"/>
              </a:ext>
            </a:extLst>
          </p:cNvPr>
          <p:cNvSpPr/>
          <p:nvPr/>
        </p:nvSpPr>
        <p:spPr>
          <a:xfrm>
            <a:off x="6488296" y="1828165"/>
            <a:ext cx="5227320" cy="4710747"/>
          </a:xfrm>
          <a:prstGeom prst="roundRect">
            <a:avLst/>
          </a:prstGeom>
          <a:noFill/>
          <a:ln w="571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コンテンツ プレースホルダー 2">
            <a:extLst>
              <a:ext uri="{FF2B5EF4-FFF2-40B4-BE49-F238E27FC236}">
                <a16:creationId xmlns:a16="http://schemas.microsoft.com/office/drawing/2014/main" id="{9D73C6A2-1AED-427F-A420-BFDEDC1EFBC9}"/>
              </a:ext>
            </a:extLst>
          </p:cNvPr>
          <p:cNvSpPr>
            <a:spLocks noGrp="1"/>
          </p:cNvSpPr>
          <p:nvPr>
            <p:ph idx="1"/>
          </p:nvPr>
        </p:nvSpPr>
        <p:spPr>
          <a:xfrm>
            <a:off x="1077095" y="1475445"/>
            <a:ext cx="4025900" cy="567964"/>
          </a:xfrm>
          <a:solidFill>
            <a:srgbClr val="E4E4E4"/>
          </a:solidFill>
        </p:spPr>
        <p:txBody>
          <a:bodyPr>
            <a:normAutofit/>
          </a:bodyPr>
          <a:lstStyle/>
          <a:p>
            <a:pPr marL="0" indent="0" algn="ctr">
              <a:buNone/>
            </a:pPr>
            <a:r>
              <a:rPr lang="en-US" altLang="ja-JP" sz="3200" dirty="0"/>
              <a:t>Iris</a:t>
            </a:r>
            <a:r>
              <a:rPr lang="ja-JP" altLang="en-US" sz="3200" dirty="0"/>
              <a:t>データの分類問題</a:t>
            </a:r>
            <a:endParaRPr lang="en-US" altLang="ja-JP" sz="3200" dirty="0"/>
          </a:p>
        </p:txBody>
      </p:sp>
      <p:sp>
        <p:nvSpPr>
          <p:cNvPr id="22" name="コンテンツ プレースホルダー 2">
            <a:extLst>
              <a:ext uri="{FF2B5EF4-FFF2-40B4-BE49-F238E27FC236}">
                <a16:creationId xmlns:a16="http://schemas.microsoft.com/office/drawing/2014/main" id="{E9E09B0A-3E72-4DBA-BAB9-93838E543982}"/>
              </a:ext>
            </a:extLst>
          </p:cNvPr>
          <p:cNvSpPr txBox="1">
            <a:spLocks/>
          </p:cNvSpPr>
          <p:nvPr/>
        </p:nvSpPr>
        <p:spPr>
          <a:xfrm>
            <a:off x="7047706" y="1475445"/>
            <a:ext cx="4025900" cy="567964"/>
          </a:xfrm>
          <a:prstGeom prst="rect">
            <a:avLst/>
          </a:prstGeom>
          <a:solidFill>
            <a:srgbClr val="E4E4E4"/>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en-US" altLang="ja-JP" sz="3200" dirty="0"/>
              <a:t>MNSIT</a:t>
            </a:r>
            <a:r>
              <a:rPr lang="ja-JP" altLang="en-US" sz="3200" dirty="0"/>
              <a:t>の分類問題</a:t>
            </a:r>
            <a:endParaRPr lang="en-US" altLang="ja-JP" sz="3200" dirty="0"/>
          </a:p>
        </p:txBody>
      </p:sp>
      <p:sp>
        <p:nvSpPr>
          <p:cNvPr id="24" name="テキスト ボックス 23">
            <a:extLst>
              <a:ext uri="{FF2B5EF4-FFF2-40B4-BE49-F238E27FC236}">
                <a16:creationId xmlns:a16="http://schemas.microsoft.com/office/drawing/2014/main" id="{72AC7F32-5CA4-4F79-94D5-5B8F8BAE5BEA}"/>
              </a:ext>
            </a:extLst>
          </p:cNvPr>
          <p:cNvSpPr txBox="1"/>
          <p:nvPr/>
        </p:nvSpPr>
        <p:spPr>
          <a:xfrm>
            <a:off x="923491" y="5213745"/>
            <a:ext cx="4333105" cy="954107"/>
          </a:xfrm>
          <a:prstGeom prst="rect">
            <a:avLst/>
          </a:prstGeom>
          <a:noFill/>
        </p:spPr>
        <p:txBody>
          <a:bodyPr wrap="square">
            <a:spAutoFit/>
          </a:bodyPr>
          <a:lstStyle/>
          <a:p>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3</a:t>
            </a:r>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種類のアヤメの 花弁と萼に関する特徴量のデータ</a:t>
            </a:r>
            <a:endPar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p:sp>
        <p:nvSpPr>
          <p:cNvPr id="25" name="テキスト ボックス 24">
            <a:extLst>
              <a:ext uri="{FF2B5EF4-FFF2-40B4-BE49-F238E27FC236}">
                <a16:creationId xmlns:a16="http://schemas.microsoft.com/office/drawing/2014/main" id="{3B5035E8-9D5A-4A43-95A9-DDF89AC9D3E1}"/>
              </a:ext>
            </a:extLst>
          </p:cNvPr>
          <p:cNvSpPr txBox="1"/>
          <p:nvPr/>
        </p:nvSpPr>
        <p:spPr>
          <a:xfrm>
            <a:off x="6808812" y="5241281"/>
            <a:ext cx="4586287" cy="954107"/>
          </a:xfrm>
          <a:prstGeom prst="rect">
            <a:avLst/>
          </a:prstGeom>
          <a:noFill/>
        </p:spPr>
        <p:txBody>
          <a:bodyPr wrap="square">
            <a:spAutoFit/>
          </a:bodyPr>
          <a:lstStyle/>
          <a:p>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縦横</a:t>
            </a:r>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28</a:t>
            </a:r>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ピクセルのモノクロの手書き数字の画像データ</a:t>
            </a:r>
            <a:endPar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p:spTree>
    <p:extLst>
      <p:ext uri="{BB962C8B-B14F-4D97-AF65-F5344CB8AC3E}">
        <p14:creationId xmlns:p14="http://schemas.microsoft.com/office/powerpoint/2010/main" val="32422049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7F143C-FFC7-4AB3-82E6-343F2BFB6DDD}"/>
              </a:ext>
            </a:extLst>
          </p:cNvPr>
          <p:cNvSpPr>
            <a:spLocks noGrp="1"/>
          </p:cNvSpPr>
          <p:nvPr>
            <p:ph type="title"/>
          </p:nvPr>
        </p:nvSpPr>
        <p:spPr/>
        <p:txBody>
          <a:bodyPr/>
          <a:lstStyle/>
          <a:p>
            <a:r>
              <a:rPr kumimoji="1" lang="ja-JP" altLang="en-US" dirty="0"/>
              <a:t>実験１</a:t>
            </a:r>
          </a:p>
        </p:txBody>
      </p:sp>
      <p:sp>
        <p:nvSpPr>
          <p:cNvPr id="4" name="スライド番号プレースホルダー 3">
            <a:extLst>
              <a:ext uri="{FF2B5EF4-FFF2-40B4-BE49-F238E27FC236}">
                <a16:creationId xmlns:a16="http://schemas.microsoft.com/office/drawing/2014/main" id="{7A9D3A2A-3389-4103-9CAB-1FE176EF9752}"/>
              </a:ext>
            </a:extLst>
          </p:cNvPr>
          <p:cNvSpPr>
            <a:spLocks noGrp="1"/>
          </p:cNvSpPr>
          <p:nvPr>
            <p:ph type="sldNum" sz="quarter" idx="12"/>
          </p:nvPr>
        </p:nvSpPr>
        <p:spPr/>
        <p:txBody>
          <a:bodyPr/>
          <a:lstStyle/>
          <a:p>
            <a:r>
              <a:rPr kumimoji="1" lang="en-US" altLang="ja-JP" dirty="0"/>
              <a:t>17</a:t>
            </a:r>
            <a:endParaRPr kumimoji="1" lang="ja-JP" altLang="en-US" dirty="0"/>
          </a:p>
        </p:txBody>
      </p:sp>
      <p:pic>
        <p:nvPicPr>
          <p:cNvPr id="14" name="図 13" descr="花が咲いている&#10;&#10;自動的に生成された説明">
            <a:extLst>
              <a:ext uri="{FF2B5EF4-FFF2-40B4-BE49-F238E27FC236}">
                <a16:creationId xmlns:a16="http://schemas.microsoft.com/office/drawing/2014/main" id="{152FB6BD-2DD7-4718-8531-E414748D65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9891" y="3053898"/>
            <a:ext cx="4640307" cy="1399826"/>
          </a:xfrm>
          <a:prstGeom prst="rect">
            <a:avLst/>
          </a:prstGeom>
        </p:spPr>
      </p:pic>
      <p:sp>
        <p:nvSpPr>
          <p:cNvPr id="16" name="四角形: 角を丸くする 15">
            <a:extLst>
              <a:ext uri="{FF2B5EF4-FFF2-40B4-BE49-F238E27FC236}">
                <a16:creationId xmlns:a16="http://schemas.microsoft.com/office/drawing/2014/main" id="{1B64DB94-A630-4ECF-A937-29DBFB547AC7}"/>
              </a:ext>
            </a:extLst>
          </p:cNvPr>
          <p:cNvSpPr/>
          <p:nvPr/>
        </p:nvSpPr>
        <p:spPr>
          <a:xfrm>
            <a:off x="476386" y="1828165"/>
            <a:ext cx="5227320" cy="4710747"/>
          </a:xfrm>
          <a:prstGeom prst="roundRect">
            <a:avLst/>
          </a:prstGeom>
          <a:noFill/>
          <a:ln w="571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コンテンツ プレースホルダー 2">
            <a:extLst>
              <a:ext uri="{FF2B5EF4-FFF2-40B4-BE49-F238E27FC236}">
                <a16:creationId xmlns:a16="http://schemas.microsoft.com/office/drawing/2014/main" id="{9D73C6A2-1AED-427F-A420-BFDEDC1EFBC9}"/>
              </a:ext>
            </a:extLst>
          </p:cNvPr>
          <p:cNvSpPr>
            <a:spLocks noGrp="1"/>
          </p:cNvSpPr>
          <p:nvPr>
            <p:ph idx="1"/>
          </p:nvPr>
        </p:nvSpPr>
        <p:spPr>
          <a:xfrm>
            <a:off x="1077095" y="1475445"/>
            <a:ext cx="4025900" cy="567964"/>
          </a:xfrm>
          <a:solidFill>
            <a:srgbClr val="E4E4E4"/>
          </a:solidFill>
        </p:spPr>
        <p:txBody>
          <a:bodyPr>
            <a:normAutofit/>
          </a:bodyPr>
          <a:lstStyle/>
          <a:p>
            <a:pPr marL="0" indent="0" algn="ctr">
              <a:buNone/>
            </a:pPr>
            <a:r>
              <a:rPr lang="en-US" altLang="ja-JP" sz="3200" dirty="0"/>
              <a:t>Iris</a:t>
            </a:r>
            <a:r>
              <a:rPr lang="ja-JP" altLang="en-US" sz="3200" dirty="0"/>
              <a:t>データの分類問題</a:t>
            </a:r>
            <a:endParaRPr lang="en-US" altLang="ja-JP" sz="3200" dirty="0"/>
          </a:p>
        </p:txBody>
      </p:sp>
      <p:sp>
        <p:nvSpPr>
          <p:cNvPr id="10" name="テキスト ボックス 9">
            <a:extLst>
              <a:ext uri="{FF2B5EF4-FFF2-40B4-BE49-F238E27FC236}">
                <a16:creationId xmlns:a16="http://schemas.microsoft.com/office/drawing/2014/main" id="{E558DE02-F734-4D86-80EB-5FBE576E2D59}"/>
              </a:ext>
            </a:extLst>
          </p:cNvPr>
          <p:cNvSpPr txBox="1"/>
          <p:nvPr/>
        </p:nvSpPr>
        <p:spPr>
          <a:xfrm>
            <a:off x="6589713" y="1828165"/>
            <a:ext cx="3048000" cy="1384995"/>
          </a:xfrm>
          <a:prstGeom prst="rect">
            <a:avLst/>
          </a:prstGeom>
          <a:noFill/>
        </p:spPr>
        <p:txBody>
          <a:bodyPr wrap="square">
            <a:spAutoFit/>
          </a:bodyPr>
          <a:lstStyle/>
          <a:p>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サンプル数 ：</a:t>
            </a:r>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150</a:t>
            </a:r>
          </a:p>
          <a:p>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学習データ ：</a:t>
            </a:r>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120</a:t>
            </a:r>
          </a:p>
          <a:p>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テストデータ</a:t>
            </a:r>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 30</a:t>
            </a:r>
          </a:p>
        </p:txBody>
      </p:sp>
      <p:sp>
        <p:nvSpPr>
          <p:cNvPr id="24" name="テキスト ボックス 23">
            <a:extLst>
              <a:ext uri="{FF2B5EF4-FFF2-40B4-BE49-F238E27FC236}">
                <a16:creationId xmlns:a16="http://schemas.microsoft.com/office/drawing/2014/main" id="{63EAA0FC-E6F0-47EA-A32C-63B9F88CB2CD}"/>
              </a:ext>
            </a:extLst>
          </p:cNvPr>
          <p:cNvSpPr txBox="1"/>
          <p:nvPr/>
        </p:nvSpPr>
        <p:spPr>
          <a:xfrm>
            <a:off x="923491" y="5213745"/>
            <a:ext cx="4333105" cy="954107"/>
          </a:xfrm>
          <a:prstGeom prst="rect">
            <a:avLst/>
          </a:prstGeom>
          <a:noFill/>
        </p:spPr>
        <p:txBody>
          <a:bodyPr wrap="square">
            <a:spAutoFit/>
          </a:bodyPr>
          <a:lstStyle/>
          <a:p>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3</a:t>
            </a:r>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種類のアヤメの 花弁と萼に関する特徴量のデータ</a:t>
            </a:r>
            <a:endPar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p:grpSp>
        <p:nvGrpSpPr>
          <p:cNvPr id="26" name="グループ化 25">
            <a:extLst>
              <a:ext uri="{FF2B5EF4-FFF2-40B4-BE49-F238E27FC236}">
                <a16:creationId xmlns:a16="http://schemas.microsoft.com/office/drawing/2014/main" id="{08F53782-2FE1-46F3-AAC4-99F26CD33347}"/>
              </a:ext>
            </a:extLst>
          </p:cNvPr>
          <p:cNvGrpSpPr/>
          <p:nvPr/>
        </p:nvGrpSpPr>
        <p:grpSpPr>
          <a:xfrm>
            <a:off x="6589713" y="3644841"/>
            <a:ext cx="4902200" cy="2616654"/>
            <a:chOff x="6466114" y="3781992"/>
            <a:chExt cx="4902200" cy="2616654"/>
          </a:xfrm>
        </p:grpSpPr>
        <p:sp>
          <p:nvSpPr>
            <p:cNvPr id="27" name="四角形: 角を丸くする 26">
              <a:extLst>
                <a:ext uri="{FF2B5EF4-FFF2-40B4-BE49-F238E27FC236}">
                  <a16:creationId xmlns:a16="http://schemas.microsoft.com/office/drawing/2014/main" id="{80FF8E07-9172-4850-98BE-895E3B7025E1}"/>
                </a:ext>
              </a:extLst>
            </p:cNvPr>
            <p:cNvSpPr/>
            <p:nvPr/>
          </p:nvSpPr>
          <p:spPr>
            <a:xfrm>
              <a:off x="6466114" y="4265046"/>
              <a:ext cx="1231900" cy="2133600"/>
            </a:xfrm>
            <a:prstGeom prst="round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latin typeface="UD デジタル 教科書体 NK-R" panose="02020400000000000000" pitchFamily="18" charset="-128"/>
                  <a:ea typeface="UD デジタル 教科書体 NK-R" panose="02020400000000000000" pitchFamily="18" charset="-128"/>
                </a:rPr>
                <a:t>入力</a:t>
              </a:r>
              <a:endParaRPr kumimoji="1" lang="en-US" altLang="ja-JP" dirty="0">
                <a:latin typeface="UD デジタル 教科書体 NK-R" panose="02020400000000000000" pitchFamily="18" charset="-128"/>
                <a:ea typeface="UD デジタル 教科書体 NK-R" panose="02020400000000000000" pitchFamily="18" charset="-128"/>
              </a:endParaRPr>
            </a:p>
            <a:p>
              <a:pPr algn="ctr"/>
              <a:r>
                <a:rPr lang="en-US" altLang="ja-JP" dirty="0">
                  <a:latin typeface="UD デジタル 教科書体 NK-R" panose="02020400000000000000" pitchFamily="18" charset="-128"/>
                  <a:ea typeface="UD デジタル 教科書体 NK-R" panose="02020400000000000000" pitchFamily="18" charset="-128"/>
                </a:rPr>
                <a:t>4</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sp>
          <p:nvSpPr>
            <p:cNvPr id="28" name="四角形: 角を丸くする 27">
              <a:extLst>
                <a:ext uri="{FF2B5EF4-FFF2-40B4-BE49-F238E27FC236}">
                  <a16:creationId xmlns:a16="http://schemas.microsoft.com/office/drawing/2014/main" id="{336AE9C1-71D9-4FC8-A5BE-8B6B8BF381B5}"/>
                </a:ext>
              </a:extLst>
            </p:cNvPr>
            <p:cNvSpPr/>
            <p:nvPr/>
          </p:nvSpPr>
          <p:spPr>
            <a:xfrm>
              <a:off x="8301264" y="4265046"/>
              <a:ext cx="1231900" cy="2133600"/>
            </a:xfrm>
            <a:prstGeom prst="round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latin typeface="UD デジタル 教科書体 NK-R" panose="02020400000000000000" pitchFamily="18" charset="-128"/>
                  <a:ea typeface="UD デジタル 教科書体 NK-R" panose="02020400000000000000" pitchFamily="18" charset="-128"/>
                </a:rPr>
                <a:t>全結合</a:t>
              </a:r>
              <a:endParaRPr kumimoji="1" lang="en-US" altLang="ja-JP" dirty="0">
                <a:latin typeface="UD デジタル 教科書体 NK-R" panose="02020400000000000000" pitchFamily="18" charset="-128"/>
                <a:ea typeface="UD デジタル 教科書体 NK-R" panose="02020400000000000000" pitchFamily="18" charset="-128"/>
              </a:endParaRPr>
            </a:p>
            <a:p>
              <a:pPr algn="ctr"/>
              <a:r>
                <a:rPr lang="en-US" altLang="ja-JP" dirty="0">
                  <a:latin typeface="UD デジタル 教科書体 NK-R" panose="02020400000000000000" pitchFamily="18" charset="-128"/>
                  <a:ea typeface="UD デジタル 教科書体 NK-R" panose="02020400000000000000" pitchFamily="18" charset="-128"/>
                </a:rPr>
                <a:t>10</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sp>
          <p:nvSpPr>
            <p:cNvPr id="29" name="四角形: 角を丸くする 28">
              <a:extLst>
                <a:ext uri="{FF2B5EF4-FFF2-40B4-BE49-F238E27FC236}">
                  <a16:creationId xmlns:a16="http://schemas.microsoft.com/office/drawing/2014/main" id="{E7DC941C-646E-4161-8401-E97395E71516}"/>
                </a:ext>
              </a:extLst>
            </p:cNvPr>
            <p:cNvSpPr/>
            <p:nvPr/>
          </p:nvSpPr>
          <p:spPr>
            <a:xfrm>
              <a:off x="10136414" y="4265046"/>
              <a:ext cx="1231900" cy="2133600"/>
            </a:xfrm>
            <a:prstGeom prst="round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latin typeface="UD デジタル 教科書体 NK-R" panose="02020400000000000000" pitchFamily="18" charset="-128"/>
                  <a:ea typeface="UD デジタル 教科書体 NK-R" panose="02020400000000000000" pitchFamily="18" charset="-128"/>
                </a:rPr>
                <a:t>全結合</a:t>
              </a:r>
              <a:endParaRPr kumimoji="1" lang="en-US" altLang="ja-JP" dirty="0">
                <a:latin typeface="UD デジタル 教科書体 NK-R" panose="02020400000000000000" pitchFamily="18" charset="-128"/>
                <a:ea typeface="UD デジタル 教科書体 NK-R" panose="02020400000000000000" pitchFamily="18" charset="-128"/>
              </a:endParaRPr>
            </a:p>
            <a:p>
              <a:pPr algn="ctr"/>
              <a:r>
                <a:rPr lang="en-US" altLang="ja-JP" dirty="0">
                  <a:latin typeface="UD デジタル 教科書体 NK-R" panose="02020400000000000000" pitchFamily="18" charset="-128"/>
                  <a:ea typeface="UD デジタル 教科書体 NK-R" panose="02020400000000000000" pitchFamily="18" charset="-128"/>
                </a:rPr>
                <a:t>(</a:t>
              </a:r>
              <a:r>
                <a:rPr lang="ja-JP" altLang="en-US" dirty="0">
                  <a:latin typeface="UD デジタル 教科書体 NK-R" panose="02020400000000000000" pitchFamily="18" charset="-128"/>
                  <a:ea typeface="UD デジタル 教科書体 NK-R" panose="02020400000000000000" pitchFamily="18" charset="-128"/>
                </a:rPr>
                <a:t>出力</a:t>
              </a:r>
              <a:r>
                <a:rPr lang="en-US" altLang="ja-JP" dirty="0">
                  <a:latin typeface="UD デジタル 教科書体 NK-R" panose="02020400000000000000" pitchFamily="18" charset="-128"/>
                  <a:ea typeface="UD デジタル 教科書体 NK-R" panose="02020400000000000000" pitchFamily="18" charset="-128"/>
                </a:rPr>
                <a:t>)</a:t>
              </a:r>
              <a:endParaRPr kumimoji="1" lang="en-US" altLang="ja-JP" dirty="0">
                <a:latin typeface="UD デジタル 教科書体 NK-R" panose="02020400000000000000" pitchFamily="18" charset="-128"/>
                <a:ea typeface="UD デジタル 教科書体 NK-R" panose="02020400000000000000" pitchFamily="18" charset="-128"/>
              </a:endParaRPr>
            </a:p>
            <a:p>
              <a:pPr algn="ctr"/>
              <a:r>
                <a:rPr lang="ja-JP" altLang="en-US" dirty="0">
                  <a:latin typeface="UD デジタル 教科書体 NK-R" panose="02020400000000000000" pitchFamily="18" charset="-128"/>
                  <a:ea typeface="UD デジタル 教科書体 NK-R" panose="02020400000000000000" pitchFamily="18" charset="-128"/>
                </a:rPr>
                <a:t>３</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cxnSp>
          <p:nvCxnSpPr>
            <p:cNvPr id="30" name="直線矢印コネクタ 29">
              <a:extLst>
                <a:ext uri="{FF2B5EF4-FFF2-40B4-BE49-F238E27FC236}">
                  <a16:creationId xmlns:a16="http://schemas.microsoft.com/office/drawing/2014/main" id="{3FDCF2F6-ADE6-4EB6-A26D-05D5FCFCAC61}"/>
                </a:ext>
              </a:extLst>
            </p:cNvPr>
            <p:cNvCxnSpPr>
              <a:cxnSpLocks/>
              <a:endCxn id="28" idx="1"/>
            </p:cNvCxnSpPr>
            <p:nvPr/>
          </p:nvCxnSpPr>
          <p:spPr>
            <a:xfrm flipV="1">
              <a:off x="7698014" y="5331846"/>
              <a:ext cx="603250" cy="19050"/>
            </a:xfrm>
            <a:prstGeom prst="straightConnector1">
              <a:avLst/>
            </a:prstGeom>
            <a:ln w="762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矢印コネクタ 30">
              <a:extLst>
                <a:ext uri="{FF2B5EF4-FFF2-40B4-BE49-F238E27FC236}">
                  <a16:creationId xmlns:a16="http://schemas.microsoft.com/office/drawing/2014/main" id="{A1C8712F-D948-498B-9A3D-8DC099BB5F3B}"/>
                </a:ext>
              </a:extLst>
            </p:cNvPr>
            <p:cNvCxnSpPr>
              <a:cxnSpLocks/>
              <a:stCxn id="28" idx="3"/>
              <a:endCxn id="29" idx="1"/>
            </p:cNvCxnSpPr>
            <p:nvPr/>
          </p:nvCxnSpPr>
          <p:spPr>
            <a:xfrm>
              <a:off x="9533164" y="5331846"/>
              <a:ext cx="603250" cy="0"/>
            </a:xfrm>
            <a:prstGeom prst="straightConnector1">
              <a:avLst/>
            </a:prstGeom>
            <a:ln w="762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2" name="タイトル 1">
              <a:extLst>
                <a:ext uri="{FF2B5EF4-FFF2-40B4-BE49-F238E27FC236}">
                  <a16:creationId xmlns:a16="http://schemas.microsoft.com/office/drawing/2014/main" id="{1FAC44AC-80EE-4E9B-802C-125C82C9E54D}"/>
                </a:ext>
              </a:extLst>
            </p:cNvPr>
            <p:cNvSpPr txBox="1">
              <a:spLocks/>
            </p:cNvSpPr>
            <p:nvPr/>
          </p:nvSpPr>
          <p:spPr>
            <a:xfrm>
              <a:off x="7688488" y="3781992"/>
              <a:ext cx="2457451" cy="445294"/>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kumimoji="1" sz="4400" kern="1200">
                  <a:solidFill>
                    <a:schemeClr val="tx1"/>
                  </a:solidFill>
                  <a:latin typeface="UD デジタル 教科書体 NK-R" panose="02020400000000000000" pitchFamily="18" charset="-128"/>
                  <a:ea typeface="UD デジタル 教科書体 NK-R" panose="02020400000000000000" pitchFamily="18" charset="-128"/>
                  <a:cs typeface="+mj-cs"/>
                </a:defRPr>
              </a:lvl1pPr>
            </a:lstStyle>
            <a:p>
              <a:pPr algn="ctr"/>
              <a:r>
                <a:rPr lang="ja-JP" altLang="en-US" sz="3200" dirty="0">
                  <a:solidFill>
                    <a:schemeClr val="tx1">
                      <a:lumMod val="75000"/>
                      <a:lumOff val="25000"/>
                    </a:schemeClr>
                  </a:solidFill>
                </a:rPr>
                <a:t>ネットワーク</a:t>
              </a:r>
            </a:p>
          </p:txBody>
        </p:sp>
      </p:grpSp>
    </p:spTree>
    <p:extLst>
      <p:ext uri="{BB962C8B-B14F-4D97-AF65-F5344CB8AC3E}">
        <p14:creationId xmlns:p14="http://schemas.microsoft.com/office/powerpoint/2010/main" val="42485406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7F143C-FFC7-4AB3-82E6-343F2BFB6DDD}"/>
              </a:ext>
            </a:extLst>
          </p:cNvPr>
          <p:cNvSpPr>
            <a:spLocks noGrp="1"/>
          </p:cNvSpPr>
          <p:nvPr>
            <p:ph type="title"/>
          </p:nvPr>
        </p:nvSpPr>
        <p:spPr/>
        <p:txBody>
          <a:bodyPr/>
          <a:lstStyle/>
          <a:p>
            <a:r>
              <a:rPr kumimoji="1" lang="ja-JP" altLang="en-US" dirty="0"/>
              <a:t>実験</a:t>
            </a:r>
            <a:r>
              <a:rPr kumimoji="1" lang="en-US" altLang="ja-JP" dirty="0"/>
              <a:t>1</a:t>
            </a:r>
            <a:r>
              <a:rPr lang="en-US" altLang="ja-JP" dirty="0"/>
              <a:t>.</a:t>
            </a:r>
            <a:r>
              <a:rPr kumimoji="1" lang="ja-JP" altLang="en-US" dirty="0"/>
              <a:t>１：近似回数を変更し比較</a:t>
            </a:r>
          </a:p>
        </p:txBody>
      </p:sp>
      <p:sp>
        <p:nvSpPr>
          <p:cNvPr id="4" name="スライド番号プレースホルダー 3">
            <a:extLst>
              <a:ext uri="{FF2B5EF4-FFF2-40B4-BE49-F238E27FC236}">
                <a16:creationId xmlns:a16="http://schemas.microsoft.com/office/drawing/2014/main" id="{7A9D3A2A-3389-4103-9CAB-1FE176EF9752}"/>
              </a:ext>
            </a:extLst>
          </p:cNvPr>
          <p:cNvSpPr>
            <a:spLocks noGrp="1"/>
          </p:cNvSpPr>
          <p:nvPr>
            <p:ph type="sldNum" sz="quarter" idx="12"/>
          </p:nvPr>
        </p:nvSpPr>
        <p:spPr/>
        <p:txBody>
          <a:bodyPr/>
          <a:lstStyle/>
          <a:p>
            <a:r>
              <a:rPr kumimoji="1" lang="en-US" altLang="ja-JP" dirty="0"/>
              <a:t>18</a:t>
            </a:r>
            <a:endParaRPr kumimoji="1" lang="ja-JP" altLang="en-US" dirty="0"/>
          </a:p>
        </p:txBody>
      </p:sp>
      <p:pic>
        <p:nvPicPr>
          <p:cNvPr id="14" name="図 13" descr="花が咲いている&#10;&#10;自動的に生成された説明">
            <a:extLst>
              <a:ext uri="{FF2B5EF4-FFF2-40B4-BE49-F238E27FC236}">
                <a16:creationId xmlns:a16="http://schemas.microsoft.com/office/drawing/2014/main" id="{152FB6BD-2DD7-4718-8531-E414748D65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9891" y="3053898"/>
            <a:ext cx="4640307" cy="1399826"/>
          </a:xfrm>
          <a:prstGeom prst="rect">
            <a:avLst/>
          </a:prstGeom>
        </p:spPr>
      </p:pic>
      <p:sp>
        <p:nvSpPr>
          <p:cNvPr id="16" name="四角形: 角を丸くする 15">
            <a:extLst>
              <a:ext uri="{FF2B5EF4-FFF2-40B4-BE49-F238E27FC236}">
                <a16:creationId xmlns:a16="http://schemas.microsoft.com/office/drawing/2014/main" id="{1B64DB94-A630-4ECF-A937-29DBFB547AC7}"/>
              </a:ext>
            </a:extLst>
          </p:cNvPr>
          <p:cNvSpPr/>
          <p:nvPr/>
        </p:nvSpPr>
        <p:spPr>
          <a:xfrm>
            <a:off x="476386" y="1828165"/>
            <a:ext cx="5227320" cy="4710747"/>
          </a:xfrm>
          <a:prstGeom prst="roundRect">
            <a:avLst/>
          </a:prstGeom>
          <a:noFill/>
          <a:ln w="571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コンテンツ プレースホルダー 2">
            <a:extLst>
              <a:ext uri="{FF2B5EF4-FFF2-40B4-BE49-F238E27FC236}">
                <a16:creationId xmlns:a16="http://schemas.microsoft.com/office/drawing/2014/main" id="{9D73C6A2-1AED-427F-A420-BFDEDC1EFBC9}"/>
              </a:ext>
            </a:extLst>
          </p:cNvPr>
          <p:cNvSpPr>
            <a:spLocks noGrp="1"/>
          </p:cNvSpPr>
          <p:nvPr>
            <p:ph idx="1"/>
          </p:nvPr>
        </p:nvSpPr>
        <p:spPr>
          <a:xfrm>
            <a:off x="1077095" y="1475445"/>
            <a:ext cx="4025900" cy="567964"/>
          </a:xfrm>
          <a:solidFill>
            <a:srgbClr val="E4E4E4"/>
          </a:solidFill>
        </p:spPr>
        <p:txBody>
          <a:bodyPr>
            <a:normAutofit/>
          </a:bodyPr>
          <a:lstStyle/>
          <a:p>
            <a:pPr marL="0" indent="0" algn="ctr">
              <a:buNone/>
            </a:pPr>
            <a:r>
              <a:rPr lang="en-US" altLang="ja-JP" sz="3200" dirty="0"/>
              <a:t>Iris</a:t>
            </a:r>
            <a:r>
              <a:rPr lang="ja-JP" altLang="en-US" sz="3200" dirty="0"/>
              <a:t>データの分類問題</a:t>
            </a:r>
            <a:endParaRPr lang="en-US" altLang="ja-JP" sz="3200" dirty="0"/>
          </a:p>
        </p:txBody>
      </p:sp>
      <p:sp>
        <p:nvSpPr>
          <p:cNvPr id="10" name="テキスト ボックス 9">
            <a:extLst>
              <a:ext uri="{FF2B5EF4-FFF2-40B4-BE49-F238E27FC236}">
                <a16:creationId xmlns:a16="http://schemas.microsoft.com/office/drawing/2014/main" id="{E558DE02-F734-4D86-80EB-5FBE576E2D59}"/>
              </a:ext>
            </a:extLst>
          </p:cNvPr>
          <p:cNvSpPr txBox="1"/>
          <p:nvPr/>
        </p:nvSpPr>
        <p:spPr>
          <a:xfrm>
            <a:off x="6304415" y="1759427"/>
            <a:ext cx="5227319" cy="3108543"/>
          </a:xfrm>
          <a:prstGeom prst="rect">
            <a:avLst/>
          </a:prstGeom>
          <a:noFill/>
        </p:spPr>
        <p:txBody>
          <a:bodyPr wrap="square">
            <a:spAutoFit/>
          </a:bodyPr>
          <a:lstStyle/>
          <a:p>
            <a:pPr algn="ctr"/>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実験条件</a:t>
            </a:r>
            <a:endPar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pPr algn="ctr"/>
            <a:endPar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Epoch : 100</a:t>
            </a:r>
          </a:p>
          <a:p>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Batch size : 32</a:t>
            </a:r>
          </a:p>
          <a:p>
            <a:endPar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提案手法の学習率 </a:t>
            </a:r>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 0.05</a:t>
            </a:r>
          </a:p>
          <a:p>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比較する近似回数：</a:t>
            </a:r>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1, 3, 5, 10</a:t>
            </a:r>
          </a:p>
        </p:txBody>
      </p:sp>
      <p:sp>
        <p:nvSpPr>
          <p:cNvPr id="24" name="テキスト ボックス 23">
            <a:extLst>
              <a:ext uri="{FF2B5EF4-FFF2-40B4-BE49-F238E27FC236}">
                <a16:creationId xmlns:a16="http://schemas.microsoft.com/office/drawing/2014/main" id="{63EAA0FC-E6F0-47EA-A32C-63B9F88CB2CD}"/>
              </a:ext>
            </a:extLst>
          </p:cNvPr>
          <p:cNvSpPr txBox="1"/>
          <p:nvPr/>
        </p:nvSpPr>
        <p:spPr>
          <a:xfrm>
            <a:off x="923491" y="5213745"/>
            <a:ext cx="4333105" cy="954107"/>
          </a:xfrm>
          <a:prstGeom prst="rect">
            <a:avLst/>
          </a:prstGeom>
          <a:noFill/>
        </p:spPr>
        <p:txBody>
          <a:bodyPr wrap="square">
            <a:spAutoFit/>
          </a:bodyPr>
          <a:lstStyle/>
          <a:p>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3</a:t>
            </a:r>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種類のアヤメの 花弁と萼に関する特徴量のデータ</a:t>
            </a:r>
            <a:endPar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p:spTree>
    <p:extLst>
      <p:ext uri="{BB962C8B-B14F-4D97-AF65-F5344CB8AC3E}">
        <p14:creationId xmlns:p14="http://schemas.microsoft.com/office/powerpoint/2010/main" val="9644181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タイトル 1">
            <a:extLst>
              <a:ext uri="{FF2B5EF4-FFF2-40B4-BE49-F238E27FC236}">
                <a16:creationId xmlns:a16="http://schemas.microsoft.com/office/drawing/2014/main" id="{6EF33510-F039-4968-BC7B-DAE75F4E9011}"/>
              </a:ext>
            </a:extLst>
          </p:cNvPr>
          <p:cNvSpPr>
            <a:spLocks noGrp="1"/>
          </p:cNvSpPr>
          <p:nvPr>
            <p:ph type="title"/>
          </p:nvPr>
        </p:nvSpPr>
        <p:spPr>
          <a:xfrm>
            <a:off x="838200" y="365125"/>
            <a:ext cx="10515600" cy="1325563"/>
          </a:xfrm>
        </p:spPr>
        <p:txBody>
          <a:bodyPr/>
          <a:lstStyle/>
          <a:p>
            <a:r>
              <a:rPr kumimoji="1" lang="ja-JP" altLang="en-US" dirty="0"/>
              <a:t>実験</a:t>
            </a:r>
            <a:r>
              <a:rPr lang="ja-JP" altLang="en-US" dirty="0"/>
              <a:t>結果</a:t>
            </a:r>
            <a:endParaRPr kumimoji="1" lang="ja-JP" altLang="en-US" dirty="0"/>
          </a:p>
        </p:txBody>
      </p:sp>
      <p:sp>
        <p:nvSpPr>
          <p:cNvPr id="10" name="スライド番号プレースホルダー 9">
            <a:extLst>
              <a:ext uri="{FF2B5EF4-FFF2-40B4-BE49-F238E27FC236}">
                <a16:creationId xmlns:a16="http://schemas.microsoft.com/office/drawing/2014/main" id="{DA4A2B7D-4893-4334-9B93-0DB5990315FF}"/>
              </a:ext>
            </a:extLst>
          </p:cNvPr>
          <p:cNvSpPr>
            <a:spLocks noGrp="1"/>
          </p:cNvSpPr>
          <p:nvPr>
            <p:ph type="sldNum" sz="quarter" idx="12"/>
          </p:nvPr>
        </p:nvSpPr>
        <p:spPr/>
        <p:txBody>
          <a:bodyPr/>
          <a:lstStyle/>
          <a:p>
            <a:r>
              <a:rPr kumimoji="1" lang="en-US" altLang="ja-JP" dirty="0"/>
              <a:t>19</a:t>
            </a:r>
            <a:endParaRPr kumimoji="1" lang="ja-JP" altLang="en-US" dirty="0"/>
          </a:p>
        </p:txBody>
      </p:sp>
      <p:grpSp>
        <p:nvGrpSpPr>
          <p:cNvPr id="14" name="グループ化 13">
            <a:extLst>
              <a:ext uri="{FF2B5EF4-FFF2-40B4-BE49-F238E27FC236}">
                <a16:creationId xmlns:a16="http://schemas.microsoft.com/office/drawing/2014/main" id="{23FDBA6B-82B8-4CEE-9C9D-6038CE57F262}"/>
              </a:ext>
            </a:extLst>
          </p:cNvPr>
          <p:cNvGrpSpPr/>
          <p:nvPr/>
        </p:nvGrpSpPr>
        <p:grpSpPr>
          <a:xfrm>
            <a:off x="520911" y="1690688"/>
            <a:ext cx="5449169" cy="3469141"/>
            <a:chOff x="1069552" y="1912675"/>
            <a:chExt cx="4230064" cy="2693014"/>
          </a:xfrm>
        </p:grpSpPr>
        <p:sp>
          <p:nvSpPr>
            <p:cNvPr id="12" name="正方形/長方形 11">
              <a:extLst>
                <a:ext uri="{FF2B5EF4-FFF2-40B4-BE49-F238E27FC236}">
                  <a16:creationId xmlns:a16="http://schemas.microsoft.com/office/drawing/2014/main" id="{2DBB6A86-E38A-44E7-94A4-34CA561DDB7D}"/>
                </a:ext>
              </a:extLst>
            </p:cNvPr>
            <p:cNvSpPr/>
            <p:nvPr/>
          </p:nvSpPr>
          <p:spPr>
            <a:xfrm>
              <a:off x="1069552" y="1912675"/>
              <a:ext cx="4230064" cy="26930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 name="図 3" descr="グラフィカル ユーザー インターフェイス が含まれている画像&#10;&#10;自動的に生成された説明">
              <a:extLst>
                <a:ext uri="{FF2B5EF4-FFF2-40B4-BE49-F238E27FC236}">
                  <a16:creationId xmlns:a16="http://schemas.microsoft.com/office/drawing/2014/main" id="{468C06DA-52F8-4506-B487-AFD76E8E75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9552" y="1912675"/>
              <a:ext cx="4230064" cy="2693014"/>
            </a:xfrm>
            <a:prstGeom prst="rect">
              <a:avLst/>
            </a:prstGeom>
          </p:spPr>
        </p:pic>
      </p:grpSp>
      <p:grpSp>
        <p:nvGrpSpPr>
          <p:cNvPr id="15" name="グループ化 14">
            <a:extLst>
              <a:ext uri="{FF2B5EF4-FFF2-40B4-BE49-F238E27FC236}">
                <a16:creationId xmlns:a16="http://schemas.microsoft.com/office/drawing/2014/main" id="{15EAD933-D6E5-49E6-8F34-19E3E10204A5}"/>
              </a:ext>
            </a:extLst>
          </p:cNvPr>
          <p:cNvGrpSpPr/>
          <p:nvPr/>
        </p:nvGrpSpPr>
        <p:grpSpPr>
          <a:xfrm>
            <a:off x="6287369" y="1690687"/>
            <a:ext cx="5400078" cy="3469141"/>
            <a:chOff x="6638718" y="1996150"/>
            <a:chExt cx="4191956" cy="2693014"/>
          </a:xfrm>
        </p:grpSpPr>
        <p:sp>
          <p:nvSpPr>
            <p:cNvPr id="13" name="正方形/長方形 12">
              <a:extLst>
                <a:ext uri="{FF2B5EF4-FFF2-40B4-BE49-F238E27FC236}">
                  <a16:creationId xmlns:a16="http://schemas.microsoft.com/office/drawing/2014/main" id="{68A54DA7-6E59-4DBB-AFD8-C9B1D51FFDC5}"/>
                </a:ext>
              </a:extLst>
            </p:cNvPr>
            <p:cNvSpPr/>
            <p:nvPr/>
          </p:nvSpPr>
          <p:spPr>
            <a:xfrm>
              <a:off x="6638718" y="1996150"/>
              <a:ext cx="4191956" cy="26930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 name="図 6" descr="グラフ&#10;&#10;自動的に生成された説明">
              <a:extLst>
                <a:ext uri="{FF2B5EF4-FFF2-40B4-BE49-F238E27FC236}">
                  <a16:creationId xmlns:a16="http://schemas.microsoft.com/office/drawing/2014/main" id="{41CB49B4-3FA1-460F-AE62-7B392CC570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38719" y="1996150"/>
              <a:ext cx="4191955" cy="2693014"/>
            </a:xfrm>
            <a:prstGeom prst="rect">
              <a:avLst/>
            </a:prstGeom>
          </p:spPr>
        </p:pic>
      </p:grpSp>
      <p:sp>
        <p:nvSpPr>
          <p:cNvPr id="16" name="コンテンツ プレースホルダー 2">
            <a:extLst>
              <a:ext uri="{FF2B5EF4-FFF2-40B4-BE49-F238E27FC236}">
                <a16:creationId xmlns:a16="http://schemas.microsoft.com/office/drawing/2014/main" id="{E72A9ED9-5C2B-4720-A09E-DC40AA8A3273}"/>
              </a:ext>
            </a:extLst>
          </p:cNvPr>
          <p:cNvSpPr txBox="1">
            <a:spLocks/>
          </p:cNvSpPr>
          <p:nvPr/>
        </p:nvSpPr>
        <p:spPr>
          <a:xfrm>
            <a:off x="748357" y="5405609"/>
            <a:ext cx="4994275" cy="5114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None/>
            </a:pPr>
            <a:r>
              <a:rPr lang="en-US" altLang="ja-JP" dirty="0"/>
              <a:t>Train</a:t>
            </a:r>
            <a:r>
              <a:rPr lang="ja-JP" altLang="en-US" dirty="0"/>
              <a:t>　</a:t>
            </a:r>
            <a:r>
              <a:rPr lang="en-US" altLang="ja-JP" dirty="0"/>
              <a:t>loss</a:t>
            </a:r>
          </a:p>
        </p:txBody>
      </p:sp>
      <p:sp>
        <p:nvSpPr>
          <p:cNvPr id="17" name="コンテンツ プレースホルダー 2">
            <a:extLst>
              <a:ext uri="{FF2B5EF4-FFF2-40B4-BE49-F238E27FC236}">
                <a16:creationId xmlns:a16="http://schemas.microsoft.com/office/drawing/2014/main" id="{092E6823-FA27-4FE1-890A-B10ACEDBDD4D}"/>
              </a:ext>
            </a:extLst>
          </p:cNvPr>
          <p:cNvSpPr txBox="1">
            <a:spLocks/>
          </p:cNvSpPr>
          <p:nvPr/>
        </p:nvSpPr>
        <p:spPr>
          <a:xfrm>
            <a:off x="6490270" y="5405609"/>
            <a:ext cx="4994275" cy="5114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None/>
            </a:pPr>
            <a:r>
              <a:rPr lang="en-US" altLang="ja-JP" dirty="0"/>
              <a:t>Test</a:t>
            </a:r>
            <a:r>
              <a:rPr lang="ja-JP" altLang="en-US" dirty="0"/>
              <a:t>　</a:t>
            </a:r>
            <a:r>
              <a:rPr lang="en-US" altLang="ja-JP" dirty="0"/>
              <a:t>accuracy</a:t>
            </a:r>
          </a:p>
        </p:txBody>
      </p:sp>
    </p:spTree>
    <p:extLst>
      <p:ext uri="{BB962C8B-B14F-4D97-AF65-F5344CB8AC3E}">
        <p14:creationId xmlns:p14="http://schemas.microsoft.com/office/powerpoint/2010/main" val="18769502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7F143C-FFC7-4AB3-82E6-343F2BFB6DDD}"/>
              </a:ext>
            </a:extLst>
          </p:cNvPr>
          <p:cNvSpPr>
            <a:spLocks noGrp="1"/>
          </p:cNvSpPr>
          <p:nvPr>
            <p:ph type="title"/>
          </p:nvPr>
        </p:nvSpPr>
        <p:spPr/>
        <p:txBody>
          <a:bodyPr/>
          <a:lstStyle/>
          <a:p>
            <a:r>
              <a:rPr kumimoji="1" lang="ja-JP" altLang="en-US" dirty="0"/>
              <a:t>実験</a:t>
            </a:r>
            <a:r>
              <a:rPr kumimoji="1" lang="en-US" altLang="ja-JP" dirty="0"/>
              <a:t>1.</a:t>
            </a:r>
            <a:r>
              <a:rPr kumimoji="1" lang="ja-JP" altLang="en-US" dirty="0"/>
              <a:t>２：学習率を変更し比較</a:t>
            </a:r>
          </a:p>
        </p:txBody>
      </p:sp>
      <p:sp>
        <p:nvSpPr>
          <p:cNvPr id="4" name="スライド番号プレースホルダー 3">
            <a:extLst>
              <a:ext uri="{FF2B5EF4-FFF2-40B4-BE49-F238E27FC236}">
                <a16:creationId xmlns:a16="http://schemas.microsoft.com/office/drawing/2014/main" id="{7A9D3A2A-3389-4103-9CAB-1FE176EF9752}"/>
              </a:ext>
            </a:extLst>
          </p:cNvPr>
          <p:cNvSpPr>
            <a:spLocks noGrp="1"/>
          </p:cNvSpPr>
          <p:nvPr>
            <p:ph type="sldNum" sz="quarter" idx="12"/>
          </p:nvPr>
        </p:nvSpPr>
        <p:spPr/>
        <p:txBody>
          <a:bodyPr/>
          <a:lstStyle/>
          <a:p>
            <a:r>
              <a:rPr kumimoji="1" lang="en-US" altLang="ja-JP" dirty="0"/>
              <a:t>20</a:t>
            </a:r>
            <a:endParaRPr kumimoji="1" lang="ja-JP" altLang="en-US" dirty="0"/>
          </a:p>
        </p:txBody>
      </p:sp>
      <p:pic>
        <p:nvPicPr>
          <p:cNvPr id="14" name="図 13" descr="花が咲いている&#10;&#10;自動的に生成された説明">
            <a:extLst>
              <a:ext uri="{FF2B5EF4-FFF2-40B4-BE49-F238E27FC236}">
                <a16:creationId xmlns:a16="http://schemas.microsoft.com/office/drawing/2014/main" id="{152FB6BD-2DD7-4718-8531-E414748D65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9891" y="3053898"/>
            <a:ext cx="4640307" cy="1399826"/>
          </a:xfrm>
          <a:prstGeom prst="rect">
            <a:avLst/>
          </a:prstGeom>
        </p:spPr>
      </p:pic>
      <p:sp>
        <p:nvSpPr>
          <p:cNvPr id="16" name="四角形: 角を丸くする 15">
            <a:extLst>
              <a:ext uri="{FF2B5EF4-FFF2-40B4-BE49-F238E27FC236}">
                <a16:creationId xmlns:a16="http://schemas.microsoft.com/office/drawing/2014/main" id="{1B64DB94-A630-4ECF-A937-29DBFB547AC7}"/>
              </a:ext>
            </a:extLst>
          </p:cNvPr>
          <p:cNvSpPr/>
          <p:nvPr/>
        </p:nvSpPr>
        <p:spPr>
          <a:xfrm>
            <a:off x="476386" y="1828165"/>
            <a:ext cx="5227320" cy="4710747"/>
          </a:xfrm>
          <a:prstGeom prst="roundRect">
            <a:avLst/>
          </a:prstGeom>
          <a:noFill/>
          <a:ln w="571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コンテンツ プレースホルダー 2">
            <a:extLst>
              <a:ext uri="{FF2B5EF4-FFF2-40B4-BE49-F238E27FC236}">
                <a16:creationId xmlns:a16="http://schemas.microsoft.com/office/drawing/2014/main" id="{9D73C6A2-1AED-427F-A420-BFDEDC1EFBC9}"/>
              </a:ext>
            </a:extLst>
          </p:cNvPr>
          <p:cNvSpPr>
            <a:spLocks noGrp="1"/>
          </p:cNvSpPr>
          <p:nvPr>
            <p:ph idx="1"/>
          </p:nvPr>
        </p:nvSpPr>
        <p:spPr>
          <a:xfrm>
            <a:off x="1077095" y="1475445"/>
            <a:ext cx="4025900" cy="567964"/>
          </a:xfrm>
          <a:solidFill>
            <a:srgbClr val="E4E4E4"/>
          </a:solidFill>
        </p:spPr>
        <p:txBody>
          <a:bodyPr>
            <a:normAutofit/>
          </a:bodyPr>
          <a:lstStyle/>
          <a:p>
            <a:pPr marL="0" indent="0" algn="ctr">
              <a:buNone/>
            </a:pPr>
            <a:r>
              <a:rPr lang="en-US" altLang="ja-JP" sz="3200" dirty="0"/>
              <a:t>Iris</a:t>
            </a:r>
            <a:r>
              <a:rPr lang="ja-JP" altLang="en-US" sz="3200" dirty="0"/>
              <a:t>データの分類問題</a:t>
            </a:r>
            <a:endParaRPr lang="en-US" altLang="ja-JP" sz="3200" dirty="0"/>
          </a:p>
        </p:txBody>
      </p:sp>
      <p:sp>
        <p:nvSpPr>
          <p:cNvPr id="10" name="テキスト ボックス 9">
            <a:extLst>
              <a:ext uri="{FF2B5EF4-FFF2-40B4-BE49-F238E27FC236}">
                <a16:creationId xmlns:a16="http://schemas.microsoft.com/office/drawing/2014/main" id="{E558DE02-F734-4D86-80EB-5FBE576E2D59}"/>
              </a:ext>
            </a:extLst>
          </p:cNvPr>
          <p:cNvSpPr txBox="1"/>
          <p:nvPr/>
        </p:nvSpPr>
        <p:spPr>
          <a:xfrm>
            <a:off x="6096000" y="1690688"/>
            <a:ext cx="6059488" cy="3108543"/>
          </a:xfrm>
          <a:prstGeom prst="rect">
            <a:avLst/>
          </a:prstGeom>
          <a:noFill/>
        </p:spPr>
        <p:txBody>
          <a:bodyPr wrap="square">
            <a:spAutoFit/>
          </a:bodyPr>
          <a:lstStyle/>
          <a:p>
            <a:pPr algn="ctr"/>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実験条件</a:t>
            </a:r>
            <a:endPar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endPar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Epoch : 100</a:t>
            </a:r>
          </a:p>
          <a:p>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Batch size : 32</a:t>
            </a:r>
          </a:p>
          <a:p>
            <a:endPar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Hutchinson</a:t>
            </a:r>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近似の近似回数</a:t>
            </a:r>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 3</a:t>
            </a:r>
          </a:p>
          <a:p>
            <a:r>
              <a:rPr lang="ja-JP" altLang="en-US" sz="2800" spc="-1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比較する学習率：</a:t>
            </a:r>
            <a:r>
              <a:rPr lang="en-US" altLang="ja-JP" sz="2800" spc="-1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0.5, 0.1, 0.05, 0.01</a:t>
            </a:r>
          </a:p>
        </p:txBody>
      </p:sp>
      <p:sp>
        <p:nvSpPr>
          <p:cNvPr id="24" name="テキスト ボックス 23">
            <a:extLst>
              <a:ext uri="{FF2B5EF4-FFF2-40B4-BE49-F238E27FC236}">
                <a16:creationId xmlns:a16="http://schemas.microsoft.com/office/drawing/2014/main" id="{63EAA0FC-E6F0-47EA-A32C-63B9F88CB2CD}"/>
              </a:ext>
            </a:extLst>
          </p:cNvPr>
          <p:cNvSpPr txBox="1"/>
          <p:nvPr/>
        </p:nvSpPr>
        <p:spPr>
          <a:xfrm>
            <a:off x="923491" y="5213745"/>
            <a:ext cx="4333105" cy="954107"/>
          </a:xfrm>
          <a:prstGeom prst="rect">
            <a:avLst/>
          </a:prstGeom>
          <a:noFill/>
        </p:spPr>
        <p:txBody>
          <a:bodyPr wrap="square">
            <a:spAutoFit/>
          </a:bodyPr>
          <a:lstStyle/>
          <a:p>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3</a:t>
            </a:r>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種類のアヤメの 花弁と萼に関する特徴量のデータ</a:t>
            </a:r>
            <a:endPar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p:spTree>
    <p:extLst>
      <p:ext uri="{BB962C8B-B14F-4D97-AF65-F5344CB8AC3E}">
        <p14:creationId xmlns:p14="http://schemas.microsoft.com/office/powerpoint/2010/main" val="42743388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タイトル 1">
            <a:extLst>
              <a:ext uri="{FF2B5EF4-FFF2-40B4-BE49-F238E27FC236}">
                <a16:creationId xmlns:a16="http://schemas.microsoft.com/office/drawing/2014/main" id="{6EF33510-F039-4968-BC7B-DAE75F4E9011}"/>
              </a:ext>
            </a:extLst>
          </p:cNvPr>
          <p:cNvSpPr>
            <a:spLocks noGrp="1"/>
          </p:cNvSpPr>
          <p:nvPr>
            <p:ph type="title"/>
          </p:nvPr>
        </p:nvSpPr>
        <p:spPr>
          <a:xfrm>
            <a:off x="838200" y="365125"/>
            <a:ext cx="10515600" cy="1325563"/>
          </a:xfrm>
        </p:spPr>
        <p:txBody>
          <a:bodyPr/>
          <a:lstStyle/>
          <a:p>
            <a:r>
              <a:rPr kumimoji="1" lang="ja-JP" altLang="en-US" dirty="0"/>
              <a:t>実験</a:t>
            </a:r>
            <a:r>
              <a:rPr lang="ja-JP" altLang="en-US" dirty="0"/>
              <a:t>結果</a:t>
            </a:r>
            <a:endParaRPr kumimoji="1" lang="ja-JP" altLang="en-US" dirty="0"/>
          </a:p>
        </p:txBody>
      </p:sp>
      <p:sp>
        <p:nvSpPr>
          <p:cNvPr id="10" name="スライド番号プレースホルダー 9">
            <a:extLst>
              <a:ext uri="{FF2B5EF4-FFF2-40B4-BE49-F238E27FC236}">
                <a16:creationId xmlns:a16="http://schemas.microsoft.com/office/drawing/2014/main" id="{DA4A2B7D-4893-4334-9B93-0DB5990315FF}"/>
              </a:ext>
            </a:extLst>
          </p:cNvPr>
          <p:cNvSpPr>
            <a:spLocks noGrp="1"/>
          </p:cNvSpPr>
          <p:nvPr>
            <p:ph type="sldNum" sz="quarter" idx="12"/>
          </p:nvPr>
        </p:nvSpPr>
        <p:spPr/>
        <p:txBody>
          <a:bodyPr/>
          <a:lstStyle/>
          <a:p>
            <a:r>
              <a:rPr kumimoji="1" lang="en-US" altLang="ja-JP" dirty="0"/>
              <a:t>21</a:t>
            </a:r>
            <a:endParaRPr kumimoji="1" lang="ja-JP" altLang="en-US" dirty="0"/>
          </a:p>
        </p:txBody>
      </p:sp>
      <p:sp>
        <p:nvSpPr>
          <p:cNvPr id="12" name="正方形/長方形 11">
            <a:extLst>
              <a:ext uri="{FF2B5EF4-FFF2-40B4-BE49-F238E27FC236}">
                <a16:creationId xmlns:a16="http://schemas.microsoft.com/office/drawing/2014/main" id="{45DFA73C-595F-4312-B9F7-F7C86706E631}"/>
              </a:ext>
            </a:extLst>
          </p:cNvPr>
          <p:cNvSpPr/>
          <p:nvPr/>
        </p:nvSpPr>
        <p:spPr>
          <a:xfrm>
            <a:off x="378245" y="1694429"/>
            <a:ext cx="5553961" cy="34691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AF0E334C-45C3-4447-AF44-109F357637B6}"/>
              </a:ext>
            </a:extLst>
          </p:cNvPr>
          <p:cNvSpPr/>
          <p:nvPr/>
        </p:nvSpPr>
        <p:spPr>
          <a:xfrm>
            <a:off x="6284412" y="1690688"/>
            <a:ext cx="5553961" cy="34691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コンテンツ プレースホルダー 2">
            <a:extLst>
              <a:ext uri="{FF2B5EF4-FFF2-40B4-BE49-F238E27FC236}">
                <a16:creationId xmlns:a16="http://schemas.microsoft.com/office/drawing/2014/main" id="{1112C2B0-A56E-4C68-B57B-6DD3B6601E7D}"/>
              </a:ext>
            </a:extLst>
          </p:cNvPr>
          <p:cNvSpPr txBox="1">
            <a:spLocks/>
          </p:cNvSpPr>
          <p:nvPr/>
        </p:nvSpPr>
        <p:spPr>
          <a:xfrm>
            <a:off x="748357" y="5405609"/>
            <a:ext cx="4994275" cy="5114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None/>
            </a:pPr>
            <a:r>
              <a:rPr lang="en-US" altLang="ja-JP" dirty="0"/>
              <a:t>Train</a:t>
            </a:r>
            <a:r>
              <a:rPr lang="ja-JP" altLang="en-US" dirty="0"/>
              <a:t>　</a:t>
            </a:r>
            <a:r>
              <a:rPr lang="en-US" altLang="ja-JP" dirty="0"/>
              <a:t>loss</a:t>
            </a:r>
          </a:p>
        </p:txBody>
      </p:sp>
      <p:sp>
        <p:nvSpPr>
          <p:cNvPr id="20" name="コンテンツ プレースホルダー 2">
            <a:extLst>
              <a:ext uri="{FF2B5EF4-FFF2-40B4-BE49-F238E27FC236}">
                <a16:creationId xmlns:a16="http://schemas.microsoft.com/office/drawing/2014/main" id="{1F3D1E9E-9D3C-41F9-8D65-2493FAB6E92D}"/>
              </a:ext>
            </a:extLst>
          </p:cNvPr>
          <p:cNvSpPr txBox="1">
            <a:spLocks/>
          </p:cNvSpPr>
          <p:nvPr/>
        </p:nvSpPr>
        <p:spPr>
          <a:xfrm>
            <a:off x="6490270" y="5405609"/>
            <a:ext cx="4994275" cy="5114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None/>
            </a:pPr>
            <a:r>
              <a:rPr lang="en-US" altLang="ja-JP" dirty="0"/>
              <a:t>Test</a:t>
            </a:r>
            <a:r>
              <a:rPr lang="ja-JP" altLang="en-US" dirty="0"/>
              <a:t>　</a:t>
            </a:r>
            <a:r>
              <a:rPr lang="en-US" altLang="ja-JP" dirty="0"/>
              <a:t>accuracy</a:t>
            </a:r>
          </a:p>
        </p:txBody>
      </p:sp>
      <p:pic>
        <p:nvPicPr>
          <p:cNvPr id="3" name="図 2" descr="アプリケーション が含まれている画像&#10;&#10;自動的に生成された説明">
            <a:extLst>
              <a:ext uri="{FF2B5EF4-FFF2-40B4-BE49-F238E27FC236}">
                <a16:creationId xmlns:a16="http://schemas.microsoft.com/office/drawing/2014/main" id="{0C39B235-D2CA-4426-8378-9F5AE4A56A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8244" y="1699885"/>
            <a:ext cx="5553961" cy="3469141"/>
          </a:xfrm>
          <a:prstGeom prst="rect">
            <a:avLst/>
          </a:prstGeom>
        </p:spPr>
      </p:pic>
      <p:pic>
        <p:nvPicPr>
          <p:cNvPr id="6" name="図 5" descr="ダイアグラム&#10;&#10;自動的に生成された説明">
            <a:extLst>
              <a:ext uri="{FF2B5EF4-FFF2-40B4-BE49-F238E27FC236}">
                <a16:creationId xmlns:a16="http://schemas.microsoft.com/office/drawing/2014/main" id="{D5CFB82A-300F-4C47-B8EF-C52F0BFE3B8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84411" y="1690688"/>
            <a:ext cx="5515798" cy="3476624"/>
          </a:xfrm>
          <a:prstGeom prst="rect">
            <a:avLst/>
          </a:prstGeom>
        </p:spPr>
      </p:pic>
    </p:spTree>
    <p:extLst>
      <p:ext uri="{BB962C8B-B14F-4D97-AF65-F5344CB8AC3E}">
        <p14:creationId xmlns:p14="http://schemas.microsoft.com/office/powerpoint/2010/main" val="21831596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7F143C-FFC7-4AB3-82E6-343F2BFB6DDD}"/>
              </a:ext>
            </a:extLst>
          </p:cNvPr>
          <p:cNvSpPr>
            <a:spLocks noGrp="1"/>
          </p:cNvSpPr>
          <p:nvPr>
            <p:ph type="title"/>
          </p:nvPr>
        </p:nvSpPr>
        <p:spPr/>
        <p:txBody>
          <a:bodyPr/>
          <a:lstStyle/>
          <a:p>
            <a:r>
              <a:rPr kumimoji="1" lang="ja-JP" altLang="en-US" dirty="0"/>
              <a:t>実験</a:t>
            </a:r>
            <a:r>
              <a:rPr kumimoji="1" lang="en-US" altLang="ja-JP" dirty="0"/>
              <a:t>1.3</a:t>
            </a:r>
            <a:r>
              <a:rPr kumimoji="1" lang="ja-JP" altLang="en-US" dirty="0"/>
              <a:t>：</a:t>
            </a:r>
            <a:r>
              <a:rPr lang="ja-JP" altLang="en-US" dirty="0"/>
              <a:t>他の手法と</a:t>
            </a:r>
            <a:r>
              <a:rPr kumimoji="1" lang="ja-JP" altLang="en-US" dirty="0"/>
              <a:t>比較</a:t>
            </a:r>
          </a:p>
        </p:txBody>
      </p:sp>
      <p:sp>
        <p:nvSpPr>
          <p:cNvPr id="4" name="スライド番号プレースホルダー 3">
            <a:extLst>
              <a:ext uri="{FF2B5EF4-FFF2-40B4-BE49-F238E27FC236}">
                <a16:creationId xmlns:a16="http://schemas.microsoft.com/office/drawing/2014/main" id="{7A9D3A2A-3389-4103-9CAB-1FE176EF9752}"/>
              </a:ext>
            </a:extLst>
          </p:cNvPr>
          <p:cNvSpPr>
            <a:spLocks noGrp="1"/>
          </p:cNvSpPr>
          <p:nvPr>
            <p:ph type="sldNum" sz="quarter" idx="12"/>
          </p:nvPr>
        </p:nvSpPr>
        <p:spPr/>
        <p:txBody>
          <a:bodyPr/>
          <a:lstStyle/>
          <a:p>
            <a:r>
              <a:rPr kumimoji="1" lang="en-US" altLang="ja-JP" dirty="0"/>
              <a:t>22</a:t>
            </a:r>
            <a:endParaRPr kumimoji="1" lang="ja-JP" altLang="en-US" dirty="0"/>
          </a:p>
        </p:txBody>
      </p:sp>
      <p:pic>
        <p:nvPicPr>
          <p:cNvPr id="14" name="図 13" descr="花が咲いている&#10;&#10;自動的に生成された説明">
            <a:extLst>
              <a:ext uri="{FF2B5EF4-FFF2-40B4-BE49-F238E27FC236}">
                <a16:creationId xmlns:a16="http://schemas.microsoft.com/office/drawing/2014/main" id="{152FB6BD-2DD7-4718-8531-E414748D65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9891" y="3053898"/>
            <a:ext cx="4640307" cy="1399826"/>
          </a:xfrm>
          <a:prstGeom prst="rect">
            <a:avLst/>
          </a:prstGeom>
        </p:spPr>
      </p:pic>
      <p:sp>
        <p:nvSpPr>
          <p:cNvPr id="16" name="四角形: 角を丸くする 15">
            <a:extLst>
              <a:ext uri="{FF2B5EF4-FFF2-40B4-BE49-F238E27FC236}">
                <a16:creationId xmlns:a16="http://schemas.microsoft.com/office/drawing/2014/main" id="{1B64DB94-A630-4ECF-A937-29DBFB547AC7}"/>
              </a:ext>
            </a:extLst>
          </p:cNvPr>
          <p:cNvSpPr/>
          <p:nvPr/>
        </p:nvSpPr>
        <p:spPr>
          <a:xfrm>
            <a:off x="476386" y="1828165"/>
            <a:ext cx="5227320" cy="4710747"/>
          </a:xfrm>
          <a:prstGeom prst="roundRect">
            <a:avLst/>
          </a:prstGeom>
          <a:noFill/>
          <a:ln w="571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コンテンツ プレースホルダー 2">
            <a:extLst>
              <a:ext uri="{FF2B5EF4-FFF2-40B4-BE49-F238E27FC236}">
                <a16:creationId xmlns:a16="http://schemas.microsoft.com/office/drawing/2014/main" id="{9D73C6A2-1AED-427F-A420-BFDEDC1EFBC9}"/>
              </a:ext>
            </a:extLst>
          </p:cNvPr>
          <p:cNvSpPr>
            <a:spLocks noGrp="1"/>
          </p:cNvSpPr>
          <p:nvPr>
            <p:ph idx="1"/>
          </p:nvPr>
        </p:nvSpPr>
        <p:spPr>
          <a:xfrm>
            <a:off x="1077095" y="1475445"/>
            <a:ext cx="4025900" cy="567964"/>
          </a:xfrm>
          <a:solidFill>
            <a:srgbClr val="E4E4E4"/>
          </a:solidFill>
        </p:spPr>
        <p:txBody>
          <a:bodyPr>
            <a:normAutofit/>
          </a:bodyPr>
          <a:lstStyle/>
          <a:p>
            <a:pPr marL="0" indent="0" algn="ctr">
              <a:buNone/>
            </a:pPr>
            <a:r>
              <a:rPr lang="en-US" altLang="ja-JP" sz="3200" dirty="0"/>
              <a:t>Iris</a:t>
            </a:r>
            <a:r>
              <a:rPr lang="ja-JP" altLang="en-US" sz="3200" dirty="0"/>
              <a:t>データの分類問題</a:t>
            </a:r>
            <a:endParaRPr lang="en-US" altLang="ja-JP" sz="3200" dirty="0"/>
          </a:p>
        </p:txBody>
      </p:sp>
      <p:sp>
        <p:nvSpPr>
          <p:cNvPr id="10" name="テキスト ボックス 9">
            <a:extLst>
              <a:ext uri="{FF2B5EF4-FFF2-40B4-BE49-F238E27FC236}">
                <a16:creationId xmlns:a16="http://schemas.microsoft.com/office/drawing/2014/main" id="{E558DE02-F734-4D86-80EB-5FBE576E2D59}"/>
              </a:ext>
            </a:extLst>
          </p:cNvPr>
          <p:cNvSpPr txBox="1"/>
          <p:nvPr/>
        </p:nvSpPr>
        <p:spPr>
          <a:xfrm>
            <a:off x="6304415" y="1690688"/>
            <a:ext cx="6059488" cy="4401205"/>
          </a:xfrm>
          <a:prstGeom prst="rect">
            <a:avLst/>
          </a:prstGeom>
          <a:noFill/>
        </p:spPr>
        <p:txBody>
          <a:bodyPr wrap="square">
            <a:spAutoFit/>
          </a:bodyPr>
          <a:lstStyle/>
          <a:p>
            <a:pPr algn="ctr"/>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実験条件</a:t>
            </a:r>
            <a:endPar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endPar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Epoch : 100</a:t>
            </a:r>
          </a:p>
          <a:p>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Batch size : 32</a:t>
            </a:r>
          </a:p>
          <a:p>
            <a:endPar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提案手法の学習率 </a:t>
            </a:r>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 0.1</a:t>
            </a:r>
          </a:p>
          <a:p>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Hutchinson</a:t>
            </a:r>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近似の近似回数：</a:t>
            </a:r>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3</a:t>
            </a:r>
          </a:p>
          <a:p>
            <a:endPar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Adam</a:t>
            </a:r>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の学習率 ：</a:t>
            </a:r>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0.001</a:t>
            </a:r>
          </a:p>
          <a:p>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SGD</a:t>
            </a:r>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の学習率 ：</a:t>
            </a:r>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0.01</a:t>
            </a:r>
          </a:p>
        </p:txBody>
      </p:sp>
      <p:sp>
        <p:nvSpPr>
          <p:cNvPr id="24" name="テキスト ボックス 23">
            <a:extLst>
              <a:ext uri="{FF2B5EF4-FFF2-40B4-BE49-F238E27FC236}">
                <a16:creationId xmlns:a16="http://schemas.microsoft.com/office/drawing/2014/main" id="{63EAA0FC-E6F0-47EA-A32C-63B9F88CB2CD}"/>
              </a:ext>
            </a:extLst>
          </p:cNvPr>
          <p:cNvSpPr txBox="1"/>
          <p:nvPr/>
        </p:nvSpPr>
        <p:spPr>
          <a:xfrm>
            <a:off x="923491" y="5213745"/>
            <a:ext cx="4333105" cy="954107"/>
          </a:xfrm>
          <a:prstGeom prst="rect">
            <a:avLst/>
          </a:prstGeom>
          <a:noFill/>
        </p:spPr>
        <p:txBody>
          <a:bodyPr wrap="square">
            <a:spAutoFit/>
          </a:bodyPr>
          <a:lstStyle/>
          <a:p>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3</a:t>
            </a:r>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種類のアヤメの 花弁と萼に関する特徴量のデータ</a:t>
            </a:r>
            <a:endPar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p:spTree>
    <p:extLst>
      <p:ext uri="{BB962C8B-B14F-4D97-AF65-F5344CB8AC3E}">
        <p14:creationId xmlns:p14="http://schemas.microsoft.com/office/powerpoint/2010/main" val="31276328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5EE8C398-72A5-4B0B-A0FE-3D0FAE251953}"/>
              </a:ext>
            </a:extLst>
          </p:cNvPr>
          <p:cNvSpPr/>
          <p:nvPr/>
        </p:nvSpPr>
        <p:spPr>
          <a:xfrm>
            <a:off x="139075" y="1804023"/>
            <a:ext cx="5795775" cy="35666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0C1B63FA-585D-4337-906F-F1257D5E2C2F}"/>
              </a:ext>
            </a:extLst>
          </p:cNvPr>
          <p:cNvSpPr/>
          <p:nvPr/>
        </p:nvSpPr>
        <p:spPr>
          <a:xfrm>
            <a:off x="6257150" y="1804022"/>
            <a:ext cx="5795775" cy="35666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タイトル 1">
            <a:extLst>
              <a:ext uri="{FF2B5EF4-FFF2-40B4-BE49-F238E27FC236}">
                <a16:creationId xmlns:a16="http://schemas.microsoft.com/office/drawing/2014/main" id="{6EF33510-F039-4968-BC7B-DAE75F4E9011}"/>
              </a:ext>
            </a:extLst>
          </p:cNvPr>
          <p:cNvSpPr>
            <a:spLocks noGrp="1"/>
          </p:cNvSpPr>
          <p:nvPr>
            <p:ph type="title"/>
          </p:nvPr>
        </p:nvSpPr>
        <p:spPr>
          <a:xfrm>
            <a:off x="838200" y="365125"/>
            <a:ext cx="10515600" cy="1325563"/>
          </a:xfrm>
        </p:spPr>
        <p:txBody>
          <a:bodyPr/>
          <a:lstStyle/>
          <a:p>
            <a:r>
              <a:rPr kumimoji="1" lang="ja-JP" altLang="en-US" dirty="0"/>
              <a:t>実験</a:t>
            </a:r>
            <a:r>
              <a:rPr lang="ja-JP" altLang="en-US" dirty="0"/>
              <a:t>結果</a:t>
            </a:r>
            <a:endParaRPr kumimoji="1" lang="ja-JP" altLang="en-US" dirty="0"/>
          </a:p>
        </p:txBody>
      </p:sp>
      <p:sp>
        <p:nvSpPr>
          <p:cNvPr id="10" name="スライド番号プレースホルダー 9">
            <a:extLst>
              <a:ext uri="{FF2B5EF4-FFF2-40B4-BE49-F238E27FC236}">
                <a16:creationId xmlns:a16="http://schemas.microsoft.com/office/drawing/2014/main" id="{DA4A2B7D-4893-4334-9B93-0DB5990315FF}"/>
              </a:ext>
            </a:extLst>
          </p:cNvPr>
          <p:cNvSpPr>
            <a:spLocks noGrp="1"/>
          </p:cNvSpPr>
          <p:nvPr>
            <p:ph type="sldNum" sz="quarter" idx="12"/>
          </p:nvPr>
        </p:nvSpPr>
        <p:spPr/>
        <p:txBody>
          <a:bodyPr/>
          <a:lstStyle/>
          <a:p>
            <a:r>
              <a:rPr kumimoji="1" lang="en-US" altLang="ja-JP" dirty="0"/>
              <a:t>23</a:t>
            </a:r>
            <a:endParaRPr kumimoji="1" lang="ja-JP" altLang="en-US" dirty="0"/>
          </a:p>
        </p:txBody>
      </p:sp>
      <p:sp>
        <p:nvSpPr>
          <p:cNvPr id="8" name="コンテンツ プレースホルダー 2">
            <a:extLst>
              <a:ext uri="{FF2B5EF4-FFF2-40B4-BE49-F238E27FC236}">
                <a16:creationId xmlns:a16="http://schemas.microsoft.com/office/drawing/2014/main" id="{F09D4AE6-2FB3-40B4-8B38-9DE498BEC0D2}"/>
              </a:ext>
            </a:extLst>
          </p:cNvPr>
          <p:cNvSpPr txBox="1">
            <a:spLocks/>
          </p:cNvSpPr>
          <p:nvPr/>
        </p:nvSpPr>
        <p:spPr>
          <a:xfrm>
            <a:off x="838200" y="5483988"/>
            <a:ext cx="4994275" cy="5114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None/>
            </a:pPr>
            <a:r>
              <a:rPr lang="en-US" altLang="ja-JP" dirty="0"/>
              <a:t>Train</a:t>
            </a:r>
            <a:r>
              <a:rPr lang="ja-JP" altLang="en-US" dirty="0"/>
              <a:t>　</a:t>
            </a:r>
            <a:r>
              <a:rPr lang="en-US" altLang="ja-JP" dirty="0"/>
              <a:t>loss</a:t>
            </a:r>
          </a:p>
        </p:txBody>
      </p:sp>
      <p:sp>
        <p:nvSpPr>
          <p:cNvPr id="11" name="コンテンツ プレースホルダー 2">
            <a:extLst>
              <a:ext uri="{FF2B5EF4-FFF2-40B4-BE49-F238E27FC236}">
                <a16:creationId xmlns:a16="http://schemas.microsoft.com/office/drawing/2014/main" id="{0CBEBB8D-24EE-4434-91EA-FB642BDF22C0}"/>
              </a:ext>
            </a:extLst>
          </p:cNvPr>
          <p:cNvSpPr txBox="1">
            <a:spLocks/>
          </p:cNvSpPr>
          <p:nvPr/>
        </p:nvSpPr>
        <p:spPr>
          <a:xfrm>
            <a:off x="6832555" y="5483987"/>
            <a:ext cx="4994275" cy="5114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None/>
            </a:pPr>
            <a:r>
              <a:rPr lang="en-US" altLang="ja-JP" dirty="0"/>
              <a:t>Test</a:t>
            </a:r>
            <a:r>
              <a:rPr lang="ja-JP" altLang="en-US" dirty="0"/>
              <a:t>　</a:t>
            </a:r>
            <a:r>
              <a:rPr lang="en-US" altLang="ja-JP" dirty="0"/>
              <a:t>accuracy</a:t>
            </a:r>
          </a:p>
        </p:txBody>
      </p:sp>
      <mc:AlternateContent xmlns:mc="http://schemas.openxmlformats.org/markup-compatibility/2006" xmlns:p14="http://schemas.microsoft.com/office/powerpoint/2010/main">
        <mc:Choice Requires="p14">
          <p:contentPart p14:bwMode="auto" r:id="rId3">
            <p14:nvContentPartPr>
              <p14:cNvPr id="2" name="インク 1">
                <a:extLst>
                  <a:ext uri="{FF2B5EF4-FFF2-40B4-BE49-F238E27FC236}">
                    <a16:creationId xmlns:a16="http://schemas.microsoft.com/office/drawing/2014/main" id="{FA622FA6-940F-4727-A588-64C9207998EC}"/>
                  </a:ext>
                </a:extLst>
              </p14:cNvPr>
              <p14:cNvContentPartPr/>
              <p14:nvPr/>
            </p14:nvContentPartPr>
            <p14:xfrm>
              <a:off x="63720" y="5052897"/>
              <a:ext cx="360" cy="360"/>
            </p14:xfrm>
          </p:contentPart>
        </mc:Choice>
        <mc:Fallback xmlns="">
          <p:pic>
            <p:nvPicPr>
              <p:cNvPr id="2" name="インク 1">
                <a:extLst>
                  <a:ext uri="{FF2B5EF4-FFF2-40B4-BE49-F238E27FC236}">
                    <a16:creationId xmlns:a16="http://schemas.microsoft.com/office/drawing/2014/main" id="{FA622FA6-940F-4727-A588-64C9207998EC}"/>
                  </a:ext>
                </a:extLst>
              </p:cNvPr>
              <p:cNvPicPr/>
              <p:nvPr/>
            </p:nvPicPr>
            <p:blipFill>
              <a:blip r:embed="rId6"/>
              <a:stretch>
                <a:fillRect/>
              </a:stretch>
            </p:blipFill>
            <p:spPr>
              <a:xfrm>
                <a:off x="54720" y="5043897"/>
                <a:ext cx="18000" cy="18000"/>
              </a:xfrm>
              <a:prstGeom prst="rect">
                <a:avLst/>
              </a:prstGeom>
            </p:spPr>
          </p:pic>
        </mc:Fallback>
      </mc:AlternateContent>
      <p:pic>
        <p:nvPicPr>
          <p:cNvPr id="6" name="図 5" descr="グラフ, 折れ線グラフ&#10;&#10;中程度の精度で自動的に生成された説明">
            <a:extLst>
              <a:ext uri="{FF2B5EF4-FFF2-40B4-BE49-F238E27FC236}">
                <a16:creationId xmlns:a16="http://schemas.microsoft.com/office/drawing/2014/main" id="{9A23A277-8BC9-440D-9FD0-3259EFE8AE6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0982" y="1804021"/>
            <a:ext cx="5795775" cy="3566631"/>
          </a:xfrm>
          <a:prstGeom prst="rect">
            <a:avLst/>
          </a:prstGeom>
        </p:spPr>
      </p:pic>
      <p:pic>
        <p:nvPicPr>
          <p:cNvPr id="12" name="図 11" descr="グラフ が含まれている画像&#10;&#10;自動的に生成された説明">
            <a:extLst>
              <a:ext uri="{FF2B5EF4-FFF2-40B4-BE49-F238E27FC236}">
                <a16:creationId xmlns:a16="http://schemas.microsoft.com/office/drawing/2014/main" id="{23BD1494-5829-4A10-9603-7072919F3E2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25739" y="1804022"/>
            <a:ext cx="5658596" cy="3566630"/>
          </a:xfrm>
          <a:prstGeom prst="rect">
            <a:avLst/>
          </a:prstGeom>
        </p:spPr>
      </p:pic>
    </p:spTree>
    <p:extLst>
      <p:ext uri="{BB962C8B-B14F-4D97-AF65-F5344CB8AC3E}">
        <p14:creationId xmlns:p14="http://schemas.microsoft.com/office/powerpoint/2010/main" val="2329656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7F143C-FFC7-4AB3-82E6-343F2BFB6DDD}"/>
              </a:ext>
            </a:extLst>
          </p:cNvPr>
          <p:cNvSpPr>
            <a:spLocks noGrp="1"/>
          </p:cNvSpPr>
          <p:nvPr>
            <p:ph type="title"/>
          </p:nvPr>
        </p:nvSpPr>
        <p:spPr/>
        <p:txBody>
          <a:bodyPr/>
          <a:lstStyle/>
          <a:p>
            <a:r>
              <a:rPr kumimoji="1" lang="ja-JP" altLang="en-US" dirty="0"/>
              <a:t>実験</a:t>
            </a:r>
            <a:r>
              <a:rPr kumimoji="1" lang="en-US" altLang="ja-JP" dirty="0"/>
              <a:t>2</a:t>
            </a:r>
            <a:endParaRPr kumimoji="1" lang="ja-JP" altLang="en-US" dirty="0"/>
          </a:p>
        </p:txBody>
      </p:sp>
      <p:sp>
        <p:nvSpPr>
          <p:cNvPr id="4" name="スライド番号プレースホルダー 3">
            <a:extLst>
              <a:ext uri="{FF2B5EF4-FFF2-40B4-BE49-F238E27FC236}">
                <a16:creationId xmlns:a16="http://schemas.microsoft.com/office/drawing/2014/main" id="{7A9D3A2A-3389-4103-9CAB-1FE176EF9752}"/>
              </a:ext>
            </a:extLst>
          </p:cNvPr>
          <p:cNvSpPr>
            <a:spLocks noGrp="1"/>
          </p:cNvSpPr>
          <p:nvPr>
            <p:ph type="sldNum" sz="quarter" idx="12"/>
          </p:nvPr>
        </p:nvSpPr>
        <p:spPr/>
        <p:txBody>
          <a:bodyPr/>
          <a:lstStyle/>
          <a:p>
            <a:r>
              <a:rPr kumimoji="1" lang="en-US" altLang="ja-JP" dirty="0"/>
              <a:t>24</a:t>
            </a:r>
            <a:endParaRPr kumimoji="1" lang="ja-JP" altLang="en-US" dirty="0"/>
          </a:p>
        </p:txBody>
      </p:sp>
      <p:pic>
        <p:nvPicPr>
          <p:cNvPr id="13" name="図 12" descr="テーブル が含まれている画像&#10;&#10;自動的に生成された説明">
            <a:extLst>
              <a:ext uri="{FF2B5EF4-FFF2-40B4-BE49-F238E27FC236}">
                <a16:creationId xmlns:a16="http://schemas.microsoft.com/office/drawing/2014/main" id="{16A808FF-B1E7-4353-A72F-32DDB81E9B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67513" y="2453991"/>
            <a:ext cx="4586287" cy="2787290"/>
          </a:xfrm>
          <a:prstGeom prst="rect">
            <a:avLst/>
          </a:prstGeom>
        </p:spPr>
      </p:pic>
      <p:sp>
        <p:nvSpPr>
          <p:cNvPr id="17" name="四角形: 角を丸くする 16">
            <a:extLst>
              <a:ext uri="{FF2B5EF4-FFF2-40B4-BE49-F238E27FC236}">
                <a16:creationId xmlns:a16="http://schemas.microsoft.com/office/drawing/2014/main" id="{9629BA64-AE37-4425-9E63-888D77A0EED1}"/>
              </a:ext>
            </a:extLst>
          </p:cNvPr>
          <p:cNvSpPr/>
          <p:nvPr/>
        </p:nvSpPr>
        <p:spPr>
          <a:xfrm>
            <a:off x="6488296" y="1828165"/>
            <a:ext cx="5227320" cy="4710747"/>
          </a:xfrm>
          <a:prstGeom prst="roundRect">
            <a:avLst/>
          </a:prstGeom>
          <a:noFill/>
          <a:ln w="571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コンテンツ プレースホルダー 2">
            <a:extLst>
              <a:ext uri="{FF2B5EF4-FFF2-40B4-BE49-F238E27FC236}">
                <a16:creationId xmlns:a16="http://schemas.microsoft.com/office/drawing/2014/main" id="{E9E09B0A-3E72-4DBA-BAB9-93838E543982}"/>
              </a:ext>
            </a:extLst>
          </p:cNvPr>
          <p:cNvSpPr txBox="1">
            <a:spLocks/>
          </p:cNvSpPr>
          <p:nvPr/>
        </p:nvSpPr>
        <p:spPr>
          <a:xfrm>
            <a:off x="7047706" y="1475445"/>
            <a:ext cx="4025900" cy="567964"/>
          </a:xfrm>
          <a:prstGeom prst="rect">
            <a:avLst/>
          </a:prstGeom>
          <a:solidFill>
            <a:srgbClr val="E4E4E4"/>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en-US" altLang="ja-JP" sz="3200" dirty="0"/>
              <a:t>MNSIT</a:t>
            </a:r>
            <a:r>
              <a:rPr lang="ja-JP" altLang="en-US" sz="3200" dirty="0"/>
              <a:t>の分類問題</a:t>
            </a:r>
            <a:endParaRPr lang="en-US" altLang="ja-JP" sz="3200" dirty="0"/>
          </a:p>
        </p:txBody>
      </p:sp>
      <p:sp>
        <p:nvSpPr>
          <p:cNvPr id="25" name="テキスト ボックス 24">
            <a:extLst>
              <a:ext uri="{FF2B5EF4-FFF2-40B4-BE49-F238E27FC236}">
                <a16:creationId xmlns:a16="http://schemas.microsoft.com/office/drawing/2014/main" id="{3B5035E8-9D5A-4A43-95A9-DDF89AC9D3E1}"/>
              </a:ext>
            </a:extLst>
          </p:cNvPr>
          <p:cNvSpPr txBox="1"/>
          <p:nvPr/>
        </p:nvSpPr>
        <p:spPr>
          <a:xfrm>
            <a:off x="6808812" y="5241281"/>
            <a:ext cx="4586287" cy="954107"/>
          </a:xfrm>
          <a:prstGeom prst="rect">
            <a:avLst/>
          </a:prstGeom>
          <a:noFill/>
        </p:spPr>
        <p:txBody>
          <a:bodyPr wrap="square">
            <a:spAutoFit/>
          </a:bodyPr>
          <a:lstStyle/>
          <a:p>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縦横</a:t>
            </a:r>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28</a:t>
            </a:r>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ピクセルのモノクロの手書き数字の画像データ</a:t>
            </a:r>
            <a:endPar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p:sp>
        <p:nvSpPr>
          <p:cNvPr id="29" name="テキスト ボックス 28">
            <a:extLst>
              <a:ext uri="{FF2B5EF4-FFF2-40B4-BE49-F238E27FC236}">
                <a16:creationId xmlns:a16="http://schemas.microsoft.com/office/drawing/2014/main" id="{283D1395-5C15-47A6-AEAE-368918279661}"/>
              </a:ext>
            </a:extLst>
          </p:cNvPr>
          <p:cNvSpPr txBox="1"/>
          <p:nvPr/>
        </p:nvSpPr>
        <p:spPr>
          <a:xfrm>
            <a:off x="932442" y="1828165"/>
            <a:ext cx="4913843" cy="1384995"/>
          </a:xfrm>
          <a:prstGeom prst="rect">
            <a:avLst/>
          </a:prstGeom>
          <a:noFill/>
        </p:spPr>
        <p:txBody>
          <a:bodyPr wrap="square">
            <a:spAutoFit/>
          </a:bodyPr>
          <a:lstStyle/>
          <a:p>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サンプル数 ：</a:t>
            </a:r>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70,000</a:t>
            </a:r>
          </a:p>
          <a:p>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学習データ ：</a:t>
            </a:r>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60,000</a:t>
            </a:r>
          </a:p>
          <a:p>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テストデータ</a:t>
            </a:r>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:10,000</a:t>
            </a:r>
          </a:p>
        </p:txBody>
      </p:sp>
      <p:grpSp>
        <p:nvGrpSpPr>
          <p:cNvPr id="30" name="グループ化 29">
            <a:extLst>
              <a:ext uri="{FF2B5EF4-FFF2-40B4-BE49-F238E27FC236}">
                <a16:creationId xmlns:a16="http://schemas.microsoft.com/office/drawing/2014/main" id="{758027BF-A3A9-4AF7-9A64-4026FE427D0F}"/>
              </a:ext>
            </a:extLst>
          </p:cNvPr>
          <p:cNvGrpSpPr/>
          <p:nvPr/>
        </p:nvGrpSpPr>
        <p:grpSpPr>
          <a:xfrm>
            <a:off x="932443" y="3644841"/>
            <a:ext cx="4902200" cy="2616654"/>
            <a:chOff x="6466114" y="3781992"/>
            <a:chExt cx="4902200" cy="2616654"/>
          </a:xfrm>
        </p:grpSpPr>
        <p:sp>
          <p:nvSpPr>
            <p:cNvPr id="31" name="四角形: 角を丸くする 30">
              <a:extLst>
                <a:ext uri="{FF2B5EF4-FFF2-40B4-BE49-F238E27FC236}">
                  <a16:creationId xmlns:a16="http://schemas.microsoft.com/office/drawing/2014/main" id="{2EDE143B-D25E-4B11-B5E0-D23C2029FAA3}"/>
                </a:ext>
              </a:extLst>
            </p:cNvPr>
            <p:cNvSpPr/>
            <p:nvPr/>
          </p:nvSpPr>
          <p:spPr>
            <a:xfrm>
              <a:off x="6466114" y="4265046"/>
              <a:ext cx="1231900" cy="2133600"/>
            </a:xfrm>
            <a:prstGeom prst="round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latin typeface="UD デジタル 教科書体 NK-R" panose="02020400000000000000" pitchFamily="18" charset="-128"/>
                  <a:ea typeface="UD デジタル 教科書体 NK-R" panose="02020400000000000000" pitchFamily="18" charset="-128"/>
                </a:rPr>
                <a:t>入力</a:t>
              </a:r>
              <a:endParaRPr kumimoji="1" lang="en-US" altLang="ja-JP" dirty="0">
                <a:latin typeface="UD デジタル 教科書体 NK-R" panose="02020400000000000000" pitchFamily="18" charset="-128"/>
                <a:ea typeface="UD デジタル 教科書体 NK-R" panose="02020400000000000000" pitchFamily="18" charset="-128"/>
              </a:endParaRPr>
            </a:p>
            <a:p>
              <a:pPr algn="ctr"/>
              <a:r>
                <a:rPr lang="en-US" altLang="ja-JP" dirty="0">
                  <a:latin typeface="UD デジタル 教科書体 NK-R" panose="02020400000000000000" pitchFamily="18" charset="-128"/>
                  <a:ea typeface="UD デジタル 教科書体 NK-R" panose="02020400000000000000" pitchFamily="18" charset="-128"/>
                </a:rPr>
                <a:t>784</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sp>
          <p:nvSpPr>
            <p:cNvPr id="32" name="四角形: 角を丸くする 31">
              <a:extLst>
                <a:ext uri="{FF2B5EF4-FFF2-40B4-BE49-F238E27FC236}">
                  <a16:creationId xmlns:a16="http://schemas.microsoft.com/office/drawing/2014/main" id="{2133F9FA-F3F4-427D-8811-C4C295DAB3BF}"/>
                </a:ext>
              </a:extLst>
            </p:cNvPr>
            <p:cNvSpPr/>
            <p:nvPr/>
          </p:nvSpPr>
          <p:spPr>
            <a:xfrm>
              <a:off x="8301264" y="4265046"/>
              <a:ext cx="1231900" cy="2133600"/>
            </a:xfrm>
            <a:prstGeom prst="round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latin typeface="UD デジタル 教科書体 NK-R" panose="02020400000000000000" pitchFamily="18" charset="-128"/>
                  <a:ea typeface="UD デジタル 教科書体 NK-R" panose="02020400000000000000" pitchFamily="18" charset="-128"/>
                </a:rPr>
                <a:t>全結合</a:t>
              </a:r>
              <a:endParaRPr kumimoji="1" lang="en-US" altLang="ja-JP" dirty="0">
                <a:latin typeface="UD デジタル 教科書体 NK-R" panose="02020400000000000000" pitchFamily="18" charset="-128"/>
                <a:ea typeface="UD デジタル 教科書体 NK-R" panose="02020400000000000000" pitchFamily="18" charset="-128"/>
              </a:endParaRPr>
            </a:p>
            <a:p>
              <a:pPr algn="ctr"/>
              <a:r>
                <a:rPr lang="en-US" altLang="ja-JP" dirty="0">
                  <a:latin typeface="UD デジタル 教科書体 NK-R" panose="02020400000000000000" pitchFamily="18" charset="-128"/>
                  <a:ea typeface="UD デジタル 教科書体 NK-R" panose="02020400000000000000" pitchFamily="18" charset="-128"/>
                </a:rPr>
                <a:t>10</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sp>
          <p:nvSpPr>
            <p:cNvPr id="33" name="四角形: 角を丸くする 32">
              <a:extLst>
                <a:ext uri="{FF2B5EF4-FFF2-40B4-BE49-F238E27FC236}">
                  <a16:creationId xmlns:a16="http://schemas.microsoft.com/office/drawing/2014/main" id="{3B17FB3B-2D93-494E-B0F7-03B83D8C3EB4}"/>
                </a:ext>
              </a:extLst>
            </p:cNvPr>
            <p:cNvSpPr/>
            <p:nvPr/>
          </p:nvSpPr>
          <p:spPr>
            <a:xfrm>
              <a:off x="10136414" y="4265046"/>
              <a:ext cx="1231900" cy="2133600"/>
            </a:xfrm>
            <a:prstGeom prst="round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latin typeface="UD デジタル 教科書体 NK-R" panose="02020400000000000000" pitchFamily="18" charset="-128"/>
                  <a:ea typeface="UD デジタル 教科書体 NK-R" panose="02020400000000000000" pitchFamily="18" charset="-128"/>
                </a:rPr>
                <a:t>全結合</a:t>
              </a:r>
              <a:endParaRPr kumimoji="1" lang="en-US" altLang="ja-JP" dirty="0">
                <a:latin typeface="UD デジタル 教科書体 NK-R" panose="02020400000000000000" pitchFamily="18" charset="-128"/>
                <a:ea typeface="UD デジタル 教科書体 NK-R" panose="02020400000000000000" pitchFamily="18" charset="-128"/>
              </a:endParaRPr>
            </a:p>
            <a:p>
              <a:pPr algn="ctr"/>
              <a:r>
                <a:rPr lang="en-US" altLang="ja-JP" dirty="0">
                  <a:latin typeface="UD デジタル 教科書体 NK-R" panose="02020400000000000000" pitchFamily="18" charset="-128"/>
                  <a:ea typeface="UD デジタル 教科書体 NK-R" panose="02020400000000000000" pitchFamily="18" charset="-128"/>
                </a:rPr>
                <a:t>(</a:t>
              </a:r>
              <a:r>
                <a:rPr lang="ja-JP" altLang="en-US" dirty="0">
                  <a:latin typeface="UD デジタル 教科書体 NK-R" panose="02020400000000000000" pitchFamily="18" charset="-128"/>
                  <a:ea typeface="UD デジタル 教科書体 NK-R" panose="02020400000000000000" pitchFamily="18" charset="-128"/>
                </a:rPr>
                <a:t>出力</a:t>
              </a:r>
              <a:r>
                <a:rPr lang="en-US" altLang="ja-JP" dirty="0">
                  <a:latin typeface="UD デジタル 教科書体 NK-R" panose="02020400000000000000" pitchFamily="18" charset="-128"/>
                  <a:ea typeface="UD デジタル 教科書体 NK-R" panose="02020400000000000000" pitchFamily="18" charset="-128"/>
                </a:rPr>
                <a:t>)</a:t>
              </a:r>
              <a:endParaRPr kumimoji="1" lang="en-US" altLang="ja-JP" dirty="0">
                <a:latin typeface="UD デジタル 教科書体 NK-R" panose="02020400000000000000" pitchFamily="18" charset="-128"/>
                <a:ea typeface="UD デジタル 教科書体 NK-R" panose="02020400000000000000" pitchFamily="18" charset="-128"/>
              </a:endParaRPr>
            </a:p>
            <a:p>
              <a:pPr algn="ctr"/>
              <a:r>
                <a:rPr lang="ja-JP" altLang="en-US" dirty="0">
                  <a:latin typeface="UD デジタル 教科書体 NK-R" panose="02020400000000000000" pitchFamily="18" charset="-128"/>
                  <a:ea typeface="UD デジタル 教科書体 NK-R" panose="02020400000000000000" pitchFamily="18" charset="-128"/>
                </a:rPr>
                <a:t>３</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cxnSp>
          <p:nvCxnSpPr>
            <p:cNvPr id="34" name="直線矢印コネクタ 33">
              <a:extLst>
                <a:ext uri="{FF2B5EF4-FFF2-40B4-BE49-F238E27FC236}">
                  <a16:creationId xmlns:a16="http://schemas.microsoft.com/office/drawing/2014/main" id="{A0CF125E-EF0C-4595-A8FD-1C45B9033062}"/>
                </a:ext>
              </a:extLst>
            </p:cNvPr>
            <p:cNvCxnSpPr>
              <a:cxnSpLocks/>
              <a:endCxn id="32" idx="1"/>
            </p:cNvCxnSpPr>
            <p:nvPr/>
          </p:nvCxnSpPr>
          <p:spPr>
            <a:xfrm flipV="1">
              <a:off x="7698014" y="5331846"/>
              <a:ext cx="603250" cy="19050"/>
            </a:xfrm>
            <a:prstGeom prst="straightConnector1">
              <a:avLst/>
            </a:prstGeom>
            <a:ln w="762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線矢印コネクタ 34">
              <a:extLst>
                <a:ext uri="{FF2B5EF4-FFF2-40B4-BE49-F238E27FC236}">
                  <a16:creationId xmlns:a16="http://schemas.microsoft.com/office/drawing/2014/main" id="{C4C2C5F6-C044-4715-9D11-46865711B505}"/>
                </a:ext>
              </a:extLst>
            </p:cNvPr>
            <p:cNvCxnSpPr>
              <a:cxnSpLocks/>
              <a:stCxn id="32" idx="3"/>
              <a:endCxn id="33" idx="1"/>
            </p:cNvCxnSpPr>
            <p:nvPr/>
          </p:nvCxnSpPr>
          <p:spPr>
            <a:xfrm>
              <a:off x="9533164" y="5331846"/>
              <a:ext cx="603250" cy="0"/>
            </a:xfrm>
            <a:prstGeom prst="straightConnector1">
              <a:avLst/>
            </a:prstGeom>
            <a:ln w="762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6" name="タイトル 1">
              <a:extLst>
                <a:ext uri="{FF2B5EF4-FFF2-40B4-BE49-F238E27FC236}">
                  <a16:creationId xmlns:a16="http://schemas.microsoft.com/office/drawing/2014/main" id="{1AEB3B2A-B9F6-4DD3-9082-D281503CFBA0}"/>
                </a:ext>
              </a:extLst>
            </p:cNvPr>
            <p:cNvSpPr txBox="1">
              <a:spLocks/>
            </p:cNvSpPr>
            <p:nvPr/>
          </p:nvSpPr>
          <p:spPr>
            <a:xfrm>
              <a:off x="7688488" y="3781992"/>
              <a:ext cx="2457451" cy="445294"/>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kumimoji="1" sz="4400" kern="1200">
                  <a:solidFill>
                    <a:schemeClr val="tx1"/>
                  </a:solidFill>
                  <a:latin typeface="UD デジタル 教科書体 NK-R" panose="02020400000000000000" pitchFamily="18" charset="-128"/>
                  <a:ea typeface="UD デジタル 教科書体 NK-R" panose="02020400000000000000" pitchFamily="18" charset="-128"/>
                  <a:cs typeface="+mj-cs"/>
                </a:defRPr>
              </a:lvl1pPr>
            </a:lstStyle>
            <a:p>
              <a:pPr algn="ctr"/>
              <a:r>
                <a:rPr lang="ja-JP" altLang="en-US" sz="3200" dirty="0">
                  <a:solidFill>
                    <a:schemeClr val="tx1">
                      <a:lumMod val="75000"/>
                      <a:lumOff val="25000"/>
                    </a:schemeClr>
                  </a:solidFill>
                </a:rPr>
                <a:t>ネットワーク</a:t>
              </a:r>
            </a:p>
          </p:txBody>
        </p:sp>
      </p:grpSp>
    </p:spTree>
    <p:extLst>
      <p:ext uri="{BB962C8B-B14F-4D97-AF65-F5344CB8AC3E}">
        <p14:creationId xmlns:p14="http://schemas.microsoft.com/office/powerpoint/2010/main" val="21217006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7F143C-FFC7-4AB3-82E6-343F2BFB6DDD}"/>
              </a:ext>
            </a:extLst>
          </p:cNvPr>
          <p:cNvSpPr>
            <a:spLocks noGrp="1"/>
          </p:cNvSpPr>
          <p:nvPr>
            <p:ph type="title"/>
          </p:nvPr>
        </p:nvSpPr>
        <p:spPr/>
        <p:txBody>
          <a:bodyPr/>
          <a:lstStyle/>
          <a:p>
            <a:r>
              <a:rPr kumimoji="1" lang="ja-JP" altLang="en-US" dirty="0"/>
              <a:t>実験</a:t>
            </a:r>
            <a:r>
              <a:rPr kumimoji="1" lang="en-US" altLang="ja-JP" dirty="0"/>
              <a:t>2.1</a:t>
            </a:r>
            <a:r>
              <a:rPr kumimoji="1" lang="ja-JP" altLang="en-US" dirty="0"/>
              <a:t>：近似回数</a:t>
            </a:r>
            <a:r>
              <a:rPr lang="ja-JP" altLang="en-US" dirty="0"/>
              <a:t>を比較</a:t>
            </a:r>
            <a:endParaRPr kumimoji="1" lang="ja-JP" altLang="en-US" dirty="0"/>
          </a:p>
        </p:txBody>
      </p:sp>
      <p:sp>
        <p:nvSpPr>
          <p:cNvPr id="4" name="スライド番号プレースホルダー 3">
            <a:extLst>
              <a:ext uri="{FF2B5EF4-FFF2-40B4-BE49-F238E27FC236}">
                <a16:creationId xmlns:a16="http://schemas.microsoft.com/office/drawing/2014/main" id="{7A9D3A2A-3389-4103-9CAB-1FE176EF9752}"/>
              </a:ext>
            </a:extLst>
          </p:cNvPr>
          <p:cNvSpPr>
            <a:spLocks noGrp="1"/>
          </p:cNvSpPr>
          <p:nvPr>
            <p:ph type="sldNum" sz="quarter" idx="12"/>
          </p:nvPr>
        </p:nvSpPr>
        <p:spPr/>
        <p:txBody>
          <a:bodyPr/>
          <a:lstStyle/>
          <a:p>
            <a:r>
              <a:rPr kumimoji="1" lang="en-US" altLang="ja-JP" dirty="0"/>
              <a:t>25</a:t>
            </a:r>
            <a:endParaRPr kumimoji="1" lang="ja-JP" altLang="en-US" dirty="0"/>
          </a:p>
        </p:txBody>
      </p:sp>
      <p:pic>
        <p:nvPicPr>
          <p:cNvPr id="13" name="図 12" descr="テーブル が含まれている画像&#10;&#10;自動的に生成された説明">
            <a:extLst>
              <a:ext uri="{FF2B5EF4-FFF2-40B4-BE49-F238E27FC236}">
                <a16:creationId xmlns:a16="http://schemas.microsoft.com/office/drawing/2014/main" id="{16A808FF-B1E7-4353-A72F-32DDB81E9B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67513" y="2453991"/>
            <a:ext cx="4586287" cy="2787290"/>
          </a:xfrm>
          <a:prstGeom prst="rect">
            <a:avLst/>
          </a:prstGeom>
        </p:spPr>
      </p:pic>
      <p:sp>
        <p:nvSpPr>
          <p:cNvPr id="17" name="四角形: 角を丸くする 16">
            <a:extLst>
              <a:ext uri="{FF2B5EF4-FFF2-40B4-BE49-F238E27FC236}">
                <a16:creationId xmlns:a16="http://schemas.microsoft.com/office/drawing/2014/main" id="{9629BA64-AE37-4425-9E63-888D77A0EED1}"/>
              </a:ext>
            </a:extLst>
          </p:cNvPr>
          <p:cNvSpPr/>
          <p:nvPr/>
        </p:nvSpPr>
        <p:spPr>
          <a:xfrm>
            <a:off x="6488296" y="1828165"/>
            <a:ext cx="5227320" cy="4710747"/>
          </a:xfrm>
          <a:prstGeom prst="roundRect">
            <a:avLst/>
          </a:prstGeom>
          <a:noFill/>
          <a:ln w="571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コンテンツ プレースホルダー 2">
            <a:extLst>
              <a:ext uri="{FF2B5EF4-FFF2-40B4-BE49-F238E27FC236}">
                <a16:creationId xmlns:a16="http://schemas.microsoft.com/office/drawing/2014/main" id="{E9E09B0A-3E72-4DBA-BAB9-93838E543982}"/>
              </a:ext>
            </a:extLst>
          </p:cNvPr>
          <p:cNvSpPr txBox="1">
            <a:spLocks/>
          </p:cNvSpPr>
          <p:nvPr/>
        </p:nvSpPr>
        <p:spPr>
          <a:xfrm>
            <a:off x="7047706" y="1475445"/>
            <a:ext cx="4025900" cy="567964"/>
          </a:xfrm>
          <a:prstGeom prst="rect">
            <a:avLst/>
          </a:prstGeom>
          <a:solidFill>
            <a:srgbClr val="E4E4E4"/>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en-US" altLang="ja-JP" sz="3200" dirty="0"/>
              <a:t>MNSIT</a:t>
            </a:r>
            <a:r>
              <a:rPr lang="ja-JP" altLang="en-US" sz="3200" dirty="0"/>
              <a:t>の分類問題</a:t>
            </a:r>
            <a:endParaRPr lang="en-US" altLang="ja-JP" sz="3200" dirty="0"/>
          </a:p>
        </p:txBody>
      </p:sp>
      <p:sp>
        <p:nvSpPr>
          <p:cNvPr id="25" name="テキスト ボックス 24">
            <a:extLst>
              <a:ext uri="{FF2B5EF4-FFF2-40B4-BE49-F238E27FC236}">
                <a16:creationId xmlns:a16="http://schemas.microsoft.com/office/drawing/2014/main" id="{3B5035E8-9D5A-4A43-95A9-DDF89AC9D3E1}"/>
              </a:ext>
            </a:extLst>
          </p:cNvPr>
          <p:cNvSpPr txBox="1"/>
          <p:nvPr/>
        </p:nvSpPr>
        <p:spPr>
          <a:xfrm>
            <a:off x="6808812" y="5241281"/>
            <a:ext cx="4586287" cy="954107"/>
          </a:xfrm>
          <a:prstGeom prst="rect">
            <a:avLst/>
          </a:prstGeom>
          <a:noFill/>
        </p:spPr>
        <p:txBody>
          <a:bodyPr wrap="square">
            <a:spAutoFit/>
          </a:bodyPr>
          <a:lstStyle/>
          <a:p>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縦横</a:t>
            </a:r>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28</a:t>
            </a:r>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ピクセルのモノクロの手書き数字の画像データ</a:t>
            </a:r>
            <a:endPar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p:sp>
        <p:nvSpPr>
          <p:cNvPr id="29" name="テキスト ボックス 28">
            <a:extLst>
              <a:ext uri="{FF2B5EF4-FFF2-40B4-BE49-F238E27FC236}">
                <a16:creationId xmlns:a16="http://schemas.microsoft.com/office/drawing/2014/main" id="{283D1395-5C15-47A6-AEAE-368918279661}"/>
              </a:ext>
            </a:extLst>
          </p:cNvPr>
          <p:cNvSpPr txBox="1"/>
          <p:nvPr/>
        </p:nvSpPr>
        <p:spPr>
          <a:xfrm>
            <a:off x="347869" y="1828165"/>
            <a:ext cx="5163558" cy="3539430"/>
          </a:xfrm>
          <a:prstGeom prst="rect">
            <a:avLst/>
          </a:prstGeom>
          <a:noFill/>
        </p:spPr>
        <p:txBody>
          <a:bodyPr wrap="square">
            <a:spAutoFit/>
          </a:bodyPr>
          <a:lstStyle/>
          <a:p>
            <a:pPr algn="ctr"/>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実験条件</a:t>
            </a:r>
            <a:endPar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endPar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Epoch : 20</a:t>
            </a:r>
          </a:p>
          <a:p>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Batch size : 512</a:t>
            </a:r>
          </a:p>
          <a:p>
            <a:endPar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提案手法の学習率 </a:t>
            </a:r>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 0.05</a:t>
            </a:r>
          </a:p>
          <a:p>
            <a:endPar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比較する近似回数：</a:t>
            </a:r>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1, 3, 5, 10</a:t>
            </a:r>
          </a:p>
        </p:txBody>
      </p:sp>
    </p:spTree>
    <p:extLst>
      <p:ext uri="{BB962C8B-B14F-4D97-AF65-F5344CB8AC3E}">
        <p14:creationId xmlns:p14="http://schemas.microsoft.com/office/powerpoint/2010/main" val="36116247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タイトル 1">
            <a:extLst>
              <a:ext uri="{FF2B5EF4-FFF2-40B4-BE49-F238E27FC236}">
                <a16:creationId xmlns:a16="http://schemas.microsoft.com/office/drawing/2014/main" id="{6EF33510-F039-4968-BC7B-DAE75F4E9011}"/>
              </a:ext>
            </a:extLst>
          </p:cNvPr>
          <p:cNvSpPr>
            <a:spLocks noGrp="1"/>
          </p:cNvSpPr>
          <p:nvPr>
            <p:ph type="title"/>
          </p:nvPr>
        </p:nvSpPr>
        <p:spPr>
          <a:xfrm>
            <a:off x="838200" y="365125"/>
            <a:ext cx="10515600" cy="1325563"/>
          </a:xfrm>
        </p:spPr>
        <p:txBody>
          <a:bodyPr/>
          <a:lstStyle/>
          <a:p>
            <a:r>
              <a:rPr kumimoji="1" lang="ja-JP" altLang="en-US" dirty="0"/>
              <a:t>実験</a:t>
            </a:r>
            <a:r>
              <a:rPr lang="ja-JP" altLang="en-US" dirty="0"/>
              <a:t>結果</a:t>
            </a:r>
            <a:endParaRPr kumimoji="1" lang="ja-JP" altLang="en-US" dirty="0"/>
          </a:p>
        </p:txBody>
      </p:sp>
      <p:sp>
        <p:nvSpPr>
          <p:cNvPr id="10" name="スライド番号プレースホルダー 9">
            <a:extLst>
              <a:ext uri="{FF2B5EF4-FFF2-40B4-BE49-F238E27FC236}">
                <a16:creationId xmlns:a16="http://schemas.microsoft.com/office/drawing/2014/main" id="{DA4A2B7D-4893-4334-9B93-0DB5990315FF}"/>
              </a:ext>
            </a:extLst>
          </p:cNvPr>
          <p:cNvSpPr>
            <a:spLocks noGrp="1"/>
          </p:cNvSpPr>
          <p:nvPr>
            <p:ph type="sldNum" sz="quarter" idx="12"/>
          </p:nvPr>
        </p:nvSpPr>
        <p:spPr/>
        <p:txBody>
          <a:bodyPr/>
          <a:lstStyle/>
          <a:p>
            <a:r>
              <a:rPr kumimoji="1" lang="en-US" altLang="ja-JP" dirty="0"/>
              <a:t>26</a:t>
            </a:r>
            <a:endParaRPr kumimoji="1" lang="ja-JP" altLang="en-US" dirty="0"/>
          </a:p>
        </p:txBody>
      </p:sp>
      <p:sp>
        <p:nvSpPr>
          <p:cNvPr id="16" name="コンテンツ プレースホルダー 2">
            <a:extLst>
              <a:ext uri="{FF2B5EF4-FFF2-40B4-BE49-F238E27FC236}">
                <a16:creationId xmlns:a16="http://schemas.microsoft.com/office/drawing/2014/main" id="{8AC299DE-2B8D-4924-9323-64234D94B769}"/>
              </a:ext>
            </a:extLst>
          </p:cNvPr>
          <p:cNvSpPr txBox="1">
            <a:spLocks/>
          </p:cNvSpPr>
          <p:nvPr/>
        </p:nvSpPr>
        <p:spPr>
          <a:xfrm>
            <a:off x="838200" y="5483988"/>
            <a:ext cx="4994275" cy="5114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None/>
            </a:pPr>
            <a:r>
              <a:rPr lang="en-US" altLang="ja-JP" dirty="0"/>
              <a:t>Train</a:t>
            </a:r>
            <a:r>
              <a:rPr lang="ja-JP" altLang="en-US" dirty="0"/>
              <a:t>　</a:t>
            </a:r>
            <a:r>
              <a:rPr lang="en-US" altLang="ja-JP" dirty="0"/>
              <a:t>loss</a:t>
            </a:r>
          </a:p>
        </p:txBody>
      </p:sp>
      <p:sp>
        <p:nvSpPr>
          <p:cNvPr id="17" name="コンテンツ プレースホルダー 2">
            <a:extLst>
              <a:ext uri="{FF2B5EF4-FFF2-40B4-BE49-F238E27FC236}">
                <a16:creationId xmlns:a16="http://schemas.microsoft.com/office/drawing/2014/main" id="{06300745-781A-4DBC-A526-7C413DB3C255}"/>
              </a:ext>
            </a:extLst>
          </p:cNvPr>
          <p:cNvSpPr txBox="1">
            <a:spLocks/>
          </p:cNvSpPr>
          <p:nvPr/>
        </p:nvSpPr>
        <p:spPr>
          <a:xfrm>
            <a:off x="6832555" y="5483987"/>
            <a:ext cx="4994275" cy="5114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None/>
            </a:pPr>
            <a:r>
              <a:rPr lang="en-US" altLang="ja-JP" dirty="0"/>
              <a:t>Test</a:t>
            </a:r>
            <a:r>
              <a:rPr lang="ja-JP" altLang="en-US" dirty="0"/>
              <a:t>　</a:t>
            </a:r>
            <a:r>
              <a:rPr lang="en-US" altLang="ja-JP" dirty="0"/>
              <a:t>accuracy</a:t>
            </a:r>
          </a:p>
        </p:txBody>
      </p:sp>
      <p:grpSp>
        <p:nvGrpSpPr>
          <p:cNvPr id="19" name="グループ化 18">
            <a:extLst>
              <a:ext uri="{FF2B5EF4-FFF2-40B4-BE49-F238E27FC236}">
                <a16:creationId xmlns:a16="http://schemas.microsoft.com/office/drawing/2014/main" id="{480A4467-F9E2-4765-B186-E6AB9CB29A3A}"/>
              </a:ext>
            </a:extLst>
          </p:cNvPr>
          <p:cNvGrpSpPr/>
          <p:nvPr/>
        </p:nvGrpSpPr>
        <p:grpSpPr>
          <a:xfrm>
            <a:off x="421150" y="1778355"/>
            <a:ext cx="5569679" cy="3679966"/>
            <a:chOff x="6257151" y="1804020"/>
            <a:chExt cx="5569679" cy="3679966"/>
          </a:xfrm>
        </p:grpSpPr>
        <p:sp>
          <p:nvSpPr>
            <p:cNvPr id="4" name="正方形/長方形 3">
              <a:extLst>
                <a:ext uri="{FF2B5EF4-FFF2-40B4-BE49-F238E27FC236}">
                  <a16:creationId xmlns:a16="http://schemas.microsoft.com/office/drawing/2014/main" id="{79F6D33F-4415-46BD-AE16-7144A6B92369}"/>
                </a:ext>
              </a:extLst>
            </p:cNvPr>
            <p:cNvSpPr/>
            <p:nvPr/>
          </p:nvSpPr>
          <p:spPr>
            <a:xfrm>
              <a:off x="6257151" y="1804020"/>
              <a:ext cx="5569679" cy="35666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 name="図 2" descr="折れ線グラフ&#10;&#10;自動的に生成された説明">
              <a:extLst>
                <a:ext uri="{FF2B5EF4-FFF2-40B4-BE49-F238E27FC236}">
                  <a16:creationId xmlns:a16="http://schemas.microsoft.com/office/drawing/2014/main" id="{4DBBA599-CE96-414E-BB72-F58A1A097B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57152" y="1804021"/>
              <a:ext cx="5519948" cy="3679965"/>
            </a:xfrm>
            <a:prstGeom prst="rect">
              <a:avLst/>
            </a:prstGeom>
          </p:spPr>
        </p:pic>
      </p:grpSp>
      <p:grpSp>
        <p:nvGrpSpPr>
          <p:cNvPr id="20" name="グループ化 19">
            <a:extLst>
              <a:ext uri="{FF2B5EF4-FFF2-40B4-BE49-F238E27FC236}">
                <a16:creationId xmlns:a16="http://schemas.microsoft.com/office/drawing/2014/main" id="{2D346BA8-EC99-45DA-B477-867488B18BB1}"/>
              </a:ext>
            </a:extLst>
          </p:cNvPr>
          <p:cNvGrpSpPr/>
          <p:nvPr/>
        </p:nvGrpSpPr>
        <p:grpSpPr>
          <a:xfrm>
            <a:off x="6257151" y="1747352"/>
            <a:ext cx="5569679" cy="3628637"/>
            <a:chOff x="365170" y="1766879"/>
            <a:chExt cx="5569679" cy="3628637"/>
          </a:xfrm>
        </p:grpSpPr>
        <p:sp>
          <p:nvSpPr>
            <p:cNvPr id="18" name="正方形/長方形 17">
              <a:extLst>
                <a:ext uri="{FF2B5EF4-FFF2-40B4-BE49-F238E27FC236}">
                  <a16:creationId xmlns:a16="http://schemas.microsoft.com/office/drawing/2014/main" id="{44DEC6A2-B395-4F2C-A0E6-68966C4D2A03}"/>
                </a:ext>
              </a:extLst>
            </p:cNvPr>
            <p:cNvSpPr/>
            <p:nvPr/>
          </p:nvSpPr>
          <p:spPr>
            <a:xfrm>
              <a:off x="365170" y="1797882"/>
              <a:ext cx="5569679" cy="35666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 name="図 6" descr="アイコン が含まれている画像&#10;&#10;自動的に生成された説明">
              <a:extLst>
                <a:ext uri="{FF2B5EF4-FFF2-40B4-BE49-F238E27FC236}">
                  <a16:creationId xmlns:a16="http://schemas.microsoft.com/office/drawing/2014/main" id="{9BB086A0-2A7B-478B-8B89-49327A4660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7129" y="1766879"/>
              <a:ext cx="5345760" cy="3628637"/>
            </a:xfrm>
            <a:prstGeom prst="rect">
              <a:avLst/>
            </a:prstGeom>
          </p:spPr>
        </p:pic>
      </p:grpSp>
    </p:spTree>
    <p:extLst>
      <p:ext uri="{BB962C8B-B14F-4D97-AF65-F5344CB8AC3E}">
        <p14:creationId xmlns:p14="http://schemas.microsoft.com/office/powerpoint/2010/main" val="7540930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7F143C-FFC7-4AB3-82E6-343F2BFB6DDD}"/>
              </a:ext>
            </a:extLst>
          </p:cNvPr>
          <p:cNvSpPr>
            <a:spLocks noGrp="1"/>
          </p:cNvSpPr>
          <p:nvPr>
            <p:ph type="title"/>
          </p:nvPr>
        </p:nvSpPr>
        <p:spPr/>
        <p:txBody>
          <a:bodyPr/>
          <a:lstStyle/>
          <a:p>
            <a:r>
              <a:rPr kumimoji="1" lang="ja-JP" altLang="en-US" dirty="0"/>
              <a:t>実験</a:t>
            </a:r>
            <a:r>
              <a:rPr kumimoji="1" lang="en-US" altLang="ja-JP" dirty="0"/>
              <a:t>2.2</a:t>
            </a:r>
            <a:r>
              <a:rPr kumimoji="1" lang="ja-JP" altLang="en-US" dirty="0"/>
              <a:t>：近似回数</a:t>
            </a:r>
            <a:r>
              <a:rPr lang="ja-JP" altLang="en-US" dirty="0"/>
              <a:t>を比較</a:t>
            </a:r>
            <a:endParaRPr kumimoji="1" lang="ja-JP" altLang="en-US" dirty="0"/>
          </a:p>
        </p:txBody>
      </p:sp>
      <p:sp>
        <p:nvSpPr>
          <p:cNvPr id="4" name="スライド番号プレースホルダー 3">
            <a:extLst>
              <a:ext uri="{FF2B5EF4-FFF2-40B4-BE49-F238E27FC236}">
                <a16:creationId xmlns:a16="http://schemas.microsoft.com/office/drawing/2014/main" id="{7A9D3A2A-3389-4103-9CAB-1FE176EF9752}"/>
              </a:ext>
            </a:extLst>
          </p:cNvPr>
          <p:cNvSpPr>
            <a:spLocks noGrp="1"/>
          </p:cNvSpPr>
          <p:nvPr>
            <p:ph type="sldNum" sz="quarter" idx="12"/>
          </p:nvPr>
        </p:nvSpPr>
        <p:spPr/>
        <p:txBody>
          <a:bodyPr/>
          <a:lstStyle/>
          <a:p>
            <a:r>
              <a:rPr kumimoji="1" lang="en-US" altLang="ja-JP" dirty="0"/>
              <a:t>27</a:t>
            </a:r>
            <a:endParaRPr kumimoji="1" lang="ja-JP" altLang="en-US" dirty="0"/>
          </a:p>
        </p:txBody>
      </p:sp>
      <p:pic>
        <p:nvPicPr>
          <p:cNvPr id="13" name="図 12" descr="テーブル が含まれている画像&#10;&#10;自動的に生成された説明">
            <a:extLst>
              <a:ext uri="{FF2B5EF4-FFF2-40B4-BE49-F238E27FC236}">
                <a16:creationId xmlns:a16="http://schemas.microsoft.com/office/drawing/2014/main" id="{16A808FF-B1E7-4353-A72F-32DDB81E9B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67513" y="2453991"/>
            <a:ext cx="4586287" cy="2787290"/>
          </a:xfrm>
          <a:prstGeom prst="rect">
            <a:avLst/>
          </a:prstGeom>
        </p:spPr>
      </p:pic>
      <p:sp>
        <p:nvSpPr>
          <p:cNvPr id="17" name="四角形: 角を丸くする 16">
            <a:extLst>
              <a:ext uri="{FF2B5EF4-FFF2-40B4-BE49-F238E27FC236}">
                <a16:creationId xmlns:a16="http://schemas.microsoft.com/office/drawing/2014/main" id="{9629BA64-AE37-4425-9E63-888D77A0EED1}"/>
              </a:ext>
            </a:extLst>
          </p:cNvPr>
          <p:cNvSpPr/>
          <p:nvPr/>
        </p:nvSpPr>
        <p:spPr>
          <a:xfrm>
            <a:off x="6488296" y="1828165"/>
            <a:ext cx="5227320" cy="4710747"/>
          </a:xfrm>
          <a:prstGeom prst="roundRect">
            <a:avLst/>
          </a:prstGeom>
          <a:noFill/>
          <a:ln w="571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コンテンツ プレースホルダー 2">
            <a:extLst>
              <a:ext uri="{FF2B5EF4-FFF2-40B4-BE49-F238E27FC236}">
                <a16:creationId xmlns:a16="http://schemas.microsoft.com/office/drawing/2014/main" id="{E9E09B0A-3E72-4DBA-BAB9-93838E543982}"/>
              </a:ext>
            </a:extLst>
          </p:cNvPr>
          <p:cNvSpPr txBox="1">
            <a:spLocks/>
          </p:cNvSpPr>
          <p:nvPr/>
        </p:nvSpPr>
        <p:spPr>
          <a:xfrm>
            <a:off x="7047706" y="1475445"/>
            <a:ext cx="4025900" cy="567964"/>
          </a:xfrm>
          <a:prstGeom prst="rect">
            <a:avLst/>
          </a:prstGeom>
          <a:solidFill>
            <a:srgbClr val="E4E4E4"/>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en-US" altLang="ja-JP" sz="3200" dirty="0"/>
              <a:t>MNSIT</a:t>
            </a:r>
            <a:r>
              <a:rPr lang="ja-JP" altLang="en-US" sz="3200" dirty="0"/>
              <a:t>の分類問題</a:t>
            </a:r>
            <a:endParaRPr lang="en-US" altLang="ja-JP" sz="3200" dirty="0"/>
          </a:p>
        </p:txBody>
      </p:sp>
      <p:sp>
        <p:nvSpPr>
          <p:cNvPr id="25" name="テキスト ボックス 24">
            <a:extLst>
              <a:ext uri="{FF2B5EF4-FFF2-40B4-BE49-F238E27FC236}">
                <a16:creationId xmlns:a16="http://schemas.microsoft.com/office/drawing/2014/main" id="{3B5035E8-9D5A-4A43-95A9-DDF89AC9D3E1}"/>
              </a:ext>
            </a:extLst>
          </p:cNvPr>
          <p:cNvSpPr txBox="1"/>
          <p:nvPr/>
        </p:nvSpPr>
        <p:spPr>
          <a:xfrm>
            <a:off x="6808812" y="5241281"/>
            <a:ext cx="4586287" cy="954107"/>
          </a:xfrm>
          <a:prstGeom prst="rect">
            <a:avLst/>
          </a:prstGeom>
          <a:noFill/>
        </p:spPr>
        <p:txBody>
          <a:bodyPr wrap="square">
            <a:spAutoFit/>
          </a:bodyPr>
          <a:lstStyle/>
          <a:p>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縦横</a:t>
            </a:r>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28</a:t>
            </a:r>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ピクセルのモノクロの手書き数字の画像データ</a:t>
            </a:r>
            <a:endPar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p:sp>
        <p:nvSpPr>
          <p:cNvPr id="29" name="テキスト ボックス 28">
            <a:extLst>
              <a:ext uri="{FF2B5EF4-FFF2-40B4-BE49-F238E27FC236}">
                <a16:creationId xmlns:a16="http://schemas.microsoft.com/office/drawing/2014/main" id="{283D1395-5C15-47A6-AEAE-368918279661}"/>
              </a:ext>
            </a:extLst>
          </p:cNvPr>
          <p:cNvSpPr txBox="1"/>
          <p:nvPr/>
        </p:nvSpPr>
        <p:spPr>
          <a:xfrm>
            <a:off x="398460" y="2043409"/>
            <a:ext cx="5950227" cy="3539430"/>
          </a:xfrm>
          <a:prstGeom prst="rect">
            <a:avLst/>
          </a:prstGeom>
          <a:noFill/>
        </p:spPr>
        <p:txBody>
          <a:bodyPr wrap="square">
            <a:spAutoFit/>
          </a:bodyPr>
          <a:lstStyle/>
          <a:p>
            <a:pPr algn="ctr"/>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実験条件</a:t>
            </a:r>
            <a:endPar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endPar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Epoch : 20</a:t>
            </a:r>
          </a:p>
          <a:p>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Batch size : 512</a:t>
            </a:r>
          </a:p>
          <a:p>
            <a:endPar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Hutchinson</a:t>
            </a:r>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近似の近似回数</a:t>
            </a:r>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 3</a:t>
            </a:r>
          </a:p>
          <a:p>
            <a:endPar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r>
              <a:rPr lang="ja-JP" altLang="en-US" sz="2800" spc="-1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学習率：</a:t>
            </a:r>
            <a:r>
              <a:rPr lang="en-US" altLang="ja-JP" sz="2800" spc="-1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0.5, 0.1, 0.05, 0.01</a:t>
            </a:r>
          </a:p>
        </p:txBody>
      </p:sp>
    </p:spTree>
    <p:extLst>
      <p:ext uri="{BB962C8B-B14F-4D97-AF65-F5344CB8AC3E}">
        <p14:creationId xmlns:p14="http://schemas.microsoft.com/office/powerpoint/2010/main" val="37716594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タイトル 1">
            <a:extLst>
              <a:ext uri="{FF2B5EF4-FFF2-40B4-BE49-F238E27FC236}">
                <a16:creationId xmlns:a16="http://schemas.microsoft.com/office/drawing/2014/main" id="{6EF33510-F039-4968-BC7B-DAE75F4E9011}"/>
              </a:ext>
            </a:extLst>
          </p:cNvPr>
          <p:cNvSpPr>
            <a:spLocks noGrp="1"/>
          </p:cNvSpPr>
          <p:nvPr>
            <p:ph type="title"/>
          </p:nvPr>
        </p:nvSpPr>
        <p:spPr>
          <a:xfrm>
            <a:off x="838200" y="365125"/>
            <a:ext cx="10515600" cy="1325563"/>
          </a:xfrm>
        </p:spPr>
        <p:txBody>
          <a:bodyPr/>
          <a:lstStyle/>
          <a:p>
            <a:r>
              <a:rPr kumimoji="1" lang="ja-JP" altLang="en-US" dirty="0"/>
              <a:t>実験</a:t>
            </a:r>
            <a:r>
              <a:rPr lang="ja-JP" altLang="en-US" dirty="0"/>
              <a:t>結果</a:t>
            </a:r>
            <a:endParaRPr kumimoji="1" lang="ja-JP" altLang="en-US" dirty="0"/>
          </a:p>
        </p:txBody>
      </p:sp>
      <p:sp>
        <p:nvSpPr>
          <p:cNvPr id="11" name="正方形/長方形 10">
            <a:extLst>
              <a:ext uri="{FF2B5EF4-FFF2-40B4-BE49-F238E27FC236}">
                <a16:creationId xmlns:a16="http://schemas.microsoft.com/office/drawing/2014/main" id="{0B7D4948-FA3C-495D-9BF7-BAB0F9A30400}"/>
              </a:ext>
            </a:extLst>
          </p:cNvPr>
          <p:cNvSpPr/>
          <p:nvPr/>
        </p:nvSpPr>
        <p:spPr>
          <a:xfrm>
            <a:off x="139075" y="1804023"/>
            <a:ext cx="5795775" cy="35666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58A46062-1BA1-476D-B172-11F7E7557131}"/>
              </a:ext>
            </a:extLst>
          </p:cNvPr>
          <p:cNvSpPr/>
          <p:nvPr/>
        </p:nvSpPr>
        <p:spPr>
          <a:xfrm>
            <a:off x="6239650" y="1804022"/>
            <a:ext cx="5795775" cy="35666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スライド番号プレースホルダー 9">
            <a:extLst>
              <a:ext uri="{FF2B5EF4-FFF2-40B4-BE49-F238E27FC236}">
                <a16:creationId xmlns:a16="http://schemas.microsoft.com/office/drawing/2014/main" id="{DA4A2B7D-4893-4334-9B93-0DB5990315FF}"/>
              </a:ext>
            </a:extLst>
          </p:cNvPr>
          <p:cNvSpPr>
            <a:spLocks noGrp="1"/>
          </p:cNvSpPr>
          <p:nvPr>
            <p:ph type="sldNum" sz="quarter" idx="12"/>
          </p:nvPr>
        </p:nvSpPr>
        <p:spPr/>
        <p:txBody>
          <a:bodyPr/>
          <a:lstStyle/>
          <a:p>
            <a:r>
              <a:rPr kumimoji="1" lang="en-US" altLang="ja-JP" dirty="0"/>
              <a:t>28</a:t>
            </a:r>
            <a:endParaRPr kumimoji="1" lang="ja-JP" altLang="en-US" dirty="0"/>
          </a:p>
        </p:txBody>
      </p:sp>
      <p:sp>
        <p:nvSpPr>
          <p:cNvPr id="13" name="コンテンツ プレースホルダー 2">
            <a:extLst>
              <a:ext uri="{FF2B5EF4-FFF2-40B4-BE49-F238E27FC236}">
                <a16:creationId xmlns:a16="http://schemas.microsoft.com/office/drawing/2014/main" id="{3E3553C1-A1FE-40F4-B6F2-EC89A07B3E11}"/>
              </a:ext>
            </a:extLst>
          </p:cNvPr>
          <p:cNvSpPr txBox="1">
            <a:spLocks/>
          </p:cNvSpPr>
          <p:nvPr/>
        </p:nvSpPr>
        <p:spPr>
          <a:xfrm>
            <a:off x="838200" y="5483988"/>
            <a:ext cx="4994275" cy="5114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None/>
            </a:pPr>
            <a:r>
              <a:rPr lang="en-US" altLang="ja-JP" dirty="0"/>
              <a:t>Train loss</a:t>
            </a:r>
          </a:p>
        </p:txBody>
      </p:sp>
      <p:sp>
        <p:nvSpPr>
          <p:cNvPr id="14" name="コンテンツ プレースホルダー 2">
            <a:extLst>
              <a:ext uri="{FF2B5EF4-FFF2-40B4-BE49-F238E27FC236}">
                <a16:creationId xmlns:a16="http://schemas.microsoft.com/office/drawing/2014/main" id="{D0F6C5BE-FF1F-48A4-9D0C-5A997CC80878}"/>
              </a:ext>
            </a:extLst>
          </p:cNvPr>
          <p:cNvSpPr txBox="1">
            <a:spLocks/>
          </p:cNvSpPr>
          <p:nvPr/>
        </p:nvSpPr>
        <p:spPr>
          <a:xfrm>
            <a:off x="6832555" y="5483987"/>
            <a:ext cx="4994275" cy="5114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None/>
            </a:pPr>
            <a:r>
              <a:rPr lang="en-US" altLang="ja-JP" dirty="0"/>
              <a:t>Test accuracy</a:t>
            </a:r>
          </a:p>
        </p:txBody>
      </p:sp>
      <p:pic>
        <p:nvPicPr>
          <p:cNvPr id="3" name="図 2" descr="グラフ, 折れ線グラフ&#10;&#10;自動的に生成された説明">
            <a:extLst>
              <a:ext uri="{FF2B5EF4-FFF2-40B4-BE49-F238E27FC236}">
                <a16:creationId xmlns:a16="http://schemas.microsoft.com/office/drawing/2014/main" id="{906955CF-8DFB-4F67-BCEB-694CEF0094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6878" y="1804022"/>
            <a:ext cx="5360168" cy="3638417"/>
          </a:xfrm>
          <a:prstGeom prst="rect">
            <a:avLst/>
          </a:prstGeom>
        </p:spPr>
      </p:pic>
      <p:pic>
        <p:nvPicPr>
          <p:cNvPr id="5" name="図 4" descr="グラフ, 折れ線グラフ&#10;&#10;自動的に生成された説明">
            <a:extLst>
              <a:ext uri="{FF2B5EF4-FFF2-40B4-BE49-F238E27FC236}">
                <a16:creationId xmlns:a16="http://schemas.microsoft.com/office/drawing/2014/main" id="{EB831D92-59BB-4D10-A26A-503C4CAFAC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57453" y="1845571"/>
            <a:ext cx="5360167" cy="3638416"/>
          </a:xfrm>
          <a:prstGeom prst="rect">
            <a:avLst/>
          </a:prstGeom>
        </p:spPr>
      </p:pic>
    </p:spTree>
    <p:extLst>
      <p:ext uri="{BB962C8B-B14F-4D97-AF65-F5344CB8AC3E}">
        <p14:creationId xmlns:p14="http://schemas.microsoft.com/office/powerpoint/2010/main" val="30330312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7F143C-FFC7-4AB3-82E6-343F2BFB6DDD}"/>
              </a:ext>
            </a:extLst>
          </p:cNvPr>
          <p:cNvSpPr>
            <a:spLocks noGrp="1"/>
          </p:cNvSpPr>
          <p:nvPr>
            <p:ph type="title"/>
          </p:nvPr>
        </p:nvSpPr>
        <p:spPr/>
        <p:txBody>
          <a:bodyPr/>
          <a:lstStyle/>
          <a:p>
            <a:r>
              <a:rPr kumimoji="1" lang="ja-JP" altLang="en-US" dirty="0"/>
              <a:t>実験</a:t>
            </a:r>
            <a:r>
              <a:rPr kumimoji="1" lang="en-US" altLang="ja-JP" dirty="0"/>
              <a:t>2.3</a:t>
            </a:r>
            <a:r>
              <a:rPr kumimoji="1" lang="ja-JP" altLang="en-US" dirty="0"/>
              <a:t>：他の手法と</a:t>
            </a:r>
            <a:r>
              <a:rPr lang="ja-JP" altLang="en-US" dirty="0"/>
              <a:t>比較</a:t>
            </a:r>
            <a:endParaRPr kumimoji="1" lang="ja-JP" altLang="en-US" dirty="0"/>
          </a:p>
        </p:txBody>
      </p:sp>
      <p:sp>
        <p:nvSpPr>
          <p:cNvPr id="4" name="スライド番号プレースホルダー 3">
            <a:extLst>
              <a:ext uri="{FF2B5EF4-FFF2-40B4-BE49-F238E27FC236}">
                <a16:creationId xmlns:a16="http://schemas.microsoft.com/office/drawing/2014/main" id="{7A9D3A2A-3389-4103-9CAB-1FE176EF9752}"/>
              </a:ext>
            </a:extLst>
          </p:cNvPr>
          <p:cNvSpPr>
            <a:spLocks noGrp="1"/>
          </p:cNvSpPr>
          <p:nvPr>
            <p:ph type="sldNum" sz="quarter" idx="12"/>
          </p:nvPr>
        </p:nvSpPr>
        <p:spPr/>
        <p:txBody>
          <a:bodyPr/>
          <a:lstStyle/>
          <a:p>
            <a:r>
              <a:rPr kumimoji="1" lang="en-US" altLang="ja-JP" dirty="0"/>
              <a:t>29</a:t>
            </a:r>
            <a:endParaRPr kumimoji="1" lang="ja-JP" altLang="en-US" dirty="0"/>
          </a:p>
        </p:txBody>
      </p:sp>
      <p:pic>
        <p:nvPicPr>
          <p:cNvPr id="13" name="図 12" descr="テーブル が含まれている画像&#10;&#10;自動的に生成された説明">
            <a:extLst>
              <a:ext uri="{FF2B5EF4-FFF2-40B4-BE49-F238E27FC236}">
                <a16:creationId xmlns:a16="http://schemas.microsoft.com/office/drawing/2014/main" id="{16A808FF-B1E7-4353-A72F-32DDB81E9B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67513" y="2453991"/>
            <a:ext cx="4586287" cy="2787290"/>
          </a:xfrm>
          <a:prstGeom prst="rect">
            <a:avLst/>
          </a:prstGeom>
        </p:spPr>
      </p:pic>
      <p:sp>
        <p:nvSpPr>
          <p:cNvPr id="17" name="四角形: 角を丸くする 16">
            <a:extLst>
              <a:ext uri="{FF2B5EF4-FFF2-40B4-BE49-F238E27FC236}">
                <a16:creationId xmlns:a16="http://schemas.microsoft.com/office/drawing/2014/main" id="{9629BA64-AE37-4425-9E63-888D77A0EED1}"/>
              </a:ext>
            </a:extLst>
          </p:cNvPr>
          <p:cNvSpPr/>
          <p:nvPr/>
        </p:nvSpPr>
        <p:spPr>
          <a:xfrm>
            <a:off x="6488296" y="1828165"/>
            <a:ext cx="5227320" cy="4710747"/>
          </a:xfrm>
          <a:prstGeom prst="roundRect">
            <a:avLst/>
          </a:prstGeom>
          <a:noFill/>
          <a:ln w="571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コンテンツ プレースホルダー 2">
            <a:extLst>
              <a:ext uri="{FF2B5EF4-FFF2-40B4-BE49-F238E27FC236}">
                <a16:creationId xmlns:a16="http://schemas.microsoft.com/office/drawing/2014/main" id="{E9E09B0A-3E72-4DBA-BAB9-93838E543982}"/>
              </a:ext>
            </a:extLst>
          </p:cNvPr>
          <p:cNvSpPr txBox="1">
            <a:spLocks/>
          </p:cNvSpPr>
          <p:nvPr/>
        </p:nvSpPr>
        <p:spPr>
          <a:xfrm>
            <a:off x="7047706" y="1475445"/>
            <a:ext cx="4025900" cy="567964"/>
          </a:xfrm>
          <a:prstGeom prst="rect">
            <a:avLst/>
          </a:prstGeom>
          <a:solidFill>
            <a:srgbClr val="E4E4E4"/>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en-US" altLang="ja-JP" sz="3200" dirty="0"/>
              <a:t>MNSIT</a:t>
            </a:r>
            <a:r>
              <a:rPr lang="ja-JP" altLang="en-US" sz="3200" dirty="0"/>
              <a:t>の分類問題</a:t>
            </a:r>
            <a:endParaRPr lang="en-US" altLang="ja-JP" sz="3200" dirty="0"/>
          </a:p>
        </p:txBody>
      </p:sp>
      <p:sp>
        <p:nvSpPr>
          <p:cNvPr id="25" name="テキスト ボックス 24">
            <a:extLst>
              <a:ext uri="{FF2B5EF4-FFF2-40B4-BE49-F238E27FC236}">
                <a16:creationId xmlns:a16="http://schemas.microsoft.com/office/drawing/2014/main" id="{3B5035E8-9D5A-4A43-95A9-DDF89AC9D3E1}"/>
              </a:ext>
            </a:extLst>
          </p:cNvPr>
          <p:cNvSpPr txBox="1"/>
          <p:nvPr/>
        </p:nvSpPr>
        <p:spPr>
          <a:xfrm>
            <a:off x="6808812" y="5241281"/>
            <a:ext cx="4586287" cy="954107"/>
          </a:xfrm>
          <a:prstGeom prst="rect">
            <a:avLst/>
          </a:prstGeom>
          <a:noFill/>
        </p:spPr>
        <p:txBody>
          <a:bodyPr wrap="square">
            <a:spAutoFit/>
          </a:bodyPr>
          <a:lstStyle/>
          <a:p>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縦横</a:t>
            </a:r>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28</a:t>
            </a:r>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ピクセルのモノクロの手書き数字の画像データ</a:t>
            </a:r>
            <a:endPar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p:sp>
        <p:nvSpPr>
          <p:cNvPr id="29" name="テキスト ボックス 28">
            <a:extLst>
              <a:ext uri="{FF2B5EF4-FFF2-40B4-BE49-F238E27FC236}">
                <a16:creationId xmlns:a16="http://schemas.microsoft.com/office/drawing/2014/main" id="{283D1395-5C15-47A6-AEAE-368918279661}"/>
              </a:ext>
            </a:extLst>
          </p:cNvPr>
          <p:cNvSpPr txBox="1"/>
          <p:nvPr/>
        </p:nvSpPr>
        <p:spPr>
          <a:xfrm>
            <a:off x="377811" y="2043409"/>
            <a:ext cx="5950227" cy="4401205"/>
          </a:xfrm>
          <a:prstGeom prst="rect">
            <a:avLst/>
          </a:prstGeom>
          <a:noFill/>
        </p:spPr>
        <p:txBody>
          <a:bodyPr wrap="square">
            <a:spAutoFit/>
          </a:bodyPr>
          <a:lstStyle/>
          <a:p>
            <a:pPr algn="ctr"/>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実験条件</a:t>
            </a:r>
            <a:endPar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endPar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Epoch : 20</a:t>
            </a:r>
          </a:p>
          <a:p>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Batch size : 512</a:t>
            </a:r>
          </a:p>
          <a:p>
            <a:endPar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提案手法の学習率 </a:t>
            </a:r>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 0.05</a:t>
            </a:r>
          </a:p>
          <a:p>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Hutchinson</a:t>
            </a:r>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近似のステップ数：</a:t>
            </a:r>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3</a:t>
            </a:r>
          </a:p>
          <a:p>
            <a:endPar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Adam</a:t>
            </a:r>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の学習率 ：</a:t>
            </a:r>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0.001</a:t>
            </a:r>
          </a:p>
          <a:p>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SGD</a:t>
            </a:r>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の学習率 ：</a:t>
            </a:r>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0.01</a:t>
            </a:r>
          </a:p>
        </p:txBody>
      </p:sp>
    </p:spTree>
    <p:extLst>
      <p:ext uri="{BB962C8B-B14F-4D97-AF65-F5344CB8AC3E}">
        <p14:creationId xmlns:p14="http://schemas.microsoft.com/office/powerpoint/2010/main" val="24820108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タイトル 1">
            <a:extLst>
              <a:ext uri="{FF2B5EF4-FFF2-40B4-BE49-F238E27FC236}">
                <a16:creationId xmlns:a16="http://schemas.microsoft.com/office/drawing/2014/main" id="{6EF33510-F039-4968-BC7B-DAE75F4E9011}"/>
              </a:ext>
            </a:extLst>
          </p:cNvPr>
          <p:cNvSpPr>
            <a:spLocks noGrp="1"/>
          </p:cNvSpPr>
          <p:nvPr>
            <p:ph type="title"/>
          </p:nvPr>
        </p:nvSpPr>
        <p:spPr>
          <a:xfrm>
            <a:off x="838200" y="365125"/>
            <a:ext cx="10515600" cy="1325563"/>
          </a:xfrm>
        </p:spPr>
        <p:txBody>
          <a:bodyPr/>
          <a:lstStyle/>
          <a:p>
            <a:r>
              <a:rPr kumimoji="1" lang="ja-JP" altLang="en-US" dirty="0"/>
              <a:t>実験</a:t>
            </a:r>
            <a:r>
              <a:rPr lang="ja-JP" altLang="en-US" dirty="0"/>
              <a:t>結果</a:t>
            </a:r>
            <a:endParaRPr kumimoji="1" lang="ja-JP" altLang="en-US" dirty="0"/>
          </a:p>
        </p:txBody>
      </p:sp>
      <p:sp>
        <p:nvSpPr>
          <p:cNvPr id="11" name="正方形/長方形 10">
            <a:extLst>
              <a:ext uri="{FF2B5EF4-FFF2-40B4-BE49-F238E27FC236}">
                <a16:creationId xmlns:a16="http://schemas.microsoft.com/office/drawing/2014/main" id="{0B7D4948-FA3C-495D-9BF7-BAB0F9A30400}"/>
              </a:ext>
            </a:extLst>
          </p:cNvPr>
          <p:cNvSpPr/>
          <p:nvPr/>
        </p:nvSpPr>
        <p:spPr>
          <a:xfrm>
            <a:off x="139075" y="1804023"/>
            <a:ext cx="5795775" cy="35666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58A46062-1BA1-476D-B172-11F7E7557131}"/>
              </a:ext>
            </a:extLst>
          </p:cNvPr>
          <p:cNvSpPr/>
          <p:nvPr/>
        </p:nvSpPr>
        <p:spPr>
          <a:xfrm>
            <a:off x="6239650" y="1804022"/>
            <a:ext cx="5795775" cy="35666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スライド番号プレースホルダー 9">
            <a:extLst>
              <a:ext uri="{FF2B5EF4-FFF2-40B4-BE49-F238E27FC236}">
                <a16:creationId xmlns:a16="http://schemas.microsoft.com/office/drawing/2014/main" id="{DA4A2B7D-4893-4334-9B93-0DB5990315FF}"/>
              </a:ext>
            </a:extLst>
          </p:cNvPr>
          <p:cNvSpPr>
            <a:spLocks noGrp="1"/>
          </p:cNvSpPr>
          <p:nvPr>
            <p:ph type="sldNum" sz="quarter" idx="12"/>
          </p:nvPr>
        </p:nvSpPr>
        <p:spPr/>
        <p:txBody>
          <a:bodyPr/>
          <a:lstStyle/>
          <a:p>
            <a:r>
              <a:rPr kumimoji="1" lang="en-US" altLang="ja-JP" dirty="0"/>
              <a:t>30</a:t>
            </a:r>
            <a:endParaRPr kumimoji="1" lang="ja-JP" altLang="en-US" dirty="0"/>
          </a:p>
        </p:txBody>
      </p:sp>
      <p:sp>
        <p:nvSpPr>
          <p:cNvPr id="13" name="コンテンツ プレースホルダー 2">
            <a:extLst>
              <a:ext uri="{FF2B5EF4-FFF2-40B4-BE49-F238E27FC236}">
                <a16:creationId xmlns:a16="http://schemas.microsoft.com/office/drawing/2014/main" id="{3E3553C1-A1FE-40F4-B6F2-EC89A07B3E11}"/>
              </a:ext>
            </a:extLst>
          </p:cNvPr>
          <p:cNvSpPr txBox="1">
            <a:spLocks/>
          </p:cNvSpPr>
          <p:nvPr/>
        </p:nvSpPr>
        <p:spPr>
          <a:xfrm>
            <a:off x="838200" y="5483988"/>
            <a:ext cx="4994275" cy="5114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None/>
            </a:pPr>
            <a:r>
              <a:rPr lang="en-US" altLang="ja-JP" dirty="0"/>
              <a:t>Train loss</a:t>
            </a:r>
          </a:p>
        </p:txBody>
      </p:sp>
      <p:sp>
        <p:nvSpPr>
          <p:cNvPr id="14" name="コンテンツ プレースホルダー 2">
            <a:extLst>
              <a:ext uri="{FF2B5EF4-FFF2-40B4-BE49-F238E27FC236}">
                <a16:creationId xmlns:a16="http://schemas.microsoft.com/office/drawing/2014/main" id="{D0F6C5BE-FF1F-48A4-9D0C-5A997CC80878}"/>
              </a:ext>
            </a:extLst>
          </p:cNvPr>
          <p:cNvSpPr txBox="1">
            <a:spLocks/>
          </p:cNvSpPr>
          <p:nvPr/>
        </p:nvSpPr>
        <p:spPr>
          <a:xfrm>
            <a:off x="6640399" y="5483987"/>
            <a:ext cx="4994275" cy="5114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None/>
            </a:pPr>
            <a:r>
              <a:rPr lang="en-US" altLang="ja-JP" dirty="0"/>
              <a:t>Test accuracy</a:t>
            </a:r>
          </a:p>
        </p:txBody>
      </p:sp>
      <p:pic>
        <p:nvPicPr>
          <p:cNvPr id="4" name="図 3" descr="図形 が含まれている画像&#10;&#10;自動的に生成された説明">
            <a:extLst>
              <a:ext uri="{FF2B5EF4-FFF2-40B4-BE49-F238E27FC236}">
                <a16:creationId xmlns:a16="http://schemas.microsoft.com/office/drawing/2014/main" id="{FD1D368A-2383-4B41-A455-09AAE30C0A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1989" y="1822165"/>
            <a:ext cx="5349945" cy="3566630"/>
          </a:xfrm>
          <a:prstGeom prst="rect">
            <a:avLst/>
          </a:prstGeom>
        </p:spPr>
      </p:pic>
      <p:pic>
        <p:nvPicPr>
          <p:cNvPr id="7" name="図 6" descr="ダイアグラム が含まれている画像&#10;&#10;自動的に生成された説明">
            <a:extLst>
              <a:ext uri="{FF2B5EF4-FFF2-40B4-BE49-F238E27FC236}">
                <a16:creationId xmlns:a16="http://schemas.microsoft.com/office/drawing/2014/main" id="{142C7647-5B46-426A-AE3A-41F779613C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10330" y="1822165"/>
            <a:ext cx="5254412" cy="3566631"/>
          </a:xfrm>
          <a:prstGeom prst="rect">
            <a:avLst/>
          </a:prstGeom>
        </p:spPr>
      </p:pic>
    </p:spTree>
    <p:extLst>
      <p:ext uri="{BB962C8B-B14F-4D97-AF65-F5344CB8AC3E}">
        <p14:creationId xmlns:p14="http://schemas.microsoft.com/office/powerpoint/2010/main" val="37829687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7F143C-FFC7-4AB3-82E6-343F2BFB6DDD}"/>
              </a:ext>
            </a:extLst>
          </p:cNvPr>
          <p:cNvSpPr>
            <a:spLocks noGrp="1"/>
          </p:cNvSpPr>
          <p:nvPr>
            <p:ph type="title"/>
          </p:nvPr>
        </p:nvSpPr>
        <p:spPr/>
        <p:txBody>
          <a:bodyPr/>
          <a:lstStyle/>
          <a:p>
            <a:r>
              <a:rPr kumimoji="1" lang="ja-JP" altLang="en-US" dirty="0"/>
              <a:t>実験</a:t>
            </a:r>
            <a:r>
              <a:rPr kumimoji="1" lang="en-US" altLang="ja-JP" dirty="0"/>
              <a:t>2.4</a:t>
            </a:r>
            <a:r>
              <a:rPr kumimoji="1" lang="ja-JP" altLang="en-US" dirty="0"/>
              <a:t>：バッチサイズを</a:t>
            </a:r>
            <a:r>
              <a:rPr lang="ja-JP" altLang="en-US" dirty="0"/>
              <a:t>比較</a:t>
            </a:r>
            <a:endParaRPr kumimoji="1" lang="ja-JP" altLang="en-US" dirty="0"/>
          </a:p>
        </p:txBody>
      </p:sp>
      <p:sp>
        <p:nvSpPr>
          <p:cNvPr id="4" name="スライド番号プレースホルダー 3">
            <a:extLst>
              <a:ext uri="{FF2B5EF4-FFF2-40B4-BE49-F238E27FC236}">
                <a16:creationId xmlns:a16="http://schemas.microsoft.com/office/drawing/2014/main" id="{7A9D3A2A-3389-4103-9CAB-1FE176EF9752}"/>
              </a:ext>
            </a:extLst>
          </p:cNvPr>
          <p:cNvSpPr>
            <a:spLocks noGrp="1"/>
          </p:cNvSpPr>
          <p:nvPr>
            <p:ph type="sldNum" sz="quarter" idx="12"/>
          </p:nvPr>
        </p:nvSpPr>
        <p:spPr/>
        <p:txBody>
          <a:bodyPr/>
          <a:lstStyle/>
          <a:p>
            <a:r>
              <a:rPr kumimoji="1" lang="en-US" altLang="ja-JP" dirty="0"/>
              <a:t>31</a:t>
            </a:r>
            <a:endParaRPr kumimoji="1" lang="ja-JP" altLang="en-US" dirty="0"/>
          </a:p>
        </p:txBody>
      </p:sp>
      <p:pic>
        <p:nvPicPr>
          <p:cNvPr id="13" name="図 12" descr="テーブル が含まれている画像&#10;&#10;自動的に生成された説明">
            <a:extLst>
              <a:ext uri="{FF2B5EF4-FFF2-40B4-BE49-F238E27FC236}">
                <a16:creationId xmlns:a16="http://schemas.microsoft.com/office/drawing/2014/main" id="{16A808FF-B1E7-4353-A72F-32DDB81E9B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67513" y="2453991"/>
            <a:ext cx="4586287" cy="2787290"/>
          </a:xfrm>
          <a:prstGeom prst="rect">
            <a:avLst/>
          </a:prstGeom>
        </p:spPr>
      </p:pic>
      <p:sp>
        <p:nvSpPr>
          <p:cNvPr id="17" name="四角形: 角を丸くする 16">
            <a:extLst>
              <a:ext uri="{FF2B5EF4-FFF2-40B4-BE49-F238E27FC236}">
                <a16:creationId xmlns:a16="http://schemas.microsoft.com/office/drawing/2014/main" id="{9629BA64-AE37-4425-9E63-888D77A0EED1}"/>
              </a:ext>
            </a:extLst>
          </p:cNvPr>
          <p:cNvSpPr/>
          <p:nvPr/>
        </p:nvSpPr>
        <p:spPr>
          <a:xfrm>
            <a:off x="6488296" y="1828165"/>
            <a:ext cx="5227320" cy="4710747"/>
          </a:xfrm>
          <a:prstGeom prst="roundRect">
            <a:avLst/>
          </a:prstGeom>
          <a:noFill/>
          <a:ln w="571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コンテンツ プレースホルダー 2">
            <a:extLst>
              <a:ext uri="{FF2B5EF4-FFF2-40B4-BE49-F238E27FC236}">
                <a16:creationId xmlns:a16="http://schemas.microsoft.com/office/drawing/2014/main" id="{E9E09B0A-3E72-4DBA-BAB9-93838E543982}"/>
              </a:ext>
            </a:extLst>
          </p:cNvPr>
          <p:cNvSpPr txBox="1">
            <a:spLocks/>
          </p:cNvSpPr>
          <p:nvPr/>
        </p:nvSpPr>
        <p:spPr>
          <a:xfrm>
            <a:off x="7047706" y="1475445"/>
            <a:ext cx="4025900" cy="567964"/>
          </a:xfrm>
          <a:prstGeom prst="rect">
            <a:avLst/>
          </a:prstGeom>
          <a:solidFill>
            <a:srgbClr val="E4E4E4"/>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en-US" altLang="ja-JP" sz="3200" dirty="0"/>
              <a:t>MNSIT</a:t>
            </a:r>
            <a:r>
              <a:rPr lang="ja-JP" altLang="en-US" sz="3200" dirty="0"/>
              <a:t>の分類問題</a:t>
            </a:r>
            <a:endParaRPr lang="en-US" altLang="ja-JP" sz="3200" dirty="0"/>
          </a:p>
        </p:txBody>
      </p:sp>
      <p:sp>
        <p:nvSpPr>
          <p:cNvPr id="25" name="テキスト ボックス 24">
            <a:extLst>
              <a:ext uri="{FF2B5EF4-FFF2-40B4-BE49-F238E27FC236}">
                <a16:creationId xmlns:a16="http://schemas.microsoft.com/office/drawing/2014/main" id="{3B5035E8-9D5A-4A43-95A9-DDF89AC9D3E1}"/>
              </a:ext>
            </a:extLst>
          </p:cNvPr>
          <p:cNvSpPr txBox="1"/>
          <p:nvPr/>
        </p:nvSpPr>
        <p:spPr>
          <a:xfrm>
            <a:off x="6808812" y="5241281"/>
            <a:ext cx="4586287" cy="954107"/>
          </a:xfrm>
          <a:prstGeom prst="rect">
            <a:avLst/>
          </a:prstGeom>
          <a:noFill/>
        </p:spPr>
        <p:txBody>
          <a:bodyPr wrap="square">
            <a:spAutoFit/>
          </a:bodyPr>
          <a:lstStyle/>
          <a:p>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縦横</a:t>
            </a:r>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28</a:t>
            </a:r>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ピクセルのモノクロの手書き数字の画像データ</a:t>
            </a:r>
            <a:endPar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p:sp>
        <p:nvSpPr>
          <p:cNvPr id="29" name="テキスト ボックス 28">
            <a:extLst>
              <a:ext uri="{FF2B5EF4-FFF2-40B4-BE49-F238E27FC236}">
                <a16:creationId xmlns:a16="http://schemas.microsoft.com/office/drawing/2014/main" id="{283D1395-5C15-47A6-AEAE-368918279661}"/>
              </a:ext>
            </a:extLst>
          </p:cNvPr>
          <p:cNvSpPr txBox="1"/>
          <p:nvPr/>
        </p:nvSpPr>
        <p:spPr>
          <a:xfrm>
            <a:off x="377811" y="2043409"/>
            <a:ext cx="5950227" cy="4401205"/>
          </a:xfrm>
          <a:prstGeom prst="rect">
            <a:avLst/>
          </a:prstGeom>
          <a:noFill/>
        </p:spPr>
        <p:txBody>
          <a:bodyPr wrap="square">
            <a:spAutoFit/>
          </a:bodyPr>
          <a:lstStyle/>
          <a:p>
            <a:pPr algn="ctr"/>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実験条件</a:t>
            </a:r>
            <a:endPar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endPar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Epoch : 20</a:t>
            </a:r>
          </a:p>
          <a:p>
            <a:endPar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提案手法の学習率 </a:t>
            </a:r>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 0.05</a:t>
            </a:r>
          </a:p>
          <a:p>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Hutchinson</a:t>
            </a:r>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近似のステップ数：</a:t>
            </a:r>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3</a:t>
            </a:r>
          </a:p>
          <a:p>
            <a:endPar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Adam</a:t>
            </a:r>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の学習率 ：</a:t>
            </a:r>
            <a:r>
              <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0.001</a:t>
            </a:r>
          </a:p>
          <a:p>
            <a:endPar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r>
              <a:rPr lang="en-US" altLang="ja-JP" sz="2800" spc="-15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Batch size : 256, 512, 1024, 2048</a:t>
            </a:r>
          </a:p>
        </p:txBody>
      </p:sp>
    </p:spTree>
    <p:extLst>
      <p:ext uri="{BB962C8B-B14F-4D97-AF65-F5344CB8AC3E}">
        <p14:creationId xmlns:p14="http://schemas.microsoft.com/office/powerpoint/2010/main" val="21576599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スライド番号プレースホルダー 9">
            <a:extLst>
              <a:ext uri="{FF2B5EF4-FFF2-40B4-BE49-F238E27FC236}">
                <a16:creationId xmlns:a16="http://schemas.microsoft.com/office/drawing/2014/main" id="{DA4A2B7D-4893-4334-9B93-0DB5990315FF}"/>
              </a:ext>
            </a:extLst>
          </p:cNvPr>
          <p:cNvSpPr>
            <a:spLocks noGrp="1"/>
          </p:cNvSpPr>
          <p:nvPr>
            <p:ph type="sldNum" sz="quarter" idx="12"/>
          </p:nvPr>
        </p:nvSpPr>
        <p:spPr/>
        <p:txBody>
          <a:bodyPr/>
          <a:lstStyle/>
          <a:p>
            <a:r>
              <a:rPr kumimoji="1" lang="en-US" altLang="ja-JP" dirty="0"/>
              <a:t>32</a:t>
            </a:r>
            <a:endParaRPr kumimoji="1" lang="ja-JP" altLang="en-US" dirty="0"/>
          </a:p>
        </p:txBody>
      </p:sp>
      <p:sp>
        <p:nvSpPr>
          <p:cNvPr id="29" name="正方形/長方形 28">
            <a:extLst>
              <a:ext uri="{FF2B5EF4-FFF2-40B4-BE49-F238E27FC236}">
                <a16:creationId xmlns:a16="http://schemas.microsoft.com/office/drawing/2014/main" id="{B1BF2928-F2D7-4363-ADED-3D1AEFFE1E3B}"/>
              </a:ext>
            </a:extLst>
          </p:cNvPr>
          <p:cNvSpPr/>
          <p:nvPr/>
        </p:nvSpPr>
        <p:spPr>
          <a:xfrm>
            <a:off x="139075" y="1804023"/>
            <a:ext cx="5795775" cy="35666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コンテンツ プレースホルダー 2">
            <a:extLst>
              <a:ext uri="{FF2B5EF4-FFF2-40B4-BE49-F238E27FC236}">
                <a16:creationId xmlns:a16="http://schemas.microsoft.com/office/drawing/2014/main" id="{B0509314-E982-4EBB-94E0-22EA7A5677A9}"/>
              </a:ext>
            </a:extLst>
          </p:cNvPr>
          <p:cNvSpPr txBox="1">
            <a:spLocks/>
          </p:cNvSpPr>
          <p:nvPr/>
        </p:nvSpPr>
        <p:spPr>
          <a:xfrm>
            <a:off x="838200" y="5483988"/>
            <a:ext cx="4994275" cy="5114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None/>
            </a:pPr>
            <a:r>
              <a:rPr lang="en-US" altLang="ja-JP" dirty="0"/>
              <a:t>Train loss</a:t>
            </a:r>
          </a:p>
        </p:txBody>
      </p:sp>
      <p:sp>
        <p:nvSpPr>
          <p:cNvPr id="31" name="コンテンツ プレースホルダー 2">
            <a:extLst>
              <a:ext uri="{FF2B5EF4-FFF2-40B4-BE49-F238E27FC236}">
                <a16:creationId xmlns:a16="http://schemas.microsoft.com/office/drawing/2014/main" id="{3DCE5A2F-70E0-4DA1-A7AD-CDB454C0691E}"/>
              </a:ext>
            </a:extLst>
          </p:cNvPr>
          <p:cNvSpPr txBox="1">
            <a:spLocks/>
          </p:cNvSpPr>
          <p:nvPr/>
        </p:nvSpPr>
        <p:spPr>
          <a:xfrm>
            <a:off x="6640399" y="5483987"/>
            <a:ext cx="4994275" cy="5114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None/>
            </a:pPr>
            <a:r>
              <a:rPr lang="en-US" altLang="ja-JP" dirty="0"/>
              <a:t>Test accuracy</a:t>
            </a:r>
          </a:p>
        </p:txBody>
      </p:sp>
      <p:sp>
        <p:nvSpPr>
          <p:cNvPr id="32" name="正方形/長方形 31">
            <a:extLst>
              <a:ext uri="{FF2B5EF4-FFF2-40B4-BE49-F238E27FC236}">
                <a16:creationId xmlns:a16="http://schemas.microsoft.com/office/drawing/2014/main" id="{5477B12A-4A92-4634-8319-2F878046FA6A}"/>
              </a:ext>
            </a:extLst>
          </p:cNvPr>
          <p:cNvSpPr/>
          <p:nvPr/>
        </p:nvSpPr>
        <p:spPr>
          <a:xfrm>
            <a:off x="6239648" y="1804023"/>
            <a:ext cx="5795775" cy="35666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 name="図 3" descr="グラフィカル ユーザー インターフェイス が含まれている画像&#10;&#10;自動的に生成された説明">
            <a:extLst>
              <a:ext uri="{FF2B5EF4-FFF2-40B4-BE49-F238E27FC236}">
                <a16:creationId xmlns:a16="http://schemas.microsoft.com/office/drawing/2014/main" id="{FF4E0440-99BB-49B8-BA27-D0470BC8E1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0229" y="1804023"/>
            <a:ext cx="5448066" cy="3632044"/>
          </a:xfrm>
          <a:prstGeom prst="rect">
            <a:avLst/>
          </a:prstGeom>
        </p:spPr>
      </p:pic>
      <p:pic>
        <p:nvPicPr>
          <p:cNvPr id="8" name="図 7" descr="ダイアグラム&#10;&#10;自動的に生成された説明">
            <a:extLst>
              <a:ext uri="{FF2B5EF4-FFF2-40B4-BE49-F238E27FC236}">
                <a16:creationId xmlns:a16="http://schemas.microsoft.com/office/drawing/2014/main" id="{3741FC92-A4CB-4967-BDB8-A51D90F1DBA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33245" y="1839383"/>
            <a:ext cx="5395026" cy="3596684"/>
          </a:xfrm>
          <a:prstGeom prst="rect">
            <a:avLst/>
          </a:prstGeom>
        </p:spPr>
      </p:pic>
      <p:sp>
        <p:nvSpPr>
          <p:cNvPr id="13" name="タイトル 1">
            <a:extLst>
              <a:ext uri="{FF2B5EF4-FFF2-40B4-BE49-F238E27FC236}">
                <a16:creationId xmlns:a16="http://schemas.microsoft.com/office/drawing/2014/main" id="{C09DBE49-15C5-479B-B358-B2A6C9B1C6AD}"/>
              </a:ext>
            </a:extLst>
          </p:cNvPr>
          <p:cNvSpPr>
            <a:spLocks noGrp="1"/>
          </p:cNvSpPr>
          <p:nvPr>
            <p:ph type="title"/>
          </p:nvPr>
        </p:nvSpPr>
        <p:spPr>
          <a:xfrm>
            <a:off x="838200" y="365125"/>
            <a:ext cx="10515600" cy="1325563"/>
          </a:xfrm>
        </p:spPr>
        <p:txBody>
          <a:bodyPr/>
          <a:lstStyle/>
          <a:p>
            <a:r>
              <a:rPr kumimoji="1" lang="ja-JP" altLang="en-US" dirty="0"/>
              <a:t>実験</a:t>
            </a:r>
            <a:r>
              <a:rPr lang="ja-JP" altLang="en-US" dirty="0"/>
              <a:t>結果</a:t>
            </a:r>
            <a:endParaRPr kumimoji="1" lang="ja-JP" altLang="en-US" dirty="0"/>
          </a:p>
        </p:txBody>
      </p:sp>
    </p:spTree>
    <p:extLst>
      <p:ext uri="{BB962C8B-B14F-4D97-AF65-F5344CB8AC3E}">
        <p14:creationId xmlns:p14="http://schemas.microsoft.com/office/powerpoint/2010/main" val="1343131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0F202FF-8D7C-4376-BFBF-B442ADAB6C4C}"/>
              </a:ext>
            </a:extLst>
          </p:cNvPr>
          <p:cNvSpPr>
            <a:spLocks noGrp="1"/>
          </p:cNvSpPr>
          <p:nvPr>
            <p:ph type="title"/>
          </p:nvPr>
        </p:nvSpPr>
        <p:spPr/>
        <p:txBody>
          <a:bodyPr/>
          <a:lstStyle/>
          <a:p>
            <a:r>
              <a:rPr kumimoji="1" lang="ja-JP" altLang="en-US" dirty="0"/>
              <a:t>まとめ</a:t>
            </a:r>
          </a:p>
        </p:txBody>
      </p:sp>
      <p:sp>
        <p:nvSpPr>
          <p:cNvPr id="3" name="コンテンツ プレースホルダー 2">
            <a:extLst>
              <a:ext uri="{FF2B5EF4-FFF2-40B4-BE49-F238E27FC236}">
                <a16:creationId xmlns:a16="http://schemas.microsoft.com/office/drawing/2014/main" id="{52DD7415-7627-42E3-BDA6-0C7DA21E12F9}"/>
              </a:ext>
            </a:extLst>
          </p:cNvPr>
          <p:cNvSpPr>
            <a:spLocks noGrp="1"/>
          </p:cNvSpPr>
          <p:nvPr>
            <p:ph idx="1"/>
          </p:nvPr>
        </p:nvSpPr>
        <p:spPr>
          <a:xfrm>
            <a:off x="838200" y="1389557"/>
            <a:ext cx="10515600" cy="5267924"/>
          </a:xfrm>
        </p:spPr>
        <p:txBody>
          <a:bodyPr>
            <a:normAutofit fontScale="92500" lnSpcReduction="20000"/>
          </a:bodyPr>
          <a:lstStyle/>
          <a:p>
            <a:pPr>
              <a:lnSpc>
                <a:spcPct val="120000"/>
              </a:lnSpc>
            </a:pPr>
            <a:r>
              <a:rPr lang="en-US" altLang="ja-JP" dirty="0"/>
              <a:t>Hutchinson</a:t>
            </a:r>
            <a:r>
              <a:rPr lang="ja-JP" altLang="en-US" dirty="0"/>
              <a:t>手法を応用した方法を用いてヘッセ行列を対角化し計算効率を向上させた学習アルゴリズムを提案</a:t>
            </a:r>
            <a:endParaRPr lang="en-US" altLang="ja-JP" dirty="0"/>
          </a:p>
          <a:p>
            <a:endParaRPr lang="en-US" altLang="ja-JP" dirty="0"/>
          </a:p>
          <a:p>
            <a:r>
              <a:rPr lang="ja-JP" altLang="en-US" dirty="0"/>
              <a:t>実験を行った結果、提案手法が一次近似手法とくらべ早く収束ことがわかった</a:t>
            </a:r>
            <a:endParaRPr lang="en-US" altLang="ja-JP" dirty="0"/>
          </a:p>
          <a:p>
            <a:endParaRPr lang="en-US" altLang="ja-JP" dirty="0"/>
          </a:p>
          <a:p>
            <a:pPr marL="0" indent="0">
              <a:buNone/>
            </a:pPr>
            <a:r>
              <a:rPr lang="ja-JP" altLang="en-US" dirty="0"/>
              <a:t>今後の課題</a:t>
            </a:r>
            <a:endParaRPr lang="en-US" altLang="ja-JP" dirty="0"/>
          </a:p>
          <a:p>
            <a:r>
              <a:rPr lang="ja-JP" altLang="en-US" dirty="0"/>
              <a:t>他の問題設定でも機能するか調べる</a:t>
            </a:r>
            <a:endParaRPr lang="en-US" altLang="ja-JP" dirty="0"/>
          </a:p>
          <a:p>
            <a:pPr marL="0" indent="0">
              <a:buNone/>
            </a:pPr>
            <a:endParaRPr lang="en-US" altLang="ja-JP" dirty="0"/>
          </a:p>
          <a:p>
            <a:r>
              <a:rPr lang="ja-JP" altLang="en-US" dirty="0"/>
              <a:t>最適なハイパーパラメータを探索する</a:t>
            </a:r>
            <a:endParaRPr lang="en-US" altLang="ja-JP" dirty="0"/>
          </a:p>
          <a:p>
            <a:pPr marL="0" indent="0">
              <a:buNone/>
            </a:pPr>
            <a:endParaRPr lang="en-US" altLang="ja-JP" dirty="0"/>
          </a:p>
          <a:p>
            <a:r>
              <a:rPr lang="ja-JP" altLang="en-US" dirty="0"/>
              <a:t>本研究の学習アルゴリズムに慣性項を導入する</a:t>
            </a:r>
            <a:endParaRPr lang="en-US" altLang="ja-JP" dirty="0"/>
          </a:p>
        </p:txBody>
      </p:sp>
      <p:sp>
        <p:nvSpPr>
          <p:cNvPr id="4" name="スライド番号プレースホルダー 3">
            <a:extLst>
              <a:ext uri="{FF2B5EF4-FFF2-40B4-BE49-F238E27FC236}">
                <a16:creationId xmlns:a16="http://schemas.microsoft.com/office/drawing/2014/main" id="{2F1ED237-F8A1-498C-A354-A922496DDB61}"/>
              </a:ext>
            </a:extLst>
          </p:cNvPr>
          <p:cNvSpPr>
            <a:spLocks noGrp="1"/>
          </p:cNvSpPr>
          <p:nvPr>
            <p:ph type="sldNum" sz="quarter" idx="12"/>
          </p:nvPr>
        </p:nvSpPr>
        <p:spPr/>
        <p:txBody>
          <a:bodyPr/>
          <a:lstStyle/>
          <a:p>
            <a:r>
              <a:rPr kumimoji="1" lang="en-US" altLang="ja-JP" dirty="0"/>
              <a:t>33</a:t>
            </a:r>
            <a:endParaRPr kumimoji="1" lang="ja-JP" altLang="en-US" dirty="0"/>
          </a:p>
        </p:txBody>
      </p:sp>
    </p:spTree>
    <p:extLst>
      <p:ext uri="{BB962C8B-B14F-4D97-AF65-F5344CB8AC3E}">
        <p14:creationId xmlns:p14="http://schemas.microsoft.com/office/powerpoint/2010/main" val="8051530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7F143C-FFC7-4AB3-82E6-343F2BFB6DDD}"/>
              </a:ext>
            </a:extLst>
          </p:cNvPr>
          <p:cNvSpPr>
            <a:spLocks noGrp="1"/>
          </p:cNvSpPr>
          <p:nvPr>
            <p:ph type="title"/>
          </p:nvPr>
        </p:nvSpPr>
        <p:spPr/>
        <p:txBody>
          <a:bodyPr/>
          <a:lstStyle/>
          <a:p>
            <a:r>
              <a:rPr kumimoji="1" lang="ja-JP" altLang="en-US" dirty="0"/>
              <a:t>実験</a:t>
            </a:r>
            <a:r>
              <a:rPr lang="en-US" altLang="ja-JP" dirty="0"/>
              <a:t>1:Iris </a:t>
            </a:r>
            <a:r>
              <a:rPr lang="ja-JP" altLang="en-US" dirty="0"/>
              <a:t>近似回数比較</a:t>
            </a:r>
            <a:endParaRPr kumimoji="1" lang="ja-JP" altLang="en-US" dirty="0"/>
          </a:p>
        </p:txBody>
      </p:sp>
      <p:sp>
        <p:nvSpPr>
          <p:cNvPr id="3" name="コンテンツ プレースホルダー 2">
            <a:extLst>
              <a:ext uri="{FF2B5EF4-FFF2-40B4-BE49-F238E27FC236}">
                <a16:creationId xmlns:a16="http://schemas.microsoft.com/office/drawing/2014/main" id="{6A48A5E2-7160-4C91-979B-9F3A11D4A97F}"/>
              </a:ext>
            </a:extLst>
          </p:cNvPr>
          <p:cNvSpPr>
            <a:spLocks noGrp="1"/>
          </p:cNvSpPr>
          <p:nvPr>
            <p:ph idx="1"/>
          </p:nvPr>
        </p:nvSpPr>
        <p:spPr/>
        <p:txBody>
          <a:bodyPr>
            <a:normAutofit lnSpcReduction="10000"/>
          </a:bodyPr>
          <a:lstStyle/>
          <a:p>
            <a:pPr marL="0" indent="0">
              <a:buNone/>
            </a:pPr>
            <a:r>
              <a:rPr lang="ja-JP" altLang="en-US" dirty="0"/>
              <a:t>サンプル数 ：</a:t>
            </a:r>
            <a:r>
              <a:rPr lang="en-US" altLang="ja-JP" dirty="0"/>
              <a:t>150</a:t>
            </a:r>
            <a:endParaRPr kumimoji="1" lang="en-US" altLang="ja-JP" dirty="0"/>
          </a:p>
          <a:p>
            <a:pPr marL="0" indent="0">
              <a:buNone/>
            </a:pPr>
            <a:r>
              <a:rPr kumimoji="1" lang="ja-JP" altLang="en-US" dirty="0"/>
              <a:t>学習データ ：</a:t>
            </a:r>
            <a:r>
              <a:rPr kumimoji="1" lang="en-US" altLang="ja-JP" dirty="0"/>
              <a:t>120</a:t>
            </a:r>
          </a:p>
          <a:p>
            <a:pPr marL="0" indent="0">
              <a:buNone/>
            </a:pPr>
            <a:r>
              <a:rPr lang="ja-JP" altLang="en-US" dirty="0"/>
              <a:t>テストデータ</a:t>
            </a:r>
            <a:r>
              <a:rPr lang="en-ZA" altLang="ja-JP" dirty="0"/>
              <a:t>: </a:t>
            </a:r>
            <a:r>
              <a:rPr lang="en-US" altLang="ja-JP" dirty="0"/>
              <a:t>30</a:t>
            </a:r>
            <a:endParaRPr kumimoji="1" lang="ja-JP" altLang="en-US" dirty="0"/>
          </a:p>
          <a:p>
            <a:pPr marL="0" indent="0">
              <a:buNone/>
            </a:pPr>
            <a:endParaRPr kumimoji="1" lang="en-US" altLang="ja-JP" dirty="0"/>
          </a:p>
          <a:p>
            <a:pPr marL="0" indent="0">
              <a:buNone/>
            </a:pPr>
            <a:r>
              <a:rPr lang="en-US" altLang="ja-JP" dirty="0"/>
              <a:t>Epoch : 100</a:t>
            </a:r>
          </a:p>
          <a:p>
            <a:pPr marL="0" indent="0">
              <a:buNone/>
            </a:pPr>
            <a:r>
              <a:rPr kumimoji="1" lang="en-US" altLang="ja-JP" dirty="0"/>
              <a:t>B</a:t>
            </a:r>
            <a:r>
              <a:rPr lang="en-US" altLang="ja-JP" dirty="0"/>
              <a:t>atch size : 32</a:t>
            </a:r>
          </a:p>
          <a:p>
            <a:pPr marL="0" indent="0">
              <a:buNone/>
            </a:pPr>
            <a:endParaRPr lang="en-US" altLang="ja-JP" dirty="0"/>
          </a:p>
          <a:p>
            <a:pPr marL="0" indent="0">
              <a:buNone/>
            </a:pPr>
            <a:r>
              <a:rPr lang="ja-JP" altLang="en-US" dirty="0"/>
              <a:t>提案手法の学習率 </a:t>
            </a:r>
            <a:r>
              <a:rPr lang="en-US" altLang="ja-JP" dirty="0"/>
              <a:t>: 0.05</a:t>
            </a:r>
          </a:p>
          <a:p>
            <a:pPr marL="0" indent="0">
              <a:buNone/>
            </a:pPr>
            <a:r>
              <a:rPr lang="ja-JP" altLang="en-US" b="1" dirty="0"/>
              <a:t>比較する近似回数</a:t>
            </a:r>
            <a:r>
              <a:rPr lang="ja-JP" altLang="en-US" dirty="0"/>
              <a:t>：</a:t>
            </a:r>
            <a:r>
              <a:rPr lang="en-US" altLang="ja-JP" dirty="0"/>
              <a:t>1, 3, 5, 10</a:t>
            </a:r>
          </a:p>
        </p:txBody>
      </p:sp>
      <p:sp>
        <p:nvSpPr>
          <p:cNvPr id="6" name="四角形: 角を丸くする 5">
            <a:extLst>
              <a:ext uri="{FF2B5EF4-FFF2-40B4-BE49-F238E27FC236}">
                <a16:creationId xmlns:a16="http://schemas.microsoft.com/office/drawing/2014/main" id="{07FA0C86-60E5-4D56-A6C1-8A91B238C833}"/>
              </a:ext>
            </a:extLst>
          </p:cNvPr>
          <p:cNvSpPr/>
          <p:nvPr/>
        </p:nvSpPr>
        <p:spPr>
          <a:xfrm>
            <a:off x="6466114" y="4265046"/>
            <a:ext cx="1231900" cy="2133600"/>
          </a:xfrm>
          <a:prstGeom prst="round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latin typeface="UD デジタル 教科書体 NK-R" panose="02020400000000000000" pitchFamily="18" charset="-128"/>
                <a:ea typeface="UD デジタル 教科書体 NK-R" panose="02020400000000000000" pitchFamily="18" charset="-128"/>
              </a:rPr>
              <a:t>入力</a:t>
            </a:r>
            <a:endParaRPr kumimoji="1" lang="en-US" altLang="ja-JP" dirty="0">
              <a:latin typeface="UD デジタル 教科書体 NK-R" panose="02020400000000000000" pitchFamily="18" charset="-128"/>
              <a:ea typeface="UD デジタル 教科書体 NK-R" panose="02020400000000000000" pitchFamily="18" charset="-128"/>
            </a:endParaRPr>
          </a:p>
          <a:p>
            <a:pPr algn="ctr"/>
            <a:r>
              <a:rPr lang="en-US" altLang="ja-JP" dirty="0">
                <a:latin typeface="UD デジタル 教科書体 NK-R" panose="02020400000000000000" pitchFamily="18" charset="-128"/>
                <a:ea typeface="UD デジタル 教科書体 NK-R" panose="02020400000000000000" pitchFamily="18" charset="-128"/>
              </a:rPr>
              <a:t>4</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sp>
        <p:nvSpPr>
          <p:cNvPr id="7" name="四角形: 角を丸くする 6">
            <a:extLst>
              <a:ext uri="{FF2B5EF4-FFF2-40B4-BE49-F238E27FC236}">
                <a16:creationId xmlns:a16="http://schemas.microsoft.com/office/drawing/2014/main" id="{0B0EA647-1BA1-4B5D-B453-AAF77BEAB079}"/>
              </a:ext>
            </a:extLst>
          </p:cNvPr>
          <p:cNvSpPr/>
          <p:nvPr/>
        </p:nvSpPr>
        <p:spPr>
          <a:xfrm>
            <a:off x="8301264" y="4265046"/>
            <a:ext cx="1231900" cy="2133600"/>
          </a:xfrm>
          <a:prstGeom prst="round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latin typeface="UD デジタル 教科書体 NK-R" panose="02020400000000000000" pitchFamily="18" charset="-128"/>
                <a:ea typeface="UD デジタル 教科書体 NK-R" panose="02020400000000000000" pitchFamily="18" charset="-128"/>
              </a:rPr>
              <a:t>全結合</a:t>
            </a:r>
            <a:endParaRPr kumimoji="1" lang="en-US" altLang="ja-JP" dirty="0">
              <a:latin typeface="UD デジタル 教科書体 NK-R" panose="02020400000000000000" pitchFamily="18" charset="-128"/>
              <a:ea typeface="UD デジタル 教科書体 NK-R" panose="02020400000000000000" pitchFamily="18" charset="-128"/>
            </a:endParaRPr>
          </a:p>
          <a:p>
            <a:pPr algn="ctr"/>
            <a:r>
              <a:rPr lang="en-US" altLang="ja-JP" dirty="0">
                <a:latin typeface="UD デジタル 教科書体 NK-R" panose="02020400000000000000" pitchFamily="18" charset="-128"/>
                <a:ea typeface="UD デジタル 教科書体 NK-R" panose="02020400000000000000" pitchFamily="18" charset="-128"/>
              </a:rPr>
              <a:t>10</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sp>
        <p:nvSpPr>
          <p:cNvPr id="8" name="四角形: 角を丸くする 7">
            <a:extLst>
              <a:ext uri="{FF2B5EF4-FFF2-40B4-BE49-F238E27FC236}">
                <a16:creationId xmlns:a16="http://schemas.microsoft.com/office/drawing/2014/main" id="{8D62A5F2-561A-4050-A32E-2B74D3863662}"/>
              </a:ext>
            </a:extLst>
          </p:cNvPr>
          <p:cNvSpPr/>
          <p:nvPr/>
        </p:nvSpPr>
        <p:spPr>
          <a:xfrm>
            <a:off x="10136414" y="4265046"/>
            <a:ext cx="1231900" cy="2133600"/>
          </a:xfrm>
          <a:prstGeom prst="round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latin typeface="UD デジタル 教科書体 NK-R" panose="02020400000000000000" pitchFamily="18" charset="-128"/>
                <a:ea typeface="UD デジタル 教科書体 NK-R" panose="02020400000000000000" pitchFamily="18" charset="-128"/>
              </a:rPr>
              <a:t>全結合</a:t>
            </a:r>
            <a:endParaRPr kumimoji="1" lang="en-US" altLang="ja-JP" dirty="0">
              <a:latin typeface="UD デジタル 教科書体 NK-R" panose="02020400000000000000" pitchFamily="18" charset="-128"/>
              <a:ea typeface="UD デジタル 教科書体 NK-R" panose="02020400000000000000" pitchFamily="18" charset="-128"/>
            </a:endParaRPr>
          </a:p>
          <a:p>
            <a:pPr algn="ctr"/>
            <a:r>
              <a:rPr lang="en-US" altLang="ja-JP" dirty="0">
                <a:latin typeface="UD デジタル 教科書体 NK-R" panose="02020400000000000000" pitchFamily="18" charset="-128"/>
                <a:ea typeface="UD デジタル 教科書体 NK-R" panose="02020400000000000000" pitchFamily="18" charset="-128"/>
              </a:rPr>
              <a:t>(</a:t>
            </a:r>
            <a:r>
              <a:rPr lang="ja-JP" altLang="en-US" dirty="0">
                <a:latin typeface="UD デジタル 教科書体 NK-R" panose="02020400000000000000" pitchFamily="18" charset="-128"/>
                <a:ea typeface="UD デジタル 教科書体 NK-R" panose="02020400000000000000" pitchFamily="18" charset="-128"/>
              </a:rPr>
              <a:t>出力</a:t>
            </a:r>
            <a:r>
              <a:rPr lang="en-US" altLang="ja-JP" dirty="0">
                <a:latin typeface="UD デジタル 教科書体 NK-R" panose="02020400000000000000" pitchFamily="18" charset="-128"/>
                <a:ea typeface="UD デジタル 教科書体 NK-R" panose="02020400000000000000" pitchFamily="18" charset="-128"/>
              </a:rPr>
              <a:t>)</a:t>
            </a:r>
            <a:endParaRPr kumimoji="1" lang="en-US" altLang="ja-JP" dirty="0">
              <a:latin typeface="UD デジタル 教科書体 NK-R" panose="02020400000000000000" pitchFamily="18" charset="-128"/>
              <a:ea typeface="UD デジタル 教科書体 NK-R" panose="02020400000000000000" pitchFamily="18" charset="-128"/>
            </a:endParaRPr>
          </a:p>
          <a:p>
            <a:pPr algn="ctr"/>
            <a:r>
              <a:rPr lang="ja-JP" altLang="en-US">
                <a:latin typeface="UD デジタル 教科書体 NK-R" panose="02020400000000000000" pitchFamily="18" charset="-128"/>
                <a:ea typeface="UD デジタル 教科書体 NK-R" panose="02020400000000000000" pitchFamily="18" charset="-128"/>
              </a:rPr>
              <a:t>３</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cxnSp>
        <p:nvCxnSpPr>
          <p:cNvPr id="10" name="直線矢印コネクタ 9">
            <a:extLst>
              <a:ext uri="{FF2B5EF4-FFF2-40B4-BE49-F238E27FC236}">
                <a16:creationId xmlns:a16="http://schemas.microsoft.com/office/drawing/2014/main" id="{83C33F53-C4A6-4FF8-B805-47A16C0404A9}"/>
              </a:ext>
            </a:extLst>
          </p:cNvPr>
          <p:cNvCxnSpPr>
            <a:cxnSpLocks/>
            <a:endCxn id="7" idx="1"/>
          </p:cNvCxnSpPr>
          <p:nvPr/>
        </p:nvCxnSpPr>
        <p:spPr>
          <a:xfrm flipV="1">
            <a:off x="7698014" y="5331846"/>
            <a:ext cx="603250" cy="19050"/>
          </a:xfrm>
          <a:prstGeom prst="straightConnector1">
            <a:avLst/>
          </a:prstGeom>
          <a:ln w="762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CB6E5BB7-1121-4D48-8411-3C3408F2B42F}"/>
              </a:ext>
            </a:extLst>
          </p:cNvPr>
          <p:cNvCxnSpPr>
            <a:cxnSpLocks/>
            <a:stCxn id="7" idx="3"/>
            <a:endCxn id="8" idx="1"/>
          </p:cNvCxnSpPr>
          <p:nvPr/>
        </p:nvCxnSpPr>
        <p:spPr>
          <a:xfrm>
            <a:off x="9533164" y="5331846"/>
            <a:ext cx="603250" cy="0"/>
          </a:xfrm>
          <a:prstGeom prst="straightConnector1">
            <a:avLst/>
          </a:prstGeom>
          <a:ln w="762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 name="タイトル 1">
            <a:extLst>
              <a:ext uri="{FF2B5EF4-FFF2-40B4-BE49-F238E27FC236}">
                <a16:creationId xmlns:a16="http://schemas.microsoft.com/office/drawing/2014/main" id="{5AE0013F-8C36-4D8E-BA60-7376BAE9682B}"/>
              </a:ext>
            </a:extLst>
          </p:cNvPr>
          <p:cNvSpPr txBox="1">
            <a:spLocks/>
          </p:cNvSpPr>
          <p:nvPr/>
        </p:nvSpPr>
        <p:spPr>
          <a:xfrm>
            <a:off x="7688488" y="3781992"/>
            <a:ext cx="2457451" cy="445294"/>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kumimoji="1" sz="4400" kern="1200">
                <a:solidFill>
                  <a:schemeClr val="tx1"/>
                </a:solidFill>
                <a:latin typeface="UD デジタル 教科書体 NK-R" panose="02020400000000000000" pitchFamily="18" charset="-128"/>
                <a:ea typeface="UD デジタル 教科書体 NK-R" panose="02020400000000000000" pitchFamily="18" charset="-128"/>
                <a:cs typeface="+mj-cs"/>
              </a:defRPr>
            </a:lvl1pPr>
          </a:lstStyle>
          <a:p>
            <a:pPr algn="ctr"/>
            <a:r>
              <a:rPr lang="ja-JP" altLang="en-US" sz="3200" dirty="0">
                <a:solidFill>
                  <a:schemeClr val="tx1">
                    <a:lumMod val="75000"/>
                    <a:lumOff val="25000"/>
                  </a:schemeClr>
                </a:solidFill>
              </a:rPr>
              <a:t>ネットワーク</a:t>
            </a:r>
          </a:p>
        </p:txBody>
      </p:sp>
      <p:sp>
        <p:nvSpPr>
          <p:cNvPr id="4" name="スライド番号プレースホルダー 3">
            <a:extLst>
              <a:ext uri="{FF2B5EF4-FFF2-40B4-BE49-F238E27FC236}">
                <a16:creationId xmlns:a16="http://schemas.microsoft.com/office/drawing/2014/main" id="{7A9D3A2A-3389-4103-9CAB-1FE176EF9752}"/>
              </a:ext>
            </a:extLst>
          </p:cNvPr>
          <p:cNvSpPr>
            <a:spLocks noGrp="1"/>
          </p:cNvSpPr>
          <p:nvPr>
            <p:ph type="sldNum" sz="quarter" idx="12"/>
          </p:nvPr>
        </p:nvSpPr>
        <p:spPr/>
        <p:txBody>
          <a:bodyPr/>
          <a:lstStyle/>
          <a:p>
            <a:fld id="{E0941385-F5BA-408B-94FB-C48DC2364AB1}" type="slidenum">
              <a:rPr kumimoji="1" lang="ja-JP" altLang="en-US" smtClean="0"/>
              <a:t>42</a:t>
            </a:fld>
            <a:endParaRPr kumimoji="1" lang="ja-JP" altLang="en-US"/>
          </a:p>
        </p:txBody>
      </p:sp>
      <p:pic>
        <p:nvPicPr>
          <p:cNvPr id="14" name="図 13" descr="花が咲いている&#10;&#10;自動的に生成された説明">
            <a:extLst>
              <a:ext uri="{FF2B5EF4-FFF2-40B4-BE49-F238E27FC236}">
                <a16:creationId xmlns:a16="http://schemas.microsoft.com/office/drawing/2014/main" id="{152FB6BD-2DD7-4718-8531-E414748D65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59713" y="1526153"/>
            <a:ext cx="5715000" cy="1724025"/>
          </a:xfrm>
          <a:prstGeom prst="rect">
            <a:avLst/>
          </a:prstGeom>
        </p:spPr>
      </p:pic>
    </p:spTree>
    <p:extLst>
      <p:ext uri="{BB962C8B-B14F-4D97-AF65-F5344CB8AC3E}">
        <p14:creationId xmlns:p14="http://schemas.microsoft.com/office/powerpoint/2010/main" val="23884865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7F143C-FFC7-4AB3-82E6-343F2BFB6DDD}"/>
              </a:ext>
            </a:extLst>
          </p:cNvPr>
          <p:cNvSpPr>
            <a:spLocks noGrp="1"/>
          </p:cNvSpPr>
          <p:nvPr>
            <p:ph type="title"/>
          </p:nvPr>
        </p:nvSpPr>
        <p:spPr/>
        <p:txBody>
          <a:bodyPr/>
          <a:lstStyle/>
          <a:p>
            <a:r>
              <a:rPr kumimoji="1" lang="ja-JP" altLang="en-US" dirty="0"/>
              <a:t>実験</a:t>
            </a:r>
            <a:r>
              <a:rPr lang="en-US" altLang="ja-JP" dirty="0"/>
              <a:t>1:Iris</a:t>
            </a:r>
            <a:r>
              <a:rPr lang="ja-JP" altLang="en-US" dirty="0"/>
              <a:t>　学習率比較</a:t>
            </a:r>
            <a:endParaRPr kumimoji="1" lang="ja-JP" altLang="en-US" dirty="0"/>
          </a:p>
        </p:txBody>
      </p:sp>
      <p:sp>
        <p:nvSpPr>
          <p:cNvPr id="3" name="コンテンツ プレースホルダー 2">
            <a:extLst>
              <a:ext uri="{FF2B5EF4-FFF2-40B4-BE49-F238E27FC236}">
                <a16:creationId xmlns:a16="http://schemas.microsoft.com/office/drawing/2014/main" id="{6A48A5E2-7160-4C91-979B-9F3A11D4A97F}"/>
              </a:ext>
            </a:extLst>
          </p:cNvPr>
          <p:cNvSpPr>
            <a:spLocks noGrp="1"/>
          </p:cNvSpPr>
          <p:nvPr>
            <p:ph idx="1"/>
          </p:nvPr>
        </p:nvSpPr>
        <p:spPr/>
        <p:txBody>
          <a:bodyPr>
            <a:normAutofit/>
          </a:bodyPr>
          <a:lstStyle/>
          <a:p>
            <a:pPr marL="0" indent="0">
              <a:buNone/>
            </a:pPr>
            <a:r>
              <a:rPr kumimoji="1" lang="ja-JP" altLang="en-US" dirty="0"/>
              <a:t>学習データ ：</a:t>
            </a:r>
            <a:r>
              <a:rPr kumimoji="1" lang="en-US" altLang="ja-JP" dirty="0"/>
              <a:t>120</a:t>
            </a:r>
          </a:p>
          <a:p>
            <a:pPr marL="0" indent="0">
              <a:buNone/>
            </a:pPr>
            <a:r>
              <a:rPr lang="ja-JP" altLang="en-US" dirty="0"/>
              <a:t>テストデータ</a:t>
            </a:r>
            <a:r>
              <a:rPr lang="en-ZA" altLang="ja-JP" dirty="0"/>
              <a:t>: </a:t>
            </a:r>
            <a:r>
              <a:rPr lang="en-US" altLang="ja-JP" dirty="0"/>
              <a:t>30</a:t>
            </a:r>
            <a:endParaRPr kumimoji="1" lang="ja-JP" altLang="en-US" dirty="0"/>
          </a:p>
          <a:p>
            <a:pPr marL="0" indent="0">
              <a:buNone/>
            </a:pPr>
            <a:endParaRPr kumimoji="1" lang="en-US" altLang="ja-JP" dirty="0"/>
          </a:p>
          <a:p>
            <a:pPr marL="0" indent="0">
              <a:buNone/>
            </a:pPr>
            <a:r>
              <a:rPr lang="en-US" altLang="ja-JP" dirty="0"/>
              <a:t>Epoch : 100</a:t>
            </a:r>
          </a:p>
          <a:p>
            <a:pPr marL="0" indent="0">
              <a:buNone/>
            </a:pPr>
            <a:r>
              <a:rPr kumimoji="1" lang="en-US" altLang="ja-JP" dirty="0"/>
              <a:t>B</a:t>
            </a:r>
            <a:r>
              <a:rPr lang="en-US" altLang="ja-JP" dirty="0"/>
              <a:t>atch size : 32</a:t>
            </a:r>
          </a:p>
          <a:p>
            <a:pPr marL="0" indent="0">
              <a:buNone/>
            </a:pPr>
            <a:endParaRPr lang="en-US" altLang="ja-JP" dirty="0"/>
          </a:p>
          <a:p>
            <a:pPr marL="0" indent="0">
              <a:buNone/>
            </a:pPr>
            <a:r>
              <a:rPr lang="en-US" altLang="ja-JP" dirty="0"/>
              <a:t>Hutchinson</a:t>
            </a:r>
            <a:r>
              <a:rPr lang="ja-JP" altLang="en-US" dirty="0"/>
              <a:t>近似の近似回数</a:t>
            </a:r>
            <a:r>
              <a:rPr lang="en-US" altLang="ja-JP" dirty="0"/>
              <a:t>: 3</a:t>
            </a:r>
          </a:p>
          <a:p>
            <a:pPr marL="0" indent="0">
              <a:buNone/>
            </a:pPr>
            <a:r>
              <a:rPr lang="ja-JP" altLang="en-US" b="1" dirty="0"/>
              <a:t>比較する学習率</a:t>
            </a:r>
            <a:r>
              <a:rPr lang="ja-JP" altLang="en-US" dirty="0"/>
              <a:t>：</a:t>
            </a:r>
            <a:r>
              <a:rPr lang="en-US" altLang="ja-JP" dirty="0"/>
              <a:t>0.5, 0.1, 0.05, 0.01</a:t>
            </a:r>
          </a:p>
        </p:txBody>
      </p:sp>
      <p:sp>
        <p:nvSpPr>
          <p:cNvPr id="6" name="四角形: 角を丸くする 5">
            <a:extLst>
              <a:ext uri="{FF2B5EF4-FFF2-40B4-BE49-F238E27FC236}">
                <a16:creationId xmlns:a16="http://schemas.microsoft.com/office/drawing/2014/main" id="{07FA0C86-60E5-4D56-A6C1-8A91B238C833}"/>
              </a:ext>
            </a:extLst>
          </p:cNvPr>
          <p:cNvSpPr/>
          <p:nvPr/>
        </p:nvSpPr>
        <p:spPr>
          <a:xfrm>
            <a:off x="7067550" y="4265047"/>
            <a:ext cx="1231900" cy="2133600"/>
          </a:xfrm>
          <a:prstGeom prst="round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latin typeface="UD デジタル 教科書体 NK-R" panose="02020400000000000000" pitchFamily="18" charset="-128"/>
                <a:ea typeface="UD デジタル 教科書体 NK-R" panose="02020400000000000000" pitchFamily="18" charset="-128"/>
              </a:rPr>
              <a:t>入力</a:t>
            </a:r>
            <a:endParaRPr kumimoji="1" lang="en-US" altLang="ja-JP" dirty="0">
              <a:latin typeface="UD デジタル 教科書体 NK-R" panose="02020400000000000000" pitchFamily="18" charset="-128"/>
              <a:ea typeface="UD デジタル 教科書体 NK-R" panose="02020400000000000000" pitchFamily="18" charset="-128"/>
            </a:endParaRPr>
          </a:p>
          <a:p>
            <a:pPr algn="ctr"/>
            <a:r>
              <a:rPr lang="en-US" altLang="ja-JP" dirty="0">
                <a:latin typeface="UD デジタル 教科書体 NK-R" panose="02020400000000000000" pitchFamily="18" charset="-128"/>
                <a:ea typeface="UD デジタル 教科書体 NK-R" panose="02020400000000000000" pitchFamily="18" charset="-128"/>
              </a:rPr>
              <a:t>4</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sp>
        <p:nvSpPr>
          <p:cNvPr id="7" name="四角形: 角を丸くする 6">
            <a:extLst>
              <a:ext uri="{FF2B5EF4-FFF2-40B4-BE49-F238E27FC236}">
                <a16:creationId xmlns:a16="http://schemas.microsoft.com/office/drawing/2014/main" id="{0B0EA647-1BA1-4B5D-B453-AAF77BEAB079}"/>
              </a:ext>
            </a:extLst>
          </p:cNvPr>
          <p:cNvSpPr/>
          <p:nvPr/>
        </p:nvSpPr>
        <p:spPr>
          <a:xfrm>
            <a:off x="8902700" y="4265047"/>
            <a:ext cx="1231900" cy="2133600"/>
          </a:xfrm>
          <a:prstGeom prst="round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latin typeface="UD デジタル 教科書体 NK-R" panose="02020400000000000000" pitchFamily="18" charset="-128"/>
                <a:ea typeface="UD デジタル 教科書体 NK-R" panose="02020400000000000000" pitchFamily="18" charset="-128"/>
              </a:rPr>
              <a:t>全結合</a:t>
            </a:r>
            <a:endParaRPr kumimoji="1" lang="en-US" altLang="ja-JP" dirty="0">
              <a:latin typeface="UD デジタル 教科書体 NK-R" panose="02020400000000000000" pitchFamily="18" charset="-128"/>
              <a:ea typeface="UD デジタル 教科書体 NK-R" panose="02020400000000000000" pitchFamily="18" charset="-128"/>
            </a:endParaRPr>
          </a:p>
          <a:p>
            <a:pPr algn="ctr"/>
            <a:r>
              <a:rPr lang="en-US" altLang="ja-JP" dirty="0">
                <a:latin typeface="UD デジタル 教科書体 NK-R" panose="02020400000000000000" pitchFamily="18" charset="-128"/>
                <a:ea typeface="UD デジタル 教科書体 NK-R" panose="02020400000000000000" pitchFamily="18" charset="-128"/>
              </a:rPr>
              <a:t>10</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sp>
        <p:nvSpPr>
          <p:cNvPr id="8" name="四角形: 角を丸くする 7">
            <a:extLst>
              <a:ext uri="{FF2B5EF4-FFF2-40B4-BE49-F238E27FC236}">
                <a16:creationId xmlns:a16="http://schemas.microsoft.com/office/drawing/2014/main" id="{8D62A5F2-561A-4050-A32E-2B74D3863662}"/>
              </a:ext>
            </a:extLst>
          </p:cNvPr>
          <p:cNvSpPr/>
          <p:nvPr/>
        </p:nvSpPr>
        <p:spPr>
          <a:xfrm>
            <a:off x="10737850" y="4265047"/>
            <a:ext cx="1231900" cy="2133600"/>
          </a:xfrm>
          <a:prstGeom prst="round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latin typeface="UD デジタル 教科書体 NK-R" panose="02020400000000000000" pitchFamily="18" charset="-128"/>
                <a:ea typeface="UD デジタル 教科書体 NK-R" panose="02020400000000000000" pitchFamily="18" charset="-128"/>
              </a:rPr>
              <a:t>全結合</a:t>
            </a:r>
            <a:endParaRPr kumimoji="1" lang="en-US" altLang="ja-JP" dirty="0">
              <a:latin typeface="UD デジタル 教科書体 NK-R" panose="02020400000000000000" pitchFamily="18" charset="-128"/>
              <a:ea typeface="UD デジタル 教科書体 NK-R" panose="02020400000000000000" pitchFamily="18" charset="-128"/>
            </a:endParaRPr>
          </a:p>
          <a:p>
            <a:pPr algn="ctr"/>
            <a:r>
              <a:rPr lang="en-US" altLang="ja-JP" dirty="0">
                <a:latin typeface="UD デジタル 教科書体 NK-R" panose="02020400000000000000" pitchFamily="18" charset="-128"/>
                <a:ea typeface="UD デジタル 教科書体 NK-R" panose="02020400000000000000" pitchFamily="18" charset="-128"/>
              </a:rPr>
              <a:t>(</a:t>
            </a:r>
            <a:r>
              <a:rPr lang="ja-JP" altLang="en-US" dirty="0">
                <a:latin typeface="UD デジタル 教科書体 NK-R" panose="02020400000000000000" pitchFamily="18" charset="-128"/>
                <a:ea typeface="UD デジタル 教科書体 NK-R" panose="02020400000000000000" pitchFamily="18" charset="-128"/>
              </a:rPr>
              <a:t>出力</a:t>
            </a:r>
            <a:r>
              <a:rPr lang="en-US" altLang="ja-JP" dirty="0">
                <a:latin typeface="UD デジタル 教科書体 NK-R" panose="02020400000000000000" pitchFamily="18" charset="-128"/>
                <a:ea typeface="UD デジタル 教科書体 NK-R" panose="02020400000000000000" pitchFamily="18" charset="-128"/>
              </a:rPr>
              <a:t>)</a:t>
            </a:r>
            <a:endParaRPr kumimoji="1" lang="en-US" altLang="ja-JP" dirty="0">
              <a:latin typeface="UD デジタル 教科書体 NK-R" panose="02020400000000000000" pitchFamily="18" charset="-128"/>
              <a:ea typeface="UD デジタル 教科書体 NK-R" panose="02020400000000000000" pitchFamily="18" charset="-128"/>
            </a:endParaRPr>
          </a:p>
          <a:p>
            <a:pPr algn="ctr"/>
            <a:r>
              <a:rPr lang="ja-JP" altLang="en-US">
                <a:latin typeface="UD デジタル 教科書体 NK-R" panose="02020400000000000000" pitchFamily="18" charset="-128"/>
                <a:ea typeface="UD デジタル 教科書体 NK-R" panose="02020400000000000000" pitchFamily="18" charset="-128"/>
              </a:rPr>
              <a:t>３</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cxnSp>
        <p:nvCxnSpPr>
          <p:cNvPr id="10" name="直線矢印コネクタ 9">
            <a:extLst>
              <a:ext uri="{FF2B5EF4-FFF2-40B4-BE49-F238E27FC236}">
                <a16:creationId xmlns:a16="http://schemas.microsoft.com/office/drawing/2014/main" id="{83C33F53-C4A6-4FF8-B805-47A16C0404A9}"/>
              </a:ext>
            </a:extLst>
          </p:cNvPr>
          <p:cNvCxnSpPr>
            <a:cxnSpLocks/>
            <a:endCxn id="7" idx="1"/>
          </p:cNvCxnSpPr>
          <p:nvPr/>
        </p:nvCxnSpPr>
        <p:spPr>
          <a:xfrm flipV="1">
            <a:off x="8299450" y="5331847"/>
            <a:ext cx="603250" cy="19050"/>
          </a:xfrm>
          <a:prstGeom prst="straightConnector1">
            <a:avLst/>
          </a:prstGeom>
          <a:ln w="762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CB6E5BB7-1121-4D48-8411-3C3408F2B42F}"/>
              </a:ext>
            </a:extLst>
          </p:cNvPr>
          <p:cNvCxnSpPr>
            <a:cxnSpLocks/>
            <a:stCxn id="7" idx="3"/>
            <a:endCxn id="8" idx="1"/>
          </p:cNvCxnSpPr>
          <p:nvPr/>
        </p:nvCxnSpPr>
        <p:spPr>
          <a:xfrm>
            <a:off x="10134600" y="5331847"/>
            <a:ext cx="603250" cy="0"/>
          </a:xfrm>
          <a:prstGeom prst="straightConnector1">
            <a:avLst/>
          </a:prstGeom>
          <a:ln w="762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 name="タイトル 1">
            <a:extLst>
              <a:ext uri="{FF2B5EF4-FFF2-40B4-BE49-F238E27FC236}">
                <a16:creationId xmlns:a16="http://schemas.microsoft.com/office/drawing/2014/main" id="{5AE0013F-8C36-4D8E-BA60-7376BAE9682B}"/>
              </a:ext>
            </a:extLst>
          </p:cNvPr>
          <p:cNvSpPr txBox="1">
            <a:spLocks/>
          </p:cNvSpPr>
          <p:nvPr/>
        </p:nvSpPr>
        <p:spPr>
          <a:xfrm>
            <a:off x="8289924" y="3781993"/>
            <a:ext cx="2457451" cy="445294"/>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kumimoji="1" sz="4400" kern="1200">
                <a:solidFill>
                  <a:schemeClr val="tx1"/>
                </a:solidFill>
                <a:latin typeface="UD デジタル 教科書体 NK-R" panose="02020400000000000000" pitchFamily="18" charset="-128"/>
                <a:ea typeface="UD デジタル 教科書体 NK-R" panose="02020400000000000000" pitchFamily="18" charset="-128"/>
                <a:cs typeface="+mj-cs"/>
              </a:defRPr>
            </a:lvl1pPr>
          </a:lstStyle>
          <a:p>
            <a:pPr algn="ctr"/>
            <a:r>
              <a:rPr lang="ja-JP" altLang="en-US" sz="3200" dirty="0">
                <a:solidFill>
                  <a:schemeClr val="tx1">
                    <a:lumMod val="75000"/>
                    <a:lumOff val="25000"/>
                  </a:schemeClr>
                </a:solidFill>
              </a:rPr>
              <a:t>ネットワーク</a:t>
            </a:r>
          </a:p>
        </p:txBody>
      </p:sp>
      <p:sp>
        <p:nvSpPr>
          <p:cNvPr id="4" name="スライド番号プレースホルダー 3">
            <a:extLst>
              <a:ext uri="{FF2B5EF4-FFF2-40B4-BE49-F238E27FC236}">
                <a16:creationId xmlns:a16="http://schemas.microsoft.com/office/drawing/2014/main" id="{7A9D3A2A-3389-4103-9CAB-1FE176EF9752}"/>
              </a:ext>
            </a:extLst>
          </p:cNvPr>
          <p:cNvSpPr>
            <a:spLocks noGrp="1"/>
          </p:cNvSpPr>
          <p:nvPr>
            <p:ph type="sldNum" sz="quarter" idx="12"/>
          </p:nvPr>
        </p:nvSpPr>
        <p:spPr/>
        <p:txBody>
          <a:bodyPr/>
          <a:lstStyle/>
          <a:p>
            <a:fld id="{E0941385-F5BA-408B-94FB-C48DC2364AB1}" type="slidenum">
              <a:rPr kumimoji="1" lang="ja-JP" altLang="en-US" smtClean="0"/>
              <a:t>43</a:t>
            </a:fld>
            <a:endParaRPr kumimoji="1" lang="ja-JP" altLang="en-US"/>
          </a:p>
        </p:txBody>
      </p:sp>
      <p:pic>
        <p:nvPicPr>
          <p:cNvPr id="14" name="図 13" descr="花が咲いている&#10;&#10;自動的に生成された説明">
            <a:extLst>
              <a:ext uri="{FF2B5EF4-FFF2-40B4-BE49-F238E27FC236}">
                <a16:creationId xmlns:a16="http://schemas.microsoft.com/office/drawing/2014/main" id="{152FB6BD-2DD7-4718-8531-E414748D65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59713" y="1526153"/>
            <a:ext cx="5715000" cy="1724025"/>
          </a:xfrm>
          <a:prstGeom prst="rect">
            <a:avLst/>
          </a:prstGeom>
        </p:spPr>
      </p:pic>
    </p:spTree>
    <p:extLst>
      <p:ext uri="{BB962C8B-B14F-4D97-AF65-F5344CB8AC3E}">
        <p14:creationId xmlns:p14="http://schemas.microsoft.com/office/powerpoint/2010/main" val="25437896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7F143C-FFC7-4AB3-82E6-343F2BFB6DDD}"/>
              </a:ext>
            </a:extLst>
          </p:cNvPr>
          <p:cNvSpPr>
            <a:spLocks noGrp="1"/>
          </p:cNvSpPr>
          <p:nvPr>
            <p:ph type="title"/>
          </p:nvPr>
        </p:nvSpPr>
        <p:spPr/>
        <p:txBody>
          <a:bodyPr/>
          <a:lstStyle/>
          <a:p>
            <a:r>
              <a:rPr kumimoji="1" lang="ja-JP" altLang="en-US" dirty="0"/>
              <a:t>実験</a:t>
            </a:r>
            <a:r>
              <a:rPr lang="en-US" altLang="ja-JP" dirty="0"/>
              <a:t>1:Iris</a:t>
            </a:r>
            <a:r>
              <a:rPr lang="ja-JP" altLang="en-US" dirty="0"/>
              <a:t>　他の手法と比較</a:t>
            </a:r>
            <a:endParaRPr kumimoji="1" lang="ja-JP" altLang="en-US" dirty="0"/>
          </a:p>
        </p:txBody>
      </p:sp>
      <p:sp>
        <p:nvSpPr>
          <p:cNvPr id="3" name="コンテンツ プレースホルダー 2">
            <a:extLst>
              <a:ext uri="{FF2B5EF4-FFF2-40B4-BE49-F238E27FC236}">
                <a16:creationId xmlns:a16="http://schemas.microsoft.com/office/drawing/2014/main" id="{6A48A5E2-7160-4C91-979B-9F3A11D4A97F}"/>
              </a:ext>
            </a:extLst>
          </p:cNvPr>
          <p:cNvSpPr>
            <a:spLocks noGrp="1"/>
          </p:cNvSpPr>
          <p:nvPr>
            <p:ph idx="1"/>
          </p:nvPr>
        </p:nvSpPr>
        <p:spPr/>
        <p:txBody>
          <a:bodyPr>
            <a:normAutofit fontScale="85000" lnSpcReduction="20000"/>
          </a:bodyPr>
          <a:lstStyle/>
          <a:p>
            <a:pPr marL="0" indent="0">
              <a:buNone/>
            </a:pPr>
            <a:r>
              <a:rPr kumimoji="1" lang="ja-JP" altLang="en-US" dirty="0"/>
              <a:t>学習データ ：</a:t>
            </a:r>
            <a:r>
              <a:rPr kumimoji="1" lang="en-US" altLang="ja-JP" dirty="0"/>
              <a:t>120</a:t>
            </a:r>
          </a:p>
          <a:p>
            <a:pPr marL="0" indent="0">
              <a:buNone/>
            </a:pPr>
            <a:r>
              <a:rPr lang="ja-JP" altLang="en-US" dirty="0"/>
              <a:t>テストデータ</a:t>
            </a:r>
            <a:r>
              <a:rPr lang="en-ZA" altLang="ja-JP" dirty="0"/>
              <a:t>: </a:t>
            </a:r>
            <a:r>
              <a:rPr lang="en-US" altLang="ja-JP" dirty="0"/>
              <a:t>30</a:t>
            </a:r>
            <a:endParaRPr kumimoji="1" lang="ja-JP" altLang="en-US" dirty="0"/>
          </a:p>
          <a:p>
            <a:pPr marL="0" indent="0">
              <a:buNone/>
            </a:pPr>
            <a:endParaRPr kumimoji="1" lang="en-US" altLang="ja-JP" dirty="0"/>
          </a:p>
          <a:p>
            <a:pPr marL="0" indent="0">
              <a:buNone/>
            </a:pPr>
            <a:r>
              <a:rPr lang="en-US" altLang="ja-JP" dirty="0"/>
              <a:t>Epoch : 100</a:t>
            </a:r>
          </a:p>
          <a:p>
            <a:pPr marL="0" indent="0">
              <a:buNone/>
            </a:pPr>
            <a:r>
              <a:rPr kumimoji="1" lang="en-US" altLang="ja-JP" dirty="0"/>
              <a:t>B</a:t>
            </a:r>
            <a:r>
              <a:rPr lang="en-US" altLang="ja-JP" dirty="0"/>
              <a:t>atch size : 32</a:t>
            </a:r>
          </a:p>
          <a:p>
            <a:pPr marL="0" indent="0">
              <a:buNone/>
            </a:pPr>
            <a:endParaRPr lang="en-US" altLang="ja-JP" dirty="0"/>
          </a:p>
          <a:p>
            <a:pPr marL="0" indent="0">
              <a:buNone/>
            </a:pPr>
            <a:r>
              <a:rPr lang="ja-JP" altLang="en-US" b="1" dirty="0"/>
              <a:t>提案手法</a:t>
            </a:r>
            <a:r>
              <a:rPr lang="ja-JP" altLang="en-US" dirty="0"/>
              <a:t>の学習率 </a:t>
            </a:r>
            <a:r>
              <a:rPr lang="en-US" altLang="ja-JP" dirty="0"/>
              <a:t>: 0.1</a:t>
            </a:r>
          </a:p>
          <a:p>
            <a:pPr marL="0" indent="0">
              <a:buNone/>
            </a:pPr>
            <a:r>
              <a:rPr lang="en-US" altLang="ja-JP" dirty="0"/>
              <a:t>Hutchinson</a:t>
            </a:r>
            <a:r>
              <a:rPr lang="ja-JP" altLang="en-US" dirty="0"/>
              <a:t>近似の近似回数：</a:t>
            </a:r>
            <a:r>
              <a:rPr lang="en-US" altLang="ja-JP" dirty="0"/>
              <a:t>3</a:t>
            </a:r>
          </a:p>
          <a:p>
            <a:pPr marL="0" indent="0">
              <a:buNone/>
            </a:pPr>
            <a:endParaRPr lang="en-US" altLang="ja-JP" dirty="0"/>
          </a:p>
          <a:p>
            <a:pPr marL="0" indent="0">
              <a:buNone/>
            </a:pPr>
            <a:r>
              <a:rPr kumimoji="1" lang="en-US" altLang="ja-JP" b="1" spc="350" dirty="0"/>
              <a:t>Adam</a:t>
            </a:r>
            <a:r>
              <a:rPr kumimoji="1" lang="ja-JP" altLang="en-US" spc="350" dirty="0"/>
              <a:t>の学習率 ：</a:t>
            </a:r>
            <a:r>
              <a:rPr kumimoji="1" lang="en-US" altLang="ja-JP" spc="350" dirty="0"/>
              <a:t>0.001</a:t>
            </a:r>
          </a:p>
          <a:p>
            <a:pPr marL="0" indent="0">
              <a:buNone/>
            </a:pPr>
            <a:r>
              <a:rPr lang="en-US" altLang="ja-JP" b="1" spc="570" dirty="0"/>
              <a:t>SGD</a:t>
            </a:r>
            <a:r>
              <a:rPr lang="ja-JP" altLang="en-US" spc="570" dirty="0"/>
              <a:t>の学習率 ：</a:t>
            </a:r>
            <a:r>
              <a:rPr lang="en-US" altLang="ja-JP" spc="570" dirty="0"/>
              <a:t>0.01</a:t>
            </a:r>
          </a:p>
        </p:txBody>
      </p:sp>
      <p:sp>
        <p:nvSpPr>
          <p:cNvPr id="6" name="四角形: 角を丸くする 5">
            <a:extLst>
              <a:ext uri="{FF2B5EF4-FFF2-40B4-BE49-F238E27FC236}">
                <a16:creationId xmlns:a16="http://schemas.microsoft.com/office/drawing/2014/main" id="{07FA0C86-60E5-4D56-A6C1-8A91B238C833}"/>
              </a:ext>
            </a:extLst>
          </p:cNvPr>
          <p:cNvSpPr/>
          <p:nvPr/>
        </p:nvSpPr>
        <p:spPr>
          <a:xfrm>
            <a:off x="6466114" y="4265046"/>
            <a:ext cx="1231900" cy="2133600"/>
          </a:xfrm>
          <a:prstGeom prst="round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latin typeface="UD デジタル 教科書体 NK-R" panose="02020400000000000000" pitchFamily="18" charset="-128"/>
                <a:ea typeface="UD デジタル 教科書体 NK-R" panose="02020400000000000000" pitchFamily="18" charset="-128"/>
              </a:rPr>
              <a:t>入力</a:t>
            </a:r>
            <a:endParaRPr kumimoji="1" lang="en-US" altLang="ja-JP" dirty="0">
              <a:latin typeface="UD デジタル 教科書体 NK-R" panose="02020400000000000000" pitchFamily="18" charset="-128"/>
              <a:ea typeface="UD デジタル 教科書体 NK-R" panose="02020400000000000000" pitchFamily="18" charset="-128"/>
            </a:endParaRPr>
          </a:p>
          <a:p>
            <a:pPr algn="ctr"/>
            <a:r>
              <a:rPr lang="en-US" altLang="ja-JP" dirty="0">
                <a:latin typeface="UD デジタル 教科書体 NK-R" panose="02020400000000000000" pitchFamily="18" charset="-128"/>
                <a:ea typeface="UD デジタル 教科書体 NK-R" panose="02020400000000000000" pitchFamily="18" charset="-128"/>
              </a:rPr>
              <a:t>4</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sp>
        <p:nvSpPr>
          <p:cNvPr id="7" name="四角形: 角を丸くする 6">
            <a:extLst>
              <a:ext uri="{FF2B5EF4-FFF2-40B4-BE49-F238E27FC236}">
                <a16:creationId xmlns:a16="http://schemas.microsoft.com/office/drawing/2014/main" id="{0B0EA647-1BA1-4B5D-B453-AAF77BEAB079}"/>
              </a:ext>
            </a:extLst>
          </p:cNvPr>
          <p:cNvSpPr/>
          <p:nvPr/>
        </p:nvSpPr>
        <p:spPr>
          <a:xfrm>
            <a:off x="8301264" y="4265046"/>
            <a:ext cx="1231900" cy="2133600"/>
          </a:xfrm>
          <a:prstGeom prst="round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latin typeface="UD デジタル 教科書体 NK-R" panose="02020400000000000000" pitchFamily="18" charset="-128"/>
                <a:ea typeface="UD デジタル 教科書体 NK-R" panose="02020400000000000000" pitchFamily="18" charset="-128"/>
              </a:rPr>
              <a:t>全結合</a:t>
            </a:r>
            <a:endParaRPr kumimoji="1" lang="en-US" altLang="ja-JP" dirty="0">
              <a:latin typeface="UD デジタル 教科書体 NK-R" panose="02020400000000000000" pitchFamily="18" charset="-128"/>
              <a:ea typeface="UD デジタル 教科書体 NK-R" panose="02020400000000000000" pitchFamily="18" charset="-128"/>
            </a:endParaRPr>
          </a:p>
          <a:p>
            <a:pPr algn="ctr"/>
            <a:r>
              <a:rPr lang="en-US" altLang="ja-JP" dirty="0">
                <a:latin typeface="UD デジタル 教科書体 NK-R" panose="02020400000000000000" pitchFamily="18" charset="-128"/>
                <a:ea typeface="UD デジタル 教科書体 NK-R" panose="02020400000000000000" pitchFamily="18" charset="-128"/>
              </a:rPr>
              <a:t>10</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sp>
        <p:nvSpPr>
          <p:cNvPr id="8" name="四角形: 角を丸くする 7">
            <a:extLst>
              <a:ext uri="{FF2B5EF4-FFF2-40B4-BE49-F238E27FC236}">
                <a16:creationId xmlns:a16="http://schemas.microsoft.com/office/drawing/2014/main" id="{8D62A5F2-561A-4050-A32E-2B74D3863662}"/>
              </a:ext>
            </a:extLst>
          </p:cNvPr>
          <p:cNvSpPr/>
          <p:nvPr/>
        </p:nvSpPr>
        <p:spPr>
          <a:xfrm>
            <a:off x="10136414" y="4265046"/>
            <a:ext cx="1231900" cy="2133600"/>
          </a:xfrm>
          <a:prstGeom prst="round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latin typeface="UD デジタル 教科書体 NK-R" panose="02020400000000000000" pitchFamily="18" charset="-128"/>
                <a:ea typeface="UD デジタル 教科書体 NK-R" panose="02020400000000000000" pitchFamily="18" charset="-128"/>
              </a:rPr>
              <a:t>全結合</a:t>
            </a:r>
            <a:endParaRPr kumimoji="1" lang="en-US" altLang="ja-JP" dirty="0">
              <a:latin typeface="UD デジタル 教科書体 NK-R" panose="02020400000000000000" pitchFamily="18" charset="-128"/>
              <a:ea typeface="UD デジタル 教科書体 NK-R" panose="02020400000000000000" pitchFamily="18" charset="-128"/>
            </a:endParaRPr>
          </a:p>
          <a:p>
            <a:pPr algn="ctr"/>
            <a:r>
              <a:rPr lang="en-US" altLang="ja-JP" dirty="0">
                <a:latin typeface="UD デジタル 教科書体 NK-R" panose="02020400000000000000" pitchFamily="18" charset="-128"/>
                <a:ea typeface="UD デジタル 教科書体 NK-R" panose="02020400000000000000" pitchFamily="18" charset="-128"/>
              </a:rPr>
              <a:t>(</a:t>
            </a:r>
            <a:r>
              <a:rPr lang="ja-JP" altLang="en-US" dirty="0">
                <a:latin typeface="UD デジタル 教科書体 NK-R" panose="02020400000000000000" pitchFamily="18" charset="-128"/>
                <a:ea typeface="UD デジタル 教科書体 NK-R" panose="02020400000000000000" pitchFamily="18" charset="-128"/>
              </a:rPr>
              <a:t>出力</a:t>
            </a:r>
            <a:r>
              <a:rPr lang="en-US" altLang="ja-JP" dirty="0">
                <a:latin typeface="UD デジタル 教科書体 NK-R" panose="02020400000000000000" pitchFamily="18" charset="-128"/>
                <a:ea typeface="UD デジタル 教科書体 NK-R" panose="02020400000000000000" pitchFamily="18" charset="-128"/>
              </a:rPr>
              <a:t>)</a:t>
            </a:r>
            <a:endParaRPr kumimoji="1" lang="en-US" altLang="ja-JP" dirty="0">
              <a:latin typeface="UD デジタル 教科書体 NK-R" panose="02020400000000000000" pitchFamily="18" charset="-128"/>
              <a:ea typeface="UD デジタル 教科書体 NK-R" panose="02020400000000000000" pitchFamily="18" charset="-128"/>
            </a:endParaRPr>
          </a:p>
          <a:p>
            <a:pPr algn="ctr"/>
            <a:r>
              <a:rPr lang="ja-JP" altLang="en-US">
                <a:latin typeface="UD デジタル 教科書体 NK-R" panose="02020400000000000000" pitchFamily="18" charset="-128"/>
                <a:ea typeface="UD デジタル 教科書体 NK-R" panose="02020400000000000000" pitchFamily="18" charset="-128"/>
              </a:rPr>
              <a:t>３</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cxnSp>
        <p:nvCxnSpPr>
          <p:cNvPr id="10" name="直線矢印コネクタ 9">
            <a:extLst>
              <a:ext uri="{FF2B5EF4-FFF2-40B4-BE49-F238E27FC236}">
                <a16:creationId xmlns:a16="http://schemas.microsoft.com/office/drawing/2014/main" id="{83C33F53-C4A6-4FF8-B805-47A16C0404A9}"/>
              </a:ext>
            </a:extLst>
          </p:cNvPr>
          <p:cNvCxnSpPr>
            <a:cxnSpLocks/>
            <a:endCxn id="7" idx="1"/>
          </p:cNvCxnSpPr>
          <p:nvPr/>
        </p:nvCxnSpPr>
        <p:spPr>
          <a:xfrm flipV="1">
            <a:off x="7698014" y="5331846"/>
            <a:ext cx="603250" cy="19050"/>
          </a:xfrm>
          <a:prstGeom prst="straightConnector1">
            <a:avLst/>
          </a:prstGeom>
          <a:ln w="762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CB6E5BB7-1121-4D48-8411-3C3408F2B42F}"/>
              </a:ext>
            </a:extLst>
          </p:cNvPr>
          <p:cNvCxnSpPr>
            <a:cxnSpLocks/>
            <a:stCxn id="7" idx="3"/>
            <a:endCxn id="8" idx="1"/>
          </p:cNvCxnSpPr>
          <p:nvPr/>
        </p:nvCxnSpPr>
        <p:spPr>
          <a:xfrm>
            <a:off x="9533164" y="5331846"/>
            <a:ext cx="603250" cy="0"/>
          </a:xfrm>
          <a:prstGeom prst="straightConnector1">
            <a:avLst/>
          </a:prstGeom>
          <a:ln w="762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 name="タイトル 1">
            <a:extLst>
              <a:ext uri="{FF2B5EF4-FFF2-40B4-BE49-F238E27FC236}">
                <a16:creationId xmlns:a16="http://schemas.microsoft.com/office/drawing/2014/main" id="{5AE0013F-8C36-4D8E-BA60-7376BAE9682B}"/>
              </a:ext>
            </a:extLst>
          </p:cNvPr>
          <p:cNvSpPr txBox="1">
            <a:spLocks/>
          </p:cNvSpPr>
          <p:nvPr/>
        </p:nvSpPr>
        <p:spPr>
          <a:xfrm>
            <a:off x="7688488" y="3781992"/>
            <a:ext cx="2457451" cy="445294"/>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kumimoji="1" sz="4400" kern="1200">
                <a:solidFill>
                  <a:schemeClr val="tx1"/>
                </a:solidFill>
                <a:latin typeface="UD デジタル 教科書体 NK-R" panose="02020400000000000000" pitchFamily="18" charset="-128"/>
                <a:ea typeface="UD デジタル 教科書体 NK-R" panose="02020400000000000000" pitchFamily="18" charset="-128"/>
                <a:cs typeface="+mj-cs"/>
              </a:defRPr>
            </a:lvl1pPr>
          </a:lstStyle>
          <a:p>
            <a:pPr algn="ctr"/>
            <a:r>
              <a:rPr lang="ja-JP" altLang="en-US" sz="3200" dirty="0">
                <a:solidFill>
                  <a:schemeClr val="tx1">
                    <a:lumMod val="75000"/>
                    <a:lumOff val="25000"/>
                  </a:schemeClr>
                </a:solidFill>
              </a:rPr>
              <a:t>ネットワーク</a:t>
            </a:r>
          </a:p>
        </p:txBody>
      </p:sp>
      <p:sp>
        <p:nvSpPr>
          <p:cNvPr id="4" name="スライド番号プレースホルダー 3">
            <a:extLst>
              <a:ext uri="{FF2B5EF4-FFF2-40B4-BE49-F238E27FC236}">
                <a16:creationId xmlns:a16="http://schemas.microsoft.com/office/drawing/2014/main" id="{7A9D3A2A-3389-4103-9CAB-1FE176EF9752}"/>
              </a:ext>
            </a:extLst>
          </p:cNvPr>
          <p:cNvSpPr>
            <a:spLocks noGrp="1"/>
          </p:cNvSpPr>
          <p:nvPr>
            <p:ph type="sldNum" sz="quarter" idx="12"/>
          </p:nvPr>
        </p:nvSpPr>
        <p:spPr/>
        <p:txBody>
          <a:bodyPr/>
          <a:lstStyle/>
          <a:p>
            <a:fld id="{E0941385-F5BA-408B-94FB-C48DC2364AB1}" type="slidenum">
              <a:rPr kumimoji="1" lang="ja-JP" altLang="en-US" smtClean="0"/>
              <a:t>44</a:t>
            </a:fld>
            <a:endParaRPr kumimoji="1" lang="ja-JP" altLang="en-US"/>
          </a:p>
        </p:txBody>
      </p:sp>
      <p:pic>
        <p:nvPicPr>
          <p:cNvPr id="14" name="図 13" descr="花が咲いている&#10;&#10;自動的に生成された説明">
            <a:extLst>
              <a:ext uri="{FF2B5EF4-FFF2-40B4-BE49-F238E27FC236}">
                <a16:creationId xmlns:a16="http://schemas.microsoft.com/office/drawing/2014/main" id="{152FB6BD-2DD7-4718-8531-E414748D65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59713" y="1526153"/>
            <a:ext cx="5715000" cy="1724025"/>
          </a:xfrm>
          <a:prstGeom prst="rect">
            <a:avLst/>
          </a:prstGeom>
        </p:spPr>
      </p:pic>
      <mc:AlternateContent xmlns:mc="http://schemas.openxmlformats.org/markup-compatibility/2006" xmlns:p14="http://schemas.microsoft.com/office/powerpoint/2010/main">
        <mc:Choice Requires="p14">
          <p:contentPart p14:bwMode="auto" r:id="rId4">
            <p14:nvContentPartPr>
              <p14:cNvPr id="9" name="インク 8">
                <a:extLst>
                  <a:ext uri="{FF2B5EF4-FFF2-40B4-BE49-F238E27FC236}">
                    <a16:creationId xmlns:a16="http://schemas.microsoft.com/office/drawing/2014/main" id="{32276079-44D5-4066-B144-17D17435F5A7}"/>
                  </a:ext>
                </a:extLst>
              </p14:cNvPr>
              <p14:cNvContentPartPr/>
              <p14:nvPr/>
            </p14:nvContentPartPr>
            <p14:xfrm>
              <a:off x="-3417120" y="6272217"/>
              <a:ext cx="360" cy="360"/>
            </p14:xfrm>
          </p:contentPart>
        </mc:Choice>
        <mc:Fallback xmlns="">
          <p:pic>
            <p:nvPicPr>
              <p:cNvPr id="9" name="インク 8">
                <a:extLst>
                  <a:ext uri="{FF2B5EF4-FFF2-40B4-BE49-F238E27FC236}">
                    <a16:creationId xmlns:a16="http://schemas.microsoft.com/office/drawing/2014/main" id="{32276079-44D5-4066-B144-17D17435F5A7}"/>
                  </a:ext>
                </a:extLst>
              </p:cNvPr>
              <p:cNvPicPr/>
              <p:nvPr/>
            </p:nvPicPr>
            <p:blipFill>
              <a:blip r:embed="rId7"/>
              <a:stretch>
                <a:fillRect/>
              </a:stretch>
            </p:blipFill>
            <p:spPr>
              <a:xfrm>
                <a:off x="-3426120" y="6263217"/>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1" name="インク 10">
                <a:extLst>
                  <a:ext uri="{FF2B5EF4-FFF2-40B4-BE49-F238E27FC236}">
                    <a16:creationId xmlns:a16="http://schemas.microsoft.com/office/drawing/2014/main" id="{14A4379E-074E-44E7-951A-FAD0D3AEFB87}"/>
                  </a:ext>
                </a:extLst>
              </p14:cNvPr>
              <p14:cNvContentPartPr/>
              <p14:nvPr/>
            </p14:nvContentPartPr>
            <p14:xfrm>
              <a:off x="-1387320" y="6339720"/>
              <a:ext cx="360" cy="360"/>
            </p14:xfrm>
          </p:contentPart>
        </mc:Choice>
        <mc:Fallback xmlns="">
          <p:pic>
            <p:nvPicPr>
              <p:cNvPr id="11" name="インク 10">
                <a:extLst>
                  <a:ext uri="{FF2B5EF4-FFF2-40B4-BE49-F238E27FC236}">
                    <a16:creationId xmlns:a16="http://schemas.microsoft.com/office/drawing/2014/main" id="{14A4379E-074E-44E7-951A-FAD0D3AEFB87}"/>
                  </a:ext>
                </a:extLst>
              </p:cNvPr>
              <p:cNvPicPr/>
              <p:nvPr/>
            </p:nvPicPr>
            <p:blipFill>
              <a:blip r:embed="rId11"/>
              <a:stretch>
                <a:fillRect/>
              </a:stretch>
            </p:blipFill>
            <p:spPr>
              <a:xfrm>
                <a:off x="-1396320" y="6330720"/>
                <a:ext cx="18000" cy="18000"/>
              </a:xfrm>
              <a:prstGeom prst="rect">
                <a:avLst/>
              </a:prstGeom>
            </p:spPr>
          </p:pic>
        </mc:Fallback>
      </mc:AlternateContent>
    </p:spTree>
    <p:extLst>
      <p:ext uri="{BB962C8B-B14F-4D97-AF65-F5344CB8AC3E}">
        <p14:creationId xmlns:p14="http://schemas.microsoft.com/office/powerpoint/2010/main" val="32556743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7F143C-FFC7-4AB3-82E6-343F2BFB6DDD}"/>
              </a:ext>
            </a:extLst>
          </p:cNvPr>
          <p:cNvSpPr>
            <a:spLocks noGrp="1"/>
          </p:cNvSpPr>
          <p:nvPr>
            <p:ph type="title"/>
          </p:nvPr>
        </p:nvSpPr>
        <p:spPr/>
        <p:txBody>
          <a:bodyPr/>
          <a:lstStyle/>
          <a:p>
            <a:r>
              <a:rPr kumimoji="1" lang="ja-JP" altLang="en-US" dirty="0"/>
              <a:t>実験</a:t>
            </a:r>
            <a:r>
              <a:rPr kumimoji="1" lang="en-US" altLang="ja-JP" dirty="0"/>
              <a:t>3:</a:t>
            </a:r>
            <a:r>
              <a:rPr lang="en-US" altLang="ja-JP" dirty="0"/>
              <a:t> Cifar10</a:t>
            </a:r>
            <a:endParaRPr kumimoji="1" lang="ja-JP" altLang="en-US" dirty="0"/>
          </a:p>
        </p:txBody>
      </p:sp>
      <p:sp>
        <p:nvSpPr>
          <p:cNvPr id="3" name="コンテンツ プレースホルダー 2">
            <a:extLst>
              <a:ext uri="{FF2B5EF4-FFF2-40B4-BE49-F238E27FC236}">
                <a16:creationId xmlns:a16="http://schemas.microsoft.com/office/drawing/2014/main" id="{6A48A5E2-7160-4C91-979B-9F3A11D4A97F}"/>
              </a:ext>
            </a:extLst>
          </p:cNvPr>
          <p:cNvSpPr>
            <a:spLocks noGrp="1"/>
          </p:cNvSpPr>
          <p:nvPr>
            <p:ph idx="1"/>
          </p:nvPr>
        </p:nvSpPr>
        <p:spPr/>
        <p:txBody>
          <a:bodyPr>
            <a:normAutofit fontScale="85000" lnSpcReduction="20000"/>
          </a:bodyPr>
          <a:lstStyle/>
          <a:p>
            <a:pPr marL="0" indent="0">
              <a:buNone/>
            </a:pPr>
            <a:r>
              <a:rPr kumimoji="1" lang="ja-JP" altLang="en-US" dirty="0"/>
              <a:t>学習データ ：</a:t>
            </a:r>
            <a:r>
              <a:rPr kumimoji="1" lang="en-US" altLang="ja-JP" dirty="0"/>
              <a:t>60,000</a:t>
            </a:r>
          </a:p>
          <a:p>
            <a:pPr marL="0" indent="0">
              <a:buNone/>
            </a:pPr>
            <a:r>
              <a:rPr lang="ja-JP" altLang="en-US" dirty="0"/>
              <a:t>テストデータ</a:t>
            </a:r>
            <a:r>
              <a:rPr lang="en-ZA" altLang="ja-JP" dirty="0"/>
              <a:t>:10,000</a:t>
            </a:r>
            <a:endParaRPr kumimoji="1" lang="ja-JP" altLang="en-US" dirty="0"/>
          </a:p>
          <a:p>
            <a:pPr marL="0" indent="0">
              <a:buNone/>
            </a:pPr>
            <a:endParaRPr kumimoji="1" lang="en-US" altLang="ja-JP" dirty="0"/>
          </a:p>
          <a:p>
            <a:pPr marL="0" indent="0">
              <a:buNone/>
            </a:pPr>
            <a:r>
              <a:rPr lang="en-US" altLang="ja-JP" dirty="0"/>
              <a:t>Epoch : 20</a:t>
            </a:r>
          </a:p>
          <a:p>
            <a:pPr marL="0" indent="0">
              <a:buNone/>
            </a:pPr>
            <a:r>
              <a:rPr kumimoji="1" lang="en-US" altLang="ja-JP" dirty="0" err="1"/>
              <a:t>B</a:t>
            </a:r>
            <a:r>
              <a:rPr lang="en-US" altLang="ja-JP" dirty="0" err="1"/>
              <a:t>atch_size</a:t>
            </a:r>
            <a:r>
              <a:rPr lang="en-US" altLang="ja-JP" dirty="0"/>
              <a:t> : 256</a:t>
            </a:r>
          </a:p>
          <a:p>
            <a:pPr marL="0" indent="0">
              <a:buNone/>
            </a:pPr>
            <a:endParaRPr lang="en-US" altLang="ja-JP" dirty="0"/>
          </a:p>
          <a:p>
            <a:pPr marL="0" indent="0">
              <a:buNone/>
            </a:pPr>
            <a:r>
              <a:rPr lang="ja-JP" altLang="en-US" dirty="0"/>
              <a:t>提案手法の学習率 </a:t>
            </a:r>
            <a:r>
              <a:rPr lang="en-US" altLang="ja-JP" dirty="0"/>
              <a:t>: 0.05</a:t>
            </a:r>
          </a:p>
          <a:p>
            <a:pPr marL="0" indent="0">
              <a:buNone/>
            </a:pPr>
            <a:r>
              <a:rPr lang="en-US" altLang="ja-JP" dirty="0"/>
              <a:t>Hutchinson</a:t>
            </a:r>
            <a:r>
              <a:rPr lang="ja-JP" altLang="en-US" dirty="0"/>
              <a:t>近似のステップ数：</a:t>
            </a:r>
            <a:r>
              <a:rPr lang="en-US" altLang="ja-JP" dirty="0"/>
              <a:t>5</a:t>
            </a:r>
          </a:p>
          <a:p>
            <a:pPr marL="0" indent="0">
              <a:buNone/>
            </a:pPr>
            <a:endParaRPr lang="en-US" altLang="ja-JP" dirty="0"/>
          </a:p>
          <a:p>
            <a:pPr marL="0" indent="0">
              <a:buNone/>
            </a:pPr>
            <a:r>
              <a:rPr kumimoji="1" lang="en-US" altLang="ja-JP" spc="350" dirty="0"/>
              <a:t>Adam</a:t>
            </a:r>
            <a:r>
              <a:rPr kumimoji="1" lang="ja-JP" altLang="en-US" spc="350" dirty="0"/>
              <a:t>の学習率 ：</a:t>
            </a:r>
            <a:r>
              <a:rPr kumimoji="1" lang="en-US" altLang="ja-JP" spc="350" dirty="0"/>
              <a:t>0.001</a:t>
            </a:r>
          </a:p>
          <a:p>
            <a:pPr marL="0" indent="0">
              <a:buNone/>
            </a:pPr>
            <a:r>
              <a:rPr lang="en-US" altLang="ja-JP" spc="570" dirty="0"/>
              <a:t>SGD</a:t>
            </a:r>
            <a:r>
              <a:rPr lang="ja-JP" altLang="en-US" spc="570" dirty="0"/>
              <a:t>の学習率 ：</a:t>
            </a:r>
            <a:r>
              <a:rPr lang="en-US" altLang="ja-JP" spc="570" dirty="0"/>
              <a:t>0.01</a:t>
            </a:r>
          </a:p>
        </p:txBody>
      </p:sp>
      <p:pic>
        <p:nvPicPr>
          <p:cNvPr id="5" name="図 4" descr="テーブル が含まれている画像&#10;&#10;自動的に生成された説明">
            <a:extLst>
              <a:ext uri="{FF2B5EF4-FFF2-40B4-BE49-F238E27FC236}">
                <a16:creationId xmlns:a16="http://schemas.microsoft.com/office/drawing/2014/main" id="{EB49A6AB-F068-4ED5-8B9D-4CBF1B7FD0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35700" y="681037"/>
            <a:ext cx="5664200" cy="3442385"/>
          </a:xfrm>
          <a:prstGeom prst="rect">
            <a:avLst/>
          </a:prstGeom>
        </p:spPr>
      </p:pic>
      <p:sp>
        <p:nvSpPr>
          <p:cNvPr id="6" name="四角形: 角を丸くする 5">
            <a:extLst>
              <a:ext uri="{FF2B5EF4-FFF2-40B4-BE49-F238E27FC236}">
                <a16:creationId xmlns:a16="http://schemas.microsoft.com/office/drawing/2014/main" id="{07FA0C86-60E5-4D56-A6C1-8A91B238C833}"/>
              </a:ext>
            </a:extLst>
          </p:cNvPr>
          <p:cNvSpPr/>
          <p:nvPr/>
        </p:nvSpPr>
        <p:spPr>
          <a:xfrm>
            <a:off x="6858000" y="4555331"/>
            <a:ext cx="1231900" cy="2133600"/>
          </a:xfrm>
          <a:prstGeom prst="round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latin typeface="UD デジタル 教科書体 NK-R" panose="02020400000000000000" pitchFamily="18" charset="-128"/>
                <a:ea typeface="UD デジタル 教科書体 NK-R" panose="02020400000000000000" pitchFamily="18" charset="-128"/>
              </a:rPr>
              <a:t>入力</a:t>
            </a:r>
            <a:endParaRPr kumimoji="1" lang="en-US" altLang="ja-JP" dirty="0">
              <a:latin typeface="UD デジタル 教科書体 NK-R" panose="02020400000000000000" pitchFamily="18" charset="-128"/>
              <a:ea typeface="UD デジタル 教科書体 NK-R" panose="02020400000000000000" pitchFamily="18" charset="-128"/>
            </a:endParaRPr>
          </a:p>
          <a:p>
            <a:pPr algn="ctr"/>
            <a:r>
              <a:rPr lang="en-US" altLang="ja-JP" dirty="0">
                <a:latin typeface="UD デジタル 教科書体 NK-R" panose="02020400000000000000" pitchFamily="18" charset="-128"/>
                <a:ea typeface="UD デジタル 教科書体 NK-R" panose="02020400000000000000" pitchFamily="18" charset="-128"/>
              </a:rPr>
              <a:t>784</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sp>
        <p:nvSpPr>
          <p:cNvPr id="7" name="四角形: 角を丸くする 6">
            <a:extLst>
              <a:ext uri="{FF2B5EF4-FFF2-40B4-BE49-F238E27FC236}">
                <a16:creationId xmlns:a16="http://schemas.microsoft.com/office/drawing/2014/main" id="{0B0EA647-1BA1-4B5D-B453-AAF77BEAB079}"/>
              </a:ext>
            </a:extLst>
          </p:cNvPr>
          <p:cNvSpPr/>
          <p:nvPr/>
        </p:nvSpPr>
        <p:spPr>
          <a:xfrm>
            <a:off x="8693150" y="4555331"/>
            <a:ext cx="1231900" cy="2133600"/>
          </a:xfrm>
          <a:prstGeom prst="round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latin typeface="UD デジタル 教科書体 NK-R" panose="02020400000000000000" pitchFamily="18" charset="-128"/>
                <a:ea typeface="UD デジタル 教科書体 NK-R" panose="02020400000000000000" pitchFamily="18" charset="-128"/>
              </a:rPr>
              <a:t>全結合</a:t>
            </a:r>
            <a:endParaRPr kumimoji="1" lang="en-US" altLang="ja-JP" dirty="0">
              <a:latin typeface="UD デジタル 教科書体 NK-R" panose="02020400000000000000" pitchFamily="18" charset="-128"/>
              <a:ea typeface="UD デジタル 教科書体 NK-R" panose="02020400000000000000" pitchFamily="18" charset="-128"/>
            </a:endParaRPr>
          </a:p>
          <a:p>
            <a:pPr algn="ctr"/>
            <a:r>
              <a:rPr lang="en-US" altLang="ja-JP" dirty="0">
                <a:latin typeface="UD デジタル 教科書体 NK-R" panose="02020400000000000000" pitchFamily="18" charset="-128"/>
                <a:ea typeface="UD デジタル 教科書体 NK-R" panose="02020400000000000000" pitchFamily="18" charset="-128"/>
              </a:rPr>
              <a:t>10</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sp>
        <p:nvSpPr>
          <p:cNvPr id="8" name="四角形: 角を丸くする 7">
            <a:extLst>
              <a:ext uri="{FF2B5EF4-FFF2-40B4-BE49-F238E27FC236}">
                <a16:creationId xmlns:a16="http://schemas.microsoft.com/office/drawing/2014/main" id="{8D62A5F2-561A-4050-A32E-2B74D3863662}"/>
              </a:ext>
            </a:extLst>
          </p:cNvPr>
          <p:cNvSpPr/>
          <p:nvPr/>
        </p:nvSpPr>
        <p:spPr>
          <a:xfrm>
            <a:off x="10528300" y="4555331"/>
            <a:ext cx="1231900" cy="2133600"/>
          </a:xfrm>
          <a:prstGeom prst="round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latin typeface="UD デジタル 教科書体 NK-R" panose="02020400000000000000" pitchFamily="18" charset="-128"/>
                <a:ea typeface="UD デジタル 教科書体 NK-R" panose="02020400000000000000" pitchFamily="18" charset="-128"/>
              </a:rPr>
              <a:t>全結合</a:t>
            </a:r>
            <a:endParaRPr kumimoji="1" lang="en-US" altLang="ja-JP" dirty="0">
              <a:latin typeface="UD デジタル 教科書体 NK-R" panose="02020400000000000000" pitchFamily="18" charset="-128"/>
              <a:ea typeface="UD デジタル 教科書体 NK-R" panose="02020400000000000000" pitchFamily="18" charset="-128"/>
            </a:endParaRPr>
          </a:p>
          <a:p>
            <a:pPr algn="ctr"/>
            <a:r>
              <a:rPr lang="en-US" altLang="ja-JP" dirty="0">
                <a:latin typeface="UD デジタル 教科書体 NK-R" panose="02020400000000000000" pitchFamily="18" charset="-128"/>
                <a:ea typeface="UD デジタル 教科書体 NK-R" panose="02020400000000000000" pitchFamily="18" charset="-128"/>
              </a:rPr>
              <a:t>(</a:t>
            </a:r>
            <a:r>
              <a:rPr lang="ja-JP" altLang="en-US" dirty="0">
                <a:latin typeface="UD デジタル 教科書体 NK-R" panose="02020400000000000000" pitchFamily="18" charset="-128"/>
                <a:ea typeface="UD デジタル 教科書体 NK-R" panose="02020400000000000000" pitchFamily="18" charset="-128"/>
              </a:rPr>
              <a:t>出力</a:t>
            </a:r>
            <a:r>
              <a:rPr lang="en-US" altLang="ja-JP" dirty="0">
                <a:latin typeface="UD デジタル 教科書体 NK-R" panose="02020400000000000000" pitchFamily="18" charset="-128"/>
                <a:ea typeface="UD デジタル 教科書体 NK-R" panose="02020400000000000000" pitchFamily="18" charset="-128"/>
              </a:rPr>
              <a:t>)</a:t>
            </a:r>
            <a:endParaRPr kumimoji="1" lang="en-US" altLang="ja-JP" dirty="0">
              <a:latin typeface="UD デジタル 教科書体 NK-R" panose="02020400000000000000" pitchFamily="18" charset="-128"/>
              <a:ea typeface="UD デジタル 教科書体 NK-R" panose="02020400000000000000" pitchFamily="18" charset="-128"/>
            </a:endParaRPr>
          </a:p>
          <a:p>
            <a:pPr algn="ctr"/>
            <a:r>
              <a:rPr lang="en-US" altLang="ja-JP" dirty="0">
                <a:latin typeface="UD デジタル 教科書体 NK-R" panose="02020400000000000000" pitchFamily="18" charset="-128"/>
                <a:ea typeface="UD デジタル 教科書体 NK-R" panose="02020400000000000000" pitchFamily="18" charset="-128"/>
              </a:rPr>
              <a:t>10</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cxnSp>
        <p:nvCxnSpPr>
          <p:cNvPr id="10" name="直線矢印コネクタ 9">
            <a:extLst>
              <a:ext uri="{FF2B5EF4-FFF2-40B4-BE49-F238E27FC236}">
                <a16:creationId xmlns:a16="http://schemas.microsoft.com/office/drawing/2014/main" id="{83C33F53-C4A6-4FF8-B805-47A16C0404A9}"/>
              </a:ext>
            </a:extLst>
          </p:cNvPr>
          <p:cNvCxnSpPr>
            <a:cxnSpLocks/>
            <a:endCxn id="7" idx="1"/>
          </p:cNvCxnSpPr>
          <p:nvPr/>
        </p:nvCxnSpPr>
        <p:spPr>
          <a:xfrm flipV="1">
            <a:off x="8089900" y="5622131"/>
            <a:ext cx="603250" cy="19050"/>
          </a:xfrm>
          <a:prstGeom prst="straightConnector1">
            <a:avLst/>
          </a:prstGeom>
          <a:ln w="762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CB6E5BB7-1121-4D48-8411-3C3408F2B42F}"/>
              </a:ext>
            </a:extLst>
          </p:cNvPr>
          <p:cNvCxnSpPr>
            <a:cxnSpLocks/>
            <a:stCxn id="7" idx="3"/>
            <a:endCxn id="8" idx="1"/>
          </p:cNvCxnSpPr>
          <p:nvPr/>
        </p:nvCxnSpPr>
        <p:spPr>
          <a:xfrm>
            <a:off x="9925050" y="5622131"/>
            <a:ext cx="603250" cy="0"/>
          </a:xfrm>
          <a:prstGeom prst="straightConnector1">
            <a:avLst/>
          </a:prstGeom>
          <a:ln w="762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 name="タイトル 1">
            <a:extLst>
              <a:ext uri="{FF2B5EF4-FFF2-40B4-BE49-F238E27FC236}">
                <a16:creationId xmlns:a16="http://schemas.microsoft.com/office/drawing/2014/main" id="{5AE0013F-8C36-4D8E-BA60-7376BAE9682B}"/>
              </a:ext>
            </a:extLst>
          </p:cNvPr>
          <p:cNvSpPr txBox="1">
            <a:spLocks/>
          </p:cNvSpPr>
          <p:nvPr/>
        </p:nvSpPr>
        <p:spPr>
          <a:xfrm>
            <a:off x="8002780" y="4055665"/>
            <a:ext cx="2457451" cy="445294"/>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kumimoji="1" sz="4400" kern="1200">
                <a:solidFill>
                  <a:schemeClr val="tx1"/>
                </a:solidFill>
                <a:latin typeface="UD デジタル 教科書体 NK-R" panose="02020400000000000000" pitchFamily="18" charset="-128"/>
                <a:ea typeface="UD デジタル 教科書体 NK-R" panose="02020400000000000000" pitchFamily="18" charset="-128"/>
                <a:cs typeface="+mj-cs"/>
              </a:defRPr>
            </a:lvl1pPr>
          </a:lstStyle>
          <a:p>
            <a:pPr algn="ctr"/>
            <a:r>
              <a:rPr lang="ja-JP" altLang="en-US" sz="3200" dirty="0">
                <a:solidFill>
                  <a:schemeClr val="tx1">
                    <a:lumMod val="75000"/>
                    <a:lumOff val="25000"/>
                  </a:schemeClr>
                </a:solidFill>
              </a:rPr>
              <a:t>ネットワーク</a:t>
            </a:r>
          </a:p>
        </p:txBody>
      </p:sp>
      <p:sp>
        <p:nvSpPr>
          <p:cNvPr id="17" name="タイトル 1">
            <a:extLst>
              <a:ext uri="{FF2B5EF4-FFF2-40B4-BE49-F238E27FC236}">
                <a16:creationId xmlns:a16="http://schemas.microsoft.com/office/drawing/2014/main" id="{1E23169F-C85C-4547-8B7E-EECB85510DFD}"/>
              </a:ext>
            </a:extLst>
          </p:cNvPr>
          <p:cNvSpPr txBox="1">
            <a:spLocks/>
          </p:cNvSpPr>
          <p:nvPr/>
        </p:nvSpPr>
        <p:spPr>
          <a:xfrm>
            <a:off x="8002780" y="272255"/>
            <a:ext cx="2457451" cy="445294"/>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kumimoji="1" sz="4400" kern="1200">
                <a:solidFill>
                  <a:schemeClr val="tx1"/>
                </a:solidFill>
                <a:latin typeface="UD デジタル 教科書体 NK-R" panose="02020400000000000000" pitchFamily="18" charset="-128"/>
                <a:ea typeface="UD デジタル 教科書体 NK-R" panose="02020400000000000000" pitchFamily="18" charset="-128"/>
                <a:cs typeface="+mj-cs"/>
              </a:defRPr>
            </a:lvl1pPr>
          </a:lstStyle>
          <a:p>
            <a:pPr algn="ctr"/>
            <a:r>
              <a:rPr lang="en-US" altLang="ja-JP" sz="3200" dirty="0">
                <a:solidFill>
                  <a:schemeClr val="tx1">
                    <a:lumMod val="75000"/>
                    <a:lumOff val="25000"/>
                  </a:schemeClr>
                </a:solidFill>
              </a:rPr>
              <a:t>MNIST</a:t>
            </a:r>
            <a:endParaRPr lang="ja-JP" altLang="en-US" sz="3200" dirty="0">
              <a:solidFill>
                <a:schemeClr val="tx1">
                  <a:lumMod val="75000"/>
                  <a:lumOff val="25000"/>
                </a:schemeClr>
              </a:solidFill>
            </a:endParaRPr>
          </a:p>
        </p:txBody>
      </p:sp>
      <p:sp>
        <p:nvSpPr>
          <p:cNvPr id="4" name="スライド番号プレースホルダー 3">
            <a:extLst>
              <a:ext uri="{FF2B5EF4-FFF2-40B4-BE49-F238E27FC236}">
                <a16:creationId xmlns:a16="http://schemas.microsoft.com/office/drawing/2014/main" id="{7A9D3A2A-3389-4103-9CAB-1FE176EF9752}"/>
              </a:ext>
            </a:extLst>
          </p:cNvPr>
          <p:cNvSpPr>
            <a:spLocks noGrp="1"/>
          </p:cNvSpPr>
          <p:nvPr>
            <p:ph type="sldNum" sz="quarter" idx="12"/>
          </p:nvPr>
        </p:nvSpPr>
        <p:spPr/>
        <p:txBody>
          <a:bodyPr/>
          <a:lstStyle/>
          <a:p>
            <a:fld id="{E0941385-F5BA-408B-94FB-C48DC2364AB1}" type="slidenum">
              <a:rPr kumimoji="1" lang="ja-JP" altLang="en-US" smtClean="0"/>
              <a:t>45</a:t>
            </a:fld>
            <a:endParaRPr kumimoji="1" lang="ja-JP" altLang="en-US"/>
          </a:p>
        </p:txBody>
      </p:sp>
    </p:spTree>
    <p:extLst>
      <p:ext uri="{BB962C8B-B14F-4D97-AF65-F5344CB8AC3E}">
        <p14:creationId xmlns:p14="http://schemas.microsoft.com/office/powerpoint/2010/main" val="32136283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7F143C-FFC7-4AB3-82E6-343F2BFB6DDD}"/>
              </a:ext>
            </a:extLst>
          </p:cNvPr>
          <p:cNvSpPr>
            <a:spLocks noGrp="1"/>
          </p:cNvSpPr>
          <p:nvPr>
            <p:ph type="title"/>
          </p:nvPr>
        </p:nvSpPr>
        <p:spPr/>
        <p:txBody>
          <a:bodyPr/>
          <a:lstStyle/>
          <a:p>
            <a:r>
              <a:rPr kumimoji="1" lang="ja-JP" altLang="en-US" dirty="0"/>
              <a:t>実験</a:t>
            </a:r>
            <a:r>
              <a:rPr kumimoji="1" lang="en-US" altLang="ja-JP" dirty="0"/>
              <a:t>2:</a:t>
            </a:r>
            <a:r>
              <a:rPr lang="en-US" altLang="ja-JP" dirty="0"/>
              <a:t> MNIST</a:t>
            </a:r>
            <a:r>
              <a:rPr lang="ja-JP" altLang="en-US" dirty="0"/>
              <a:t>　ステップ数比較</a:t>
            </a:r>
            <a:endParaRPr kumimoji="1" lang="ja-JP" altLang="en-US" dirty="0"/>
          </a:p>
        </p:txBody>
      </p:sp>
      <p:sp>
        <p:nvSpPr>
          <p:cNvPr id="3" name="コンテンツ プレースホルダー 2">
            <a:extLst>
              <a:ext uri="{FF2B5EF4-FFF2-40B4-BE49-F238E27FC236}">
                <a16:creationId xmlns:a16="http://schemas.microsoft.com/office/drawing/2014/main" id="{6A48A5E2-7160-4C91-979B-9F3A11D4A97F}"/>
              </a:ext>
            </a:extLst>
          </p:cNvPr>
          <p:cNvSpPr>
            <a:spLocks noGrp="1"/>
          </p:cNvSpPr>
          <p:nvPr>
            <p:ph idx="1"/>
          </p:nvPr>
        </p:nvSpPr>
        <p:spPr/>
        <p:txBody>
          <a:bodyPr>
            <a:normAutofit/>
          </a:bodyPr>
          <a:lstStyle/>
          <a:p>
            <a:pPr marL="0" indent="0">
              <a:buNone/>
            </a:pPr>
            <a:r>
              <a:rPr kumimoji="1" lang="ja-JP" altLang="en-US" dirty="0"/>
              <a:t>学習データ ：</a:t>
            </a:r>
            <a:r>
              <a:rPr kumimoji="1" lang="en-US" altLang="ja-JP" dirty="0"/>
              <a:t>60,000</a:t>
            </a:r>
          </a:p>
          <a:p>
            <a:pPr marL="0" indent="0">
              <a:buNone/>
            </a:pPr>
            <a:r>
              <a:rPr lang="ja-JP" altLang="en-US" dirty="0"/>
              <a:t>テストデータ</a:t>
            </a:r>
            <a:r>
              <a:rPr lang="en-ZA" altLang="ja-JP" dirty="0"/>
              <a:t>:10,000</a:t>
            </a:r>
            <a:endParaRPr kumimoji="1" lang="ja-JP" altLang="en-US" dirty="0"/>
          </a:p>
          <a:p>
            <a:pPr marL="0" indent="0">
              <a:buNone/>
            </a:pPr>
            <a:endParaRPr kumimoji="1" lang="en-US" altLang="ja-JP" dirty="0"/>
          </a:p>
          <a:p>
            <a:pPr marL="0" indent="0">
              <a:buNone/>
            </a:pPr>
            <a:r>
              <a:rPr lang="en-US" altLang="ja-JP" dirty="0"/>
              <a:t>Epoch : 20</a:t>
            </a:r>
          </a:p>
          <a:p>
            <a:pPr marL="0" indent="0">
              <a:buNone/>
            </a:pPr>
            <a:r>
              <a:rPr kumimoji="1" lang="en-US" altLang="ja-JP" dirty="0"/>
              <a:t>B</a:t>
            </a:r>
            <a:r>
              <a:rPr lang="en-US" altLang="ja-JP" dirty="0"/>
              <a:t>atch size : 512</a:t>
            </a:r>
          </a:p>
          <a:p>
            <a:pPr marL="0" indent="0">
              <a:buNone/>
            </a:pPr>
            <a:endParaRPr lang="en-US" altLang="ja-JP" dirty="0"/>
          </a:p>
          <a:p>
            <a:pPr marL="0" indent="0">
              <a:buNone/>
            </a:pPr>
            <a:r>
              <a:rPr lang="ja-JP" altLang="en-US" dirty="0"/>
              <a:t>提案手法の学習率 </a:t>
            </a:r>
            <a:r>
              <a:rPr lang="en-US" altLang="ja-JP" dirty="0"/>
              <a:t>: 0.05</a:t>
            </a:r>
          </a:p>
          <a:p>
            <a:pPr marL="0" indent="0">
              <a:buNone/>
            </a:pPr>
            <a:r>
              <a:rPr lang="ja-JP" altLang="en-US" b="1" dirty="0"/>
              <a:t>比較する近似回数</a:t>
            </a:r>
            <a:r>
              <a:rPr lang="ja-JP" altLang="en-US" dirty="0"/>
              <a:t>：</a:t>
            </a:r>
            <a:r>
              <a:rPr lang="en-US" altLang="ja-JP" dirty="0"/>
              <a:t>1, 3, 5, 10</a:t>
            </a:r>
          </a:p>
        </p:txBody>
      </p:sp>
      <p:pic>
        <p:nvPicPr>
          <p:cNvPr id="5" name="図 4" descr="テーブル が含まれている画像&#10;&#10;自動的に生成された説明">
            <a:extLst>
              <a:ext uri="{FF2B5EF4-FFF2-40B4-BE49-F238E27FC236}">
                <a16:creationId xmlns:a16="http://schemas.microsoft.com/office/drawing/2014/main" id="{EB49A6AB-F068-4ED5-8B9D-4CBF1B7FD0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60444" y="1531645"/>
            <a:ext cx="4375694" cy="2659303"/>
          </a:xfrm>
          <a:prstGeom prst="rect">
            <a:avLst/>
          </a:prstGeom>
        </p:spPr>
      </p:pic>
      <p:sp>
        <p:nvSpPr>
          <p:cNvPr id="6" name="四角形: 角を丸くする 5">
            <a:extLst>
              <a:ext uri="{FF2B5EF4-FFF2-40B4-BE49-F238E27FC236}">
                <a16:creationId xmlns:a16="http://schemas.microsoft.com/office/drawing/2014/main" id="{07FA0C86-60E5-4D56-A6C1-8A91B238C833}"/>
              </a:ext>
            </a:extLst>
          </p:cNvPr>
          <p:cNvSpPr/>
          <p:nvPr/>
        </p:nvSpPr>
        <p:spPr>
          <a:xfrm>
            <a:off x="6858000" y="4555331"/>
            <a:ext cx="1231900" cy="2133600"/>
          </a:xfrm>
          <a:prstGeom prst="round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latin typeface="UD デジタル 教科書体 NK-R" panose="02020400000000000000" pitchFamily="18" charset="-128"/>
                <a:ea typeface="UD デジタル 教科書体 NK-R" panose="02020400000000000000" pitchFamily="18" charset="-128"/>
              </a:rPr>
              <a:t>入力</a:t>
            </a:r>
            <a:endParaRPr kumimoji="1" lang="en-US" altLang="ja-JP" dirty="0">
              <a:latin typeface="UD デジタル 教科書体 NK-R" panose="02020400000000000000" pitchFamily="18" charset="-128"/>
              <a:ea typeface="UD デジタル 教科書体 NK-R" panose="02020400000000000000" pitchFamily="18" charset="-128"/>
            </a:endParaRPr>
          </a:p>
          <a:p>
            <a:pPr algn="ctr"/>
            <a:r>
              <a:rPr lang="en-US" altLang="ja-JP" dirty="0">
                <a:latin typeface="UD デジタル 教科書体 NK-R" panose="02020400000000000000" pitchFamily="18" charset="-128"/>
                <a:ea typeface="UD デジタル 教科書体 NK-R" panose="02020400000000000000" pitchFamily="18" charset="-128"/>
              </a:rPr>
              <a:t>784</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sp>
        <p:nvSpPr>
          <p:cNvPr id="7" name="四角形: 角を丸くする 6">
            <a:extLst>
              <a:ext uri="{FF2B5EF4-FFF2-40B4-BE49-F238E27FC236}">
                <a16:creationId xmlns:a16="http://schemas.microsoft.com/office/drawing/2014/main" id="{0B0EA647-1BA1-4B5D-B453-AAF77BEAB079}"/>
              </a:ext>
            </a:extLst>
          </p:cNvPr>
          <p:cNvSpPr/>
          <p:nvPr/>
        </p:nvSpPr>
        <p:spPr>
          <a:xfrm>
            <a:off x="8693150" y="4555331"/>
            <a:ext cx="1231900" cy="2133600"/>
          </a:xfrm>
          <a:prstGeom prst="round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latin typeface="UD デジタル 教科書体 NK-R" panose="02020400000000000000" pitchFamily="18" charset="-128"/>
                <a:ea typeface="UD デジタル 教科書体 NK-R" panose="02020400000000000000" pitchFamily="18" charset="-128"/>
              </a:rPr>
              <a:t>全結合</a:t>
            </a:r>
            <a:endParaRPr kumimoji="1" lang="en-US" altLang="ja-JP" dirty="0">
              <a:latin typeface="UD デジタル 教科書体 NK-R" panose="02020400000000000000" pitchFamily="18" charset="-128"/>
              <a:ea typeface="UD デジタル 教科書体 NK-R" panose="02020400000000000000" pitchFamily="18" charset="-128"/>
            </a:endParaRPr>
          </a:p>
          <a:p>
            <a:pPr algn="ctr"/>
            <a:r>
              <a:rPr lang="en-US" altLang="ja-JP" dirty="0">
                <a:latin typeface="UD デジタル 教科書体 NK-R" panose="02020400000000000000" pitchFamily="18" charset="-128"/>
                <a:ea typeface="UD デジタル 教科書体 NK-R" panose="02020400000000000000" pitchFamily="18" charset="-128"/>
              </a:rPr>
              <a:t>10</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sp>
        <p:nvSpPr>
          <p:cNvPr id="8" name="四角形: 角を丸くする 7">
            <a:extLst>
              <a:ext uri="{FF2B5EF4-FFF2-40B4-BE49-F238E27FC236}">
                <a16:creationId xmlns:a16="http://schemas.microsoft.com/office/drawing/2014/main" id="{8D62A5F2-561A-4050-A32E-2B74D3863662}"/>
              </a:ext>
            </a:extLst>
          </p:cNvPr>
          <p:cNvSpPr/>
          <p:nvPr/>
        </p:nvSpPr>
        <p:spPr>
          <a:xfrm>
            <a:off x="10528300" y="4555331"/>
            <a:ext cx="1231900" cy="2133600"/>
          </a:xfrm>
          <a:prstGeom prst="round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latin typeface="UD デジタル 教科書体 NK-R" panose="02020400000000000000" pitchFamily="18" charset="-128"/>
                <a:ea typeface="UD デジタル 教科書体 NK-R" panose="02020400000000000000" pitchFamily="18" charset="-128"/>
              </a:rPr>
              <a:t>全結合</a:t>
            </a:r>
            <a:endParaRPr kumimoji="1" lang="en-US" altLang="ja-JP" dirty="0">
              <a:latin typeface="UD デジタル 教科書体 NK-R" panose="02020400000000000000" pitchFamily="18" charset="-128"/>
              <a:ea typeface="UD デジタル 教科書体 NK-R" panose="02020400000000000000" pitchFamily="18" charset="-128"/>
            </a:endParaRPr>
          </a:p>
          <a:p>
            <a:pPr algn="ctr"/>
            <a:r>
              <a:rPr lang="en-US" altLang="ja-JP" dirty="0">
                <a:latin typeface="UD デジタル 教科書体 NK-R" panose="02020400000000000000" pitchFamily="18" charset="-128"/>
                <a:ea typeface="UD デジタル 教科書体 NK-R" panose="02020400000000000000" pitchFamily="18" charset="-128"/>
              </a:rPr>
              <a:t>(</a:t>
            </a:r>
            <a:r>
              <a:rPr lang="ja-JP" altLang="en-US" dirty="0">
                <a:latin typeface="UD デジタル 教科書体 NK-R" panose="02020400000000000000" pitchFamily="18" charset="-128"/>
                <a:ea typeface="UD デジタル 教科書体 NK-R" panose="02020400000000000000" pitchFamily="18" charset="-128"/>
              </a:rPr>
              <a:t>出力</a:t>
            </a:r>
            <a:r>
              <a:rPr lang="en-US" altLang="ja-JP" dirty="0">
                <a:latin typeface="UD デジタル 教科書体 NK-R" panose="02020400000000000000" pitchFamily="18" charset="-128"/>
                <a:ea typeface="UD デジタル 教科書体 NK-R" panose="02020400000000000000" pitchFamily="18" charset="-128"/>
              </a:rPr>
              <a:t>)</a:t>
            </a:r>
            <a:endParaRPr kumimoji="1" lang="en-US" altLang="ja-JP" dirty="0">
              <a:latin typeface="UD デジタル 教科書体 NK-R" panose="02020400000000000000" pitchFamily="18" charset="-128"/>
              <a:ea typeface="UD デジタル 教科書体 NK-R" panose="02020400000000000000" pitchFamily="18" charset="-128"/>
            </a:endParaRPr>
          </a:p>
          <a:p>
            <a:pPr algn="ctr"/>
            <a:r>
              <a:rPr lang="en-US" altLang="ja-JP" dirty="0">
                <a:latin typeface="UD デジタル 教科書体 NK-R" panose="02020400000000000000" pitchFamily="18" charset="-128"/>
                <a:ea typeface="UD デジタル 教科書体 NK-R" panose="02020400000000000000" pitchFamily="18" charset="-128"/>
              </a:rPr>
              <a:t>10</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cxnSp>
        <p:nvCxnSpPr>
          <p:cNvPr id="10" name="直線矢印コネクタ 9">
            <a:extLst>
              <a:ext uri="{FF2B5EF4-FFF2-40B4-BE49-F238E27FC236}">
                <a16:creationId xmlns:a16="http://schemas.microsoft.com/office/drawing/2014/main" id="{83C33F53-C4A6-4FF8-B805-47A16C0404A9}"/>
              </a:ext>
            </a:extLst>
          </p:cNvPr>
          <p:cNvCxnSpPr>
            <a:cxnSpLocks/>
            <a:endCxn id="7" idx="1"/>
          </p:cNvCxnSpPr>
          <p:nvPr/>
        </p:nvCxnSpPr>
        <p:spPr>
          <a:xfrm flipV="1">
            <a:off x="8089900" y="5622131"/>
            <a:ext cx="603250" cy="19050"/>
          </a:xfrm>
          <a:prstGeom prst="straightConnector1">
            <a:avLst/>
          </a:prstGeom>
          <a:ln w="762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CB6E5BB7-1121-4D48-8411-3C3408F2B42F}"/>
              </a:ext>
            </a:extLst>
          </p:cNvPr>
          <p:cNvCxnSpPr>
            <a:cxnSpLocks/>
            <a:stCxn id="7" idx="3"/>
            <a:endCxn id="8" idx="1"/>
          </p:cNvCxnSpPr>
          <p:nvPr/>
        </p:nvCxnSpPr>
        <p:spPr>
          <a:xfrm>
            <a:off x="9925050" y="5622131"/>
            <a:ext cx="603250" cy="0"/>
          </a:xfrm>
          <a:prstGeom prst="straightConnector1">
            <a:avLst/>
          </a:prstGeom>
          <a:ln w="762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 name="タイトル 1">
            <a:extLst>
              <a:ext uri="{FF2B5EF4-FFF2-40B4-BE49-F238E27FC236}">
                <a16:creationId xmlns:a16="http://schemas.microsoft.com/office/drawing/2014/main" id="{5AE0013F-8C36-4D8E-BA60-7376BAE9682B}"/>
              </a:ext>
            </a:extLst>
          </p:cNvPr>
          <p:cNvSpPr txBox="1">
            <a:spLocks/>
          </p:cNvSpPr>
          <p:nvPr/>
        </p:nvSpPr>
        <p:spPr>
          <a:xfrm>
            <a:off x="8081190" y="4249323"/>
            <a:ext cx="2457451" cy="445294"/>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kumimoji="1" sz="4400" kern="1200">
                <a:solidFill>
                  <a:schemeClr val="tx1"/>
                </a:solidFill>
                <a:latin typeface="UD デジタル 教科書体 NK-R" panose="02020400000000000000" pitchFamily="18" charset="-128"/>
                <a:ea typeface="UD デジタル 教科書体 NK-R" panose="02020400000000000000" pitchFamily="18" charset="-128"/>
                <a:cs typeface="+mj-cs"/>
              </a:defRPr>
            </a:lvl1pPr>
          </a:lstStyle>
          <a:p>
            <a:pPr algn="ctr"/>
            <a:r>
              <a:rPr lang="ja-JP" altLang="en-US" sz="3200" dirty="0">
                <a:solidFill>
                  <a:schemeClr val="tx1">
                    <a:lumMod val="75000"/>
                    <a:lumOff val="25000"/>
                  </a:schemeClr>
                </a:solidFill>
              </a:rPr>
              <a:t>ネットワーク</a:t>
            </a:r>
          </a:p>
        </p:txBody>
      </p:sp>
      <p:sp>
        <p:nvSpPr>
          <p:cNvPr id="17" name="タイトル 1">
            <a:extLst>
              <a:ext uri="{FF2B5EF4-FFF2-40B4-BE49-F238E27FC236}">
                <a16:creationId xmlns:a16="http://schemas.microsoft.com/office/drawing/2014/main" id="{1E23169F-C85C-4547-8B7E-EECB85510DFD}"/>
              </a:ext>
            </a:extLst>
          </p:cNvPr>
          <p:cNvSpPr txBox="1">
            <a:spLocks/>
          </p:cNvSpPr>
          <p:nvPr/>
        </p:nvSpPr>
        <p:spPr>
          <a:xfrm>
            <a:off x="8161110" y="1225230"/>
            <a:ext cx="2457451" cy="445294"/>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kumimoji="1" sz="4400" kern="1200">
                <a:solidFill>
                  <a:schemeClr val="tx1"/>
                </a:solidFill>
                <a:latin typeface="UD デジタル 教科書体 NK-R" panose="02020400000000000000" pitchFamily="18" charset="-128"/>
                <a:ea typeface="UD デジタル 教科書体 NK-R" panose="02020400000000000000" pitchFamily="18" charset="-128"/>
                <a:cs typeface="+mj-cs"/>
              </a:defRPr>
            </a:lvl1pPr>
          </a:lstStyle>
          <a:p>
            <a:pPr algn="ctr"/>
            <a:r>
              <a:rPr lang="en-US" altLang="ja-JP" sz="3200" dirty="0">
                <a:solidFill>
                  <a:schemeClr val="tx1">
                    <a:lumMod val="75000"/>
                    <a:lumOff val="25000"/>
                  </a:schemeClr>
                </a:solidFill>
              </a:rPr>
              <a:t>MNIST</a:t>
            </a:r>
            <a:endParaRPr lang="ja-JP" altLang="en-US" sz="3200" dirty="0">
              <a:solidFill>
                <a:schemeClr val="tx1">
                  <a:lumMod val="75000"/>
                  <a:lumOff val="25000"/>
                </a:schemeClr>
              </a:solidFill>
            </a:endParaRPr>
          </a:p>
        </p:txBody>
      </p:sp>
      <p:sp>
        <p:nvSpPr>
          <p:cNvPr id="4" name="スライド番号プレースホルダー 3">
            <a:extLst>
              <a:ext uri="{FF2B5EF4-FFF2-40B4-BE49-F238E27FC236}">
                <a16:creationId xmlns:a16="http://schemas.microsoft.com/office/drawing/2014/main" id="{7A9D3A2A-3389-4103-9CAB-1FE176EF9752}"/>
              </a:ext>
            </a:extLst>
          </p:cNvPr>
          <p:cNvSpPr>
            <a:spLocks noGrp="1"/>
          </p:cNvSpPr>
          <p:nvPr>
            <p:ph type="sldNum" sz="quarter" idx="12"/>
          </p:nvPr>
        </p:nvSpPr>
        <p:spPr/>
        <p:txBody>
          <a:bodyPr/>
          <a:lstStyle/>
          <a:p>
            <a:fld id="{E0941385-F5BA-408B-94FB-C48DC2364AB1}" type="slidenum">
              <a:rPr kumimoji="1" lang="ja-JP" altLang="en-US" smtClean="0"/>
              <a:t>46</a:t>
            </a:fld>
            <a:endParaRPr kumimoji="1" lang="ja-JP" altLang="en-US"/>
          </a:p>
        </p:txBody>
      </p:sp>
    </p:spTree>
    <p:extLst>
      <p:ext uri="{BB962C8B-B14F-4D97-AF65-F5344CB8AC3E}">
        <p14:creationId xmlns:p14="http://schemas.microsoft.com/office/powerpoint/2010/main" val="6472271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7F143C-FFC7-4AB3-82E6-343F2BFB6DDD}"/>
              </a:ext>
            </a:extLst>
          </p:cNvPr>
          <p:cNvSpPr>
            <a:spLocks noGrp="1"/>
          </p:cNvSpPr>
          <p:nvPr>
            <p:ph type="title"/>
          </p:nvPr>
        </p:nvSpPr>
        <p:spPr/>
        <p:txBody>
          <a:bodyPr/>
          <a:lstStyle/>
          <a:p>
            <a:r>
              <a:rPr kumimoji="1" lang="ja-JP" altLang="en-US" dirty="0"/>
              <a:t>実験</a:t>
            </a:r>
            <a:r>
              <a:rPr kumimoji="1" lang="en-US" altLang="ja-JP" dirty="0"/>
              <a:t>2:</a:t>
            </a:r>
            <a:r>
              <a:rPr lang="en-US" altLang="ja-JP" dirty="0"/>
              <a:t> MNIST</a:t>
            </a:r>
            <a:r>
              <a:rPr lang="ja-JP" altLang="en-US" dirty="0"/>
              <a:t>　学習率比較</a:t>
            </a:r>
            <a:endParaRPr kumimoji="1" lang="ja-JP" altLang="en-US" dirty="0"/>
          </a:p>
        </p:txBody>
      </p:sp>
      <p:sp>
        <p:nvSpPr>
          <p:cNvPr id="3" name="コンテンツ プレースホルダー 2">
            <a:extLst>
              <a:ext uri="{FF2B5EF4-FFF2-40B4-BE49-F238E27FC236}">
                <a16:creationId xmlns:a16="http://schemas.microsoft.com/office/drawing/2014/main" id="{6A48A5E2-7160-4C91-979B-9F3A11D4A97F}"/>
              </a:ext>
            </a:extLst>
          </p:cNvPr>
          <p:cNvSpPr>
            <a:spLocks noGrp="1"/>
          </p:cNvSpPr>
          <p:nvPr>
            <p:ph idx="1"/>
          </p:nvPr>
        </p:nvSpPr>
        <p:spPr>
          <a:xfrm>
            <a:off x="808704" y="1825625"/>
            <a:ext cx="10515600" cy="4351338"/>
          </a:xfrm>
        </p:spPr>
        <p:txBody>
          <a:bodyPr>
            <a:normAutofit/>
          </a:bodyPr>
          <a:lstStyle/>
          <a:p>
            <a:pPr marL="0" indent="0">
              <a:buNone/>
            </a:pPr>
            <a:r>
              <a:rPr kumimoji="1" lang="ja-JP" altLang="en-US" dirty="0"/>
              <a:t>学習データ ：</a:t>
            </a:r>
            <a:r>
              <a:rPr kumimoji="1" lang="en-US" altLang="ja-JP" dirty="0"/>
              <a:t>60,000</a:t>
            </a:r>
          </a:p>
          <a:p>
            <a:pPr marL="0" indent="0">
              <a:buNone/>
            </a:pPr>
            <a:r>
              <a:rPr lang="ja-JP" altLang="en-US" dirty="0"/>
              <a:t>テストデータ</a:t>
            </a:r>
            <a:r>
              <a:rPr lang="en-ZA" altLang="ja-JP" dirty="0"/>
              <a:t>:10,000</a:t>
            </a:r>
            <a:endParaRPr kumimoji="1" lang="ja-JP" altLang="en-US" dirty="0"/>
          </a:p>
          <a:p>
            <a:pPr marL="0" indent="0">
              <a:buNone/>
            </a:pPr>
            <a:endParaRPr kumimoji="1" lang="en-US" altLang="ja-JP" dirty="0"/>
          </a:p>
          <a:p>
            <a:pPr marL="0" indent="0">
              <a:buNone/>
            </a:pPr>
            <a:r>
              <a:rPr lang="en-US" altLang="ja-JP" dirty="0"/>
              <a:t>Epoch : 20</a:t>
            </a:r>
          </a:p>
          <a:p>
            <a:pPr marL="0" indent="0">
              <a:buNone/>
            </a:pPr>
            <a:r>
              <a:rPr kumimoji="1" lang="en-US" altLang="ja-JP" dirty="0"/>
              <a:t>B</a:t>
            </a:r>
            <a:r>
              <a:rPr lang="en-US" altLang="ja-JP" dirty="0"/>
              <a:t>atch size : 512</a:t>
            </a:r>
          </a:p>
          <a:p>
            <a:pPr marL="0" indent="0">
              <a:buNone/>
            </a:pPr>
            <a:endParaRPr lang="en-US" altLang="ja-JP" dirty="0"/>
          </a:p>
          <a:p>
            <a:pPr marL="0" indent="0">
              <a:buNone/>
            </a:pPr>
            <a:r>
              <a:rPr lang="en-US" altLang="ja-JP" dirty="0"/>
              <a:t>Hutchinson</a:t>
            </a:r>
            <a:r>
              <a:rPr lang="ja-JP" altLang="en-US" dirty="0"/>
              <a:t>近似の近似回数</a:t>
            </a:r>
            <a:r>
              <a:rPr lang="en-US" altLang="ja-JP" dirty="0"/>
              <a:t>: 3</a:t>
            </a:r>
          </a:p>
          <a:p>
            <a:pPr marL="0" indent="0">
              <a:buNone/>
            </a:pPr>
            <a:r>
              <a:rPr lang="ja-JP" altLang="en-US" b="1" dirty="0"/>
              <a:t>比較する学習率</a:t>
            </a:r>
            <a:r>
              <a:rPr lang="ja-JP" altLang="en-US" dirty="0"/>
              <a:t>：</a:t>
            </a:r>
            <a:r>
              <a:rPr lang="en-US" altLang="ja-JP" dirty="0"/>
              <a:t>0.5, 0.1, 0.05, 0.01</a:t>
            </a:r>
          </a:p>
          <a:p>
            <a:pPr marL="0" indent="0">
              <a:buNone/>
            </a:pPr>
            <a:endParaRPr lang="en-US" altLang="ja-JP" dirty="0"/>
          </a:p>
        </p:txBody>
      </p:sp>
      <p:pic>
        <p:nvPicPr>
          <p:cNvPr id="5" name="図 4" descr="テーブル が含まれている画像&#10;&#10;自動的に生成された説明">
            <a:extLst>
              <a:ext uri="{FF2B5EF4-FFF2-40B4-BE49-F238E27FC236}">
                <a16:creationId xmlns:a16="http://schemas.microsoft.com/office/drawing/2014/main" id="{EB49A6AB-F068-4ED5-8B9D-4CBF1B7FD0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60444" y="1531645"/>
            <a:ext cx="4375694" cy="2659303"/>
          </a:xfrm>
          <a:prstGeom prst="rect">
            <a:avLst/>
          </a:prstGeom>
        </p:spPr>
      </p:pic>
      <p:sp>
        <p:nvSpPr>
          <p:cNvPr id="6" name="四角形: 角を丸くする 5">
            <a:extLst>
              <a:ext uri="{FF2B5EF4-FFF2-40B4-BE49-F238E27FC236}">
                <a16:creationId xmlns:a16="http://schemas.microsoft.com/office/drawing/2014/main" id="{07FA0C86-60E5-4D56-A6C1-8A91B238C833}"/>
              </a:ext>
            </a:extLst>
          </p:cNvPr>
          <p:cNvSpPr/>
          <p:nvPr/>
        </p:nvSpPr>
        <p:spPr>
          <a:xfrm>
            <a:off x="6961518" y="4503572"/>
            <a:ext cx="1231900" cy="2133600"/>
          </a:xfrm>
          <a:prstGeom prst="round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latin typeface="UD デジタル 教科書体 NK-R" panose="02020400000000000000" pitchFamily="18" charset="-128"/>
                <a:ea typeface="UD デジタル 教科書体 NK-R" panose="02020400000000000000" pitchFamily="18" charset="-128"/>
              </a:rPr>
              <a:t>入力</a:t>
            </a:r>
            <a:endParaRPr kumimoji="1" lang="en-US" altLang="ja-JP" dirty="0">
              <a:latin typeface="UD デジタル 教科書体 NK-R" panose="02020400000000000000" pitchFamily="18" charset="-128"/>
              <a:ea typeface="UD デジタル 教科書体 NK-R" panose="02020400000000000000" pitchFamily="18" charset="-128"/>
            </a:endParaRPr>
          </a:p>
          <a:p>
            <a:pPr algn="ctr"/>
            <a:r>
              <a:rPr lang="en-US" altLang="ja-JP" dirty="0">
                <a:latin typeface="UD デジタル 教科書体 NK-R" panose="02020400000000000000" pitchFamily="18" charset="-128"/>
                <a:ea typeface="UD デジタル 教科書体 NK-R" panose="02020400000000000000" pitchFamily="18" charset="-128"/>
              </a:rPr>
              <a:t>784</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sp>
        <p:nvSpPr>
          <p:cNvPr id="7" name="四角形: 角を丸くする 6">
            <a:extLst>
              <a:ext uri="{FF2B5EF4-FFF2-40B4-BE49-F238E27FC236}">
                <a16:creationId xmlns:a16="http://schemas.microsoft.com/office/drawing/2014/main" id="{0B0EA647-1BA1-4B5D-B453-AAF77BEAB079}"/>
              </a:ext>
            </a:extLst>
          </p:cNvPr>
          <p:cNvSpPr/>
          <p:nvPr/>
        </p:nvSpPr>
        <p:spPr>
          <a:xfrm>
            <a:off x="8796668" y="4503572"/>
            <a:ext cx="1231900" cy="2133600"/>
          </a:xfrm>
          <a:prstGeom prst="round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latin typeface="UD デジタル 教科書体 NK-R" panose="02020400000000000000" pitchFamily="18" charset="-128"/>
                <a:ea typeface="UD デジタル 教科書体 NK-R" panose="02020400000000000000" pitchFamily="18" charset="-128"/>
              </a:rPr>
              <a:t>全結合</a:t>
            </a:r>
            <a:endParaRPr kumimoji="1" lang="en-US" altLang="ja-JP" dirty="0">
              <a:latin typeface="UD デジタル 教科書体 NK-R" panose="02020400000000000000" pitchFamily="18" charset="-128"/>
              <a:ea typeface="UD デジタル 教科書体 NK-R" panose="02020400000000000000" pitchFamily="18" charset="-128"/>
            </a:endParaRPr>
          </a:p>
          <a:p>
            <a:pPr algn="ctr"/>
            <a:r>
              <a:rPr lang="en-US" altLang="ja-JP" dirty="0">
                <a:latin typeface="UD デジタル 教科書体 NK-R" panose="02020400000000000000" pitchFamily="18" charset="-128"/>
                <a:ea typeface="UD デジタル 教科書体 NK-R" panose="02020400000000000000" pitchFamily="18" charset="-128"/>
              </a:rPr>
              <a:t>10</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sp>
        <p:nvSpPr>
          <p:cNvPr id="8" name="四角形: 角を丸くする 7">
            <a:extLst>
              <a:ext uri="{FF2B5EF4-FFF2-40B4-BE49-F238E27FC236}">
                <a16:creationId xmlns:a16="http://schemas.microsoft.com/office/drawing/2014/main" id="{8D62A5F2-561A-4050-A32E-2B74D3863662}"/>
              </a:ext>
            </a:extLst>
          </p:cNvPr>
          <p:cNvSpPr/>
          <p:nvPr/>
        </p:nvSpPr>
        <p:spPr>
          <a:xfrm>
            <a:off x="10631818" y="4503572"/>
            <a:ext cx="1231900" cy="2133600"/>
          </a:xfrm>
          <a:prstGeom prst="round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latin typeface="UD デジタル 教科書体 NK-R" panose="02020400000000000000" pitchFamily="18" charset="-128"/>
                <a:ea typeface="UD デジタル 教科書体 NK-R" panose="02020400000000000000" pitchFamily="18" charset="-128"/>
              </a:rPr>
              <a:t>全結合</a:t>
            </a:r>
            <a:endParaRPr kumimoji="1" lang="en-US" altLang="ja-JP" dirty="0">
              <a:latin typeface="UD デジタル 教科書体 NK-R" panose="02020400000000000000" pitchFamily="18" charset="-128"/>
              <a:ea typeface="UD デジタル 教科書体 NK-R" panose="02020400000000000000" pitchFamily="18" charset="-128"/>
            </a:endParaRPr>
          </a:p>
          <a:p>
            <a:pPr algn="ctr"/>
            <a:r>
              <a:rPr lang="en-US" altLang="ja-JP" dirty="0">
                <a:latin typeface="UD デジタル 教科書体 NK-R" panose="02020400000000000000" pitchFamily="18" charset="-128"/>
                <a:ea typeface="UD デジタル 教科書体 NK-R" panose="02020400000000000000" pitchFamily="18" charset="-128"/>
              </a:rPr>
              <a:t>(</a:t>
            </a:r>
            <a:r>
              <a:rPr lang="ja-JP" altLang="en-US" dirty="0">
                <a:latin typeface="UD デジタル 教科書体 NK-R" panose="02020400000000000000" pitchFamily="18" charset="-128"/>
                <a:ea typeface="UD デジタル 教科書体 NK-R" panose="02020400000000000000" pitchFamily="18" charset="-128"/>
              </a:rPr>
              <a:t>出力</a:t>
            </a:r>
            <a:r>
              <a:rPr lang="en-US" altLang="ja-JP" dirty="0">
                <a:latin typeface="UD デジタル 教科書体 NK-R" panose="02020400000000000000" pitchFamily="18" charset="-128"/>
                <a:ea typeface="UD デジタル 教科書体 NK-R" panose="02020400000000000000" pitchFamily="18" charset="-128"/>
              </a:rPr>
              <a:t>)</a:t>
            </a:r>
            <a:endParaRPr kumimoji="1" lang="en-US" altLang="ja-JP" dirty="0">
              <a:latin typeface="UD デジタル 教科書体 NK-R" panose="02020400000000000000" pitchFamily="18" charset="-128"/>
              <a:ea typeface="UD デジタル 教科書体 NK-R" panose="02020400000000000000" pitchFamily="18" charset="-128"/>
            </a:endParaRPr>
          </a:p>
          <a:p>
            <a:pPr algn="ctr"/>
            <a:r>
              <a:rPr lang="en-US" altLang="ja-JP" dirty="0">
                <a:latin typeface="UD デジタル 教科書体 NK-R" panose="02020400000000000000" pitchFamily="18" charset="-128"/>
                <a:ea typeface="UD デジタル 教科書体 NK-R" panose="02020400000000000000" pitchFamily="18" charset="-128"/>
              </a:rPr>
              <a:t>10</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cxnSp>
        <p:nvCxnSpPr>
          <p:cNvPr id="10" name="直線矢印コネクタ 9">
            <a:extLst>
              <a:ext uri="{FF2B5EF4-FFF2-40B4-BE49-F238E27FC236}">
                <a16:creationId xmlns:a16="http://schemas.microsoft.com/office/drawing/2014/main" id="{83C33F53-C4A6-4FF8-B805-47A16C0404A9}"/>
              </a:ext>
            </a:extLst>
          </p:cNvPr>
          <p:cNvCxnSpPr>
            <a:cxnSpLocks/>
            <a:endCxn id="7" idx="1"/>
          </p:cNvCxnSpPr>
          <p:nvPr/>
        </p:nvCxnSpPr>
        <p:spPr>
          <a:xfrm flipV="1">
            <a:off x="8193418" y="5570372"/>
            <a:ext cx="603250" cy="19050"/>
          </a:xfrm>
          <a:prstGeom prst="straightConnector1">
            <a:avLst/>
          </a:prstGeom>
          <a:ln w="762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CB6E5BB7-1121-4D48-8411-3C3408F2B42F}"/>
              </a:ext>
            </a:extLst>
          </p:cNvPr>
          <p:cNvCxnSpPr>
            <a:cxnSpLocks/>
            <a:stCxn id="7" idx="3"/>
            <a:endCxn id="8" idx="1"/>
          </p:cNvCxnSpPr>
          <p:nvPr/>
        </p:nvCxnSpPr>
        <p:spPr>
          <a:xfrm>
            <a:off x="10028568" y="5570372"/>
            <a:ext cx="603250" cy="0"/>
          </a:xfrm>
          <a:prstGeom prst="straightConnector1">
            <a:avLst/>
          </a:prstGeom>
          <a:ln w="762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 name="タイトル 1">
            <a:extLst>
              <a:ext uri="{FF2B5EF4-FFF2-40B4-BE49-F238E27FC236}">
                <a16:creationId xmlns:a16="http://schemas.microsoft.com/office/drawing/2014/main" id="{5AE0013F-8C36-4D8E-BA60-7376BAE9682B}"/>
              </a:ext>
            </a:extLst>
          </p:cNvPr>
          <p:cNvSpPr txBox="1">
            <a:spLocks/>
          </p:cNvSpPr>
          <p:nvPr/>
        </p:nvSpPr>
        <p:spPr>
          <a:xfrm>
            <a:off x="8184708" y="4197564"/>
            <a:ext cx="2457451" cy="445294"/>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kumimoji="1" sz="4400" kern="1200">
                <a:solidFill>
                  <a:schemeClr val="tx1"/>
                </a:solidFill>
                <a:latin typeface="UD デジタル 教科書体 NK-R" panose="02020400000000000000" pitchFamily="18" charset="-128"/>
                <a:ea typeface="UD デジタル 教科書体 NK-R" panose="02020400000000000000" pitchFamily="18" charset="-128"/>
                <a:cs typeface="+mj-cs"/>
              </a:defRPr>
            </a:lvl1pPr>
          </a:lstStyle>
          <a:p>
            <a:pPr algn="ctr"/>
            <a:r>
              <a:rPr lang="ja-JP" altLang="en-US" sz="3200" dirty="0">
                <a:solidFill>
                  <a:schemeClr val="tx1">
                    <a:lumMod val="75000"/>
                    <a:lumOff val="25000"/>
                  </a:schemeClr>
                </a:solidFill>
              </a:rPr>
              <a:t>ネットワーク</a:t>
            </a:r>
          </a:p>
        </p:txBody>
      </p:sp>
      <p:sp>
        <p:nvSpPr>
          <p:cNvPr id="17" name="タイトル 1">
            <a:extLst>
              <a:ext uri="{FF2B5EF4-FFF2-40B4-BE49-F238E27FC236}">
                <a16:creationId xmlns:a16="http://schemas.microsoft.com/office/drawing/2014/main" id="{1E23169F-C85C-4547-8B7E-EECB85510DFD}"/>
              </a:ext>
            </a:extLst>
          </p:cNvPr>
          <p:cNvSpPr txBox="1">
            <a:spLocks/>
          </p:cNvSpPr>
          <p:nvPr/>
        </p:nvSpPr>
        <p:spPr>
          <a:xfrm>
            <a:off x="8161110" y="1225230"/>
            <a:ext cx="2457451" cy="445294"/>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kumimoji="1" sz="4400" kern="1200">
                <a:solidFill>
                  <a:schemeClr val="tx1"/>
                </a:solidFill>
                <a:latin typeface="UD デジタル 教科書体 NK-R" panose="02020400000000000000" pitchFamily="18" charset="-128"/>
                <a:ea typeface="UD デジタル 教科書体 NK-R" panose="02020400000000000000" pitchFamily="18" charset="-128"/>
                <a:cs typeface="+mj-cs"/>
              </a:defRPr>
            </a:lvl1pPr>
          </a:lstStyle>
          <a:p>
            <a:pPr algn="ctr"/>
            <a:r>
              <a:rPr lang="en-US" altLang="ja-JP" sz="3200" dirty="0">
                <a:solidFill>
                  <a:schemeClr val="tx1">
                    <a:lumMod val="75000"/>
                    <a:lumOff val="25000"/>
                  </a:schemeClr>
                </a:solidFill>
              </a:rPr>
              <a:t>MNIST</a:t>
            </a:r>
            <a:endParaRPr lang="ja-JP" altLang="en-US" sz="3200" dirty="0">
              <a:solidFill>
                <a:schemeClr val="tx1">
                  <a:lumMod val="75000"/>
                  <a:lumOff val="25000"/>
                </a:schemeClr>
              </a:solidFill>
            </a:endParaRPr>
          </a:p>
        </p:txBody>
      </p:sp>
      <p:sp>
        <p:nvSpPr>
          <p:cNvPr id="4" name="スライド番号プレースホルダー 3">
            <a:extLst>
              <a:ext uri="{FF2B5EF4-FFF2-40B4-BE49-F238E27FC236}">
                <a16:creationId xmlns:a16="http://schemas.microsoft.com/office/drawing/2014/main" id="{7A9D3A2A-3389-4103-9CAB-1FE176EF9752}"/>
              </a:ext>
            </a:extLst>
          </p:cNvPr>
          <p:cNvSpPr>
            <a:spLocks noGrp="1"/>
          </p:cNvSpPr>
          <p:nvPr>
            <p:ph type="sldNum" sz="quarter" idx="12"/>
          </p:nvPr>
        </p:nvSpPr>
        <p:spPr/>
        <p:txBody>
          <a:bodyPr/>
          <a:lstStyle/>
          <a:p>
            <a:fld id="{E0941385-F5BA-408B-94FB-C48DC2364AB1}" type="slidenum">
              <a:rPr kumimoji="1" lang="ja-JP" altLang="en-US" smtClean="0"/>
              <a:t>47</a:t>
            </a:fld>
            <a:endParaRPr kumimoji="1" lang="ja-JP" altLang="en-US"/>
          </a:p>
        </p:txBody>
      </p:sp>
    </p:spTree>
    <p:extLst>
      <p:ext uri="{BB962C8B-B14F-4D97-AF65-F5344CB8AC3E}">
        <p14:creationId xmlns:p14="http://schemas.microsoft.com/office/powerpoint/2010/main" val="17375464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7F143C-FFC7-4AB3-82E6-343F2BFB6DDD}"/>
              </a:ext>
            </a:extLst>
          </p:cNvPr>
          <p:cNvSpPr>
            <a:spLocks noGrp="1"/>
          </p:cNvSpPr>
          <p:nvPr>
            <p:ph type="title"/>
          </p:nvPr>
        </p:nvSpPr>
        <p:spPr/>
        <p:txBody>
          <a:bodyPr/>
          <a:lstStyle/>
          <a:p>
            <a:r>
              <a:rPr kumimoji="1" lang="ja-JP" altLang="en-US" dirty="0"/>
              <a:t>実験</a:t>
            </a:r>
            <a:r>
              <a:rPr kumimoji="1" lang="en-US" altLang="ja-JP" dirty="0"/>
              <a:t>2:</a:t>
            </a:r>
            <a:r>
              <a:rPr lang="en-US" altLang="ja-JP" dirty="0"/>
              <a:t> MNIST</a:t>
            </a:r>
            <a:r>
              <a:rPr lang="ja-JP" altLang="en-US" dirty="0"/>
              <a:t>　他の手法と比較</a:t>
            </a:r>
            <a:endParaRPr kumimoji="1" lang="ja-JP" altLang="en-US" dirty="0"/>
          </a:p>
        </p:txBody>
      </p:sp>
      <p:sp>
        <p:nvSpPr>
          <p:cNvPr id="3" name="コンテンツ プレースホルダー 2">
            <a:extLst>
              <a:ext uri="{FF2B5EF4-FFF2-40B4-BE49-F238E27FC236}">
                <a16:creationId xmlns:a16="http://schemas.microsoft.com/office/drawing/2014/main" id="{6A48A5E2-7160-4C91-979B-9F3A11D4A97F}"/>
              </a:ext>
            </a:extLst>
          </p:cNvPr>
          <p:cNvSpPr>
            <a:spLocks noGrp="1"/>
          </p:cNvSpPr>
          <p:nvPr>
            <p:ph idx="1"/>
          </p:nvPr>
        </p:nvSpPr>
        <p:spPr/>
        <p:txBody>
          <a:bodyPr>
            <a:normAutofit fontScale="85000" lnSpcReduction="20000"/>
          </a:bodyPr>
          <a:lstStyle/>
          <a:p>
            <a:pPr marL="0" indent="0">
              <a:buNone/>
            </a:pPr>
            <a:r>
              <a:rPr kumimoji="1" lang="ja-JP" altLang="en-US" dirty="0"/>
              <a:t>学習データ ：</a:t>
            </a:r>
            <a:r>
              <a:rPr kumimoji="1" lang="en-US" altLang="ja-JP" dirty="0"/>
              <a:t>60,000</a:t>
            </a:r>
          </a:p>
          <a:p>
            <a:pPr marL="0" indent="0">
              <a:buNone/>
            </a:pPr>
            <a:r>
              <a:rPr lang="ja-JP" altLang="en-US" dirty="0"/>
              <a:t>テストデータ</a:t>
            </a:r>
            <a:r>
              <a:rPr lang="en-ZA" altLang="ja-JP" dirty="0"/>
              <a:t>:10,000</a:t>
            </a:r>
            <a:endParaRPr kumimoji="1" lang="ja-JP" altLang="en-US" dirty="0"/>
          </a:p>
          <a:p>
            <a:pPr marL="0" indent="0">
              <a:buNone/>
            </a:pPr>
            <a:endParaRPr kumimoji="1" lang="en-US" altLang="ja-JP" dirty="0"/>
          </a:p>
          <a:p>
            <a:pPr marL="0" indent="0">
              <a:buNone/>
            </a:pPr>
            <a:r>
              <a:rPr lang="en-US" altLang="ja-JP" dirty="0"/>
              <a:t>Epoch : 20</a:t>
            </a:r>
          </a:p>
          <a:p>
            <a:pPr marL="0" indent="0">
              <a:buNone/>
            </a:pPr>
            <a:r>
              <a:rPr kumimoji="1" lang="en-US" altLang="ja-JP" dirty="0"/>
              <a:t>B</a:t>
            </a:r>
            <a:r>
              <a:rPr lang="en-US" altLang="ja-JP" dirty="0"/>
              <a:t>atch size : 512</a:t>
            </a:r>
          </a:p>
          <a:p>
            <a:pPr marL="0" indent="0">
              <a:buNone/>
            </a:pPr>
            <a:endParaRPr lang="en-US" altLang="ja-JP" dirty="0"/>
          </a:p>
          <a:p>
            <a:pPr marL="0" indent="0">
              <a:buNone/>
            </a:pPr>
            <a:r>
              <a:rPr lang="ja-JP" altLang="en-US" b="1" dirty="0"/>
              <a:t>提案手法</a:t>
            </a:r>
            <a:r>
              <a:rPr lang="ja-JP" altLang="en-US" dirty="0"/>
              <a:t>の学習率 </a:t>
            </a:r>
            <a:r>
              <a:rPr lang="en-US" altLang="ja-JP" dirty="0"/>
              <a:t>: 0.05</a:t>
            </a:r>
          </a:p>
          <a:p>
            <a:pPr marL="0" indent="0">
              <a:buNone/>
            </a:pPr>
            <a:r>
              <a:rPr lang="en-US" altLang="ja-JP" dirty="0"/>
              <a:t>Hutchinson</a:t>
            </a:r>
            <a:r>
              <a:rPr lang="ja-JP" altLang="en-US" dirty="0"/>
              <a:t>近似のステップ数：</a:t>
            </a:r>
            <a:r>
              <a:rPr lang="en-US" altLang="ja-JP" dirty="0"/>
              <a:t>5</a:t>
            </a:r>
          </a:p>
          <a:p>
            <a:pPr marL="0" indent="0">
              <a:buNone/>
            </a:pPr>
            <a:endParaRPr lang="en-US" altLang="ja-JP" dirty="0"/>
          </a:p>
          <a:p>
            <a:pPr marL="0" indent="0">
              <a:buNone/>
            </a:pPr>
            <a:r>
              <a:rPr kumimoji="1" lang="en-US" altLang="ja-JP" b="1" spc="350" dirty="0"/>
              <a:t>Adam</a:t>
            </a:r>
            <a:r>
              <a:rPr kumimoji="1" lang="ja-JP" altLang="en-US" spc="350" dirty="0"/>
              <a:t>の学習率 ：</a:t>
            </a:r>
            <a:r>
              <a:rPr kumimoji="1" lang="en-US" altLang="ja-JP" spc="350" dirty="0"/>
              <a:t>0.001</a:t>
            </a:r>
          </a:p>
          <a:p>
            <a:pPr marL="0" indent="0">
              <a:buNone/>
            </a:pPr>
            <a:r>
              <a:rPr lang="en-US" altLang="ja-JP" b="1" spc="570" dirty="0"/>
              <a:t>SGD</a:t>
            </a:r>
            <a:r>
              <a:rPr lang="ja-JP" altLang="en-US" spc="570" dirty="0"/>
              <a:t>の学習率 ：</a:t>
            </a:r>
            <a:r>
              <a:rPr lang="en-US" altLang="ja-JP" spc="570" dirty="0"/>
              <a:t>0.01</a:t>
            </a:r>
          </a:p>
        </p:txBody>
      </p:sp>
      <p:pic>
        <p:nvPicPr>
          <p:cNvPr id="5" name="図 4" descr="テーブル が含まれている画像&#10;&#10;自動的に生成された説明">
            <a:extLst>
              <a:ext uri="{FF2B5EF4-FFF2-40B4-BE49-F238E27FC236}">
                <a16:creationId xmlns:a16="http://schemas.microsoft.com/office/drawing/2014/main" id="{EB49A6AB-F068-4ED5-8B9D-4CBF1B7FD0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60444" y="1531645"/>
            <a:ext cx="4375694" cy="2659303"/>
          </a:xfrm>
          <a:prstGeom prst="rect">
            <a:avLst/>
          </a:prstGeom>
        </p:spPr>
      </p:pic>
      <p:sp>
        <p:nvSpPr>
          <p:cNvPr id="6" name="四角形: 角を丸くする 5">
            <a:extLst>
              <a:ext uri="{FF2B5EF4-FFF2-40B4-BE49-F238E27FC236}">
                <a16:creationId xmlns:a16="http://schemas.microsoft.com/office/drawing/2014/main" id="{07FA0C86-60E5-4D56-A6C1-8A91B238C833}"/>
              </a:ext>
            </a:extLst>
          </p:cNvPr>
          <p:cNvSpPr/>
          <p:nvPr/>
        </p:nvSpPr>
        <p:spPr>
          <a:xfrm>
            <a:off x="6858000" y="4555331"/>
            <a:ext cx="1231900" cy="2133600"/>
          </a:xfrm>
          <a:prstGeom prst="round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latin typeface="UD デジタル 教科書体 NK-R" panose="02020400000000000000" pitchFamily="18" charset="-128"/>
                <a:ea typeface="UD デジタル 教科書体 NK-R" panose="02020400000000000000" pitchFamily="18" charset="-128"/>
              </a:rPr>
              <a:t>入力</a:t>
            </a:r>
            <a:endParaRPr kumimoji="1" lang="en-US" altLang="ja-JP" dirty="0">
              <a:latin typeface="UD デジタル 教科書体 NK-R" panose="02020400000000000000" pitchFamily="18" charset="-128"/>
              <a:ea typeface="UD デジタル 教科書体 NK-R" panose="02020400000000000000" pitchFamily="18" charset="-128"/>
            </a:endParaRPr>
          </a:p>
          <a:p>
            <a:pPr algn="ctr"/>
            <a:r>
              <a:rPr lang="en-US" altLang="ja-JP" dirty="0">
                <a:latin typeface="UD デジタル 教科書体 NK-R" panose="02020400000000000000" pitchFamily="18" charset="-128"/>
                <a:ea typeface="UD デジタル 教科書体 NK-R" panose="02020400000000000000" pitchFamily="18" charset="-128"/>
              </a:rPr>
              <a:t>784</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sp>
        <p:nvSpPr>
          <p:cNvPr id="7" name="四角形: 角を丸くする 6">
            <a:extLst>
              <a:ext uri="{FF2B5EF4-FFF2-40B4-BE49-F238E27FC236}">
                <a16:creationId xmlns:a16="http://schemas.microsoft.com/office/drawing/2014/main" id="{0B0EA647-1BA1-4B5D-B453-AAF77BEAB079}"/>
              </a:ext>
            </a:extLst>
          </p:cNvPr>
          <p:cNvSpPr/>
          <p:nvPr/>
        </p:nvSpPr>
        <p:spPr>
          <a:xfrm>
            <a:off x="8693150" y="4555331"/>
            <a:ext cx="1231900" cy="2133600"/>
          </a:xfrm>
          <a:prstGeom prst="round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latin typeface="UD デジタル 教科書体 NK-R" panose="02020400000000000000" pitchFamily="18" charset="-128"/>
                <a:ea typeface="UD デジタル 教科書体 NK-R" panose="02020400000000000000" pitchFamily="18" charset="-128"/>
              </a:rPr>
              <a:t>全結合</a:t>
            </a:r>
            <a:endParaRPr kumimoji="1" lang="en-US" altLang="ja-JP" dirty="0">
              <a:latin typeface="UD デジタル 教科書体 NK-R" panose="02020400000000000000" pitchFamily="18" charset="-128"/>
              <a:ea typeface="UD デジタル 教科書体 NK-R" panose="02020400000000000000" pitchFamily="18" charset="-128"/>
            </a:endParaRPr>
          </a:p>
          <a:p>
            <a:pPr algn="ctr"/>
            <a:r>
              <a:rPr lang="en-US" altLang="ja-JP" dirty="0">
                <a:latin typeface="UD デジタル 教科書体 NK-R" panose="02020400000000000000" pitchFamily="18" charset="-128"/>
                <a:ea typeface="UD デジタル 教科書体 NK-R" panose="02020400000000000000" pitchFamily="18" charset="-128"/>
              </a:rPr>
              <a:t>10</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sp>
        <p:nvSpPr>
          <p:cNvPr id="8" name="四角形: 角を丸くする 7">
            <a:extLst>
              <a:ext uri="{FF2B5EF4-FFF2-40B4-BE49-F238E27FC236}">
                <a16:creationId xmlns:a16="http://schemas.microsoft.com/office/drawing/2014/main" id="{8D62A5F2-561A-4050-A32E-2B74D3863662}"/>
              </a:ext>
            </a:extLst>
          </p:cNvPr>
          <p:cNvSpPr/>
          <p:nvPr/>
        </p:nvSpPr>
        <p:spPr>
          <a:xfrm>
            <a:off x="10528300" y="4555331"/>
            <a:ext cx="1231900" cy="2133600"/>
          </a:xfrm>
          <a:prstGeom prst="round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latin typeface="UD デジタル 教科書体 NK-R" panose="02020400000000000000" pitchFamily="18" charset="-128"/>
                <a:ea typeface="UD デジタル 教科書体 NK-R" panose="02020400000000000000" pitchFamily="18" charset="-128"/>
              </a:rPr>
              <a:t>全結合</a:t>
            </a:r>
            <a:endParaRPr kumimoji="1" lang="en-US" altLang="ja-JP" dirty="0">
              <a:latin typeface="UD デジタル 教科書体 NK-R" panose="02020400000000000000" pitchFamily="18" charset="-128"/>
              <a:ea typeface="UD デジタル 教科書体 NK-R" panose="02020400000000000000" pitchFamily="18" charset="-128"/>
            </a:endParaRPr>
          </a:p>
          <a:p>
            <a:pPr algn="ctr"/>
            <a:r>
              <a:rPr lang="en-US" altLang="ja-JP" dirty="0">
                <a:latin typeface="UD デジタル 教科書体 NK-R" panose="02020400000000000000" pitchFamily="18" charset="-128"/>
                <a:ea typeface="UD デジタル 教科書体 NK-R" panose="02020400000000000000" pitchFamily="18" charset="-128"/>
              </a:rPr>
              <a:t>(</a:t>
            </a:r>
            <a:r>
              <a:rPr lang="ja-JP" altLang="en-US" dirty="0">
                <a:latin typeface="UD デジタル 教科書体 NK-R" panose="02020400000000000000" pitchFamily="18" charset="-128"/>
                <a:ea typeface="UD デジタル 教科書体 NK-R" panose="02020400000000000000" pitchFamily="18" charset="-128"/>
              </a:rPr>
              <a:t>出力</a:t>
            </a:r>
            <a:r>
              <a:rPr lang="en-US" altLang="ja-JP" dirty="0">
                <a:latin typeface="UD デジタル 教科書体 NK-R" panose="02020400000000000000" pitchFamily="18" charset="-128"/>
                <a:ea typeface="UD デジタル 教科書体 NK-R" panose="02020400000000000000" pitchFamily="18" charset="-128"/>
              </a:rPr>
              <a:t>)</a:t>
            </a:r>
            <a:endParaRPr kumimoji="1" lang="en-US" altLang="ja-JP" dirty="0">
              <a:latin typeface="UD デジタル 教科書体 NK-R" panose="02020400000000000000" pitchFamily="18" charset="-128"/>
              <a:ea typeface="UD デジタル 教科書体 NK-R" panose="02020400000000000000" pitchFamily="18" charset="-128"/>
            </a:endParaRPr>
          </a:p>
          <a:p>
            <a:pPr algn="ctr"/>
            <a:r>
              <a:rPr lang="en-US" altLang="ja-JP" dirty="0">
                <a:latin typeface="UD デジタル 教科書体 NK-R" panose="02020400000000000000" pitchFamily="18" charset="-128"/>
                <a:ea typeface="UD デジタル 教科書体 NK-R" panose="02020400000000000000" pitchFamily="18" charset="-128"/>
              </a:rPr>
              <a:t>10</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cxnSp>
        <p:nvCxnSpPr>
          <p:cNvPr id="10" name="直線矢印コネクタ 9">
            <a:extLst>
              <a:ext uri="{FF2B5EF4-FFF2-40B4-BE49-F238E27FC236}">
                <a16:creationId xmlns:a16="http://schemas.microsoft.com/office/drawing/2014/main" id="{83C33F53-C4A6-4FF8-B805-47A16C0404A9}"/>
              </a:ext>
            </a:extLst>
          </p:cNvPr>
          <p:cNvCxnSpPr>
            <a:cxnSpLocks/>
            <a:endCxn id="7" idx="1"/>
          </p:cNvCxnSpPr>
          <p:nvPr/>
        </p:nvCxnSpPr>
        <p:spPr>
          <a:xfrm flipV="1">
            <a:off x="8089900" y="5622131"/>
            <a:ext cx="603250" cy="19050"/>
          </a:xfrm>
          <a:prstGeom prst="straightConnector1">
            <a:avLst/>
          </a:prstGeom>
          <a:ln w="762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CB6E5BB7-1121-4D48-8411-3C3408F2B42F}"/>
              </a:ext>
            </a:extLst>
          </p:cNvPr>
          <p:cNvCxnSpPr>
            <a:cxnSpLocks/>
            <a:stCxn id="7" idx="3"/>
            <a:endCxn id="8" idx="1"/>
          </p:cNvCxnSpPr>
          <p:nvPr/>
        </p:nvCxnSpPr>
        <p:spPr>
          <a:xfrm>
            <a:off x="9925050" y="5622131"/>
            <a:ext cx="603250" cy="0"/>
          </a:xfrm>
          <a:prstGeom prst="straightConnector1">
            <a:avLst/>
          </a:prstGeom>
          <a:ln w="762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 name="タイトル 1">
            <a:extLst>
              <a:ext uri="{FF2B5EF4-FFF2-40B4-BE49-F238E27FC236}">
                <a16:creationId xmlns:a16="http://schemas.microsoft.com/office/drawing/2014/main" id="{5AE0013F-8C36-4D8E-BA60-7376BAE9682B}"/>
              </a:ext>
            </a:extLst>
          </p:cNvPr>
          <p:cNvSpPr txBox="1">
            <a:spLocks/>
          </p:cNvSpPr>
          <p:nvPr/>
        </p:nvSpPr>
        <p:spPr>
          <a:xfrm>
            <a:off x="8081190" y="4249323"/>
            <a:ext cx="2457451" cy="445294"/>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kumimoji="1" sz="4400" kern="1200">
                <a:solidFill>
                  <a:schemeClr val="tx1"/>
                </a:solidFill>
                <a:latin typeface="UD デジタル 教科書体 NK-R" panose="02020400000000000000" pitchFamily="18" charset="-128"/>
                <a:ea typeface="UD デジタル 教科書体 NK-R" panose="02020400000000000000" pitchFamily="18" charset="-128"/>
                <a:cs typeface="+mj-cs"/>
              </a:defRPr>
            </a:lvl1pPr>
          </a:lstStyle>
          <a:p>
            <a:pPr algn="ctr"/>
            <a:r>
              <a:rPr lang="ja-JP" altLang="en-US" sz="3200" dirty="0">
                <a:solidFill>
                  <a:schemeClr val="tx1">
                    <a:lumMod val="75000"/>
                    <a:lumOff val="25000"/>
                  </a:schemeClr>
                </a:solidFill>
              </a:rPr>
              <a:t>ネットワーク</a:t>
            </a:r>
          </a:p>
        </p:txBody>
      </p:sp>
      <p:sp>
        <p:nvSpPr>
          <p:cNvPr id="17" name="タイトル 1">
            <a:extLst>
              <a:ext uri="{FF2B5EF4-FFF2-40B4-BE49-F238E27FC236}">
                <a16:creationId xmlns:a16="http://schemas.microsoft.com/office/drawing/2014/main" id="{1E23169F-C85C-4547-8B7E-EECB85510DFD}"/>
              </a:ext>
            </a:extLst>
          </p:cNvPr>
          <p:cNvSpPr txBox="1">
            <a:spLocks/>
          </p:cNvSpPr>
          <p:nvPr/>
        </p:nvSpPr>
        <p:spPr>
          <a:xfrm>
            <a:off x="8161110" y="1225230"/>
            <a:ext cx="2457451" cy="445294"/>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kumimoji="1" sz="4400" kern="1200">
                <a:solidFill>
                  <a:schemeClr val="tx1"/>
                </a:solidFill>
                <a:latin typeface="UD デジタル 教科書体 NK-R" panose="02020400000000000000" pitchFamily="18" charset="-128"/>
                <a:ea typeface="UD デジタル 教科書体 NK-R" panose="02020400000000000000" pitchFamily="18" charset="-128"/>
                <a:cs typeface="+mj-cs"/>
              </a:defRPr>
            </a:lvl1pPr>
          </a:lstStyle>
          <a:p>
            <a:pPr algn="ctr"/>
            <a:r>
              <a:rPr lang="en-US" altLang="ja-JP" sz="3200" dirty="0">
                <a:solidFill>
                  <a:schemeClr val="tx1">
                    <a:lumMod val="75000"/>
                    <a:lumOff val="25000"/>
                  </a:schemeClr>
                </a:solidFill>
              </a:rPr>
              <a:t>MNIST</a:t>
            </a:r>
            <a:endParaRPr lang="ja-JP" altLang="en-US" sz="3200" dirty="0">
              <a:solidFill>
                <a:schemeClr val="tx1">
                  <a:lumMod val="75000"/>
                  <a:lumOff val="25000"/>
                </a:schemeClr>
              </a:solidFill>
            </a:endParaRPr>
          </a:p>
        </p:txBody>
      </p:sp>
      <p:sp>
        <p:nvSpPr>
          <p:cNvPr id="4" name="スライド番号プレースホルダー 3">
            <a:extLst>
              <a:ext uri="{FF2B5EF4-FFF2-40B4-BE49-F238E27FC236}">
                <a16:creationId xmlns:a16="http://schemas.microsoft.com/office/drawing/2014/main" id="{7A9D3A2A-3389-4103-9CAB-1FE176EF9752}"/>
              </a:ext>
            </a:extLst>
          </p:cNvPr>
          <p:cNvSpPr>
            <a:spLocks noGrp="1"/>
          </p:cNvSpPr>
          <p:nvPr>
            <p:ph type="sldNum" sz="quarter" idx="12"/>
          </p:nvPr>
        </p:nvSpPr>
        <p:spPr/>
        <p:txBody>
          <a:bodyPr/>
          <a:lstStyle/>
          <a:p>
            <a:fld id="{E0941385-F5BA-408B-94FB-C48DC2364AB1}" type="slidenum">
              <a:rPr kumimoji="1" lang="ja-JP" altLang="en-US" smtClean="0"/>
              <a:t>48</a:t>
            </a:fld>
            <a:endParaRPr kumimoji="1" lang="ja-JP" altLang="en-US"/>
          </a:p>
        </p:txBody>
      </p:sp>
      <mc:AlternateContent xmlns:mc="http://schemas.openxmlformats.org/markup-compatibility/2006" xmlns:p14="http://schemas.microsoft.com/office/powerpoint/2010/main">
        <mc:Choice Requires="p14">
          <p:contentPart p14:bwMode="auto" r:id="rId4">
            <p14:nvContentPartPr>
              <p14:cNvPr id="11" name="インク 10">
                <a:extLst>
                  <a:ext uri="{FF2B5EF4-FFF2-40B4-BE49-F238E27FC236}">
                    <a16:creationId xmlns:a16="http://schemas.microsoft.com/office/drawing/2014/main" id="{6A243B33-3261-4570-948C-278B5E63E160}"/>
                  </a:ext>
                </a:extLst>
              </p14:cNvPr>
              <p14:cNvContentPartPr/>
              <p14:nvPr/>
            </p14:nvContentPartPr>
            <p14:xfrm>
              <a:off x="-884040" y="5866680"/>
              <a:ext cx="360" cy="360"/>
            </p14:xfrm>
          </p:contentPart>
        </mc:Choice>
        <mc:Fallback xmlns="">
          <p:pic>
            <p:nvPicPr>
              <p:cNvPr id="11" name="インク 10">
                <a:extLst>
                  <a:ext uri="{FF2B5EF4-FFF2-40B4-BE49-F238E27FC236}">
                    <a16:creationId xmlns:a16="http://schemas.microsoft.com/office/drawing/2014/main" id="{6A243B33-3261-4570-948C-278B5E63E160}"/>
                  </a:ext>
                </a:extLst>
              </p:cNvPr>
              <p:cNvPicPr/>
              <p:nvPr/>
            </p:nvPicPr>
            <p:blipFill>
              <a:blip r:embed="rId7"/>
              <a:stretch>
                <a:fillRect/>
              </a:stretch>
            </p:blipFill>
            <p:spPr>
              <a:xfrm>
                <a:off x="-893040" y="5857680"/>
                <a:ext cx="18000" cy="18000"/>
              </a:xfrm>
              <a:prstGeom prst="rect">
                <a:avLst/>
              </a:prstGeom>
            </p:spPr>
          </p:pic>
        </mc:Fallback>
      </mc:AlternateContent>
    </p:spTree>
    <p:extLst>
      <p:ext uri="{BB962C8B-B14F-4D97-AF65-F5344CB8AC3E}">
        <p14:creationId xmlns:p14="http://schemas.microsoft.com/office/powerpoint/2010/main" val="29565915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7F143C-FFC7-4AB3-82E6-343F2BFB6DDD}"/>
              </a:ext>
            </a:extLst>
          </p:cNvPr>
          <p:cNvSpPr>
            <a:spLocks noGrp="1"/>
          </p:cNvSpPr>
          <p:nvPr>
            <p:ph type="title"/>
          </p:nvPr>
        </p:nvSpPr>
        <p:spPr/>
        <p:txBody>
          <a:bodyPr/>
          <a:lstStyle/>
          <a:p>
            <a:r>
              <a:rPr kumimoji="1" lang="ja-JP" altLang="en-US" dirty="0"/>
              <a:t>実験</a:t>
            </a:r>
            <a:r>
              <a:rPr kumimoji="1" lang="en-US" altLang="ja-JP" dirty="0"/>
              <a:t>2:</a:t>
            </a:r>
            <a:r>
              <a:rPr lang="en-US" altLang="ja-JP" dirty="0"/>
              <a:t> MNIST</a:t>
            </a:r>
            <a:r>
              <a:rPr lang="ja-JP" altLang="en-US" dirty="0"/>
              <a:t>　バッチサイズ比較</a:t>
            </a:r>
            <a:endParaRPr kumimoji="1" lang="ja-JP" altLang="en-US" dirty="0"/>
          </a:p>
        </p:txBody>
      </p:sp>
      <p:sp>
        <p:nvSpPr>
          <p:cNvPr id="3" name="コンテンツ プレースホルダー 2">
            <a:extLst>
              <a:ext uri="{FF2B5EF4-FFF2-40B4-BE49-F238E27FC236}">
                <a16:creationId xmlns:a16="http://schemas.microsoft.com/office/drawing/2014/main" id="{6A48A5E2-7160-4C91-979B-9F3A11D4A97F}"/>
              </a:ext>
            </a:extLst>
          </p:cNvPr>
          <p:cNvSpPr>
            <a:spLocks noGrp="1"/>
          </p:cNvSpPr>
          <p:nvPr>
            <p:ph idx="1"/>
          </p:nvPr>
        </p:nvSpPr>
        <p:spPr/>
        <p:txBody>
          <a:bodyPr>
            <a:normAutofit fontScale="85000" lnSpcReduction="20000"/>
          </a:bodyPr>
          <a:lstStyle/>
          <a:p>
            <a:pPr marL="0" indent="0">
              <a:buNone/>
            </a:pPr>
            <a:r>
              <a:rPr kumimoji="1" lang="ja-JP" altLang="en-US" dirty="0"/>
              <a:t>学習データ ：</a:t>
            </a:r>
            <a:r>
              <a:rPr kumimoji="1" lang="en-US" altLang="ja-JP" dirty="0"/>
              <a:t>60,000</a:t>
            </a:r>
          </a:p>
          <a:p>
            <a:pPr marL="0" indent="0">
              <a:buNone/>
            </a:pPr>
            <a:r>
              <a:rPr lang="ja-JP" altLang="en-US" dirty="0"/>
              <a:t>テストデータ</a:t>
            </a:r>
            <a:r>
              <a:rPr lang="en-ZA" altLang="ja-JP" dirty="0"/>
              <a:t>:10,000</a:t>
            </a:r>
            <a:endParaRPr kumimoji="1" lang="ja-JP" altLang="en-US" dirty="0"/>
          </a:p>
          <a:p>
            <a:pPr marL="0" indent="0">
              <a:buNone/>
            </a:pPr>
            <a:endParaRPr kumimoji="1" lang="en-US" altLang="ja-JP" dirty="0"/>
          </a:p>
          <a:p>
            <a:pPr marL="0" indent="0">
              <a:buNone/>
            </a:pPr>
            <a:r>
              <a:rPr lang="en-US" altLang="ja-JP" dirty="0"/>
              <a:t>Epoch : 20</a:t>
            </a:r>
          </a:p>
          <a:p>
            <a:pPr marL="0" indent="0">
              <a:buNone/>
            </a:pPr>
            <a:endParaRPr lang="en-US" altLang="ja-JP" dirty="0"/>
          </a:p>
          <a:p>
            <a:pPr marL="0" indent="0">
              <a:buNone/>
            </a:pPr>
            <a:r>
              <a:rPr lang="ja-JP" altLang="en-US" dirty="0"/>
              <a:t>提案手法の学習率 </a:t>
            </a:r>
            <a:r>
              <a:rPr lang="en-US" altLang="ja-JP" dirty="0"/>
              <a:t>: 0.05</a:t>
            </a:r>
          </a:p>
          <a:p>
            <a:pPr marL="0" indent="0">
              <a:buNone/>
            </a:pPr>
            <a:r>
              <a:rPr lang="en-US" altLang="ja-JP" dirty="0"/>
              <a:t>Hutchinson</a:t>
            </a:r>
            <a:r>
              <a:rPr lang="ja-JP" altLang="en-US" dirty="0"/>
              <a:t>近似のステップ数：</a:t>
            </a:r>
            <a:r>
              <a:rPr lang="en-US" altLang="ja-JP" dirty="0"/>
              <a:t>5</a:t>
            </a:r>
          </a:p>
          <a:p>
            <a:pPr marL="0" indent="0">
              <a:buNone/>
            </a:pPr>
            <a:endParaRPr lang="en-US" altLang="ja-JP" dirty="0"/>
          </a:p>
          <a:p>
            <a:pPr marL="0" indent="0">
              <a:buNone/>
            </a:pPr>
            <a:r>
              <a:rPr kumimoji="1" lang="en-US" altLang="ja-JP" spc="350" dirty="0"/>
              <a:t>Adam</a:t>
            </a:r>
            <a:r>
              <a:rPr kumimoji="1" lang="ja-JP" altLang="en-US" spc="350" dirty="0"/>
              <a:t>の学習率 ：</a:t>
            </a:r>
            <a:r>
              <a:rPr kumimoji="1" lang="en-US" altLang="ja-JP" spc="350" dirty="0"/>
              <a:t>0.001</a:t>
            </a:r>
          </a:p>
          <a:p>
            <a:pPr marL="0" indent="0">
              <a:buNone/>
            </a:pPr>
            <a:endParaRPr lang="en-US" altLang="ja-JP" spc="570" dirty="0"/>
          </a:p>
          <a:p>
            <a:pPr marL="0" indent="0">
              <a:buNone/>
            </a:pPr>
            <a:r>
              <a:rPr kumimoji="1" lang="ja-JP" altLang="en-US" dirty="0">
                <a:solidFill>
                  <a:srgbClr val="FF0000"/>
                </a:solidFill>
              </a:rPr>
              <a:t>比較する</a:t>
            </a:r>
            <a:r>
              <a:rPr kumimoji="1" lang="en-US" altLang="ja-JP" dirty="0">
                <a:solidFill>
                  <a:srgbClr val="FF0000"/>
                </a:solidFill>
              </a:rPr>
              <a:t>B</a:t>
            </a:r>
            <a:r>
              <a:rPr lang="en-US" altLang="ja-JP" dirty="0">
                <a:solidFill>
                  <a:srgbClr val="FF0000"/>
                </a:solidFill>
              </a:rPr>
              <a:t>atch size : 256, 512, 1024, 2048</a:t>
            </a:r>
          </a:p>
          <a:p>
            <a:pPr marL="0" indent="0">
              <a:buNone/>
            </a:pPr>
            <a:endParaRPr lang="en-US" altLang="ja-JP" spc="570" dirty="0"/>
          </a:p>
        </p:txBody>
      </p:sp>
      <p:pic>
        <p:nvPicPr>
          <p:cNvPr id="5" name="図 4" descr="テーブル が含まれている画像&#10;&#10;自動的に生成された説明">
            <a:extLst>
              <a:ext uri="{FF2B5EF4-FFF2-40B4-BE49-F238E27FC236}">
                <a16:creationId xmlns:a16="http://schemas.microsoft.com/office/drawing/2014/main" id="{EB49A6AB-F068-4ED5-8B9D-4CBF1B7FD0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84505" y="1542966"/>
            <a:ext cx="4375694" cy="2659303"/>
          </a:xfrm>
          <a:prstGeom prst="rect">
            <a:avLst/>
          </a:prstGeom>
        </p:spPr>
      </p:pic>
      <p:grpSp>
        <p:nvGrpSpPr>
          <p:cNvPr id="9" name="グループ化 8">
            <a:extLst>
              <a:ext uri="{FF2B5EF4-FFF2-40B4-BE49-F238E27FC236}">
                <a16:creationId xmlns:a16="http://schemas.microsoft.com/office/drawing/2014/main" id="{A5910BC6-DAD9-40C7-B65A-7CA0B9C154CF}"/>
              </a:ext>
            </a:extLst>
          </p:cNvPr>
          <p:cNvGrpSpPr/>
          <p:nvPr/>
        </p:nvGrpSpPr>
        <p:grpSpPr>
          <a:xfrm>
            <a:off x="7526294" y="4249323"/>
            <a:ext cx="4233905" cy="2107027"/>
            <a:chOff x="6858000" y="4249323"/>
            <a:chExt cx="4902200" cy="2439608"/>
          </a:xfrm>
        </p:grpSpPr>
        <p:sp>
          <p:nvSpPr>
            <p:cNvPr id="6" name="四角形: 角を丸くする 5">
              <a:extLst>
                <a:ext uri="{FF2B5EF4-FFF2-40B4-BE49-F238E27FC236}">
                  <a16:creationId xmlns:a16="http://schemas.microsoft.com/office/drawing/2014/main" id="{07FA0C86-60E5-4D56-A6C1-8A91B238C833}"/>
                </a:ext>
              </a:extLst>
            </p:cNvPr>
            <p:cNvSpPr/>
            <p:nvPr/>
          </p:nvSpPr>
          <p:spPr>
            <a:xfrm>
              <a:off x="6858000" y="4555331"/>
              <a:ext cx="1231900" cy="2133600"/>
            </a:xfrm>
            <a:prstGeom prst="round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latin typeface="UD デジタル 教科書体 NK-R" panose="02020400000000000000" pitchFamily="18" charset="-128"/>
                  <a:ea typeface="UD デジタル 教科書体 NK-R" panose="02020400000000000000" pitchFamily="18" charset="-128"/>
                </a:rPr>
                <a:t>入力</a:t>
              </a:r>
              <a:endParaRPr kumimoji="1" lang="en-US" altLang="ja-JP" dirty="0">
                <a:latin typeface="UD デジタル 教科書体 NK-R" panose="02020400000000000000" pitchFamily="18" charset="-128"/>
                <a:ea typeface="UD デジタル 教科書体 NK-R" panose="02020400000000000000" pitchFamily="18" charset="-128"/>
              </a:endParaRPr>
            </a:p>
            <a:p>
              <a:pPr algn="ctr"/>
              <a:r>
                <a:rPr lang="en-US" altLang="ja-JP" dirty="0">
                  <a:latin typeface="UD デジタル 教科書体 NK-R" panose="02020400000000000000" pitchFamily="18" charset="-128"/>
                  <a:ea typeface="UD デジタル 教科書体 NK-R" panose="02020400000000000000" pitchFamily="18" charset="-128"/>
                </a:rPr>
                <a:t>784</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sp>
          <p:nvSpPr>
            <p:cNvPr id="7" name="四角形: 角を丸くする 6">
              <a:extLst>
                <a:ext uri="{FF2B5EF4-FFF2-40B4-BE49-F238E27FC236}">
                  <a16:creationId xmlns:a16="http://schemas.microsoft.com/office/drawing/2014/main" id="{0B0EA647-1BA1-4B5D-B453-AAF77BEAB079}"/>
                </a:ext>
              </a:extLst>
            </p:cNvPr>
            <p:cNvSpPr/>
            <p:nvPr/>
          </p:nvSpPr>
          <p:spPr>
            <a:xfrm>
              <a:off x="8693150" y="4555331"/>
              <a:ext cx="1231900" cy="2133600"/>
            </a:xfrm>
            <a:prstGeom prst="round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latin typeface="UD デジタル 教科書体 NK-R" panose="02020400000000000000" pitchFamily="18" charset="-128"/>
                  <a:ea typeface="UD デジタル 教科書体 NK-R" panose="02020400000000000000" pitchFamily="18" charset="-128"/>
                </a:rPr>
                <a:t>全結合</a:t>
              </a:r>
              <a:endParaRPr kumimoji="1" lang="en-US" altLang="ja-JP" dirty="0">
                <a:latin typeface="UD デジタル 教科書体 NK-R" panose="02020400000000000000" pitchFamily="18" charset="-128"/>
                <a:ea typeface="UD デジタル 教科書体 NK-R" panose="02020400000000000000" pitchFamily="18" charset="-128"/>
              </a:endParaRPr>
            </a:p>
            <a:p>
              <a:pPr algn="ctr"/>
              <a:r>
                <a:rPr lang="en-US" altLang="ja-JP" dirty="0">
                  <a:latin typeface="UD デジタル 教科書体 NK-R" panose="02020400000000000000" pitchFamily="18" charset="-128"/>
                  <a:ea typeface="UD デジタル 教科書体 NK-R" panose="02020400000000000000" pitchFamily="18" charset="-128"/>
                </a:rPr>
                <a:t>10</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sp>
          <p:nvSpPr>
            <p:cNvPr id="8" name="四角形: 角を丸くする 7">
              <a:extLst>
                <a:ext uri="{FF2B5EF4-FFF2-40B4-BE49-F238E27FC236}">
                  <a16:creationId xmlns:a16="http://schemas.microsoft.com/office/drawing/2014/main" id="{8D62A5F2-561A-4050-A32E-2B74D3863662}"/>
                </a:ext>
              </a:extLst>
            </p:cNvPr>
            <p:cNvSpPr/>
            <p:nvPr/>
          </p:nvSpPr>
          <p:spPr>
            <a:xfrm>
              <a:off x="10528300" y="4555331"/>
              <a:ext cx="1231900" cy="2133600"/>
            </a:xfrm>
            <a:prstGeom prst="round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latin typeface="UD デジタル 教科書体 NK-R" panose="02020400000000000000" pitchFamily="18" charset="-128"/>
                  <a:ea typeface="UD デジタル 教科書体 NK-R" panose="02020400000000000000" pitchFamily="18" charset="-128"/>
                </a:rPr>
                <a:t>全結合</a:t>
              </a:r>
              <a:endParaRPr kumimoji="1" lang="en-US" altLang="ja-JP" dirty="0">
                <a:latin typeface="UD デジタル 教科書体 NK-R" panose="02020400000000000000" pitchFamily="18" charset="-128"/>
                <a:ea typeface="UD デジタル 教科書体 NK-R" panose="02020400000000000000" pitchFamily="18" charset="-128"/>
              </a:endParaRPr>
            </a:p>
            <a:p>
              <a:pPr algn="ctr"/>
              <a:r>
                <a:rPr lang="en-US" altLang="ja-JP" dirty="0">
                  <a:latin typeface="UD デジタル 教科書体 NK-R" panose="02020400000000000000" pitchFamily="18" charset="-128"/>
                  <a:ea typeface="UD デジタル 教科書体 NK-R" panose="02020400000000000000" pitchFamily="18" charset="-128"/>
                </a:rPr>
                <a:t>(</a:t>
              </a:r>
              <a:r>
                <a:rPr lang="ja-JP" altLang="en-US" dirty="0">
                  <a:latin typeface="UD デジタル 教科書体 NK-R" panose="02020400000000000000" pitchFamily="18" charset="-128"/>
                  <a:ea typeface="UD デジタル 教科書体 NK-R" panose="02020400000000000000" pitchFamily="18" charset="-128"/>
                </a:rPr>
                <a:t>出力</a:t>
              </a:r>
              <a:r>
                <a:rPr lang="en-US" altLang="ja-JP" dirty="0">
                  <a:latin typeface="UD デジタル 教科書体 NK-R" panose="02020400000000000000" pitchFamily="18" charset="-128"/>
                  <a:ea typeface="UD デジタル 教科書体 NK-R" panose="02020400000000000000" pitchFamily="18" charset="-128"/>
                </a:rPr>
                <a:t>)</a:t>
              </a:r>
              <a:endParaRPr kumimoji="1" lang="en-US" altLang="ja-JP" dirty="0">
                <a:latin typeface="UD デジタル 教科書体 NK-R" panose="02020400000000000000" pitchFamily="18" charset="-128"/>
                <a:ea typeface="UD デジタル 教科書体 NK-R" panose="02020400000000000000" pitchFamily="18" charset="-128"/>
              </a:endParaRPr>
            </a:p>
            <a:p>
              <a:pPr algn="ctr"/>
              <a:r>
                <a:rPr lang="en-US" altLang="ja-JP" dirty="0">
                  <a:latin typeface="UD デジタル 教科書体 NK-R" panose="02020400000000000000" pitchFamily="18" charset="-128"/>
                  <a:ea typeface="UD デジタル 教科書体 NK-R" panose="02020400000000000000" pitchFamily="18" charset="-128"/>
                </a:rPr>
                <a:t>10</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cxnSp>
          <p:nvCxnSpPr>
            <p:cNvPr id="10" name="直線矢印コネクタ 9">
              <a:extLst>
                <a:ext uri="{FF2B5EF4-FFF2-40B4-BE49-F238E27FC236}">
                  <a16:creationId xmlns:a16="http://schemas.microsoft.com/office/drawing/2014/main" id="{83C33F53-C4A6-4FF8-B805-47A16C0404A9}"/>
                </a:ext>
              </a:extLst>
            </p:cNvPr>
            <p:cNvCxnSpPr>
              <a:cxnSpLocks/>
              <a:endCxn id="7" idx="1"/>
            </p:cNvCxnSpPr>
            <p:nvPr/>
          </p:nvCxnSpPr>
          <p:spPr>
            <a:xfrm flipV="1">
              <a:off x="8089900" y="5622131"/>
              <a:ext cx="603250" cy="19050"/>
            </a:xfrm>
            <a:prstGeom prst="straightConnector1">
              <a:avLst/>
            </a:prstGeom>
            <a:ln w="762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CB6E5BB7-1121-4D48-8411-3C3408F2B42F}"/>
                </a:ext>
              </a:extLst>
            </p:cNvPr>
            <p:cNvCxnSpPr>
              <a:cxnSpLocks/>
              <a:stCxn id="7" idx="3"/>
              <a:endCxn id="8" idx="1"/>
            </p:cNvCxnSpPr>
            <p:nvPr/>
          </p:nvCxnSpPr>
          <p:spPr>
            <a:xfrm>
              <a:off x="9925050" y="5622131"/>
              <a:ext cx="603250" cy="0"/>
            </a:xfrm>
            <a:prstGeom prst="straightConnector1">
              <a:avLst/>
            </a:prstGeom>
            <a:ln w="762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 name="タイトル 1">
              <a:extLst>
                <a:ext uri="{FF2B5EF4-FFF2-40B4-BE49-F238E27FC236}">
                  <a16:creationId xmlns:a16="http://schemas.microsoft.com/office/drawing/2014/main" id="{5AE0013F-8C36-4D8E-BA60-7376BAE9682B}"/>
                </a:ext>
              </a:extLst>
            </p:cNvPr>
            <p:cNvSpPr txBox="1">
              <a:spLocks/>
            </p:cNvSpPr>
            <p:nvPr/>
          </p:nvSpPr>
          <p:spPr>
            <a:xfrm>
              <a:off x="8081190" y="4249323"/>
              <a:ext cx="2457451" cy="445294"/>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kumimoji="1" sz="4400" kern="1200">
                  <a:solidFill>
                    <a:schemeClr val="tx1"/>
                  </a:solidFill>
                  <a:latin typeface="UD デジタル 教科書体 NK-R" panose="02020400000000000000" pitchFamily="18" charset="-128"/>
                  <a:ea typeface="UD デジタル 教科書体 NK-R" panose="02020400000000000000" pitchFamily="18" charset="-128"/>
                  <a:cs typeface="+mj-cs"/>
                </a:defRPr>
              </a:lvl1pPr>
            </a:lstStyle>
            <a:p>
              <a:pPr algn="ctr"/>
              <a:r>
                <a:rPr lang="ja-JP" altLang="en-US" sz="3200" dirty="0">
                  <a:solidFill>
                    <a:schemeClr val="tx1">
                      <a:lumMod val="75000"/>
                      <a:lumOff val="25000"/>
                    </a:schemeClr>
                  </a:solidFill>
                </a:rPr>
                <a:t>ネットワーク</a:t>
              </a:r>
            </a:p>
          </p:txBody>
        </p:sp>
      </p:grpSp>
      <p:sp>
        <p:nvSpPr>
          <p:cNvPr id="17" name="タイトル 1">
            <a:extLst>
              <a:ext uri="{FF2B5EF4-FFF2-40B4-BE49-F238E27FC236}">
                <a16:creationId xmlns:a16="http://schemas.microsoft.com/office/drawing/2014/main" id="{1E23169F-C85C-4547-8B7E-EECB85510DFD}"/>
              </a:ext>
            </a:extLst>
          </p:cNvPr>
          <p:cNvSpPr txBox="1">
            <a:spLocks/>
          </p:cNvSpPr>
          <p:nvPr/>
        </p:nvSpPr>
        <p:spPr>
          <a:xfrm>
            <a:off x="8385171" y="1236551"/>
            <a:ext cx="2457451" cy="445294"/>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kumimoji="1" sz="4400" kern="1200">
                <a:solidFill>
                  <a:schemeClr val="tx1"/>
                </a:solidFill>
                <a:latin typeface="UD デジタル 教科書体 NK-R" panose="02020400000000000000" pitchFamily="18" charset="-128"/>
                <a:ea typeface="UD デジタル 教科書体 NK-R" panose="02020400000000000000" pitchFamily="18" charset="-128"/>
                <a:cs typeface="+mj-cs"/>
              </a:defRPr>
            </a:lvl1pPr>
          </a:lstStyle>
          <a:p>
            <a:pPr algn="ctr"/>
            <a:r>
              <a:rPr lang="en-US" altLang="ja-JP" sz="3200" dirty="0">
                <a:solidFill>
                  <a:schemeClr val="tx1">
                    <a:lumMod val="75000"/>
                    <a:lumOff val="25000"/>
                  </a:schemeClr>
                </a:solidFill>
              </a:rPr>
              <a:t>MNIST</a:t>
            </a:r>
            <a:endParaRPr lang="ja-JP" altLang="en-US" sz="3200" dirty="0">
              <a:solidFill>
                <a:schemeClr val="tx1">
                  <a:lumMod val="75000"/>
                  <a:lumOff val="25000"/>
                </a:schemeClr>
              </a:solidFill>
            </a:endParaRPr>
          </a:p>
        </p:txBody>
      </p:sp>
      <p:sp>
        <p:nvSpPr>
          <p:cNvPr id="4" name="スライド番号プレースホルダー 3">
            <a:extLst>
              <a:ext uri="{FF2B5EF4-FFF2-40B4-BE49-F238E27FC236}">
                <a16:creationId xmlns:a16="http://schemas.microsoft.com/office/drawing/2014/main" id="{7A9D3A2A-3389-4103-9CAB-1FE176EF9752}"/>
              </a:ext>
            </a:extLst>
          </p:cNvPr>
          <p:cNvSpPr>
            <a:spLocks noGrp="1"/>
          </p:cNvSpPr>
          <p:nvPr>
            <p:ph type="sldNum" sz="quarter" idx="12"/>
          </p:nvPr>
        </p:nvSpPr>
        <p:spPr/>
        <p:txBody>
          <a:bodyPr/>
          <a:lstStyle/>
          <a:p>
            <a:fld id="{E0941385-F5BA-408B-94FB-C48DC2364AB1}" type="slidenum">
              <a:rPr kumimoji="1" lang="ja-JP" altLang="en-US" smtClean="0"/>
              <a:t>49</a:t>
            </a:fld>
            <a:endParaRPr kumimoji="1" lang="ja-JP" altLang="en-US"/>
          </a:p>
        </p:txBody>
      </p:sp>
    </p:spTree>
    <p:extLst>
      <p:ext uri="{BB962C8B-B14F-4D97-AF65-F5344CB8AC3E}">
        <p14:creationId xmlns:p14="http://schemas.microsoft.com/office/powerpoint/2010/main" val="33668305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6A3E23-F3B1-45BE-A369-8062F8ADFB15}"/>
              </a:ext>
            </a:extLst>
          </p:cNvPr>
          <p:cNvSpPr>
            <a:spLocks noGrp="1"/>
          </p:cNvSpPr>
          <p:nvPr>
            <p:ph type="title"/>
          </p:nvPr>
        </p:nvSpPr>
        <p:spPr>
          <a:xfrm>
            <a:off x="838200" y="365126"/>
            <a:ext cx="10515600" cy="688612"/>
          </a:xfrm>
        </p:spPr>
        <p:txBody>
          <a:bodyPr>
            <a:normAutofit fontScale="90000"/>
          </a:bodyPr>
          <a:lstStyle/>
          <a:p>
            <a:r>
              <a:rPr kumimoji="1" lang="ja-JP" altLang="en-US" dirty="0"/>
              <a:t>ロードマップ</a:t>
            </a:r>
          </a:p>
        </p:txBody>
      </p:sp>
      <p:sp>
        <p:nvSpPr>
          <p:cNvPr id="4" name="四角形: 角を丸くする 3">
            <a:extLst>
              <a:ext uri="{FF2B5EF4-FFF2-40B4-BE49-F238E27FC236}">
                <a16:creationId xmlns:a16="http://schemas.microsoft.com/office/drawing/2014/main" id="{3891AC3A-8CBD-475D-8C99-2C611616EE0A}"/>
              </a:ext>
            </a:extLst>
          </p:cNvPr>
          <p:cNvSpPr/>
          <p:nvPr/>
        </p:nvSpPr>
        <p:spPr>
          <a:xfrm>
            <a:off x="548641" y="1053738"/>
            <a:ext cx="2994660" cy="5582193"/>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角を丸くする 4">
            <a:extLst>
              <a:ext uri="{FF2B5EF4-FFF2-40B4-BE49-F238E27FC236}">
                <a16:creationId xmlns:a16="http://schemas.microsoft.com/office/drawing/2014/main" id="{A28A5622-E5F5-48CD-9A6C-DB329A47873F}"/>
              </a:ext>
            </a:extLst>
          </p:cNvPr>
          <p:cNvSpPr/>
          <p:nvPr/>
        </p:nvSpPr>
        <p:spPr>
          <a:xfrm>
            <a:off x="4598670" y="1053738"/>
            <a:ext cx="2994660" cy="5582193"/>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四角形: 角を丸くする 5">
            <a:extLst>
              <a:ext uri="{FF2B5EF4-FFF2-40B4-BE49-F238E27FC236}">
                <a16:creationId xmlns:a16="http://schemas.microsoft.com/office/drawing/2014/main" id="{7FB59583-EB8D-48DE-A4A4-ACE088A1B610}"/>
              </a:ext>
            </a:extLst>
          </p:cNvPr>
          <p:cNvSpPr/>
          <p:nvPr/>
        </p:nvSpPr>
        <p:spPr>
          <a:xfrm>
            <a:off x="8742045" y="1053737"/>
            <a:ext cx="2994660" cy="5582193"/>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1BB06639-73DF-4C00-A9E8-4DDC2620AA94}"/>
              </a:ext>
            </a:extLst>
          </p:cNvPr>
          <p:cNvSpPr txBox="1"/>
          <p:nvPr/>
        </p:nvSpPr>
        <p:spPr>
          <a:xfrm>
            <a:off x="864871" y="1209675"/>
            <a:ext cx="2362200" cy="461665"/>
          </a:xfrm>
          <a:prstGeom prst="rect">
            <a:avLst/>
          </a:prstGeom>
          <a:noFill/>
        </p:spPr>
        <p:txBody>
          <a:bodyPr wrap="square" rtlCol="0">
            <a:spAutoFit/>
          </a:bodyPr>
          <a:lstStyle/>
          <a:p>
            <a:pPr algn="ctr"/>
            <a:r>
              <a:rPr kumimoji="1" lang="ja-JP" altLang="en-US" sz="2400" dirty="0">
                <a:solidFill>
                  <a:schemeClr val="bg1"/>
                </a:solidFill>
                <a:latin typeface="UD デジタル 教科書体 NK-B" panose="02020700000000000000" pitchFamily="18" charset="-128"/>
                <a:ea typeface="UD デジタル 教科書体 NK-B" panose="02020700000000000000" pitchFamily="18" charset="-128"/>
              </a:rPr>
              <a:t>提案手法の理解</a:t>
            </a:r>
          </a:p>
        </p:txBody>
      </p:sp>
      <p:sp>
        <p:nvSpPr>
          <p:cNvPr id="8" name="テキスト ボックス 7">
            <a:extLst>
              <a:ext uri="{FF2B5EF4-FFF2-40B4-BE49-F238E27FC236}">
                <a16:creationId xmlns:a16="http://schemas.microsoft.com/office/drawing/2014/main" id="{624C927B-0903-4E08-9535-5D2F4C2DCEBE}"/>
              </a:ext>
            </a:extLst>
          </p:cNvPr>
          <p:cNvSpPr txBox="1"/>
          <p:nvPr/>
        </p:nvSpPr>
        <p:spPr>
          <a:xfrm>
            <a:off x="4914900" y="1209674"/>
            <a:ext cx="2362200" cy="461665"/>
          </a:xfrm>
          <a:prstGeom prst="rect">
            <a:avLst/>
          </a:prstGeom>
          <a:noFill/>
        </p:spPr>
        <p:txBody>
          <a:bodyPr wrap="square" rtlCol="0">
            <a:spAutoFit/>
          </a:bodyPr>
          <a:lstStyle/>
          <a:p>
            <a:pPr algn="ctr"/>
            <a:r>
              <a:rPr kumimoji="1" lang="ja-JP" altLang="en-US" sz="2400" dirty="0">
                <a:solidFill>
                  <a:schemeClr val="bg1"/>
                </a:solidFill>
                <a:latin typeface="UD デジタル 教科書体 NK-B" panose="02020700000000000000" pitchFamily="18" charset="-128"/>
                <a:ea typeface="UD デジタル 教科書体 NK-B" panose="02020700000000000000" pitchFamily="18" charset="-128"/>
              </a:rPr>
              <a:t>実験の取得</a:t>
            </a:r>
          </a:p>
        </p:txBody>
      </p:sp>
      <p:sp>
        <p:nvSpPr>
          <p:cNvPr id="9" name="テキスト ボックス 8">
            <a:extLst>
              <a:ext uri="{FF2B5EF4-FFF2-40B4-BE49-F238E27FC236}">
                <a16:creationId xmlns:a16="http://schemas.microsoft.com/office/drawing/2014/main" id="{54F5FDFA-5F83-436E-8D71-86510E50B6BF}"/>
              </a:ext>
            </a:extLst>
          </p:cNvPr>
          <p:cNvSpPr txBox="1"/>
          <p:nvPr/>
        </p:nvSpPr>
        <p:spPr>
          <a:xfrm>
            <a:off x="8865870" y="1219888"/>
            <a:ext cx="2747009" cy="461665"/>
          </a:xfrm>
          <a:prstGeom prst="rect">
            <a:avLst/>
          </a:prstGeom>
          <a:noFill/>
        </p:spPr>
        <p:txBody>
          <a:bodyPr wrap="square" rtlCol="0">
            <a:spAutoFit/>
          </a:bodyPr>
          <a:lstStyle/>
          <a:p>
            <a:pPr algn="ctr"/>
            <a:r>
              <a:rPr kumimoji="1" lang="ja-JP" altLang="en-US" sz="2400" dirty="0">
                <a:solidFill>
                  <a:schemeClr val="bg1"/>
                </a:solidFill>
                <a:latin typeface="UD デジタル 教科書体 NK-B" panose="02020700000000000000" pitchFamily="18" charset="-128"/>
                <a:ea typeface="UD デジタル 教科書体 NK-B" panose="02020700000000000000" pitchFamily="18" charset="-128"/>
              </a:rPr>
              <a:t>電子情報通信学会</a:t>
            </a:r>
          </a:p>
        </p:txBody>
      </p:sp>
      <p:sp>
        <p:nvSpPr>
          <p:cNvPr id="10" name="四角形: 角を丸くする 9">
            <a:extLst>
              <a:ext uri="{FF2B5EF4-FFF2-40B4-BE49-F238E27FC236}">
                <a16:creationId xmlns:a16="http://schemas.microsoft.com/office/drawing/2014/main" id="{54AEE2DC-0F3E-41BC-98F4-7755C35B86BF}"/>
              </a:ext>
            </a:extLst>
          </p:cNvPr>
          <p:cNvSpPr/>
          <p:nvPr/>
        </p:nvSpPr>
        <p:spPr>
          <a:xfrm>
            <a:off x="702946" y="1809750"/>
            <a:ext cx="2686050" cy="1200150"/>
          </a:xfrm>
          <a:prstGeom prst="round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latin typeface="UD デジタル 教科書体 NK-B" panose="02020700000000000000" pitchFamily="18" charset="-128"/>
                <a:ea typeface="UD デジタル 教科書体 NK-B" panose="02020700000000000000" pitchFamily="18" charset="-128"/>
              </a:rPr>
              <a:t>Newton</a:t>
            </a:r>
            <a:r>
              <a:rPr kumimoji="1" lang="ja-JP" altLang="en-US" sz="2000" dirty="0">
                <a:latin typeface="UD デジタル 教科書体 NK-B" panose="02020700000000000000" pitchFamily="18" charset="-128"/>
                <a:ea typeface="UD デジタル 教科書体 NK-B" panose="02020700000000000000" pitchFamily="18" charset="-128"/>
              </a:rPr>
              <a:t>法の理解</a:t>
            </a:r>
          </a:p>
        </p:txBody>
      </p:sp>
      <p:sp>
        <p:nvSpPr>
          <p:cNvPr id="11" name="四角形: 角を丸くする 10">
            <a:extLst>
              <a:ext uri="{FF2B5EF4-FFF2-40B4-BE49-F238E27FC236}">
                <a16:creationId xmlns:a16="http://schemas.microsoft.com/office/drawing/2014/main" id="{C486B57B-FDA8-4698-8C49-6589320345D7}"/>
              </a:ext>
            </a:extLst>
          </p:cNvPr>
          <p:cNvSpPr/>
          <p:nvPr/>
        </p:nvSpPr>
        <p:spPr>
          <a:xfrm>
            <a:off x="702946" y="3543300"/>
            <a:ext cx="2686050" cy="1200150"/>
          </a:xfrm>
          <a:prstGeom prst="round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latin typeface="UD デジタル 教科書体 NK-B" panose="02020700000000000000" pitchFamily="18" charset="-128"/>
                <a:ea typeface="UD デジタル 教科書体 NK-B" panose="02020700000000000000" pitchFamily="18" charset="-128"/>
              </a:rPr>
              <a:t>Hutchinson</a:t>
            </a:r>
            <a:r>
              <a:rPr kumimoji="1" lang="ja-JP" altLang="en-US" sz="2000" dirty="0">
                <a:latin typeface="UD デジタル 教科書体 NK-B" panose="02020700000000000000" pitchFamily="18" charset="-128"/>
                <a:ea typeface="UD デジタル 教科書体 NK-B" panose="02020700000000000000" pitchFamily="18" charset="-128"/>
              </a:rPr>
              <a:t>の方法の理解</a:t>
            </a:r>
          </a:p>
        </p:txBody>
      </p:sp>
      <p:sp>
        <p:nvSpPr>
          <p:cNvPr id="12" name="四角形: 角を丸くする 11">
            <a:extLst>
              <a:ext uri="{FF2B5EF4-FFF2-40B4-BE49-F238E27FC236}">
                <a16:creationId xmlns:a16="http://schemas.microsoft.com/office/drawing/2014/main" id="{1DAC3A6D-56F3-46D2-B97E-C36E82EE2325}"/>
              </a:ext>
            </a:extLst>
          </p:cNvPr>
          <p:cNvSpPr/>
          <p:nvPr/>
        </p:nvSpPr>
        <p:spPr>
          <a:xfrm>
            <a:off x="4752975" y="1879960"/>
            <a:ext cx="2686050" cy="1200150"/>
          </a:xfrm>
          <a:prstGeom prst="round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latin typeface="UD デジタル 教科書体 NK-B" panose="02020700000000000000" pitchFamily="18" charset="-128"/>
                <a:ea typeface="UD デジタル 教科書体 NK-B" panose="02020700000000000000" pitchFamily="18" charset="-128"/>
              </a:rPr>
              <a:t>MNIST</a:t>
            </a:r>
            <a:endParaRPr kumimoji="1" lang="ja-JP" altLang="en-US" sz="2000" dirty="0">
              <a:latin typeface="UD デジタル 教科書体 NK-B" panose="02020700000000000000" pitchFamily="18" charset="-128"/>
              <a:ea typeface="UD デジタル 教科書体 NK-B" panose="02020700000000000000" pitchFamily="18" charset="-128"/>
            </a:endParaRPr>
          </a:p>
        </p:txBody>
      </p:sp>
      <p:sp>
        <p:nvSpPr>
          <p:cNvPr id="13" name="四角形: 角を丸くする 12">
            <a:extLst>
              <a:ext uri="{FF2B5EF4-FFF2-40B4-BE49-F238E27FC236}">
                <a16:creationId xmlns:a16="http://schemas.microsoft.com/office/drawing/2014/main" id="{85261652-7280-48DA-81C2-1A37C41E122A}"/>
              </a:ext>
            </a:extLst>
          </p:cNvPr>
          <p:cNvSpPr/>
          <p:nvPr/>
        </p:nvSpPr>
        <p:spPr>
          <a:xfrm>
            <a:off x="4752975" y="3543300"/>
            <a:ext cx="2686050" cy="1200150"/>
          </a:xfrm>
          <a:prstGeom prst="round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latin typeface="UD デジタル 教科書体 NK-B" panose="02020700000000000000" pitchFamily="18" charset="-128"/>
                <a:ea typeface="UD デジタル 教科書体 NK-B" panose="02020700000000000000" pitchFamily="18" charset="-128"/>
              </a:rPr>
              <a:t>関数近似問題</a:t>
            </a:r>
          </a:p>
        </p:txBody>
      </p:sp>
      <p:sp>
        <p:nvSpPr>
          <p:cNvPr id="14" name="四角形: 角を丸くする 13">
            <a:extLst>
              <a:ext uri="{FF2B5EF4-FFF2-40B4-BE49-F238E27FC236}">
                <a16:creationId xmlns:a16="http://schemas.microsoft.com/office/drawing/2014/main" id="{FF8A67F7-9148-4610-871E-1D9CC5DDD76F}"/>
              </a:ext>
            </a:extLst>
          </p:cNvPr>
          <p:cNvSpPr/>
          <p:nvPr/>
        </p:nvSpPr>
        <p:spPr>
          <a:xfrm>
            <a:off x="4799648" y="5204187"/>
            <a:ext cx="2686050" cy="1200150"/>
          </a:xfrm>
          <a:prstGeom prst="round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latin typeface="UD デジタル 教科書体 NK-B" panose="02020700000000000000" pitchFamily="18" charset="-128"/>
                <a:ea typeface="UD デジタル 教科書体 NK-B" panose="02020700000000000000" pitchFamily="18" charset="-128"/>
              </a:rPr>
              <a:t>cifar10</a:t>
            </a:r>
          </a:p>
          <a:p>
            <a:pPr algn="ctr"/>
            <a:r>
              <a:rPr lang="en-US" altLang="ja-JP" sz="2000" dirty="0">
                <a:latin typeface="UD デジタル 教科書体 NK-B" panose="02020700000000000000" pitchFamily="18" charset="-128"/>
                <a:ea typeface="UD デジタル 教科書体 NK-B" panose="02020700000000000000" pitchFamily="18" charset="-128"/>
              </a:rPr>
              <a:t>+</a:t>
            </a:r>
          </a:p>
          <a:p>
            <a:pPr algn="ctr"/>
            <a:r>
              <a:rPr kumimoji="1" lang="en-US" altLang="ja-JP" sz="2000" dirty="0">
                <a:latin typeface="UD デジタル 教科書体 NK-B" panose="02020700000000000000" pitchFamily="18" charset="-128"/>
                <a:ea typeface="UD デジタル 教科書体 NK-B" panose="02020700000000000000" pitchFamily="18" charset="-128"/>
              </a:rPr>
              <a:t>VGG16</a:t>
            </a:r>
            <a:endParaRPr kumimoji="1" lang="ja-JP" altLang="en-US" sz="2000" dirty="0">
              <a:latin typeface="UD デジタル 教科書体 NK-B" panose="02020700000000000000" pitchFamily="18" charset="-128"/>
              <a:ea typeface="UD デジタル 教科書体 NK-B" panose="02020700000000000000" pitchFamily="18" charset="-128"/>
            </a:endParaRPr>
          </a:p>
        </p:txBody>
      </p:sp>
      <p:sp>
        <p:nvSpPr>
          <p:cNvPr id="15" name="四角形: 角を丸くする 14">
            <a:extLst>
              <a:ext uri="{FF2B5EF4-FFF2-40B4-BE49-F238E27FC236}">
                <a16:creationId xmlns:a16="http://schemas.microsoft.com/office/drawing/2014/main" id="{E0BE2A43-0AC0-48EB-9914-CAE43DDBFD88}"/>
              </a:ext>
            </a:extLst>
          </p:cNvPr>
          <p:cNvSpPr/>
          <p:nvPr/>
        </p:nvSpPr>
        <p:spPr>
          <a:xfrm>
            <a:off x="8896350" y="1928812"/>
            <a:ext cx="2686050" cy="1200150"/>
          </a:xfrm>
          <a:prstGeom prst="round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latin typeface="UD デジタル 教科書体 NK-B" panose="02020700000000000000" pitchFamily="18" charset="-128"/>
                <a:ea typeface="UD デジタル 教科書体 NK-B" panose="02020700000000000000" pitchFamily="18" charset="-128"/>
              </a:rPr>
              <a:t>原稿作成</a:t>
            </a:r>
            <a:endParaRPr kumimoji="1" lang="en-US" altLang="ja-JP" sz="2000" dirty="0">
              <a:latin typeface="UD デジタル 教科書体 NK-B" panose="02020700000000000000" pitchFamily="18" charset="-128"/>
              <a:ea typeface="UD デジタル 教科書体 NK-B" panose="02020700000000000000" pitchFamily="18" charset="-128"/>
            </a:endParaRPr>
          </a:p>
          <a:p>
            <a:pPr algn="ctr"/>
            <a:r>
              <a:rPr lang="ja-JP" altLang="en-US" sz="2000" dirty="0">
                <a:latin typeface="UD デジタル 教科書体 NK-B" panose="02020700000000000000" pitchFamily="18" charset="-128"/>
                <a:ea typeface="UD デジタル 教科書体 NK-B" panose="02020700000000000000" pitchFamily="18" charset="-128"/>
              </a:rPr>
              <a:t>〆</a:t>
            </a:r>
            <a:r>
              <a:rPr lang="en-US" altLang="ja-JP" sz="2000" dirty="0">
                <a:latin typeface="UD デジタル 教科書体 NK-B" panose="02020700000000000000" pitchFamily="18" charset="-128"/>
                <a:ea typeface="UD デジタル 教科書体 NK-B" panose="02020700000000000000" pitchFamily="18" charset="-128"/>
              </a:rPr>
              <a:t>12/22</a:t>
            </a:r>
            <a:endParaRPr kumimoji="1" lang="ja-JP" altLang="en-US" sz="2000" dirty="0">
              <a:latin typeface="UD デジタル 教科書体 NK-B" panose="02020700000000000000" pitchFamily="18" charset="-128"/>
              <a:ea typeface="UD デジタル 教科書体 NK-B" panose="02020700000000000000" pitchFamily="18" charset="-128"/>
            </a:endParaRPr>
          </a:p>
        </p:txBody>
      </p:sp>
      <p:sp>
        <p:nvSpPr>
          <p:cNvPr id="16" name="四角形: 角を丸くする 15">
            <a:extLst>
              <a:ext uri="{FF2B5EF4-FFF2-40B4-BE49-F238E27FC236}">
                <a16:creationId xmlns:a16="http://schemas.microsoft.com/office/drawing/2014/main" id="{BFCA4FF4-6ED9-4E57-8FD9-EDB4A49D6215}"/>
              </a:ext>
            </a:extLst>
          </p:cNvPr>
          <p:cNvSpPr/>
          <p:nvPr/>
        </p:nvSpPr>
        <p:spPr>
          <a:xfrm>
            <a:off x="8896350" y="3543300"/>
            <a:ext cx="2686050" cy="1200150"/>
          </a:xfrm>
          <a:prstGeom prst="round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latin typeface="UD デジタル 教科書体 NK-B" panose="02020700000000000000" pitchFamily="18" charset="-128"/>
                <a:ea typeface="UD デジタル 教科書体 NK-B" panose="02020700000000000000" pitchFamily="18" charset="-128"/>
              </a:rPr>
              <a:t>発表練習</a:t>
            </a:r>
          </a:p>
        </p:txBody>
      </p:sp>
      <p:cxnSp>
        <p:nvCxnSpPr>
          <p:cNvPr id="18" name="直線矢印コネクタ 17">
            <a:extLst>
              <a:ext uri="{FF2B5EF4-FFF2-40B4-BE49-F238E27FC236}">
                <a16:creationId xmlns:a16="http://schemas.microsoft.com/office/drawing/2014/main" id="{6E7456C2-70D3-4C3C-80FA-4886AF77850A}"/>
              </a:ext>
            </a:extLst>
          </p:cNvPr>
          <p:cNvCxnSpPr>
            <a:stCxn id="4" idx="3"/>
            <a:endCxn id="5" idx="1"/>
          </p:cNvCxnSpPr>
          <p:nvPr/>
        </p:nvCxnSpPr>
        <p:spPr>
          <a:xfrm>
            <a:off x="3543301" y="3844835"/>
            <a:ext cx="1055369" cy="0"/>
          </a:xfrm>
          <a:prstGeom prst="straightConnector1">
            <a:avLst/>
          </a:prstGeom>
          <a:ln w="762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6DFBA437-89C2-48DB-A151-0807C4892FE3}"/>
              </a:ext>
            </a:extLst>
          </p:cNvPr>
          <p:cNvCxnSpPr>
            <a:cxnSpLocks/>
            <a:stCxn id="5" idx="3"/>
            <a:endCxn id="6" idx="1"/>
          </p:cNvCxnSpPr>
          <p:nvPr/>
        </p:nvCxnSpPr>
        <p:spPr>
          <a:xfrm flipV="1">
            <a:off x="7593330" y="3844834"/>
            <a:ext cx="1148715" cy="1"/>
          </a:xfrm>
          <a:prstGeom prst="straightConnector1">
            <a:avLst/>
          </a:prstGeom>
          <a:ln w="762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F9145003-4DFE-45F4-B3A4-22EFB49C8B5B}"/>
              </a:ext>
            </a:extLst>
          </p:cNvPr>
          <p:cNvCxnSpPr>
            <a:stCxn id="10" idx="2"/>
            <a:endCxn id="11" idx="0"/>
          </p:cNvCxnSpPr>
          <p:nvPr/>
        </p:nvCxnSpPr>
        <p:spPr>
          <a:xfrm>
            <a:off x="2045971" y="3009900"/>
            <a:ext cx="0" cy="533400"/>
          </a:xfrm>
          <a:prstGeom prst="straightConnector1">
            <a:avLst/>
          </a:prstGeom>
          <a:ln w="762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394C7971-C967-470A-BED9-47CA30B36368}"/>
              </a:ext>
            </a:extLst>
          </p:cNvPr>
          <p:cNvCxnSpPr>
            <a:cxnSpLocks/>
            <a:endCxn id="13" idx="0"/>
          </p:cNvCxnSpPr>
          <p:nvPr/>
        </p:nvCxnSpPr>
        <p:spPr>
          <a:xfrm flipH="1">
            <a:off x="6096000" y="3080110"/>
            <a:ext cx="2" cy="463190"/>
          </a:xfrm>
          <a:prstGeom prst="straightConnector1">
            <a:avLst/>
          </a:prstGeom>
          <a:ln w="762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632E91F0-EE89-48A0-AAA4-B8B575E910AA}"/>
              </a:ext>
            </a:extLst>
          </p:cNvPr>
          <p:cNvCxnSpPr>
            <a:cxnSpLocks/>
          </p:cNvCxnSpPr>
          <p:nvPr/>
        </p:nvCxnSpPr>
        <p:spPr>
          <a:xfrm>
            <a:off x="6104573" y="4743450"/>
            <a:ext cx="0" cy="460737"/>
          </a:xfrm>
          <a:prstGeom prst="straightConnector1">
            <a:avLst/>
          </a:prstGeom>
          <a:ln w="762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2E02B33F-0666-441C-991E-62947ADDD25D}"/>
              </a:ext>
            </a:extLst>
          </p:cNvPr>
          <p:cNvCxnSpPr>
            <a:cxnSpLocks/>
            <a:endCxn id="16" idx="0"/>
          </p:cNvCxnSpPr>
          <p:nvPr/>
        </p:nvCxnSpPr>
        <p:spPr>
          <a:xfrm>
            <a:off x="10239375" y="3128962"/>
            <a:ext cx="0" cy="414338"/>
          </a:xfrm>
          <a:prstGeom prst="straightConnector1">
            <a:avLst/>
          </a:prstGeom>
          <a:ln w="762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A405B3D8-1CB1-4593-B2CB-96E8EF82F27A}"/>
              </a:ext>
            </a:extLst>
          </p:cNvPr>
          <p:cNvSpPr txBox="1"/>
          <p:nvPr/>
        </p:nvSpPr>
        <p:spPr>
          <a:xfrm>
            <a:off x="591684" y="1555751"/>
            <a:ext cx="742587" cy="707886"/>
          </a:xfrm>
          <a:prstGeom prst="rect">
            <a:avLst/>
          </a:prstGeom>
          <a:noFill/>
        </p:spPr>
        <p:txBody>
          <a:bodyPr wrap="square" rtlCol="0">
            <a:spAutoFit/>
          </a:bodyPr>
          <a:lstStyle/>
          <a:p>
            <a:pPr algn="ctr"/>
            <a:r>
              <a:rPr kumimoji="1" lang="ja-JP" altLang="en-US" sz="4000" dirty="0">
                <a:solidFill>
                  <a:srgbClr val="C00000"/>
                </a:solidFill>
                <a:latin typeface="UD デジタル 教科書体 NK-B" panose="02020700000000000000" pitchFamily="18" charset="-128"/>
                <a:ea typeface="UD デジタル 教科書体 NK-B" panose="02020700000000000000" pitchFamily="18" charset="-128"/>
              </a:rPr>
              <a:t>✓</a:t>
            </a:r>
          </a:p>
        </p:txBody>
      </p:sp>
      <p:sp>
        <p:nvSpPr>
          <p:cNvPr id="42" name="テキスト ボックス 41">
            <a:extLst>
              <a:ext uri="{FF2B5EF4-FFF2-40B4-BE49-F238E27FC236}">
                <a16:creationId xmlns:a16="http://schemas.microsoft.com/office/drawing/2014/main" id="{A98766E1-54E6-4410-8CED-79EC7C7F6F5A}"/>
              </a:ext>
            </a:extLst>
          </p:cNvPr>
          <p:cNvSpPr txBox="1"/>
          <p:nvPr/>
        </p:nvSpPr>
        <p:spPr>
          <a:xfrm>
            <a:off x="572636" y="3243508"/>
            <a:ext cx="742587" cy="707886"/>
          </a:xfrm>
          <a:prstGeom prst="rect">
            <a:avLst/>
          </a:prstGeom>
          <a:noFill/>
        </p:spPr>
        <p:txBody>
          <a:bodyPr wrap="square" rtlCol="0">
            <a:spAutoFit/>
          </a:bodyPr>
          <a:lstStyle/>
          <a:p>
            <a:pPr algn="ctr"/>
            <a:r>
              <a:rPr kumimoji="1" lang="ja-JP" altLang="en-US" sz="4000" dirty="0">
                <a:solidFill>
                  <a:srgbClr val="C00000"/>
                </a:solidFill>
                <a:latin typeface="UD デジタル 教科書体 NK-B" panose="02020700000000000000" pitchFamily="18" charset="-128"/>
                <a:ea typeface="UD デジタル 教科書体 NK-B" panose="02020700000000000000" pitchFamily="18" charset="-128"/>
              </a:rPr>
              <a:t>✓</a:t>
            </a:r>
          </a:p>
        </p:txBody>
      </p:sp>
      <p:sp>
        <p:nvSpPr>
          <p:cNvPr id="43" name="テキスト ボックス 42">
            <a:extLst>
              <a:ext uri="{FF2B5EF4-FFF2-40B4-BE49-F238E27FC236}">
                <a16:creationId xmlns:a16="http://schemas.microsoft.com/office/drawing/2014/main" id="{8232CFB8-06BA-4601-B9FA-329ED9193764}"/>
              </a:ext>
            </a:extLst>
          </p:cNvPr>
          <p:cNvSpPr txBox="1"/>
          <p:nvPr/>
        </p:nvSpPr>
        <p:spPr>
          <a:xfrm>
            <a:off x="4692016" y="1574869"/>
            <a:ext cx="742587" cy="707886"/>
          </a:xfrm>
          <a:prstGeom prst="rect">
            <a:avLst/>
          </a:prstGeom>
          <a:noFill/>
        </p:spPr>
        <p:txBody>
          <a:bodyPr wrap="square" rtlCol="0">
            <a:spAutoFit/>
          </a:bodyPr>
          <a:lstStyle/>
          <a:p>
            <a:pPr algn="ctr"/>
            <a:r>
              <a:rPr kumimoji="1" lang="ja-JP" altLang="en-US" sz="4000" dirty="0">
                <a:solidFill>
                  <a:srgbClr val="C00000"/>
                </a:solidFill>
                <a:latin typeface="UD デジタル 教科書体 NK-B" panose="02020700000000000000" pitchFamily="18" charset="-128"/>
                <a:ea typeface="UD デジタル 教科書体 NK-B" panose="02020700000000000000" pitchFamily="18" charset="-128"/>
              </a:rPr>
              <a:t>✓</a:t>
            </a:r>
          </a:p>
        </p:txBody>
      </p:sp>
      <p:sp>
        <p:nvSpPr>
          <p:cNvPr id="3" name="スライド番号プレースホルダー 2">
            <a:extLst>
              <a:ext uri="{FF2B5EF4-FFF2-40B4-BE49-F238E27FC236}">
                <a16:creationId xmlns:a16="http://schemas.microsoft.com/office/drawing/2014/main" id="{5543E132-697D-479E-BA43-6AF42780C48C}"/>
              </a:ext>
            </a:extLst>
          </p:cNvPr>
          <p:cNvSpPr>
            <a:spLocks noGrp="1"/>
          </p:cNvSpPr>
          <p:nvPr>
            <p:ph type="sldNum" sz="quarter" idx="12"/>
          </p:nvPr>
        </p:nvSpPr>
        <p:spPr/>
        <p:txBody>
          <a:bodyPr/>
          <a:lstStyle/>
          <a:p>
            <a:fld id="{E0941385-F5BA-408B-94FB-C48DC2364AB1}" type="slidenum">
              <a:rPr kumimoji="1" lang="ja-JP" altLang="en-US" smtClean="0"/>
              <a:t>50</a:t>
            </a:fld>
            <a:endParaRPr kumimoji="1" lang="ja-JP" altLang="en-US"/>
          </a:p>
        </p:txBody>
      </p:sp>
      <p:sp>
        <p:nvSpPr>
          <p:cNvPr id="27" name="四角形: 角を丸くする 26">
            <a:extLst>
              <a:ext uri="{FF2B5EF4-FFF2-40B4-BE49-F238E27FC236}">
                <a16:creationId xmlns:a16="http://schemas.microsoft.com/office/drawing/2014/main" id="{65158FEE-4A09-4311-AD95-C4BB2C54EE3E}"/>
              </a:ext>
            </a:extLst>
          </p:cNvPr>
          <p:cNvSpPr/>
          <p:nvPr/>
        </p:nvSpPr>
        <p:spPr>
          <a:xfrm>
            <a:off x="8896350" y="5204187"/>
            <a:ext cx="2686050" cy="1200150"/>
          </a:xfrm>
          <a:prstGeom prst="round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000" dirty="0">
                <a:latin typeface="UD デジタル 教科書体 NK-B" panose="02020700000000000000" pitchFamily="18" charset="-128"/>
                <a:ea typeface="UD デジタル 教科書体 NK-B" panose="02020700000000000000" pitchFamily="18" charset="-128"/>
              </a:rPr>
              <a:t>本番</a:t>
            </a:r>
            <a:endParaRPr lang="en-US" altLang="ja-JP" sz="2000" dirty="0">
              <a:latin typeface="UD デジタル 教科書体 NK-B" panose="02020700000000000000" pitchFamily="18" charset="-128"/>
              <a:ea typeface="UD デジタル 教科書体 NK-B" panose="02020700000000000000" pitchFamily="18" charset="-128"/>
            </a:endParaRPr>
          </a:p>
          <a:p>
            <a:pPr algn="ctr"/>
            <a:r>
              <a:rPr lang="ja-JP" altLang="en-US" sz="2000" dirty="0">
                <a:latin typeface="UD デジタル 教科書体 NK-B" panose="02020700000000000000" pitchFamily="18" charset="-128"/>
                <a:ea typeface="UD デジタル 教科書体 NK-B" panose="02020700000000000000" pitchFamily="18" charset="-128"/>
              </a:rPr>
              <a:t>〆</a:t>
            </a:r>
            <a:r>
              <a:rPr lang="en-US" altLang="ja-JP" sz="2000" dirty="0">
                <a:latin typeface="UD デジタル 教科書体 NK-B" panose="02020700000000000000" pitchFamily="18" charset="-128"/>
                <a:ea typeface="UD デジタル 教科書体 NK-B" panose="02020700000000000000" pitchFamily="18" charset="-128"/>
              </a:rPr>
              <a:t>1/21</a:t>
            </a:r>
            <a:r>
              <a:rPr lang="ja-JP" altLang="en-US" sz="2000" dirty="0">
                <a:latin typeface="UD デジタル 教科書体 NK-B" panose="02020700000000000000" pitchFamily="18" charset="-128"/>
                <a:ea typeface="UD デジタル 教科書体 NK-B" panose="02020700000000000000" pitchFamily="18" charset="-128"/>
              </a:rPr>
              <a:t>～</a:t>
            </a:r>
            <a:r>
              <a:rPr lang="en-US" altLang="ja-JP" sz="2000" dirty="0">
                <a:latin typeface="UD デジタル 教科書体 NK-B" panose="02020700000000000000" pitchFamily="18" charset="-128"/>
                <a:ea typeface="UD デジタル 教科書体 NK-B" panose="02020700000000000000" pitchFamily="18" charset="-128"/>
              </a:rPr>
              <a:t>23</a:t>
            </a:r>
            <a:endParaRPr kumimoji="1" lang="ja-JP" altLang="en-US" sz="2000" dirty="0">
              <a:latin typeface="UD デジタル 教科書体 NK-B" panose="02020700000000000000" pitchFamily="18" charset="-128"/>
              <a:ea typeface="UD デジタル 教科書体 NK-B" panose="02020700000000000000" pitchFamily="18" charset="-128"/>
            </a:endParaRPr>
          </a:p>
        </p:txBody>
      </p:sp>
      <p:cxnSp>
        <p:nvCxnSpPr>
          <p:cNvPr id="29" name="直線矢印コネクタ 28">
            <a:extLst>
              <a:ext uri="{FF2B5EF4-FFF2-40B4-BE49-F238E27FC236}">
                <a16:creationId xmlns:a16="http://schemas.microsoft.com/office/drawing/2014/main" id="{3AA97F0F-A57B-46C2-B619-BD2AD048AEDE}"/>
              </a:ext>
            </a:extLst>
          </p:cNvPr>
          <p:cNvCxnSpPr>
            <a:cxnSpLocks/>
            <a:stCxn id="16" idx="2"/>
            <a:endCxn id="27" idx="0"/>
          </p:cNvCxnSpPr>
          <p:nvPr/>
        </p:nvCxnSpPr>
        <p:spPr>
          <a:xfrm>
            <a:off x="10239375" y="4743450"/>
            <a:ext cx="0" cy="460737"/>
          </a:xfrm>
          <a:prstGeom prst="straightConnector1">
            <a:avLst/>
          </a:prstGeom>
          <a:ln w="762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B9ED7CCA-0CDC-4E50-A077-CCD39F4CD38C}"/>
              </a:ext>
            </a:extLst>
          </p:cNvPr>
          <p:cNvSpPr txBox="1"/>
          <p:nvPr/>
        </p:nvSpPr>
        <p:spPr>
          <a:xfrm>
            <a:off x="4736256" y="3276600"/>
            <a:ext cx="742587" cy="707886"/>
          </a:xfrm>
          <a:prstGeom prst="rect">
            <a:avLst/>
          </a:prstGeom>
          <a:noFill/>
        </p:spPr>
        <p:txBody>
          <a:bodyPr wrap="square" rtlCol="0">
            <a:spAutoFit/>
          </a:bodyPr>
          <a:lstStyle/>
          <a:p>
            <a:pPr algn="ctr"/>
            <a:r>
              <a:rPr kumimoji="1" lang="en-US" altLang="ja-JP" sz="4000" dirty="0">
                <a:solidFill>
                  <a:srgbClr val="C00000"/>
                </a:solidFill>
                <a:latin typeface="UD デジタル 教科書体 NK-B" panose="02020700000000000000" pitchFamily="18" charset="-128"/>
                <a:ea typeface="UD デジタル 教科書体 NK-B" panose="02020700000000000000" pitchFamily="18" charset="-128"/>
              </a:rPr>
              <a:t>!</a:t>
            </a:r>
            <a:endParaRPr kumimoji="1" lang="ja-JP" altLang="en-US" sz="4000" dirty="0">
              <a:solidFill>
                <a:srgbClr val="C00000"/>
              </a:solidFill>
              <a:latin typeface="UD デジタル 教科書体 NK-B" panose="02020700000000000000" pitchFamily="18" charset="-128"/>
              <a:ea typeface="UD デジタル 教科書体 NK-B" panose="02020700000000000000" pitchFamily="18" charset="-128"/>
            </a:endParaRPr>
          </a:p>
        </p:txBody>
      </p:sp>
    </p:spTree>
    <p:extLst>
      <p:ext uri="{BB962C8B-B14F-4D97-AF65-F5344CB8AC3E}">
        <p14:creationId xmlns:p14="http://schemas.microsoft.com/office/powerpoint/2010/main" val="20577267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CE7686-0B4E-42B0-A196-FC29E037A8A4}"/>
              </a:ext>
            </a:extLst>
          </p:cNvPr>
          <p:cNvSpPr>
            <a:spLocks noGrp="1"/>
          </p:cNvSpPr>
          <p:nvPr>
            <p:ph type="title"/>
          </p:nvPr>
        </p:nvSpPr>
        <p:spPr/>
        <p:txBody>
          <a:bodyPr/>
          <a:lstStyle/>
          <a:p>
            <a:r>
              <a:rPr kumimoji="1" lang="ja-JP" altLang="en-US" dirty="0"/>
              <a:t>はじめ</a:t>
            </a:r>
            <a:r>
              <a:rPr kumimoji="1" lang="ja-JP" altLang="en-US"/>
              <a:t>に：研究背景</a:t>
            </a:r>
            <a:endParaRPr kumimoji="1" lang="ja-JP" altLang="en-US" dirty="0"/>
          </a:p>
        </p:txBody>
      </p:sp>
      <p:sp>
        <p:nvSpPr>
          <p:cNvPr id="3" name="コンテンツ プレースホルダー 2">
            <a:extLst>
              <a:ext uri="{FF2B5EF4-FFF2-40B4-BE49-F238E27FC236}">
                <a16:creationId xmlns:a16="http://schemas.microsoft.com/office/drawing/2014/main" id="{320ACA7A-6F7B-44A4-94CC-84F664409AC7}"/>
              </a:ext>
            </a:extLst>
          </p:cNvPr>
          <p:cNvSpPr>
            <a:spLocks noGrp="1"/>
          </p:cNvSpPr>
          <p:nvPr>
            <p:ph idx="1"/>
          </p:nvPr>
        </p:nvSpPr>
        <p:spPr>
          <a:xfrm>
            <a:off x="838200" y="1481959"/>
            <a:ext cx="10515600" cy="4695004"/>
          </a:xfrm>
        </p:spPr>
        <p:txBody>
          <a:bodyPr>
            <a:normAutofit/>
          </a:bodyPr>
          <a:lstStyle/>
          <a:p>
            <a:r>
              <a:rPr lang="ja-JP" altLang="en-US"/>
              <a:t>近年の</a:t>
            </a:r>
            <a:r>
              <a:rPr lang="en-US" altLang="ja-JP" dirty="0"/>
              <a:t>NN</a:t>
            </a:r>
          </a:p>
        </p:txBody>
      </p:sp>
      <p:sp>
        <p:nvSpPr>
          <p:cNvPr id="4" name="スライド番号プレースホルダー 3">
            <a:extLst>
              <a:ext uri="{FF2B5EF4-FFF2-40B4-BE49-F238E27FC236}">
                <a16:creationId xmlns:a16="http://schemas.microsoft.com/office/drawing/2014/main" id="{F5E8E274-312B-44FD-91F5-62C4B096232F}"/>
              </a:ext>
            </a:extLst>
          </p:cNvPr>
          <p:cNvSpPr>
            <a:spLocks noGrp="1"/>
          </p:cNvSpPr>
          <p:nvPr>
            <p:ph type="sldNum" sz="quarter" idx="12"/>
          </p:nvPr>
        </p:nvSpPr>
        <p:spPr/>
        <p:txBody>
          <a:bodyPr/>
          <a:lstStyle/>
          <a:p>
            <a:fld id="{E0941385-F5BA-408B-94FB-C48DC2364AB1}" type="slidenum">
              <a:rPr kumimoji="1" lang="ja-JP" altLang="en-US" smtClean="0"/>
              <a:t>51</a:t>
            </a:fld>
            <a:endParaRPr kumimoji="1" lang="ja-JP" altLang="en-US"/>
          </a:p>
        </p:txBody>
      </p:sp>
      <p:sp>
        <p:nvSpPr>
          <p:cNvPr id="10" name="タイトル 1">
            <a:extLst>
              <a:ext uri="{FF2B5EF4-FFF2-40B4-BE49-F238E27FC236}">
                <a16:creationId xmlns:a16="http://schemas.microsoft.com/office/drawing/2014/main" id="{9CB881B4-5FF5-9C49-8EC4-F0C5FD0B3F0D}"/>
              </a:ext>
            </a:extLst>
          </p:cNvPr>
          <p:cNvSpPr txBox="1">
            <a:spLocks/>
          </p:cNvSpPr>
          <p:nvPr/>
        </p:nvSpPr>
        <p:spPr>
          <a:xfrm>
            <a:off x="4831080" y="2894965"/>
            <a:ext cx="295148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j-cs"/>
              </a:defRPr>
            </a:lvl1pPr>
          </a:lstStyle>
          <a:p>
            <a:r>
              <a:rPr lang="ja-JP" altLang="en-US"/>
              <a:t>保留</a:t>
            </a:r>
            <a:endParaRPr lang="ja-JP" altLang="en-US" dirty="0"/>
          </a:p>
        </p:txBody>
      </p:sp>
    </p:spTree>
    <p:extLst>
      <p:ext uri="{BB962C8B-B14F-4D97-AF65-F5344CB8AC3E}">
        <p14:creationId xmlns:p14="http://schemas.microsoft.com/office/powerpoint/2010/main" val="18244228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CE7686-0B4E-42B0-A196-FC29E037A8A4}"/>
              </a:ext>
            </a:extLst>
          </p:cNvPr>
          <p:cNvSpPr>
            <a:spLocks noGrp="1"/>
          </p:cNvSpPr>
          <p:nvPr>
            <p:ph type="title"/>
          </p:nvPr>
        </p:nvSpPr>
        <p:spPr/>
        <p:txBody>
          <a:bodyPr/>
          <a:lstStyle/>
          <a:p>
            <a:r>
              <a:rPr kumimoji="1" lang="ja-JP" altLang="en-US" dirty="0"/>
              <a:t>はじめに：</a:t>
            </a:r>
            <a:r>
              <a:rPr lang="ja-JP" altLang="en-US" dirty="0"/>
              <a:t>ミニバッチ学習</a:t>
            </a:r>
            <a:endParaRPr kumimoji="1" lang="ja-JP" altLang="en-US" dirty="0"/>
          </a:p>
        </p:txBody>
      </p:sp>
      <p:sp>
        <p:nvSpPr>
          <p:cNvPr id="7" name="四角形: 角を丸くする 6">
            <a:extLst>
              <a:ext uri="{FF2B5EF4-FFF2-40B4-BE49-F238E27FC236}">
                <a16:creationId xmlns:a16="http://schemas.microsoft.com/office/drawing/2014/main" id="{8EDBCE74-9C7A-4FC4-9EC1-258B8C5CE7B3}"/>
              </a:ext>
            </a:extLst>
          </p:cNvPr>
          <p:cNvSpPr/>
          <p:nvPr/>
        </p:nvSpPr>
        <p:spPr>
          <a:xfrm>
            <a:off x="677333" y="1981199"/>
            <a:ext cx="3318934" cy="4511676"/>
          </a:xfrm>
          <a:prstGeom prst="roundRect">
            <a:avLst/>
          </a:prstGeom>
          <a:noFill/>
          <a:ln w="571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550E5E1F-7CA8-4130-8C46-F5F3BD65BC12}"/>
              </a:ext>
            </a:extLst>
          </p:cNvPr>
          <p:cNvSpPr txBox="1"/>
          <p:nvPr/>
        </p:nvSpPr>
        <p:spPr>
          <a:xfrm>
            <a:off x="980814" y="1675523"/>
            <a:ext cx="2741296" cy="584775"/>
          </a:xfrm>
          <a:prstGeom prst="rect">
            <a:avLst/>
          </a:prstGeom>
          <a:solidFill>
            <a:srgbClr val="E4E4E4"/>
          </a:solidFill>
        </p:spPr>
        <p:txBody>
          <a:bodyPr wrap="square" rtlCol="0">
            <a:spAutoFit/>
          </a:bodyPr>
          <a:lstStyle/>
          <a:p>
            <a:pPr algn="ctr"/>
            <a:r>
              <a:rPr kumimoji="1" lang="ja-JP" altLang="en-US" sz="32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オンライン学習</a:t>
            </a:r>
          </a:p>
        </p:txBody>
      </p:sp>
      <p:sp>
        <p:nvSpPr>
          <p:cNvPr id="19" name="テキスト ボックス 18">
            <a:extLst>
              <a:ext uri="{FF2B5EF4-FFF2-40B4-BE49-F238E27FC236}">
                <a16:creationId xmlns:a16="http://schemas.microsoft.com/office/drawing/2014/main" id="{65C3E1F0-B87A-4499-B9F8-511669975F5C}"/>
              </a:ext>
            </a:extLst>
          </p:cNvPr>
          <p:cNvSpPr txBox="1"/>
          <p:nvPr/>
        </p:nvSpPr>
        <p:spPr>
          <a:xfrm>
            <a:off x="980814" y="2403739"/>
            <a:ext cx="3177841" cy="954107"/>
          </a:xfrm>
          <a:prstGeom prst="rect">
            <a:avLst/>
          </a:prstGeom>
          <a:noFill/>
        </p:spPr>
        <p:txBody>
          <a:bodyPr wrap="square" rtlCol="0">
            <a:spAutoFit/>
          </a:bodyPr>
          <a:lstStyle/>
          <a:p>
            <a:r>
              <a:rPr lang="ja-JP" altLang="en-US" sz="2800" spc="3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学習サンプルを</a:t>
            </a:r>
            <a:endParaRPr lang="en-US" altLang="ja-JP" sz="2800" spc="3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r>
              <a:rPr kumimoji="1" lang="en-US" altLang="ja-JP" sz="2800" spc="3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1</a:t>
            </a:r>
            <a:r>
              <a:rPr kumimoji="1" lang="ja-JP" altLang="en-US" sz="2800" spc="3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件ずつ学習</a:t>
            </a:r>
            <a:endParaRPr kumimoji="1" lang="ja-JP" altLang="en-US" sz="2800" spc="-7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p:pic>
        <p:nvPicPr>
          <p:cNvPr id="60" name="グラフィックス 59" descr="頭の中の脳 枠線">
            <a:extLst>
              <a:ext uri="{FF2B5EF4-FFF2-40B4-BE49-F238E27FC236}">
                <a16:creationId xmlns:a16="http://schemas.microsoft.com/office/drawing/2014/main" id="{CD3D4772-9A4C-4153-BE67-4B2DD95CDB4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089125" y="3500155"/>
            <a:ext cx="914400" cy="914400"/>
          </a:xfrm>
          <a:prstGeom prst="rect">
            <a:avLst/>
          </a:prstGeom>
        </p:spPr>
      </p:pic>
      <p:grpSp>
        <p:nvGrpSpPr>
          <p:cNvPr id="61" name="グループ化 60">
            <a:extLst>
              <a:ext uri="{FF2B5EF4-FFF2-40B4-BE49-F238E27FC236}">
                <a16:creationId xmlns:a16="http://schemas.microsoft.com/office/drawing/2014/main" id="{9FF857FF-7688-457C-82DF-1AECB9846B7D}"/>
              </a:ext>
            </a:extLst>
          </p:cNvPr>
          <p:cNvGrpSpPr/>
          <p:nvPr/>
        </p:nvGrpSpPr>
        <p:grpSpPr>
          <a:xfrm>
            <a:off x="880549" y="3603601"/>
            <a:ext cx="2119711" cy="380524"/>
            <a:chOff x="4609631" y="3620619"/>
            <a:chExt cx="2119711" cy="380524"/>
          </a:xfrm>
        </p:grpSpPr>
        <p:sp>
          <p:nvSpPr>
            <p:cNvPr id="66" name="楕円 65">
              <a:extLst>
                <a:ext uri="{FF2B5EF4-FFF2-40B4-BE49-F238E27FC236}">
                  <a16:creationId xmlns:a16="http://schemas.microsoft.com/office/drawing/2014/main" id="{2B9C21DF-5EB5-4D8D-97DF-B38C5E333392}"/>
                </a:ext>
              </a:extLst>
            </p:cNvPr>
            <p:cNvSpPr/>
            <p:nvPr/>
          </p:nvSpPr>
          <p:spPr>
            <a:xfrm>
              <a:off x="4609631" y="3620619"/>
              <a:ext cx="380524" cy="380524"/>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楕円 66">
              <a:extLst>
                <a:ext uri="{FF2B5EF4-FFF2-40B4-BE49-F238E27FC236}">
                  <a16:creationId xmlns:a16="http://schemas.microsoft.com/office/drawing/2014/main" id="{A1405972-14E3-4797-8A38-D5032A6FA52D}"/>
                </a:ext>
              </a:extLst>
            </p:cNvPr>
            <p:cNvSpPr/>
            <p:nvPr/>
          </p:nvSpPr>
          <p:spPr>
            <a:xfrm>
              <a:off x="5189360" y="3620619"/>
              <a:ext cx="380524" cy="380524"/>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楕円 67">
              <a:extLst>
                <a:ext uri="{FF2B5EF4-FFF2-40B4-BE49-F238E27FC236}">
                  <a16:creationId xmlns:a16="http://schemas.microsoft.com/office/drawing/2014/main" id="{3FA71B76-F83F-43D7-B80E-E800DCBB05E8}"/>
                </a:ext>
              </a:extLst>
            </p:cNvPr>
            <p:cNvSpPr/>
            <p:nvPr/>
          </p:nvSpPr>
          <p:spPr>
            <a:xfrm>
              <a:off x="5769089" y="3620619"/>
              <a:ext cx="380524" cy="380524"/>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楕円 68">
              <a:extLst>
                <a:ext uri="{FF2B5EF4-FFF2-40B4-BE49-F238E27FC236}">
                  <a16:creationId xmlns:a16="http://schemas.microsoft.com/office/drawing/2014/main" id="{9FA49AB7-E6CE-4E6B-BD49-D2E2E5FABD19}"/>
                </a:ext>
              </a:extLst>
            </p:cNvPr>
            <p:cNvSpPr/>
            <p:nvPr/>
          </p:nvSpPr>
          <p:spPr>
            <a:xfrm>
              <a:off x="6348818" y="3620619"/>
              <a:ext cx="380524" cy="380524"/>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62" name="正方形/長方形 61">
            <a:extLst>
              <a:ext uri="{FF2B5EF4-FFF2-40B4-BE49-F238E27FC236}">
                <a16:creationId xmlns:a16="http://schemas.microsoft.com/office/drawing/2014/main" id="{D01C39B2-54CF-4F5F-B3C8-2231F35EE892}"/>
              </a:ext>
            </a:extLst>
          </p:cNvPr>
          <p:cNvSpPr/>
          <p:nvPr/>
        </p:nvSpPr>
        <p:spPr>
          <a:xfrm>
            <a:off x="812083" y="3535708"/>
            <a:ext cx="517455" cy="489355"/>
          </a:xfrm>
          <a:prstGeom prst="rect">
            <a:avLst/>
          </a:prstGeom>
          <a:noFill/>
          <a:ln w="381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5" name="コネクタ: カギ線 64">
            <a:extLst>
              <a:ext uri="{FF2B5EF4-FFF2-40B4-BE49-F238E27FC236}">
                <a16:creationId xmlns:a16="http://schemas.microsoft.com/office/drawing/2014/main" id="{20515FCE-BC67-4D5A-8265-456AB1D74749}"/>
              </a:ext>
            </a:extLst>
          </p:cNvPr>
          <p:cNvCxnSpPr>
            <a:cxnSpLocks/>
            <a:stCxn id="62" idx="2"/>
            <a:endCxn id="60" idx="2"/>
          </p:cNvCxnSpPr>
          <p:nvPr/>
        </p:nvCxnSpPr>
        <p:spPr>
          <a:xfrm rot="16200000" flipH="1">
            <a:off x="2113822" y="2982052"/>
            <a:ext cx="389492" cy="2475514"/>
          </a:xfrm>
          <a:prstGeom prst="bentConnector3">
            <a:avLst>
              <a:gd name="adj1" fmla="val 158692"/>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6" name="正方形/長方形 75">
            <a:extLst>
              <a:ext uri="{FF2B5EF4-FFF2-40B4-BE49-F238E27FC236}">
                <a16:creationId xmlns:a16="http://schemas.microsoft.com/office/drawing/2014/main" id="{033CF2AF-074C-4C00-A60B-C78975772390}"/>
              </a:ext>
            </a:extLst>
          </p:cNvPr>
          <p:cNvSpPr/>
          <p:nvPr/>
        </p:nvSpPr>
        <p:spPr>
          <a:xfrm>
            <a:off x="1383613" y="3545749"/>
            <a:ext cx="517455" cy="489355"/>
          </a:xfrm>
          <a:prstGeom prst="rect">
            <a:avLst/>
          </a:prstGeom>
          <a:noFill/>
          <a:ln w="381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正方形/長方形 76">
            <a:extLst>
              <a:ext uri="{FF2B5EF4-FFF2-40B4-BE49-F238E27FC236}">
                <a16:creationId xmlns:a16="http://schemas.microsoft.com/office/drawing/2014/main" id="{3D527360-6000-4C2B-8CF1-438089D24E23}"/>
              </a:ext>
            </a:extLst>
          </p:cNvPr>
          <p:cNvSpPr/>
          <p:nvPr/>
        </p:nvSpPr>
        <p:spPr>
          <a:xfrm>
            <a:off x="1978211" y="3550490"/>
            <a:ext cx="517455" cy="489355"/>
          </a:xfrm>
          <a:prstGeom prst="rect">
            <a:avLst/>
          </a:prstGeom>
          <a:noFill/>
          <a:ln w="381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8" name="正方形/長方形 77">
            <a:extLst>
              <a:ext uri="{FF2B5EF4-FFF2-40B4-BE49-F238E27FC236}">
                <a16:creationId xmlns:a16="http://schemas.microsoft.com/office/drawing/2014/main" id="{D7BF381D-C85B-4384-8C74-B76054036802}"/>
              </a:ext>
            </a:extLst>
          </p:cNvPr>
          <p:cNvSpPr/>
          <p:nvPr/>
        </p:nvSpPr>
        <p:spPr>
          <a:xfrm>
            <a:off x="2572809" y="3550490"/>
            <a:ext cx="517455" cy="489355"/>
          </a:xfrm>
          <a:prstGeom prst="rect">
            <a:avLst/>
          </a:prstGeom>
          <a:noFill/>
          <a:ln w="381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9" name="コネクタ: カギ線 78">
            <a:extLst>
              <a:ext uri="{FF2B5EF4-FFF2-40B4-BE49-F238E27FC236}">
                <a16:creationId xmlns:a16="http://schemas.microsoft.com/office/drawing/2014/main" id="{9E4F5732-7DD4-4C03-9D4C-DFAC71BCAF1D}"/>
              </a:ext>
            </a:extLst>
          </p:cNvPr>
          <p:cNvCxnSpPr>
            <a:cxnSpLocks/>
            <a:stCxn id="76" idx="2"/>
            <a:endCxn id="60" idx="2"/>
          </p:cNvCxnSpPr>
          <p:nvPr/>
        </p:nvCxnSpPr>
        <p:spPr>
          <a:xfrm rot="16200000" flipH="1">
            <a:off x="2404608" y="3272837"/>
            <a:ext cx="379451" cy="1903984"/>
          </a:xfrm>
          <a:prstGeom prst="bentConnector3">
            <a:avLst>
              <a:gd name="adj1" fmla="val 186351"/>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3" name="コネクタ: カギ線 82">
            <a:extLst>
              <a:ext uri="{FF2B5EF4-FFF2-40B4-BE49-F238E27FC236}">
                <a16:creationId xmlns:a16="http://schemas.microsoft.com/office/drawing/2014/main" id="{E7FE0B89-8E22-4206-B3BB-6B03B03CB0F5}"/>
              </a:ext>
            </a:extLst>
          </p:cNvPr>
          <p:cNvCxnSpPr>
            <a:cxnSpLocks/>
            <a:stCxn id="77" idx="2"/>
            <a:endCxn id="60" idx="2"/>
          </p:cNvCxnSpPr>
          <p:nvPr/>
        </p:nvCxnSpPr>
        <p:spPr>
          <a:xfrm rot="16200000" flipH="1">
            <a:off x="2704277" y="3572507"/>
            <a:ext cx="374710" cy="1309386"/>
          </a:xfrm>
          <a:prstGeom prst="bentConnector3">
            <a:avLst>
              <a:gd name="adj1" fmla="val 215913"/>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8" name="コネクタ: カギ線 87">
            <a:extLst>
              <a:ext uri="{FF2B5EF4-FFF2-40B4-BE49-F238E27FC236}">
                <a16:creationId xmlns:a16="http://schemas.microsoft.com/office/drawing/2014/main" id="{70556A6B-955C-4218-9886-9E9D62E7C0E4}"/>
              </a:ext>
            </a:extLst>
          </p:cNvPr>
          <p:cNvCxnSpPr>
            <a:cxnSpLocks/>
            <a:stCxn id="78" idx="2"/>
            <a:endCxn id="60" idx="2"/>
          </p:cNvCxnSpPr>
          <p:nvPr/>
        </p:nvCxnSpPr>
        <p:spPr>
          <a:xfrm rot="16200000" flipH="1">
            <a:off x="3001576" y="3869806"/>
            <a:ext cx="374710" cy="714788"/>
          </a:xfrm>
          <a:prstGeom prst="bentConnector3">
            <a:avLst>
              <a:gd name="adj1" fmla="val 242350"/>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2" name="テキスト ボックス 91">
            <a:extLst>
              <a:ext uri="{FF2B5EF4-FFF2-40B4-BE49-F238E27FC236}">
                <a16:creationId xmlns:a16="http://schemas.microsoft.com/office/drawing/2014/main" id="{B829816C-C9D3-4129-AA61-BC21CEAE2B03}"/>
              </a:ext>
            </a:extLst>
          </p:cNvPr>
          <p:cNvSpPr txBox="1"/>
          <p:nvPr/>
        </p:nvSpPr>
        <p:spPr>
          <a:xfrm>
            <a:off x="724999" y="5300473"/>
            <a:ext cx="3177841" cy="954107"/>
          </a:xfrm>
          <a:prstGeom prst="rect">
            <a:avLst/>
          </a:prstGeom>
          <a:noFill/>
        </p:spPr>
        <p:txBody>
          <a:bodyPr wrap="square" rtlCol="0">
            <a:spAutoFit/>
          </a:bodyPr>
          <a:lstStyle/>
          <a:p>
            <a:r>
              <a:rPr kumimoji="1" lang="ja-JP" altLang="en-US" sz="2800" spc="-7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メモリ容量　　　</a:t>
            </a:r>
            <a:r>
              <a:rPr kumimoji="1" lang="ja-JP" altLang="en-US" sz="2400" spc="-7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　 </a:t>
            </a:r>
            <a:r>
              <a:rPr kumimoji="1" lang="ja-JP" altLang="en-US" sz="2800" spc="-7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　小</a:t>
            </a:r>
            <a:endParaRPr kumimoji="1" lang="en-US" altLang="ja-JP" sz="2800" spc="-7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r>
              <a:rPr lang="ja-JP" altLang="en-US" sz="2800" spc="-70" dirty="0">
                <a:solidFill>
                  <a:srgbClr val="C00000"/>
                </a:solidFill>
                <a:latin typeface="UD デジタル 教科書体 NK-R" panose="02020400000000000000" pitchFamily="18" charset="-128"/>
                <a:ea typeface="UD デジタル 教科書体 NK-R" panose="02020400000000000000" pitchFamily="18" charset="-128"/>
              </a:rPr>
              <a:t>学習の安定性　：　低</a:t>
            </a:r>
            <a:endParaRPr kumimoji="1" lang="ja-JP" altLang="en-US" sz="2800" spc="-70" dirty="0">
              <a:solidFill>
                <a:srgbClr val="C00000"/>
              </a:solidFill>
              <a:latin typeface="UD デジタル 教科書体 NK-R" panose="02020400000000000000" pitchFamily="18" charset="-128"/>
              <a:ea typeface="UD デジタル 教科書体 NK-R" panose="02020400000000000000" pitchFamily="18" charset="-128"/>
            </a:endParaRPr>
          </a:p>
        </p:txBody>
      </p:sp>
    </p:spTree>
    <p:extLst>
      <p:ext uri="{BB962C8B-B14F-4D97-AF65-F5344CB8AC3E}">
        <p14:creationId xmlns:p14="http://schemas.microsoft.com/office/powerpoint/2010/main" val="22397773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CE7686-0B4E-42B0-A196-FC29E037A8A4}"/>
              </a:ext>
            </a:extLst>
          </p:cNvPr>
          <p:cNvSpPr>
            <a:spLocks noGrp="1"/>
          </p:cNvSpPr>
          <p:nvPr>
            <p:ph type="title"/>
          </p:nvPr>
        </p:nvSpPr>
        <p:spPr/>
        <p:txBody>
          <a:bodyPr/>
          <a:lstStyle/>
          <a:p>
            <a:r>
              <a:rPr kumimoji="1" lang="ja-JP" altLang="en-US" dirty="0"/>
              <a:t>はじめに：</a:t>
            </a:r>
            <a:r>
              <a:rPr lang="ja-JP" altLang="en-US" dirty="0"/>
              <a:t>ミニバッチ学習</a:t>
            </a:r>
            <a:endParaRPr kumimoji="1" lang="ja-JP" altLang="en-US" dirty="0"/>
          </a:p>
        </p:txBody>
      </p:sp>
      <p:sp>
        <p:nvSpPr>
          <p:cNvPr id="4" name="スライド番号プレースホルダー 3">
            <a:extLst>
              <a:ext uri="{FF2B5EF4-FFF2-40B4-BE49-F238E27FC236}">
                <a16:creationId xmlns:a16="http://schemas.microsoft.com/office/drawing/2014/main" id="{F5E8E274-312B-44FD-91F5-62C4B096232F}"/>
              </a:ext>
            </a:extLst>
          </p:cNvPr>
          <p:cNvSpPr>
            <a:spLocks noGrp="1"/>
          </p:cNvSpPr>
          <p:nvPr>
            <p:ph type="sldNum" sz="quarter" idx="12"/>
          </p:nvPr>
        </p:nvSpPr>
        <p:spPr/>
        <p:txBody>
          <a:bodyPr/>
          <a:lstStyle/>
          <a:p>
            <a:fld id="{E0941385-F5BA-408B-94FB-C48DC2364AB1}" type="slidenum">
              <a:rPr kumimoji="1" lang="ja-JP" altLang="en-US" smtClean="0"/>
              <a:t>53</a:t>
            </a:fld>
            <a:endParaRPr kumimoji="1" lang="ja-JP" altLang="en-US"/>
          </a:p>
        </p:txBody>
      </p:sp>
      <p:sp>
        <p:nvSpPr>
          <p:cNvPr id="7" name="四角形: 角を丸くする 6">
            <a:extLst>
              <a:ext uri="{FF2B5EF4-FFF2-40B4-BE49-F238E27FC236}">
                <a16:creationId xmlns:a16="http://schemas.microsoft.com/office/drawing/2014/main" id="{8EDBCE74-9C7A-4FC4-9EC1-258B8C5CE7B3}"/>
              </a:ext>
            </a:extLst>
          </p:cNvPr>
          <p:cNvSpPr/>
          <p:nvPr/>
        </p:nvSpPr>
        <p:spPr>
          <a:xfrm>
            <a:off x="677333" y="1981199"/>
            <a:ext cx="3318934" cy="4511676"/>
          </a:xfrm>
          <a:prstGeom prst="roundRect">
            <a:avLst/>
          </a:prstGeom>
          <a:noFill/>
          <a:ln w="571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2EFFF1D9-F974-4052-A944-4ADABF3778B7}"/>
              </a:ext>
            </a:extLst>
          </p:cNvPr>
          <p:cNvSpPr/>
          <p:nvPr/>
        </p:nvSpPr>
        <p:spPr>
          <a:xfrm>
            <a:off x="8195733" y="1981199"/>
            <a:ext cx="3318934" cy="4509824"/>
          </a:xfrm>
          <a:prstGeom prst="roundRect">
            <a:avLst/>
          </a:prstGeom>
          <a:noFill/>
          <a:ln w="571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550E5E1F-7CA8-4130-8C46-F5F3BD65BC12}"/>
              </a:ext>
            </a:extLst>
          </p:cNvPr>
          <p:cNvSpPr txBox="1"/>
          <p:nvPr/>
        </p:nvSpPr>
        <p:spPr>
          <a:xfrm>
            <a:off x="980814" y="1675523"/>
            <a:ext cx="2741296" cy="584775"/>
          </a:xfrm>
          <a:prstGeom prst="rect">
            <a:avLst/>
          </a:prstGeom>
          <a:solidFill>
            <a:srgbClr val="E4E4E4"/>
          </a:solidFill>
        </p:spPr>
        <p:txBody>
          <a:bodyPr wrap="square" rtlCol="0">
            <a:spAutoFit/>
          </a:bodyPr>
          <a:lstStyle/>
          <a:p>
            <a:pPr algn="ctr"/>
            <a:r>
              <a:rPr kumimoji="1" lang="ja-JP" altLang="en-US" sz="32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オンライン学習</a:t>
            </a:r>
          </a:p>
        </p:txBody>
      </p:sp>
      <p:sp>
        <p:nvSpPr>
          <p:cNvPr id="12" name="テキスト ボックス 11">
            <a:extLst>
              <a:ext uri="{FF2B5EF4-FFF2-40B4-BE49-F238E27FC236}">
                <a16:creationId xmlns:a16="http://schemas.microsoft.com/office/drawing/2014/main" id="{30D30B2B-5377-42CB-B926-767AFECAED92}"/>
              </a:ext>
            </a:extLst>
          </p:cNvPr>
          <p:cNvSpPr txBox="1"/>
          <p:nvPr/>
        </p:nvSpPr>
        <p:spPr>
          <a:xfrm>
            <a:off x="8750538" y="1675522"/>
            <a:ext cx="2209324" cy="584775"/>
          </a:xfrm>
          <a:prstGeom prst="rect">
            <a:avLst/>
          </a:prstGeom>
          <a:solidFill>
            <a:srgbClr val="E4E4E4"/>
          </a:solidFill>
        </p:spPr>
        <p:txBody>
          <a:bodyPr wrap="square" rtlCol="0">
            <a:spAutoFit/>
          </a:bodyPr>
          <a:lstStyle/>
          <a:p>
            <a:pPr algn="ctr"/>
            <a:r>
              <a:rPr kumimoji="1" lang="ja-JP" altLang="en-US" sz="32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バッチ学習</a:t>
            </a:r>
          </a:p>
        </p:txBody>
      </p:sp>
      <p:sp>
        <p:nvSpPr>
          <p:cNvPr id="19" name="テキスト ボックス 18">
            <a:extLst>
              <a:ext uri="{FF2B5EF4-FFF2-40B4-BE49-F238E27FC236}">
                <a16:creationId xmlns:a16="http://schemas.microsoft.com/office/drawing/2014/main" id="{65C3E1F0-B87A-4499-B9F8-511669975F5C}"/>
              </a:ext>
            </a:extLst>
          </p:cNvPr>
          <p:cNvSpPr txBox="1"/>
          <p:nvPr/>
        </p:nvSpPr>
        <p:spPr>
          <a:xfrm>
            <a:off x="980814" y="2403739"/>
            <a:ext cx="3177841" cy="954107"/>
          </a:xfrm>
          <a:prstGeom prst="rect">
            <a:avLst/>
          </a:prstGeom>
          <a:noFill/>
        </p:spPr>
        <p:txBody>
          <a:bodyPr wrap="square" rtlCol="0">
            <a:spAutoFit/>
          </a:bodyPr>
          <a:lstStyle/>
          <a:p>
            <a:r>
              <a:rPr lang="ja-JP" altLang="en-US" sz="2800" spc="3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学習サンプルを</a:t>
            </a:r>
            <a:endParaRPr lang="en-US" altLang="ja-JP" sz="2800" spc="3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r>
              <a:rPr kumimoji="1" lang="en-US" altLang="ja-JP" sz="2800" spc="3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1</a:t>
            </a:r>
            <a:r>
              <a:rPr kumimoji="1" lang="ja-JP" altLang="en-US" sz="2800" spc="3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件ずつ学習</a:t>
            </a:r>
            <a:endParaRPr kumimoji="1" lang="ja-JP" altLang="en-US" sz="2800" spc="-7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p:sp>
        <p:nvSpPr>
          <p:cNvPr id="20" name="テキスト ボックス 19">
            <a:extLst>
              <a:ext uri="{FF2B5EF4-FFF2-40B4-BE49-F238E27FC236}">
                <a16:creationId xmlns:a16="http://schemas.microsoft.com/office/drawing/2014/main" id="{C84F38A7-8C63-43DD-BCD5-D33AFCB71A7A}"/>
              </a:ext>
            </a:extLst>
          </p:cNvPr>
          <p:cNvSpPr txBox="1"/>
          <p:nvPr/>
        </p:nvSpPr>
        <p:spPr>
          <a:xfrm>
            <a:off x="8425854" y="2403739"/>
            <a:ext cx="3177841" cy="954107"/>
          </a:xfrm>
          <a:prstGeom prst="rect">
            <a:avLst/>
          </a:prstGeom>
          <a:noFill/>
        </p:spPr>
        <p:txBody>
          <a:bodyPr wrap="square" rtlCol="0">
            <a:spAutoFit/>
          </a:bodyPr>
          <a:lstStyle/>
          <a:p>
            <a:r>
              <a:rPr lang="ja-JP" altLang="en-US" sz="2800" spc="3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学習サンプルを</a:t>
            </a:r>
            <a:endParaRPr lang="en-US" altLang="ja-JP" sz="2800" spc="3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r>
              <a:rPr kumimoji="1" lang="ja-JP" altLang="en-US" sz="2800" spc="3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全て</a:t>
            </a:r>
            <a:r>
              <a:rPr kumimoji="1" lang="en-US" altLang="ja-JP" sz="2800" spc="3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1</a:t>
            </a:r>
            <a:r>
              <a:rPr kumimoji="1" lang="ja-JP" altLang="en-US" sz="2800" spc="3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度に学習</a:t>
            </a:r>
            <a:endParaRPr kumimoji="1" lang="ja-JP" altLang="en-US" sz="2800" spc="-7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p:pic>
        <p:nvPicPr>
          <p:cNvPr id="48" name="グラフィックス 47" descr="頭の中の脳 枠線">
            <a:extLst>
              <a:ext uri="{FF2B5EF4-FFF2-40B4-BE49-F238E27FC236}">
                <a16:creationId xmlns:a16="http://schemas.microsoft.com/office/drawing/2014/main" id="{31653E77-86F0-4CD2-9873-C5DFFF08D48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22620" y="3500155"/>
            <a:ext cx="914400" cy="914400"/>
          </a:xfrm>
          <a:prstGeom prst="rect">
            <a:avLst/>
          </a:prstGeom>
        </p:spPr>
      </p:pic>
      <p:grpSp>
        <p:nvGrpSpPr>
          <p:cNvPr id="49" name="グループ化 48">
            <a:extLst>
              <a:ext uri="{FF2B5EF4-FFF2-40B4-BE49-F238E27FC236}">
                <a16:creationId xmlns:a16="http://schemas.microsoft.com/office/drawing/2014/main" id="{2439F0D1-D6E3-43E2-B62A-F39024316C46}"/>
              </a:ext>
            </a:extLst>
          </p:cNvPr>
          <p:cNvGrpSpPr/>
          <p:nvPr/>
        </p:nvGrpSpPr>
        <p:grpSpPr>
          <a:xfrm>
            <a:off x="8414044" y="3603601"/>
            <a:ext cx="2119711" cy="380524"/>
            <a:chOff x="4609631" y="3620619"/>
            <a:chExt cx="2119711" cy="380524"/>
          </a:xfrm>
        </p:grpSpPr>
        <p:sp>
          <p:nvSpPr>
            <p:cNvPr id="54" name="楕円 53">
              <a:extLst>
                <a:ext uri="{FF2B5EF4-FFF2-40B4-BE49-F238E27FC236}">
                  <a16:creationId xmlns:a16="http://schemas.microsoft.com/office/drawing/2014/main" id="{860B03A7-5DDF-4823-B256-D8710743697C}"/>
                </a:ext>
              </a:extLst>
            </p:cNvPr>
            <p:cNvSpPr/>
            <p:nvPr/>
          </p:nvSpPr>
          <p:spPr>
            <a:xfrm>
              <a:off x="4609631" y="3620619"/>
              <a:ext cx="380524" cy="380524"/>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楕円 54">
              <a:extLst>
                <a:ext uri="{FF2B5EF4-FFF2-40B4-BE49-F238E27FC236}">
                  <a16:creationId xmlns:a16="http://schemas.microsoft.com/office/drawing/2014/main" id="{28A7666D-799B-4642-BF47-3250063BDDA5}"/>
                </a:ext>
              </a:extLst>
            </p:cNvPr>
            <p:cNvSpPr/>
            <p:nvPr/>
          </p:nvSpPr>
          <p:spPr>
            <a:xfrm>
              <a:off x="5189360" y="3620619"/>
              <a:ext cx="380524" cy="380524"/>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楕円 55">
              <a:extLst>
                <a:ext uri="{FF2B5EF4-FFF2-40B4-BE49-F238E27FC236}">
                  <a16:creationId xmlns:a16="http://schemas.microsoft.com/office/drawing/2014/main" id="{D829A2D4-172F-4517-836B-A44C4D3DFD62}"/>
                </a:ext>
              </a:extLst>
            </p:cNvPr>
            <p:cNvSpPr/>
            <p:nvPr/>
          </p:nvSpPr>
          <p:spPr>
            <a:xfrm>
              <a:off x="5769089" y="3620619"/>
              <a:ext cx="380524" cy="380524"/>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楕円 56">
              <a:extLst>
                <a:ext uri="{FF2B5EF4-FFF2-40B4-BE49-F238E27FC236}">
                  <a16:creationId xmlns:a16="http://schemas.microsoft.com/office/drawing/2014/main" id="{EB5E70D8-9CDE-48DF-801A-091D5E82DCE0}"/>
                </a:ext>
              </a:extLst>
            </p:cNvPr>
            <p:cNvSpPr/>
            <p:nvPr/>
          </p:nvSpPr>
          <p:spPr>
            <a:xfrm>
              <a:off x="6348818" y="3620619"/>
              <a:ext cx="380524" cy="380524"/>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51" name="正方形/長方形 50">
            <a:extLst>
              <a:ext uri="{FF2B5EF4-FFF2-40B4-BE49-F238E27FC236}">
                <a16:creationId xmlns:a16="http://schemas.microsoft.com/office/drawing/2014/main" id="{92093F33-0307-4813-90F0-7AF5274794A9}"/>
              </a:ext>
            </a:extLst>
          </p:cNvPr>
          <p:cNvSpPr/>
          <p:nvPr/>
        </p:nvSpPr>
        <p:spPr>
          <a:xfrm>
            <a:off x="8330366" y="3528731"/>
            <a:ext cx="2268574" cy="530952"/>
          </a:xfrm>
          <a:prstGeom prst="rect">
            <a:avLst/>
          </a:prstGeom>
          <a:noFill/>
          <a:ln w="381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2" name="コネクタ: カギ線 51">
            <a:extLst>
              <a:ext uri="{FF2B5EF4-FFF2-40B4-BE49-F238E27FC236}">
                <a16:creationId xmlns:a16="http://schemas.microsoft.com/office/drawing/2014/main" id="{6711C079-93B7-4322-9A88-02FC5A282CBA}"/>
              </a:ext>
            </a:extLst>
          </p:cNvPr>
          <p:cNvCxnSpPr>
            <a:cxnSpLocks/>
            <a:stCxn id="51" idx="2"/>
            <a:endCxn id="48" idx="2"/>
          </p:cNvCxnSpPr>
          <p:nvPr/>
        </p:nvCxnSpPr>
        <p:spPr>
          <a:xfrm rot="16200000" flipH="1">
            <a:off x="10094800" y="3429535"/>
            <a:ext cx="354872" cy="1615167"/>
          </a:xfrm>
          <a:prstGeom prst="bentConnector3">
            <a:avLst>
              <a:gd name="adj1" fmla="val 164418"/>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60" name="グラフィックス 59" descr="頭の中の脳 枠線">
            <a:extLst>
              <a:ext uri="{FF2B5EF4-FFF2-40B4-BE49-F238E27FC236}">
                <a16:creationId xmlns:a16="http://schemas.microsoft.com/office/drawing/2014/main" id="{CD3D4772-9A4C-4153-BE67-4B2DD95CDB4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089125" y="3500155"/>
            <a:ext cx="914400" cy="914400"/>
          </a:xfrm>
          <a:prstGeom prst="rect">
            <a:avLst/>
          </a:prstGeom>
        </p:spPr>
      </p:pic>
      <p:grpSp>
        <p:nvGrpSpPr>
          <p:cNvPr id="61" name="グループ化 60">
            <a:extLst>
              <a:ext uri="{FF2B5EF4-FFF2-40B4-BE49-F238E27FC236}">
                <a16:creationId xmlns:a16="http://schemas.microsoft.com/office/drawing/2014/main" id="{9FF857FF-7688-457C-82DF-1AECB9846B7D}"/>
              </a:ext>
            </a:extLst>
          </p:cNvPr>
          <p:cNvGrpSpPr/>
          <p:nvPr/>
        </p:nvGrpSpPr>
        <p:grpSpPr>
          <a:xfrm>
            <a:off x="880549" y="3603601"/>
            <a:ext cx="2119711" cy="380524"/>
            <a:chOff x="4609631" y="3620619"/>
            <a:chExt cx="2119711" cy="380524"/>
          </a:xfrm>
        </p:grpSpPr>
        <p:sp>
          <p:nvSpPr>
            <p:cNvPr id="66" name="楕円 65">
              <a:extLst>
                <a:ext uri="{FF2B5EF4-FFF2-40B4-BE49-F238E27FC236}">
                  <a16:creationId xmlns:a16="http://schemas.microsoft.com/office/drawing/2014/main" id="{2B9C21DF-5EB5-4D8D-97DF-B38C5E333392}"/>
                </a:ext>
              </a:extLst>
            </p:cNvPr>
            <p:cNvSpPr/>
            <p:nvPr/>
          </p:nvSpPr>
          <p:spPr>
            <a:xfrm>
              <a:off x="4609631" y="3620619"/>
              <a:ext cx="380524" cy="380524"/>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楕円 66">
              <a:extLst>
                <a:ext uri="{FF2B5EF4-FFF2-40B4-BE49-F238E27FC236}">
                  <a16:creationId xmlns:a16="http://schemas.microsoft.com/office/drawing/2014/main" id="{A1405972-14E3-4797-8A38-D5032A6FA52D}"/>
                </a:ext>
              </a:extLst>
            </p:cNvPr>
            <p:cNvSpPr/>
            <p:nvPr/>
          </p:nvSpPr>
          <p:spPr>
            <a:xfrm>
              <a:off x="5189360" y="3620619"/>
              <a:ext cx="380524" cy="380524"/>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楕円 67">
              <a:extLst>
                <a:ext uri="{FF2B5EF4-FFF2-40B4-BE49-F238E27FC236}">
                  <a16:creationId xmlns:a16="http://schemas.microsoft.com/office/drawing/2014/main" id="{3FA71B76-F83F-43D7-B80E-E800DCBB05E8}"/>
                </a:ext>
              </a:extLst>
            </p:cNvPr>
            <p:cNvSpPr/>
            <p:nvPr/>
          </p:nvSpPr>
          <p:spPr>
            <a:xfrm>
              <a:off x="5769089" y="3620619"/>
              <a:ext cx="380524" cy="380524"/>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楕円 68">
              <a:extLst>
                <a:ext uri="{FF2B5EF4-FFF2-40B4-BE49-F238E27FC236}">
                  <a16:creationId xmlns:a16="http://schemas.microsoft.com/office/drawing/2014/main" id="{9FA49AB7-E6CE-4E6B-BD49-D2E2E5FABD19}"/>
                </a:ext>
              </a:extLst>
            </p:cNvPr>
            <p:cNvSpPr/>
            <p:nvPr/>
          </p:nvSpPr>
          <p:spPr>
            <a:xfrm>
              <a:off x="6348818" y="3620619"/>
              <a:ext cx="380524" cy="380524"/>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62" name="正方形/長方形 61">
            <a:extLst>
              <a:ext uri="{FF2B5EF4-FFF2-40B4-BE49-F238E27FC236}">
                <a16:creationId xmlns:a16="http://schemas.microsoft.com/office/drawing/2014/main" id="{D01C39B2-54CF-4F5F-B3C8-2231F35EE892}"/>
              </a:ext>
            </a:extLst>
          </p:cNvPr>
          <p:cNvSpPr/>
          <p:nvPr/>
        </p:nvSpPr>
        <p:spPr>
          <a:xfrm>
            <a:off x="812083" y="3535708"/>
            <a:ext cx="517455" cy="489355"/>
          </a:xfrm>
          <a:prstGeom prst="rect">
            <a:avLst/>
          </a:prstGeom>
          <a:noFill/>
          <a:ln w="381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5" name="コネクタ: カギ線 64">
            <a:extLst>
              <a:ext uri="{FF2B5EF4-FFF2-40B4-BE49-F238E27FC236}">
                <a16:creationId xmlns:a16="http://schemas.microsoft.com/office/drawing/2014/main" id="{20515FCE-BC67-4D5A-8265-456AB1D74749}"/>
              </a:ext>
            </a:extLst>
          </p:cNvPr>
          <p:cNvCxnSpPr>
            <a:cxnSpLocks/>
            <a:stCxn id="62" idx="2"/>
            <a:endCxn id="60" idx="2"/>
          </p:cNvCxnSpPr>
          <p:nvPr/>
        </p:nvCxnSpPr>
        <p:spPr>
          <a:xfrm rot="16200000" flipH="1">
            <a:off x="2113822" y="2982052"/>
            <a:ext cx="389492" cy="2475514"/>
          </a:xfrm>
          <a:prstGeom prst="bentConnector3">
            <a:avLst>
              <a:gd name="adj1" fmla="val 158692"/>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6" name="正方形/長方形 75">
            <a:extLst>
              <a:ext uri="{FF2B5EF4-FFF2-40B4-BE49-F238E27FC236}">
                <a16:creationId xmlns:a16="http://schemas.microsoft.com/office/drawing/2014/main" id="{033CF2AF-074C-4C00-A60B-C78975772390}"/>
              </a:ext>
            </a:extLst>
          </p:cNvPr>
          <p:cNvSpPr/>
          <p:nvPr/>
        </p:nvSpPr>
        <p:spPr>
          <a:xfrm>
            <a:off x="1383613" y="3545749"/>
            <a:ext cx="517455" cy="489355"/>
          </a:xfrm>
          <a:prstGeom prst="rect">
            <a:avLst/>
          </a:prstGeom>
          <a:noFill/>
          <a:ln w="381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正方形/長方形 76">
            <a:extLst>
              <a:ext uri="{FF2B5EF4-FFF2-40B4-BE49-F238E27FC236}">
                <a16:creationId xmlns:a16="http://schemas.microsoft.com/office/drawing/2014/main" id="{3D527360-6000-4C2B-8CF1-438089D24E23}"/>
              </a:ext>
            </a:extLst>
          </p:cNvPr>
          <p:cNvSpPr/>
          <p:nvPr/>
        </p:nvSpPr>
        <p:spPr>
          <a:xfrm>
            <a:off x="1978211" y="3550490"/>
            <a:ext cx="517455" cy="489355"/>
          </a:xfrm>
          <a:prstGeom prst="rect">
            <a:avLst/>
          </a:prstGeom>
          <a:noFill/>
          <a:ln w="381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8" name="正方形/長方形 77">
            <a:extLst>
              <a:ext uri="{FF2B5EF4-FFF2-40B4-BE49-F238E27FC236}">
                <a16:creationId xmlns:a16="http://schemas.microsoft.com/office/drawing/2014/main" id="{D7BF381D-C85B-4384-8C74-B76054036802}"/>
              </a:ext>
            </a:extLst>
          </p:cNvPr>
          <p:cNvSpPr/>
          <p:nvPr/>
        </p:nvSpPr>
        <p:spPr>
          <a:xfrm>
            <a:off x="2572809" y="3550490"/>
            <a:ext cx="517455" cy="489355"/>
          </a:xfrm>
          <a:prstGeom prst="rect">
            <a:avLst/>
          </a:prstGeom>
          <a:noFill/>
          <a:ln w="381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9" name="コネクタ: カギ線 78">
            <a:extLst>
              <a:ext uri="{FF2B5EF4-FFF2-40B4-BE49-F238E27FC236}">
                <a16:creationId xmlns:a16="http://schemas.microsoft.com/office/drawing/2014/main" id="{9E4F5732-7DD4-4C03-9D4C-DFAC71BCAF1D}"/>
              </a:ext>
            </a:extLst>
          </p:cNvPr>
          <p:cNvCxnSpPr>
            <a:cxnSpLocks/>
            <a:stCxn id="76" idx="2"/>
            <a:endCxn id="60" idx="2"/>
          </p:cNvCxnSpPr>
          <p:nvPr/>
        </p:nvCxnSpPr>
        <p:spPr>
          <a:xfrm rot="16200000" flipH="1">
            <a:off x="2404608" y="3272837"/>
            <a:ext cx="379451" cy="1903984"/>
          </a:xfrm>
          <a:prstGeom prst="bentConnector3">
            <a:avLst>
              <a:gd name="adj1" fmla="val 186351"/>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3" name="コネクタ: カギ線 82">
            <a:extLst>
              <a:ext uri="{FF2B5EF4-FFF2-40B4-BE49-F238E27FC236}">
                <a16:creationId xmlns:a16="http://schemas.microsoft.com/office/drawing/2014/main" id="{E7FE0B89-8E22-4206-B3BB-6B03B03CB0F5}"/>
              </a:ext>
            </a:extLst>
          </p:cNvPr>
          <p:cNvCxnSpPr>
            <a:cxnSpLocks/>
            <a:stCxn id="77" idx="2"/>
            <a:endCxn id="60" idx="2"/>
          </p:cNvCxnSpPr>
          <p:nvPr/>
        </p:nvCxnSpPr>
        <p:spPr>
          <a:xfrm rot="16200000" flipH="1">
            <a:off x="2704277" y="3572507"/>
            <a:ext cx="374710" cy="1309386"/>
          </a:xfrm>
          <a:prstGeom prst="bentConnector3">
            <a:avLst>
              <a:gd name="adj1" fmla="val 215913"/>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8" name="コネクタ: カギ線 87">
            <a:extLst>
              <a:ext uri="{FF2B5EF4-FFF2-40B4-BE49-F238E27FC236}">
                <a16:creationId xmlns:a16="http://schemas.microsoft.com/office/drawing/2014/main" id="{70556A6B-955C-4218-9886-9E9D62E7C0E4}"/>
              </a:ext>
            </a:extLst>
          </p:cNvPr>
          <p:cNvCxnSpPr>
            <a:cxnSpLocks/>
            <a:stCxn id="78" idx="2"/>
            <a:endCxn id="60" idx="2"/>
          </p:cNvCxnSpPr>
          <p:nvPr/>
        </p:nvCxnSpPr>
        <p:spPr>
          <a:xfrm rot="16200000" flipH="1">
            <a:off x="3001576" y="3869806"/>
            <a:ext cx="374710" cy="714788"/>
          </a:xfrm>
          <a:prstGeom prst="bentConnector3">
            <a:avLst>
              <a:gd name="adj1" fmla="val 242350"/>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2" name="テキスト ボックス 91">
            <a:extLst>
              <a:ext uri="{FF2B5EF4-FFF2-40B4-BE49-F238E27FC236}">
                <a16:creationId xmlns:a16="http://schemas.microsoft.com/office/drawing/2014/main" id="{B829816C-C9D3-4129-AA61-BC21CEAE2B03}"/>
              </a:ext>
            </a:extLst>
          </p:cNvPr>
          <p:cNvSpPr txBox="1"/>
          <p:nvPr/>
        </p:nvSpPr>
        <p:spPr>
          <a:xfrm>
            <a:off x="724999" y="5300473"/>
            <a:ext cx="3177841" cy="954107"/>
          </a:xfrm>
          <a:prstGeom prst="rect">
            <a:avLst/>
          </a:prstGeom>
          <a:noFill/>
        </p:spPr>
        <p:txBody>
          <a:bodyPr wrap="square" rtlCol="0">
            <a:spAutoFit/>
          </a:bodyPr>
          <a:lstStyle/>
          <a:p>
            <a:r>
              <a:rPr kumimoji="1" lang="ja-JP" altLang="en-US" sz="2800" spc="-7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メモリ容量　　　</a:t>
            </a:r>
            <a:r>
              <a:rPr kumimoji="1" lang="ja-JP" altLang="en-US" sz="2400" spc="-7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　 </a:t>
            </a:r>
            <a:r>
              <a:rPr kumimoji="1" lang="ja-JP" altLang="en-US" sz="2800" spc="-7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　小</a:t>
            </a:r>
            <a:endParaRPr kumimoji="1" lang="en-US" altLang="ja-JP" sz="2800" spc="-7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r>
              <a:rPr lang="ja-JP" altLang="en-US" sz="2800" spc="-70" dirty="0">
                <a:solidFill>
                  <a:srgbClr val="C00000"/>
                </a:solidFill>
                <a:latin typeface="UD デジタル 教科書体 NK-R" panose="02020400000000000000" pitchFamily="18" charset="-128"/>
                <a:ea typeface="UD デジタル 教科書体 NK-R" panose="02020400000000000000" pitchFamily="18" charset="-128"/>
              </a:rPr>
              <a:t>学習の安定性　：　低</a:t>
            </a:r>
            <a:endParaRPr kumimoji="1" lang="ja-JP" altLang="en-US" sz="2800" spc="-70" dirty="0">
              <a:solidFill>
                <a:srgbClr val="C00000"/>
              </a:solidFill>
              <a:latin typeface="UD デジタル 教科書体 NK-R" panose="02020400000000000000" pitchFamily="18" charset="-128"/>
              <a:ea typeface="UD デジタル 教科書体 NK-R" panose="02020400000000000000" pitchFamily="18" charset="-128"/>
            </a:endParaRPr>
          </a:p>
        </p:txBody>
      </p:sp>
      <p:sp>
        <p:nvSpPr>
          <p:cNvPr id="93" name="テキスト ボックス 92">
            <a:extLst>
              <a:ext uri="{FF2B5EF4-FFF2-40B4-BE49-F238E27FC236}">
                <a16:creationId xmlns:a16="http://schemas.microsoft.com/office/drawing/2014/main" id="{98169DF8-2F51-4ED3-91E2-EC8032F2E15D}"/>
              </a:ext>
            </a:extLst>
          </p:cNvPr>
          <p:cNvSpPr txBox="1"/>
          <p:nvPr/>
        </p:nvSpPr>
        <p:spPr>
          <a:xfrm>
            <a:off x="8266279" y="5299641"/>
            <a:ext cx="3177841" cy="954107"/>
          </a:xfrm>
          <a:prstGeom prst="rect">
            <a:avLst/>
          </a:prstGeom>
          <a:noFill/>
        </p:spPr>
        <p:txBody>
          <a:bodyPr wrap="square" rtlCol="0">
            <a:spAutoFit/>
          </a:bodyPr>
          <a:lstStyle/>
          <a:p>
            <a:r>
              <a:rPr lang="ja-JP" altLang="en-US" sz="2800" spc="-70" dirty="0">
                <a:solidFill>
                  <a:srgbClr val="C00000"/>
                </a:solidFill>
                <a:latin typeface="UD デジタル 教科書体 NK-R" panose="02020400000000000000" pitchFamily="18" charset="-128"/>
                <a:ea typeface="UD デジタル 教科書体 NK-R" panose="02020400000000000000" pitchFamily="18" charset="-128"/>
              </a:rPr>
              <a:t>学習の安定性　：　高</a:t>
            </a:r>
            <a:endParaRPr kumimoji="1" lang="ja-JP" altLang="en-US" sz="2800" spc="-70" dirty="0">
              <a:solidFill>
                <a:srgbClr val="C00000"/>
              </a:solidFill>
              <a:latin typeface="UD デジタル 教科書体 NK-R" panose="02020400000000000000" pitchFamily="18" charset="-128"/>
              <a:ea typeface="UD デジタル 教科書体 NK-R" panose="02020400000000000000" pitchFamily="18" charset="-128"/>
            </a:endParaRPr>
          </a:p>
          <a:p>
            <a:r>
              <a:rPr kumimoji="1" lang="ja-JP" altLang="en-US" sz="2800" spc="-7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メモリ容量　　　</a:t>
            </a:r>
            <a:r>
              <a:rPr kumimoji="1" lang="ja-JP" altLang="en-US" sz="2400" spc="-7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　 </a:t>
            </a:r>
            <a:r>
              <a:rPr kumimoji="1" lang="ja-JP" altLang="en-US" sz="2800" spc="-7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　大</a:t>
            </a:r>
            <a:endParaRPr kumimoji="1" lang="en-US" altLang="ja-JP" sz="2800" spc="-7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p:spTree>
    <p:extLst>
      <p:ext uri="{BB962C8B-B14F-4D97-AF65-F5344CB8AC3E}">
        <p14:creationId xmlns:p14="http://schemas.microsoft.com/office/powerpoint/2010/main" val="33683608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CE7686-0B4E-42B0-A196-FC29E037A8A4}"/>
              </a:ext>
            </a:extLst>
          </p:cNvPr>
          <p:cNvSpPr>
            <a:spLocks noGrp="1"/>
          </p:cNvSpPr>
          <p:nvPr>
            <p:ph type="title"/>
          </p:nvPr>
        </p:nvSpPr>
        <p:spPr/>
        <p:txBody>
          <a:bodyPr/>
          <a:lstStyle/>
          <a:p>
            <a:r>
              <a:rPr kumimoji="1" lang="ja-JP" altLang="en-US" dirty="0"/>
              <a:t>はじめに：</a:t>
            </a:r>
            <a:r>
              <a:rPr lang="ja-JP" altLang="en-US" dirty="0"/>
              <a:t>ミニバッチ学習</a:t>
            </a:r>
            <a:endParaRPr kumimoji="1" lang="ja-JP" altLang="en-US" dirty="0"/>
          </a:p>
        </p:txBody>
      </p:sp>
      <p:sp>
        <p:nvSpPr>
          <p:cNvPr id="4" name="スライド番号プレースホルダー 3">
            <a:extLst>
              <a:ext uri="{FF2B5EF4-FFF2-40B4-BE49-F238E27FC236}">
                <a16:creationId xmlns:a16="http://schemas.microsoft.com/office/drawing/2014/main" id="{F5E8E274-312B-44FD-91F5-62C4B096232F}"/>
              </a:ext>
            </a:extLst>
          </p:cNvPr>
          <p:cNvSpPr>
            <a:spLocks noGrp="1"/>
          </p:cNvSpPr>
          <p:nvPr>
            <p:ph type="sldNum" sz="quarter" idx="12"/>
          </p:nvPr>
        </p:nvSpPr>
        <p:spPr/>
        <p:txBody>
          <a:bodyPr/>
          <a:lstStyle/>
          <a:p>
            <a:fld id="{E0941385-F5BA-408B-94FB-C48DC2364AB1}" type="slidenum">
              <a:rPr kumimoji="1" lang="ja-JP" altLang="en-US" smtClean="0"/>
              <a:t>54</a:t>
            </a:fld>
            <a:endParaRPr kumimoji="1" lang="ja-JP" altLang="en-US"/>
          </a:p>
        </p:txBody>
      </p:sp>
      <p:sp>
        <p:nvSpPr>
          <p:cNvPr id="7" name="四角形: 角を丸くする 6">
            <a:extLst>
              <a:ext uri="{FF2B5EF4-FFF2-40B4-BE49-F238E27FC236}">
                <a16:creationId xmlns:a16="http://schemas.microsoft.com/office/drawing/2014/main" id="{8EDBCE74-9C7A-4FC4-9EC1-258B8C5CE7B3}"/>
              </a:ext>
            </a:extLst>
          </p:cNvPr>
          <p:cNvSpPr/>
          <p:nvPr/>
        </p:nvSpPr>
        <p:spPr>
          <a:xfrm>
            <a:off x="677333" y="1981199"/>
            <a:ext cx="3318934" cy="4511676"/>
          </a:xfrm>
          <a:prstGeom prst="roundRect">
            <a:avLst/>
          </a:prstGeom>
          <a:noFill/>
          <a:ln w="571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2EFFF1D9-F974-4052-A944-4ADABF3778B7}"/>
              </a:ext>
            </a:extLst>
          </p:cNvPr>
          <p:cNvSpPr/>
          <p:nvPr/>
        </p:nvSpPr>
        <p:spPr>
          <a:xfrm>
            <a:off x="8195733" y="1981199"/>
            <a:ext cx="3318934" cy="4509824"/>
          </a:xfrm>
          <a:prstGeom prst="roundRect">
            <a:avLst/>
          </a:prstGeom>
          <a:noFill/>
          <a:ln w="571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53B662EC-B799-49A3-A0F0-DBEB9D27A0E2}"/>
              </a:ext>
            </a:extLst>
          </p:cNvPr>
          <p:cNvSpPr/>
          <p:nvPr/>
        </p:nvSpPr>
        <p:spPr>
          <a:xfrm>
            <a:off x="4436533" y="1981199"/>
            <a:ext cx="3318934" cy="4509823"/>
          </a:xfrm>
          <a:prstGeom prst="roundRect">
            <a:avLst/>
          </a:prstGeom>
          <a:noFill/>
          <a:ln w="571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550E5E1F-7CA8-4130-8C46-F5F3BD65BC12}"/>
              </a:ext>
            </a:extLst>
          </p:cNvPr>
          <p:cNvSpPr txBox="1"/>
          <p:nvPr/>
        </p:nvSpPr>
        <p:spPr>
          <a:xfrm>
            <a:off x="980814" y="1675523"/>
            <a:ext cx="2741296" cy="584775"/>
          </a:xfrm>
          <a:prstGeom prst="rect">
            <a:avLst/>
          </a:prstGeom>
          <a:solidFill>
            <a:srgbClr val="E4E4E4"/>
          </a:solidFill>
        </p:spPr>
        <p:txBody>
          <a:bodyPr wrap="square" rtlCol="0">
            <a:spAutoFit/>
          </a:bodyPr>
          <a:lstStyle/>
          <a:p>
            <a:pPr algn="ctr"/>
            <a:r>
              <a:rPr kumimoji="1" lang="ja-JP" altLang="en-US" sz="32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オンライン学習</a:t>
            </a:r>
          </a:p>
        </p:txBody>
      </p:sp>
      <p:sp>
        <p:nvSpPr>
          <p:cNvPr id="11" name="テキスト ボックス 10">
            <a:extLst>
              <a:ext uri="{FF2B5EF4-FFF2-40B4-BE49-F238E27FC236}">
                <a16:creationId xmlns:a16="http://schemas.microsoft.com/office/drawing/2014/main" id="{8C6C161A-B12F-4B74-9128-DA8D1252565C}"/>
              </a:ext>
            </a:extLst>
          </p:cNvPr>
          <p:cNvSpPr txBox="1"/>
          <p:nvPr/>
        </p:nvSpPr>
        <p:spPr>
          <a:xfrm>
            <a:off x="4699476" y="1690688"/>
            <a:ext cx="2793048" cy="584775"/>
          </a:xfrm>
          <a:prstGeom prst="rect">
            <a:avLst/>
          </a:prstGeom>
          <a:solidFill>
            <a:srgbClr val="E4E4E4"/>
          </a:solidFill>
        </p:spPr>
        <p:txBody>
          <a:bodyPr wrap="square" rtlCol="0">
            <a:spAutoFit/>
          </a:bodyPr>
          <a:lstStyle/>
          <a:p>
            <a:pPr algn="ctr"/>
            <a:r>
              <a:rPr kumimoji="1" lang="ja-JP" altLang="en-US" sz="32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ミニバッチ学習</a:t>
            </a:r>
          </a:p>
        </p:txBody>
      </p:sp>
      <p:sp>
        <p:nvSpPr>
          <p:cNvPr id="12" name="テキスト ボックス 11">
            <a:extLst>
              <a:ext uri="{FF2B5EF4-FFF2-40B4-BE49-F238E27FC236}">
                <a16:creationId xmlns:a16="http://schemas.microsoft.com/office/drawing/2014/main" id="{30D30B2B-5377-42CB-B926-767AFECAED92}"/>
              </a:ext>
            </a:extLst>
          </p:cNvPr>
          <p:cNvSpPr txBox="1"/>
          <p:nvPr/>
        </p:nvSpPr>
        <p:spPr>
          <a:xfrm>
            <a:off x="8750538" y="1675522"/>
            <a:ext cx="2209324" cy="584775"/>
          </a:xfrm>
          <a:prstGeom prst="rect">
            <a:avLst/>
          </a:prstGeom>
          <a:solidFill>
            <a:srgbClr val="E4E4E4"/>
          </a:solidFill>
        </p:spPr>
        <p:txBody>
          <a:bodyPr wrap="square" rtlCol="0">
            <a:spAutoFit/>
          </a:bodyPr>
          <a:lstStyle/>
          <a:p>
            <a:pPr algn="ctr"/>
            <a:r>
              <a:rPr kumimoji="1" lang="ja-JP" altLang="en-US" sz="32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バッチ学習</a:t>
            </a:r>
          </a:p>
        </p:txBody>
      </p:sp>
      <p:sp>
        <p:nvSpPr>
          <p:cNvPr id="19" name="テキスト ボックス 18">
            <a:extLst>
              <a:ext uri="{FF2B5EF4-FFF2-40B4-BE49-F238E27FC236}">
                <a16:creationId xmlns:a16="http://schemas.microsoft.com/office/drawing/2014/main" id="{65C3E1F0-B87A-4499-B9F8-511669975F5C}"/>
              </a:ext>
            </a:extLst>
          </p:cNvPr>
          <p:cNvSpPr txBox="1"/>
          <p:nvPr/>
        </p:nvSpPr>
        <p:spPr>
          <a:xfrm>
            <a:off x="980814" y="2403739"/>
            <a:ext cx="3177841" cy="954107"/>
          </a:xfrm>
          <a:prstGeom prst="rect">
            <a:avLst/>
          </a:prstGeom>
          <a:noFill/>
        </p:spPr>
        <p:txBody>
          <a:bodyPr wrap="square" rtlCol="0">
            <a:spAutoFit/>
          </a:bodyPr>
          <a:lstStyle/>
          <a:p>
            <a:r>
              <a:rPr lang="ja-JP" altLang="en-US" sz="2800" spc="3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学習サンプルを</a:t>
            </a:r>
            <a:endParaRPr lang="en-US" altLang="ja-JP" sz="2800" spc="3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r>
              <a:rPr kumimoji="1" lang="en-US" altLang="ja-JP" sz="2800" spc="3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1</a:t>
            </a:r>
            <a:r>
              <a:rPr kumimoji="1" lang="ja-JP" altLang="en-US" sz="2800" spc="3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件ずつ学習</a:t>
            </a:r>
            <a:endParaRPr kumimoji="1" lang="ja-JP" altLang="en-US" sz="2800" spc="-7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p:sp>
        <p:nvSpPr>
          <p:cNvPr id="20" name="テキスト ボックス 19">
            <a:extLst>
              <a:ext uri="{FF2B5EF4-FFF2-40B4-BE49-F238E27FC236}">
                <a16:creationId xmlns:a16="http://schemas.microsoft.com/office/drawing/2014/main" id="{C84F38A7-8C63-43DD-BCD5-D33AFCB71A7A}"/>
              </a:ext>
            </a:extLst>
          </p:cNvPr>
          <p:cNvSpPr txBox="1"/>
          <p:nvPr/>
        </p:nvSpPr>
        <p:spPr>
          <a:xfrm>
            <a:off x="8425854" y="2403739"/>
            <a:ext cx="3177841" cy="954107"/>
          </a:xfrm>
          <a:prstGeom prst="rect">
            <a:avLst/>
          </a:prstGeom>
          <a:noFill/>
        </p:spPr>
        <p:txBody>
          <a:bodyPr wrap="square" rtlCol="0">
            <a:spAutoFit/>
          </a:bodyPr>
          <a:lstStyle/>
          <a:p>
            <a:r>
              <a:rPr lang="ja-JP" altLang="en-US" sz="2800" spc="3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学習サンプルを</a:t>
            </a:r>
            <a:endParaRPr lang="en-US" altLang="ja-JP" sz="2800" spc="3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r>
              <a:rPr kumimoji="1" lang="ja-JP" altLang="en-US" sz="2800" spc="3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全て</a:t>
            </a:r>
            <a:r>
              <a:rPr kumimoji="1" lang="en-US" altLang="ja-JP" sz="2800" spc="3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1</a:t>
            </a:r>
            <a:r>
              <a:rPr kumimoji="1" lang="ja-JP" altLang="en-US" sz="2800" spc="3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度に学習</a:t>
            </a:r>
            <a:endParaRPr kumimoji="1" lang="ja-JP" altLang="en-US" sz="2800" spc="-7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p:sp>
        <p:nvSpPr>
          <p:cNvPr id="21" name="テキスト ボックス 20">
            <a:extLst>
              <a:ext uri="{FF2B5EF4-FFF2-40B4-BE49-F238E27FC236}">
                <a16:creationId xmlns:a16="http://schemas.microsoft.com/office/drawing/2014/main" id="{071E6E02-A8DF-4651-8BBB-F7CCF607CC64}"/>
              </a:ext>
            </a:extLst>
          </p:cNvPr>
          <p:cNvSpPr txBox="1"/>
          <p:nvPr/>
        </p:nvSpPr>
        <p:spPr>
          <a:xfrm>
            <a:off x="4577626" y="2386721"/>
            <a:ext cx="3177841" cy="954107"/>
          </a:xfrm>
          <a:prstGeom prst="rect">
            <a:avLst/>
          </a:prstGeom>
          <a:noFill/>
        </p:spPr>
        <p:txBody>
          <a:bodyPr wrap="square" rtlCol="0">
            <a:spAutoFit/>
          </a:bodyPr>
          <a:lstStyle/>
          <a:p>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学習サンプルを</a:t>
            </a:r>
            <a:endParaRPr lang="en-US" altLang="ja-JP"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r>
              <a:rPr kumimoji="1"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いくつかに分け学習</a:t>
            </a:r>
          </a:p>
        </p:txBody>
      </p:sp>
      <p:grpSp>
        <p:nvGrpSpPr>
          <p:cNvPr id="46" name="グループ化 45">
            <a:extLst>
              <a:ext uri="{FF2B5EF4-FFF2-40B4-BE49-F238E27FC236}">
                <a16:creationId xmlns:a16="http://schemas.microsoft.com/office/drawing/2014/main" id="{911F68A4-27E9-4478-BCE8-F575BC0344B0}"/>
              </a:ext>
            </a:extLst>
          </p:cNvPr>
          <p:cNvGrpSpPr/>
          <p:nvPr/>
        </p:nvGrpSpPr>
        <p:grpSpPr>
          <a:xfrm>
            <a:off x="4561751" y="3517173"/>
            <a:ext cx="3193716" cy="914400"/>
            <a:chOff x="4561751" y="3517173"/>
            <a:chExt cx="3193716" cy="914400"/>
          </a:xfrm>
        </p:grpSpPr>
        <p:pic>
          <p:nvPicPr>
            <p:cNvPr id="28" name="グラフィックス 27" descr="頭の中の脳 枠線">
              <a:extLst>
                <a:ext uri="{FF2B5EF4-FFF2-40B4-BE49-F238E27FC236}">
                  <a16:creationId xmlns:a16="http://schemas.microsoft.com/office/drawing/2014/main" id="{DE265510-0855-48A9-81B1-9B480E28206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41067" y="3517173"/>
              <a:ext cx="914400" cy="914400"/>
            </a:xfrm>
            <a:prstGeom prst="rect">
              <a:avLst/>
            </a:prstGeom>
          </p:spPr>
        </p:pic>
        <p:grpSp>
          <p:nvGrpSpPr>
            <p:cNvPr id="33" name="グループ化 32">
              <a:extLst>
                <a:ext uri="{FF2B5EF4-FFF2-40B4-BE49-F238E27FC236}">
                  <a16:creationId xmlns:a16="http://schemas.microsoft.com/office/drawing/2014/main" id="{2AA819DA-23CE-4CAA-B4A8-687D8772059B}"/>
                </a:ext>
              </a:extLst>
            </p:cNvPr>
            <p:cNvGrpSpPr/>
            <p:nvPr/>
          </p:nvGrpSpPr>
          <p:grpSpPr>
            <a:xfrm>
              <a:off x="4632491" y="3620619"/>
              <a:ext cx="2119711" cy="380524"/>
              <a:chOff x="4609631" y="3620619"/>
              <a:chExt cx="2119711" cy="380524"/>
            </a:xfrm>
          </p:grpSpPr>
          <p:sp>
            <p:nvSpPr>
              <p:cNvPr id="29" name="楕円 28">
                <a:extLst>
                  <a:ext uri="{FF2B5EF4-FFF2-40B4-BE49-F238E27FC236}">
                    <a16:creationId xmlns:a16="http://schemas.microsoft.com/office/drawing/2014/main" id="{73939E4A-7DCF-4C32-9A68-208CD007492F}"/>
                  </a:ext>
                </a:extLst>
              </p:cNvPr>
              <p:cNvSpPr/>
              <p:nvPr/>
            </p:nvSpPr>
            <p:spPr>
              <a:xfrm>
                <a:off x="4609631" y="3620619"/>
                <a:ext cx="380524" cy="380524"/>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楕円 29">
                <a:extLst>
                  <a:ext uri="{FF2B5EF4-FFF2-40B4-BE49-F238E27FC236}">
                    <a16:creationId xmlns:a16="http://schemas.microsoft.com/office/drawing/2014/main" id="{1E42B0B9-B34A-47D7-B1F2-11FBF3A47D51}"/>
                  </a:ext>
                </a:extLst>
              </p:cNvPr>
              <p:cNvSpPr/>
              <p:nvPr/>
            </p:nvSpPr>
            <p:spPr>
              <a:xfrm>
                <a:off x="5189360" y="3620619"/>
                <a:ext cx="380524" cy="380524"/>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楕円 30">
                <a:extLst>
                  <a:ext uri="{FF2B5EF4-FFF2-40B4-BE49-F238E27FC236}">
                    <a16:creationId xmlns:a16="http://schemas.microsoft.com/office/drawing/2014/main" id="{71A1E8E4-261D-46BC-8FC0-270F51985E54}"/>
                  </a:ext>
                </a:extLst>
              </p:cNvPr>
              <p:cNvSpPr/>
              <p:nvPr/>
            </p:nvSpPr>
            <p:spPr>
              <a:xfrm>
                <a:off x="5769089" y="3620619"/>
                <a:ext cx="380524" cy="380524"/>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楕円 31">
                <a:extLst>
                  <a:ext uri="{FF2B5EF4-FFF2-40B4-BE49-F238E27FC236}">
                    <a16:creationId xmlns:a16="http://schemas.microsoft.com/office/drawing/2014/main" id="{27E729A9-F077-4D0A-BF3E-70E8F4A8E129}"/>
                  </a:ext>
                </a:extLst>
              </p:cNvPr>
              <p:cNvSpPr/>
              <p:nvPr/>
            </p:nvSpPr>
            <p:spPr>
              <a:xfrm>
                <a:off x="6348818" y="3620619"/>
                <a:ext cx="380524" cy="380524"/>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4" name="正方形/長方形 33">
              <a:extLst>
                <a:ext uri="{FF2B5EF4-FFF2-40B4-BE49-F238E27FC236}">
                  <a16:creationId xmlns:a16="http://schemas.microsoft.com/office/drawing/2014/main" id="{7C1418F2-418C-4F79-9379-03C5AF5CBB70}"/>
                </a:ext>
              </a:extLst>
            </p:cNvPr>
            <p:cNvSpPr/>
            <p:nvPr/>
          </p:nvSpPr>
          <p:spPr>
            <a:xfrm>
              <a:off x="4561751" y="3545749"/>
              <a:ext cx="1102435" cy="530952"/>
            </a:xfrm>
            <a:prstGeom prst="rect">
              <a:avLst/>
            </a:prstGeom>
            <a:noFill/>
            <a:ln w="381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正方形/長方形 34">
              <a:extLst>
                <a:ext uri="{FF2B5EF4-FFF2-40B4-BE49-F238E27FC236}">
                  <a16:creationId xmlns:a16="http://schemas.microsoft.com/office/drawing/2014/main" id="{A7F73ABF-83A8-4FC4-B705-351CF1E3AC55}"/>
                </a:ext>
              </a:extLst>
            </p:cNvPr>
            <p:cNvSpPr/>
            <p:nvPr/>
          </p:nvSpPr>
          <p:spPr>
            <a:xfrm>
              <a:off x="5714951" y="3545749"/>
              <a:ext cx="1102435" cy="530952"/>
            </a:xfrm>
            <a:prstGeom prst="rect">
              <a:avLst/>
            </a:prstGeom>
            <a:noFill/>
            <a:ln w="381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1" name="コネクタ: カギ線 40">
              <a:extLst>
                <a:ext uri="{FF2B5EF4-FFF2-40B4-BE49-F238E27FC236}">
                  <a16:creationId xmlns:a16="http://schemas.microsoft.com/office/drawing/2014/main" id="{9E162B45-438D-47E5-9D7B-329E530EDBC1}"/>
                </a:ext>
              </a:extLst>
            </p:cNvPr>
            <p:cNvCxnSpPr>
              <a:stCxn id="35" idx="2"/>
              <a:endCxn id="28" idx="2"/>
            </p:cNvCxnSpPr>
            <p:nvPr/>
          </p:nvCxnSpPr>
          <p:spPr>
            <a:xfrm rot="16200000" flipH="1">
              <a:off x="6604782" y="3738088"/>
              <a:ext cx="354872" cy="1032098"/>
            </a:xfrm>
            <a:prstGeom prst="bentConnector3">
              <a:avLst>
                <a:gd name="adj1" fmla="val 164418"/>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コネクタ: カギ線 41">
              <a:extLst>
                <a:ext uri="{FF2B5EF4-FFF2-40B4-BE49-F238E27FC236}">
                  <a16:creationId xmlns:a16="http://schemas.microsoft.com/office/drawing/2014/main" id="{91E0ACD3-CEE7-4632-AB78-67573931BA01}"/>
                </a:ext>
              </a:extLst>
            </p:cNvPr>
            <p:cNvCxnSpPr>
              <a:cxnSpLocks/>
              <a:stCxn id="34" idx="2"/>
              <a:endCxn id="28" idx="2"/>
            </p:cNvCxnSpPr>
            <p:nvPr/>
          </p:nvCxnSpPr>
          <p:spPr>
            <a:xfrm rot="16200000" flipH="1">
              <a:off x="6028182" y="3161488"/>
              <a:ext cx="354872" cy="2185298"/>
            </a:xfrm>
            <a:prstGeom prst="bentConnector3">
              <a:avLst>
                <a:gd name="adj1" fmla="val 201995"/>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grpSp>
      <p:pic>
        <p:nvPicPr>
          <p:cNvPr id="48" name="グラフィックス 47" descr="頭の中の脳 枠線">
            <a:extLst>
              <a:ext uri="{FF2B5EF4-FFF2-40B4-BE49-F238E27FC236}">
                <a16:creationId xmlns:a16="http://schemas.microsoft.com/office/drawing/2014/main" id="{31653E77-86F0-4CD2-9873-C5DFFF08D48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22620" y="3500155"/>
            <a:ext cx="914400" cy="914400"/>
          </a:xfrm>
          <a:prstGeom prst="rect">
            <a:avLst/>
          </a:prstGeom>
        </p:spPr>
      </p:pic>
      <p:grpSp>
        <p:nvGrpSpPr>
          <p:cNvPr id="49" name="グループ化 48">
            <a:extLst>
              <a:ext uri="{FF2B5EF4-FFF2-40B4-BE49-F238E27FC236}">
                <a16:creationId xmlns:a16="http://schemas.microsoft.com/office/drawing/2014/main" id="{2439F0D1-D6E3-43E2-B62A-F39024316C46}"/>
              </a:ext>
            </a:extLst>
          </p:cNvPr>
          <p:cNvGrpSpPr/>
          <p:nvPr/>
        </p:nvGrpSpPr>
        <p:grpSpPr>
          <a:xfrm>
            <a:off x="8414044" y="3603601"/>
            <a:ext cx="2119711" cy="380524"/>
            <a:chOff x="4609631" y="3620619"/>
            <a:chExt cx="2119711" cy="380524"/>
          </a:xfrm>
        </p:grpSpPr>
        <p:sp>
          <p:nvSpPr>
            <p:cNvPr id="54" name="楕円 53">
              <a:extLst>
                <a:ext uri="{FF2B5EF4-FFF2-40B4-BE49-F238E27FC236}">
                  <a16:creationId xmlns:a16="http://schemas.microsoft.com/office/drawing/2014/main" id="{860B03A7-5DDF-4823-B256-D8710743697C}"/>
                </a:ext>
              </a:extLst>
            </p:cNvPr>
            <p:cNvSpPr/>
            <p:nvPr/>
          </p:nvSpPr>
          <p:spPr>
            <a:xfrm>
              <a:off x="4609631" y="3620619"/>
              <a:ext cx="380524" cy="380524"/>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楕円 54">
              <a:extLst>
                <a:ext uri="{FF2B5EF4-FFF2-40B4-BE49-F238E27FC236}">
                  <a16:creationId xmlns:a16="http://schemas.microsoft.com/office/drawing/2014/main" id="{28A7666D-799B-4642-BF47-3250063BDDA5}"/>
                </a:ext>
              </a:extLst>
            </p:cNvPr>
            <p:cNvSpPr/>
            <p:nvPr/>
          </p:nvSpPr>
          <p:spPr>
            <a:xfrm>
              <a:off x="5189360" y="3620619"/>
              <a:ext cx="380524" cy="380524"/>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楕円 55">
              <a:extLst>
                <a:ext uri="{FF2B5EF4-FFF2-40B4-BE49-F238E27FC236}">
                  <a16:creationId xmlns:a16="http://schemas.microsoft.com/office/drawing/2014/main" id="{D829A2D4-172F-4517-836B-A44C4D3DFD62}"/>
                </a:ext>
              </a:extLst>
            </p:cNvPr>
            <p:cNvSpPr/>
            <p:nvPr/>
          </p:nvSpPr>
          <p:spPr>
            <a:xfrm>
              <a:off x="5769089" y="3620619"/>
              <a:ext cx="380524" cy="380524"/>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楕円 56">
              <a:extLst>
                <a:ext uri="{FF2B5EF4-FFF2-40B4-BE49-F238E27FC236}">
                  <a16:creationId xmlns:a16="http://schemas.microsoft.com/office/drawing/2014/main" id="{EB5E70D8-9CDE-48DF-801A-091D5E82DCE0}"/>
                </a:ext>
              </a:extLst>
            </p:cNvPr>
            <p:cNvSpPr/>
            <p:nvPr/>
          </p:nvSpPr>
          <p:spPr>
            <a:xfrm>
              <a:off x="6348818" y="3620619"/>
              <a:ext cx="380524" cy="380524"/>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51" name="正方形/長方形 50">
            <a:extLst>
              <a:ext uri="{FF2B5EF4-FFF2-40B4-BE49-F238E27FC236}">
                <a16:creationId xmlns:a16="http://schemas.microsoft.com/office/drawing/2014/main" id="{92093F33-0307-4813-90F0-7AF5274794A9}"/>
              </a:ext>
            </a:extLst>
          </p:cNvPr>
          <p:cNvSpPr/>
          <p:nvPr/>
        </p:nvSpPr>
        <p:spPr>
          <a:xfrm>
            <a:off x="8330366" y="3528731"/>
            <a:ext cx="2268574" cy="530952"/>
          </a:xfrm>
          <a:prstGeom prst="rect">
            <a:avLst/>
          </a:prstGeom>
          <a:noFill/>
          <a:ln w="381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2" name="コネクタ: カギ線 51">
            <a:extLst>
              <a:ext uri="{FF2B5EF4-FFF2-40B4-BE49-F238E27FC236}">
                <a16:creationId xmlns:a16="http://schemas.microsoft.com/office/drawing/2014/main" id="{6711C079-93B7-4322-9A88-02FC5A282CBA}"/>
              </a:ext>
            </a:extLst>
          </p:cNvPr>
          <p:cNvCxnSpPr>
            <a:cxnSpLocks/>
            <a:stCxn id="51" idx="2"/>
            <a:endCxn id="48" idx="2"/>
          </p:cNvCxnSpPr>
          <p:nvPr/>
        </p:nvCxnSpPr>
        <p:spPr>
          <a:xfrm rot="16200000" flipH="1">
            <a:off x="10094800" y="3429535"/>
            <a:ext cx="354872" cy="1615167"/>
          </a:xfrm>
          <a:prstGeom prst="bentConnector3">
            <a:avLst>
              <a:gd name="adj1" fmla="val 164418"/>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60" name="グラフィックス 59" descr="頭の中の脳 枠線">
            <a:extLst>
              <a:ext uri="{FF2B5EF4-FFF2-40B4-BE49-F238E27FC236}">
                <a16:creationId xmlns:a16="http://schemas.microsoft.com/office/drawing/2014/main" id="{CD3D4772-9A4C-4153-BE67-4B2DD95CDB4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089125" y="3500155"/>
            <a:ext cx="914400" cy="914400"/>
          </a:xfrm>
          <a:prstGeom prst="rect">
            <a:avLst/>
          </a:prstGeom>
        </p:spPr>
      </p:pic>
      <p:grpSp>
        <p:nvGrpSpPr>
          <p:cNvPr id="61" name="グループ化 60">
            <a:extLst>
              <a:ext uri="{FF2B5EF4-FFF2-40B4-BE49-F238E27FC236}">
                <a16:creationId xmlns:a16="http://schemas.microsoft.com/office/drawing/2014/main" id="{9FF857FF-7688-457C-82DF-1AECB9846B7D}"/>
              </a:ext>
            </a:extLst>
          </p:cNvPr>
          <p:cNvGrpSpPr/>
          <p:nvPr/>
        </p:nvGrpSpPr>
        <p:grpSpPr>
          <a:xfrm>
            <a:off x="880549" y="3603601"/>
            <a:ext cx="2119711" cy="380524"/>
            <a:chOff x="4609631" y="3620619"/>
            <a:chExt cx="2119711" cy="380524"/>
          </a:xfrm>
        </p:grpSpPr>
        <p:sp>
          <p:nvSpPr>
            <p:cNvPr id="66" name="楕円 65">
              <a:extLst>
                <a:ext uri="{FF2B5EF4-FFF2-40B4-BE49-F238E27FC236}">
                  <a16:creationId xmlns:a16="http://schemas.microsoft.com/office/drawing/2014/main" id="{2B9C21DF-5EB5-4D8D-97DF-B38C5E333392}"/>
                </a:ext>
              </a:extLst>
            </p:cNvPr>
            <p:cNvSpPr/>
            <p:nvPr/>
          </p:nvSpPr>
          <p:spPr>
            <a:xfrm>
              <a:off x="4609631" y="3620619"/>
              <a:ext cx="380524" cy="380524"/>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楕円 66">
              <a:extLst>
                <a:ext uri="{FF2B5EF4-FFF2-40B4-BE49-F238E27FC236}">
                  <a16:creationId xmlns:a16="http://schemas.microsoft.com/office/drawing/2014/main" id="{A1405972-14E3-4797-8A38-D5032A6FA52D}"/>
                </a:ext>
              </a:extLst>
            </p:cNvPr>
            <p:cNvSpPr/>
            <p:nvPr/>
          </p:nvSpPr>
          <p:spPr>
            <a:xfrm>
              <a:off x="5189360" y="3620619"/>
              <a:ext cx="380524" cy="380524"/>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楕円 67">
              <a:extLst>
                <a:ext uri="{FF2B5EF4-FFF2-40B4-BE49-F238E27FC236}">
                  <a16:creationId xmlns:a16="http://schemas.microsoft.com/office/drawing/2014/main" id="{3FA71B76-F83F-43D7-B80E-E800DCBB05E8}"/>
                </a:ext>
              </a:extLst>
            </p:cNvPr>
            <p:cNvSpPr/>
            <p:nvPr/>
          </p:nvSpPr>
          <p:spPr>
            <a:xfrm>
              <a:off x="5769089" y="3620619"/>
              <a:ext cx="380524" cy="380524"/>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楕円 68">
              <a:extLst>
                <a:ext uri="{FF2B5EF4-FFF2-40B4-BE49-F238E27FC236}">
                  <a16:creationId xmlns:a16="http://schemas.microsoft.com/office/drawing/2014/main" id="{9FA49AB7-E6CE-4E6B-BD49-D2E2E5FABD19}"/>
                </a:ext>
              </a:extLst>
            </p:cNvPr>
            <p:cNvSpPr/>
            <p:nvPr/>
          </p:nvSpPr>
          <p:spPr>
            <a:xfrm>
              <a:off x="6348818" y="3620619"/>
              <a:ext cx="380524" cy="380524"/>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62" name="正方形/長方形 61">
            <a:extLst>
              <a:ext uri="{FF2B5EF4-FFF2-40B4-BE49-F238E27FC236}">
                <a16:creationId xmlns:a16="http://schemas.microsoft.com/office/drawing/2014/main" id="{D01C39B2-54CF-4F5F-B3C8-2231F35EE892}"/>
              </a:ext>
            </a:extLst>
          </p:cNvPr>
          <p:cNvSpPr/>
          <p:nvPr/>
        </p:nvSpPr>
        <p:spPr>
          <a:xfrm>
            <a:off x="812083" y="3535708"/>
            <a:ext cx="517455" cy="489355"/>
          </a:xfrm>
          <a:prstGeom prst="rect">
            <a:avLst/>
          </a:prstGeom>
          <a:noFill/>
          <a:ln w="381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5" name="コネクタ: カギ線 64">
            <a:extLst>
              <a:ext uri="{FF2B5EF4-FFF2-40B4-BE49-F238E27FC236}">
                <a16:creationId xmlns:a16="http://schemas.microsoft.com/office/drawing/2014/main" id="{20515FCE-BC67-4D5A-8265-456AB1D74749}"/>
              </a:ext>
            </a:extLst>
          </p:cNvPr>
          <p:cNvCxnSpPr>
            <a:cxnSpLocks/>
            <a:stCxn id="62" idx="2"/>
            <a:endCxn id="60" idx="2"/>
          </p:cNvCxnSpPr>
          <p:nvPr/>
        </p:nvCxnSpPr>
        <p:spPr>
          <a:xfrm rot="16200000" flipH="1">
            <a:off x="2113822" y="2982052"/>
            <a:ext cx="389492" cy="2475514"/>
          </a:xfrm>
          <a:prstGeom prst="bentConnector3">
            <a:avLst>
              <a:gd name="adj1" fmla="val 158692"/>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6" name="正方形/長方形 75">
            <a:extLst>
              <a:ext uri="{FF2B5EF4-FFF2-40B4-BE49-F238E27FC236}">
                <a16:creationId xmlns:a16="http://schemas.microsoft.com/office/drawing/2014/main" id="{033CF2AF-074C-4C00-A60B-C78975772390}"/>
              </a:ext>
            </a:extLst>
          </p:cNvPr>
          <p:cNvSpPr/>
          <p:nvPr/>
        </p:nvSpPr>
        <p:spPr>
          <a:xfrm>
            <a:off x="1383613" y="3545749"/>
            <a:ext cx="517455" cy="489355"/>
          </a:xfrm>
          <a:prstGeom prst="rect">
            <a:avLst/>
          </a:prstGeom>
          <a:noFill/>
          <a:ln w="381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正方形/長方形 76">
            <a:extLst>
              <a:ext uri="{FF2B5EF4-FFF2-40B4-BE49-F238E27FC236}">
                <a16:creationId xmlns:a16="http://schemas.microsoft.com/office/drawing/2014/main" id="{3D527360-6000-4C2B-8CF1-438089D24E23}"/>
              </a:ext>
            </a:extLst>
          </p:cNvPr>
          <p:cNvSpPr/>
          <p:nvPr/>
        </p:nvSpPr>
        <p:spPr>
          <a:xfrm>
            <a:off x="1978211" y="3550490"/>
            <a:ext cx="517455" cy="489355"/>
          </a:xfrm>
          <a:prstGeom prst="rect">
            <a:avLst/>
          </a:prstGeom>
          <a:noFill/>
          <a:ln w="381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8" name="正方形/長方形 77">
            <a:extLst>
              <a:ext uri="{FF2B5EF4-FFF2-40B4-BE49-F238E27FC236}">
                <a16:creationId xmlns:a16="http://schemas.microsoft.com/office/drawing/2014/main" id="{D7BF381D-C85B-4384-8C74-B76054036802}"/>
              </a:ext>
            </a:extLst>
          </p:cNvPr>
          <p:cNvSpPr/>
          <p:nvPr/>
        </p:nvSpPr>
        <p:spPr>
          <a:xfrm>
            <a:off x="2572809" y="3550490"/>
            <a:ext cx="517455" cy="489355"/>
          </a:xfrm>
          <a:prstGeom prst="rect">
            <a:avLst/>
          </a:prstGeom>
          <a:noFill/>
          <a:ln w="381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9" name="コネクタ: カギ線 78">
            <a:extLst>
              <a:ext uri="{FF2B5EF4-FFF2-40B4-BE49-F238E27FC236}">
                <a16:creationId xmlns:a16="http://schemas.microsoft.com/office/drawing/2014/main" id="{9E4F5732-7DD4-4C03-9D4C-DFAC71BCAF1D}"/>
              </a:ext>
            </a:extLst>
          </p:cNvPr>
          <p:cNvCxnSpPr>
            <a:cxnSpLocks/>
            <a:stCxn id="76" idx="2"/>
            <a:endCxn id="60" idx="2"/>
          </p:cNvCxnSpPr>
          <p:nvPr/>
        </p:nvCxnSpPr>
        <p:spPr>
          <a:xfrm rot="16200000" flipH="1">
            <a:off x="2404608" y="3272837"/>
            <a:ext cx="379451" cy="1903984"/>
          </a:xfrm>
          <a:prstGeom prst="bentConnector3">
            <a:avLst>
              <a:gd name="adj1" fmla="val 186351"/>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3" name="コネクタ: カギ線 82">
            <a:extLst>
              <a:ext uri="{FF2B5EF4-FFF2-40B4-BE49-F238E27FC236}">
                <a16:creationId xmlns:a16="http://schemas.microsoft.com/office/drawing/2014/main" id="{E7FE0B89-8E22-4206-B3BB-6B03B03CB0F5}"/>
              </a:ext>
            </a:extLst>
          </p:cNvPr>
          <p:cNvCxnSpPr>
            <a:cxnSpLocks/>
            <a:stCxn id="77" idx="2"/>
            <a:endCxn id="60" idx="2"/>
          </p:cNvCxnSpPr>
          <p:nvPr/>
        </p:nvCxnSpPr>
        <p:spPr>
          <a:xfrm rot="16200000" flipH="1">
            <a:off x="2704277" y="3572507"/>
            <a:ext cx="374710" cy="1309386"/>
          </a:xfrm>
          <a:prstGeom prst="bentConnector3">
            <a:avLst>
              <a:gd name="adj1" fmla="val 215913"/>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8" name="コネクタ: カギ線 87">
            <a:extLst>
              <a:ext uri="{FF2B5EF4-FFF2-40B4-BE49-F238E27FC236}">
                <a16:creationId xmlns:a16="http://schemas.microsoft.com/office/drawing/2014/main" id="{70556A6B-955C-4218-9886-9E9D62E7C0E4}"/>
              </a:ext>
            </a:extLst>
          </p:cNvPr>
          <p:cNvCxnSpPr>
            <a:cxnSpLocks/>
            <a:stCxn id="78" idx="2"/>
            <a:endCxn id="60" idx="2"/>
          </p:cNvCxnSpPr>
          <p:nvPr/>
        </p:nvCxnSpPr>
        <p:spPr>
          <a:xfrm rot="16200000" flipH="1">
            <a:off x="3001576" y="3869806"/>
            <a:ext cx="374710" cy="714788"/>
          </a:xfrm>
          <a:prstGeom prst="bentConnector3">
            <a:avLst>
              <a:gd name="adj1" fmla="val 242350"/>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2" name="テキスト ボックス 91">
            <a:extLst>
              <a:ext uri="{FF2B5EF4-FFF2-40B4-BE49-F238E27FC236}">
                <a16:creationId xmlns:a16="http://schemas.microsoft.com/office/drawing/2014/main" id="{B829816C-C9D3-4129-AA61-BC21CEAE2B03}"/>
              </a:ext>
            </a:extLst>
          </p:cNvPr>
          <p:cNvSpPr txBox="1"/>
          <p:nvPr/>
        </p:nvSpPr>
        <p:spPr>
          <a:xfrm>
            <a:off x="724999" y="5300473"/>
            <a:ext cx="3177841" cy="954107"/>
          </a:xfrm>
          <a:prstGeom prst="rect">
            <a:avLst/>
          </a:prstGeom>
          <a:noFill/>
        </p:spPr>
        <p:txBody>
          <a:bodyPr wrap="square" rtlCol="0">
            <a:spAutoFit/>
          </a:bodyPr>
          <a:lstStyle/>
          <a:p>
            <a:r>
              <a:rPr kumimoji="1" lang="ja-JP" altLang="en-US" sz="2800" spc="-7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メモリ容量　　　</a:t>
            </a:r>
            <a:r>
              <a:rPr kumimoji="1" lang="ja-JP" altLang="en-US" sz="2400" spc="-7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　 </a:t>
            </a:r>
            <a:r>
              <a:rPr kumimoji="1" lang="ja-JP" altLang="en-US" sz="2800" spc="-7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　小</a:t>
            </a:r>
            <a:endParaRPr kumimoji="1" lang="en-US" altLang="ja-JP" sz="2800" spc="-7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r>
              <a:rPr lang="ja-JP" altLang="en-US" sz="2800" spc="-70" dirty="0">
                <a:solidFill>
                  <a:srgbClr val="C00000"/>
                </a:solidFill>
                <a:latin typeface="UD デジタル 教科書体 NK-R" panose="02020400000000000000" pitchFamily="18" charset="-128"/>
                <a:ea typeface="UD デジタル 教科書体 NK-R" panose="02020400000000000000" pitchFamily="18" charset="-128"/>
              </a:rPr>
              <a:t>学習の安定性　：　低</a:t>
            </a:r>
            <a:endParaRPr kumimoji="1" lang="ja-JP" altLang="en-US" sz="2800" spc="-70" dirty="0">
              <a:solidFill>
                <a:srgbClr val="C00000"/>
              </a:solidFill>
              <a:latin typeface="UD デジタル 教科書体 NK-R" panose="02020400000000000000" pitchFamily="18" charset="-128"/>
              <a:ea typeface="UD デジタル 教科書体 NK-R" panose="02020400000000000000" pitchFamily="18" charset="-128"/>
            </a:endParaRPr>
          </a:p>
        </p:txBody>
      </p:sp>
      <p:sp>
        <p:nvSpPr>
          <p:cNvPr id="93" name="テキスト ボックス 92">
            <a:extLst>
              <a:ext uri="{FF2B5EF4-FFF2-40B4-BE49-F238E27FC236}">
                <a16:creationId xmlns:a16="http://schemas.microsoft.com/office/drawing/2014/main" id="{98169DF8-2F51-4ED3-91E2-EC8032F2E15D}"/>
              </a:ext>
            </a:extLst>
          </p:cNvPr>
          <p:cNvSpPr txBox="1"/>
          <p:nvPr/>
        </p:nvSpPr>
        <p:spPr>
          <a:xfrm>
            <a:off x="8266279" y="5299641"/>
            <a:ext cx="3177841" cy="954107"/>
          </a:xfrm>
          <a:prstGeom prst="rect">
            <a:avLst/>
          </a:prstGeom>
          <a:noFill/>
        </p:spPr>
        <p:txBody>
          <a:bodyPr wrap="square" rtlCol="0">
            <a:spAutoFit/>
          </a:bodyPr>
          <a:lstStyle/>
          <a:p>
            <a:r>
              <a:rPr lang="ja-JP" altLang="en-US" sz="2800" spc="-70" dirty="0">
                <a:solidFill>
                  <a:srgbClr val="C00000"/>
                </a:solidFill>
                <a:latin typeface="UD デジタル 教科書体 NK-R" panose="02020400000000000000" pitchFamily="18" charset="-128"/>
                <a:ea typeface="UD デジタル 教科書体 NK-R" panose="02020400000000000000" pitchFamily="18" charset="-128"/>
              </a:rPr>
              <a:t>学習の安定性　：　高</a:t>
            </a:r>
            <a:endParaRPr kumimoji="1" lang="ja-JP" altLang="en-US" sz="2800" spc="-70" dirty="0">
              <a:solidFill>
                <a:srgbClr val="C00000"/>
              </a:solidFill>
              <a:latin typeface="UD デジタル 教科書体 NK-R" panose="02020400000000000000" pitchFamily="18" charset="-128"/>
              <a:ea typeface="UD デジタル 教科書体 NK-R" panose="02020400000000000000" pitchFamily="18" charset="-128"/>
            </a:endParaRPr>
          </a:p>
          <a:p>
            <a:r>
              <a:rPr kumimoji="1" lang="ja-JP" altLang="en-US" sz="2800" spc="-7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メモリ容量　　　</a:t>
            </a:r>
            <a:r>
              <a:rPr kumimoji="1" lang="ja-JP" altLang="en-US" sz="2400" spc="-7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　 </a:t>
            </a:r>
            <a:r>
              <a:rPr kumimoji="1" lang="ja-JP" altLang="en-US" sz="2800" spc="-7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　大</a:t>
            </a:r>
            <a:endParaRPr kumimoji="1" lang="en-US" altLang="ja-JP" sz="2800" spc="-7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p:sp>
        <p:nvSpPr>
          <p:cNvPr id="94" name="テキスト ボックス 93">
            <a:extLst>
              <a:ext uri="{FF2B5EF4-FFF2-40B4-BE49-F238E27FC236}">
                <a16:creationId xmlns:a16="http://schemas.microsoft.com/office/drawing/2014/main" id="{34EB4DD0-351E-46E4-BC2C-466253ED7772}"/>
              </a:ext>
            </a:extLst>
          </p:cNvPr>
          <p:cNvSpPr txBox="1"/>
          <p:nvPr/>
        </p:nvSpPr>
        <p:spPr>
          <a:xfrm>
            <a:off x="4940846" y="5316082"/>
            <a:ext cx="2310307" cy="954107"/>
          </a:xfrm>
          <a:prstGeom prst="rect">
            <a:avLst/>
          </a:prstGeom>
          <a:noFill/>
        </p:spPr>
        <p:txBody>
          <a:bodyPr wrap="square" rtlCol="0">
            <a:spAutoFit/>
          </a:bodyPr>
          <a:lstStyle/>
          <a:p>
            <a:pPr algn="ctr"/>
            <a:r>
              <a:rPr lang="ja-JP" altLang="en-US" sz="2800" spc="-70" dirty="0">
                <a:solidFill>
                  <a:srgbClr val="C00000"/>
                </a:solidFill>
                <a:latin typeface="UD デジタル 教科書体 NK-R" panose="02020400000000000000" pitchFamily="18" charset="-128"/>
                <a:ea typeface="UD デジタル 教科書体 NK-R" panose="02020400000000000000" pitchFamily="18" charset="-128"/>
              </a:rPr>
              <a:t>両方の性質を</a:t>
            </a:r>
            <a:endParaRPr lang="en-US" altLang="ja-JP" sz="2800" spc="-70" dirty="0">
              <a:solidFill>
                <a:srgbClr val="C00000"/>
              </a:solidFill>
              <a:latin typeface="UD デジタル 教科書体 NK-R" panose="02020400000000000000" pitchFamily="18" charset="-128"/>
              <a:ea typeface="UD デジタル 教科書体 NK-R" panose="02020400000000000000" pitchFamily="18" charset="-128"/>
            </a:endParaRPr>
          </a:p>
          <a:p>
            <a:pPr algn="ctr"/>
            <a:r>
              <a:rPr lang="ja-JP" altLang="en-US" sz="2800" spc="-70" dirty="0">
                <a:solidFill>
                  <a:srgbClr val="C00000"/>
                </a:solidFill>
                <a:latin typeface="UD デジタル 教科書体 NK-R" panose="02020400000000000000" pitchFamily="18" charset="-128"/>
                <a:ea typeface="UD デジタル 教科書体 NK-R" panose="02020400000000000000" pitchFamily="18" charset="-128"/>
              </a:rPr>
              <a:t>いいとこどり</a:t>
            </a:r>
            <a:endParaRPr kumimoji="1" lang="en-US" altLang="ja-JP" sz="2800" spc="-7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p:sp>
        <p:nvSpPr>
          <p:cNvPr id="95" name="矢印: 下 94">
            <a:extLst>
              <a:ext uri="{FF2B5EF4-FFF2-40B4-BE49-F238E27FC236}">
                <a16:creationId xmlns:a16="http://schemas.microsoft.com/office/drawing/2014/main" id="{EBE56FC5-B19C-4C34-A9BB-3B74F4A7C019}"/>
              </a:ext>
            </a:extLst>
          </p:cNvPr>
          <p:cNvSpPr/>
          <p:nvPr/>
        </p:nvSpPr>
        <p:spPr>
          <a:xfrm rot="16200000">
            <a:off x="7387206" y="5241048"/>
            <a:ext cx="804039" cy="954107"/>
          </a:xfrm>
          <a:prstGeom prst="down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6" name="矢印: 下 95">
            <a:extLst>
              <a:ext uri="{FF2B5EF4-FFF2-40B4-BE49-F238E27FC236}">
                <a16:creationId xmlns:a16="http://schemas.microsoft.com/office/drawing/2014/main" id="{8C28B381-2EBB-4504-9732-27392C9D9CB3}"/>
              </a:ext>
            </a:extLst>
          </p:cNvPr>
          <p:cNvSpPr/>
          <p:nvPr/>
        </p:nvSpPr>
        <p:spPr>
          <a:xfrm rot="5400000">
            <a:off x="3999241" y="5224607"/>
            <a:ext cx="804039" cy="954107"/>
          </a:xfrm>
          <a:prstGeom prst="down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323258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CE7686-0B4E-42B0-A196-FC29E037A8A4}"/>
              </a:ext>
            </a:extLst>
          </p:cNvPr>
          <p:cNvSpPr>
            <a:spLocks noGrp="1"/>
          </p:cNvSpPr>
          <p:nvPr>
            <p:ph type="title"/>
          </p:nvPr>
        </p:nvSpPr>
        <p:spPr/>
        <p:txBody>
          <a:bodyPr/>
          <a:lstStyle/>
          <a:p>
            <a:r>
              <a:rPr kumimoji="1" lang="ja-JP" altLang="en-US" dirty="0"/>
              <a:t>はじめに：ニューラルネットワーク</a:t>
            </a:r>
          </a:p>
        </p:txBody>
      </p:sp>
      <p:sp>
        <p:nvSpPr>
          <p:cNvPr id="3" name="コンテンツ プレースホルダー 2">
            <a:extLst>
              <a:ext uri="{FF2B5EF4-FFF2-40B4-BE49-F238E27FC236}">
                <a16:creationId xmlns:a16="http://schemas.microsoft.com/office/drawing/2014/main" id="{320ACA7A-6F7B-44A4-94CC-84F664409AC7}"/>
              </a:ext>
            </a:extLst>
          </p:cNvPr>
          <p:cNvSpPr>
            <a:spLocks noGrp="1"/>
          </p:cNvSpPr>
          <p:nvPr>
            <p:ph idx="1"/>
          </p:nvPr>
        </p:nvSpPr>
        <p:spPr>
          <a:xfrm>
            <a:off x="838200" y="1481959"/>
            <a:ext cx="10515600" cy="4695004"/>
          </a:xfrm>
        </p:spPr>
        <p:txBody>
          <a:bodyPr>
            <a:normAutofit/>
          </a:bodyPr>
          <a:lstStyle/>
          <a:p>
            <a:r>
              <a:rPr lang="ja-JP" altLang="en-US" dirty="0"/>
              <a:t>ニューラルネットワークの活用</a:t>
            </a:r>
            <a:endParaRPr lang="en-US" altLang="ja-JP" dirty="0"/>
          </a:p>
          <a:p>
            <a:pPr marL="0" indent="0">
              <a:buNone/>
            </a:pPr>
            <a:r>
              <a:rPr lang="en-US" altLang="ja-JP" dirty="0"/>
              <a:t>IoT</a:t>
            </a:r>
            <a:r>
              <a:rPr lang="ja-JP" altLang="en-US" dirty="0"/>
              <a:t>の急速な発展により、ビッグデータが取得できるように</a:t>
            </a:r>
            <a:endParaRPr lang="en-US" altLang="ja-JP" dirty="0"/>
          </a:p>
          <a:p>
            <a:pPr marL="0" indent="0">
              <a:buNone/>
            </a:pPr>
            <a:r>
              <a:rPr lang="ja-JP" altLang="en-US" dirty="0"/>
              <a:t>↓</a:t>
            </a:r>
            <a:endParaRPr lang="en-US" altLang="ja-JP" dirty="0"/>
          </a:p>
          <a:p>
            <a:pPr marL="0" indent="0">
              <a:buNone/>
            </a:pPr>
            <a:r>
              <a:rPr lang="ja-JP" altLang="en-US" dirty="0"/>
              <a:t>ビッグデータの処理に</a:t>
            </a:r>
            <a:r>
              <a:rPr lang="en-US" altLang="ja-JP" dirty="0"/>
              <a:t>AI</a:t>
            </a:r>
            <a:r>
              <a:rPr lang="ja-JP" altLang="en-US" dirty="0"/>
              <a:t>を活用</a:t>
            </a:r>
            <a:endParaRPr lang="en-US" altLang="ja-JP" dirty="0"/>
          </a:p>
          <a:p>
            <a:pPr marL="0" indent="0">
              <a:buNone/>
            </a:pPr>
            <a:endParaRPr lang="en-US" altLang="ja-JP" dirty="0"/>
          </a:p>
          <a:p>
            <a:pPr marL="0" indent="0">
              <a:buNone/>
            </a:pPr>
            <a:r>
              <a:rPr lang="en-US" altLang="ja-JP" dirty="0"/>
              <a:t>AI</a:t>
            </a:r>
            <a:r>
              <a:rPr lang="ja-JP" altLang="en-US" dirty="0"/>
              <a:t>の核となる技術がニューラルネットワーク</a:t>
            </a:r>
            <a:endParaRPr lang="en-US" altLang="ja-JP" dirty="0"/>
          </a:p>
          <a:p>
            <a:endParaRPr lang="en-US" altLang="ja-JP" dirty="0"/>
          </a:p>
          <a:p>
            <a:r>
              <a:rPr lang="ja-JP" altLang="en-US" dirty="0"/>
              <a:t>分類・回帰・パターン認識等に利用</a:t>
            </a:r>
            <a:endParaRPr lang="en-US" altLang="ja-JP" dirty="0"/>
          </a:p>
          <a:p>
            <a:endParaRPr lang="en-US" altLang="ja-JP" dirty="0"/>
          </a:p>
        </p:txBody>
      </p:sp>
      <p:sp>
        <p:nvSpPr>
          <p:cNvPr id="4" name="スライド番号プレースホルダー 3">
            <a:extLst>
              <a:ext uri="{FF2B5EF4-FFF2-40B4-BE49-F238E27FC236}">
                <a16:creationId xmlns:a16="http://schemas.microsoft.com/office/drawing/2014/main" id="{F5E8E274-312B-44FD-91F5-62C4B096232F}"/>
              </a:ext>
            </a:extLst>
          </p:cNvPr>
          <p:cNvSpPr>
            <a:spLocks noGrp="1"/>
          </p:cNvSpPr>
          <p:nvPr>
            <p:ph type="sldNum" sz="quarter" idx="12"/>
          </p:nvPr>
        </p:nvSpPr>
        <p:spPr/>
        <p:txBody>
          <a:bodyPr/>
          <a:lstStyle/>
          <a:p>
            <a:fld id="{E0941385-F5BA-408B-94FB-C48DC2364AB1}" type="slidenum">
              <a:rPr kumimoji="1" lang="ja-JP" altLang="en-US" smtClean="0"/>
              <a:t>55</a:t>
            </a:fld>
            <a:endParaRPr kumimoji="1" lang="ja-JP" altLang="en-US"/>
          </a:p>
        </p:txBody>
      </p:sp>
    </p:spTree>
    <p:extLst>
      <p:ext uri="{BB962C8B-B14F-4D97-AF65-F5344CB8AC3E}">
        <p14:creationId xmlns:p14="http://schemas.microsoft.com/office/powerpoint/2010/main" val="333288905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CE7686-0B4E-42B0-A196-FC29E037A8A4}"/>
              </a:ext>
            </a:extLst>
          </p:cNvPr>
          <p:cNvSpPr>
            <a:spLocks noGrp="1"/>
          </p:cNvSpPr>
          <p:nvPr>
            <p:ph type="title"/>
          </p:nvPr>
        </p:nvSpPr>
        <p:spPr/>
        <p:txBody>
          <a:bodyPr/>
          <a:lstStyle/>
          <a:p>
            <a:r>
              <a:rPr kumimoji="1" lang="ja-JP" altLang="en-US" dirty="0"/>
              <a:t>ニュートン法</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320ACA7A-6F7B-44A4-94CC-84F664409AC7}"/>
                  </a:ext>
                </a:extLst>
              </p:cNvPr>
              <p:cNvSpPr>
                <a:spLocks noGrp="1"/>
              </p:cNvSpPr>
              <p:nvPr>
                <p:ph idx="1"/>
              </p:nvPr>
            </p:nvSpPr>
            <p:spPr/>
            <p:txBody>
              <a:bodyPr>
                <a:normAutofit/>
              </a:bodyPr>
              <a:lstStyle/>
              <a:p>
                <a:r>
                  <a:rPr kumimoji="1" lang="ja-JP" altLang="en-US" dirty="0"/>
                  <a:t>ニュートン法の更新式</a:t>
                </a:r>
                <a:endParaRPr kumimoji="1" lang="en-US" altLang="ja-JP" dirty="0"/>
              </a:p>
              <a:p>
                <a:endParaRPr kumimoji="1" lang="en-US" altLang="ja-JP" dirty="0"/>
              </a:p>
              <a:p>
                <a:pPr marL="0" indent="0">
                  <a:buNone/>
                </a:pPr>
                <a14:m>
                  <m:oMathPara xmlns:m="http://schemas.openxmlformats.org/officeDocument/2006/math">
                    <m:oMathParaPr>
                      <m:jc m:val="centerGroup"/>
                    </m:oMathParaPr>
                    <m:oMath xmlns:m="http://schemas.openxmlformats.org/officeDocument/2006/math">
                      <m:eqArr>
                        <m:eqArrPr>
                          <m:ctrlPr>
                            <a:rPr lang="en-US" altLang="ja-JP" b="0" i="1" smtClean="0">
                              <a:latin typeface="Cambria Math" panose="02040503050406030204" pitchFamily="18" charset="0"/>
                            </a:rPr>
                          </m:ctrlPr>
                        </m:eqArrPr>
                        <m:e>
                          <m:sSub>
                            <m:sSubPr>
                              <m:ctrlPr>
                                <a:rPr lang="en-US" altLang="ja-JP" i="1" smtClean="0">
                                  <a:latin typeface="Cambria Math" panose="02040503050406030204" pitchFamily="18" charset="0"/>
                                </a:rPr>
                              </m:ctrlPr>
                            </m:sSubPr>
                            <m:e>
                              <m:r>
                                <a:rPr lang="en-US" altLang="ja-JP" i="1">
                                  <a:latin typeface="Cambria Math" panose="02040503050406030204" pitchFamily="18" charset="0"/>
                                </a:rPr>
                                <m:t>𝑤</m:t>
                              </m:r>
                            </m:e>
                            <m:sub>
                              <m:r>
                                <a:rPr lang="en-US" altLang="ja-JP" i="1">
                                  <a:latin typeface="Cambria Math" panose="02040503050406030204" pitchFamily="18" charset="0"/>
                                </a:rPr>
                                <m:t>𝑘</m:t>
                              </m:r>
                              <m:r>
                                <a:rPr lang="en-US" altLang="ja-JP" i="1">
                                  <a:latin typeface="Cambria Math" panose="02040503050406030204" pitchFamily="18" charset="0"/>
                                </a:rPr>
                                <m:t>+1</m:t>
                              </m:r>
                            </m:sub>
                          </m:sSub>
                          <m:r>
                            <a:rPr lang="en-US" altLang="ja-JP" i="1">
                              <a:latin typeface="Cambria Math" panose="02040503050406030204" pitchFamily="18" charset="0"/>
                            </a:rPr>
                            <m:t>= </m:t>
                          </m:r>
                          <m:sSub>
                            <m:sSubPr>
                              <m:ctrlPr>
                                <a:rPr lang="en-US" altLang="ja-JP" i="1">
                                  <a:latin typeface="Cambria Math" panose="02040503050406030204" pitchFamily="18" charset="0"/>
                                </a:rPr>
                              </m:ctrlPr>
                            </m:sSubPr>
                            <m:e>
                              <m:r>
                                <a:rPr lang="en-US" altLang="ja-JP" i="1">
                                  <a:latin typeface="Cambria Math" panose="02040503050406030204" pitchFamily="18" charset="0"/>
                                </a:rPr>
                                <m:t>𝑤</m:t>
                              </m:r>
                            </m:e>
                            <m:sub>
                              <m:r>
                                <a:rPr lang="en-US" altLang="ja-JP" i="1">
                                  <a:latin typeface="Cambria Math" panose="02040503050406030204" pitchFamily="18" charset="0"/>
                                </a:rPr>
                                <m:t>𝑘</m:t>
                              </m:r>
                            </m:sub>
                          </m:sSub>
                          <m:r>
                            <a:rPr lang="en-US" altLang="ja-JP" i="1">
                              <a:latin typeface="Cambria Math" panose="02040503050406030204" pitchFamily="18" charset="0"/>
                            </a:rPr>
                            <m:t> − </m:t>
                          </m:r>
                          <m:r>
                            <a:rPr lang="ja-JP" altLang="en-US" i="1">
                              <a:latin typeface="Cambria Math" panose="02040503050406030204" pitchFamily="18" charset="0"/>
                            </a:rPr>
                            <m:t>𝛼</m:t>
                          </m:r>
                          <m:sSubSup>
                            <m:sSubSupPr>
                              <m:ctrlPr>
                                <a:rPr lang="en-US" altLang="ja-JP" i="1">
                                  <a:latin typeface="Cambria Math" panose="02040503050406030204" pitchFamily="18" charset="0"/>
                                </a:rPr>
                              </m:ctrlPr>
                            </m:sSubSupPr>
                            <m:e>
                              <m:r>
                                <a:rPr lang="en-US" altLang="ja-JP" b="1" i="1" smtClean="0">
                                  <a:solidFill>
                                    <a:srgbClr val="FF0000"/>
                                  </a:solidFill>
                                  <a:latin typeface="Cambria Math" panose="02040503050406030204" pitchFamily="18" charset="0"/>
                                </a:rPr>
                                <m:t>𝑯</m:t>
                              </m:r>
                            </m:e>
                            <m:sub>
                              <m:r>
                                <a:rPr lang="en-US" altLang="ja-JP" i="1">
                                  <a:latin typeface="Cambria Math" panose="02040503050406030204" pitchFamily="18" charset="0"/>
                                </a:rPr>
                                <m:t>𝑘</m:t>
                              </m:r>
                            </m:sub>
                            <m:sup>
                              <m:r>
                                <a:rPr lang="en-US" altLang="ja-JP" i="1">
                                  <a:latin typeface="Cambria Math" panose="02040503050406030204" pitchFamily="18" charset="0"/>
                                </a:rPr>
                                <m:t>−1</m:t>
                              </m:r>
                            </m:sup>
                          </m:sSubSup>
                          <m:sSub>
                            <m:sSubPr>
                              <m:ctrlPr>
                                <a:rPr lang="en-US" altLang="ja-JP" i="1">
                                  <a:latin typeface="Cambria Math" panose="02040503050406030204" pitchFamily="18" charset="0"/>
                                </a:rPr>
                              </m:ctrlPr>
                            </m:sSubPr>
                            <m:e>
                              <m:r>
                                <a:rPr lang="en-US" altLang="ja-JP" i="1">
                                  <a:latin typeface="Cambria Math" panose="02040503050406030204" pitchFamily="18" charset="0"/>
                                </a:rPr>
                                <m:t>𝑔</m:t>
                              </m:r>
                            </m:e>
                            <m:sub>
                              <m:r>
                                <a:rPr lang="en-US" altLang="ja-JP" i="1">
                                  <a:latin typeface="Cambria Math" panose="02040503050406030204" pitchFamily="18" charset="0"/>
                                </a:rPr>
                                <m:t>𝑘</m:t>
                              </m:r>
                            </m:sub>
                          </m:sSub>
                          <m:r>
                            <a:rPr lang="en-US" altLang="ja-JP" i="1">
                              <a:latin typeface="Cambria Math" panose="02040503050406030204" pitchFamily="18" charset="0"/>
                            </a:rPr>
                            <m:t>#</m:t>
                          </m:r>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5</m:t>
                              </m:r>
                            </m:e>
                          </m:d>
                        </m:e>
                      </m:eqArr>
                    </m:oMath>
                  </m:oMathPara>
                </a14:m>
                <a:endParaRPr lang="en-US" altLang="ja-JP" b="0" dirty="0"/>
              </a:p>
              <a:p>
                <a:pPr marL="0" indent="0">
                  <a:buNone/>
                </a:pPr>
                <a:endParaRPr kumimoji="1" lang="en-US" altLang="ja-JP" b="0" dirty="0">
                  <a:latin typeface="游ゴシック Light" panose="020B0300000000000000" pitchFamily="50" charset="-128"/>
                  <a:ea typeface="游ゴシック Light" panose="020B0300000000000000" pitchFamily="50" charset="-128"/>
                </a:endParaRPr>
              </a:p>
              <a:p>
                <a:pPr marL="0" indent="0">
                  <a:buNone/>
                </a:pPr>
                <a:r>
                  <a:rPr kumimoji="1" lang="ja-JP" altLang="en-US" b="0" dirty="0"/>
                  <a:t>ヘッセ行列を求めるのに</a:t>
                </a:r>
                <a14:m>
                  <m:oMath xmlns:m="http://schemas.openxmlformats.org/officeDocument/2006/math">
                    <m:r>
                      <a:rPr kumimoji="1" lang="en-US" altLang="ja-JP" b="0" i="1" smtClean="0">
                        <a:latin typeface="Cambria Math" panose="02040503050406030204" pitchFamily="18" charset="0"/>
                      </a:rPr>
                      <m:t>𝑂</m:t>
                    </m:r>
                    <m:d>
                      <m:dPr>
                        <m:ctrlPr>
                          <a:rPr kumimoji="1" lang="en-US" altLang="ja-JP" b="0" i="1" smtClean="0">
                            <a:latin typeface="Cambria Math" panose="02040503050406030204" pitchFamily="18" charset="0"/>
                          </a:rPr>
                        </m:ctrlPr>
                      </m:dPr>
                      <m:e>
                        <m:sSup>
                          <m:sSupPr>
                            <m:ctrlPr>
                              <a:rPr kumimoji="1" lang="en-US" altLang="ja-JP" b="0" i="1" smtClean="0">
                                <a:latin typeface="Cambria Math" panose="02040503050406030204" pitchFamily="18" charset="0"/>
                              </a:rPr>
                            </m:ctrlPr>
                          </m:sSupPr>
                          <m:e>
                            <m:r>
                              <a:rPr kumimoji="1" lang="en-US" altLang="ja-JP" b="0" i="1" smtClean="0">
                                <a:latin typeface="Cambria Math" panose="02040503050406030204" pitchFamily="18" charset="0"/>
                              </a:rPr>
                              <m:t>𝑛</m:t>
                            </m:r>
                          </m:e>
                          <m:sup>
                            <m:r>
                              <a:rPr kumimoji="1" lang="en-US" altLang="ja-JP" b="0" i="1" smtClean="0">
                                <a:latin typeface="Cambria Math" panose="02040503050406030204" pitchFamily="18" charset="0"/>
                              </a:rPr>
                              <m:t>2</m:t>
                            </m:r>
                          </m:sup>
                        </m:sSup>
                      </m:e>
                    </m:d>
                  </m:oMath>
                </a14:m>
                <a:r>
                  <a:rPr kumimoji="1" lang="ja-JP" altLang="en-US" dirty="0"/>
                  <a:t>か</a:t>
                </a:r>
                <a14:m>
                  <m:oMath xmlns:m="http://schemas.openxmlformats.org/officeDocument/2006/math">
                    <m:r>
                      <a:rPr lang="en-US" altLang="ja-JP" i="1">
                        <a:latin typeface="Cambria Math" panose="02040503050406030204" pitchFamily="18" charset="0"/>
                      </a:rPr>
                      <m:t>𝑂</m:t>
                    </m:r>
                    <m:d>
                      <m:dPr>
                        <m:ctrlPr>
                          <a:rPr lang="en-US" altLang="ja-JP" i="1">
                            <a:latin typeface="Cambria Math" panose="02040503050406030204" pitchFamily="18" charset="0"/>
                          </a:rPr>
                        </m:ctrlPr>
                      </m:dPr>
                      <m:e>
                        <m:sSup>
                          <m:sSupPr>
                            <m:ctrlPr>
                              <a:rPr lang="en-US" altLang="ja-JP" i="1">
                                <a:latin typeface="Cambria Math" panose="02040503050406030204" pitchFamily="18" charset="0"/>
                              </a:rPr>
                            </m:ctrlPr>
                          </m:sSupPr>
                          <m:e>
                            <m:r>
                              <a:rPr lang="en-US" altLang="ja-JP" i="1">
                                <a:latin typeface="Cambria Math" panose="02040503050406030204" pitchFamily="18" charset="0"/>
                              </a:rPr>
                              <m:t>𝑛</m:t>
                            </m:r>
                          </m:e>
                          <m:sup>
                            <m:r>
                              <a:rPr lang="en-US" altLang="ja-JP" i="1">
                                <a:latin typeface="Cambria Math" panose="02040503050406030204" pitchFamily="18" charset="0"/>
                              </a:rPr>
                              <m:t>2</m:t>
                            </m:r>
                          </m:sup>
                        </m:sSup>
                        <m:r>
                          <a:rPr lang="en-US" altLang="ja-JP" b="0" i="1" smtClean="0">
                            <a:latin typeface="Cambria Math" panose="02040503050406030204" pitchFamily="18" charset="0"/>
                          </a:rPr>
                          <m:t>/2</m:t>
                        </m:r>
                      </m:e>
                    </m:d>
                    <m:r>
                      <a:rPr lang="ja-JP" altLang="en-US" i="1" smtClean="0">
                        <a:latin typeface="Cambria Math" panose="02040503050406030204" pitchFamily="18" charset="0"/>
                      </a:rPr>
                      <m:t>、</m:t>
                    </m:r>
                  </m:oMath>
                </a14:m>
                <a:endParaRPr kumimoji="1" lang="en-US" altLang="ja-JP" dirty="0"/>
              </a:p>
              <a:p>
                <a:pPr marL="0" indent="0">
                  <a:buNone/>
                </a:pPr>
                <a:r>
                  <a:rPr lang="ja-JP" altLang="en-US" dirty="0"/>
                  <a:t>行列を逆行列にするのに</a:t>
                </a:r>
                <a14:m>
                  <m:oMath xmlns:m="http://schemas.openxmlformats.org/officeDocument/2006/math">
                    <m:r>
                      <a:rPr kumimoji="1" lang="en-US" altLang="ja-JP" b="0" i="1" smtClean="0">
                        <a:latin typeface="Cambria Math" panose="02040503050406030204" pitchFamily="18" charset="0"/>
                      </a:rPr>
                      <m:t>𝑂</m:t>
                    </m:r>
                    <m:d>
                      <m:dPr>
                        <m:ctrlPr>
                          <a:rPr kumimoji="1" lang="en-US" altLang="ja-JP" b="0" i="1" smtClean="0">
                            <a:latin typeface="Cambria Math" panose="02040503050406030204" pitchFamily="18" charset="0"/>
                          </a:rPr>
                        </m:ctrlPr>
                      </m:dPr>
                      <m:e>
                        <m:sSup>
                          <m:sSupPr>
                            <m:ctrlPr>
                              <a:rPr kumimoji="1" lang="en-US" altLang="ja-JP" b="0" i="1" smtClean="0">
                                <a:latin typeface="Cambria Math" panose="02040503050406030204" pitchFamily="18" charset="0"/>
                              </a:rPr>
                            </m:ctrlPr>
                          </m:sSupPr>
                          <m:e>
                            <m:r>
                              <a:rPr kumimoji="1" lang="en-US" altLang="ja-JP" b="0" i="1" smtClean="0">
                                <a:latin typeface="Cambria Math" panose="02040503050406030204" pitchFamily="18" charset="0"/>
                              </a:rPr>
                              <m:t>𝑛</m:t>
                            </m:r>
                          </m:e>
                          <m:sup>
                            <m:r>
                              <a:rPr lang="en-US" altLang="ja-JP" i="1">
                                <a:latin typeface="Cambria Math" panose="02040503050406030204" pitchFamily="18" charset="0"/>
                              </a:rPr>
                              <m:t>3</m:t>
                            </m:r>
                          </m:sup>
                        </m:sSup>
                      </m:e>
                    </m:d>
                  </m:oMath>
                </a14:m>
                <a:r>
                  <a:rPr kumimoji="1" lang="ja-JP" altLang="en-US" dirty="0"/>
                  <a:t>だけ計算量がかかる</a:t>
                </a:r>
              </a:p>
            </p:txBody>
          </p:sp>
        </mc:Choice>
        <mc:Fallback xmlns="">
          <p:sp>
            <p:nvSpPr>
              <p:cNvPr id="3" name="コンテンツ プレースホルダー 2">
                <a:extLst>
                  <a:ext uri="{FF2B5EF4-FFF2-40B4-BE49-F238E27FC236}">
                    <a16:creationId xmlns:a16="http://schemas.microsoft.com/office/drawing/2014/main" id="{320ACA7A-6F7B-44A4-94CC-84F664409AC7}"/>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 name="四角形: 角を丸くする 4">
                <a:extLst>
                  <a:ext uri="{FF2B5EF4-FFF2-40B4-BE49-F238E27FC236}">
                    <a16:creationId xmlns:a16="http://schemas.microsoft.com/office/drawing/2014/main" id="{22C70C1F-B816-4B9E-A479-3290F04043F1}"/>
                  </a:ext>
                </a:extLst>
              </p:cNvPr>
              <p:cNvSpPr/>
              <p:nvPr/>
            </p:nvSpPr>
            <p:spPr>
              <a:xfrm>
                <a:off x="706755" y="1554956"/>
                <a:ext cx="10778490" cy="4892675"/>
              </a:xfrm>
              <a:prstGeom prst="roundRect">
                <a:avLst>
                  <a:gd name="adj" fmla="val 9191"/>
                </a:avLst>
              </a:prstGeom>
              <a:solidFill>
                <a:srgbClr val="E4E4E4"/>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ja-JP" altLang="en-US" sz="32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ヘッセ行列</a:t>
                </a:r>
                <a:endParaRPr lang="en-US" altLang="ja-JP" sz="32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endParaRPr kumimoji="1" lang="en-US" altLang="ja-JP" sz="32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pPr/>
                <a14:m>
                  <m:oMathPara xmlns:m="http://schemas.openxmlformats.org/officeDocument/2006/math">
                    <m:oMathParaPr>
                      <m:jc m:val="centerGroup"/>
                    </m:oMathParaPr>
                    <m:oMath xmlns:m="http://schemas.openxmlformats.org/officeDocument/2006/math">
                      <m:sSup>
                        <m:sSupPr>
                          <m:ctrlPr>
                            <a:rPr kumimoji="1" lang="en-US" altLang="ja-JP" sz="3200" i="1" smtClean="0">
                              <a:solidFill>
                                <a:schemeClr val="tx1">
                                  <a:lumMod val="75000"/>
                                  <a:lumOff val="25000"/>
                                </a:schemeClr>
                              </a:solidFill>
                              <a:latin typeface="Cambria Math" panose="02040503050406030204" pitchFamily="18" charset="0"/>
                              <a:ea typeface="UD デジタル 教科書体 NK-R" panose="02020400000000000000" pitchFamily="18" charset="-128"/>
                            </a:rPr>
                          </m:ctrlPr>
                        </m:sSupPr>
                        <m:e>
                          <m:r>
                            <m:rPr>
                              <m:sty m:val="p"/>
                            </m:rPr>
                            <a:rPr lang="ja-JP" altLang="en-US" sz="3200" i="1">
                              <a:solidFill>
                                <a:schemeClr val="tx1">
                                  <a:lumMod val="75000"/>
                                  <a:lumOff val="25000"/>
                                </a:schemeClr>
                              </a:solidFill>
                              <a:latin typeface="Cambria Math" panose="02040503050406030204" pitchFamily="18" charset="0"/>
                              <a:ea typeface="UD デジタル 教科書体 NK-R" panose="02020400000000000000" pitchFamily="18" charset="-128"/>
                            </a:rPr>
                            <m:t>∇</m:t>
                          </m:r>
                        </m:e>
                        <m:sup>
                          <m:r>
                            <a:rPr kumimoji="1" lang="en-US" altLang="ja-JP" sz="3200" b="0" i="1" smtClean="0">
                              <a:solidFill>
                                <a:schemeClr val="tx1">
                                  <a:lumMod val="75000"/>
                                  <a:lumOff val="25000"/>
                                </a:schemeClr>
                              </a:solidFill>
                              <a:latin typeface="Cambria Math" panose="02040503050406030204" pitchFamily="18" charset="0"/>
                              <a:ea typeface="UD デジタル 教科書体 NK-R" panose="02020400000000000000" pitchFamily="18" charset="-128"/>
                            </a:rPr>
                            <m:t>2</m:t>
                          </m:r>
                        </m:sup>
                      </m:sSup>
                      <m:r>
                        <a:rPr kumimoji="1" lang="en-US" altLang="ja-JP" sz="3200" b="0" i="1" smtClean="0">
                          <a:solidFill>
                            <a:schemeClr val="tx1">
                              <a:lumMod val="75000"/>
                              <a:lumOff val="25000"/>
                            </a:schemeClr>
                          </a:solidFill>
                          <a:latin typeface="Cambria Math" panose="02040503050406030204" pitchFamily="18" charset="0"/>
                          <a:ea typeface="UD デジタル 教科書体 NK-R" panose="02020400000000000000" pitchFamily="18" charset="-128"/>
                        </a:rPr>
                        <m:t>𝐸</m:t>
                      </m:r>
                      <m:d>
                        <m:dPr>
                          <m:ctrlPr>
                            <a:rPr kumimoji="1" lang="en-US" altLang="ja-JP" sz="3200" b="0" i="1" smtClean="0">
                              <a:solidFill>
                                <a:schemeClr val="tx1">
                                  <a:lumMod val="75000"/>
                                  <a:lumOff val="25000"/>
                                </a:schemeClr>
                              </a:solidFill>
                              <a:latin typeface="Cambria Math" panose="02040503050406030204" pitchFamily="18" charset="0"/>
                              <a:ea typeface="UD デジタル 教科書体 NK-R" panose="02020400000000000000" pitchFamily="18" charset="-128"/>
                            </a:rPr>
                          </m:ctrlPr>
                        </m:dPr>
                        <m:e>
                          <m:sSub>
                            <m:sSubPr>
                              <m:ctrlPr>
                                <a:rPr kumimoji="1" lang="en-US" altLang="ja-JP" sz="3200" b="0" i="1" smtClean="0">
                                  <a:solidFill>
                                    <a:schemeClr val="tx1">
                                      <a:lumMod val="75000"/>
                                      <a:lumOff val="25000"/>
                                    </a:schemeClr>
                                  </a:solidFill>
                                  <a:latin typeface="Cambria Math" panose="02040503050406030204" pitchFamily="18" charset="0"/>
                                  <a:ea typeface="UD デジタル 教科書体 NK-R" panose="02020400000000000000" pitchFamily="18" charset="-128"/>
                                </a:rPr>
                              </m:ctrlPr>
                            </m:sSubPr>
                            <m:e>
                              <m:r>
                                <a:rPr kumimoji="1" lang="en-US" altLang="ja-JP" sz="3200" b="0" i="1" smtClean="0">
                                  <a:solidFill>
                                    <a:schemeClr val="tx1">
                                      <a:lumMod val="75000"/>
                                      <a:lumOff val="25000"/>
                                    </a:schemeClr>
                                  </a:solidFill>
                                  <a:latin typeface="Cambria Math" panose="02040503050406030204" pitchFamily="18" charset="0"/>
                                  <a:ea typeface="UD デジタル 教科書体 NK-R" panose="02020400000000000000" pitchFamily="18" charset="-128"/>
                                </a:rPr>
                                <m:t>𝑤</m:t>
                              </m:r>
                            </m:e>
                            <m:sub>
                              <m:r>
                                <a:rPr kumimoji="1" lang="en-US" altLang="ja-JP" sz="3200" b="0" i="1" smtClean="0">
                                  <a:solidFill>
                                    <a:schemeClr val="tx1">
                                      <a:lumMod val="75000"/>
                                      <a:lumOff val="25000"/>
                                    </a:schemeClr>
                                  </a:solidFill>
                                  <a:latin typeface="Cambria Math" panose="02040503050406030204" pitchFamily="18" charset="0"/>
                                  <a:ea typeface="UD デジタル 教科書体 NK-R" panose="02020400000000000000" pitchFamily="18" charset="-128"/>
                                </a:rPr>
                                <m:t>𝑘</m:t>
                              </m:r>
                            </m:sub>
                          </m:sSub>
                        </m:e>
                      </m:d>
                      <m:r>
                        <a:rPr kumimoji="1" lang="en-US" altLang="ja-JP" sz="3200" b="0" i="1" smtClean="0">
                          <a:solidFill>
                            <a:schemeClr val="tx1">
                              <a:lumMod val="75000"/>
                              <a:lumOff val="25000"/>
                            </a:schemeClr>
                          </a:solidFill>
                          <a:latin typeface="Cambria Math" panose="02040503050406030204" pitchFamily="18" charset="0"/>
                          <a:ea typeface="UD デジタル 教科書体 NK-R" panose="02020400000000000000" pitchFamily="18" charset="-128"/>
                        </a:rPr>
                        <m:t>= </m:t>
                      </m:r>
                      <m:d>
                        <m:dPr>
                          <m:begChr m:val="["/>
                          <m:endChr m:val="]"/>
                          <m:ctrlPr>
                            <a:rPr kumimoji="1" lang="en-US" altLang="ja-JP" sz="3200" b="0" i="1" smtClean="0">
                              <a:solidFill>
                                <a:schemeClr val="tx1">
                                  <a:lumMod val="75000"/>
                                  <a:lumOff val="25000"/>
                                </a:schemeClr>
                              </a:solidFill>
                              <a:latin typeface="Cambria Math" panose="02040503050406030204" pitchFamily="18" charset="0"/>
                              <a:ea typeface="UD デジタル 教科書体 NK-R" panose="02020400000000000000" pitchFamily="18" charset="-128"/>
                            </a:rPr>
                          </m:ctrlPr>
                        </m:dPr>
                        <m:e>
                          <m:m>
                            <m:mPr>
                              <m:mcs>
                                <m:mc>
                                  <m:mcPr>
                                    <m:count m:val="4"/>
                                    <m:mcJc m:val="center"/>
                                  </m:mcPr>
                                </m:mc>
                              </m:mcs>
                              <m:ctrlPr>
                                <a:rPr kumimoji="1" lang="en-US" altLang="ja-JP" sz="3200" b="0" i="1" smtClean="0">
                                  <a:solidFill>
                                    <a:schemeClr val="tx1">
                                      <a:lumMod val="75000"/>
                                      <a:lumOff val="25000"/>
                                    </a:schemeClr>
                                  </a:solidFill>
                                  <a:latin typeface="Cambria Math" panose="02040503050406030204" pitchFamily="18" charset="0"/>
                                  <a:ea typeface="UD デジタル 教科書体 NK-R" panose="02020400000000000000" pitchFamily="18" charset="-128"/>
                                </a:rPr>
                              </m:ctrlPr>
                            </m:mPr>
                            <m:mr>
                              <m:e>
                                <m:f>
                                  <m:fPr>
                                    <m:ctrlPr>
                                      <a:rPr kumimoji="1" lang="en-US" altLang="ja-JP" sz="3200" b="0" i="1" smtClean="0">
                                        <a:solidFill>
                                          <a:schemeClr val="tx1">
                                            <a:lumMod val="75000"/>
                                            <a:lumOff val="25000"/>
                                          </a:schemeClr>
                                        </a:solidFill>
                                        <a:latin typeface="Cambria Math" panose="02040503050406030204" pitchFamily="18" charset="0"/>
                                        <a:ea typeface="UD デジタル 教科書体 NK-R" panose="02020400000000000000" pitchFamily="18" charset="-128"/>
                                      </a:rPr>
                                    </m:ctrlPr>
                                  </m:fPr>
                                  <m:num>
                                    <m:sSup>
                                      <m:sSupPr>
                                        <m:ctrlPr>
                                          <a:rPr kumimoji="1" lang="en-US" altLang="ja-JP" sz="3200" b="0" i="1" smtClean="0">
                                            <a:solidFill>
                                              <a:schemeClr val="tx1">
                                                <a:lumMod val="75000"/>
                                                <a:lumOff val="25000"/>
                                              </a:schemeClr>
                                            </a:solidFill>
                                            <a:latin typeface="Cambria Math" panose="02040503050406030204" pitchFamily="18" charset="0"/>
                                            <a:ea typeface="UD デジタル 教科書体 NK-R" panose="02020400000000000000" pitchFamily="18" charset="-128"/>
                                          </a:rPr>
                                        </m:ctrlPr>
                                      </m:sSupPr>
                                      <m:e>
                                        <m:r>
                                          <a:rPr lang="ja-JP" altLang="en-US" sz="3200" i="1">
                                            <a:solidFill>
                                              <a:schemeClr val="tx1">
                                                <a:lumMod val="75000"/>
                                                <a:lumOff val="25000"/>
                                              </a:schemeClr>
                                            </a:solidFill>
                                            <a:latin typeface="Cambria Math" panose="02040503050406030204" pitchFamily="18" charset="0"/>
                                            <a:ea typeface="UD デジタル 教科書体 NK-R" panose="02020400000000000000" pitchFamily="18" charset="-128"/>
                                          </a:rPr>
                                          <m:t>𝜕</m:t>
                                        </m:r>
                                      </m:e>
                                      <m:sup>
                                        <m:r>
                                          <a:rPr kumimoji="1" lang="en-US" altLang="ja-JP" sz="3200" b="0" i="1" smtClean="0">
                                            <a:solidFill>
                                              <a:schemeClr val="tx1">
                                                <a:lumMod val="75000"/>
                                                <a:lumOff val="25000"/>
                                              </a:schemeClr>
                                            </a:solidFill>
                                            <a:latin typeface="Cambria Math" panose="02040503050406030204" pitchFamily="18" charset="0"/>
                                            <a:ea typeface="UD デジタル 教科書体 NK-R" panose="02020400000000000000" pitchFamily="18" charset="-128"/>
                                          </a:rPr>
                                          <m:t>2</m:t>
                                        </m:r>
                                      </m:sup>
                                    </m:sSup>
                                    <m:r>
                                      <a:rPr lang="en-US" altLang="ja-JP" sz="3200" b="0" i="1" smtClean="0">
                                        <a:solidFill>
                                          <a:schemeClr val="tx1">
                                            <a:lumMod val="75000"/>
                                            <a:lumOff val="25000"/>
                                          </a:schemeClr>
                                        </a:solidFill>
                                        <a:latin typeface="Cambria Math" panose="02040503050406030204" pitchFamily="18" charset="0"/>
                                        <a:ea typeface="UD デジタル 教科書体 NK-R" panose="02020400000000000000" pitchFamily="18" charset="-128"/>
                                      </a:rPr>
                                      <m:t>𝐸</m:t>
                                    </m:r>
                                    <m:r>
                                      <a:rPr lang="en-US" altLang="ja-JP" sz="3200" b="0" i="1" smtClean="0">
                                        <a:solidFill>
                                          <a:schemeClr val="tx1">
                                            <a:lumMod val="75000"/>
                                            <a:lumOff val="25000"/>
                                          </a:schemeClr>
                                        </a:solidFill>
                                        <a:latin typeface="Cambria Math" panose="02040503050406030204" pitchFamily="18" charset="0"/>
                                        <a:ea typeface="UD デジタル 教科書体 NK-R" panose="02020400000000000000" pitchFamily="18" charset="-128"/>
                                      </a:rPr>
                                      <m:t>(</m:t>
                                    </m:r>
                                    <m:sSub>
                                      <m:sSubPr>
                                        <m:ctrlPr>
                                          <a:rPr lang="en-US" altLang="ja-JP" sz="3200" b="0" i="1" smtClean="0">
                                            <a:solidFill>
                                              <a:schemeClr val="tx1">
                                                <a:lumMod val="75000"/>
                                                <a:lumOff val="25000"/>
                                              </a:schemeClr>
                                            </a:solidFill>
                                            <a:latin typeface="Cambria Math" panose="02040503050406030204" pitchFamily="18" charset="0"/>
                                            <a:ea typeface="UD デジタル 教科書体 NK-R" panose="02020400000000000000" pitchFamily="18" charset="-128"/>
                                          </a:rPr>
                                        </m:ctrlPr>
                                      </m:sSubPr>
                                      <m:e>
                                        <m:r>
                                          <a:rPr lang="en-US" altLang="ja-JP" sz="3200" b="0" i="1" smtClean="0">
                                            <a:solidFill>
                                              <a:schemeClr val="tx1">
                                                <a:lumMod val="75000"/>
                                                <a:lumOff val="25000"/>
                                              </a:schemeClr>
                                            </a:solidFill>
                                            <a:latin typeface="Cambria Math" panose="02040503050406030204" pitchFamily="18" charset="0"/>
                                            <a:ea typeface="UD デジタル 教科書体 NK-R" panose="02020400000000000000" pitchFamily="18" charset="-128"/>
                                          </a:rPr>
                                          <m:t>𝑤</m:t>
                                        </m:r>
                                      </m:e>
                                      <m:sub>
                                        <m:r>
                                          <a:rPr lang="en-US" altLang="ja-JP" sz="3200" b="0" i="1" smtClean="0">
                                            <a:solidFill>
                                              <a:schemeClr val="tx1">
                                                <a:lumMod val="75000"/>
                                                <a:lumOff val="25000"/>
                                              </a:schemeClr>
                                            </a:solidFill>
                                            <a:latin typeface="Cambria Math" panose="02040503050406030204" pitchFamily="18" charset="0"/>
                                            <a:ea typeface="UD デジタル 教科書体 NK-R" panose="02020400000000000000" pitchFamily="18" charset="-128"/>
                                          </a:rPr>
                                          <m:t>𝑘</m:t>
                                        </m:r>
                                        <m:r>
                                          <a:rPr lang="en-US" altLang="ja-JP" sz="3200" b="0" i="1" smtClean="0">
                                            <a:solidFill>
                                              <a:schemeClr val="tx1">
                                                <a:lumMod val="75000"/>
                                                <a:lumOff val="25000"/>
                                              </a:schemeClr>
                                            </a:solidFill>
                                            <a:latin typeface="Cambria Math" panose="02040503050406030204" pitchFamily="18" charset="0"/>
                                            <a:ea typeface="UD デジタル 教科書体 NK-R" panose="02020400000000000000" pitchFamily="18" charset="-128"/>
                                          </a:rPr>
                                          <m:t>)</m:t>
                                        </m:r>
                                      </m:sub>
                                    </m:sSub>
                                  </m:num>
                                  <m:den>
                                    <m:r>
                                      <a:rPr lang="ja-JP" altLang="en-US" sz="3200" i="1">
                                        <a:solidFill>
                                          <a:schemeClr val="tx1">
                                            <a:lumMod val="75000"/>
                                            <a:lumOff val="25000"/>
                                          </a:schemeClr>
                                        </a:solidFill>
                                        <a:latin typeface="Cambria Math" panose="02040503050406030204" pitchFamily="18" charset="0"/>
                                        <a:ea typeface="UD デジタル 教科書体 NK-R" panose="02020400000000000000" pitchFamily="18" charset="-128"/>
                                      </a:rPr>
                                      <m:t>𝜕</m:t>
                                    </m:r>
                                    <m:sSubSup>
                                      <m:sSubSupPr>
                                        <m:ctrlPr>
                                          <a:rPr lang="en-US" altLang="ja-JP" sz="3200" i="1" smtClean="0">
                                            <a:solidFill>
                                              <a:schemeClr val="tx1">
                                                <a:lumMod val="75000"/>
                                                <a:lumOff val="25000"/>
                                              </a:schemeClr>
                                            </a:solidFill>
                                            <a:latin typeface="Cambria Math" panose="02040503050406030204" pitchFamily="18" charset="0"/>
                                            <a:ea typeface="UD デジタル 教科書体 NK-R" panose="02020400000000000000" pitchFamily="18" charset="-128"/>
                                          </a:rPr>
                                        </m:ctrlPr>
                                      </m:sSubSupPr>
                                      <m:e>
                                        <m:r>
                                          <a:rPr lang="en-US" altLang="ja-JP" sz="3200" b="0" i="1" smtClean="0">
                                            <a:solidFill>
                                              <a:schemeClr val="tx1">
                                                <a:lumMod val="75000"/>
                                                <a:lumOff val="25000"/>
                                              </a:schemeClr>
                                            </a:solidFill>
                                            <a:latin typeface="Cambria Math" panose="02040503050406030204" pitchFamily="18" charset="0"/>
                                            <a:ea typeface="UD デジタル 教科書体 NK-R" panose="02020400000000000000" pitchFamily="18" charset="-128"/>
                                          </a:rPr>
                                          <m:t>𝑥</m:t>
                                        </m:r>
                                      </m:e>
                                      <m:sub>
                                        <m:r>
                                          <a:rPr lang="en-US" altLang="ja-JP" sz="3200" b="0" i="1" smtClean="0">
                                            <a:solidFill>
                                              <a:schemeClr val="tx1">
                                                <a:lumMod val="75000"/>
                                                <a:lumOff val="25000"/>
                                              </a:schemeClr>
                                            </a:solidFill>
                                            <a:latin typeface="Cambria Math" panose="02040503050406030204" pitchFamily="18" charset="0"/>
                                            <a:ea typeface="UD デジタル 教科書体 NK-R" panose="02020400000000000000" pitchFamily="18" charset="-128"/>
                                          </a:rPr>
                                          <m:t>1</m:t>
                                        </m:r>
                                      </m:sub>
                                      <m:sup>
                                        <m:r>
                                          <a:rPr lang="en-US" altLang="ja-JP" sz="3200" b="0" i="1" smtClean="0">
                                            <a:solidFill>
                                              <a:schemeClr val="tx1">
                                                <a:lumMod val="75000"/>
                                                <a:lumOff val="25000"/>
                                              </a:schemeClr>
                                            </a:solidFill>
                                            <a:latin typeface="Cambria Math" panose="02040503050406030204" pitchFamily="18" charset="0"/>
                                            <a:ea typeface="UD デジタル 教科書体 NK-R" panose="02020400000000000000" pitchFamily="18" charset="-128"/>
                                          </a:rPr>
                                          <m:t>2</m:t>
                                        </m:r>
                                      </m:sup>
                                    </m:sSubSup>
                                  </m:den>
                                </m:f>
                              </m:e>
                              <m:e>
                                <m:f>
                                  <m:fPr>
                                    <m:ctrlP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ctrlPr>
                                  </m:fPr>
                                  <m:num>
                                    <m:sSup>
                                      <m:sSupPr>
                                        <m:ctrlP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ctrlPr>
                                      </m:sSupPr>
                                      <m:e>
                                        <m:r>
                                          <a:rPr lang="ja-JP" altLang="en-US" sz="3200" i="1">
                                            <a:solidFill>
                                              <a:schemeClr val="tx1">
                                                <a:lumMod val="75000"/>
                                                <a:lumOff val="25000"/>
                                              </a:schemeClr>
                                            </a:solidFill>
                                            <a:latin typeface="Cambria Math" panose="02040503050406030204" pitchFamily="18" charset="0"/>
                                            <a:ea typeface="UD デジタル 教科書体 NK-R" panose="02020400000000000000" pitchFamily="18" charset="-128"/>
                                          </a:rPr>
                                          <m:t>𝜕</m:t>
                                        </m:r>
                                      </m:e>
                                      <m:sup>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2</m:t>
                                        </m:r>
                                      </m:sup>
                                    </m:sSup>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𝐸</m:t>
                                    </m:r>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m:t>
                                    </m:r>
                                    <m:sSub>
                                      <m:sSubPr>
                                        <m:ctrlP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ctrlPr>
                                      </m:sSubPr>
                                      <m:e>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𝑤</m:t>
                                        </m:r>
                                      </m:e>
                                      <m:sub>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𝑘</m:t>
                                        </m:r>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m:t>
                                        </m:r>
                                      </m:sub>
                                    </m:sSub>
                                  </m:num>
                                  <m:den>
                                    <m:r>
                                      <a:rPr lang="ja-JP" altLang="en-US" sz="3200" i="1">
                                        <a:solidFill>
                                          <a:schemeClr val="tx1">
                                            <a:lumMod val="75000"/>
                                            <a:lumOff val="25000"/>
                                          </a:schemeClr>
                                        </a:solidFill>
                                        <a:latin typeface="Cambria Math" panose="02040503050406030204" pitchFamily="18" charset="0"/>
                                        <a:ea typeface="UD デジタル 教科書体 NK-R" panose="02020400000000000000" pitchFamily="18" charset="-128"/>
                                      </a:rPr>
                                      <m:t>𝜕</m:t>
                                    </m:r>
                                    <m:sSub>
                                      <m:sSubPr>
                                        <m:ctrlPr>
                                          <a:rPr lang="en-US" altLang="ja-JP" sz="3200" i="1" smtClean="0">
                                            <a:solidFill>
                                              <a:schemeClr val="tx1">
                                                <a:lumMod val="75000"/>
                                                <a:lumOff val="25000"/>
                                              </a:schemeClr>
                                            </a:solidFill>
                                            <a:latin typeface="Cambria Math" panose="02040503050406030204" pitchFamily="18" charset="0"/>
                                            <a:ea typeface="UD デジタル 教科書体 NK-R" panose="02020400000000000000" pitchFamily="18" charset="-128"/>
                                          </a:rPr>
                                        </m:ctrlPr>
                                      </m:sSubPr>
                                      <m:e>
                                        <m:r>
                                          <a:rPr lang="en-US" altLang="ja-JP" sz="3200" b="0" i="1" smtClean="0">
                                            <a:solidFill>
                                              <a:schemeClr val="tx1">
                                                <a:lumMod val="75000"/>
                                                <a:lumOff val="25000"/>
                                              </a:schemeClr>
                                            </a:solidFill>
                                            <a:latin typeface="Cambria Math" panose="02040503050406030204" pitchFamily="18" charset="0"/>
                                            <a:ea typeface="UD デジタル 教科書体 NK-R" panose="02020400000000000000" pitchFamily="18" charset="-128"/>
                                          </a:rPr>
                                          <m:t>𝑥</m:t>
                                        </m:r>
                                      </m:e>
                                      <m:sub>
                                        <m:r>
                                          <a:rPr lang="en-US" altLang="ja-JP" sz="3200" b="0" i="1" smtClean="0">
                                            <a:solidFill>
                                              <a:schemeClr val="tx1">
                                                <a:lumMod val="75000"/>
                                                <a:lumOff val="25000"/>
                                              </a:schemeClr>
                                            </a:solidFill>
                                            <a:latin typeface="Cambria Math" panose="02040503050406030204" pitchFamily="18" charset="0"/>
                                            <a:ea typeface="UD デジタル 教科書体 NK-R" panose="02020400000000000000" pitchFamily="18" charset="-128"/>
                                          </a:rPr>
                                          <m:t>1</m:t>
                                        </m:r>
                                      </m:sub>
                                    </m:sSub>
                                    <m:r>
                                      <a:rPr lang="ja-JP" altLang="en-US" sz="3200" i="1">
                                        <a:solidFill>
                                          <a:schemeClr val="tx1">
                                            <a:lumMod val="75000"/>
                                            <a:lumOff val="25000"/>
                                          </a:schemeClr>
                                        </a:solidFill>
                                        <a:latin typeface="Cambria Math" panose="02040503050406030204" pitchFamily="18" charset="0"/>
                                        <a:ea typeface="UD デジタル 教科書体 NK-R" panose="02020400000000000000" pitchFamily="18" charset="-128"/>
                                      </a:rPr>
                                      <m:t>𝜕</m:t>
                                    </m:r>
                                    <m:sSub>
                                      <m:sSubPr>
                                        <m:ctrlP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ctrlPr>
                                      </m:sSubPr>
                                      <m:e>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𝑥</m:t>
                                        </m:r>
                                      </m:e>
                                      <m:sub>
                                        <m:r>
                                          <a:rPr lang="en-US" altLang="ja-JP" sz="3200" b="0" i="1" smtClean="0">
                                            <a:solidFill>
                                              <a:schemeClr val="tx1">
                                                <a:lumMod val="75000"/>
                                                <a:lumOff val="25000"/>
                                              </a:schemeClr>
                                            </a:solidFill>
                                            <a:latin typeface="Cambria Math" panose="02040503050406030204" pitchFamily="18" charset="0"/>
                                            <a:ea typeface="UD デジタル 教科書体 NK-R" panose="02020400000000000000" pitchFamily="18" charset="-128"/>
                                          </a:rPr>
                                          <m:t>2</m:t>
                                        </m:r>
                                      </m:sub>
                                    </m:sSub>
                                  </m:den>
                                </m:f>
                              </m:e>
                              <m:e>
                                <m:r>
                                  <a:rPr kumimoji="1" lang="en-US" altLang="ja-JP" sz="3200" b="0" i="1" smtClean="0">
                                    <a:solidFill>
                                      <a:schemeClr val="tx1">
                                        <a:lumMod val="75000"/>
                                        <a:lumOff val="25000"/>
                                      </a:schemeClr>
                                    </a:solidFill>
                                    <a:latin typeface="Cambria Math" panose="02040503050406030204" pitchFamily="18" charset="0"/>
                                    <a:ea typeface="UD デジタル 教科書体 NK-R" panose="02020400000000000000" pitchFamily="18" charset="-128"/>
                                  </a:rPr>
                                  <m:t>…</m:t>
                                </m:r>
                              </m:e>
                              <m:e>
                                <m:f>
                                  <m:fPr>
                                    <m:ctrlP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ctrlPr>
                                  </m:fPr>
                                  <m:num>
                                    <m:sSup>
                                      <m:sSupPr>
                                        <m:ctrlP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ctrlPr>
                                      </m:sSupPr>
                                      <m:e>
                                        <m:r>
                                          <a:rPr lang="ja-JP" altLang="en-US" sz="3200" i="1">
                                            <a:solidFill>
                                              <a:schemeClr val="tx1">
                                                <a:lumMod val="75000"/>
                                                <a:lumOff val="25000"/>
                                              </a:schemeClr>
                                            </a:solidFill>
                                            <a:latin typeface="Cambria Math" panose="02040503050406030204" pitchFamily="18" charset="0"/>
                                            <a:ea typeface="UD デジタル 教科書体 NK-R" panose="02020400000000000000" pitchFamily="18" charset="-128"/>
                                          </a:rPr>
                                          <m:t>𝜕</m:t>
                                        </m:r>
                                      </m:e>
                                      <m:sup>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2</m:t>
                                        </m:r>
                                      </m:sup>
                                    </m:sSup>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𝐸</m:t>
                                    </m:r>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m:t>
                                    </m:r>
                                    <m:sSub>
                                      <m:sSubPr>
                                        <m:ctrlP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ctrlPr>
                                      </m:sSubPr>
                                      <m:e>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𝑤</m:t>
                                        </m:r>
                                      </m:e>
                                      <m:sub>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𝑘</m:t>
                                        </m:r>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m:t>
                                        </m:r>
                                      </m:sub>
                                    </m:sSub>
                                  </m:num>
                                  <m:den>
                                    <m:r>
                                      <a:rPr lang="ja-JP" altLang="en-US" sz="3200" i="1">
                                        <a:solidFill>
                                          <a:schemeClr val="tx1">
                                            <a:lumMod val="75000"/>
                                            <a:lumOff val="25000"/>
                                          </a:schemeClr>
                                        </a:solidFill>
                                        <a:latin typeface="Cambria Math" panose="02040503050406030204" pitchFamily="18" charset="0"/>
                                        <a:ea typeface="UD デジタル 教科書体 NK-R" panose="02020400000000000000" pitchFamily="18" charset="-128"/>
                                      </a:rPr>
                                      <m:t>𝜕</m:t>
                                    </m:r>
                                    <m:sSub>
                                      <m:sSubPr>
                                        <m:ctrlP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ctrlPr>
                                      </m:sSubPr>
                                      <m:e>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𝑥</m:t>
                                        </m:r>
                                      </m:e>
                                      <m:sub>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1</m:t>
                                        </m:r>
                                      </m:sub>
                                    </m:sSub>
                                    <m:r>
                                      <a:rPr lang="ja-JP" altLang="en-US" sz="3200" i="1">
                                        <a:solidFill>
                                          <a:schemeClr val="tx1">
                                            <a:lumMod val="75000"/>
                                            <a:lumOff val="25000"/>
                                          </a:schemeClr>
                                        </a:solidFill>
                                        <a:latin typeface="Cambria Math" panose="02040503050406030204" pitchFamily="18" charset="0"/>
                                        <a:ea typeface="UD デジタル 教科書体 NK-R" panose="02020400000000000000" pitchFamily="18" charset="-128"/>
                                      </a:rPr>
                                      <m:t>𝜕</m:t>
                                    </m:r>
                                    <m:sSub>
                                      <m:sSubPr>
                                        <m:ctrlP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ctrlPr>
                                      </m:sSubPr>
                                      <m:e>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𝑥</m:t>
                                        </m:r>
                                      </m:e>
                                      <m:sub>
                                        <m:r>
                                          <a:rPr lang="en-US" altLang="ja-JP" sz="3200" b="0" i="1" smtClean="0">
                                            <a:solidFill>
                                              <a:schemeClr val="tx1">
                                                <a:lumMod val="75000"/>
                                                <a:lumOff val="25000"/>
                                              </a:schemeClr>
                                            </a:solidFill>
                                            <a:latin typeface="Cambria Math" panose="02040503050406030204" pitchFamily="18" charset="0"/>
                                            <a:ea typeface="UD デジタル 教科書体 NK-R" panose="02020400000000000000" pitchFamily="18" charset="-128"/>
                                          </a:rPr>
                                          <m:t>𝑛</m:t>
                                        </m:r>
                                      </m:sub>
                                    </m:sSub>
                                  </m:den>
                                </m:f>
                              </m:e>
                            </m:mr>
                            <m:mr>
                              <m:e>
                                <m:f>
                                  <m:fPr>
                                    <m:ctrlP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ctrlPr>
                                  </m:fPr>
                                  <m:num>
                                    <m:sSup>
                                      <m:sSupPr>
                                        <m:ctrlP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ctrlPr>
                                      </m:sSupPr>
                                      <m:e>
                                        <m:r>
                                          <a:rPr lang="ja-JP" altLang="en-US" sz="3200" i="1">
                                            <a:solidFill>
                                              <a:schemeClr val="tx1">
                                                <a:lumMod val="75000"/>
                                                <a:lumOff val="25000"/>
                                              </a:schemeClr>
                                            </a:solidFill>
                                            <a:latin typeface="Cambria Math" panose="02040503050406030204" pitchFamily="18" charset="0"/>
                                            <a:ea typeface="UD デジタル 教科書体 NK-R" panose="02020400000000000000" pitchFamily="18" charset="-128"/>
                                          </a:rPr>
                                          <m:t>𝜕</m:t>
                                        </m:r>
                                      </m:e>
                                      <m:sup>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2</m:t>
                                        </m:r>
                                      </m:sup>
                                    </m:sSup>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𝐸</m:t>
                                    </m:r>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m:t>
                                    </m:r>
                                    <m:sSub>
                                      <m:sSubPr>
                                        <m:ctrlP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ctrlPr>
                                      </m:sSubPr>
                                      <m:e>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𝑤</m:t>
                                        </m:r>
                                      </m:e>
                                      <m:sub>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𝑘</m:t>
                                        </m:r>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m:t>
                                        </m:r>
                                      </m:sub>
                                    </m:sSub>
                                  </m:num>
                                  <m:den>
                                    <m:r>
                                      <a:rPr lang="ja-JP" altLang="en-US" sz="3200" i="1">
                                        <a:solidFill>
                                          <a:schemeClr val="tx1">
                                            <a:lumMod val="75000"/>
                                            <a:lumOff val="25000"/>
                                          </a:schemeClr>
                                        </a:solidFill>
                                        <a:latin typeface="Cambria Math" panose="02040503050406030204" pitchFamily="18" charset="0"/>
                                        <a:ea typeface="UD デジタル 教科書体 NK-R" panose="02020400000000000000" pitchFamily="18" charset="-128"/>
                                      </a:rPr>
                                      <m:t>𝜕</m:t>
                                    </m:r>
                                    <m:sSub>
                                      <m:sSubPr>
                                        <m:ctrlP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ctrlPr>
                                      </m:sSubPr>
                                      <m:e>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𝑥</m:t>
                                        </m:r>
                                      </m:e>
                                      <m:sub>
                                        <m:r>
                                          <a:rPr lang="en-US" altLang="ja-JP" sz="3200" b="0" i="1" smtClean="0">
                                            <a:solidFill>
                                              <a:schemeClr val="tx1">
                                                <a:lumMod val="75000"/>
                                                <a:lumOff val="25000"/>
                                              </a:schemeClr>
                                            </a:solidFill>
                                            <a:latin typeface="Cambria Math" panose="02040503050406030204" pitchFamily="18" charset="0"/>
                                            <a:ea typeface="UD デジタル 教科書体 NK-R" panose="02020400000000000000" pitchFamily="18" charset="-128"/>
                                          </a:rPr>
                                          <m:t>2</m:t>
                                        </m:r>
                                      </m:sub>
                                    </m:sSub>
                                    <m:r>
                                      <a:rPr lang="ja-JP" altLang="en-US" sz="3200" i="1">
                                        <a:solidFill>
                                          <a:schemeClr val="tx1">
                                            <a:lumMod val="75000"/>
                                            <a:lumOff val="25000"/>
                                          </a:schemeClr>
                                        </a:solidFill>
                                        <a:latin typeface="Cambria Math" panose="02040503050406030204" pitchFamily="18" charset="0"/>
                                        <a:ea typeface="UD デジタル 教科書体 NK-R" panose="02020400000000000000" pitchFamily="18" charset="-128"/>
                                      </a:rPr>
                                      <m:t>𝜕</m:t>
                                    </m:r>
                                    <m:sSub>
                                      <m:sSubPr>
                                        <m:ctrlP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ctrlPr>
                                      </m:sSubPr>
                                      <m:e>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𝑥</m:t>
                                        </m:r>
                                      </m:e>
                                      <m:sub>
                                        <m:r>
                                          <a:rPr lang="en-US" altLang="ja-JP" sz="3200" b="0" i="1" smtClean="0">
                                            <a:solidFill>
                                              <a:schemeClr val="tx1">
                                                <a:lumMod val="75000"/>
                                                <a:lumOff val="25000"/>
                                              </a:schemeClr>
                                            </a:solidFill>
                                            <a:latin typeface="Cambria Math" panose="02040503050406030204" pitchFamily="18" charset="0"/>
                                            <a:ea typeface="UD デジタル 教科書体 NK-R" panose="02020400000000000000" pitchFamily="18" charset="-128"/>
                                          </a:rPr>
                                          <m:t>1</m:t>
                                        </m:r>
                                      </m:sub>
                                    </m:sSub>
                                  </m:den>
                                </m:f>
                              </m:e>
                              <m:e>
                                <m:f>
                                  <m:fPr>
                                    <m:ctrlP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ctrlPr>
                                  </m:fPr>
                                  <m:num>
                                    <m:sSup>
                                      <m:sSupPr>
                                        <m:ctrlP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ctrlPr>
                                      </m:sSupPr>
                                      <m:e>
                                        <m:r>
                                          <a:rPr lang="ja-JP" altLang="en-US" sz="3200" i="1">
                                            <a:solidFill>
                                              <a:schemeClr val="tx1">
                                                <a:lumMod val="75000"/>
                                                <a:lumOff val="25000"/>
                                              </a:schemeClr>
                                            </a:solidFill>
                                            <a:latin typeface="Cambria Math" panose="02040503050406030204" pitchFamily="18" charset="0"/>
                                            <a:ea typeface="UD デジタル 教科書体 NK-R" panose="02020400000000000000" pitchFamily="18" charset="-128"/>
                                          </a:rPr>
                                          <m:t>𝜕</m:t>
                                        </m:r>
                                      </m:e>
                                      <m:sup>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2</m:t>
                                        </m:r>
                                      </m:sup>
                                    </m:sSup>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𝐸</m:t>
                                    </m:r>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m:t>
                                    </m:r>
                                    <m:sSub>
                                      <m:sSubPr>
                                        <m:ctrlP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ctrlPr>
                                      </m:sSubPr>
                                      <m:e>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𝑤</m:t>
                                        </m:r>
                                      </m:e>
                                      <m:sub>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𝑘</m:t>
                                        </m:r>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m:t>
                                        </m:r>
                                      </m:sub>
                                    </m:sSub>
                                  </m:num>
                                  <m:den>
                                    <m:r>
                                      <a:rPr lang="ja-JP" altLang="en-US" sz="3200" i="1">
                                        <a:solidFill>
                                          <a:schemeClr val="tx1">
                                            <a:lumMod val="75000"/>
                                            <a:lumOff val="25000"/>
                                          </a:schemeClr>
                                        </a:solidFill>
                                        <a:latin typeface="Cambria Math" panose="02040503050406030204" pitchFamily="18" charset="0"/>
                                        <a:ea typeface="UD デジタル 教科書体 NK-R" panose="02020400000000000000" pitchFamily="18" charset="-128"/>
                                      </a:rPr>
                                      <m:t>𝜕</m:t>
                                    </m:r>
                                    <m:sSubSup>
                                      <m:sSubSupPr>
                                        <m:ctrlP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ctrlPr>
                                      </m:sSubSupPr>
                                      <m:e>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𝑥</m:t>
                                        </m:r>
                                      </m:e>
                                      <m:sub>
                                        <m:r>
                                          <a:rPr lang="en-US" altLang="ja-JP" sz="3200" b="0" i="1" smtClean="0">
                                            <a:solidFill>
                                              <a:schemeClr val="tx1">
                                                <a:lumMod val="75000"/>
                                                <a:lumOff val="25000"/>
                                              </a:schemeClr>
                                            </a:solidFill>
                                            <a:latin typeface="Cambria Math" panose="02040503050406030204" pitchFamily="18" charset="0"/>
                                            <a:ea typeface="UD デジタル 教科書体 NK-R" panose="02020400000000000000" pitchFamily="18" charset="-128"/>
                                          </a:rPr>
                                          <m:t>2</m:t>
                                        </m:r>
                                      </m:sub>
                                      <m:sup>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2</m:t>
                                        </m:r>
                                      </m:sup>
                                    </m:sSubSup>
                                  </m:den>
                                </m:f>
                              </m:e>
                              <m:e>
                                <m:r>
                                  <a:rPr kumimoji="1" lang="en-US" altLang="ja-JP" sz="3200" b="0" i="1" smtClean="0">
                                    <a:solidFill>
                                      <a:schemeClr val="tx1">
                                        <a:lumMod val="75000"/>
                                        <a:lumOff val="25000"/>
                                      </a:schemeClr>
                                    </a:solidFill>
                                    <a:latin typeface="Cambria Math" panose="02040503050406030204" pitchFamily="18" charset="0"/>
                                    <a:ea typeface="UD デジタル 教科書体 NK-R" panose="02020400000000000000" pitchFamily="18" charset="-128"/>
                                  </a:rPr>
                                  <m:t>…</m:t>
                                </m:r>
                              </m:e>
                              <m:e>
                                <m:f>
                                  <m:fPr>
                                    <m:ctrlP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ctrlPr>
                                  </m:fPr>
                                  <m:num>
                                    <m:sSup>
                                      <m:sSupPr>
                                        <m:ctrlP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ctrlPr>
                                      </m:sSupPr>
                                      <m:e>
                                        <m:r>
                                          <a:rPr lang="ja-JP" altLang="en-US" sz="3200" i="1">
                                            <a:solidFill>
                                              <a:schemeClr val="tx1">
                                                <a:lumMod val="75000"/>
                                                <a:lumOff val="25000"/>
                                              </a:schemeClr>
                                            </a:solidFill>
                                            <a:latin typeface="Cambria Math" panose="02040503050406030204" pitchFamily="18" charset="0"/>
                                            <a:ea typeface="UD デジタル 教科書体 NK-R" panose="02020400000000000000" pitchFamily="18" charset="-128"/>
                                          </a:rPr>
                                          <m:t>𝜕</m:t>
                                        </m:r>
                                      </m:e>
                                      <m:sup>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2</m:t>
                                        </m:r>
                                      </m:sup>
                                    </m:sSup>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𝐸</m:t>
                                    </m:r>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m:t>
                                    </m:r>
                                    <m:sSub>
                                      <m:sSubPr>
                                        <m:ctrlP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ctrlPr>
                                      </m:sSubPr>
                                      <m:e>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𝑤</m:t>
                                        </m:r>
                                      </m:e>
                                      <m:sub>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𝑘</m:t>
                                        </m:r>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m:t>
                                        </m:r>
                                      </m:sub>
                                    </m:sSub>
                                  </m:num>
                                  <m:den>
                                    <m:r>
                                      <a:rPr lang="ja-JP" altLang="en-US" sz="3200" i="1">
                                        <a:solidFill>
                                          <a:schemeClr val="tx1">
                                            <a:lumMod val="75000"/>
                                            <a:lumOff val="25000"/>
                                          </a:schemeClr>
                                        </a:solidFill>
                                        <a:latin typeface="Cambria Math" panose="02040503050406030204" pitchFamily="18" charset="0"/>
                                        <a:ea typeface="UD デジタル 教科書体 NK-R" panose="02020400000000000000" pitchFamily="18" charset="-128"/>
                                      </a:rPr>
                                      <m:t>𝜕</m:t>
                                    </m:r>
                                    <m:sSub>
                                      <m:sSubPr>
                                        <m:ctrlP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ctrlPr>
                                      </m:sSubPr>
                                      <m:e>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𝑥</m:t>
                                        </m:r>
                                      </m:e>
                                      <m:sub>
                                        <m:r>
                                          <a:rPr lang="en-US" altLang="ja-JP" sz="3200" b="0" i="1" smtClean="0">
                                            <a:solidFill>
                                              <a:schemeClr val="tx1">
                                                <a:lumMod val="75000"/>
                                                <a:lumOff val="25000"/>
                                              </a:schemeClr>
                                            </a:solidFill>
                                            <a:latin typeface="Cambria Math" panose="02040503050406030204" pitchFamily="18" charset="0"/>
                                            <a:ea typeface="UD デジタル 教科書体 NK-R" panose="02020400000000000000" pitchFamily="18" charset="-128"/>
                                          </a:rPr>
                                          <m:t>2</m:t>
                                        </m:r>
                                      </m:sub>
                                    </m:sSub>
                                    <m:r>
                                      <a:rPr lang="ja-JP" altLang="en-US" sz="3200" i="1">
                                        <a:solidFill>
                                          <a:schemeClr val="tx1">
                                            <a:lumMod val="75000"/>
                                            <a:lumOff val="25000"/>
                                          </a:schemeClr>
                                        </a:solidFill>
                                        <a:latin typeface="Cambria Math" panose="02040503050406030204" pitchFamily="18" charset="0"/>
                                        <a:ea typeface="UD デジタル 教科書体 NK-R" panose="02020400000000000000" pitchFamily="18" charset="-128"/>
                                      </a:rPr>
                                      <m:t>𝜕</m:t>
                                    </m:r>
                                    <m:sSub>
                                      <m:sSubPr>
                                        <m:ctrlP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ctrlPr>
                                      </m:sSubPr>
                                      <m:e>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𝑥</m:t>
                                        </m:r>
                                      </m:e>
                                      <m:sub>
                                        <m:r>
                                          <a:rPr lang="en-US" altLang="ja-JP" sz="3200" b="0" i="1" smtClean="0">
                                            <a:solidFill>
                                              <a:schemeClr val="tx1">
                                                <a:lumMod val="75000"/>
                                                <a:lumOff val="25000"/>
                                              </a:schemeClr>
                                            </a:solidFill>
                                            <a:latin typeface="Cambria Math" panose="02040503050406030204" pitchFamily="18" charset="0"/>
                                            <a:ea typeface="UD デジタル 教科書体 NK-R" panose="02020400000000000000" pitchFamily="18" charset="-128"/>
                                          </a:rPr>
                                          <m:t>𝑛</m:t>
                                        </m:r>
                                      </m:sub>
                                    </m:sSub>
                                  </m:den>
                                </m:f>
                              </m:e>
                            </m:mr>
                            <m:mr>
                              <m:e>
                                <m:r>
                                  <a:rPr kumimoji="1" lang="en-US" altLang="ja-JP" sz="3200" b="0" i="1" smtClean="0">
                                    <a:solidFill>
                                      <a:schemeClr val="tx1">
                                        <a:lumMod val="75000"/>
                                        <a:lumOff val="25000"/>
                                      </a:schemeClr>
                                    </a:solidFill>
                                    <a:latin typeface="Cambria Math" panose="02040503050406030204" pitchFamily="18" charset="0"/>
                                    <a:ea typeface="UD デジタル 教科書体 NK-R" panose="02020400000000000000" pitchFamily="18" charset="-128"/>
                                  </a:rPr>
                                  <m:t>…</m:t>
                                </m:r>
                              </m:e>
                              <m:e>
                                <m:r>
                                  <a:rPr kumimoji="1" lang="en-US" altLang="ja-JP" sz="3200" b="0" i="1" smtClean="0">
                                    <a:solidFill>
                                      <a:schemeClr val="tx1">
                                        <a:lumMod val="75000"/>
                                        <a:lumOff val="25000"/>
                                      </a:schemeClr>
                                    </a:solidFill>
                                    <a:latin typeface="Cambria Math" panose="02040503050406030204" pitchFamily="18" charset="0"/>
                                    <a:ea typeface="UD デジタル 教科書体 NK-R" panose="02020400000000000000" pitchFamily="18" charset="-128"/>
                                  </a:rPr>
                                  <m:t>…</m:t>
                                </m:r>
                              </m:e>
                              <m:e>
                                <m:r>
                                  <a:rPr kumimoji="1" lang="en-US" altLang="ja-JP" sz="3200" b="0" i="1" smtClean="0">
                                    <a:solidFill>
                                      <a:schemeClr val="tx1">
                                        <a:lumMod val="75000"/>
                                        <a:lumOff val="25000"/>
                                      </a:schemeClr>
                                    </a:solidFill>
                                    <a:latin typeface="Cambria Math" panose="02040503050406030204" pitchFamily="18" charset="0"/>
                                    <a:ea typeface="UD デジタル 教科書体 NK-R" panose="02020400000000000000" pitchFamily="18" charset="-128"/>
                                  </a:rPr>
                                  <m:t>…</m:t>
                                </m:r>
                              </m:e>
                              <m:e>
                                <m:r>
                                  <a:rPr kumimoji="1" lang="en-US" altLang="ja-JP" sz="3200" b="0" i="1" smtClean="0">
                                    <a:solidFill>
                                      <a:schemeClr val="tx1">
                                        <a:lumMod val="75000"/>
                                        <a:lumOff val="25000"/>
                                      </a:schemeClr>
                                    </a:solidFill>
                                    <a:latin typeface="Cambria Math" panose="02040503050406030204" pitchFamily="18" charset="0"/>
                                    <a:ea typeface="UD デジタル 教科書体 NK-R" panose="02020400000000000000" pitchFamily="18" charset="-128"/>
                                  </a:rPr>
                                  <m:t>…</m:t>
                                </m:r>
                              </m:e>
                            </m:mr>
                            <m:mr>
                              <m:e>
                                <m:f>
                                  <m:fPr>
                                    <m:ctrlP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ctrlPr>
                                  </m:fPr>
                                  <m:num>
                                    <m:sSup>
                                      <m:sSupPr>
                                        <m:ctrlP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ctrlPr>
                                      </m:sSupPr>
                                      <m:e>
                                        <m:r>
                                          <a:rPr lang="ja-JP" altLang="en-US" sz="3200" i="1">
                                            <a:solidFill>
                                              <a:schemeClr val="tx1">
                                                <a:lumMod val="75000"/>
                                                <a:lumOff val="25000"/>
                                              </a:schemeClr>
                                            </a:solidFill>
                                            <a:latin typeface="Cambria Math" panose="02040503050406030204" pitchFamily="18" charset="0"/>
                                            <a:ea typeface="UD デジタル 教科書体 NK-R" panose="02020400000000000000" pitchFamily="18" charset="-128"/>
                                          </a:rPr>
                                          <m:t>𝜕</m:t>
                                        </m:r>
                                      </m:e>
                                      <m:sup>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2</m:t>
                                        </m:r>
                                      </m:sup>
                                    </m:sSup>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𝐸</m:t>
                                    </m:r>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m:t>
                                    </m:r>
                                    <m:sSub>
                                      <m:sSubPr>
                                        <m:ctrlP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ctrlPr>
                                      </m:sSubPr>
                                      <m:e>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𝑤</m:t>
                                        </m:r>
                                      </m:e>
                                      <m:sub>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𝑘</m:t>
                                        </m:r>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m:t>
                                        </m:r>
                                      </m:sub>
                                    </m:sSub>
                                  </m:num>
                                  <m:den>
                                    <m:r>
                                      <a:rPr lang="ja-JP" altLang="en-US" sz="3200" i="1">
                                        <a:solidFill>
                                          <a:schemeClr val="tx1">
                                            <a:lumMod val="75000"/>
                                            <a:lumOff val="25000"/>
                                          </a:schemeClr>
                                        </a:solidFill>
                                        <a:latin typeface="Cambria Math" panose="02040503050406030204" pitchFamily="18" charset="0"/>
                                        <a:ea typeface="UD デジタル 教科書体 NK-R" panose="02020400000000000000" pitchFamily="18" charset="-128"/>
                                      </a:rPr>
                                      <m:t>𝜕</m:t>
                                    </m:r>
                                    <m:sSub>
                                      <m:sSubPr>
                                        <m:ctrlP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ctrlPr>
                                      </m:sSubPr>
                                      <m:e>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𝑥</m:t>
                                        </m:r>
                                      </m:e>
                                      <m:sub>
                                        <m:r>
                                          <a:rPr lang="en-US" altLang="ja-JP" sz="3200" b="0" i="1" smtClean="0">
                                            <a:solidFill>
                                              <a:schemeClr val="tx1">
                                                <a:lumMod val="75000"/>
                                                <a:lumOff val="25000"/>
                                              </a:schemeClr>
                                            </a:solidFill>
                                            <a:latin typeface="Cambria Math" panose="02040503050406030204" pitchFamily="18" charset="0"/>
                                            <a:ea typeface="UD デジタル 教科書体 NK-R" panose="02020400000000000000" pitchFamily="18" charset="-128"/>
                                          </a:rPr>
                                          <m:t>𝑛</m:t>
                                        </m:r>
                                      </m:sub>
                                    </m:sSub>
                                    <m:r>
                                      <a:rPr lang="ja-JP" altLang="en-US" sz="3200" i="1">
                                        <a:solidFill>
                                          <a:schemeClr val="tx1">
                                            <a:lumMod val="75000"/>
                                            <a:lumOff val="25000"/>
                                          </a:schemeClr>
                                        </a:solidFill>
                                        <a:latin typeface="Cambria Math" panose="02040503050406030204" pitchFamily="18" charset="0"/>
                                        <a:ea typeface="UD デジタル 教科書体 NK-R" panose="02020400000000000000" pitchFamily="18" charset="-128"/>
                                      </a:rPr>
                                      <m:t>𝜕</m:t>
                                    </m:r>
                                    <m:sSub>
                                      <m:sSubPr>
                                        <m:ctrlP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ctrlPr>
                                      </m:sSubPr>
                                      <m:e>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𝑥</m:t>
                                        </m:r>
                                      </m:e>
                                      <m:sub>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1</m:t>
                                        </m:r>
                                      </m:sub>
                                    </m:sSub>
                                  </m:den>
                                </m:f>
                              </m:e>
                              <m:e>
                                <m:f>
                                  <m:fPr>
                                    <m:ctrlP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ctrlPr>
                                  </m:fPr>
                                  <m:num>
                                    <m:sSup>
                                      <m:sSupPr>
                                        <m:ctrlP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ctrlPr>
                                      </m:sSupPr>
                                      <m:e>
                                        <m:r>
                                          <a:rPr lang="ja-JP" altLang="en-US" sz="3200" i="1">
                                            <a:solidFill>
                                              <a:schemeClr val="tx1">
                                                <a:lumMod val="75000"/>
                                                <a:lumOff val="25000"/>
                                              </a:schemeClr>
                                            </a:solidFill>
                                            <a:latin typeface="Cambria Math" panose="02040503050406030204" pitchFamily="18" charset="0"/>
                                            <a:ea typeface="UD デジタル 教科書体 NK-R" panose="02020400000000000000" pitchFamily="18" charset="-128"/>
                                          </a:rPr>
                                          <m:t>𝜕</m:t>
                                        </m:r>
                                      </m:e>
                                      <m:sup>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2</m:t>
                                        </m:r>
                                      </m:sup>
                                    </m:sSup>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𝐸</m:t>
                                    </m:r>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m:t>
                                    </m:r>
                                    <m:sSub>
                                      <m:sSubPr>
                                        <m:ctrlP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ctrlPr>
                                      </m:sSubPr>
                                      <m:e>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𝑤</m:t>
                                        </m:r>
                                      </m:e>
                                      <m:sub>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𝑘</m:t>
                                        </m:r>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m:t>
                                        </m:r>
                                      </m:sub>
                                    </m:sSub>
                                  </m:num>
                                  <m:den>
                                    <m:r>
                                      <a:rPr lang="ja-JP" altLang="en-US" sz="3200" i="1">
                                        <a:solidFill>
                                          <a:schemeClr val="tx1">
                                            <a:lumMod val="75000"/>
                                            <a:lumOff val="25000"/>
                                          </a:schemeClr>
                                        </a:solidFill>
                                        <a:latin typeface="Cambria Math" panose="02040503050406030204" pitchFamily="18" charset="0"/>
                                        <a:ea typeface="UD デジタル 教科書体 NK-R" panose="02020400000000000000" pitchFamily="18" charset="-128"/>
                                      </a:rPr>
                                      <m:t>𝜕</m:t>
                                    </m:r>
                                    <m:sSub>
                                      <m:sSubPr>
                                        <m:ctrlP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ctrlPr>
                                      </m:sSubPr>
                                      <m:e>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𝑥</m:t>
                                        </m:r>
                                      </m:e>
                                      <m:sub>
                                        <m:r>
                                          <a:rPr lang="en-US" altLang="ja-JP" sz="3200" b="0" i="1" smtClean="0">
                                            <a:solidFill>
                                              <a:schemeClr val="tx1">
                                                <a:lumMod val="75000"/>
                                                <a:lumOff val="25000"/>
                                              </a:schemeClr>
                                            </a:solidFill>
                                            <a:latin typeface="Cambria Math" panose="02040503050406030204" pitchFamily="18" charset="0"/>
                                            <a:ea typeface="UD デジタル 教科書体 NK-R" panose="02020400000000000000" pitchFamily="18" charset="-128"/>
                                          </a:rPr>
                                          <m:t>𝑛</m:t>
                                        </m:r>
                                      </m:sub>
                                    </m:sSub>
                                    <m:r>
                                      <a:rPr lang="ja-JP" altLang="en-US" sz="3200" i="1">
                                        <a:solidFill>
                                          <a:schemeClr val="tx1">
                                            <a:lumMod val="75000"/>
                                            <a:lumOff val="25000"/>
                                          </a:schemeClr>
                                        </a:solidFill>
                                        <a:latin typeface="Cambria Math" panose="02040503050406030204" pitchFamily="18" charset="0"/>
                                        <a:ea typeface="UD デジタル 教科書体 NK-R" panose="02020400000000000000" pitchFamily="18" charset="-128"/>
                                      </a:rPr>
                                      <m:t>𝜕</m:t>
                                    </m:r>
                                    <m:sSub>
                                      <m:sSubPr>
                                        <m:ctrlP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ctrlPr>
                                      </m:sSubPr>
                                      <m:e>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𝑥</m:t>
                                        </m:r>
                                      </m:e>
                                      <m:sub>
                                        <m:r>
                                          <a:rPr lang="en-US" altLang="ja-JP" sz="3200" b="0" i="1" smtClean="0">
                                            <a:solidFill>
                                              <a:schemeClr val="tx1">
                                                <a:lumMod val="75000"/>
                                                <a:lumOff val="25000"/>
                                              </a:schemeClr>
                                            </a:solidFill>
                                            <a:latin typeface="Cambria Math" panose="02040503050406030204" pitchFamily="18" charset="0"/>
                                            <a:ea typeface="UD デジタル 教科書体 NK-R" panose="02020400000000000000" pitchFamily="18" charset="-128"/>
                                          </a:rPr>
                                          <m:t>2</m:t>
                                        </m:r>
                                      </m:sub>
                                    </m:sSub>
                                  </m:den>
                                </m:f>
                              </m:e>
                              <m:e>
                                <m:r>
                                  <a:rPr kumimoji="1" lang="en-US" altLang="ja-JP" sz="3200" b="0" i="1" smtClean="0">
                                    <a:solidFill>
                                      <a:schemeClr val="tx1">
                                        <a:lumMod val="75000"/>
                                        <a:lumOff val="25000"/>
                                      </a:schemeClr>
                                    </a:solidFill>
                                    <a:latin typeface="Cambria Math" panose="02040503050406030204" pitchFamily="18" charset="0"/>
                                    <a:ea typeface="UD デジタル 教科書体 NK-R" panose="02020400000000000000" pitchFamily="18" charset="-128"/>
                                  </a:rPr>
                                  <m:t>…</m:t>
                                </m:r>
                              </m:e>
                              <m:e>
                                <m:f>
                                  <m:fPr>
                                    <m:ctrlP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ctrlPr>
                                  </m:fPr>
                                  <m:num>
                                    <m:sSup>
                                      <m:sSupPr>
                                        <m:ctrlP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ctrlPr>
                                      </m:sSupPr>
                                      <m:e>
                                        <m:r>
                                          <a:rPr lang="ja-JP" altLang="en-US" sz="3200" i="1">
                                            <a:solidFill>
                                              <a:schemeClr val="tx1">
                                                <a:lumMod val="75000"/>
                                                <a:lumOff val="25000"/>
                                              </a:schemeClr>
                                            </a:solidFill>
                                            <a:latin typeface="Cambria Math" panose="02040503050406030204" pitchFamily="18" charset="0"/>
                                            <a:ea typeface="UD デジタル 教科書体 NK-R" panose="02020400000000000000" pitchFamily="18" charset="-128"/>
                                          </a:rPr>
                                          <m:t>𝜕</m:t>
                                        </m:r>
                                      </m:e>
                                      <m:sup>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2</m:t>
                                        </m:r>
                                      </m:sup>
                                    </m:sSup>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𝐸</m:t>
                                    </m:r>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m:t>
                                    </m:r>
                                    <m:sSub>
                                      <m:sSubPr>
                                        <m:ctrlP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ctrlPr>
                                      </m:sSubPr>
                                      <m:e>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𝑤</m:t>
                                        </m:r>
                                      </m:e>
                                      <m:sub>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𝑘</m:t>
                                        </m:r>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m:t>
                                        </m:r>
                                      </m:sub>
                                    </m:sSub>
                                  </m:num>
                                  <m:den>
                                    <m:r>
                                      <a:rPr lang="ja-JP" altLang="en-US" sz="3200" i="1">
                                        <a:solidFill>
                                          <a:schemeClr val="tx1">
                                            <a:lumMod val="75000"/>
                                            <a:lumOff val="25000"/>
                                          </a:schemeClr>
                                        </a:solidFill>
                                        <a:latin typeface="Cambria Math" panose="02040503050406030204" pitchFamily="18" charset="0"/>
                                        <a:ea typeface="UD デジタル 教科書体 NK-R" panose="02020400000000000000" pitchFamily="18" charset="-128"/>
                                      </a:rPr>
                                      <m:t>𝜕</m:t>
                                    </m:r>
                                    <m:sSubSup>
                                      <m:sSubSupPr>
                                        <m:ctrlP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ctrlPr>
                                      </m:sSubSupPr>
                                      <m:e>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𝑥</m:t>
                                        </m:r>
                                      </m:e>
                                      <m:sub>
                                        <m:r>
                                          <a:rPr lang="en-US" altLang="ja-JP" sz="3200" b="0" i="1" smtClean="0">
                                            <a:solidFill>
                                              <a:schemeClr val="tx1">
                                                <a:lumMod val="75000"/>
                                                <a:lumOff val="25000"/>
                                              </a:schemeClr>
                                            </a:solidFill>
                                            <a:latin typeface="Cambria Math" panose="02040503050406030204" pitchFamily="18" charset="0"/>
                                            <a:ea typeface="UD デジタル 教科書体 NK-R" panose="02020400000000000000" pitchFamily="18" charset="-128"/>
                                          </a:rPr>
                                          <m:t>𝑛</m:t>
                                        </m:r>
                                      </m:sub>
                                      <m:sup>
                                        <m:r>
                                          <a:rPr lang="en-US" altLang="ja-JP" sz="3200" i="1">
                                            <a:solidFill>
                                              <a:schemeClr val="tx1">
                                                <a:lumMod val="75000"/>
                                                <a:lumOff val="25000"/>
                                              </a:schemeClr>
                                            </a:solidFill>
                                            <a:latin typeface="Cambria Math" panose="02040503050406030204" pitchFamily="18" charset="0"/>
                                            <a:ea typeface="UD デジタル 教科書体 NK-R" panose="02020400000000000000" pitchFamily="18" charset="-128"/>
                                          </a:rPr>
                                          <m:t>2</m:t>
                                        </m:r>
                                      </m:sup>
                                    </m:sSubSup>
                                  </m:den>
                                </m:f>
                              </m:e>
                            </m:mr>
                          </m:m>
                        </m:e>
                      </m:d>
                    </m:oMath>
                  </m:oMathPara>
                </a14:m>
                <a:endParaRPr kumimoji="1" lang="ja-JP" altLang="en-US" sz="32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mc:Choice>
        <mc:Fallback xmlns="">
          <p:sp>
            <p:nvSpPr>
              <p:cNvPr id="5" name="四角形: 角を丸くする 4">
                <a:extLst>
                  <a:ext uri="{FF2B5EF4-FFF2-40B4-BE49-F238E27FC236}">
                    <a16:creationId xmlns:a16="http://schemas.microsoft.com/office/drawing/2014/main" id="{22C70C1F-B816-4B9E-A479-3290F04043F1}"/>
                  </a:ext>
                </a:extLst>
              </p:cNvPr>
              <p:cNvSpPr>
                <a:spLocks noRot="1" noChangeAspect="1" noMove="1" noResize="1" noEditPoints="1" noAdjustHandles="1" noChangeArrowheads="1" noChangeShapeType="1" noTextEdit="1"/>
              </p:cNvSpPr>
              <p:nvPr/>
            </p:nvSpPr>
            <p:spPr>
              <a:xfrm>
                <a:off x="706755" y="1554956"/>
                <a:ext cx="10778490" cy="4892675"/>
              </a:xfrm>
              <a:prstGeom prst="roundRect">
                <a:avLst>
                  <a:gd name="adj" fmla="val 9191"/>
                </a:avLst>
              </a:prstGeom>
              <a:blipFill>
                <a:blip r:embed="rId3"/>
                <a:stretch>
                  <a:fillRect l="-56"/>
                </a:stretch>
              </a:blipFill>
              <a:ln w="38100">
                <a:solidFill>
                  <a:schemeClr val="tx1">
                    <a:lumMod val="65000"/>
                    <a:lumOff val="35000"/>
                  </a:schemeClr>
                </a:solidFill>
              </a:ln>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A0BF0FC6-2C32-4474-B805-AA863D3C809B}"/>
              </a:ext>
            </a:extLst>
          </p:cNvPr>
          <p:cNvSpPr>
            <a:spLocks noGrp="1"/>
          </p:cNvSpPr>
          <p:nvPr>
            <p:ph type="sldNum" sz="quarter" idx="12"/>
          </p:nvPr>
        </p:nvSpPr>
        <p:spPr/>
        <p:txBody>
          <a:bodyPr/>
          <a:lstStyle/>
          <a:p>
            <a:fld id="{E0941385-F5BA-408B-94FB-C48DC2364AB1}" type="slidenum">
              <a:rPr kumimoji="1" lang="ja-JP" altLang="en-US" smtClean="0"/>
              <a:t>56</a:t>
            </a:fld>
            <a:endParaRPr kumimoji="1" lang="ja-JP" altLang="en-US"/>
          </a:p>
        </p:txBody>
      </p:sp>
    </p:spTree>
    <p:extLst>
      <p:ext uri="{BB962C8B-B14F-4D97-AF65-F5344CB8AC3E}">
        <p14:creationId xmlns:p14="http://schemas.microsoft.com/office/powerpoint/2010/main" val="3610754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CE7686-0B4E-42B0-A196-FC29E037A8A4}"/>
              </a:ext>
            </a:extLst>
          </p:cNvPr>
          <p:cNvSpPr>
            <a:spLocks noGrp="1"/>
          </p:cNvSpPr>
          <p:nvPr>
            <p:ph type="title"/>
          </p:nvPr>
        </p:nvSpPr>
        <p:spPr/>
        <p:txBody>
          <a:bodyPr/>
          <a:lstStyle/>
          <a:p>
            <a:r>
              <a:rPr kumimoji="1" lang="ja-JP" altLang="en-US" dirty="0"/>
              <a:t>ニュートン法</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320ACA7A-6F7B-44A4-94CC-84F664409AC7}"/>
                  </a:ext>
                </a:extLst>
              </p:cNvPr>
              <p:cNvSpPr>
                <a:spLocks noGrp="1"/>
              </p:cNvSpPr>
              <p:nvPr>
                <p:ph idx="1"/>
              </p:nvPr>
            </p:nvSpPr>
            <p:spPr>
              <a:xfrm>
                <a:off x="838200" y="1356200"/>
                <a:ext cx="10515600" cy="5238909"/>
              </a:xfrm>
            </p:spPr>
            <p:txBody>
              <a:bodyPr>
                <a:normAutofit fontScale="92500" lnSpcReduction="10000"/>
              </a:bodyPr>
              <a:lstStyle/>
              <a:p>
                <a:r>
                  <a:rPr kumimoji="1" lang="ja-JP" altLang="en-US" dirty="0"/>
                  <a:t>ニュートン法は二次近似手法の基になる手法</a:t>
                </a:r>
                <a:endParaRPr kumimoji="1" lang="en-US" altLang="ja-JP" dirty="0"/>
              </a:p>
              <a:p>
                <a:endParaRPr lang="en-US" altLang="ja-JP" dirty="0"/>
              </a:p>
              <a:p>
                <a:r>
                  <a:rPr kumimoji="1" lang="ja-JP" altLang="en-US" dirty="0"/>
                  <a:t>ニュートン法の導出</a:t>
                </a:r>
                <a:endParaRPr kumimoji="1" lang="en-US" altLang="ja-JP" dirty="0"/>
              </a:p>
              <a:p>
                <a:pPr marL="0" indent="0">
                  <a:buNone/>
                </a:pPr>
                <a14:m>
                  <m:oMathPara xmlns:m="http://schemas.openxmlformats.org/officeDocument/2006/math">
                    <m:oMathParaPr>
                      <m:jc m:val="centerGroup"/>
                    </m:oMathParaPr>
                    <m:oMath xmlns:m="http://schemas.openxmlformats.org/officeDocument/2006/math">
                      <m:eqArr>
                        <m:eqArrPr>
                          <m:ctrlPr>
                            <a:rPr lang="en-US" altLang="ja-JP" i="1">
                              <a:latin typeface="Cambria Math" panose="02040503050406030204" pitchFamily="18" charset="0"/>
                            </a:rPr>
                          </m:ctrlPr>
                        </m:eqArrPr>
                        <m:e>
                          <m:r>
                            <a:rPr lang="en-ZA" altLang="ja-JP" i="1">
                              <a:latin typeface="Cambria Math" panose="02040503050406030204" pitchFamily="18" charset="0"/>
                            </a:rPr>
                            <m:t>𝐸</m:t>
                          </m:r>
                          <m:d>
                            <m:dPr>
                              <m:ctrlPr>
                                <a:rPr lang="en-ZA" altLang="ja-JP" i="1">
                                  <a:latin typeface="Cambria Math" panose="02040503050406030204" pitchFamily="18" charset="0"/>
                                </a:rPr>
                              </m:ctrlPr>
                            </m:dPr>
                            <m:e>
                              <m:r>
                                <a:rPr lang="en-ZA" altLang="ja-JP" b="1">
                                  <a:latin typeface="Cambria Math" panose="02040503050406030204" pitchFamily="18" charset="0"/>
                                </a:rPr>
                                <m:t>𝐰</m:t>
                              </m:r>
                            </m:e>
                          </m:d>
                          <m:r>
                            <a:rPr lang="en-ZA" altLang="ja-JP" i="1">
                              <a:latin typeface="Cambria Math" panose="02040503050406030204" pitchFamily="18" charset="0"/>
                            </a:rPr>
                            <m:t>= </m:t>
                          </m:r>
                          <m:f>
                            <m:fPr>
                              <m:ctrlPr>
                                <a:rPr lang="en-ZA" altLang="ja-JP" i="1">
                                  <a:latin typeface="Cambria Math" panose="02040503050406030204" pitchFamily="18" charset="0"/>
                                </a:rPr>
                              </m:ctrlPr>
                            </m:fPr>
                            <m:num>
                              <m:r>
                                <a:rPr lang="en-ZA" altLang="ja-JP" i="1">
                                  <a:latin typeface="Cambria Math" panose="02040503050406030204" pitchFamily="18" charset="0"/>
                                </a:rPr>
                                <m:t>1</m:t>
                              </m:r>
                            </m:num>
                            <m:den>
                              <m:d>
                                <m:dPr>
                                  <m:begChr m:val="|"/>
                                  <m:endChr m:val="|"/>
                                  <m:ctrlPr>
                                    <a:rPr lang="en-ZA" altLang="ja-JP" i="1">
                                      <a:latin typeface="Cambria Math" panose="02040503050406030204" pitchFamily="18" charset="0"/>
                                    </a:rPr>
                                  </m:ctrlPr>
                                </m:dPr>
                                <m:e>
                                  <m:sSub>
                                    <m:sSubPr>
                                      <m:ctrlPr>
                                        <a:rPr lang="en-ZA" altLang="ja-JP" i="1">
                                          <a:latin typeface="Cambria Math" panose="02040503050406030204" pitchFamily="18" charset="0"/>
                                        </a:rPr>
                                      </m:ctrlPr>
                                    </m:sSubPr>
                                    <m:e>
                                      <m:r>
                                        <a:rPr lang="en-ZA" altLang="ja-JP" i="1">
                                          <a:latin typeface="Cambria Math" panose="02040503050406030204" pitchFamily="18" charset="0"/>
                                        </a:rPr>
                                        <m:t>𝑇</m:t>
                                      </m:r>
                                    </m:e>
                                    <m:sub>
                                      <m:r>
                                        <a:rPr lang="en-ZA" altLang="ja-JP" i="1">
                                          <a:latin typeface="Cambria Math" panose="02040503050406030204" pitchFamily="18" charset="0"/>
                                        </a:rPr>
                                        <m:t>𝑟</m:t>
                                      </m:r>
                                    </m:sub>
                                  </m:sSub>
                                </m:e>
                              </m:d>
                            </m:den>
                          </m:f>
                          <m:nary>
                            <m:naryPr>
                              <m:chr m:val="∑"/>
                              <m:supHide m:val="on"/>
                              <m:ctrlPr>
                                <a:rPr lang="en-ZA" altLang="ja-JP" i="1">
                                  <a:latin typeface="Cambria Math" panose="02040503050406030204" pitchFamily="18" charset="0"/>
                                </a:rPr>
                              </m:ctrlPr>
                            </m:naryPr>
                            <m:sub>
                              <m:r>
                                <m:rPr>
                                  <m:brk m:alnAt="7"/>
                                </m:rPr>
                                <a:rPr lang="en-ZA" altLang="ja-JP" i="1">
                                  <a:latin typeface="Cambria Math" panose="02040503050406030204" pitchFamily="18" charset="0"/>
                                </a:rPr>
                                <m:t>𝑝</m:t>
                              </m:r>
                              <m:r>
                                <a:rPr lang="en-ZA" altLang="ja-JP" i="1">
                                  <a:latin typeface="Cambria Math" panose="02040503050406030204" pitchFamily="18" charset="0"/>
                                </a:rPr>
                                <m:t> ∈ </m:t>
                              </m:r>
                              <m:sSub>
                                <m:sSubPr>
                                  <m:ctrlPr>
                                    <a:rPr lang="en-ZA" altLang="ja-JP" i="1">
                                      <a:latin typeface="Cambria Math" panose="02040503050406030204" pitchFamily="18" charset="0"/>
                                      <a:ea typeface="Cambria Math" panose="02040503050406030204" pitchFamily="18" charset="0"/>
                                    </a:rPr>
                                  </m:ctrlPr>
                                </m:sSubPr>
                                <m:e>
                                  <m:r>
                                    <a:rPr lang="en-ZA" altLang="ja-JP" i="1">
                                      <a:latin typeface="Cambria Math" panose="02040503050406030204" pitchFamily="18" charset="0"/>
                                      <a:ea typeface="Cambria Math" panose="02040503050406030204" pitchFamily="18" charset="0"/>
                                    </a:rPr>
                                    <m:t>𝑇</m:t>
                                  </m:r>
                                </m:e>
                                <m:sub>
                                  <m:r>
                                    <a:rPr lang="en-ZA" altLang="ja-JP" i="1">
                                      <a:latin typeface="Cambria Math" panose="02040503050406030204" pitchFamily="18" charset="0"/>
                                      <a:ea typeface="Cambria Math" panose="02040503050406030204" pitchFamily="18" charset="0"/>
                                    </a:rPr>
                                    <m:t>𝑟</m:t>
                                  </m:r>
                                </m:sub>
                              </m:sSub>
                            </m:sub>
                            <m:sup/>
                            <m:e>
                              <m:sSub>
                                <m:sSubPr>
                                  <m:ctrlPr>
                                    <a:rPr lang="en-ZA" altLang="ja-JP" i="1">
                                      <a:latin typeface="Cambria Math" panose="02040503050406030204" pitchFamily="18" charset="0"/>
                                    </a:rPr>
                                  </m:ctrlPr>
                                </m:sSubPr>
                                <m:e>
                                  <m:r>
                                    <a:rPr lang="en-ZA" altLang="ja-JP" i="1">
                                      <a:latin typeface="Cambria Math" panose="02040503050406030204" pitchFamily="18" charset="0"/>
                                    </a:rPr>
                                    <m:t>𝐸</m:t>
                                  </m:r>
                                </m:e>
                                <m:sub>
                                  <m:r>
                                    <a:rPr lang="en-ZA" altLang="ja-JP" i="1">
                                      <a:latin typeface="Cambria Math" panose="02040503050406030204" pitchFamily="18" charset="0"/>
                                    </a:rPr>
                                    <m:t>𝑝</m:t>
                                  </m:r>
                                </m:sub>
                              </m:sSub>
                              <m:r>
                                <a:rPr lang="en-ZA" altLang="ja-JP" i="1">
                                  <a:latin typeface="Cambria Math" panose="02040503050406030204" pitchFamily="18" charset="0"/>
                                </a:rPr>
                                <m:t>(</m:t>
                              </m:r>
                              <m:r>
                                <a:rPr lang="en-ZA" altLang="ja-JP" b="1">
                                  <a:latin typeface="Cambria Math" panose="02040503050406030204" pitchFamily="18" charset="0"/>
                                </a:rPr>
                                <m:t>𝐰</m:t>
                              </m:r>
                              <m:r>
                                <a:rPr lang="en-ZA" altLang="ja-JP" i="1">
                                  <a:latin typeface="Cambria Math" panose="02040503050406030204" pitchFamily="18" charset="0"/>
                                </a:rPr>
                                <m:t>)</m:t>
                              </m:r>
                            </m:e>
                          </m:nary>
                          <m:r>
                            <a:rPr lang="en-ZA" altLang="ja-JP" i="1">
                              <a:latin typeface="Cambria Math" panose="02040503050406030204" pitchFamily="18" charset="0"/>
                            </a:rPr>
                            <m:t> </m:t>
                          </m:r>
                        </m:e>
                      </m:eqArr>
                    </m:oMath>
                  </m:oMathPara>
                </a14:m>
                <a:endParaRPr kumimoji="1" lang="en-US" altLang="ja-JP" dirty="0"/>
              </a:p>
              <a:p>
                <a:pPr marL="0" indent="0">
                  <a:buNone/>
                </a:pPr>
                <a:endParaRPr kumimoji="1" lang="en-US" altLang="ja-JP" dirty="0"/>
              </a:p>
              <a:p>
                <a:pPr marL="0" indent="0">
                  <a:buNone/>
                </a:pPr>
                <a:r>
                  <a:rPr lang="ja-JP" altLang="en-US" sz="2400" b="0" dirty="0"/>
                  <a:t>誤差関数</a:t>
                </a:r>
                <a14:m>
                  <m:oMath xmlns:m="http://schemas.openxmlformats.org/officeDocument/2006/math">
                    <m:r>
                      <a:rPr lang="en-US" altLang="ja-JP" sz="2400" b="0" i="1" smtClean="0">
                        <a:latin typeface="Cambria Math" panose="02040503050406030204" pitchFamily="18" charset="0"/>
                        <a:ea typeface="Cambria Math" panose="02040503050406030204" pitchFamily="18" charset="0"/>
                      </a:rPr>
                      <m:t>𝐸</m:t>
                    </m:r>
                    <m:d>
                      <m:dPr>
                        <m:ctrlPr>
                          <a:rPr lang="en-US" altLang="ja-JP" sz="2400" b="0" i="1" smtClean="0">
                            <a:latin typeface="Cambria Math" panose="02040503050406030204" pitchFamily="18" charset="0"/>
                            <a:ea typeface="Cambria Math" panose="02040503050406030204" pitchFamily="18" charset="0"/>
                          </a:rPr>
                        </m:ctrlPr>
                      </m:dPr>
                      <m:e>
                        <m:sSub>
                          <m:sSubPr>
                            <m:ctrlPr>
                              <a:rPr lang="en-US" altLang="ja-JP" sz="2400" b="0" i="1" smtClean="0">
                                <a:latin typeface="Cambria Math" panose="02040503050406030204" pitchFamily="18" charset="0"/>
                                <a:ea typeface="Cambria Math" panose="02040503050406030204" pitchFamily="18" charset="0"/>
                              </a:rPr>
                            </m:ctrlPr>
                          </m:sSubPr>
                          <m:e>
                            <m:r>
                              <a:rPr lang="en-US" altLang="ja-JP" sz="2400" b="1" i="0" smtClean="0">
                                <a:latin typeface="Cambria Math" panose="02040503050406030204" pitchFamily="18" charset="0"/>
                                <a:ea typeface="Cambria Math" panose="02040503050406030204" pitchFamily="18" charset="0"/>
                              </a:rPr>
                              <m:t>𝐰</m:t>
                            </m:r>
                          </m:e>
                          <m:sub>
                            <m:r>
                              <a:rPr lang="en-US" altLang="ja-JP" sz="2400" b="0" i="1" smtClean="0">
                                <a:latin typeface="Cambria Math" panose="02040503050406030204" pitchFamily="18" charset="0"/>
                                <a:ea typeface="Cambria Math" panose="02040503050406030204" pitchFamily="18" charset="0"/>
                              </a:rPr>
                              <m:t>𝑘</m:t>
                            </m:r>
                          </m:sub>
                        </m:sSub>
                      </m:e>
                    </m:d>
                  </m:oMath>
                </a14:m>
                <a:r>
                  <a:rPr lang="ja-JP" altLang="en-US" sz="2400" dirty="0"/>
                  <a:t>を二次の項までテーラー</a:t>
                </a:r>
                <a:r>
                  <a:rPr lang="ja-JP" altLang="en-US" sz="2400" b="0" dirty="0"/>
                  <a:t>展開</a:t>
                </a:r>
                <a:endParaRPr lang="en-US" altLang="ja-JP" sz="2400" b="0" dirty="0"/>
              </a:p>
              <a:p>
                <a:pPr marL="0" indent="0">
                  <a:buNone/>
                </a:pPr>
                <a14:m>
                  <m:oMathPara xmlns:m="http://schemas.openxmlformats.org/officeDocument/2006/math">
                    <m:oMathParaPr>
                      <m:jc m:val="centerGroup"/>
                    </m:oMathParaPr>
                    <m:oMath xmlns:m="http://schemas.openxmlformats.org/officeDocument/2006/math">
                      <m:eqArr>
                        <m:eqArrPr>
                          <m:ctrlPr>
                            <a:rPr lang="en-US" altLang="ja-JP" sz="2400" b="0" i="1" smtClean="0">
                              <a:latin typeface="Cambria Math" panose="02040503050406030204" pitchFamily="18" charset="0"/>
                              <a:ea typeface="Cambria Math" panose="02040503050406030204" pitchFamily="18" charset="0"/>
                            </a:rPr>
                          </m:ctrlPr>
                        </m:eqArrPr>
                        <m:e>
                          <m:eqArr>
                            <m:eqArrPr>
                              <m:ctrlPr>
                                <a:rPr lang="en-US" altLang="ja-JP" sz="2400" b="0" i="1" smtClean="0">
                                  <a:latin typeface="Cambria Math" panose="02040503050406030204" pitchFamily="18" charset="0"/>
                                  <a:ea typeface="Cambria Math" panose="02040503050406030204" pitchFamily="18" charset="0"/>
                                </a:rPr>
                              </m:ctrlPr>
                            </m:eqArrPr>
                            <m:e>
                              <m:r>
                                <a:rPr lang="en-US" altLang="ja-JP" sz="2400" b="0" i="1" smtClean="0">
                                  <a:latin typeface="Cambria Math" panose="02040503050406030204" pitchFamily="18" charset="0"/>
                                </a:rPr>
                                <m:t>𝐸</m:t>
                              </m:r>
                              <m:d>
                                <m:dPr>
                                  <m:ctrlPr>
                                    <a:rPr lang="en-US" altLang="ja-JP" sz="2400" b="0" i="1" smtClean="0">
                                      <a:latin typeface="Cambria Math" panose="02040503050406030204" pitchFamily="18" charset="0"/>
                                    </a:rPr>
                                  </m:ctrlPr>
                                </m:dPr>
                                <m:e>
                                  <m:r>
                                    <a:rPr lang="en-US" altLang="ja-JP" sz="2400" b="1" i="0" smtClean="0">
                                      <a:latin typeface="Cambria Math" panose="02040503050406030204" pitchFamily="18" charset="0"/>
                                    </a:rPr>
                                    <m:t>𝐰</m:t>
                                  </m:r>
                                </m:e>
                              </m:d>
                              <m:r>
                                <a:rPr lang="en-US" altLang="ja-JP" sz="2400" b="0" i="1" smtClean="0">
                                  <a:latin typeface="Cambria Math" panose="02040503050406030204" pitchFamily="18" charset="0"/>
                                  <a:ea typeface="Cambria Math" panose="02040503050406030204" pitchFamily="18" charset="0"/>
                                </a:rPr>
                                <m:t>≈</m:t>
                              </m:r>
                              <m:r>
                                <a:rPr lang="en-US" altLang="ja-JP" sz="2400" b="0" i="1" smtClean="0">
                                  <a:latin typeface="Cambria Math" panose="02040503050406030204" pitchFamily="18" charset="0"/>
                                  <a:ea typeface="Cambria Math" panose="02040503050406030204" pitchFamily="18" charset="0"/>
                                </a:rPr>
                                <m:t>𝐸</m:t>
                              </m:r>
                              <m:d>
                                <m:dPr>
                                  <m:ctrlPr>
                                    <a:rPr lang="en-US" altLang="ja-JP" sz="2400" b="0" i="1" smtClean="0">
                                      <a:latin typeface="Cambria Math" panose="02040503050406030204" pitchFamily="18" charset="0"/>
                                      <a:ea typeface="Cambria Math" panose="02040503050406030204" pitchFamily="18" charset="0"/>
                                    </a:rPr>
                                  </m:ctrlPr>
                                </m:dPr>
                                <m:e>
                                  <m:sSub>
                                    <m:sSubPr>
                                      <m:ctrlPr>
                                        <a:rPr lang="en-US" altLang="ja-JP" sz="2400" b="0" i="1" smtClean="0">
                                          <a:latin typeface="Cambria Math" panose="02040503050406030204" pitchFamily="18" charset="0"/>
                                          <a:ea typeface="Cambria Math" panose="02040503050406030204" pitchFamily="18" charset="0"/>
                                        </a:rPr>
                                      </m:ctrlPr>
                                    </m:sSubPr>
                                    <m:e>
                                      <m:r>
                                        <a:rPr lang="en-US" altLang="ja-JP" sz="2400" b="1" i="0" smtClean="0">
                                          <a:latin typeface="Cambria Math" panose="02040503050406030204" pitchFamily="18" charset="0"/>
                                          <a:ea typeface="Cambria Math" panose="02040503050406030204" pitchFamily="18" charset="0"/>
                                        </a:rPr>
                                        <m:t>𝐰</m:t>
                                      </m:r>
                                    </m:e>
                                    <m:sub>
                                      <m:r>
                                        <a:rPr lang="en-US" altLang="ja-JP" sz="2400" b="0" i="1" smtClean="0">
                                          <a:latin typeface="Cambria Math" panose="02040503050406030204" pitchFamily="18" charset="0"/>
                                          <a:ea typeface="Cambria Math" panose="02040503050406030204" pitchFamily="18" charset="0"/>
                                        </a:rPr>
                                        <m:t>𝑘</m:t>
                                      </m:r>
                                    </m:sub>
                                  </m:sSub>
                                </m:e>
                              </m:d>
                              <m:r>
                                <a:rPr lang="en-US" altLang="ja-JP" sz="2400" b="0" i="1" smtClean="0">
                                  <a:latin typeface="Cambria Math" panose="02040503050406030204" pitchFamily="18" charset="0"/>
                                  <a:ea typeface="Cambria Math" panose="02040503050406030204" pitchFamily="18" charset="0"/>
                                </a:rPr>
                                <m:t>+ </m:t>
                              </m:r>
                              <m:f>
                                <m:fPr>
                                  <m:ctrlPr>
                                    <a:rPr lang="en-US" altLang="ja-JP" sz="2400" b="0" i="1" smtClean="0">
                                      <a:latin typeface="Cambria Math" panose="02040503050406030204" pitchFamily="18" charset="0"/>
                                      <a:ea typeface="Cambria Math" panose="02040503050406030204" pitchFamily="18" charset="0"/>
                                    </a:rPr>
                                  </m:ctrlPr>
                                </m:fPr>
                                <m:num>
                                  <m:sSup>
                                    <m:sSupPr>
                                      <m:ctrlPr>
                                        <a:rPr lang="en-US" altLang="ja-JP" sz="2400" b="0" i="1" smtClean="0">
                                          <a:latin typeface="Cambria Math" panose="02040503050406030204" pitchFamily="18" charset="0"/>
                                          <a:ea typeface="Cambria Math" panose="02040503050406030204" pitchFamily="18" charset="0"/>
                                        </a:rPr>
                                      </m:ctrlPr>
                                    </m:sSupPr>
                                    <m:e>
                                      <m:r>
                                        <m:rPr>
                                          <m:sty m:val="p"/>
                                        </m:rPr>
                                        <a:rPr lang="ja-JP" altLang="en-US" sz="2400">
                                          <a:latin typeface="Cambria Math" panose="02040503050406030204" pitchFamily="18" charset="0"/>
                                          <a:ea typeface="Cambria Math" panose="02040503050406030204" pitchFamily="18" charset="0"/>
                                        </a:rPr>
                                        <m:t>∇</m:t>
                                      </m:r>
                                      <m:r>
                                        <a:rPr lang="en-US" altLang="ja-JP" sz="2400" i="1">
                                          <a:latin typeface="Cambria Math" panose="02040503050406030204" pitchFamily="18" charset="0"/>
                                          <a:ea typeface="Cambria Math" panose="02040503050406030204" pitchFamily="18" charset="0"/>
                                        </a:rPr>
                                        <m:t>𝐸</m:t>
                                      </m:r>
                                      <m:d>
                                        <m:dPr>
                                          <m:ctrlPr>
                                            <a:rPr lang="en-US" altLang="ja-JP" sz="2400" i="1">
                                              <a:latin typeface="Cambria Math" panose="02040503050406030204" pitchFamily="18" charset="0"/>
                                              <a:ea typeface="Cambria Math" panose="02040503050406030204" pitchFamily="18" charset="0"/>
                                            </a:rPr>
                                          </m:ctrlPr>
                                        </m:dPr>
                                        <m:e>
                                          <m:sSub>
                                            <m:sSubPr>
                                              <m:ctrlPr>
                                                <a:rPr lang="en-US" altLang="ja-JP" sz="2400" i="1">
                                                  <a:latin typeface="Cambria Math" panose="02040503050406030204" pitchFamily="18" charset="0"/>
                                                  <a:ea typeface="Cambria Math" panose="02040503050406030204" pitchFamily="18" charset="0"/>
                                                </a:rPr>
                                              </m:ctrlPr>
                                            </m:sSubPr>
                                            <m:e>
                                              <m:r>
                                                <a:rPr lang="en-US" altLang="ja-JP" sz="2400" b="1">
                                                  <a:latin typeface="Cambria Math" panose="02040503050406030204" pitchFamily="18" charset="0"/>
                                                  <a:ea typeface="Cambria Math" panose="02040503050406030204" pitchFamily="18" charset="0"/>
                                                </a:rPr>
                                                <m:t>𝐰</m:t>
                                              </m:r>
                                            </m:e>
                                            <m:sub>
                                              <m:r>
                                                <a:rPr lang="en-US" altLang="ja-JP" sz="2400" i="1">
                                                  <a:latin typeface="Cambria Math" panose="02040503050406030204" pitchFamily="18" charset="0"/>
                                                  <a:ea typeface="Cambria Math" panose="02040503050406030204" pitchFamily="18" charset="0"/>
                                                </a:rPr>
                                                <m:t>𝑘</m:t>
                                              </m:r>
                                            </m:sub>
                                          </m:sSub>
                                        </m:e>
                                      </m:d>
                                    </m:e>
                                    <m:sup>
                                      <m:r>
                                        <a:rPr lang="en-US" altLang="ja-JP" sz="2400" b="0" i="1" smtClean="0">
                                          <a:latin typeface="Cambria Math" panose="02040503050406030204" pitchFamily="18" charset="0"/>
                                          <a:ea typeface="Cambria Math" panose="02040503050406030204" pitchFamily="18" charset="0"/>
                                        </a:rPr>
                                        <m:t>𝑇</m:t>
                                      </m:r>
                                    </m:sup>
                                  </m:sSup>
                                </m:num>
                                <m:den>
                                  <m:r>
                                    <a:rPr lang="en-US" altLang="ja-JP" sz="2400" b="0" i="1" smtClean="0">
                                      <a:latin typeface="Cambria Math" panose="02040503050406030204" pitchFamily="18" charset="0"/>
                                      <a:ea typeface="Cambria Math" panose="02040503050406030204" pitchFamily="18" charset="0"/>
                                    </a:rPr>
                                    <m:t>1!</m:t>
                                  </m:r>
                                </m:den>
                              </m:f>
                              <m:d>
                                <m:dPr>
                                  <m:ctrlPr>
                                    <a:rPr lang="en-US" altLang="ja-JP" sz="2400" i="1">
                                      <a:latin typeface="Cambria Math" panose="02040503050406030204" pitchFamily="18" charset="0"/>
                                      <a:ea typeface="Cambria Math" panose="02040503050406030204" pitchFamily="18" charset="0"/>
                                    </a:rPr>
                                  </m:ctrlPr>
                                </m:dPr>
                                <m:e>
                                  <m:r>
                                    <a:rPr lang="en-US" altLang="ja-JP" sz="2400" b="1" i="1">
                                      <a:latin typeface="Cambria Math" panose="02040503050406030204" pitchFamily="18" charset="0"/>
                                      <a:ea typeface="Cambria Math" panose="02040503050406030204" pitchFamily="18" charset="0"/>
                                    </a:rPr>
                                    <m:t>𝒘</m:t>
                                  </m:r>
                                  <m:r>
                                    <a:rPr lang="en-US" altLang="ja-JP" sz="2400" i="1">
                                      <a:latin typeface="Cambria Math" panose="02040503050406030204" pitchFamily="18" charset="0"/>
                                      <a:ea typeface="Cambria Math" panose="02040503050406030204" pitchFamily="18" charset="0"/>
                                    </a:rPr>
                                    <m:t> − </m:t>
                                  </m:r>
                                  <m:sSub>
                                    <m:sSubPr>
                                      <m:ctrlPr>
                                        <a:rPr lang="en-US" altLang="ja-JP" sz="2400" i="1">
                                          <a:latin typeface="Cambria Math" panose="02040503050406030204" pitchFamily="18" charset="0"/>
                                          <a:ea typeface="Cambria Math" panose="02040503050406030204" pitchFamily="18" charset="0"/>
                                        </a:rPr>
                                      </m:ctrlPr>
                                    </m:sSubPr>
                                    <m:e>
                                      <m:r>
                                        <a:rPr lang="en-US" altLang="ja-JP" sz="2400" b="1">
                                          <a:latin typeface="Cambria Math" panose="02040503050406030204" pitchFamily="18" charset="0"/>
                                          <a:ea typeface="Cambria Math" panose="02040503050406030204" pitchFamily="18" charset="0"/>
                                        </a:rPr>
                                        <m:t>𝐰</m:t>
                                      </m:r>
                                    </m:e>
                                    <m:sub>
                                      <m:r>
                                        <a:rPr lang="en-US" altLang="ja-JP" sz="2400" i="1">
                                          <a:latin typeface="Cambria Math" panose="02040503050406030204" pitchFamily="18" charset="0"/>
                                          <a:ea typeface="Cambria Math" panose="02040503050406030204" pitchFamily="18" charset="0"/>
                                        </a:rPr>
                                        <m:t>𝑘</m:t>
                                      </m:r>
                                    </m:sub>
                                  </m:sSub>
                                </m:e>
                              </m:d>
                              <m:r>
                                <a:rPr lang="en-US" altLang="ja-JP" sz="2400" b="0" i="1" smtClean="0">
                                  <a:latin typeface="Cambria Math" panose="02040503050406030204" pitchFamily="18" charset="0"/>
                                  <a:ea typeface="Cambria Math" panose="02040503050406030204" pitchFamily="18" charset="0"/>
                                </a:rPr>
                                <m:t>+</m:t>
                              </m:r>
                              <m:sSup>
                                <m:sSupPr>
                                  <m:ctrlPr>
                                    <a:rPr lang="en-US" altLang="ja-JP" sz="2400" i="1">
                                      <a:latin typeface="Cambria Math" panose="02040503050406030204" pitchFamily="18" charset="0"/>
                                      <a:ea typeface="Cambria Math" panose="02040503050406030204" pitchFamily="18" charset="0"/>
                                    </a:rPr>
                                  </m:ctrlPr>
                                </m:sSupPr>
                                <m:e>
                                  <m:d>
                                    <m:dPr>
                                      <m:ctrlPr>
                                        <a:rPr lang="en-US" altLang="ja-JP" sz="2400" i="1">
                                          <a:latin typeface="Cambria Math" panose="02040503050406030204" pitchFamily="18" charset="0"/>
                                          <a:ea typeface="Cambria Math" panose="02040503050406030204" pitchFamily="18" charset="0"/>
                                        </a:rPr>
                                      </m:ctrlPr>
                                    </m:dPr>
                                    <m:e>
                                      <m:r>
                                        <a:rPr lang="en-US" altLang="ja-JP" sz="2400" b="1" i="1">
                                          <a:latin typeface="Cambria Math" panose="02040503050406030204" pitchFamily="18" charset="0"/>
                                          <a:ea typeface="Cambria Math" panose="02040503050406030204" pitchFamily="18" charset="0"/>
                                        </a:rPr>
                                        <m:t>𝒘</m:t>
                                      </m:r>
                                      <m:r>
                                        <a:rPr lang="en-US" altLang="ja-JP" sz="2400" i="1">
                                          <a:latin typeface="Cambria Math" panose="02040503050406030204" pitchFamily="18" charset="0"/>
                                          <a:ea typeface="Cambria Math" panose="02040503050406030204" pitchFamily="18" charset="0"/>
                                        </a:rPr>
                                        <m:t> − </m:t>
                                      </m:r>
                                      <m:sSub>
                                        <m:sSubPr>
                                          <m:ctrlPr>
                                            <a:rPr lang="en-US" altLang="ja-JP" sz="2400" i="1">
                                              <a:latin typeface="Cambria Math" panose="02040503050406030204" pitchFamily="18" charset="0"/>
                                              <a:ea typeface="Cambria Math" panose="02040503050406030204" pitchFamily="18" charset="0"/>
                                            </a:rPr>
                                          </m:ctrlPr>
                                        </m:sSubPr>
                                        <m:e>
                                          <m:r>
                                            <a:rPr lang="en-US" altLang="ja-JP" sz="2400" b="1">
                                              <a:latin typeface="Cambria Math" panose="02040503050406030204" pitchFamily="18" charset="0"/>
                                              <a:ea typeface="Cambria Math" panose="02040503050406030204" pitchFamily="18" charset="0"/>
                                            </a:rPr>
                                            <m:t>𝐰</m:t>
                                          </m:r>
                                        </m:e>
                                        <m:sub>
                                          <m:r>
                                            <a:rPr lang="en-US" altLang="ja-JP" sz="2400" i="1">
                                              <a:latin typeface="Cambria Math" panose="02040503050406030204" pitchFamily="18" charset="0"/>
                                              <a:ea typeface="Cambria Math" panose="02040503050406030204" pitchFamily="18" charset="0"/>
                                            </a:rPr>
                                            <m:t>𝑘</m:t>
                                          </m:r>
                                        </m:sub>
                                      </m:sSub>
                                    </m:e>
                                  </m:d>
                                </m:e>
                                <m:sup>
                                  <m:r>
                                    <a:rPr lang="en-ZA" altLang="ja-JP" sz="2400" i="1">
                                      <a:latin typeface="Cambria Math" panose="02040503050406030204" pitchFamily="18" charset="0"/>
                                      <a:ea typeface="Cambria Math" panose="02040503050406030204" pitchFamily="18" charset="0"/>
                                    </a:rPr>
                                    <m:t>𝑇</m:t>
                                  </m:r>
                                </m:sup>
                              </m:sSup>
                              <m:f>
                                <m:fPr>
                                  <m:ctrlPr>
                                    <a:rPr lang="en-US" altLang="ja-JP" sz="2400" b="0" i="1" smtClean="0">
                                      <a:latin typeface="Cambria Math" panose="02040503050406030204" pitchFamily="18" charset="0"/>
                                      <a:ea typeface="Cambria Math" panose="02040503050406030204" pitchFamily="18" charset="0"/>
                                    </a:rPr>
                                  </m:ctrlPr>
                                </m:fPr>
                                <m:num>
                                  <m:sSup>
                                    <m:sSupPr>
                                      <m:ctrlPr>
                                        <a:rPr lang="en-US" altLang="ja-JP" sz="2400" b="0" i="1" smtClean="0">
                                          <a:solidFill>
                                            <a:srgbClr val="C00000"/>
                                          </a:solidFill>
                                          <a:latin typeface="Cambria Math" panose="02040503050406030204" pitchFamily="18" charset="0"/>
                                          <a:ea typeface="Cambria Math" panose="02040503050406030204" pitchFamily="18" charset="0"/>
                                        </a:rPr>
                                      </m:ctrlPr>
                                    </m:sSupPr>
                                    <m:e>
                                      <m:r>
                                        <m:rPr>
                                          <m:sty m:val="p"/>
                                        </m:rPr>
                                        <a:rPr lang="ja-JP" altLang="en-US" sz="2400" i="1">
                                          <a:solidFill>
                                            <a:srgbClr val="C00000"/>
                                          </a:solidFill>
                                          <a:latin typeface="Cambria Math" panose="02040503050406030204" pitchFamily="18" charset="0"/>
                                          <a:ea typeface="Cambria Math" panose="02040503050406030204" pitchFamily="18" charset="0"/>
                                        </a:rPr>
                                        <m:t>∇</m:t>
                                      </m:r>
                                    </m:e>
                                    <m:sup>
                                      <m:r>
                                        <a:rPr lang="en-US" altLang="ja-JP" sz="2400" b="0" i="1" smtClean="0">
                                          <a:solidFill>
                                            <a:srgbClr val="C00000"/>
                                          </a:solidFill>
                                          <a:latin typeface="Cambria Math" panose="02040503050406030204" pitchFamily="18" charset="0"/>
                                          <a:ea typeface="Cambria Math" panose="02040503050406030204" pitchFamily="18" charset="0"/>
                                        </a:rPr>
                                        <m:t>2</m:t>
                                      </m:r>
                                    </m:sup>
                                  </m:sSup>
                                  <m:r>
                                    <a:rPr lang="en-US" altLang="ja-JP" sz="2400" b="0" i="1" smtClean="0">
                                      <a:solidFill>
                                        <a:srgbClr val="C00000"/>
                                      </a:solidFill>
                                      <a:latin typeface="Cambria Math" panose="02040503050406030204" pitchFamily="18" charset="0"/>
                                      <a:ea typeface="Cambria Math" panose="02040503050406030204" pitchFamily="18" charset="0"/>
                                    </a:rPr>
                                    <m:t>𝐸</m:t>
                                  </m:r>
                                  <m:d>
                                    <m:dPr>
                                      <m:ctrlPr>
                                        <a:rPr lang="en-US" altLang="ja-JP" sz="2400" b="0" i="1" smtClean="0">
                                          <a:solidFill>
                                            <a:srgbClr val="C00000"/>
                                          </a:solidFill>
                                          <a:latin typeface="Cambria Math" panose="02040503050406030204" pitchFamily="18" charset="0"/>
                                          <a:ea typeface="Cambria Math" panose="02040503050406030204" pitchFamily="18" charset="0"/>
                                        </a:rPr>
                                      </m:ctrlPr>
                                    </m:dPr>
                                    <m:e>
                                      <m:sSub>
                                        <m:sSubPr>
                                          <m:ctrlPr>
                                            <a:rPr lang="en-US" altLang="ja-JP" sz="2400" b="0" i="1" smtClean="0">
                                              <a:solidFill>
                                                <a:srgbClr val="C00000"/>
                                              </a:solidFill>
                                              <a:latin typeface="Cambria Math" panose="02040503050406030204" pitchFamily="18" charset="0"/>
                                              <a:ea typeface="Cambria Math" panose="02040503050406030204" pitchFamily="18" charset="0"/>
                                            </a:rPr>
                                          </m:ctrlPr>
                                        </m:sSubPr>
                                        <m:e>
                                          <m:r>
                                            <a:rPr lang="en-US" altLang="ja-JP" sz="2400" b="1" i="0" smtClean="0">
                                              <a:solidFill>
                                                <a:srgbClr val="C00000"/>
                                              </a:solidFill>
                                              <a:latin typeface="Cambria Math" panose="02040503050406030204" pitchFamily="18" charset="0"/>
                                              <a:ea typeface="Cambria Math" panose="02040503050406030204" pitchFamily="18" charset="0"/>
                                            </a:rPr>
                                            <m:t>𝐰</m:t>
                                          </m:r>
                                        </m:e>
                                        <m:sub>
                                          <m:r>
                                            <a:rPr lang="en-US" altLang="ja-JP" sz="2400" b="0" i="1" smtClean="0">
                                              <a:solidFill>
                                                <a:srgbClr val="C00000"/>
                                              </a:solidFill>
                                              <a:latin typeface="Cambria Math" panose="02040503050406030204" pitchFamily="18" charset="0"/>
                                              <a:ea typeface="Cambria Math" panose="02040503050406030204" pitchFamily="18" charset="0"/>
                                            </a:rPr>
                                            <m:t>𝑘</m:t>
                                          </m:r>
                                        </m:sub>
                                      </m:sSub>
                                    </m:e>
                                  </m:d>
                                </m:num>
                                <m:den>
                                  <m:r>
                                    <a:rPr lang="en-US" altLang="ja-JP" sz="2400" b="0" i="1" smtClean="0">
                                      <a:latin typeface="Cambria Math" panose="02040503050406030204" pitchFamily="18" charset="0"/>
                                      <a:ea typeface="Cambria Math" panose="02040503050406030204" pitchFamily="18" charset="0"/>
                                    </a:rPr>
                                    <m:t>2!</m:t>
                                  </m:r>
                                </m:den>
                              </m:f>
                              <m:d>
                                <m:dPr>
                                  <m:ctrlPr>
                                    <a:rPr lang="en-US" altLang="ja-JP" sz="2400" i="1">
                                      <a:latin typeface="Cambria Math" panose="02040503050406030204" pitchFamily="18" charset="0"/>
                                      <a:ea typeface="Cambria Math" panose="02040503050406030204" pitchFamily="18" charset="0"/>
                                    </a:rPr>
                                  </m:ctrlPr>
                                </m:dPr>
                                <m:e>
                                  <m:r>
                                    <a:rPr lang="en-US" altLang="ja-JP" sz="2400" b="1" i="1">
                                      <a:latin typeface="Cambria Math" panose="02040503050406030204" pitchFamily="18" charset="0"/>
                                      <a:ea typeface="Cambria Math" panose="02040503050406030204" pitchFamily="18" charset="0"/>
                                    </a:rPr>
                                    <m:t>𝒘</m:t>
                                  </m:r>
                                  <m:r>
                                    <a:rPr lang="en-US" altLang="ja-JP" sz="2400" i="1">
                                      <a:latin typeface="Cambria Math" panose="02040503050406030204" pitchFamily="18" charset="0"/>
                                      <a:ea typeface="Cambria Math" panose="02040503050406030204" pitchFamily="18" charset="0"/>
                                    </a:rPr>
                                    <m:t> − </m:t>
                                  </m:r>
                                  <m:sSub>
                                    <m:sSubPr>
                                      <m:ctrlPr>
                                        <a:rPr lang="en-US" altLang="ja-JP" sz="2400" i="1">
                                          <a:latin typeface="Cambria Math" panose="02040503050406030204" pitchFamily="18" charset="0"/>
                                          <a:ea typeface="Cambria Math" panose="02040503050406030204" pitchFamily="18" charset="0"/>
                                        </a:rPr>
                                      </m:ctrlPr>
                                    </m:sSubPr>
                                    <m:e>
                                      <m:r>
                                        <a:rPr lang="en-US" altLang="ja-JP" sz="2400" b="1">
                                          <a:latin typeface="Cambria Math" panose="02040503050406030204" pitchFamily="18" charset="0"/>
                                          <a:ea typeface="Cambria Math" panose="02040503050406030204" pitchFamily="18" charset="0"/>
                                        </a:rPr>
                                        <m:t>𝐰</m:t>
                                      </m:r>
                                    </m:e>
                                    <m:sub>
                                      <m:r>
                                        <a:rPr lang="en-US" altLang="ja-JP" sz="2400" i="1">
                                          <a:latin typeface="Cambria Math" panose="02040503050406030204" pitchFamily="18" charset="0"/>
                                          <a:ea typeface="Cambria Math" panose="02040503050406030204" pitchFamily="18" charset="0"/>
                                        </a:rPr>
                                        <m:t>𝑘</m:t>
                                      </m:r>
                                    </m:sub>
                                  </m:sSub>
                                </m:e>
                              </m:d>
                              <m:r>
                                <a:rPr lang="en-US" altLang="ja-JP" sz="2400" i="1">
                                  <a:latin typeface="Cambria Math" panose="02040503050406030204" pitchFamily="18" charset="0"/>
                                  <a:ea typeface="Cambria Math" panose="02040503050406030204" pitchFamily="18" charset="0"/>
                                </a:rPr>
                                <m:t>#</m:t>
                              </m:r>
                              <m:r>
                                <a:rPr lang="en-US" altLang="ja-JP" sz="2400" b="0" i="1" smtClean="0">
                                  <a:latin typeface="Cambria Math" panose="02040503050406030204" pitchFamily="18" charset="0"/>
                                  <a:ea typeface="Cambria Math" panose="02040503050406030204" pitchFamily="18" charset="0"/>
                                </a:rPr>
                                <m:t>#</m:t>
                              </m:r>
                            </m:e>
                          </m:eqArr>
                          <m:r>
                            <a:rPr lang="en-US" altLang="ja-JP" sz="2400" b="0" i="1" smtClean="0">
                              <a:latin typeface="Cambria Math" panose="02040503050406030204" pitchFamily="18" charset="0"/>
                              <a:ea typeface="Cambria Math" panose="02040503050406030204" pitchFamily="18" charset="0"/>
                            </a:rPr>
                            <m:t>#</m:t>
                          </m:r>
                        </m:e>
                      </m:eqArr>
                    </m:oMath>
                  </m:oMathPara>
                </a14:m>
                <a:endParaRPr lang="en-US" altLang="ja-JP" sz="2400" b="0" dirty="0">
                  <a:ea typeface="Cambria Math" panose="02040503050406030204" pitchFamily="18" charset="0"/>
                </a:endParaRPr>
              </a:p>
              <a:p>
                <a:pPr marL="0" indent="0">
                  <a:buNone/>
                </a:pPr>
                <a:r>
                  <a:rPr lang="en-US" altLang="ja-JP" sz="2400" dirty="0">
                    <a:ea typeface="Cambria Math" panose="02040503050406030204" pitchFamily="18" charset="0"/>
                  </a:rPr>
                  <a:t>※</a:t>
                </a:r>
                <a14:m>
                  <m:oMath xmlns:m="http://schemas.openxmlformats.org/officeDocument/2006/math">
                    <m:r>
                      <a:rPr lang="ja-JP" altLang="en-US" sz="2400" i="1">
                        <a:latin typeface="Cambria Math" panose="02040503050406030204" pitchFamily="18" charset="0"/>
                        <a:ea typeface="Cambria Math" panose="02040503050406030204" pitchFamily="18" charset="0"/>
                      </a:rPr>
                      <m:t> </m:t>
                    </m:r>
                    <m:sSup>
                      <m:sSupPr>
                        <m:ctrlPr>
                          <a:rPr lang="en-US" altLang="ja-JP" sz="2400" i="1">
                            <a:latin typeface="Cambria Math" panose="02040503050406030204" pitchFamily="18" charset="0"/>
                            <a:ea typeface="Cambria Math" panose="02040503050406030204" pitchFamily="18" charset="0"/>
                          </a:rPr>
                        </m:ctrlPr>
                      </m:sSupPr>
                      <m:e>
                        <m:r>
                          <m:rPr>
                            <m:sty m:val="p"/>
                          </m:rPr>
                          <a:rPr lang="ja-JP" altLang="en-US" sz="2400" i="1">
                            <a:latin typeface="Cambria Math" panose="02040503050406030204" pitchFamily="18" charset="0"/>
                            <a:ea typeface="Cambria Math" panose="02040503050406030204" pitchFamily="18" charset="0"/>
                          </a:rPr>
                          <m:t>∇</m:t>
                        </m:r>
                      </m:e>
                      <m:sup>
                        <m:r>
                          <a:rPr lang="en-US" altLang="ja-JP" sz="2400" i="1">
                            <a:latin typeface="Cambria Math" panose="02040503050406030204" pitchFamily="18" charset="0"/>
                            <a:ea typeface="Cambria Math" panose="02040503050406030204" pitchFamily="18" charset="0"/>
                          </a:rPr>
                          <m:t>2</m:t>
                        </m:r>
                      </m:sup>
                    </m:sSup>
                    <m:r>
                      <a:rPr lang="en-US" altLang="ja-JP" sz="2400" i="1">
                        <a:latin typeface="Cambria Math" panose="02040503050406030204" pitchFamily="18" charset="0"/>
                        <a:ea typeface="Cambria Math" panose="02040503050406030204" pitchFamily="18" charset="0"/>
                      </a:rPr>
                      <m:t>𝐸</m:t>
                    </m:r>
                    <m:d>
                      <m:dPr>
                        <m:ctrlPr>
                          <a:rPr lang="en-US" altLang="ja-JP" sz="2400" i="1">
                            <a:latin typeface="Cambria Math" panose="02040503050406030204" pitchFamily="18" charset="0"/>
                            <a:ea typeface="Cambria Math" panose="02040503050406030204" pitchFamily="18" charset="0"/>
                          </a:rPr>
                        </m:ctrlPr>
                      </m:dPr>
                      <m:e>
                        <m:sSub>
                          <m:sSubPr>
                            <m:ctrlPr>
                              <a:rPr lang="en-US" altLang="ja-JP" sz="2400" i="1">
                                <a:latin typeface="Cambria Math" panose="02040503050406030204" pitchFamily="18" charset="0"/>
                                <a:ea typeface="Cambria Math" panose="02040503050406030204" pitchFamily="18" charset="0"/>
                              </a:rPr>
                            </m:ctrlPr>
                          </m:sSubPr>
                          <m:e>
                            <m:r>
                              <a:rPr lang="en-US" altLang="ja-JP" sz="2400" b="1" i="0">
                                <a:latin typeface="Cambria Math" panose="02040503050406030204" pitchFamily="18" charset="0"/>
                                <a:ea typeface="Cambria Math" panose="02040503050406030204" pitchFamily="18" charset="0"/>
                              </a:rPr>
                              <m:t>𝐰</m:t>
                            </m:r>
                          </m:e>
                          <m:sub>
                            <m:r>
                              <a:rPr lang="en-US" altLang="ja-JP" sz="2400" i="1">
                                <a:latin typeface="Cambria Math" panose="02040503050406030204" pitchFamily="18" charset="0"/>
                                <a:ea typeface="Cambria Math" panose="02040503050406030204" pitchFamily="18" charset="0"/>
                              </a:rPr>
                              <m:t>𝑘</m:t>
                            </m:r>
                          </m:sub>
                        </m:sSub>
                      </m:e>
                    </m:d>
                  </m:oMath>
                </a14:m>
                <a:r>
                  <a:rPr lang="ja-JP" altLang="en-US" sz="2400" dirty="0"/>
                  <a:t> ： ヘッセ行列</a:t>
                </a:r>
                <a:endParaRPr lang="en-ZA" altLang="ja-JP" sz="2400" b="0" dirty="0">
                  <a:ea typeface="Cambria Math" panose="02040503050406030204" pitchFamily="18" charset="0"/>
                </a:endParaRPr>
              </a:p>
              <a:p>
                <a:pPr marL="0" indent="0">
                  <a:buNone/>
                </a:pPr>
                <a:endParaRPr lang="en-US" altLang="ja-JP" sz="2400" dirty="0">
                  <a:ea typeface="Cambria Math" panose="02040503050406030204" pitchFamily="18" charset="0"/>
                </a:endParaRPr>
              </a:p>
              <a:p>
                <a:pPr marL="0" indent="0">
                  <a:buNone/>
                </a:pPr>
                <a:r>
                  <a:rPr lang="en-US" altLang="ja-JP" sz="2400" dirty="0"/>
                  <a:t>(4)</a:t>
                </a:r>
                <a:r>
                  <a:rPr lang="ja-JP" altLang="en-US" sz="2400" dirty="0"/>
                  <a:t>を</a:t>
                </a:r>
                <a14:m>
                  <m:oMath xmlns:m="http://schemas.openxmlformats.org/officeDocument/2006/math">
                    <m:r>
                      <a:rPr lang="en-US" altLang="ja-JP" sz="2400" b="1" i="0" smtClean="0">
                        <a:latin typeface="Cambria Math" panose="02040503050406030204" pitchFamily="18" charset="0"/>
                      </a:rPr>
                      <m:t>𝐰</m:t>
                    </m:r>
                    <m:r>
                      <a:rPr lang="ja-JP" altLang="en-US" sz="2400" i="1">
                        <a:latin typeface="Cambria Math" panose="02040503050406030204" pitchFamily="18" charset="0"/>
                      </a:rPr>
                      <m:t>で</m:t>
                    </m:r>
                  </m:oMath>
                </a14:m>
                <a:r>
                  <a:rPr lang="ja-JP" altLang="en-US" sz="2400" dirty="0"/>
                  <a:t>微分</a:t>
                </a:r>
                <a:endParaRPr lang="en-US" altLang="ja-JP" sz="2400" dirty="0"/>
              </a:p>
              <a:p>
                <a:pPr marL="0" indent="0">
                  <a:buNone/>
                </a:pPr>
                <a14:m>
                  <m:oMathPara xmlns:m="http://schemas.openxmlformats.org/officeDocument/2006/math">
                    <m:oMathParaPr>
                      <m:jc m:val="centerGroup"/>
                    </m:oMathParaPr>
                    <m:oMath xmlns:m="http://schemas.openxmlformats.org/officeDocument/2006/math">
                      <m:eqArr>
                        <m:eqArrPr>
                          <m:ctrlPr>
                            <a:rPr lang="en-US" altLang="ja-JP" sz="2400" b="0" i="1">
                              <a:latin typeface="Cambria Math" panose="02040503050406030204" pitchFamily="18" charset="0"/>
                              <a:ea typeface="Cambria Math" panose="02040503050406030204" pitchFamily="18" charset="0"/>
                            </a:rPr>
                          </m:ctrlPr>
                        </m:eqArrPr>
                        <m:e>
                          <m:r>
                            <m:rPr>
                              <m:sty m:val="p"/>
                            </m:rPr>
                            <a:rPr lang="ja-JP" altLang="en-US" sz="2400" b="0" i="1" dirty="0" smtClean="0">
                              <a:latin typeface="Cambria Math" panose="02040503050406030204" pitchFamily="18" charset="0"/>
                            </a:rPr>
                            <m:t>∇</m:t>
                          </m:r>
                          <m:r>
                            <a:rPr lang="en-US" altLang="ja-JP" sz="2400" b="0" i="1" smtClean="0">
                              <a:latin typeface="Cambria Math" panose="02040503050406030204" pitchFamily="18" charset="0"/>
                            </a:rPr>
                            <m:t>𝐸</m:t>
                          </m:r>
                          <m:d>
                            <m:dPr>
                              <m:ctrlPr>
                                <a:rPr lang="en-US" altLang="ja-JP" sz="2400" b="0" i="1" smtClean="0">
                                  <a:latin typeface="Cambria Math" panose="02040503050406030204" pitchFamily="18" charset="0"/>
                                </a:rPr>
                              </m:ctrlPr>
                            </m:dPr>
                            <m:e>
                              <m:r>
                                <a:rPr lang="en-US" altLang="ja-JP" sz="2400" b="1" i="0" smtClean="0">
                                  <a:latin typeface="Cambria Math" panose="02040503050406030204" pitchFamily="18" charset="0"/>
                                </a:rPr>
                                <m:t>𝐰</m:t>
                              </m:r>
                            </m:e>
                          </m:d>
                          <m:r>
                            <a:rPr lang="en-US" altLang="ja-JP" sz="2400" b="0" i="1" smtClean="0">
                              <a:latin typeface="Cambria Math" panose="02040503050406030204" pitchFamily="18" charset="0"/>
                            </a:rPr>
                            <m:t>=</m:t>
                          </m:r>
                          <m:r>
                            <m:rPr>
                              <m:sty m:val="p"/>
                            </m:rPr>
                            <a:rPr lang="ja-JP" altLang="en-US" sz="2400">
                              <a:latin typeface="Cambria Math" panose="02040503050406030204" pitchFamily="18" charset="0"/>
                              <a:ea typeface="Cambria Math" panose="02040503050406030204" pitchFamily="18" charset="0"/>
                            </a:rPr>
                            <m:t>∇</m:t>
                          </m:r>
                          <m:r>
                            <a:rPr lang="en-US" altLang="ja-JP" sz="2400" i="1">
                              <a:latin typeface="Cambria Math" panose="02040503050406030204" pitchFamily="18" charset="0"/>
                              <a:ea typeface="Cambria Math" panose="02040503050406030204" pitchFamily="18" charset="0"/>
                            </a:rPr>
                            <m:t>𝐸</m:t>
                          </m:r>
                          <m:d>
                            <m:dPr>
                              <m:ctrlPr>
                                <a:rPr lang="en-US" altLang="ja-JP" sz="2400" i="1">
                                  <a:latin typeface="Cambria Math" panose="02040503050406030204" pitchFamily="18" charset="0"/>
                                  <a:ea typeface="Cambria Math" panose="02040503050406030204" pitchFamily="18" charset="0"/>
                                </a:rPr>
                              </m:ctrlPr>
                            </m:dPr>
                            <m:e>
                              <m:sSub>
                                <m:sSubPr>
                                  <m:ctrlPr>
                                    <a:rPr lang="en-US" altLang="ja-JP" sz="2400" i="1">
                                      <a:latin typeface="Cambria Math" panose="02040503050406030204" pitchFamily="18" charset="0"/>
                                      <a:ea typeface="Cambria Math" panose="02040503050406030204" pitchFamily="18" charset="0"/>
                                    </a:rPr>
                                  </m:ctrlPr>
                                </m:sSubPr>
                                <m:e>
                                  <m:r>
                                    <a:rPr lang="en-US" altLang="ja-JP" sz="2400" b="1" i="0">
                                      <a:latin typeface="Cambria Math" panose="02040503050406030204" pitchFamily="18" charset="0"/>
                                      <a:ea typeface="Cambria Math" panose="02040503050406030204" pitchFamily="18" charset="0"/>
                                    </a:rPr>
                                    <m:t>𝐰</m:t>
                                  </m:r>
                                </m:e>
                                <m:sub>
                                  <m:r>
                                    <a:rPr lang="en-US" altLang="ja-JP" sz="2400" i="1">
                                      <a:latin typeface="Cambria Math" panose="02040503050406030204" pitchFamily="18" charset="0"/>
                                      <a:ea typeface="Cambria Math" panose="02040503050406030204" pitchFamily="18" charset="0"/>
                                    </a:rPr>
                                    <m:t>𝑘</m:t>
                                  </m:r>
                                </m:sub>
                              </m:sSub>
                            </m:e>
                          </m:d>
                          <m:r>
                            <a:rPr lang="en-US" altLang="ja-JP" sz="2400" b="0" i="1" smtClean="0">
                              <a:latin typeface="Cambria Math" panose="02040503050406030204" pitchFamily="18" charset="0"/>
                              <a:ea typeface="Cambria Math" panose="02040503050406030204" pitchFamily="18" charset="0"/>
                            </a:rPr>
                            <m:t>+</m:t>
                          </m:r>
                          <m:sSup>
                            <m:sSupPr>
                              <m:ctrlPr>
                                <a:rPr lang="en-US" altLang="ja-JP" sz="2400" i="1" smtClean="0">
                                  <a:solidFill>
                                    <a:schemeClr val="tx1">
                                      <a:lumMod val="75000"/>
                                      <a:lumOff val="25000"/>
                                    </a:schemeClr>
                                  </a:solidFill>
                                  <a:latin typeface="Cambria Math" panose="02040503050406030204" pitchFamily="18" charset="0"/>
                                  <a:ea typeface="Cambria Math" panose="02040503050406030204" pitchFamily="18" charset="0"/>
                                </a:rPr>
                              </m:ctrlPr>
                            </m:sSupPr>
                            <m:e>
                              <m:r>
                                <m:rPr>
                                  <m:sty m:val="p"/>
                                </m:rPr>
                                <a:rPr lang="ja-JP" altLang="en-US" sz="2400" i="1">
                                  <a:solidFill>
                                    <a:schemeClr val="tx1">
                                      <a:lumMod val="75000"/>
                                      <a:lumOff val="25000"/>
                                    </a:schemeClr>
                                  </a:solidFill>
                                  <a:latin typeface="Cambria Math" panose="02040503050406030204" pitchFamily="18" charset="0"/>
                                  <a:ea typeface="Cambria Math" panose="02040503050406030204" pitchFamily="18" charset="0"/>
                                </a:rPr>
                                <m:t>∇</m:t>
                              </m:r>
                            </m:e>
                            <m:sup>
                              <m:r>
                                <a:rPr lang="en-US" altLang="ja-JP" sz="2400" i="1">
                                  <a:solidFill>
                                    <a:schemeClr val="tx1">
                                      <a:lumMod val="75000"/>
                                      <a:lumOff val="25000"/>
                                    </a:schemeClr>
                                  </a:solidFill>
                                  <a:latin typeface="Cambria Math" panose="02040503050406030204" pitchFamily="18" charset="0"/>
                                  <a:ea typeface="Cambria Math" panose="02040503050406030204" pitchFamily="18" charset="0"/>
                                </a:rPr>
                                <m:t>2</m:t>
                              </m:r>
                            </m:sup>
                          </m:sSup>
                          <m:r>
                            <a:rPr lang="en-US" altLang="ja-JP" sz="2400" i="1">
                              <a:solidFill>
                                <a:schemeClr val="tx1">
                                  <a:lumMod val="75000"/>
                                  <a:lumOff val="25000"/>
                                </a:schemeClr>
                              </a:solidFill>
                              <a:latin typeface="Cambria Math" panose="02040503050406030204" pitchFamily="18" charset="0"/>
                              <a:ea typeface="Cambria Math" panose="02040503050406030204" pitchFamily="18" charset="0"/>
                            </a:rPr>
                            <m:t>𝐸</m:t>
                          </m:r>
                          <m:d>
                            <m:dPr>
                              <m:ctrlPr>
                                <a:rPr lang="en-US" altLang="ja-JP" sz="2400" i="1">
                                  <a:solidFill>
                                    <a:schemeClr val="tx1">
                                      <a:lumMod val="75000"/>
                                      <a:lumOff val="25000"/>
                                    </a:schemeClr>
                                  </a:solidFill>
                                  <a:latin typeface="Cambria Math" panose="02040503050406030204" pitchFamily="18" charset="0"/>
                                  <a:ea typeface="Cambria Math" panose="02040503050406030204" pitchFamily="18" charset="0"/>
                                </a:rPr>
                              </m:ctrlPr>
                            </m:dPr>
                            <m:e>
                              <m:sSub>
                                <m:sSubPr>
                                  <m:ctrlPr>
                                    <a:rPr lang="en-US" altLang="ja-JP" sz="2400" i="1">
                                      <a:solidFill>
                                        <a:schemeClr val="tx1">
                                          <a:lumMod val="75000"/>
                                          <a:lumOff val="25000"/>
                                        </a:schemeClr>
                                      </a:solidFill>
                                      <a:latin typeface="Cambria Math" panose="02040503050406030204" pitchFamily="18" charset="0"/>
                                      <a:ea typeface="Cambria Math" panose="02040503050406030204" pitchFamily="18" charset="0"/>
                                    </a:rPr>
                                  </m:ctrlPr>
                                </m:sSubPr>
                                <m:e>
                                  <m:r>
                                    <a:rPr lang="en-US" altLang="ja-JP" sz="2400" b="1" i="0">
                                      <a:solidFill>
                                        <a:schemeClr val="tx1">
                                          <a:lumMod val="75000"/>
                                          <a:lumOff val="25000"/>
                                        </a:schemeClr>
                                      </a:solidFill>
                                      <a:latin typeface="Cambria Math" panose="02040503050406030204" pitchFamily="18" charset="0"/>
                                      <a:ea typeface="Cambria Math" panose="02040503050406030204" pitchFamily="18" charset="0"/>
                                    </a:rPr>
                                    <m:t>𝐰</m:t>
                                  </m:r>
                                </m:e>
                                <m:sub>
                                  <m:r>
                                    <a:rPr lang="en-US" altLang="ja-JP" sz="2400" i="1">
                                      <a:solidFill>
                                        <a:schemeClr val="tx1">
                                          <a:lumMod val="75000"/>
                                          <a:lumOff val="25000"/>
                                        </a:schemeClr>
                                      </a:solidFill>
                                      <a:latin typeface="Cambria Math" panose="02040503050406030204" pitchFamily="18" charset="0"/>
                                      <a:ea typeface="Cambria Math" panose="02040503050406030204" pitchFamily="18" charset="0"/>
                                    </a:rPr>
                                    <m:t>𝑘</m:t>
                                  </m:r>
                                </m:sub>
                              </m:sSub>
                            </m:e>
                          </m:d>
                          <m:d>
                            <m:dPr>
                              <m:ctrlPr>
                                <a:rPr lang="en-US" altLang="ja-JP" sz="2400" i="1">
                                  <a:latin typeface="Cambria Math" panose="02040503050406030204" pitchFamily="18" charset="0"/>
                                  <a:ea typeface="Cambria Math" panose="02040503050406030204" pitchFamily="18" charset="0"/>
                                </a:rPr>
                              </m:ctrlPr>
                            </m:dPr>
                            <m:e>
                              <m:r>
                                <a:rPr lang="en-US" altLang="ja-JP" sz="2400" b="1" i="0">
                                  <a:latin typeface="Cambria Math" panose="02040503050406030204" pitchFamily="18" charset="0"/>
                                  <a:ea typeface="Cambria Math" panose="02040503050406030204" pitchFamily="18" charset="0"/>
                                </a:rPr>
                                <m:t>𝐰</m:t>
                              </m:r>
                              <m:r>
                                <a:rPr lang="en-US" altLang="ja-JP" sz="2400" i="1">
                                  <a:latin typeface="Cambria Math" panose="02040503050406030204" pitchFamily="18" charset="0"/>
                                  <a:ea typeface="Cambria Math" panose="02040503050406030204" pitchFamily="18" charset="0"/>
                                </a:rPr>
                                <m:t> − </m:t>
                              </m:r>
                              <m:sSub>
                                <m:sSubPr>
                                  <m:ctrlPr>
                                    <a:rPr lang="en-US" altLang="ja-JP" sz="2400" i="1">
                                      <a:latin typeface="Cambria Math" panose="02040503050406030204" pitchFamily="18" charset="0"/>
                                      <a:ea typeface="Cambria Math" panose="02040503050406030204" pitchFamily="18" charset="0"/>
                                    </a:rPr>
                                  </m:ctrlPr>
                                </m:sSubPr>
                                <m:e>
                                  <m:r>
                                    <a:rPr lang="en-US" altLang="ja-JP" sz="2400" b="1" i="0">
                                      <a:latin typeface="Cambria Math" panose="02040503050406030204" pitchFamily="18" charset="0"/>
                                      <a:ea typeface="Cambria Math" panose="02040503050406030204" pitchFamily="18" charset="0"/>
                                    </a:rPr>
                                    <m:t>𝐰</m:t>
                                  </m:r>
                                </m:e>
                                <m:sub>
                                  <m:r>
                                    <a:rPr lang="en-US" altLang="ja-JP" sz="2400" i="1">
                                      <a:latin typeface="Cambria Math" panose="02040503050406030204" pitchFamily="18" charset="0"/>
                                      <a:ea typeface="Cambria Math" panose="02040503050406030204" pitchFamily="18" charset="0"/>
                                    </a:rPr>
                                    <m:t>𝑘</m:t>
                                  </m:r>
                                </m:sub>
                              </m:sSub>
                            </m:e>
                          </m:d>
                          <m:r>
                            <a:rPr lang="en-US" altLang="ja-JP" sz="2400" i="1">
                              <a:latin typeface="Cambria Math" panose="02040503050406030204" pitchFamily="18" charset="0"/>
                              <a:ea typeface="Cambria Math" panose="02040503050406030204" pitchFamily="18" charset="0"/>
                            </a:rPr>
                            <m:t>#</m:t>
                          </m:r>
                        </m:e>
                      </m:eqArr>
                    </m:oMath>
                  </m:oMathPara>
                </a14:m>
                <a:endParaRPr lang="en-US" altLang="ja-JP" sz="2400" b="0" dirty="0">
                  <a:ea typeface="Cambria Math" panose="02040503050406030204" pitchFamily="18" charset="0"/>
                </a:endParaRPr>
              </a:p>
              <a:p>
                <a:pPr marL="0" indent="0">
                  <a:buNone/>
                </a:pPr>
                <a:endParaRPr lang="en-US" altLang="ja-JP" sz="2400" b="0" dirty="0">
                  <a:ea typeface="Cambria Math" panose="02040503050406030204" pitchFamily="18" charset="0"/>
                </a:endParaRPr>
              </a:p>
              <a:p>
                <a:pPr marL="0" indent="0">
                  <a:buNone/>
                </a:pPr>
                <a:endParaRPr lang="en-US" altLang="ja-JP" sz="2400" dirty="0"/>
              </a:p>
            </p:txBody>
          </p:sp>
        </mc:Choice>
        <mc:Fallback xmlns="">
          <p:sp>
            <p:nvSpPr>
              <p:cNvPr id="3" name="コンテンツ プレースホルダー 2">
                <a:extLst>
                  <a:ext uri="{FF2B5EF4-FFF2-40B4-BE49-F238E27FC236}">
                    <a16:creationId xmlns:a16="http://schemas.microsoft.com/office/drawing/2014/main" id="{320ACA7A-6F7B-44A4-94CC-84F664409AC7}"/>
                  </a:ext>
                </a:extLst>
              </p:cNvPr>
              <p:cNvSpPr>
                <a:spLocks noGrp="1" noRot="1" noChangeAspect="1" noMove="1" noResize="1" noEditPoints="1" noAdjustHandles="1" noChangeArrowheads="1" noChangeShapeType="1" noTextEdit="1"/>
              </p:cNvSpPr>
              <p:nvPr>
                <p:ph idx="1"/>
              </p:nvPr>
            </p:nvSpPr>
            <p:spPr>
              <a:xfrm>
                <a:off x="838200" y="1356200"/>
                <a:ext cx="10515600" cy="5238909"/>
              </a:xfrm>
              <a:blipFill>
                <a:blip r:embed="rId3"/>
                <a:stretch>
                  <a:fillRect l="-928" t="-2326"/>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954F4647-B67F-4C5E-8C38-71B3ADAA22B1}"/>
              </a:ext>
            </a:extLst>
          </p:cNvPr>
          <p:cNvSpPr>
            <a:spLocks noGrp="1"/>
          </p:cNvSpPr>
          <p:nvPr>
            <p:ph type="sldNum" sz="quarter" idx="12"/>
          </p:nvPr>
        </p:nvSpPr>
        <p:spPr/>
        <p:txBody>
          <a:bodyPr/>
          <a:lstStyle/>
          <a:p>
            <a:fld id="{E0941385-F5BA-408B-94FB-C48DC2364AB1}" type="slidenum">
              <a:rPr kumimoji="1" lang="ja-JP" altLang="en-US" smtClean="0"/>
              <a:t>57</a:t>
            </a:fld>
            <a:endParaRPr kumimoji="1" lang="ja-JP" altLang="en-US"/>
          </a:p>
        </p:txBody>
      </p:sp>
      <p:sp>
        <p:nvSpPr>
          <p:cNvPr id="9" name="テキスト ボックス 8">
            <a:extLst>
              <a:ext uri="{FF2B5EF4-FFF2-40B4-BE49-F238E27FC236}">
                <a16:creationId xmlns:a16="http://schemas.microsoft.com/office/drawing/2014/main" id="{58597EC1-9D63-9F4F-905B-24C243BD0A57}"/>
              </a:ext>
            </a:extLst>
          </p:cNvPr>
          <p:cNvSpPr txBox="1"/>
          <p:nvPr/>
        </p:nvSpPr>
        <p:spPr>
          <a:xfrm>
            <a:off x="10825297" y="2608023"/>
            <a:ext cx="667839" cy="596253"/>
          </a:xfrm>
          <a:prstGeom prst="rect">
            <a:avLst/>
          </a:prstGeom>
          <a:solidFill>
            <a:srgbClr val="E4E4E4"/>
          </a:solidFill>
        </p:spPr>
        <p:txBody>
          <a:bodyPr wrap="square" rtlCol="0">
            <a:spAutoFit/>
          </a:bodyPr>
          <a:lstStyle/>
          <a:p>
            <a:pPr>
              <a:lnSpc>
                <a:spcPct val="150000"/>
              </a:lnSpc>
            </a:pPr>
            <a:r>
              <a:rPr kumimoji="1" lang="en-US" altLang="ja-JP" sz="2400" dirty="0">
                <a:solidFill>
                  <a:schemeClr val="tx1">
                    <a:lumMod val="85000"/>
                    <a:lumOff val="15000"/>
                  </a:schemeClr>
                </a:solidFill>
                <a:latin typeface="UD デジタル 教科書体 NK-R" panose="02020400000000000000" pitchFamily="18" charset="-128"/>
                <a:ea typeface="UD デジタル 教科書体 NK-R" panose="02020400000000000000" pitchFamily="18" charset="-128"/>
              </a:rPr>
              <a:t>(</a:t>
            </a:r>
            <a:r>
              <a:rPr kumimoji="1" lang="ja-JP" altLang="en-US" sz="2400" dirty="0">
                <a:solidFill>
                  <a:schemeClr val="tx1">
                    <a:lumMod val="85000"/>
                    <a:lumOff val="15000"/>
                  </a:schemeClr>
                </a:solidFill>
                <a:latin typeface="UD デジタル 教科書体 NK-R" panose="02020400000000000000" pitchFamily="18" charset="-128"/>
                <a:ea typeface="UD デジタル 教科書体 NK-R" panose="02020400000000000000" pitchFamily="18" charset="-128"/>
              </a:rPr>
              <a:t>１</a:t>
            </a:r>
            <a:r>
              <a:rPr kumimoji="1" lang="en-US" altLang="ja-JP" sz="2400" dirty="0">
                <a:solidFill>
                  <a:schemeClr val="tx1">
                    <a:lumMod val="85000"/>
                    <a:lumOff val="15000"/>
                  </a:schemeClr>
                </a:solidFill>
                <a:latin typeface="UD デジタル 教科書体 NK-R" panose="02020400000000000000" pitchFamily="18" charset="-128"/>
                <a:ea typeface="UD デジタル 教科書体 NK-R" panose="02020400000000000000" pitchFamily="18" charset="-128"/>
              </a:rPr>
              <a:t>)</a:t>
            </a:r>
            <a:endParaRPr kumimoji="1" lang="ja-JP" altLang="en-US" sz="2400" dirty="0">
              <a:solidFill>
                <a:schemeClr val="tx1">
                  <a:lumMod val="85000"/>
                  <a:lumOff val="15000"/>
                </a:schemeClr>
              </a:solidFill>
              <a:latin typeface="UD デジタル 教科書体 NK-R" panose="02020400000000000000" pitchFamily="18" charset="-128"/>
              <a:ea typeface="UD デジタル 教科書体 NK-R" panose="02020400000000000000" pitchFamily="18" charset="-128"/>
            </a:endParaRPr>
          </a:p>
        </p:txBody>
      </p:sp>
      <p:sp>
        <p:nvSpPr>
          <p:cNvPr id="10" name="テキスト ボックス 9">
            <a:extLst>
              <a:ext uri="{FF2B5EF4-FFF2-40B4-BE49-F238E27FC236}">
                <a16:creationId xmlns:a16="http://schemas.microsoft.com/office/drawing/2014/main" id="{D60CEEE0-DE61-B64E-A215-74F694C2DFA2}"/>
              </a:ext>
            </a:extLst>
          </p:cNvPr>
          <p:cNvSpPr txBox="1"/>
          <p:nvPr/>
        </p:nvSpPr>
        <p:spPr>
          <a:xfrm>
            <a:off x="10825299" y="4262652"/>
            <a:ext cx="667839" cy="596253"/>
          </a:xfrm>
          <a:prstGeom prst="rect">
            <a:avLst/>
          </a:prstGeom>
          <a:solidFill>
            <a:srgbClr val="E4E4E4"/>
          </a:solidFill>
        </p:spPr>
        <p:txBody>
          <a:bodyPr wrap="square" rtlCol="0">
            <a:spAutoFit/>
          </a:bodyPr>
          <a:lstStyle/>
          <a:p>
            <a:pPr>
              <a:lnSpc>
                <a:spcPct val="150000"/>
              </a:lnSpc>
            </a:pPr>
            <a:r>
              <a:rPr kumimoji="1" lang="en-US" altLang="ja-JP" sz="2400" dirty="0">
                <a:solidFill>
                  <a:schemeClr val="tx1">
                    <a:lumMod val="85000"/>
                    <a:lumOff val="15000"/>
                  </a:schemeClr>
                </a:solidFill>
                <a:latin typeface="UD デジタル 教科書体 NK-R" panose="02020400000000000000" pitchFamily="18" charset="-128"/>
                <a:ea typeface="UD デジタル 教科書体 NK-R" panose="02020400000000000000" pitchFamily="18" charset="-128"/>
              </a:rPr>
              <a:t>(</a:t>
            </a:r>
            <a:r>
              <a:rPr kumimoji="1" lang="ja-JP" altLang="en-US" sz="2400">
                <a:solidFill>
                  <a:schemeClr val="tx1">
                    <a:lumMod val="85000"/>
                    <a:lumOff val="15000"/>
                  </a:schemeClr>
                </a:solidFill>
                <a:latin typeface="UD デジタル 教科書体 NK-R" panose="02020400000000000000" pitchFamily="18" charset="-128"/>
                <a:ea typeface="UD デジタル 教科書体 NK-R" panose="02020400000000000000" pitchFamily="18" charset="-128"/>
              </a:rPr>
              <a:t>４</a:t>
            </a:r>
            <a:r>
              <a:rPr kumimoji="1" lang="en-US" altLang="ja-JP" sz="2400" dirty="0">
                <a:solidFill>
                  <a:schemeClr val="tx1">
                    <a:lumMod val="85000"/>
                    <a:lumOff val="15000"/>
                  </a:schemeClr>
                </a:solidFill>
                <a:latin typeface="UD デジタル 教科書体 NK-R" panose="02020400000000000000" pitchFamily="18" charset="-128"/>
                <a:ea typeface="UD デジタル 教科書体 NK-R" panose="02020400000000000000" pitchFamily="18" charset="-128"/>
              </a:rPr>
              <a:t>)</a:t>
            </a:r>
            <a:endParaRPr kumimoji="1" lang="ja-JP" altLang="en-US" sz="2400" dirty="0">
              <a:solidFill>
                <a:schemeClr val="tx1">
                  <a:lumMod val="85000"/>
                  <a:lumOff val="15000"/>
                </a:schemeClr>
              </a:solidFill>
              <a:latin typeface="UD デジタル 教科書体 NK-R" panose="02020400000000000000" pitchFamily="18" charset="-128"/>
              <a:ea typeface="UD デジタル 教科書体 NK-R" panose="02020400000000000000" pitchFamily="18" charset="-128"/>
            </a:endParaRPr>
          </a:p>
        </p:txBody>
      </p:sp>
      <p:sp>
        <p:nvSpPr>
          <p:cNvPr id="11" name="テキスト ボックス 10">
            <a:extLst>
              <a:ext uri="{FF2B5EF4-FFF2-40B4-BE49-F238E27FC236}">
                <a16:creationId xmlns:a16="http://schemas.microsoft.com/office/drawing/2014/main" id="{3DBD2E4E-FD54-2A4C-ADD9-EB72390C6C23}"/>
              </a:ext>
            </a:extLst>
          </p:cNvPr>
          <p:cNvSpPr txBox="1"/>
          <p:nvPr/>
        </p:nvSpPr>
        <p:spPr>
          <a:xfrm>
            <a:off x="10825298" y="5917281"/>
            <a:ext cx="667839" cy="596253"/>
          </a:xfrm>
          <a:prstGeom prst="rect">
            <a:avLst/>
          </a:prstGeom>
          <a:solidFill>
            <a:srgbClr val="E4E4E4"/>
          </a:solidFill>
        </p:spPr>
        <p:txBody>
          <a:bodyPr wrap="square" rtlCol="0">
            <a:spAutoFit/>
          </a:bodyPr>
          <a:lstStyle/>
          <a:p>
            <a:pPr>
              <a:lnSpc>
                <a:spcPct val="150000"/>
              </a:lnSpc>
            </a:pPr>
            <a:r>
              <a:rPr kumimoji="1" lang="en-US" altLang="ja-JP" sz="2400" dirty="0">
                <a:solidFill>
                  <a:schemeClr val="tx1">
                    <a:lumMod val="85000"/>
                    <a:lumOff val="15000"/>
                  </a:schemeClr>
                </a:solidFill>
                <a:latin typeface="UD デジタル 教科書体 NK-R" panose="02020400000000000000" pitchFamily="18" charset="-128"/>
                <a:ea typeface="UD デジタル 教科書体 NK-R" panose="02020400000000000000" pitchFamily="18" charset="-128"/>
              </a:rPr>
              <a:t>(</a:t>
            </a:r>
            <a:r>
              <a:rPr kumimoji="1" lang="ja-JP" altLang="en-US" sz="2400" dirty="0">
                <a:solidFill>
                  <a:schemeClr val="tx1">
                    <a:lumMod val="85000"/>
                    <a:lumOff val="15000"/>
                  </a:schemeClr>
                </a:solidFill>
                <a:latin typeface="UD デジタル 教科書体 NK-R" panose="02020400000000000000" pitchFamily="18" charset="-128"/>
                <a:ea typeface="UD デジタル 教科書体 NK-R" panose="02020400000000000000" pitchFamily="18" charset="-128"/>
              </a:rPr>
              <a:t>５</a:t>
            </a:r>
            <a:r>
              <a:rPr kumimoji="1" lang="en-US" altLang="ja-JP" sz="2400" dirty="0">
                <a:solidFill>
                  <a:schemeClr val="tx1">
                    <a:lumMod val="85000"/>
                    <a:lumOff val="15000"/>
                  </a:schemeClr>
                </a:solidFill>
                <a:latin typeface="UD デジタル 教科書体 NK-R" panose="02020400000000000000" pitchFamily="18" charset="-128"/>
                <a:ea typeface="UD デジタル 教科書体 NK-R" panose="02020400000000000000" pitchFamily="18" charset="-128"/>
              </a:rPr>
              <a:t>)</a:t>
            </a:r>
            <a:endParaRPr kumimoji="1" lang="ja-JP" altLang="en-US" sz="2400" dirty="0">
              <a:solidFill>
                <a:schemeClr val="tx1">
                  <a:lumMod val="85000"/>
                  <a:lumOff val="15000"/>
                </a:schemeClr>
              </a:solidFill>
              <a:latin typeface="UD デジタル 教科書体 NK-R" panose="02020400000000000000" pitchFamily="18" charset="-128"/>
              <a:ea typeface="UD デジタル 教科書体 NK-R" panose="02020400000000000000" pitchFamily="18" charset="-128"/>
            </a:endParaRPr>
          </a:p>
        </p:txBody>
      </p:sp>
      <p:sp>
        <p:nvSpPr>
          <p:cNvPr id="13" name="テキスト ボックス 12">
            <a:extLst>
              <a:ext uri="{FF2B5EF4-FFF2-40B4-BE49-F238E27FC236}">
                <a16:creationId xmlns:a16="http://schemas.microsoft.com/office/drawing/2014/main" id="{09EF5671-A46A-4068-9A77-0854FCF8F0DF}"/>
              </a:ext>
            </a:extLst>
          </p:cNvPr>
          <p:cNvSpPr txBox="1"/>
          <p:nvPr/>
        </p:nvSpPr>
        <p:spPr>
          <a:xfrm>
            <a:off x="2257220" y="2715060"/>
            <a:ext cx="1821959" cy="523220"/>
          </a:xfrm>
          <a:prstGeom prst="rect">
            <a:avLst/>
          </a:prstGeom>
          <a:solidFill>
            <a:srgbClr val="E4E4E4"/>
          </a:solidFill>
        </p:spPr>
        <p:txBody>
          <a:bodyPr wrap="square" rtlCol="0">
            <a:spAutoFit/>
          </a:bodyPr>
          <a:lstStyle/>
          <a:p>
            <a:pPr algn="ctr"/>
            <a:r>
              <a:rPr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誤差関数</a:t>
            </a:r>
            <a:endParaRPr kumimoji="1" lang="ja-JP" altLang="en-US" sz="28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p:spTree>
    <p:extLst>
      <p:ext uri="{BB962C8B-B14F-4D97-AF65-F5344CB8AC3E}">
        <p14:creationId xmlns:p14="http://schemas.microsoft.com/office/powerpoint/2010/main" val="359200270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CE7686-0B4E-42B0-A196-FC29E037A8A4}"/>
              </a:ext>
            </a:extLst>
          </p:cNvPr>
          <p:cNvSpPr>
            <a:spLocks noGrp="1"/>
          </p:cNvSpPr>
          <p:nvPr>
            <p:ph type="title"/>
          </p:nvPr>
        </p:nvSpPr>
        <p:spPr/>
        <p:txBody>
          <a:bodyPr/>
          <a:lstStyle/>
          <a:p>
            <a:r>
              <a:rPr kumimoji="1" lang="ja-JP" altLang="en-US" dirty="0"/>
              <a:t>ニュートン法</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320ACA7A-6F7B-44A4-94CC-84F664409AC7}"/>
                  </a:ext>
                </a:extLst>
              </p:cNvPr>
              <p:cNvSpPr>
                <a:spLocks noGrp="1"/>
              </p:cNvSpPr>
              <p:nvPr>
                <p:ph idx="1"/>
              </p:nvPr>
            </p:nvSpPr>
            <p:spPr>
              <a:xfrm>
                <a:off x="838200" y="2335915"/>
                <a:ext cx="10515600" cy="3411742"/>
              </a:xfrm>
            </p:spPr>
            <p:txBody>
              <a:bodyPr>
                <a:normAutofit/>
              </a:bodyPr>
              <a:lstStyle/>
              <a:p>
                <a:pPr marL="0" indent="0">
                  <a:buNone/>
                </a:pPr>
                <a14:m>
                  <m:oMathPara xmlns:m="http://schemas.openxmlformats.org/officeDocument/2006/math">
                    <m:oMathParaPr>
                      <m:jc m:val="centerGroup"/>
                    </m:oMathParaPr>
                    <m:oMath xmlns:m="http://schemas.openxmlformats.org/officeDocument/2006/math">
                      <m:eqArr>
                        <m:eqArrPr>
                          <m:ctrlPr>
                            <a:rPr lang="en-US" altLang="ja-JP" sz="2400" b="0" i="1">
                              <a:latin typeface="Cambria Math" panose="02040503050406030204" pitchFamily="18" charset="0"/>
                              <a:ea typeface="Cambria Math" panose="02040503050406030204" pitchFamily="18" charset="0"/>
                            </a:rPr>
                          </m:ctrlPr>
                        </m:eqArrPr>
                        <m:e>
                          <m:r>
                            <m:rPr>
                              <m:sty m:val="p"/>
                            </m:rPr>
                            <a:rPr lang="ja-JP" altLang="en-US" sz="2400" b="0" i="1" dirty="0" smtClean="0">
                              <a:latin typeface="Cambria Math" panose="02040503050406030204" pitchFamily="18" charset="0"/>
                            </a:rPr>
                            <m:t>∇</m:t>
                          </m:r>
                          <m:r>
                            <a:rPr lang="en-US" altLang="ja-JP" sz="2400" b="0" i="1" smtClean="0">
                              <a:latin typeface="Cambria Math" panose="02040503050406030204" pitchFamily="18" charset="0"/>
                            </a:rPr>
                            <m:t>𝐸</m:t>
                          </m:r>
                          <m:d>
                            <m:dPr>
                              <m:ctrlPr>
                                <a:rPr lang="en-US" altLang="ja-JP" sz="2400" b="0" i="1" smtClean="0">
                                  <a:latin typeface="Cambria Math" panose="02040503050406030204" pitchFamily="18" charset="0"/>
                                </a:rPr>
                              </m:ctrlPr>
                            </m:dPr>
                            <m:e>
                              <m:r>
                                <a:rPr lang="en-US" altLang="ja-JP" sz="2400" b="1" i="0" smtClean="0">
                                  <a:latin typeface="Cambria Math" panose="02040503050406030204" pitchFamily="18" charset="0"/>
                                </a:rPr>
                                <m:t>𝐰</m:t>
                              </m:r>
                            </m:e>
                          </m:d>
                          <m:r>
                            <a:rPr lang="en-US" altLang="ja-JP" sz="2400" b="0" i="1" smtClean="0">
                              <a:latin typeface="Cambria Math" panose="02040503050406030204" pitchFamily="18" charset="0"/>
                            </a:rPr>
                            <m:t>=</m:t>
                          </m:r>
                          <m:r>
                            <m:rPr>
                              <m:sty m:val="p"/>
                            </m:rPr>
                            <a:rPr lang="ja-JP" altLang="en-US" sz="2400">
                              <a:latin typeface="Cambria Math" panose="02040503050406030204" pitchFamily="18" charset="0"/>
                              <a:ea typeface="Cambria Math" panose="02040503050406030204" pitchFamily="18" charset="0"/>
                            </a:rPr>
                            <m:t>∇</m:t>
                          </m:r>
                          <m:r>
                            <a:rPr lang="en-US" altLang="ja-JP" sz="2400" i="1">
                              <a:latin typeface="Cambria Math" panose="02040503050406030204" pitchFamily="18" charset="0"/>
                              <a:ea typeface="Cambria Math" panose="02040503050406030204" pitchFamily="18" charset="0"/>
                            </a:rPr>
                            <m:t>𝐸</m:t>
                          </m:r>
                          <m:d>
                            <m:dPr>
                              <m:ctrlPr>
                                <a:rPr lang="en-US" altLang="ja-JP" sz="2400" i="1">
                                  <a:latin typeface="Cambria Math" panose="02040503050406030204" pitchFamily="18" charset="0"/>
                                  <a:ea typeface="Cambria Math" panose="02040503050406030204" pitchFamily="18" charset="0"/>
                                </a:rPr>
                              </m:ctrlPr>
                            </m:dPr>
                            <m:e>
                              <m:sSub>
                                <m:sSubPr>
                                  <m:ctrlPr>
                                    <a:rPr lang="en-US" altLang="ja-JP" sz="2400" i="1">
                                      <a:latin typeface="Cambria Math" panose="02040503050406030204" pitchFamily="18" charset="0"/>
                                      <a:ea typeface="Cambria Math" panose="02040503050406030204" pitchFamily="18" charset="0"/>
                                    </a:rPr>
                                  </m:ctrlPr>
                                </m:sSubPr>
                                <m:e>
                                  <m:r>
                                    <a:rPr lang="en-US" altLang="ja-JP" sz="2400" b="1" i="0">
                                      <a:latin typeface="Cambria Math" panose="02040503050406030204" pitchFamily="18" charset="0"/>
                                      <a:ea typeface="Cambria Math" panose="02040503050406030204" pitchFamily="18" charset="0"/>
                                    </a:rPr>
                                    <m:t>𝐰</m:t>
                                  </m:r>
                                </m:e>
                                <m:sub>
                                  <m:r>
                                    <a:rPr lang="en-US" altLang="ja-JP" sz="2400" i="1">
                                      <a:latin typeface="Cambria Math" panose="02040503050406030204" pitchFamily="18" charset="0"/>
                                      <a:ea typeface="Cambria Math" panose="02040503050406030204" pitchFamily="18" charset="0"/>
                                    </a:rPr>
                                    <m:t>𝑘</m:t>
                                  </m:r>
                                </m:sub>
                              </m:sSub>
                            </m:e>
                          </m:d>
                          <m:r>
                            <a:rPr lang="en-US" altLang="ja-JP" sz="2400" b="0" i="1" smtClean="0">
                              <a:latin typeface="Cambria Math" panose="02040503050406030204" pitchFamily="18" charset="0"/>
                              <a:ea typeface="Cambria Math" panose="02040503050406030204" pitchFamily="18" charset="0"/>
                            </a:rPr>
                            <m:t>+</m:t>
                          </m:r>
                          <m:sSup>
                            <m:sSupPr>
                              <m:ctrlPr>
                                <a:rPr lang="en-US" altLang="ja-JP" sz="2400" i="1" smtClean="0">
                                  <a:solidFill>
                                    <a:schemeClr val="tx1">
                                      <a:lumMod val="75000"/>
                                      <a:lumOff val="25000"/>
                                    </a:schemeClr>
                                  </a:solidFill>
                                  <a:latin typeface="Cambria Math" panose="02040503050406030204" pitchFamily="18" charset="0"/>
                                  <a:ea typeface="Cambria Math" panose="02040503050406030204" pitchFamily="18" charset="0"/>
                                </a:rPr>
                              </m:ctrlPr>
                            </m:sSupPr>
                            <m:e>
                              <m:r>
                                <m:rPr>
                                  <m:sty m:val="p"/>
                                </m:rPr>
                                <a:rPr lang="ja-JP" altLang="en-US" sz="2400" i="1">
                                  <a:solidFill>
                                    <a:schemeClr val="tx1">
                                      <a:lumMod val="75000"/>
                                      <a:lumOff val="25000"/>
                                    </a:schemeClr>
                                  </a:solidFill>
                                  <a:latin typeface="Cambria Math" panose="02040503050406030204" pitchFamily="18" charset="0"/>
                                  <a:ea typeface="Cambria Math" panose="02040503050406030204" pitchFamily="18" charset="0"/>
                                </a:rPr>
                                <m:t>∇</m:t>
                              </m:r>
                            </m:e>
                            <m:sup>
                              <m:r>
                                <a:rPr lang="en-US" altLang="ja-JP" sz="2400" i="1">
                                  <a:solidFill>
                                    <a:schemeClr val="tx1">
                                      <a:lumMod val="75000"/>
                                      <a:lumOff val="25000"/>
                                    </a:schemeClr>
                                  </a:solidFill>
                                  <a:latin typeface="Cambria Math" panose="02040503050406030204" pitchFamily="18" charset="0"/>
                                  <a:ea typeface="Cambria Math" panose="02040503050406030204" pitchFamily="18" charset="0"/>
                                </a:rPr>
                                <m:t>2</m:t>
                              </m:r>
                            </m:sup>
                          </m:sSup>
                          <m:r>
                            <a:rPr lang="en-US" altLang="ja-JP" sz="2400" i="1">
                              <a:solidFill>
                                <a:schemeClr val="tx1">
                                  <a:lumMod val="75000"/>
                                  <a:lumOff val="25000"/>
                                </a:schemeClr>
                              </a:solidFill>
                              <a:latin typeface="Cambria Math" panose="02040503050406030204" pitchFamily="18" charset="0"/>
                              <a:ea typeface="Cambria Math" panose="02040503050406030204" pitchFamily="18" charset="0"/>
                            </a:rPr>
                            <m:t>𝐸</m:t>
                          </m:r>
                          <m:d>
                            <m:dPr>
                              <m:ctrlPr>
                                <a:rPr lang="en-US" altLang="ja-JP" sz="2400" i="1">
                                  <a:solidFill>
                                    <a:schemeClr val="tx1">
                                      <a:lumMod val="75000"/>
                                      <a:lumOff val="25000"/>
                                    </a:schemeClr>
                                  </a:solidFill>
                                  <a:latin typeface="Cambria Math" panose="02040503050406030204" pitchFamily="18" charset="0"/>
                                  <a:ea typeface="Cambria Math" panose="02040503050406030204" pitchFamily="18" charset="0"/>
                                </a:rPr>
                              </m:ctrlPr>
                            </m:dPr>
                            <m:e>
                              <m:sSub>
                                <m:sSubPr>
                                  <m:ctrlPr>
                                    <a:rPr lang="en-US" altLang="ja-JP" sz="2400" i="1">
                                      <a:solidFill>
                                        <a:schemeClr val="tx1">
                                          <a:lumMod val="75000"/>
                                          <a:lumOff val="25000"/>
                                        </a:schemeClr>
                                      </a:solidFill>
                                      <a:latin typeface="Cambria Math" panose="02040503050406030204" pitchFamily="18" charset="0"/>
                                      <a:ea typeface="Cambria Math" panose="02040503050406030204" pitchFamily="18" charset="0"/>
                                    </a:rPr>
                                  </m:ctrlPr>
                                </m:sSubPr>
                                <m:e>
                                  <m:r>
                                    <a:rPr lang="en-US" altLang="ja-JP" sz="2400" b="1" i="0">
                                      <a:solidFill>
                                        <a:schemeClr val="tx1">
                                          <a:lumMod val="75000"/>
                                          <a:lumOff val="25000"/>
                                        </a:schemeClr>
                                      </a:solidFill>
                                      <a:latin typeface="Cambria Math" panose="02040503050406030204" pitchFamily="18" charset="0"/>
                                      <a:ea typeface="Cambria Math" panose="02040503050406030204" pitchFamily="18" charset="0"/>
                                    </a:rPr>
                                    <m:t>𝐰</m:t>
                                  </m:r>
                                </m:e>
                                <m:sub>
                                  <m:r>
                                    <a:rPr lang="en-US" altLang="ja-JP" sz="2400" i="1">
                                      <a:solidFill>
                                        <a:schemeClr val="tx1">
                                          <a:lumMod val="75000"/>
                                          <a:lumOff val="25000"/>
                                        </a:schemeClr>
                                      </a:solidFill>
                                      <a:latin typeface="Cambria Math" panose="02040503050406030204" pitchFamily="18" charset="0"/>
                                      <a:ea typeface="Cambria Math" panose="02040503050406030204" pitchFamily="18" charset="0"/>
                                    </a:rPr>
                                    <m:t>𝑘</m:t>
                                  </m:r>
                                </m:sub>
                              </m:sSub>
                            </m:e>
                          </m:d>
                          <m:d>
                            <m:dPr>
                              <m:ctrlPr>
                                <a:rPr lang="en-US" altLang="ja-JP" sz="2400" i="1">
                                  <a:latin typeface="Cambria Math" panose="02040503050406030204" pitchFamily="18" charset="0"/>
                                  <a:ea typeface="Cambria Math" panose="02040503050406030204" pitchFamily="18" charset="0"/>
                                </a:rPr>
                              </m:ctrlPr>
                            </m:dPr>
                            <m:e>
                              <m:r>
                                <a:rPr lang="en-US" altLang="ja-JP" sz="2400" b="1" i="0">
                                  <a:latin typeface="Cambria Math" panose="02040503050406030204" pitchFamily="18" charset="0"/>
                                  <a:ea typeface="Cambria Math" panose="02040503050406030204" pitchFamily="18" charset="0"/>
                                </a:rPr>
                                <m:t>𝐰</m:t>
                              </m:r>
                              <m:r>
                                <a:rPr lang="en-US" altLang="ja-JP" sz="2400" i="1">
                                  <a:latin typeface="Cambria Math" panose="02040503050406030204" pitchFamily="18" charset="0"/>
                                  <a:ea typeface="Cambria Math" panose="02040503050406030204" pitchFamily="18" charset="0"/>
                                </a:rPr>
                                <m:t> − </m:t>
                              </m:r>
                              <m:sSub>
                                <m:sSubPr>
                                  <m:ctrlPr>
                                    <a:rPr lang="en-US" altLang="ja-JP" sz="2400" i="1">
                                      <a:latin typeface="Cambria Math" panose="02040503050406030204" pitchFamily="18" charset="0"/>
                                      <a:ea typeface="Cambria Math" panose="02040503050406030204" pitchFamily="18" charset="0"/>
                                    </a:rPr>
                                  </m:ctrlPr>
                                </m:sSubPr>
                                <m:e>
                                  <m:r>
                                    <a:rPr lang="en-US" altLang="ja-JP" sz="2400" b="1" i="0">
                                      <a:latin typeface="Cambria Math" panose="02040503050406030204" pitchFamily="18" charset="0"/>
                                      <a:ea typeface="Cambria Math" panose="02040503050406030204" pitchFamily="18" charset="0"/>
                                    </a:rPr>
                                    <m:t>𝐰</m:t>
                                  </m:r>
                                </m:e>
                                <m:sub>
                                  <m:r>
                                    <a:rPr lang="en-US" altLang="ja-JP" sz="2400" i="1">
                                      <a:latin typeface="Cambria Math" panose="02040503050406030204" pitchFamily="18" charset="0"/>
                                      <a:ea typeface="Cambria Math" panose="02040503050406030204" pitchFamily="18" charset="0"/>
                                    </a:rPr>
                                    <m:t>𝑘</m:t>
                                  </m:r>
                                </m:sub>
                              </m:sSub>
                            </m:e>
                          </m:d>
                          <m:r>
                            <a:rPr lang="en-US" altLang="ja-JP" sz="2400" i="1">
                              <a:latin typeface="Cambria Math" panose="02040503050406030204" pitchFamily="18" charset="0"/>
                              <a:ea typeface="Cambria Math" panose="02040503050406030204" pitchFamily="18" charset="0"/>
                            </a:rPr>
                            <m:t>#</m:t>
                          </m:r>
                        </m:e>
                      </m:eqArr>
                    </m:oMath>
                  </m:oMathPara>
                </a14:m>
                <a:endParaRPr lang="en-US" altLang="ja-JP" sz="2400" dirty="0">
                  <a:ea typeface="Cambria Math" panose="02040503050406030204" pitchFamily="18" charset="0"/>
                </a:endParaRPr>
              </a:p>
              <a:p>
                <a:pPr marL="0" indent="0">
                  <a:buNone/>
                </a:pPr>
                <a:endParaRPr lang="en-US" altLang="ja-JP" sz="2400" dirty="0"/>
              </a:p>
              <a:p>
                <a:pPr marL="0" indent="0">
                  <a:buNone/>
                </a:pPr>
                <a:r>
                  <a:rPr lang="en-US" altLang="ja-JP" sz="2400" dirty="0"/>
                  <a:t>(5)</a:t>
                </a:r>
                <a:r>
                  <a:rPr lang="ja-JP" altLang="en-US" sz="2400" dirty="0"/>
                  <a:t>が</a:t>
                </a:r>
                <a14:m>
                  <m:oMath xmlns:m="http://schemas.openxmlformats.org/officeDocument/2006/math">
                    <m:r>
                      <m:rPr>
                        <m:sty m:val="p"/>
                      </m:rPr>
                      <a:rPr lang="ja-JP" altLang="en-US" sz="2400" b="0" i="1" dirty="0" smtClean="0">
                        <a:latin typeface="Cambria Math" panose="02040503050406030204" pitchFamily="18" charset="0"/>
                      </a:rPr>
                      <m:t>∇</m:t>
                    </m:r>
                    <m:r>
                      <a:rPr lang="en-US" altLang="ja-JP" sz="2400" b="0" i="1" smtClean="0">
                        <a:latin typeface="Cambria Math" panose="02040503050406030204" pitchFamily="18" charset="0"/>
                      </a:rPr>
                      <m:t>𝐸</m:t>
                    </m:r>
                    <m:d>
                      <m:dPr>
                        <m:ctrlPr>
                          <a:rPr lang="en-US" altLang="ja-JP" sz="2400" b="0" i="1" smtClean="0">
                            <a:latin typeface="Cambria Math" panose="02040503050406030204" pitchFamily="18" charset="0"/>
                          </a:rPr>
                        </m:ctrlPr>
                      </m:dPr>
                      <m:e>
                        <m:r>
                          <a:rPr lang="en-US" altLang="ja-JP" sz="2400" b="1" i="0" smtClean="0">
                            <a:latin typeface="Cambria Math" panose="02040503050406030204" pitchFamily="18" charset="0"/>
                          </a:rPr>
                          <m:t>𝐰</m:t>
                        </m:r>
                      </m:e>
                    </m:d>
                    <m:r>
                      <a:rPr lang="en-US" altLang="ja-JP" sz="2400" b="0" i="1" smtClean="0">
                        <a:latin typeface="Cambria Math" panose="02040503050406030204" pitchFamily="18" charset="0"/>
                      </a:rPr>
                      <m:t>= </m:t>
                    </m:r>
                  </m:oMath>
                </a14:m>
                <a:r>
                  <a:rPr lang="en-US" altLang="ja-JP" sz="2400" dirty="0"/>
                  <a:t>0</a:t>
                </a:r>
                <a:r>
                  <a:rPr lang="ja-JP" altLang="en-US" sz="2400" dirty="0"/>
                  <a:t>になる点を目指すので</a:t>
                </a:r>
                <a:endParaRPr lang="en-US" altLang="ja-JP" sz="2400" dirty="0"/>
              </a:p>
              <a:p>
                <a:pPr marL="0" indent="0">
                  <a:buNone/>
                </a:pPr>
                <a14:m>
                  <m:oMathPara xmlns:m="http://schemas.openxmlformats.org/officeDocument/2006/math">
                    <m:oMathParaPr>
                      <m:jc m:val="centerGroup"/>
                    </m:oMathParaPr>
                    <m:oMath xmlns:m="http://schemas.openxmlformats.org/officeDocument/2006/math">
                      <m:eqArr>
                        <m:eqArrPr>
                          <m:ctrlPr>
                            <a:rPr lang="en-ZA" altLang="ja-JP" sz="2400" b="0" i="1" smtClean="0">
                              <a:latin typeface="Cambria Math" panose="02040503050406030204" pitchFamily="18" charset="0"/>
                              <a:ea typeface="Cambria Math" panose="02040503050406030204" pitchFamily="18" charset="0"/>
                            </a:rPr>
                          </m:ctrlPr>
                        </m:eqArrPr>
                        <m:e>
                          <m:eqArr>
                            <m:eqArrPr>
                              <m:ctrlPr>
                                <a:rPr lang="en-US" altLang="ja-JP" sz="2400" b="0" i="1" smtClean="0">
                                  <a:latin typeface="Cambria Math" panose="02040503050406030204" pitchFamily="18" charset="0"/>
                                  <a:ea typeface="Cambria Math" panose="02040503050406030204" pitchFamily="18" charset="0"/>
                                </a:rPr>
                              </m:ctrlPr>
                            </m:eqArrPr>
                            <m:e>
                              <m:r>
                                <m:rPr>
                                  <m:sty m:val="p"/>
                                </m:rPr>
                                <a:rPr lang="ja-JP" altLang="en-US" sz="2400">
                                  <a:latin typeface="Cambria Math" panose="02040503050406030204" pitchFamily="18" charset="0"/>
                                  <a:ea typeface="Cambria Math" panose="02040503050406030204" pitchFamily="18" charset="0"/>
                                </a:rPr>
                                <m:t>∇</m:t>
                              </m:r>
                              <m:r>
                                <a:rPr lang="en-US" altLang="ja-JP" sz="2400" i="1">
                                  <a:latin typeface="Cambria Math" panose="02040503050406030204" pitchFamily="18" charset="0"/>
                                  <a:ea typeface="Cambria Math" panose="02040503050406030204" pitchFamily="18" charset="0"/>
                                </a:rPr>
                                <m:t>𝐸</m:t>
                              </m:r>
                              <m:d>
                                <m:dPr>
                                  <m:ctrlPr>
                                    <a:rPr lang="en-US" altLang="ja-JP" sz="2400" i="1">
                                      <a:latin typeface="Cambria Math" panose="02040503050406030204" pitchFamily="18" charset="0"/>
                                      <a:ea typeface="Cambria Math" panose="02040503050406030204" pitchFamily="18" charset="0"/>
                                    </a:rPr>
                                  </m:ctrlPr>
                                </m:dPr>
                                <m:e>
                                  <m:sSub>
                                    <m:sSubPr>
                                      <m:ctrlPr>
                                        <a:rPr lang="en-US" altLang="ja-JP" sz="2400" i="1">
                                          <a:latin typeface="Cambria Math" panose="02040503050406030204" pitchFamily="18" charset="0"/>
                                          <a:ea typeface="Cambria Math" panose="02040503050406030204" pitchFamily="18" charset="0"/>
                                        </a:rPr>
                                      </m:ctrlPr>
                                    </m:sSubPr>
                                    <m:e>
                                      <m:r>
                                        <a:rPr lang="en-US" altLang="ja-JP" sz="2400" b="1" i="0">
                                          <a:latin typeface="Cambria Math" panose="02040503050406030204" pitchFamily="18" charset="0"/>
                                          <a:ea typeface="Cambria Math" panose="02040503050406030204" pitchFamily="18" charset="0"/>
                                        </a:rPr>
                                        <m:t>𝐰</m:t>
                                      </m:r>
                                    </m:e>
                                    <m:sub>
                                      <m:r>
                                        <a:rPr lang="en-US" altLang="ja-JP" sz="2400" i="1">
                                          <a:latin typeface="Cambria Math" panose="02040503050406030204" pitchFamily="18" charset="0"/>
                                          <a:ea typeface="Cambria Math" panose="02040503050406030204" pitchFamily="18" charset="0"/>
                                        </a:rPr>
                                        <m:t>𝑘</m:t>
                                      </m:r>
                                    </m:sub>
                                  </m:sSub>
                                </m:e>
                              </m:d>
                              <m:r>
                                <a:rPr lang="en-US" altLang="ja-JP" sz="2400" b="0" i="1" smtClean="0">
                                  <a:latin typeface="Cambria Math" panose="02040503050406030204" pitchFamily="18" charset="0"/>
                                  <a:ea typeface="Cambria Math" panose="02040503050406030204" pitchFamily="18" charset="0"/>
                                </a:rPr>
                                <m:t>+</m:t>
                              </m:r>
                              <m:sSup>
                                <m:sSupPr>
                                  <m:ctrlPr>
                                    <a:rPr lang="en-US" altLang="ja-JP" sz="2400" i="1">
                                      <a:latin typeface="Cambria Math" panose="02040503050406030204" pitchFamily="18" charset="0"/>
                                      <a:ea typeface="Cambria Math" panose="02040503050406030204" pitchFamily="18" charset="0"/>
                                    </a:rPr>
                                  </m:ctrlPr>
                                </m:sSupPr>
                                <m:e>
                                  <m:r>
                                    <m:rPr>
                                      <m:sty m:val="p"/>
                                    </m:rPr>
                                    <a:rPr lang="ja-JP" altLang="en-US" sz="2400" i="1">
                                      <a:latin typeface="Cambria Math" panose="02040503050406030204" pitchFamily="18" charset="0"/>
                                      <a:ea typeface="Cambria Math" panose="02040503050406030204" pitchFamily="18" charset="0"/>
                                    </a:rPr>
                                    <m:t>∇</m:t>
                                  </m:r>
                                </m:e>
                                <m:sup>
                                  <m:r>
                                    <a:rPr lang="en-US" altLang="ja-JP" sz="2400" i="1">
                                      <a:latin typeface="Cambria Math" panose="02040503050406030204" pitchFamily="18" charset="0"/>
                                      <a:ea typeface="Cambria Math" panose="02040503050406030204" pitchFamily="18" charset="0"/>
                                    </a:rPr>
                                    <m:t>2</m:t>
                                  </m:r>
                                </m:sup>
                              </m:sSup>
                              <m:r>
                                <a:rPr lang="en-US" altLang="ja-JP" sz="2400" i="1">
                                  <a:latin typeface="Cambria Math" panose="02040503050406030204" pitchFamily="18" charset="0"/>
                                  <a:ea typeface="Cambria Math" panose="02040503050406030204" pitchFamily="18" charset="0"/>
                                </a:rPr>
                                <m:t>𝐸</m:t>
                              </m:r>
                              <m:d>
                                <m:dPr>
                                  <m:ctrlPr>
                                    <a:rPr lang="en-US" altLang="ja-JP" sz="2400" i="1">
                                      <a:latin typeface="Cambria Math" panose="02040503050406030204" pitchFamily="18" charset="0"/>
                                      <a:ea typeface="Cambria Math" panose="02040503050406030204" pitchFamily="18" charset="0"/>
                                    </a:rPr>
                                  </m:ctrlPr>
                                </m:dPr>
                                <m:e>
                                  <m:sSub>
                                    <m:sSubPr>
                                      <m:ctrlPr>
                                        <a:rPr lang="en-US" altLang="ja-JP" sz="2400" i="1">
                                          <a:latin typeface="Cambria Math" panose="02040503050406030204" pitchFamily="18" charset="0"/>
                                          <a:ea typeface="Cambria Math" panose="02040503050406030204" pitchFamily="18" charset="0"/>
                                        </a:rPr>
                                      </m:ctrlPr>
                                    </m:sSubPr>
                                    <m:e>
                                      <m:r>
                                        <a:rPr lang="en-US" altLang="ja-JP" sz="2400" b="1" i="0">
                                          <a:latin typeface="Cambria Math" panose="02040503050406030204" pitchFamily="18" charset="0"/>
                                          <a:ea typeface="Cambria Math" panose="02040503050406030204" pitchFamily="18" charset="0"/>
                                        </a:rPr>
                                        <m:t>𝐰</m:t>
                                      </m:r>
                                    </m:e>
                                    <m:sub>
                                      <m:r>
                                        <a:rPr lang="en-US" altLang="ja-JP" sz="2400" i="1">
                                          <a:latin typeface="Cambria Math" panose="02040503050406030204" pitchFamily="18" charset="0"/>
                                          <a:ea typeface="Cambria Math" panose="02040503050406030204" pitchFamily="18" charset="0"/>
                                        </a:rPr>
                                        <m:t>𝑘</m:t>
                                      </m:r>
                                    </m:sub>
                                  </m:sSub>
                                </m:e>
                              </m:d>
                              <m:d>
                                <m:dPr>
                                  <m:ctrlPr>
                                    <a:rPr lang="en-US" altLang="ja-JP" sz="2400" i="1">
                                      <a:latin typeface="Cambria Math" panose="02040503050406030204" pitchFamily="18" charset="0"/>
                                      <a:ea typeface="Cambria Math" panose="02040503050406030204" pitchFamily="18" charset="0"/>
                                    </a:rPr>
                                  </m:ctrlPr>
                                </m:dPr>
                                <m:e>
                                  <m:r>
                                    <a:rPr lang="en-US" altLang="ja-JP" sz="2400" b="1" i="0">
                                      <a:latin typeface="Cambria Math" panose="02040503050406030204" pitchFamily="18" charset="0"/>
                                      <a:ea typeface="Cambria Math" panose="02040503050406030204" pitchFamily="18" charset="0"/>
                                    </a:rPr>
                                    <m:t>𝐰</m:t>
                                  </m:r>
                                  <m:r>
                                    <a:rPr lang="en-US" altLang="ja-JP" sz="2400" i="1">
                                      <a:latin typeface="Cambria Math" panose="02040503050406030204" pitchFamily="18" charset="0"/>
                                      <a:ea typeface="Cambria Math" panose="02040503050406030204" pitchFamily="18" charset="0"/>
                                    </a:rPr>
                                    <m:t> − </m:t>
                                  </m:r>
                                  <m:sSub>
                                    <m:sSubPr>
                                      <m:ctrlPr>
                                        <a:rPr lang="en-US" altLang="ja-JP" sz="2400" i="1">
                                          <a:latin typeface="Cambria Math" panose="02040503050406030204" pitchFamily="18" charset="0"/>
                                          <a:ea typeface="Cambria Math" panose="02040503050406030204" pitchFamily="18" charset="0"/>
                                        </a:rPr>
                                      </m:ctrlPr>
                                    </m:sSubPr>
                                    <m:e>
                                      <m:r>
                                        <a:rPr lang="en-US" altLang="ja-JP" sz="2400" b="1" i="0">
                                          <a:latin typeface="Cambria Math" panose="02040503050406030204" pitchFamily="18" charset="0"/>
                                          <a:ea typeface="Cambria Math" panose="02040503050406030204" pitchFamily="18" charset="0"/>
                                        </a:rPr>
                                        <m:t>𝐰</m:t>
                                      </m:r>
                                    </m:e>
                                    <m:sub>
                                      <m:r>
                                        <a:rPr lang="en-US" altLang="ja-JP" sz="2400" i="1">
                                          <a:latin typeface="Cambria Math" panose="02040503050406030204" pitchFamily="18" charset="0"/>
                                          <a:ea typeface="Cambria Math" panose="02040503050406030204" pitchFamily="18" charset="0"/>
                                        </a:rPr>
                                        <m:t>𝑘</m:t>
                                      </m:r>
                                    </m:sub>
                                  </m:sSub>
                                </m:e>
                              </m:d>
                              <m:r>
                                <a:rPr lang="en-US" altLang="ja-JP" sz="2400" b="0" i="0" smtClean="0">
                                  <a:latin typeface="Cambria Math" panose="02040503050406030204" pitchFamily="18" charset="0"/>
                                  <a:ea typeface="Cambria Math" panose="02040503050406030204" pitchFamily="18" charset="0"/>
                                </a:rPr>
                                <m:t>=0</m:t>
                              </m:r>
                            </m:e>
                          </m:eqArr>
                          <m:r>
                            <a:rPr lang="en-US" altLang="ja-JP" sz="2400" b="0" i="1" smtClean="0">
                              <a:latin typeface="Cambria Math" panose="02040503050406030204" pitchFamily="18" charset="0"/>
                              <a:ea typeface="Cambria Math" panose="02040503050406030204" pitchFamily="18" charset="0"/>
                            </a:rPr>
                            <m:t>#</m:t>
                          </m:r>
                        </m:e>
                      </m:eqArr>
                    </m:oMath>
                  </m:oMathPara>
                </a14:m>
                <a:endParaRPr lang="en-US" altLang="ja-JP" sz="2400" b="0" dirty="0">
                  <a:ea typeface="Cambria Math" panose="02040503050406030204" pitchFamily="18" charset="0"/>
                </a:endParaRPr>
              </a:p>
              <a:p>
                <a:pPr marL="0" indent="0">
                  <a:buNone/>
                </a:pPr>
                <a:endParaRPr lang="en-US" altLang="ja-JP" sz="2400" dirty="0">
                  <a:ea typeface="Cambria Math" panose="02040503050406030204" pitchFamily="18" charset="0"/>
                </a:endParaRPr>
              </a:p>
              <a:p>
                <a:pPr marL="0" indent="0">
                  <a:buNone/>
                </a:pPr>
                <a:r>
                  <a:rPr lang="en-US" altLang="ja-JP" sz="2400" b="0" dirty="0">
                    <a:ea typeface="Cambria Math" panose="02040503050406030204" pitchFamily="18" charset="0"/>
                  </a:rPr>
                  <a:t>(6)</a:t>
                </a:r>
                <a:r>
                  <a:rPr lang="ja-JP" altLang="en-US" sz="2400" b="0" dirty="0"/>
                  <a:t>を満たす</a:t>
                </a:r>
                <a14:m>
                  <m:oMath xmlns:m="http://schemas.openxmlformats.org/officeDocument/2006/math">
                    <m:r>
                      <a:rPr lang="en-US" altLang="ja-JP" sz="2400" b="1" i="0" smtClean="0">
                        <a:latin typeface="Cambria Math" panose="02040503050406030204" pitchFamily="18" charset="0"/>
                        <a:ea typeface="Cambria Math" panose="02040503050406030204" pitchFamily="18" charset="0"/>
                      </a:rPr>
                      <m:t>𝐰</m:t>
                    </m:r>
                  </m:oMath>
                </a14:m>
                <a:r>
                  <a:rPr lang="ja-JP" altLang="en-US" sz="2400" dirty="0"/>
                  <a:t>の式が</a:t>
                </a:r>
                <a:endParaRPr lang="en-US" altLang="ja-JP" sz="2400" dirty="0"/>
              </a:p>
              <a:p>
                <a:pPr marL="0" indent="0">
                  <a:buNone/>
                </a:pPr>
                <a14:m>
                  <m:oMathPara xmlns:m="http://schemas.openxmlformats.org/officeDocument/2006/math">
                    <m:oMathParaPr>
                      <m:jc m:val="centerGroup"/>
                    </m:oMathParaPr>
                    <m:oMath xmlns:m="http://schemas.openxmlformats.org/officeDocument/2006/math">
                      <m:eqArr>
                        <m:eqArrPr>
                          <m:ctrlPr>
                            <a:rPr lang="en-ZA" altLang="ja-JP" sz="2400" b="0" i="1" smtClean="0">
                              <a:latin typeface="Cambria Math" panose="02040503050406030204" pitchFamily="18" charset="0"/>
                              <a:ea typeface="Cambria Math" panose="02040503050406030204" pitchFamily="18" charset="0"/>
                            </a:rPr>
                          </m:ctrlPr>
                        </m:eqArrPr>
                        <m:e>
                          <m:r>
                            <a:rPr lang="en-US" altLang="ja-JP" sz="2400" b="0" i="1" smtClean="0">
                              <a:latin typeface="Cambria Math" panose="02040503050406030204" pitchFamily="18" charset="0"/>
                            </a:rPr>
                            <m:t> </m:t>
                          </m:r>
                          <m:r>
                            <a:rPr lang="en-US" altLang="ja-JP" sz="2400" b="1" i="0" smtClean="0">
                              <a:latin typeface="Cambria Math" panose="02040503050406030204" pitchFamily="18" charset="0"/>
                            </a:rPr>
                            <m:t>𝐰</m:t>
                          </m:r>
                          <m:r>
                            <a:rPr lang="en-US" altLang="ja-JP" sz="2400" b="0" i="1" smtClean="0">
                              <a:latin typeface="Cambria Math" panose="02040503050406030204" pitchFamily="18" charset="0"/>
                            </a:rPr>
                            <m:t>= </m:t>
                          </m:r>
                          <m:sSub>
                            <m:sSubPr>
                              <m:ctrlPr>
                                <a:rPr lang="en-US" altLang="ja-JP" sz="2400" b="0" i="1" smtClean="0">
                                  <a:latin typeface="Cambria Math" panose="02040503050406030204" pitchFamily="18" charset="0"/>
                                </a:rPr>
                              </m:ctrlPr>
                            </m:sSubPr>
                            <m:e>
                              <m:r>
                                <a:rPr lang="en-US" altLang="ja-JP" sz="2400" b="1" i="0" smtClean="0">
                                  <a:latin typeface="Cambria Math" panose="02040503050406030204" pitchFamily="18" charset="0"/>
                                </a:rPr>
                                <m:t>𝐰</m:t>
                              </m:r>
                            </m:e>
                            <m:sub>
                              <m:r>
                                <a:rPr lang="en-US" altLang="ja-JP" sz="2400" b="0" i="1" smtClean="0">
                                  <a:latin typeface="Cambria Math" panose="02040503050406030204" pitchFamily="18" charset="0"/>
                                </a:rPr>
                                <m:t>𝑘</m:t>
                              </m:r>
                            </m:sub>
                          </m:sSub>
                          <m:r>
                            <a:rPr lang="en-US" altLang="ja-JP" sz="2400" b="0" i="1" smtClean="0">
                              <a:latin typeface="Cambria Math" panose="02040503050406030204" pitchFamily="18" charset="0"/>
                            </a:rPr>
                            <m:t> − </m:t>
                          </m:r>
                          <m:sSup>
                            <m:sSupPr>
                              <m:ctrlPr>
                                <a:rPr lang="en-US" altLang="ja-JP" sz="2400" b="0" i="1" smtClean="0">
                                  <a:latin typeface="Cambria Math" panose="02040503050406030204" pitchFamily="18" charset="0"/>
                                </a:rPr>
                              </m:ctrlPr>
                            </m:sSupPr>
                            <m:e>
                              <m:sSup>
                                <m:sSupPr>
                                  <m:ctrlPr>
                                    <a:rPr lang="en-US" altLang="ja-JP" sz="2400" i="1">
                                      <a:latin typeface="Cambria Math" panose="02040503050406030204" pitchFamily="18" charset="0"/>
                                      <a:ea typeface="Cambria Math" panose="02040503050406030204" pitchFamily="18" charset="0"/>
                                    </a:rPr>
                                  </m:ctrlPr>
                                </m:sSupPr>
                                <m:e>
                                  <m:r>
                                    <m:rPr>
                                      <m:sty m:val="p"/>
                                    </m:rPr>
                                    <a:rPr lang="ja-JP" altLang="en-US" sz="2400" i="1">
                                      <a:latin typeface="Cambria Math" panose="02040503050406030204" pitchFamily="18" charset="0"/>
                                      <a:ea typeface="Cambria Math" panose="02040503050406030204" pitchFamily="18" charset="0"/>
                                    </a:rPr>
                                    <m:t>∇</m:t>
                                  </m:r>
                                </m:e>
                                <m:sup>
                                  <m:r>
                                    <a:rPr lang="en-US" altLang="ja-JP" sz="2400" i="1">
                                      <a:latin typeface="Cambria Math" panose="02040503050406030204" pitchFamily="18" charset="0"/>
                                      <a:ea typeface="Cambria Math" panose="02040503050406030204" pitchFamily="18" charset="0"/>
                                    </a:rPr>
                                    <m:t>2</m:t>
                                  </m:r>
                                </m:sup>
                              </m:sSup>
                              <m:r>
                                <a:rPr lang="en-US" altLang="ja-JP" sz="2400" i="1">
                                  <a:latin typeface="Cambria Math" panose="02040503050406030204" pitchFamily="18" charset="0"/>
                                  <a:ea typeface="Cambria Math" panose="02040503050406030204" pitchFamily="18" charset="0"/>
                                </a:rPr>
                                <m:t>𝐸</m:t>
                              </m:r>
                              <m:d>
                                <m:dPr>
                                  <m:ctrlPr>
                                    <a:rPr lang="en-US" altLang="ja-JP" sz="2400" i="1">
                                      <a:latin typeface="Cambria Math" panose="02040503050406030204" pitchFamily="18" charset="0"/>
                                      <a:ea typeface="Cambria Math" panose="02040503050406030204" pitchFamily="18" charset="0"/>
                                    </a:rPr>
                                  </m:ctrlPr>
                                </m:dPr>
                                <m:e>
                                  <m:sSub>
                                    <m:sSubPr>
                                      <m:ctrlPr>
                                        <a:rPr lang="en-US" altLang="ja-JP" sz="2400" i="1">
                                          <a:latin typeface="Cambria Math" panose="02040503050406030204" pitchFamily="18" charset="0"/>
                                          <a:ea typeface="Cambria Math" panose="02040503050406030204" pitchFamily="18" charset="0"/>
                                        </a:rPr>
                                      </m:ctrlPr>
                                    </m:sSubPr>
                                    <m:e>
                                      <m:r>
                                        <a:rPr lang="en-US" altLang="ja-JP" sz="2400" b="1" i="0">
                                          <a:latin typeface="Cambria Math" panose="02040503050406030204" pitchFamily="18" charset="0"/>
                                          <a:ea typeface="Cambria Math" panose="02040503050406030204" pitchFamily="18" charset="0"/>
                                        </a:rPr>
                                        <m:t>𝐰</m:t>
                                      </m:r>
                                    </m:e>
                                    <m:sub>
                                      <m:r>
                                        <a:rPr lang="en-US" altLang="ja-JP" sz="2400" i="1">
                                          <a:latin typeface="Cambria Math" panose="02040503050406030204" pitchFamily="18" charset="0"/>
                                          <a:ea typeface="Cambria Math" panose="02040503050406030204" pitchFamily="18" charset="0"/>
                                        </a:rPr>
                                        <m:t>𝑘</m:t>
                                      </m:r>
                                    </m:sub>
                                  </m:sSub>
                                </m:e>
                              </m:d>
                            </m:e>
                            <m:sup>
                              <m:r>
                                <a:rPr lang="en-US" altLang="ja-JP" sz="2400" b="0" i="1" smtClean="0">
                                  <a:latin typeface="Cambria Math" panose="02040503050406030204" pitchFamily="18" charset="0"/>
                                </a:rPr>
                                <m:t>−1</m:t>
                              </m:r>
                            </m:sup>
                          </m:sSup>
                          <m:r>
                            <m:rPr>
                              <m:sty m:val="p"/>
                            </m:rPr>
                            <a:rPr lang="ja-JP" altLang="en-US" sz="2400">
                              <a:latin typeface="Cambria Math" panose="02040503050406030204" pitchFamily="18" charset="0"/>
                              <a:ea typeface="Cambria Math" panose="02040503050406030204" pitchFamily="18" charset="0"/>
                            </a:rPr>
                            <m:t>∇</m:t>
                          </m:r>
                          <m:r>
                            <a:rPr lang="en-US" altLang="ja-JP" sz="2400" i="1">
                              <a:latin typeface="Cambria Math" panose="02040503050406030204" pitchFamily="18" charset="0"/>
                              <a:ea typeface="Cambria Math" panose="02040503050406030204" pitchFamily="18" charset="0"/>
                            </a:rPr>
                            <m:t>𝐸</m:t>
                          </m:r>
                          <m:d>
                            <m:dPr>
                              <m:ctrlPr>
                                <a:rPr lang="en-US" altLang="ja-JP" sz="2400" i="1">
                                  <a:latin typeface="Cambria Math" panose="02040503050406030204" pitchFamily="18" charset="0"/>
                                  <a:ea typeface="Cambria Math" panose="02040503050406030204" pitchFamily="18" charset="0"/>
                                </a:rPr>
                              </m:ctrlPr>
                            </m:dPr>
                            <m:e>
                              <m:sSub>
                                <m:sSubPr>
                                  <m:ctrlPr>
                                    <a:rPr lang="en-US" altLang="ja-JP" sz="2400" i="1">
                                      <a:latin typeface="Cambria Math" panose="02040503050406030204" pitchFamily="18" charset="0"/>
                                      <a:ea typeface="Cambria Math" panose="02040503050406030204" pitchFamily="18" charset="0"/>
                                    </a:rPr>
                                  </m:ctrlPr>
                                </m:sSubPr>
                                <m:e>
                                  <m:r>
                                    <a:rPr lang="en-US" altLang="ja-JP" sz="2400" b="1" i="0">
                                      <a:latin typeface="Cambria Math" panose="02040503050406030204" pitchFamily="18" charset="0"/>
                                      <a:ea typeface="Cambria Math" panose="02040503050406030204" pitchFamily="18" charset="0"/>
                                    </a:rPr>
                                    <m:t>𝐰</m:t>
                                  </m:r>
                                </m:e>
                                <m:sub>
                                  <m:r>
                                    <a:rPr lang="en-US" altLang="ja-JP" sz="2400" i="1">
                                      <a:latin typeface="Cambria Math" panose="02040503050406030204" pitchFamily="18" charset="0"/>
                                      <a:ea typeface="Cambria Math" panose="02040503050406030204" pitchFamily="18" charset="0"/>
                                    </a:rPr>
                                    <m:t>𝑘</m:t>
                                  </m:r>
                                </m:sub>
                              </m:sSub>
                            </m:e>
                          </m:d>
                          <m:r>
                            <a:rPr lang="en-US" altLang="ja-JP" sz="2400" i="1">
                              <a:latin typeface="Cambria Math" panose="02040503050406030204" pitchFamily="18" charset="0"/>
                              <a:ea typeface="Cambria Math" panose="02040503050406030204" pitchFamily="18" charset="0"/>
                            </a:rPr>
                            <m:t>#</m:t>
                          </m:r>
                        </m:e>
                      </m:eqArr>
                    </m:oMath>
                  </m:oMathPara>
                </a14:m>
                <a:endParaRPr lang="en-ZA" altLang="ja-JP" sz="2400" b="0" dirty="0">
                  <a:ea typeface="Cambria Math" panose="02040503050406030204" pitchFamily="18" charset="0"/>
                </a:endParaRPr>
              </a:p>
              <a:p>
                <a:pPr marL="0" indent="0">
                  <a:buNone/>
                </a:pPr>
                <a:endParaRPr lang="en-US" altLang="ja-JP" sz="2400" b="0" dirty="0">
                  <a:ea typeface="Cambria Math" panose="02040503050406030204" pitchFamily="18" charset="0"/>
                </a:endParaRPr>
              </a:p>
              <a:p>
                <a:pPr marL="0" indent="0">
                  <a:buNone/>
                </a:pPr>
                <a:endParaRPr lang="en-US" altLang="ja-JP" sz="2400" dirty="0"/>
              </a:p>
            </p:txBody>
          </p:sp>
        </mc:Choice>
        <mc:Fallback xmlns="">
          <p:sp>
            <p:nvSpPr>
              <p:cNvPr id="3" name="コンテンツ プレースホルダー 2">
                <a:extLst>
                  <a:ext uri="{FF2B5EF4-FFF2-40B4-BE49-F238E27FC236}">
                    <a16:creationId xmlns:a16="http://schemas.microsoft.com/office/drawing/2014/main" id="{320ACA7A-6F7B-44A4-94CC-84F664409AC7}"/>
                  </a:ext>
                </a:extLst>
              </p:cNvPr>
              <p:cNvSpPr>
                <a:spLocks noGrp="1" noRot="1" noChangeAspect="1" noMove="1" noResize="1" noEditPoints="1" noAdjustHandles="1" noChangeArrowheads="1" noChangeShapeType="1" noTextEdit="1"/>
              </p:cNvSpPr>
              <p:nvPr>
                <p:ph idx="1"/>
              </p:nvPr>
            </p:nvSpPr>
            <p:spPr>
              <a:xfrm>
                <a:off x="838200" y="2335915"/>
                <a:ext cx="10515600" cy="3411742"/>
              </a:xfrm>
              <a:blipFill>
                <a:blip r:embed="rId3"/>
                <a:stretch>
                  <a:fillRect l="-928"/>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954F4647-B67F-4C5E-8C38-71B3ADAA22B1}"/>
              </a:ext>
            </a:extLst>
          </p:cNvPr>
          <p:cNvSpPr>
            <a:spLocks noGrp="1"/>
          </p:cNvSpPr>
          <p:nvPr>
            <p:ph type="sldNum" sz="quarter" idx="12"/>
          </p:nvPr>
        </p:nvSpPr>
        <p:spPr/>
        <p:txBody>
          <a:bodyPr/>
          <a:lstStyle/>
          <a:p>
            <a:fld id="{E0941385-F5BA-408B-94FB-C48DC2364AB1}" type="slidenum">
              <a:rPr kumimoji="1" lang="ja-JP" altLang="en-US" smtClean="0"/>
              <a:t>58</a:t>
            </a:fld>
            <a:endParaRPr kumimoji="1" lang="ja-JP" altLang="en-US"/>
          </a:p>
        </p:txBody>
      </p:sp>
      <p:sp>
        <p:nvSpPr>
          <p:cNvPr id="5" name="テキスト ボックス 4">
            <a:extLst>
              <a:ext uri="{FF2B5EF4-FFF2-40B4-BE49-F238E27FC236}">
                <a16:creationId xmlns:a16="http://schemas.microsoft.com/office/drawing/2014/main" id="{3D8F461E-6949-4FA1-B574-893139357A8D}"/>
              </a:ext>
            </a:extLst>
          </p:cNvPr>
          <p:cNvSpPr txBox="1"/>
          <p:nvPr/>
        </p:nvSpPr>
        <p:spPr>
          <a:xfrm>
            <a:off x="10786110" y="2194366"/>
            <a:ext cx="667839" cy="596253"/>
          </a:xfrm>
          <a:prstGeom prst="rect">
            <a:avLst/>
          </a:prstGeom>
          <a:solidFill>
            <a:srgbClr val="E4E4E4"/>
          </a:solidFill>
        </p:spPr>
        <p:txBody>
          <a:bodyPr wrap="square" rtlCol="0">
            <a:spAutoFit/>
          </a:bodyPr>
          <a:lstStyle/>
          <a:p>
            <a:pPr>
              <a:lnSpc>
                <a:spcPct val="150000"/>
              </a:lnSpc>
            </a:pPr>
            <a:r>
              <a:rPr kumimoji="1" lang="en-US" altLang="ja-JP" sz="2400" dirty="0">
                <a:solidFill>
                  <a:schemeClr val="tx1">
                    <a:lumMod val="85000"/>
                    <a:lumOff val="15000"/>
                  </a:schemeClr>
                </a:solidFill>
                <a:latin typeface="UD デジタル 教科書体 NK-R" panose="02020400000000000000" pitchFamily="18" charset="-128"/>
                <a:ea typeface="UD デジタル 教科書体 NK-R" panose="02020400000000000000" pitchFamily="18" charset="-128"/>
              </a:rPr>
              <a:t>(</a:t>
            </a:r>
            <a:r>
              <a:rPr kumimoji="1" lang="ja-JP" altLang="en-US" sz="2400" dirty="0">
                <a:solidFill>
                  <a:schemeClr val="tx1">
                    <a:lumMod val="85000"/>
                    <a:lumOff val="15000"/>
                  </a:schemeClr>
                </a:solidFill>
                <a:latin typeface="UD デジタル 教科書体 NK-R" panose="02020400000000000000" pitchFamily="18" charset="-128"/>
                <a:ea typeface="UD デジタル 教科書体 NK-R" panose="02020400000000000000" pitchFamily="18" charset="-128"/>
              </a:rPr>
              <a:t>５</a:t>
            </a:r>
            <a:r>
              <a:rPr kumimoji="1" lang="en-US" altLang="ja-JP" sz="2400" dirty="0">
                <a:solidFill>
                  <a:schemeClr val="tx1">
                    <a:lumMod val="85000"/>
                    <a:lumOff val="15000"/>
                  </a:schemeClr>
                </a:solidFill>
                <a:latin typeface="UD デジタル 教科書体 NK-R" panose="02020400000000000000" pitchFamily="18" charset="-128"/>
                <a:ea typeface="UD デジタル 教科書体 NK-R" panose="02020400000000000000" pitchFamily="18" charset="-128"/>
              </a:rPr>
              <a:t>)</a:t>
            </a:r>
            <a:endParaRPr kumimoji="1" lang="ja-JP" altLang="en-US" sz="2400" dirty="0">
              <a:solidFill>
                <a:schemeClr val="tx1">
                  <a:lumMod val="85000"/>
                  <a:lumOff val="15000"/>
                </a:schemeClr>
              </a:solidFill>
              <a:latin typeface="UD デジタル 教科書体 NK-R" panose="02020400000000000000" pitchFamily="18" charset="-128"/>
              <a:ea typeface="UD デジタル 教科書体 NK-R" panose="02020400000000000000" pitchFamily="18" charset="-128"/>
            </a:endParaRPr>
          </a:p>
        </p:txBody>
      </p:sp>
      <p:sp>
        <p:nvSpPr>
          <p:cNvPr id="6" name="テキスト ボックス 5">
            <a:extLst>
              <a:ext uri="{FF2B5EF4-FFF2-40B4-BE49-F238E27FC236}">
                <a16:creationId xmlns:a16="http://schemas.microsoft.com/office/drawing/2014/main" id="{AEF784CE-408C-43B4-879B-141E1D6122DE}"/>
              </a:ext>
            </a:extLst>
          </p:cNvPr>
          <p:cNvSpPr txBox="1"/>
          <p:nvPr/>
        </p:nvSpPr>
        <p:spPr>
          <a:xfrm>
            <a:off x="10807880" y="3397912"/>
            <a:ext cx="667839" cy="596253"/>
          </a:xfrm>
          <a:prstGeom prst="rect">
            <a:avLst/>
          </a:prstGeom>
          <a:solidFill>
            <a:srgbClr val="E4E4E4"/>
          </a:solidFill>
        </p:spPr>
        <p:txBody>
          <a:bodyPr wrap="square" rtlCol="0">
            <a:spAutoFit/>
          </a:bodyPr>
          <a:lstStyle/>
          <a:p>
            <a:pPr>
              <a:lnSpc>
                <a:spcPct val="150000"/>
              </a:lnSpc>
            </a:pPr>
            <a:r>
              <a:rPr kumimoji="1" lang="en-US" altLang="ja-JP" sz="2400" dirty="0">
                <a:solidFill>
                  <a:schemeClr val="tx1">
                    <a:lumMod val="85000"/>
                    <a:lumOff val="15000"/>
                  </a:schemeClr>
                </a:solidFill>
                <a:latin typeface="UD デジタル 教科書体 NK-R" panose="02020400000000000000" pitchFamily="18" charset="-128"/>
                <a:ea typeface="UD デジタル 教科書体 NK-R" panose="02020400000000000000" pitchFamily="18" charset="-128"/>
              </a:rPr>
              <a:t>(</a:t>
            </a:r>
            <a:r>
              <a:rPr kumimoji="1" lang="ja-JP" altLang="en-US" sz="2400">
                <a:solidFill>
                  <a:schemeClr val="tx1">
                    <a:lumMod val="85000"/>
                    <a:lumOff val="15000"/>
                  </a:schemeClr>
                </a:solidFill>
                <a:latin typeface="UD デジタル 教科書体 NK-R" panose="02020400000000000000" pitchFamily="18" charset="-128"/>
                <a:ea typeface="UD デジタル 教科書体 NK-R" panose="02020400000000000000" pitchFamily="18" charset="-128"/>
              </a:rPr>
              <a:t>６</a:t>
            </a:r>
            <a:r>
              <a:rPr kumimoji="1" lang="en-US" altLang="ja-JP" sz="2400" dirty="0">
                <a:solidFill>
                  <a:schemeClr val="tx1">
                    <a:lumMod val="85000"/>
                    <a:lumOff val="15000"/>
                  </a:schemeClr>
                </a:solidFill>
                <a:latin typeface="UD デジタル 教科書体 NK-R" panose="02020400000000000000" pitchFamily="18" charset="-128"/>
                <a:ea typeface="UD デジタル 教科書体 NK-R" panose="02020400000000000000" pitchFamily="18" charset="-128"/>
              </a:rPr>
              <a:t>)</a:t>
            </a:r>
            <a:endParaRPr kumimoji="1" lang="ja-JP" altLang="en-US" sz="2400" dirty="0">
              <a:solidFill>
                <a:schemeClr val="tx1">
                  <a:lumMod val="85000"/>
                  <a:lumOff val="15000"/>
                </a:schemeClr>
              </a:solidFill>
              <a:latin typeface="UD デジタル 教科書体 NK-R" panose="02020400000000000000" pitchFamily="18" charset="-128"/>
              <a:ea typeface="UD デジタル 教科書体 NK-R" panose="02020400000000000000" pitchFamily="18" charset="-128"/>
            </a:endParaRPr>
          </a:p>
        </p:txBody>
      </p:sp>
      <p:sp>
        <p:nvSpPr>
          <p:cNvPr id="7" name="テキスト ボックス 6">
            <a:extLst>
              <a:ext uri="{FF2B5EF4-FFF2-40B4-BE49-F238E27FC236}">
                <a16:creationId xmlns:a16="http://schemas.microsoft.com/office/drawing/2014/main" id="{8BD4DD6A-327D-43F0-8D6E-FB1E4EEFA8B1}"/>
              </a:ext>
            </a:extLst>
          </p:cNvPr>
          <p:cNvSpPr txBox="1"/>
          <p:nvPr/>
        </p:nvSpPr>
        <p:spPr>
          <a:xfrm>
            <a:off x="10807879" y="4660173"/>
            <a:ext cx="667839" cy="596253"/>
          </a:xfrm>
          <a:prstGeom prst="rect">
            <a:avLst/>
          </a:prstGeom>
          <a:solidFill>
            <a:srgbClr val="E4E4E4"/>
          </a:solidFill>
        </p:spPr>
        <p:txBody>
          <a:bodyPr wrap="square" rtlCol="0">
            <a:spAutoFit/>
          </a:bodyPr>
          <a:lstStyle/>
          <a:p>
            <a:pPr>
              <a:lnSpc>
                <a:spcPct val="150000"/>
              </a:lnSpc>
            </a:pPr>
            <a:r>
              <a:rPr kumimoji="1" lang="en-US" altLang="ja-JP" sz="2400" dirty="0">
                <a:solidFill>
                  <a:schemeClr val="tx1">
                    <a:lumMod val="85000"/>
                    <a:lumOff val="15000"/>
                  </a:schemeClr>
                </a:solidFill>
                <a:latin typeface="UD デジタル 教科書体 NK-R" panose="02020400000000000000" pitchFamily="18" charset="-128"/>
                <a:ea typeface="UD デジタル 教科書体 NK-R" panose="02020400000000000000" pitchFamily="18" charset="-128"/>
              </a:rPr>
              <a:t>(</a:t>
            </a:r>
            <a:r>
              <a:rPr kumimoji="1" lang="ja-JP" altLang="en-US" sz="2400">
                <a:solidFill>
                  <a:schemeClr val="tx1">
                    <a:lumMod val="85000"/>
                    <a:lumOff val="15000"/>
                  </a:schemeClr>
                </a:solidFill>
                <a:latin typeface="UD デジタル 教科書体 NK-R" panose="02020400000000000000" pitchFamily="18" charset="-128"/>
                <a:ea typeface="UD デジタル 教科書体 NK-R" panose="02020400000000000000" pitchFamily="18" charset="-128"/>
              </a:rPr>
              <a:t>７</a:t>
            </a:r>
            <a:r>
              <a:rPr kumimoji="1" lang="en-US" altLang="ja-JP" sz="2400" dirty="0">
                <a:solidFill>
                  <a:schemeClr val="tx1">
                    <a:lumMod val="85000"/>
                    <a:lumOff val="15000"/>
                  </a:schemeClr>
                </a:solidFill>
                <a:latin typeface="UD デジタル 教科書体 NK-R" panose="02020400000000000000" pitchFamily="18" charset="-128"/>
                <a:ea typeface="UD デジタル 教科書体 NK-R" panose="02020400000000000000" pitchFamily="18" charset="-128"/>
              </a:rPr>
              <a:t>)</a:t>
            </a:r>
            <a:endParaRPr kumimoji="1" lang="ja-JP" altLang="en-US" sz="2400" dirty="0">
              <a:solidFill>
                <a:schemeClr val="tx1">
                  <a:lumMod val="85000"/>
                  <a:lumOff val="15000"/>
                </a:schemeClr>
              </a:solidFill>
              <a:latin typeface="UD デジタル 教科書体 NK-R" panose="02020400000000000000" pitchFamily="18" charset="-128"/>
              <a:ea typeface="UD デジタル 教科書体 NK-R" panose="02020400000000000000" pitchFamily="18" charset="-128"/>
            </a:endParaRPr>
          </a:p>
        </p:txBody>
      </p:sp>
    </p:spTree>
    <p:extLst>
      <p:ext uri="{BB962C8B-B14F-4D97-AF65-F5344CB8AC3E}">
        <p14:creationId xmlns:p14="http://schemas.microsoft.com/office/powerpoint/2010/main" val="91218240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CE7686-0B4E-42B0-A196-FC29E037A8A4}"/>
              </a:ext>
            </a:extLst>
          </p:cNvPr>
          <p:cNvSpPr>
            <a:spLocks noGrp="1"/>
          </p:cNvSpPr>
          <p:nvPr>
            <p:ph type="title"/>
          </p:nvPr>
        </p:nvSpPr>
        <p:spPr/>
        <p:txBody>
          <a:bodyPr/>
          <a:lstStyle/>
          <a:p>
            <a:r>
              <a:rPr kumimoji="1" lang="ja-JP" altLang="en-US" dirty="0"/>
              <a:t>ニュートン法</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320ACA7A-6F7B-44A4-94CC-84F664409AC7}"/>
                  </a:ext>
                </a:extLst>
              </p:cNvPr>
              <p:cNvSpPr>
                <a:spLocks noGrp="1"/>
              </p:cNvSpPr>
              <p:nvPr>
                <p:ph idx="1"/>
              </p:nvPr>
            </p:nvSpPr>
            <p:spPr>
              <a:xfrm>
                <a:off x="718645" y="2369912"/>
                <a:ext cx="10754710" cy="2724602"/>
              </a:xfrm>
            </p:spPr>
            <p:txBody>
              <a:bodyPr>
                <a:normAutofit/>
              </a:bodyPr>
              <a:lstStyle/>
              <a:p>
                <a:pPr marL="0" indent="0">
                  <a:buNone/>
                </a:pPr>
                <a14:m>
                  <m:oMathPara xmlns:m="http://schemas.openxmlformats.org/officeDocument/2006/math">
                    <m:oMathParaPr>
                      <m:jc m:val="centerGroup"/>
                    </m:oMathParaPr>
                    <m:oMath xmlns:m="http://schemas.openxmlformats.org/officeDocument/2006/math">
                      <m:eqArr>
                        <m:eqArrPr>
                          <m:ctrlPr>
                            <a:rPr lang="en-US" altLang="ja-JP" sz="2800" b="0" i="1" smtClean="0">
                              <a:latin typeface="Cambria Math" panose="02040503050406030204" pitchFamily="18" charset="0"/>
                              <a:ea typeface="Cambria Math" panose="02040503050406030204" pitchFamily="18" charset="0"/>
                            </a:rPr>
                          </m:ctrlPr>
                        </m:eqArrPr>
                        <m:e>
                          <m:r>
                            <a:rPr lang="en-US" altLang="ja-JP" sz="2800" b="0" i="1" smtClean="0">
                              <a:latin typeface="Cambria Math" panose="02040503050406030204" pitchFamily="18" charset="0"/>
                            </a:rPr>
                            <m:t> </m:t>
                          </m:r>
                          <m:r>
                            <a:rPr lang="en-US" altLang="ja-JP" sz="2800" b="1" i="0" smtClean="0">
                              <a:latin typeface="Cambria Math" panose="02040503050406030204" pitchFamily="18" charset="0"/>
                            </a:rPr>
                            <m:t>𝐰</m:t>
                          </m:r>
                          <m:r>
                            <a:rPr lang="en-US" altLang="ja-JP" sz="2800" b="0" i="1" smtClean="0">
                              <a:latin typeface="Cambria Math" panose="02040503050406030204" pitchFamily="18" charset="0"/>
                            </a:rPr>
                            <m:t>= </m:t>
                          </m:r>
                          <m:sSub>
                            <m:sSubPr>
                              <m:ctrlPr>
                                <a:rPr lang="en-US" altLang="ja-JP" sz="2800" b="0" i="1" smtClean="0">
                                  <a:latin typeface="Cambria Math" panose="02040503050406030204" pitchFamily="18" charset="0"/>
                                </a:rPr>
                              </m:ctrlPr>
                            </m:sSubPr>
                            <m:e>
                              <m:r>
                                <a:rPr lang="en-US" altLang="ja-JP" sz="2800" b="1" i="0" smtClean="0">
                                  <a:latin typeface="Cambria Math" panose="02040503050406030204" pitchFamily="18" charset="0"/>
                                </a:rPr>
                                <m:t>𝐰</m:t>
                              </m:r>
                            </m:e>
                            <m:sub>
                              <m:r>
                                <a:rPr lang="en-US" altLang="ja-JP" sz="2800" b="0" i="1" smtClean="0">
                                  <a:latin typeface="Cambria Math" panose="02040503050406030204" pitchFamily="18" charset="0"/>
                                </a:rPr>
                                <m:t>𝑘</m:t>
                              </m:r>
                            </m:sub>
                          </m:sSub>
                          <m:r>
                            <a:rPr lang="en-US" altLang="ja-JP" sz="2800" b="0" i="1" smtClean="0">
                              <a:latin typeface="Cambria Math" panose="02040503050406030204" pitchFamily="18" charset="0"/>
                            </a:rPr>
                            <m:t> − </m:t>
                          </m:r>
                          <m:sSup>
                            <m:sSupPr>
                              <m:ctrlPr>
                                <a:rPr lang="en-US" altLang="ja-JP" sz="2800" b="0" i="1" smtClean="0">
                                  <a:latin typeface="Cambria Math" panose="02040503050406030204" pitchFamily="18" charset="0"/>
                                </a:rPr>
                              </m:ctrlPr>
                            </m:sSupPr>
                            <m:e>
                              <m:sSup>
                                <m:sSupPr>
                                  <m:ctrlPr>
                                    <a:rPr lang="en-US" altLang="ja-JP" sz="2800" i="1">
                                      <a:latin typeface="Cambria Math" panose="02040503050406030204" pitchFamily="18" charset="0"/>
                                      <a:ea typeface="Cambria Math" panose="02040503050406030204" pitchFamily="18" charset="0"/>
                                    </a:rPr>
                                  </m:ctrlPr>
                                </m:sSupPr>
                                <m:e>
                                  <m:r>
                                    <m:rPr>
                                      <m:sty m:val="p"/>
                                    </m:rPr>
                                    <a:rPr lang="ja-JP" altLang="en-US" sz="2800" i="1">
                                      <a:latin typeface="Cambria Math" panose="02040503050406030204" pitchFamily="18" charset="0"/>
                                      <a:ea typeface="Cambria Math" panose="02040503050406030204" pitchFamily="18" charset="0"/>
                                    </a:rPr>
                                    <m:t>∇</m:t>
                                  </m:r>
                                </m:e>
                                <m:sup>
                                  <m:r>
                                    <a:rPr lang="en-US" altLang="ja-JP" sz="2800" i="1">
                                      <a:latin typeface="Cambria Math" panose="02040503050406030204" pitchFamily="18" charset="0"/>
                                      <a:ea typeface="Cambria Math" panose="02040503050406030204" pitchFamily="18" charset="0"/>
                                    </a:rPr>
                                    <m:t>2</m:t>
                                  </m:r>
                                </m:sup>
                              </m:sSup>
                              <m:r>
                                <a:rPr lang="en-US" altLang="ja-JP" sz="2800" i="1">
                                  <a:latin typeface="Cambria Math" panose="02040503050406030204" pitchFamily="18" charset="0"/>
                                  <a:ea typeface="Cambria Math" panose="02040503050406030204" pitchFamily="18" charset="0"/>
                                </a:rPr>
                                <m:t>𝐸</m:t>
                              </m:r>
                              <m:d>
                                <m:dPr>
                                  <m:ctrlPr>
                                    <a:rPr lang="en-US" altLang="ja-JP" sz="2800" i="1">
                                      <a:latin typeface="Cambria Math" panose="02040503050406030204" pitchFamily="18" charset="0"/>
                                      <a:ea typeface="Cambria Math" panose="02040503050406030204" pitchFamily="18" charset="0"/>
                                    </a:rPr>
                                  </m:ctrlPr>
                                </m:dPr>
                                <m:e>
                                  <m:sSub>
                                    <m:sSubPr>
                                      <m:ctrlPr>
                                        <a:rPr lang="en-US" altLang="ja-JP" sz="2800" i="1">
                                          <a:latin typeface="Cambria Math" panose="02040503050406030204" pitchFamily="18" charset="0"/>
                                          <a:ea typeface="Cambria Math" panose="02040503050406030204" pitchFamily="18" charset="0"/>
                                        </a:rPr>
                                      </m:ctrlPr>
                                    </m:sSubPr>
                                    <m:e>
                                      <m:r>
                                        <a:rPr lang="en-US" altLang="ja-JP" sz="2800" b="1" i="0">
                                          <a:latin typeface="Cambria Math" panose="02040503050406030204" pitchFamily="18" charset="0"/>
                                          <a:ea typeface="Cambria Math" panose="02040503050406030204" pitchFamily="18" charset="0"/>
                                        </a:rPr>
                                        <m:t>𝐰</m:t>
                                      </m:r>
                                    </m:e>
                                    <m:sub>
                                      <m:r>
                                        <a:rPr lang="en-US" altLang="ja-JP" sz="2800" i="1">
                                          <a:latin typeface="Cambria Math" panose="02040503050406030204" pitchFamily="18" charset="0"/>
                                          <a:ea typeface="Cambria Math" panose="02040503050406030204" pitchFamily="18" charset="0"/>
                                        </a:rPr>
                                        <m:t>𝑘</m:t>
                                      </m:r>
                                    </m:sub>
                                  </m:sSub>
                                </m:e>
                              </m:d>
                            </m:e>
                            <m:sup>
                              <m:r>
                                <a:rPr lang="en-US" altLang="ja-JP" sz="2800" b="0" i="1" smtClean="0">
                                  <a:latin typeface="Cambria Math" panose="02040503050406030204" pitchFamily="18" charset="0"/>
                                </a:rPr>
                                <m:t>−1</m:t>
                              </m:r>
                            </m:sup>
                          </m:sSup>
                          <m:r>
                            <m:rPr>
                              <m:sty m:val="p"/>
                            </m:rPr>
                            <a:rPr lang="ja-JP" altLang="en-US" sz="2800">
                              <a:latin typeface="Cambria Math" panose="02040503050406030204" pitchFamily="18" charset="0"/>
                              <a:ea typeface="Cambria Math" panose="02040503050406030204" pitchFamily="18" charset="0"/>
                            </a:rPr>
                            <m:t>∇</m:t>
                          </m:r>
                          <m:r>
                            <a:rPr lang="en-US" altLang="ja-JP" sz="2800" i="1">
                              <a:latin typeface="Cambria Math" panose="02040503050406030204" pitchFamily="18" charset="0"/>
                              <a:ea typeface="Cambria Math" panose="02040503050406030204" pitchFamily="18" charset="0"/>
                            </a:rPr>
                            <m:t>𝐸</m:t>
                          </m:r>
                          <m:d>
                            <m:dPr>
                              <m:ctrlPr>
                                <a:rPr lang="en-US" altLang="ja-JP" sz="2800" i="1">
                                  <a:latin typeface="Cambria Math" panose="02040503050406030204" pitchFamily="18" charset="0"/>
                                  <a:ea typeface="Cambria Math" panose="02040503050406030204" pitchFamily="18" charset="0"/>
                                </a:rPr>
                              </m:ctrlPr>
                            </m:dPr>
                            <m:e>
                              <m:sSub>
                                <m:sSubPr>
                                  <m:ctrlPr>
                                    <a:rPr lang="en-US" altLang="ja-JP" sz="2800" i="1">
                                      <a:latin typeface="Cambria Math" panose="02040503050406030204" pitchFamily="18" charset="0"/>
                                      <a:ea typeface="Cambria Math" panose="02040503050406030204" pitchFamily="18" charset="0"/>
                                    </a:rPr>
                                  </m:ctrlPr>
                                </m:sSubPr>
                                <m:e>
                                  <m:r>
                                    <a:rPr lang="en-US" altLang="ja-JP" sz="2800" b="1" i="0">
                                      <a:latin typeface="Cambria Math" panose="02040503050406030204" pitchFamily="18" charset="0"/>
                                      <a:ea typeface="Cambria Math" panose="02040503050406030204" pitchFamily="18" charset="0"/>
                                    </a:rPr>
                                    <m:t>𝐰</m:t>
                                  </m:r>
                                </m:e>
                                <m:sub>
                                  <m:r>
                                    <a:rPr lang="en-US" altLang="ja-JP" sz="2800" i="1">
                                      <a:latin typeface="Cambria Math" panose="02040503050406030204" pitchFamily="18" charset="0"/>
                                      <a:ea typeface="Cambria Math" panose="02040503050406030204" pitchFamily="18" charset="0"/>
                                    </a:rPr>
                                    <m:t>𝑘</m:t>
                                  </m:r>
                                </m:sub>
                              </m:sSub>
                            </m:e>
                          </m:d>
                          <m:r>
                            <a:rPr lang="en-US" altLang="ja-JP" sz="2800" i="1">
                              <a:latin typeface="Cambria Math" panose="02040503050406030204" pitchFamily="18" charset="0"/>
                              <a:ea typeface="Cambria Math" panose="02040503050406030204" pitchFamily="18" charset="0"/>
                            </a:rPr>
                            <m:t>#</m:t>
                          </m:r>
                        </m:e>
                      </m:eqArr>
                    </m:oMath>
                  </m:oMathPara>
                </a14:m>
                <a:endParaRPr lang="en-US" altLang="ja-JP" sz="2800" b="0" dirty="0">
                  <a:ea typeface="Cambria Math" panose="02040503050406030204" pitchFamily="18" charset="0"/>
                </a:endParaRPr>
              </a:p>
              <a:p>
                <a:pPr marL="0" indent="0">
                  <a:buNone/>
                </a:pPr>
                <a:endParaRPr kumimoji="1" lang="en-US" altLang="ja-JP" dirty="0"/>
              </a:p>
              <a:p>
                <a:r>
                  <a:rPr kumimoji="1" lang="ja-JP" altLang="en-US" dirty="0"/>
                  <a:t>ニュートン法の更新式</a:t>
                </a:r>
                <a:endParaRPr kumimoji="1" lang="en-US" altLang="ja-JP" dirty="0"/>
              </a:p>
              <a:p>
                <a:pPr marL="0" indent="0">
                  <a:buNone/>
                </a:pPr>
                <a:r>
                  <a:rPr kumimoji="1" lang="ja-JP" altLang="en-US" dirty="0"/>
                  <a:t>（</a:t>
                </a:r>
                <a:r>
                  <a:rPr kumimoji="1" lang="en-US" altLang="ja-JP" dirty="0"/>
                  <a:t>7</a:t>
                </a:r>
                <a:r>
                  <a:rPr kumimoji="1" lang="ja-JP" altLang="en-US" dirty="0"/>
                  <a:t>）に学習率を追加</a:t>
                </a:r>
                <a:endParaRPr kumimoji="1" lang="en-US" altLang="ja-JP" dirty="0"/>
              </a:p>
              <a:p>
                <a:pPr marL="0" indent="0">
                  <a:buNone/>
                </a:pPr>
                <a14:m>
                  <m:oMathPara xmlns:m="http://schemas.openxmlformats.org/officeDocument/2006/math">
                    <m:oMathParaPr>
                      <m:jc m:val="centerGroup"/>
                    </m:oMathParaPr>
                    <m:oMath xmlns:m="http://schemas.openxmlformats.org/officeDocument/2006/math">
                      <m:eqArr>
                        <m:eqArrPr>
                          <m:ctrlPr>
                            <a:rPr lang="en-ZA" altLang="ja-JP" b="0" i="1" smtClean="0">
                              <a:latin typeface="Cambria Math" panose="02040503050406030204" pitchFamily="18" charset="0"/>
                            </a:rPr>
                          </m:ctrlPr>
                        </m:eqArrPr>
                        <m:e>
                          <m:eqArr>
                            <m:eqArrPr>
                              <m:ctrlPr>
                                <a:rPr lang="en-US" altLang="ja-JP" b="0" i="1" smtClean="0">
                                  <a:latin typeface="Cambria Math" panose="02040503050406030204" pitchFamily="18" charset="0"/>
                                </a:rPr>
                              </m:ctrlPr>
                            </m:eqArrPr>
                            <m:e>
                              <m:sSub>
                                <m:sSubPr>
                                  <m:ctrlPr>
                                    <a:rPr lang="en-US" altLang="ja-JP" i="1" smtClean="0">
                                      <a:latin typeface="Cambria Math" panose="02040503050406030204" pitchFamily="18" charset="0"/>
                                    </a:rPr>
                                  </m:ctrlPr>
                                </m:sSubPr>
                                <m:e>
                                  <m:r>
                                    <a:rPr lang="en-US" altLang="ja-JP" b="1" i="0">
                                      <a:latin typeface="Cambria Math" panose="02040503050406030204" pitchFamily="18" charset="0"/>
                                    </a:rPr>
                                    <m:t>𝐰</m:t>
                                  </m:r>
                                </m:e>
                                <m:sub>
                                  <m:r>
                                    <a:rPr lang="en-US" altLang="ja-JP" i="1">
                                      <a:latin typeface="Cambria Math" panose="02040503050406030204" pitchFamily="18" charset="0"/>
                                    </a:rPr>
                                    <m:t>𝑘</m:t>
                                  </m:r>
                                  <m:r>
                                    <a:rPr lang="en-US" altLang="ja-JP" i="1">
                                      <a:latin typeface="Cambria Math" panose="02040503050406030204" pitchFamily="18" charset="0"/>
                                    </a:rPr>
                                    <m:t>+1</m:t>
                                  </m:r>
                                </m:sub>
                              </m:sSub>
                              <m:r>
                                <a:rPr lang="en-US" altLang="ja-JP" i="1">
                                  <a:latin typeface="Cambria Math" panose="02040503050406030204" pitchFamily="18" charset="0"/>
                                </a:rPr>
                                <m:t>= </m:t>
                              </m:r>
                              <m:sSub>
                                <m:sSubPr>
                                  <m:ctrlPr>
                                    <a:rPr lang="en-US" altLang="ja-JP" i="1">
                                      <a:latin typeface="Cambria Math" panose="02040503050406030204" pitchFamily="18" charset="0"/>
                                    </a:rPr>
                                  </m:ctrlPr>
                                </m:sSubPr>
                                <m:e>
                                  <m:r>
                                    <a:rPr lang="en-US" altLang="ja-JP" b="1" i="0">
                                      <a:latin typeface="Cambria Math" panose="02040503050406030204" pitchFamily="18" charset="0"/>
                                    </a:rPr>
                                    <m:t>𝐰</m:t>
                                  </m:r>
                                </m:e>
                                <m:sub>
                                  <m:r>
                                    <a:rPr lang="en-US" altLang="ja-JP" i="1">
                                      <a:latin typeface="Cambria Math" panose="02040503050406030204" pitchFamily="18" charset="0"/>
                                    </a:rPr>
                                    <m:t>𝑘</m:t>
                                  </m:r>
                                </m:sub>
                              </m:sSub>
                              <m:r>
                                <a:rPr lang="en-US" altLang="ja-JP" i="1">
                                  <a:latin typeface="Cambria Math" panose="02040503050406030204" pitchFamily="18" charset="0"/>
                                </a:rPr>
                                <m:t> − </m:t>
                              </m:r>
                              <m:r>
                                <a:rPr lang="ja-JP" altLang="en-US" i="1" smtClean="0">
                                  <a:solidFill>
                                    <a:srgbClr val="C00000"/>
                                  </a:solidFill>
                                  <a:latin typeface="Cambria Math" panose="02040503050406030204" pitchFamily="18" charset="0"/>
                                </a:rPr>
                                <m:t>𝛼</m:t>
                              </m:r>
                              <m:sSubSup>
                                <m:sSubSupPr>
                                  <m:ctrlPr>
                                    <a:rPr lang="en-US" altLang="ja-JP" i="1" smtClean="0">
                                      <a:solidFill>
                                        <a:schemeClr val="tx1">
                                          <a:lumMod val="75000"/>
                                          <a:lumOff val="25000"/>
                                        </a:schemeClr>
                                      </a:solidFill>
                                      <a:latin typeface="Cambria Math" panose="02040503050406030204" pitchFamily="18" charset="0"/>
                                    </a:rPr>
                                  </m:ctrlPr>
                                </m:sSubSupPr>
                                <m:e>
                                  <m:r>
                                    <a:rPr lang="en-US" altLang="ja-JP" b="1" i="0">
                                      <a:solidFill>
                                        <a:schemeClr val="tx1">
                                          <a:lumMod val="75000"/>
                                          <a:lumOff val="25000"/>
                                        </a:schemeClr>
                                      </a:solidFill>
                                      <a:latin typeface="Cambria Math" panose="02040503050406030204" pitchFamily="18" charset="0"/>
                                    </a:rPr>
                                    <m:t>𝐇</m:t>
                                  </m:r>
                                </m:e>
                                <m:sub>
                                  <m:r>
                                    <a:rPr lang="en-US" altLang="ja-JP" i="1">
                                      <a:solidFill>
                                        <a:schemeClr val="tx1">
                                          <a:lumMod val="75000"/>
                                          <a:lumOff val="25000"/>
                                        </a:schemeClr>
                                      </a:solidFill>
                                      <a:latin typeface="Cambria Math" panose="02040503050406030204" pitchFamily="18" charset="0"/>
                                    </a:rPr>
                                    <m:t>𝑘</m:t>
                                  </m:r>
                                </m:sub>
                                <m:sup>
                                  <m:r>
                                    <a:rPr lang="en-US" altLang="ja-JP" i="1">
                                      <a:solidFill>
                                        <a:schemeClr val="tx1">
                                          <a:lumMod val="75000"/>
                                          <a:lumOff val="25000"/>
                                        </a:schemeClr>
                                      </a:solidFill>
                                      <a:latin typeface="Cambria Math" panose="02040503050406030204" pitchFamily="18" charset="0"/>
                                    </a:rPr>
                                    <m:t>−1</m:t>
                                  </m:r>
                                </m:sup>
                              </m:sSubSup>
                              <m:sSub>
                                <m:sSubPr>
                                  <m:ctrlPr>
                                    <a:rPr lang="en-US" altLang="ja-JP" i="1" smtClean="0">
                                      <a:solidFill>
                                        <a:schemeClr val="tx1">
                                          <a:lumMod val="75000"/>
                                          <a:lumOff val="25000"/>
                                        </a:schemeClr>
                                      </a:solidFill>
                                      <a:latin typeface="Cambria Math" panose="02040503050406030204" pitchFamily="18" charset="0"/>
                                    </a:rPr>
                                  </m:ctrlPr>
                                </m:sSubPr>
                                <m:e>
                                  <m:r>
                                    <a:rPr lang="en-US" altLang="ja-JP" b="1" i="0">
                                      <a:solidFill>
                                        <a:schemeClr val="tx1">
                                          <a:lumMod val="75000"/>
                                          <a:lumOff val="25000"/>
                                        </a:schemeClr>
                                      </a:solidFill>
                                      <a:latin typeface="Cambria Math" panose="02040503050406030204" pitchFamily="18" charset="0"/>
                                    </a:rPr>
                                    <m:t>𝐠</m:t>
                                  </m:r>
                                </m:e>
                                <m:sub>
                                  <m:r>
                                    <a:rPr lang="en-US" altLang="ja-JP" i="1">
                                      <a:solidFill>
                                        <a:schemeClr val="tx1">
                                          <a:lumMod val="75000"/>
                                          <a:lumOff val="25000"/>
                                        </a:schemeClr>
                                      </a:solidFill>
                                      <a:latin typeface="Cambria Math" panose="02040503050406030204" pitchFamily="18" charset="0"/>
                                    </a:rPr>
                                    <m:t>𝑘</m:t>
                                  </m:r>
                                </m:sub>
                              </m:sSub>
                            </m:e>
                          </m:eqArr>
                          <m:r>
                            <a:rPr lang="en-US" altLang="ja-JP" i="1">
                              <a:latin typeface="Cambria Math" panose="02040503050406030204" pitchFamily="18" charset="0"/>
                            </a:rPr>
                            <m:t>#</m:t>
                          </m:r>
                        </m:e>
                      </m:eqArr>
                    </m:oMath>
                  </m:oMathPara>
                </a14:m>
                <a:endParaRPr lang="en-US" altLang="ja-JP" b="0" dirty="0"/>
              </a:p>
              <a:p>
                <a:pPr marL="0" indent="0">
                  <a:buNone/>
                </a:pPr>
                <a:endParaRPr lang="en-US" altLang="ja-JP" dirty="0"/>
              </a:p>
            </p:txBody>
          </p:sp>
        </mc:Choice>
        <mc:Fallback xmlns="">
          <p:sp>
            <p:nvSpPr>
              <p:cNvPr id="3" name="コンテンツ プレースホルダー 2">
                <a:extLst>
                  <a:ext uri="{FF2B5EF4-FFF2-40B4-BE49-F238E27FC236}">
                    <a16:creationId xmlns:a16="http://schemas.microsoft.com/office/drawing/2014/main" id="{320ACA7A-6F7B-44A4-94CC-84F664409AC7}"/>
                  </a:ext>
                </a:extLst>
              </p:cNvPr>
              <p:cNvSpPr>
                <a:spLocks noGrp="1" noRot="1" noChangeAspect="1" noMove="1" noResize="1" noEditPoints="1" noAdjustHandles="1" noChangeArrowheads="1" noChangeShapeType="1" noTextEdit="1"/>
              </p:cNvSpPr>
              <p:nvPr>
                <p:ph idx="1"/>
              </p:nvPr>
            </p:nvSpPr>
            <p:spPr>
              <a:xfrm>
                <a:off x="718645" y="2369912"/>
                <a:ext cx="10754710" cy="2724602"/>
              </a:xfrm>
              <a:blipFill>
                <a:blip r:embed="rId3"/>
                <a:stretch>
                  <a:fillRect l="-1190"/>
                </a:stretch>
              </a:blipFill>
            </p:spPr>
            <p:txBody>
              <a:bodyPr/>
              <a:lstStyle/>
              <a:p>
                <a:r>
                  <a:rPr lang="ja-JP" altLang="en-US">
                    <a:noFill/>
                  </a:rPr>
                  <a:t> </a:t>
                </a:r>
              </a:p>
            </p:txBody>
          </p:sp>
        </mc:Fallback>
      </mc:AlternateContent>
      <p:cxnSp>
        <p:nvCxnSpPr>
          <p:cNvPr id="5" name="直線コネクタ 4">
            <a:extLst>
              <a:ext uri="{FF2B5EF4-FFF2-40B4-BE49-F238E27FC236}">
                <a16:creationId xmlns:a16="http://schemas.microsoft.com/office/drawing/2014/main" id="{2CACFF7B-98CF-4DFE-BF08-7D0E207EEDAF}"/>
              </a:ext>
            </a:extLst>
          </p:cNvPr>
          <p:cNvCxnSpPr>
            <a:cxnSpLocks/>
          </p:cNvCxnSpPr>
          <p:nvPr/>
        </p:nvCxnSpPr>
        <p:spPr>
          <a:xfrm>
            <a:off x="5486400" y="2877582"/>
            <a:ext cx="1901371" cy="0"/>
          </a:xfrm>
          <a:prstGeom prst="line">
            <a:avLst/>
          </a:prstGeom>
          <a:ln w="762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BFE0C5D1-386F-43C1-B568-ADE57D45AE50}"/>
              </a:ext>
            </a:extLst>
          </p:cNvPr>
          <p:cNvCxnSpPr>
            <a:cxnSpLocks/>
          </p:cNvCxnSpPr>
          <p:nvPr/>
        </p:nvCxnSpPr>
        <p:spPr>
          <a:xfrm>
            <a:off x="7254240" y="2886274"/>
            <a:ext cx="1323703" cy="3834"/>
          </a:xfrm>
          <a:prstGeom prst="line">
            <a:avLst/>
          </a:prstGeom>
          <a:ln w="76200">
            <a:solidFill>
              <a:srgbClr val="033BED"/>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AF256455-E97B-4AAD-A678-6A25D8C88201}"/>
                  </a:ext>
                </a:extLst>
              </p:cNvPr>
              <p:cNvSpPr txBox="1"/>
              <p:nvPr/>
            </p:nvSpPr>
            <p:spPr>
              <a:xfrm>
                <a:off x="5964120" y="2873748"/>
                <a:ext cx="945931" cy="53937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ja-JP" sz="2800" i="1" smtClean="0">
                              <a:solidFill>
                                <a:srgbClr val="C00000"/>
                              </a:solidFill>
                              <a:latin typeface="Cambria Math" panose="02040503050406030204" pitchFamily="18" charset="0"/>
                            </a:rPr>
                          </m:ctrlPr>
                        </m:sSubSupPr>
                        <m:e>
                          <m:r>
                            <a:rPr lang="en-US" altLang="ja-JP" sz="2800" b="1" i="0" smtClean="0">
                              <a:solidFill>
                                <a:srgbClr val="C00000"/>
                              </a:solidFill>
                              <a:latin typeface="Cambria Math" panose="02040503050406030204" pitchFamily="18" charset="0"/>
                            </a:rPr>
                            <m:t>𝐇</m:t>
                          </m:r>
                        </m:e>
                        <m:sub>
                          <m:r>
                            <a:rPr lang="en-US" altLang="ja-JP" sz="2800" i="1">
                              <a:solidFill>
                                <a:srgbClr val="C00000"/>
                              </a:solidFill>
                              <a:latin typeface="Cambria Math" panose="02040503050406030204" pitchFamily="18" charset="0"/>
                            </a:rPr>
                            <m:t>𝑘</m:t>
                          </m:r>
                        </m:sub>
                        <m:sup>
                          <m:r>
                            <a:rPr lang="en-US" altLang="ja-JP" sz="2800" i="1">
                              <a:solidFill>
                                <a:srgbClr val="C00000"/>
                              </a:solidFill>
                              <a:latin typeface="Cambria Math" panose="02040503050406030204" pitchFamily="18" charset="0"/>
                            </a:rPr>
                            <m:t>−1</m:t>
                          </m:r>
                        </m:sup>
                      </m:sSubSup>
                    </m:oMath>
                  </m:oMathPara>
                </a14:m>
                <a:endParaRPr kumimoji="1" lang="ja-JP" altLang="en-US" sz="2800" dirty="0">
                  <a:solidFill>
                    <a:srgbClr val="C00000"/>
                  </a:solidFill>
                </a:endParaRPr>
              </a:p>
            </p:txBody>
          </p:sp>
        </mc:Choice>
        <mc:Fallback xmlns="">
          <p:sp>
            <p:nvSpPr>
              <p:cNvPr id="7" name="テキスト ボックス 6">
                <a:extLst>
                  <a:ext uri="{FF2B5EF4-FFF2-40B4-BE49-F238E27FC236}">
                    <a16:creationId xmlns:a16="http://schemas.microsoft.com/office/drawing/2014/main" id="{AF256455-E97B-4AAD-A678-6A25D8C88201}"/>
                  </a:ext>
                </a:extLst>
              </p:cNvPr>
              <p:cNvSpPr txBox="1">
                <a:spLocks noRot="1" noChangeAspect="1" noMove="1" noResize="1" noEditPoints="1" noAdjustHandles="1" noChangeArrowheads="1" noChangeShapeType="1" noTextEdit="1"/>
              </p:cNvSpPr>
              <p:nvPr/>
            </p:nvSpPr>
            <p:spPr>
              <a:xfrm>
                <a:off x="5964120" y="2873748"/>
                <a:ext cx="945931" cy="539378"/>
              </a:xfrm>
              <a:prstGeom prst="rect">
                <a:avLst/>
              </a:prstGeom>
              <a:blipFill>
                <a:blip r:embed="rId4"/>
                <a:stretch>
                  <a:fillRect b="-697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8BFB15CC-960D-4AB7-BCD5-B0B2EE353C21}"/>
                  </a:ext>
                </a:extLst>
              </p:cNvPr>
              <p:cNvSpPr txBox="1"/>
              <p:nvPr/>
            </p:nvSpPr>
            <p:spPr>
              <a:xfrm>
                <a:off x="7509891" y="2893740"/>
                <a:ext cx="945931"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ja-JP" sz="2800" i="1" smtClean="0">
                              <a:solidFill>
                                <a:srgbClr val="033BED"/>
                              </a:solidFill>
                              <a:latin typeface="Cambria Math" panose="02040503050406030204" pitchFamily="18" charset="0"/>
                            </a:rPr>
                          </m:ctrlPr>
                        </m:sSubPr>
                        <m:e>
                          <m:r>
                            <a:rPr lang="en-US" altLang="ja-JP" sz="2800" b="1" i="0">
                              <a:solidFill>
                                <a:srgbClr val="033BED"/>
                              </a:solidFill>
                              <a:latin typeface="Cambria Math" panose="02040503050406030204" pitchFamily="18" charset="0"/>
                            </a:rPr>
                            <m:t>𝐠</m:t>
                          </m:r>
                        </m:e>
                        <m:sub>
                          <m:r>
                            <a:rPr lang="en-US" altLang="ja-JP" sz="2800" i="1">
                              <a:solidFill>
                                <a:srgbClr val="033BED"/>
                              </a:solidFill>
                              <a:latin typeface="Cambria Math" panose="02040503050406030204" pitchFamily="18" charset="0"/>
                            </a:rPr>
                            <m:t>𝑘</m:t>
                          </m:r>
                        </m:sub>
                      </m:sSub>
                    </m:oMath>
                  </m:oMathPara>
                </a14:m>
                <a:endParaRPr kumimoji="1" lang="ja-JP" altLang="en-US" sz="2800" dirty="0"/>
              </a:p>
            </p:txBody>
          </p:sp>
        </mc:Choice>
        <mc:Fallback xmlns="">
          <p:sp>
            <p:nvSpPr>
              <p:cNvPr id="8" name="テキスト ボックス 7">
                <a:extLst>
                  <a:ext uri="{FF2B5EF4-FFF2-40B4-BE49-F238E27FC236}">
                    <a16:creationId xmlns:a16="http://schemas.microsoft.com/office/drawing/2014/main" id="{8BFB15CC-960D-4AB7-BCD5-B0B2EE353C21}"/>
                  </a:ext>
                </a:extLst>
              </p:cNvPr>
              <p:cNvSpPr txBox="1">
                <a:spLocks noRot="1" noChangeAspect="1" noMove="1" noResize="1" noEditPoints="1" noAdjustHandles="1" noChangeArrowheads="1" noChangeShapeType="1" noTextEdit="1"/>
              </p:cNvSpPr>
              <p:nvPr/>
            </p:nvSpPr>
            <p:spPr>
              <a:xfrm>
                <a:off x="7509891" y="2893740"/>
                <a:ext cx="945931" cy="523220"/>
              </a:xfrm>
              <a:prstGeom prst="rect">
                <a:avLst/>
              </a:prstGeom>
              <a:blipFill>
                <a:blip r:embed="rId5"/>
                <a:stretch>
                  <a:fillRect b="-9524"/>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3601ADDF-7BA4-49F0-BF6A-A1D8F6D505D0}"/>
              </a:ext>
            </a:extLst>
          </p:cNvPr>
          <p:cNvSpPr>
            <a:spLocks noGrp="1"/>
          </p:cNvSpPr>
          <p:nvPr>
            <p:ph type="sldNum" sz="quarter" idx="12"/>
          </p:nvPr>
        </p:nvSpPr>
        <p:spPr/>
        <p:txBody>
          <a:bodyPr/>
          <a:lstStyle/>
          <a:p>
            <a:fld id="{E0941385-F5BA-408B-94FB-C48DC2364AB1}" type="slidenum">
              <a:rPr kumimoji="1" lang="ja-JP" altLang="en-US" smtClean="0"/>
              <a:t>59</a:t>
            </a:fld>
            <a:endParaRPr kumimoji="1" lang="ja-JP" altLang="en-US"/>
          </a:p>
        </p:txBody>
      </p:sp>
      <p:sp>
        <p:nvSpPr>
          <p:cNvPr id="14" name="テキスト ボックス 13">
            <a:extLst>
              <a:ext uri="{FF2B5EF4-FFF2-40B4-BE49-F238E27FC236}">
                <a16:creationId xmlns:a16="http://schemas.microsoft.com/office/drawing/2014/main" id="{DE20A30A-BEBC-4EC2-8C56-9869202CDDF0}"/>
              </a:ext>
            </a:extLst>
          </p:cNvPr>
          <p:cNvSpPr txBox="1"/>
          <p:nvPr/>
        </p:nvSpPr>
        <p:spPr>
          <a:xfrm>
            <a:off x="10823121" y="2234975"/>
            <a:ext cx="667839" cy="596253"/>
          </a:xfrm>
          <a:prstGeom prst="rect">
            <a:avLst/>
          </a:prstGeom>
          <a:solidFill>
            <a:srgbClr val="E4E4E4"/>
          </a:solidFill>
        </p:spPr>
        <p:txBody>
          <a:bodyPr wrap="square" rtlCol="0">
            <a:spAutoFit/>
          </a:bodyPr>
          <a:lstStyle/>
          <a:p>
            <a:pPr>
              <a:lnSpc>
                <a:spcPct val="150000"/>
              </a:lnSpc>
            </a:pPr>
            <a:r>
              <a:rPr kumimoji="1" lang="en-US" altLang="ja-JP" sz="2400" dirty="0">
                <a:latin typeface="UD デジタル 教科書体 NK-R" panose="02020400000000000000" pitchFamily="18" charset="-128"/>
                <a:ea typeface="UD デジタル 教科書体 NK-R" panose="02020400000000000000" pitchFamily="18" charset="-128"/>
              </a:rPr>
              <a:t>(7)</a:t>
            </a:r>
            <a:endParaRPr kumimoji="1" lang="ja-JP" altLang="en-US" sz="2400" dirty="0">
              <a:latin typeface="UD デジタル 教科書体 NK-R" panose="02020400000000000000" pitchFamily="18" charset="-128"/>
              <a:ea typeface="UD デジタル 教科書体 NK-R" panose="02020400000000000000" pitchFamily="18" charset="-128"/>
            </a:endParaRPr>
          </a:p>
        </p:txBody>
      </p:sp>
      <p:sp>
        <p:nvSpPr>
          <p:cNvPr id="15" name="テキスト ボックス 14">
            <a:extLst>
              <a:ext uri="{FF2B5EF4-FFF2-40B4-BE49-F238E27FC236}">
                <a16:creationId xmlns:a16="http://schemas.microsoft.com/office/drawing/2014/main" id="{11319317-C6C0-4E4C-B2E2-E5FCB2813B69}"/>
              </a:ext>
            </a:extLst>
          </p:cNvPr>
          <p:cNvSpPr txBox="1"/>
          <p:nvPr/>
        </p:nvSpPr>
        <p:spPr>
          <a:xfrm>
            <a:off x="10823120" y="4247454"/>
            <a:ext cx="667839" cy="596253"/>
          </a:xfrm>
          <a:prstGeom prst="rect">
            <a:avLst/>
          </a:prstGeom>
          <a:solidFill>
            <a:srgbClr val="E4E4E4"/>
          </a:solidFill>
        </p:spPr>
        <p:txBody>
          <a:bodyPr wrap="square" rtlCol="0">
            <a:spAutoFit/>
          </a:bodyPr>
          <a:lstStyle/>
          <a:p>
            <a:pPr>
              <a:lnSpc>
                <a:spcPct val="150000"/>
              </a:lnSpc>
            </a:pPr>
            <a:r>
              <a:rPr kumimoji="1" lang="en-US" altLang="ja-JP" sz="2400" dirty="0">
                <a:latin typeface="UD デジタル 教科書体 NK-R" panose="02020400000000000000" pitchFamily="18" charset="-128"/>
                <a:ea typeface="UD デジタル 教科書体 NK-R" panose="02020400000000000000" pitchFamily="18" charset="-128"/>
              </a:rPr>
              <a:t>(8)</a:t>
            </a:r>
            <a:endParaRPr kumimoji="1" lang="ja-JP" altLang="en-US" sz="2400" dirty="0">
              <a:latin typeface="UD デジタル 教科書体 NK-R" panose="02020400000000000000" pitchFamily="18" charset="-128"/>
              <a:ea typeface="UD デジタル 教科書体 NK-R" panose="02020400000000000000" pitchFamily="18" charset="-128"/>
            </a:endParaRPr>
          </a:p>
        </p:txBody>
      </p:sp>
    </p:spTree>
    <p:extLst>
      <p:ext uri="{BB962C8B-B14F-4D97-AF65-F5344CB8AC3E}">
        <p14:creationId xmlns:p14="http://schemas.microsoft.com/office/powerpoint/2010/main" val="270912980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0F202FF-8D7C-4376-BFBF-B442ADAB6C4C}"/>
              </a:ext>
            </a:extLst>
          </p:cNvPr>
          <p:cNvSpPr>
            <a:spLocks noGrp="1"/>
          </p:cNvSpPr>
          <p:nvPr>
            <p:ph type="title"/>
          </p:nvPr>
        </p:nvSpPr>
        <p:spPr>
          <a:xfrm>
            <a:off x="838199" y="365125"/>
            <a:ext cx="10786241" cy="1325563"/>
          </a:xfrm>
        </p:spPr>
        <p:txBody>
          <a:bodyPr/>
          <a:lstStyle/>
          <a:p>
            <a:r>
              <a:rPr kumimoji="1" lang="ja-JP" altLang="en-US" spc="-130" dirty="0"/>
              <a:t>提案手法：ヘッセ行列の対角行列化</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52DD7415-7627-42E3-BDA6-0C7DA21E12F9}"/>
                  </a:ext>
                </a:extLst>
              </p:cNvPr>
              <p:cNvSpPr>
                <a:spLocks noGrp="1"/>
              </p:cNvSpPr>
              <p:nvPr>
                <p:ph idx="1"/>
              </p:nvPr>
            </p:nvSpPr>
            <p:spPr>
              <a:xfrm>
                <a:off x="838199" y="1825625"/>
                <a:ext cx="11017469" cy="4667250"/>
              </a:xfrm>
            </p:spPr>
            <p:txBody>
              <a:bodyPr>
                <a:normAutofit/>
              </a:bodyPr>
              <a:lstStyle/>
              <a:p>
                <a:pPr marL="0" indent="0">
                  <a:buNone/>
                </a:pPr>
                <a:r>
                  <a:rPr kumimoji="1" lang="en-US" altLang="ja-JP" spc="-130" dirty="0"/>
                  <a:t>Hutchinson</a:t>
                </a:r>
                <a:r>
                  <a:rPr kumimoji="1" lang="ja-JP" altLang="en-US" spc="-130" dirty="0"/>
                  <a:t>手法に基づく行列対角化手法</a:t>
                </a:r>
                <a:r>
                  <a:rPr lang="ja-JP" altLang="en-US" spc="-130" dirty="0"/>
                  <a:t>を用いてヘッセ行列を対角行列に近似</a:t>
                </a:r>
                <a:endParaRPr kumimoji="1" lang="en-US" altLang="ja-JP" sz="1400" spc="-80" dirty="0"/>
              </a:p>
              <a:p>
                <a:pPr marL="0" indent="0">
                  <a:buNone/>
                </a:pPr>
                <a14:m>
                  <m:oMathPara xmlns:m="http://schemas.openxmlformats.org/officeDocument/2006/math">
                    <m:oMathParaPr>
                      <m:jc m:val="centerGroup"/>
                    </m:oMathParaPr>
                    <m:oMath xmlns:m="http://schemas.openxmlformats.org/officeDocument/2006/math">
                      <m:eqArr>
                        <m:eqArrPr>
                          <m:ctrlPr>
                            <a:rPr lang="en-US" altLang="ja-JP" b="0" i="1" smtClean="0">
                              <a:latin typeface="Cambria Math" panose="02040503050406030204" pitchFamily="18" charset="0"/>
                              <a:ea typeface="Cambria Math" panose="02040503050406030204" pitchFamily="18" charset="0"/>
                            </a:rPr>
                          </m:ctrlPr>
                        </m:eqArrPr>
                        <m:e>
                          <m:sSub>
                            <m:sSubPr>
                              <m:ctrlPr>
                                <a:rPr lang="en-US" altLang="ja-JP" i="1">
                                  <a:latin typeface="Cambria Math" panose="02040503050406030204" pitchFamily="18" charset="0"/>
                                  <a:ea typeface="Cambria Math" panose="02040503050406030204" pitchFamily="18" charset="0"/>
                                </a:rPr>
                              </m:ctrlPr>
                            </m:sSubPr>
                            <m:e>
                              <m:r>
                                <a:rPr lang="en-US" altLang="ja-JP" b="1">
                                  <a:latin typeface="Cambria Math" panose="02040503050406030204" pitchFamily="18" charset="0"/>
                                  <a:ea typeface="Cambria Math" panose="02040503050406030204" pitchFamily="18" charset="0"/>
                                </a:rPr>
                                <m:t>𝐡</m:t>
                              </m:r>
                            </m:e>
                            <m:sub>
                              <m:r>
                                <a:rPr lang="en-US" altLang="ja-JP" i="1">
                                  <a:latin typeface="Cambria Math" panose="02040503050406030204" pitchFamily="18" charset="0"/>
                                  <a:ea typeface="Cambria Math" panose="02040503050406030204" pitchFamily="18" charset="0"/>
                                </a:rPr>
                                <m:t>𝑘</m:t>
                              </m:r>
                            </m:sub>
                          </m:sSub>
                          <m:r>
                            <a:rPr lang="en-US" altLang="ja-JP" i="1">
                              <a:latin typeface="Cambria Math" panose="02040503050406030204" pitchFamily="18" charset="0"/>
                            </a:rPr>
                            <m:t>= </m:t>
                          </m:r>
                          <m:d>
                            <m:dPr>
                              <m:begChr m:val="["/>
                              <m:endChr m:val="]"/>
                              <m:ctrlPr>
                                <a:rPr lang="en-US" altLang="ja-JP" i="1">
                                  <a:latin typeface="Cambria Math" panose="02040503050406030204" pitchFamily="18" charset="0"/>
                                </a:rPr>
                              </m:ctrlPr>
                            </m:dPr>
                            <m:e>
                              <m:nary>
                                <m:naryPr>
                                  <m:chr m:val="∑"/>
                                  <m:ctrlPr>
                                    <a:rPr lang="en-US" altLang="ja-JP" i="1">
                                      <a:latin typeface="Cambria Math" panose="02040503050406030204" pitchFamily="18" charset="0"/>
                                    </a:rPr>
                                  </m:ctrlPr>
                                </m:naryPr>
                                <m:sub>
                                  <m:r>
                                    <a:rPr lang="en-US" altLang="ja-JP" i="1">
                                      <a:latin typeface="Cambria Math" panose="02040503050406030204" pitchFamily="18" charset="0"/>
                                    </a:rPr>
                                    <m:t>𝑙</m:t>
                                  </m:r>
                                  <m:r>
                                    <a:rPr lang="en-US" altLang="ja-JP" i="1">
                                      <a:latin typeface="Cambria Math" panose="02040503050406030204" pitchFamily="18" charset="0"/>
                                    </a:rPr>
                                    <m:t>=1</m:t>
                                  </m:r>
                                </m:sub>
                                <m:sup>
                                  <m:r>
                                    <a:rPr lang="en-US" altLang="ja-JP" i="1">
                                      <a:latin typeface="Cambria Math" panose="02040503050406030204" pitchFamily="18" charset="0"/>
                                    </a:rPr>
                                    <m:t>𝑠</m:t>
                                  </m:r>
                                </m:sup>
                                <m:e>
                                  <m:sSub>
                                    <m:sSubPr>
                                      <m:ctrlPr>
                                        <a:rPr lang="en-US" altLang="ja-JP" i="1">
                                          <a:latin typeface="Cambria Math" panose="02040503050406030204" pitchFamily="18" charset="0"/>
                                        </a:rPr>
                                      </m:ctrlPr>
                                    </m:sSubPr>
                                    <m:e>
                                      <m:r>
                                        <a:rPr lang="en-US" altLang="ja-JP" b="1">
                                          <a:latin typeface="Cambria Math" panose="02040503050406030204" pitchFamily="18" charset="0"/>
                                        </a:rPr>
                                        <m:t>𝐳</m:t>
                                      </m:r>
                                    </m:e>
                                    <m:sub>
                                      <m:r>
                                        <a:rPr lang="en-US" altLang="ja-JP" i="1">
                                          <a:latin typeface="Cambria Math" panose="02040503050406030204" pitchFamily="18" charset="0"/>
                                        </a:rPr>
                                        <m:t>𝑙</m:t>
                                      </m:r>
                                    </m:sub>
                                  </m:sSub>
                                  <m:r>
                                    <a:rPr lang="en-US" altLang="ja-JP" i="1">
                                      <a:latin typeface="Cambria Math" panose="02040503050406030204" pitchFamily="18" charset="0"/>
                                      <a:ea typeface="Cambria Math" panose="02040503050406030204" pitchFamily="18" charset="0"/>
                                    </a:rPr>
                                    <m:t>⊙</m:t>
                                  </m:r>
                                  <m:sSub>
                                    <m:sSubPr>
                                      <m:ctrlPr>
                                        <a:rPr lang="en-US" altLang="ja-JP" i="1">
                                          <a:latin typeface="Cambria Math" panose="02040503050406030204" pitchFamily="18" charset="0"/>
                                          <a:ea typeface="Cambria Math" panose="02040503050406030204" pitchFamily="18" charset="0"/>
                                        </a:rPr>
                                      </m:ctrlPr>
                                    </m:sSubPr>
                                    <m:e>
                                      <m:r>
                                        <a:rPr lang="en-US" altLang="ja-JP" b="1">
                                          <a:solidFill>
                                            <a:srgbClr val="C00000"/>
                                          </a:solidFill>
                                          <a:latin typeface="Cambria Math" panose="02040503050406030204" pitchFamily="18" charset="0"/>
                                          <a:ea typeface="Cambria Math" panose="02040503050406030204" pitchFamily="18" charset="0"/>
                                        </a:rPr>
                                        <m:t>𝐇</m:t>
                                      </m:r>
                                    </m:e>
                                    <m:sub>
                                      <m:r>
                                        <a:rPr lang="en-US" altLang="ja-JP" i="1">
                                          <a:latin typeface="Cambria Math" panose="02040503050406030204" pitchFamily="18" charset="0"/>
                                          <a:ea typeface="Cambria Math" panose="02040503050406030204" pitchFamily="18" charset="0"/>
                                        </a:rPr>
                                        <m:t>𝑘</m:t>
                                      </m:r>
                                    </m:sub>
                                  </m:sSub>
                                  <m:sSub>
                                    <m:sSubPr>
                                      <m:ctrlPr>
                                        <a:rPr lang="en-US" altLang="ja-JP" i="1">
                                          <a:latin typeface="Cambria Math" panose="02040503050406030204" pitchFamily="18" charset="0"/>
                                          <a:ea typeface="Cambria Math" panose="02040503050406030204" pitchFamily="18" charset="0"/>
                                        </a:rPr>
                                      </m:ctrlPr>
                                    </m:sSubPr>
                                    <m:e>
                                      <m:r>
                                        <a:rPr lang="en-US" altLang="ja-JP" b="1">
                                          <a:latin typeface="Cambria Math" panose="02040503050406030204" pitchFamily="18" charset="0"/>
                                          <a:ea typeface="Cambria Math" panose="02040503050406030204" pitchFamily="18" charset="0"/>
                                        </a:rPr>
                                        <m:t>𝐳</m:t>
                                      </m:r>
                                    </m:e>
                                    <m:sub>
                                      <m:r>
                                        <a:rPr lang="en-US" altLang="ja-JP" i="1">
                                          <a:latin typeface="Cambria Math" panose="02040503050406030204" pitchFamily="18" charset="0"/>
                                          <a:ea typeface="Cambria Math" panose="02040503050406030204" pitchFamily="18" charset="0"/>
                                        </a:rPr>
                                        <m:t>𝑙</m:t>
                                      </m:r>
                                    </m:sub>
                                  </m:sSub>
                                </m:e>
                              </m:nary>
                            </m:e>
                          </m:d>
                          <m:r>
                            <a:rPr lang="en-US" altLang="ja-JP" i="1">
                              <a:latin typeface="Cambria Math" panose="02040503050406030204" pitchFamily="18" charset="0"/>
                              <a:ea typeface="Cambria Math" panose="02040503050406030204" pitchFamily="18" charset="0"/>
                            </a:rPr>
                            <m:t>⊘</m:t>
                          </m:r>
                          <m:d>
                            <m:dPr>
                              <m:begChr m:val="["/>
                              <m:endChr m:val="]"/>
                              <m:ctrlPr>
                                <a:rPr lang="en-US" altLang="ja-JP" i="1">
                                  <a:latin typeface="Cambria Math" panose="02040503050406030204" pitchFamily="18" charset="0"/>
                                  <a:ea typeface="Cambria Math" panose="02040503050406030204" pitchFamily="18" charset="0"/>
                                </a:rPr>
                              </m:ctrlPr>
                            </m:dPr>
                            <m:e>
                              <m:nary>
                                <m:naryPr>
                                  <m:chr m:val="∑"/>
                                  <m:ctrlPr>
                                    <a:rPr lang="en-US" altLang="ja-JP" i="1">
                                      <a:latin typeface="Cambria Math" panose="02040503050406030204" pitchFamily="18" charset="0"/>
                                    </a:rPr>
                                  </m:ctrlPr>
                                </m:naryPr>
                                <m:sub>
                                  <m:r>
                                    <a:rPr lang="en-US" altLang="ja-JP" i="1">
                                      <a:latin typeface="Cambria Math" panose="02040503050406030204" pitchFamily="18" charset="0"/>
                                    </a:rPr>
                                    <m:t>𝑙</m:t>
                                  </m:r>
                                  <m:r>
                                    <a:rPr lang="en-US" altLang="ja-JP" i="1">
                                      <a:latin typeface="Cambria Math" panose="02040503050406030204" pitchFamily="18" charset="0"/>
                                    </a:rPr>
                                    <m:t>=1</m:t>
                                  </m:r>
                                </m:sub>
                                <m:sup>
                                  <m:r>
                                    <a:rPr lang="en-US" altLang="ja-JP" i="1">
                                      <a:latin typeface="Cambria Math" panose="02040503050406030204" pitchFamily="18" charset="0"/>
                                    </a:rPr>
                                    <m:t>𝑠</m:t>
                                  </m:r>
                                </m:sup>
                                <m:e>
                                  <m:sSub>
                                    <m:sSubPr>
                                      <m:ctrlPr>
                                        <a:rPr lang="en-US" altLang="ja-JP" i="1">
                                          <a:latin typeface="Cambria Math" panose="02040503050406030204" pitchFamily="18" charset="0"/>
                                        </a:rPr>
                                      </m:ctrlPr>
                                    </m:sSubPr>
                                    <m:e>
                                      <m:r>
                                        <a:rPr lang="en-US" altLang="ja-JP" b="1">
                                          <a:latin typeface="Cambria Math" panose="02040503050406030204" pitchFamily="18" charset="0"/>
                                        </a:rPr>
                                        <m:t>𝐳</m:t>
                                      </m:r>
                                    </m:e>
                                    <m:sub>
                                      <m:r>
                                        <a:rPr lang="en-US" altLang="ja-JP" i="1">
                                          <a:latin typeface="Cambria Math" panose="02040503050406030204" pitchFamily="18" charset="0"/>
                                        </a:rPr>
                                        <m:t>𝑙</m:t>
                                      </m:r>
                                    </m:sub>
                                  </m:sSub>
                                  <m:r>
                                    <a:rPr lang="en-US" altLang="ja-JP" i="1">
                                      <a:latin typeface="Cambria Math" panose="02040503050406030204" pitchFamily="18" charset="0"/>
                                      <a:ea typeface="Cambria Math" panose="02040503050406030204" pitchFamily="18" charset="0"/>
                                    </a:rPr>
                                    <m:t>⊙</m:t>
                                  </m:r>
                                  <m:sSub>
                                    <m:sSubPr>
                                      <m:ctrlPr>
                                        <a:rPr lang="en-US" altLang="ja-JP" i="1">
                                          <a:latin typeface="Cambria Math" panose="02040503050406030204" pitchFamily="18" charset="0"/>
                                          <a:ea typeface="Cambria Math" panose="02040503050406030204" pitchFamily="18" charset="0"/>
                                        </a:rPr>
                                      </m:ctrlPr>
                                    </m:sSubPr>
                                    <m:e>
                                      <m:r>
                                        <a:rPr lang="en-US" altLang="ja-JP" b="1">
                                          <a:latin typeface="Cambria Math" panose="02040503050406030204" pitchFamily="18" charset="0"/>
                                          <a:ea typeface="Cambria Math" panose="02040503050406030204" pitchFamily="18" charset="0"/>
                                        </a:rPr>
                                        <m:t>𝐳</m:t>
                                      </m:r>
                                    </m:e>
                                    <m:sub>
                                      <m:r>
                                        <a:rPr lang="en-US" altLang="ja-JP" i="1">
                                          <a:latin typeface="Cambria Math" panose="02040503050406030204" pitchFamily="18" charset="0"/>
                                          <a:ea typeface="Cambria Math" panose="02040503050406030204" pitchFamily="18" charset="0"/>
                                        </a:rPr>
                                        <m:t>𝑙</m:t>
                                      </m:r>
                                    </m:sub>
                                  </m:sSub>
                                </m:e>
                              </m:nary>
                            </m:e>
                          </m:d>
                          <m:r>
                            <a:rPr lang="en-US" altLang="ja-JP" i="1">
                              <a:latin typeface="Cambria Math" panose="02040503050406030204" pitchFamily="18" charset="0"/>
                              <a:ea typeface="Cambria Math" panose="02040503050406030204" pitchFamily="18" charset="0"/>
                            </a:rPr>
                            <m:t>#</m:t>
                          </m:r>
                        </m:e>
                      </m:eqArr>
                    </m:oMath>
                  </m:oMathPara>
                </a14:m>
                <a:endParaRPr lang="en-US" altLang="ja-JP" b="0" dirty="0">
                  <a:ea typeface="Cambria Math" panose="02040503050406030204" pitchFamily="18" charset="0"/>
                </a:endParaRPr>
              </a:p>
              <a:p>
                <a:pPr marL="0" indent="0">
                  <a:buNone/>
                </a:pPr>
                <a:endParaRPr lang="en-US" altLang="ja-JP" dirty="0"/>
              </a:p>
              <a:p>
                <a:pPr marL="0" indent="0">
                  <a:buNone/>
                </a:pPr>
                <a:endParaRPr lang="en-US" altLang="ja-JP" b="1" dirty="0"/>
              </a:p>
            </p:txBody>
          </p:sp>
        </mc:Choice>
        <mc:Fallback xmlns="">
          <p:sp>
            <p:nvSpPr>
              <p:cNvPr id="3" name="コンテンツ プレースホルダー 2">
                <a:extLst>
                  <a:ext uri="{FF2B5EF4-FFF2-40B4-BE49-F238E27FC236}">
                    <a16:creationId xmlns:a16="http://schemas.microsoft.com/office/drawing/2014/main" id="{52DD7415-7627-42E3-BDA6-0C7DA21E12F9}"/>
                  </a:ext>
                </a:extLst>
              </p:cNvPr>
              <p:cNvSpPr>
                <a:spLocks noGrp="1" noRot="1" noChangeAspect="1" noMove="1" noResize="1" noEditPoints="1" noAdjustHandles="1" noChangeArrowheads="1" noChangeShapeType="1" noTextEdit="1"/>
              </p:cNvSpPr>
              <p:nvPr>
                <p:ph idx="1"/>
              </p:nvPr>
            </p:nvSpPr>
            <p:spPr>
              <a:xfrm>
                <a:off x="838199" y="1825625"/>
                <a:ext cx="11017469" cy="4667250"/>
              </a:xfrm>
              <a:blipFill>
                <a:blip r:embed="rId3"/>
                <a:stretch>
                  <a:fillRect l="-1106" t="-2089" r="-332"/>
                </a:stretch>
              </a:blipFill>
            </p:spPr>
            <p:txBody>
              <a:bodyPr/>
              <a:lstStyle/>
              <a:p>
                <a:r>
                  <a:rPr lang="ja-JP" altLang="en-US">
                    <a:noFill/>
                  </a:rPr>
                  <a:t> </a:t>
                </a:r>
              </a:p>
            </p:txBody>
          </p:sp>
        </mc:Fallback>
      </mc:AlternateContent>
      <p:sp>
        <p:nvSpPr>
          <p:cNvPr id="5" name="スライド番号プレースホルダー 4">
            <a:extLst>
              <a:ext uri="{FF2B5EF4-FFF2-40B4-BE49-F238E27FC236}">
                <a16:creationId xmlns:a16="http://schemas.microsoft.com/office/drawing/2014/main" id="{3DDA1179-5159-47CB-A441-B97C16CAAADE}"/>
              </a:ext>
            </a:extLst>
          </p:cNvPr>
          <p:cNvSpPr>
            <a:spLocks noGrp="1"/>
          </p:cNvSpPr>
          <p:nvPr>
            <p:ph type="sldNum" sz="quarter" idx="12"/>
          </p:nvPr>
        </p:nvSpPr>
        <p:spPr/>
        <p:txBody>
          <a:bodyPr/>
          <a:lstStyle/>
          <a:p>
            <a:fld id="{E0941385-F5BA-408B-94FB-C48DC2364AB1}" type="slidenum">
              <a:rPr kumimoji="1" lang="ja-JP" altLang="en-US" smtClean="0"/>
              <a:t>60</a:t>
            </a:fld>
            <a:endParaRPr kumimoji="1" lang="ja-JP" altLang="en-US"/>
          </a:p>
        </p:txBody>
      </p:sp>
      <p:sp>
        <p:nvSpPr>
          <p:cNvPr id="6" name="テキスト ボックス 5">
            <a:extLst>
              <a:ext uri="{FF2B5EF4-FFF2-40B4-BE49-F238E27FC236}">
                <a16:creationId xmlns:a16="http://schemas.microsoft.com/office/drawing/2014/main" id="{314795C9-ECC0-49AA-8624-0D1D084B6613}"/>
              </a:ext>
            </a:extLst>
          </p:cNvPr>
          <p:cNvSpPr txBox="1"/>
          <p:nvPr/>
        </p:nvSpPr>
        <p:spPr>
          <a:xfrm>
            <a:off x="10625819" y="2738120"/>
            <a:ext cx="877830" cy="596253"/>
          </a:xfrm>
          <a:prstGeom prst="rect">
            <a:avLst/>
          </a:prstGeom>
          <a:solidFill>
            <a:srgbClr val="E4E4E4"/>
          </a:solidFill>
        </p:spPr>
        <p:txBody>
          <a:bodyPr wrap="square" rtlCol="0">
            <a:spAutoFit/>
          </a:bodyPr>
          <a:lstStyle/>
          <a:p>
            <a:pPr>
              <a:lnSpc>
                <a:spcPct val="150000"/>
              </a:lnSpc>
            </a:pPr>
            <a:r>
              <a:rPr kumimoji="1" lang="en-US" altLang="ja-JP" sz="2400" dirty="0">
                <a:latin typeface="UD デジタル 教科書体 NK-R" panose="02020400000000000000" pitchFamily="18" charset="-128"/>
                <a:ea typeface="UD デジタル 教科書体 NK-R" panose="02020400000000000000" pitchFamily="18" charset="-128"/>
              </a:rPr>
              <a:t>(10)</a:t>
            </a:r>
            <a:endParaRPr kumimoji="1" lang="ja-JP" altLang="en-US" sz="2400" dirty="0">
              <a:latin typeface="UD デジタル 教科書体 NK-R" panose="02020400000000000000" pitchFamily="18" charset="-128"/>
              <a:ea typeface="UD デジタル 教科書体 NK-R" panose="02020400000000000000" pitchFamily="18" charset="-128"/>
            </a:endParaRPr>
          </a:p>
        </p:txBody>
      </p:sp>
      <p:grpSp>
        <p:nvGrpSpPr>
          <p:cNvPr id="7" name="グループ化 6">
            <a:extLst>
              <a:ext uri="{FF2B5EF4-FFF2-40B4-BE49-F238E27FC236}">
                <a16:creationId xmlns:a16="http://schemas.microsoft.com/office/drawing/2014/main" id="{FE8BAC76-01A8-4B08-B1E9-47C6C46848D5}"/>
              </a:ext>
            </a:extLst>
          </p:cNvPr>
          <p:cNvGrpSpPr/>
          <p:nvPr/>
        </p:nvGrpSpPr>
        <p:grpSpPr>
          <a:xfrm>
            <a:off x="1551107" y="4148938"/>
            <a:ext cx="3713975" cy="1827605"/>
            <a:chOff x="1746333" y="4361064"/>
            <a:chExt cx="3713975" cy="1827605"/>
          </a:xfrm>
        </p:grpSpPr>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C859BD87-AF78-4610-BCB0-7798148B203D}"/>
                    </a:ext>
                  </a:extLst>
                </p:cNvPr>
                <p:cNvSpPr txBox="1"/>
                <p:nvPr/>
              </p:nvSpPr>
              <p:spPr>
                <a:xfrm>
                  <a:off x="1746333" y="4920924"/>
                  <a:ext cx="1394547" cy="7078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ja-JP" sz="4000" i="1" smtClean="0">
                                <a:solidFill>
                                  <a:schemeClr val="tx1">
                                    <a:lumMod val="75000"/>
                                    <a:lumOff val="25000"/>
                                  </a:schemeClr>
                                </a:solidFill>
                                <a:latin typeface="Cambria Math" panose="02040503050406030204" pitchFamily="18" charset="0"/>
                                <a:ea typeface="Cambria Math" panose="02040503050406030204" pitchFamily="18" charset="0"/>
                              </a:rPr>
                            </m:ctrlPr>
                          </m:sSubPr>
                          <m:e>
                            <m:r>
                              <a:rPr lang="en-US" altLang="ja-JP" sz="4000" b="1" smtClean="0">
                                <a:solidFill>
                                  <a:schemeClr val="tx1">
                                    <a:lumMod val="75000"/>
                                    <a:lumOff val="25000"/>
                                  </a:schemeClr>
                                </a:solidFill>
                                <a:latin typeface="Cambria Math" panose="02040503050406030204" pitchFamily="18" charset="0"/>
                                <a:ea typeface="Cambria Math" panose="02040503050406030204" pitchFamily="18" charset="0"/>
                              </a:rPr>
                              <m:t>𝐇</m:t>
                            </m:r>
                          </m:e>
                          <m:sub>
                            <m:r>
                              <a:rPr lang="en-US" altLang="ja-JP" sz="4000" i="1">
                                <a:solidFill>
                                  <a:schemeClr val="tx1">
                                    <a:lumMod val="75000"/>
                                    <a:lumOff val="25000"/>
                                  </a:schemeClr>
                                </a:solidFill>
                                <a:latin typeface="Cambria Math" panose="02040503050406030204" pitchFamily="18" charset="0"/>
                                <a:ea typeface="Cambria Math" panose="02040503050406030204" pitchFamily="18" charset="0"/>
                              </a:rPr>
                              <m:t>𝑘</m:t>
                            </m:r>
                          </m:sub>
                        </m:sSub>
                        <m:r>
                          <a:rPr lang="en-US" altLang="ja-JP" sz="4000" b="1" i="1" smtClean="0">
                            <a:solidFill>
                              <a:schemeClr val="tx1">
                                <a:lumMod val="75000"/>
                                <a:lumOff val="25000"/>
                              </a:schemeClr>
                            </a:solidFill>
                            <a:latin typeface="Cambria Math" panose="02040503050406030204" pitchFamily="18" charset="0"/>
                          </a:rPr>
                          <m:t>=</m:t>
                        </m:r>
                      </m:oMath>
                    </m:oMathPara>
                  </a14:m>
                  <a:endParaRPr lang="ja-JP" altLang="en-US" sz="4000" dirty="0">
                    <a:solidFill>
                      <a:schemeClr val="tx1">
                        <a:lumMod val="75000"/>
                        <a:lumOff val="25000"/>
                      </a:schemeClr>
                    </a:solidFill>
                  </a:endParaRPr>
                </a:p>
              </p:txBody>
            </p:sp>
          </mc:Choice>
          <mc:Fallback xmlns="">
            <p:sp>
              <p:nvSpPr>
                <p:cNvPr id="10" name="テキスト ボックス 9">
                  <a:extLst>
                    <a:ext uri="{FF2B5EF4-FFF2-40B4-BE49-F238E27FC236}">
                      <a16:creationId xmlns:a16="http://schemas.microsoft.com/office/drawing/2014/main" id="{C859BD87-AF78-4610-BCB0-7798148B203D}"/>
                    </a:ext>
                  </a:extLst>
                </p:cNvPr>
                <p:cNvSpPr txBox="1">
                  <a:spLocks noRot="1" noChangeAspect="1" noMove="1" noResize="1" noEditPoints="1" noAdjustHandles="1" noChangeArrowheads="1" noChangeShapeType="1" noTextEdit="1"/>
                </p:cNvSpPr>
                <p:nvPr/>
              </p:nvSpPr>
              <p:spPr>
                <a:xfrm>
                  <a:off x="1746333" y="4920924"/>
                  <a:ext cx="1394547" cy="707886"/>
                </a:xfrm>
                <a:prstGeom prst="rect">
                  <a:avLst/>
                </a:prstGeom>
                <a:blipFill>
                  <a:blip r:embed="rId4"/>
                  <a:stretch>
                    <a:fillRect/>
                  </a:stretch>
                </a:blipFill>
              </p:spPr>
              <p:txBody>
                <a:bodyPr/>
                <a:lstStyle/>
                <a:p>
                  <a:r>
                    <a:rPr lang="ja-JP" altLang="en-US">
                      <a:noFill/>
                    </a:rPr>
                    <a:t> </a:t>
                  </a:r>
                </a:p>
              </p:txBody>
            </p:sp>
          </mc:Fallback>
        </mc:AlternateContent>
        <p:grpSp>
          <p:nvGrpSpPr>
            <p:cNvPr id="36" name="グループ化 35">
              <a:extLst>
                <a:ext uri="{FF2B5EF4-FFF2-40B4-BE49-F238E27FC236}">
                  <a16:creationId xmlns:a16="http://schemas.microsoft.com/office/drawing/2014/main" id="{FD20F8C8-72A2-4B3F-8CA2-1933E39D469C}"/>
                </a:ext>
              </a:extLst>
            </p:cNvPr>
            <p:cNvGrpSpPr/>
            <p:nvPr/>
          </p:nvGrpSpPr>
          <p:grpSpPr>
            <a:xfrm>
              <a:off x="3141214" y="4361064"/>
              <a:ext cx="2319094" cy="1827605"/>
              <a:chOff x="2322930" y="3353671"/>
              <a:chExt cx="2319094" cy="1827605"/>
            </a:xfrm>
          </p:grpSpPr>
          <p:grpSp>
            <p:nvGrpSpPr>
              <p:cNvPr id="42" name="グループ化 41">
                <a:extLst>
                  <a:ext uri="{FF2B5EF4-FFF2-40B4-BE49-F238E27FC236}">
                    <a16:creationId xmlns:a16="http://schemas.microsoft.com/office/drawing/2014/main" id="{93BDE34D-BF5C-48CF-A079-C8706A53578E}"/>
                  </a:ext>
                </a:extLst>
              </p:cNvPr>
              <p:cNvGrpSpPr/>
              <p:nvPr/>
            </p:nvGrpSpPr>
            <p:grpSpPr>
              <a:xfrm>
                <a:off x="2652046" y="3451928"/>
                <a:ext cx="1700918" cy="1676670"/>
                <a:chOff x="1138989" y="3968713"/>
                <a:chExt cx="1700918" cy="1676670"/>
              </a:xfrm>
            </p:grpSpPr>
            <p:sp>
              <p:nvSpPr>
                <p:cNvPr id="44" name="正方形/長方形 43">
                  <a:extLst>
                    <a:ext uri="{FF2B5EF4-FFF2-40B4-BE49-F238E27FC236}">
                      <a16:creationId xmlns:a16="http://schemas.microsoft.com/office/drawing/2014/main" id="{8C7C8F0E-4582-410A-8794-1C64766C25A8}"/>
                    </a:ext>
                  </a:extLst>
                </p:cNvPr>
                <p:cNvSpPr/>
                <p:nvPr/>
              </p:nvSpPr>
              <p:spPr>
                <a:xfrm>
                  <a:off x="1138989" y="3974039"/>
                  <a:ext cx="319421" cy="319421"/>
                </a:xfrm>
                <a:prstGeom prst="rect">
                  <a:avLst/>
                </a:prstGeom>
                <a:solidFill>
                  <a:schemeClr val="accent6">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正方形/長方形 44">
                  <a:extLst>
                    <a:ext uri="{FF2B5EF4-FFF2-40B4-BE49-F238E27FC236}">
                      <a16:creationId xmlns:a16="http://schemas.microsoft.com/office/drawing/2014/main" id="{F2BA3700-3E3B-4F14-BF4C-34CA7F6B470B}"/>
                    </a:ext>
                  </a:extLst>
                </p:cNvPr>
                <p:cNvSpPr/>
                <p:nvPr/>
              </p:nvSpPr>
              <p:spPr>
                <a:xfrm>
                  <a:off x="1599488" y="3974039"/>
                  <a:ext cx="319421" cy="319421"/>
                </a:xfrm>
                <a:prstGeom prst="rect">
                  <a:avLst/>
                </a:prstGeom>
                <a:solidFill>
                  <a:schemeClr val="accent6">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6" name="正方形/長方形 45">
                  <a:extLst>
                    <a:ext uri="{FF2B5EF4-FFF2-40B4-BE49-F238E27FC236}">
                      <a16:creationId xmlns:a16="http://schemas.microsoft.com/office/drawing/2014/main" id="{F270EABD-917D-494F-B7F6-8D1C2FB77C63}"/>
                    </a:ext>
                  </a:extLst>
                </p:cNvPr>
                <p:cNvSpPr/>
                <p:nvPr/>
              </p:nvSpPr>
              <p:spPr>
                <a:xfrm>
                  <a:off x="2059987" y="3968714"/>
                  <a:ext cx="319421" cy="319421"/>
                </a:xfrm>
                <a:prstGeom prst="rect">
                  <a:avLst/>
                </a:prstGeom>
                <a:solidFill>
                  <a:schemeClr val="accent6">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正方形/長方形 46">
                  <a:extLst>
                    <a:ext uri="{FF2B5EF4-FFF2-40B4-BE49-F238E27FC236}">
                      <a16:creationId xmlns:a16="http://schemas.microsoft.com/office/drawing/2014/main" id="{4A643545-1CFE-41AF-861B-66172DF83007}"/>
                    </a:ext>
                  </a:extLst>
                </p:cNvPr>
                <p:cNvSpPr/>
                <p:nvPr/>
              </p:nvSpPr>
              <p:spPr>
                <a:xfrm>
                  <a:off x="2520486" y="3968713"/>
                  <a:ext cx="319421" cy="319421"/>
                </a:xfrm>
                <a:prstGeom prst="rect">
                  <a:avLst/>
                </a:prstGeom>
                <a:solidFill>
                  <a:schemeClr val="accent6">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正方形/長方形 47">
                  <a:extLst>
                    <a:ext uri="{FF2B5EF4-FFF2-40B4-BE49-F238E27FC236}">
                      <a16:creationId xmlns:a16="http://schemas.microsoft.com/office/drawing/2014/main" id="{9F0E1C17-62B2-41F5-9870-F61D62FBCDC2}"/>
                    </a:ext>
                  </a:extLst>
                </p:cNvPr>
                <p:cNvSpPr/>
                <p:nvPr/>
              </p:nvSpPr>
              <p:spPr>
                <a:xfrm>
                  <a:off x="1138989" y="4424680"/>
                  <a:ext cx="319421" cy="319421"/>
                </a:xfrm>
                <a:prstGeom prst="rect">
                  <a:avLst/>
                </a:prstGeom>
                <a:solidFill>
                  <a:schemeClr val="accent5">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正方形/長方形 48">
                  <a:extLst>
                    <a:ext uri="{FF2B5EF4-FFF2-40B4-BE49-F238E27FC236}">
                      <a16:creationId xmlns:a16="http://schemas.microsoft.com/office/drawing/2014/main" id="{14FF0C4D-F07C-4173-AE73-85E76292F26C}"/>
                    </a:ext>
                  </a:extLst>
                </p:cNvPr>
                <p:cNvSpPr/>
                <p:nvPr/>
              </p:nvSpPr>
              <p:spPr>
                <a:xfrm>
                  <a:off x="1599488" y="4424680"/>
                  <a:ext cx="319421" cy="319421"/>
                </a:xfrm>
                <a:prstGeom prst="rect">
                  <a:avLst/>
                </a:prstGeom>
                <a:solidFill>
                  <a:schemeClr val="accent5">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正方形/長方形 49">
                  <a:extLst>
                    <a:ext uri="{FF2B5EF4-FFF2-40B4-BE49-F238E27FC236}">
                      <a16:creationId xmlns:a16="http://schemas.microsoft.com/office/drawing/2014/main" id="{C245FEEE-B1D1-4D19-818F-2F3F528B887F}"/>
                    </a:ext>
                  </a:extLst>
                </p:cNvPr>
                <p:cNvSpPr/>
                <p:nvPr/>
              </p:nvSpPr>
              <p:spPr>
                <a:xfrm>
                  <a:off x="2059987" y="4419355"/>
                  <a:ext cx="319421" cy="319421"/>
                </a:xfrm>
                <a:prstGeom prst="rect">
                  <a:avLst/>
                </a:prstGeom>
                <a:solidFill>
                  <a:schemeClr val="accent5">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正方形/長方形 50">
                  <a:extLst>
                    <a:ext uri="{FF2B5EF4-FFF2-40B4-BE49-F238E27FC236}">
                      <a16:creationId xmlns:a16="http://schemas.microsoft.com/office/drawing/2014/main" id="{AFF6FD59-3179-4E6A-9D6D-F029C70BCBFE}"/>
                    </a:ext>
                  </a:extLst>
                </p:cNvPr>
                <p:cNvSpPr/>
                <p:nvPr/>
              </p:nvSpPr>
              <p:spPr>
                <a:xfrm>
                  <a:off x="2520486" y="4419354"/>
                  <a:ext cx="319421" cy="319421"/>
                </a:xfrm>
                <a:prstGeom prst="rect">
                  <a:avLst/>
                </a:prstGeom>
                <a:solidFill>
                  <a:schemeClr val="accent5">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正方形/長方形 51">
                  <a:extLst>
                    <a:ext uri="{FF2B5EF4-FFF2-40B4-BE49-F238E27FC236}">
                      <a16:creationId xmlns:a16="http://schemas.microsoft.com/office/drawing/2014/main" id="{85F0F7CF-1029-411C-9545-6171ECC29A1B}"/>
                    </a:ext>
                  </a:extLst>
                </p:cNvPr>
                <p:cNvSpPr/>
                <p:nvPr/>
              </p:nvSpPr>
              <p:spPr>
                <a:xfrm>
                  <a:off x="1138989" y="4875321"/>
                  <a:ext cx="319421" cy="319421"/>
                </a:xfrm>
                <a:prstGeom prst="rect">
                  <a:avLst/>
                </a:prstGeom>
                <a:solidFill>
                  <a:schemeClr val="accent4">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正方形/長方形 52">
                  <a:extLst>
                    <a:ext uri="{FF2B5EF4-FFF2-40B4-BE49-F238E27FC236}">
                      <a16:creationId xmlns:a16="http://schemas.microsoft.com/office/drawing/2014/main" id="{A851B3B7-215F-4FE3-9EBA-8F63E75FECBC}"/>
                    </a:ext>
                  </a:extLst>
                </p:cNvPr>
                <p:cNvSpPr/>
                <p:nvPr/>
              </p:nvSpPr>
              <p:spPr>
                <a:xfrm>
                  <a:off x="1599488" y="4875321"/>
                  <a:ext cx="319421" cy="319421"/>
                </a:xfrm>
                <a:prstGeom prst="rect">
                  <a:avLst/>
                </a:prstGeom>
                <a:solidFill>
                  <a:schemeClr val="accent4">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正方形/長方形 53">
                  <a:extLst>
                    <a:ext uri="{FF2B5EF4-FFF2-40B4-BE49-F238E27FC236}">
                      <a16:creationId xmlns:a16="http://schemas.microsoft.com/office/drawing/2014/main" id="{50C5247E-6BC8-4DD8-AC53-98E84662EE8A}"/>
                    </a:ext>
                  </a:extLst>
                </p:cNvPr>
                <p:cNvSpPr/>
                <p:nvPr/>
              </p:nvSpPr>
              <p:spPr>
                <a:xfrm>
                  <a:off x="2059987" y="4869996"/>
                  <a:ext cx="319421" cy="319421"/>
                </a:xfrm>
                <a:prstGeom prst="rect">
                  <a:avLst/>
                </a:prstGeom>
                <a:solidFill>
                  <a:schemeClr val="accent4">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正方形/長方形 54">
                  <a:extLst>
                    <a:ext uri="{FF2B5EF4-FFF2-40B4-BE49-F238E27FC236}">
                      <a16:creationId xmlns:a16="http://schemas.microsoft.com/office/drawing/2014/main" id="{325CF90E-47A3-4773-8AFA-B27A1C71A343}"/>
                    </a:ext>
                  </a:extLst>
                </p:cNvPr>
                <p:cNvSpPr/>
                <p:nvPr/>
              </p:nvSpPr>
              <p:spPr>
                <a:xfrm>
                  <a:off x="2520486" y="4869995"/>
                  <a:ext cx="319421" cy="319421"/>
                </a:xfrm>
                <a:prstGeom prst="rect">
                  <a:avLst/>
                </a:prstGeom>
                <a:solidFill>
                  <a:schemeClr val="accent4">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正方形/長方形 55">
                  <a:extLst>
                    <a:ext uri="{FF2B5EF4-FFF2-40B4-BE49-F238E27FC236}">
                      <a16:creationId xmlns:a16="http://schemas.microsoft.com/office/drawing/2014/main" id="{D80AEA1B-79B5-4B9A-A34B-76DEC7E2FFE3}"/>
                    </a:ext>
                  </a:extLst>
                </p:cNvPr>
                <p:cNvSpPr/>
                <p:nvPr/>
              </p:nvSpPr>
              <p:spPr>
                <a:xfrm>
                  <a:off x="1138989" y="5325962"/>
                  <a:ext cx="319421" cy="319421"/>
                </a:xfrm>
                <a:prstGeom prst="rect">
                  <a:avLst/>
                </a:prstGeom>
                <a:solidFill>
                  <a:schemeClr val="accent2">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正方形/長方形 56">
                  <a:extLst>
                    <a:ext uri="{FF2B5EF4-FFF2-40B4-BE49-F238E27FC236}">
                      <a16:creationId xmlns:a16="http://schemas.microsoft.com/office/drawing/2014/main" id="{A297DBE5-6CF6-4287-B13D-246C0B2C904B}"/>
                    </a:ext>
                  </a:extLst>
                </p:cNvPr>
                <p:cNvSpPr/>
                <p:nvPr/>
              </p:nvSpPr>
              <p:spPr>
                <a:xfrm>
                  <a:off x="1599488" y="5325962"/>
                  <a:ext cx="319421" cy="319421"/>
                </a:xfrm>
                <a:prstGeom prst="rect">
                  <a:avLst/>
                </a:prstGeom>
                <a:solidFill>
                  <a:schemeClr val="accent2">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正方形/長方形 57">
                  <a:extLst>
                    <a:ext uri="{FF2B5EF4-FFF2-40B4-BE49-F238E27FC236}">
                      <a16:creationId xmlns:a16="http://schemas.microsoft.com/office/drawing/2014/main" id="{238A46AA-70E4-4424-BFB0-33DC06579DAB}"/>
                    </a:ext>
                  </a:extLst>
                </p:cNvPr>
                <p:cNvSpPr/>
                <p:nvPr/>
              </p:nvSpPr>
              <p:spPr>
                <a:xfrm>
                  <a:off x="2059987" y="5320637"/>
                  <a:ext cx="319421" cy="319421"/>
                </a:xfrm>
                <a:prstGeom prst="rect">
                  <a:avLst/>
                </a:prstGeom>
                <a:solidFill>
                  <a:schemeClr val="accent2">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正方形/長方形 58">
                  <a:extLst>
                    <a:ext uri="{FF2B5EF4-FFF2-40B4-BE49-F238E27FC236}">
                      <a16:creationId xmlns:a16="http://schemas.microsoft.com/office/drawing/2014/main" id="{916AE540-89D6-48EB-AE13-D208031844FB}"/>
                    </a:ext>
                  </a:extLst>
                </p:cNvPr>
                <p:cNvSpPr/>
                <p:nvPr/>
              </p:nvSpPr>
              <p:spPr>
                <a:xfrm>
                  <a:off x="2520486" y="5320636"/>
                  <a:ext cx="319421" cy="319421"/>
                </a:xfrm>
                <a:prstGeom prst="rect">
                  <a:avLst/>
                </a:prstGeom>
                <a:solidFill>
                  <a:schemeClr val="accent2">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43" name="大かっこ 42">
                <a:extLst>
                  <a:ext uri="{FF2B5EF4-FFF2-40B4-BE49-F238E27FC236}">
                    <a16:creationId xmlns:a16="http://schemas.microsoft.com/office/drawing/2014/main" id="{865EBA9F-78D4-4115-8F00-4C0608E19DAC}"/>
                  </a:ext>
                </a:extLst>
              </p:cNvPr>
              <p:cNvSpPr/>
              <p:nvPr/>
            </p:nvSpPr>
            <p:spPr>
              <a:xfrm>
                <a:off x="2322930" y="3353671"/>
                <a:ext cx="2319094" cy="1827605"/>
              </a:xfrm>
              <a:prstGeom prst="bracketPair">
                <a:avLst/>
              </a:prstGeom>
              <a:ln w="571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p:grpSp>
        <p:nvGrpSpPr>
          <p:cNvPr id="29" name="グループ化 28">
            <a:extLst>
              <a:ext uri="{FF2B5EF4-FFF2-40B4-BE49-F238E27FC236}">
                <a16:creationId xmlns:a16="http://schemas.microsoft.com/office/drawing/2014/main" id="{59A233FC-9B40-4C8D-8D2E-9F0F50131FB4}"/>
              </a:ext>
            </a:extLst>
          </p:cNvPr>
          <p:cNvGrpSpPr/>
          <p:nvPr/>
        </p:nvGrpSpPr>
        <p:grpSpPr>
          <a:xfrm>
            <a:off x="6799640" y="4148939"/>
            <a:ext cx="3635679" cy="1827605"/>
            <a:chOff x="6686309" y="4152716"/>
            <a:chExt cx="3635679" cy="1827605"/>
          </a:xfrm>
        </p:grpSpPr>
        <mc:AlternateContent xmlns:mc="http://schemas.openxmlformats.org/markup-compatibility/2006" xmlns:a14="http://schemas.microsoft.com/office/drawing/2010/main">
          <mc:Choice Requires="a14">
            <p:sp>
              <p:nvSpPr>
                <p:cNvPr id="28" name="テキスト ボックス 27">
                  <a:extLst>
                    <a:ext uri="{FF2B5EF4-FFF2-40B4-BE49-F238E27FC236}">
                      <a16:creationId xmlns:a16="http://schemas.microsoft.com/office/drawing/2014/main" id="{18ABA7C6-AB27-4BA9-9A1E-268C418613E4}"/>
                    </a:ext>
                  </a:extLst>
                </p:cNvPr>
                <p:cNvSpPr txBox="1"/>
                <p:nvPr/>
              </p:nvSpPr>
              <p:spPr>
                <a:xfrm>
                  <a:off x="6686309" y="4730435"/>
                  <a:ext cx="1274188" cy="7078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ja-JP" sz="4000" i="1" smtClean="0">
                                <a:solidFill>
                                  <a:schemeClr val="tx1">
                                    <a:lumMod val="75000"/>
                                    <a:lumOff val="25000"/>
                                  </a:schemeClr>
                                </a:solidFill>
                                <a:latin typeface="Cambria Math" panose="02040503050406030204" pitchFamily="18" charset="0"/>
                                <a:ea typeface="Cambria Math" panose="02040503050406030204" pitchFamily="18" charset="0"/>
                              </a:rPr>
                            </m:ctrlPr>
                          </m:sSubPr>
                          <m:e>
                            <m:r>
                              <a:rPr lang="en-US" altLang="ja-JP" sz="4000" b="1">
                                <a:solidFill>
                                  <a:schemeClr val="tx1">
                                    <a:lumMod val="75000"/>
                                    <a:lumOff val="25000"/>
                                  </a:schemeClr>
                                </a:solidFill>
                                <a:latin typeface="Cambria Math" panose="02040503050406030204" pitchFamily="18" charset="0"/>
                                <a:ea typeface="Cambria Math" panose="02040503050406030204" pitchFamily="18" charset="0"/>
                              </a:rPr>
                              <m:t>𝐡</m:t>
                            </m:r>
                          </m:e>
                          <m:sub>
                            <m:r>
                              <a:rPr lang="en-US" altLang="ja-JP" sz="4000" i="1">
                                <a:solidFill>
                                  <a:schemeClr val="tx1">
                                    <a:lumMod val="75000"/>
                                    <a:lumOff val="25000"/>
                                  </a:schemeClr>
                                </a:solidFill>
                                <a:latin typeface="Cambria Math" panose="02040503050406030204" pitchFamily="18" charset="0"/>
                                <a:ea typeface="Cambria Math" panose="02040503050406030204" pitchFamily="18" charset="0"/>
                              </a:rPr>
                              <m:t>𝑘</m:t>
                            </m:r>
                          </m:sub>
                        </m:sSub>
                        <m:r>
                          <a:rPr lang="en-US" altLang="ja-JP" sz="4000" b="1" i="0" smtClean="0">
                            <a:solidFill>
                              <a:schemeClr val="tx1">
                                <a:lumMod val="75000"/>
                                <a:lumOff val="25000"/>
                              </a:schemeClr>
                            </a:solidFill>
                            <a:latin typeface="Cambria Math" panose="02040503050406030204" pitchFamily="18" charset="0"/>
                          </a:rPr>
                          <m:t>=</m:t>
                        </m:r>
                      </m:oMath>
                    </m:oMathPara>
                  </a14:m>
                  <a:endParaRPr lang="ja-JP" altLang="en-US" sz="4000" b="1" dirty="0">
                    <a:solidFill>
                      <a:schemeClr val="tx1">
                        <a:lumMod val="75000"/>
                        <a:lumOff val="25000"/>
                      </a:schemeClr>
                    </a:solidFill>
                  </a:endParaRPr>
                </a:p>
              </p:txBody>
            </p:sp>
          </mc:Choice>
          <mc:Fallback xmlns="">
            <p:sp>
              <p:nvSpPr>
                <p:cNvPr id="28" name="テキスト ボックス 27">
                  <a:extLst>
                    <a:ext uri="{FF2B5EF4-FFF2-40B4-BE49-F238E27FC236}">
                      <a16:creationId xmlns:a16="http://schemas.microsoft.com/office/drawing/2014/main" id="{18ABA7C6-AB27-4BA9-9A1E-268C418613E4}"/>
                    </a:ext>
                  </a:extLst>
                </p:cNvPr>
                <p:cNvSpPr txBox="1">
                  <a:spLocks noRot="1" noChangeAspect="1" noMove="1" noResize="1" noEditPoints="1" noAdjustHandles="1" noChangeArrowheads="1" noChangeShapeType="1" noTextEdit="1"/>
                </p:cNvSpPr>
                <p:nvPr/>
              </p:nvSpPr>
              <p:spPr>
                <a:xfrm>
                  <a:off x="6686309" y="4730435"/>
                  <a:ext cx="1274188" cy="707886"/>
                </a:xfrm>
                <a:prstGeom prst="rect">
                  <a:avLst/>
                </a:prstGeom>
                <a:blipFill>
                  <a:blip r:embed="rId5"/>
                  <a:stretch>
                    <a:fillRect/>
                  </a:stretch>
                </a:blipFill>
              </p:spPr>
              <p:txBody>
                <a:bodyPr/>
                <a:lstStyle/>
                <a:p>
                  <a:r>
                    <a:rPr lang="ja-JP" altLang="en-US">
                      <a:noFill/>
                    </a:rPr>
                    <a:t> </a:t>
                  </a:r>
                </a:p>
              </p:txBody>
            </p:sp>
          </mc:Fallback>
        </mc:AlternateContent>
        <p:grpSp>
          <p:nvGrpSpPr>
            <p:cNvPr id="60" name="グループ化 59">
              <a:extLst>
                <a:ext uri="{FF2B5EF4-FFF2-40B4-BE49-F238E27FC236}">
                  <a16:creationId xmlns:a16="http://schemas.microsoft.com/office/drawing/2014/main" id="{EEAAF462-F1B3-4CA6-87AC-0A753C7073AD}"/>
                </a:ext>
              </a:extLst>
            </p:cNvPr>
            <p:cNvGrpSpPr/>
            <p:nvPr/>
          </p:nvGrpSpPr>
          <p:grpSpPr>
            <a:xfrm>
              <a:off x="8002894" y="4152716"/>
              <a:ext cx="2319094" cy="1827605"/>
              <a:chOff x="2322930" y="3353671"/>
              <a:chExt cx="2319094" cy="1827605"/>
            </a:xfrm>
          </p:grpSpPr>
          <p:grpSp>
            <p:nvGrpSpPr>
              <p:cNvPr id="61" name="グループ化 60">
                <a:extLst>
                  <a:ext uri="{FF2B5EF4-FFF2-40B4-BE49-F238E27FC236}">
                    <a16:creationId xmlns:a16="http://schemas.microsoft.com/office/drawing/2014/main" id="{F63C1509-D53B-4C57-BE87-9324FE1CEFE3}"/>
                  </a:ext>
                </a:extLst>
              </p:cNvPr>
              <p:cNvGrpSpPr/>
              <p:nvPr/>
            </p:nvGrpSpPr>
            <p:grpSpPr>
              <a:xfrm>
                <a:off x="2652046" y="3451928"/>
                <a:ext cx="1700918" cy="1676670"/>
                <a:chOff x="1138989" y="3968713"/>
                <a:chExt cx="1700918" cy="1676670"/>
              </a:xfrm>
            </p:grpSpPr>
            <p:sp>
              <p:nvSpPr>
                <p:cNvPr id="63" name="正方形/長方形 62">
                  <a:extLst>
                    <a:ext uri="{FF2B5EF4-FFF2-40B4-BE49-F238E27FC236}">
                      <a16:creationId xmlns:a16="http://schemas.microsoft.com/office/drawing/2014/main" id="{1C2C13E5-5454-49D7-94C0-F61263B842A6}"/>
                    </a:ext>
                  </a:extLst>
                </p:cNvPr>
                <p:cNvSpPr/>
                <p:nvPr/>
              </p:nvSpPr>
              <p:spPr>
                <a:xfrm>
                  <a:off x="1138989" y="3974039"/>
                  <a:ext cx="319421" cy="319421"/>
                </a:xfrm>
                <a:prstGeom prst="rect">
                  <a:avLst/>
                </a:prstGeom>
                <a:solidFill>
                  <a:schemeClr val="accent6">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49A296E3-83BB-4BE2-B91A-0CFCBF7E4332}"/>
                    </a:ext>
                  </a:extLst>
                </p:cNvPr>
                <p:cNvSpPr/>
                <p:nvPr/>
              </p:nvSpPr>
              <p:spPr>
                <a:xfrm>
                  <a:off x="1599488" y="3974039"/>
                  <a:ext cx="319421" cy="319421"/>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5" name="正方形/長方形 64">
                  <a:extLst>
                    <a:ext uri="{FF2B5EF4-FFF2-40B4-BE49-F238E27FC236}">
                      <a16:creationId xmlns:a16="http://schemas.microsoft.com/office/drawing/2014/main" id="{A20A7448-0C29-4C03-B6CD-E491BDB16D2D}"/>
                    </a:ext>
                  </a:extLst>
                </p:cNvPr>
                <p:cNvSpPr/>
                <p:nvPr/>
              </p:nvSpPr>
              <p:spPr>
                <a:xfrm>
                  <a:off x="2059987" y="3968714"/>
                  <a:ext cx="319421" cy="319421"/>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正方形/長方形 65">
                  <a:extLst>
                    <a:ext uri="{FF2B5EF4-FFF2-40B4-BE49-F238E27FC236}">
                      <a16:creationId xmlns:a16="http://schemas.microsoft.com/office/drawing/2014/main" id="{07F30356-982F-4151-BB0F-C33EE2DD76E6}"/>
                    </a:ext>
                  </a:extLst>
                </p:cNvPr>
                <p:cNvSpPr/>
                <p:nvPr/>
              </p:nvSpPr>
              <p:spPr>
                <a:xfrm>
                  <a:off x="2520486" y="3968713"/>
                  <a:ext cx="319421" cy="319421"/>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正方形/長方形 66">
                  <a:extLst>
                    <a:ext uri="{FF2B5EF4-FFF2-40B4-BE49-F238E27FC236}">
                      <a16:creationId xmlns:a16="http://schemas.microsoft.com/office/drawing/2014/main" id="{AA1D4738-A06E-4256-A961-E97BF3A852FD}"/>
                    </a:ext>
                  </a:extLst>
                </p:cNvPr>
                <p:cNvSpPr/>
                <p:nvPr/>
              </p:nvSpPr>
              <p:spPr>
                <a:xfrm>
                  <a:off x="1138989" y="4424680"/>
                  <a:ext cx="319421" cy="319421"/>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正方形/長方形 67">
                  <a:extLst>
                    <a:ext uri="{FF2B5EF4-FFF2-40B4-BE49-F238E27FC236}">
                      <a16:creationId xmlns:a16="http://schemas.microsoft.com/office/drawing/2014/main" id="{0A0CF5BF-D1D5-4B2B-B417-71D06FCAF83D}"/>
                    </a:ext>
                  </a:extLst>
                </p:cNvPr>
                <p:cNvSpPr/>
                <p:nvPr/>
              </p:nvSpPr>
              <p:spPr>
                <a:xfrm>
                  <a:off x="1599488" y="4424680"/>
                  <a:ext cx="319421" cy="319421"/>
                </a:xfrm>
                <a:prstGeom prst="rect">
                  <a:avLst/>
                </a:prstGeom>
                <a:solidFill>
                  <a:schemeClr val="accent5">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正方形/長方形 68">
                  <a:extLst>
                    <a:ext uri="{FF2B5EF4-FFF2-40B4-BE49-F238E27FC236}">
                      <a16:creationId xmlns:a16="http://schemas.microsoft.com/office/drawing/2014/main" id="{AFA64408-5404-4908-B0DE-1FEC837D16BC}"/>
                    </a:ext>
                  </a:extLst>
                </p:cNvPr>
                <p:cNvSpPr/>
                <p:nvPr/>
              </p:nvSpPr>
              <p:spPr>
                <a:xfrm>
                  <a:off x="2059987" y="4419355"/>
                  <a:ext cx="319421" cy="319421"/>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70" name="正方形/長方形 69">
                  <a:extLst>
                    <a:ext uri="{FF2B5EF4-FFF2-40B4-BE49-F238E27FC236}">
                      <a16:creationId xmlns:a16="http://schemas.microsoft.com/office/drawing/2014/main" id="{197F5DF5-9D4E-4510-937F-153D04631963}"/>
                    </a:ext>
                  </a:extLst>
                </p:cNvPr>
                <p:cNvSpPr/>
                <p:nvPr/>
              </p:nvSpPr>
              <p:spPr>
                <a:xfrm>
                  <a:off x="2520486" y="4419354"/>
                  <a:ext cx="319421" cy="319421"/>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1" name="正方形/長方形 70">
                  <a:extLst>
                    <a:ext uri="{FF2B5EF4-FFF2-40B4-BE49-F238E27FC236}">
                      <a16:creationId xmlns:a16="http://schemas.microsoft.com/office/drawing/2014/main" id="{56DA7858-BA92-4C0D-8159-9A2471064945}"/>
                    </a:ext>
                  </a:extLst>
                </p:cNvPr>
                <p:cNvSpPr/>
                <p:nvPr/>
              </p:nvSpPr>
              <p:spPr>
                <a:xfrm>
                  <a:off x="1138989" y="4875321"/>
                  <a:ext cx="319421" cy="319421"/>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正方形/長方形 71">
                  <a:extLst>
                    <a:ext uri="{FF2B5EF4-FFF2-40B4-BE49-F238E27FC236}">
                      <a16:creationId xmlns:a16="http://schemas.microsoft.com/office/drawing/2014/main" id="{142552D5-1E3D-4325-8E89-8CDE8072A24A}"/>
                    </a:ext>
                  </a:extLst>
                </p:cNvPr>
                <p:cNvSpPr/>
                <p:nvPr/>
              </p:nvSpPr>
              <p:spPr>
                <a:xfrm>
                  <a:off x="1599488" y="4875321"/>
                  <a:ext cx="319421" cy="319421"/>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3" name="正方形/長方形 72">
                  <a:extLst>
                    <a:ext uri="{FF2B5EF4-FFF2-40B4-BE49-F238E27FC236}">
                      <a16:creationId xmlns:a16="http://schemas.microsoft.com/office/drawing/2014/main" id="{9675A1A1-7AC3-4DCC-9D18-97624B58962A}"/>
                    </a:ext>
                  </a:extLst>
                </p:cNvPr>
                <p:cNvSpPr/>
                <p:nvPr/>
              </p:nvSpPr>
              <p:spPr>
                <a:xfrm>
                  <a:off x="2059987" y="4869996"/>
                  <a:ext cx="319421" cy="319421"/>
                </a:xfrm>
                <a:prstGeom prst="rect">
                  <a:avLst/>
                </a:prstGeom>
                <a:solidFill>
                  <a:schemeClr val="accent4">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正方形/長方形 73">
                  <a:extLst>
                    <a:ext uri="{FF2B5EF4-FFF2-40B4-BE49-F238E27FC236}">
                      <a16:creationId xmlns:a16="http://schemas.microsoft.com/office/drawing/2014/main" id="{1A5AAC31-6D5E-4074-B7A7-982B16D35174}"/>
                    </a:ext>
                  </a:extLst>
                </p:cNvPr>
                <p:cNvSpPr/>
                <p:nvPr/>
              </p:nvSpPr>
              <p:spPr>
                <a:xfrm>
                  <a:off x="2520486" y="4869995"/>
                  <a:ext cx="319421" cy="319421"/>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5" name="正方形/長方形 74">
                  <a:extLst>
                    <a:ext uri="{FF2B5EF4-FFF2-40B4-BE49-F238E27FC236}">
                      <a16:creationId xmlns:a16="http://schemas.microsoft.com/office/drawing/2014/main" id="{F7570CC2-83D3-4858-AA04-D1844EA0D78D}"/>
                    </a:ext>
                  </a:extLst>
                </p:cNvPr>
                <p:cNvSpPr/>
                <p:nvPr/>
              </p:nvSpPr>
              <p:spPr>
                <a:xfrm>
                  <a:off x="1138989" y="5325962"/>
                  <a:ext cx="319421" cy="319421"/>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6" name="正方形/長方形 75">
                  <a:extLst>
                    <a:ext uri="{FF2B5EF4-FFF2-40B4-BE49-F238E27FC236}">
                      <a16:creationId xmlns:a16="http://schemas.microsoft.com/office/drawing/2014/main" id="{3991A84E-DCE4-4D76-80C3-FA988FCB0996}"/>
                    </a:ext>
                  </a:extLst>
                </p:cNvPr>
                <p:cNvSpPr/>
                <p:nvPr/>
              </p:nvSpPr>
              <p:spPr>
                <a:xfrm>
                  <a:off x="1599488" y="5325962"/>
                  <a:ext cx="319421" cy="319421"/>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正方形/長方形 76">
                  <a:extLst>
                    <a:ext uri="{FF2B5EF4-FFF2-40B4-BE49-F238E27FC236}">
                      <a16:creationId xmlns:a16="http://schemas.microsoft.com/office/drawing/2014/main" id="{ECDBD039-B1F2-4F6C-8FD1-BAF7002A4493}"/>
                    </a:ext>
                  </a:extLst>
                </p:cNvPr>
                <p:cNvSpPr/>
                <p:nvPr/>
              </p:nvSpPr>
              <p:spPr>
                <a:xfrm>
                  <a:off x="2059987" y="5320637"/>
                  <a:ext cx="319421" cy="319421"/>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8" name="正方形/長方形 77">
                  <a:extLst>
                    <a:ext uri="{FF2B5EF4-FFF2-40B4-BE49-F238E27FC236}">
                      <a16:creationId xmlns:a16="http://schemas.microsoft.com/office/drawing/2014/main" id="{77F3B047-C2D6-4973-9215-57DEF823E81C}"/>
                    </a:ext>
                  </a:extLst>
                </p:cNvPr>
                <p:cNvSpPr/>
                <p:nvPr/>
              </p:nvSpPr>
              <p:spPr>
                <a:xfrm>
                  <a:off x="2520486" y="5320636"/>
                  <a:ext cx="319421" cy="319421"/>
                </a:xfrm>
                <a:prstGeom prst="rect">
                  <a:avLst/>
                </a:prstGeom>
                <a:solidFill>
                  <a:schemeClr val="accent2">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62" name="大かっこ 61">
                <a:extLst>
                  <a:ext uri="{FF2B5EF4-FFF2-40B4-BE49-F238E27FC236}">
                    <a16:creationId xmlns:a16="http://schemas.microsoft.com/office/drawing/2014/main" id="{8C58D0C4-1E69-49FF-9C9D-58CF5817EA6A}"/>
                  </a:ext>
                </a:extLst>
              </p:cNvPr>
              <p:cNvSpPr/>
              <p:nvPr/>
            </p:nvSpPr>
            <p:spPr>
              <a:xfrm>
                <a:off x="2322930" y="3353671"/>
                <a:ext cx="2319094" cy="1827605"/>
              </a:xfrm>
              <a:prstGeom prst="bracketPair">
                <a:avLst/>
              </a:prstGeom>
              <a:ln w="571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p:sp>
        <p:nvSpPr>
          <p:cNvPr id="79" name="下矢印 43">
            <a:extLst>
              <a:ext uri="{FF2B5EF4-FFF2-40B4-BE49-F238E27FC236}">
                <a16:creationId xmlns:a16="http://schemas.microsoft.com/office/drawing/2014/main" id="{E79FCDAD-78AA-464D-8205-A2D5895A70DE}"/>
              </a:ext>
            </a:extLst>
          </p:cNvPr>
          <p:cNvSpPr/>
          <p:nvPr/>
        </p:nvSpPr>
        <p:spPr>
          <a:xfrm rot="16200000">
            <a:off x="5837092" y="4514393"/>
            <a:ext cx="609600" cy="1230702"/>
          </a:xfrm>
          <a:prstGeom prst="downArrow">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80" name="テキスト ボックス 79">
                <a:extLst>
                  <a:ext uri="{FF2B5EF4-FFF2-40B4-BE49-F238E27FC236}">
                    <a16:creationId xmlns:a16="http://schemas.microsoft.com/office/drawing/2014/main" id="{F107D85C-D9CF-4888-848C-AC6B65E9C518}"/>
                  </a:ext>
                </a:extLst>
              </p:cNvPr>
              <p:cNvSpPr txBox="1"/>
              <p:nvPr/>
            </p:nvSpPr>
            <p:spPr>
              <a:xfrm>
                <a:off x="9445148" y="6145733"/>
                <a:ext cx="2361342" cy="646331"/>
              </a:xfrm>
              <a:prstGeom prst="rect">
                <a:avLst/>
              </a:prstGeom>
              <a:noFill/>
            </p:spPr>
            <p:txBody>
              <a:bodyPr wrap="square">
                <a:spAutoFit/>
              </a:bodyPr>
              <a:lstStyle/>
              <a:p>
                <a:r>
                  <a:rPr lang="en-US" altLang="ja-JP" b="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a:t>
                </a:r>
                <a14:m>
                  <m:oMath xmlns:m="http://schemas.openxmlformats.org/officeDocument/2006/math">
                    <m:r>
                      <a:rPr lang="en-US" altLang="ja-JP" b="0" i="1" smtClean="0">
                        <a:solidFill>
                          <a:schemeClr val="tx1">
                            <a:lumMod val="75000"/>
                            <a:lumOff val="25000"/>
                          </a:schemeClr>
                        </a:solidFill>
                        <a:latin typeface="Cambria Math" panose="02040503050406030204" pitchFamily="18" charset="0"/>
                        <a:ea typeface="Cambria Math" panose="02040503050406030204" pitchFamily="18" charset="0"/>
                      </a:rPr>
                      <m:t>⊙</m:t>
                    </m:r>
                    <m:r>
                      <m:rPr>
                        <m:nor/>
                      </m:rPr>
                      <a:rPr lang="ja-JP" altLang="en-US"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m:t>：</m:t>
                    </m:r>
                  </m:oMath>
                </a14:m>
                <a:r>
                  <a:rPr lang="ja-JP" altLang="en-US"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アダマール乗算</a:t>
                </a:r>
                <a:endParaRPr lang="en-US" altLang="ja-JP"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a:p>
                <a:pPr marL="0" indent="0">
                  <a:buNone/>
                </a:pPr>
                <a:r>
                  <a:rPr lang="ja-JP" altLang="en-US"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r>
                      <a:rPr lang="ja-JP" altLang="en-US" b="1" i="1" dirty="0">
                        <a:solidFill>
                          <a:schemeClr val="tx1">
                            <a:lumMod val="75000"/>
                            <a:lumOff val="25000"/>
                          </a:schemeClr>
                        </a:solidFill>
                        <a:latin typeface="Cambria Math" panose="02040503050406030204" pitchFamily="18" charset="0"/>
                        <a:ea typeface="Cambria Math" panose="02040503050406030204" pitchFamily="18" charset="0"/>
                      </a:rPr>
                      <m:t> </m:t>
                    </m:r>
                    <m:r>
                      <a:rPr lang="en-US" altLang="ja-JP" b="0" i="1" smtClean="0">
                        <a:solidFill>
                          <a:schemeClr val="tx1">
                            <a:lumMod val="75000"/>
                            <a:lumOff val="25000"/>
                          </a:schemeClr>
                        </a:solidFill>
                        <a:latin typeface="Cambria Math" panose="02040503050406030204" pitchFamily="18" charset="0"/>
                        <a:ea typeface="Cambria Math" panose="02040503050406030204" pitchFamily="18" charset="0"/>
                      </a:rPr>
                      <m:t>⊘</m:t>
                    </m:r>
                    <m:r>
                      <a:rPr lang="ja-JP" altLang="en-US" i="1">
                        <a:solidFill>
                          <a:schemeClr val="tx1">
                            <a:lumMod val="75000"/>
                            <a:lumOff val="25000"/>
                          </a:schemeClr>
                        </a:solidFill>
                        <a:latin typeface="Cambria Math" panose="02040503050406030204" pitchFamily="18" charset="0"/>
                        <a:ea typeface="Cambria Math" panose="02040503050406030204" pitchFamily="18" charset="0"/>
                      </a:rPr>
                      <m:t> </m:t>
                    </m:r>
                  </m:oMath>
                </a14:m>
                <a:r>
                  <a:rPr lang="ja-JP" altLang="en-US"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：アダマール除算</a:t>
                </a:r>
                <a:endParaRPr lang="en-US" altLang="ja-JP" b="1"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mc:Choice>
        <mc:Fallback xmlns="">
          <p:sp>
            <p:nvSpPr>
              <p:cNvPr id="80" name="テキスト ボックス 79">
                <a:extLst>
                  <a:ext uri="{FF2B5EF4-FFF2-40B4-BE49-F238E27FC236}">
                    <a16:creationId xmlns:a16="http://schemas.microsoft.com/office/drawing/2014/main" id="{F107D85C-D9CF-4888-848C-AC6B65E9C518}"/>
                  </a:ext>
                </a:extLst>
              </p:cNvPr>
              <p:cNvSpPr txBox="1">
                <a:spLocks noRot="1" noChangeAspect="1" noMove="1" noResize="1" noEditPoints="1" noAdjustHandles="1" noChangeArrowheads="1" noChangeShapeType="1" noTextEdit="1"/>
              </p:cNvSpPr>
              <p:nvPr/>
            </p:nvSpPr>
            <p:spPr>
              <a:xfrm>
                <a:off x="9445148" y="6145733"/>
                <a:ext cx="2361342" cy="646331"/>
              </a:xfrm>
              <a:prstGeom prst="rect">
                <a:avLst/>
              </a:prstGeom>
              <a:blipFill>
                <a:blip r:embed="rId6"/>
                <a:stretch>
                  <a:fillRect l="-2062" t="-3774" r="-773" b="-15094"/>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56355832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074CAF-DB99-43A0-95DD-4DF60DD29C9E}"/>
              </a:ext>
            </a:extLst>
          </p:cNvPr>
          <p:cNvSpPr>
            <a:spLocks noGrp="1"/>
          </p:cNvSpPr>
          <p:nvPr>
            <p:ph type="title"/>
          </p:nvPr>
        </p:nvSpPr>
        <p:spPr/>
        <p:txBody>
          <a:bodyPr/>
          <a:lstStyle/>
          <a:p>
            <a:r>
              <a:rPr kumimoji="1" lang="en-US" altLang="ja-JP" dirty="0"/>
              <a:t>Hutchinson</a:t>
            </a:r>
            <a:r>
              <a:rPr kumimoji="1" lang="ja-JP" altLang="en-US" dirty="0"/>
              <a:t>手法</a:t>
            </a:r>
          </a:p>
        </p:txBody>
      </p:sp>
      <p:sp>
        <p:nvSpPr>
          <p:cNvPr id="5" name="スライド番号プレースホルダー 4">
            <a:extLst>
              <a:ext uri="{FF2B5EF4-FFF2-40B4-BE49-F238E27FC236}">
                <a16:creationId xmlns:a16="http://schemas.microsoft.com/office/drawing/2014/main" id="{386CDC29-CA32-45AA-A1CF-7F4E410207B7}"/>
              </a:ext>
            </a:extLst>
          </p:cNvPr>
          <p:cNvSpPr>
            <a:spLocks noGrp="1"/>
          </p:cNvSpPr>
          <p:nvPr>
            <p:ph type="sldNum" sz="quarter" idx="12"/>
          </p:nvPr>
        </p:nvSpPr>
        <p:spPr/>
        <p:txBody>
          <a:bodyPr/>
          <a:lstStyle/>
          <a:p>
            <a:fld id="{E0941385-F5BA-408B-94FB-C48DC2364AB1}" type="slidenum">
              <a:rPr kumimoji="1" lang="ja-JP" altLang="en-US" smtClean="0"/>
              <a:t>61</a:t>
            </a:fld>
            <a:endParaRPr kumimoji="1" lang="ja-JP" altLang="en-US"/>
          </a:p>
        </p:txBody>
      </p:sp>
      <p:sp>
        <p:nvSpPr>
          <p:cNvPr id="6" name="テキスト ボックス 5">
            <a:extLst>
              <a:ext uri="{FF2B5EF4-FFF2-40B4-BE49-F238E27FC236}">
                <a16:creationId xmlns:a16="http://schemas.microsoft.com/office/drawing/2014/main" id="{10CC409E-9AF5-4C0E-A903-C8C74509E5FB}"/>
              </a:ext>
            </a:extLst>
          </p:cNvPr>
          <p:cNvSpPr txBox="1"/>
          <p:nvPr/>
        </p:nvSpPr>
        <p:spPr>
          <a:xfrm>
            <a:off x="10701293" y="2954744"/>
            <a:ext cx="667839" cy="596253"/>
          </a:xfrm>
          <a:prstGeom prst="rect">
            <a:avLst/>
          </a:prstGeom>
          <a:solidFill>
            <a:srgbClr val="E4E4E4"/>
          </a:solidFill>
        </p:spPr>
        <p:txBody>
          <a:bodyPr wrap="square" rtlCol="0">
            <a:spAutoFit/>
          </a:bodyPr>
          <a:lstStyle/>
          <a:p>
            <a:pPr>
              <a:lnSpc>
                <a:spcPct val="150000"/>
              </a:lnSpc>
            </a:pPr>
            <a:r>
              <a:rPr kumimoji="1" lang="en-US" altLang="ja-JP" sz="24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rPr>
              <a:t>(9)</a:t>
            </a:r>
            <a:endParaRPr kumimoji="1" lang="ja-JP" altLang="en-US" sz="2400" dirty="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endParaRPr>
          </a:p>
        </p:txBody>
      </p:sp>
      <p:grpSp>
        <p:nvGrpSpPr>
          <p:cNvPr id="50" name="グループ化 49">
            <a:extLst>
              <a:ext uri="{FF2B5EF4-FFF2-40B4-BE49-F238E27FC236}">
                <a16:creationId xmlns:a16="http://schemas.microsoft.com/office/drawing/2014/main" id="{4FA5BE1B-095F-4B38-AFA1-A5F22CB923C5}"/>
              </a:ext>
            </a:extLst>
          </p:cNvPr>
          <p:cNvGrpSpPr/>
          <p:nvPr/>
        </p:nvGrpSpPr>
        <p:grpSpPr>
          <a:xfrm>
            <a:off x="4845808" y="4647470"/>
            <a:ext cx="6105279" cy="733533"/>
            <a:chOff x="5394448" y="4647470"/>
            <a:chExt cx="6105279" cy="733533"/>
          </a:xfrm>
        </p:grpSpPr>
        <mc:AlternateContent xmlns:mc="http://schemas.openxmlformats.org/markup-compatibility/2006" xmlns:a14="http://schemas.microsoft.com/office/drawing/2010/main">
          <mc:Choice Requires="a14">
            <p:sp>
              <p:nvSpPr>
                <p:cNvPr id="29" name="テキスト ボックス 28">
                  <a:extLst>
                    <a:ext uri="{FF2B5EF4-FFF2-40B4-BE49-F238E27FC236}">
                      <a16:creationId xmlns:a16="http://schemas.microsoft.com/office/drawing/2014/main" id="{BA390113-9780-4974-917D-D47EF07C6FD4}"/>
                    </a:ext>
                  </a:extLst>
                </p:cNvPr>
                <p:cNvSpPr txBox="1"/>
                <p:nvPr/>
              </p:nvSpPr>
              <p:spPr>
                <a:xfrm>
                  <a:off x="5394448" y="4647470"/>
                  <a:ext cx="3076278" cy="7078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ja-JP" sz="4000" i="1" smtClean="0">
                            <a:solidFill>
                              <a:schemeClr val="tx1">
                                <a:lumMod val="75000"/>
                                <a:lumOff val="25000"/>
                              </a:schemeClr>
                            </a:solidFill>
                            <a:latin typeface="Cambria Math" panose="02040503050406030204" pitchFamily="18" charset="0"/>
                          </a:rPr>
                          <m:t>𝑡𝑟𝑎𝑐𝑒</m:t>
                        </m:r>
                        <m:r>
                          <a:rPr lang="en-US" altLang="ja-JP" sz="4000" i="1" smtClean="0">
                            <a:solidFill>
                              <a:schemeClr val="tx1">
                                <a:lumMod val="75000"/>
                                <a:lumOff val="25000"/>
                              </a:schemeClr>
                            </a:solidFill>
                            <a:latin typeface="Cambria Math" panose="02040503050406030204" pitchFamily="18" charset="0"/>
                          </a:rPr>
                          <m:t> </m:t>
                        </m:r>
                        <m:r>
                          <a:rPr lang="en-US" altLang="ja-JP" sz="4000" b="1" i="0" smtClean="0">
                            <a:solidFill>
                              <a:schemeClr val="tx1">
                                <a:lumMod val="75000"/>
                                <a:lumOff val="25000"/>
                              </a:schemeClr>
                            </a:solidFill>
                            <a:latin typeface="Cambria Math" panose="02040503050406030204" pitchFamily="18" charset="0"/>
                          </a:rPr>
                          <m:t>(</m:t>
                        </m:r>
                        <m:sSub>
                          <m:sSubPr>
                            <m:ctrlPr>
                              <a:rPr lang="en-US" altLang="ja-JP" sz="4000" i="1">
                                <a:solidFill>
                                  <a:schemeClr val="tx1">
                                    <a:lumMod val="75000"/>
                                    <a:lumOff val="25000"/>
                                  </a:schemeClr>
                                </a:solidFill>
                                <a:latin typeface="Cambria Math" panose="02040503050406030204" pitchFamily="18" charset="0"/>
                                <a:ea typeface="Cambria Math" panose="02040503050406030204" pitchFamily="18" charset="0"/>
                              </a:rPr>
                            </m:ctrlPr>
                          </m:sSubPr>
                          <m:e>
                            <m:r>
                              <a:rPr lang="en-US" altLang="ja-JP" sz="4000" b="1">
                                <a:solidFill>
                                  <a:schemeClr val="tx1">
                                    <a:lumMod val="75000"/>
                                    <a:lumOff val="25000"/>
                                  </a:schemeClr>
                                </a:solidFill>
                                <a:latin typeface="Cambria Math" panose="02040503050406030204" pitchFamily="18" charset="0"/>
                                <a:ea typeface="Cambria Math" panose="02040503050406030204" pitchFamily="18" charset="0"/>
                              </a:rPr>
                              <m:t>𝐀</m:t>
                            </m:r>
                          </m:e>
                          <m:sub>
                            <m:r>
                              <a:rPr lang="en-US" altLang="ja-JP" sz="4000" i="1">
                                <a:solidFill>
                                  <a:schemeClr val="tx1">
                                    <a:lumMod val="75000"/>
                                    <a:lumOff val="25000"/>
                                  </a:schemeClr>
                                </a:solidFill>
                                <a:latin typeface="Cambria Math" panose="02040503050406030204" pitchFamily="18" charset="0"/>
                                <a:ea typeface="Cambria Math" panose="02040503050406030204" pitchFamily="18" charset="0"/>
                              </a:rPr>
                              <m:t>𝑘</m:t>
                            </m:r>
                          </m:sub>
                        </m:sSub>
                        <m:r>
                          <a:rPr lang="en-US" altLang="ja-JP" sz="4000" b="1" i="0" smtClean="0">
                            <a:solidFill>
                              <a:schemeClr val="tx1">
                                <a:lumMod val="75000"/>
                                <a:lumOff val="25000"/>
                              </a:schemeClr>
                            </a:solidFill>
                            <a:latin typeface="Cambria Math" panose="02040503050406030204" pitchFamily="18" charset="0"/>
                          </a:rPr>
                          <m:t>)</m:t>
                        </m:r>
                        <m:r>
                          <a:rPr lang="en-US" altLang="ja-JP" sz="4000" b="1" i="1" smtClean="0">
                            <a:solidFill>
                              <a:schemeClr val="tx1">
                                <a:lumMod val="75000"/>
                                <a:lumOff val="25000"/>
                              </a:schemeClr>
                            </a:solidFill>
                            <a:latin typeface="Cambria Math" panose="02040503050406030204" pitchFamily="18" charset="0"/>
                          </a:rPr>
                          <m:t>=</m:t>
                        </m:r>
                      </m:oMath>
                    </m:oMathPara>
                  </a14:m>
                  <a:endParaRPr lang="ja-JP" altLang="en-US" sz="4000" dirty="0">
                    <a:solidFill>
                      <a:schemeClr val="tx1">
                        <a:lumMod val="75000"/>
                        <a:lumOff val="25000"/>
                      </a:schemeClr>
                    </a:solidFill>
                  </a:endParaRPr>
                </a:p>
              </p:txBody>
            </p:sp>
          </mc:Choice>
          <mc:Fallback xmlns="">
            <p:sp>
              <p:nvSpPr>
                <p:cNvPr id="29" name="テキスト ボックス 28">
                  <a:extLst>
                    <a:ext uri="{FF2B5EF4-FFF2-40B4-BE49-F238E27FC236}">
                      <a16:creationId xmlns:a16="http://schemas.microsoft.com/office/drawing/2014/main" id="{BA390113-9780-4974-917D-D47EF07C6FD4}"/>
                    </a:ext>
                  </a:extLst>
                </p:cNvPr>
                <p:cNvSpPr txBox="1">
                  <a:spLocks noRot="1" noChangeAspect="1" noMove="1" noResize="1" noEditPoints="1" noAdjustHandles="1" noChangeArrowheads="1" noChangeShapeType="1" noTextEdit="1"/>
                </p:cNvSpPr>
                <p:nvPr/>
              </p:nvSpPr>
              <p:spPr>
                <a:xfrm>
                  <a:off x="5394448" y="4647470"/>
                  <a:ext cx="3076278" cy="707886"/>
                </a:xfrm>
                <a:prstGeom prst="rect">
                  <a:avLst/>
                </a:prstGeom>
                <a:blipFill>
                  <a:blip r:embed="rId3"/>
                  <a:stretch>
                    <a:fillRect/>
                  </a:stretch>
                </a:blipFill>
              </p:spPr>
              <p:txBody>
                <a:bodyPr/>
                <a:lstStyle/>
                <a:p>
                  <a:r>
                    <a:rPr lang="ja-JP" altLang="en-US">
                      <a:noFill/>
                    </a:rPr>
                    <a:t> </a:t>
                  </a:r>
                </a:p>
              </p:txBody>
            </p:sp>
          </mc:Fallback>
        </mc:AlternateContent>
        <p:grpSp>
          <p:nvGrpSpPr>
            <p:cNvPr id="49" name="グループ化 48">
              <a:extLst>
                <a:ext uri="{FF2B5EF4-FFF2-40B4-BE49-F238E27FC236}">
                  <a16:creationId xmlns:a16="http://schemas.microsoft.com/office/drawing/2014/main" id="{732C5347-CACF-4053-89C0-8C57281466D3}"/>
                </a:ext>
              </a:extLst>
            </p:cNvPr>
            <p:cNvGrpSpPr/>
            <p:nvPr/>
          </p:nvGrpSpPr>
          <p:grpSpPr>
            <a:xfrm>
              <a:off x="8479234" y="4650149"/>
              <a:ext cx="3020493" cy="730854"/>
              <a:chOff x="8479234" y="4650149"/>
              <a:chExt cx="3020493" cy="730854"/>
            </a:xfrm>
          </p:grpSpPr>
          <p:sp>
            <p:nvSpPr>
              <p:cNvPr id="34" name="正方形/長方形 33">
                <a:extLst>
                  <a:ext uri="{FF2B5EF4-FFF2-40B4-BE49-F238E27FC236}">
                    <a16:creationId xmlns:a16="http://schemas.microsoft.com/office/drawing/2014/main" id="{7E137ABE-1503-4581-BC8D-A3C2D82FD9CC}"/>
                  </a:ext>
                </a:extLst>
              </p:cNvPr>
              <p:cNvSpPr/>
              <p:nvPr/>
            </p:nvSpPr>
            <p:spPr>
              <a:xfrm>
                <a:off x="8479234" y="4869996"/>
                <a:ext cx="319421" cy="319421"/>
              </a:xfrm>
              <a:prstGeom prst="rect">
                <a:avLst/>
              </a:prstGeom>
              <a:solidFill>
                <a:schemeClr val="accent6">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正方形/長方形 34">
                <a:extLst>
                  <a:ext uri="{FF2B5EF4-FFF2-40B4-BE49-F238E27FC236}">
                    <a16:creationId xmlns:a16="http://schemas.microsoft.com/office/drawing/2014/main" id="{312919EE-874A-4968-9A31-26273FEE754E}"/>
                  </a:ext>
                </a:extLst>
              </p:cNvPr>
              <p:cNvSpPr/>
              <p:nvPr/>
            </p:nvSpPr>
            <p:spPr>
              <a:xfrm>
                <a:off x="10315275" y="4870061"/>
                <a:ext cx="319421" cy="319421"/>
              </a:xfrm>
              <a:prstGeom prst="rect">
                <a:avLst/>
              </a:prstGeom>
              <a:solidFill>
                <a:schemeClr val="accent4">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6" name="正方形/長方形 35">
                <a:extLst>
                  <a:ext uri="{FF2B5EF4-FFF2-40B4-BE49-F238E27FC236}">
                    <a16:creationId xmlns:a16="http://schemas.microsoft.com/office/drawing/2014/main" id="{F56DD01B-0478-4E3D-8079-D61DE2987D80}"/>
                  </a:ext>
                </a:extLst>
              </p:cNvPr>
              <p:cNvSpPr/>
              <p:nvPr/>
            </p:nvSpPr>
            <p:spPr>
              <a:xfrm>
                <a:off x="11180306" y="4864671"/>
                <a:ext cx="319421" cy="319421"/>
              </a:xfrm>
              <a:prstGeom prst="rect">
                <a:avLst/>
              </a:prstGeom>
              <a:solidFill>
                <a:schemeClr val="accent2">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1D4E9ED2-3810-4447-B9F8-9987C1AADE26}"/>
                  </a:ext>
                </a:extLst>
              </p:cNvPr>
              <p:cNvSpPr/>
              <p:nvPr/>
            </p:nvSpPr>
            <p:spPr>
              <a:xfrm>
                <a:off x="9421263" y="4877640"/>
                <a:ext cx="319421" cy="319421"/>
              </a:xfrm>
              <a:prstGeom prst="rect">
                <a:avLst/>
              </a:prstGeom>
              <a:solidFill>
                <a:schemeClr val="accent5">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mc:AlternateContent xmlns:mc="http://schemas.openxmlformats.org/markup-compatibility/2006" xmlns:a14="http://schemas.microsoft.com/office/drawing/2010/main">
            <mc:Choice Requires="a14">
              <p:sp>
                <p:nvSpPr>
                  <p:cNvPr id="46" name="テキスト ボックス 45">
                    <a:extLst>
                      <a:ext uri="{FF2B5EF4-FFF2-40B4-BE49-F238E27FC236}">
                        <a16:creationId xmlns:a16="http://schemas.microsoft.com/office/drawing/2014/main" id="{25B8EF06-E103-433B-88E5-519260031820}"/>
                      </a:ext>
                    </a:extLst>
                  </p:cNvPr>
                  <p:cNvSpPr txBox="1"/>
                  <p:nvPr/>
                </p:nvSpPr>
                <p:spPr>
                  <a:xfrm>
                    <a:off x="8525413" y="4650149"/>
                    <a:ext cx="1080709" cy="7078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ja-JP" sz="4000" b="1" i="1" smtClean="0">
                              <a:solidFill>
                                <a:schemeClr val="tx1">
                                  <a:lumMod val="75000"/>
                                  <a:lumOff val="25000"/>
                                </a:schemeClr>
                              </a:solidFill>
                              <a:latin typeface="Cambria Math" panose="02040503050406030204" pitchFamily="18" charset="0"/>
                            </a:rPr>
                            <m:t>+</m:t>
                          </m:r>
                        </m:oMath>
                      </m:oMathPara>
                    </a14:m>
                    <a:endParaRPr lang="ja-JP" altLang="en-US" sz="4000" dirty="0">
                      <a:solidFill>
                        <a:schemeClr val="tx1">
                          <a:lumMod val="75000"/>
                          <a:lumOff val="25000"/>
                        </a:schemeClr>
                      </a:solidFill>
                    </a:endParaRPr>
                  </a:p>
                </p:txBody>
              </p:sp>
            </mc:Choice>
            <mc:Fallback xmlns="">
              <p:sp>
                <p:nvSpPr>
                  <p:cNvPr id="46" name="テキスト ボックス 45">
                    <a:extLst>
                      <a:ext uri="{FF2B5EF4-FFF2-40B4-BE49-F238E27FC236}">
                        <a16:creationId xmlns:a16="http://schemas.microsoft.com/office/drawing/2014/main" id="{25B8EF06-E103-433B-88E5-519260031820}"/>
                      </a:ext>
                    </a:extLst>
                  </p:cNvPr>
                  <p:cNvSpPr txBox="1">
                    <a:spLocks noRot="1" noChangeAspect="1" noMove="1" noResize="1" noEditPoints="1" noAdjustHandles="1" noChangeArrowheads="1" noChangeShapeType="1" noTextEdit="1"/>
                  </p:cNvSpPr>
                  <p:nvPr/>
                </p:nvSpPr>
                <p:spPr>
                  <a:xfrm>
                    <a:off x="8525413" y="4650149"/>
                    <a:ext cx="1080709" cy="707886"/>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7" name="テキスト ボックス 46">
                    <a:extLst>
                      <a:ext uri="{FF2B5EF4-FFF2-40B4-BE49-F238E27FC236}">
                        <a16:creationId xmlns:a16="http://schemas.microsoft.com/office/drawing/2014/main" id="{5556904B-8FB8-4500-A44F-75D23F38084D}"/>
                      </a:ext>
                    </a:extLst>
                  </p:cNvPr>
                  <p:cNvSpPr txBox="1"/>
                  <p:nvPr/>
                </p:nvSpPr>
                <p:spPr>
                  <a:xfrm>
                    <a:off x="9480206" y="4656778"/>
                    <a:ext cx="1080709" cy="7078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ja-JP" sz="4000" b="1" i="1" smtClean="0">
                              <a:solidFill>
                                <a:schemeClr val="tx1">
                                  <a:lumMod val="75000"/>
                                  <a:lumOff val="25000"/>
                                </a:schemeClr>
                              </a:solidFill>
                              <a:latin typeface="Cambria Math" panose="02040503050406030204" pitchFamily="18" charset="0"/>
                            </a:rPr>
                            <m:t>+</m:t>
                          </m:r>
                        </m:oMath>
                      </m:oMathPara>
                    </a14:m>
                    <a:endParaRPr lang="ja-JP" altLang="en-US" sz="4000" dirty="0">
                      <a:solidFill>
                        <a:schemeClr val="tx1">
                          <a:lumMod val="75000"/>
                          <a:lumOff val="25000"/>
                        </a:schemeClr>
                      </a:solidFill>
                    </a:endParaRPr>
                  </a:p>
                </p:txBody>
              </p:sp>
            </mc:Choice>
            <mc:Fallback xmlns="">
              <p:sp>
                <p:nvSpPr>
                  <p:cNvPr id="47" name="テキスト ボックス 46">
                    <a:extLst>
                      <a:ext uri="{FF2B5EF4-FFF2-40B4-BE49-F238E27FC236}">
                        <a16:creationId xmlns:a16="http://schemas.microsoft.com/office/drawing/2014/main" id="{5556904B-8FB8-4500-A44F-75D23F38084D}"/>
                      </a:ext>
                    </a:extLst>
                  </p:cNvPr>
                  <p:cNvSpPr txBox="1">
                    <a:spLocks noRot="1" noChangeAspect="1" noMove="1" noResize="1" noEditPoints="1" noAdjustHandles="1" noChangeArrowheads="1" noChangeShapeType="1" noTextEdit="1"/>
                  </p:cNvSpPr>
                  <p:nvPr/>
                </p:nvSpPr>
                <p:spPr>
                  <a:xfrm>
                    <a:off x="9480206" y="4656778"/>
                    <a:ext cx="1080709" cy="707886"/>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8" name="テキスト ボックス 47">
                    <a:extLst>
                      <a:ext uri="{FF2B5EF4-FFF2-40B4-BE49-F238E27FC236}">
                        <a16:creationId xmlns:a16="http://schemas.microsoft.com/office/drawing/2014/main" id="{513762E5-6920-4EBB-8E40-8A9D1502281E}"/>
                      </a:ext>
                    </a:extLst>
                  </p:cNvPr>
                  <p:cNvSpPr txBox="1"/>
                  <p:nvPr/>
                </p:nvSpPr>
                <p:spPr>
                  <a:xfrm>
                    <a:off x="10353745" y="4673117"/>
                    <a:ext cx="1080709" cy="7078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ja-JP" sz="4000" b="1" i="1" smtClean="0">
                              <a:solidFill>
                                <a:schemeClr val="tx1">
                                  <a:lumMod val="75000"/>
                                  <a:lumOff val="25000"/>
                                </a:schemeClr>
                              </a:solidFill>
                              <a:latin typeface="Cambria Math" panose="02040503050406030204" pitchFamily="18" charset="0"/>
                            </a:rPr>
                            <m:t>+</m:t>
                          </m:r>
                        </m:oMath>
                      </m:oMathPara>
                    </a14:m>
                    <a:endParaRPr lang="ja-JP" altLang="en-US" sz="4000" dirty="0">
                      <a:solidFill>
                        <a:schemeClr val="tx1">
                          <a:lumMod val="75000"/>
                          <a:lumOff val="25000"/>
                        </a:schemeClr>
                      </a:solidFill>
                    </a:endParaRPr>
                  </a:p>
                </p:txBody>
              </p:sp>
            </mc:Choice>
            <mc:Fallback xmlns="">
              <p:sp>
                <p:nvSpPr>
                  <p:cNvPr id="48" name="テキスト ボックス 47">
                    <a:extLst>
                      <a:ext uri="{FF2B5EF4-FFF2-40B4-BE49-F238E27FC236}">
                        <a16:creationId xmlns:a16="http://schemas.microsoft.com/office/drawing/2014/main" id="{513762E5-6920-4EBB-8E40-8A9D1502281E}"/>
                      </a:ext>
                    </a:extLst>
                  </p:cNvPr>
                  <p:cNvSpPr txBox="1">
                    <a:spLocks noRot="1" noChangeAspect="1" noMove="1" noResize="1" noEditPoints="1" noAdjustHandles="1" noChangeArrowheads="1" noChangeShapeType="1" noTextEdit="1"/>
                  </p:cNvSpPr>
                  <p:nvPr/>
                </p:nvSpPr>
                <p:spPr>
                  <a:xfrm>
                    <a:off x="10353745" y="4673117"/>
                    <a:ext cx="1080709" cy="707886"/>
                  </a:xfrm>
                  <a:prstGeom prst="rect">
                    <a:avLst/>
                  </a:prstGeom>
                  <a:blipFill>
                    <a:blip r:embed="rId6"/>
                    <a:stretch>
                      <a:fillRect/>
                    </a:stretch>
                  </a:blipFill>
                </p:spPr>
                <p:txBody>
                  <a:bodyPr/>
                  <a:lstStyle/>
                  <a:p>
                    <a:r>
                      <a:rPr lang="ja-JP" altLang="en-US">
                        <a:noFill/>
                      </a:rPr>
                      <a:t> </a:t>
                    </a:r>
                  </a:p>
                </p:txBody>
              </p:sp>
            </mc:Fallback>
          </mc:AlternateContent>
        </p:grpSp>
      </p:grpSp>
      <p:grpSp>
        <p:nvGrpSpPr>
          <p:cNvPr id="24" name="グループ化 23">
            <a:extLst>
              <a:ext uri="{FF2B5EF4-FFF2-40B4-BE49-F238E27FC236}">
                <a16:creationId xmlns:a16="http://schemas.microsoft.com/office/drawing/2014/main" id="{DA4B38D7-0AB7-43FC-8200-E831E94DBAF6}"/>
              </a:ext>
            </a:extLst>
          </p:cNvPr>
          <p:cNvGrpSpPr/>
          <p:nvPr/>
        </p:nvGrpSpPr>
        <p:grpSpPr>
          <a:xfrm>
            <a:off x="889688" y="4096918"/>
            <a:ext cx="3702440" cy="1827605"/>
            <a:chOff x="935988" y="4096918"/>
            <a:chExt cx="3702440" cy="1827605"/>
          </a:xfrm>
        </p:grpSpPr>
        <mc:AlternateContent xmlns:mc="http://schemas.openxmlformats.org/markup-compatibility/2006" xmlns:a14="http://schemas.microsoft.com/office/drawing/2010/main">
          <mc:Choice Requires="a14">
            <p:sp>
              <p:nvSpPr>
                <p:cNvPr id="25" name="テキスト ボックス 24">
                  <a:extLst>
                    <a:ext uri="{FF2B5EF4-FFF2-40B4-BE49-F238E27FC236}">
                      <a16:creationId xmlns:a16="http://schemas.microsoft.com/office/drawing/2014/main" id="{8501E84B-9746-44FE-B82A-7F13EF731963}"/>
                    </a:ext>
                  </a:extLst>
                </p:cNvPr>
                <p:cNvSpPr txBox="1"/>
                <p:nvPr/>
              </p:nvSpPr>
              <p:spPr>
                <a:xfrm>
                  <a:off x="935988" y="4675764"/>
                  <a:ext cx="1384213" cy="7078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ja-JP" sz="4000" i="1" smtClean="0">
                                <a:solidFill>
                                  <a:schemeClr val="tx1">
                                    <a:lumMod val="75000"/>
                                    <a:lumOff val="25000"/>
                                  </a:schemeClr>
                                </a:solidFill>
                                <a:latin typeface="Cambria Math" panose="02040503050406030204" pitchFamily="18" charset="0"/>
                                <a:ea typeface="Cambria Math" panose="02040503050406030204" pitchFamily="18" charset="0"/>
                              </a:rPr>
                            </m:ctrlPr>
                          </m:sSubPr>
                          <m:e>
                            <m:r>
                              <a:rPr lang="en-US" altLang="ja-JP" sz="4000" b="1">
                                <a:solidFill>
                                  <a:schemeClr val="tx1">
                                    <a:lumMod val="75000"/>
                                    <a:lumOff val="25000"/>
                                  </a:schemeClr>
                                </a:solidFill>
                                <a:latin typeface="Cambria Math" panose="02040503050406030204" pitchFamily="18" charset="0"/>
                                <a:ea typeface="Cambria Math" panose="02040503050406030204" pitchFamily="18" charset="0"/>
                              </a:rPr>
                              <m:t>𝐀</m:t>
                            </m:r>
                          </m:e>
                          <m:sub>
                            <m:r>
                              <a:rPr lang="en-US" altLang="ja-JP" sz="4000" i="1">
                                <a:solidFill>
                                  <a:schemeClr val="tx1">
                                    <a:lumMod val="75000"/>
                                    <a:lumOff val="25000"/>
                                  </a:schemeClr>
                                </a:solidFill>
                                <a:latin typeface="Cambria Math" panose="02040503050406030204" pitchFamily="18" charset="0"/>
                                <a:ea typeface="Cambria Math" panose="02040503050406030204" pitchFamily="18" charset="0"/>
                              </a:rPr>
                              <m:t>𝑘</m:t>
                            </m:r>
                          </m:sub>
                        </m:sSub>
                        <m:r>
                          <a:rPr lang="en-US" altLang="ja-JP" sz="4000" b="1" i="1" smtClean="0">
                            <a:solidFill>
                              <a:schemeClr val="tx1">
                                <a:lumMod val="75000"/>
                                <a:lumOff val="25000"/>
                              </a:schemeClr>
                            </a:solidFill>
                            <a:latin typeface="Cambria Math" panose="02040503050406030204" pitchFamily="18" charset="0"/>
                          </a:rPr>
                          <m:t>=</m:t>
                        </m:r>
                      </m:oMath>
                    </m:oMathPara>
                  </a14:m>
                  <a:endParaRPr lang="ja-JP" altLang="en-US" sz="4000" dirty="0">
                    <a:solidFill>
                      <a:schemeClr val="tx1">
                        <a:lumMod val="75000"/>
                        <a:lumOff val="25000"/>
                      </a:schemeClr>
                    </a:solidFill>
                  </a:endParaRPr>
                </a:p>
              </p:txBody>
            </p:sp>
          </mc:Choice>
          <mc:Fallback xmlns="">
            <p:sp>
              <p:nvSpPr>
                <p:cNvPr id="25" name="テキスト ボックス 24">
                  <a:extLst>
                    <a:ext uri="{FF2B5EF4-FFF2-40B4-BE49-F238E27FC236}">
                      <a16:creationId xmlns:a16="http://schemas.microsoft.com/office/drawing/2014/main" id="{8501E84B-9746-44FE-B82A-7F13EF731963}"/>
                    </a:ext>
                  </a:extLst>
                </p:cNvPr>
                <p:cNvSpPr txBox="1">
                  <a:spLocks noRot="1" noChangeAspect="1" noMove="1" noResize="1" noEditPoints="1" noAdjustHandles="1" noChangeArrowheads="1" noChangeShapeType="1" noTextEdit="1"/>
                </p:cNvSpPr>
                <p:nvPr/>
              </p:nvSpPr>
              <p:spPr>
                <a:xfrm>
                  <a:off x="935988" y="4675764"/>
                  <a:ext cx="1384213" cy="707886"/>
                </a:xfrm>
                <a:prstGeom prst="rect">
                  <a:avLst/>
                </a:prstGeom>
                <a:blipFill>
                  <a:blip r:embed="rId7"/>
                  <a:stretch>
                    <a:fillRect/>
                  </a:stretch>
                </a:blipFill>
              </p:spPr>
              <p:txBody>
                <a:bodyPr/>
                <a:lstStyle/>
                <a:p>
                  <a:r>
                    <a:rPr lang="ja-JP" altLang="en-US">
                      <a:noFill/>
                    </a:rPr>
                    <a:t> </a:t>
                  </a:r>
                </a:p>
              </p:txBody>
            </p:sp>
          </mc:Fallback>
        </mc:AlternateContent>
        <p:grpSp>
          <p:nvGrpSpPr>
            <p:cNvPr id="38" name="グループ化 37">
              <a:extLst>
                <a:ext uri="{FF2B5EF4-FFF2-40B4-BE49-F238E27FC236}">
                  <a16:creationId xmlns:a16="http://schemas.microsoft.com/office/drawing/2014/main" id="{13A50549-9D56-4E7D-8BA0-FEA28BD6FD3A}"/>
                </a:ext>
              </a:extLst>
            </p:cNvPr>
            <p:cNvGrpSpPr/>
            <p:nvPr/>
          </p:nvGrpSpPr>
          <p:grpSpPr>
            <a:xfrm>
              <a:off x="2319334" y="4096918"/>
              <a:ext cx="2319094" cy="1827605"/>
              <a:chOff x="2322930" y="3353671"/>
              <a:chExt cx="2319094" cy="1827605"/>
            </a:xfrm>
          </p:grpSpPr>
          <p:grpSp>
            <p:nvGrpSpPr>
              <p:cNvPr id="39" name="グループ化 38">
                <a:extLst>
                  <a:ext uri="{FF2B5EF4-FFF2-40B4-BE49-F238E27FC236}">
                    <a16:creationId xmlns:a16="http://schemas.microsoft.com/office/drawing/2014/main" id="{5E0C28B7-2309-4E0E-B992-36B420FC5B58}"/>
                  </a:ext>
                </a:extLst>
              </p:cNvPr>
              <p:cNvGrpSpPr/>
              <p:nvPr/>
            </p:nvGrpSpPr>
            <p:grpSpPr>
              <a:xfrm>
                <a:off x="2652046" y="3451928"/>
                <a:ext cx="1700918" cy="1676670"/>
                <a:chOff x="1138989" y="3968713"/>
                <a:chExt cx="1700918" cy="1676670"/>
              </a:xfrm>
            </p:grpSpPr>
            <p:sp>
              <p:nvSpPr>
                <p:cNvPr id="41" name="正方形/長方形 40">
                  <a:extLst>
                    <a:ext uri="{FF2B5EF4-FFF2-40B4-BE49-F238E27FC236}">
                      <a16:creationId xmlns:a16="http://schemas.microsoft.com/office/drawing/2014/main" id="{3844D5AD-7FD3-4D25-AB4E-82D3D8373FB9}"/>
                    </a:ext>
                  </a:extLst>
                </p:cNvPr>
                <p:cNvSpPr/>
                <p:nvPr/>
              </p:nvSpPr>
              <p:spPr>
                <a:xfrm>
                  <a:off x="1138989" y="3974039"/>
                  <a:ext cx="319421" cy="319421"/>
                </a:xfrm>
                <a:prstGeom prst="rect">
                  <a:avLst/>
                </a:prstGeom>
                <a:solidFill>
                  <a:schemeClr val="accent6">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正方形/長方形 41">
                  <a:extLst>
                    <a:ext uri="{FF2B5EF4-FFF2-40B4-BE49-F238E27FC236}">
                      <a16:creationId xmlns:a16="http://schemas.microsoft.com/office/drawing/2014/main" id="{DD1570CC-E815-47E6-AFEC-806740F8A540}"/>
                    </a:ext>
                  </a:extLst>
                </p:cNvPr>
                <p:cNvSpPr/>
                <p:nvPr/>
              </p:nvSpPr>
              <p:spPr>
                <a:xfrm>
                  <a:off x="1599488" y="3974039"/>
                  <a:ext cx="319421" cy="319421"/>
                </a:xfrm>
                <a:prstGeom prst="rect">
                  <a:avLst/>
                </a:prstGeom>
                <a:solidFill>
                  <a:schemeClr val="accent6">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3" name="正方形/長方形 42">
                  <a:extLst>
                    <a:ext uri="{FF2B5EF4-FFF2-40B4-BE49-F238E27FC236}">
                      <a16:creationId xmlns:a16="http://schemas.microsoft.com/office/drawing/2014/main" id="{047BF22E-AD31-45B5-9627-69F855D35EB3}"/>
                    </a:ext>
                  </a:extLst>
                </p:cNvPr>
                <p:cNvSpPr/>
                <p:nvPr/>
              </p:nvSpPr>
              <p:spPr>
                <a:xfrm>
                  <a:off x="2059987" y="3968714"/>
                  <a:ext cx="319421" cy="319421"/>
                </a:xfrm>
                <a:prstGeom prst="rect">
                  <a:avLst/>
                </a:prstGeom>
                <a:solidFill>
                  <a:schemeClr val="accent6">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正方形/長方形 43">
                  <a:extLst>
                    <a:ext uri="{FF2B5EF4-FFF2-40B4-BE49-F238E27FC236}">
                      <a16:creationId xmlns:a16="http://schemas.microsoft.com/office/drawing/2014/main" id="{C2796899-5B03-4D97-8087-CB5AB19431D0}"/>
                    </a:ext>
                  </a:extLst>
                </p:cNvPr>
                <p:cNvSpPr/>
                <p:nvPr/>
              </p:nvSpPr>
              <p:spPr>
                <a:xfrm>
                  <a:off x="2520486" y="3968713"/>
                  <a:ext cx="319421" cy="319421"/>
                </a:xfrm>
                <a:prstGeom prst="rect">
                  <a:avLst/>
                </a:prstGeom>
                <a:solidFill>
                  <a:schemeClr val="accent6">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正方形/長方形 44">
                  <a:extLst>
                    <a:ext uri="{FF2B5EF4-FFF2-40B4-BE49-F238E27FC236}">
                      <a16:creationId xmlns:a16="http://schemas.microsoft.com/office/drawing/2014/main" id="{EE2CD07F-9358-437C-A94C-9F51EAD96D11}"/>
                    </a:ext>
                  </a:extLst>
                </p:cNvPr>
                <p:cNvSpPr/>
                <p:nvPr/>
              </p:nvSpPr>
              <p:spPr>
                <a:xfrm>
                  <a:off x="1138989" y="4424680"/>
                  <a:ext cx="319421" cy="319421"/>
                </a:xfrm>
                <a:prstGeom prst="rect">
                  <a:avLst/>
                </a:prstGeom>
                <a:solidFill>
                  <a:schemeClr val="accent5">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正方形/長方形 52">
                  <a:extLst>
                    <a:ext uri="{FF2B5EF4-FFF2-40B4-BE49-F238E27FC236}">
                      <a16:creationId xmlns:a16="http://schemas.microsoft.com/office/drawing/2014/main" id="{BF977830-8696-41FD-8D3E-4016BEDE2BC3}"/>
                    </a:ext>
                  </a:extLst>
                </p:cNvPr>
                <p:cNvSpPr/>
                <p:nvPr/>
              </p:nvSpPr>
              <p:spPr>
                <a:xfrm>
                  <a:off x="1599488" y="4424680"/>
                  <a:ext cx="319421" cy="319421"/>
                </a:xfrm>
                <a:prstGeom prst="rect">
                  <a:avLst/>
                </a:prstGeom>
                <a:solidFill>
                  <a:schemeClr val="accent5">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正方形/長方形 53">
                  <a:extLst>
                    <a:ext uri="{FF2B5EF4-FFF2-40B4-BE49-F238E27FC236}">
                      <a16:creationId xmlns:a16="http://schemas.microsoft.com/office/drawing/2014/main" id="{F408347E-342A-4786-89AA-CBB06C9D69D1}"/>
                    </a:ext>
                  </a:extLst>
                </p:cNvPr>
                <p:cNvSpPr/>
                <p:nvPr/>
              </p:nvSpPr>
              <p:spPr>
                <a:xfrm>
                  <a:off x="2059987" y="4419355"/>
                  <a:ext cx="319421" cy="319421"/>
                </a:xfrm>
                <a:prstGeom prst="rect">
                  <a:avLst/>
                </a:prstGeom>
                <a:solidFill>
                  <a:schemeClr val="accent5">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正方形/長方形 54">
                  <a:extLst>
                    <a:ext uri="{FF2B5EF4-FFF2-40B4-BE49-F238E27FC236}">
                      <a16:creationId xmlns:a16="http://schemas.microsoft.com/office/drawing/2014/main" id="{8A46F4FF-00D1-4098-BDB8-42B0878BF065}"/>
                    </a:ext>
                  </a:extLst>
                </p:cNvPr>
                <p:cNvSpPr/>
                <p:nvPr/>
              </p:nvSpPr>
              <p:spPr>
                <a:xfrm>
                  <a:off x="2520486" y="4419354"/>
                  <a:ext cx="319421" cy="319421"/>
                </a:xfrm>
                <a:prstGeom prst="rect">
                  <a:avLst/>
                </a:prstGeom>
                <a:solidFill>
                  <a:schemeClr val="accent5">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正方形/長方形 55">
                  <a:extLst>
                    <a:ext uri="{FF2B5EF4-FFF2-40B4-BE49-F238E27FC236}">
                      <a16:creationId xmlns:a16="http://schemas.microsoft.com/office/drawing/2014/main" id="{C6CB4A87-32D2-4666-A408-677CB0BB2821}"/>
                    </a:ext>
                  </a:extLst>
                </p:cNvPr>
                <p:cNvSpPr/>
                <p:nvPr/>
              </p:nvSpPr>
              <p:spPr>
                <a:xfrm>
                  <a:off x="1138989" y="4875321"/>
                  <a:ext cx="319421" cy="319421"/>
                </a:xfrm>
                <a:prstGeom prst="rect">
                  <a:avLst/>
                </a:prstGeom>
                <a:solidFill>
                  <a:schemeClr val="accent4">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正方形/長方形 56">
                  <a:extLst>
                    <a:ext uri="{FF2B5EF4-FFF2-40B4-BE49-F238E27FC236}">
                      <a16:creationId xmlns:a16="http://schemas.microsoft.com/office/drawing/2014/main" id="{DA6739EE-092B-4AD7-AB18-7BF438A1683A}"/>
                    </a:ext>
                  </a:extLst>
                </p:cNvPr>
                <p:cNvSpPr/>
                <p:nvPr/>
              </p:nvSpPr>
              <p:spPr>
                <a:xfrm>
                  <a:off x="1599488" y="4875321"/>
                  <a:ext cx="319421" cy="319421"/>
                </a:xfrm>
                <a:prstGeom prst="rect">
                  <a:avLst/>
                </a:prstGeom>
                <a:solidFill>
                  <a:schemeClr val="accent4">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正方形/長方形 57">
                  <a:extLst>
                    <a:ext uri="{FF2B5EF4-FFF2-40B4-BE49-F238E27FC236}">
                      <a16:creationId xmlns:a16="http://schemas.microsoft.com/office/drawing/2014/main" id="{530305D8-D106-457A-9A5A-BBC5392A834C}"/>
                    </a:ext>
                  </a:extLst>
                </p:cNvPr>
                <p:cNvSpPr/>
                <p:nvPr/>
              </p:nvSpPr>
              <p:spPr>
                <a:xfrm>
                  <a:off x="2059987" y="4869996"/>
                  <a:ext cx="319421" cy="319421"/>
                </a:xfrm>
                <a:prstGeom prst="rect">
                  <a:avLst/>
                </a:prstGeom>
                <a:solidFill>
                  <a:schemeClr val="accent4">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正方形/長方形 58">
                  <a:extLst>
                    <a:ext uri="{FF2B5EF4-FFF2-40B4-BE49-F238E27FC236}">
                      <a16:creationId xmlns:a16="http://schemas.microsoft.com/office/drawing/2014/main" id="{33452430-2360-4C8F-8B7A-F26ADA6A12CD}"/>
                    </a:ext>
                  </a:extLst>
                </p:cNvPr>
                <p:cNvSpPr/>
                <p:nvPr/>
              </p:nvSpPr>
              <p:spPr>
                <a:xfrm>
                  <a:off x="2520486" y="4869995"/>
                  <a:ext cx="319421" cy="319421"/>
                </a:xfrm>
                <a:prstGeom prst="rect">
                  <a:avLst/>
                </a:prstGeom>
                <a:solidFill>
                  <a:schemeClr val="accent4">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正方形/長方形 59">
                  <a:extLst>
                    <a:ext uri="{FF2B5EF4-FFF2-40B4-BE49-F238E27FC236}">
                      <a16:creationId xmlns:a16="http://schemas.microsoft.com/office/drawing/2014/main" id="{38640AA2-84DB-41E1-999F-5496DC441127}"/>
                    </a:ext>
                  </a:extLst>
                </p:cNvPr>
                <p:cNvSpPr/>
                <p:nvPr/>
              </p:nvSpPr>
              <p:spPr>
                <a:xfrm>
                  <a:off x="1138989" y="5325962"/>
                  <a:ext cx="319421" cy="319421"/>
                </a:xfrm>
                <a:prstGeom prst="rect">
                  <a:avLst/>
                </a:prstGeom>
                <a:solidFill>
                  <a:schemeClr val="accent2">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正方形/長方形 60">
                  <a:extLst>
                    <a:ext uri="{FF2B5EF4-FFF2-40B4-BE49-F238E27FC236}">
                      <a16:creationId xmlns:a16="http://schemas.microsoft.com/office/drawing/2014/main" id="{F7D25167-95A5-49B4-82D6-3DECFEF25F46}"/>
                    </a:ext>
                  </a:extLst>
                </p:cNvPr>
                <p:cNvSpPr/>
                <p:nvPr/>
              </p:nvSpPr>
              <p:spPr>
                <a:xfrm>
                  <a:off x="1599488" y="5325962"/>
                  <a:ext cx="319421" cy="319421"/>
                </a:xfrm>
                <a:prstGeom prst="rect">
                  <a:avLst/>
                </a:prstGeom>
                <a:solidFill>
                  <a:schemeClr val="accent2">
                    <a:lumMod val="20000"/>
                    <a:lumOff val="8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正方形/長方形 61">
                  <a:extLst>
                    <a:ext uri="{FF2B5EF4-FFF2-40B4-BE49-F238E27FC236}">
                      <a16:creationId xmlns:a16="http://schemas.microsoft.com/office/drawing/2014/main" id="{5A2F2E0C-CE4E-4D61-9C77-18E77EAE30E5}"/>
                    </a:ext>
                  </a:extLst>
                </p:cNvPr>
                <p:cNvSpPr/>
                <p:nvPr/>
              </p:nvSpPr>
              <p:spPr>
                <a:xfrm>
                  <a:off x="2059987" y="5320637"/>
                  <a:ext cx="319421" cy="319421"/>
                </a:xfrm>
                <a:prstGeom prst="rect">
                  <a:avLst/>
                </a:prstGeom>
                <a:solidFill>
                  <a:schemeClr val="accent2">
                    <a:lumMod val="40000"/>
                    <a:lumOff val="6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正方形/長方形 62">
                  <a:extLst>
                    <a:ext uri="{FF2B5EF4-FFF2-40B4-BE49-F238E27FC236}">
                      <a16:creationId xmlns:a16="http://schemas.microsoft.com/office/drawing/2014/main" id="{9867D42C-E090-45B3-BCBC-2F9D356A2B40}"/>
                    </a:ext>
                  </a:extLst>
                </p:cNvPr>
                <p:cNvSpPr/>
                <p:nvPr/>
              </p:nvSpPr>
              <p:spPr>
                <a:xfrm>
                  <a:off x="2520486" y="5320636"/>
                  <a:ext cx="319421" cy="319421"/>
                </a:xfrm>
                <a:prstGeom prst="rect">
                  <a:avLst/>
                </a:prstGeom>
                <a:solidFill>
                  <a:schemeClr val="accent2">
                    <a:lumMod val="60000"/>
                    <a:lumOff val="4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40" name="大かっこ 39">
                <a:extLst>
                  <a:ext uri="{FF2B5EF4-FFF2-40B4-BE49-F238E27FC236}">
                    <a16:creationId xmlns:a16="http://schemas.microsoft.com/office/drawing/2014/main" id="{1A73AF5B-82F7-4D7B-9E42-D85869B2A9FD}"/>
                  </a:ext>
                </a:extLst>
              </p:cNvPr>
              <p:cNvSpPr/>
              <p:nvPr/>
            </p:nvSpPr>
            <p:spPr>
              <a:xfrm>
                <a:off x="2322930" y="3353671"/>
                <a:ext cx="2319094" cy="1827605"/>
              </a:xfrm>
              <a:prstGeom prst="bracketPair">
                <a:avLst/>
              </a:prstGeom>
              <a:ln w="571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mc:AlternateContent xmlns:mc="http://schemas.openxmlformats.org/markup-compatibility/2006" xmlns:a14="http://schemas.microsoft.com/office/drawing/2010/main">
        <mc:Choice Requires="a14">
          <p:sp>
            <p:nvSpPr>
              <p:cNvPr id="51" name="コンテンツ プレースホルダー 2">
                <a:extLst>
                  <a:ext uri="{FF2B5EF4-FFF2-40B4-BE49-F238E27FC236}">
                    <a16:creationId xmlns:a16="http://schemas.microsoft.com/office/drawing/2014/main" id="{A182D1E6-92C8-4D8F-BC2A-3EEA8571182E}"/>
                  </a:ext>
                </a:extLst>
              </p:cNvPr>
              <p:cNvSpPr txBox="1">
                <a:spLocks/>
              </p:cNvSpPr>
              <p:nvPr/>
            </p:nvSpPr>
            <p:spPr>
              <a:xfrm>
                <a:off x="840832" y="1819649"/>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Hutchinson</a:t>
                </a:r>
                <a:r>
                  <a:rPr lang="ja-JP" altLang="en-US" dirty="0"/>
                  <a:t>手法は行列のトレース（対角和）を近似する方法</a:t>
                </a:r>
                <a:endParaRPr lang="en-US" altLang="ja-JP" dirty="0"/>
              </a:p>
              <a:p>
                <a:pPr marL="0" indent="0">
                  <a:buFont typeface="Arial" panose="020B0604020202020204" pitchFamily="34" charset="0"/>
                  <a:buNone/>
                </a:pPr>
                <a:endParaRPr lang="en-US" altLang="ja-JP" dirty="0"/>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eqArr>
                        <m:eqArrPr>
                          <m:ctrlPr>
                            <a:rPr lang="en-US" altLang="ja-JP" i="1" smtClean="0">
                              <a:latin typeface="Cambria Math" panose="02040503050406030204" pitchFamily="18" charset="0"/>
                              <a:ea typeface="Cambria Math" panose="02040503050406030204" pitchFamily="18" charset="0"/>
                            </a:rPr>
                          </m:ctrlPr>
                        </m:eqArrPr>
                        <m:e>
                          <m:r>
                            <a:rPr lang="en-US" altLang="ja-JP" i="1">
                              <a:latin typeface="Cambria Math" panose="02040503050406030204" pitchFamily="18" charset="0"/>
                            </a:rPr>
                            <m:t> </m:t>
                          </m:r>
                          <m:r>
                            <a:rPr lang="en-US" altLang="ja-JP" i="1" smtClean="0">
                              <a:latin typeface="Cambria Math" panose="02040503050406030204" pitchFamily="18" charset="0"/>
                            </a:rPr>
                            <m:t>𝑡𝑟𝑎𝑐𝑒</m:t>
                          </m:r>
                          <m:d>
                            <m:dPr>
                              <m:ctrlPr>
                                <a:rPr lang="en-US" altLang="ja-JP" i="1">
                                  <a:latin typeface="Cambria Math" panose="02040503050406030204" pitchFamily="18" charset="0"/>
                                </a:rPr>
                              </m:ctrlPr>
                            </m:dPr>
                            <m:e>
                              <m:sSub>
                                <m:sSubPr>
                                  <m:ctrlPr>
                                    <a:rPr lang="en-US" altLang="ja-JP" i="1">
                                      <a:latin typeface="Cambria Math" panose="02040503050406030204" pitchFamily="18" charset="0"/>
                                      <a:ea typeface="Cambria Math" panose="02040503050406030204" pitchFamily="18" charset="0"/>
                                    </a:rPr>
                                  </m:ctrlPr>
                                </m:sSubPr>
                                <m:e>
                                  <m:r>
                                    <a:rPr lang="en-US" altLang="ja-JP" b="1">
                                      <a:latin typeface="Cambria Math" panose="02040503050406030204" pitchFamily="18" charset="0"/>
                                      <a:ea typeface="Cambria Math" panose="02040503050406030204" pitchFamily="18" charset="0"/>
                                    </a:rPr>
                                    <m:t>𝐀</m:t>
                                  </m:r>
                                </m:e>
                                <m:sub>
                                  <m:r>
                                    <a:rPr lang="en-US" altLang="ja-JP" i="1">
                                      <a:latin typeface="Cambria Math" panose="02040503050406030204" pitchFamily="18" charset="0"/>
                                      <a:ea typeface="Cambria Math" panose="02040503050406030204" pitchFamily="18" charset="0"/>
                                    </a:rPr>
                                    <m:t>𝑘</m:t>
                                  </m:r>
                                </m:sub>
                              </m:sSub>
                            </m:e>
                          </m:d>
                          <m:r>
                            <a:rPr lang="en-US" altLang="ja-JP" i="1">
                              <a:latin typeface="Cambria Math" panose="02040503050406030204" pitchFamily="18" charset="0"/>
                            </a:rPr>
                            <m:t> </m:t>
                          </m:r>
                          <m:r>
                            <a:rPr lang="en-US" altLang="ja-JP" i="1">
                              <a:latin typeface="Cambria Math" panose="02040503050406030204" pitchFamily="18" charset="0"/>
                              <a:ea typeface="Cambria Math" panose="02040503050406030204" pitchFamily="18" charset="0"/>
                            </a:rPr>
                            <m:t>≈ </m:t>
                          </m:r>
                          <m:f>
                            <m:fPr>
                              <m:ctrlPr>
                                <a:rPr lang="en-US" altLang="ja-JP" i="1">
                                  <a:latin typeface="Cambria Math" panose="02040503050406030204" pitchFamily="18" charset="0"/>
                                  <a:ea typeface="Cambria Math" panose="02040503050406030204" pitchFamily="18" charset="0"/>
                                </a:rPr>
                              </m:ctrlPr>
                            </m:fPr>
                            <m:num>
                              <m:r>
                                <a:rPr lang="en-US" altLang="ja-JP" i="1">
                                  <a:latin typeface="Cambria Math" panose="02040503050406030204" pitchFamily="18" charset="0"/>
                                  <a:ea typeface="Cambria Math" panose="02040503050406030204" pitchFamily="18" charset="0"/>
                                </a:rPr>
                                <m:t>1</m:t>
                              </m:r>
                            </m:num>
                            <m:den>
                              <m:r>
                                <a:rPr lang="en-US" altLang="ja-JP" i="1">
                                  <a:latin typeface="Cambria Math" panose="02040503050406030204" pitchFamily="18" charset="0"/>
                                  <a:ea typeface="Cambria Math" panose="02040503050406030204" pitchFamily="18" charset="0"/>
                                </a:rPr>
                                <m:t>𝑠</m:t>
                              </m:r>
                            </m:den>
                          </m:f>
                          <m:r>
                            <a:rPr lang="en-US" altLang="ja-JP" i="1">
                              <a:latin typeface="Cambria Math" panose="02040503050406030204" pitchFamily="18" charset="0"/>
                              <a:ea typeface="Cambria Math" panose="02040503050406030204" pitchFamily="18" charset="0"/>
                            </a:rPr>
                            <m:t> </m:t>
                          </m:r>
                          <m:nary>
                            <m:naryPr>
                              <m:chr m:val="∑"/>
                              <m:ctrlPr>
                                <a:rPr lang="en-US" altLang="ja-JP" i="1">
                                  <a:latin typeface="Cambria Math" panose="02040503050406030204" pitchFamily="18" charset="0"/>
                                  <a:ea typeface="Cambria Math" panose="02040503050406030204" pitchFamily="18" charset="0"/>
                                </a:rPr>
                              </m:ctrlPr>
                            </m:naryPr>
                            <m:sub>
                              <m:r>
                                <a:rPr lang="en-US" altLang="ja-JP" i="1" smtClean="0">
                                  <a:latin typeface="Cambria Math" panose="02040503050406030204" pitchFamily="18" charset="0"/>
                                  <a:ea typeface="Cambria Math" panose="02040503050406030204" pitchFamily="18" charset="0"/>
                                </a:rPr>
                                <m:t>𝑙</m:t>
                              </m:r>
                              <m:r>
                                <a:rPr lang="en-US" altLang="ja-JP" i="1">
                                  <a:latin typeface="Cambria Math" panose="02040503050406030204" pitchFamily="18" charset="0"/>
                                  <a:ea typeface="Cambria Math" panose="02040503050406030204" pitchFamily="18" charset="0"/>
                                </a:rPr>
                                <m:t>=1</m:t>
                              </m:r>
                            </m:sub>
                            <m:sup>
                              <m:r>
                                <a:rPr lang="en-US" altLang="ja-JP" i="1">
                                  <a:latin typeface="Cambria Math" panose="02040503050406030204" pitchFamily="18" charset="0"/>
                                  <a:ea typeface="Cambria Math" panose="02040503050406030204" pitchFamily="18" charset="0"/>
                                </a:rPr>
                                <m:t>𝑠</m:t>
                              </m:r>
                            </m:sup>
                            <m:e>
                              <m:sSubSup>
                                <m:sSubSupPr>
                                  <m:ctrlPr>
                                    <a:rPr lang="en-US" altLang="ja-JP" i="1">
                                      <a:latin typeface="Cambria Math" panose="02040503050406030204" pitchFamily="18" charset="0"/>
                                      <a:ea typeface="Cambria Math" panose="02040503050406030204" pitchFamily="18" charset="0"/>
                                    </a:rPr>
                                  </m:ctrlPr>
                                </m:sSubSupPr>
                                <m:e>
                                  <m:r>
                                    <a:rPr lang="en-US" altLang="ja-JP" b="1">
                                      <a:latin typeface="Cambria Math" panose="02040503050406030204" pitchFamily="18" charset="0"/>
                                      <a:ea typeface="Cambria Math" panose="02040503050406030204" pitchFamily="18" charset="0"/>
                                    </a:rPr>
                                    <m:t>𝐳</m:t>
                                  </m:r>
                                </m:e>
                                <m:sub>
                                  <m:r>
                                    <a:rPr lang="en-US" altLang="ja-JP" i="1" smtClean="0">
                                      <a:latin typeface="Cambria Math" panose="02040503050406030204" pitchFamily="18" charset="0"/>
                                      <a:ea typeface="Cambria Math" panose="02040503050406030204" pitchFamily="18" charset="0"/>
                                    </a:rPr>
                                    <m:t>𝑙</m:t>
                                  </m:r>
                                </m:sub>
                                <m:sup>
                                  <m:r>
                                    <a:rPr lang="en-US" altLang="ja-JP" i="1">
                                      <a:latin typeface="Cambria Math" panose="02040503050406030204" pitchFamily="18" charset="0"/>
                                      <a:ea typeface="Cambria Math" panose="02040503050406030204" pitchFamily="18" charset="0"/>
                                    </a:rPr>
                                    <m:t>𝑇</m:t>
                                  </m:r>
                                </m:sup>
                              </m:sSubSup>
                              <m:sSub>
                                <m:sSubPr>
                                  <m:ctrlPr>
                                    <a:rPr lang="en-US" altLang="ja-JP" i="1" smtClean="0">
                                      <a:latin typeface="Cambria Math" panose="02040503050406030204" pitchFamily="18" charset="0"/>
                                      <a:ea typeface="Cambria Math" panose="02040503050406030204" pitchFamily="18" charset="0"/>
                                    </a:rPr>
                                  </m:ctrlPr>
                                </m:sSubPr>
                                <m:e>
                                  <m:r>
                                    <a:rPr lang="en-US" altLang="ja-JP" b="1" smtClean="0">
                                      <a:latin typeface="Cambria Math" panose="02040503050406030204" pitchFamily="18" charset="0"/>
                                      <a:ea typeface="Cambria Math" panose="02040503050406030204" pitchFamily="18" charset="0"/>
                                    </a:rPr>
                                    <m:t>𝐀</m:t>
                                  </m:r>
                                </m:e>
                                <m:sub>
                                  <m:r>
                                    <a:rPr lang="en-US" altLang="ja-JP" i="1" smtClean="0">
                                      <a:latin typeface="Cambria Math" panose="02040503050406030204" pitchFamily="18" charset="0"/>
                                      <a:ea typeface="Cambria Math" panose="02040503050406030204" pitchFamily="18" charset="0"/>
                                    </a:rPr>
                                    <m:t>𝑘</m:t>
                                  </m:r>
                                </m:sub>
                              </m:sSub>
                              <m:sSub>
                                <m:sSubPr>
                                  <m:ctrlPr>
                                    <a:rPr lang="en-US" altLang="ja-JP" i="1">
                                      <a:latin typeface="Cambria Math" panose="02040503050406030204" pitchFamily="18" charset="0"/>
                                      <a:ea typeface="Cambria Math" panose="02040503050406030204" pitchFamily="18" charset="0"/>
                                    </a:rPr>
                                  </m:ctrlPr>
                                </m:sSubPr>
                                <m:e>
                                  <m:r>
                                    <a:rPr lang="en-US" altLang="ja-JP" b="1">
                                      <a:latin typeface="Cambria Math" panose="02040503050406030204" pitchFamily="18" charset="0"/>
                                      <a:ea typeface="Cambria Math" panose="02040503050406030204" pitchFamily="18" charset="0"/>
                                    </a:rPr>
                                    <m:t>𝐳</m:t>
                                  </m:r>
                                </m:e>
                                <m:sub>
                                  <m:r>
                                    <a:rPr lang="en-US" altLang="ja-JP" i="1" smtClean="0">
                                      <a:latin typeface="Cambria Math" panose="02040503050406030204" pitchFamily="18" charset="0"/>
                                      <a:ea typeface="Cambria Math" panose="02040503050406030204" pitchFamily="18" charset="0"/>
                                    </a:rPr>
                                    <m:t>𝑙</m:t>
                                  </m:r>
                                </m:sub>
                              </m:sSub>
                            </m:e>
                          </m:nary>
                          <m:r>
                            <a:rPr lang="en-US" altLang="ja-JP" i="1">
                              <a:latin typeface="Cambria Math" panose="02040503050406030204" pitchFamily="18" charset="0"/>
                              <a:ea typeface="Cambria Math" panose="02040503050406030204" pitchFamily="18" charset="0"/>
                            </a:rPr>
                            <m:t>#</m:t>
                          </m:r>
                        </m:e>
                      </m:eqArr>
                    </m:oMath>
                  </m:oMathPara>
                </a14:m>
                <a:endParaRPr lang="en-US" altLang="ja-JP" dirty="0">
                  <a:ea typeface="Cambria Math" panose="02040503050406030204" pitchFamily="18" charset="0"/>
                </a:endParaRPr>
              </a:p>
              <a:p>
                <a:pPr marL="0" indent="0">
                  <a:buFont typeface="Arial" panose="020B0604020202020204" pitchFamily="34" charset="0"/>
                  <a:buNone/>
                </a:pPr>
                <a:endParaRPr lang="en-US" altLang="ja-JP" dirty="0"/>
              </a:p>
            </p:txBody>
          </p:sp>
        </mc:Choice>
        <mc:Fallback xmlns="">
          <p:sp>
            <p:nvSpPr>
              <p:cNvPr id="51" name="コンテンツ プレースホルダー 2">
                <a:extLst>
                  <a:ext uri="{FF2B5EF4-FFF2-40B4-BE49-F238E27FC236}">
                    <a16:creationId xmlns:a16="http://schemas.microsoft.com/office/drawing/2014/main" id="{A182D1E6-92C8-4D8F-BC2A-3EEA8571182E}"/>
                  </a:ext>
                </a:extLst>
              </p:cNvPr>
              <p:cNvSpPr txBox="1">
                <a:spLocks noRot="1" noChangeAspect="1" noMove="1" noResize="1" noEditPoints="1" noAdjustHandles="1" noChangeArrowheads="1" noChangeShapeType="1" noTextEdit="1"/>
              </p:cNvSpPr>
              <p:nvPr/>
            </p:nvSpPr>
            <p:spPr>
              <a:xfrm>
                <a:off x="840832" y="1819649"/>
                <a:ext cx="10515600" cy="4351338"/>
              </a:xfrm>
              <a:prstGeom prst="rect">
                <a:avLst/>
              </a:prstGeom>
              <a:blipFill>
                <a:blip r:embed="rId8"/>
                <a:stretch>
                  <a:fillRect l="-1043" t="-2241"/>
                </a:stretch>
              </a:blipFill>
            </p:spPr>
            <p:txBody>
              <a:bodyPr/>
              <a:lstStyle/>
              <a:p>
                <a:r>
                  <a:rPr lang="ja-JP" altLang="en-US">
                    <a:noFill/>
                  </a:rPr>
                  <a:t> </a:t>
                </a:r>
              </a:p>
            </p:txBody>
          </p:sp>
        </mc:Fallback>
      </mc:AlternateContent>
      <mc:AlternateContent xmlns:mc="http://schemas.openxmlformats.org/markup-compatibility/2006" xmlns:p14="http://schemas.microsoft.com/office/powerpoint/2010/main">
        <mc:Choice Requires="p14">
          <p:contentPart p14:bwMode="auto" r:id="rId9">
            <p14:nvContentPartPr>
              <p14:cNvPr id="3" name="インク 2">
                <a:extLst>
                  <a:ext uri="{FF2B5EF4-FFF2-40B4-BE49-F238E27FC236}">
                    <a16:creationId xmlns:a16="http://schemas.microsoft.com/office/drawing/2014/main" id="{A6966D51-7C4A-4DC7-8E92-3C91C26C04AF}"/>
                  </a:ext>
                </a:extLst>
              </p14:cNvPr>
              <p14:cNvContentPartPr/>
              <p14:nvPr/>
            </p14:nvContentPartPr>
            <p14:xfrm>
              <a:off x="-2438520" y="6614040"/>
              <a:ext cx="360" cy="360"/>
            </p14:xfrm>
          </p:contentPart>
        </mc:Choice>
        <mc:Fallback xmlns="">
          <p:pic>
            <p:nvPicPr>
              <p:cNvPr id="3" name="インク 2">
                <a:extLst>
                  <a:ext uri="{FF2B5EF4-FFF2-40B4-BE49-F238E27FC236}">
                    <a16:creationId xmlns:a16="http://schemas.microsoft.com/office/drawing/2014/main" id="{A6966D51-7C4A-4DC7-8E92-3C91C26C04AF}"/>
                  </a:ext>
                </a:extLst>
              </p:cNvPr>
              <p:cNvPicPr/>
              <p:nvPr/>
            </p:nvPicPr>
            <p:blipFill>
              <a:blip r:embed="rId10"/>
              <a:stretch>
                <a:fillRect/>
              </a:stretch>
            </p:blipFill>
            <p:spPr>
              <a:xfrm>
                <a:off x="-2447520" y="6605040"/>
                <a:ext cx="18000" cy="18000"/>
              </a:xfrm>
              <a:prstGeom prst="rect">
                <a:avLst/>
              </a:prstGeom>
            </p:spPr>
          </p:pic>
        </mc:Fallback>
      </mc:AlternateContent>
    </p:spTree>
    <p:extLst>
      <p:ext uri="{BB962C8B-B14F-4D97-AF65-F5344CB8AC3E}">
        <p14:creationId xmlns:p14="http://schemas.microsoft.com/office/powerpoint/2010/main" val="155402238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6857</TotalTime>
  <Words>8762</Words>
  <Application>Microsoft Macintosh PowerPoint</Application>
  <PresentationFormat>ワイド画面</PresentationFormat>
  <Paragraphs>1371</Paragraphs>
  <Slides>61</Slides>
  <Notes>60</Notes>
  <HiddenSlides>20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61</vt:i4>
      </vt:variant>
    </vt:vector>
  </HeadingPairs>
  <TitlesOfParts>
    <vt:vector size="68" baseType="lpstr">
      <vt:lpstr>UD デジタル 教科書体 NK-B</vt:lpstr>
      <vt:lpstr>UD デジタル 教科書体 NK-R</vt:lpstr>
      <vt:lpstr>游ゴシック</vt:lpstr>
      <vt:lpstr>游ゴシック Light</vt:lpstr>
      <vt:lpstr>Arial</vt:lpstr>
      <vt:lpstr>Cambria Math</vt:lpstr>
      <vt:lpstr>Office テーマ</vt:lpstr>
      <vt:lpstr>Hutchinson手法に基づく行列対角化を用いた 2次近似勾配学習法に関する研究</vt:lpstr>
      <vt:lpstr>はじめに：ニューラルネットワークの学習</vt:lpstr>
      <vt:lpstr>はじめに：従来手法・提案手法の位置づけ</vt:lpstr>
      <vt:lpstr>はじめに：従来手法・提案手法の位置づけ</vt:lpstr>
      <vt:lpstr>はじめに：従来手法・提案手法の位置づけ</vt:lpstr>
      <vt:lpstr>はじめに：従来手法・提案手法の位置づけ</vt:lpstr>
      <vt:lpstr>はじめに</vt:lpstr>
      <vt:lpstr>はじめに</vt:lpstr>
      <vt:lpstr>はじめに：提案手法の概要</vt:lpstr>
      <vt:lpstr>ニュートン法</vt:lpstr>
      <vt:lpstr>Hutchinson手法</vt:lpstr>
      <vt:lpstr>Hutchinson手法</vt:lpstr>
      <vt:lpstr>提案手法：ヘッセ行列の対角行列化</vt:lpstr>
      <vt:lpstr>提案手法：ヘッセ行列の対角行列化</vt:lpstr>
      <vt:lpstr>提案手法：ヘッセ行列の対角行列化</vt:lpstr>
      <vt:lpstr>提案手法：ヘッセ行列の対角行列化</vt:lpstr>
      <vt:lpstr>提案手法：ヘッセ行列の対角行列化</vt:lpstr>
      <vt:lpstr>提案手法：ヘッセ行列の対角行列化</vt:lpstr>
      <vt:lpstr>提案手法：ヘッセ行列の対角行列化</vt:lpstr>
      <vt:lpstr>提案手法：ヘッセ行列の対角行列化</vt:lpstr>
      <vt:lpstr>提案手法：ヘッセ行列の対角行列化</vt:lpstr>
      <vt:lpstr>提案手法</vt:lpstr>
      <vt:lpstr>提案手法：HdNのアルゴリズム</vt:lpstr>
      <vt:lpstr>実験</vt:lpstr>
      <vt:lpstr>実験１</vt:lpstr>
      <vt:lpstr>実験1.１：近似回数を変更し比較</vt:lpstr>
      <vt:lpstr>実験結果</vt:lpstr>
      <vt:lpstr>実験1.２：学習率を変更し比較</vt:lpstr>
      <vt:lpstr>実験結果</vt:lpstr>
      <vt:lpstr>実験1.3：他の手法と比較</vt:lpstr>
      <vt:lpstr>実験結果</vt:lpstr>
      <vt:lpstr>実験2</vt:lpstr>
      <vt:lpstr>実験2.1：近似回数を比較</vt:lpstr>
      <vt:lpstr>実験結果</vt:lpstr>
      <vt:lpstr>実験2.2：近似回数を比較</vt:lpstr>
      <vt:lpstr>実験結果</vt:lpstr>
      <vt:lpstr>実験2.3：他の手法と比較</vt:lpstr>
      <vt:lpstr>実験結果</vt:lpstr>
      <vt:lpstr>実験2.4：バッチサイズを比較</vt:lpstr>
      <vt:lpstr>実験結果</vt:lpstr>
      <vt:lpstr>まとめ</vt:lpstr>
      <vt:lpstr>実験1:Iris 近似回数比較</vt:lpstr>
      <vt:lpstr>実験1:Iris　学習率比較</vt:lpstr>
      <vt:lpstr>実験1:Iris　他の手法と比較</vt:lpstr>
      <vt:lpstr>実験3: Cifar10</vt:lpstr>
      <vt:lpstr>実験2: MNIST　ステップ数比較</vt:lpstr>
      <vt:lpstr>実験2: MNIST　学習率比較</vt:lpstr>
      <vt:lpstr>実験2: MNIST　他の手法と比較</vt:lpstr>
      <vt:lpstr>実験2: MNIST　バッチサイズ比較</vt:lpstr>
      <vt:lpstr>ロードマップ</vt:lpstr>
      <vt:lpstr>はじめに：研究背景</vt:lpstr>
      <vt:lpstr>はじめに：ミニバッチ学習</vt:lpstr>
      <vt:lpstr>はじめに：ミニバッチ学習</vt:lpstr>
      <vt:lpstr>はじめに：ミニバッチ学習</vt:lpstr>
      <vt:lpstr>はじめに：ニューラルネットワーク</vt:lpstr>
      <vt:lpstr>ニュートン法</vt:lpstr>
      <vt:lpstr>ニュートン法</vt:lpstr>
      <vt:lpstr>ニュートン法</vt:lpstr>
      <vt:lpstr>ニュートン法</vt:lpstr>
      <vt:lpstr>提案手法：ヘッセ行列の対角行列化</vt:lpstr>
      <vt:lpstr>Hutchinson手法</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Hutchinson近似に基づく行列対角化を用いた2次近似勾配学習法に関する研究</dc:title>
  <dc:creator>山富龍</dc:creator>
  <cp:lastModifiedBy>山富龍</cp:lastModifiedBy>
  <cp:revision>336</cp:revision>
  <dcterms:created xsi:type="dcterms:W3CDTF">2021-11-14T11:47:08Z</dcterms:created>
  <dcterms:modified xsi:type="dcterms:W3CDTF">2022-01-21T05:41:30Z</dcterms:modified>
</cp:coreProperties>
</file>