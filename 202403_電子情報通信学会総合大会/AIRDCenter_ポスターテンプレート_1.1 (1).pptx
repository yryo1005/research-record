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58" r:id="rId2"/>
    <p:sldId id="259" r:id="rId3"/>
    <p:sldId id="260" r:id="rId4"/>
    <p:sldId id="261" r:id="rId5"/>
  </p:sldIdLst>
  <p:sldSz cx="30240288" cy="424799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D5EA"/>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27F97BB-C833-4FB7-BDE5-3F7075034690}" styleName="テーマ スタイル 2 - アクセント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680" autoAdjust="0"/>
    <p:restoredTop sz="97173"/>
  </p:normalViewPr>
  <p:slideViewPr>
    <p:cSldViewPr snapToGrid="0">
      <p:cViewPr>
        <p:scale>
          <a:sx n="36" d="100"/>
          <a:sy n="36" d="100"/>
        </p:scale>
        <p:origin x="3440" y="-1992"/>
      </p:cViewPr>
      <p:guideLst/>
    </p:cSldViewPr>
  </p:slideViewPr>
  <p:notesTextViewPr>
    <p:cViewPr>
      <p:scale>
        <a:sx n="120" d="100"/>
        <a:sy n="12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5A1BFD-3962-E848-9CD1-2D8E3D59D495}" type="datetimeFigureOut">
              <a:rPr kumimoji="1" lang="ja-JP" altLang="en-US" smtClean="0"/>
              <a:t>2024/3/4</a:t>
            </a:fld>
            <a:endParaRPr kumimoji="1" lang="ja-JP" altLang="en-US"/>
          </a:p>
        </p:txBody>
      </p:sp>
      <p:sp>
        <p:nvSpPr>
          <p:cNvPr id="4" name="スライド イメージ プレースホルダー 3"/>
          <p:cNvSpPr>
            <a:spLocks noGrp="1" noRot="1" noChangeAspect="1"/>
          </p:cNvSpPr>
          <p:nvPr>
            <p:ph type="sldImg" idx="2"/>
          </p:nvPr>
        </p:nvSpPr>
        <p:spPr>
          <a:xfrm>
            <a:off x="2330450" y="1143000"/>
            <a:ext cx="21971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691D7E-CFCE-A947-9A8B-66E9F3E3E10C}" type="slidenum">
              <a:rPr kumimoji="1" lang="ja-JP" altLang="en-US" smtClean="0"/>
              <a:t>‹#›</a:t>
            </a:fld>
            <a:endParaRPr kumimoji="1" lang="ja-JP" altLang="en-US"/>
          </a:p>
        </p:txBody>
      </p:sp>
    </p:spTree>
    <p:extLst>
      <p:ext uri="{BB962C8B-B14F-4D97-AF65-F5344CB8AC3E}">
        <p14:creationId xmlns:p14="http://schemas.microsoft.com/office/powerpoint/2010/main" val="412989917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各モデル画像枚数を表に、</a:t>
            </a:r>
            <a:r>
              <a:rPr kumimoji="1" lang="en-US" altLang="ja-JP" dirty="0" err="1"/>
              <a:t>GenImage</a:t>
            </a:r>
            <a:r>
              <a:rPr kumimoji="1" lang="ja-JP" altLang="en-US"/>
              <a:t>識別モデル、背景とやること、”</a:t>
            </a:r>
            <a:r>
              <a:rPr kumimoji="1" lang="en-US" altLang="ja-JP" dirty="0"/>
              <a:t>All</a:t>
            </a:r>
            <a:r>
              <a:rPr kumimoji="1" lang="ja-JP" altLang="en-US"/>
              <a:t>”を詳しく説明、</a:t>
            </a:r>
          </a:p>
        </p:txBody>
      </p:sp>
      <p:sp>
        <p:nvSpPr>
          <p:cNvPr id="4" name="スライド番号プレースホルダー 3"/>
          <p:cNvSpPr>
            <a:spLocks noGrp="1"/>
          </p:cNvSpPr>
          <p:nvPr>
            <p:ph type="sldNum" sz="quarter" idx="5"/>
          </p:nvPr>
        </p:nvSpPr>
        <p:spPr/>
        <p:txBody>
          <a:bodyPr/>
          <a:lstStyle/>
          <a:p>
            <a:fld id="{5F691D7E-CFCE-A947-9A8B-66E9F3E3E10C}" type="slidenum">
              <a:rPr kumimoji="1" lang="ja-JP" altLang="en-US" smtClean="0"/>
              <a:t>2</a:t>
            </a:fld>
            <a:endParaRPr kumimoji="1" lang="ja-JP" altLang="en-US"/>
          </a:p>
        </p:txBody>
      </p:sp>
    </p:spTree>
    <p:extLst>
      <p:ext uri="{BB962C8B-B14F-4D97-AF65-F5344CB8AC3E}">
        <p14:creationId xmlns:p14="http://schemas.microsoft.com/office/powerpoint/2010/main" val="4195565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各モデル画像枚数を表に、</a:t>
            </a:r>
            <a:r>
              <a:rPr kumimoji="1" lang="en-US" altLang="ja-JP" dirty="0" err="1"/>
              <a:t>GenImage</a:t>
            </a:r>
            <a:r>
              <a:rPr kumimoji="1" lang="ja-JP" altLang="en-US"/>
              <a:t>識別モデル、背景とやること、”</a:t>
            </a:r>
            <a:r>
              <a:rPr kumimoji="1" lang="en-US" altLang="ja-JP" dirty="0"/>
              <a:t>All</a:t>
            </a:r>
            <a:r>
              <a:rPr kumimoji="1" lang="ja-JP" altLang="en-US"/>
              <a:t>”を詳しく説明、</a:t>
            </a:r>
          </a:p>
        </p:txBody>
      </p:sp>
      <p:sp>
        <p:nvSpPr>
          <p:cNvPr id="4" name="スライド番号プレースホルダー 3"/>
          <p:cNvSpPr>
            <a:spLocks noGrp="1"/>
          </p:cNvSpPr>
          <p:nvPr>
            <p:ph type="sldNum" sz="quarter" idx="5"/>
          </p:nvPr>
        </p:nvSpPr>
        <p:spPr/>
        <p:txBody>
          <a:bodyPr/>
          <a:lstStyle/>
          <a:p>
            <a:fld id="{5F691D7E-CFCE-A947-9A8B-66E9F3E3E10C}" type="slidenum">
              <a:rPr kumimoji="1" lang="ja-JP" altLang="en-US" smtClean="0"/>
              <a:t>3</a:t>
            </a:fld>
            <a:endParaRPr kumimoji="1" lang="ja-JP" altLang="en-US"/>
          </a:p>
        </p:txBody>
      </p:sp>
    </p:spTree>
    <p:extLst>
      <p:ext uri="{BB962C8B-B14F-4D97-AF65-F5344CB8AC3E}">
        <p14:creationId xmlns:p14="http://schemas.microsoft.com/office/powerpoint/2010/main" val="3807384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32CA5-A076-EE14-2226-2CFDCFA82B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0813DB-D6B3-370B-57E4-4FD3C213006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53DD18C-2B4E-8B5B-CBF2-F965E67EB391}"/>
              </a:ext>
            </a:extLst>
          </p:cNvPr>
          <p:cNvSpPr>
            <a:spLocks noGrp="1"/>
          </p:cNvSpPr>
          <p:nvPr>
            <p:ph type="body" idx="1"/>
          </p:nvPr>
        </p:nvSpPr>
        <p:spPr/>
        <p:txBody>
          <a:bodyPr/>
          <a:lstStyle/>
          <a:p>
            <a:r>
              <a:rPr kumimoji="1" lang="ja-JP" altLang="en-US"/>
              <a:t>各モデル画像枚数を表に、</a:t>
            </a:r>
            <a:r>
              <a:rPr kumimoji="1" lang="en-US" altLang="ja-JP" dirty="0" err="1"/>
              <a:t>GenImage</a:t>
            </a:r>
            <a:r>
              <a:rPr kumimoji="1" lang="ja-JP" altLang="en-US"/>
              <a:t>識別モデル、背景とやること、”</a:t>
            </a:r>
            <a:r>
              <a:rPr kumimoji="1" lang="en-US" altLang="ja-JP" dirty="0"/>
              <a:t>All</a:t>
            </a:r>
            <a:r>
              <a:rPr kumimoji="1" lang="ja-JP" altLang="en-US"/>
              <a:t>”を詳しく説明、</a:t>
            </a:r>
          </a:p>
        </p:txBody>
      </p:sp>
      <p:sp>
        <p:nvSpPr>
          <p:cNvPr id="4" name="スライド番号プレースホルダー 3">
            <a:extLst>
              <a:ext uri="{FF2B5EF4-FFF2-40B4-BE49-F238E27FC236}">
                <a16:creationId xmlns:a16="http://schemas.microsoft.com/office/drawing/2014/main" id="{980A72DC-3781-3EF2-3BB9-4D2CC887A74E}"/>
              </a:ext>
            </a:extLst>
          </p:cNvPr>
          <p:cNvSpPr>
            <a:spLocks noGrp="1"/>
          </p:cNvSpPr>
          <p:nvPr>
            <p:ph type="sldNum" sz="quarter" idx="5"/>
          </p:nvPr>
        </p:nvSpPr>
        <p:spPr/>
        <p:txBody>
          <a:bodyPr/>
          <a:lstStyle/>
          <a:p>
            <a:fld id="{5F691D7E-CFCE-A947-9A8B-66E9F3E3E10C}" type="slidenum">
              <a:rPr kumimoji="1" lang="ja-JP" altLang="en-US" smtClean="0"/>
              <a:t>4</a:t>
            </a:fld>
            <a:endParaRPr kumimoji="1" lang="ja-JP" altLang="en-US"/>
          </a:p>
        </p:txBody>
      </p:sp>
    </p:spTree>
    <p:extLst>
      <p:ext uri="{BB962C8B-B14F-4D97-AF65-F5344CB8AC3E}">
        <p14:creationId xmlns:p14="http://schemas.microsoft.com/office/powerpoint/2010/main" val="11501540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CFB9B762-B2B8-86FF-2745-B8929E3ACB32}"/>
              </a:ext>
            </a:extLst>
          </p:cNvPr>
          <p:cNvSpPr/>
          <p:nvPr userDrawn="1"/>
        </p:nvSpPr>
        <p:spPr>
          <a:xfrm>
            <a:off x="0" y="-14242"/>
            <a:ext cx="30258000" cy="206471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Times New Roman" panose="02020603050405020304" pitchFamily="18" charset="0"/>
              <a:cs typeface="Times New Roman" panose="02020603050405020304" pitchFamily="18" charset="0"/>
            </a:endParaRPr>
          </a:p>
        </p:txBody>
      </p:sp>
      <p:sp>
        <p:nvSpPr>
          <p:cNvPr id="2" name="Title 1"/>
          <p:cNvSpPr>
            <a:spLocks noGrp="1"/>
          </p:cNvSpPr>
          <p:nvPr>
            <p:ph type="ctrTitle"/>
          </p:nvPr>
        </p:nvSpPr>
        <p:spPr>
          <a:xfrm>
            <a:off x="4599155" y="150483"/>
            <a:ext cx="21089818" cy="890917"/>
          </a:xfrm>
        </p:spPr>
        <p:txBody>
          <a:bodyPr anchor="ctr" anchorCtr="1">
            <a:normAutofit/>
          </a:bodyPr>
          <a:lstStyle>
            <a:lvl1pPr algn="ctr">
              <a:defRPr sz="6000">
                <a:solidFill>
                  <a:schemeClr val="bg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4599155" y="1206126"/>
            <a:ext cx="21087377" cy="673479"/>
          </a:xfrm>
        </p:spPr>
        <p:txBody>
          <a:bodyPr anchor="ctr" anchorCtr="1">
            <a:normAutofit/>
          </a:bodyPr>
          <a:lstStyle>
            <a:lvl1pPr marL="0" indent="0" algn="ctr">
              <a:buNone/>
              <a:defRPr sz="4800">
                <a:solidFill>
                  <a:schemeClr val="bg1"/>
                </a:solidFill>
              </a:defRPr>
            </a:lvl1pPr>
            <a:lvl2pPr marL="1512006" indent="0" algn="ctr">
              <a:buNone/>
              <a:defRPr sz="6614"/>
            </a:lvl2pPr>
            <a:lvl3pPr marL="3024012" indent="0" algn="ctr">
              <a:buNone/>
              <a:defRPr sz="5953"/>
            </a:lvl3pPr>
            <a:lvl4pPr marL="4536018" indent="0" algn="ctr">
              <a:buNone/>
              <a:defRPr sz="5291"/>
            </a:lvl4pPr>
            <a:lvl5pPr marL="6048024" indent="0" algn="ctr">
              <a:buNone/>
              <a:defRPr sz="5291"/>
            </a:lvl5pPr>
            <a:lvl6pPr marL="7560031" indent="0" algn="ctr">
              <a:buNone/>
              <a:defRPr sz="5291"/>
            </a:lvl6pPr>
            <a:lvl7pPr marL="9072037" indent="0" algn="ctr">
              <a:buNone/>
              <a:defRPr sz="5291"/>
            </a:lvl7pPr>
            <a:lvl8pPr marL="10584043" indent="0" algn="ctr">
              <a:buNone/>
              <a:defRPr sz="5291"/>
            </a:lvl8pPr>
            <a:lvl9pPr marL="12096049" indent="0" algn="ctr">
              <a:buNone/>
              <a:defRPr sz="5291"/>
            </a:lvl9pPr>
          </a:lstStyle>
          <a:p>
            <a:r>
              <a:rPr lang="ja-JP" altLang="en-US"/>
              <a:t>マスター サブタイトルの書式設定</a:t>
            </a:r>
            <a:endParaRPr lang="en-US" dirty="0"/>
          </a:p>
        </p:txBody>
      </p:sp>
      <p:pic>
        <p:nvPicPr>
          <p:cNvPr id="12" name="図 11" descr="テキスト が含まれている画像&#10;&#10;自動的に生成された説明">
            <a:extLst>
              <a:ext uri="{FF2B5EF4-FFF2-40B4-BE49-F238E27FC236}">
                <a16:creationId xmlns:a16="http://schemas.microsoft.com/office/drawing/2014/main" id="{9C282365-2A88-EDF5-623B-2D9C79D1591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073652" y="1182497"/>
            <a:ext cx="3057123" cy="724428"/>
          </a:xfrm>
          <a:prstGeom prst="rect">
            <a:avLst/>
          </a:prstGeom>
        </p:spPr>
      </p:pic>
      <p:grpSp>
        <p:nvGrpSpPr>
          <p:cNvPr id="14" name="グループ化 13">
            <a:extLst>
              <a:ext uri="{FF2B5EF4-FFF2-40B4-BE49-F238E27FC236}">
                <a16:creationId xmlns:a16="http://schemas.microsoft.com/office/drawing/2014/main" id="{B75BBDA0-7C56-3C0F-0003-AF27B005AAF8}"/>
              </a:ext>
            </a:extLst>
          </p:cNvPr>
          <p:cNvGrpSpPr/>
          <p:nvPr userDrawn="1"/>
        </p:nvGrpSpPr>
        <p:grpSpPr>
          <a:xfrm>
            <a:off x="27073654" y="156940"/>
            <a:ext cx="3057122" cy="890424"/>
            <a:chOff x="22204619" y="236738"/>
            <a:chExt cx="4200284" cy="1223384"/>
          </a:xfrm>
        </p:grpSpPr>
        <p:sp>
          <p:nvSpPr>
            <p:cNvPr id="13" name="正方形/長方形 12">
              <a:extLst>
                <a:ext uri="{FF2B5EF4-FFF2-40B4-BE49-F238E27FC236}">
                  <a16:creationId xmlns:a16="http://schemas.microsoft.com/office/drawing/2014/main" id="{191CC354-E49F-6F9B-9ABD-DCC782D7FE3B}"/>
                </a:ext>
              </a:extLst>
            </p:cNvPr>
            <p:cNvSpPr/>
            <p:nvPr userDrawn="1"/>
          </p:nvSpPr>
          <p:spPr>
            <a:xfrm>
              <a:off x="22204619" y="236738"/>
              <a:ext cx="4200284" cy="1223384"/>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Picture 2" descr="湘南工科大学">
              <a:extLst>
                <a:ext uri="{FF2B5EF4-FFF2-40B4-BE49-F238E27FC236}">
                  <a16:creationId xmlns:a16="http://schemas.microsoft.com/office/drawing/2014/main" id="{A4FA65DC-C920-B31B-AA0C-CAA15D57AB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2204619" y="236738"/>
              <a:ext cx="4200284" cy="122338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33944753"/>
      </p:ext>
    </p:extLst>
  </p:cSld>
  <p:clrMapOvr>
    <a:masterClrMapping/>
  </p:clrMapOvr>
  <p:extLst>
    <p:ext uri="{DCECCB84-F9BA-43D5-87BE-67443E8EF086}">
      <p15:sldGuideLst xmlns:p15="http://schemas.microsoft.com/office/powerpoint/2012/main">
        <p15:guide id="1" orient="horz" pos="13379" userDrawn="1">
          <p15:clr>
            <a:srgbClr val="FBAE40"/>
          </p15:clr>
        </p15:guide>
        <p15:guide id="2" pos="9524"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9020" y="2261671"/>
            <a:ext cx="26082248" cy="821082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079020" y="11308310"/>
            <a:ext cx="26082248" cy="26953115"/>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2079020" y="39372595"/>
            <a:ext cx="6804065" cy="2261662"/>
          </a:xfrm>
          <a:prstGeom prst="rect">
            <a:avLst/>
          </a:prstGeom>
        </p:spPr>
        <p:txBody>
          <a:bodyPr vert="horz" lIns="91440" tIns="45720" rIns="91440" bIns="45720" rtlCol="0" anchor="ctr"/>
          <a:lstStyle>
            <a:lvl1pPr algn="l">
              <a:defRPr sz="3969">
                <a:solidFill>
                  <a:schemeClr val="tx1">
                    <a:tint val="75000"/>
                  </a:schemeClr>
                </a:solidFill>
                <a:latin typeface="MS PGothic" panose="020B0600070205080204" pitchFamily="34" charset="-128"/>
                <a:ea typeface="MS PGothic" panose="020B0600070205080204" pitchFamily="34" charset="-128"/>
              </a:defRPr>
            </a:lvl1pPr>
          </a:lstStyle>
          <a:p>
            <a:fld id="{FC3D127C-1B49-4030-A14A-47C3343079FD}" type="datetimeFigureOut">
              <a:rPr kumimoji="1" lang="ja-JP" altLang="en-US" smtClean="0"/>
              <a:pPr/>
              <a:t>2024/3/4</a:t>
            </a:fld>
            <a:endParaRPr kumimoji="1" lang="ja-JP" altLang="en-US"/>
          </a:p>
        </p:txBody>
      </p:sp>
      <p:sp>
        <p:nvSpPr>
          <p:cNvPr id="5" name="Footer Placeholder 4"/>
          <p:cNvSpPr>
            <a:spLocks noGrp="1"/>
          </p:cNvSpPr>
          <p:nvPr>
            <p:ph type="ftr" sz="quarter" idx="3"/>
          </p:nvPr>
        </p:nvSpPr>
        <p:spPr>
          <a:xfrm>
            <a:off x="10017096" y="39372595"/>
            <a:ext cx="10206097" cy="2261662"/>
          </a:xfrm>
          <a:prstGeom prst="rect">
            <a:avLst/>
          </a:prstGeom>
        </p:spPr>
        <p:txBody>
          <a:bodyPr vert="horz" lIns="91440" tIns="45720" rIns="91440" bIns="45720" rtlCol="0" anchor="ctr"/>
          <a:lstStyle>
            <a:lvl1pPr algn="ctr">
              <a:defRPr sz="3969">
                <a:solidFill>
                  <a:schemeClr val="tx1">
                    <a:tint val="75000"/>
                  </a:schemeClr>
                </a:solidFill>
                <a:latin typeface="MS PGothic" panose="020B0600070205080204" pitchFamily="34" charset="-128"/>
                <a:ea typeface="MS PGothic" panose="020B0600070205080204" pitchFamily="34" charset="-128"/>
              </a:defRPr>
            </a:lvl1pPr>
          </a:lstStyle>
          <a:p>
            <a:endParaRPr kumimoji="1" lang="ja-JP" altLang="en-US"/>
          </a:p>
        </p:txBody>
      </p:sp>
      <p:sp>
        <p:nvSpPr>
          <p:cNvPr id="6" name="Slide Number Placeholder 5"/>
          <p:cNvSpPr>
            <a:spLocks noGrp="1"/>
          </p:cNvSpPr>
          <p:nvPr>
            <p:ph type="sldNum" sz="quarter" idx="4"/>
          </p:nvPr>
        </p:nvSpPr>
        <p:spPr>
          <a:xfrm>
            <a:off x="21357203" y="39372595"/>
            <a:ext cx="6804065" cy="2261662"/>
          </a:xfrm>
          <a:prstGeom prst="rect">
            <a:avLst/>
          </a:prstGeom>
        </p:spPr>
        <p:txBody>
          <a:bodyPr vert="horz" lIns="91440" tIns="45720" rIns="91440" bIns="45720" rtlCol="0" anchor="ctr"/>
          <a:lstStyle>
            <a:lvl1pPr algn="r">
              <a:defRPr sz="3969">
                <a:solidFill>
                  <a:schemeClr val="tx1">
                    <a:tint val="75000"/>
                  </a:schemeClr>
                </a:solidFill>
                <a:latin typeface="MS PGothic" panose="020B0600070205080204" pitchFamily="34" charset="-128"/>
                <a:ea typeface="MS PGothic" panose="020B0600070205080204" pitchFamily="34" charset="-128"/>
              </a:defRPr>
            </a:lvl1pPr>
          </a:lstStyle>
          <a:p>
            <a:fld id="{A62A1443-9936-4EEC-9B0E-CF8A37092E09}" type="slidenum">
              <a:rPr kumimoji="1" lang="ja-JP" altLang="en-US" smtClean="0"/>
              <a:pPr/>
              <a:t>‹#›</a:t>
            </a:fld>
            <a:endParaRPr kumimoji="1" lang="ja-JP" altLang="en-US"/>
          </a:p>
        </p:txBody>
      </p:sp>
    </p:spTree>
    <p:extLst>
      <p:ext uri="{BB962C8B-B14F-4D97-AF65-F5344CB8AC3E}">
        <p14:creationId xmlns:p14="http://schemas.microsoft.com/office/powerpoint/2010/main" val="4287371860"/>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3024012" rtl="0" eaLnBrk="1" latinLnBrk="0" hangingPunct="1">
        <a:lnSpc>
          <a:spcPct val="90000"/>
        </a:lnSpc>
        <a:spcBef>
          <a:spcPct val="0"/>
        </a:spcBef>
        <a:buNone/>
        <a:defRPr kumimoji="1" sz="14551" kern="1200">
          <a:solidFill>
            <a:schemeClr val="tx1"/>
          </a:solidFill>
          <a:latin typeface="MS PGothic" panose="020B0600070205080204" pitchFamily="34" charset="-128"/>
          <a:ea typeface="MS PGothic" panose="020B0600070205080204" pitchFamily="34" charset="-128"/>
          <a:cs typeface="+mj-cs"/>
        </a:defRPr>
      </a:lvl1pPr>
    </p:titleStyle>
    <p:bodyStyle>
      <a:lvl1pPr marL="756003" indent="-756003" algn="l" defTabSz="3024012" rtl="0" eaLnBrk="1" latinLnBrk="0" hangingPunct="1">
        <a:lnSpc>
          <a:spcPct val="90000"/>
        </a:lnSpc>
        <a:spcBef>
          <a:spcPts val="3307"/>
        </a:spcBef>
        <a:buFont typeface="Arial" panose="020B0604020202020204" pitchFamily="34" charset="0"/>
        <a:buChar char="•"/>
        <a:defRPr kumimoji="1" sz="9260" kern="1200">
          <a:solidFill>
            <a:schemeClr val="tx1"/>
          </a:solidFill>
          <a:latin typeface="MS PGothic" panose="020B0600070205080204" pitchFamily="34" charset="-128"/>
          <a:ea typeface="MS PGothic" panose="020B0600070205080204" pitchFamily="34" charset="-128"/>
          <a:cs typeface="+mn-cs"/>
        </a:defRPr>
      </a:lvl1pPr>
      <a:lvl2pPr marL="2268009" indent="-756003" algn="l" defTabSz="3024012" rtl="0" eaLnBrk="1" latinLnBrk="0" hangingPunct="1">
        <a:lnSpc>
          <a:spcPct val="90000"/>
        </a:lnSpc>
        <a:spcBef>
          <a:spcPts val="1654"/>
        </a:spcBef>
        <a:buFont typeface="Arial" panose="020B0604020202020204" pitchFamily="34" charset="0"/>
        <a:buChar char="•"/>
        <a:defRPr kumimoji="1" sz="7937" kern="1200">
          <a:solidFill>
            <a:schemeClr val="tx1"/>
          </a:solidFill>
          <a:latin typeface="MS PGothic" panose="020B0600070205080204" pitchFamily="34" charset="-128"/>
          <a:ea typeface="MS PGothic" panose="020B0600070205080204" pitchFamily="34" charset="-128"/>
          <a:cs typeface="+mn-cs"/>
        </a:defRPr>
      </a:lvl2pPr>
      <a:lvl3pPr marL="3780015" indent="-756003" algn="l" defTabSz="3024012" rtl="0" eaLnBrk="1" latinLnBrk="0" hangingPunct="1">
        <a:lnSpc>
          <a:spcPct val="90000"/>
        </a:lnSpc>
        <a:spcBef>
          <a:spcPts val="1654"/>
        </a:spcBef>
        <a:buFont typeface="Arial" panose="020B0604020202020204" pitchFamily="34" charset="0"/>
        <a:buChar char="•"/>
        <a:defRPr kumimoji="1" sz="6614" kern="1200">
          <a:solidFill>
            <a:schemeClr val="tx1"/>
          </a:solidFill>
          <a:latin typeface="MS PGothic" panose="020B0600070205080204" pitchFamily="34" charset="-128"/>
          <a:ea typeface="MS PGothic" panose="020B0600070205080204" pitchFamily="34" charset="-128"/>
          <a:cs typeface="+mn-cs"/>
        </a:defRPr>
      </a:lvl3pPr>
      <a:lvl4pPr marL="5292021"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S PGothic" panose="020B0600070205080204" pitchFamily="34" charset="-128"/>
          <a:ea typeface="MS PGothic" panose="020B0600070205080204" pitchFamily="34" charset="-128"/>
          <a:cs typeface="+mn-cs"/>
        </a:defRPr>
      </a:lvl4pPr>
      <a:lvl5pPr marL="6804028"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S PGothic" panose="020B0600070205080204" pitchFamily="34" charset="-128"/>
          <a:ea typeface="MS PGothic" panose="020B0600070205080204" pitchFamily="34" charset="-128"/>
          <a:cs typeface="+mn-cs"/>
        </a:defRPr>
      </a:lvl5pPr>
      <a:lvl6pPr marL="8316034"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6pPr>
      <a:lvl7pPr marL="9828040"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7pPr>
      <a:lvl8pPr marL="11340046"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8pPr>
      <a:lvl9pPr marL="12852052"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9pPr>
    </p:bodyStyle>
    <p:otherStyle>
      <a:defPPr>
        <a:defRPr lang="en-US"/>
      </a:defPPr>
      <a:lvl1pPr marL="0" algn="l" defTabSz="3024012" rtl="0" eaLnBrk="1" latinLnBrk="0" hangingPunct="1">
        <a:defRPr kumimoji="1" sz="5953" kern="1200">
          <a:solidFill>
            <a:schemeClr val="tx1"/>
          </a:solidFill>
          <a:latin typeface="+mn-lt"/>
          <a:ea typeface="+mn-ea"/>
          <a:cs typeface="+mn-cs"/>
        </a:defRPr>
      </a:lvl1pPr>
      <a:lvl2pPr marL="1512006" algn="l" defTabSz="3024012" rtl="0" eaLnBrk="1" latinLnBrk="0" hangingPunct="1">
        <a:defRPr kumimoji="1" sz="5953" kern="1200">
          <a:solidFill>
            <a:schemeClr val="tx1"/>
          </a:solidFill>
          <a:latin typeface="+mn-lt"/>
          <a:ea typeface="+mn-ea"/>
          <a:cs typeface="+mn-cs"/>
        </a:defRPr>
      </a:lvl2pPr>
      <a:lvl3pPr marL="3024012" algn="l" defTabSz="3024012" rtl="0" eaLnBrk="1" latinLnBrk="0" hangingPunct="1">
        <a:defRPr kumimoji="1" sz="5953" kern="1200">
          <a:solidFill>
            <a:schemeClr val="tx1"/>
          </a:solidFill>
          <a:latin typeface="+mn-lt"/>
          <a:ea typeface="+mn-ea"/>
          <a:cs typeface="+mn-cs"/>
        </a:defRPr>
      </a:lvl3pPr>
      <a:lvl4pPr marL="4536018" algn="l" defTabSz="3024012" rtl="0" eaLnBrk="1" latinLnBrk="0" hangingPunct="1">
        <a:defRPr kumimoji="1" sz="5953" kern="1200">
          <a:solidFill>
            <a:schemeClr val="tx1"/>
          </a:solidFill>
          <a:latin typeface="+mn-lt"/>
          <a:ea typeface="+mn-ea"/>
          <a:cs typeface="+mn-cs"/>
        </a:defRPr>
      </a:lvl4pPr>
      <a:lvl5pPr marL="6048024" algn="l" defTabSz="3024012" rtl="0" eaLnBrk="1" latinLnBrk="0" hangingPunct="1">
        <a:defRPr kumimoji="1" sz="5953" kern="1200">
          <a:solidFill>
            <a:schemeClr val="tx1"/>
          </a:solidFill>
          <a:latin typeface="+mn-lt"/>
          <a:ea typeface="+mn-ea"/>
          <a:cs typeface="+mn-cs"/>
        </a:defRPr>
      </a:lvl5pPr>
      <a:lvl6pPr marL="7560031" algn="l" defTabSz="3024012" rtl="0" eaLnBrk="1" latinLnBrk="0" hangingPunct="1">
        <a:defRPr kumimoji="1" sz="5953" kern="1200">
          <a:solidFill>
            <a:schemeClr val="tx1"/>
          </a:solidFill>
          <a:latin typeface="+mn-lt"/>
          <a:ea typeface="+mn-ea"/>
          <a:cs typeface="+mn-cs"/>
        </a:defRPr>
      </a:lvl6pPr>
      <a:lvl7pPr marL="9072037" algn="l" defTabSz="3024012" rtl="0" eaLnBrk="1" latinLnBrk="0" hangingPunct="1">
        <a:defRPr kumimoji="1" sz="5953" kern="1200">
          <a:solidFill>
            <a:schemeClr val="tx1"/>
          </a:solidFill>
          <a:latin typeface="+mn-lt"/>
          <a:ea typeface="+mn-ea"/>
          <a:cs typeface="+mn-cs"/>
        </a:defRPr>
      </a:lvl7pPr>
      <a:lvl8pPr marL="10584043" algn="l" defTabSz="3024012" rtl="0" eaLnBrk="1" latinLnBrk="0" hangingPunct="1">
        <a:defRPr kumimoji="1" sz="5953" kern="1200">
          <a:solidFill>
            <a:schemeClr val="tx1"/>
          </a:solidFill>
          <a:latin typeface="+mn-lt"/>
          <a:ea typeface="+mn-ea"/>
          <a:cs typeface="+mn-cs"/>
        </a:defRPr>
      </a:lvl8pPr>
      <a:lvl9pPr marL="12096049" algn="l" defTabSz="3024012" rtl="0" eaLnBrk="1" latinLnBrk="0" hangingPunct="1">
        <a:defRPr kumimoji="1" sz="595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jpe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3.jpeg"/><Relationship Id="rId21" Type="http://schemas.openxmlformats.org/officeDocument/2006/relationships/image" Target="../media/image25.png"/><Relationship Id="rId7" Type="http://schemas.openxmlformats.org/officeDocument/2006/relationships/image" Target="../media/image6.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notesSlide" Target="../notesSlides/notesSlide2.xml"/><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5.png"/><Relationship Id="rId24" Type="http://schemas.openxmlformats.org/officeDocument/2006/relationships/image" Target="../media/image28.png"/><Relationship Id="rId5" Type="http://schemas.openxmlformats.org/officeDocument/2006/relationships/image" Target="../media/image11.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4.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7.png"/><Relationship Id="rId26" Type="http://schemas.openxmlformats.org/officeDocument/2006/relationships/image" Target="../media/image30.png"/><Relationship Id="rId3" Type="http://schemas.openxmlformats.org/officeDocument/2006/relationships/image" Target="../media/image3.jpeg"/><Relationship Id="rId7" Type="http://schemas.openxmlformats.org/officeDocument/2006/relationships/image" Target="../media/image6.png"/><Relationship Id="rId12" Type="http://schemas.openxmlformats.org/officeDocument/2006/relationships/image" Target="../media/image36.png"/><Relationship Id="rId17" Type="http://schemas.openxmlformats.org/officeDocument/2006/relationships/image" Target="../media/image41.png"/><Relationship Id="rId25" Type="http://schemas.openxmlformats.org/officeDocument/2006/relationships/image" Target="../media/image29.png"/><Relationship Id="rId2" Type="http://schemas.openxmlformats.org/officeDocument/2006/relationships/notesSlide" Target="../notesSlides/notesSlide3.xml"/><Relationship Id="rId16" Type="http://schemas.openxmlformats.org/officeDocument/2006/relationships/image" Target="../media/image40.png"/><Relationship Id="rId29" Type="http://schemas.openxmlformats.org/officeDocument/2006/relationships/image" Target="../media/image43.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35.png"/><Relationship Id="rId5" Type="http://schemas.openxmlformats.org/officeDocument/2006/relationships/image" Target="../media/image11.png"/><Relationship Id="rId15" Type="http://schemas.openxmlformats.org/officeDocument/2006/relationships/image" Target="../media/image39.png"/><Relationship Id="rId28" Type="http://schemas.openxmlformats.org/officeDocument/2006/relationships/image" Target="../media/image32.png"/><Relationship Id="rId10"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image" Target="../media/image34.png"/><Relationship Id="rId14" Type="http://schemas.openxmlformats.org/officeDocument/2006/relationships/image" Target="../media/image38.png"/><Relationship Id="rId27" Type="http://schemas.openxmlformats.org/officeDocument/2006/relationships/image" Target="../media/image31.png"/><Relationship Id="rId30"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BDA8F58-47C5-F0EE-914B-5FB0701C8332}"/>
            </a:ext>
          </a:extLst>
        </p:cNvPr>
        <p:cNvGrpSpPr/>
        <p:nvPr/>
      </p:nvGrpSpPr>
      <p:grpSpPr>
        <a:xfrm>
          <a:off x="0" y="0"/>
          <a:ext cx="0" cy="0"/>
          <a:chOff x="0" y="0"/>
          <a:chExt cx="0" cy="0"/>
        </a:xfrm>
      </p:grpSpPr>
      <p:sp>
        <p:nvSpPr>
          <p:cNvPr id="1078" name="正方形/長方形 1077">
            <a:extLst>
              <a:ext uri="{FF2B5EF4-FFF2-40B4-BE49-F238E27FC236}">
                <a16:creationId xmlns:a16="http://schemas.microsoft.com/office/drawing/2014/main" id="{8D9248A8-A9D3-C87A-0303-F34509B2B571}"/>
              </a:ext>
            </a:extLst>
          </p:cNvPr>
          <p:cNvSpPr/>
          <p:nvPr/>
        </p:nvSpPr>
        <p:spPr>
          <a:xfrm>
            <a:off x="15341348" y="20148111"/>
            <a:ext cx="14724513" cy="14019913"/>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0" name="テキスト ボックス 1059">
            <a:extLst>
              <a:ext uri="{FF2B5EF4-FFF2-40B4-BE49-F238E27FC236}">
                <a16:creationId xmlns:a16="http://schemas.microsoft.com/office/drawing/2014/main" id="{5C027622-758E-DA04-2988-46610F63E68B}"/>
              </a:ext>
            </a:extLst>
          </p:cNvPr>
          <p:cNvSpPr txBox="1"/>
          <p:nvPr/>
        </p:nvSpPr>
        <p:spPr>
          <a:xfrm>
            <a:off x="15286582" y="20902378"/>
            <a:ext cx="14625650" cy="12403395"/>
          </a:xfrm>
          <a:prstGeom prst="rect">
            <a:avLst/>
          </a:prstGeom>
          <a:noFill/>
          <a:ln w="38100">
            <a:noFill/>
          </a:ln>
        </p:spPr>
        <p:txBody>
          <a:bodyPr wrap="square" rtlCol="0">
            <a:spAutoFit/>
          </a:bodyPr>
          <a:lstStyle/>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r>
              <a:rPr kumimoji="1" lang="ja-JP" altLang="en-US" sz="4000">
                <a:latin typeface="MS PGothic" panose="020B0600070205080204" pitchFamily="34" charset="-128"/>
                <a:ea typeface="MS PGothic" panose="020B0600070205080204" pitchFamily="34" charset="-128"/>
              </a:rPr>
              <a:t>本研究では，</a:t>
            </a:r>
            <a:r>
              <a:rPr kumimoji="1" lang="en" altLang="ja-JP" sz="4000" dirty="0" err="1">
                <a:latin typeface="MS PGothic" panose="020B0600070205080204" pitchFamily="34" charset="-128"/>
                <a:ea typeface="MS PGothic" panose="020B0600070205080204" pitchFamily="34" charset="-128"/>
              </a:rPr>
              <a:t>GenImage</a:t>
            </a:r>
            <a:r>
              <a:rPr kumimoji="1" lang="ja-JP" altLang="en-US" sz="4000">
                <a:latin typeface="MS PGothic" panose="020B0600070205080204" pitchFamily="34" charset="-128"/>
                <a:ea typeface="MS PGothic" panose="020B0600070205080204" pitchFamily="34" charset="-128"/>
              </a:rPr>
              <a:t>に基づき識別器には事前学習済み</a:t>
            </a:r>
            <a:r>
              <a:rPr kumimoji="1" lang="en-US" altLang="ja-JP" sz="4000" dirty="0" err="1">
                <a:latin typeface="MS PGothic" panose="020B0600070205080204" pitchFamily="34" charset="-128"/>
                <a:ea typeface="MS PGothic" panose="020B0600070205080204" pitchFamily="34" charset="-128"/>
              </a:rPr>
              <a:t>Swin</a:t>
            </a:r>
            <a:r>
              <a:rPr kumimoji="1" lang="en-US" altLang="ja-JP" sz="4000" dirty="0">
                <a:latin typeface="MS PGothic" panose="020B0600070205080204" pitchFamily="34" charset="-128"/>
                <a:ea typeface="MS PGothic" panose="020B0600070205080204" pitchFamily="34" charset="-128"/>
              </a:rPr>
              <a:t>-T</a:t>
            </a:r>
            <a:r>
              <a:rPr kumimoji="1" lang="ja-JP" altLang="en-US" sz="4000">
                <a:latin typeface="MS PGothic" panose="020B0600070205080204" pitchFamily="34" charset="-128"/>
                <a:ea typeface="MS PGothic" panose="020B0600070205080204" pitchFamily="34" charset="-128"/>
              </a:rPr>
              <a:t>で転移学習を行う</a:t>
            </a:r>
            <a:r>
              <a:rPr kumimoji="1" lang="en-US" altLang="ja-JP" sz="4000" dirty="0">
                <a:latin typeface="MS PGothic" panose="020B0600070205080204" pitchFamily="34" charset="-128"/>
                <a:ea typeface="MS PGothic" panose="020B0600070205080204" pitchFamily="34" charset="-128"/>
              </a:rPr>
              <a:t>. </a:t>
            </a:r>
            <a:r>
              <a:rPr kumimoji="1" lang="ja-JP" altLang="en-US" sz="4000">
                <a:latin typeface="MS PGothic" panose="020B0600070205080204" pitchFamily="34" charset="-128"/>
                <a:ea typeface="MS PGothic" panose="020B0600070205080204" pitchFamily="34" charset="-128"/>
              </a:rPr>
              <a:t>実験結果を表２に示す．</a:t>
            </a:r>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r>
              <a:rPr kumimoji="1" lang="ja-JP" altLang="en-US" sz="4000">
                <a:latin typeface="MS PGothic" panose="020B0600070205080204" pitchFamily="34" charset="-128"/>
                <a:ea typeface="MS PGothic" panose="020B0600070205080204" pitchFamily="34" charset="-128"/>
              </a:rPr>
              <a:t>ここで，“</a:t>
            </a:r>
            <a:r>
              <a:rPr kumimoji="1" lang="en-US" altLang="ja-JP" sz="4000" dirty="0">
                <a:latin typeface="MS PGothic" panose="020B0600070205080204" pitchFamily="34" charset="-128"/>
                <a:ea typeface="MS PGothic" panose="020B0600070205080204" pitchFamily="34" charset="-128"/>
              </a:rPr>
              <a:t>All”</a:t>
            </a:r>
            <a:r>
              <a:rPr kumimoji="1" lang="ja-JP" altLang="en-US" sz="4000">
                <a:latin typeface="MS PGothic" panose="020B0600070205080204" pitchFamily="34" charset="-128"/>
                <a:ea typeface="MS PGothic" panose="020B0600070205080204" pitchFamily="34" charset="-128"/>
              </a:rPr>
              <a:t>はは全てのソースのデータを学習した識別器であり，“</a:t>
            </a:r>
            <a:r>
              <a:rPr kumimoji="1" lang="en-US" altLang="ja-JP" sz="4000" dirty="0">
                <a:latin typeface="MS PGothic" panose="020B0600070205080204" pitchFamily="34" charset="-128"/>
                <a:ea typeface="MS PGothic" panose="020B0600070205080204" pitchFamily="34" charset="-128"/>
              </a:rPr>
              <a:t>Ours”</a:t>
            </a:r>
            <a:r>
              <a:rPr kumimoji="1" lang="ja-JP" altLang="en-US" sz="4000">
                <a:latin typeface="MS PGothic" panose="020B0600070205080204" pitchFamily="34" charset="-128"/>
                <a:ea typeface="MS PGothic" panose="020B0600070205080204" pitchFamily="34" charset="-128"/>
              </a:rPr>
              <a:t>は提案手法である</a:t>
            </a:r>
            <a:r>
              <a:rPr kumimoji="1" lang="en-US" altLang="ja-JP" sz="4000" dirty="0">
                <a:latin typeface="MS PGothic" panose="020B0600070205080204" pitchFamily="34" charset="-128"/>
                <a:ea typeface="MS PGothic" panose="020B0600070205080204" pitchFamily="34" charset="-128"/>
              </a:rPr>
              <a:t>. </a:t>
            </a:r>
          </a:p>
          <a:p>
            <a:pPr indent="457200" algn="just"/>
            <a:endParaRPr kumimoji="1" lang="en-US" altLang="ja-JP" sz="4000" dirty="0">
              <a:latin typeface="MS PGothic" panose="020B0600070205080204" pitchFamily="34" charset="-128"/>
              <a:ea typeface="MS PGothic" panose="020B0600070205080204" pitchFamily="34" charset="-128"/>
            </a:endParaRPr>
          </a:p>
        </p:txBody>
      </p:sp>
      <p:sp>
        <p:nvSpPr>
          <p:cNvPr id="1047" name="正方形/長方形 1046">
            <a:extLst>
              <a:ext uri="{FF2B5EF4-FFF2-40B4-BE49-F238E27FC236}">
                <a16:creationId xmlns:a16="http://schemas.microsoft.com/office/drawing/2014/main" id="{729638F1-EADF-6D49-A9B0-97E3AF30BF98}"/>
              </a:ext>
            </a:extLst>
          </p:cNvPr>
          <p:cNvSpPr/>
          <p:nvPr/>
        </p:nvSpPr>
        <p:spPr>
          <a:xfrm>
            <a:off x="188804" y="34463595"/>
            <a:ext cx="29839105" cy="6969369"/>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AA062198-DC8E-1928-55C1-6EAA9A974162}"/>
              </a:ext>
            </a:extLst>
          </p:cNvPr>
          <p:cNvSpPr>
            <a:spLocks noGrp="1"/>
          </p:cNvSpPr>
          <p:nvPr>
            <p:ph type="ctrTitle"/>
          </p:nvPr>
        </p:nvSpPr>
        <p:spPr/>
        <p:txBody>
          <a:bodyPr>
            <a:normAutofit fontScale="90000"/>
          </a:bodyPr>
          <a:lstStyle/>
          <a:p>
            <a:r>
              <a:rPr kumimoji="1" lang="ja-JP" altLang="en-US"/>
              <a:t>ディープラーニングを用いた生成画像の識別に関する研究 </a:t>
            </a:r>
          </a:p>
        </p:txBody>
      </p:sp>
      <p:sp>
        <p:nvSpPr>
          <p:cNvPr id="3" name="字幕 2">
            <a:extLst>
              <a:ext uri="{FF2B5EF4-FFF2-40B4-BE49-F238E27FC236}">
                <a16:creationId xmlns:a16="http://schemas.microsoft.com/office/drawing/2014/main" id="{94599EE0-1453-27C5-6998-763FE25F41E1}"/>
              </a:ext>
            </a:extLst>
          </p:cNvPr>
          <p:cNvSpPr>
            <a:spLocks noGrp="1"/>
          </p:cNvSpPr>
          <p:nvPr>
            <p:ph type="subTitle" idx="1"/>
          </p:nvPr>
        </p:nvSpPr>
        <p:spPr/>
        <p:txBody>
          <a:bodyPr>
            <a:normAutofit fontScale="92500" lnSpcReduction="10000"/>
          </a:bodyPr>
          <a:lstStyle/>
          <a:p>
            <a:r>
              <a:rPr kumimoji="1" lang="ja-JP" altLang="en-US"/>
              <a:t>李</a:t>
            </a:r>
            <a:r>
              <a:rPr kumimoji="1" lang="en-US" altLang="ja-JP" dirty="0"/>
              <a:t> </a:t>
            </a:r>
            <a:r>
              <a:rPr kumimoji="1" lang="ja-JP" altLang="en-US"/>
              <a:t>洪企，山富 龍，シェヘラザード マハブービ，二宮 洋</a:t>
            </a:r>
            <a:r>
              <a:rPr kumimoji="1" lang="en-US" altLang="ja-JP" dirty="0"/>
              <a:t> (</a:t>
            </a:r>
            <a:r>
              <a:rPr kumimoji="1" lang="ja-JP" altLang="en-US"/>
              <a:t>湘南工科大学</a:t>
            </a:r>
            <a:r>
              <a:rPr kumimoji="1" lang="en-US" altLang="ja-JP" dirty="0"/>
              <a:t>)</a:t>
            </a:r>
            <a:endParaRPr kumimoji="1" lang="ja-JP" altLang="en-US"/>
          </a:p>
        </p:txBody>
      </p:sp>
      <p:sp>
        <p:nvSpPr>
          <p:cNvPr id="4" name="正方形/長方形 3">
            <a:extLst>
              <a:ext uri="{FF2B5EF4-FFF2-40B4-BE49-F238E27FC236}">
                <a16:creationId xmlns:a16="http://schemas.microsoft.com/office/drawing/2014/main" id="{9C10766B-7076-91B3-A397-BBEA33F2B053}"/>
              </a:ext>
            </a:extLst>
          </p:cNvPr>
          <p:cNvSpPr/>
          <p:nvPr/>
        </p:nvSpPr>
        <p:spPr>
          <a:xfrm>
            <a:off x="203200" y="2288709"/>
            <a:ext cx="14681200" cy="8517716"/>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f</a:t>
            </a:r>
            <a:endParaRPr kumimoji="1" lang="ja-JP" altLang="en-US"/>
          </a:p>
        </p:txBody>
      </p:sp>
      <p:sp>
        <p:nvSpPr>
          <p:cNvPr id="5" name="正方形/長方形 4">
            <a:extLst>
              <a:ext uri="{FF2B5EF4-FFF2-40B4-BE49-F238E27FC236}">
                <a16:creationId xmlns:a16="http://schemas.microsoft.com/office/drawing/2014/main" id="{EA226ABE-335F-93A5-857A-04C2F058ED73}"/>
              </a:ext>
            </a:extLst>
          </p:cNvPr>
          <p:cNvSpPr/>
          <p:nvPr/>
        </p:nvSpPr>
        <p:spPr>
          <a:xfrm>
            <a:off x="203200" y="2288708"/>
            <a:ext cx="1468120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800">
                <a:latin typeface="MS PGothic" panose="020B0600070205080204" pitchFamily="34" charset="-128"/>
                <a:ea typeface="MS PGothic" panose="020B0600070205080204" pitchFamily="34" charset="-128"/>
              </a:rPr>
              <a:t>背景</a:t>
            </a:r>
          </a:p>
        </p:txBody>
      </p:sp>
      <p:sp>
        <p:nvSpPr>
          <p:cNvPr id="6" name="テキスト ボックス 5">
            <a:extLst>
              <a:ext uri="{FF2B5EF4-FFF2-40B4-BE49-F238E27FC236}">
                <a16:creationId xmlns:a16="http://schemas.microsoft.com/office/drawing/2014/main" id="{8F91DC60-44EF-D77D-F92E-F1E62B3F96DB}"/>
              </a:ext>
            </a:extLst>
          </p:cNvPr>
          <p:cNvSpPr txBox="1"/>
          <p:nvPr/>
        </p:nvSpPr>
        <p:spPr>
          <a:xfrm>
            <a:off x="203199" y="3169285"/>
            <a:ext cx="14681200" cy="12403395"/>
          </a:xfrm>
          <a:prstGeom prst="rect">
            <a:avLst/>
          </a:prstGeom>
          <a:noFill/>
        </p:spPr>
        <p:txBody>
          <a:bodyPr wrap="square" rtlCol="0">
            <a:spAutoFit/>
          </a:bodyPr>
          <a:lstStyle/>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近年</a:t>
            </a:r>
            <a:r>
              <a:rPr kumimoji="1" lang="en" altLang="ja-JP" sz="4000" dirty="0" err="1">
                <a:latin typeface="MS PGothic" panose="020B0600070205080204" pitchFamily="34" charset="-128"/>
                <a:ea typeface="MS PGothic" panose="020B0600070205080204" pitchFamily="34" charset="-128"/>
              </a:rPr>
              <a:t>BigGAN</a:t>
            </a:r>
            <a:r>
              <a:rPr kumimoji="1" lang="en" altLang="ja-JP" sz="4000" dirty="0">
                <a:latin typeface="MS PGothic" panose="020B0600070205080204" pitchFamily="34" charset="-128"/>
                <a:ea typeface="MS PGothic" panose="020B0600070205080204" pitchFamily="34" charset="-128"/>
              </a:rPr>
              <a:t>[</a:t>
            </a:r>
            <a:r>
              <a:rPr kumimoji="1" lang="ja-JP" altLang="en-US" sz="4000">
                <a:latin typeface="MS PGothic" panose="020B0600070205080204" pitchFamily="34" charset="-128"/>
                <a:ea typeface="MS PGothic" panose="020B0600070205080204" pitchFamily="34" charset="-128"/>
              </a:rPr>
              <a:t>１</a:t>
            </a:r>
            <a:r>
              <a:rPr kumimoji="1" lang="en" altLang="ja-JP" sz="4000" dirty="0">
                <a:latin typeface="MS PGothic" panose="020B0600070205080204" pitchFamily="34" charset="-128"/>
                <a:ea typeface="MS PGothic" panose="020B0600070205080204" pitchFamily="34" charset="-128"/>
              </a:rPr>
              <a:t>] </a:t>
            </a:r>
            <a:r>
              <a:rPr kumimoji="1" lang="ja-JP" altLang="en-US" sz="4000">
                <a:latin typeface="MS PGothic" panose="020B0600070205080204" pitchFamily="34" charset="-128"/>
                <a:ea typeface="MS PGothic" panose="020B0600070205080204" pitchFamily="34" charset="-128"/>
              </a:rPr>
              <a:t>や </a:t>
            </a:r>
            <a:r>
              <a:rPr kumimoji="1" lang="en" altLang="ja-JP" sz="4000" dirty="0">
                <a:latin typeface="MS PGothic" panose="020B0600070205080204" pitchFamily="34" charset="-128"/>
                <a:ea typeface="MS PGothic" panose="020B0600070205080204" pitchFamily="34" charset="-128"/>
              </a:rPr>
              <a:t>Stable Diffusion[</a:t>
            </a:r>
            <a:r>
              <a:rPr kumimoji="1" lang="ja-JP" altLang="en-US" sz="4000">
                <a:latin typeface="MS PGothic" panose="020B0600070205080204" pitchFamily="34" charset="-128"/>
                <a:ea typeface="MS PGothic" panose="020B0600070205080204" pitchFamily="34" charset="-128"/>
              </a:rPr>
              <a:t>１</a:t>
            </a:r>
            <a:r>
              <a:rPr kumimoji="1" lang="en" altLang="ja-JP" sz="4000" dirty="0">
                <a:latin typeface="MS PGothic" panose="020B0600070205080204" pitchFamily="34" charset="-128"/>
                <a:ea typeface="MS PGothic" panose="020B0600070205080204" pitchFamily="34" charset="-128"/>
              </a:rPr>
              <a:t>] </a:t>
            </a:r>
            <a:r>
              <a:rPr kumimoji="1" lang="ja-JP" altLang="en-US" sz="4000">
                <a:latin typeface="MS PGothic" panose="020B0600070205080204" pitchFamily="34" charset="-128"/>
                <a:ea typeface="MS PGothic" panose="020B0600070205080204" pitchFamily="34" charset="-128"/>
              </a:rPr>
              <a:t>等の画像生成 </a:t>
            </a:r>
            <a:r>
              <a:rPr kumimoji="1" lang="en" altLang="ja-JP" sz="4000" dirty="0">
                <a:latin typeface="MS PGothic" panose="020B0600070205080204" pitchFamily="34" charset="-128"/>
                <a:ea typeface="MS PGothic" panose="020B0600070205080204" pitchFamily="34" charset="-128"/>
              </a:rPr>
              <a:t>AI </a:t>
            </a:r>
            <a:r>
              <a:rPr kumimoji="1" lang="ja-JP" altLang="en-US" sz="4000">
                <a:latin typeface="MS PGothic" panose="020B0600070205080204" pitchFamily="34" charset="-128"/>
                <a:ea typeface="MS PGothic" panose="020B0600070205080204" pitchFamily="34" charset="-128"/>
              </a:rPr>
              <a:t>が発展</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画像生成</a:t>
            </a:r>
            <a:r>
              <a:rPr kumimoji="1" lang="en" altLang="ja-JP" sz="4000" dirty="0">
                <a:latin typeface="MS PGothic" panose="020B0600070205080204" pitchFamily="34" charset="-128"/>
                <a:ea typeface="MS PGothic" panose="020B0600070205080204" pitchFamily="34" charset="-128"/>
              </a:rPr>
              <a:t>AI</a:t>
            </a:r>
            <a:r>
              <a:rPr kumimoji="1" lang="ja-JP" altLang="en-US" sz="4000">
                <a:latin typeface="MS PGothic" panose="020B0600070205080204" pitchFamily="34" charset="-128"/>
                <a:ea typeface="MS PGothic" panose="020B0600070205080204" pitchFamily="34" charset="-128"/>
              </a:rPr>
              <a:t>の悪用問題</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en" altLang="ja-JP" sz="4000" dirty="0" err="1">
                <a:latin typeface="MS PGothic" panose="020B0600070205080204" pitchFamily="34" charset="-128"/>
                <a:ea typeface="MS PGothic" panose="020B0600070205080204" pitchFamily="34" charset="-128"/>
              </a:rPr>
              <a:t>GenImage</a:t>
            </a:r>
            <a:r>
              <a:rPr kumimoji="1" lang="en" altLang="ja-JP" sz="4000" dirty="0">
                <a:latin typeface="MS PGothic" panose="020B0600070205080204" pitchFamily="34" charset="-128"/>
                <a:ea typeface="MS PGothic" panose="020B0600070205080204" pitchFamily="34" charset="-128"/>
              </a:rPr>
              <a:t>[</a:t>
            </a:r>
            <a:r>
              <a:rPr kumimoji="1" lang="ja-JP" altLang="en-US" sz="4000">
                <a:latin typeface="MS PGothic" panose="020B0600070205080204" pitchFamily="34" charset="-128"/>
                <a:ea typeface="MS PGothic" panose="020B0600070205080204" pitchFamily="34" charset="-128"/>
              </a:rPr>
              <a:t>１</a:t>
            </a:r>
            <a:r>
              <a:rPr kumimoji="1" lang="en" altLang="ja-JP" sz="4000" dirty="0">
                <a:latin typeface="MS PGothic" panose="020B0600070205080204" pitchFamily="34" charset="-128"/>
                <a:ea typeface="MS PGothic" panose="020B0600070205080204" pitchFamily="34" charset="-128"/>
              </a:rPr>
              <a:t>]</a:t>
            </a:r>
            <a:r>
              <a:rPr kumimoji="1" lang="ja-JP" altLang="en-US" sz="4000">
                <a:latin typeface="MS PGothic" panose="020B0600070205080204" pitchFamily="34" charset="-128"/>
                <a:ea typeface="MS PGothic" panose="020B0600070205080204" pitchFamily="34" charset="-128"/>
              </a:rPr>
              <a:t>では，</a:t>
            </a:r>
            <a:r>
              <a:rPr kumimoji="1" lang="en-US" altLang="ja-JP" sz="4000" dirty="0">
                <a:latin typeface="MS PGothic" panose="020B0600070205080204" pitchFamily="34" charset="-128"/>
                <a:ea typeface="MS PGothic" panose="020B0600070205080204" pitchFamily="34" charset="-128"/>
              </a:rPr>
              <a:t>ResNet50</a:t>
            </a:r>
            <a:r>
              <a:rPr kumimoji="1" lang="ja-JP" altLang="en-US" sz="4000">
                <a:latin typeface="MS PGothic" panose="020B0600070205080204" pitchFamily="34" charset="-128"/>
                <a:ea typeface="MS PGothic" panose="020B0600070205080204" pitchFamily="34" charset="-128"/>
              </a:rPr>
              <a:t>や</a:t>
            </a:r>
            <a:r>
              <a:rPr kumimoji="1" lang="en-US" altLang="ja-JP" sz="4000" dirty="0" err="1">
                <a:latin typeface="MS PGothic" panose="020B0600070205080204" pitchFamily="34" charset="-128"/>
                <a:ea typeface="MS PGothic" panose="020B0600070205080204" pitchFamily="34" charset="-128"/>
              </a:rPr>
              <a:t>Swin</a:t>
            </a:r>
            <a:r>
              <a:rPr kumimoji="1" lang="en-US" altLang="ja-JP" sz="4000" dirty="0">
                <a:latin typeface="MS PGothic" panose="020B0600070205080204" pitchFamily="34" charset="-128"/>
                <a:ea typeface="MS PGothic" panose="020B0600070205080204" pitchFamily="34" charset="-128"/>
              </a:rPr>
              <a:t>-Transformer</a:t>
            </a:r>
            <a:r>
              <a:rPr kumimoji="1" lang="ja-JP" altLang="en-US" sz="4000">
                <a:latin typeface="MS PGothic" panose="020B0600070205080204" pitchFamily="34" charset="-128"/>
                <a:ea typeface="MS PGothic" panose="020B0600070205080204" pitchFamily="34" charset="-128"/>
              </a:rPr>
              <a:t>など</a:t>
            </a:r>
            <a:r>
              <a:rPr kumimoji="1" lang="en-US" altLang="ja-JP" sz="4000" dirty="0">
                <a:latin typeface="MS PGothic" panose="020B0600070205080204" pitchFamily="34" charset="-128"/>
                <a:ea typeface="MS PGothic" panose="020B0600070205080204" pitchFamily="34" charset="-128"/>
              </a:rPr>
              <a:t>7</a:t>
            </a:r>
            <a:r>
              <a:rPr kumimoji="1" lang="ja-JP" altLang="en-US" sz="4000">
                <a:latin typeface="MS PGothic" panose="020B0600070205080204" pitchFamily="34" charset="-128"/>
                <a:ea typeface="MS PGothic" panose="020B0600070205080204" pitchFamily="34" charset="-128"/>
              </a:rPr>
              <a:t>種類の識別モデルに対して，</a:t>
            </a:r>
            <a:r>
              <a:rPr kumimoji="1" lang="en-US" altLang="ja-JP" sz="4000" dirty="0">
                <a:latin typeface="MS PGothic" panose="020B0600070205080204" pitchFamily="34" charset="-128"/>
                <a:ea typeface="MS PGothic" panose="020B0600070205080204" pitchFamily="34" charset="-128"/>
              </a:rPr>
              <a:t>1</a:t>
            </a:r>
            <a:r>
              <a:rPr kumimoji="1" lang="ja-JP" altLang="en-US" sz="4000">
                <a:latin typeface="MS PGothic" panose="020B0600070205080204" pitchFamily="34" charset="-128"/>
                <a:ea typeface="MS PGothic" panose="020B0600070205080204" pitchFamily="34" charset="-128"/>
              </a:rPr>
              <a:t>種類の</a:t>
            </a:r>
            <a:r>
              <a:rPr kumimoji="1" lang="en-US" altLang="ja-JP" sz="4000" dirty="0">
                <a:latin typeface="MS PGothic" panose="020B0600070205080204" pitchFamily="34" charset="-128"/>
                <a:ea typeface="MS PGothic" panose="020B0600070205080204" pitchFamily="34" charset="-128"/>
              </a:rPr>
              <a:t>AI</a:t>
            </a:r>
            <a:r>
              <a:rPr kumimoji="1" lang="ja-JP" altLang="en-US" sz="4000">
                <a:latin typeface="MS PGothic" panose="020B0600070205080204" pitchFamily="34" charset="-128"/>
                <a:ea typeface="MS PGothic" panose="020B0600070205080204" pitchFamily="34" charset="-128"/>
              </a:rPr>
              <a:t>モデルにより生成された画像を学習させ，入力画像が現実か生成かの分類を行なった．使用されたデータセットは，</a:t>
            </a:r>
            <a:r>
              <a:rPr kumimoji="1" lang="en-US" altLang="ja-JP" sz="4000" dirty="0">
                <a:latin typeface="MS PGothic" panose="020B0600070205080204" pitchFamily="34" charset="-128"/>
                <a:ea typeface="MS PGothic" panose="020B0600070205080204" pitchFamily="34" charset="-128"/>
              </a:rPr>
              <a:t>ImageNet</a:t>
            </a:r>
            <a:r>
              <a:rPr kumimoji="1" lang="ja-JP" altLang="en-US" sz="4000">
                <a:latin typeface="MS PGothic" panose="020B0600070205080204" pitchFamily="34" charset="-128"/>
                <a:ea typeface="MS PGothic" panose="020B0600070205080204" pitchFamily="34" charset="-128"/>
              </a:rPr>
              <a:t>の各クラス名</a:t>
            </a:r>
            <a:r>
              <a:rPr kumimoji="1" lang="en-US" altLang="ja-JP" sz="4000" dirty="0" err="1">
                <a:latin typeface="MS PGothic" panose="020B0600070205080204" pitchFamily="34" charset="-128"/>
                <a:ea typeface="MS PGothic" panose="020B0600070205080204" pitchFamily="34" charset="-128"/>
              </a:rPr>
              <a:t>BigGAN</a:t>
            </a:r>
            <a:r>
              <a:rPr kumimoji="1" lang="ja-JP" altLang="en-US" sz="4000">
                <a:latin typeface="MS PGothic" panose="020B0600070205080204" pitchFamily="34" charset="-128"/>
                <a:ea typeface="MS PGothic" panose="020B0600070205080204" pitchFamily="34" charset="-128"/>
              </a:rPr>
              <a:t>や</a:t>
            </a:r>
            <a:r>
              <a:rPr kumimoji="1" lang="en-US" altLang="ja-JP" sz="4000" dirty="0">
                <a:latin typeface="MS PGothic" panose="020B0600070205080204" pitchFamily="34" charset="-128"/>
                <a:ea typeface="MS PGothic" panose="020B0600070205080204" pitchFamily="34" charset="-128"/>
              </a:rPr>
              <a:t>Stable</a:t>
            </a:r>
            <a:r>
              <a:rPr kumimoji="1" lang="ja-JP" altLang="en-US" sz="4000">
                <a:latin typeface="MS PGothic" panose="020B0600070205080204" pitchFamily="34" charset="-128"/>
                <a:ea typeface="MS PGothic" panose="020B0600070205080204" pitchFamily="34" charset="-128"/>
              </a:rPr>
              <a:t>　</a:t>
            </a:r>
            <a:r>
              <a:rPr kumimoji="1" lang="en-US" altLang="ja-JP" sz="4000" dirty="0">
                <a:latin typeface="MS PGothic" panose="020B0600070205080204" pitchFamily="34" charset="-128"/>
                <a:ea typeface="MS PGothic" panose="020B0600070205080204" pitchFamily="34" charset="-128"/>
              </a:rPr>
              <a:t>Diffusion</a:t>
            </a:r>
            <a:r>
              <a:rPr kumimoji="1" lang="ja-JP" altLang="en-US" sz="4000">
                <a:latin typeface="MS PGothic" panose="020B0600070205080204" pitchFamily="34" charset="-128"/>
                <a:ea typeface="MS PGothic" panose="020B0600070205080204" pitchFamily="34" charset="-128"/>
              </a:rPr>
              <a:t>などの</a:t>
            </a:r>
            <a:r>
              <a:rPr kumimoji="1" lang="en-US" altLang="ja-JP" sz="4000" dirty="0">
                <a:latin typeface="MS PGothic" panose="020B0600070205080204" pitchFamily="34" charset="-128"/>
                <a:ea typeface="MS PGothic" panose="020B0600070205080204" pitchFamily="34" charset="-128"/>
              </a:rPr>
              <a:t>8</a:t>
            </a:r>
            <a:r>
              <a:rPr kumimoji="1" lang="ja-JP" altLang="en-US" sz="4000">
                <a:latin typeface="MS PGothic" panose="020B0600070205080204" pitchFamily="34" charset="-128"/>
                <a:ea typeface="MS PGothic" panose="020B0600070205080204" pitchFamily="34" charset="-128"/>
              </a:rPr>
              <a:t>種類のモデルに入力し，生成された画像から構成されており，公開されている．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 altLang="ja-JP" sz="4000" dirty="0">
              <a:latin typeface="MS PGothic" panose="020B0600070205080204" pitchFamily="34" charset="-128"/>
              <a:ea typeface="MS PGothic" panose="020B0600070205080204" pitchFamily="34" charset="-128"/>
            </a:endParaRPr>
          </a:p>
        </p:txBody>
      </p:sp>
      <p:sp>
        <p:nvSpPr>
          <p:cNvPr id="14" name="テキスト ボックス 13">
            <a:extLst>
              <a:ext uri="{FF2B5EF4-FFF2-40B4-BE49-F238E27FC236}">
                <a16:creationId xmlns:a16="http://schemas.microsoft.com/office/drawing/2014/main" id="{81870BA9-158E-E6F7-8EA8-4C7B6ECAD993}"/>
              </a:ext>
            </a:extLst>
          </p:cNvPr>
          <p:cNvSpPr txBox="1"/>
          <p:nvPr/>
        </p:nvSpPr>
        <p:spPr>
          <a:xfrm>
            <a:off x="237300" y="41346819"/>
            <a:ext cx="14916944" cy="1200329"/>
          </a:xfrm>
          <a:prstGeom prst="rect">
            <a:avLst/>
          </a:prstGeom>
          <a:noFill/>
        </p:spPr>
        <p:txBody>
          <a:bodyPr wrap="square" rtlCol="0">
            <a:spAutoFit/>
          </a:bodyPr>
          <a:lstStyle/>
          <a:p>
            <a:r>
              <a:rPr kumimoji="1" lang="en-US" altLang="ja-JP" sz="2400" dirty="0">
                <a:latin typeface="MS PGothic" panose="020B0600070205080204" pitchFamily="34" charset="-128"/>
                <a:ea typeface="MS PGothic" panose="020B0600070205080204" pitchFamily="34" charset="-128"/>
              </a:rPr>
              <a:t>[1] </a:t>
            </a:r>
            <a:r>
              <a:rPr kumimoji="1" lang="en-US" altLang="ja-JP" sz="2400" dirty="0" err="1">
                <a:latin typeface="MS PGothic" panose="020B0600070205080204" pitchFamily="34" charset="-128"/>
                <a:ea typeface="MS PGothic" panose="020B0600070205080204" pitchFamily="34" charset="-128"/>
              </a:rPr>
              <a:t>M.Zhu</a:t>
            </a:r>
            <a:r>
              <a:rPr kumimoji="1" lang="ja-JP" altLang="en-US" sz="2400">
                <a:latin typeface="MS PGothic" panose="020B0600070205080204" pitchFamily="34" charset="-128"/>
                <a:ea typeface="MS PGothic" panose="020B0600070205080204" pitchFamily="34" charset="-128"/>
              </a:rPr>
              <a:t>，</a:t>
            </a:r>
            <a:r>
              <a:rPr kumimoji="1" lang="en-US" altLang="ja-JP" sz="2400" dirty="0">
                <a:latin typeface="MS PGothic" panose="020B0600070205080204" pitchFamily="34" charset="-128"/>
                <a:ea typeface="MS PGothic" panose="020B0600070205080204" pitchFamily="34" charset="-128"/>
              </a:rPr>
              <a:t>et al.</a:t>
            </a:r>
            <a:r>
              <a:rPr kumimoji="1" lang="ja-JP" altLang="en-US" sz="2400">
                <a:latin typeface="MS PGothic" panose="020B0600070205080204" pitchFamily="34" charset="-128"/>
                <a:ea typeface="MS PGothic" panose="020B0600070205080204" pitchFamily="34" charset="-128"/>
              </a:rPr>
              <a:t>，</a:t>
            </a:r>
            <a:r>
              <a:rPr kumimoji="1" lang="en-US" altLang="ja-JP" sz="2400" dirty="0" err="1">
                <a:latin typeface="MS PGothic" panose="020B0600070205080204" pitchFamily="34" charset="-128"/>
                <a:ea typeface="MS PGothic" panose="020B0600070205080204" pitchFamily="34" charset="-128"/>
              </a:rPr>
              <a:t>arXiv</a:t>
            </a:r>
            <a:r>
              <a:rPr kumimoji="1" lang="en-US" altLang="ja-JP" sz="2400" dirty="0">
                <a:latin typeface="MS PGothic" panose="020B0600070205080204" pitchFamily="34" charset="-128"/>
                <a:ea typeface="MS PGothic" panose="020B0600070205080204" pitchFamily="34" charset="-128"/>
              </a:rPr>
              <a:t> :2306.08571</a:t>
            </a:r>
            <a:r>
              <a:rPr kumimoji="1" lang="ja-JP" altLang="en-US" sz="2400">
                <a:latin typeface="MS PGothic" panose="020B0600070205080204" pitchFamily="34" charset="-128"/>
                <a:ea typeface="MS PGothic" panose="020B0600070205080204" pitchFamily="34" charset="-128"/>
              </a:rPr>
              <a:t>，</a:t>
            </a:r>
            <a:r>
              <a:rPr kumimoji="1" lang="en-US" altLang="ja-JP" sz="2400" dirty="0">
                <a:latin typeface="MS PGothic" panose="020B0600070205080204" pitchFamily="34" charset="-128"/>
                <a:ea typeface="MS PGothic" panose="020B0600070205080204" pitchFamily="34" charset="-128"/>
              </a:rPr>
              <a:t>Jun</a:t>
            </a:r>
            <a:r>
              <a:rPr kumimoji="1" lang="ja-JP" altLang="en-US" sz="2400">
                <a:latin typeface="MS PGothic" panose="020B0600070205080204" pitchFamily="34" charset="-128"/>
                <a:ea typeface="MS PGothic" panose="020B0600070205080204" pitchFamily="34" charset="-128"/>
              </a:rPr>
              <a:t>．</a:t>
            </a:r>
            <a:r>
              <a:rPr kumimoji="1" lang="en-US" altLang="ja-JP" sz="2400" dirty="0">
                <a:latin typeface="MS PGothic" panose="020B0600070205080204" pitchFamily="34" charset="-128"/>
                <a:ea typeface="MS PGothic" panose="020B0600070205080204" pitchFamily="34" charset="-128"/>
              </a:rPr>
              <a:t>2023. </a:t>
            </a:r>
          </a:p>
          <a:p>
            <a:r>
              <a:rPr lang="en-US" altLang="ja-JP" sz="2400" dirty="0">
                <a:solidFill>
                  <a:srgbClr val="111111"/>
                </a:solidFill>
                <a:latin typeface="MS PGothic" panose="020B0600070205080204" pitchFamily="34" charset="-128"/>
                <a:ea typeface="MS PGothic" panose="020B0600070205080204" pitchFamily="34" charset="-128"/>
              </a:rPr>
              <a:t>[2] V. Ashish, et al., </a:t>
            </a:r>
            <a:r>
              <a:rPr lang="en-US" altLang="ja-JP" sz="2400" i="1" dirty="0">
                <a:solidFill>
                  <a:srgbClr val="111111"/>
                </a:solidFill>
                <a:latin typeface="MS PGothic" panose="020B0600070205080204" pitchFamily="34" charset="-128"/>
                <a:ea typeface="MS PGothic" panose="020B0600070205080204" pitchFamily="34" charset="-128"/>
              </a:rPr>
              <a:t>Advances in neural information processing systems 31</a:t>
            </a:r>
            <a:r>
              <a:rPr lang="en-US" altLang="ja-JP" sz="2400" dirty="0">
                <a:solidFill>
                  <a:srgbClr val="111111"/>
                </a:solidFill>
                <a:latin typeface="MS PGothic" panose="020B0600070205080204" pitchFamily="34" charset="-128"/>
                <a:ea typeface="MS PGothic" panose="020B0600070205080204" pitchFamily="34" charset="-128"/>
              </a:rPr>
              <a:t>, pp.5998-6008, Dec. 2017.</a:t>
            </a:r>
          </a:p>
          <a:p>
            <a:r>
              <a:rPr kumimoji="1" lang="en-US" altLang="ja-JP" sz="2400" dirty="0">
                <a:latin typeface="MS PGothic" panose="020B0600070205080204" pitchFamily="34" charset="-128"/>
                <a:ea typeface="MS PGothic" panose="020B0600070205080204" pitchFamily="34" charset="-128"/>
              </a:rPr>
              <a:t>[3] </a:t>
            </a:r>
            <a:r>
              <a:rPr lang="en" altLang="ja-JP" sz="2400" dirty="0" err="1">
                <a:solidFill>
                  <a:srgbClr val="111111"/>
                </a:solidFill>
                <a:latin typeface="MS PGothic" panose="020B0600070205080204" pitchFamily="34" charset="-128"/>
                <a:ea typeface="MS PGothic" panose="020B0600070205080204" pitchFamily="34" charset="-128"/>
              </a:rPr>
              <a:t>Z.Liu</a:t>
            </a:r>
            <a:r>
              <a:rPr lang="ja-JP" altLang="en-US" sz="2400">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et al</a:t>
            </a:r>
            <a:r>
              <a:rPr lang="ja-JP" altLang="en" sz="2400">
                <a:solidFill>
                  <a:srgbClr val="111111"/>
                </a:solidFill>
                <a:latin typeface="MS PGothic" panose="020B0600070205080204" pitchFamily="34" charset="-128"/>
                <a:ea typeface="MS PGothic" panose="020B0600070205080204" pitchFamily="34" charset="-128"/>
              </a:rPr>
              <a:t>，</a:t>
            </a:r>
            <a:r>
              <a:rPr lang="en" altLang="ja-JP" sz="2400" i="1" dirty="0">
                <a:solidFill>
                  <a:srgbClr val="111111"/>
                </a:solidFill>
                <a:latin typeface="MS PGothic" panose="020B0600070205080204" pitchFamily="34" charset="-128"/>
                <a:ea typeface="MS PGothic" panose="020B0600070205080204" pitchFamily="34" charset="-128"/>
              </a:rPr>
              <a:t>Proc</a:t>
            </a:r>
            <a:r>
              <a:rPr lang="ja-JP" altLang="en" sz="2400" i="1">
                <a:solidFill>
                  <a:srgbClr val="111111"/>
                </a:solidFill>
                <a:latin typeface="MS PGothic" panose="020B0600070205080204" pitchFamily="34" charset="-128"/>
                <a:ea typeface="MS PGothic" panose="020B0600070205080204" pitchFamily="34" charset="-128"/>
              </a:rPr>
              <a:t>．</a:t>
            </a:r>
            <a:r>
              <a:rPr lang="en" altLang="ja-JP" sz="2400" i="1" dirty="0">
                <a:solidFill>
                  <a:srgbClr val="111111"/>
                </a:solidFill>
                <a:latin typeface="MS PGothic" panose="020B0600070205080204" pitchFamily="34" charset="-128"/>
                <a:ea typeface="MS PGothic" panose="020B0600070205080204" pitchFamily="34" charset="-128"/>
              </a:rPr>
              <a:t>IEEE/CVF ICCV</a:t>
            </a:r>
            <a:r>
              <a:rPr lang="ja-JP" altLang="en" sz="2400" i="1">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pp.10012-10022</a:t>
            </a:r>
            <a:r>
              <a:rPr lang="ja-JP" altLang="en" sz="2400">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Oct</a:t>
            </a:r>
            <a:r>
              <a:rPr lang="ja-JP" altLang="en-US" sz="2400">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2021</a:t>
            </a:r>
            <a:r>
              <a:rPr lang="ja-JP" altLang="en-US" sz="2400">
                <a:solidFill>
                  <a:srgbClr val="111111"/>
                </a:solidFill>
                <a:latin typeface="MS PGothic" panose="020B0600070205080204" pitchFamily="34" charset="-128"/>
                <a:ea typeface="MS PGothic" panose="020B0600070205080204" pitchFamily="34" charset="-128"/>
              </a:rPr>
              <a:t>．</a:t>
            </a:r>
            <a:endParaRPr lang="en-US" altLang="ja-JP" sz="2400" dirty="0">
              <a:solidFill>
                <a:srgbClr val="111111"/>
              </a:solidFill>
              <a:latin typeface="MS PGothic" panose="020B0600070205080204" pitchFamily="34" charset="-128"/>
              <a:ea typeface="MS PGothic" panose="020B0600070205080204" pitchFamily="34" charset="-128"/>
            </a:endParaRPr>
          </a:p>
        </p:txBody>
      </p:sp>
      <p:sp>
        <p:nvSpPr>
          <p:cNvPr id="1127" name="テキスト ボックス 1126">
            <a:extLst>
              <a:ext uri="{FF2B5EF4-FFF2-40B4-BE49-F238E27FC236}">
                <a16:creationId xmlns:a16="http://schemas.microsoft.com/office/drawing/2014/main" id="{3C18FF6E-9050-C809-58E5-0F8B3D464A4F}"/>
              </a:ext>
            </a:extLst>
          </p:cNvPr>
          <p:cNvSpPr txBox="1"/>
          <p:nvPr/>
        </p:nvSpPr>
        <p:spPr>
          <a:xfrm>
            <a:off x="4016368" y="9897541"/>
            <a:ext cx="6884481"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図</a:t>
            </a:r>
            <a:r>
              <a:rPr kumimoji="1" lang="en-US" altLang="ja-JP" sz="4000" dirty="0">
                <a:latin typeface="MS PGothic" panose="020B0600070205080204" pitchFamily="34" charset="-128"/>
                <a:ea typeface="MS PGothic" panose="020B0600070205080204" pitchFamily="34" charset="-128"/>
              </a:rPr>
              <a:t>1</a:t>
            </a:r>
            <a:r>
              <a:rPr kumimoji="1" lang="ja-JP" altLang="en-US" sz="4000">
                <a:latin typeface="MS PGothic" panose="020B0600070205080204" pitchFamily="34" charset="-128"/>
                <a:ea typeface="MS PGothic" panose="020B0600070205080204" pitchFamily="34" charset="-128"/>
              </a:rPr>
              <a:t>　生成画像の悪用例</a:t>
            </a:r>
            <a:endParaRPr kumimoji="1" lang="en-US" altLang="ja-JP" sz="4000" dirty="0">
              <a:latin typeface="MS PGothic" panose="020B0600070205080204" pitchFamily="34" charset="-128"/>
              <a:ea typeface="MS PGothic" panose="020B0600070205080204" pitchFamily="34" charset="-128"/>
            </a:endParaRPr>
          </a:p>
        </p:txBody>
      </p:sp>
      <p:sp>
        <p:nvSpPr>
          <p:cNvPr id="16" name="正方形/長方形 15">
            <a:extLst>
              <a:ext uri="{FF2B5EF4-FFF2-40B4-BE49-F238E27FC236}">
                <a16:creationId xmlns:a16="http://schemas.microsoft.com/office/drawing/2014/main" id="{F39C026B-7174-71F7-63A5-03D8878C0799}"/>
              </a:ext>
            </a:extLst>
          </p:cNvPr>
          <p:cNvSpPr/>
          <p:nvPr/>
        </p:nvSpPr>
        <p:spPr>
          <a:xfrm>
            <a:off x="15366748" y="2288708"/>
            <a:ext cx="14681200" cy="17592844"/>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正方形/長方形 48">
            <a:extLst>
              <a:ext uri="{FF2B5EF4-FFF2-40B4-BE49-F238E27FC236}">
                <a16:creationId xmlns:a16="http://schemas.microsoft.com/office/drawing/2014/main" id="{6A001FD4-AA82-3544-155E-4289E50DD907}"/>
              </a:ext>
            </a:extLst>
          </p:cNvPr>
          <p:cNvSpPr/>
          <p:nvPr/>
        </p:nvSpPr>
        <p:spPr>
          <a:xfrm>
            <a:off x="15366748" y="2288708"/>
            <a:ext cx="1468120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800" dirty="0">
                <a:latin typeface="MS PGothic" panose="020B0600070205080204" pitchFamily="34" charset="-128"/>
                <a:ea typeface="MS PGothic" panose="020B0600070205080204" pitchFamily="34" charset="-128"/>
              </a:rPr>
              <a:t>提案手法</a:t>
            </a:r>
          </a:p>
        </p:txBody>
      </p:sp>
      <p:sp>
        <p:nvSpPr>
          <p:cNvPr id="55" name="テキスト ボックス 54">
            <a:extLst>
              <a:ext uri="{FF2B5EF4-FFF2-40B4-BE49-F238E27FC236}">
                <a16:creationId xmlns:a16="http://schemas.microsoft.com/office/drawing/2014/main" id="{A181E7EC-1FCD-AD9C-5780-E6528F196439}"/>
              </a:ext>
            </a:extLst>
          </p:cNvPr>
          <p:cNvSpPr txBox="1"/>
          <p:nvPr/>
        </p:nvSpPr>
        <p:spPr>
          <a:xfrm>
            <a:off x="15357714" y="3169285"/>
            <a:ext cx="14681200" cy="16712267"/>
          </a:xfrm>
          <a:prstGeom prst="rect">
            <a:avLst/>
          </a:prstGeom>
          <a:noFill/>
        </p:spPr>
        <p:txBody>
          <a:bodyPr wrap="square" lIns="90000" rtlCol="0">
            <a:spAutoFit/>
          </a:bodyPr>
          <a:lstStyle/>
          <a:p>
            <a:pPr indent="457200" algn="just"/>
            <a:r>
              <a:rPr kumimoji="1" lang="en-US" altLang="ja-JP" sz="4000" dirty="0">
                <a:latin typeface="MS PGothic" panose="020B0600070205080204" pitchFamily="34" charset="-128"/>
                <a:ea typeface="MS PGothic" panose="020B0600070205080204" pitchFamily="34" charset="-128"/>
              </a:rPr>
              <a:t>Transformer[</a:t>
            </a:r>
            <a:r>
              <a:rPr kumimoji="1" lang="ja-JP" altLang="en-US" sz="4000" dirty="0">
                <a:latin typeface="MS PGothic" panose="020B0600070205080204" pitchFamily="34" charset="-128"/>
                <a:ea typeface="MS PGothic" panose="020B0600070205080204" pitchFamily="34" charset="-128"/>
              </a:rPr>
              <a:t>２</a:t>
            </a:r>
            <a:r>
              <a:rPr kumimoji="1" lang="en-US" altLang="ja-JP" sz="4000" dirty="0">
                <a:latin typeface="MS PGothic" panose="020B0600070205080204" pitchFamily="34" charset="-128"/>
                <a:ea typeface="MS PGothic" panose="020B0600070205080204" pitchFamily="34" charset="-128"/>
              </a:rPr>
              <a:t>]</a:t>
            </a:r>
            <a:r>
              <a:rPr kumimoji="1" lang="ja-JP" altLang="en-US" sz="4000" dirty="0">
                <a:latin typeface="MS PGothic" panose="020B0600070205080204" pitchFamily="34" charset="-128"/>
                <a:ea typeface="MS PGothic" panose="020B0600070205080204" pitchFamily="34" charset="-128"/>
              </a:rPr>
              <a:t>は，従来の深層学習モデルと異なり，</a:t>
            </a:r>
            <a:r>
              <a:rPr kumimoji="1" lang="en" altLang="ja-JP" sz="4000" dirty="0">
                <a:latin typeface="MS PGothic" panose="020B0600070205080204" pitchFamily="34" charset="-128"/>
                <a:ea typeface="MS PGothic" panose="020B0600070205080204" pitchFamily="34" charset="-128"/>
              </a:rPr>
              <a:t>Recurrent</a:t>
            </a:r>
            <a:r>
              <a:rPr kumimoji="1" lang="ja-JP" altLang="en-US" sz="4000" dirty="0">
                <a:latin typeface="MS PGothic" panose="020B0600070205080204" pitchFamily="34" charset="-128"/>
                <a:ea typeface="MS PGothic" panose="020B0600070205080204" pitchFamily="34" charset="-128"/>
              </a:rPr>
              <a:t>層や畳み込み層を使用せず，</a:t>
            </a:r>
            <a:r>
              <a:rPr kumimoji="1" lang="en" altLang="ja-JP" sz="4000" dirty="0">
                <a:latin typeface="MS PGothic" panose="020B0600070205080204" pitchFamily="34" charset="-128"/>
                <a:ea typeface="MS PGothic" panose="020B0600070205080204" pitchFamily="34" charset="-128"/>
              </a:rPr>
              <a:t>Attention</a:t>
            </a:r>
            <a:r>
              <a:rPr kumimoji="1" lang="ja-JP" altLang="en-US" sz="4000" dirty="0">
                <a:latin typeface="MS PGothic" panose="020B0600070205080204" pitchFamily="34" charset="-128"/>
                <a:ea typeface="MS PGothic" panose="020B0600070205080204" pitchFamily="34" charset="-128"/>
              </a:rPr>
              <a:t>層のみを用いて学習を行うことが</a:t>
            </a:r>
            <a:r>
              <a:rPr kumimoji="1" lang="en" altLang="ja-JP" sz="4000" dirty="0">
                <a:latin typeface="MS PGothic" panose="020B0600070205080204" pitchFamily="34" charset="-128"/>
                <a:ea typeface="MS PGothic" panose="020B0600070205080204" pitchFamily="34" charset="-128"/>
              </a:rPr>
              <a:t>Transformer</a:t>
            </a:r>
            <a:r>
              <a:rPr kumimoji="1" lang="ja-JP" altLang="en-US" sz="4000" dirty="0">
                <a:latin typeface="MS PGothic" panose="020B0600070205080204" pitchFamily="34" charset="-128"/>
                <a:ea typeface="MS PGothic" panose="020B0600070205080204" pitchFamily="34" charset="-128"/>
              </a:rPr>
              <a:t>の特徴である．</a:t>
            </a:r>
            <a:r>
              <a:rPr kumimoji="1" lang="en" altLang="ja-JP" sz="4000" dirty="0">
                <a:latin typeface="MS PGothic" panose="020B0600070205080204" pitchFamily="34" charset="-128"/>
                <a:ea typeface="MS PGothic" panose="020B0600070205080204" pitchFamily="34" charset="-128"/>
              </a:rPr>
              <a:t>Transformer</a:t>
            </a:r>
            <a:r>
              <a:rPr kumimoji="1" lang="ja-JP" altLang="en-US" sz="4000" dirty="0">
                <a:latin typeface="MS PGothic" panose="020B0600070205080204" pitchFamily="34" charset="-128"/>
                <a:ea typeface="MS PGothic" panose="020B0600070205080204" pitchFamily="34" charset="-128"/>
              </a:rPr>
              <a:t>は主に自然言語処理分野で使用されているが，近年の画像処理分野にも広く使用されている．</a:t>
            </a:r>
            <a:endParaRPr kumimoji="1" lang="en-US" altLang="ja-JP" sz="4000" dirty="0">
              <a:latin typeface="MS PGothic" panose="020B0600070205080204" pitchFamily="34" charset="-128"/>
              <a:ea typeface="MS PGothic" panose="020B0600070205080204" pitchFamily="34" charset="-128"/>
            </a:endParaRPr>
          </a:p>
          <a:p>
            <a:pPr indent="457200" algn="just"/>
            <a:r>
              <a:rPr kumimoji="1" lang="en" altLang="ja-JP" sz="4000" dirty="0" err="1">
                <a:latin typeface="MS PGothic" panose="020B0600070205080204" pitchFamily="34" charset="-128"/>
                <a:ea typeface="MS PGothic" panose="020B0600070205080204" pitchFamily="34" charset="-128"/>
              </a:rPr>
              <a:t>Swin</a:t>
            </a:r>
            <a:r>
              <a:rPr kumimoji="1" lang="en" altLang="ja-JP" sz="4000" dirty="0">
                <a:latin typeface="MS PGothic" panose="020B0600070205080204" pitchFamily="34" charset="-128"/>
                <a:ea typeface="MS PGothic" panose="020B0600070205080204" pitchFamily="34" charset="-128"/>
              </a:rPr>
              <a:t>-Transformer(</a:t>
            </a:r>
            <a:r>
              <a:rPr kumimoji="1" lang="en" altLang="ja-JP" sz="4000" dirty="0" err="1">
                <a:latin typeface="MS PGothic" panose="020B0600070205080204" pitchFamily="34" charset="-128"/>
                <a:ea typeface="MS PGothic" panose="020B0600070205080204" pitchFamily="34" charset="-128"/>
              </a:rPr>
              <a:t>Swin</a:t>
            </a:r>
            <a:r>
              <a:rPr kumimoji="1" lang="en" altLang="ja-JP" sz="4000" dirty="0">
                <a:latin typeface="MS PGothic" panose="020B0600070205080204" pitchFamily="34" charset="-128"/>
                <a:ea typeface="MS PGothic" panose="020B0600070205080204" pitchFamily="34" charset="-128"/>
              </a:rPr>
              <a:t>-T)[</a:t>
            </a:r>
            <a:r>
              <a:rPr kumimoji="1" lang="ja-JP" altLang="en-US" sz="4000" dirty="0">
                <a:latin typeface="MS PGothic" panose="020B0600070205080204" pitchFamily="34" charset="-128"/>
                <a:ea typeface="MS PGothic" panose="020B0600070205080204" pitchFamily="34" charset="-128"/>
              </a:rPr>
              <a:t>３</a:t>
            </a:r>
            <a:r>
              <a:rPr kumimoji="1" lang="en" altLang="ja-JP" sz="4000" dirty="0">
                <a:latin typeface="MS PGothic" panose="020B0600070205080204" pitchFamily="34" charset="-128"/>
                <a:ea typeface="MS PGothic" panose="020B0600070205080204" pitchFamily="34" charset="-128"/>
              </a:rPr>
              <a:t>]</a:t>
            </a:r>
            <a:r>
              <a:rPr kumimoji="1" lang="ja-JP" altLang="en-US" sz="4000" dirty="0">
                <a:latin typeface="MS PGothic" panose="020B0600070205080204" pitchFamily="34" charset="-128"/>
                <a:ea typeface="MS PGothic" panose="020B0600070205080204" pitchFamily="34" charset="-128"/>
              </a:rPr>
              <a:t>は</a:t>
            </a:r>
            <a:r>
              <a:rPr kumimoji="1" lang="en" altLang="ja-JP" sz="4000" dirty="0">
                <a:latin typeface="MS PGothic" panose="020B0600070205080204" pitchFamily="34" charset="-128"/>
                <a:ea typeface="MS PGothic" panose="020B0600070205080204" pitchFamily="34" charset="-128"/>
              </a:rPr>
              <a:t>Transformer</a:t>
            </a:r>
            <a:r>
              <a:rPr kumimoji="1" lang="ja-JP" altLang="en-US" sz="4000" dirty="0">
                <a:latin typeface="MS PGothic" panose="020B0600070205080204" pitchFamily="34" charset="-128"/>
                <a:ea typeface="MS PGothic" panose="020B0600070205080204" pitchFamily="34" charset="-128"/>
              </a:rPr>
              <a:t>の仕組みを画像分野に応用したモデルである．</a:t>
            </a:r>
            <a:endParaRPr kumimoji="1" lang="en-US" altLang="ja-JP" sz="4000" dirty="0">
              <a:latin typeface="MS PGothic" panose="020B0600070205080204" pitchFamily="34" charset="-128"/>
              <a:ea typeface="MS PGothic" panose="020B0600070205080204" pitchFamily="34" charset="-128"/>
            </a:endParaRPr>
          </a:p>
          <a:p>
            <a:pPr indent="457200" algn="just"/>
            <a:r>
              <a:rPr kumimoji="1" lang="en-US" altLang="ja-JP" sz="4000" dirty="0" err="1">
                <a:latin typeface="MS PGothic" panose="020B0600070205080204" pitchFamily="34" charset="-128"/>
                <a:ea typeface="MS PGothic" panose="020B0600070205080204" pitchFamily="34" charset="-128"/>
              </a:rPr>
              <a:t>GenImage</a:t>
            </a:r>
            <a:r>
              <a:rPr kumimoji="1" lang="ja-JP" altLang="en-US" sz="4000" dirty="0">
                <a:latin typeface="MS PGothic" panose="020B0600070205080204" pitchFamily="34" charset="-128"/>
                <a:ea typeface="MS PGothic" panose="020B0600070205080204" pitchFamily="34" charset="-128"/>
              </a:rPr>
              <a:t>の実験では，最も高精度に生成と現実の画像を分類したモデルは</a:t>
            </a:r>
            <a:r>
              <a:rPr kumimoji="1" lang="en" altLang="ja-JP" sz="4000" dirty="0" err="1">
                <a:latin typeface="MS PGothic" panose="020B0600070205080204" pitchFamily="34" charset="-128"/>
                <a:ea typeface="MS PGothic" panose="020B0600070205080204" pitchFamily="34" charset="-128"/>
              </a:rPr>
              <a:t>Swin</a:t>
            </a:r>
            <a:r>
              <a:rPr kumimoji="1" lang="en" altLang="ja-JP" sz="4000" dirty="0">
                <a:latin typeface="MS PGothic" panose="020B0600070205080204" pitchFamily="34" charset="-128"/>
                <a:ea typeface="MS PGothic" panose="020B0600070205080204" pitchFamily="34" charset="-128"/>
              </a:rPr>
              <a:t>-T</a:t>
            </a:r>
            <a:r>
              <a:rPr kumimoji="1" lang="ja-JP" altLang="en-US" sz="4000" dirty="0">
                <a:latin typeface="MS PGothic" panose="020B0600070205080204" pitchFamily="34" charset="-128"/>
                <a:ea typeface="MS PGothic" panose="020B0600070205080204" pitchFamily="34" charset="-128"/>
              </a:rPr>
              <a:t>であるため，本研究では，</a:t>
            </a:r>
            <a:r>
              <a:rPr kumimoji="1" lang="en-US" altLang="ja-JP" sz="4000" dirty="0" err="1">
                <a:latin typeface="MS PGothic" panose="020B0600070205080204" pitchFamily="34" charset="-128"/>
                <a:ea typeface="MS PGothic" panose="020B0600070205080204" pitchFamily="34" charset="-128"/>
              </a:rPr>
              <a:t>Swin</a:t>
            </a:r>
            <a:r>
              <a:rPr kumimoji="1" lang="en-US" altLang="ja-JP" sz="4000" dirty="0">
                <a:latin typeface="MS PGothic" panose="020B0600070205080204" pitchFamily="34" charset="-128"/>
                <a:ea typeface="MS PGothic" panose="020B0600070205080204" pitchFamily="34" charset="-128"/>
              </a:rPr>
              <a:t>-T</a:t>
            </a:r>
            <a:r>
              <a:rPr kumimoji="1" lang="ja-JP" altLang="en-US" sz="4000" dirty="0">
                <a:latin typeface="MS PGothic" panose="020B0600070205080204" pitchFamily="34" charset="-128"/>
                <a:ea typeface="MS PGothic" panose="020B0600070205080204" pitchFamily="34" charset="-128"/>
              </a:rPr>
              <a:t>を用い</a:t>
            </a:r>
            <a:r>
              <a:rPr kumimoji="1" lang="en-US" altLang="ja-JP" sz="4000" dirty="0">
                <a:latin typeface="MS PGothic" panose="020B0600070205080204" pitchFamily="34" charset="-128"/>
                <a:ea typeface="MS PGothic" panose="020B0600070205080204" pitchFamily="34" charset="-128"/>
              </a:rPr>
              <a:t>.</a:t>
            </a:r>
            <a:r>
              <a:rPr kumimoji="1" lang="ja-JP" altLang="en-US" sz="4000" dirty="0">
                <a:latin typeface="MS PGothic" panose="020B0600070205080204" pitchFamily="34" charset="-128"/>
                <a:ea typeface="MS PGothic" panose="020B0600070205080204" pitchFamily="34" charset="-128"/>
              </a:rPr>
              <a:t>，異なる生成モデルが生成した画像をそれぞれ学習した識別器を複数組み合わせることで現実か生成画像かを判別する新たな分類モデルを提案する．提案手法の構造を図３に示す</a:t>
            </a:r>
            <a:r>
              <a:rPr kumimoji="1" lang="en-US" altLang="ja-JP" sz="4000" dirty="0">
                <a:latin typeface="MS PGothic" panose="020B0600070205080204" pitchFamily="34" charset="-128"/>
                <a:ea typeface="MS PGothic" panose="020B0600070205080204" pitchFamily="34" charset="-128"/>
              </a:rPr>
              <a:t>. </a:t>
            </a: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r>
              <a:rPr kumimoji="1" lang="ja-JP" altLang="en-US" sz="4000" dirty="0">
                <a:latin typeface="MS PGothic" panose="020B0600070205080204" pitchFamily="34" charset="-128"/>
                <a:ea typeface="MS PGothic" panose="020B0600070205080204" pitchFamily="34" charset="-128"/>
              </a:rPr>
              <a:t>提案手法では，画像を入力し，それぞれの識別器に分類させる．分類過程において，いずれかの識別器が生成画像であると判定した場合は生成画像と見なす．一方で，全てのモデルが現実と判定した場合は現実画像とする．</a:t>
            </a:r>
            <a:endParaRPr kumimoji="1" lang="en-US" altLang="ja-JP" sz="4000" dirty="0">
              <a:latin typeface="MS PGothic" panose="020B0600070205080204" pitchFamily="34" charset="-128"/>
              <a:ea typeface="MS PGothic" panose="020B0600070205080204" pitchFamily="34" charset="-128"/>
            </a:endParaRPr>
          </a:p>
          <a:p>
            <a:pPr indent="457200" algn="just"/>
            <a:r>
              <a:rPr kumimoji="1" lang="ja-JP" altLang="en-US" sz="4000" dirty="0">
                <a:latin typeface="MS PGothic" panose="020B0600070205080204" pitchFamily="34" charset="-128"/>
                <a:ea typeface="MS PGothic" panose="020B0600070205080204" pitchFamily="34" charset="-128"/>
              </a:rPr>
              <a:t>このシステムでは，各生成モデルに特化した識別器を無数に追加することが可能であるため，新しい生成モデルにも対応できる利点がある．</a:t>
            </a:r>
            <a:endParaRPr kumimoji="1" lang="en-US" altLang="ja-JP" sz="4000" dirty="0">
              <a:latin typeface="MS PGothic" panose="020B0600070205080204" pitchFamily="34" charset="-128"/>
              <a:ea typeface="MS PGothic" panose="020B0600070205080204" pitchFamily="34" charset="-128"/>
            </a:endParaRPr>
          </a:p>
        </p:txBody>
      </p:sp>
      <p:sp>
        <p:nvSpPr>
          <p:cNvPr id="1097" name="テキスト ボックス 1096">
            <a:extLst>
              <a:ext uri="{FF2B5EF4-FFF2-40B4-BE49-F238E27FC236}">
                <a16:creationId xmlns:a16="http://schemas.microsoft.com/office/drawing/2014/main" id="{F2D0A6C6-CC47-3CBD-5A11-4443FBCA2836}"/>
              </a:ext>
            </a:extLst>
          </p:cNvPr>
          <p:cNvSpPr txBox="1"/>
          <p:nvPr/>
        </p:nvSpPr>
        <p:spPr>
          <a:xfrm>
            <a:off x="19256072" y="14428758"/>
            <a:ext cx="6884481"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図</a:t>
            </a:r>
            <a:r>
              <a:rPr kumimoji="1" lang="ja-JP" altLang="en-US" sz="4000" dirty="0">
                <a:latin typeface="MS PGothic" panose="020B0600070205080204" pitchFamily="34" charset="-128"/>
                <a:ea typeface="MS PGothic" panose="020B0600070205080204" pitchFamily="34" charset="-128"/>
              </a:rPr>
              <a:t>３</a:t>
            </a:r>
            <a:r>
              <a:rPr kumimoji="1" lang="ja-JP" altLang="en-US" sz="4000">
                <a:latin typeface="MS PGothic" panose="020B0600070205080204" pitchFamily="34" charset="-128"/>
                <a:ea typeface="MS PGothic" panose="020B0600070205080204" pitchFamily="34" charset="-128"/>
              </a:rPr>
              <a:t>　</a:t>
            </a:r>
            <a:r>
              <a:rPr kumimoji="1" lang="ja-JP" altLang="en-US" sz="4000" dirty="0">
                <a:latin typeface="MS PGothic" panose="020B0600070205080204" pitchFamily="34" charset="-128"/>
                <a:ea typeface="MS PGothic" panose="020B0600070205080204" pitchFamily="34" charset="-128"/>
              </a:rPr>
              <a:t>提案手法の構造</a:t>
            </a:r>
            <a:endParaRPr kumimoji="1" lang="en-US" altLang="ja-JP" sz="4000" dirty="0">
              <a:latin typeface="MS PGothic" panose="020B0600070205080204" pitchFamily="34" charset="-128"/>
              <a:ea typeface="MS PGothic" panose="020B0600070205080204" pitchFamily="34" charset="-128"/>
            </a:endParaRPr>
          </a:p>
        </p:txBody>
      </p:sp>
      <p:sp>
        <p:nvSpPr>
          <p:cNvPr id="1102" name="正方形/長方形 1101">
            <a:extLst>
              <a:ext uri="{FF2B5EF4-FFF2-40B4-BE49-F238E27FC236}">
                <a16:creationId xmlns:a16="http://schemas.microsoft.com/office/drawing/2014/main" id="{72026401-2757-134B-5EC7-4218ED09FF26}"/>
              </a:ext>
            </a:extLst>
          </p:cNvPr>
          <p:cNvSpPr/>
          <p:nvPr/>
        </p:nvSpPr>
        <p:spPr>
          <a:xfrm>
            <a:off x="203198" y="20148111"/>
            <a:ext cx="14724513" cy="14019913"/>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3" name="正方形/長方形 1102">
            <a:extLst>
              <a:ext uri="{FF2B5EF4-FFF2-40B4-BE49-F238E27FC236}">
                <a16:creationId xmlns:a16="http://schemas.microsoft.com/office/drawing/2014/main" id="{159A5F72-BEAD-3128-2523-FC0B71C03D51}"/>
              </a:ext>
            </a:extLst>
          </p:cNvPr>
          <p:cNvSpPr/>
          <p:nvPr/>
        </p:nvSpPr>
        <p:spPr>
          <a:xfrm>
            <a:off x="210407" y="20148113"/>
            <a:ext cx="14717304"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800" dirty="0">
                <a:latin typeface="MS PGothic" panose="020B0600070205080204" pitchFamily="34" charset="-128"/>
                <a:ea typeface="MS PGothic" panose="020B0600070205080204" pitchFamily="34" charset="-128"/>
              </a:rPr>
              <a:t>実験</a:t>
            </a:r>
          </a:p>
        </p:txBody>
      </p:sp>
      <p:sp>
        <p:nvSpPr>
          <p:cNvPr id="1105" name="テキスト ボックス 1104">
            <a:extLst>
              <a:ext uri="{FF2B5EF4-FFF2-40B4-BE49-F238E27FC236}">
                <a16:creationId xmlns:a16="http://schemas.microsoft.com/office/drawing/2014/main" id="{99E6DE42-C8B5-C244-D61F-ACC35DA52580}"/>
              </a:ext>
            </a:extLst>
          </p:cNvPr>
          <p:cNvSpPr txBox="1"/>
          <p:nvPr/>
        </p:nvSpPr>
        <p:spPr>
          <a:xfrm>
            <a:off x="247891" y="20991418"/>
            <a:ext cx="14625650" cy="12403395"/>
          </a:xfrm>
          <a:prstGeom prst="rect">
            <a:avLst/>
          </a:prstGeom>
          <a:noFill/>
          <a:ln w="38100">
            <a:noFill/>
          </a:ln>
        </p:spPr>
        <p:txBody>
          <a:bodyPr wrap="square" rtlCol="0">
            <a:spAutoFit/>
          </a:bodyPr>
          <a:lstStyle/>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r>
              <a:rPr kumimoji="1" lang="ja-JP" altLang="en-US" sz="4000">
                <a:latin typeface="MS PGothic" panose="020B0600070205080204" pitchFamily="34" charset="-128"/>
                <a:ea typeface="MS PGothic" panose="020B0600070205080204" pitchFamily="34" charset="-128"/>
              </a:rPr>
              <a:t>本研究では，提案モデルの有効性を調べるため，</a:t>
            </a:r>
            <a:r>
              <a:rPr kumimoji="1" lang="en-US" altLang="ja-JP" sz="4000" dirty="0" err="1">
                <a:latin typeface="MS PGothic" panose="020B0600070205080204" pitchFamily="34" charset="-128"/>
                <a:ea typeface="MS PGothic" panose="020B0600070205080204" pitchFamily="34" charset="-128"/>
              </a:rPr>
              <a:t>GenImage</a:t>
            </a:r>
            <a:r>
              <a:rPr kumimoji="1" lang="ja-JP" altLang="en-US" sz="4000">
                <a:latin typeface="MS PGothic" panose="020B0600070205080204" pitchFamily="34" charset="-128"/>
                <a:ea typeface="MS PGothic" panose="020B0600070205080204" pitchFamily="34" charset="-128"/>
              </a:rPr>
              <a:t>のベンチマーク問題に対する実験を行う．実験条件を表１に示す．</a:t>
            </a:r>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r>
              <a:rPr kumimoji="1" lang="ja-JP" altLang="en-US" sz="4000">
                <a:latin typeface="MS PGothic" panose="020B0600070205080204" pitchFamily="34" charset="-128"/>
                <a:ea typeface="MS PGothic" panose="020B0600070205080204" pitchFamily="34" charset="-128"/>
              </a:rPr>
              <a:t>実験では，</a:t>
            </a:r>
            <a:r>
              <a:rPr kumimoji="1" lang="en-US" altLang="ja-JP" sz="4000" dirty="0" err="1">
                <a:latin typeface="MS PGothic" panose="020B0600070205080204" pitchFamily="34" charset="-128"/>
                <a:ea typeface="MS PGothic" panose="020B0600070205080204" pitchFamily="34" charset="-128"/>
              </a:rPr>
              <a:t>GenImage</a:t>
            </a:r>
            <a:r>
              <a:rPr kumimoji="1" lang="ja-JP" altLang="en-US" sz="4000">
                <a:latin typeface="MS PGothic" panose="020B0600070205080204" pitchFamily="34" charset="-128"/>
                <a:ea typeface="MS PGothic" panose="020B0600070205080204" pitchFamily="34" charset="-128"/>
              </a:rPr>
              <a:t>と同様に生成モデルごとに学習した識別器と全てのモデルを学習した識別器そして提案手法で比較を行う．ベンチマーク問題として，</a:t>
            </a:r>
            <a:r>
              <a:rPr kumimoji="1" lang="en" altLang="ja-JP" sz="4000" dirty="0" err="1">
                <a:latin typeface="MS PGothic" panose="020B0600070205080204" pitchFamily="34" charset="-128"/>
                <a:ea typeface="MS PGothic" panose="020B0600070205080204" pitchFamily="34" charset="-128"/>
              </a:rPr>
              <a:t>GenImage</a:t>
            </a:r>
            <a:r>
              <a:rPr kumimoji="1" lang="ja-JP" altLang="en-US" sz="4000">
                <a:latin typeface="MS PGothic" panose="020B0600070205080204" pitchFamily="34" charset="-128"/>
                <a:ea typeface="MS PGothic" panose="020B0600070205080204" pitchFamily="34" charset="-128"/>
              </a:rPr>
              <a:t>で公開されている</a:t>
            </a:r>
            <a:r>
              <a:rPr kumimoji="1" lang="en-US" altLang="ja-JP" sz="4000" dirty="0">
                <a:latin typeface="MS PGothic" panose="020B0600070205080204" pitchFamily="34" charset="-128"/>
                <a:ea typeface="MS PGothic" panose="020B0600070205080204" pitchFamily="34" charset="-128"/>
              </a:rPr>
              <a:t>GLIDE[1]ADM[1]</a:t>
            </a:r>
            <a:r>
              <a:rPr kumimoji="1" lang="ja-JP" altLang="en-US" sz="4000">
                <a:latin typeface="MS PGothic" panose="020B0600070205080204" pitchFamily="34" charset="-128"/>
                <a:ea typeface="MS PGothic" panose="020B0600070205080204" pitchFamily="34" charset="-128"/>
              </a:rPr>
              <a:t>，</a:t>
            </a:r>
            <a:r>
              <a:rPr kumimoji="1" lang="en-US" altLang="ja-JP" sz="4000" dirty="0">
                <a:latin typeface="MS PGothic" panose="020B0600070205080204" pitchFamily="34" charset="-128"/>
                <a:ea typeface="MS PGothic" panose="020B0600070205080204" pitchFamily="34" charset="-128"/>
              </a:rPr>
              <a:t>Stable Diffusion ver.1.5(SDv5)</a:t>
            </a:r>
            <a:r>
              <a:rPr kumimoji="1" lang="ja-JP" altLang="en-US" sz="4000">
                <a:latin typeface="MS PGothic" panose="020B0600070205080204" pitchFamily="34" charset="-128"/>
                <a:ea typeface="MS PGothic" panose="020B0600070205080204" pitchFamily="34" charset="-128"/>
              </a:rPr>
              <a:t>，</a:t>
            </a:r>
            <a:r>
              <a:rPr kumimoji="1" lang="en-US" altLang="ja-JP" sz="4000" dirty="0">
                <a:latin typeface="MS PGothic" panose="020B0600070205080204" pitchFamily="34" charset="-128"/>
                <a:ea typeface="MS PGothic" panose="020B0600070205080204" pitchFamily="34" charset="-128"/>
              </a:rPr>
              <a:t>Stable Diffusion ver.1.4(SDv4)</a:t>
            </a:r>
            <a:r>
              <a:rPr kumimoji="1" lang="ja-JP" altLang="en-US" sz="4000">
                <a:latin typeface="MS PGothic" panose="020B0600070205080204" pitchFamily="34" charset="-128"/>
                <a:ea typeface="MS PGothic" panose="020B0600070205080204" pitchFamily="34" charset="-128"/>
              </a:rPr>
              <a:t>，</a:t>
            </a:r>
            <a:r>
              <a:rPr kumimoji="1" lang="en-US" altLang="ja-JP" sz="4000" dirty="0" err="1">
                <a:latin typeface="MS PGothic" panose="020B0600070205080204" pitchFamily="34" charset="-128"/>
                <a:ea typeface="MS PGothic" panose="020B0600070205080204" pitchFamily="34" charset="-128"/>
              </a:rPr>
              <a:t>BigGAN</a:t>
            </a:r>
            <a:r>
              <a:rPr kumimoji="1" lang="ja-JP" altLang="en-US" sz="4000">
                <a:latin typeface="MS PGothic" panose="020B0600070205080204" pitchFamily="34" charset="-128"/>
                <a:ea typeface="MS PGothic" panose="020B0600070205080204" pitchFamily="34" charset="-128"/>
              </a:rPr>
              <a:t>によって生成された画像と</a:t>
            </a:r>
            <a:r>
              <a:rPr kumimoji="1" lang="en-US" altLang="ja-JP" sz="4000" dirty="0">
                <a:latin typeface="MS PGothic" panose="020B0600070205080204" pitchFamily="34" charset="-128"/>
                <a:ea typeface="MS PGothic" panose="020B0600070205080204" pitchFamily="34" charset="-128"/>
              </a:rPr>
              <a:t>ImageNet</a:t>
            </a:r>
            <a:r>
              <a:rPr kumimoji="1" lang="ja-JP" altLang="en-US" sz="4000">
                <a:latin typeface="MS PGothic" panose="020B0600070205080204" pitchFamily="34" charset="-128"/>
                <a:ea typeface="MS PGothic" panose="020B0600070205080204" pitchFamily="34" charset="-128"/>
              </a:rPr>
              <a:t>の現実画像を使用する．検証データの現実画像枚数増加のため </a:t>
            </a:r>
            <a:r>
              <a:rPr kumimoji="1" lang="en" altLang="ja-JP" sz="4000" dirty="0">
                <a:latin typeface="MS PGothic" panose="020B0600070205080204" pitchFamily="34" charset="-128"/>
                <a:ea typeface="MS PGothic" panose="020B0600070205080204" pitchFamily="34" charset="-128"/>
              </a:rPr>
              <a:t>Flickr 30K[</a:t>
            </a:r>
            <a:r>
              <a:rPr kumimoji="1" lang="ja-JP" altLang="en-US" sz="4000">
                <a:latin typeface="MS PGothic" panose="020B0600070205080204" pitchFamily="34" charset="-128"/>
                <a:ea typeface="MS PGothic" panose="020B0600070205080204" pitchFamily="34" charset="-128"/>
              </a:rPr>
              <a:t>４</a:t>
            </a:r>
            <a:r>
              <a:rPr kumimoji="1" lang="en" altLang="ja-JP" sz="4000" dirty="0">
                <a:latin typeface="MS PGothic" panose="020B0600070205080204" pitchFamily="34" charset="-128"/>
                <a:ea typeface="MS PGothic" panose="020B0600070205080204" pitchFamily="34" charset="-128"/>
              </a:rPr>
              <a:t>] </a:t>
            </a:r>
            <a:r>
              <a:rPr kumimoji="1" lang="ja-JP" altLang="en-US" sz="4000">
                <a:latin typeface="MS PGothic" panose="020B0600070205080204" pitchFamily="34" charset="-128"/>
                <a:ea typeface="MS PGothic" panose="020B0600070205080204" pitchFamily="34" charset="-128"/>
              </a:rPr>
              <a:t>も含んでいる</a:t>
            </a:r>
            <a:r>
              <a:rPr kumimoji="1" lang="en-US" altLang="ja-JP" sz="4000" dirty="0">
                <a:latin typeface="MS PGothic" panose="020B0600070205080204" pitchFamily="34" charset="-128"/>
                <a:ea typeface="MS PGothic" panose="020B0600070205080204" pitchFamily="34" charset="-128"/>
              </a:rPr>
              <a:t>. </a:t>
            </a:r>
          </a:p>
        </p:txBody>
      </p:sp>
      <mc:AlternateContent xmlns:mc="http://schemas.openxmlformats.org/markup-compatibility/2006" xmlns:a14="http://schemas.microsoft.com/office/drawing/2010/main">
        <mc:Choice Requires="a14">
          <p:graphicFrame>
            <p:nvGraphicFramePr>
              <p:cNvPr id="1112" name="表 1111">
                <a:extLst>
                  <a:ext uri="{FF2B5EF4-FFF2-40B4-BE49-F238E27FC236}">
                    <a16:creationId xmlns:a16="http://schemas.microsoft.com/office/drawing/2014/main" id="{0B20C9B6-E037-AB30-EB46-3AF987C90A3F}"/>
                  </a:ext>
                </a:extLst>
              </p:cNvPr>
              <p:cNvGraphicFramePr>
                <a:graphicFrameLocks noGrp="1"/>
              </p:cNvGraphicFramePr>
              <p:nvPr>
                <p:extLst>
                  <p:ext uri="{D42A27DB-BD31-4B8C-83A1-F6EECF244321}">
                    <p14:modId xmlns:p14="http://schemas.microsoft.com/office/powerpoint/2010/main" val="2005626893"/>
                  </p:ext>
                </p:extLst>
              </p:nvPr>
            </p:nvGraphicFramePr>
            <p:xfrm>
              <a:off x="210407" y="24312812"/>
              <a:ext cx="14713600" cy="3800880"/>
            </p:xfrm>
            <a:graphic>
              <a:graphicData uri="http://schemas.openxmlformats.org/drawingml/2006/table">
                <a:tbl>
                  <a:tblPr firstRow="1" bandRow="1">
                    <a:tableStyleId>{5C22544A-7EE6-4342-B048-85BDC9FD1C3A}</a:tableStyleId>
                  </a:tblPr>
                  <a:tblGrid>
                    <a:gridCol w="3662017">
                      <a:extLst>
                        <a:ext uri="{9D8B030D-6E8A-4147-A177-3AD203B41FA5}">
                          <a16:colId xmlns:a16="http://schemas.microsoft.com/office/drawing/2014/main" val="1302717659"/>
                        </a:ext>
                      </a:extLst>
                    </a:gridCol>
                    <a:gridCol w="3662017">
                      <a:extLst>
                        <a:ext uri="{9D8B030D-6E8A-4147-A177-3AD203B41FA5}">
                          <a16:colId xmlns:a16="http://schemas.microsoft.com/office/drawing/2014/main" val="1335503367"/>
                        </a:ext>
                      </a:extLst>
                    </a:gridCol>
                    <a:gridCol w="7389566">
                      <a:extLst>
                        <a:ext uri="{9D8B030D-6E8A-4147-A177-3AD203B41FA5}">
                          <a16:colId xmlns:a16="http://schemas.microsoft.com/office/drawing/2014/main" val="118972529"/>
                        </a:ext>
                      </a:extLst>
                    </a:gridCol>
                  </a:tblGrid>
                  <a:tr h="760176">
                    <a:tc rowSpan="2">
                      <a:txBody>
                        <a:bodyPr/>
                        <a:lstStyle/>
                        <a:p>
                          <a:pPr algn="ctr"/>
                          <a:r>
                            <a:rPr kumimoji="1" lang="ja-JP" altLang="en-US" sz="4000" b="0" dirty="0">
                              <a:solidFill>
                                <a:schemeClr val="tx1"/>
                              </a:solidFill>
                              <a:latin typeface="MS PGothic" panose="020B0600070205080204" pitchFamily="34" charset="-128"/>
                              <a:ea typeface="MS PGothic" panose="020B0600070205080204" pitchFamily="34" charset="-128"/>
                            </a:rPr>
                            <a:t>データ</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4000" b="0">
                              <a:solidFill>
                                <a:schemeClr val="tx1"/>
                              </a:solidFill>
                              <a:latin typeface="MS PGothic" panose="020B0600070205080204" pitchFamily="34" charset="-128"/>
                              <a:ea typeface="MS PGothic" panose="020B0600070205080204" pitchFamily="34" charset="-128"/>
                            </a:rPr>
                            <a:t>生成画像</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en-US" altLang="ja-JP" sz="4000" b="0" dirty="0">
                              <a:solidFill>
                                <a:schemeClr val="tx1"/>
                              </a:solidFill>
                              <a:latin typeface="MS PGothic" panose="020B0600070205080204" pitchFamily="34" charset="-128"/>
                              <a:ea typeface="MS PGothic" panose="020B0600070205080204" pitchFamily="34" charset="-128"/>
                            </a:rPr>
                            <a:t>1,137,986</a:t>
                          </a:r>
                          <a:r>
                            <a:rPr kumimoji="1" lang="ja-JP" altLang="en-US" sz="4000" b="0">
                              <a:solidFill>
                                <a:schemeClr val="tx1"/>
                              </a:solidFill>
                              <a:latin typeface="MS PGothic" panose="020B0600070205080204" pitchFamily="34" charset="-128"/>
                              <a:ea typeface="MS PGothic" panose="020B0600070205080204" pitchFamily="34" charset="-128"/>
                            </a:rPr>
                            <a:t>枚 </a:t>
                          </a:r>
                          <a:r>
                            <a:rPr kumimoji="1" lang="en-US" altLang="ja-JP" sz="4000" b="0" dirty="0">
                              <a:solidFill>
                                <a:schemeClr val="tx1"/>
                              </a:solidFill>
                              <a:latin typeface="MS PGothic" panose="020B0600070205080204" pitchFamily="34" charset="-128"/>
                              <a:ea typeface="MS PGothic" panose="020B0600070205080204" pitchFamily="34" charset="-128"/>
                            </a:rPr>
                            <a:t>/ 44,000</a:t>
                          </a:r>
                          <a:r>
                            <a:rPr kumimoji="1" lang="ja-JP" altLang="en-US" sz="4000" b="0">
                              <a:solidFill>
                                <a:schemeClr val="tx1"/>
                              </a:solidFill>
                              <a:latin typeface="MS PGothic" panose="020B0600070205080204" pitchFamily="34" charset="-128"/>
                              <a:ea typeface="MS PGothic" panose="020B0600070205080204" pitchFamily="34" charset="-128"/>
                            </a:rPr>
                            <a:t>枚</a:t>
                          </a:r>
                          <a:r>
                            <a:rPr kumimoji="1" lang="en-US" altLang="ja-JP" sz="4000" b="0" dirty="0">
                              <a:solidFill>
                                <a:schemeClr val="tx1"/>
                              </a:solidFill>
                              <a:latin typeface="MS PGothic" panose="020B0600070205080204" pitchFamily="34" charset="-128"/>
                              <a:ea typeface="MS PGothic" panose="020B0600070205080204" pitchFamily="34" charset="-128"/>
                            </a:rPr>
                            <a:t>(test)</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760176">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4000" b="0">
                              <a:solidFill>
                                <a:schemeClr val="tx1"/>
                              </a:solidFill>
                              <a:latin typeface="MS PGothic" panose="020B0600070205080204" pitchFamily="34" charset="-128"/>
                              <a:ea typeface="MS PGothic" panose="020B0600070205080204" pitchFamily="34" charset="-128"/>
                            </a:rPr>
                            <a:t>現実画像</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4000" dirty="0"/>
                            <a:t>153,274</a:t>
                          </a:r>
                          <a:r>
                            <a:rPr kumimoji="1" lang="ja-JP" altLang="en-US" sz="4000" b="0">
                              <a:solidFill>
                                <a:schemeClr val="tx1"/>
                              </a:solidFill>
                              <a:latin typeface="MS PGothic" panose="020B0600070205080204" pitchFamily="34" charset="-128"/>
                              <a:ea typeface="MS PGothic" panose="020B0600070205080204" pitchFamily="34" charset="-128"/>
                            </a:rPr>
                            <a:t>件</a:t>
                          </a:r>
                          <a:r>
                            <a:rPr kumimoji="1" lang="en-US" altLang="ja-JP" sz="4000" b="0" dirty="0">
                              <a:solidFill>
                                <a:schemeClr val="tx1"/>
                              </a:solidFill>
                              <a:latin typeface="MS PGothic" panose="020B0600070205080204" pitchFamily="34" charset="-128"/>
                              <a:ea typeface="MS PGothic" panose="020B0600070205080204" pitchFamily="34" charset="-128"/>
                            </a:rPr>
                            <a:t>/ </a:t>
                          </a:r>
                          <a:r>
                            <a:rPr kumimoji="1" lang="en-US" altLang="ja-JP" sz="4000" dirty="0"/>
                            <a:t>39,783</a:t>
                          </a:r>
                          <a:r>
                            <a:rPr kumimoji="1" lang="ja-JP" altLang="en-US" sz="4000" b="0">
                              <a:solidFill>
                                <a:schemeClr val="tx1"/>
                              </a:solidFill>
                              <a:latin typeface="MS PGothic" panose="020B0600070205080204" pitchFamily="34" charset="-128"/>
                              <a:ea typeface="MS PGothic" panose="020B0600070205080204" pitchFamily="34" charset="-128"/>
                            </a:rPr>
                            <a:t>件</a:t>
                          </a:r>
                          <a:r>
                            <a:rPr kumimoji="1" lang="en-US" altLang="ja-JP" sz="4000" b="0" dirty="0">
                              <a:solidFill>
                                <a:schemeClr val="tx1"/>
                              </a:solidFill>
                              <a:latin typeface="MS PGothic" panose="020B0600070205080204" pitchFamily="34" charset="-128"/>
                              <a:ea typeface="MS PGothic" panose="020B0600070205080204" pitchFamily="34" charset="-128"/>
                            </a:rPr>
                            <a:t>(test)</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760176">
                    <a:tc gridSpan="2">
                      <a:txBody>
                        <a:bodyPr/>
                        <a:lstStyle/>
                        <a:p>
                          <a:pPr algn="ctr"/>
                          <a:r>
                            <a:rPr kumimoji="1" lang="ja-JP" altLang="en-US" sz="40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b="0" dirty="0">
                              <a:latin typeface="MS PGothic" panose="020B0600070205080204" pitchFamily="34" charset="-128"/>
                              <a:ea typeface="MS PGothic" panose="020B0600070205080204" pitchFamily="34" charset="-128"/>
                            </a:rPr>
                            <a:t>Adam(</a:t>
                          </a:r>
                          <a14:m>
                            <m:oMath xmlns:m="http://schemas.openxmlformats.org/officeDocument/2006/math">
                              <m:r>
                                <a:rPr kumimoji="1" lang="en-US" altLang="ja-JP" sz="4000" b="0" i="1" smtClean="0">
                                  <a:latin typeface="Cambria Math" panose="02040503050406030204" pitchFamily="18" charset="0"/>
                                  <a:ea typeface="Cambria Math" panose="02040503050406030204" pitchFamily="18" charset="0"/>
                                </a:rPr>
                                <m:t>𝜂</m:t>
                              </m:r>
                              <m:r>
                                <a:rPr kumimoji="1" lang="en-US" altLang="ja-JP" sz="4000" b="0" i="1" smtClean="0">
                                  <a:latin typeface="Cambria Math" panose="02040503050406030204" pitchFamily="18" charset="0"/>
                                  <a:ea typeface="Cambria Math" panose="02040503050406030204" pitchFamily="18" charset="0"/>
                                </a:rPr>
                                <m:t>=0.0001</m:t>
                              </m:r>
                            </m:oMath>
                          </a14:m>
                          <a:r>
                            <a:rPr kumimoji="1" lang="en-US" altLang="ja-JP" sz="4000" b="0" dirty="0">
                              <a:latin typeface="MS PGothic" panose="020B0600070205080204" pitchFamily="34" charset="-128"/>
                              <a:ea typeface="MS PGothic" panose="020B0600070205080204" pitchFamily="34" charset="-128"/>
                            </a:rPr>
                            <a:t>)</a:t>
                          </a:r>
                          <a:endParaRPr kumimoji="1" lang="ja-JP" altLang="en-US" sz="40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801116897"/>
                      </a:ext>
                    </a:extLst>
                  </a:tr>
                  <a:tr h="760176">
                    <a:tc gridSpan="2">
                      <a:txBody>
                        <a:bodyPr/>
                        <a:lstStyle/>
                        <a:p>
                          <a:pPr algn="ctr"/>
                          <a:r>
                            <a:rPr kumimoji="1" lang="ja-JP" altLang="en-US" sz="4000" b="0">
                              <a:latin typeface="MS PGothic" panose="020B0600070205080204" pitchFamily="34" charset="-128"/>
                              <a:ea typeface="MS PGothic" panose="020B0600070205080204" pitchFamily="34" charset="-128"/>
                            </a:rPr>
                            <a:t>ミニバッチサイズ</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b="0" dirty="0">
                              <a:latin typeface="MS PGothic" panose="020B0600070205080204" pitchFamily="34" charset="-128"/>
                              <a:ea typeface="MS PGothic" panose="020B0600070205080204" pitchFamily="34" charset="-128"/>
                            </a:rPr>
                            <a:t>512</a:t>
                          </a:r>
                          <a:endParaRPr kumimoji="1" lang="en" altLang="ja-JP" sz="40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760176">
                    <a:tc gridSpan="2">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4000" b="0">
                              <a:latin typeface="MS PGothic" panose="020B0600070205080204" pitchFamily="34" charset="-128"/>
                              <a:ea typeface="MS PGothic" panose="020B0600070205080204" pitchFamily="34" charset="-128"/>
                            </a:rPr>
                            <a:t>学習反復回数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b="0" dirty="0">
                              <a:latin typeface="MS PGothic" panose="020B0600070205080204" pitchFamily="34" charset="-128"/>
                              <a:ea typeface="MS PGothic" panose="020B0600070205080204" pitchFamily="34" charset="-128"/>
                            </a:rPr>
                            <a:t>10</a:t>
                          </a:r>
                          <a:endParaRPr kumimoji="1" lang="en" altLang="ja-JP" sz="40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bl>
              </a:graphicData>
            </a:graphic>
          </p:graphicFrame>
        </mc:Choice>
        <mc:Fallback xmlns="">
          <p:graphicFrame>
            <p:nvGraphicFramePr>
              <p:cNvPr id="1112" name="表 1111">
                <a:extLst>
                  <a:ext uri="{FF2B5EF4-FFF2-40B4-BE49-F238E27FC236}">
                    <a16:creationId xmlns:a16="http://schemas.microsoft.com/office/drawing/2014/main" id="{0B20C9B6-E037-AB30-EB46-3AF987C90A3F}"/>
                  </a:ext>
                </a:extLst>
              </p:cNvPr>
              <p:cNvGraphicFramePr>
                <a:graphicFrameLocks noGrp="1"/>
              </p:cNvGraphicFramePr>
              <p:nvPr>
                <p:extLst>
                  <p:ext uri="{D42A27DB-BD31-4B8C-83A1-F6EECF244321}">
                    <p14:modId xmlns:p14="http://schemas.microsoft.com/office/powerpoint/2010/main" val="2005626893"/>
                  </p:ext>
                </p:extLst>
              </p:nvPr>
            </p:nvGraphicFramePr>
            <p:xfrm>
              <a:off x="210407" y="24312812"/>
              <a:ext cx="14713600" cy="3800880"/>
            </p:xfrm>
            <a:graphic>
              <a:graphicData uri="http://schemas.openxmlformats.org/drawingml/2006/table">
                <a:tbl>
                  <a:tblPr firstRow="1" bandRow="1">
                    <a:tableStyleId>{5C22544A-7EE6-4342-B048-85BDC9FD1C3A}</a:tableStyleId>
                  </a:tblPr>
                  <a:tblGrid>
                    <a:gridCol w="3662017">
                      <a:extLst>
                        <a:ext uri="{9D8B030D-6E8A-4147-A177-3AD203B41FA5}">
                          <a16:colId xmlns:a16="http://schemas.microsoft.com/office/drawing/2014/main" val="1302717659"/>
                        </a:ext>
                      </a:extLst>
                    </a:gridCol>
                    <a:gridCol w="3662017">
                      <a:extLst>
                        <a:ext uri="{9D8B030D-6E8A-4147-A177-3AD203B41FA5}">
                          <a16:colId xmlns:a16="http://schemas.microsoft.com/office/drawing/2014/main" val="1335503367"/>
                        </a:ext>
                      </a:extLst>
                    </a:gridCol>
                    <a:gridCol w="7389566">
                      <a:extLst>
                        <a:ext uri="{9D8B030D-6E8A-4147-A177-3AD203B41FA5}">
                          <a16:colId xmlns:a16="http://schemas.microsoft.com/office/drawing/2014/main" val="118972529"/>
                        </a:ext>
                      </a:extLst>
                    </a:gridCol>
                  </a:tblGrid>
                  <a:tr h="760176">
                    <a:tc rowSpan="2">
                      <a:txBody>
                        <a:bodyPr/>
                        <a:lstStyle/>
                        <a:p>
                          <a:pPr algn="ctr"/>
                          <a:r>
                            <a:rPr kumimoji="1" lang="ja-JP" altLang="en-US" sz="4000" b="0" dirty="0">
                              <a:solidFill>
                                <a:schemeClr val="tx1"/>
                              </a:solidFill>
                              <a:latin typeface="MS PGothic" panose="020B0600070205080204" pitchFamily="34" charset="-128"/>
                              <a:ea typeface="MS PGothic" panose="020B0600070205080204" pitchFamily="34" charset="-128"/>
                            </a:rPr>
                            <a:t>データ</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4000" b="0">
                              <a:solidFill>
                                <a:schemeClr val="tx1"/>
                              </a:solidFill>
                              <a:latin typeface="MS PGothic" panose="020B0600070205080204" pitchFamily="34" charset="-128"/>
                              <a:ea typeface="MS PGothic" panose="020B0600070205080204" pitchFamily="34" charset="-128"/>
                            </a:rPr>
                            <a:t>生成画像</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en-US" altLang="ja-JP" sz="4000" b="0" dirty="0">
                              <a:solidFill>
                                <a:schemeClr val="tx1"/>
                              </a:solidFill>
                              <a:latin typeface="MS PGothic" panose="020B0600070205080204" pitchFamily="34" charset="-128"/>
                              <a:ea typeface="MS PGothic" panose="020B0600070205080204" pitchFamily="34" charset="-128"/>
                            </a:rPr>
                            <a:t>1,137,986</a:t>
                          </a:r>
                          <a:r>
                            <a:rPr kumimoji="1" lang="ja-JP" altLang="en-US" sz="4000" b="0">
                              <a:solidFill>
                                <a:schemeClr val="tx1"/>
                              </a:solidFill>
                              <a:latin typeface="MS PGothic" panose="020B0600070205080204" pitchFamily="34" charset="-128"/>
                              <a:ea typeface="MS PGothic" panose="020B0600070205080204" pitchFamily="34" charset="-128"/>
                            </a:rPr>
                            <a:t>枚 </a:t>
                          </a:r>
                          <a:r>
                            <a:rPr kumimoji="1" lang="en-US" altLang="ja-JP" sz="4000" b="0" dirty="0">
                              <a:solidFill>
                                <a:schemeClr val="tx1"/>
                              </a:solidFill>
                              <a:latin typeface="MS PGothic" panose="020B0600070205080204" pitchFamily="34" charset="-128"/>
                              <a:ea typeface="MS PGothic" panose="020B0600070205080204" pitchFamily="34" charset="-128"/>
                            </a:rPr>
                            <a:t>/ 44,000</a:t>
                          </a:r>
                          <a:r>
                            <a:rPr kumimoji="1" lang="ja-JP" altLang="en-US" sz="4000" b="0">
                              <a:solidFill>
                                <a:schemeClr val="tx1"/>
                              </a:solidFill>
                              <a:latin typeface="MS PGothic" panose="020B0600070205080204" pitchFamily="34" charset="-128"/>
                              <a:ea typeface="MS PGothic" panose="020B0600070205080204" pitchFamily="34" charset="-128"/>
                            </a:rPr>
                            <a:t>枚</a:t>
                          </a:r>
                          <a:r>
                            <a:rPr kumimoji="1" lang="en-US" altLang="ja-JP" sz="4000" b="0" dirty="0">
                              <a:solidFill>
                                <a:schemeClr val="tx1"/>
                              </a:solidFill>
                              <a:latin typeface="MS PGothic" panose="020B0600070205080204" pitchFamily="34" charset="-128"/>
                              <a:ea typeface="MS PGothic" panose="020B0600070205080204" pitchFamily="34" charset="-128"/>
                            </a:rPr>
                            <a:t>(test)</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760176">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4000" b="0">
                              <a:solidFill>
                                <a:schemeClr val="tx1"/>
                              </a:solidFill>
                              <a:latin typeface="MS PGothic" panose="020B0600070205080204" pitchFamily="34" charset="-128"/>
                              <a:ea typeface="MS PGothic" panose="020B0600070205080204" pitchFamily="34" charset="-128"/>
                            </a:rPr>
                            <a:t>現実画像</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4000" dirty="0"/>
                            <a:t>153,274</a:t>
                          </a:r>
                          <a:r>
                            <a:rPr kumimoji="1" lang="ja-JP" altLang="en-US" sz="4000" b="0">
                              <a:solidFill>
                                <a:schemeClr val="tx1"/>
                              </a:solidFill>
                              <a:latin typeface="MS PGothic" panose="020B0600070205080204" pitchFamily="34" charset="-128"/>
                              <a:ea typeface="MS PGothic" panose="020B0600070205080204" pitchFamily="34" charset="-128"/>
                            </a:rPr>
                            <a:t>件</a:t>
                          </a:r>
                          <a:r>
                            <a:rPr kumimoji="1" lang="en-US" altLang="ja-JP" sz="4000" b="0" dirty="0">
                              <a:solidFill>
                                <a:schemeClr val="tx1"/>
                              </a:solidFill>
                              <a:latin typeface="MS PGothic" panose="020B0600070205080204" pitchFamily="34" charset="-128"/>
                              <a:ea typeface="MS PGothic" panose="020B0600070205080204" pitchFamily="34" charset="-128"/>
                            </a:rPr>
                            <a:t>/ </a:t>
                          </a:r>
                          <a:r>
                            <a:rPr kumimoji="1" lang="en-US" altLang="ja-JP" sz="4000" dirty="0"/>
                            <a:t>39,783</a:t>
                          </a:r>
                          <a:r>
                            <a:rPr kumimoji="1" lang="ja-JP" altLang="en-US" sz="4000" b="0">
                              <a:solidFill>
                                <a:schemeClr val="tx1"/>
                              </a:solidFill>
                              <a:latin typeface="MS PGothic" panose="020B0600070205080204" pitchFamily="34" charset="-128"/>
                              <a:ea typeface="MS PGothic" panose="020B0600070205080204" pitchFamily="34" charset="-128"/>
                            </a:rPr>
                            <a:t>件</a:t>
                          </a:r>
                          <a:r>
                            <a:rPr kumimoji="1" lang="en-US" altLang="ja-JP" sz="4000" b="0" dirty="0">
                              <a:solidFill>
                                <a:schemeClr val="tx1"/>
                              </a:solidFill>
                              <a:latin typeface="MS PGothic" panose="020B0600070205080204" pitchFamily="34" charset="-128"/>
                              <a:ea typeface="MS PGothic" panose="020B0600070205080204" pitchFamily="34" charset="-128"/>
                            </a:rPr>
                            <a:t>(test)</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760176">
                    <a:tc gridSpan="2">
                      <a:txBody>
                        <a:bodyPr/>
                        <a:lstStyle/>
                        <a:p>
                          <a:pPr algn="ctr"/>
                          <a:r>
                            <a:rPr kumimoji="1" lang="ja-JP" altLang="en-US" sz="40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endParaRPr lang="ja-JP"/>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blipFill>
                          <a:blip r:embed="rId2"/>
                          <a:stretch>
                            <a:fillRect l="-99142" t="-210000" r="-172" b="-230000"/>
                          </a:stretch>
                        </a:blipFill>
                      </a:tcPr>
                    </a:tc>
                    <a:extLst>
                      <a:ext uri="{0D108BD9-81ED-4DB2-BD59-A6C34878D82A}">
                        <a16:rowId xmlns:a16="http://schemas.microsoft.com/office/drawing/2014/main" val="1801116897"/>
                      </a:ext>
                    </a:extLst>
                  </a:tr>
                  <a:tr h="760176">
                    <a:tc gridSpan="2">
                      <a:txBody>
                        <a:bodyPr/>
                        <a:lstStyle/>
                        <a:p>
                          <a:pPr algn="ctr"/>
                          <a:r>
                            <a:rPr kumimoji="1" lang="ja-JP" altLang="en-US" sz="4000" b="0">
                              <a:latin typeface="MS PGothic" panose="020B0600070205080204" pitchFamily="34" charset="-128"/>
                              <a:ea typeface="MS PGothic" panose="020B0600070205080204" pitchFamily="34" charset="-128"/>
                            </a:rPr>
                            <a:t>ミニバッチサイズ</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b="0" dirty="0">
                              <a:latin typeface="MS PGothic" panose="020B0600070205080204" pitchFamily="34" charset="-128"/>
                              <a:ea typeface="MS PGothic" panose="020B0600070205080204" pitchFamily="34" charset="-128"/>
                            </a:rPr>
                            <a:t>512</a:t>
                          </a:r>
                          <a:endParaRPr kumimoji="1" lang="en" altLang="ja-JP" sz="40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760176">
                    <a:tc gridSpan="2">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4000" b="0">
                              <a:latin typeface="MS PGothic" panose="020B0600070205080204" pitchFamily="34" charset="-128"/>
                              <a:ea typeface="MS PGothic" panose="020B0600070205080204" pitchFamily="34" charset="-128"/>
                            </a:rPr>
                            <a:t>学習反復回数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b="0" dirty="0">
                              <a:latin typeface="MS PGothic" panose="020B0600070205080204" pitchFamily="34" charset="-128"/>
                              <a:ea typeface="MS PGothic" panose="020B0600070205080204" pitchFamily="34" charset="-128"/>
                            </a:rPr>
                            <a:t>10</a:t>
                          </a:r>
                          <a:endParaRPr kumimoji="1" lang="en" altLang="ja-JP" sz="40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bl>
              </a:graphicData>
            </a:graphic>
          </p:graphicFrame>
        </mc:Fallback>
      </mc:AlternateContent>
      <p:sp>
        <p:nvSpPr>
          <p:cNvPr id="1114" name="テキスト ボックス 1113">
            <a:extLst>
              <a:ext uri="{FF2B5EF4-FFF2-40B4-BE49-F238E27FC236}">
                <a16:creationId xmlns:a16="http://schemas.microsoft.com/office/drawing/2014/main" id="{AE0A77E8-9AF7-FE16-33EE-F9488F242EAB}"/>
              </a:ext>
            </a:extLst>
          </p:cNvPr>
          <p:cNvSpPr txBox="1"/>
          <p:nvPr/>
        </p:nvSpPr>
        <p:spPr>
          <a:xfrm>
            <a:off x="195902" y="23570715"/>
            <a:ext cx="14929671"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表</a:t>
            </a:r>
            <a:r>
              <a:rPr kumimoji="1" lang="ja-JP" altLang="en-US" sz="4000" dirty="0">
                <a:latin typeface="MS PGothic" panose="020B0600070205080204" pitchFamily="34" charset="-128"/>
                <a:ea typeface="MS PGothic" panose="020B0600070205080204" pitchFamily="34" charset="-128"/>
              </a:rPr>
              <a:t>１</a:t>
            </a:r>
            <a:r>
              <a:rPr kumimoji="1" lang="ja-JP" altLang="en-US" sz="4000">
                <a:latin typeface="MS PGothic" panose="020B0600070205080204" pitchFamily="34" charset="-128"/>
                <a:ea typeface="MS PGothic" panose="020B0600070205080204" pitchFamily="34" charset="-128"/>
              </a:rPr>
              <a:t>　</a:t>
            </a:r>
            <a:r>
              <a:rPr kumimoji="1" lang="ja-JP" altLang="en-US" sz="4000" dirty="0">
                <a:latin typeface="MS PGothic" panose="020B0600070205080204" pitchFamily="34" charset="-128"/>
                <a:ea typeface="MS PGothic" panose="020B0600070205080204" pitchFamily="34" charset="-128"/>
              </a:rPr>
              <a:t>実験条件</a:t>
            </a:r>
            <a:endParaRPr kumimoji="1" lang="en-US" altLang="ja-JP" sz="4000" dirty="0">
              <a:latin typeface="MS PGothic" panose="020B0600070205080204" pitchFamily="34" charset="-128"/>
              <a:ea typeface="MS PGothic" panose="020B0600070205080204" pitchFamily="34" charset="-128"/>
            </a:endParaRPr>
          </a:p>
        </p:txBody>
      </p:sp>
      <p:sp>
        <p:nvSpPr>
          <p:cNvPr id="8" name="テキスト ボックス 7">
            <a:extLst>
              <a:ext uri="{FF2B5EF4-FFF2-40B4-BE49-F238E27FC236}">
                <a16:creationId xmlns:a16="http://schemas.microsoft.com/office/drawing/2014/main" id="{D1BA0A21-5046-6A80-575C-A5CDE3DC98E4}"/>
              </a:ext>
            </a:extLst>
          </p:cNvPr>
          <p:cNvSpPr txBox="1"/>
          <p:nvPr/>
        </p:nvSpPr>
        <p:spPr>
          <a:xfrm>
            <a:off x="232116" y="34122306"/>
            <a:ext cx="29723529" cy="7048083"/>
          </a:xfrm>
          <a:prstGeom prst="rect">
            <a:avLst/>
          </a:prstGeom>
          <a:noFill/>
        </p:spPr>
        <p:txBody>
          <a:bodyPr wrap="square" rtlCol="0">
            <a:spAutoFit/>
          </a:bodyPr>
          <a:lstStyle/>
          <a:p>
            <a:pPr indent="457200" algn="ctr"/>
            <a:endParaRPr kumimoji="1" lang="en-US" altLang="ja-JP" sz="4400" b="1" dirty="0">
              <a:latin typeface="MS PGothic" panose="020B0600070205080204" pitchFamily="34" charset="-128"/>
              <a:ea typeface="MS PGothic" panose="020B0600070205080204" pitchFamily="34" charset="-128"/>
            </a:endParaRPr>
          </a:p>
          <a:p>
            <a:pPr indent="457200" algn="ctr"/>
            <a:endParaRPr kumimoji="1" lang="en-US" altLang="ja-JP" sz="4400" b="1" dirty="0">
              <a:latin typeface="MS PGothic" panose="020B0600070205080204" pitchFamily="34" charset="-128"/>
              <a:ea typeface="MS PGothic" panose="020B0600070205080204" pitchFamily="34" charset="-128"/>
            </a:endParaRPr>
          </a:p>
          <a:p>
            <a:pPr indent="457200" algn="ctr"/>
            <a:r>
              <a:rPr kumimoji="1" lang="ja-JP" altLang="en-US" sz="4400" b="1">
                <a:latin typeface="MS PGothic" panose="020B0600070205080204" pitchFamily="34" charset="-128"/>
                <a:ea typeface="MS PGothic" panose="020B0600070205080204" pitchFamily="34" charset="-128"/>
              </a:rPr>
              <a:t>まとめ</a:t>
            </a:r>
            <a:endParaRPr kumimoji="1" lang="en-US" altLang="ja-JP" sz="4000" b="1"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提案手法は生成画像に対する分類精度が高い</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提案手法では現実画像に対する分類が弱く，識別器が増えるほど現実画像に対する分類精度が低くなる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提案手法は全てのデータを学習した識別器より，新たな生成手法に対応する学習が簡単になる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algn="ctr"/>
            <a:r>
              <a:rPr kumimoji="1" lang="ja-JP" altLang="en-US" sz="4000" b="1">
                <a:latin typeface="MS PGothic" panose="020B0600070205080204" pitchFamily="34" charset="-128"/>
                <a:ea typeface="MS PGothic" panose="020B0600070205080204" pitchFamily="34" charset="-128"/>
              </a:rPr>
              <a:t>今後の課題</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未学習生成手法の生成画像にの対応性を確認する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他の生成モデルを使い，学習用データを追加する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他の生成モデルの画像を提案手法にて追加学習し，実験を行う</a:t>
            </a:r>
            <a:endParaRPr kumimoji="1" lang="en-US" altLang="ja-JP" sz="4000" dirty="0">
              <a:latin typeface="MS PGothic" panose="020B0600070205080204" pitchFamily="34" charset="-128"/>
              <a:ea typeface="MS PGothic" panose="020B0600070205080204" pitchFamily="34" charset="-128"/>
            </a:endParaRPr>
          </a:p>
        </p:txBody>
      </p:sp>
      <p:sp>
        <p:nvSpPr>
          <p:cNvPr id="22" name="テキスト ボックス 21">
            <a:extLst>
              <a:ext uri="{FF2B5EF4-FFF2-40B4-BE49-F238E27FC236}">
                <a16:creationId xmlns:a16="http://schemas.microsoft.com/office/drawing/2014/main" id="{4991E122-CFB8-EFAD-7E98-862D495B5676}"/>
              </a:ext>
            </a:extLst>
          </p:cNvPr>
          <p:cNvSpPr txBox="1"/>
          <p:nvPr/>
        </p:nvSpPr>
        <p:spPr>
          <a:xfrm>
            <a:off x="15239842" y="41441368"/>
            <a:ext cx="14916944" cy="461665"/>
          </a:xfrm>
          <a:prstGeom prst="rect">
            <a:avLst/>
          </a:prstGeom>
          <a:noFill/>
        </p:spPr>
        <p:txBody>
          <a:bodyPr wrap="square" rtlCol="0">
            <a:spAutoFit/>
          </a:bodyPr>
          <a:lstStyle/>
          <a:p>
            <a:r>
              <a:rPr lang="en-US" altLang="ja-JP" sz="2400" dirty="0">
                <a:solidFill>
                  <a:srgbClr val="111111"/>
                </a:solidFill>
                <a:latin typeface="MS PGothic" panose="020B0600070205080204" pitchFamily="34" charset="-128"/>
                <a:ea typeface="MS PGothic" panose="020B0600070205080204" pitchFamily="34" charset="-128"/>
              </a:rPr>
              <a:t>[4] P</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Young</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et al.</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i="1" dirty="0">
                <a:solidFill>
                  <a:srgbClr val="111111"/>
                </a:solidFill>
                <a:latin typeface="MS PGothic" panose="020B0600070205080204" pitchFamily="34" charset="-128"/>
                <a:ea typeface="MS PGothic" panose="020B0600070205080204" pitchFamily="34" charset="-128"/>
              </a:rPr>
              <a:t>TACL</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Vol.2, pp.67-78</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Feb</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2014.</a:t>
            </a:r>
          </a:p>
        </p:txBody>
      </p:sp>
      <p:grpSp>
        <p:nvGrpSpPr>
          <p:cNvPr id="11" name="グループ化 10">
            <a:extLst>
              <a:ext uri="{FF2B5EF4-FFF2-40B4-BE49-F238E27FC236}">
                <a16:creationId xmlns:a16="http://schemas.microsoft.com/office/drawing/2014/main" id="{2B293558-9C09-4971-EF20-C37C06BD461A}"/>
              </a:ext>
            </a:extLst>
          </p:cNvPr>
          <p:cNvGrpSpPr/>
          <p:nvPr/>
        </p:nvGrpSpPr>
        <p:grpSpPr>
          <a:xfrm>
            <a:off x="1344327" y="5176066"/>
            <a:ext cx="12464236" cy="4777984"/>
            <a:chOff x="159027" y="1426910"/>
            <a:chExt cx="11969196" cy="4914358"/>
          </a:xfrm>
        </p:grpSpPr>
        <p:pic>
          <p:nvPicPr>
            <p:cNvPr id="12" name="Picture 2" descr="Tech Blog AIフェイク画像">
              <a:extLst>
                <a:ext uri="{FF2B5EF4-FFF2-40B4-BE49-F238E27FC236}">
                  <a16:creationId xmlns:a16="http://schemas.microsoft.com/office/drawing/2014/main" id="{14F53C48-7236-2820-6719-54A7B8D7BD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027" y="1426910"/>
              <a:ext cx="6000750" cy="4914358"/>
            </a:xfrm>
            <a:prstGeom prst="rect">
              <a:avLst/>
            </a:prstGeom>
            <a:noFill/>
            <a:extLst>
              <a:ext uri="{909E8E84-426E-40DD-AFC4-6F175D3DCCD1}">
                <a14:hiddenFill xmlns:a14="http://schemas.microsoft.com/office/drawing/2010/main">
                  <a:solidFill>
                    <a:srgbClr val="FFFFFF"/>
                  </a:solidFill>
                </a14:hiddenFill>
              </a:ext>
            </a:extLst>
          </p:spPr>
        </p:pic>
        <p:pic>
          <p:nvPicPr>
            <p:cNvPr id="13" name="図 12">
              <a:extLst>
                <a:ext uri="{FF2B5EF4-FFF2-40B4-BE49-F238E27FC236}">
                  <a16:creationId xmlns:a16="http://schemas.microsoft.com/office/drawing/2014/main" id="{CBE69408-8B3E-2B03-DD32-35D4B31B33FD}"/>
                </a:ext>
              </a:extLst>
            </p:cNvPr>
            <p:cNvPicPr>
              <a:picLocks noChangeAspect="1"/>
            </p:cNvPicPr>
            <p:nvPr/>
          </p:nvPicPr>
          <p:blipFill rotWithShape="1">
            <a:blip r:embed="rId4"/>
            <a:srcRect b="29442"/>
            <a:stretch/>
          </p:blipFill>
          <p:spPr>
            <a:xfrm>
              <a:off x="6096000" y="1426910"/>
              <a:ext cx="6032223" cy="4734652"/>
            </a:xfrm>
            <a:prstGeom prst="rect">
              <a:avLst/>
            </a:prstGeom>
          </p:spPr>
        </p:pic>
      </p:grpSp>
      <p:sp>
        <p:nvSpPr>
          <p:cNvPr id="1034" name="テキスト ボックス 1033">
            <a:extLst>
              <a:ext uri="{FF2B5EF4-FFF2-40B4-BE49-F238E27FC236}">
                <a16:creationId xmlns:a16="http://schemas.microsoft.com/office/drawing/2014/main" id="{E637178F-0020-5407-4594-3593B15D0050}"/>
              </a:ext>
            </a:extLst>
          </p:cNvPr>
          <p:cNvSpPr txBox="1"/>
          <p:nvPr/>
        </p:nvSpPr>
        <p:spPr>
          <a:xfrm>
            <a:off x="4253531" y="19506533"/>
            <a:ext cx="6884481"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図２　</a:t>
            </a:r>
            <a:r>
              <a:rPr kumimoji="1" lang="en-US" altLang="ja-JP" sz="4000" dirty="0" err="1">
                <a:latin typeface="MS PGothic" panose="020B0600070205080204" pitchFamily="34" charset="-128"/>
                <a:ea typeface="MS PGothic" panose="020B0600070205080204" pitchFamily="34" charset="-128"/>
              </a:rPr>
              <a:t>GenImage</a:t>
            </a:r>
            <a:r>
              <a:rPr kumimoji="1" lang="ja-JP" altLang="en-US" sz="4000">
                <a:latin typeface="MS PGothic" panose="020B0600070205080204" pitchFamily="34" charset="-128"/>
                <a:ea typeface="MS PGothic" panose="020B0600070205080204" pitchFamily="34" charset="-128"/>
              </a:rPr>
              <a:t>データベース </a:t>
            </a:r>
          </a:p>
        </p:txBody>
      </p:sp>
      <p:pic>
        <p:nvPicPr>
          <p:cNvPr id="1037" name="図 1036" descr="ダイアグラム, 概略図&#10;&#10;自動的に生成された説明">
            <a:extLst>
              <a:ext uri="{FF2B5EF4-FFF2-40B4-BE49-F238E27FC236}">
                <a16:creationId xmlns:a16="http://schemas.microsoft.com/office/drawing/2014/main" id="{EBAC4261-A5A4-D2CD-5A7D-A5C6194B4B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118631" y="10664833"/>
            <a:ext cx="13282126" cy="3763925"/>
          </a:xfrm>
          <a:prstGeom prst="rect">
            <a:avLst/>
          </a:prstGeom>
        </p:spPr>
      </p:pic>
      <p:pic>
        <p:nvPicPr>
          <p:cNvPr id="1042" name="図 1041" descr="部屋に備えている様々な写真のコラージュ&#10;&#10;中程度の精度で自動的に生成された説明">
            <a:extLst>
              <a:ext uri="{FF2B5EF4-FFF2-40B4-BE49-F238E27FC236}">
                <a16:creationId xmlns:a16="http://schemas.microsoft.com/office/drawing/2014/main" id="{67A750D9-80AF-1AA2-64C0-E77C885969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50915" y="14862181"/>
            <a:ext cx="9246595" cy="4850432"/>
          </a:xfrm>
          <a:prstGeom prst="rect">
            <a:avLst/>
          </a:prstGeom>
        </p:spPr>
      </p:pic>
      <p:grpSp>
        <p:nvGrpSpPr>
          <p:cNvPr id="1044" name="グループ化 1043">
            <a:extLst>
              <a:ext uri="{FF2B5EF4-FFF2-40B4-BE49-F238E27FC236}">
                <a16:creationId xmlns:a16="http://schemas.microsoft.com/office/drawing/2014/main" id="{C5C9A92D-638D-E14C-469E-8887182F16E2}"/>
              </a:ext>
            </a:extLst>
          </p:cNvPr>
          <p:cNvGrpSpPr/>
          <p:nvPr/>
        </p:nvGrpSpPr>
        <p:grpSpPr>
          <a:xfrm>
            <a:off x="15446913" y="23379664"/>
            <a:ext cx="14465319" cy="6927841"/>
            <a:chOff x="1509165" y="35182311"/>
            <a:chExt cx="12373212" cy="5943928"/>
          </a:xfrm>
        </p:grpSpPr>
        <p:sp>
          <p:nvSpPr>
            <p:cNvPr id="1121" name="テキスト ボックス 1120">
              <a:extLst>
                <a:ext uri="{FF2B5EF4-FFF2-40B4-BE49-F238E27FC236}">
                  <a16:creationId xmlns:a16="http://schemas.microsoft.com/office/drawing/2014/main" id="{9DB624C6-5AA8-432E-35AE-B994E2821F34}"/>
                </a:ext>
              </a:extLst>
            </p:cNvPr>
            <p:cNvSpPr txBox="1"/>
            <p:nvPr/>
          </p:nvSpPr>
          <p:spPr>
            <a:xfrm>
              <a:off x="1515074" y="35182311"/>
              <a:ext cx="12344268" cy="588962"/>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表２　実験結果</a:t>
              </a:r>
              <a:endParaRPr kumimoji="1" lang="en-US" altLang="ja-JP" sz="4000" dirty="0">
                <a:latin typeface="MS PGothic" panose="020B0600070205080204" pitchFamily="34" charset="-128"/>
                <a:ea typeface="MS PGothic" panose="020B0600070205080204" pitchFamily="34" charset="-128"/>
              </a:endParaRPr>
            </a:p>
          </p:txBody>
        </p:sp>
        <p:pic>
          <p:nvPicPr>
            <p:cNvPr id="1043" name="図 1042">
              <a:extLst>
                <a:ext uri="{FF2B5EF4-FFF2-40B4-BE49-F238E27FC236}">
                  <a16:creationId xmlns:a16="http://schemas.microsoft.com/office/drawing/2014/main" id="{F6BE9957-3C6B-BB81-3D1A-0D05B4668FB4}"/>
                </a:ext>
              </a:extLst>
            </p:cNvPr>
            <p:cNvPicPr>
              <a:picLocks noChangeAspect="1"/>
            </p:cNvPicPr>
            <p:nvPr/>
          </p:nvPicPr>
          <p:blipFill>
            <a:blip r:embed="rId7"/>
            <a:stretch>
              <a:fillRect/>
            </a:stretch>
          </p:blipFill>
          <p:spPr>
            <a:xfrm>
              <a:off x="1509165" y="35817600"/>
              <a:ext cx="12373212" cy="5308639"/>
            </a:xfrm>
            <a:prstGeom prst="rect">
              <a:avLst/>
            </a:prstGeom>
          </p:spPr>
        </p:pic>
      </p:grpSp>
      <p:sp>
        <p:nvSpPr>
          <p:cNvPr id="1045" name="正方形/長方形 1044">
            <a:extLst>
              <a:ext uri="{FF2B5EF4-FFF2-40B4-BE49-F238E27FC236}">
                <a16:creationId xmlns:a16="http://schemas.microsoft.com/office/drawing/2014/main" id="{F17868E2-937B-FE9D-E724-8CBDAC3E603D}"/>
              </a:ext>
            </a:extLst>
          </p:cNvPr>
          <p:cNvSpPr/>
          <p:nvPr/>
        </p:nvSpPr>
        <p:spPr>
          <a:xfrm>
            <a:off x="201635" y="34463596"/>
            <a:ext cx="29839105"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800">
                <a:latin typeface="MS PGothic" panose="020B0600070205080204" pitchFamily="34" charset="-128"/>
                <a:ea typeface="MS PGothic" panose="020B0600070205080204" pitchFamily="34" charset="-128"/>
              </a:rPr>
              <a:t>まとめと今後の課題</a:t>
            </a:r>
            <a:endParaRPr kumimoji="1" lang="ja-JP" altLang="en-US" sz="4800" dirty="0">
              <a:latin typeface="MS PGothic" panose="020B0600070205080204" pitchFamily="34" charset="-128"/>
              <a:ea typeface="MS PGothic" panose="020B0600070205080204" pitchFamily="34" charset="-128"/>
            </a:endParaRPr>
          </a:p>
        </p:txBody>
      </p:sp>
      <p:sp>
        <p:nvSpPr>
          <p:cNvPr id="1069" name="正方形/長方形 1068">
            <a:extLst>
              <a:ext uri="{FF2B5EF4-FFF2-40B4-BE49-F238E27FC236}">
                <a16:creationId xmlns:a16="http://schemas.microsoft.com/office/drawing/2014/main" id="{1B0EA59F-6D1E-4C8D-05CD-CBB71DC69466}"/>
              </a:ext>
            </a:extLst>
          </p:cNvPr>
          <p:cNvSpPr/>
          <p:nvPr/>
        </p:nvSpPr>
        <p:spPr>
          <a:xfrm>
            <a:off x="15348256" y="20123813"/>
            <a:ext cx="14717304"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800" dirty="0">
                <a:latin typeface="MS PGothic" panose="020B0600070205080204" pitchFamily="34" charset="-128"/>
                <a:ea typeface="MS PGothic" panose="020B0600070205080204" pitchFamily="34" charset="-128"/>
              </a:rPr>
              <a:t>実験</a:t>
            </a:r>
          </a:p>
        </p:txBody>
      </p:sp>
    </p:spTree>
    <p:extLst>
      <p:ext uri="{BB962C8B-B14F-4D97-AF65-F5344CB8AC3E}">
        <p14:creationId xmlns:p14="http://schemas.microsoft.com/office/powerpoint/2010/main" val="4058058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BDA8F58-47C5-F0EE-914B-5FB0701C833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8CC83D3-D9FB-8349-5629-2A7EDD1D8241}"/>
              </a:ext>
            </a:extLst>
          </p:cNvPr>
          <p:cNvSpPr/>
          <p:nvPr/>
        </p:nvSpPr>
        <p:spPr>
          <a:xfrm>
            <a:off x="15337345" y="2298379"/>
            <a:ext cx="14724513" cy="27442817"/>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1" name="正方形/長方形 1110">
            <a:extLst>
              <a:ext uri="{FF2B5EF4-FFF2-40B4-BE49-F238E27FC236}">
                <a16:creationId xmlns:a16="http://schemas.microsoft.com/office/drawing/2014/main" id="{C74BE2F2-5986-0D55-D866-CE322EE6E61F}"/>
              </a:ext>
            </a:extLst>
          </p:cNvPr>
          <p:cNvSpPr/>
          <p:nvPr/>
        </p:nvSpPr>
        <p:spPr>
          <a:xfrm>
            <a:off x="174494" y="10232111"/>
            <a:ext cx="14681200" cy="22165266"/>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f</a:t>
            </a:r>
            <a:endParaRPr kumimoji="1" lang="ja-JP" altLang="en-US"/>
          </a:p>
        </p:txBody>
      </p:sp>
      <p:sp>
        <p:nvSpPr>
          <p:cNvPr id="1060" name="テキスト ボックス 1059">
            <a:extLst>
              <a:ext uri="{FF2B5EF4-FFF2-40B4-BE49-F238E27FC236}">
                <a16:creationId xmlns:a16="http://schemas.microsoft.com/office/drawing/2014/main" id="{5C027622-758E-DA04-2988-46610F63E68B}"/>
              </a:ext>
            </a:extLst>
          </p:cNvPr>
          <p:cNvSpPr txBox="1"/>
          <p:nvPr/>
        </p:nvSpPr>
        <p:spPr>
          <a:xfrm>
            <a:off x="15371055" y="19800013"/>
            <a:ext cx="14625650" cy="9941183"/>
          </a:xfrm>
          <a:prstGeom prst="rect">
            <a:avLst/>
          </a:prstGeom>
          <a:noFill/>
          <a:ln w="38100">
            <a:noFill/>
          </a:ln>
        </p:spPr>
        <p:txBody>
          <a:bodyPr wrap="square" rtlCol="0">
            <a:spAutoFit/>
          </a:bodyPr>
          <a:lstStyle/>
          <a:p>
            <a:pPr indent="457200" algn="just"/>
            <a:r>
              <a:rPr kumimoji="1" lang="ja-JP" altLang="en-US" sz="4000">
                <a:latin typeface="MS PGothic" panose="020B0600070205080204" pitchFamily="34" charset="-128"/>
                <a:ea typeface="MS PGothic" panose="020B0600070205080204" pitchFamily="34" charset="-128"/>
              </a:rPr>
              <a:t>本研究では，</a:t>
            </a:r>
            <a:r>
              <a:rPr kumimoji="1" lang="en" altLang="ja-JP" sz="4000" dirty="0" err="1">
                <a:latin typeface="MS PGothic" panose="020B0600070205080204" pitchFamily="34" charset="-128"/>
                <a:ea typeface="MS PGothic" panose="020B0600070205080204" pitchFamily="34" charset="-128"/>
              </a:rPr>
              <a:t>GenImage</a:t>
            </a:r>
            <a:r>
              <a:rPr kumimoji="1" lang="ja-JP" altLang="en-US" sz="4000">
                <a:latin typeface="MS PGothic" panose="020B0600070205080204" pitchFamily="34" charset="-128"/>
                <a:ea typeface="MS PGothic" panose="020B0600070205080204" pitchFamily="34" charset="-128"/>
              </a:rPr>
              <a:t>に基づき識別器には事前学習済み</a:t>
            </a:r>
            <a:r>
              <a:rPr kumimoji="1" lang="en-US" altLang="ja-JP" sz="4000" dirty="0" err="1">
                <a:latin typeface="MS PGothic" panose="020B0600070205080204" pitchFamily="34" charset="-128"/>
                <a:ea typeface="MS PGothic" panose="020B0600070205080204" pitchFamily="34" charset="-128"/>
              </a:rPr>
              <a:t>Swin</a:t>
            </a:r>
            <a:r>
              <a:rPr kumimoji="1" lang="en-US" altLang="ja-JP" sz="4000" dirty="0">
                <a:latin typeface="MS PGothic" panose="020B0600070205080204" pitchFamily="34" charset="-128"/>
                <a:ea typeface="MS PGothic" panose="020B0600070205080204" pitchFamily="34" charset="-128"/>
              </a:rPr>
              <a:t>-T</a:t>
            </a:r>
            <a:r>
              <a:rPr kumimoji="1" lang="ja-JP" altLang="en-US" sz="4000">
                <a:latin typeface="MS PGothic" panose="020B0600070205080204" pitchFamily="34" charset="-128"/>
                <a:ea typeface="MS PGothic" panose="020B0600070205080204" pitchFamily="34" charset="-128"/>
              </a:rPr>
              <a:t>で転移学習を行う</a:t>
            </a:r>
            <a:r>
              <a:rPr kumimoji="1" lang="en-US" altLang="ja-JP" sz="4000" dirty="0">
                <a:latin typeface="MS PGothic" panose="020B0600070205080204" pitchFamily="34" charset="-128"/>
                <a:ea typeface="MS PGothic" panose="020B0600070205080204" pitchFamily="34" charset="-128"/>
              </a:rPr>
              <a:t>. </a:t>
            </a:r>
            <a:r>
              <a:rPr kumimoji="1" lang="ja-JP" altLang="en-US" sz="4000">
                <a:latin typeface="MS PGothic" panose="020B0600070205080204" pitchFamily="34" charset="-128"/>
                <a:ea typeface="MS PGothic" panose="020B0600070205080204" pitchFamily="34" charset="-128"/>
              </a:rPr>
              <a:t>実験結果を表</a:t>
            </a:r>
            <a:r>
              <a:rPr kumimoji="1" lang="en-US" altLang="ja-JP" sz="4000" dirty="0">
                <a:latin typeface="MS PGothic" panose="020B0600070205080204" pitchFamily="34" charset="-128"/>
                <a:ea typeface="MS PGothic" panose="020B0600070205080204" pitchFamily="34" charset="-128"/>
              </a:rPr>
              <a:t>3</a:t>
            </a:r>
            <a:r>
              <a:rPr kumimoji="1" lang="ja-JP" altLang="en-US" sz="4000">
                <a:latin typeface="MS PGothic" panose="020B0600070205080204" pitchFamily="34" charset="-128"/>
                <a:ea typeface="MS PGothic" panose="020B0600070205080204" pitchFamily="34" charset="-128"/>
              </a:rPr>
              <a:t>に示す</a:t>
            </a:r>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r>
              <a:rPr kumimoji="1" lang="ja-JP" altLang="en-US" sz="4000">
                <a:latin typeface="MS PGothic" panose="020B0600070205080204" pitchFamily="34" charset="-128"/>
                <a:ea typeface="MS PGothic" panose="020B0600070205080204" pitchFamily="34" charset="-128"/>
              </a:rPr>
              <a:t>ここで，“</a:t>
            </a:r>
            <a:r>
              <a:rPr kumimoji="1" lang="en-US" altLang="ja-JP" sz="4000" dirty="0">
                <a:latin typeface="MS PGothic" panose="020B0600070205080204" pitchFamily="34" charset="-128"/>
                <a:ea typeface="MS PGothic" panose="020B0600070205080204" pitchFamily="34" charset="-128"/>
              </a:rPr>
              <a:t>All”</a:t>
            </a:r>
            <a:r>
              <a:rPr kumimoji="1" lang="ja-JP" altLang="en-US" sz="4000">
                <a:latin typeface="MS PGothic" panose="020B0600070205080204" pitchFamily="34" charset="-128"/>
                <a:ea typeface="MS PGothic" panose="020B0600070205080204" pitchFamily="34" charset="-128"/>
              </a:rPr>
              <a:t>はは全てのソースのデータを学習した識別器であり，“</a:t>
            </a:r>
            <a:r>
              <a:rPr kumimoji="1" lang="en-US" altLang="ja-JP" sz="4000" dirty="0">
                <a:latin typeface="MS PGothic" panose="020B0600070205080204" pitchFamily="34" charset="-128"/>
                <a:ea typeface="MS PGothic" panose="020B0600070205080204" pitchFamily="34" charset="-128"/>
              </a:rPr>
              <a:t>Ours”</a:t>
            </a:r>
            <a:r>
              <a:rPr kumimoji="1" lang="ja-JP" altLang="en-US" sz="4000">
                <a:latin typeface="MS PGothic" panose="020B0600070205080204" pitchFamily="34" charset="-128"/>
                <a:ea typeface="MS PGothic" panose="020B0600070205080204" pitchFamily="34" charset="-128"/>
              </a:rPr>
              <a:t>は提案手法である</a:t>
            </a:r>
            <a:r>
              <a:rPr kumimoji="1" lang="en-US" altLang="ja-JP" sz="4000" dirty="0">
                <a:latin typeface="MS PGothic" panose="020B0600070205080204" pitchFamily="34" charset="-128"/>
                <a:ea typeface="MS PGothic" panose="020B0600070205080204" pitchFamily="34" charset="-128"/>
              </a:rPr>
              <a:t> </a:t>
            </a:r>
          </a:p>
        </p:txBody>
      </p:sp>
      <p:sp>
        <p:nvSpPr>
          <p:cNvPr id="1047" name="正方形/長方形 1046">
            <a:extLst>
              <a:ext uri="{FF2B5EF4-FFF2-40B4-BE49-F238E27FC236}">
                <a16:creationId xmlns:a16="http://schemas.microsoft.com/office/drawing/2014/main" id="{729638F1-EADF-6D49-A9B0-97E3AF30BF98}"/>
              </a:ext>
            </a:extLst>
          </p:cNvPr>
          <p:cNvSpPr/>
          <p:nvPr/>
        </p:nvSpPr>
        <p:spPr>
          <a:xfrm>
            <a:off x="15286582" y="32491920"/>
            <a:ext cx="14741327" cy="6969369"/>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AA062198-DC8E-1928-55C1-6EAA9A974162}"/>
              </a:ext>
            </a:extLst>
          </p:cNvPr>
          <p:cNvSpPr>
            <a:spLocks noGrp="1"/>
          </p:cNvSpPr>
          <p:nvPr>
            <p:ph type="ctrTitle"/>
          </p:nvPr>
        </p:nvSpPr>
        <p:spPr/>
        <p:txBody>
          <a:bodyPr>
            <a:normAutofit fontScale="90000"/>
          </a:bodyPr>
          <a:lstStyle/>
          <a:p>
            <a:r>
              <a:rPr kumimoji="1" lang="ja-JP" altLang="en-US"/>
              <a:t>ディープラーニングを用いた生成画像の識別に関する研究 </a:t>
            </a:r>
          </a:p>
        </p:txBody>
      </p:sp>
      <p:sp>
        <p:nvSpPr>
          <p:cNvPr id="3" name="字幕 2">
            <a:extLst>
              <a:ext uri="{FF2B5EF4-FFF2-40B4-BE49-F238E27FC236}">
                <a16:creationId xmlns:a16="http://schemas.microsoft.com/office/drawing/2014/main" id="{94599EE0-1453-27C5-6998-763FE25F41E1}"/>
              </a:ext>
            </a:extLst>
          </p:cNvPr>
          <p:cNvSpPr>
            <a:spLocks noGrp="1"/>
          </p:cNvSpPr>
          <p:nvPr>
            <p:ph type="subTitle" idx="1"/>
          </p:nvPr>
        </p:nvSpPr>
        <p:spPr/>
        <p:txBody>
          <a:bodyPr>
            <a:normAutofit fontScale="92500" lnSpcReduction="10000"/>
          </a:bodyPr>
          <a:lstStyle/>
          <a:p>
            <a:r>
              <a:rPr kumimoji="1" lang="ja-JP" altLang="en-US"/>
              <a:t>李</a:t>
            </a:r>
            <a:r>
              <a:rPr kumimoji="1" lang="en-US" altLang="ja-JP" dirty="0"/>
              <a:t> </a:t>
            </a:r>
            <a:r>
              <a:rPr kumimoji="1" lang="ja-JP" altLang="en-US"/>
              <a:t>洪企，山富 龍，マハブービ</a:t>
            </a:r>
            <a:r>
              <a:rPr kumimoji="1" lang="en-US" altLang="ja-JP" dirty="0"/>
              <a:t> </a:t>
            </a:r>
            <a:r>
              <a:rPr kumimoji="1" lang="ja-JP" altLang="en-US"/>
              <a:t>シェヘラザード，二宮 洋</a:t>
            </a:r>
            <a:r>
              <a:rPr kumimoji="1" lang="en-US" altLang="ja-JP" dirty="0"/>
              <a:t> (</a:t>
            </a:r>
            <a:r>
              <a:rPr kumimoji="1" lang="ja-JP" altLang="en-US"/>
              <a:t>湘南工科大学</a:t>
            </a:r>
            <a:r>
              <a:rPr kumimoji="1" lang="en-US" altLang="ja-JP" dirty="0"/>
              <a:t>)</a:t>
            </a:r>
            <a:endParaRPr kumimoji="1" lang="ja-JP" altLang="en-US"/>
          </a:p>
        </p:txBody>
      </p:sp>
      <p:sp>
        <p:nvSpPr>
          <p:cNvPr id="4" name="正方形/長方形 3">
            <a:extLst>
              <a:ext uri="{FF2B5EF4-FFF2-40B4-BE49-F238E27FC236}">
                <a16:creationId xmlns:a16="http://schemas.microsoft.com/office/drawing/2014/main" id="{9C10766B-7076-91B3-A397-BBEA33F2B053}"/>
              </a:ext>
            </a:extLst>
          </p:cNvPr>
          <p:cNvSpPr/>
          <p:nvPr/>
        </p:nvSpPr>
        <p:spPr>
          <a:xfrm>
            <a:off x="203200" y="2288709"/>
            <a:ext cx="14681200" cy="7793827"/>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f</a:t>
            </a:r>
            <a:endParaRPr kumimoji="1" lang="ja-JP" altLang="en-US"/>
          </a:p>
        </p:txBody>
      </p:sp>
      <p:sp>
        <p:nvSpPr>
          <p:cNvPr id="5" name="正方形/長方形 4">
            <a:extLst>
              <a:ext uri="{FF2B5EF4-FFF2-40B4-BE49-F238E27FC236}">
                <a16:creationId xmlns:a16="http://schemas.microsoft.com/office/drawing/2014/main" id="{EA226ABE-335F-93A5-857A-04C2F058ED73}"/>
              </a:ext>
            </a:extLst>
          </p:cNvPr>
          <p:cNvSpPr/>
          <p:nvPr/>
        </p:nvSpPr>
        <p:spPr>
          <a:xfrm>
            <a:off x="203200" y="2288708"/>
            <a:ext cx="1468120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800">
                <a:latin typeface="MS PGothic" panose="020B0600070205080204" pitchFamily="34" charset="-128"/>
                <a:ea typeface="MS PGothic" panose="020B0600070205080204" pitchFamily="34" charset="-128"/>
              </a:rPr>
              <a:t>背景</a:t>
            </a:r>
          </a:p>
        </p:txBody>
      </p:sp>
      <p:sp>
        <p:nvSpPr>
          <p:cNvPr id="6" name="テキスト ボックス 5">
            <a:extLst>
              <a:ext uri="{FF2B5EF4-FFF2-40B4-BE49-F238E27FC236}">
                <a16:creationId xmlns:a16="http://schemas.microsoft.com/office/drawing/2014/main" id="{8F91DC60-44EF-D77D-F92E-F1E62B3F96DB}"/>
              </a:ext>
            </a:extLst>
          </p:cNvPr>
          <p:cNvSpPr txBox="1"/>
          <p:nvPr/>
        </p:nvSpPr>
        <p:spPr>
          <a:xfrm>
            <a:off x="203199" y="3169285"/>
            <a:ext cx="14681200" cy="2554545"/>
          </a:xfrm>
          <a:prstGeom prst="rect">
            <a:avLst/>
          </a:prstGeom>
          <a:noFill/>
        </p:spPr>
        <p:txBody>
          <a:bodyPr wrap="square" rtlCol="0">
            <a:spAutoFit/>
          </a:bodyPr>
          <a:lstStyle/>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近年</a:t>
            </a:r>
            <a:r>
              <a:rPr kumimoji="1" lang="en" altLang="ja-JP" sz="4000" dirty="0" err="1">
                <a:latin typeface="MS PGothic" panose="020B0600070205080204" pitchFamily="34" charset="-128"/>
                <a:ea typeface="MS PGothic" panose="020B0600070205080204" pitchFamily="34" charset="-128"/>
              </a:rPr>
              <a:t>BigGAN</a:t>
            </a:r>
            <a:r>
              <a:rPr kumimoji="1" lang="en" altLang="ja-JP" sz="4000" dirty="0">
                <a:latin typeface="MS PGothic" panose="020B0600070205080204" pitchFamily="34" charset="-128"/>
                <a:ea typeface="MS PGothic" panose="020B0600070205080204" pitchFamily="34" charset="-128"/>
              </a:rPr>
              <a:t>[</a:t>
            </a:r>
            <a:r>
              <a:rPr kumimoji="1" lang="en-US" altLang="ja-JP" sz="4000" dirty="0">
                <a:latin typeface="MS PGothic" panose="020B0600070205080204" pitchFamily="34" charset="-128"/>
                <a:ea typeface="MS PGothic" panose="020B0600070205080204" pitchFamily="34" charset="-128"/>
              </a:rPr>
              <a:t>1</a:t>
            </a:r>
            <a:r>
              <a:rPr kumimoji="1" lang="en" altLang="ja-JP" sz="4000" dirty="0">
                <a:latin typeface="MS PGothic" panose="020B0600070205080204" pitchFamily="34" charset="-128"/>
                <a:ea typeface="MS PGothic" panose="020B0600070205080204" pitchFamily="34" charset="-128"/>
              </a:rPr>
              <a:t>] </a:t>
            </a:r>
            <a:r>
              <a:rPr kumimoji="1" lang="ja-JP" altLang="en-US" sz="4000">
                <a:latin typeface="MS PGothic" panose="020B0600070205080204" pitchFamily="34" charset="-128"/>
                <a:ea typeface="MS PGothic" panose="020B0600070205080204" pitchFamily="34" charset="-128"/>
              </a:rPr>
              <a:t>や </a:t>
            </a:r>
            <a:r>
              <a:rPr kumimoji="1" lang="en" altLang="ja-JP" sz="4000" dirty="0">
                <a:latin typeface="MS PGothic" panose="020B0600070205080204" pitchFamily="34" charset="-128"/>
                <a:ea typeface="MS PGothic" panose="020B0600070205080204" pitchFamily="34" charset="-128"/>
              </a:rPr>
              <a:t>Stable Diffusion[</a:t>
            </a:r>
            <a:r>
              <a:rPr kumimoji="1" lang="en-US" altLang="ja-JP" sz="4000" dirty="0">
                <a:latin typeface="MS PGothic" panose="020B0600070205080204" pitchFamily="34" charset="-128"/>
                <a:ea typeface="MS PGothic" panose="020B0600070205080204" pitchFamily="34" charset="-128"/>
              </a:rPr>
              <a:t>1</a:t>
            </a:r>
            <a:r>
              <a:rPr kumimoji="1" lang="en" altLang="ja-JP" sz="4000" dirty="0">
                <a:latin typeface="MS PGothic" panose="020B0600070205080204" pitchFamily="34" charset="-128"/>
                <a:ea typeface="MS PGothic" panose="020B0600070205080204" pitchFamily="34" charset="-128"/>
              </a:rPr>
              <a:t>] </a:t>
            </a:r>
            <a:r>
              <a:rPr kumimoji="1" lang="ja-JP" altLang="en-US" sz="4000">
                <a:latin typeface="MS PGothic" panose="020B0600070205080204" pitchFamily="34" charset="-128"/>
                <a:ea typeface="MS PGothic" panose="020B0600070205080204" pitchFamily="34" charset="-128"/>
              </a:rPr>
              <a:t>等の画像生成 </a:t>
            </a:r>
            <a:r>
              <a:rPr kumimoji="1" lang="en" altLang="ja-JP" sz="4000" dirty="0">
                <a:latin typeface="MS PGothic" panose="020B0600070205080204" pitchFamily="34" charset="-128"/>
                <a:ea typeface="MS PGothic" panose="020B0600070205080204" pitchFamily="34" charset="-128"/>
              </a:rPr>
              <a:t>AI </a:t>
            </a:r>
            <a:r>
              <a:rPr kumimoji="1" lang="ja-JP" altLang="en-US" sz="4000">
                <a:latin typeface="MS PGothic" panose="020B0600070205080204" pitchFamily="34" charset="-128"/>
                <a:ea typeface="MS PGothic" panose="020B0600070205080204" pitchFamily="34" charset="-128"/>
              </a:rPr>
              <a:t>が発展</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画像生成</a:t>
            </a:r>
            <a:r>
              <a:rPr kumimoji="1" lang="en" altLang="ja-JP" sz="4000" dirty="0">
                <a:latin typeface="MS PGothic" panose="020B0600070205080204" pitchFamily="34" charset="-128"/>
                <a:ea typeface="MS PGothic" panose="020B0600070205080204" pitchFamily="34" charset="-128"/>
              </a:rPr>
              <a:t>AI</a:t>
            </a:r>
            <a:r>
              <a:rPr kumimoji="1" lang="ja-JP" altLang="en-US" sz="4000">
                <a:latin typeface="MS PGothic" panose="020B0600070205080204" pitchFamily="34" charset="-128"/>
                <a:ea typeface="MS PGothic" panose="020B0600070205080204" pitchFamily="34" charset="-128"/>
              </a:rPr>
              <a:t>の悪用問題</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生成画像を識別できる</a:t>
            </a:r>
            <a:r>
              <a:rPr kumimoji="1" lang="en-US" altLang="ja-JP" sz="4000" dirty="0">
                <a:latin typeface="MS PGothic" panose="020B0600070205080204" pitchFamily="34" charset="-128"/>
                <a:ea typeface="MS PGothic" panose="020B0600070205080204" pitchFamily="34" charset="-128"/>
              </a:rPr>
              <a:t>AI</a:t>
            </a:r>
            <a:r>
              <a:rPr kumimoji="1" lang="ja-JP" altLang="en-US" sz="4000">
                <a:latin typeface="MS PGothic" panose="020B0600070205080204" pitchFamily="34" charset="-128"/>
                <a:ea typeface="MS PGothic" panose="020B0600070205080204" pitchFamily="34" charset="-128"/>
              </a:rPr>
              <a:t>が必要</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 altLang="ja-JP" sz="4000" dirty="0">
              <a:latin typeface="MS PGothic" panose="020B0600070205080204" pitchFamily="34" charset="-128"/>
              <a:ea typeface="MS PGothic" panose="020B0600070205080204" pitchFamily="34" charset="-128"/>
            </a:endParaRPr>
          </a:p>
        </p:txBody>
      </p:sp>
      <p:sp>
        <p:nvSpPr>
          <p:cNvPr id="14" name="テキスト ボックス 13">
            <a:extLst>
              <a:ext uri="{FF2B5EF4-FFF2-40B4-BE49-F238E27FC236}">
                <a16:creationId xmlns:a16="http://schemas.microsoft.com/office/drawing/2014/main" id="{81870BA9-158E-E6F7-8EA8-4C7B6ECAD993}"/>
              </a:ext>
            </a:extLst>
          </p:cNvPr>
          <p:cNvSpPr txBox="1"/>
          <p:nvPr/>
        </p:nvSpPr>
        <p:spPr>
          <a:xfrm>
            <a:off x="15286582" y="39556192"/>
            <a:ext cx="14740065" cy="2677656"/>
          </a:xfrm>
          <a:prstGeom prst="rect">
            <a:avLst/>
          </a:prstGeom>
          <a:noFill/>
        </p:spPr>
        <p:txBody>
          <a:bodyPr wrap="square" rtlCol="0">
            <a:spAutoFit/>
          </a:bodyPr>
          <a:lstStyle/>
          <a:p>
            <a:r>
              <a:rPr kumimoji="1" lang="en-US" altLang="ja-JP" sz="2400" dirty="0">
                <a:latin typeface="MS PGothic" panose="020B0600070205080204" pitchFamily="34" charset="-128"/>
                <a:ea typeface="MS PGothic" panose="020B0600070205080204" pitchFamily="34" charset="-128"/>
              </a:rPr>
              <a:t>[1]  </a:t>
            </a:r>
            <a:r>
              <a:rPr kumimoji="1" lang="en-US" altLang="ja-JP" sz="2400" dirty="0" err="1">
                <a:latin typeface="MS PGothic" panose="020B0600070205080204" pitchFamily="34" charset="-128"/>
                <a:ea typeface="MS PGothic" panose="020B0600070205080204" pitchFamily="34" charset="-128"/>
              </a:rPr>
              <a:t>M.Zhu</a:t>
            </a:r>
            <a:r>
              <a:rPr kumimoji="1" lang="ja-JP" altLang="en-US" sz="2400">
                <a:latin typeface="MS PGothic" panose="020B0600070205080204" pitchFamily="34" charset="-128"/>
                <a:ea typeface="MS PGothic" panose="020B0600070205080204" pitchFamily="34" charset="-128"/>
              </a:rPr>
              <a:t>，</a:t>
            </a:r>
            <a:r>
              <a:rPr kumimoji="1" lang="en-US" altLang="ja-JP" sz="2400" dirty="0">
                <a:latin typeface="MS PGothic" panose="020B0600070205080204" pitchFamily="34" charset="-128"/>
                <a:ea typeface="MS PGothic" panose="020B0600070205080204" pitchFamily="34" charset="-128"/>
              </a:rPr>
              <a:t>et al.</a:t>
            </a:r>
            <a:r>
              <a:rPr kumimoji="1" lang="ja-JP" altLang="en-US" sz="2400">
                <a:latin typeface="MS PGothic" panose="020B0600070205080204" pitchFamily="34" charset="-128"/>
                <a:ea typeface="MS PGothic" panose="020B0600070205080204" pitchFamily="34" charset="-128"/>
              </a:rPr>
              <a:t>，</a:t>
            </a:r>
            <a:r>
              <a:rPr kumimoji="1" lang="en-US" altLang="ja-JP" sz="2400" dirty="0" err="1">
                <a:latin typeface="MS PGothic" panose="020B0600070205080204" pitchFamily="34" charset="-128"/>
                <a:ea typeface="MS PGothic" panose="020B0600070205080204" pitchFamily="34" charset="-128"/>
              </a:rPr>
              <a:t>arXiv</a:t>
            </a:r>
            <a:r>
              <a:rPr kumimoji="1" lang="en-US" altLang="ja-JP" sz="2400" dirty="0">
                <a:latin typeface="MS PGothic" panose="020B0600070205080204" pitchFamily="34" charset="-128"/>
                <a:ea typeface="MS PGothic" panose="020B0600070205080204" pitchFamily="34" charset="-128"/>
              </a:rPr>
              <a:t> :2306.08571</a:t>
            </a:r>
            <a:r>
              <a:rPr kumimoji="1" lang="ja-JP" altLang="en-US" sz="2400">
                <a:latin typeface="MS PGothic" panose="020B0600070205080204" pitchFamily="34" charset="-128"/>
                <a:ea typeface="MS PGothic" panose="020B0600070205080204" pitchFamily="34" charset="-128"/>
              </a:rPr>
              <a:t>，</a:t>
            </a:r>
            <a:r>
              <a:rPr kumimoji="1" lang="en-US" altLang="ja-JP" sz="2400" dirty="0">
                <a:latin typeface="MS PGothic" panose="020B0600070205080204" pitchFamily="34" charset="-128"/>
                <a:ea typeface="MS PGothic" panose="020B0600070205080204" pitchFamily="34" charset="-128"/>
              </a:rPr>
              <a:t>Jun</a:t>
            </a:r>
            <a:r>
              <a:rPr kumimoji="1" lang="ja-JP" altLang="en-US" sz="2400">
                <a:latin typeface="MS PGothic" panose="020B0600070205080204" pitchFamily="34" charset="-128"/>
                <a:ea typeface="MS PGothic" panose="020B0600070205080204" pitchFamily="34" charset="-128"/>
              </a:rPr>
              <a:t>．</a:t>
            </a:r>
            <a:r>
              <a:rPr kumimoji="1" lang="en-US" altLang="ja-JP" sz="2400" dirty="0">
                <a:latin typeface="MS PGothic" panose="020B0600070205080204" pitchFamily="34" charset="-128"/>
                <a:ea typeface="MS PGothic" panose="020B0600070205080204" pitchFamily="34" charset="-128"/>
              </a:rPr>
              <a:t>2023. </a:t>
            </a:r>
          </a:p>
          <a:p>
            <a:r>
              <a:rPr kumimoji="1" lang="en-US" altLang="ja-JP" sz="2400" dirty="0">
                <a:latin typeface="MS PGothic" panose="020B0600070205080204" pitchFamily="34" charset="-128"/>
                <a:ea typeface="MS PGothic" panose="020B0600070205080204" pitchFamily="34" charset="-128"/>
              </a:rPr>
              <a:t>[2]</a:t>
            </a:r>
          </a:p>
          <a:p>
            <a:r>
              <a:rPr kumimoji="1" lang="en-US" altLang="ja-JP" sz="2400" dirty="0">
                <a:latin typeface="MS PGothic" panose="020B0600070205080204" pitchFamily="34" charset="-128"/>
                <a:ea typeface="MS PGothic" panose="020B0600070205080204" pitchFamily="34" charset="-128"/>
              </a:rPr>
              <a:t>[3]</a:t>
            </a:r>
          </a:p>
          <a:p>
            <a:r>
              <a:rPr lang="en-US" altLang="ja-JP" sz="2400" dirty="0">
                <a:solidFill>
                  <a:srgbClr val="111111"/>
                </a:solidFill>
                <a:latin typeface="MS PGothic" panose="020B0600070205080204" pitchFamily="34" charset="-128"/>
                <a:ea typeface="MS PGothic" panose="020B0600070205080204" pitchFamily="34" charset="-128"/>
              </a:rPr>
              <a:t>[4]  V. Ashish, et al., </a:t>
            </a:r>
            <a:r>
              <a:rPr lang="en-US" altLang="ja-JP" sz="2400" i="1" dirty="0">
                <a:solidFill>
                  <a:srgbClr val="111111"/>
                </a:solidFill>
                <a:latin typeface="MS PGothic" panose="020B0600070205080204" pitchFamily="34" charset="-128"/>
                <a:ea typeface="MS PGothic" panose="020B0600070205080204" pitchFamily="34" charset="-128"/>
              </a:rPr>
              <a:t>Advances in neural information processing systems 31</a:t>
            </a:r>
            <a:r>
              <a:rPr lang="en-US" altLang="ja-JP" sz="2400" dirty="0">
                <a:solidFill>
                  <a:srgbClr val="111111"/>
                </a:solidFill>
                <a:latin typeface="MS PGothic" panose="020B0600070205080204" pitchFamily="34" charset="-128"/>
                <a:ea typeface="MS PGothic" panose="020B0600070205080204" pitchFamily="34" charset="-128"/>
              </a:rPr>
              <a:t>, pp.5998-6008, Dec. 2017.</a:t>
            </a:r>
          </a:p>
          <a:p>
            <a:r>
              <a:rPr kumimoji="1" lang="en-US" altLang="ja-JP" sz="2400" dirty="0">
                <a:latin typeface="MS PGothic" panose="020B0600070205080204" pitchFamily="34" charset="-128"/>
                <a:ea typeface="MS PGothic" panose="020B0600070205080204" pitchFamily="34" charset="-128"/>
              </a:rPr>
              <a:t>[5]  </a:t>
            </a:r>
            <a:r>
              <a:rPr lang="en" altLang="ja-JP" sz="2400" dirty="0" err="1">
                <a:solidFill>
                  <a:srgbClr val="111111"/>
                </a:solidFill>
                <a:latin typeface="MS PGothic" panose="020B0600070205080204" pitchFamily="34" charset="-128"/>
                <a:ea typeface="MS PGothic" panose="020B0600070205080204" pitchFamily="34" charset="-128"/>
              </a:rPr>
              <a:t>Z.Liu</a:t>
            </a:r>
            <a:r>
              <a:rPr lang="ja-JP" altLang="en-US" sz="2400">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et al</a:t>
            </a:r>
            <a:r>
              <a:rPr lang="ja-JP" altLang="en" sz="2400">
                <a:solidFill>
                  <a:srgbClr val="111111"/>
                </a:solidFill>
                <a:latin typeface="MS PGothic" panose="020B0600070205080204" pitchFamily="34" charset="-128"/>
                <a:ea typeface="MS PGothic" panose="020B0600070205080204" pitchFamily="34" charset="-128"/>
              </a:rPr>
              <a:t>，</a:t>
            </a:r>
            <a:r>
              <a:rPr lang="en" altLang="ja-JP" sz="2400" i="1" dirty="0">
                <a:solidFill>
                  <a:srgbClr val="111111"/>
                </a:solidFill>
                <a:latin typeface="MS PGothic" panose="020B0600070205080204" pitchFamily="34" charset="-128"/>
                <a:ea typeface="MS PGothic" panose="020B0600070205080204" pitchFamily="34" charset="-128"/>
              </a:rPr>
              <a:t>Proc</a:t>
            </a:r>
            <a:r>
              <a:rPr lang="ja-JP" altLang="en" sz="2400" i="1">
                <a:solidFill>
                  <a:srgbClr val="111111"/>
                </a:solidFill>
                <a:latin typeface="MS PGothic" panose="020B0600070205080204" pitchFamily="34" charset="-128"/>
                <a:ea typeface="MS PGothic" panose="020B0600070205080204" pitchFamily="34" charset="-128"/>
              </a:rPr>
              <a:t>．</a:t>
            </a:r>
            <a:r>
              <a:rPr lang="en" altLang="ja-JP" sz="2400" i="1" dirty="0">
                <a:solidFill>
                  <a:srgbClr val="111111"/>
                </a:solidFill>
                <a:latin typeface="MS PGothic" panose="020B0600070205080204" pitchFamily="34" charset="-128"/>
                <a:ea typeface="MS PGothic" panose="020B0600070205080204" pitchFamily="34" charset="-128"/>
              </a:rPr>
              <a:t>IEEE/CVF ICCV</a:t>
            </a:r>
            <a:r>
              <a:rPr lang="ja-JP" altLang="en" sz="2400" i="1">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pp.10012-10022</a:t>
            </a:r>
            <a:r>
              <a:rPr lang="ja-JP" altLang="en" sz="2400">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Oct</a:t>
            </a:r>
            <a:r>
              <a:rPr lang="ja-JP" altLang="en-US" sz="2400">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2021</a:t>
            </a:r>
            <a:r>
              <a:rPr lang="ja-JP" altLang="en-US" sz="2400">
                <a:solidFill>
                  <a:srgbClr val="111111"/>
                </a:solidFill>
                <a:latin typeface="MS PGothic" panose="020B0600070205080204" pitchFamily="34" charset="-128"/>
                <a:ea typeface="MS PGothic" panose="020B0600070205080204" pitchFamily="34" charset="-128"/>
              </a:rPr>
              <a:t>．</a:t>
            </a:r>
            <a:endParaRPr lang="en-US" altLang="ja-JP" sz="2400" dirty="0">
              <a:solidFill>
                <a:srgbClr val="111111"/>
              </a:solidFill>
              <a:latin typeface="MS PGothic" panose="020B0600070205080204" pitchFamily="34" charset="-128"/>
              <a:ea typeface="MS PGothic" panose="020B0600070205080204" pitchFamily="34" charset="-128"/>
            </a:endParaRPr>
          </a:p>
          <a:p>
            <a:r>
              <a:rPr lang="en-US" altLang="ja-JP" sz="2400" dirty="0">
                <a:solidFill>
                  <a:srgbClr val="111111"/>
                </a:solidFill>
                <a:latin typeface="MS PGothic" panose="020B0600070205080204" pitchFamily="34" charset="-128"/>
                <a:ea typeface="MS PGothic" panose="020B0600070205080204" pitchFamily="34" charset="-128"/>
              </a:rPr>
              <a:t>[6]</a:t>
            </a:r>
            <a:r>
              <a:rPr lang="en-US" altLang="ja-JP" sz="2400" b="0" i="0" dirty="0">
                <a:solidFill>
                  <a:srgbClr val="111111"/>
                </a:solidFill>
                <a:effectLst/>
                <a:latin typeface="MS PGothic" panose="020B0600070205080204" pitchFamily="34" charset="-128"/>
                <a:ea typeface="MS PGothic" panose="020B0600070205080204" pitchFamily="34" charset="-128"/>
              </a:rPr>
              <a:t>  D. Alexey, et al., </a:t>
            </a:r>
            <a:r>
              <a:rPr lang="en-US" altLang="ja-JP" sz="2400" b="0" i="1" dirty="0" err="1">
                <a:solidFill>
                  <a:srgbClr val="111111"/>
                </a:solidFill>
                <a:effectLst/>
                <a:latin typeface="MS PGothic" panose="020B0600070205080204" pitchFamily="34" charset="-128"/>
                <a:ea typeface="MS PGothic" panose="020B0600070205080204" pitchFamily="34" charset="-128"/>
              </a:rPr>
              <a:t>arXiv</a:t>
            </a:r>
            <a:r>
              <a:rPr lang="en-US" altLang="ja-JP" sz="2400" b="0" i="1" dirty="0">
                <a:solidFill>
                  <a:srgbClr val="111111"/>
                </a:solidFill>
                <a:effectLst/>
                <a:latin typeface="MS PGothic" panose="020B0600070205080204" pitchFamily="34" charset="-128"/>
                <a:ea typeface="MS PGothic" panose="020B0600070205080204" pitchFamily="34" charset="-128"/>
              </a:rPr>
              <a:t> preprint arXiv:2010.11929</a:t>
            </a:r>
            <a:r>
              <a:rPr lang="en-US" altLang="ja-JP" sz="2400" b="0" i="0" dirty="0">
                <a:solidFill>
                  <a:srgbClr val="111111"/>
                </a:solidFill>
                <a:effectLst/>
                <a:latin typeface="MS PGothic" panose="020B0600070205080204" pitchFamily="34" charset="-128"/>
                <a:ea typeface="MS PGothic" panose="020B0600070205080204" pitchFamily="34" charset="-128"/>
              </a:rPr>
              <a:t>, Oct. 2020.</a:t>
            </a:r>
            <a:endParaRPr lang="en-US" altLang="ja-JP" sz="2400" dirty="0">
              <a:solidFill>
                <a:srgbClr val="111111"/>
              </a:solidFill>
              <a:latin typeface="MS PGothic" panose="020B0600070205080204" pitchFamily="34" charset="-128"/>
              <a:ea typeface="MS PGothic" panose="020B0600070205080204" pitchFamily="34" charset="-128"/>
            </a:endParaRPr>
          </a:p>
          <a:p>
            <a:r>
              <a:rPr lang="en-US" altLang="ja-JP" sz="2400" dirty="0">
                <a:solidFill>
                  <a:srgbClr val="111111"/>
                </a:solidFill>
                <a:latin typeface="MS PGothic" panose="020B0600070205080204" pitchFamily="34" charset="-128"/>
                <a:ea typeface="MS PGothic" panose="020B0600070205080204" pitchFamily="34" charset="-128"/>
              </a:rPr>
              <a:t>[7]  P</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Young</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et al.</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i="1" dirty="0">
                <a:solidFill>
                  <a:srgbClr val="111111"/>
                </a:solidFill>
                <a:latin typeface="MS PGothic" panose="020B0600070205080204" pitchFamily="34" charset="-128"/>
                <a:ea typeface="MS PGothic" panose="020B0600070205080204" pitchFamily="34" charset="-128"/>
              </a:rPr>
              <a:t>TACL</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Vol.2, pp.67-78</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Feb</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2014.</a:t>
            </a:r>
          </a:p>
        </p:txBody>
      </p:sp>
      <p:sp>
        <p:nvSpPr>
          <p:cNvPr id="8" name="テキスト ボックス 7">
            <a:extLst>
              <a:ext uri="{FF2B5EF4-FFF2-40B4-BE49-F238E27FC236}">
                <a16:creationId xmlns:a16="http://schemas.microsoft.com/office/drawing/2014/main" id="{D1BA0A21-5046-6A80-575C-A5CDE3DC98E4}"/>
              </a:ext>
            </a:extLst>
          </p:cNvPr>
          <p:cNvSpPr txBox="1"/>
          <p:nvPr/>
        </p:nvSpPr>
        <p:spPr>
          <a:xfrm>
            <a:off x="15238341" y="32444544"/>
            <a:ext cx="14717304" cy="6986528"/>
          </a:xfrm>
          <a:prstGeom prst="rect">
            <a:avLst/>
          </a:prstGeom>
          <a:noFill/>
        </p:spPr>
        <p:txBody>
          <a:bodyPr wrap="square" rtlCol="0">
            <a:spAutoFit/>
          </a:bodyPr>
          <a:lstStyle/>
          <a:p>
            <a:pPr indent="457200" algn="ctr"/>
            <a:endParaRPr kumimoji="1" lang="en-US" altLang="ja-JP" sz="4400" b="1" dirty="0">
              <a:latin typeface="MS PGothic" panose="020B0600070205080204" pitchFamily="34" charset="-128"/>
              <a:ea typeface="MS PGothic" panose="020B0600070205080204" pitchFamily="34" charset="-128"/>
            </a:endParaRPr>
          </a:p>
          <a:p>
            <a:pPr indent="457200" algn="ctr"/>
            <a:r>
              <a:rPr kumimoji="1" lang="ja-JP" altLang="en-US" sz="4400" b="1">
                <a:latin typeface="MS PGothic" panose="020B0600070205080204" pitchFamily="34" charset="-128"/>
                <a:ea typeface="MS PGothic" panose="020B0600070205080204" pitchFamily="34" charset="-128"/>
              </a:rPr>
              <a:t>まとめ</a:t>
            </a:r>
            <a:endParaRPr kumimoji="1" lang="en-US" altLang="ja-JP" sz="4000" b="1"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提案手法は生成画像に対する分類精度が高い</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提案手法では現実画像に対する分類が弱く，識別器が増えるほど現実画像に対する分類精度が低くなる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提案手法は全てのデータを学習した識別器より，新たな生成手法に対応する学習が簡単になる</a:t>
            </a:r>
            <a:endParaRPr kumimoji="1" lang="en-US" altLang="ja-JP" sz="4000" dirty="0">
              <a:latin typeface="MS PGothic" panose="020B0600070205080204" pitchFamily="34" charset="-128"/>
              <a:ea typeface="MS PGothic" panose="020B0600070205080204" pitchFamily="34" charset="-128"/>
            </a:endParaRPr>
          </a:p>
          <a:p>
            <a:pPr algn="ctr"/>
            <a:r>
              <a:rPr kumimoji="1" lang="ja-JP" altLang="en-US" sz="4000" b="1">
                <a:latin typeface="MS PGothic" panose="020B0600070205080204" pitchFamily="34" charset="-128"/>
                <a:ea typeface="MS PGothic" panose="020B0600070205080204" pitchFamily="34" charset="-128"/>
              </a:rPr>
              <a:t>今後の課題</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未学習生成手法の生成画像にの対応性を確認する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他の生成モデルを使い，学習用データを追加する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他の生成モデルの画像を提案手法にて追加学習し，実験を行う</a:t>
            </a:r>
            <a:endParaRPr kumimoji="1" lang="en-US" altLang="ja-JP" sz="4000" dirty="0">
              <a:latin typeface="MS PGothic" panose="020B0600070205080204" pitchFamily="34" charset="-128"/>
              <a:ea typeface="MS PGothic" panose="020B0600070205080204" pitchFamily="34" charset="-128"/>
            </a:endParaRPr>
          </a:p>
        </p:txBody>
      </p:sp>
      <p:sp>
        <p:nvSpPr>
          <p:cNvPr id="1127" name="テキスト ボックス 1126">
            <a:extLst>
              <a:ext uri="{FF2B5EF4-FFF2-40B4-BE49-F238E27FC236}">
                <a16:creationId xmlns:a16="http://schemas.microsoft.com/office/drawing/2014/main" id="{3C18FF6E-9050-C809-58E5-0F8B3D464A4F}"/>
              </a:ext>
            </a:extLst>
          </p:cNvPr>
          <p:cNvSpPr txBox="1"/>
          <p:nvPr/>
        </p:nvSpPr>
        <p:spPr>
          <a:xfrm>
            <a:off x="3592326" y="9253540"/>
            <a:ext cx="7902945"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図</a:t>
            </a:r>
            <a:r>
              <a:rPr kumimoji="1" lang="en-US" altLang="ja-JP" sz="4000" dirty="0">
                <a:latin typeface="MS PGothic" panose="020B0600070205080204" pitchFamily="34" charset="-128"/>
                <a:ea typeface="MS PGothic" panose="020B0600070205080204" pitchFamily="34" charset="-128"/>
              </a:rPr>
              <a:t>1</a:t>
            </a:r>
            <a:r>
              <a:rPr kumimoji="1" lang="ja-JP" altLang="en-US" sz="4000">
                <a:latin typeface="MS PGothic" panose="020B0600070205080204" pitchFamily="34" charset="-128"/>
                <a:ea typeface="MS PGothic" panose="020B0600070205080204" pitchFamily="34" charset="-128"/>
              </a:rPr>
              <a:t>　生成画像の悪用例</a:t>
            </a:r>
            <a:r>
              <a:rPr kumimoji="1" lang="en-US" altLang="ja-JP" sz="4000" dirty="0">
                <a:latin typeface="MS PGothic" panose="020B0600070205080204" pitchFamily="34" charset="-128"/>
                <a:ea typeface="MS PGothic" panose="020B0600070205080204" pitchFamily="34" charset="-128"/>
              </a:rPr>
              <a:t>[2][3]</a:t>
            </a:r>
          </a:p>
        </p:txBody>
      </p:sp>
      <p:pic>
        <p:nvPicPr>
          <p:cNvPr id="12" name="Picture 2" descr="Tech Blog AIフェイク画像">
            <a:extLst>
              <a:ext uri="{FF2B5EF4-FFF2-40B4-BE49-F238E27FC236}">
                <a16:creationId xmlns:a16="http://schemas.microsoft.com/office/drawing/2014/main" id="{14F53C48-7236-2820-6719-54A7B8D7BD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4301" y="5191008"/>
            <a:ext cx="5262046" cy="4023400"/>
          </a:xfrm>
          <a:prstGeom prst="rect">
            <a:avLst/>
          </a:prstGeom>
          <a:noFill/>
          <a:extLst>
            <a:ext uri="{909E8E84-426E-40DD-AFC4-6F175D3DCCD1}">
              <a14:hiddenFill xmlns:a14="http://schemas.microsoft.com/office/drawing/2010/main">
                <a:solidFill>
                  <a:srgbClr val="FFFFFF"/>
                </a:solidFill>
              </a14:hiddenFill>
            </a:ext>
          </a:extLst>
        </p:spPr>
      </p:pic>
      <p:pic>
        <p:nvPicPr>
          <p:cNvPr id="13" name="図 12">
            <a:extLst>
              <a:ext uri="{FF2B5EF4-FFF2-40B4-BE49-F238E27FC236}">
                <a16:creationId xmlns:a16="http://schemas.microsoft.com/office/drawing/2014/main" id="{CBE69408-8B3E-2B03-DD32-35D4B31B33FD}"/>
              </a:ext>
            </a:extLst>
          </p:cNvPr>
          <p:cNvPicPr>
            <a:picLocks noChangeAspect="1"/>
          </p:cNvPicPr>
          <p:nvPr/>
        </p:nvPicPr>
        <p:blipFill rotWithShape="1">
          <a:blip r:embed="rId4"/>
          <a:srcRect b="29442"/>
          <a:stretch/>
        </p:blipFill>
        <p:spPr>
          <a:xfrm>
            <a:off x="7556347" y="5191008"/>
            <a:ext cx="5490418" cy="4023400"/>
          </a:xfrm>
          <a:prstGeom prst="rect">
            <a:avLst/>
          </a:prstGeom>
        </p:spPr>
      </p:pic>
      <p:sp>
        <p:nvSpPr>
          <p:cNvPr id="1034" name="テキスト ボックス 1033">
            <a:extLst>
              <a:ext uri="{FF2B5EF4-FFF2-40B4-BE49-F238E27FC236}">
                <a16:creationId xmlns:a16="http://schemas.microsoft.com/office/drawing/2014/main" id="{E637178F-0020-5407-4594-3593B15D0050}"/>
              </a:ext>
            </a:extLst>
          </p:cNvPr>
          <p:cNvSpPr txBox="1"/>
          <p:nvPr/>
        </p:nvSpPr>
        <p:spPr>
          <a:xfrm>
            <a:off x="218844" y="18549717"/>
            <a:ext cx="14618393"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図</a:t>
            </a:r>
            <a:r>
              <a:rPr kumimoji="1" lang="en-US" altLang="ja-JP" sz="4000" dirty="0">
                <a:latin typeface="MS PGothic" panose="020B0600070205080204" pitchFamily="34" charset="-128"/>
                <a:ea typeface="MS PGothic" panose="020B0600070205080204" pitchFamily="34" charset="-128"/>
              </a:rPr>
              <a:t>2</a:t>
            </a:r>
            <a:r>
              <a:rPr kumimoji="1" lang="ja-JP" altLang="en-US" sz="4000">
                <a:latin typeface="MS PGothic" panose="020B0600070205080204" pitchFamily="34" charset="-128"/>
                <a:ea typeface="MS PGothic" panose="020B0600070205080204" pitchFamily="34" charset="-128"/>
              </a:rPr>
              <a:t>　</a:t>
            </a:r>
            <a:r>
              <a:rPr kumimoji="1" lang="en-US" altLang="ja-JP" sz="4000" dirty="0" err="1">
                <a:latin typeface="MS PGothic" panose="020B0600070205080204" pitchFamily="34" charset="-128"/>
                <a:ea typeface="MS PGothic" panose="020B0600070205080204" pitchFamily="34" charset="-128"/>
              </a:rPr>
              <a:t>GenImage</a:t>
            </a:r>
            <a:r>
              <a:rPr kumimoji="1" lang="ja-JP" altLang="en-US" sz="4000">
                <a:latin typeface="MS PGothic" panose="020B0600070205080204" pitchFamily="34" charset="-128"/>
                <a:ea typeface="MS PGothic" panose="020B0600070205080204" pitchFamily="34" charset="-128"/>
              </a:rPr>
              <a:t>データベース </a:t>
            </a:r>
          </a:p>
        </p:txBody>
      </p:sp>
      <p:pic>
        <p:nvPicPr>
          <p:cNvPr id="1042" name="図 1041" descr="部屋に備えている様々な写真のコラージュ&#10;&#10;中程度の精度で自動的に生成された説明">
            <a:extLst>
              <a:ext uri="{FF2B5EF4-FFF2-40B4-BE49-F238E27FC236}">
                <a16:creationId xmlns:a16="http://schemas.microsoft.com/office/drawing/2014/main" id="{67A750D9-80AF-1AA2-64C0-E77C885969D1}"/>
              </a:ext>
            </a:extLst>
          </p:cNvPr>
          <p:cNvPicPr>
            <a:picLocks noChangeAspect="1"/>
          </p:cNvPicPr>
          <p:nvPr/>
        </p:nvPicPr>
        <p:blipFill rotWithShape="1">
          <a:blip r:embed="rId5">
            <a:extLst>
              <a:ext uri="{28A0092B-C50C-407E-A947-70E740481C1C}">
                <a14:useLocalDpi xmlns:a14="http://schemas.microsoft.com/office/drawing/2010/main" val="0"/>
              </a:ext>
            </a:extLst>
          </a:blip>
          <a:srcRect b="56441"/>
          <a:stretch/>
        </p:blipFill>
        <p:spPr>
          <a:xfrm>
            <a:off x="762000" y="15508421"/>
            <a:ext cx="13426458" cy="3067878"/>
          </a:xfrm>
          <a:prstGeom prst="rect">
            <a:avLst/>
          </a:prstGeom>
        </p:spPr>
      </p:pic>
      <p:grpSp>
        <p:nvGrpSpPr>
          <p:cNvPr id="1044" name="グループ化 1043">
            <a:extLst>
              <a:ext uri="{FF2B5EF4-FFF2-40B4-BE49-F238E27FC236}">
                <a16:creationId xmlns:a16="http://schemas.microsoft.com/office/drawing/2014/main" id="{C5C9A92D-638D-E14C-469E-8887182F16E2}"/>
              </a:ext>
            </a:extLst>
          </p:cNvPr>
          <p:cNvGrpSpPr/>
          <p:nvPr/>
        </p:nvGrpSpPr>
        <p:grpSpPr>
          <a:xfrm>
            <a:off x="15474154" y="21210041"/>
            <a:ext cx="14465319" cy="7000994"/>
            <a:chOff x="1509165" y="35401978"/>
            <a:chExt cx="12373212" cy="6006693"/>
          </a:xfrm>
        </p:grpSpPr>
        <p:sp>
          <p:nvSpPr>
            <p:cNvPr id="1121" name="テキスト ボックス 1120">
              <a:extLst>
                <a:ext uri="{FF2B5EF4-FFF2-40B4-BE49-F238E27FC236}">
                  <a16:creationId xmlns:a16="http://schemas.microsoft.com/office/drawing/2014/main" id="{9DB624C6-5AA8-432E-35AE-B994E2821F34}"/>
                </a:ext>
              </a:extLst>
            </p:cNvPr>
            <p:cNvSpPr txBox="1"/>
            <p:nvPr/>
          </p:nvSpPr>
          <p:spPr>
            <a:xfrm>
              <a:off x="1515074" y="35401978"/>
              <a:ext cx="12344268" cy="607350"/>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表</a:t>
              </a:r>
              <a:r>
                <a:rPr kumimoji="1" lang="en-US" altLang="ja-JP" sz="4000" dirty="0">
                  <a:latin typeface="MS PGothic" panose="020B0600070205080204" pitchFamily="34" charset="-128"/>
                  <a:ea typeface="MS PGothic" panose="020B0600070205080204" pitchFamily="34" charset="-128"/>
                </a:rPr>
                <a:t>3</a:t>
              </a:r>
              <a:r>
                <a:rPr kumimoji="1" lang="ja-JP" altLang="en-US" sz="4000">
                  <a:latin typeface="MS PGothic" panose="020B0600070205080204" pitchFamily="34" charset="-128"/>
                  <a:ea typeface="MS PGothic" panose="020B0600070205080204" pitchFamily="34" charset="-128"/>
                </a:rPr>
                <a:t>　実験結果</a:t>
              </a:r>
              <a:endParaRPr kumimoji="1" lang="en-US" altLang="ja-JP" sz="4000" dirty="0">
                <a:latin typeface="MS PGothic" panose="020B0600070205080204" pitchFamily="34" charset="-128"/>
                <a:ea typeface="MS PGothic" panose="020B0600070205080204" pitchFamily="34" charset="-128"/>
              </a:endParaRPr>
            </a:p>
          </p:txBody>
        </p:sp>
        <p:pic>
          <p:nvPicPr>
            <p:cNvPr id="1043" name="図 1042">
              <a:extLst>
                <a:ext uri="{FF2B5EF4-FFF2-40B4-BE49-F238E27FC236}">
                  <a16:creationId xmlns:a16="http://schemas.microsoft.com/office/drawing/2014/main" id="{F6BE9957-3C6B-BB81-3D1A-0D05B4668FB4}"/>
                </a:ext>
              </a:extLst>
            </p:cNvPr>
            <p:cNvPicPr>
              <a:picLocks noChangeAspect="1"/>
            </p:cNvPicPr>
            <p:nvPr/>
          </p:nvPicPr>
          <p:blipFill>
            <a:blip r:embed="rId6"/>
            <a:stretch>
              <a:fillRect/>
            </a:stretch>
          </p:blipFill>
          <p:spPr>
            <a:xfrm>
              <a:off x="1509165" y="36100032"/>
              <a:ext cx="12373212" cy="5308639"/>
            </a:xfrm>
            <a:prstGeom prst="rect">
              <a:avLst/>
            </a:prstGeom>
          </p:spPr>
        </p:pic>
      </p:grpSp>
      <p:sp>
        <p:nvSpPr>
          <p:cNvPr id="1045" name="正方形/長方形 1044">
            <a:extLst>
              <a:ext uri="{FF2B5EF4-FFF2-40B4-BE49-F238E27FC236}">
                <a16:creationId xmlns:a16="http://schemas.microsoft.com/office/drawing/2014/main" id="{F17868E2-937B-FE9D-E724-8CBDAC3E603D}"/>
              </a:ext>
            </a:extLst>
          </p:cNvPr>
          <p:cNvSpPr/>
          <p:nvPr/>
        </p:nvSpPr>
        <p:spPr>
          <a:xfrm>
            <a:off x="15286582" y="32361293"/>
            <a:ext cx="14754158"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800">
                <a:latin typeface="MS PGothic" panose="020B0600070205080204" pitchFamily="34" charset="-128"/>
                <a:ea typeface="MS PGothic" panose="020B0600070205080204" pitchFamily="34" charset="-128"/>
              </a:rPr>
              <a:t>まとめと今後の課題</a:t>
            </a:r>
            <a:endParaRPr kumimoji="1" lang="ja-JP" altLang="en-US" sz="4800" dirty="0">
              <a:latin typeface="MS PGothic" panose="020B0600070205080204" pitchFamily="34" charset="-128"/>
              <a:ea typeface="MS PGothic" panose="020B0600070205080204" pitchFamily="34" charset="-128"/>
            </a:endParaRPr>
          </a:p>
        </p:txBody>
      </p:sp>
      <p:sp>
        <p:nvSpPr>
          <p:cNvPr id="1110" name="正方形/長方形 1109">
            <a:extLst>
              <a:ext uri="{FF2B5EF4-FFF2-40B4-BE49-F238E27FC236}">
                <a16:creationId xmlns:a16="http://schemas.microsoft.com/office/drawing/2014/main" id="{231588DD-CE95-B173-72D0-94F055CCB801}"/>
              </a:ext>
            </a:extLst>
          </p:cNvPr>
          <p:cNvSpPr/>
          <p:nvPr/>
        </p:nvSpPr>
        <p:spPr>
          <a:xfrm>
            <a:off x="189669" y="10221495"/>
            <a:ext cx="14693732"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800">
                <a:latin typeface="MS PGothic" panose="020B0600070205080204" pitchFamily="34" charset="-128"/>
                <a:ea typeface="MS PGothic" panose="020B0600070205080204" pitchFamily="34" charset="-128"/>
              </a:rPr>
              <a:t>既存研究</a:t>
            </a:r>
          </a:p>
        </p:txBody>
      </p:sp>
      <p:sp>
        <p:nvSpPr>
          <p:cNvPr id="10" name="正方形/長方形 9">
            <a:extLst>
              <a:ext uri="{FF2B5EF4-FFF2-40B4-BE49-F238E27FC236}">
                <a16:creationId xmlns:a16="http://schemas.microsoft.com/office/drawing/2014/main" id="{21FE6EDC-F2B9-D704-C876-499A7B3BFDBC}"/>
              </a:ext>
            </a:extLst>
          </p:cNvPr>
          <p:cNvSpPr/>
          <p:nvPr/>
        </p:nvSpPr>
        <p:spPr>
          <a:xfrm>
            <a:off x="15340476" y="2317429"/>
            <a:ext cx="14717304"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800" dirty="0">
                <a:latin typeface="MS PGothic" panose="020B0600070205080204" pitchFamily="34" charset="-128"/>
                <a:ea typeface="MS PGothic" panose="020B0600070205080204" pitchFamily="34" charset="-128"/>
              </a:rPr>
              <a:t>実験</a:t>
            </a:r>
          </a:p>
        </p:txBody>
      </p:sp>
      <p:sp>
        <p:nvSpPr>
          <p:cNvPr id="15" name="テキスト ボックス 14">
            <a:extLst>
              <a:ext uri="{FF2B5EF4-FFF2-40B4-BE49-F238E27FC236}">
                <a16:creationId xmlns:a16="http://schemas.microsoft.com/office/drawing/2014/main" id="{009227B9-3FEF-B943-BFB9-22F6AC5983B0}"/>
              </a:ext>
            </a:extLst>
          </p:cNvPr>
          <p:cNvSpPr txBox="1"/>
          <p:nvPr/>
        </p:nvSpPr>
        <p:spPr>
          <a:xfrm>
            <a:off x="15400997" y="3223338"/>
            <a:ext cx="14625650" cy="14250055"/>
          </a:xfrm>
          <a:prstGeom prst="rect">
            <a:avLst/>
          </a:prstGeom>
          <a:noFill/>
          <a:ln w="38100">
            <a:noFill/>
          </a:ln>
        </p:spPr>
        <p:txBody>
          <a:bodyPr wrap="square" rtlCol="0">
            <a:spAutoFit/>
          </a:bodyPr>
          <a:lstStyle/>
          <a:p>
            <a:pPr indent="457200" algn="just"/>
            <a:r>
              <a:rPr kumimoji="1" lang="ja-JP" altLang="en-US" sz="4000">
                <a:latin typeface="MS PGothic" panose="020B0600070205080204" pitchFamily="34" charset="-128"/>
                <a:ea typeface="MS PGothic" panose="020B0600070205080204" pitchFamily="34" charset="-128"/>
              </a:rPr>
              <a:t>本研究では，提案モデルの有効性を調べるため，</a:t>
            </a:r>
            <a:r>
              <a:rPr kumimoji="1" lang="en-US" altLang="ja-JP" sz="4000" dirty="0" err="1">
                <a:latin typeface="MS PGothic" panose="020B0600070205080204" pitchFamily="34" charset="-128"/>
                <a:ea typeface="MS PGothic" panose="020B0600070205080204" pitchFamily="34" charset="-128"/>
              </a:rPr>
              <a:t>GenImage</a:t>
            </a:r>
            <a:r>
              <a:rPr kumimoji="1" lang="ja-JP" altLang="en-US" sz="4000">
                <a:latin typeface="MS PGothic" panose="020B0600070205080204" pitchFamily="34" charset="-128"/>
                <a:ea typeface="MS PGothic" panose="020B0600070205080204" pitchFamily="34" charset="-128"/>
              </a:rPr>
              <a:t>のベンチマーク問題に対する実験を行う．実験条件を表</a:t>
            </a:r>
            <a:r>
              <a:rPr kumimoji="1" lang="en-US" altLang="ja-JP" sz="4000" dirty="0">
                <a:latin typeface="MS PGothic" panose="020B0600070205080204" pitchFamily="34" charset="-128"/>
                <a:ea typeface="MS PGothic" panose="020B0600070205080204" pitchFamily="34" charset="-128"/>
              </a:rPr>
              <a:t>1</a:t>
            </a:r>
            <a:r>
              <a:rPr kumimoji="1" lang="ja-JP" altLang="en-US" sz="4000">
                <a:latin typeface="MS PGothic" panose="020B0600070205080204" pitchFamily="34" charset="-128"/>
                <a:ea typeface="MS PGothic" panose="020B0600070205080204" pitchFamily="34" charset="-128"/>
              </a:rPr>
              <a:t>に示す</a:t>
            </a:r>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en-US" altLang="ja-JP" sz="4000" dirty="0" err="1">
                <a:latin typeface="MS PGothic" panose="020B0600070205080204" pitchFamily="34" charset="-128"/>
                <a:ea typeface="MS PGothic" panose="020B0600070205080204" pitchFamily="34" charset="-128"/>
              </a:rPr>
              <a:t>GenImage</a:t>
            </a:r>
            <a:r>
              <a:rPr kumimoji="1" lang="ja-JP" altLang="en-US" sz="4000">
                <a:latin typeface="MS PGothic" panose="020B0600070205080204" pitchFamily="34" charset="-128"/>
                <a:ea typeface="MS PGothic" panose="020B0600070205080204" pitchFamily="34" charset="-128"/>
              </a:rPr>
              <a:t>と同様に生成モデルごとに学習した識別器</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全ての生成画像を学習した識別器</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提案手法で比較を行う</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en" altLang="ja-JP" sz="4000" dirty="0" err="1">
                <a:latin typeface="MS PGothic" panose="020B0600070205080204" pitchFamily="34" charset="-128"/>
                <a:ea typeface="MS PGothic" panose="020B0600070205080204" pitchFamily="34" charset="-128"/>
              </a:rPr>
              <a:t>GenImage</a:t>
            </a:r>
            <a:r>
              <a:rPr kumimoji="1" lang="ja-JP" altLang="en-US" sz="4000">
                <a:latin typeface="MS PGothic" panose="020B0600070205080204" pitchFamily="34" charset="-128"/>
                <a:ea typeface="MS PGothic" panose="020B0600070205080204" pitchFamily="34" charset="-128"/>
              </a:rPr>
              <a:t>で公開されている</a:t>
            </a:r>
            <a:r>
              <a:rPr kumimoji="1" lang="en-US" altLang="ja-JP" sz="4000" dirty="0">
                <a:latin typeface="MS PGothic" panose="020B0600070205080204" pitchFamily="34" charset="-128"/>
                <a:ea typeface="MS PGothic" panose="020B0600070205080204" pitchFamily="34" charset="-128"/>
              </a:rPr>
              <a:t>GLIDE[1],</a:t>
            </a:r>
            <a:r>
              <a:rPr kumimoji="1" lang="ja-JP" altLang="en-US" sz="4000">
                <a:latin typeface="MS PGothic" panose="020B0600070205080204" pitchFamily="34" charset="-128"/>
                <a:ea typeface="MS PGothic" panose="020B0600070205080204" pitchFamily="34" charset="-128"/>
              </a:rPr>
              <a:t>，</a:t>
            </a:r>
            <a:r>
              <a:rPr kumimoji="1" lang="en-US" altLang="ja-JP" sz="4000" dirty="0">
                <a:latin typeface="MS PGothic" panose="020B0600070205080204" pitchFamily="34" charset="-128"/>
                <a:ea typeface="MS PGothic" panose="020B0600070205080204" pitchFamily="34" charset="-128"/>
              </a:rPr>
              <a:t>ADM[1]</a:t>
            </a:r>
            <a:r>
              <a:rPr kumimoji="1" lang="ja-JP" altLang="en-US" sz="4000">
                <a:latin typeface="MS PGothic" panose="020B0600070205080204" pitchFamily="34" charset="-128"/>
                <a:ea typeface="MS PGothic" panose="020B0600070205080204" pitchFamily="34" charset="-128"/>
              </a:rPr>
              <a:t>，</a:t>
            </a:r>
            <a:r>
              <a:rPr kumimoji="1" lang="en-US" altLang="ja-JP" sz="4000" dirty="0">
                <a:latin typeface="MS PGothic" panose="020B0600070205080204" pitchFamily="34" charset="-128"/>
                <a:ea typeface="MS PGothic" panose="020B0600070205080204" pitchFamily="34" charset="-128"/>
              </a:rPr>
              <a:t>Stable Diffusion ver.1.5(SDv5)</a:t>
            </a:r>
            <a:r>
              <a:rPr kumimoji="1" lang="ja-JP" altLang="en-US" sz="4000">
                <a:latin typeface="MS PGothic" panose="020B0600070205080204" pitchFamily="34" charset="-128"/>
                <a:ea typeface="MS PGothic" panose="020B0600070205080204" pitchFamily="34" charset="-128"/>
              </a:rPr>
              <a:t>，</a:t>
            </a:r>
            <a:r>
              <a:rPr kumimoji="1" lang="en-US" altLang="ja-JP" sz="4000" dirty="0">
                <a:latin typeface="MS PGothic" panose="020B0600070205080204" pitchFamily="34" charset="-128"/>
                <a:ea typeface="MS PGothic" panose="020B0600070205080204" pitchFamily="34" charset="-128"/>
              </a:rPr>
              <a:t>Stable Diffusion ver.1.4(SDv4)</a:t>
            </a:r>
            <a:r>
              <a:rPr kumimoji="1" lang="ja-JP" altLang="en-US" sz="4000">
                <a:latin typeface="MS PGothic" panose="020B0600070205080204" pitchFamily="34" charset="-128"/>
                <a:ea typeface="MS PGothic" panose="020B0600070205080204" pitchFamily="34" charset="-128"/>
              </a:rPr>
              <a:t>，</a:t>
            </a:r>
            <a:r>
              <a:rPr kumimoji="1" lang="en-US" altLang="ja-JP" sz="4000" dirty="0" err="1">
                <a:latin typeface="MS PGothic" panose="020B0600070205080204" pitchFamily="34" charset="-128"/>
                <a:ea typeface="MS PGothic" panose="020B0600070205080204" pitchFamily="34" charset="-128"/>
              </a:rPr>
              <a:t>BigGAN</a:t>
            </a:r>
            <a:r>
              <a:rPr kumimoji="1" lang="ja-JP" altLang="en-US" sz="4000">
                <a:latin typeface="MS PGothic" panose="020B0600070205080204" pitchFamily="34" charset="-128"/>
                <a:ea typeface="MS PGothic" panose="020B0600070205080204" pitchFamily="34" charset="-128"/>
              </a:rPr>
              <a:t>によって生成された画像と</a:t>
            </a:r>
            <a:r>
              <a:rPr kumimoji="1" lang="en-US" altLang="ja-JP" sz="4000" dirty="0">
                <a:latin typeface="MS PGothic" panose="020B0600070205080204" pitchFamily="34" charset="-128"/>
                <a:ea typeface="MS PGothic" panose="020B0600070205080204" pitchFamily="34" charset="-128"/>
              </a:rPr>
              <a:t>ImageNet</a:t>
            </a:r>
            <a:r>
              <a:rPr kumimoji="1" lang="ja-JP" altLang="en-US" sz="4000">
                <a:latin typeface="MS PGothic" panose="020B0600070205080204" pitchFamily="34" charset="-128"/>
                <a:ea typeface="MS PGothic" panose="020B0600070205080204" pitchFamily="34" charset="-128"/>
              </a:rPr>
              <a:t>の現実画像を使用する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検証データの現実画像枚数増加のため </a:t>
            </a:r>
            <a:r>
              <a:rPr kumimoji="1" lang="en" altLang="ja-JP" sz="4000" dirty="0">
                <a:latin typeface="MS PGothic" panose="020B0600070205080204" pitchFamily="34" charset="-128"/>
                <a:ea typeface="MS PGothic" panose="020B0600070205080204" pitchFamily="34" charset="-128"/>
              </a:rPr>
              <a:t>Flickr 30K[</a:t>
            </a:r>
            <a:r>
              <a:rPr kumimoji="1" lang="en-US" altLang="ja-JP" sz="4000" dirty="0">
                <a:latin typeface="MS PGothic" panose="020B0600070205080204" pitchFamily="34" charset="-128"/>
                <a:ea typeface="MS PGothic" panose="020B0600070205080204" pitchFamily="34" charset="-128"/>
              </a:rPr>
              <a:t>5</a:t>
            </a:r>
            <a:r>
              <a:rPr kumimoji="1" lang="en" altLang="ja-JP" sz="4000" dirty="0">
                <a:latin typeface="MS PGothic" panose="020B0600070205080204" pitchFamily="34" charset="-128"/>
                <a:ea typeface="MS PGothic" panose="020B0600070205080204" pitchFamily="34" charset="-128"/>
              </a:rPr>
              <a:t>] </a:t>
            </a:r>
            <a:r>
              <a:rPr kumimoji="1" lang="ja-JP" altLang="en-US" sz="4000">
                <a:latin typeface="MS PGothic" panose="020B0600070205080204" pitchFamily="34" charset="-128"/>
                <a:ea typeface="MS PGothic" panose="020B0600070205080204" pitchFamily="34" charset="-128"/>
              </a:rPr>
              <a:t>も含んている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各実験用データの枚数を表</a:t>
            </a:r>
            <a:r>
              <a:rPr kumimoji="1" lang="en-US" altLang="ja-JP" sz="4000" dirty="0">
                <a:latin typeface="MS PGothic" panose="020B0600070205080204" pitchFamily="34" charset="-128"/>
                <a:ea typeface="MS PGothic" panose="020B0600070205080204" pitchFamily="34" charset="-128"/>
              </a:rPr>
              <a:t>2</a:t>
            </a:r>
            <a:r>
              <a:rPr kumimoji="1" lang="ja-JP" altLang="en-US" sz="4000">
                <a:latin typeface="MS PGothic" panose="020B0600070205080204" pitchFamily="34" charset="-128"/>
                <a:ea typeface="MS PGothic" panose="020B0600070205080204" pitchFamily="34" charset="-128"/>
              </a:rPr>
              <a:t>に示す</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4000" dirty="0">
              <a:latin typeface="MS PGothic" panose="020B0600070205080204" pitchFamily="34" charset="-128"/>
              <a:ea typeface="MS PGothic" panose="020B0600070205080204" pitchFamily="34" charset="-128"/>
            </a:endParaRPr>
          </a:p>
        </p:txBody>
      </p:sp>
      <mc:AlternateContent xmlns:mc="http://schemas.openxmlformats.org/markup-compatibility/2006" xmlns:a14="http://schemas.microsoft.com/office/drawing/2010/main">
        <mc:Choice Requires="a14">
          <p:graphicFrame>
            <p:nvGraphicFramePr>
              <p:cNvPr id="17" name="表 16">
                <a:extLst>
                  <a:ext uri="{FF2B5EF4-FFF2-40B4-BE49-F238E27FC236}">
                    <a16:creationId xmlns:a16="http://schemas.microsoft.com/office/drawing/2014/main" id="{372B6A31-0AAB-25D3-B6E7-91C0490B0FC8}"/>
                  </a:ext>
                </a:extLst>
              </p:cNvPr>
              <p:cNvGraphicFramePr>
                <a:graphicFrameLocks noGrp="1"/>
              </p:cNvGraphicFramePr>
              <p:nvPr>
                <p:extLst>
                  <p:ext uri="{D42A27DB-BD31-4B8C-83A1-F6EECF244321}">
                    <p14:modId xmlns:p14="http://schemas.microsoft.com/office/powerpoint/2010/main" val="3884772045"/>
                  </p:ext>
                </p:extLst>
              </p:nvPr>
            </p:nvGraphicFramePr>
            <p:xfrm>
              <a:off x="15350748" y="5499762"/>
              <a:ext cx="14713600" cy="3800880"/>
            </p:xfrm>
            <a:graphic>
              <a:graphicData uri="http://schemas.openxmlformats.org/drawingml/2006/table">
                <a:tbl>
                  <a:tblPr firstRow="1" bandRow="1">
                    <a:tableStyleId>{5C22544A-7EE6-4342-B048-85BDC9FD1C3A}</a:tableStyleId>
                  </a:tblPr>
                  <a:tblGrid>
                    <a:gridCol w="3662017">
                      <a:extLst>
                        <a:ext uri="{9D8B030D-6E8A-4147-A177-3AD203B41FA5}">
                          <a16:colId xmlns:a16="http://schemas.microsoft.com/office/drawing/2014/main" val="1302717659"/>
                        </a:ext>
                      </a:extLst>
                    </a:gridCol>
                    <a:gridCol w="3662017">
                      <a:extLst>
                        <a:ext uri="{9D8B030D-6E8A-4147-A177-3AD203B41FA5}">
                          <a16:colId xmlns:a16="http://schemas.microsoft.com/office/drawing/2014/main" val="1335503367"/>
                        </a:ext>
                      </a:extLst>
                    </a:gridCol>
                    <a:gridCol w="7389566">
                      <a:extLst>
                        <a:ext uri="{9D8B030D-6E8A-4147-A177-3AD203B41FA5}">
                          <a16:colId xmlns:a16="http://schemas.microsoft.com/office/drawing/2014/main" val="118972529"/>
                        </a:ext>
                      </a:extLst>
                    </a:gridCol>
                  </a:tblGrid>
                  <a:tr h="760176">
                    <a:tc rowSpan="2">
                      <a:txBody>
                        <a:bodyPr/>
                        <a:lstStyle/>
                        <a:p>
                          <a:pPr algn="ctr"/>
                          <a:r>
                            <a:rPr kumimoji="1" lang="ja-JP" altLang="en-US" sz="4000" b="0" dirty="0">
                              <a:solidFill>
                                <a:schemeClr val="tx1"/>
                              </a:solidFill>
                              <a:latin typeface="MS PGothic" panose="020B0600070205080204" pitchFamily="34" charset="-128"/>
                              <a:ea typeface="MS PGothic" panose="020B0600070205080204" pitchFamily="34" charset="-128"/>
                            </a:rPr>
                            <a:t>データ</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4000" b="0">
                              <a:solidFill>
                                <a:schemeClr val="tx1"/>
                              </a:solidFill>
                              <a:latin typeface="MS PGothic" panose="020B0600070205080204" pitchFamily="34" charset="-128"/>
                              <a:ea typeface="MS PGothic" panose="020B0600070205080204" pitchFamily="34" charset="-128"/>
                            </a:rPr>
                            <a:t>生成画像</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en-US" altLang="ja-JP" sz="4000" b="0" dirty="0">
                              <a:solidFill>
                                <a:schemeClr val="tx1"/>
                              </a:solidFill>
                              <a:latin typeface="MS PGothic" panose="020B0600070205080204" pitchFamily="34" charset="-128"/>
                              <a:ea typeface="MS PGothic" panose="020B0600070205080204" pitchFamily="34" charset="-128"/>
                            </a:rPr>
                            <a:t>814,000</a:t>
                          </a:r>
                          <a:r>
                            <a:rPr kumimoji="1" lang="ja-JP" altLang="en-US" sz="4000" b="0">
                              <a:solidFill>
                                <a:schemeClr val="tx1"/>
                              </a:solidFill>
                              <a:latin typeface="MS PGothic" panose="020B0600070205080204" pitchFamily="34" charset="-128"/>
                              <a:ea typeface="MS PGothic" panose="020B0600070205080204" pitchFamily="34" charset="-128"/>
                            </a:rPr>
                            <a:t>枚 </a:t>
                          </a:r>
                          <a:r>
                            <a:rPr kumimoji="1" lang="en-US" altLang="ja-JP" sz="4000" b="0" dirty="0">
                              <a:solidFill>
                                <a:schemeClr val="tx1"/>
                              </a:solidFill>
                              <a:latin typeface="MS PGothic" panose="020B0600070205080204" pitchFamily="34" charset="-128"/>
                              <a:ea typeface="MS PGothic" panose="020B0600070205080204" pitchFamily="34" charset="-128"/>
                            </a:rPr>
                            <a:t>/ 32,000</a:t>
                          </a:r>
                          <a:r>
                            <a:rPr kumimoji="1" lang="ja-JP" altLang="en-US" sz="4000" b="0">
                              <a:solidFill>
                                <a:schemeClr val="tx1"/>
                              </a:solidFill>
                              <a:latin typeface="MS PGothic" panose="020B0600070205080204" pitchFamily="34" charset="-128"/>
                              <a:ea typeface="MS PGothic" panose="020B0600070205080204" pitchFamily="34" charset="-128"/>
                            </a:rPr>
                            <a:t>枚</a:t>
                          </a:r>
                          <a:r>
                            <a:rPr kumimoji="1" lang="en-US" altLang="ja-JP" sz="4000" b="0" dirty="0">
                              <a:solidFill>
                                <a:schemeClr val="tx1"/>
                              </a:solidFill>
                              <a:latin typeface="MS PGothic" panose="020B0600070205080204" pitchFamily="34" charset="-128"/>
                              <a:ea typeface="MS PGothic" panose="020B0600070205080204" pitchFamily="34" charset="-128"/>
                            </a:rPr>
                            <a:t>(test)</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760176">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4000" b="0">
                              <a:solidFill>
                                <a:schemeClr val="tx1"/>
                              </a:solidFill>
                              <a:latin typeface="MS PGothic" panose="020B0600070205080204" pitchFamily="34" charset="-128"/>
                              <a:ea typeface="MS PGothic" panose="020B0600070205080204" pitchFamily="34" charset="-128"/>
                            </a:rPr>
                            <a:t>現実画像</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4000" dirty="0"/>
                            <a:t>153,274</a:t>
                          </a:r>
                          <a:r>
                            <a:rPr kumimoji="1" lang="ja-JP" altLang="en-US" sz="4000" b="0">
                              <a:solidFill>
                                <a:schemeClr val="tx1"/>
                              </a:solidFill>
                              <a:latin typeface="MS PGothic" panose="020B0600070205080204" pitchFamily="34" charset="-128"/>
                              <a:ea typeface="MS PGothic" panose="020B0600070205080204" pitchFamily="34" charset="-128"/>
                            </a:rPr>
                            <a:t>件</a:t>
                          </a:r>
                          <a:r>
                            <a:rPr kumimoji="1" lang="en-US" altLang="ja-JP" sz="4000" b="0" dirty="0">
                              <a:solidFill>
                                <a:schemeClr val="tx1"/>
                              </a:solidFill>
                              <a:latin typeface="MS PGothic" panose="020B0600070205080204" pitchFamily="34" charset="-128"/>
                              <a:ea typeface="MS PGothic" panose="020B0600070205080204" pitchFamily="34" charset="-128"/>
                            </a:rPr>
                            <a:t>/ </a:t>
                          </a:r>
                          <a:r>
                            <a:rPr kumimoji="1" lang="en-US" altLang="ja-JP" sz="4000" dirty="0"/>
                            <a:t>39,783</a:t>
                          </a:r>
                          <a:r>
                            <a:rPr kumimoji="1" lang="ja-JP" altLang="en-US" sz="4000" b="0">
                              <a:solidFill>
                                <a:schemeClr val="tx1"/>
                              </a:solidFill>
                              <a:latin typeface="MS PGothic" panose="020B0600070205080204" pitchFamily="34" charset="-128"/>
                              <a:ea typeface="MS PGothic" panose="020B0600070205080204" pitchFamily="34" charset="-128"/>
                            </a:rPr>
                            <a:t>件</a:t>
                          </a:r>
                          <a:r>
                            <a:rPr kumimoji="1" lang="en-US" altLang="ja-JP" sz="4000" b="0" dirty="0">
                              <a:solidFill>
                                <a:schemeClr val="tx1"/>
                              </a:solidFill>
                              <a:latin typeface="MS PGothic" panose="020B0600070205080204" pitchFamily="34" charset="-128"/>
                              <a:ea typeface="MS PGothic" panose="020B0600070205080204" pitchFamily="34" charset="-128"/>
                            </a:rPr>
                            <a:t>(test)</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760176">
                    <a:tc gridSpan="2">
                      <a:txBody>
                        <a:bodyPr/>
                        <a:lstStyle/>
                        <a:p>
                          <a:pPr algn="ctr"/>
                          <a:r>
                            <a:rPr kumimoji="1" lang="ja-JP" altLang="en-US" sz="40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b="0" dirty="0">
                              <a:latin typeface="MS PGothic" panose="020B0600070205080204" pitchFamily="34" charset="-128"/>
                              <a:ea typeface="MS PGothic" panose="020B0600070205080204" pitchFamily="34" charset="-128"/>
                            </a:rPr>
                            <a:t>Adam(</a:t>
                          </a:r>
                          <a14:m>
                            <m:oMath xmlns:m="http://schemas.openxmlformats.org/officeDocument/2006/math">
                              <m:r>
                                <a:rPr kumimoji="1" lang="en-US" altLang="ja-JP" sz="4000" b="0" i="1" smtClean="0">
                                  <a:latin typeface="Cambria Math" panose="02040503050406030204" pitchFamily="18" charset="0"/>
                                  <a:ea typeface="Cambria Math" panose="02040503050406030204" pitchFamily="18" charset="0"/>
                                </a:rPr>
                                <m:t>𝜂</m:t>
                              </m:r>
                              <m:r>
                                <a:rPr kumimoji="1" lang="en-US" altLang="ja-JP" sz="4000" b="0" i="1" smtClean="0">
                                  <a:latin typeface="Cambria Math" panose="02040503050406030204" pitchFamily="18" charset="0"/>
                                  <a:ea typeface="Cambria Math" panose="02040503050406030204" pitchFamily="18" charset="0"/>
                                </a:rPr>
                                <m:t>=0.0001</m:t>
                              </m:r>
                            </m:oMath>
                          </a14:m>
                          <a:r>
                            <a:rPr kumimoji="1" lang="en-US" altLang="ja-JP" sz="4000" b="0" dirty="0">
                              <a:latin typeface="MS PGothic" panose="020B0600070205080204" pitchFamily="34" charset="-128"/>
                              <a:ea typeface="MS PGothic" panose="020B0600070205080204" pitchFamily="34" charset="-128"/>
                            </a:rPr>
                            <a:t>)</a:t>
                          </a:r>
                          <a:endParaRPr kumimoji="1" lang="ja-JP" altLang="en-US" sz="40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801116897"/>
                      </a:ext>
                    </a:extLst>
                  </a:tr>
                  <a:tr h="760176">
                    <a:tc gridSpan="2">
                      <a:txBody>
                        <a:bodyPr/>
                        <a:lstStyle/>
                        <a:p>
                          <a:pPr algn="ctr"/>
                          <a:r>
                            <a:rPr kumimoji="1" lang="ja-JP" altLang="en-US" sz="4000" b="0">
                              <a:latin typeface="MS PGothic" panose="020B0600070205080204" pitchFamily="34" charset="-128"/>
                              <a:ea typeface="MS PGothic" panose="020B0600070205080204" pitchFamily="34" charset="-128"/>
                            </a:rPr>
                            <a:t>ミニバッチサイズ</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b="0" dirty="0">
                              <a:latin typeface="MS PGothic" panose="020B0600070205080204" pitchFamily="34" charset="-128"/>
                              <a:ea typeface="MS PGothic" panose="020B0600070205080204" pitchFamily="34" charset="-128"/>
                            </a:rPr>
                            <a:t>512</a:t>
                          </a:r>
                          <a:endParaRPr kumimoji="1" lang="en" altLang="ja-JP" sz="40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760176">
                    <a:tc gridSpan="2">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4000" b="0">
                              <a:latin typeface="MS PGothic" panose="020B0600070205080204" pitchFamily="34" charset="-128"/>
                              <a:ea typeface="MS PGothic" panose="020B0600070205080204" pitchFamily="34" charset="-128"/>
                            </a:rPr>
                            <a:t>学習反復回数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b="0" dirty="0">
                              <a:latin typeface="MS PGothic" panose="020B0600070205080204" pitchFamily="34" charset="-128"/>
                              <a:ea typeface="MS PGothic" panose="020B0600070205080204" pitchFamily="34" charset="-128"/>
                            </a:rPr>
                            <a:t>10</a:t>
                          </a:r>
                          <a:endParaRPr kumimoji="1" lang="en" altLang="ja-JP" sz="40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bl>
              </a:graphicData>
            </a:graphic>
          </p:graphicFrame>
        </mc:Choice>
        <mc:Fallback xmlns="">
          <p:graphicFrame>
            <p:nvGraphicFramePr>
              <p:cNvPr id="17" name="表 16">
                <a:extLst>
                  <a:ext uri="{FF2B5EF4-FFF2-40B4-BE49-F238E27FC236}">
                    <a16:creationId xmlns:a16="http://schemas.microsoft.com/office/drawing/2014/main" id="{372B6A31-0AAB-25D3-B6E7-91C0490B0FC8}"/>
                  </a:ext>
                </a:extLst>
              </p:cNvPr>
              <p:cNvGraphicFramePr>
                <a:graphicFrameLocks noGrp="1"/>
              </p:cNvGraphicFramePr>
              <p:nvPr>
                <p:extLst>
                  <p:ext uri="{D42A27DB-BD31-4B8C-83A1-F6EECF244321}">
                    <p14:modId xmlns:p14="http://schemas.microsoft.com/office/powerpoint/2010/main" val="3884772045"/>
                  </p:ext>
                </p:extLst>
              </p:nvPr>
            </p:nvGraphicFramePr>
            <p:xfrm>
              <a:off x="15350748" y="5499762"/>
              <a:ext cx="14713600" cy="3800880"/>
            </p:xfrm>
            <a:graphic>
              <a:graphicData uri="http://schemas.openxmlformats.org/drawingml/2006/table">
                <a:tbl>
                  <a:tblPr firstRow="1" bandRow="1">
                    <a:tableStyleId>{5C22544A-7EE6-4342-B048-85BDC9FD1C3A}</a:tableStyleId>
                  </a:tblPr>
                  <a:tblGrid>
                    <a:gridCol w="3662017">
                      <a:extLst>
                        <a:ext uri="{9D8B030D-6E8A-4147-A177-3AD203B41FA5}">
                          <a16:colId xmlns:a16="http://schemas.microsoft.com/office/drawing/2014/main" val="1302717659"/>
                        </a:ext>
                      </a:extLst>
                    </a:gridCol>
                    <a:gridCol w="3662017">
                      <a:extLst>
                        <a:ext uri="{9D8B030D-6E8A-4147-A177-3AD203B41FA5}">
                          <a16:colId xmlns:a16="http://schemas.microsoft.com/office/drawing/2014/main" val="1335503367"/>
                        </a:ext>
                      </a:extLst>
                    </a:gridCol>
                    <a:gridCol w="7389566">
                      <a:extLst>
                        <a:ext uri="{9D8B030D-6E8A-4147-A177-3AD203B41FA5}">
                          <a16:colId xmlns:a16="http://schemas.microsoft.com/office/drawing/2014/main" val="118972529"/>
                        </a:ext>
                      </a:extLst>
                    </a:gridCol>
                  </a:tblGrid>
                  <a:tr h="760176">
                    <a:tc rowSpan="2">
                      <a:txBody>
                        <a:bodyPr/>
                        <a:lstStyle/>
                        <a:p>
                          <a:pPr algn="ctr"/>
                          <a:r>
                            <a:rPr kumimoji="1" lang="ja-JP" altLang="en-US" sz="4000" b="0" dirty="0">
                              <a:solidFill>
                                <a:schemeClr val="tx1"/>
                              </a:solidFill>
                              <a:latin typeface="MS PGothic" panose="020B0600070205080204" pitchFamily="34" charset="-128"/>
                              <a:ea typeface="MS PGothic" panose="020B0600070205080204" pitchFamily="34" charset="-128"/>
                            </a:rPr>
                            <a:t>データ</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4000" b="0">
                              <a:solidFill>
                                <a:schemeClr val="tx1"/>
                              </a:solidFill>
                              <a:latin typeface="MS PGothic" panose="020B0600070205080204" pitchFamily="34" charset="-128"/>
                              <a:ea typeface="MS PGothic" panose="020B0600070205080204" pitchFamily="34" charset="-128"/>
                            </a:rPr>
                            <a:t>生成画像</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en-US" altLang="ja-JP" sz="4000" b="0" dirty="0">
                              <a:solidFill>
                                <a:schemeClr val="tx1"/>
                              </a:solidFill>
                              <a:latin typeface="MS PGothic" panose="020B0600070205080204" pitchFamily="34" charset="-128"/>
                              <a:ea typeface="MS PGothic" panose="020B0600070205080204" pitchFamily="34" charset="-128"/>
                            </a:rPr>
                            <a:t>814,000</a:t>
                          </a:r>
                          <a:r>
                            <a:rPr kumimoji="1" lang="ja-JP" altLang="en-US" sz="4000" b="0">
                              <a:solidFill>
                                <a:schemeClr val="tx1"/>
                              </a:solidFill>
                              <a:latin typeface="MS PGothic" panose="020B0600070205080204" pitchFamily="34" charset="-128"/>
                              <a:ea typeface="MS PGothic" panose="020B0600070205080204" pitchFamily="34" charset="-128"/>
                            </a:rPr>
                            <a:t>枚 </a:t>
                          </a:r>
                          <a:r>
                            <a:rPr kumimoji="1" lang="en-US" altLang="ja-JP" sz="4000" b="0" dirty="0">
                              <a:solidFill>
                                <a:schemeClr val="tx1"/>
                              </a:solidFill>
                              <a:latin typeface="MS PGothic" panose="020B0600070205080204" pitchFamily="34" charset="-128"/>
                              <a:ea typeface="MS PGothic" panose="020B0600070205080204" pitchFamily="34" charset="-128"/>
                            </a:rPr>
                            <a:t>/ 32,000</a:t>
                          </a:r>
                          <a:r>
                            <a:rPr kumimoji="1" lang="ja-JP" altLang="en-US" sz="4000" b="0">
                              <a:solidFill>
                                <a:schemeClr val="tx1"/>
                              </a:solidFill>
                              <a:latin typeface="MS PGothic" panose="020B0600070205080204" pitchFamily="34" charset="-128"/>
                              <a:ea typeface="MS PGothic" panose="020B0600070205080204" pitchFamily="34" charset="-128"/>
                            </a:rPr>
                            <a:t>枚</a:t>
                          </a:r>
                          <a:r>
                            <a:rPr kumimoji="1" lang="en-US" altLang="ja-JP" sz="4000" b="0" dirty="0">
                              <a:solidFill>
                                <a:schemeClr val="tx1"/>
                              </a:solidFill>
                              <a:latin typeface="MS PGothic" panose="020B0600070205080204" pitchFamily="34" charset="-128"/>
                              <a:ea typeface="MS PGothic" panose="020B0600070205080204" pitchFamily="34" charset="-128"/>
                            </a:rPr>
                            <a:t>(test)</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760176">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4000" b="0">
                              <a:solidFill>
                                <a:schemeClr val="tx1"/>
                              </a:solidFill>
                              <a:latin typeface="MS PGothic" panose="020B0600070205080204" pitchFamily="34" charset="-128"/>
                              <a:ea typeface="MS PGothic" panose="020B0600070205080204" pitchFamily="34" charset="-128"/>
                            </a:rPr>
                            <a:t>現実画像</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4000" dirty="0"/>
                            <a:t>153,274</a:t>
                          </a:r>
                          <a:r>
                            <a:rPr kumimoji="1" lang="ja-JP" altLang="en-US" sz="4000" b="0">
                              <a:solidFill>
                                <a:schemeClr val="tx1"/>
                              </a:solidFill>
                              <a:latin typeface="MS PGothic" panose="020B0600070205080204" pitchFamily="34" charset="-128"/>
                              <a:ea typeface="MS PGothic" panose="020B0600070205080204" pitchFamily="34" charset="-128"/>
                            </a:rPr>
                            <a:t>件</a:t>
                          </a:r>
                          <a:r>
                            <a:rPr kumimoji="1" lang="en-US" altLang="ja-JP" sz="4000" b="0" dirty="0">
                              <a:solidFill>
                                <a:schemeClr val="tx1"/>
                              </a:solidFill>
                              <a:latin typeface="MS PGothic" panose="020B0600070205080204" pitchFamily="34" charset="-128"/>
                              <a:ea typeface="MS PGothic" panose="020B0600070205080204" pitchFamily="34" charset="-128"/>
                            </a:rPr>
                            <a:t>/ </a:t>
                          </a:r>
                          <a:r>
                            <a:rPr kumimoji="1" lang="en-US" altLang="ja-JP" sz="4000" dirty="0"/>
                            <a:t>39,783</a:t>
                          </a:r>
                          <a:r>
                            <a:rPr kumimoji="1" lang="ja-JP" altLang="en-US" sz="4000" b="0">
                              <a:solidFill>
                                <a:schemeClr val="tx1"/>
                              </a:solidFill>
                              <a:latin typeface="MS PGothic" panose="020B0600070205080204" pitchFamily="34" charset="-128"/>
                              <a:ea typeface="MS PGothic" panose="020B0600070205080204" pitchFamily="34" charset="-128"/>
                            </a:rPr>
                            <a:t>件</a:t>
                          </a:r>
                          <a:r>
                            <a:rPr kumimoji="1" lang="en-US" altLang="ja-JP" sz="4000" b="0" dirty="0">
                              <a:solidFill>
                                <a:schemeClr val="tx1"/>
                              </a:solidFill>
                              <a:latin typeface="MS PGothic" panose="020B0600070205080204" pitchFamily="34" charset="-128"/>
                              <a:ea typeface="MS PGothic" panose="020B0600070205080204" pitchFamily="34" charset="-128"/>
                            </a:rPr>
                            <a:t>(test)</a:t>
                          </a: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760176">
                    <a:tc gridSpan="2">
                      <a:txBody>
                        <a:bodyPr/>
                        <a:lstStyle/>
                        <a:p>
                          <a:pPr algn="ctr"/>
                          <a:r>
                            <a:rPr kumimoji="1" lang="ja-JP" altLang="en-US" sz="40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endParaRPr lang="ja-JP"/>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blipFill>
                          <a:blip r:embed="rId7"/>
                          <a:stretch>
                            <a:fillRect l="-98971" t="-211667" r="-172" b="-230000"/>
                          </a:stretch>
                        </a:blipFill>
                      </a:tcPr>
                    </a:tc>
                    <a:extLst>
                      <a:ext uri="{0D108BD9-81ED-4DB2-BD59-A6C34878D82A}">
                        <a16:rowId xmlns:a16="http://schemas.microsoft.com/office/drawing/2014/main" val="1801116897"/>
                      </a:ext>
                    </a:extLst>
                  </a:tr>
                  <a:tr h="760176">
                    <a:tc gridSpan="2">
                      <a:txBody>
                        <a:bodyPr/>
                        <a:lstStyle/>
                        <a:p>
                          <a:pPr algn="ctr"/>
                          <a:r>
                            <a:rPr kumimoji="1" lang="ja-JP" altLang="en-US" sz="4000" b="0">
                              <a:latin typeface="MS PGothic" panose="020B0600070205080204" pitchFamily="34" charset="-128"/>
                              <a:ea typeface="MS PGothic" panose="020B0600070205080204" pitchFamily="34" charset="-128"/>
                            </a:rPr>
                            <a:t>ミニバッチサイズ</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b="0" dirty="0">
                              <a:latin typeface="MS PGothic" panose="020B0600070205080204" pitchFamily="34" charset="-128"/>
                              <a:ea typeface="MS PGothic" panose="020B0600070205080204" pitchFamily="34" charset="-128"/>
                            </a:rPr>
                            <a:t>512</a:t>
                          </a:r>
                          <a:endParaRPr kumimoji="1" lang="en" altLang="ja-JP" sz="40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760176">
                    <a:tc gridSpan="2">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4000" b="0">
                              <a:latin typeface="MS PGothic" panose="020B0600070205080204" pitchFamily="34" charset="-128"/>
                              <a:ea typeface="MS PGothic" panose="020B0600070205080204" pitchFamily="34" charset="-128"/>
                            </a:rPr>
                            <a:t>学習反復回数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4000" b="0" dirty="0">
                              <a:latin typeface="MS PGothic" panose="020B0600070205080204" pitchFamily="34" charset="-128"/>
                              <a:ea typeface="MS PGothic" panose="020B0600070205080204" pitchFamily="34" charset="-128"/>
                            </a:rPr>
                            <a:t>10</a:t>
                          </a:r>
                          <a:endParaRPr kumimoji="1" lang="en" altLang="ja-JP" sz="40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bl>
              </a:graphicData>
            </a:graphic>
          </p:graphicFrame>
        </mc:Fallback>
      </mc:AlternateContent>
      <p:sp>
        <p:nvSpPr>
          <p:cNvPr id="18" name="テキスト ボックス 17">
            <a:extLst>
              <a:ext uri="{FF2B5EF4-FFF2-40B4-BE49-F238E27FC236}">
                <a16:creationId xmlns:a16="http://schemas.microsoft.com/office/drawing/2014/main" id="{E1CD4892-75F1-4BE3-0AD4-2EBA11B77958}"/>
              </a:ext>
            </a:extLst>
          </p:cNvPr>
          <p:cNvSpPr txBox="1"/>
          <p:nvPr/>
        </p:nvSpPr>
        <p:spPr>
          <a:xfrm>
            <a:off x="15336243" y="4721089"/>
            <a:ext cx="14929671"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表</a:t>
            </a:r>
            <a:r>
              <a:rPr kumimoji="1" lang="en-US" altLang="ja-JP" sz="4000" dirty="0">
                <a:latin typeface="MS PGothic" panose="020B0600070205080204" pitchFamily="34" charset="-128"/>
                <a:ea typeface="MS PGothic" panose="020B0600070205080204" pitchFamily="34" charset="-128"/>
              </a:rPr>
              <a:t>1</a:t>
            </a:r>
            <a:r>
              <a:rPr kumimoji="1" lang="ja-JP" altLang="en-US" sz="4000">
                <a:latin typeface="MS PGothic" panose="020B0600070205080204" pitchFamily="34" charset="-128"/>
                <a:ea typeface="MS PGothic" panose="020B0600070205080204" pitchFamily="34" charset="-128"/>
              </a:rPr>
              <a:t>　</a:t>
            </a:r>
            <a:r>
              <a:rPr kumimoji="1" lang="ja-JP" altLang="en-US" sz="4000" dirty="0">
                <a:latin typeface="MS PGothic" panose="020B0600070205080204" pitchFamily="34" charset="-128"/>
                <a:ea typeface="MS PGothic" panose="020B0600070205080204" pitchFamily="34" charset="-128"/>
              </a:rPr>
              <a:t>実験条件</a:t>
            </a:r>
            <a:endParaRPr kumimoji="1" lang="en-US" altLang="ja-JP" sz="4000" dirty="0">
              <a:latin typeface="MS PGothic" panose="020B0600070205080204" pitchFamily="34" charset="-128"/>
              <a:ea typeface="MS PGothic" panose="020B0600070205080204" pitchFamily="34" charset="-128"/>
            </a:endParaRPr>
          </a:p>
        </p:txBody>
      </p:sp>
      <p:sp>
        <p:nvSpPr>
          <p:cNvPr id="19" name="テキスト ボックス 18">
            <a:extLst>
              <a:ext uri="{FF2B5EF4-FFF2-40B4-BE49-F238E27FC236}">
                <a16:creationId xmlns:a16="http://schemas.microsoft.com/office/drawing/2014/main" id="{15493BAA-E9DF-8706-0783-01D03D2B42B5}"/>
              </a:ext>
            </a:extLst>
          </p:cNvPr>
          <p:cNvSpPr txBox="1"/>
          <p:nvPr/>
        </p:nvSpPr>
        <p:spPr>
          <a:xfrm>
            <a:off x="169876" y="11096568"/>
            <a:ext cx="14681200" cy="4401205"/>
          </a:xfrm>
          <a:prstGeom prst="rect">
            <a:avLst/>
          </a:prstGeom>
          <a:noFill/>
        </p:spPr>
        <p:txBody>
          <a:bodyPr wrap="square" rtlCol="0">
            <a:spAutoFit/>
          </a:bodyPr>
          <a:lstStyle/>
          <a:p>
            <a:pPr algn="just"/>
            <a:r>
              <a:rPr kumimoji="1" lang="en" altLang="ja-JP" sz="4000" dirty="0" err="1">
                <a:latin typeface="MS PGothic" panose="020B0600070205080204" pitchFamily="34" charset="-128"/>
                <a:ea typeface="MS PGothic" panose="020B0600070205080204" pitchFamily="34" charset="-128"/>
              </a:rPr>
              <a:t>GenImage</a:t>
            </a:r>
            <a:r>
              <a:rPr kumimoji="1" lang="en" altLang="ja-JP" sz="4000" dirty="0">
                <a:latin typeface="MS PGothic" panose="020B0600070205080204" pitchFamily="34" charset="-128"/>
                <a:ea typeface="MS PGothic" panose="020B0600070205080204" pitchFamily="34" charset="-128"/>
              </a:rPr>
              <a:t>[</a:t>
            </a:r>
            <a:r>
              <a:rPr kumimoji="1" lang="en-US" altLang="ja-JP" sz="4000" dirty="0">
                <a:latin typeface="MS PGothic" panose="020B0600070205080204" pitchFamily="34" charset="-128"/>
                <a:ea typeface="MS PGothic" panose="020B0600070205080204" pitchFamily="34" charset="-128"/>
              </a:rPr>
              <a:t>1</a:t>
            </a:r>
            <a:r>
              <a:rPr kumimoji="1" lang="en" altLang="ja-JP" sz="4000" dirty="0">
                <a:latin typeface="MS PGothic" panose="020B0600070205080204" pitchFamily="34" charset="-128"/>
                <a:ea typeface="MS PGothic" panose="020B0600070205080204" pitchFamily="34" charset="-128"/>
              </a:rPr>
              <a:t>]</a:t>
            </a:r>
          </a:p>
          <a:p>
            <a:pPr marL="571500" indent="-571500" algn="just">
              <a:buFont typeface="Arial" panose="020B0604020202020204" pitchFamily="34" charset="0"/>
              <a:buChar char="•"/>
            </a:pPr>
            <a:r>
              <a:rPr kumimoji="1" lang="en-US" altLang="ja-JP" sz="4000" dirty="0">
                <a:latin typeface="MS PGothic" panose="020B0600070205080204" pitchFamily="34" charset="-128"/>
                <a:ea typeface="MS PGothic" panose="020B0600070205080204" pitchFamily="34" charset="-128"/>
              </a:rPr>
              <a:t>ResNet50</a:t>
            </a:r>
            <a:r>
              <a:rPr kumimoji="1" lang="ja-JP" altLang="en-US" sz="4000">
                <a:latin typeface="MS PGothic" panose="020B0600070205080204" pitchFamily="34" charset="-128"/>
                <a:ea typeface="MS PGothic" panose="020B0600070205080204" pitchFamily="34" charset="-128"/>
              </a:rPr>
              <a:t>や</a:t>
            </a:r>
            <a:r>
              <a:rPr kumimoji="1" lang="en-US" altLang="ja-JP" sz="4000" dirty="0" err="1">
                <a:latin typeface="MS PGothic" panose="020B0600070205080204" pitchFamily="34" charset="-128"/>
                <a:ea typeface="MS PGothic" panose="020B0600070205080204" pitchFamily="34" charset="-128"/>
              </a:rPr>
              <a:t>Swin</a:t>
            </a:r>
            <a:r>
              <a:rPr kumimoji="1" lang="en-US" altLang="ja-JP" sz="4000" dirty="0">
                <a:latin typeface="MS PGothic" panose="020B0600070205080204" pitchFamily="34" charset="-128"/>
                <a:ea typeface="MS PGothic" panose="020B0600070205080204" pitchFamily="34" charset="-128"/>
              </a:rPr>
              <a:t>-Transformer</a:t>
            </a:r>
            <a:r>
              <a:rPr kumimoji="1" lang="ja-JP" altLang="en-US" sz="4000">
                <a:latin typeface="MS PGothic" panose="020B0600070205080204" pitchFamily="34" charset="-128"/>
                <a:ea typeface="MS PGothic" panose="020B0600070205080204" pitchFamily="34" charset="-128"/>
              </a:rPr>
              <a:t>など</a:t>
            </a:r>
            <a:r>
              <a:rPr kumimoji="1" lang="en-US" altLang="ja-JP" sz="4000" dirty="0">
                <a:latin typeface="MS PGothic" panose="020B0600070205080204" pitchFamily="34" charset="-128"/>
                <a:ea typeface="MS PGothic" panose="020B0600070205080204" pitchFamily="34" charset="-128"/>
              </a:rPr>
              <a:t>7</a:t>
            </a:r>
            <a:r>
              <a:rPr kumimoji="1" lang="ja-JP" altLang="en-US" sz="4000">
                <a:latin typeface="MS PGothic" panose="020B0600070205080204" pitchFamily="34" charset="-128"/>
                <a:ea typeface="MS PGothic" panose="020B0600070205080204" pitchFamily="34" charset="-128"/>
              </a:rPr>
              <a:t>種類の識別モデル</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en-US" altLang="ja-JP" sz="4000" dirty="0" err="1">
                <a:latin typeface="MS PGothic" panose="020B0600070205080204" pitchFamily="34" charset="-128"/>
                <a:ea typeface="MS PGothic" panose="020B0600070205080204" pitchFamily="34" charset="-128"/>
              </a:rPr>
              <a:t>BigGAN</a:t>
            </a:r>
            <a:r>
              <a:rPr kumimoji="1" lang="en-US" altLang="ja-JP" sz="4000" dirty="0">
                <a:latin typeface="MS PGothic" panose="020B0600070205080204" pitchFamily="34" charset="-128"/>
                <a:ea typeface="MS PGothic" panose="020B0600070205080204" pitchFamily="34" charset="-128"/>
              </a:rPr>
              <a:t> </a:t>
            </a:r>
            <a:r>
              <a:rPr kumimoji="1" lang="ja-JP" altLang="en-US" sz="4000">
                <a:latin typeface="MS PGothic" panose="020B0600070205080204" pitchFamily="34" charset="-128"/>
                <a:ea typeface="MS PGothic" panose="020B0600070205080204" pitchFamily="34" charset="-128"/>
              </a:rPr>
              <a:t>や </a:t>
            </a:r>
            <a:r>
              <a:rPr kumimoji="1" lang="en-US" altLang="ja-JP" sz="4000" dirty="0">
                <a:latin typeface="MS PGothic" panose="020B0600070205080204" pitchFamily="34" charset="-128"/>
                <a:ea typeface="MS PGothic" panose="020B0600070205080204" pitchFamily="34" charset="-128"/>
              </a:rPr>
              <a:t>Stable Diffusion </a:t>
            </a:r>
            <a:r>
              <a:rPr kumimoji="1" lang="ja-JP" altLang="en-US" sz="4000">
                <a:latin typeface="MS PGothic" panose="020B0600070205080204" pitchFamily="34" charset="-128"/>
                <a:ea typeface="MS PGothic" panose="020B0600070205080204" pitchFamily="34" charset="-128"/>
              </a:rPr>
              <a:t>などの</a:t>
            </a:r>
            <a:r>
              <a:rPr kumimoji="1" lang="en-US" altLang="ja-JP" sz="4000" dirty="0">
                <a:latin typeface="MS PGothic" panose="020B0600070205080204" pitchFamily="34" charset="-128"/>
                <a:ea typeface="MS PGothic" panose="020B0600070205080204" pitchFamily="34" charset="-128"/>
              </a:rPr>
              <a:t>8</a:t>
            </a:r>
            <a:r>
              <a:rPr kumimoji="1" lang="ja-JP" altLang="en-US" sz="4000">
                <a:latin typeface="MS PGothic" panose="020B0600070205080204" pitchFamily="34" charset="-128"/>
                <a:ea typeface="MS PGothic" panose="020B0600070205080204" pitchFamily="34" charset="-128"/>
              </a:rPr>
              <a:t>種類の生成モデル </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各種類の</a:t>
            </a:r>
            <a:r>
              <a:rPr kumimoji="1" lang="en-US" altLang="ja-JP" sz="4000" dirty="0">
                <a:latin typeface="MS PGothic" panose="020B0600070205080204" pitchFamily="34" charset="-128"/>
                <a:ea typeface="MS PGothic" panose="020B0600070205080204" pitchFamily="34" charset="-128"/>
              </a:rPr>
              <a:t>AI</a:t>
            </a:r>
            <a:r>
              <a:rPr kumimoji="1" lang="ja-JP" altLang="en-US" sz="4000">
                <a:latin typeface="MS PGothic" panose="020B0600070205080204" pitchFamily="34" charset="-128"/>
                <a:ea typeface="MS PGothic" panose="020B0600070205080204" pitchFamily="34" charset="-128"/>
              </a:rPr>
              <a:t>モデルにより生成された画像を学習させ，入力画像が現実か生成かの分類を行なった</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データセットは，</a:t>
            </a:r>
            <a:r>
              <a:rPr kumimoji="1" lang="en-US" altLang="ja-JP" sz="4000" dirty="0">
                <a:latin typeface="MS PGothic" panose="020B0600070205080204" pitchFamily="34" charset="-128"/>
                <a:ea typeface="MS PGothic" panose="020B0600070205080204" pitchFamily="34" charset="-128"/>
              </a:rPr>
              <a:t>ImageNet</a:t>
            </a:r>
            <a:r>
              <a:rPr kumimoji="1" lang="ja-JP" altLang="en-US" sz="4000">
                <a:latin typeface="MS PGothic" panose="020B0600070205080204" pitchFamily="34" charset="-128"/>
                <a:ea typeface="MS PGothic" panose="020B0600070205080204" pitchFamily="34" charset="-128"/>
              </a:rPr>
              <a:t>の各クラス名で生成される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生成画像データセットが公開されている</a:t>
            </a:r>
            <a:endParaRPr kumimoji="1" lang="en-US" altLang="ja-JP" sz="4000" dirty="0">
              <a:latin typeface="MS PGothic" panose="020B0600070205080204" pitchFamily="34" charset="-128"/>
              <a:ea typeface="MS PGothic" panose="020B0600070205080204" pitchFamily="34" charset="-128"/>
            </a:endParaRPr>
          </a:p>
        </p:txBody>
      </p:sp>
      <p:sp>
        <p:nvSpPr>
          <p:cNvPr id="20" name="テキスト ボックス 19">
            <a:extLst>
              <a:ext uri="{FF2B5EF4-FFF2-40B4-BE49-F238E27FC236}">
                <a16:creationId xmlns:a16="http://schemas.microsoft.com/office/drawing/2014/main" id="{2290BF4A-046E-DFAE-56F6-8AE0BA70524D}"/>
              </a:ext>
            </a:extLst>
          </p:cNvPr>
          <p:cNvSpPr txBox="1"/>
          <p:nvPr/>
        </p:nvSpPr>
        <p:spPr>
          <a:xfrm>
            <a:off x="215747" y="22934018"/>
            <a:ext cx="14681200" cy="3785652"/>
          </a:xfrm>
          <a:prstGeom prst="rect">
            <a:avLst/>
          </a:prstGeom>
          <a:noFill/>
        </p:spPr>
        <p:txBody>
          <a:bodyPr wrap="square" rtlCol="0">
            <a:spAutoFit/>
          </a:bodyPr>
          <a:lstStyle/>
          <a:p>
            <a:pPr algn="just"/>
            <a:r>
              <a:rPr kumimoji="1" lang="en" altLang="ja-JP" sz="4000" dirty="0" err="1">
                <a:latin typeface="MS PGothic" panose="020B0600070205080204" pitchFamily="34" charset="-128"/>
                <a:ea typeface="MS PGothic" panose="020B0600070205080204" pitchFamily="34" charset="-128"/>
              </a:rPr>
              <a:t>Swin</a:t>
            </a:r>
            <a:r>
              <a:rPr kumimoji="1" lang="en" altLang="ja-JP" sz="4000" dirty="0">
                <a:latin typeface="MS PGothic" panose="020B0600070205080204" pitchFamily="34" charset="-128"/>
                <a:ea typeface="MS PGothic" panose="020B0600070205080204" pitchFamily="34" charset="-128"/>
              </a:rPr>
              <a:t>-Transformer(</a:t>
            </a:r>
            <a:r>
              <a:rPr kumimoji="1" lang="en" altLang="ja-JP" sz="4000" dirty="0" err="1">
                <a:latin typeface="MS PGothic" panose="020B0600070205080204" pitchFamily="34" charset="-128"/>
                <a:ea typeface="MS PGothic" panose="020B0600070205080204" pitchFamily="34" charset="-128"/>
              </a:rPr>
              <a:t>Swin</a:t>
            </a:r>
            <a:r>
              <a:rPr kumimoji="1" lang="en" altLang="ja-JP" sz="4000" dirty="0">
                <a:latin typeface="MS PGothic" panose="020B0600070205080204" pitchFamily="34" charset="-128"/>
                <a:ea typeface="MS PGothic" panose="020B0600070205080204" pitchFamily="34" charset="-128"/>
              </a:rPr>
              <a:t>-T)[</a:t>
            </a:r>
            <a:r>
              <a:rPr kumimoji="1" lang="en-US" altLang="ja-JP" sz="4000" dirty="0">
                <a:latin typeface="MS PGothic" panose="020B0600070205080204" pitchFamily="34" charset="-128"/>
                <a:ea typeface="MS PGothic" panose="020B0600070205080204" pitchFamily="34" charset="-128"/>
              </a:rPr>
              <a:t>2</a:t>
            </a:r>
            <a:r>
              <a:rPr kumimoji="1" lang="en" altLang="ja-JP" sz="4000" dirty="0">
                <a:latin typeface="MS PGothic" panose="020B0600070205080204" pitchFamily="34" charset="-128"/>
                <a:ea typeface="MS PGothic" panose="020B0600070205080204" pitchFamily="34" charset="-128"/>
              </a:rPr>
              <a:t>]</a:t>
            </a: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近年の画像処理分野にも広く使用されている</a:t>
            </a:r>
            <a:endParaRPr kumimoji="1" lang="en"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画像をパッチに分割し，ウィンドウという定められた範囲内のパッチ間のみで</a:t>
            </a:r>
            <a:r>
              <a:rPr kumimoji="1" lang="en-US" altLang="ja-JP" sz="4000" dirty="0" err="1">
                <a:latin typeface="MS PGothic" panose="020B0600070205080204" pitchFamily="34" charset="-128"/>
                <a:ea typeface="MS PGothic" panose="020B0600070205080204" pitchFamily="34" charset="-128"/>
              </a:rPr>
              <a:t>SelfAttention</a:t>
            </a:r>
            <a:r>
              <a:rPr kumimoji="1" lang="ja-JP" altLang="en-US" sz="4000">
                <a:latin typeface="MS PGothic" panose="020B0600070205080204" pitchFamily="34" charset="-128"/>
                <a:ea typeface="MS PGothic" panose="020B0600070205080204" pitchFamily="34" charset="-128"/>
              </a:rPr>
              <a:t>を計算する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異なる階層でパッチの大きさを変更する</a:t>
            </a:r>
            <a:endParaRPr kumimoji="1" lang="en-US" altLang="ja-JP" sz="40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4000">
                <a:latin typeface="MS PGothic" panose="020B0600070205080204" pitchFamily="34" charset="-128"/>
                <a:ea typeface="MS PGothic" panose="020B0600070205080204" pitchFamily="34" charset="-128"/>
              </a:rPr>
              <a:t>シフトしたウィンドウ内でも計算する</a:t>
            </a:r>
            <a:endParaRPr kumimoji="1" lang="en-US" altLang="ja-JP" sz="4000" dirty="0">
              <a:latin typeface="MS PGothic" panose="020B0600070205080204" pitchFamily="34" charset="-128"/>
              <a:ea typeface="MS PGothic" panose="020B0600070205080204" pitchFamily="34" charset="-128"/>
            </a:endParaRPr>
          </a:p>
        </p:txBody>
      </p:sp>
      <p:sp>
        <p:nvSpPr>
          <p:cNvPr id="27" name="正方形/長方形 26">
            <a:extLst>
              <a:ext uri="{FF2B5EF4-FFF2-40B4-BE49-F238E27FC236}">
                <a16:creationId xmlns:a16="http://schemas.microsoft.com/office/drawing/2014/main" id="{86B831B7-DCD1-B308-5957-17CAACD82C23}"/>
              </a:ext>
            </a:extLst>
          </p:cNvPr>
          <p:cNvSpPr/>
          <p:nvPr/>
        </p:nvSpPr>
        <p:spPr>
          <a:xfrm>
            <a:off x="180068" y="32948303"/>
            <a:ext cx="14681200" cy="9285545"/>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E4557E11-B7EC-051F-66BA-FAA1414DB28D}"/>
              </a:ext>
            </a:extLst>
          </p:cNvPr>
          <p:cNvSpPr/>
          <p:nvPr/>
        </p:nvSpPr>
        <p:spPr>
          <a:xfrm>
            <a:off x="156466" y="32528269"/>
            <a:ext cx="14713836" cy="94169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800" dirty="0">
                <a:latin typeface="MS PGothic" panose="020B0600070205080204" pitchFamily="34" charset="-128"/>
                <a:ea typeface="MS PGothic" panose="020B0600070205080204" pitchFamily="34" charset="-128"/>
              </a:rPr>
              <a:t>提案手法</a:t>
            </a:r>
          </a:p>
        </p:txBody>
      </p:sp>
      <p:sp>
        <p:nvSpPr>
          <p:cNvPr id="29" name="テキスト ボックス 28">
            <a:extLst>
              <a:ext uri="{FF2B5EF4-FFF2-40B4-BE49-F238E27FC236}">
                <a16:creationId xmlns:a16="http://schemas.microsoft.com/office/drawing/2014/main" id="{F6934191-8DE2-A172-B08A-DD03CD343532}"/>
              </a:ext>
            </a:extLst>
          </p:cNvPr>
          <p:cNvSpPr txBox="1"/>
          <p:nvPr/>
        </p:nvSpPr>
        <p:spPr>
          <a:xfrm>
            <a:off x="171034" y="33489673"/>
            <a:ext cx="14681200" cy="4401205"/>
          </a:xfrm>
          <a:prstGeom prst="rect">
            <a:avLst/>
          </a:prstGeom>
          <a:noFill/>
        </p:spPr>
        <p:txBody>
          <a:bodyPr wrap="square" lIns="90000" rtlCol="0">
            <a:spAutoFit/>
          </a:bodyPr>
          <a:lstStyle/>
          <a:p>
            <a:pPr indent="457200" algn="just"/>
            <a:r>
              <a:rPr kumimoji="1" lang="en-US" altLang="ja-JP" sz="4000" dirty="0" err="1">
                <a:latin typeface="MS PGothic" panose="020B0600070205080204" pitchFamily="34" charset="-128"/>
                <a:ea typeface="MS PGothic" panose="020B0600070205080204" pitchFamily="34" charset="-128"/>
              </a:rPr>
              <a:t>GenImage</a:t>
            </a:r>
            <a:r>
              <a:rPr kumimoji="1" lang="ja-JP" altLang="en-US" sz="4000">
                <a:latin typeface="MS PGothic" panose="020B0600070205080204" pitchFamily="34" charset="-128"/>
                <a:ea typeface="MS PGothic" panose="020B0600070205080204" pitchFamily="34" charset="-128"/>
              </a:rPr>
              <a:t>の実験では，最も高精度に生成と現実の画像を分類したモデルは</a:t>
            </a:r>
            <a:r>
              <a:rPr kumimoji="1" lang="en" altLang="ja-JP" sz="4000" dirty="0" err="1">
                <a:latin typeface="MS PGothic" panose="020B0600070205080204" pitchFamily="34" charset="-128"/>
                <a:ea typeface="MS PGothic" panose="020B0600070205080204" pitchFamily="34" charset="-128"/>
              </a:rPr>
              <a:t>Swin</a:t>
            </a:r>
            <a:r>
              <a:rPr kumimoji="1" lang="en" altLang="ja-JP" sz="4000" dirty="0">
                <a:latin typeface="MS PGothic" panose="020B0600070205080204" pitchFamily="34" charset="-128"/>
                <a:ea typeface="MS PGothic" panose="020B0600070205080204" pitchFamily="34" charset="-128"/>
              </a:rPr>
              <a:t>-T</a:t>
            </a:r>
            <a:r>
              <a:rPr kumimoji="1" lang="ja-JP" altLang="en-US" sz="4000">
                <a:latin typeface="MS PGothic" panose="020B0600070205080204" pitchFamily="34" charset="-128"/>
                <a:ea typeface="MS PGothic" panose="020B0600070205080204" pitchFamily="34" charset="-128"/>
              </a:rPr>
              <a:t>であるため，本研究では，全ての識別モデルが</a:t>
            </a:r>
            <a:r>
              <a:rPr kumimoji="1" lang="en-US" altLang="ja-JP" sz="4000" dirty="0" err="1">
                <a:latin typeface="MS PGothic" panose="020B0600070205080204" pitchFamily="34" charset="-128"/>
                <a:ea typeface="MS PGothic" panose="020B0600070205080204" pitchFamily="34" charset="-128"/>
              </a:rPr>
              <a:t>Swin</a:t>
            </a:r>
            <a:r>
              <a:rPr kumimoji="1" lang="en-US" altLang="ja-JP" sz="4000" dirty="0">
                <a:latin typeface="MS PGothic" panose="020B0600070205080204" pitchFamily="34" charset="-128"/>
                <a:ea typeface="MS PGothic" panose="020B0600070205080204" pitchFamily="34" charset="-128"/>
              </a:rPr>
              <a:t>-T</a:t>
            </a:r>
            <a:r>
              <a:rPr kumimoji="1" lang="ja-JP" altLang="en-US" sz="4000">
                <a:latin typeface="MS PGothic" panose="020B0600070205080204" pitchFamily="34" charset="-128"/>
                <a:ea typeface="MS PGothic" panose="020B0600070205080204" pitchFamily="34" charset="-128"/>
              </a:rPr>
              <a:t>を使用している</a:t>
            </a:r>
            <a:endParaRPr kumimoji="1" lang="en-US" altLang="ja-JP" sz="4000" dirty="0">
              <a:latin typeface="MS PGothic" panose="020B0600070205080204" pitchFamily="34" charset="-128"/>
              <a:ea typeface="MS PGothic" panose="020B0600070205080204" pitchFamily="34" charset="-128"/>
            </a:endParaRPr>
          </a:p>
          <a:p>
            <a:pPr indent="457200" algn="just"/>
            <a:r>
              <a:rPr kumimoji="1" lang="ja-JP" altLang="en-US" sz="4000">
                <a:latin typeface="MS PGothic" panose="020B0600070205080204" pitchFamily="34" charset="-128"/>
                <a:ea typeface="MS PGothic" panose="020B0600070205080204" pitchFamily="34" charset="-128"/>
              </a:rPr>
              <a:t>異なる生成モデルが生成した画像をそれぞれ学習した識別器を複数組み合わせることで現実か生成画像かを判別する新たな分類モデルを提案する．提案手法の構造を図</a:t>
            </a:r>
            <a:r>
              <a:rPr kumimoji="1" lang="en-US" altLang="ja-JP" sz="4000" dirty="0">
                <a:latin typeface="MS PGothic" panose="020B0600070205080204" pitchFamily="34" charset="-128"/>
                <a:ea typeface="MS PGothic" panose="020B0600070205080204" pitchFamily="34" charset="-128"/>
              </a:rPr>
              <a:t>4</a:t>
            </a:r>
            <a:r>
              <a:rPr kumimoji="1" lang="ja-JP" altLang="en-US" sz="4000">
                <a:latin typeface="MS PGothic" panose="020B0600070205080204" pitchFamily="34" charset="-128"/>
                <a:ea typeface="MS PGothic" panose="020B0600070205080204" pitchFamily="34" charset="-128"/>
              </a:rPr>
              <a:t>に示す</a:t>
            </a:r>
            <a:endParaRPr kumimoji="1" lang="en-US" altLang="ja-JP" sz="4000" dirty="0">
              <a:latin typeface="MS PGothic" panose="020B0600070205080204" pitchFamily="34" charset="-128"/>
              <a:ea typeface="MS PGothic" panose="020B0600070205080204" pitchFamily="34" charset="-128"/>
            </a:endParaRPr>
          </a:p>
          <a:p>
            <a:pPr indent="457200" algn="just"/>
            <a:endParaRPr kumimoji="1" lang="en-US" altLang="ja-JP" sz="4000" dirty="0">
              <a:latin typeface="MS PGothic" panose="020B0600070205080204" pitchFamily="34" charset="-128"/>
              <a:ea typeface="MS PGothic" panose="020B0600070205080204" pitchFamily="34" charset="-128"/>
            </a:endParaRPr>
          </a:p>
        </p:txBody>
      </p:sp>
      <p:sp>
        <p:nvSpPr>
          <p:cNvPr id="30" name="テキスト ボックス 29">
            <a:extLst>
              <a:ext uri="{FF2B5EF4-FFF2-40B4-BE49-F238E27FC236}">
                <a16:creationId xmlns:a16="http://schemas.microsoft.com/office/drawing/2014/main" id="{B092B6B2-E58B-B00C-56BE-E62918178983}"/>
              </a:ext>
            </a:extLst>
          </p:cNvPr>
          <p:cNvSpPr txBox="1"/>
          <p:nvPr/>
        </p:nvSpPr>
        <p:spPr>
          <a:xfrm>
            <a:off x="4045242" y="41118190"/>
            <a:ext cx="6884481"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図</a:t>
            </a:r>
            <a:r>
              <a:rPr kumimoji="1" lang="en-US" altLang="ja-JP" sz="4000" dirty="0">
                <a:latin typeface="MS PGothic" panose="020B0600070205080204" pitchFamily="34" charset="-128"/>
                <a:ea typeface="MS PGothic" panose="020B0600070205080204" pitchFamily="34" charset="-128"/>
              </a:rPr>
              <a:t>4</a:t>
            </a:r>
            <a:r>
              <a:rPr kumimoji="1" lang="ja-JP" altLang="en-US" sz="4000">
                <a:latin typeface="MS PGothic" panose="020B0600070205080204" pitchFamily="34" charset="-128"/>
                <a:ea typeface="MS PGothic" panose="020B0600070205080204" pitchFamily="34" charset="-128"/>
              </a:rPr>
              <a:t>　</a:t>
            </a:r>
            <a:r>
              <a:rPr kumimoji="1" lang="ja-JP" altLang="en-US" sz="4000" dirty="0">
                <a:latin typeface="MS PGothic" panose="020B0600070205080204" pitchFamily="34" charset="-128"/>
                <a:ea typeface="MS PGothic" panose="020B0600070205080204" pitchFamily="34" charset="-128"/>
              </a:rPr>
              <a:t>提案手法の構造</a:t>
            </a:r>
            <a:endParaRPr kumimoji="1" lang="en-US" altLang="ja-JP" sz="4000" dirty="0">
              <a:latin typeface="MS PGothic" panose="020B0600070205080204" pitchFamily="34" charset="-128"/>
              <a:ea typeface="MS PGothic" panose="020B0600070205080204" pitchFamily="34" charset="-128"/>
            </a:endParaRPr>
          </a:p>
        </p:txBody>
      </p:sp>
      <p:pic>
        <p:nvPicPr>
          <p:cNvPr id="31" name="図 30" descr="ダイアグラム, 概略図&#10;&#10;自動的に生成された説明">
            <a:extLst>
              <a:ext uri="{FF2B5EF4-FFF2-40B4-BE49-F238E27FC236}">
                <a16:creationId xmlns:a16="http://schemas.microsoft.com/office/drawing/2014/main" id="{954A01CA-D2F7-817A-BC2F-3B23010E400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7801" y="37354265"/>
            <a:ext cx="13282126" cy="3763925"/>
          </a:xfrm>
          <a:prstGeom prst="rect">
            <a:avLst/>
          </a:prstGeom>
        </p:spPr>
      </p:pic>
      <p:pic>
        <p:nvPicPr>
          <p:cNvPr id="36" name="図 35">
            <a:extLst>
              <a:ext uri="{FF2B5EF4-FFF2-40B4-BE49-F238E27FC236}">
                <a16:creationId xmlns:a16="http://schemas.microsoft.com/office/drawing/2014/main" id="{06342E4F-494A-2B5F-96A5-906175D96025}"/>
              </a:ext>
            </a:extLst>
          </p:cNvPr>
          <p:cNvPicPr>
            <a:picLocks noChangeAspect="1"/>
          </p:cNvPicPr>
          <p:nvPr/>
        </p:nvPicPr>
        <p:blipFill rotWithShape="1">
          <a:blip r:embed="rId9"/>
          <a:srcRect l="61" t="-1296" r="-61" b="1296"/>
          <a:stretch/>
        </p:blipFill>
        <p:spPr>
          <a:xfrm>
            <a:off x="371534" y="26581430"/>
            <a:ext cx="14233297" cy="4923678"/>
          </a:xfrm>
          <a:prstGeom prst="rect">
            <a:avLst/>
          </a:prstGeom>
        </p:spPr>
      </p:pic>
      <p:sp>
        <p:nvSpPr>
          <p:cNvPr id="37" name="テキスト ボックス 36">
            <a:extLst>
              <a:ext uri="{FF2B5EF4-FFF2-40B4-BE49-F238E27FC236}">
                <a16:creationId xmlns:a16="http://schemas.microsoft.com/office/drawing/2014/main" id="{8CE8578A-6466-390B-85E4-6DDFF9716878}"/>
              </a:ext>
            </a:extLst>
          </p:cNvPr>
          <p:cNvSpPr txBox="1"/>
          <p:nvPr/>
        </p:nvSpPr>
        <p:spPr>
          <a:xfrm>
            <a:off x="237301" y="31457115"/>
            <a:ext cx="14585736"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図３　</a:t>
            </a:r>
            <a:r>
              <a:rPr kumimoji="1" lang="en-US" altLang="ja-JP" sz="4000" dirty="0" err="1">
                <a:latin typeface="MS PGothic" panose="020B0600070205080204" pitchFamily="34" charset="-128"/>
                <a:ea typeface="MS PGothic" panose="020B0600070205080204" pitchFamily="34" charset="-128"/>
              </a:rPr>
              <a:t>Swin</a:t>
            </a:r>
            <a:r>
              <a:rPr kumimoji="1" lang="en-US" altLang="ja-JP" sz="4000" dirty="0">
                <a:latin typeface="MS PGothic" panose="020B0600070205080204" pitchFamily="34" charset="-128"/>
                <a:ea typeface="MS PGothic" panose="020B0600070205080204" pitchFamily="34" charset="-128"/>
              </a:rPr>
              <a:t>-Transformer</a:t>
            </a:r>
            <a:r>
              <a:rPr kumimoji="1" lang="ja-JP" altLang="en-US" sz="4000">
                <a:latin typeface="MS PGothic" panose="020B0600070205080204" pitchFamily="34" charset="-128"/>
                <a:ea typeface="MS PGothic" panose="020B0600070205080204" pitchFamily="34" charset="-128"/>
              </a:rPr>
              <a:t>の構造</a:t>
            </a:r>
            <a:r>
              <a:rPr kumimoji="1" lang="en-US" altLang="ja-JP" sz="4000" dirty="0">
                <a:latin typeface="MS PGothic" panose="020B0600070205080204" pitchFamily="34" charset="-128"/>
                <a:ea typeface="MS PGothic" panose="020B0600070205080204" pitchFamily="34" charset="-128"/>
              </a:rPr>
              <a:t>[2]</a:t>
            </a:r>
          </a:p>
        </p:txBody>
      </p:sp>
      <p:graphicFrame>
        <p:nvGraphicFramePr>
          <p:cNvPr id="38" name="表 37">
            <a:extLst>
              <a:ext uri="{FF2B5EF4-FFF2-40B4-BE49-F238E27FC236}">
                <a16:creationId xmlns:a16="http://schemas.microsoft.com/office/drawing/2014/main" id="{47756E8D-A4A9-BA8F-F8A6-669CF20FD283}"/>
              </a:ext>
            </a:extLst>
          </p:cNvPr>
          <p:cNvGraphicFramePr>
            <a:graphicFrameLocks noGrp="1"/>
          </p:cNvGraphicFramePr>
          <p:nvPr>
            <p:extLst>
              <p:ext uri="{D42A27DB-BD31-4B8C-83A1-F6EECF244321}">
                <p14:modId xmlns:p14="http://schemas.microsoft.com/office/powerpoint/2010/main" val="419790684"/>
              </p:ext>
            </p:extLst>
          </p:nvPr>
        </p:nvGraphicFramePr>
        <p:xfrm>
          <a:off x="15372165" y="16329138"/>
          <a:ext cx="14659928" cy="3451612"/>
        </p:xfrm>
        <a:graphic>
          <a:graphicData uri="http://schemas.openxmlformats.org/drawingml/2006/table">
            <a:tbl>
              <a:tblPr firstRow="1" bandRow="1">
                <a:tableStyleId>{69012ECD-51FC-41F1-AA8D-1B2483CD663E}</a:tableStyleId>
              </a:tblPr>
              <a:tblGrid>
                <a:gridCol w="1832491">
                  <a:extLst>
                    <a:ext uri="{9D8B030D-6E8A-4147-A177-3AD203B41FA5}">
                      <a16:colId xmlns:a16="http://schemas.microsoft.com/office/drawing/2014/main" val="1006599521"/>
                    </a:ext>
                  </a:extLst>
                </a:gridCol>
                <a:gridCol w="1832491">
                  <a:extLst>
                    <a:ext uri="{9D8B030D-6E8A-4147-A177-3AD203B41FA5}">
                      <a16:colId xmlns:a16="http://schemas.microsoft.com/office/drawing/2014/main" val="1129127037"/>
                    </a:ext>
                  </a:extLst>
                </a:gridCol>
                <a:gridCol w="1832491">
                  <a:extLst>
                    <a:ext uri="{9D8B030D-6E8A-4147-A177-3AD203B41FA5}">
                      <a16:colId xmlns:a16="http://schemas.microsoft.com/office/drawing/2014/main" val="1069729706"/>
                    </a:ext>
                  </a:extLst>
                </a:gridCol>
                <a:gridCol w="1832491">
                  <a:extLst>
                    <a:ext uri="{9D8B030D-6E8A-4147-A177-3AD203B41FA5}">
                      <a16:colId xmlns:a16="http://schemas.microsoft.com/office/drawing/2014/main" val="1391522219"/>
                    </a:ext>
                  </a:extLst>
                </a:gridCol>
                <a:gridCol w="1832491">
                  <a:extLst>
                    <a:ext uri="{9D8B030D-6E8A-4147-A177-3AD203B41FA5}">
                      <a16:colId xmlns:a16="http://schemas.microsoft.com/office/drawing/2014/main" val="3237086396"/>
                    </a:ext>
                  </a:extLst>
                </a:gridCol>
                <a:gridCol w="1832491">
                  <a:extLst>
                    <a:ext uri="{9D8B030D-6E8A-4147-A177-3AD203B41FA5}">
                      <a16:colId xmlns:a16="http://schemas.microsoft.com/office/drawing/2014/main" val="3822305079"/>
                    </a:ext>
                  </a:extLst>
                </a:gridCol>
                <a:gridCol w="1832491">
                  <a:extLst>
                    <a:ext uri="{9D8B030D-6E8A-4147-A177-3AD203B41FA5}">
                      <a16:colId xmlns:a16="http://schemas.microsoft.com/office/drawing/2014/main" val="2005082671"/>
                    </a:ext>
                  </a:extLst>
                </a:gridCol>
                <a:gridCol w="1832491">
                  <a:extLst>
                    <a:ext uri="{9D8B030D-6E8A-4147-A177-3AD203B41FA5}">
                      <a16:colId xmlns:a16="http://schemas.microsoft.com/office/drawing/2014/main" val="1626923288"/>
                    </a:ext>
                  </a:extLst>
                </a:gridCol>
              </a:tblGrid>
              <a:tr h="804054">
                <a:tc>
                  <a:txBody>
                    <a:bodyPr/>
                    <a:lstStyle/>
                    <a:p>
                      <a:pPr algn="ct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kumimoji="1" lang="en-US" altLang="ja-JP" sz="3200" dirty="0"/>
                        <a:t>GLIDE</a:t>
                      </a:r>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kumimoji="1" lang="en-US" altLang="ja-JP" sz="3200" dirty="0"/>
                        <a:t>ADM</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kumimoji="1" lang="en-US" altLang="ja-JP" sz="3200" dirty="0"/>
                        <a:t>SDv5</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kumimoji="1" lang="en-US" altLang="ja-JP" sz="3200" dirty="0"/>
                        <a:t>SDv4</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kumimoji="1" lang="en-US" altLang="ja-JP" sz="3200" dirty="0" err="1"/>
                        <a:t>BigGAN</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kumimoji="1" lang="en-US" altLang="ja-JP" sz="3200" dirty="0"/>
                        <a:t>ImageNet</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kumimoji="1" lang="en-US" altLang="ja-JP" sz="3200" dirty="0"/>
                        <a:t>Flickr30k</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4294180002"/>
                  </a:ext>
                </a:extLst>
              </a:tr>
              <a:tr h="1323779">
                <a:tc>
                  <a:txBody>
                    <a:bodyPr/>
                    <a:lstStyle/>
                    <a:p>
                      <a:pPr algn="ctr"/>
                      <a:r>
                        <a:rPr kumimoji="1" lang="ja-JP" altLang="en-US" sz="3200"/>
                        <a:t>学習</a:t>
                      </a:r>
                      <a:endParaRPr kumimoji="1" lang="en-US" altLang="ja-JP" sz="3200" dirty="0"/>
                    </a:p>
                    <a:p>
                      <a:pPr algn="ctr"/>
                      <a:r>
                        <a:rPr kumimoji="1" lang="ja-JP" altLang="en-US" sz="3200"/>
                        <a:t>データ</a:t>
                      </a:r>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162,000</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162,000</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166,000</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162,000</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162,000</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153,274</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0</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0057749"/>
                  </a:ext>
                </a:extLst>
              </a:tr>
              <a:tr h="1323779">
                <a:tc>
                  <a:txBody>
                    <a:bodyPr/>
                    <a:lstStyle/>
                    <a:p>
                      <a:pPr algn="ctr"/>
                      <a:r>
                        <a:rPr kumimoji="1" lang="ja-JP" altLang="en-US" sz="3200"/>
                        <a:t>テストデータ</a:t>
                      </a:r>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6,000</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6,000</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8,000</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6,000</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6,000</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8,000</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1" lang="en-US" altLang="ja-JP" sz="3200" dirty="0"/>
                        <a:t>31,783</a:t>
                      </a:r>
                      <a:endParaRPr kumimoji="1" lang="ja-JP" altLang="en-US" sz="3200"/>
                    </a:p>
                  </a:txBody>
                  <a:tcPr marL="85210" marR="85210" marT="42605" marB="42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7235240"/>
                  </a:ext>
                </a:extLst>
              </a:tr>
            </a:tbl>
          </a:graphicData>
        </a:graphic>
      </p:graphicFrame>
      <p:pic>
        <p:nvPicPr>
          <p:cNvPr id="46" name="図 45" descr="モニター画面に映る文字&#10;&#10;自動的に生成された説明">
            <a:extLst>
              <a:ext uri="{FF2B5EF4-FFF2-40B4-BE49-F238E27FC236}">
                <a16:creationId xmlns:a16="http://schemas.microsoft.com/office/drawing/2014/main" id="{83211FE2-AADC-2792-157B-E5785D3A28C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05759" y="19393752"/>
            <a:ext cx="14419306" cy="2707219"/>
          </a:xfrm>
          <a:prstGeom prst="rect">
            <a:avLst/>
          </a:prstGeom>
        </p:spPr>
      </p:pic>
      <p:sp>
        <p:nvSpPr>
          <p:cNvPr id="47" name="テキスト ボックス 46">
            <a:extLst>
              <a:ext uri="{FF2B5EF4-FFF2-40B4-BE49-F238E27FC236}">
                <a16:creationId xmlns:a16="http://schemas.microsoft.com/office/drawing/2014/main" id="{A06536A5-8EF5-0B71-E352-CEA016F4B1D0}"/>
              </a:ext>
            </a:extLst>
          </p:cNvPr>
          <p:cNvSpPr txBox="1"/>
          <p:nvPr/>
        </p:nvSpPr>
        <p:spPr>
          <a:xfrm>
            <a:off x="204643" y="22110281"/>
            <a:ext cx="14618393"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図</a:t>
            </a:r>
            <a:r>
              <a:rPr kumimoji="1" lang="en-US" altLang="ja-JP" sz="4000" dirty="0">
                <a:latin typeface="MS PGothic" panose="020B0600070205080204" pitchFamily="34" charset="-128"/>
                <a:ea typeface="MS PGothic" panose="020B0600070205080204" pitchFamily="34" charset="-128"/>
              </a:rPr>
              <a:t>3</a:t>
            </a:r>
            <a:r>
              <a:rPr kumimoji="1" lang="ja-JP" altLang="en-US" sz="4000">
                <a:latin typeface="MS PGothic" panose="020B0600070205080204" pitchFamily="34" charset="-128"/>
                <a:ea typeface="MS PGothic" panose="020B0600070205080204" pitchFamily="34" charset="-128"/>
              </a:rPr>
              <a:t>　既存の分類手法</a:t>
            </a:r>
          </a:p>
        </p:txBody>
      </p:sp>
      <p:sp>
        <p:nvSpPr>
          <p:cNvPr id="48" name="テキスト ボックス 47">
            <a:extLst>
              <a:ext uri="{FF2B5EF4-FFF2-40B4-BE49-F238E27FC236}">
                <a16:creationId xmlns:a16="http://schemas.microsoft.com/office/drawing/2014/main" id="{13152BD2-1810-1C59-2390-B690359EF5AB}"/>
              </a:ext>
            </a:extLst>
          </p:cNvPr>
          <p:cNvSpPr txBox="1"/>
          <p:nvPr/>
        </p:nvSpPr>
        <p:spPr>
          <a:xfrm>
            <a:off x="15318040" y="15587205"/>
            <a:ext cx="14786150" cy="707886"/>
          </a:xfrm>
          <a:prstGeom prst="rect">
            <a:avLst/>
          </a:prstGeom>
          <a:noFill/>
        </p:spPr>
        <p:txBody>
          <a:bodyPr wrap="square" rtlCol="0">
            <a:spAutoFit/>
          </a:bodyPr>
          <a:lstStyle/>
          <a:p>
            <a:pPr algn="ctr"/>
            <a:r>
              <a:rPr kumimoji="1" lang="ja-JP" altLang="en-US" sz="4000">
                <a:latin typeface="MS PGothic" panose="020B0600070205080204" pitchFamily="34" charset="-128"/>
                <a:ea typeface="MS PGothic" panose="020B0600070205080204" pitchFamily="34" charset="-128"/>
              </a:rPr>
              <a:t>表</a:t>
            </a:r>
            <a:r>
              <a:rPr kumimoji="1" lang="en-US" altLang="ja-JP" sz="4000" dirty="0">
                <a:latin typeface="MS PGothic" panose="020B0600070205080204" pitchFamily="34" charset="-128"/>
                <a:ea typeface="MS PGothic" panose="020B0600070205080204" pitchFamily="34" charset="-128"/>
              </a:rPr>
              <a:t>2</a:t>
            </a:r>
            <a:r>
              <a:rPr kumimoji="1" lang="ja-JP" altLang="en-US" sz="4000">
                <a:latin typeface="MS PGothic" panose="020B0600070205080204" pitchFamily="34" charset="-128"/>
                <a:ea typeface="MS PGothic" panose="020B0600070205080204" pitchFamily="34" charset="-128"/>
              </a:rPr>
              <a:t>　使用するデータ枚数</a:t>
            </a:r>
          </a:p>
        </p:txBody>
      </p:sp>
    </p:spTree>
    <p:extLst>
      <p:ext uri="{BB962C8B-B14F-4D97-AF65-F5344CB8AC3E}">
        <p14:creationId xmlns:p14="http://schemas.microsoft.com/office/powerpoint/2010/main" val="10204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BDA8F58-47C5-F0EE-914B-5FB0701C833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8CC83D3-D9FB-8349-5629-2A7EDD1D8241}"/>
              </a:ext>
            </a:extLst>
          </p:cNvPr>
          <p:cNvSpPr/>
          <p:nvPr/>
        </p:nvSpPr>
        <p:spPr>
          <a:xfrm>
            <a:off x="15428502" y="2298379"/>
            <a:ext cx="14724513" cy="33147406"/>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1" name="正方形/長方形 1110">
            <a:extLst>
              <a:ext uri="{FF2B5EF4-FFF2-40B4-BE49-F238E27FC236}">
                <a16:creationId xmlns:a16="http://schemas.microsoft.com/office/drawing/2014/main" id="{C74BE2F2-5986-0D55-D866-CE322EE6E61F}"/>
              </a:ext>
            </a:extLst>
          </p:cNvPr>
          <p:cNvSpPr/>
          <p:nvPr/>
        </p:nvSpPr>
        <p:spPr>
          <a:xfrm>
            <a:off x="174494" y="9946997"/>
            <a:ext cx="14681200" cy="20477711"/>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f</a:t>
            </a:r>
            <a:endParaRPr kumimoji="1" lang="ja-JP" altLang="en-US"/>
          </a:p>
        </p:txBody>
      </p:sp>
      <p:sp>
        <p:nvSpPr>
          <p:cNvPr id="1047" name="正方形/長方形 1046">
            <a:extLst>
              <a:ext uri="{FF2B5EF4-FFF2-40B4-BE49-F238E27FC236}">
                <a16:creationId xmlns:a16="http://schemas.microsoft.com/office/drawing/2014/main" id="{729638F1-EADF-6D49-A9B0-97E3AF30BF98}"/>
              </a:ext>
            </a:extLst>
          </p:cNvPr>
          <p:cNvSpPr/>
          <p:nvPr/>
        </p:nvSpPr>
        <p:spPr>
          <a:xfrm>
            <a:off x="15420508" y="35681325"/>
            <a:ext cx="14741327" cy="4588522"/>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AA062198-DC8E-1928-55C1-6EAA9A974162}"/>
              </a:ext>
            </a:extLst>
          </p:cNvPr>
          <p:cNvSpPr>
            <a:spLocks noGrp="1"/>
          </p:cNvSpPr>
          <p:nvPr>
            <p:ph type="ctrTitle"/>
          </p:nvPr>
        </p:nvSpPr>
        <p:spPr/>
        <p:txBody>
          <a:bodyPr>
            <a:normAutofit fontScale="90000"/>
          </a:bodyPr>
          <a:lstStyle/>
          <a:p>
            <a:r>
              <a:rPr kumimoji="1" lang="ja-JP" altLang="en-US"/>
              <a:t>ディープラーニングを用いた生成画像の識別に関する研究 </a:t>
            </a:r>
          </a:p>
        </p:txBody>
      </p:sp>
      <p:sp>
        <p:nvSpPr>
          <p:cNvPr id="3" name="字幕 2">
            <a:extLst>
              <a:ext uri="{FF2B5EF4-FFF2-40B4-BE49-F238E27FC236}">
                <a16:creationId xmlns:a16="http://schemas.microsoft.com/office/drawing/2014/main" id="{94599EE0-1453-27C5-6998-763FE25F41E1}"/>
              </a:ext>
            </a:extLst>
          </p:cNvPr>
          <p:cNvSpPr>
            <a:spLocks noGrp="1"/>
          </p:cNvSpPr>
          <p:nvPr>
            <p:ph type="subTitle" idx="1"/>
          </p:nvPr>
        </p:nvSpPr>
        <p:spPr/>
        <p:txBody>
          <a:bodyPr>
            <a:normAutofit fontScale="92500" lnSpcReduction="10000"/>
          </a:bodyPr>
          <a:lstStyle/>
          <a:p>
            <a:r>
              <a:rPr kumimoji="1" lang="ja-JP" altLang="en-US"/>
              <a:t>李</a:t>
            </a:r>
            <a:r>
              <a:rPr kumimoji="1" lang="en-US" altLang="ja-JP" dirty="0"/>
              <a:t> </a:t>
            </a:r>
            <a:r>
              <a:rPr kumimoji="1" lang="ja-JP" altLang="en-US"/>
              <a:t>洪企，山富 龍，マハブービ</a:t>
            </a:r>
            <a:r>
              <a:rPr kumimoji="1" lang="en-US" altLang="ja-JP" dirty="0"/>
              <a:t> </a:t>
            </a:r>
            <a:r>
              <a:rPr kumimoji="1" lang="ja-JP" altLang="en-US"/>
              <a:t>シェヘラザード，二宮 洋</a:t>
            </a:r>
            <a:r>
              <a:rPr kumimoji="1" lang="en-US" altLang="ja-JP" dirty="0"/>
              <a:t> (</a:t>
            </a:r>
            <a:r>
              <a:rPr kumimoji="1" lang="ja-JP" altLang="en-US"/>
              <a:t>湘南工科大学</a:t>
            </a:r>
            <a:r>
              <a:rPr kumimoji="1" lang="en-US" altLang="ja-JP" dirty="0"/>
              <a:t>)</a:t>
            </a:r>
            <a:endParaRPr kumimoji="1" lang="ja-JP" altLang="en-US"/>
          </a:p>
        </p:txBody>
      </p:sp>
      <p:sp>
        <p:nvSpPr>
          <p:cNvPr id="4" name="正方形/長方形 3">
            <a:extLst>
              <a:ext uri="{FF2B5EF4-FFF2-40B4-BE49-F238E27FC236}">
                <a16:creationId xmlns:a16="http://schemas.microsoft.com/office/drawing/2014/main" id="{9C10766B-7076-91B3-A397-BBEA33F2B053}"/>
              </a:ext>
            </a:extLst>
          </p:cNvPr>
          <p:cNvSpPr/>
          <p:nvPr/>
        </p:nvSpPr>
        <p:spPr>
          <a:xfrm>
            <a:off x="203200" y="2288710"/>
            <a:ext cx="14681200" cy="7507884"/>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f</a:t>
            </a:r>
            <a:endParaRPr kumimoji="1" lang="ja-JP" altLang="en-US"/>
          </a:p>
        </p:txBody>
      </p:sp>
      <p:sp>
        <p:nvSpPr>
          <p:cNvPr id="5" name="正方形/長方形 4">
            <a:extLst>
              <a:ext uri="{FF2B5EF4-FFF2-40B4-BE49-F238E27FC236}">
                <a16:creationId xmlns:a16="http://schemas.microsoft.com/office/drawing/2014/main" id="{EA226ABE-335F-93A5-857A-04C2F058ED73}"/>
              </a:ext>
            </a:extLst>
          </p:cNvPr>
          <p:cNvSpPr/>
          <p:nvPr/>
        </p:nvSpPr>
        <p:spPr>
          <a:xfrm>
            <a:off x="203200" y="2288708"/>
            <a:ext cx="1468120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背景</a:t>
            </a:r>
          </a:p>
        </p:txBody>
      </p:sp>
      <p:sp>
        <p:nvSpPr>
          <p:cNvPr id="6" name="テキスト ボックス 5">
            <a:extLst>
              <a:ext uri="{FF2B5EF4-FFF2-40B4-BE49-F238E27FC236}">
                <a16:creationId xmlns:a16="http://schemas.microsoft.com/office/drawing/2014/main" id="{8F91DC60-44EF-D77D-F92E-F1E62B3F96DB}"/>
              </a:ext>
            </a:extLst>
          </p:cNvPr>
          <p:cNvSpPr txBox="1"/>
          <p:nvPr/>
        </p:nvSpPr>
        <p:spPr>
          <a:xfrm>
            <a:off x="203199" y="3169285"/>
            <a:ext cx="14681200" cy="2062103"/>
          </a:xfrm>
          <a:prstGeom prst="rect">
            <a:avLst/>
          </a:prstGeom>
          <a:noFill/>
        </p:spPr>
        <p:txBody>
          <a:bodyPr wrap="square" rtlCol="0">
            <a:spAutoFit/>
          </a:bodyPr>
          <a:lstStyle/>
          <a:p>
            <a:pPr marL="571500" indent="-5715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近年</a:t>
            </a:r>
            <a:r>
              <a:rPr kumimoji="1" lang="en" altLang="ja-JP" sz="3200" dirty="0" err="1">
                <a:latin typeface="MS PGothic" panose="020B0600070205080204" pitchFamily="34" charset="-128"/>
                <a:ea typeface="MS PGothic" panose="020B0600070205080204" pitchFamily="34" charset="-128"/>
              </a:rPr>
              <a:t>BigGAN</a:t>
            </a:r>
            <a:r>
              <a:rPr kumimoji="1" lang="en" altLang="ja-JP" sz="3200" dirty="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1</a:t>
            </a:r>
            <a:r>
              <a:rPr kumimoji="1" lang="en" altLang="ja-JP" sz="3200" dirty="0">
                <a:latin typeface="MS PGothic" panose="020B0600070205080204" pitchFamily="34" charset="-128"/>
                <a:ea typeface="MS PGothic" panose="020B0600070205080204" pitchFamily="34" charset="-128"/>
              </a:rPr>
              <a:t>] </a:t>
            </a:r>
            <a:r>
              <a:rPr kumimoji="1" lang="ja-JP" altLang="en-US" sz="3200">
                <a:latin typeface="MS PGothic" panose="020B0600070205080204" pitchFamily="34" charset="-128"/>
                <a:ea typeface="MS PGothic" panose="020B0600070205080204" pitchFamily="34" charset="-128"/>
              </a:rPr>
              <a:t>や </a:t>
            </a:r>
            <a:r>
              <a:rPr kumimoji="1" lang="en" altLang="ja-JP" sz="3200" dirty="0">
                <a:latin typeface="MS PGothic" panose="020B0600070205080204" pitchFamily="34" charset="-128"/>
                <a:ea typeface="MS PGothic" panose="020B0600070205080204" pitchFamily="34" charset="-128"/>
              </a:rPr>
              <a:t>Stable Diffusion[</a:t>
            </a:r>
            <a:r>
              <a:rPr kumimoji="1" lang="en-US" altLang="ja-JP" sz="3200" dirty="0">
                <a:latin typeface="MS PGothic" panose="020B0600070205080204" pitchFamily="34" charset="-128"/>
                <a:ea typeface="MS PGothic" panose="020B0600070205080204" pitchFamily="34" charset="-128"/>
              </a:rPr>
              <a:t>1</a:t>
            </a:r>
            <a:r>
              <a:rPr kumimoji="1" lang="en" altLang="ja-JP" sz="3200" dirty="0">
                <a:latin typeface="MS PGothic" panose="020B0600070205080204" pitchFamily="34" charset="-128"/>
                <a:ea typeface="MS PGothic" panose="020B0600070205080204" pitchFamily="34" charset="-128"/>
              </a:rPr>
              <a:t>] </a:t>
            </a:r>
            <a:r>
              <a:rPr kumimoji="1" lang="ja-JP" altLang="en-US" sz="3200">
                <a:latin typeface="MS PGothic" panose="020B0600070205080204" pitchFamily="34" charset="-128"/>
                <a:ea typeface="MS PGothic" panose="020B0600070205080204" pitchFamily="34" charset="-128"/>
              </a:rPr>
              <a:t>等の画像生成 </a:t>
            </a:r>
            <a:r>
              <a:rPr kumimoji="1" lang="en" altLang="ja-JP" sz="3200" dirty="0">
                <a:latin typeface="MS PGothic" panose="020B0600070205080204" pitchFamily="34" charset="-128"/>
                <a:ea typeface="MS PGothic" panose="020B0600070205080204" pitchFamily="34" charset="-128"/>
              </a:rPr>
              <a:t>AI </a:t>
            </a:r>
            <a:r>
              <a:rPr kumimoji="1" lang="ja-JP" altLang="en-US" sz="3200">
                <a:latin typeface="MS PGothic" panose="020B0600070205080204" pitchFamily="34" charset="-128"/>
                <a:ea typeface="MS PGothic" panose="020B0600070205080204" pitchFamily="34" charset="-128"/>
              </a:rPr>
              <a:t>が発展</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画像生成</a:t>
            </a:r>
            <a:r>
              <a:rPr kumimoji="1" lang="en"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の悪用問題</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生成画像を識別できる</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が必要</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 altLang="ja-JP" sz="3200" dirty="0">
              <a:latin typeface="MS PGothic" panose="020B0600070205080204" pitchFamily="34" charset="-128"/>
              <a:ea typeface="MS PGothic" panose="020B0600070205080204" pitchFamily="34" charset="-128"/>
            </a:endParaRPr>
          </a:p>
        </p:txBody>
      </p:sp>
      <p:sp>
        <p:nvSpPr>
          <p:cNvPr id="14" name="テキスト ボックス 13">
            <a:extLst>
              <a:ext uri="{FF2B5EF4-FFF2-40B4-BE49-F238E27FC236}">
                <a16:creationId xmlns:a16="http://schemas.microsoft.com/office/drawing/2014/main" id="{81870BA9-158E-E6F7-8EA8-4C7B6ECAD993}"/>
              </a:ext>
            </a:extLst>
          </p:cNvPr>
          <p:cNvSpPr txBox="1"/>
          <p:nvPr/>
        </p:nvSpPr>
        <p:spPr>
          <a:xfrm>
            <a:off x="15400997" y="40293774"/>
            <a:ext cx="14721397" cy="1938992"/>
          </a:xfrm>
          <a:prstGeom prst="rect">
            <a:avLst/>
          </a:prstGeom>
          <a:noFill/>
        </p:spPr>
        <p:txBody>
          <a:bodyPr wrap="square" rtlCol="0">
            <a:spAutoFit/>
          </a:bodyPr>
          <a:lstStyle/>
          <a:p>
            <a:r>
              <a:rPr kumimoji="1" lang="en-US" altLang="ja-JP" sz="2400" dirty="0">
                <a:latin typeface="MS PGothic" panose="020B0600070205080204" pitchFamily="34" charset="-128"/>
                <a:ea typeface="MS PGothic" panose="020B0600070205080204" pitchFamily="34" charset="-128"/>
              </a:rPr>
              <a:t>[1] </a:t>
            </a:r>
            <a:r>
              <a:rPr kumimoji="1" lang="en-US" altLang="ja-JP" sz="2400" dirty="0" err="1">
                <a:latin typeface="MS PGothic" panose="020B0600070205080204" pitchFamily="34" charset="-128"/>
                <a:ea typeface="MS PGothic" panose="020B0600070205080204" pitchFamily="34" charset="-128"/>
              </a:rPr>
              <a:t>M.Zhu</a:t>
            </a:r>
            <a:r>
              <a:rPr kumimoji="1" lang="ja-JP" altLang="en-US" sz="2400">
                <a:latin typeface="MS PGothic" panose="020B0600070205080204" pitchFamily="34" charset="-128"/>
                <a:ea typeface="MS PGothic" panose="020B0600070205080204" pitchFamily="34" charset="-128"/>
              </a:rPr>
              <a:t>，</a:t>
            </a:r>
            <a:r>
              <a:rPr kumimoji="1" lang="en-US" altLang="ja-JP" sz="2400" dirty="0">
                <a:latin typeface="MS PGothic" panose="020B0600070205080204" pitchFamily="34" charset="-128"/>
                <a:ea typeface="MS PGothic" panose="020B0600070205080204" pitchFamily="34" charset="-128"/>
              </a:rPr>
              <a:t>et al.</a:t>
            </a:r>
            <a:r>
              <a:rPr kumimoji="1" lang="ja-JP" altLang="en-US" sz="2400">
                <a:latin typeface="MS PGothic" panose="020B0600070205080204" pitchFamily="34" charset="-128"/>
                <a:ea typeface="MS PGothic" panose="020B0600070205080204" pitchFamily="34" charset="-128"/>
              </a:rPr>
              <a:t>，</a:t>
            </a:r>
            <a:r>
              <a:rPr kumimoji="1" lang="en-US" altLang="ja-JP" sz="2400" dirty="0" err="1">
                <a:latin typeface="MS PGothic" panose="020B0600070205080204" pitchFamily="34" charset="-128"/>
                <a:ea typeface="MS PGothic" panose="020B0600070205080204" pitchFamily="34" charset="-128"/>
              </a:rPr>
              <a:t>arXiv</a:t>
            </a:r>
            <a:r>
              <a:rPr kumimoji="1" lang="en-US" altLang="ja-JP" sz="2400" dirty="0">
                <a:latin typeface="MS PGothic" panose="020B0600070205080204" pitchFamily="34" charset="-128"/>
                <a:ea typeface="MS PGothic" panose="020B0600070205080204" pitchFamily="34" charset="-128"/>
              </a:rPr>
              <a:t> :2306.08571</a:t>
            </a:r>
            <a:r>
              <a:rPr kumimoji="1" lang="ja-JP" altLang="en-US" sz="2400">
                <a:latin typeface="MS PGothic" panose="020B0600070205080204" pitchFamily="34" charset="-128"/>
                <a:ea typeface="MS PGothic" panose="020B0600070205080204" pitchFamily="34" charset="-128"/>
              </a:rPr>
              <a:t>，</a:t>
            </a:r>
            <a:r>
              <a:rPr kumimoji="1" lang="en-US" altLang="ja-JP" sz="2400" dirty="0">
                <a:latin typeface="MS PGothic" panose="020B0600070205080204" pitchFamily="34" charset="-128"/>
                <a:ea typeface="MS PGothic" panose="020B0600070205080204" pitchFamily="34" charset="-128"/>
              </a:rPr>
              <a:t>Jun</a:t>
            </a:r>
            <a:r>
              <a:rPr kumimoji="1" lang="ja-JP" altLang="en-US" sz="2400">
                <a:latin typeface="MS PGothic" panose="020B0600070205080204" pitchFamily="34" charset="-128"/>
                <a:ea typeface="MS PGothic" panose="020B0600070205080204" pitchFamily="34" charset="-128"/>
              </a:rPr>
              <a:t>．</a:t>
            </a:r>
            <a:r>
              <a:rPr kumimoji="1" lang="en-US" altLang="ja-JP" sz="2400" dirty="0">
                <a:latin typeface="MS PGothic" panose="020B0600070205080204" pitchFamily="34" charset="-128"/>
                <a:ea typeface="MS PGothic" panose="020B0600070205080204" pitchFamily="34" charset="-128"/>
              </a:rPr>
              <a:t>2023. </a:t>
            </a:r>
          </a:p>
          <a:p>
            <a:r>
              <a:rPr kumimoji="1" lang="en-US" altLang="ja-JP" sz="2400" dirty="0">
                <a:latin typeface="MS PGothic" panose="020B0600070205080204" pitchFamily="34" charset="-128"/>
                <a:ea typeface="MS PGothic" panose="020B0600070205080204" pitchFamily="34" charset="-128"/>
              </a:rPr>
              <a:t>[2] Twitter Inc., </a:t>
            </a:r>
            <a:r>
              <a:rPr kumimoji="1" lang="ja-JP" altLang="en-US" sz="2400">
                <a:latin typeface="MS PGothic" panose="020B0600070205080204" pitchFamily="34" charset="-128"/>
                <a:ea typeface="MS PGothic" panose="020B0600070205080204" pitchFamily="34" charset="-128"/>
              </a:rPr>
              <a:t>くろん</a:t>
            </a:r>
            <a:r>
              <a:rPr kumimoji="1" lang="en-US" altLang="ja-JP" sz="2400" dirty="0">
                <a:latin typeface="MS PGothic" panose="020B0600070205080204" pitchFamily="34" charset="-128"/>
                <a:ea typeface="MS PGothic" panose="020B0600070205080204" pitchFamily="34" charset="-128"/>
              </a:rPr>
              <a:t>, https://</a:t>
            </a:r>
            <a:r>
              <a:rPr kumimoji="1" lang="en-US" altLang="ja-JP" sz="2400" dirty="0" err="1">
                <a:latin typeface="MS PGothic" panose="020B0600070205080204" pitchFamily="34" charset="-128"/>
                <a:ea typeface="MS PGothic" panose="020B0600070205080204" pitchFamily="34" charset="-128"/>
              </a:rPr>
              <a:t>twitter.com</a:t>
            </a:r>
            <a:r>
              <a:rPr kumimoji="1" lang="en-US" altLang="ja-JP" sz="2400" dirty="0">
                <a:latin typeface="MS PGothic" panose="020B0600070205080204" pitchFamily="34" charset="-128"/>
                <a:ea typeface="MS PGothic" panose="020B0600070205080204" pitchFamily="34" charset="-128"/>
              </a:rPr>
              <a:t>/</a:t>
            </a:r>
            <a:r>
              <a:rPr kumimoji="1" lang="en-US" altLang="ja-JP" sz="2400" dirty="0" err="1">
                <a:latin typeface="MS PGothic" panose="020B0600070205080204" pitchFamily="34" charset="-128"/>
                <a:ea typeface="MS PGothic" panose="020B0600070205080204" pitchFamily="34" charset="-128"/>
              </a:rPr>
              <a:t>kuron_nano</a:t>
            </a:r>
            <a:r>
              <a:rPr kumimoji="1" lang="en-US" altLang="ja-JP" sz="2400" dirty="0">
                <a:latin typeface="MS PGothic" panose="020B0600070205080204" pitchFamily="34" charset="-128"/>
                <a:ea typeface="MS PGothic" panose="020B0600070205080204" pitchFamily="34" charset="-128"/>
              </a:rPr>
              <a:t>/status/1574121450860007424, Last Access : 2024/3/1.</a:t>
            </a:r>
          </a:p>
          <a:p>
            <a:r>
              <a:rPr kumimoji="1" lang="en-US" altLang="ja-JP" sz="2400" dirty="0">
                <a:latin typeface="MS PGothic" panose="020B0600070205080204" pitchFamily="34" charset="-128"/>
                <a:ea typeface="MS PGothic" panose="020B0600070205080204" pitchFamily="34" charset="-128"/>
              </a:rPr>
              <a:t>[3] Twitter Inc. GIGAZIN, https://</a:t>
            </a:r>
            <a:r>
              <a:rPr kumimoji="1" lang="en-US" altLang="ja-JP" sz="2400" dirty="0" err="1">
                <a:latin typeface="MS PGothic" panose="020B0600070205080204" pitchFamily="34" charset="-128"/>
                <a:ea typeface="MS PGothic" panose="020B0600070205080204" pitchFamily="34" charset="-128"/>
              </a:rPr>
              <a:t>twitter.com</a:t>
            </a:r>
            <a:r>
              <a:rPr kumimoji="1" lang="en-US" altLang="ja-JP" sz="2400" dirty="0">
                <a:latin typeface="MS PGothic" panose="020B0600070205080204" pitchFamily="34" charset="-128"/>
                <a:ea typeface="MS PGothic" panose="020B0600070205080204" pitchFamily="34" charset="-128"/>
              </a:rPr>
              <a:t>/</a:t>
            </a:r>
            <a:r>
              <a:rPr kumimoji="1" lang="en-US" altLang="ja-JP" sz="2400" dirty="0" err="1">
                <a:latin typeface="MS PGothic" panose="020B0600070205080204" pitchFamily="34" charset="-128"/>
                <a:ea typeface="MS PGothic" panose="020B0600070205080204" pitchFamily="34" charset="-128"/>
              </a:rPr>
              <a:t>gigazine</a:t>
            </a:r>
            <a:r>
              <a:rPr kumimoji="1" lang="en-US" altLang="ja-JP" sz="2400" dirty="0">
                <a:latin typeface="MS PGothic" panose="020B0600070205080204" pitchFamily="34" charset="-128"/>
                <a:ea typeface="MS PGothic" panose="020B0600070205080204" pitchFamily="34" charset="-128"/>
              </a:rPr>
              <a:t>/status/1638782686407036928, Last Access : 2024/3/1.</a:t>
            </a:r>
          </a:p>
          <a:p>
            <a:r>
              <a:rPr kumimoji="1" lang="en-US" altLang="ja-JP" sz="2400" dirty="0">
                <a:latin typeface="MS PGothic" panose="020B0600070205080204" pitchFamily="34" charset="-128"/>
                <a:ea typeface="MS PGothic" panose="020B0600070205080204" pitchFamily="34" charset="-128"/>
              </a:rPr>
              <a:t>[4] </a:t>
            </a:r>
            <a:r>
              <a:rPr lang="en" altLang="ja-JP" sz="2400" dirty="0" err="1">
                <a:solidFill>
                  <a:srgbClr val="111111"/>
                </a:solidFill>
                <a:latin typeface="MS PGothic" panose="020B0600070205080204" pitchFamily="34" charset="-128"/>
                <a:ea typeface="MS PGothic" panose="020B0600070205080204" pitchFamily="34" charset="-128"/>
              </a:rPr>
              <a:t>Z.Liu</a:t>
            </a:r>
            <a:r>
              <a:rPr lang="ja-JP" altLang="en-US" sz="2400">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et al</a:t>
            </a:r>
            <a:r>
              <a:rPr lang="ja-JP" altLang="en" sz="2400">
                <a:solidFill>
                  <a:srgbClr val="111111"/>
                </a:solidFill>
                <a:latin typeface="MS PGothic" panose="020B0600070205080204" pitchFamily="34" charset="-128"/>
                <a:ea typeface="MS PGothic" panose="020B0600070205080204" pitchFamily="34" charset="-128"/>
              </a:rPr>
              <a:t>，</a:t>
            </a:r>
            <a:r>
              <a:rPr lang="en" altLang="ja-JP" sz="2400" i="1" dirty="0">
                <a:solidFill>
                  <a:srgbClr val="111111"/>
                </a:solidFill>
                <a:latin typeface="MS PGothic" panose="020B0600070205080204" pitchFamily="34" charset="-128"/>
                <a:ea typeface="MS PGothic" panose="020B0600070205080204" pitchFamily="34" charset="-128"/>
              </a:rPr>
              <a:t>Proc</a:t>
            </a:r>
            <a:r>
              <a:rPr lang="ja-JP" altLang="en" sz="2400" i="1">
                <a:solidFill>
                  <a:srgbClr val="111111"/>
                </a:solidFill>
                <a:latin typeface="MS PGothic" panose="020B0600070205080204" pitchFamily="34" charset="-128"/>
                <a:ea typeface="MS PGothic" panose="020B0600070205080204" pitchFamily="34" charset="-128"/>
              </a:rPr>
              <a:t>．</a:t>
            </a:r>
            <a:r>
              <a:rPr lang="en" altLang="ja-JP" sz="2400" i="1" dirty="0">
                <a:solidFill>
                  <a:srgbClr val="111111"/>
                </a:solidFill>
                <a:latin typeface="MS PGothic" panose="020B0600070205080204" pitchFamily="34" charset="-128"/>
                <a:ea typeface="MS PGothic" panose="020B0600070205080204" pitchFamily="34" charset="-128"/>
              </a:rPr>
              <a:t>IEEE/CVF ICCV</a:t>
            </a:r>
            <a:r>
              <a:rPr lang="ja-JP" altLang="en" sz="2400" i="1">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pp.10012-10022</a:t>
            </a:r>
            <a:r>
              <a:rPr lang="ja-JP" altLang="en" sz="2400">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Oct</a:t>
            </a:r>
            <a:r>
              <a:rPr lang="ja-JP" altLang="en-US" sz="2400">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2021</a:t>
            </a:r>
            <a:r>
              <a:rPr lang="ja-JP" altLang="en-US" sz="2400">
                <a:solidFill>
                  <a:srgbClr val="111111"/>
                </a:solidFill>
                <a:latin typeface="MS PGothic" panose="020B0600070205080204" pitchFamily="34" charset="-128"/>
                <a:ea typeface="MS PGothic" panose="020B0600070205080204" pitchFamily="34" charset="-128"/>
              </a:rPr>
              <a:t>．</a:t>
            </a:r>
            <a:endParaRPr lang="en-US" altLang="ja-JP" sz="2400" dirty="0">
              <a:solidFill>
                <a:srgbClr val="111111"/>
              </a:solidFill>
              <a:latin typeface="MS PGothic" panose="020B0600070205080204" pitchFamily="34" charset="-128"/>
              <a:ea typeface="MS PGothic" panose="020B0600070205080204" pitchFamily="34" charset="-128"/>
            </a:endParaRPr>
          </a:p>
          <a:p>
            <a:r>
              <a:rPr lang="en-US" altLang="ja-JP" sz="2400" dirty="0">
                <a:solidFill>
                  <a:srgbClr val="111111"/>
                </a:solidFill>
                <a:latin typeface="MS PGothic" panose="020B0600070205080204" pitchFamily="34" charset="-128"/>
                <a:ea typeface="MS PGothic" panose="020B0600070205080204" pitchFamily="34" charset="-128"/>
              </a:rPr>
              <a:t>[5] P</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Young</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et al.</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i="1" dirty="0">
                <a:solidFill>
                  <a:srgbClr val="111111"/>
                </a:solidFill>
                <a:latin typeface="MS PGothic" panose="020B0600070205080204" pitchFamily="34" charset="-128"/>
                <a:ea typeface="MS PGothic" panose="020B0600070205080204" pitchFamily="34" charset="-128"/>
              </a:rPr>
              <a:t>TACL</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Vol.2, pp.67-78</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Feb</a:t>
            </a:r>
            <a:r>
              <a:rPr lang="ja-JP" altLang="en-US" sz="240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2014.</a:t>
            </a:r>
          </a:p>
        </p:txBody>
      </p:sp>
      <p:sp>
        <p:nvSpPr>
          <p:cNvPr id="8" name="テキスト ボックス 7">
            <a:extLst>
              <a:ext uri="{FF2B5EF4-FFF2-40B4-BE49-F238E27FC236}">
                <a16:creationId xmlns:a16="http://schemas.microsoft.com/office/drawing/2014/main" id="{D1BA0A21-5046-6A80-575C-A5CDE3DC98E4}"/>
              </a:ext>
            </a:extLst>
          </p:cNvPr>
          <p:cNvSpPr txBox="1"/>
          <p:nvPr/>
        </p:nvSpPr>
        <p:spPr>
          <a:xfrm>
            <a:off x="15406070" y="36403209"/>
            <a:ext cx="14741327" cy="3785652"/>
          </a:xfrm>
          <a:prstGeom prst="rect">
            <a:avLst/>
          </a:prstGeom>
          <a:noFill/>
        </p:spPr>
        <p:txBody>
          <a:bodyPr wrap="square" rtlCol="0">
            <a:spAutoFit/>
          </a:bodyPr>
          <a:lstStyle/>
          <a:p>
            <a:pPr algn="ctr"/>
            <a:r>
              <a:rPr kumimoji="1" lang="ja-JP" altLang="en-US" sz="3200" b="1">
                <a:latin typeface="MS PGothic" panose="020B0600070205080204" pitchFamily="34" charset="-128"/>
                <a:ea typeface="MS PGothic" panose="020B0600070205080204" pitchFamily="34" charset="-128"/>
              </a:rPr>
              <a:t>まとめ</a:t>
            </a:r>
            <a:endParaRPr kumimoji="1" lang="en-US" altLang="ja-JP" sz="3200" b="1"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が生成した画像であるか判別する</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を提案</a:t>
            </a:r>
            <a:endParaRPr kumimoji="1" lang="en-US" altLang="ja-JP" sz="3200"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提案手法では，新たな画像生成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の画像を学習した画像分類モデルを追加することで対応する</a:t>
            </a:r>
            <a:endParaRPr kumimoji="1" lang="en-US" altLang="ja-JP" sz="3200"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実験から，従来手法と比べ高い分類精度が得られた</a:t>
            </a:r>
            <a:endParaRPr kumimoji="1" lang="en-US" altLang="ja-JP" sz="3200"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endParaRPr kumimoji="1" lang="en-US" altLang="ja-JP" sz="1600" dirty="0">
              <a:latin typeface="MS PGothic" panose="020B0600070205080204" pitchFamily="34" charset="-128"/>
              <a:ea typeface="MS PGothic" panose="020B0600070205080204" pitchFamily="34" charset="-128"/>
            </a:endParaRPr>
          </a:p>
          <a:p>
            <a:pPr algn="ctr"/>
            <a:r>
              <a:rPr kumimoji="1" lang="ja-JP" altLang="en-US" sz="3200" b="1">
                <a:latin typeface="MS PGothic" panose="020B0600070205080204" pitchFamily="34" charset="-128"/>
                <a:ea typeface="MS PGothic" panose="020B0600070205080204" pitchFamily="34" charset="-128"/>
              </a:rPr>
              <a:t>今後の課題</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他の生成モデルの画像を提案手法にて追加学習し，実験を行う</a:t>
            </a:r>
            <a:endParaRPr kumimoji="1" lang="en-US" altLang="ja-JP" sz="3200" dirty="0">
              <a:latin typeface="MS PGothic" panose="020B0600070205080204" pitchFamily="34" charset="-128"/>
              <a:ea typeface="MS PGothic" panose="020B0600070205080204" pitchFamily="34" charset="-128"/>
            </a:endParaRPr>
          </a:p>
        </p:txBody>
      </p:sp>
      <p:sp>
        <p:nvSpPr>
          <p:cNvPr id="1127" name="テキスト ボックス 1126">
            <a:extLst>
              <a:ext uri="{FF2B5EF4-FFF2-40B4-BE49-F238E27FC236}">
                <a16:creationId xmlns:a16="http://schemas.microsoft.com/office/drawing/2014/main" id="{3C18FF6E-9050-C809-58E5-0F8B3D464A4F}"/>
              </a:ext>
            </a:extLst>
          </p:cNvPr>
          <p:cNvSpPr txBox="1"/>
          <p:nvPr/>
        </p:nvSpPr>
        <p:spPr>
          <a:xfrm>
            <a:off x="3604873" y="9188019"/>
            <a:ext cx="7902945"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1</a:t>
            </a:r>
            <a:r>
              <a:rPr kumimoji="1" lang="ja-JP" altLang="en-US" sz="3200">
                <a:latin typeface="MS PGothic" panose="020B0600070205080204" pitchFamily="34" charset="-128"/>
                <a:ea typeface="MS PGothic" panose="020B0600070205080204" pitchFamily="34" charset="-128"/>
              </a:rPr>
              <a:t>　生成画像の悪用例</a:t>
            </a:r>
            <a:r>
              <a:rPr kumimoji="1" lang="en-US" altLang="ja-JP" sz="3200" dirty="0">
                <a:latin typeface="MS PGothic" panose="020B0600070205080204" pitchFamily="34" charset="-128"/>
                <a:ea typeface="MS PGothic" panose="020B0600070205080204" pitchFamily="34" charset="-128"/>
              </a:rPr>
              <a:t>[2][3]</a:t>
            </a:r>
          </a:p>
        </p:txBody>
      </p:sp>
      <p:pic>
        <p:nvPicPr>
          <p:cNvPr id="12" name="Picture 2" descr="Tech Blog AIフェイク画像">
            <a:extLst>
              <a:ext uri="{FF2B5EF4-FFF2-40B4-BE49-F238E27FC236}">
                <a16:creationId xmlns:a16="http://schemas.microsoft.com/office/drawing/2014/main" id="{14F53C48-7236-2820-6719-54A7B8D7BD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618" y="4669922"/>
            <a:ext cx="5943312" cy="4544301"/>
          </a:xfrm>
          <a:prstGeom prst="rect">
            <a:avLst/>
          </a:prstGeom>
          <a:noFill/>
          <a:extLst>
            <a:ext uri="{909E8E84-426E-40DD-AFC4-6F175D3DCCD1}">
              <a14:hiddenFill xmlns:a14="http://schemas.microsoft.com/office/drawing/2010/main">
                <a:solidFill>
                  <a:srgbClr val="FFFFFF"/>
                </a:solidFill>
              </a14:hiddenFill>
            </a:ext>
          </a:extLst>
        </p:spPr>
      </p:pic>
      <p:pic>
        <p:nvPicPr>
          <p:cNvPr id="13" name="図 12">
            <a:extLst>
              <a:ext uri="{FF2B5EF4-FFF2-40B4-BE49-F238E27FC236}">
                <a16:creationId xmlns:a16="http://schemas.microsoft.com/office/drawing/2014/main" id="{CBE69408-8B3E-2B03-DD32-35D4B31B33FD}"/>
              </a:ext>
            </a:extLst>
          </p:cNvPr>
          <p:cNvPicPr>
            <a:picLocks noChangeAspect="1"/>
          </p:cNvPicPr>
          <p:nvPr/>
        </p:nvPicPr>
        <p:blipFill rotWithShape="1">
          <a:blip r:embed="rId4"/>
          <a:srcRect b="29442"/>
          <a:stretch/>
        </p:blipFill>
        <p:spPr>
          <a:xfrm>
            <a:off x="7556346" y="4590623"/>
            <a:ext cx="6252960" cy="4582194"/>
          </a:xfrm>
          <a:prstGeom prst="rect">
            <a:avLst/>
          </a:prstGeom>
        </p:spPr>
      </p:pic>
      <p:sp>
        <p:nvSpPr>
          <p:cNvPr id="1045" name="正方形/長方形 1044">
            <a:extLst>
              <a:ext uri="{FF2B5EF4-FFF2-40B4-BE49-F238E27FC236}">
                <a16:creationId xmlns:a16="http://schemas.microsoft.com/office/drawing/2014/main" id="{F17868E2-937B-FE9D-E724-8CBDAC3E603D}"/>
              </a:ext>
            </a:extLst>
          </p:cNvPr>
          <p:cNvSpPr/>
          <p:nvPr/>
        </p:nvSpPr>
        <p:spPr>
          <a:xfrm>
            <a:off x="15395211" y="35550698"/>
            <a:ext cx="1478615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まとめと今後の課題</a:t>
            </a:r>
            <a:endParaRPr kumimoji="1" lang="ja-JP" altLang="en-US" sz="4400" dirty="0">
              <a:latin typeface="MS PGothic" panose="020B0600070205080204" pitchFamily="34" charset="-128"/>
              <a:ea typeface="MS PGothic" panose="020B0600070205080204" pitchFamily="34" charset="-128"/>
            </a:endParaRPr>
          </a:p>
        </p:txBody>
      </p:sp>
      <p:sp>
        <p:nvSpPr>
          <p:cNvPr id="1110" name="正方形/長方形 1109">
            <a:extLst>
              <a:ext uri="{FF2B5EF4-FFF2-40B4-BE49-F238E27FC236}">
                <a16:creationId xmlns:a16="http://schemas.microsoft.com/office/drawing/2014/main" id="{231588DD-CE95-B173-72D0-94F055CCB801}"/>
              </a:ext>
            </a:extLst>
          </p:cNvPr>
          <p:cNvSpPr/>
          <p:nvPr/>
        </p:nvSpPr>
        <p:spPr>
          <a:xfrm>
            <a:off x="189669" y="9936381"/>
            <a:ext cx="14693732"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既存研究</a:t>
            </a:r>
          </a:p>
        </p:txBody>
      </p:sp>
      <p:sp>
        <p:nvSpPr>
          <p:cNvPr id="10" name="正方形/長方形 9">
            <a:extLst>
              <a:ext uri="{FF2B5EF4-FFF2-40B4-BE49-F238E27FC236}">
                <a16:creationId xmlns:a16="http://schemas.microsoft.com/office/drawing/2014/main" id="{21FE6EDC-F2B9-D704-C876-499A7B3BFDBC}"/>
              </a:ext>
            </a:extLst>
          </p:cNvPr>
          <p:cNvSpPr/>
          <p:nvPr/>
        </p:nvSpPr>
        <p:spPr>
          <a:xfrm>
            <a:off x="15431633" y="2317429"/>
            <a:ext cx="14717304"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dirty="0">
                <a:latin typeface="MS PGothic" panose="020B0600070205080204" pitchFamily="34" charset="-128"/>
                <a:ea typeface="MS PGothic" panose="020B0600070205080204" pitchFamily="34" charset="-128"/>
              </a:rPr>
              <a:t>実験</a:t>
            </a:r>
          </a:p>
        </p:txBody>
      </p:sp>
      <p:sp>
        <p:nvSpPr>
          <p:cNvPr id="15" name="テキスト ボックス 14">
            <a:extLst>
              <a:ext uri="{FF2B5EF4-FFF2-40B4-BE49-F238E27FC236}">
                <a16:creationId xmlns:a16="http://schemas.microsoft.com/office/drawing/2014/main" id="{009227B9-3FEF-B943-BFB9-22F6AC5983B0}"/>
              </a:ext>
            </a:extLst>
          </p:cNvPr>
          <p:cNvSpPr txBox="1"/>
          <p:nvPr/>
        </p:nvSpPr>
        <p:spPr>
          <a:xfrm>
            <a:off x="15492154" y="3223338"/>
            <a:ext cx="14625650" cy="33024425"/>
          </a:xfrm>
          <a:prstGeom prst="rect">
            <a:avLst/>
          </a:prstGeom>
          <a:noFill/>
          <a:ln w="38100">
            <a:noFill/>
          </a:ln>
        </p:spPr>
        <p:txBody>
          <a:bodyPr wrap="square" rtlCol="0">
            <a:spAutoFit/>
          </a:bodyPr>
          <a:lstStyle/>
          <a:p>
            <a:pPr indent="457200" algn="ctr"/>
            <a:r>
              <a:rPr kumimoji="1" lang="ja-JP" altLang="en-US" sz="3200" b="1" dirty="0">
                <a:latin typeface="MS PGothic" panose="020B0600070205080204" pitchFamily="34" charset="-128"/>
                <a:ea typeface="MS PGothic" panose="020B0600070205080204" pitchFamily="34" charset="-128"/>
              </a:rPr>
              <a:t>実験</a:t>
            </a:r>
            <a:r>
              <a:rPr kumimoji="1" lang="en-US" altLang="ja-JP" sz="3200" b="1" dirty="0">
                <a:latin typeface="MS PGothic" panose="020B0600070205080204" pitchFamily="34" charset="-128"/>
                <a:ea typeface="MS PGothic" panose="020B0600070205080204" pitchFamily="34" charset="-128"/>
              </a:rPr>
              <a:t>1</a:t>
            </a:r>
          </a:p>
          <a:p>
            <a:pPr indent="457200" algn="just"/>
            <a:r>
              <a:rPr kumimoji="1" lang="ja-JP" altLang="en-US" sz="3200" dirty="0">
                <a:latin typeface="MS PGothic" panose="020B0600070205080204" pitchFamily="34" charset="-128"/>
                <a:ea typeface="MS PGothic" panose="020B0600070205080204" pitchFamily="34" charset="-128"/>
              </a:rPr>
              <a:t>従来手法</a:t>
            </a:r>
            <a:r>
              <a:rPr kumimoji="1" lang="en-US" altLang="ja-JP" sz="3200" dirty="0">
                <a:latin typeface="MS PGothic" panose="020B0600070205080204" pitchFamily="34" charset="-128"/>
                <a:ea typeface="MS PGothic" panose="020B0600070205080204" pitchFamily="34" charset="-128"/>
              </a:rPr>
              <a:t>[1]</a:t>
            </a:r>
            <a:r>
              <a:rPr kumimoji="1" lang="ja-JP" altLang="en-US" sz="3200" dirty="0">
                <a:latin typeface="MS PGothic" panose="020B0600070205080204" pitchFamily="34" charset="-128"/>
                <a:ea typeface="MS PGothic" panose="020B0600070205080204" pitchFamily="34" charset="-128"/>
              </a:rPr>
              <a:t>と提案手法で生成画像か現実画像か判別する二値分類</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を学習し，その結果を比較する</a:t>
            </a:r>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dirty="0">
                <a:latin typeface="MS PGothic" panose="020B0600070205080204" pitchFamily="34" charset="-128"/>
                <a:ea typeface="MS PGothic" panose="020B0600070205080204" pitchFamily="34" charset="-128"/>
              </a:rPr>
              <a:t>比較手法</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一種類の画像生成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が生成した画像を学習した識別器</a:t>
            </a:r>
            <a:r>
              <a:rPr kumimoji="1" lang="en-US" altLang="ja-JP" sz="3200" dirty="0">
                <a:latin typeface="MS PGothic" panose="020B0600070205080204" pitchFamily="34" charset="-128"/>
                <a:ea typeface="MS PGothic" panose="020B0600070205080204" pitchFamily="34" charset="-128"/>
              </a:rPr>
              <a:t>[1]</a:t>
            </a: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全ての画像生成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が生成した画像を学習した識別器</a:t>
            </a:r>
            <a:r>
              <a:rPr kumimoji="1" lang="en-US" altLang="ja-JP" sz="3200" dirty="0">
                <a:latin typeface="MS PGothic" panose="020B0600070205080204" pitchFamily="34" charset="-128"/>
                <a:ea typeface="MS PGothic" panose="020B0600070205080204" pitchFamily="34" charset="-128"/>
              </a:rPr>
              <a:t>(All)</a:t>
            </a: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提案手法</a:t>
            </a:r>
            <a:r>
              <a:rPr kumimoji="1" lang="en-US" altLang="ja-JP" sz="3200" dirty="0">
                <a:latin typeface="MS PGothic" panose="020B0600070205080204" pitchFamily="34" charset="-128"/>
                <a:ea typeface="MS PGothic" panose="020B0600070205080204" pitchFamily="34" charset="-128"/>
              </a:rPr>
              <a:t>(Ours)</a:t>
            </a: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dirty="0">
                <a:latin typeface="MS PGothic" panose="020B0600070205080204" pitchFamily="34" charset="-128"/>
                <a:ea typeface="MS PGothic" panose="020B0600070205080204" pitchFamily="34" charset="-128"/>
              </a:rPr>
              <a:t>使用するデータ</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en-US" altLang="ja-JP" sz="3200" dirty="0">
                <a:latin typeface="MS PGothic" panose="020B0600070205080204" pitchFamily="34" charset="-128"/>
                <a:ea typeface="MS PGothic" panose="020B0600070205080204" pitchFamily="34" charset="-128"/>
              </a:rPr>
              <a:t>[1]</a:t>
            </a:r>
            <a:r>
              <a:rPr kumimoji="1" lang="ja-JP" altLang="en-US" sz="3200" dirty="0">
                <a:latin typeface="MS PGothic" panose="020B0600070205080204" pitchFamily="34" charset="-128"/>
                <a:ea typeface="MS PGothic" panose="020B0600070205080204" pitchFamily="34" charset="-128"/>
              </a:rPr>
              <a:t>の公開したデータセットを使用</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en-US" altLang="ja-JP" sz="3200" dirty="0">
                <a:latin typeface="MS PGothic" panose="020B0600070205080204" pitchFamily="34" charset="-128"/>
                <a:ea typeface="MS PGothic" panose="020B0600070205080204" pitchFamily="34" charset="-128"/>
              </a:rPr>
              <a:t>[1]</a:t>
            </a:r>
            <a:r>
              <a:rPr kumimoji="1" lang="ja-JP" altLang="en-US" sz="3200" dirty="0">
                <a:latin typeface="MS PGothic" panose="020B0600070205080204" pitchFamily="34" charset="-128"/>
                <a:ea typeface="MS PGothic" panose="020B0600070205080204" pitchFamily="34" charset="-128"/>
              </a:rPr>
              <a:t>のデータセットは</a:t>
            </a:r>
            <a:r>
              <a:rPr kumimoji="1" lang="en-US" altLang="ja-JP" sz="3200" dirty="0">
                <a:latin typeface="MS PGothic" panose="020B0600070205080204" pitchFamily="34" charset="-128"/>
                <a:ea typeface="MS PGothic" panose="020B0600070205080204" pitchFamily="34" charset="-128"/>
              </a:rPr>
              <a:t>ImageNet</a:t>
            </a:r>
            <a:r>
              <a:rPr kumimoji="1" lang="ja-JP" altLang="en-US" sz="3200" dirty="0">
                <a:latin typeface="MS PGothic" panose="020B0600070205080204" pitchFamily="34" charset="-128"/>
                <a:ea typeface="MS PGothic" panose="020B0600070205080204" pitchFamily="34" charset="-128"/>
              </a:rPr>
              <a:t>のカテゴリで画像が生成されているため，</a:t>
            </a:r>
            <a:r>
              <a:rPr kumimoji="1" lang="en-US" altLang="ja-JP" sz="3200" dirty="0">
                <a:latin typeface="MS PGothic" panose="020B0600070205080204" pitchFamily="34" charset="-128"/>
                <a:ea typeface="MS PGothic" panose="020B0600070205080204" pitchFamily="34" charset="-128"/>
              </a:rPr>
              <a:t>ImageNet</a:t>
            </a:r>
            <a:r>
              <a:rPr kumimoji="1" lang="ja-JP" altLang="en-US" sz="3200" dirty="0">
                <a:latin typeface="MS PGothic" panose="020B0600070205080204" pitchFamily="34" charset="-128"/>
                <a:ea typeface="MS PGothic" panose="020B0600070205080204" pitchFamily="34" charset="-128"/>
              </a:rPr>
              <a:t>のカテゴリ外の自然画像として</a:t>
            </a:r>
            <a:r>
              <a:rPr kumimoji="1" lang="en-US" altLang="ja-JP" sz="3200" dirty="0">
                <a:latin typeface="MS PGothic" panose="020B0600070205080204" pitchFamily="34" charset="-128"/>
                <a:ea typeface="MS PGothic" panose="020B0600070205080204" pitchFamily="34" charset="-128"/>
              </a:rPr>
              <a:t>Flickr30K[5]</a:t>
            </a:r>
            <a:r>
              <a:rPr kumimoji="1" lang="ja-JP" altLang="en-US" sz="3200" dirty="0">
                <a:latin typeface="MS PGothic" panose="020B0600070205080204" pitchFamily="34" charset="-128"/>
                <a:ea typeface="MS PGothic" panose="020B0600070205080204" pitchFamily="34" charset="-128"/>
              </a:rPr>
              <a:t>を検証に使用</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r>
              <a:rPr kumimoji="1" lang="en-US" altLang="ja-JP" sz="3200" dirty="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縦軸はテストデータ，横軸は識別器，各値は分類精度</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提案手法は生成画像に対する分類精度が高い</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提案手法では現実画像に対する分類精度が低い</a:t>
            </a:r>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dirty="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全ての識別器が生成画像でないと判別した場合のみ，現実画像と判別するため</a:t>
            </a:r>
            <a:endParaRPr kumimoji="1" lang="en-US" altLang="ja-JP" sz="2000" dirty="0">
              <a:latin typeface="MS PGothic" panose="020B0600070205080204" pitchFamily="34" charset="-128"/>
              <a:ea typeface="MS PGothic" panose="020B0600070205080204" pitchFamily="34" charset="-128"/>
            </a:endParaRPr>
          </a:p>
          <a:p>
            <a:pPr algn="just"/>
            <a:endParaRPr kumimoji="1" lang="en-US" altLang="ja-JP" sz="1600" dirty="0">
              <a:latin typeface="MS PGothic" panose="020B0600070205080204" pitchFamily="34" charset="-128"/>
              <a:ea typeface="MS PGothic" panose="020B0600070205080204" pitchFamily="34" charset="-128"/>
            </a:endParaRPr>
          </a:p>
          <a:p>
            <a:pPr algn="ctr"/>
            <a:r>
              <a:rPr kumimoji="1" lang="ja-JP" altLang="en-US" sz="3200" b="1" dirty="0">
                <a:latin typeface="MS PGothic" panose="020B0600070205080204" pitchFamily="34" charset="-128"/>
                <a:ea typeface="MS PGothic" panose="020B0600070205080204" pitchFamily="34" charset="-128"/>
              </a:rPr>
              <a:t>実験</a:t>
            </a:r>
            <a:r>
              <a:rPr kumimoji="1" lang="en-US" altLang="ja-JP" sz="3200" b="1" dirty="0">
                <a:latin typeface="MS PGothic" panose="020B0600070205080204" pitchFamily="34" charset="-128"/>
                <a:ea typeface="MS PGothic" panose="020B0600070205080204" pitchFamily="34" charset="-128"/>
              </a:rPr>
              <a:t>2</a:t>
            </a:r>
          </a:p>
          <a:p>
            <a:pPr algn="just"/>
            <a:r>
              <a:rPr kumimoji="1" lang="ja-JP" altLang="en-US" sz="3200" dirty="0">
                <a:latin typeface="MS PGothic" panose="020B0600070205080204" pitchFamily="34" charset="-128"/>
                <a:ea typeface="MS PGothic" panose="020B0600070205080204" pitchFamily="34" charset="-128"/>
              </a:rPr>
              <a:t>未対応の生成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の生成画像に対する提案手法の性能を調査する</a:t>
            </a:r>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dirty="0">
                <a:latin typeface="MS PGothic" panose="020B0600070205080204" pitchFamily="34" charset="-128"/>
                <a:ea typeface="MS PGothic" panose="020B0600070205080204" pitchFamily="34" charset="-128"/>
              </a:rPr>
              <a:t>異なる画像生成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に対応した画像分類</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を増やしていき，その精度を比較した</a:t>
            </a:r>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画像分類</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を増やすことで現実画像に対する精度が下がっている</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一部の画像生成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の生成画像を学習した画像分類モデルが，他の画像生成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の生成画像に対し高い精度が得られている</a:t>
            </a:r>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dirty="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一部の画像生成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が類似した傾向を持つ画像を生成していると考えられる</a:t>
            </a:r>
            <a:endParaRPr kumimoji="1" lang="en-US" altLang="ja-JP" sz="3200" dirty="0">
              <a:latin typeface="MS PGothic" panose="020B0600070205080204" pitchFamily="34" charset="-128"/>
              <a:ea typeface="MS PGothic" panose="020B0600070205080204" pitchFamily="34" charset="-128"/>
            </a:endParaRPr>
          </a:p>
        </p:txBody>
      </p:sp>
      <mc:AlternateContent xmlns:mc="http://schemas.openxmlformats.org/markup-compatibility/2006" xmlns:a14="http://schemas.microsoft.com/office/drawing/2010/main">
        <mc:Choice Requires="a14">
          <p:graphicFrame>
            <p:nvGraphicFramePr>
              <p:cNvPr id="17" name="表 16">
                <a:extLst>
                  <a:ext uri="{FF2B5EF4-FFF2-40B4-BE49-F238E27FC236}">
                    <a16:creationId xmlns:a16="http://schemas.microsoft.com/office/drawing/2014/main" id="{372B6A31-0AAB-25D3-B6E7-91C0490B0FC8}"/>
                  </a:ext>
                </a:extLst>
              </p:cNvPr>
              <p:cNvGraphicFramePr>
                <a:graphicFrameLocks noGrp="1"/>
              </p:cNvGraphicFramePr>
              <p:nvPr>
                <p:extLst>
                  <p:ext uri="{D42A27DB-BD31-4B8C-83A1-F6EECF244321}">
                    <p14:modId xmlns:p14="http://schemas.microsoft.com/office/powerpoint/2010/main" val="2361308204"/>
                  </p:ext>
                </p:extLst>
              </p:nvPr>
            </p:nvGraphicFramePr>
            <p:xfrm>
              <a:off x="15447335" y="5100224"/>
              <a:ext cx="14713600" cy="2895600"/>
            </p:xfrm>
            <a:graphic>
              <a:graphicData uri="http://schemas.openxmlformats.org/drawingml/2006/table">
                <a:tbl>
                  <a:tblPr firstRow="1" bandRow="1">
                    <a:tableStyleId>{5C22544A-7EE6-4342-B048-85BDC9FD1C3A}</a:tableStyleId>
                  </a:tblPr>
                  <a:tblGrid>
                    <a:gridCol w="3662017">
                      <a:extLst>
                        <a:ext uri="{9D8B030D-6E8A-4147-A177-3AD203B41FA5}">
                          <a16:colId xmlns:a16="http://schemas.microsoft.com/office/drawing/2014/main" val="1302717659"/>
                        </a:ext>
                      </a:extLst>
                    </a:gridCol>
                    <a:gridCol w="3662017">
                      <a:extLst>
                        <a:ext uri="{9D8B030D-6E8A-4147-A177-3AD203B41FA5}">
                          <a16:colId xmlns:a16="http://schemas.microsoft.com/office/drawing/2014/main" val="1335503367"/>
                        </a:ext>
                      </a:extLst>
                    </a:gridCol>
                    <a:gridCol w="7389566">
                      <a:extLst>
                        <a:ext uri="{9D8B030D-6E8A-4147-A177-3AD203B41FA5}">
                          <a16:colId xmlns:a16="http://schemas.microsoft.com/office/drawing/2014/main" val="118972529"/>
                        </a:ext>
                      </a:extLst>
                    </a:gridCol>
                  </a:tblGrid>
                  <a:tr h="403115">
                    <a:tc rowSpan="2">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データ</a:t>
                          </a:r>
                          <a:r>
                            <a:rPr kumimoji="1" lang="en-US" altLang="ja-JP" sz="3200" b="0" dirty="0">
                              <a:solidFill>
                                <a:schemeClr val="tx1"/>
                              </a:solidFill>
                              <a:latin typeface="MS PGothic" panose="020B0600070205080204" pitchFamily="34" charset="-128"/>
                              <a:ea typeface="MS PGothic" panose="020B0600070205080204" pitchFamily="34" charset="-128"/>
                            </a:rPr>
                            <a:t>[1]</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生成画像</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en-US" altLang="ja-JP" sz="3200" b="0" dirty="0">
                              <a:solidFill>
                                <a:schemeClr val="tx1"/>
                              </a:solidFill>
                              <a:latin typeface="MS PGothic" panose="020B0600070205080204" pitchFamily="34" charset="-128"/>
                              <a:ea typeface="MS PGothic" panose="020B0600070205080204" pitchFamily="34" charset="-128"/>
                            </a:rPr>
                            <a:t>814,000</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(train)</a:t>
                          </a:r>
                          <a:r>
                            <a:rPr kumimoji="1" lang="ja-JP" altLang="en-US" sz="3200" b="0">
                              <a:solidFill>
                                <a:schemeClr val="tx1"/>
                              </a:solidFill>
                              <a:latin typeface="MS PGothic" panose="020B0600070205080204" pitchFamily="34" charset="-128"/>
                              <a:ea typeface="MS PGothic" panose="020B0600070205080204" pitchFamily="34" charset="-128"/>
                            </a:rPr>
                            <a:t> </a:t>
                          </a:r>
                          <a:r>
                            <a:rPr kumimoji="1" lang="en-US" altLang="ja-JP" sz="3200" b="0" dirty="0">
                              <a:solidFill>
                                <a:schemeClr val="tx1"/>
                              </a:solidFill>
                              <a:latin typeface="MS PGothic" panose="020B0600070205080204" pitchFamily="34" charset="-128"/>
                              <a:ea typeface="MS PGothic" panose="020B0600070205080204" pitchFamily="34" charset="-128"/>
                            </a:rPr>
                            <a:t>/ 32,000</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(test)</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142047">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現実画像</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3200" dirty="0"/>
                            <a:t>153,274</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(train) / </a:t>
                          </a:r>
                          <a:r>
                            <a:rPr kumimoji="1" lang="en-US" altLang="ja-JP" sz="3200" dirty="0"/>
                            <a:t>39,783</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(test)</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278545">
                    <a:tc gridSpan="2">
                      <a:txBody>
                        <a:bodyPr/>
                        <a:lstStyle/>
                        <a:p>
                          <a:pPr algn="ctr"/>
                          <a:r>
                            <a:rPr kumimoji="1" lang="ja-JP" altLang="en-US" sz="32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Adam(</a:t>
                          </a:r>
                          <a14:m>
                            <m:oMath xmlns:m="http://schemas.openxmlformats.org/officeDocument/2006/math">
                              <m:r>
                                <a:rPr kumimoji="1" lang="en-US" altLang="ja-JP" sz="3200" b="0" i="1" smtClean="0">
                                  <a:latin typeface="Cambria Math" panose="02040503050406030204" pitchFamily="18" charset="0"/>
                                  <a:ea typeface="Cambria Math" panose="02040503050406030204" pitchFamily="18" charset="0"/>
                                </a:rPr>
                                <m:t>𝜂</m:t>
                              </m:r>
                              <m:r>
                                <a:rPr kumimoji="1" lang="en-US" altLang="ja-JP" sz="3200" b="0" i="1" smtClean="0">
                                  <a:latin typeface="Cambria Math" panose="02040503050406030204" pitchFamily="18" charset="0"/>
                                  <a:ea typeface="Cambria Math" panose="02040503050406030204" pitchFamily="18" charset="0"/>
                                </a:rPr>
                                <m:t>=0.0001</m:t>
                              </m:r>
                            </m:oMath>
                          </a14:m>
                          <a:r>
                            <a:rPr kumimoji="1" lang="en-US" altLang="ja-JP" sz="3200" b="0" dirty="0">
                              <a:latin typeface="MS PGothic" panose="020B0600070205080204" pitchFamily="34" charset="-128"/>
                              <a:ea typeface="MS PGothic" panose="020B0600070205080204" pitchFamily="34" charset="-128"/>
                            </a:rPr>
                            <a:t>)</a:t>
                          </a:r>
                          <a:endParaRPr kumimoji="1" lang="ja-JP" altLang="en-US" sz="32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801116897"/>
                      </a:ext>
                    </a:extLst>
                  </a:tr>
                  <a:tr h="395164">
                    <a:tc gridSpan="2">
                      <a:txBody>
                        <a:bodyPr/>
                        <a:lstStyle/>
                        <a:p>
                          <a:pPr algn="ctr"/>
                          <a:r>
                            <a:rPr kumimoji="1" lang="ja-JP" altLang="en-US" sz="3200" b="0">
                              <a:latin typeface="MS PGothic" panose="020B0600070205080204" pitchFamily="34" charset="-128"/>
                              <a:ea typeface="MS PGothic" panose="020B0600070205080204" pitchFamily="34" charset="-128"/>
                            </a:rPr>
                            <a:t>ミニバッチサイズ</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512</a:t>
                          </a:r>
                          <a:endParaRPr kumimoji="1" lang="en" altLang="ja-JP" sz="32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213609">
                    <a:tc gridSpan="2">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3200" b="0">
                              <a:latin typeface="MS PGothic" panose="020B0600070205080204" pitchFamily="34" charset="-128"/>
                              <a:ea typeface="MS PGothic" panose="020B0600070205080204" pitchFamily="34" charset="-128"/>
                            </a:rPr>
                            <a:t>学習反復回数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10</a:t>
                          </a:r>
                          <a:endParaRPr kumimoji="1" lang="en" altLang="ja-JP" sz="32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bl>
              </a:graphicData>
            </a:graphic>
          </p:graphicFrame>
        </mc:Choice>
        <mc:Fallback xmlns="">
          <p:graphicFrame>
            <p:nvGraphicFramePr>
              <p:cNvPr id="17" name="表 16">
                <a:extLst>
                  <a:ext uri="{FF2B5EF4-FFF2-40B4-BE49-F238E27FC236}">
                    <a16:creationId xmlns:a16="http://schemas.microsoft.com/office/drawing/2014/main" id="{372B6A31-0AAB-25D3-B6E7-91C0490B0FC8}"/>
                  </a:ext>
                </a:extLst>
              </p:cNvPr>
              <p:cNvGraphicFramePr>
                <a:graphicFrameLocks noGrp="1"/>
              </p:cNvGraphicFramePr>
              <p:nvPr>
                <p:extLst>
                  <p:ext uri="{D42A27DB-BD31-4B8C-83A1-F6EECF244321}">
                    <p14:modId xmlns:p14="http://schemas.microsoft.com/office/powerpoint/2010/main" val="2361308204"/>
                  </p:ext>
                </p:extLst>
              </p:nvPr>
            </p:nvGraphicFramePr>
            <p:xfrm>
              <a:off x="15447335" y="5100224"/>
              <a:ext cx="14713600" cy="2895600"/>
            </p:xfrm>
            <a:graphic>
              <a:graphicData uri="http://schemas.openxmlformats.org/drawingml/2006/table">
                <a:tbl>
                  <a:tblPr firstRow="1" bandRow="1">
                    <a:tableStyleId>{5C22544A-7EE6-4342-B048-85BDC9FD1C3A}</a:tableStyleId>
                  </a:tblPr>
                  <a:tblGrid>
                    <a:gridCol w="3662017">
                      <a:extLst>
                        <a:ext uri="{9D8B030D-6E8A-4147-A177-3AD203B41FA5}">
                          <a16:colId xmlns:a16="http://schemas.microsoft.com/office/drawing/2014/main" val="1302717659"/>
                        </a:ext>
                      </a:extLst>
                    </a:gridCol>
                    <a:gridCol w="3662017">
                      <a:extLst>
                        <a:ext uri="{9D8B030D-6E8A-4147-A177-3AD203B41FA5}">
                          <a16:colId xmlns:a16="http://schemas.microsoft.com/office/drawing/2014/main" val="1335503367"/>
                        </a:ext>
                      </a:extLst>
                    </a:gridCol>
                    <a:gridCol w="7389566">
                      <a:extLst>
                        <a:ext uri="{9D8B030D-6E8A-4147-A177-3AD203B41FA5}">
                          <a16:colId xmlns:a16="http://schemas.microsoft.com/office/drawing/2014/main" val="118972529"/>
                        </a:ext>
                      </a:extLst>
                    </a:gridCol>
                  </a:tblGrid>
                  <a:tr h="579120">
                    <a:tc rowSpan="2">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データ</a:t>
                          </a:r>
                          <a:r>
                            <a:rPr kumimoji="1" lang="en-US" altLang="ja-JP" sz="3200" b="0" dirty="0">
                              <a:solidFill>
                                <a:schemeClr val="tx1"/>
                              </a:solidFill>
                              <a:latin typeface="MS PGothic" panose="020B0600070205080204" pitchFamily="34" charset="-128"/>
                              <a:ea typeface="MS PGothic" panose="020B0600070205080204" pitchFamily="34" charset="-128"/>
                            </a:rPr>
                            <a:t>[1]</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生成画像</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en-US" altLang="ja-JP" sz="3200" b="0" dirty="0">
                              <a:solidFill>
                                <a:schemeClr val="tx1"/>
                              </a:solidFill>
                              <a:latin typeface="MS PGothic" panose="020B0600070205080204" pitchFamily="34" charset="-128"/>
                              <a:ea typeface="MS PGothic" panose="020B0600070205080204" pitchFamily="34" charset="-128"/>
                            </a:rPr>
                            <a:t>814,000</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(train)</a:t>
                          </a:r>
                          <a:r>
                            <a:rPr kumimoji="1" lang="ja-JP" altLang="en-US" sz="3200" b="0">
                              <a:solidFill>
                                <a:schemeClr val="tx1"/>
                              </a:solidFill>
                              <a:latin typeface="MS PGothic" panose="020B0600070205080204" pitchFamily="34" charset="-128"/>
                              <a:ea typeface="MS PGothic" panose="020B0600070205080204" pitchFamily="34" charset="-128"/>
                            </a:rPr>
                            <a:t> </a:t>
                          </a:r>
                          <a:r>
                            <a:rPr kumimoji="1" lang="en-US" altLang="ja-JP" sz="3200" b="0" dirty="0">
                              <a:solidFill>
                                <a:schemeClr val="tx1"/>
                              </a:solidFill>
                              <a:latin typeface="MS PGothic" panose="020B0600070205080204" pitchFamily="34" charset="-128"/>
                              <a:ea typeface="MS PGothic" panose="020B0600070205080204" pitchFamily="34" charset="-128"/>
                            </a:rPr>
                            <a:t>/ 32,000</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(test)</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579120">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現実画像</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3200" dirty="0"/>
                            <a:t>153,274</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(train) / </a:t>
                          </a:r>
                          <a:r>
                            <a:rPr kumimoji="1" lang="en-US" altLang="ja-JP" sz="3200" dirty="0"/>
                            <a:t>39,783</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(test)</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579120">
                    <a:tc gridSpan="2">
                      <a:txBody>
                        <a:bodyPr/>
                        <a:lstStyle/>
                        <a:p>
                          <a:pPr algn="ctr"/>
                          <a:r>
                            <a:rPr kumimoji="1" lang="ja-JP" altLang="en-US" sz="32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endParaRPr lang="ja-JP"/>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blipFill>
                          <a:blip r:embed="rId5"/>
                          <a:stretch>
                            <a:fillRect l="-99313" t="-217778" r="-172" b="-237778"/>
                          </a:stretch>
                        </a:blipFill>
                      </a:tcPr>
                    </a:tc>
                    <a:extLst>
                      <a:ext uri="{0D108BD9-81ED-4DB2-BD59-A6C34878D82A}">
                        <a16:rowId xmlns:a16="http://schemas.microsoft.com/office/drawing/2014/main" val="1801116897"/>
                      </a:ext>
                    </a:extLst>
                  </a:tr>
                  <a:tr h="579120">
                    <a:tc gridSpan="2">
                      <a:txBody>
                        <a:bodyPr/>
                        <a:lstStyle/>
                        <a:p>
                          <a:pPr algn="ctr"/>
                          <a:r>
                            <a:rPr kumimoji="1" lang="ja-JP" altLang="en-US" sz="3200" b="0">
                              <a:latin typeface="MS PGothic" panose="020B0600070205080204" pitchFamily="34" charset="-128"/>
                              <a:ea typeface="MS PGothic" panose="020B0600070205080204" pitchFamily="34" charset="-128"/>
                            </a:rPr>
                            <a:t>ミニバッチサイズ</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512</a:t>
                          </a:r>
                          <a:endParaRPr kumimoji="1" lang="en" altLang="ja-JP" sz="32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579120">
                    <a:tc gridSpan="2">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3200" b="0">
                              <a:latin typeface="MS PGothic" panose="020B0600070205080204" pitchFamily="34" charset="-128"/>
                              <a:ea typeface="MS PGothic" panose="020B0600070205080204" pitchFamily="34" charset="-128"/>
                            </a:rPr>
                            <a:t>学習反復回数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10</a:t>
                          </a:r>
                          <a:endParaRPr kumimoji="1" lang="en" altLang="ja-JP" sz="32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bl>
              </a:graphicData>
            </a:graphic>
          </p:graphicFrame>
        </mc:Fallback>
      </mc:AlternateContent>
      <p:sp>
        <p:nvSpPr>
          <p:cNvPr id="18" name="テキスト ボックス 17">
            <a:extLst>
              <a:ext uri="{FF2B5EF4-FFF2-40B4-BE49-F238E27FC236}">
                <a16:creationId xmlns:a16="http://schemas.microsoft.com/office/drawing/2014/main" id="{E1CD4892-75F1-4BE3-0AD4-2EBA11B77958}"/>
              </a:ext>
            </a:extLst>
          </p:cNvPr>
          <p:cNvSpPr txBox="1"/>
          <p:nvPr/>
        </p:nvSpPr>
        <p:spPr>
          <a:xfrm>
            <a:off x="20420150" y="4515449"/>
            <a:ext cx="4740269"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1</a:t>
            </a:r>
            <a:r>
              <a:rPr kumimoji="1" lang="ja-JP" altLang="en-US" sz="320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実験条件</a:t>
            </a:r>
            <a:endParaRPr kumimoji="1" lang="en-US" altLang="ja-JP" sz="3200" dirty="0">
              <a:latin typeface="MS PGothic" panose="020B0600070205080204" pitchFamily="34" charset="-128"/>
              <a:ea typeface="MS PGothic" panose="020B0600070205080204" pitchFamily="34" charset="-128"/>
            </a:endParaRPr>
          </a:p>
        </p:txBody>
      </p:sp>
      <p:sp>
        <p:nvSpPr>
          <p:cNvPr id="19" name="テキスト ボックス 18">
            <a:extLst>
              <a:ext uri="{FF2B5EF4-FFF2-40B4-BE49-F238E27FC236}">
                <a16:creationId xmlns:a16="http://schemas.microsoft.com/office/drawing/2014/main" id="{15493BAA-E9DF-8706-0783-01D03D2B42B5}"/>
              </a:ext>
            </a:extLst>
          </p:cNvPr>
          <p:cNvSpPr txBox="1"/>
          <p:nvPr/>
        </p:nvSpPr>
        <p:spPr>
          <a:xfrm>
            <a:off x="169876" y="10815493"/>
            <a:ext cx="14681200" cy="15358050"/>
          </a:xfrm>
          <a:prstGeom prst="rect">
            <a:avLst/>
          </a:prstGeom>
          <a:noFill/>
        </p:spPr>
        <p:txBody>
          <a:bodyPr wrap="square" rtlCol="0">
            <a:spAutoFit/>
          </a:bodyPr>
          <a:lstStyle/>
          <a:p>
            <a:pPr algn="just"/>
            <a:r>
              <a:rPr kumimoji="1" lang="en" altLang="ja-JP" sz="3200" dirty="0" err="1">
                <a:latin typeface="MS PGothic" panose="020B0600070205080204" pitchFamily="34" charset="-128"/>
                <a:ea typeface="MS PGothic" panose="020B0600070205080204" pitchFamily="34" charset="-128"/>
              </a:rPr>
              <a:t>GenImage</a:t>
            </a:r>
            <a:r>
              <a:rPr kumimoji="1" lang="en" altLang="ja-JP" sz="3200" dirty="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1</a:t>
            </a:r>
            <a:r>
              <a:rPr kumimoji="1" lang="en" altLang="ja-JP" sz="3200" dirty="0">
                <a:latin typeface="MS PGothic" panose="020B0600070205080204" pitchFamily="34" charset="-128"/>
                <a:ea typeface="MS PGothic" panose="020B0600070205080204" pitchFamily="34" charset="-128"/>
              </a:rPr>
              <a:t>]</a:t>
            </a:r>
          </a:p>
          <a:p>
            <a:pPr marL="571500" indent="-571500" algn="just">
              <a:buFont typeface="Arial" panose="020B0604020202020204" pitchFamily="34" charset="0"/>
              <a:buChar char="•"/>
            </a:pPr>
            <a:r>
              <a:rPr kumimoji="1" lang="en" altLang="ja-JP" sz="3200" dirty="0" err="1">
                <a:latin typeface="MS PGothic" panose="020B0600070205080204" pitchFamily="34" charset="-128"/>
                <a:ea typeface="MS PGothic" panose="020B0600070205080204" pitchFamily="34" charset="-128"/>
              </a:rPr>
              <a:t>BigGAN</a:t>
            </a:r>
            <a:r>
              <a:rPr kumimoji="1" lang="ja-JP" altLang="en-US" sz="3200">
                <a:latin typeface="MS PGothic" panose="020B0600070205080204" pitchFamily="34" charset="-128"/>
                <a:ea typeface="MS PGothic" panose="020B0600070205080204" pitchFamily="34" charset="-128"/>
              </a:rPr>
              <a:t>や</a:t>
            </a:r>
            <a:r>
              <a:rPr kumimoji="1" lang="en-US" altLang="ja-JP" sz="3200" dirty="0">
                <a:latin typeface="MS PGothic" panose="020B0600070205080204" pitchFamily="34" charset="-128"/>
                <a:ea typeface="MS PGothic" panose="020B0600070205080204" pitchFamily="34" charset="-128"/>
              </a:rPr>
              <a:t>Stable Diffusion(SD)</a:t>
            </a:r>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GLIDE</a:t>
            </a:r>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ADM</a:t>
            </a:r>
            <a:r>
              <a:rPr kumimoji="1" lang="ja-JP" altLang="en-US" sz="3200">
                <a:latin typeface="MS PGothic" panose="020B0600070205080204" pitchFamily="34" charset="-128"/>
                <a:ea typeface="MS PGothic" panose="020B0600070205080204" pitchFamily="34" charset="-128"/>
              </a:rPr>
              <a:t>等の</a:t>
            </a:r>
            <a:r>
              <a:rPr kumimoji="1" lang="en-US" altLang="ja-JP" sz="3200" dirty="0">
                <a:latin typeface="MS PGothic" panose="020B0600070205080204" pitchFamily="34" charset="-128"/>
                <a:ea typeface="MS PGothic" panose="020B0600070205080204" pitchFamily="34" charset="-128"/>
              </a:rPr>
              <a:t>8</a:t>
            </a:r>
            <a:r>
              <a:rPr kumimoji="1" lang="ja-JP" altLang="en-US" sz="3200">
                <a:latin typeface="MS PGothic" panose="020B0600070205080204" pitchFamily="34" charset="-128"/>
                <a:ea typeface="MS PGothic" panose="020B0600070205080204" pitchFamily="34" charset="-128"/>
              </a:rPr>
              <a:t>種類の画像生成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の生成画像で構成されるデータセットを提案</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en-US" altLang="ja-JP" sz="3200" dirty="0">
                <a:latin typeface="MS PGothic" panose="020B0600070205080204" pitchFamily="34" charset="-128"/>
                <a:ea typeface="MS PGothic" panose="020B0600070205080204" pitchFamily="34" charset="-128"/>
              </a:rPr>
              <a:t>ImageNet</a:t>
            </a:r>
            <a:r>
              <a:rPr kumimoji="1" lang="ja-JP" altLang="en-US" sz="3200">
                <a:latin typeface="MS PGothic" panose="020B0600070205080204" pitchFamily="34" charset="-128"/>
                <a:ea typeface="MS PGothic" panose="020B0600070205080204" pitchFamily="34" charset="-128"/>
              </a:rPr>
              <a:t>のラベルを各画像生成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に入力し画像を生成</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en" altLang="ja-JP" sz="3200" dirty="0">
                <a:latin typeface="MS PGothic" panose="020B0600070205080204" pitchFamily="34" charset="-128"/>
                <a:ea typeface="MS PGothic" panose="020B0600070205080204" pitchFamily="34" charset="-128"/>
              </a:rPr>
              <a:t>ResNet50</a:t>
            </a:r>
            <a:r>
              <a:rPr kumimoji="1" lang="ja-JP" altLang="en-US" sz="3200">
                <a:latin typeface="MS PGothic" panose="020B0600070205080204" pitchFamily="34" charset="-128"/>
                <a:ea typeface="MS PGothic" panose="020B0600070205080204" pitchFamily="34" charset="-128"/>
              </a:rPr>
              <a:t>や</a:t>
            </a:r>
            <a:r>
              <a:rPr kumimoji="1" lang="en-US" altLang="ja-JP" sz="3200" dirty="0" err="1">
                <a:latin typeface="MS PGothic" panose="020B0600070205080204" pitchFamily="34" charset="-128"/>
                <a:ea typeface="MS PGothic" panose="020B0600070205080204" pitchFamily="34" charset="-128"/>
              </a:rPr>
              <a:t>Swin</a:t>
            </a:r>
            <a:r>
              <a:rPr kumimoji="1" lang="en-US" altLang="ja-JP" sz="3200" dirty="0">
                <a:latin typeface="MS PGothic" panose="020B0600070205080204" pitchFamily="34" charset="-128"/>
                <a:ea typeface="MS PGothic" panose="020B0600070205080204" pitchFamily="34" charset="-128"/>
              </a:rPr>
              <a:t>-Transformer(</a:t>
            </a:r>
            <a:r>
              <a:rPr kumimoji="1" lang="en-US" altLang="ja-JP" sz="3200" dirty="0" err="1">
                <a:latin typeface="MS PGothic" panose="020B0600070205080204" pitchFamily="34" charset="-128"/>
                <a:ea typeface="MS PGothic" panose="020B0600070205080204" pitchFamily="34" charset="-128"/>
              </a:rPr>
              <a:t>Swin</a:t>
            </a:r>
            <a:r>
              <a:rPr kumimoji="1" lang="en-US" altLang="ja-JP" sz="3200" dirty="0">
                <a:latin typeface="MS PGothic" panose="020B0600070205080204" pitchFamily="34" charset="-128"/>
                <a:ea typeface="MS PGothic" panose="020B0600070205080204" pitchFamily="34" charset="-128"/>
              </a:rPr>
              <a:t>-T)[4]</a:t>
            </a:r>
            <a:r>
              <a:rPr kumimoji="1" lang="ja-JP" altLang="en-US" sz="3200">
                <a:latin typeface="MS PGothic" panose="020B0600070205080204" pitchFamily="34" charset="-128"/>
                <a:ea typeface="MS PGothic" panose="020B0600070205080204" pitchFamily="34" charset="-128"/>
              </a:rPr>
              <a:t>等の</a:t>
            </a:r>
            <a:r>
              <a:rPr kumimoji="1" lang="en-US" altLang="ja-JP" sz="3200" dirty="0">
                <a:latin typeface="MS PGothic" panose="020B0600070205080204" pitchFamily="34" charset="-128"/>
                <a:ea typeface="MS PGothic" panose="020B0600070205080204" pitchFamily="34" charset="-128"/>
              </a:rPr>
              <a:t>7</a:t>
            </a:r>
            <a:r>
              <a:rPr kumimoji="1" lang="ja-JP" altLang="en-US" sz="3200">
                <a:latin typeface="MS PGothic" panose="020B0600070205080204" pitchFamily="34" charset="-128"/>
                <a:ea typeface="MS PGothic" panose="020B0600070205080204" pitchFamily="34" charset="-128"/>
              </a:rPr>
              <a:t>種類の画像分類モデルで提案したデータセットを学習</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各画像分類モデルは，一種類の画像生成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の画像と</a:t>
            </a:r>
            <a:r>
              <a:rPr kumimoji="1" lang="en-US" altLang="ja-JP" sz="3200" dirty="0">
                <a:latin typeface="MS PGothic" panose="020B0600070205080204" pitchFamily="34" charset="-128"/>
                <a:ea typeface="MS PGothic" panose="020B0600070205080204" pitchFamily="34" charset="-128"/>
              </a:rPr>
              <a:t>ImageNet</a:t>
            </a:r>
            <a:r>
              <a:rPr kumimoji="1" lang="ja-JP" altLang="en-US" sz="3200">
                <a:latin typeface="MS PGothic" panose="020B0600070205080204" pitchFamily="34" charset="-128"/>
                <a:ea typeface="MS PGothic" panose="020B0600070205080204" pitchFamily="34" charset="-128"/>
              </a:rPr>
              <a:t>の画像を学習し，生成画像か現実画像か判別する二値分類</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を実現</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algn="just"/>
            <a:endParaRPr kumimoji="1" lang="en" altLang="ja-JP" sz="3200" dirty="0">
              <a:latin typeface="MS PGothic" panose="020B0600070205080204" pitchFamily="34" charset="-128"/>
              <a:ea typeface="MS PGothic" panose="020B0600070205080204" pitchFamily="34" charset="-128"/>
            </a:endParaRPr>
          </a:p>
          <a:p>
            <a:pPr algn="just"/>
            <a:endParaRPr kumimoji="1" lang="en" altLang="ja-JP" sz="3200" dirty="0">
              <a:latin typeface="MS PGothic" panose="020B0600070205080204" pitchFamily="34" charset="-128"/>
              <a:ea typeface="MS PGothic" panose="020B0600070205080204" pitchFamily="34" charset="-128"/>
            </a:endParaRPr>
          </a:p>
          <a:p>
            <a:pPr algn="just"/>
            <a:endParaRPr kumimoji="1" lang="en" altLang="ja-JP" sz="3200" dirty="0">
              <a:latin typeface="MS PGothic" panose="020B0600070205080204" pitchFamily="34" charset="-128"/>
              <a:ea typeface="MS PGothic" panose="020B0600070205080204" pitchFamily="34" charset="-128"/>
            </a:endParaRPr>
          </a:p>
          <a:p>
            <a:pPr algn="just"/>
            <a:r>
              <a:rPr kumimoji="1" lang="en" altLang="ja-JP" sz="3200" dirty="0" err="1">
                <a:latin typeface="MS PGothic" panose="020B0600070205080204" pitchFamily="34" charset="-128"/>
                <a:ea typeface="MS PGothic" panose="020B0600070205080204" pitchFamily="34" charset="-128"/>
              </a:rPr>
              <a:t>Swin</a:t>
            </a:r>
            <a:r>
              <a:rPr kumimoji="1" lang="en" altLang="ja-JP" sz="3200" dirty="0">
                <a:latin typeface="MS PGothic" panose="020B0600070205080204" pitchFamily="34" charset="-128"/>
                <a:ea typeface="MS PGothic" panose="020B0600070205080204" pitchFamily="34" charset="-128"/>
              </a:rPr>
              <a:t>-Transformer [</a:t>
            </a:r>
            <a:r>
              <a:rPr kumimoji="1" lang="en-US" altLang="ja-JP" sz="3200" dirty="0">
                <a:latin typeface="MS PGothic" panose="020B0600070205080204" pitchFamily="34" charset="-128"/>
                <a:ea typeface="MS PGothic" panose="020B0600070205080204" pitchFamily="34" charset="-128"/>
              </a:rPr>
              <a:t>4</a:t>
            </a:r>
            <a:r>
              <a:rPr kumimoji="1" lang="en" altLang="ja-JP" sz="3200" dirty="0">
                <a:latin typeface="MS PGothic" panose="020B0600070205080204" pitchFamily="34" charset="-128"/>
                <a:ea typeface="MS PGothic" panose="020B0600070205080204" pitchFamily="34" charset="-128"/>
              </a:rPr>
              <a:t>]</a:t>
            </a:r>
          </a:p>
          <a:p>
            <a:pPr marL="571500" indent="-571500" algn="just">
              <a:buFont typeface="Arial" panose="020B0604020202020204" pitchFamily="34" charset="0"/>
              <a:buChar char="•"/>
            </a:pPr>
            <a:r>
              <a:rPr kumimoji="1" lang="en" altLang="ja-JP" sz="3200" dirty="0">
                <a:latin typeface="MS PGothic" panose="020B0600070205080204" pitchFamily="34" charset="-128"/>
                <a:ea typeface="MS PGothic" panose="020B0600070205080204" pitchFamily="34" charset="-128"/>
              </a:rPr>
              <a:t>Vision-Transformer</a:t>
            </a:r>
            <a:r>
              <a:rPr kumimoji="1" lang="ja-JP" altLang="en-US" sz="3200">
                <a:latin typeface="MS PGothic" panose="020B0600070205080204" pitchFamily="34" charset="-128"/>
                <a:ea typeface="MS PGothic" panose="020B0600070205080204" pitchFamily="34" charset="-128"/>
              </a:rPr>
              <a:t>を発展させた画像分類モデル</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画像を小さな画像</a:t>
            </a:r>
            <a:r>
              <a:rPr kumimoji="1" lang="en-US" altLang="ja-JP" sz="3200" dirty="0">
                <a:latin typeface="MS PGothic" panose="020B0600070205080204" pitchFamily="34" charset="-128"/>
                <a:ea typeface="MS PGothic" panose="020B0600070205080204" pitchFamily="34" charset="-128"/>
              </a:rPr>
              <a:t>(</a:t>
            </a:r>
            <a:r>
              <a:rPr kumimoji="1" lang="ja-JP" altLang="en-US" sz="3200">
                <a:latin typeface="MS PGothic" panose="020B0600070205080204" pitchFamily="34" charset="-128"/>
                <a:ea typeface="MS PGothic" panose="020B0600070205080204" pitchFamily="34" charset="-128"/>
              </a:rPr>
              <a:t>パッチ</a:t>
            </a:r>
            <a:r>
              <a:rPr kumimoji="1" lang="en-US" altLang="ja-JP" sz="3200" dirty="0">
                <a:latin typeface="MS PGothic" panose="020B0600070205080204" pitchFamily="34" charset="-128"/>
                <a:ea typeface="MS PGothic" panose="020B0600070205080204" pitchFamily="34" charset="-128"/>
              </a:rPr>
              <a:t>)</a:t>
            </a:r>
            <a:r>
              <a:rPr kumimoji="1" lang="ja-JP" altLang="en-US" sz="3200">
                <a:latin typeface="MS PGothic" panose="020B0600070205080204" pitchFamily="34" charset="-128"/>
                <a:ea typeface="MS PGothic" panose="020B0600070205080204" pitchFamily="34" charset="-128"/>
              </a:rPr>
              <a:t>に分割し，いくつかのパッチの集まり</a:t>
            </a:r>
            <a:r>
              <a:rPr kumimoji="1" lang="en-US" altLang="ja-JP" sz="3200" dirty="0">
                <a:latin typeface="MS PGothic" panose="020B0600070205080204" pitchFamily="34" charset="-128"/>
                <a:ea typeface="MS PGothic" panose="020B0600070205080204" pitchFamily="34" charset="-128"/>
              </a:rPr>
              <a:t>(</a:t>
            </a:r>
            <a:r>
              <a:rPr kumimoji="1" lang="ja-JP" altLang="en-US" sz="3200">
                <a:latin typeface="MS PGothic" panose="020B0600070205080204" pitchFamily="34" charset="-128"/>
                <a:ea typeface="MS PGothic" panose="020B0600070205080204" pitchFamily="34" charset="-128"/>
              </a:rPr>
              <a:t>ウィンドウ</a:t>
            </a:r>
            <a:r>
              <a:rPr kumimoji="1" lang="en-US" altLang="ja-JP" sz="3200" dirty="0">
                <a:latin typeface="MS PGothic" panose="020B0600070205080204" pitchFamily="34" charset="-128"/>
                <a:ea typeface="MS PGothic" panose="020B0600070205080204" pitchFamily="34" charset="-128"/>
              </a:rPr>
              <a:t>)</a:t>
            </a:r>
            <a:r>
              <a:rPr kumimoji="1" lang="ja-JP" altLang="en-US" sz="3200">
                <a:latin typeface="MS PGothic" panose="020B0600070205080204" pitchFamily="34" charset="-128"/>
                <a:ea typeface="MS PGothic" panose="020B0600070205080204" pitchFamily="34" charset="-128"/>
              </a:rPr>
              <a:t>内のパッチ同士で</a:t>
            </a:r>
            <a:r>
              <a:rPr kumimoji="1" lang="en-US" altLang="ja-JP" sz="3200" dirty="0">
                <a:latin typeface="MS PGothic" panose="020B0600070205080204" pitchFamily="34" charset="-128"/>
                <a:ea typeface="MS PGothic" panose="020B0600070205080204" pitchFamily="34" charset="-128"/>
              </a:rPr>
              <a:t>Self-Attention</a:t>
            </a:r>
            <a:r>
              <a:rPr kumimoji="1" lang="ja-JP" altLang="en-US" sz="3200">
                <a:latin typeface="MS PGothic" panose="020B0600070205080204" pitchFamily="34" charset="-128"/>
                <a:ea typeface="MS PGothic" panose="020B0600070205080204" pitchFamily="34" charset="-128"/>
              </a:rPr>
              <a:t>を計算する</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ウィンドウはレイヤーごとに移動し，パッチはレイヤーごとに大きくなる</a:t>
            </a:r>
            <a:endParaRPr kumimoji="1" lang="en-US" altLang="ja-JP" sz="3200" dirty="0">
              <a:latin typeface="MS PGothic" panose="020B0600070205080204" pitchFamily="34" charset="-128"/>
              <a:ea typeface="MS PGothic" panose="020B0600070205080204" pitchFamily="34" charset="-128"/>
            </a:endParaRPr>
          </a:p>
        </p:txBody>
      </p:sp>
      <p:sp>
        <p:nvSpPr>
          <p:cNvPr id="27" name="正方形/長方形 26">
            <a:extLst>
              <a:ext uri="{FF2B5EF4-FFF2-40B4-BE49-F238E27FC236}">
                <a16:creationId xmlns:a16="http://schemas.microsoft.com/office/drawing/2014/main" id="{86B831B7-DCD1-B308-5957-17CAACD82C23}"/>
              </a:ext>
            </a:extLst>
          </p:cNvPr>
          <p:cNvSpPr/>
          <p:nvPr/>
        </p:nvSpPr>
        <p:spPr>
          <a:xfrm>
            <a:off x="155368" y="30959898"/>
            <a:ext cx="14681200" cy="11285612"/>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E4557E11-B7EC-051F-66BA-FAA1414DB28D}"/>
              </a:ext>
            </a:extLst>
          </p:cNvPr>
          <p:cNvSpPr/>
          <p:nvPr/>
        </p:nvSpPr>
        <p:spPr>
          <a:xfrm>
            <a:off x="131765" y="30539863"/>
            <a:ext cx="14726935" cy="94169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dirty="0">
                <a:latin typeface="MS PGothic" panose="020B0600070205080204" pitchFamily="34" charset="-128"/>
                <a:ea typeface="MS PGothic" panose="020B0600070205080204" pitchFamily="34" charset="-128"/>
              </a:rPr>
              <a:t>提案手法</a:t>
            </a:r>
          </a:p>
        </p:txBody>
      </p:sp>
      <p:sp>
        <p:nvSpPr>
          <p:cNvPr id="30" name="テキスト ボックス 29">
            <a:extLst>
              <a:ext uri="{FF2B5EF4-FFF2-40B4-BE49-F238E27FC236}">
                <a16:creationId xmlns:a16="http://schemas.microsoft.com/office/drawing/2014/main" id="{B092B6B2-E58B-B00C-56BE-E62918178983}"/>
              </a:ext>
            </a:extLst>
          </p:cNvPr>
          <p:cNvSpPr txBox="1"/>
          <p:nvPr/>
        </p:nvSpPr>
        <p:spPr>
          <a:xfrm>
            <a:off x="4089404" y="37700917"/>
            <a:ext cx="6884481"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5</a:t>
            </a:r>
            <a:r>
              <a:rPr kumimoji="1" lang="ja-JP" altLang="en-US" sz="320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提案手法の構造</a:t>
            </a:r>
            <a:endParaRPr kumimoji="1" lang="en-US" altLang="ja-JP" sz="3200" dirty="0">
              <a:latin typeface="MS PGothic" panose="020B0600070205080204" pitchFamily="34" charset="-128"/>
              <a:ea typeface="MS PGothic" panose="020B0600070205080204" pitchFamily="34" charset="-128"/>
            </a:endParaRPr>
          </a:p>
        </p:txBody>
      </p:sp>
      <p:pic>
        <p:nvPicPr>
          <p:cNvPr id="36" name="図 35">
            <a:extLst>
              <a:ext uri="{FF2B5EF4-FFF2-40B4-BE49-F238E27FC236}">
                <a16:creationId xmlns:a16="http://schemas.microsoft.com/office/drawing/2014/main" id="{06342E4F-494A-2B5F-96A5-906175D96025}"/>
              </a:ext>
            </a:extLst>
          </p:cNvPr>
          <p:cNvPicPr>
            <a:picLocks noChangeAspect="1"/>
          </p:cNvPicPr>
          <p:nvPr/>
        </p:nvPicPr>
        <p:blipFill rotWithShape="1">
          <a:blip r:embed="rId6"/>
          <a:srcRect l="61" t="5382" r="-61" b="1296"/>
          <a:stretch/>
        </p:blipFill>
        <p:spPr>
          <a:xfrm>
            <a:off x="1050130" y="25598171"/>
            <a:ext cx="13141791" cy="4242509"/>
          </a:xfrm>
          <a:prstGeom prst="rect">
            <a:avLst/>
          </a:prstGeom>
        </p:spPr>
      </p:pic>
      <p:sp>
        <p:nvSpPr>
          <p:cNvPr id="37" name="テキスト ボックス 36">
            <a:extLst>
              <a:ext uri="{FF2B5EF4-FFF2-40B4-BE49-F238E27FC236}">
                <a16:creationId xmlns:a16="http://schemas.microsoft.com/office/drawing/2014/main" id="{8CE8578A-6466-390B-85E4-6DDFF9716878}"/>
              </a:ext>
            </a:extLst>
          </p:cNvPr>
          <p:cNvSpPr txBox="1"/>
          <p:nvPr/>
        </p:nvSpPr>
        <p:spPr>
          <a:xfrm>
            <a:off x="2252278" y="29840680"/>
            <a:ext cx="10583036"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4</a:t>
            </a:r>
            <a:r>
              <a:rPr kumimoji="1" lang="ja-JP" altLang="en-US" sz="3200">
                <a:latin typeface="MS PGothic" panose="020B0600070205080204" pitchFamily="34" charset="-128"/>
                <a:ea typeface="MS PGothic" panose="020B0600070205080204" pitchFamily="34" charset="-128"/>
              </a:rPr>
              <a:t>　</a:t>
            </a:r>
            <a:r>
              <a:rPr kumimoji="1" lang="en-US" altLang="ja-JP" sz="3200" dirty="0" err="1">
                <a:latin typeface="MS PGothic" panose="020B0600070205080204" pitchFamily="34" charset="-128"/>
                <a:ea typeface="MS PGothic" panose="020B0600070205080204" pitchFamily="34" charset="-128"/>
              </a:rPr>
              <a:t>Swin</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a:latin typeface="MS PGothic" panose="020B0600070205080204" pitchFamily="34" charset="-128"/>
                <a:ea typeface="MS PGothic" panose="020B0600070205080204" pitchFamily="34" charset="-128"/>
              </a:rPr>
              <a:t>の構造</a:t>
            </a:r>
            <a:r>
              <a:rPr kumimoji="1" lang="en-US" altLang="ja-JP" sz="3200" dirty="0">
                <a:latin typeface="MS PGothic" panose="020B0600070205080204" pitchFamily="34" charset="-128"/>
                <a:ea typeface="MS PGothic" panose="020B0600070205080204" pitchFamily="34" charset="-128"/>
              </a:rPr>
              <a:t>[4]</a:t>
            </a:r>
          </a:p>
        </p:txBody>
      </p:sp>
      <p:sp>
        <p:nvSpPr>
          <p:cNvPr id="47" name="テキスト ボックス 46">
            <a:extLst>
              <a:ext uri="{FF2B5EF4-FFF2-40B4-BE49-F238E27FC236}">
                <a16:creationId xmlns:a16="http://schemas.microsoft.com/office/drawing/2014/main" id="{A06536A5-8EF5-0B71-E352-CEA016F4B1D0}"/>
              </a:ext>
            </a:extLst>
          </p:cNvPr>
          <p:cNvSpPr txBox="1"/>
          <p:nvPr/>
        </p:nvSpPr>
        <p:spPr>
          <a:xfrm>
            <a:off x="4713174" y="22668785"/>
            <a:ext cx="5815705" cy="584775"/>
          </a:xfrm>
          <a:prstGeom prst="rect">
            <a:avLst/>
          </a:prstGeom>
          <a:noFill/>
        </p:spPr>
        <p:txBody>
          <a:bodyPr wrap="square" rtlCol="0">
            <a:spAutoFit/>
          </a:bodyPr>
          <a:lstStyle/>
          <a:p>
            <a:pPr algn="ctr"/>
            <a:r>
              <a:rPr kumimoji="1" lang="ja-JP" altLang="en-US" sz="3200" dirty="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3</a:t>
            </a:r>
            <a:r>
              <a:rPr kumimoji="1" lang="ja-JP" altLang="en-US" sz="3200" dirty="0">
                <a:latin typeface="MS PGothic" panose="020B0600070205080204" pitchFamily="34" charset="-128"/>
                <a:ea typeface="MS PGothic" panose="020B0600070205080204" pitchFamily="34" charset="-128"/>
              </a:rPr>
              <a:t>　既存の分類手法</a:t>
            </a:r>
          </a:p>
        </p:txBody>
      </p:sp>
      <p:sp>
        <p:nvSpPr>
          <p:cNvPr id="48" name="テキスト ボックス 47">
            <a:extLst>
              <a:ext uri="{FF2B5EF4-FFF2-40B4-BE49-F238E27FC236}">
                <a16:creationId xmlns:a16="http://schemas.microsoft.com/office/drawing/2014/main" id="{13152BD2-1810-1C59-2390-B690359EF5AB}"/>
              </a:ext>
            </a:extLst>
          </p:cNvPr>
          <p:cNvSpPr txBox="1"/>
          <p:nvPr/>
        </p:nvSpPr>
        <p:spPr>
          <a:xfrm>
            <a:off x="20163507" y="13395602"/>
            <a:ext cx="5253551"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2</a:t>
            </a:r>
            <a:r>
              <a:rPr kumimoji="1" lang="ja-JP" altLang="en-US" sz="3200">
                <a:latin typeface="MS PGothic" panose="020B0600070205080204" pitchFamily="34" charset="-128"/>
                <a:ea typeface="MS PGothic" panose="020B0600070205080204" pitchFamily="34" charset="-128"/>
              </a:rPr>
              <a:t>　使用するデータ</a:t>
            </a:r>
          </a:p>
        </p:txBody>
      </p:sp>
      <p:sp>
        <p:nvSpPr>
          <p:cNvPr id="7" name="テキスト ボックス 6">
            <a:extLst>
              <a:ext uri="{FF2B5EF4-FFF2-40B4-BE49-F238E27FC236}">
                <a16:creationId xmlns:a16="http://schemas.microsoft.com/office/drawing/2014/main" id="{9B3DA79D-0677-72AA-9A0F-CA4E9E8C83F9}"/>
              </a:ext>
            </a:extLst>
          </p:cNvPr>
          <p:cNvSpPr txBox="1"/>
          <p:nvPr/>
        </p:nvSpPr>
        <p:spPr>
          <a:xfrm>
            <a:off x="149793" y="31481553"/>
            <a:ext cx="14685817" cy="4524315"/>
          </a:xfrm>
          <a:prstGeom prst="rect">
            <a:avLst/>
          </a:prstGeom>
          <a:noFill/>
        </p:spPr>
        <p:txBody>
          <a:bodyPr wrap="square" rtlCol="0">
            <a:spAutoFit/>
          </a:bodyPr>
          <a:lstStyle/>
          <a:p>
            <a:pPr marL="571500" indent="-571500" algn="just">
              <a:buFont typeface="Arial" panose="020B0604020202020204" pitchFamily="34" charset="0"/>
              <a:buChar char="•"/>
            </a:pPr>
            <a:r>
              <a:rPr kumimoji="1" lang="en-US" altLang="ja-JP" sz="3200" dirty="0" err="1">
                <a:latin typeface="MS PGothic" panose="020B0600070205080204" pitchFamily="34" charset="-128"/>
                <a:ea typeface="MS PGothic" panose="020B0600070205080204" pitchFamily="34" charset="-128"/>
              </a:rPr>
              <a:t>Swin</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a:latin typeface="MS PGothic" panose="020B0600070205080204" pitchFamily="34" charset="-128"/>
                <a:ea typeface="MS PGothic" panose="020B0600070205080204" pitchFamily="34" charset="-128"/>
              </a:rPr>
              <a:t>を画像分類モデルとする</a:t>
            </a:r>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 [1]</a:t>
            </a:r>
            <a:r>
              <a:rPr kumimoji="1" lang="ja-JP" altLang="en-US" sz="3200">
                <a:latin typeface="MS PGothic" panose="020B0600070205080204" pitchFamily="34" charset="-128"/>
                <a:ea typeface="MS PGothic" panose="020B0600070205080204" pitchFamily="34" charset="-128"/>
              </a:rPr>
              <a:t>において，</a:t>
            </a:r>
            <a:r>
              <a:rPr kumimoji="1" lang="en-US" altLang="ja-JP" sz="3200" dirty="0" err="1">
                <a:latin typeface="MS PGothic" panose="020B0600070205080204" pitchFamily="34" charset="-128"/>
                <a:ea typeface="MS PGothic" panose="020B0600070205080204" pitchFamily="34" charset="-128"/>
              </a:rPr>
              <a:t>Siwn</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a:latin typeface="MS PGothic" panose="020B0600070205080204" pitchFamily="34" charset="-128"/>
                <a:ea typeface="MS PGothic" panose="020B0600070205080204" pitchFamily="34" charset="-128"/>
              </a:rPr>
              <a:t>が最も分類精度が高いため</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事前学習済みの</a:t>
            </a:r>
            <a:r>
              <a:rPr kumimoji="1" lang="en-US" altLang="ja-JP" sz="3200" dirty="0" err="1">
                <a:latin typeface="MS PGothic" panose="020B0600070205080204" pitchFamily="34" charset="-128"/>
                <a:ea typeface="MS PGothic" panose="020B0600070205080204" pitchFamily="34" charset="-128"/>
              </a:rPr>
              <a:t>Swin</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a:latin typeface="MS PGothic" panose="020B0600070205080204" pitchFamily="34" charset="-128"/>
                <a:ea typeface="MS PGothic" panose="020B0600070205080204" pitchFamily="34" charset="-128"/>
              </a:rPr>
              <a:t>の重みを凍結し，加えた出力層のみ学習する</a:t>
            </a:r>
            <a:endParaRPr kumimoji="1" lang="en-US" altLang="ja-JP" sz="3200"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１種類の画像生成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ごとに</a:t>
            </a:r>
            <a:r>
              <a:rPr kumimoji="1" lang="en-US" altLang="ja-JP" sz="3200" dirty="0" err="1">
                <a:latin typeface="MS PGothic" panose="020B0600070205080204" pitchFamily="34" charset="-128"/>
                <a:ea typeface="MS PGothic" panose="020B0600070205080204" pitchFamily="34" charset="-128"/>
              </a:rPr>
              <a:t>Swin</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a:latin typeface="MS PGothic" panose="020B0600070205080204" pitchFamily="34" charset="-128"/>
                <a:ea typeface="MS PGothic" panose="020B0600070205080204" pitchFamily="34" charset="-128"/>
              </a:rPr>
              <a:t>を学習する</a:t>
            </a:r>
            <a:endParaRPr kumimoji="1" lang="en-US" altLang="ja-JP" sz="3200"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推論時は，学習した各画像分類モデルに画像を入力し，</a:t>
            </a:r>
            <a:endParaRPr kumimoji="1" lang="en-US" altLang="ja-JP" sz="3200" dirty="0">
              <a:latin typeface="MS PGothic" panose="020B0600070205080204" pitchFamily="34" charset="-128"/>
              <a:ea typeface="MS PGothic" panose="020B0600070205080204" pitchFamily="34" charset="-128"/>
            </a:endParaRPr>
          </a:p>
          <a:p>
            <a:r>
              <a:rPr kumimoji="1" lang="ja-JP" altLang="en-US" sz="3200">
                <a:latin typeface="MS PGothic" panose="020B0600070205080204" pitchFamily="34" charset="-128"/>
                <a:ea typeface="MS PGothic" panose="020B0600070205080204" pitchFamily="34" charset="-128"/>
              </a:rPr>
              <a:t>　　少なくとも</a:t>
            </a:r>
            <a:r>
              <a:rPr kumimoji="1" lang="en-US" altLang="ja-JP" sz="3200" dirty="0">
                <a:latin typeface="MS PGothic" panose="020B0600070205080204" pitchFamily="34" charset="-128"/>
                <a:ea typeface="MS PGothic" panose="020B0600070205080204" pitchFamily="34" charset="-128"/>
              </a:rPr>
              <a:t>1</a:t>
            </a:r>
            <a:r>
              <a:rPr kumimoji="1" lang="ja-JP" altLang="en-US" sz="3200">
                <a:latin typeface="MS PGothic" panose="020B0600070205080204" pitchFamily="34" charset="-128"/>
                <a:ea typeface="MS PGothic" panose="020B0600070205080204" pitchFamily="34" charset="-128"/>
              </a:rPr>
              <a:t>つのモデルが</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だと判別した場合は生成画像，</a:t>
            </a:r>
            <a:endParaRPr kumimoji="1" lang="en-US" altLang="ja-JP" sz="3200" dirty="0">
              <a:latin typeface="MS PGothic" panose="020B0600070205080204" pitchFamily="34" charset="-128"/>
              <a:ea typeface="MS PGothic" panose="020B0600070205080204" pitchFamily="34" charset="-128"/>
            </a:endParaRPr>
          </a:p>
          <a:p>
            <a:r>
              <a:rPr kumimoji="1" lang="ja-JP" altLang="en-US" sz="3200">
                <a:latin typeface="MS PGothic" panose="020B0600070205080204" pitchFamily="34" charset="-128"/>
                <a:ea typeface="MS PGothic" panose="020B0600070205080204" pitchFamily="34" charset="-128"/>
              </a:rPr>
              <a:t>　　全てのモデルが</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でないと判別した場合は現実画像とする</a:t>
            </a:r>
            <a:endParaRPr kumimoji="1" lang="en-US" altLang="ja-JP" sz="3200"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新たな画像生成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が公開された場合，その</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の生成画像を学習した画像分類モデルを追加することで対応できる</a:t>
            </a:r>
            <a:endParaRPr kumimoji="1" lang="en-US" altLang="ja-JP" sz="3200" dirty="0">
              <a:latin typeface="MS PGothic" panose="020B0600070205080204" pitchFamily="34" charset="-128"/>
              <a:ea typeface="MS PGothic" panose="020B0600070205080204" pitchFamily="34" charset="-128"/>
            </a:endParaRPr>
          </a:p>
        </p:txBody>
      </p:sp>
      <p:sp>
        <p:nvSpPr>
          <p:cNvPr id="1121" name="テキスト ボックス 1120">
            <a:extLst>
              <a:ext uri="{FF2B5EF4-FFF2-40B4-BE49-F238E27FC236}">
                <a16:creationId xmlns:a16="http://schemas.microsoft.com/office/drawing/2014/main" id="{9DB624C6-5AA8-432E-35AE-B994E2821F34}"/>
              </a:ext>
            </a:extLst>
          </p:cNvPr>
          <p:cNvSpPr txBox="1"/>
          <p:nvPr/>
        </p:nvSpPr>
        <p:spPr>
          <a:xfrm>
            <a:off x="19864775" y="16741575"/>
            <a:ext cx="5851014"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3</a:t>
            </a:r>
            <a:r>
              <a:rPr kumimoji="1" lang="ja-JP" altLang="en-US" sz="3200">
                <a:latin typeface="MS PGothic" panose="020B0600070205080204" pitchFamily="34" charset="-128"/>
                <a:ea typeface="MS PGothic" panose="020B0600070205080204" pitchFamily="34" charset="-128"/>
              </a:rPr>
              <a:t>　実験結果</a:t>
            </a:r>
            <a:r>
              <a:rPr kumimoji="1" lang="en-US" altLang="ja-JP" sz="3200" dirty="0">
                <a:latin typeface="MS PGothic" panose="020B0600070205080204" pitchFamily="34" charset="-128"/>
                <a:ea typeface="MS PGothic" panose="020B0600070205080204" pitchFamily="34" charset="-128"/>
              </a:rPr>
              <a:t>Ⅰ</a:t>
            </a:r>
          </a:p>
        </p:txBody>
      </p:sp>
      <p:pic>
        <p:nvPicPr>
          <p:cNvPr id="11" name="図 10" descr="部屋に備えている様々な写真のコラージュ&#10;&#10;中程度の精度で自動的に生成された説明">
            <a:extLst>
              <a:ext uri="{FF2B5EF4-FFF2-40B4-BE49-F238E27FC236}">
                <a16:creationId xmlns:a16="http://schemas.microsoft.com/office/drawing/2014/main" id="{82C2BC87-5811-3498-0BEB-8920CA5DB763}"/>
              </a:ext>
            </a:extLst>
          </p:cNvPr>
          <p:cNvPicPr>
            <a:picLocks noChangeAspect="1"/>
          </p:cNvPicPr>
          <p:nvPr/>
        </p:nvPicPr>
        <p:blipFill rotWithShape="1">
          <a:blip r:embed="rId7">
            <a:extLst>
              <a:ext uri="{28A0092B-C50C-407E-A947-70E740481C1C}">
                <a14:useLocalDpi xmlns:a14="http://schemas.microsoft.com/office/drawing/2010/main" val="0"/>
              </a:ext>
            </a:extLst>
          </a:blip>
          <a:srcRect l="89375" t="5914" r="661" b="75399"/>
          <a:stretch/>
        </p:blipFill>
        <p:spPr>
          <a:xfrm>
            <a:off x="524660" y="39229656"/>
            <a:ext cx="2217928" cy="2182048"/>
          </a:xfrm>
          <a:prstGeom prst="rect">
            <a:avLst/>
          </a:prstGeom>
        </p:spPr>
      </p:pic>
      <p:grpSp>
        <p:nvGrpSpPr>
          <p:cNvPr id="57" name="グループ化 56">
            <a:extLst>
              <a:ext uri="{FF2B5EF4-FFF2-40B4-BE49-F238E27FC236}">
                <a16:creationId xmlns:a16="http://schemas.microsoft.com/office/drawing/2014/main" id="{4759C8DC-39AE-21DA-076E-B627870DAC0D}"/>
              </a:ext>
            </a:extLst>
          </p:cNvPr>
          <p:cNvGrpSpPr/>
          <p:nvPr/>
        </p:nvGrpSpPr>
        <p:grpSpPr>
          <a:xfrm>
            <a:off x="3876368" y="39240096"/>
            <a:ext cx="2162196" cy="2182048"/>
            <a:chOff x="18810010" y="12897704"/>
            <a:chExt cx="2162196" cy="2182048"/>
          </a:xfrm>
        </p:grpSpPr>
        <p:pic>
          <p:nvPicPr>
            <p:cNvPr id="16" name="図 15" descr="部屋に備えている様々な写真のコラージュ&#10;&#10;中程度の精度で自動的に生成された説明">
              <a:extLst>
                <a:ext uri="{FF2B5EF4-FFF2-40B4-BE49-F238E27FC236}">
                  <a16:creationId xmlns:a16="http://schemas.microsoft.com/office/drawing/2014/main" id="{B521A36E-8AA5-3A58-5CB6-3D202AB0CE4B}"/>
                </a:ext>
              </a:extLst>
            </p:cNvPr>
            <p:cNvPicPr>
              <a:picLocks noChangeAspect="1"/>
            </p:cNvPicPr>
            <p:nvPr/>
          </p:nvPicPr>
          <p:blipFill rotWithShape="1">
            <a:blip r:embed="rId7">
              <a:extLst>
                <a:ext uri="{28A0092B-C50C-407E-A947-70E740481C1C}">
                  <a14:useLocalDpi xmlns:a14="http://schemas.microsoft.com/office/drawing/2010/main" val="0"/>
                </a:ext>
              </a:extLst>
            </a:blip>
            <a:srcRect l="89375" t="5914" r="911" b="75399"/>
            <a:stretch/>
          </p:blipFill>
          <p:spPr>
            <a:xfrm>
              <a:off x="18810010" y="12897704"/>
              <a:ext cx="2162196" cy="2182048"/>
            </a:xfrm>
            <a:prstGeom prst="rect">
              <a:avLst/>
            </a:prstGeom>
            <a:ln>
              <a:solidFill>
                <a:schemeClr val="bg1"/>
              </a:solidFill>
            </a:ln>
          </p:spPr>
        </p:pic>
        <p:cxnSp>
          <p:nvCxnSpPr>
            <p:cNvPr id="22" name="直線コネクタ 21">
              <a:extLst>
                <a:ext uri="{FF2B5EF4-FFF2-40B4-BE49-F238E27FC236}">
                  <a16:creationId xmlns:a16="http://schemas.microsoft.com/office/drawing/2014/main" id="{ABC46E52-4C07-6F94-A82E-F1FFD4C274FA}"/>
                </a:ext>
              </a:extLst>
            </p:cNvPr>
            <p:cNvCxnSpPr>
              <a:cxnSpLocks/>
              <a:stCxn id="16" idx="0"/>
            </p:cNvCxnSpPr>
            <p:nvPr/>
          </p:nvCxnSpPr>
          <p:spPr>
            <a:xfrm>
              <a:off x="19891108" y="12897704"/>
              <a:ext cx="0" cy="21820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2320BC0A-C2F2-10CE-D64B-C5131011ADEF}"/>
                </a:ext>
              </a:extLst>
            </p:cNvPr>
            <p:cNvCxnSpPr>
              <a:cxnSpLocks/>
              <a:stCxn id="16" idx="3"/>
              <a:endCxn id="16" idx="1"/>
            </p:cNvCxnSpPr>
            <p:nvPr/>
          </p:nvCxnSpPr>
          <p:spPr>
            <a:xfrm flipH="1">
              <a:off x="18810010" y="13988728"/>
              <a:ext cx="216219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0FEC552A-ACE4-457C-CA6F-451F20C00F19}"/>
                </a:ext>
              </a:extLst>
            </p:cNvPr>
            <p:cNvCxnSpPr>
              <a:cxnSpLocks/>
            </p:cNvCxnSpPr>
            <p:nvPr/>
          </p:nvCxnSpPr>
          <p:spPr>
            <a:xfrm flipH="1">
              <a:off x="18810010" y="13207181"/>
              <a:ext cx="216219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06617713-362F-C200-67E4-C549F5D2F84A}"/>
                </a:ext>
              </a:extLst>
            </p:cNvPr>
            <p:cNvCxnSpPr>
              <a:cxnSpLocks/>
            </p:cNvCxnSpPr>
            <p:nvPr/>
          </p:nvCxnSpPr>
          <p:spPr>
            <a:xfrm flipH="1">
              <a:off x="18810010" y="13604947"/>
              <a:ext cx="216219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8BFCE3C4-8C72-DBA3-3925-311237CCE095}"/>
                </a:ext>
              </a:extLst>
            </p:cNvPr>
            <p:cNvCxnSpPr>
              <a:cxnSpLocks/>
            </p:cNvCxnSpPr>
            <p:nvPr/>
          </p:nvCxnSpPr>
          <p:spPr>
            <a:xfrm flipH="1">
              <a:off x="18810010" y="14376779"/>
              <a:ext cx="216219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A6527252-18CC-B6A1-28BE-753C485BD352}"/>
                </a:ext>
              </a:extLst>
            </p:cNvPr>
            <p:cNvCxnSpPr>
              <a:cxnSpLocks/>
            </p:cNvCxnSpPr>
            <p:nvPr/>
          </p:nvCxnSpPr>
          <p:spPr>
            <a:xfrm flipH="1">
              <a:off x="18810010" y="14750405"/>
              <a:ext cx="216219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144403F-0F7F-6DE7-F658-2B8E6EA471CE}"/>
                </a:ext>
              </a:extLst>
            </p:cNvPr>
            <p:cNvCxnSpPr>
              <a:cxnSpLocks/>
            </p:cNvCxnSpPr>
            <p:nvPr/>
          </p:nvCxnSpPr>
          <p:spPr>
            <a:xfrm flipV="1">
              <a:off x="19158153" y="12897704"/>
              <a:ext cx="0" cy="21820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8C5A4699-1AE6-336A-C7BD-892B5B34A5CE}"/>
                </a:ext>
              </a:extLst>
            </p:cNvPr>
            <p:cNvCxnSpPr>
              <a:cxnSpLocks/>
            </p:cNvCxnSpPr>
            <p:nvPr/>
          </p:nvCxnSpPr>
          <p:spPr>
            <a:xfrm flipV="1">
              <a:off x="19517030" y="12897704"/>
              <a:ext cx="0" cy="21820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18BB573A-078F-D36F-9EC3-5F7B8E2F3D1D}"/>
                </a:ext>
              </a:extLst>
            </p:cNvPr>
            <p:cNvCxnSpPr>
              <a:cxnSpLocks/>
            </p:cNvCxnSpPr>
            <p:nvPr/>
          </p:nvCxnSpPr>
          <p:spPr>
            <a:xfrm flipV="1">
              <a:off x="20251991" y="12897704"/>
              <a:ext cx="0" cy="21820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2D792D77-F20E-EC23-412C-557E52494B6B}"/>
                </a:ext>
              </a:extLst>
            </p:cNvPr>
            <p:cNvCxnSpPr>
              <a:cxnSpLocks/>
            </p:cNvCxnSpPr>
            <p:nvPr/>
          </p:nvCxnSpPr>
          <p:spPr>
            <a:xfrm flipV="1">
              <a:off x="20618243" y="12897704"/>
              <a:ext cx="0" cy="21820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59" name="直線矢印コネクタ 58">
            <a:extLst>
              <a:ext uri="{FF2B5EF4-FFF2-40B4-BE49-F238E27FC236}">
                <a16:creationId xmlns:a16="http://schemas.microsoft.com/office/drawing/2014/main" id="{7AC14AF6-4325-A332-C400-FFCA9F3DC697}"/>
              </a:ext>
            </a:extLst>
          </p:cNvPr>
          <p:cNvCxnSpPr>
            <a:stCxn id="11" idx="3"/>
            <a:endCxn id="16" idx="1"/>
          </p:cNvCxnSpPr>
          <p:nvPr/>
        </p:nvCxnSpPr>
        <p:spPr>
          <a:xfrm>
            <a:off x="2742588" y="40320680"/>
            <a:ext cx="1133780" cy="104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54" name="正方形/長方形 1053">
            <a:extLst>
              <a:ext uri="{FF2B5EF4-FFF2-40B4-BE49-F238E27FC236}">
                <a16:creationId xmlns:a16="http://schemas.microsoft.com/office/drawing/2014/main" id="{02822BBA-3206-911F-B7C3-BB32ACAC02AF}"/>
              </a:ext>
            </a:extLst>
          </p:cNvPr>
          <p:cNvSpPr/>
          <p:nvPr/>
        </p:nvSpPr>
        <p:spPr>
          <a:xfrm>
            <a:off x="7389599" y="38985988"/>
            <a:ext cx="3151990" cy="26747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4800">
              <a:latin typeface="MS PGothic" panose="020B0600070205080204" pitchFamily="34" charset="-128"/>
              <a:ea typeface="MS PGothic" panose="020B0600070205080204" pitchFamily="34" charset="-128"/>
            </a:endParaRPr>
          </a:p>
        </p:txBody>
      </p:sp>
      <p:sp>
        <p:nvSpPr>
          <p:cNvPr id="60" name="台形 59">
            <a:extLst>
              <a:ext uri="{FF2B5EF4-FFF2-40B4-BE49-F238E27FC236}">
                <a16:creationId xmlns:a16="http://schemas.microsoft.com/office/drawing/2014/main" id="{F024F986-D8AD-3A10-EC91-21E1E8BE655C}"/>
              </a:ext>
            </a:extLst>
          </p:cNvPr>
          <p:cNvSpPr/>
          <p:nvPr/>
        </p:nvSpPr>
        <p:spPr>
          <a:xfrm rot="5400000">
            <a:off x="7777020" y="38905806"/>
            <a:ext cx="2451608" cy="2862757"/>
          </a:xfrm>
          <a:prstGeom prst="trapezoid">
            <a:avLst>
              <a:gd name="adj" fmla="val 23334"/>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270" lIns="0" tIns="0" rIns="0" bIns="0" rtlCol="0" anchor="ctr"/>
          <a:lstStyle/>
          <a:p>
            <a:pPr algn="ctr"/>
            <a:r>
              <a:rPr kumimoji="1" lang="en-US" altLang="ja-JP" sz="3200" spc="-200" dirty="0">
                <a:solidFill>
                  <a:schemeClr val="tx1"/>
                </a:solidFill>
                <a:latin typeface="MS PGothic" panose="020B0600070205080204" pitchFamily="34" charset="-128"/>
                <a:ea typeface="MS PGothic" panose="020B0600070205080204" pitchFamily="34" charset="-128"/>
              </a:rPr>
              <a:t> </a:t>
            </a:r>
            <a:r>
              <a:rPr kumimoji="1" lang="ja-JP" altLang="en-US" sz="3200" spc="-200">
                <a:solidFill>
                  <a:schemeClr val="tx1"/>
                </a:solidFill>
                <a:latin typeface="MS PGothic" panose="020B0600070205080204" pitchFamily="34" charset="-128"/>
                <a:ea typeface="MS PGothic" panose="020B0600070205080204" pitchFamily="34" charset="-128"/>
              </a:rPr>
              <a:t>事前学習済み</a:t>
            </a:r>
            <a:endParaRPr kumimoji="1" lang="en-US" altLang="ja-JP" sz="3200" spc="-200" dirty="0">
              <a:solidFill>
                <a:schemeClr val="tx1"/>
              </a:solidFill>
              <a:latin typeface="MS PGothic" panose="020B0600070205080204" pitchFamily="34" charset="-128"/>
              <a:ea typeface="MS PGothic" panose="020B0600070205080204" pitchFamily="34" charset="-128"/>
            </a:endParaRPr>
          </a:p>
          <a:p>
            <a:pPr algn="ctr"/>
            <a:r>
              <a:rPr kumimoji="1" lang="en-US" altLang="ja-JP" sz="3200" dirty="0" err="1">
                <a:solidFill>
                  <a:schemeClr val="tx1"/>
                </a:solidFill>
                <a:latin typeface="MS PGothic" panose="020B0600070205080204" pitchFamily="34" charset="-128"/>
                <a:ea typeface="MS PGothic" panose="020B0600070205080204" pitchFamily="34" charset="-128"/>
              </a:rPr>
              <a:t>Swin</a:t>
            </a:r>
            <a:r>
              <a:rPr kumimoji="1" lang="en-US" altLang="ja-JP" sz="3200" dirty="0">
                <a:solidFill>
                  <a:schemeClr val="tx1"/>
                </a:solidFill>
                <a:latin typeface="MS PGothic" panose="020B0600070205080204" pitchFamily="34" charset="-128"/>
                <a:ea typeface="MS PGothic" panose="020B0600070205080204" pitchFamily="34" charset="-128"/>
              </a:rPr>
              <a:t>-T</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61" name="直線矢印コネクタ 60">
            <a:extLst>
              <a:ext uri="{FF2B5EF4-FFF2-40B4-BE49-F238E27FC236}">
                <a16:creationId xmlns:a16="http://schemas.microsoft.com/office/drawing/2014/main" id="{0BF10ADA-4E01-70D7-D95A-903B225E5C07}"/>
              </a:ext>
            </a:extLst>
          </p:cNvPr>
          <p:cNvCxnSpPr>
            <a:cxnSpLocks/>
            <a:stCxn id="16" idx="3"/>
            <a:endCxn id="60" idx="2"/>
          </p:cNvCxnSpPr>
          <p:nvPr/>
        </p:nvCxnSpPr>
        <p:spPr>
          <a:xfrm>
            <a:off x="6038564" y="40331120"/>
            <a:ext cx="1532882" cy="60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5" name="円/楕円 1024">
            <a:extLst>
              <a:ext uri="{FF2B5EF4-FFF2-40B4-BE49-F238E27FC236}">
                <a16:creationId xmlns:a16="http://schemas.microsoft.com/office/drawing/2014/main" id="{E38036EB-EFA5-8B2A-A664-0D285632EE1A}"/>
              </a:ext>
            </a:extLst>
          </p:cNvPr>
          <p:cNvSpPr/>
          <p:nvPr/>
        </p:nvSpPr>
        <p:spPr>
          <a:xfrm>
            <a:off x="12083289" y="40096997"/>
            <a:ext cx="447365" cy="447365"/>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4800">
              <a:latin typeface="MS PGothic" panose="020B0600070205080204" pitchFamily="34" charset="-128"/>
              <a:ea typeface="MS PGothic" panose="020B0600070205080204" pitchFamily="34" charset="-128"/>
            </a:endParaRPr>
          </a:p>
        </p:txBody>
      </p:sp>
      <mc:AlternateContent xmlns:mc="http://schemas.openxmlformats.org/markup-compatibility/2006" xmlns:a14="http://schemas.microsoft.com/office/drawing/2010/main">
        <mc:Choice Requires="a14">
          <p:sp>
            <p:nvSpPr>
              <p:cNvPr id="1046" name="テキスト ボックス 1045">
                <a:extLst>
                  <a:ext uri="{FF2B5EF4-FFF2-40B4-BE49-F238E27FC236}">
                    <a16:creationId xmlns:a16="http://schemas.microsoft.com/office/drawing/2014/main" id="{EE0C3AE3-5DB3-8BA4-C259-610B473F49F6}"/>
                  </a:ext>
                </a:extLst>
              </p:cNvPr>
              <p:cNvSpPr txBox="1"/>
              <p:nvPr/>
            </p:nvSpPr>
            <p:spPr>
              <a:xfrm>
                <a:off x="13401317" y="39456555"/>
                <a:ext cx="1102674" cy="58477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𝑅𝑒𝑎𝑙</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46" name="テキスト ボックス 1045">
                <a:extLst>
                  <a:ext uri="{FF2B5EF4-FFF2-40B4-BE49-F238E27FC236}">
                    <a16:creationId xmlns:a16="http://schemas.microsoft.com/office/drawing/2014/main" id="{EE0C3AE3-5DB3-8BA4-C259-610B473F49F6}"/>
                  </a:ext>
                </a:extLst>
              </p:cNvPr>
              <p:cNvSpPr txBox="1">
                <a:spLocks noRot="1" noChangeAspect="1" noMove="1" noResize="1" noEditPoints="1" noAdjustHandles="1" noChangeArrowheads="1" noChangeShapeType="1" noTextEdit="1"/>
              </p:cNvSpPr>
              <p:nvPr/>
            </p:nvSpPr>
            <p:spPr>
              <a:xfrm>
                <a:off x="13401317" y="39456555"/>
                <a:ext cx="1102674" cy="584775"/>
              </a:xfrm>
              <a:prstGeom prst="rect">
                <a:avLst/>
              </a:prstGeom>
              <a:blipFill>
                <a:blip r:embed="rId8"/>
                <a:stretch>
                  <a:fillRect l="-6897" b="-217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48" name="テキスト ボックス 1047">
                <a:extLst>
                  <a:ext uri="{FF2B5EF4-FFF2-40B4-BE49-F238E27FC236}">
                    <a16:creationId xmlns:a16="http://schemas.microsoft.com/office/drawing/2014/main" id="{D9EF0B1D-A1F6-79B9-BDB4-3EF2C1A01577}"/>
                  </a:ext>
                </a:extLst>
              </p:cNvPr>
              <p:cNvSpPr txBox="1"/>
              <p:nvPr/>
            </p:nvSpPr>
            <p:spPr>
              <a:xfrm>
                <a:off x="13404346" y="40492892"/>
                <a:ext cx="1099645" cy="58477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𝐹𝑎𝑘𝑒</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48" name="テキスト ボックス 1047">
                <a:extLst>
                  <a:ext uri="{FF2B5EF4-FFF2-40B4-BE49-F238E27FC236}">
                    <a16:creationId xmlns:a16="http://schemas.microsoft.com/office/drawing/2014/main" id="{D9EF0B1D-A1F6-79B9-BDB4-3EF2C1A01577}"/>
                  </a:ext>
                </a:extLst>
              </p:cNvPr>
              <p:cNvSpPr txBox="1">
                <a:spLocks noRot="1" noChangeAspect="1" noMove="1" noResize="1" noEditPoints="1" noAdjustHandles="1" noChangeArrowheads="1" noChangeShapeType="1" noTextEdit="1"/>
              </p:cNvSpPr>
              <p:nvPr/>
            </p:nvSpPr>
            <p:spPr>
              <a:xfrm>
                <a:off x="13404346" y="40492892"/>
                <a:ext cx="1099645" cy="584775"/>
              </a:xfrm>
              <a:prstGeom prst="rect">
                <a:avLst/>
              </a:prstGeom>
              <a:blipFill>
                <a:blip r:embed="rId9"/>
                <a:stretch>
                  <a:fillRect l="-10345" b="-2128"/>
                </a:stretch>
              </a:blipFill>
            </p:spPr>
            <p:txBody>
              <a:bodyPr/>
              <a:lstStyle/>
              <a:p>
                <a:r>
                  <a:rPr lang="ja-JP" altLang="en-US">
                    <a:noFill/>
                  </a:rPr>
                  <a:t> </a:t>
                </a:r>
              </a:p>
            </p:txBody>
          </p:sp>
        </mc:Fallback>
      </mc:AlternateContent>
      <p:sp>
        <p:nvSpPr>
          <p:cNvPr id="1059" name="四角形吹き出し 1058">
            <a:extLst>
              <a:ext uri="{FF2B5EF4-FFF2-40B4-BE49-F238E27FC236}">
                <a16:creationId xmlns:a16="http://schemas.microsoft.com/office/drawing/2014/main" id="{02467732-E473-669A-12F3-C32F4FE455B3}"/>
              </a:ext>
            </a:extLst>
          </p:cNvPr>
          <p:cNvSpPr/>
          <p:nvPr/>
        </p:nvSpPr>
        <p:spPr>
          <a:xfrm>
            <a:off x="8339766" y="38297600"/>
            <a:ext cx="2251900" cy="820518"/>
          </a:xfrm>
          <a:prstGeom prst="wedgeRectCallout">
            <a:avLst>
              <a:gd name="adj1" fmla="val 8698"/>
              <a:gd name="adj2" fmla="val 86010"/>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solidFill>
                  <a:schemeClr val="tx1"/>
                </a:solidFill>
                <a:latin typeface="MS PGothic" panose="020B0600070205080204" pitchFamily="34" charset="-128"/>
                <a:ea typeface="MS PGothic" panose="020B0600070205080204" pitchFamily="34" charset="-128"/>
              </a:rPr>
              <a:t>凍結する</a:t>
            </a:r>
          </a:p>
        </p:txBody>
      </p:sp>
      <p:sp>
        <p:nvSpPr>
          <p:cNvPr id="1060" name="テキスト ボックス 1059">
            <a:extLst>
              <a:ext uri="{FF2B5EF4-FFF2-40B4-BE49-F238E27FC236}">
                <a16:creationId xmlns:a16="http://schemas.microsoft.com/office/drawing/2014/main" id="{9EBE2717-76E8-DF79-EEB9-551F9CD9128F}"/>
              </a:ext>
            </a:extLst>
          </p:cNvPr>
          <p:cNvSpPr txBox="1"/>
          <p:nvPr/>
        </p:nvSpPr>
        <p:spPr>
          <a:xfrm>
            <a:off x="4783999" y="41660734"/>
            <a:ext cx="5628956"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6</a:t>
            </a:r>
            <a:r>
              <a:rPr kumimoji="1" lang="ja-JP" altLang="en-US" sz="3200">
                <a:latin typeface="MS PGothic" panose="020B0600070205080204" pitchFamily="34" charset="-128"/>
                <a:ea typeface="MS PGothic" panose="020B0600070205080204" pitchFamily="34" charset="-128"/>
              </a:rPr>
              <a:t>　学習するモデル</a:t>
            </a:r>
          </a:p>
        </p:txBody>
      </p:sp>
      <p:sp>
        <p:nvSpPr>
          <p:cNvPr id="1061" name="字幕 2">
            <a:extLst>
              <a:ext uri="{FF2B5EF4-FFF2-40B4-BE49-F238E27FC236}">
                <a16:creationId xmlns:a16="http://schemas.microsoft.com/office/drawing/2014/main" id="{96DFC918-5937-91BA-5081-CCC2DA3BC76D}"/>
              </a:ext>
            </a:extLst>
          </p:cNvPr>
          <p:cNvSpPr txBox="1">
            <a:spLocks/>
          </p:cNvSpPr>
          <p:nvPr/>
        </p:nvSpPr>
        <p:spPr>
          <a:xfrm>
            <a:off x="0" y="3301"/>
            <a:ext cx="3170629" cy="673479"/>
          </a:xfrm>
          <a:prstGeom prst="rect">
            <a:avLst/>
          </a:prstGeom>
        </p:spPr>
        <p:txBody>
          <a:bodyPr vert="horz" lIns="91440" tIns="45720" rIns="91440" bIns="45720" rtlCol="0" anchor="ctr" anchorCtr="1">
            <a:normAutofit fontScale="92500" lnSpcReduction="10000"/>
          </a:bodyPr>
          <a:lstStyle>
            <a:lvl1pPr marL="0" indent="0" algn="ctr" defTabSz="3024012" rtl="0" eaLnBrk="1" latinLnBrk="0" hangingPunct="1">
              <a:lnSpc>
                <a:spcPct val="90000"/>
              </a:lnSpc>
              <a:spcBef>
                <a:spcPts val="3307"/>
              </a:spcBef>
              <a:buFont typeface="Arial" panose="020B0604020202020204" pitchFamily="34" charset="0"/>
              <a:buNone/>
              <a:defRPr kumimoji="1" sz="4800" kern="1200">
                <a:solidFill>
                  <a:schemeClr val="bg1"/>
                </a:solidFill>
                <a:latin typeface="MS PGothic" panose="020B0600070205080204" pitchFamily="34" charset="-128"/>
                <a:ea typeface="MS PGothic" panose="020B0600070205080204" pitchFamily="34" charset="-128"/>
                <a:cs typeface="+mn-cs"/>
              </a:defRPr>
            </a:lvl1pPr>
            <a:lvl2pPr marL="1512006" indent="0" algn="ctr" defTabSz="3024012" rtl="0" eaLnBrk="1" latinLnBrk="0" hangingPunct="1">
              <a:lnSpc>
                <a:spcPct val="90000"/>
              </a:lnSpc>
              <a:spcBef>
                <a:spcPts val="1654"/>
              </a:spcBef>
              <a:buFont typeface="Arial" panose="020B0604020202020204" pitchFamily="34" charset="0"/>
              <a:buNone/>
              <a:defRPr kumimoji="1" sz="6614" kern="1200">
                <a:solidFill>
                  <a:schemeClr val="tx1"/>
                </a:solidFill>
                <a:latin typeface="MS PGothic" panose="020B0600070205080204" pitchFamily="34" charset="-128"/>
                <a:ea typeface="MS PGothic" panose="020B0600070205080204" pitchFamily="34" charset="-128"/>
                <a:cs typeface="+mn-cs"/>
              </a:defRPr>
            </a:lvl2pPr>
            <a:lvl3pPr marL="3024012" indent="0" algn="ctr" defTabSz="3024012" rtl="0" eaLnBrk="1" latinLnBrk="0" hangingPunct="1">
              <a:lnSpc>
                <a:spcPct val="90000"/>
              </a:lnSpc>
              <a:spcBef>
                <a:spcPts val="1654"/>
              </a:spcBef>
              <a:buFont typeface="Arial" panose="020B0604020202020204" pitchFamily="34" charset="0"/>
              <a:buNone/>
              <a:defRPr kumimoji="1" sz="5953" kern="1200">
                <a:solidFill>
                  <a:schemeClr val="tx1"/>
                </a:solidFill>
                <a:latin typeface="MS PGothic" panose="020B0600070205080204" pitchFamily="34" charset="-128"/>
                <a:ea typeface="MS PGothic" panose="020B0600070205080204" pitchFamily="34" charset="-128"/>
                <a:cs typeface="+mn-cs"/>
              </a:defRPr>
            </a:lvl3pPr>
            <a:lvl4pPr marL="4536018"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S PGothic" panose="020B0600070205080204" pitchFamily="34" charset="-128"/>
                <a:ea typeface="MS PGothic" panose="020B0600070205080204" pitchFamily="34" charset="-128"/>
                <a:cs typeface="+mn-cs"/>
              </a:defRPr>
            </a:lvl4pPr>
            <a:lvl5pPr marL="6048024"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S PGothic" panose="020B0600070205080204" pitchFamily="34" charset="-128"/>
                <a:ea typeface="MS PGothic" panose="020B0600070205080204" pitchFamily="34" charset="-128"/>
                <a:cs typeface="+mn-cs"/>
              </a:defRPr>
            </a:lvl5pPr>
            <a:lvl6pPr marL="7560031"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n-lt"/>
                <a:ea typeface="+mn-ea"/>
                <a:cs typeface="+mn-cs"/>
              </a:defRPr>
            </a:lvl6pPr>
            <a:lvl7pPr marL="9072037"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n-lt"/>
                <a:ea typeface="+mn-ea"/>
                <a:cs typeface="+mn-cs"/>
              </a:defRPr>
            </a:lvl7pPr>
            <a:lvl8pPr marL="10584043"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n-lt"/>
                <a:ea typeface="+mn-ea"/>
                <a:cs typeface="+mn-cs"/>
              </a:defRPr>
            </a:lvl8pPr>
            <a:lvl9pPr marL="12096049"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n-lt"/>
                <a:ea typeface="+mn-ea"/>
                <a:cs typeface="+mn-cs"/>
              </a:defRPr>
            </a:lvl9pPr>
          </a:lstStyle>
          <a:p>
            <a:r>
              <a:rPr lang="en" altLang="ja-JP" b="0" i="0" dirty="0">
                <a:effectLst/>
              </a:rPr>
              <a:t>ISS-SP-034</a:t>
            </a:r>
            <a:endParaRPr lang="ja-JP" altLang="en-US"/>
          </a:p>
        </p:txBody>
      </p:sp>
      <p:pic>
        <p:nvPicPr>
          <p:cNvPr id="21" name="図 20">
            <a:extLst>
              <a:ext uri="{FF2B5EF4-FFF2-40B4-BE49-F238E27FC236}">
                <a16:creationId xmlns:a16="http://schemas.microsoft.com/office/drawing/2014/main" id="{E59C2501-0C04-8E11-9F1C-E8087DFEAFA1}"/>
              </a:ext>
            </a:extLst>
          </p:cNvPr>
          <p:cNvPicPr>
            <a:picLocks noChangeAspect="1"/>
          </p:cNvPicPr>
          <p:nvPr/>
        </p:nvPicPr>
        <p:blipFill>
          <a:blip r:embed="rId10"/>
          <a:stretch>
            <a:fillRect/>
          </a:stretch>
        </p:blipFill>
        <p:spPr>
          <a:xfrm>
            <a:off x="574744" y="20167865"/>
            <a:ext cx="1028874" cy="1028874"/>
          </a:xfrm>
          <a:prstGeom prst="rect">
            <a:avLst/>
          </a:prstGeom>
        </p:spPr>
      </p:pic>
      <p:sp>
        <p:nvSpPr>
          <p:cNvPr id="24" name="正方形/長方形 23">
            <a:extLst>
              <a:ext uri="{FF2B5EF4-FFF2-40B4-BE49-F238E27FC236}">
                <a16:creationId xmlns:a16="http://schemas.microsoft.com/office/drawing/2014/main" id="{5D52701B-8604-FC88-F5C6-A8E75B4170DE}"/>
              </a:ext>
            </a:extLst>
          </p:cNvPr>
          <p:cNvSpPr/>
          <p:nvPr/>
        </p:nvSpPr>
        <p:spPr>
          <a:xfrm>
            <a:off x="2482218" y="20167865"/>
            <a:ext cx="2447903" cy="102887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u="sng" dirty="0" err="1">
                <a:solidFill>
                  <a:schemeClr val="tx1"/>
                </a:solidFill>
                <a:latin typeface="MS PGothic" panose="020B0600070205080204" pitchFamily="34" charset="-128"/>
                <a:ea typeface="MS PGothic" panose="020B0600070205080204" pitchFamily="34" charset="-128"/>
              </a:rPr>
              <a:t>Swin</a:t>
            </a:r>
            <a:r>
              <a:rPr kumimoji="1" lang="en-US" altLang="ja-JP" sz="3200" u="sng" dirty="0">
                <a:solidFill>
                  <a:schemeClr val="tx1"/>
                </a:solidFill>
                <a:latin typeface="MS PGothic" panose="020B0600070205080204" pitchFamily="34" charset="-128"/>
                <a:ea typeface="MS PGothic" panose="020B0600070205080204" pitchFamily="34" charset="-128"/>
              </a:rPr>
              <a:t>-T</a:t>
            </a:r>
          </a:p>
          <a:p>
            <a:pPr algn="ctr"/>
            <a:r>
              <a:rPr kumimoji="1" lang="en-US" altLang="ja-JP" sz="3200" dirty="0" err="1">
                <a:solidFill>
                  <a:schemeClr val="tx1"/>
                </a:solidFill>
                <a:latin typeface="MS PGothic" panose="020B0600070205080204" pitchFamily="34" charset="-128"/>
                <a:ea typeface="MS PGothic" panose="020B0600070205080204" pitchFamily="34" charset="-128"/>
              </a:rPr>
              <a:t>BigGAN</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26" name="直線矢印コネクタ 25">
            <a:extLst>
              <a:ext uri="{FF2B5EF4-FFF2-40B4-BE49-F238E27FC236}">
                <a16:creationId xmlns:a16="http://schemas.microsoft.com/office/drawing/2014/main" id="{05EA4257-488E-DAE4-09B7-F6FE749C7C42}"/>
              </a:ext>
            </a:extLst>
          </p:cNvPr>
          <p:cNvCxnSpPr>
            <a:stCxn id="21" idx="3"/>
            <a:endCxn id="24" idx="1"/>
          </p:cNvCxnSpPr>
          <p:nvPr/>
        </p:nvCxnSpPr>
        <p:spPr>
          <a:xfrm>
            <a:off x="1603618" y="20682302"/>
            <a:ext cx="8786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0F2FAF10-4196-331E-4D34-BCD82EFE4158}"/>
              </a:ext>
            </a:extLst>
          </p:cNvPr>
          <p:cNvCxnSpPr>
            <a:cxnSpLocks/>
            <a:stCxn id="24" idx="3"/>
            <a:endCxn id="42" idx="1"/>
          </p:cNvCxnSpPr>
          <p:nvPr/>
        </p:nvCxnSpPr>
        <p:spPr>
          <a:xfrm flipV="1">
            <a:off x="4930121" y="20368824"/>
            <a:ext cx="878600" cy="3134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EBA39BA1-447D-F300-778E-271ACA38AD19}"/>
              </a:ext>
            </a:extLst>
          </p:cNvPr>
          <p:cNvCxnSpPr>
            <a:cxnSpLocks/>
            <a:stCxn id="24" idx="3"/>
            <a:endCxn id="44" idx="1"/>
          </p:cNvCxnSpPr>
          <p:nvPr/>
        </p:nvCxnSpPr>
        <p:spPr>
          <a:xfrm>
            <a:off x="4930121" y="20682302"/>
            <a:ext cx="879439" cy="2954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B0401EAF-3594-755A-3311-CE56EC618CFE}"/>
                  </a:ext>
                </a:extLst>
              </p:cNvPr>
              <p:cNvSpPr txBox="1"/>
              <p:nvPr/>
            </p:nvSpPr>
            <p:spPr>
              <a:xfrm>
                <a:off x="5808721" y="20076436"/>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𝑅𝑒𝑎𝑙</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42" name="テキスト ボックス 41">
                <a:extLst>
                  <a:ext uri="{FF2B5EF4-FFF2-40B4-BE49-F238E27FC236}">
                    <a16:creationId xmlns:a16="http://schemas.microsoft.com/office/drawing/2014/main" id="{B0401EAF-3594-755A-3311-CE56EC618CFE}"/>
                  </a:ext>
                </a:extLst>
              </p:cNvPr>
              <p:cNvSpPr txBox="1">
                <a:spLocks noRot="1" noChangeAspect="1" noMove="1" noResize="1" noEditPoints="1" noAdjustHandles="1" noChangeArrowheads="1" noChangeShapeType="1" noTextEdit="1"/>
              </p:cNvSpPr>
              <p:nvPr/>
            </p:nvSpPr>
            <p:spPr>
              <a:xfrm>
                <a:off x="5808721" y="20076436"/>
                <a:ext cx="1585290" cy="584775"/>
              </a:xfrm>
              <a:prstGeom prst="rect">
                <a:avLst/>
              </a:prstGeom>
              <a:blipFill>
                <a:blip r:embed="rId11"/>
                <a:stretch>
                  <a:fillRect b="-2128"/>
                </a:stretch>
              </a:blipFill>
              <a:ln w="38100">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990AADA1-2B4A-5700-0FA6-899B8FD86343}"/>
                  </a:ext>
                </a:extLst>
              </p:cNvPr>
              <p:cNvSpPr txBox="1"/>
              <p:nvPr/>
            </p:nvSpPr>
            <p:spPr>
              <a:xfrm>
                <a:off x="5809560" y="20685329"/>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𝐹𝑎𝑘𝑒</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44" name="テキスト ボックス 43">
                <a:extLst>
                  <a:ext uri="{FF2B5EF4-FFF2-40B4-BE49-F238E27FC236}">
                    <a16:creationId xmlns:a16="http://schemas.microsoft.com/office/drawing/2014/main" id="{990AADA1-2B4A-5700-0FA6-899B8FD86343}"/>
                  </a:ext>
                </a:extLst>
              </p:cNvPr>
              <p:cNvSpPr txBox="1">
                <a:spLocks noRot="1" noChangeAspect="1" noMove="1" noResize="1" noEditPoints="1" noAdjustHandles="1" noChangeArrowheads="1" noChangeShapeType="1" noTextEdit="1"/>
              </p:cNvSpPr>
              <p:nvPr/>
            </p:nvSpPr>
            <p:spPr>
              <a:xfrm>
                <a:off x="5809560" y="20685329"/>
                <a:ext cx="1585290" cy="584775"/>
              </a:xfrm>
              <a:prstGeom prst="rect">
                <a:avLst/>
              </a:prstGeom>
              <a:blipFill>
                <a:blip r:embed="rId12"/>
                <a:stretch>
                  <a:fillRect b="-2128"/>
                </a:stretch>
              </a:blipFill>
              <a:ln w="38100">
                <a:noFill/>
              </a:ln>
            </p:spPr>
            <p:txBody>
              <a:bodyPr/>
              <a:lstStyle/>
              <a:p>
                <a:r>
                  <a:rPr lang="ja-JP" altLang="en-US">
                    <a:noFill/>
                  </a:rPr>
                  <a:t> </a:t>
                </a:r>
              </a:p>
            </p:txBody>
          </p:sp>
        </mc:Fallback>
      </mc:AlternateContent>
      <p:pic>
        <p:nvPicPr>
          <p:cNvPr id="58" name="図 57">
            <a:extLst>
              <a:ext uri="{FF2B5EF4-FFF2-40B4-BE49-F238E27FC236}">
                <a16:creationId xmlns:a16="http://schemas.microsoft.com/office/drawing/2014/main" id="{86BC9113-6DB0-D34D-D0F8-D7C569ED65EF}"/>
              </a:ext>
            </a:extLst>
          </p:cNvPr>
          <p:cNvPicPr>
            <a:picLocks noChangeAspect="1"/>
          </p:cNvPicPr>
          <p:nvPr/>
        </p:nvPicPr>
        <p:blipFill>
          <a:blip r:embed="rId10"/>
          <a:stretch>
            <a:fillRect/>
          </a:stretch>
        </p:blipFill>
        <p:spPr>
          <a:xfrm>
            <a:off x="574744" y="21416143"/>
            <a:ext cx="1028874" cy="1028874"/>
          </a:xfrm>
          <a:prstGeom prst="rect">
            <a:avLst/>
          </a:prstGeom>
        </p:spPr>
      </p:pic>
      <p:sp>
        <p:nvSpPr>
          <p:cNvPr id="62" name="正方形/長方形 61">
            <a:extLst>
              <a:ext uri="{FF2B5EF4-FFF2-40B4-BE49-F238E27FC236}">
                <a16:creationId xmlns:a16="http://schemas.microsoft.com/office/drawing/2014/main" id="{66BD2032-7B9A-8888-66B3-F23433B701B3}"/>
              </a:ext>
            </a:extLst>
          </p:cNvPr>
          <p:cNvSpPr/>
          <p:nvPr/>
        </p:nvSpPr>
        <p:spPr>
          <a:xfrm>
            <a:off x="2482218" y="21416143"/>
            <a:ext cx="2447903" cy="102887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u="sng" dirty="0" err="1">
                <a:solidFill>
                  <a:schemeClr val="tx1"/>
                </a:solidFill>
                <a:latin typeface="MS PGothic" panose="020B0600070205080204" pitchFamily="34" charset="-128"/>
                <a:ea typeface="MS PGothic" panose="020B0600070205080204" pitchFamily="34" charset="-128"/>
              </a:rPr>
              <a:t>Swin</a:t>
            </a:r>
            <a:r>
              <a:rPr kumimoji="1" lang="en-US" altLang="ja-JP" sz="3200" u="sng" dirty="0">
                <a:solidFill>
                  <a:schemeClr val="tx1"/>
                </a:solidFill>
                <a:latin typeface="MS PGothic" panose="020B0600070205080204" pitchFamily="34" charset="-128"/>
                <a:ea typeface="MS PGothic" panose="020B0600070205080204" pitchFamily="34" charset="-128"/>
              </a:rPr>
              <a:t>-T</a:t>
            </a:r>
          </a:p>
          <a:p>
            <a:pPr algn="ctr"/>
            <a:r>
              <a:rPr kumimoji="1" lang="en-US" altLang="ja-JP" sz="3200" dirty="0">
                <a:solidFill>
                  <a:schemeClr val="tx1"/>
                </a:solidFill>
                <a:latin typeface="MS PGothic" panose="020B0600070205080204" pitchFamily="34" charset="-128"/>
                <a:ea typeface="MS PGothic" panose="020B0600070205080204" pitchFamily="34" charset="-128"/>
              </a:rPr>
              <a:t>GLIDE</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63" name="直線矢印コネクタ 62">
            <a:extLst>
              <a:ext uri="{FF2B5EF4-FFF2-40B4-BE49-F238E27FC236}">
                <a16:creationId xmlns:a16="http://schemas.microsoft.com/office/drawing/2014/main" id="{80C01A7D-D2BF-5362-D29E-3680EBA89361}"/>
              </a:ext>
            </a:extLst>
          </p:cNvPr>
          <p:cNvCxnSpPr>
            <a:stCxn id="58" idx="3"/>
            <a:endCxn id="62" idx="1"/>
          </p:cNvCxnSpPr>
          <p:nvPr/>
        </p:nvCxnSpPr>
        <p:spPr>
          <a:xfrm>
            <a:off x="1603618" y="21930580"/>
            <a:ext cx="8786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4" name="直線矢印コネクタ 1023">
            <a:extLst>
              <a:ext uri="{FF2B5EF4-FFF2-40B4-BE49-F238E27FC236}">
                <a16:creationId xmlns:a16="http://schemas.microsoft.com/office/drawing/2014/main" id="{D680C28F-D9BE-1207-3B9E-A9F725BC1705}"/>
              </a:ext>
            </a:extLst>
          </p:cNvPr>
          <p:cNvCxnSpPr>
            <a:cxnSpLocks/>
            <a:stCxn id="62" idx="3"/>
            <a:endCxn id="1028" idx="1"/>
          </p:cNvCxnSpPr>
          <p:nvPr/>
        </p:nvCxnSpPr>
        <p:spPr>
          <a:xfrm flipV="1">
            <a:off x="4930121" y="21617102"/>
            <a:ext cx="878600" cy="3134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6" name="直線矢印コネクタ 1025">
            <a:extLst>
              <a:ext uri="{FF2B5EF4-FFF2-40B4-BE49-F238E27FC236}">
                <a16:creationId xmlns:a16="http://schemas.microsoft.com/office/drawing/2014/main" id="{26F113EC-0687-4C46-75A6-B87470F51FD5}"/>
              </a:ext>
            </a:extLst>
          </p:cNvPr>
          <p:cNvCxnSpPr>
            <a:cxnSpLocks/>
            <a:stCxn id="62" idx="3"/>
            <a:endCxn id="1029" idx="1"/>
          </p:cNvCxnSpPr>
          <p:nvPr/>
        </p:nvCxnSpPr>
        <p:spPr>
          <a:xfrm>
            <a:off x="4930121" y="21930580"/>
            <a:ext cx="879439" cy="2954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8" name="テキスト ボックス 1027">
                <a:extLst>
                  <a:ext uri="{FF2B5EF4-FFF2-40B4-BE49-F238E27FC236}">
                    <a16:creationId xmlns:a16="http://schemas.microsoft.com/office/drawing/2014/main" id="{B65E9AB0-90ED-AE07-73EB-A0B9A8B426C6}"/>
                  </a:ext>
                </a:extLst>
              </p:cNvPr>
              <p:cNvSpPr txBox="1"/>
              <p:nvPr/>
            </p:nvSpPr>
            <p:spPr>
              <a:xfrm>
                <a:off x="5808721" y="21324714"/>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𝑅𝑒𝑎𝑙</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28" name="テキスト ボックス 1027">
                <a:extLst>
                  <a:ext uri="{FF2B5EF4-FFF2-40B4-BE49-F238E27FC236}">
                    <a16:creationId xmlns:a16="http://schemas.microsoft.com/office/drawing/2014/main" id="{B65E9AB0-90ED-AE07-73EB-A0B9A8B426C6}"/>
                  </a:ext>
                </a:extLst>
              </p:cNvPr>
              <p:cNvSpPr txBox="1">
                <a:spLocks noRot="1" noChangeAspect="1" noMove="1" noResize="1" noEditPoints="1" noAdjustHandles="1" noChangeArrowheads="1" noChangeShapeType="1" noTextEdit="1"/>
              </p:cNvSpPr>
              <p:nvPr/>
            </p:nvSpPr>
            <p:spPr>
              <a:xfrm>
                <a:off x="5808721" y="21324714"/>
                <a:ext cx="1585290" cy="584775"/>
              </a:xfrm>
              <a:prstGeom prst="rect">
                <a:avLst/>
              </a:prstGeom>
              <a:blipFill>
                <a:blip r:embed="rId13"/>
                <a:stretch>
                  <a:fillRect b="-2128"/>
                </a:stretch>
              </a:blipFill>
              <a:ln w="38100">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29" name="テキスト ボックス 1028">
                <a:extLst>
                  <a:ext uri="{FF2B5EF4-FFF2-40B4-BE49-F238E27FC236}">
                    <a16:creationId xmlns:a16="http://schemas.microsoft.com/office/drawing/2014/main" id="{9F74F3D7-C0BF-E116-B52A-1A4155CFB67C}"/>
                  </a:ext>
                </a:extLst>
              </p:cNvPr>
              <p:cNvSpPr txBox="1"/>
              <p:nvPr/>
            </p:nvSpPr>
            <p:spPr>
              <a:xfrm>
                <a:off x="5809560" y="21933607"/>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𝐹𝑎𝑘𝑒</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29" name="テキスト ボックス 1028">
                <a:extLst>
                  <a:ext uri="{FF2B5EF4-FFF2-40B4-BE49-F238E27FC236}">
                    <a16:creationId xmlns:a16="http://schemas.microsoft.com/office/drawing/2014/main" id="{9F74F3D7-C0BF-E116-B52A-1A4155CFB67C}"/>
                  </a:ext>
                </a:extLst>
              </p:cNvPr>
              <p:cNvSpPr txBox="1">
                <a:spLocks noRot="1" noChangeAspect="1" noMove="1" noResize="1" noEditPoints="1" noAdjustHandles="1" noChangeArrowheads="1" noChangeShapeType="1" noTextEdit="1"/>
              </p:cNvSpPr>
              <p:nvPr/>
            </p:nvSpPr>
            <p:spPr>
              <a:xfrm>
                <a:off x="5809560" y="21933607"/>
                <a:ext cx="1585290" cy="584775"/>
              </a:xfrm>
              <a:prstGeom prst="rect">
                <a:avLst/>
              </a:prstGeom>
              <a:blipFill>
                <a:blip r:embed="rId14"/>
                <a:stretch>
                  <a:fillRect b="-2128"/>
                </a:stretch>
              </a:blipFill>
              <a:ln w="38100">
                <a:noFill/>
              </a:ln>
            </p:spPr>
            <p:txBody>
              <a:bodyPr/>
              <a:lstStyle/>
              <a:p>
                <a:r>
                  <a:rPr lang="ja-JP" altLang="en-US">
                    <a:noFill/>
                  </a:rPr>
                  <a:t> </a:t>
                </a:r>
              </a:p>
            </p:txBody>
          </p:sp>
        </mc:Fallback>
      </mc:AlternateContent>
      <p:cxnSp>
        <p:nvCxnSpPr>
          <p:cNvPr id="1032" name="直線コネクタ 1031">
            <a:extLst>
              <a:ext uri="{FF2B5EF4-FFF2-40B4-BE49-F238E27FC236}">
                <a16:creationId xmlns:a16="http://schemas.microsoft.com/office/drawing/2014/main" id="{4A6F4686-6B64-8091-4281-A4C54C41A124}"/>
              </a:ext>
            </a:extLst>
          </p:cNvPr>
          <p:cNvCxnSpPr>
            <a:cxnSpLocks/>
            <a:stCxn id="47" idx="0"/>
          </p:cNvCxnSpPr>
          <p:nvPr/>
        </p:nvCxnSpPr>
        <p:spPr>
          <a:xfrm flipH="1" flipV="1">
            <a:off x="7621026" y="19886689"/>
            <a:ext cx="1" cy="2782096"/>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034" name="テキスト ボックス 1033">
            <a:extLst>
              <a:ext uri="{FF2B5EF4-FFF2-40B4-BE49-F238E27FC236}">
                <a16:creationId xmlns:a16="http://schemas.microsoft.com/office/drawing/2014/main" id="{E637178F-0020-5407-4594-3593B15D0050}"/>
              </a:ext>
            </a:extLst>
          </p:cNvPr>
          <p:cNvSpPr txBox="1"/>
          <p:nvPr/>
        </p:nvSpPr>
        <p:spPr>
          <a:xfrm>
            <a:off x="3001395" y="19232511"/>
            <a:ext cx="9141611"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2</a:t>
            </a:r>
            <a:r>
              <a:rPr kumimoji="1" lang="ja-JP" altLang="en-US" sz="3200">
                <a:latin typeface="MS PGothic" panose="020B0600070205080204" pitchFamily="34" charset="-128"/>
                <a:ea typeface="MS PGothic" panose="020B0600070205080204" pitchFamily="34" charset="-128"/>
              </a:rPr>
              <a:t>　</a:t>
            </a:r>
            <a:r>
              <a:rPr kumimoji="1" lang="en-US" altLang="ja-JP" sz="3200" dirty="0" err="1">
                <a:latin typeface="MS PGothic" panose="020B0600070205080204" pitchFamily="34" charset="-128"/>
                <a:ea typeface="MS PGothic" panose="020B0600070205080204" pitchFamily="34" charset="-128"/>
              </a:rPr>
              <a:t>GenImage</a:t>
            </a:r>
            <a:r>
              <a:rPr kumimoji="1" lang="ja-JP" altLang="en-US" sz="3200">
                <a:latin typeface="MS PGothic" panose="020B0600070205080204" pitchFamily="34" charset="-128"/>
                <a:ea typeface="MS PGothic" panose="020B0600070205080204" pitchFamily="34" charset="-128"/>
              </a:rPr>
              <a:t>データベース </a:t>
            </a:r>
          </a:p>
        </p:txBody>
      </p:sp>
      <p:pic>
        <p:nvPicPr>
          <p:cNvPr id="1042" name="図 1041" descr="部屋に備えている様々な写真のコラージュ&#10;&#10;中程度の精度で自動的に生成された説明">
            <a:extLst>
              <a:ext uri="{FF2B5EF4-FFF2-40B4-BE49-F238E27FC236}">
                <a16:creationId xmlns:a16="http://schemas.microsoft.com/office/drawing/2014/main" id="{67A750D9-80AF-1AA2-64C0-E77C885969D1}"/>
              </a:ext>
            </a:extLst>
          </p:cNvPr>
          <p:cNvPicPr>
            <a:picLocks noChangeAspect="1"/>
          </p:cNvPicPr>
          <p:nvPr/>
        </p:nvPicPr>
        <p:blipFill rotWithShape="1">
          <a:blip r:embed="rId7">
            <a:extLst>
              <a:ext uri="{28A0092B-C50C-407E-A947-70E740481C1C}">
                <a14:useLocalDpi xmlns:a14="http://schemas.microsoft.com/office/drawing/2010/main" val="0"/>
              </a:ext>
            </a:extLst>
          </a:blip>
          <a:srcRect t="2" b="38582"/>
          <a:stretch/>
        </p:blipFill>
        <p:spPr>
          <a:xfrm>
            <a:off x="907796" y="14852735"/>
            <a:ext cx="13426458" cy="4325738"/>
          </a:xfrm>
          <a:prstGeom prst="rect">
            <a:avLst/>
          </a:prstGeom>
        </p:spPr>
      </p:pic>
      <p:pic>
        <p:nvPicPr>
          <p:cNvPr id="1038" name="図 1037">
            <a:extLst>
              <a:ext uri="{FF2B5EF4-FFF2-40B4-BE49-F238E27FC236}">
                <a16:creationId xmlns:a16="http://schemas.microsoft.com/office/drawing/2014/main" id="{E94D8EE5-7646-9C07-04A4-2E9F9BA7C268}"/>
              </a:ext>
            </a:extLst>
          </p:cNvPr>
          <p:cNvPicPr>
            <a:picLocks noChangeAspect="1"/>
          </p:cNvPicPr>
          <p:nvPr/>
        </p:nvPicPr>
        <p:blipFill>
          <a:blip r:embed="rId10"/>
          <a:stretch>
            <a:fillRect/>
          </a:stretch>
        </p:blipFill>
        <p:spPr>
          <a:xfrm>
            <a:off x="7878291" y="20167865"/>
            <a:ext cx="1028874" cy="1028874"/>
          </a:xfrm>
          <a:prstGeom prst="rect">
            <a:avLst/>
          </a:prstGeom>
        </p:spPr>
      </p:pic>
      <p:sp>
        <p:nvSpPr>
          <p:cNvPr id="1039" name="正方形/長方形 1038">
            <a:extLst>
              <a:ext uri="{FF2B5EF4-FFF2-40B4-BE49-F238E27FC236}">
                <a16:creationId xmlns:a16="http://schemas.microsoft.com/office/drawing/2014/main" id="{9CE5CCA9-8C0D-18F8-282A-7C2443429ED6}"/>
              </a:ext>
            </a:extLst>
          </p:cNvPr>
          <p:cNvSpPr/>
          <p:nvPr/>
        </p:nvSpPr>
        <p:spPr>
          <a:xfrm>
            <a:off x="9785765" y="20167865"/>
            <a:ext cx="2447903" cy="102887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u="sng" dirty="0">
                <a:solidFill>
                  <a:schemeClr val="tx1"/>
                </a:solidFill>
                <a:latin typeface="MS PGothic" panose="020B0600070205080204" pitchFamily="34" charset="-128"/>
                <a:ea typeface="MS PGothic" panose="020B0600070205080204" pitchFamily="34" charset="-128"/>
              </a:rPr>
              <a:t>ResNet50</a:t>
            </a:r>
          </a:p>
          <a:p>
            <a:pPr algn="ctr"/>
            <a:r>
              <a:rPr kumimoji="1" lang="en-US" altLang="ja-JP" sz="3200" dirty="0" err="1">
                <a:solidFill>
                  <a:schemeClr val="tx1"/>
                </a:solidFill>
                <a:latin typeface="MS PGothic" panose="020B0600070205080204" pitchFamily="34" charset="-128"/>
                <a:ea typeface="MS PGothic" panose="020B0600070205080204" pitchFamily="34" charset="-128"/>
              </a:rPr>
              <a:t>BigGAN</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1040" name="直線矢印コネクタ 1039">
            <a:extLst>
              <a:ext uri="{FF2B5EF4-FFF2-40B4-BE49-F238E27FC236}">
                <a16:creationId xmlns:a16="http://schemas.microsoft.com/office/drawing/2014/main" id="{10501975-2C36-5CF2-3555-3296B599C122}"/>
              </a:ext>
            </a:extLst>
          </p:cNvPr>
          <p:cNvCxnSpPr>
            <a:stCxn id="1038" idx="3"/>
            <a:endCxn id="1039" idx="1"/>
          </p:cNvCxnSpPr>
          <p:nvPr/>
        </p:nvCxnSpPr>
        <p:spPr>
          <a:xfrm>
            <a:off x="8907165" y="20682302"/>
            <a:ext cx="8786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1" name="直線矢印コネクタ 1040">
            <a:extLst>
              <a:ext uri="{FF2B5EF4-FFF2-40B4-BE49-F238E27FC236}">
                <a16:creationId xmlns:a16="http://schemas.microsoft.com/office/drawing/2014/main" id="{4B5B3E12-4987-24FD-AA5D-9C78F132F0AB}"/>
              </a:ext>
            </a:extLst>
          </p:cNvPr>
          <p:cNvCxnSpPr>
            <a:cxnSpLocks/>
            <a:stCxn id="1039" idx="3"/>
            <a:endCxn id="1049" idx="1"/>
          </p:cNvCxnSpPr>
          <p:nvPr/>
        </p:nvCxnSpPr>
        <p:spPr>
          <a:xfrm flipV="1">
            <a:off x="12233668" y="20368824"/>
            <a:ext cx="878600" cy="3134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4" name="直線矢印コネクタ 1043">
            <a:extLst>
              <a:ext uri="{FF2B5EF4-FFF2-40B4-BE49-F238E27FC236}">
                <a16:creationId xmlns:a16="http://schemas.microsoft.com/office/drawing/2014/main" id="{729FDB48-D6CF-36F8-464B-2FB61A1E70AC}"/>
              </a:ext>
            </a:extLst>
          </p:cNvPr>
          <p:cNvCxnSpPr>
            <a:cxnSpLocks/>
            <a:stCxn id="1039" idx="3"/>
            <a:endCxn id="1050" idx="1"/>
          </p:cNvCxnSpPr>
          <p:nvPr/>
        </p:nvCxnSpPr>
        <p:spPr>
          <a:xfrm>
            <a:off x="12233668" y="20682302"/>
            <a:ext cx="879439" cy="2954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49" name="テキスト ボックス 1048">
                <a:extLst>
                  <a:ext uri="{FF2B5EF4-FFF2-40B4-BE49-F238E27FC236}">
                    <a16:creationId xmlns:a16="http://schemas.microsoft.com/office/drawing/2014/main" id="{A6B579B5-F9DF-A15F-E359-21D43133BC52}"/>
                  </a:ext>
                </a:extLst>
              </p:cNvPr>
              <p:cNvSpPr txBox="1"/>
              <p:nvPr/>
            </p:nvSpPr>
            <p:spPr>
              <a:xfrm>
                <a:off x="13112268" y="20076436"/>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𝑅𝑒𝑎𝑙</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49" name="テキスト ボックス 1048">
                <a:extLst>
                  <a:ext uri="{FF2B5EF4-FFF2-40B4-BE49-F238E27FC236}">
                    <a16:creationId xmlns:a16="http://schemas.microsoft.com/office/drawing/2014/main" id="{A6B579B5-F9DF-A15F-E359-21D43133BC52}"/>
                  </a:ext>
                </a:extLst>
              </p:cNvPr>
              <p:cNvSpPr txBox="1">
                <a:spLocks noRot="1" noChangeAspect="1" noMove="1" noResize="1" noEditPoints="1" noAdjustHandles="1" noChangeArrowheads="1" noChangeShapeType="1" noTextEdit="1"/>
              </p:cNvSpPr>
              <p:nvPr/>
            </p:nvSpPr>
            <p:spPr>
              <a:xfrm>
                <a:off x="13112268" y="20076436"/>
                <a:ext cx="1585290" cy="584775"/>
              </a:xfrm>
              <a:prstGeom prst="rect">
                <a:avLst/>
              </a:prstGeom>
              <a:blipFill>
                <a:blip r:embed="rId11"/>
                <a:stretch>
                  <a:fillRect b="-2128"/>
                </a:stretch>
              </a:blipFill>
              <a:ln w="38100">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50" name="テキスト ボックス 1049">
                <a:extLst>
                  <a:ext uri="{FF2B5EF4-FFF2-40B4-BE49-F238E27FC236}">
                    <a16:creationId xmlns:a16="http://schemas.microsoft.com/office/drawing/2014/main" id="{73A5157F-A132-7B12-EE11-3C3DF6EE5926}"/>
                  </a:ext>
                </a:extLst>
              </p:cNvPr>
              <p:cNvSpPr txBox="1"/>
              <p:nvPr/>
            </p:nvSpPr>
            <p:spPr>
              <a:xfrm>
                <a:off x="13113107" y="20685329"/>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𝐹𝑎𝑘𝑒</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50" name="テキスト ボックス 1049">
                <a:extLst>
                  <a:ext uri="{FF2B5EF4-FFF2-40B4-BE49-F238E27FC236}">
                    <a16:creationId xmlns:a16="http://schemas.microsoft.com/office/drawing/2014/main" id="{73A5157F-A132-7B12-EE11-3C3DF6EE5926}"/>
                  </a:ext>
                </a:extLst>
              </p:cNvPr>
              <p:cNvSpPr txBox="1">
                <a:spLocks noRot="1" noChangeAspect="1" noMove="1" noResize="1" noEditPoints="1" noAdjustHandles="1" noChangeArrowheads="1" noChangeShapeType="1" noTextEdit="1"/>
              </p:cNvSpPr>
              <p:nvPr/>
            </p:nvSpPr>
            <p:spPr>
              <a:xfrm>
                <a:off x="13113107" y="20685329"/>
                <a:ext cx="1585290" cy="584775"/>
              </a:xfrm>
              <a:prstGeom prst="rect">
                <a:avLst/>
              </a:prstGeom>
              <a:blipFill>
                <a:blip r:embed="rId15"/>
                <a:stretch>
                  <a:fillRect b="-2128"/>
                </a:stretch>
              </a:blipFill>
              <a:ln w="38100">
                <a:noFill/>
              </a:ln>
            </p:spPr>
            <p:txBody>
              <a:bodyPr/>
              <a:lstStyle/>
              <a:p>
                <a:r>
                  <a:rPr lang="ja-JP" altLang="en-US">
                    <a:noFill/>
                  </a:rPr>
                  <a:t> </a:t>
                </a:r>
              </a:p>
            </p:txBody>
          </p:sp>
        </mc:Fallback>
      </mc:AlternateContent>
      <p:pic>
        <p:nvPicPr>
          <p:cNvPr id="1051" name="図 1050">
            <a:extLst>
              <a:ext uri="{FF2B5EF4-FFF2-40B4-BE49-F238E27FC236}">
                <a16:creationId xmlns:a16="http://schemas.microsoft.com/office/drawing/2014/main" id="{EB3F2B8E-B2D0-D814-8E44-A590C589FBCF}"/>
              </a:ext>
            </a:extLst>
          </p:cNvPr>
          <p:cNvPicPr>
            <a:picLocks noChangeAspect="1"/>
          </p:cNvPicPr>
          <p:nvPr/>
        </p:nvPicPr>
        <p:blipFill>
          <a:blip r:embed="rId10"/>
          <a:stretch>
            <a:fillRect/>
          </a:stretch>
        </p:blipFill>
        <p:spPr>
          <a:xfrm>
            <a:off x="7878291" y="21416143"/>
            <a:ext cx="1028874" cy="1028874"/>
          </a:xfrm>
          <a:prstGeom prst="rect">
            <a:avLst/>
          </a:prstGeom>
        </p:spPr>
      </p:pic>
      <p:sp>
        <p:nvSpPr>
          <p:cNvPr id="1052" name="正方形/長方形 1051">
            <a:extLst>
              <a:ext uri="{FF2B5EF4-FFF2-40B4-BE49-F238E27FC236}">
                <a16:creationId xmlns:a16="http://schemas.microsoft.com/office/drawing/2014/main" id="{0407D39A-B24E-3865-F827-5F26FC979CAF}"/>
              </a:ext>
            </a:extLst>
          </p:cNvPr>
          <p:cNvSpPr/>
          <p:nvPr/>
        </p:nvSpPr>
        <p:spPr>
          <a:xfrm>
            <a:off x="9785765" y="21416143"/>
            <a:ext cx="2447903" cy="102887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u="sng" dirty="0">
                <a:solidFill>
                  <a:schemeClr val="tx1"/>
                </a:solidFill>
                <a:latin typeface="MS PGothic" panose="020B0600070205080204" pitchFamily="34" charset="-128"/>
                <a:ea typeface="MS PGothic" panose="020B0600070205080204" pitchFamily="34" charset="-128"/>
              </a:rPr>
              <a:t>ResNet50</a:t>
            </a:r>
          </a:p>
          <a:p>
            <a:pPr algn="ctr"/>
            <a:r>
              <a:rPr kumimoji="1" lang="en-US" altLang="ja-JP" sz="3200" dirty="0">
                <a:solidFill>
                  <a:schemeClr val="tx1"/>
                </a:solidFill>
                <a:latin typeface="MS PGothic" panose="020B0600070205080204" pitchFamily="34" charset="-128"/>
                <a:ea typeface="MS PGothic" panose="020B0600070205080204" pitchFamily="34" charset="-128"/>
              </a:rPr>
              <a:t>GLIDE</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1053" name="直線矢印コネクタ 1052">
            <a:extLst>
              <a:ext uri="{FF2B5EF4-FFF2-40B4-BE49-F238E27FC236}">
                <a16:creationId xmlns:a16="http://schemas.microsoft.com/office/drawing/2014/main" id="{497F9C64-1338-1738-0AEB-DAEC05A039DF}"/>
              </a:ext>
            </a:extLst>
          </p:cNvPr>
          <p:cNvCxnSpPr>
            <a:stCxn id="1051" idx="3"/>
            <a:endCxn id="1052" idx="1"/>
          </p:cNvCxnSpPr>
          <p:nvPr/>
        </p:nvCxnSpPr>
        <p:spPr>
          <a:xfrm>
            <a:off x="8907165" y="21930580"/>
            <a:ext cx="8786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5" name="直線矢印コネクタ 1054">
            <a:extLst>
              <a:ext uri="{FF2B5EF4-FFF2-40B4-BE49-F238E27FC236}">
                <a16:creationId xmlns:a16="http://schemas.microsoft.com/office/drawing/2014/main" id="{867A364E-5770-799D-63B8-83FA40371DDD}"/>
              </a:ext>
            </a:extLst>
          </p:cNvPr>
          <p:cNvCxnSpPr>
            <a:cxnSpLocks/>
            <a:stCxn id="1052" idx="3"/>
            <a:endCxn id="1062" idx="1"/>
          </p:cNvCxnSpPr>
          <p:nvPr/>
        </p:nvCxnSpPr>
        <p:spPr>
          <a:xfrm flipV="1">
            <a:off x="12233668" y="21617102"/>
            <a:ext cx="878600" cy="3134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7" name="直線矢印コネクタ 1056">
            <a:extLst>
              <a:ext uri="{FF2B5EF4-FFF2-40B4-BE49-F238E27FC236}">
                <a16:creationId xmlns:a16="http://schemas.microsoft.com/office/drawing/2014/main" id="{6741D223-D55C-4F9A-6682-A41B4B1F26E6}"/>
              </a:ext>
            </a:extLst>
          </p:cNvPr>
          <p:cNvCxnSpPr>
            <a:cxnSpLocks/>
            <a:stCxn id="1052" idx="3"/>
            <a:endCxn id="1063" idx="1"/>
          </p:cNvCxnSpPr>
          <p:nvPr/>
        </p:nvCxnSpPr>
        <p:spPr>
          <a:xfrm>
            <a:off x="12233668" y="21930580"/>
            <a:ext cx="879439" cy="2954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62" name="テキスト ボックス 1061">
                <a:extLst>
                  <a:ext uri="{FF2B5EF4-FFF2-40B4-BE49-F238E27FC236}">
                    <a16:creationId xmlns:a16="http://schemas.microsoft.com/office/drawing/2014/main" id="{60657E7D-1393-C6F8-1AE9-E0751F201295}"/>
                  </a:ext>
                </a:extLst>
              </p:cNvPr>
              <p:cNvSpPr txBox="1"/>
              <p:nvPr/>
            </p:nvSpPr>
            <p:spPr>
              <a:xfrm>
                <a:off x="13112268" y="21324714"/>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𝑅𝑒𝑎𝑙</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62" name="テキスト ボックス 1061">
                <a:extLst>
                  <a:ext uri="{FF2B5EF4-FFF2-40B4-BE49-F238E27FC236}">
                    <a16:creationId xmlns:a16="http://schemas.microsoft.com/office/drawing/2014/main" id="{60657E7D-1393-C6F8-1AE9-E0751F201295}"/>
                  </a:ext>
                </a:extLst>
              </p:cNvPr>
              <p:cNvSpPr txBox="1">
                <a:spLocks noRot="1" noChangeAspect="1" noMove="1" noResize="1" noEditPoints="1" noAdjustHandles="1" noChangeArrowheads="1" noChangeShapeType="1" noTextEdit="1"/>
              </p:cNvSpPr>
              <p:nvPr/>
            </p:nvSpPr>
            <p:spPr>
              <a:xfrm>
                <a:off x="13112268" y="21324714"/>
                <a:ext cx="1585290" cy="584775"/>
              </a:xfrm>
              <a:prstGeom prst="rect">
                <a:avLst/>
              </a:prstGeom>
              <a:blipFill>
                <a:blip r:embed="rId13"/>
                <a:stretch>
                  <a:fillRect b="-2128"/>
                </a:stretch>
              </a:blipFill>
              <a:ln w="38100">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63" name="テキスト ボックス 1062">
                <a:extLst>
                  <a:ext uri="{FF2B5EF4-FFF2-40B4-BE49-F238E27FC236}">
                    <a16:creationId xmlns:a16="http://schemas.microsoft.com/office/drawing/2014/main" id="{6D3283A0-9A67-D848-1ECC-4FAC760E56C4}"/>
                  </a:ext>
                </a:extLst>
              </p:cNvPr>
              <p:cNvSpPr txBox="1"/>
              <p:nvPr/>
            </p:nvSpPr>
            <p:spPr>
              <a:xfrm>
                <a:off x="13113107" y="21933607"/>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𝐹𝑎𝑘𝑒</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63" name="テキスト ボックス 1062">
                <a:extLst>
                  <a:ext uri="{FF2B5EF4-FFF2-40B4-BE49-F238E27FC236}">
                    <a16:creationId xmlns:a16="http://schemas.microsoft.com/office/drawing/2014/main" id="{6D3283A0-9A67-D848-1ECC-4FAC760E56C4}"/>
                  </a:ext>
                </a:extLst>
              </p:cNvPr>
              <p:cNvSpPr txBox="1">
                <a:spLocks noRot="1" noChangeAspect="1" noMove="1" noResize="1" noEditPoints="1" noAdjustHandles="1" noChangeArrowheads="1" noChangeShapeType="1" noTextEdit="1"/>
              </p:cNvSpPr>
              <p:nvPr/>
            </p:nvSpPr>
            <p:spPr>
              <a:xfrm>
                <a:off x="13113107" y="21933607"/>
                <a:ext cx="1585290" cy="584775"/>
              </a:xfrm>
              <a:prstGeom prst="rect">
                <a:avLst/>
              </a:prstGeom>
              <a:blipFill>
                <a:blip r:embed="rId16"/>
                <a:stretch>
                  <a:fillRect b="-2128"/>
                </a:stretch>
              </a:blipFill>
              <a:ln w="38100">
                <a:noFill/>
              </a:ln>
            </p:spPr>
            <p:txBody>
              <a:bodyPr/>
              <a:lstStyle/>
              <a:p>
                <a:r>
                  <a:rPr lang="ja-JP" altLang="en-US">
                    <a:noFill/>
                  </a:rPr>
                  <a:t> </a:t>
                </a:r>
              </a:p>
            </p:txBody>
          </p:sp>
        </mc:Fallback>
      </mc:AlternateContent>
      <p:pic>
        <p:nvPicPr>
          <p:cNvPr id="1064" name="図 1063">
            <a:extLst>
              <a:ext uri="{FF2B5EF4-FFF2-40B4-BE49-F238E27FC236}">
                <a16:creationId xmlns:a16="http://schemas.microsoft.com/office/drawing/2014/main" id="{0BE10B8E-7E1A-38B1-39FB-D42CCACEE836}"/>
              </a:ext>
            </a:extLst>
          </p:cNvPr>
          <p:cNvPicPr>
            <a:picLocks noChangeAspect="1"/>
          </p:cNvPicPr>
          <p:nvPr/>
        </p:nvPicPr>
        <p:blipFill>
          <a:blip r:embed="rId10"/>
          <a:stretch>
            <a:fillRect/>
          </a:stretch>
        </p:blipFill>
        <p:spPr>
          <a:xfrm>
            <a:off x="550042" y="36051247"/>
            <a:ext cx="1028875" cy="1028875"/>
          </a:xfrm>
          <a:prstGeom prst="rect">
            <a:avLst/>
          </a:prstGeom>
        </p:spPr>
      </p:pic>
      <p:sp>
        <p:nvSpPr>
          <p:cNvPr id="1065" name="正方形/長方形 1064">
            <a:extLst>
              <a:ext uri="{FF2B5EF4-FFF2-40B4-BE49-F238E27FC236}">
                <a16:creationId xmlns:a16="http://schemas.microsoft.com/office/drawing/2014/main" id="{E9F47BF0-172F-5AB3-9AC0-F52872E29ADA}"/>
              </a:ext>
            </a:extLst>
          </p:cNvPr>
          <p:cNvSpPr/>
          <p:nvPr/>
        </p:nvSpPr>
        <p:spPr>
          <a:xfrm>
            <a:off x="2457517" y="36047446"/>
            <a:ext cx="2447903" cy="102887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u="sng" dirty="0" err="1">
                <a:solidFill>
                  <a:schemeClr val="tx1"/>
                </a:solidFill>
                <a:latin typeface="MS PGothic" panose="020B0600070205080204" pitchFamily="34" charset="-128"/>
                <a:ea typeface="MS PGothic" panose="020B0600070205080204" pitchFamily="34" charset="-128"/>
              </a:rPr>
              <a:t>Swin</a:t>
            </a:r>
            <a:r>
              <a:rPr kumimoji="1" lang="en-US" altLang="ja-JP" sz="3200" u="sng" dirty="0">
                <a:solidFill>
                  <a:schemeClr val="tx1"/>
                </a:solidFill>
                <a:latin typeface="MS PGothic" panose="020B0600070205080204" pitchFamily="34" charset="-128"/>
                <a:ea typeface="MS PGothic" panose="020B0600070205080204" pitchFamily="34" charset="-128"/>
              </a:rPr>
              <a:t>-T</a:t>
            </a:r>
          </a:p>
          <a:p>
            <a:pPr algn="ctr"/>
            <a:r>
              <a:rPr kumimoji="1" lang="en-US" altLang="ja-JP" sz="3200" dirty="0" err="1">
                <a:solidFill>
                  <a:schemeClr val="tx1"/>
                </a:solidFill>
                <a:latin typeface="MS PGothic" panose="020B0600070205080204" pitchFamily="34" charset="-128"/>
                <a:ea typeface="MS PGothic" panose="020B0600070205080204" pitchFamily="34" charset="-128"/>
              </a:rPr>
              <a:t>BigGAN</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1066" name="直線矢印コネクタ 1065">
            <a:extLst>
              <a:ext uri="{FF2B5EF4-FFF2-40B4-BE49-F238E27FC236}">
                <a16:creationId xmlns:a16="http://schemas.microsoft.com/office/drawing/2014/main" id="{EF3A747C-D598-4C76-23C5-950C8A968082}"/>
              </a:ext>
            </a:extLst>
          </p:cNvPr>
          <p:cNvCxnSpPr>
            <a:cxnSpLocks/>
            <a:stCxn id="1064" idx="3"/>
            <a:endCxn id="1065" idx="1"/>
          </p:cNvCxnSpPr>
          <p:nvPr/>
        </p:nvCxnSpPr>
        <p:spPr>
          <a:xfrm flipV="1">
            <a:off x="1578917" y="36561883"/>
            <a:ext cx="878600" cy="380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67" name="正方形/長方形 1066">
            <a:extLst>
              <a:ext uri="{FF2B5EF4-FFF2-40B4-BE49-F238E27FC236}">
                <a16:creationId xmlns:a16="http://schemas.microsoft.com/office/drawing/2014/main" id="{5E3C4A9B-66FB-6BC5-083F-959387D8CA22}"/>
              </a:ext>
            </a:extLst>
          </p:cNvPr>
          <p:cNvSpPr/>
          <p:nvPr/>
        </p:nvSpPr>
        <p:spPr>
          <a:xfrm>
            <a:off x="5784020" y="36039465"/>
            <a:ext cx="2447903" cy="102887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u="sng" dirty="0" err="1">
                <a:solidFill>
                  <a:schemeClr val="tx1"/>
                </a:solidFill>
                <a:latin typeface="MS PGothic" panose="020B0600070205080204" pitchFamily="34" charset="-128"/>
                <a:ea typeface="MS PGothic" panose="020B0600070205080204" pitchFamily="34" charset="-128"/>
              </a:rPr>
              <a:t>Swin</a:t>
            </a:r>
            <a:r>
              <a:rPr kumimoji="1" lang="en-US" altLang="ja-JP" sz="3200" u="sng" dirty="0">
                <a:solidFill>
                  <a:schemeClr val="tx1"/>
                </a:solidFill>
                <a:latin typeface="MS PGothic" panose="020B0600070205080204" pitchFamily="34" charset="-128"/>
                <a:ea typeface="MS PGothic" panose="020B0600070205080204" pitchFamily="34" charset="-128"/>
              </a:rPr>
              <a:t>-T</a:t>
            </a:r>
          </a:p>
          <a:p>
            <a:pPr algn="ctr"/>
            <a:r>
              <a:rPr kumimoji="1" lang="en-US" altLang="ja-JP" sz="3200" dirty="0">
                <a:solidFill>
                  <a:schemeClr val="tx1"/>
                </a:solidFill>
                <a:latin typeface="MS PGothic" panose="020B0600070205080204" pitchFamily="34" charset="-128"/>
                <a:ea typeface="MS PGothic" panose="020B0600070205080204" pitchFamily="34" charset="-128"/>
              </a:rPr>
              <a:t>GLIDE</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1068" name="直線矢印コネクタ 1067">
            <a:extLst>
              <a:ext uri="{FF2B5EF4-FFF2-40B4-BE49-F238E27FC236}">
                <a16:creationId xmlns:a16="http://schemas.microsoft.com/office/drawing/2014/main" id="{7CC7905A-F180-D1B8-6AA9-0A80647D970C}"/>
              </a:ext>
            </a:extLst>
          </p:cNvPr>
          <p:cNvCxnSpPr>
            <a:cxnSpLocks/>
            <a:stCxn id="1065" idx="3"/>
            <a:endCxn id="1067" idx="1"/>
          </p:cNvCxnSpPr>
          <p:nvPr/>
        </p:nvCxnSpPr>
        <p:spPr>
          <a:xfrm flipV="1">
            <a:off x="4905420" y="36553902"/>
            <a:ext cx="878600" cy="798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2" name="直線矢印コネクタ 1071">
            <a:extLst>
              <a:ext uri="{FF2B5EF4-FFF2-40B4-BE49-F238E27FC236}">
                <a16:creationId xmlns:a16="http://schemas.microsoft.com/office/drawing/2014/main" id="{76A5B752-3C5C-B9EA-443C-63790FC176CD}"/>
              </a:ext>
            </a:extLst>
          </p:cNvPr>
          <p:cNvCxnSpPr>
            <a:cxnSpLocks/>
            <a:stCxn id="1067" idx="3"/>
            <a:endCxn id="1075" idx="1"/>
          </p:cNvCxnSpPr>
          <p:nvPr/>
        </p:nvCxnSpPr>
        <p:spPr>
          <a:xfrm>
            <a:off x="8231923" y="36553902"/>
            <a:ext cx="878600" cy="584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75" name="正方形/長方形 1074">
            <a:extLst>
              <a:ext uri="{FF2B5EF4-FFF2-40B4-BE49-F238E27FC236}">
                <a16:creationId xmlns:a16="http://schemas.microsoft.com/office/drawing/2014/main" id="{375F37DD-9F84-D058-8D7A-A79668443ED9}"/>
              </a:ext>
            </a:extLst>
          </p:cNvPr>
          <p:cNvSpPr/>
          <p:nvPr/>
        </p:nvSpPr>
        <p:spPr>
          <a:xfrm>
            <a:off x="9110523" y="36045311"/>
            <a:ext cx="2447903" cy="102887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u="sng" dirty="0" err="1">
                <a:solidFill>
                  <a:schemeClr val="tx1"/>
                </a:solidFill>
                <a:latin typeface="MS PGothic" panose="020B0600070205080204" pitchFamily="34" charset="-128"/>
                <a:ea typeface="MS PGothic" panose="020B0600070205080204" pitchFamily="34" charset="-128"/>
              </a:rPr>
              <a:t>Swin</a:t>
            </a:r>
            <a:r>
              <a:rPr kumimoji="1" lang="en-US" altLang="ja-JP" sz="3200" u="sng" dirty="0">
                <a:solidFill>
                  <a:schemeClr val="tx1"/>
                </a:solidFill>
                <a:latin typeface="MS PGothic" panose="020B0600070205080204" pitchFamily="34" charset="-128"/>
                <a:ea typeface="MS PGothic" panose="020B0600070205080204" pitchFamily="34" charset="-128"/>
              </a:rPr>
              <a:t>-T</a:t>
            </a:r>
          </a:p>
          <a:p>
            <a:pPr algn="ctr"/>
            <a:r>
              <a:rPr kumimoji="1" lang="en-US" altLang="ja-JP" sz="3200" dirty="0">
                <a:solidFill>
                  <a:schemeClr val="tx1"/>
                </a:solidFill>
                <a:latin typeface="MS PGothic" panose="020B0600070205080204" pitchFamily="34" charset="-128"/>
                <a:ea typeface="MS PGothic" panose="020B0600070205080204" pitchFamily="34" charset="-128"/>
              </a:rPr>
              <a:t>ADM</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1082" name="直線矢印コネクタ 1081">
            <a:extLst>
              <a:ext uri="{FF2B5EF4-FFF2-40B4-BE49-F238E27FC236}">
                <a16:creationId xmlns:a16="http://schemas.microsoft.com/office/drawing/2014/main" id="{9BC2C4A7-773C-0C03-C008-9CF51ADFE876}"/>
              </a:ext>
            </a:extLst>
          </p:cNvPr>
          <p:cNvCxnSpPr>
            <a:cxnSpLocks/>
            <a:stCxn id="1075" idx="3"/>
            <a:endCxn id="1084" idx="1"/>
          </p:cNvCxnSpPr>
          <p:nvPr/>
        </p:nvCxnSpPr>
        <p:spPr>
          <a:xfrm flipV="1">
            <a:off x="11558426" y="36553538"/>
            <a:ext cx="1463455" cy="62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84" name="テキスト ボックス 1083">
                <a:extLst>
                  <a:ext uri="{FF2B5EF4-FFF2-40B4-BE49-F238E27FC236}">
                    <a16:creationId xmlns:a16="http://schemas.microsoft.com/office/drawing/2014/main" id="{6403275F-5FBC-0515-7F50-22064F08D632}"/>
                  </a:ext>
                </a:extLst>
              </p:cNvPr>
              <p:cNvSpPr txBox="1"/>
              <p:nvPr/>
            </p:nvSpPr>
            <p:spPr>
              <a:xfrm>
                <a:off x="13021881" y="36261150"/>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𝑅𝑒𝑎𝑙</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84" name="テキスト ボックス 1083">
                <a:extLst>
                  <a:ext uri="{FF2B5EF4-FFF2-40B4-BE49-F238E27FC236}">
                    <a16:creationId xmlns:a16="http://schemas.microsoft.com/office/drawing/2014/main" id="{6403275F-5FBC-0515-7F50-22064F08D632}"/>
                  </a:ext>
                </a:extLst>
              </p:cNvPr>
              <p:cNvSpPr txBox="1">
                <a:spLocks noRot="1" noChangeAspect="1" noMove="1" noResize="1" noEditPoints="1" noAdjustHandles="1" noChangeArrowheads="1" noChangeShapeType="1" noTextEdit="1"/>
              </p:cNvSpPr>
              <p:nvPr/>
            </p:nvSpPr>
            <p:spPr>
              <a:xfrm>
                <a:off x="13021881" y="36261150"/>
                <a:ext cx="1585290" cy="584775"/>
              </a:xfrm>
              <a:prstGeom prst="rect">
                <a:avLst/>
              </a:prstGeom>
              <a:blipFill>
                <a:blip r:embed="rId17"/>
                <a:stretch>
                  <a:fillRect b="-2128"/>
                </a:stretch>
              </a:blipFill>
              <a:ln w="38100">
                <a:noFill/>
              </a:ln>
            </p:spPr>
            <p:txBody>
              <a:bodyPr/>
              <a:lstStyle/>
              <a:p>
                <a:r>
                  <a:rPr lang="ja-JP" altLang="en-US">
                    <a:noFill/>
                  </a:rPr>
                  <a:t> </a:t>
                </a:r>
              </a:p>
            </p:txBody>
          </p:sp>
        </mc:Fallback>
      </mc:AlternateContent>
      <p:sp>
        <p:nvSpPr>
          <p:cNvPr id="1087" name="テキスト ボックス 1086">
            <a:extLst>
              <a:ext uri="{FF2B5EF4-FFF2-40B4-BE49-F238E27FC236}">
                <a16:creationId xmlns:a16="http://schemas.microsoft.com/office/drawing/2014/main" id="{AA056EAD-5D03-0DAF-220C-49A2AA81B32D}"/>
              </a:ext>
            </a:extLst>
          </p:cNvPr>
          <p:cNvSpPr txBox="1"/>
          <p:nvPr/>
        </p:nvSpPr>
        <p:spPr>
          <a:xfrm>
            <a:off x="11997068" y="36251347"/>
            <a:ext cx="586169" cy="584775"/>
          </a:xfrm>
          <a:prstGeom prst="rect">
            <a:avLst/>
          </a:prstGeom>
          <a:solidFill>
            <a:schemeClr val="bg1"/>
          </a:solidFill>
        </p:spPr>
        <p:txBody>
          <a:bodyPr wrap="square" rtlCol="0">
            <a:spAutoFit/>
          </a:bodyPr>
          <a:lstStyle/>
          <a:p>
            <a:pPr algn="ctr"/>
            <a:r>
              <a:rPr kumimoji="1" lang="en-US" altLang="ja-JP" sz="3200" dirty="0">
                <a:latin typeface="MS PGothic" panose="020B0600070205080204" pitchFamily="34" charset="-128"/>
                <a:ea typeface="MS PGothic" panose="020B0600070205080204" pitchFamily="34" charset="-128"/>
              </a:rPr>
              <a:t>…</a:t>
            </a:r>
          </a:p>
        </p:txBody>
      </p:sp>
      <mc:AlternateContent xmlns:mc="http://schemas.openxmlformats.org/markup-compatibility/2006" xmlns:a14="http://schemas.microsoft.com/office/drawing/2010/main">
        <mc:Choice Requires="a14">
          <p:sp>
            <p:nvSpPr>
              <p:cNvPr id="1088" name="テキスト ボックス 1087">
                <a:extLst>
                  <a:ext uri="{FF2B5EF4-FFF2-40B4-BE49-F238E27FC236}">
                    <a16:creationId xmlns:a16="http://schemas.microsoft.com/office/drawing/2014/main" id="{10A88150-1764-EF15-D1B8-DB0F68F92EF4}"/>
                  </a:ext>
                </a:extLst>
              </p:cNvPr>
              <p:cNvSpPr txBox="1"/>
              <p:nvPr/>
            </p:nvSpPr>
            <p:spPr>
              <a:xfrm>
                <a:off x="13021881" y="37420596"/>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𝐹𝑎𝑘𝑒</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088" name="テキスト ボックス 1087">
                <a:extLst>
                  <a:ext uri="{FF2B5EF4-FFF2-40B4-BE49-F238E27FC236}">
                    <a16:creationId xmlns:a16="http://schemas.microsoft.com/office/drawing/2014/main" id="{10A88150-1764-EF15-D1B8-DB0F68F92EF4}"/>
                  </a:ext>
                </a:extLst>
              </p:cNvPr>
              <p:cNvSpPr txBox="1">
                <a:spLocks noRot="1" noChangeAspect="1" noMove="1" noResize="1" noEditPoints="1" noAdjustHandles="1" noChangeArrowheads="1" noChangeShapeType="1" noTextEdit="1"/>
              </p:cNvSpPr>
              <p:nvPr/>
            </p:nvSpPr>
            <p:spPr>
              <a:xfrm>
                <a:off x="13021881" y="37420596"/>
                <a:ext cx="1585290" cy="584775"/>
              </a:xfrm>
              <a:prstGeom prst="rect">
                <a:avLst/>
              </a:prstGeom>
              <a:blipFill>
                <a:blip r:embed="rId18"/>
                <a:stretch>
                  <a:fillRect b="-2128"/>
                </a:stretch>
              </a:blipFill>
              <a:ln w="38100">
                <a:noFill/>
              </a:ln>
            </p:spPr>
            <p:txBody>
              <a:bodyPr/>
              <a:lstStyle/>
              <a:p>
                <a:r>
                  <a:rPr lang="ja-JP" altLang="en-US">
                    <a:noFill/>
                  </a:rPr>
                  <a:t> </a:t>
                </a:r>
              </a:p>
            </p:txBody>
          </p:sp>
        </mc:Fallback>
      </mc:AlternateContent>
      <p:cxnSp>
        <p:nvCxnSpPr>
          <p:cNvPr id="1089" name="直線矢印コネクタ 1088">
            <a:extLst>
              <a:ext uri="{FF2B5EF4-FFF2-40B4-BE49-F238E27FC236}">
                <a16:creationId xmlns:a16="http://schemas.microsoft.com/office/drawing/2014/main" id="{E0B558C1-F647-489E-A5A5-6C4C68E1FA29}"/>
              </a:ext>
            </a:extLst>
          </p:cNvPr>
          <p:cNvCxnSpPr>
            <a:cxnSpLocks/>
            <a:stCxn id="1065" idx="2"/>
            <a:endCxn id="1088" idx="1"/>
          </p:cNvCxnSpPr>
          <p:nvPr/>
        </p:nvCxnSpPr>
        <p:spPr>
          <a:xfrm rot="16200000" flipH="1">
            <a:off x="8033343" y="32724446"/>
            <a:ext cx="636664" cy="9340412"/>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2" name="直線矢印コネクタ 1088">
            <a:extLst>
              <a:ext uri="{FF2B5EF4-FFF2-40B4-BE49-F238E27FC236}">
                <a16:creationId xmlns:a16="http://schemas.microsoft.com/office/drawing/2014/main" id="{B1D72C0E-CC91-3E3C-F1C2-A720BA0B6981}"/>
              </a:ext>
            </a:extLst>
          </p:cNvPr>
          <p:cNvCxnSpPr>
            <a:cxnSpLocks/>
            <a:stCxn id="1067" idx="2"/>
            <a:endCxn id="1088" idx="1"/>
          </p:cNvCxnSpPr>
          <p:nvPr/>
        </p:nvCxnSpPr>
        <p:spPr>
          <a:xfrm rot="16200000" flipH="1">
            <a:off x="9692604" y="34383706"/>
            <a:ext cx="644645" cy="6013909"/>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5" name="直線矢印コネクタ 1088">
            <a:extLst>
              <a:ext uri="{FF2B5EF4-FFF2-40B4-BE49-F238E27FC236}">
                <a16:creationId xmlns:a16="http://schemas.microsoft.com/office/drawing/2014/main" id="{384AA6C0-1515-F3C3-7193-CD236806E8E4}"/>
              </a:ext>
            </a:extLst>
          </p:cNvPr>
          <p:cNvCxnSpPr>
            <a:cxnSpLocks/>
            <a:stCxn id="1075" idx="2"/>
            <a:endCxn id="1088" idx="1"/>
          </p:cNvCxnSpPr>
          <p:nvPr/>
        </p:nvCxnSpPr>
        <p:spPr>
          <a:xfrm rot="16200000" flipH="1">
            <a:off x="11358779" y="36049881"/>
            <a:ext cx="638799" cy="268740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8" name="テキスト ボックス 1097">
                <a:extLst>
                  <a:ext uri="{FF2B5EF4-FFF2-40B4-BE49-F238E27FC236}">
                    <a16:creationId xmlns:a16="http://schemas.microsoft.com/office/drawing/2014/main" id="{ADE204E6-82D8-A3B1-6637-F90E2D685AA7}"/>
                  </a:ext>
                </a:extLst>
              </p:cNvPr>
              <p:cNvSpPr txBox="1"/>
              <p:nvPr/>
            </p:nvSpPr>
            <p:spPr>
              <a:xfrm>
                <a:off x="4974884" y="36104935"/>
                <a:ext cx="739671" cy="46166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ea typeface="MS PGothic" panose="020B0600070205080204" pitchFamily="34" charset="-128"/>
                        </a:rPr>
                        <m:t>𝑌𝑒𝑠</m:t>
                      </m:r>
                    </m:oMath>
                  </m:oMathPara>
                </a14:m>
                <a:endParaRPr kumimoji="1" lang="ja-JP" altLang="en-US" sz="2400">
                  <a:latin typeface="MS PGothic" panose="020B0600070205080204" pitchFamily="34" charset="-128"/>
                  <a:ea typeface="MS PGothic" panose="020B0600070205080204" pitchFamily="34" charset="-128"/>
                </a:endParaRPr>
              </a:p>
            </p:txBody>
          </p:sp>
        </mc:Choice>
        <mc:Fallback xmlns="">
          <p:sp>
            <p:nvSpPr>
              <p:cNvPr id="1098" name="テキスト ボックス 1097">
                <a:extLst>
                  <a:ext uri="{FF2B5EF4-FFF2-40B4-BE49-F238E27FC236}">
                    <a16:creationId xmlns:a16="http://schemas.microsoft.com/office/drawing/2014/main" id="{ADE204E6-82D8-A3B1-6637-F90E2D685AA7}"/>
                  </a:ext>
                </a:extLst>
              </p:cNvPr>
              <p:cNvSpPr txBox="1">
                <a:spLocks noRot="1" noChangeAspect="1" noMove="1" noResize="1" noEditPoints="1" noAdjustHandles="1" noChangeArrowheads="1" noChangeShapeType="1" noTextEdit="1"/>
              </p:cNvSpPr>
              <p:nvPr/>
            </p:nvSpPr>
            <p:spPr>
              <a:xfrm>
                <a:off x="4974884" y="36104935"/>
                <a:ext cx="739671" cy="461665"/>
              </a:xfrm>
              <a:prstGeom prst="rect">
                <a:avLst/>
              </a:prstGeom>
              <a:blipFill>
                <a:blip r:embed="rId19"/>
                <a:stretch>
                  <a:fillRect l="-3390"/>
                </a:stretch>
              </a:blipFill>
              <a:ln w="38100">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99" name="テキスト ボックス 1098">
                <a:extLst>
                  <a:ext uri="{FF2B5EF4-FFF2-40B4-BE49-F238E27FC236}">
                    <a16:creationId xmlns:a16="http://schemas.microsoft.com/office/drawing/2014/main" id="{872291A4-BC2F-3FDF-17C1-E681201E9348}"/>
                  </a:ext>
                </a:extLst>
              </p:cNvPr>
              <p:cNvSpPr txBox="1"/>
              <p:nvPr/>
            </p:nvSpPr>
            <p:spPr>
              <a:xfrm>
                <a:off x="8301387" y="36100218"/>
                <a:ext cx="739671" cy="46166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ea typeface="MS PGothic" panose="020B0600070205080204" pitchFamily="34" charset="-128"/>
                        </a:rPr>
                        <m:t>𝑌𝑒𝑠</m:t>
                      </m:r>
                    </m:oMath>
                  </m:oMathPara>
                </a14:m>
                <a:endParaRPr kumimoji="1" lang="ja-JP" altLang="en-US" sz="2400">
                  <a:latin typeface="MS PGothic" panose="020B0600070205080204" pitchFamily="34" charset="-128"/>
                  <a:ea typeface="MS PGothic" panose="020B0600070205080204" pitchFamily="34" charset="-128"/>
                </a:endParaRPr>
              </a:p>
            </p:txBody>
          </p:sp>
        </mc:Choice>
        <mc:Fallback xmlns="">
          <p:sp>
            <p:nvSpPr>
              <p:cNvPr id="1099" name="テキスト ボックス 1098">
                <a:extLst>
                  <a:ext uri="{FF2B5EF4-FFF2-40B4-BE49-F238E27FC236}">
                    <a16:creationId xmlns:a16="http://schemas.microsoft.com/office/drawing/2014/main" id="{872291A4-BC2F-3FDF-17C1-E681201E9348}"/>
                  </a:ext>
                </a:extLst>
              </p:cNvPr>
              <p:cNvSpPr txBox="1">
                <a:spLocks noRot="1" noChangeAspect="1" noMove="1" noResize="1" noEditPoints="1" noAdjustHandles="1" noChangeArrowheads="1" noChangeShapeType="1" noTextEdit="1"/>
              </p:cNvSpPr>
              <p:nvPr/>
            </p:nvSpPr>
            <p:spPr>
              <a:xfrm>
                <a:off x="8301387" y="36100218"/>
                <a:ext cx="739671" cy="461665"/>
              </a:xfrm>
              <a:prstGeom prst="rect">
                <a:avLst/>
              </a:prstGeom>
              <a:blipFill>
                <a:blip r:embed="rId20"/>
                <a:stretch>
                  <a:fillRect l="-3390"/>
                </a:stretch>
              </a:blipFill>
              <a:ln w="38100">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00" name="テキスト ボックス 1099">
                <a:extLst>
                  <a:ext uri="{FF2B5EF4-FFF2-40B4-BE49-F238E27FC236}">
                    <a16:creationId xmlns:a16="http://schemas.microsoft.com/office/drawing/2014/main" id="{952F85A5-991A-B24A-A05A-3DD0B15C39C8}"/>
                  </a:ext>
                </a:extLst>
              </p:cNvPr>
              <p:cNvSpPr txBox="1"/>
              <p:nvPr/>
            </p:nvSpPr>
            <p:spPr>
              <a:xfrm>
                <a:off x="11627232" y="36095587"/>
                <a:ext cx="739671" cy="46166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ea typeface="MS PGothic" panose="020B0600070205080204" pitchFamily="34" charset="-128"/>
                        </a:rPr>
                        <m:t>𝑌𝑒𝑠</m:t>
                      </m:r>
                    </m:oMath>
                  </m:oMathPara>
                </a14:m>
                <a:endParaRPr kumimoji="1" lang="ja-JP" altLang="en-US" sz="2400">
                  <a:latin typeface="MS PGothic" panose="020B0600070205080204" pitchFamily="34" charset="-128"/>
                  <a:ea typeface="MS PGothic" panose="020B0600070205080204" pitchFamily="34" charset="-128"/>
                </a:endParaRPr>
              </a:p>
            </p:txBody>
          </p:sp>
        </mc:Choice>
        <mc:Fallback xmlns="">
          <p:sp>
            <p:nvSpPr>
              <p:cNvPr id="1100" name="テキスト ボックス 1099">
                <a:extLst>
                  <a:ext uri="{FF2B5EF4-FFF2-40B4-BE49-F238E27FC236}">
                    <a16:creationId xmlns:a16="http://schemas.microsoft.com/office/drawing/2014/main" id="{952F85A5-991A-B24A-A05A-3DD0B15C39C8}"/>
                  </a:ext>
                </a:extLst>
              </p:cNvPr>
              <p:cNvSpPr txBox="1">
                <a:spLocks noRot="1" noChangeAspect="1" noMove="1" noResize="1" noEditPoints="1" noAdjustHandles="1" noChangeArrowheads="1" noChangeShapeType="1" noTextEdit="1"/>
              </p:cNvSpPr>
              <p:nvPr/>
            </p:nvSpPr>
            <p:spPr>
              <a:xfrm>
                <a:off x="11627232" y="36095587"/>
                <a:ext cx="739671" cy="461665"/>
              </a:xfrm>
              <a:prstGeom prst="rect">
                <a:avLst/>
              </a:prstGeom>
              <a:blipFill>
                <a:blip r:embed="rId21"/>
                <a:stretch>
                  <a:fillRect l="-3390"/>
                </a:stretch>
              </a:blipFill>
              <a:ln w="38100">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01" name="テキスト ボックス 1100">
                <a:extLst>
                  <a:ext uri="{FF2B5EF4-FFF2-40B4-BE49-F238E27FC236}">
                    <a16:creationId xmlns:a16="http://schemas.microsoft.com/office/drawing/2014/main" id="{3E352A45-7B32-9F7A-3835-89F1E4569351}"/>
                  </a:ext>
                </a:extLst>
              </p:cNvPr>
              <p:cNvSpPr txBox="1"/>
              <p:nvPr/>
            </p:nvSpPr>
            <p:spPr>
              <a:xfrm>
                <a:off x="3668405" y="37250523"/>
                <a:ext cx="739671" cy="46166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ea typeface="MS PGothic" panose="020B0600070205080204" pitchFamily="34" charset="-128"/>
                        </a:rPr>
                        <m:t>𝑁𝑜</m:t>
                      </m:r>
                    </m:oMath>
                  </m:oMathPara>
                </a14:m>
                <a:endParaRPr kumimoji="1" lang="ja-JP" altLang="en-US" sz="2400">
                  <a:latin typeface="MS PGothic" panose="020B0600070205080204" pitchFamily="34" charset="-128"/>
                  <a:ea typeface="MS PGothic" panose="020B0600070205080204" pitchFamily="34" charset="-128"/>
                </a:endParaRPr>
              </a:p>
            </p:txBody>
          </p:sp>
        </mc:Choice>
        <mc:Fallback xmlns="">
          <p:sp>
            <p:nvSpPr>
              <p:cNvPr id="1101" name="テキスト ボックス 1100">
                <a:extLst>
                  <a:ext uri="{FF2B5EF4-FFF2-40B4-BE49-F238E27FC236}">
                    <a16:creationId xmlns:a16="http://schemas.microsoft.com/office/drawing/2014/main" id="{3E352A45-7B32-9F7A-3835-89F1E4569351}"/>
                  </a:ext>
                </a:extLst>
              </p:cNvPr>
              <p:cNvSpPr txBox="1">
                <a:spLocks noRot="1" noChangeAspect="1" noMove="1" noResize="1" noEditPoints="1" noAdjustHandles="1" noChangeArrowheads="1" noChangeShapeType="1" noTextEdit="1"/>
              </p:cNvSpPr>
              <p:nvPr/>
            </p:nvSpPr>
            <p:spPr>
              <a:xfrm>
                <a:off x="3668405" y="37250523"/>
                <a:ext cx="739671" cy="461665"/>
              </a:xfrm>
              <a:prstGeom prst="rect">
                <a:avLst/>
              </a:prstGeom>
              <a:blipFill>
                <a:blip r:embed="rId22"/>
                <a:stretch>
                  <a:fillRect/>
                </a:stretch>
              </a:blipFill>
              <a:ln w="38100">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02" name="テキスト ボックス 1101">
                <a:extLst>
                  <a:ext uri="{FF2B5EF4-FFF2-40B4-BE49-F238E27FC236}">
                    <a16:creationId xmlns:a16="http://schemas.microsoft.com/office/drawing/2014/main" id="{F1611AB9-77E9-E435-1556-68551E27C249}"/>
                  </a:ext>
                </a:extLst>
              </p:cNvPr>
              <p:cNvSpPr txBox="1"/>
              <p:nvPr/>
            </p:nvSpPr>
            <p:spPr>
              <a:xfrm>
                <a:off x="7007970" y="37246196"/>
                <a:ext cx="739671" cy="46166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ea typeface="MS PGothic" panose="020B0600070205080204" pitchFamily="34" charset="-128"/>
                        </a:rPr>
                        <m:t>𝑁𝑜</m:t>
                      </m:r>
                    </m:oMath>
                  </m:oMathPara>
                </a14:m>
                <a:endParaRPr kumimoji="1" lang="ja-JP" altLang="en-US" sz="2400">
                  <a:latin typeface="MS PGothic" panose="020B0600070205080204" pitchFamily="34" charset="-128"/>
                  <a:ea typeface="MS PGothic" panose="020B0600070205080204" pitchFamily="34" charset="-128"/>
                </a:endParaRPr>
              </a:p>
            </p:txBody>
          </p:sp>
        </mc:Choice>
        <mc:Fallback xmlns="">
          <p:sp>
            <p:nvSpPr>
              <p:cNvPr id="1102" name="テキスト ボックス 1101">
                <a:extLst>
                  <a:ext uri="{FF2B5EF4-FFF2-40B4-BE49-F238E27FC236}">
                    <a16:creationId xmlns:a16="http://schemas.microsoft.com/office/drawing/2014/main" id="{F1611AB9-77E9-E435-1556-68551E27C249}"/>
                  </a:ext>
                </a:extLst>
              </p:cNvPr>
              <p:cNvSpPr txBox="1">
                <a:spLocks noRot="1" noChangeAspect="1" noMove="1" noResize="1" noEditPoints="1" noAdjustHandles="1" noChangeArrowheads="1" noChangeShapeType="1" noTextEdit="1"/>
              </p:cNvSpPr>
              <p:nvPr/>
            </p:nvSpPr>
            <p:spPr>
              <a:xfrm>
                <a:off x="7007970" y="37246196"/>
                <a:ext cx="739671" cy="461665"/>
              </a:xfrm>
              <a:prstGeom prst="rect">
                <a:avLst/>
              </a:prstGeom>
              <a:blipFill>
                <a:blip r:embed="rId23"/>
                <a:stretch>
                  <a:fillRect/>
                </a:stretch>
              </a:blipFill>
              <a:ln w="38100">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03" name="テキスト ボックス 1102">
                <a:extLst>
                  <a:ext uri="{FF2B5EF4-FFF2-40B4-BE49-F238E27FC236}">
                    <a16:creationId xmlns:a16="http://schemas.microsoft.com/office/drawing/2014/main" id="{B6EAD02D-8186-36A0-7FA3-00F0DE8BCB4C}"/>
                  </a:ext>
                </a:extLst>
              </p:cNvPr>
              <p:cNvSpPr txBox="1"/>
              <p:nvPr/>
            </p:nvSpPr>
            <p:spPr>
              <a:xfrm>
                <a:off x="10321411" y="37242479"/>
                <a:ext cx="739671" cy="46166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ea typeface="MS PGothic" panose="020B0600070205080204" pitchFamily="34" charset="-128"/>
                        </a:rPr>
                        <m:t>𝑁𝑜</m:t>
                      </m:r>
                    </m:oMath>
                  </m:oMathPara>
                </a14:m>
                <a:endParaRPr kumimoji="1" lang="ja-JP" altLang="en-US" sz="2400">
                  <a:latin typeface="MS PGothic" panose="020B0600070205080204" pitchFamily="34" charset="-128"/>
                  <a:ea typeface="MS PGothic" panose="020B0600070205080204" pitchFamily="34" charset="-128"/>
                </a:endParaRPr>
              </a:p>
            </p:txBody>
          </p:sp>
        </mc:Choice>
        <mc:Fallback xmlns="">
          <p:sp>
            <p:nvSpPr>
              <p:cNvPr id="1103" name="テキスト ボックス 1102">
                <a:extLst>
                  <a:ext uri="{FF2B5EF4-FFF2-40B4-BE49-F238E27FC236}">
                    <a16:creationId xmlns:a16="http://schemas.microsoft.com/office/drawing/2014/main" id="{B6EAD02D-8186-36A0-7FA3-00F0DE8BCB4C}"/>
                  </a:ext>
                </a:extLst>
              </p:cNvPr>
              <p:cNvSpPr txBox="1">
                <a:spLocks noRot="1" noChangeAspect="1" noMove="1" noResize="1" noEditPoints="1" noAdjustHandles="1" noChangeArrowheads="1" noChangeShapeType="1" noTextEdit="1"/>
              </p:cNvSpPr>
              <p:nvPr/>
            </p:nvSpPr>
            <p:spPr>
              <a:xfrm>
                <a:off x="10321411" y="37242479"/>
                <a:ext cx="739671" cy="461665"/>
              </a:xfrm>
              <a:prstGeom prst="rect">
                <a:avLst/>
              </a:prstGeom>
              <a:blipFill>
                <a:blip r:embed="rId24"/>
                <a:stretch>
                  <a:fillRect/>
                </a:stretch>
              </a:blipFill>
              <a:ln w="38100">
                <a:noFill/>
              </a:ln>
            </p:spPr>
            <p:txBody>
              <a:bodyPr/>
              <a:lstStyle/>
              <a:p>
                <a:r>
                  <a:rPr lang="ja-JP" altLang="en-US">
                    <a:noFill/>
                  </a:rPr>
                  <a:t> </a:t>
                </a:r>
              </a:p>
            </p:txBody>
          </p:sp>
        </mc:Fallback>
      </mc:AlternateContent>
      <p:cxnSp>
        <p:nvCxnSpPr>
          <p:cNvPr id="1030" name="直線矢印コネクタ 1029">
            <a:extLst>
              <a:ext uri="{FF2B5EF4-FFF2-40B4-BE49-F238E27FC236}">
                <a16:creationId xmlns:a16="http://schemas.microsoft.com/office/drawing/2014/main" id="{7CE42150-A285-86FD-6C2C-539CAE0EC508}"/>
              </a:ext>
            </a:extLst>
          </p:cNvPr>
          <p:cNvCxnSpPr>
            <a:cxnSpLocks/>
            <a:stCxn id="60" idx="0"/>
            <a:endCxn id="1025" idx="2"/>
          </p:cNvCxnSpPr>
          <p:nvPr/>
        </p:nvCxnSpPr>
        <p:spPr>
          <a:xfrm flipV="1">
            <a:off x="10434203" y="40320680"/>
            <a:ext cx="1649086" cy="1650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16" name="直線矢印コネクタ 1115">
            <a:extLst>
              <a:ext uri="{FF2B5EF4-FFF2-40B4-BE49-F238E27FC236}">
                <a16:creationId xmlns:a16="http://schemas.microsoft.com/office/drawing/2014/main" id="{36269A88-6820-101B-E47B-2984AC21ACC5}"/>
              </a:ext>
            </a:extLst>
          </p:cNvPr>
          <p:cNvCxnSpPr>
            <a:cxnSpLocks/>
            <a:endCxn id="1025" idx="2"/>
          </p:cNvCxnSpPr>
          <p:nvPr/>
        </p:nvCxnSpPr>
        <p:spPr>
          <a:xfrm flipV="1">
            <a:off x="10448641" y="40320680"/>
            <a:ext cx="1634648" cy="371733"/>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19" name="直線矢印コネクタ 1118">
            <a:extLst>
              <a:ext uri="{FF2B5EF4-FFF2-40B4-BE49-F238E27FC236}">
                <a16:creationId xmlns:a16="http://schemas.microsoft.com/office/drawing/2014/main" id="{01F9796A-A471-AF37-1DE2-756356023BE9}"/>
              </a:ext>
            </a:extLst>
          </p:cNvPr>
          <p:cNvCxnSpPr>
            <a:cxnSpLocks/>
            <a:endCxn id="1025" idx="2"/>
          </p:cNvCxnSpPr>
          <p:nvPr/>
        </p:nvCxnSpPr>
        <p:spPr>
          <a:xfrm flipV="1">
            <a:off x="10434203" y="40320680"/>
            <a:ext cx="1649086" cy="20064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32" name="直線矢印コネクタ 1131">
            <a:extLst>
              <a:ext uri="{FF2B5EF4-FFF2-40B4-BE49-F238E27FC236}">
                <a16:creationId xmlns:a16="http://schemas.microsoft.com/office/drawing/2014/main" id="{99C16DBB-47A5-A3A5-1BAE-4C5687EF5734}"/>
              </a:ext>
            </a:extLst>
          </p:cNvPr>
          <p:cNvCxnSpPr>
            <a:cxnSpLocks/>
            <a:endCxn id="1025" idx="2"/>
          </p:cNvCxnSpPr>
          <p:nvPr/>
        </p:nvCxnSpPr>
        <p:spPr>
          <a:xfrm flipV="1">
            <a:off x="10441422" y="40320680"/>
            <a:ext cx="1641867" cy="545269"/>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35" name="直線矢印コネクタ 1134">
            <a:extLst>
              <a:ext uri="{FF2B5EF4-FFF2-40B4-BE49-F238E27FC236}">
                <a16:creationId xmlns:a16="http://schemas.microsoft.com/office/drawing/2014/main" id="{CEB7DDE1-3FD5-5C05-B228-657D8B42020B}"/>
              </a:ext>
            </a:extLst>
          </p:cNvPr>
          <p:cNvCxnSpPr>
            <a:cxnSpLocks/>
            <a:endCxn id="1025" idx="2"/>
          </p:cNvCxnSpPr>
          <p:nvPr/>
        </p:nvCxnSpPr>
        <p:spPr>
          <a:xfrm>
            <a:off x="10441422" y="40172629"/>
            <a:ext cx="1641867" cy="148051"/>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39" name="直線矢印コネクタ 1138">
            <a:extLst>
              <a:ext uri="{FF2B5EF4-FFF2-40B4-BE49-F238E27FC236}">
                <a16:creationId xmlns:a16="http://schemas.microsoft.com/office/drawing/2014/main" id="{B92DA44D-F801-68F7-ECFB-CCC09CBF2F6B}"/>
              </a:ext>
            </a:extLst>
          </p:cNvPr>
          <p:cNvCxnSpPr>
            <a:cxnSpLocks/>
            <a:endCxn id="1025" idx="2"/>
          </p:cNvCxnSpPr>
          <p:nvPr/>
        </p:nvCxnSpPr>
        <p:spPr>
          <a:xfrm>
            <a:off x="10441422" y="39980098"/>
            <a:ext cx="1641867" cy="340582"/>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42" name="直線矢印コネクタ 1141">
            <a:extLst>
              <a:ext uri="{FF2B5EF4-FFF2-40B4-BE49-F238E27FC236}">
                <a16:creationId xmlns:a16="http://schemas.microsoft.com/office/drawing/2014/main" id="{D2573E8B-3D1C-9F94-DD36-5FBD30F77E72}"/>
              </a:ext>
            </a:extLst>
          </p:cNvPr>
          <p:cNvCxnSpPr>
            <a:cxnSpLocks/>
            <a:endCxn id="1025" idx="2"/>
          </p:cNvCxnSpPr>
          <p:nvPr/>
        </p:nvCxnSpPr>
        <p:spPr>
          <a:xfrm>
            <a:off x="10434203" y="39802922"/>
            <a:ext cx="1649086" cy="517758"/>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058" name="四角形吹き出し 1057">
            <a:extLst>
              <a:ext uri="{FF2B5EF4-FFF2-40B4-BE49-F238E27FC236}">
                <a16:creationId xmlns:a16="http://schemas.microsoft.com/office/drawing/2014/main" id="{DE9AEC00-A4A0-6451-231E-1141CA613900}"/>
              </a:ext>
            </a:extLst>
          </p:cNvPr>
          <p:cNvSpPr/>
          <p:nvPr/>
        </p:nvSpPr>
        <p:spPr>
          <a:xfrm>
            <a:off x="10716942" y="38893816"/>
            <a:ext cx="1939114" cy="820518"/>
          </a:xfrm>
          <a:prstGeom prst="wedgeRectCallout">
            <a:avLst>
              <a:gd name="adj1" fmla="val -8399"/>
              <a:gd name="adj2" fmla="val 77212"/>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solidFill>
                  <a:schemeClr val="tx1"/>
                </a:solidFill>
                <a:latin typeface="MS PGothic" panose="020B0600070205080204" pitchFamily="34" charset="-128"/>
                <a:ea typeface="MS PGothic" panose="020B0600070205080204" pitchFamily="34" charset="-128"/>
              </a:rPr>
              <a:t>学習する</a:t>
            </a:r>
          </a:p>
        </p:txBody>
      </p:sp>
      <p:cxnSp>
        <p:nvCxnSpPr>
          <p:cNvPr id="1148" name="直線矢印コネクタ 1147">
            <a:extLst>
              <a:ext uri="{FF2B5EF4-FFF2-40B4-BE49-F238E27FC236}">
                <a16:creationId xmlns:a16="http://schemas.microsoft.com/office/drawing/2014/main" id="{D7F765C2-610A-E33B-4D91-877A87A2F65C}"/>
              </a:ext>
            </a:extLst>
          </p:cNvPr>
          <p:cNvCxnSpPr>
            <a:cxnSpLocks/>
            <a:stCxn id="1025" idx="7"/>
            <a:endCxn id="1046" idx="1"/>
          </p:cNvCxnSpPr>
          <p:nvPr/>
        </p:nvCxnSpPr>
        <p:spPr>
          <a:xfrm flipV="1">
            <a:off x="12465139" y="39748943"/>
            <a:ext cx="936178" cy="41356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3" name="直線矢印コネクタ 1152">
            <a:extLst>
              <a:ext uri="{FF2B5EF4-FFF2-40B4-BE49-F238E27FC236}">
                <a16:creationId xmlns:a16="http://schemas.microsoft.com/office/drawing/2014/main" id="{891E9548-18F5-AA45-84CB-1963CDF9F9CF}"/>
              </a:ext>
            </a:extLst>
          </p:cNvPr>
          <p:cNvCxnSpPr>
            <a:cxnSpLocks/>
            <a:stCxn id="1025" idx="5"/>
            <a:endCxn id="1048" idx="1"/>
          </p:cNvCxnSpPr>
          <p:nvPr/>
        </p:nvCxnSpPr>
        <p:spPr>
          <a:xfrm>
            <a:off x="12465139" y="40478847"/>
            <a:ext cx="939207" cy="3064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56" name="図 1155">
            <a:extLst>
              <a:ext uri="{FF2B5EF4-FFF2-40B4-BE49-F238E27FC236}">
                <a16:creationId xmlns:a16="http://schemas.microsoft.com/office/drawing/2014/main" id="{6C5148F5-EF68-4E1A-DDAD-0163C8C82728}"/>
              </a:ext>
            </a:extLst>
          </p:cNvPr>
          <p:cNvPicPr>
            <a:picLocks noChangeAspect="1"/>
          </p:cNvPicPr>
          <p:nvPr/>
        </p:nvPicPr>
        <p:blipFill>
          <a:blip r:embed="rId10"/>
          <a:stretch>
            <a:fillRect/>
          </a:stretch>
        </p:blipFill>
        <p:spPr>
          <a:xfrm>
            <a:off x="17248980" y="10213026"/>
            <a:ext cx="1028874" cy="1028874"/>
          </a:xfrm>
          <a:prstGeom prst="rect">
            <a:avLst/>
          </a:prstGeom>
        </p:spPr>
      </p:pic>
      <p:sp>
        <p:nvSpPr>
          <p:cNvPr id="1157" name="正方形/長方形 1156">
            <a:extLst>
              <a:ext uri="{FF2B5EF4-FFF2-40B4-BE49-F238E27FC236}">
                <a16:creationId xmlns:a16="http://schemas.microsoft.com/office/drawing/2014/main" id="{33469FE8-0158-15F7-DCC0-5A986EB76703}"/>
              </a:ext>
            </a:extLst>
          </p:cNvPr>
          <p:cNvSpPr/>
          <p:nvPr/>
        </p:nvSpPr>
        <p:spPr>
          <a:xfrm>
            <a:off x="19348707" y="10213026"/>
            <a:ext cx="6967686" cy="102887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u="sng" dirty="0" err="1">
                <a:solidFill>
                  <a:schemeClr val="tx1"/>
                </a:solidFill>
                <a:latin typeface="MS PGothic" panose="020B0600070205080204" pitchFamily="34" charset="-128"/>
                <a:ea typeface="MS PGothic" panose="020B0600070205080204" pitchFamily="34" charset="-128"/>
              </a:rPr>
              <a:t>Swin</a:t>
            </a:r>
            <a:r>
              <a:rPr kumimoji="1" lang="en-US" altLang="ja-JP" sz="3200" u="sng" dirty="0">
                <a:solidFill>
                  <a:schemeClr val="tx1"/>
                </a:solidFill>
                <a:latin typeface="MS PGothic" panose="020B0600070205080204" pitchFamily="34" charset="-128"/>
                <a:ea typeface="MS PGothic" panose="020B0600070205080204" pitchFamily="34" charset="-128"/>
              </a:rPr>
              <a:t>-T</a:t>
            </a:r>
          </a:p>
          <a:p>
            <a:pPr algn="ctr"/>
            <a:r>
              <a:rPr kumimoji="1" lang="en-US" altLang="ja-JP" sz="3200" dirty="0" err="1">
                <a:solidFill>
                  <a:schemeClr val="tx1"/>
                </a:solidFill>
                <a:latin typeface="MS PGothic" panose="020B0600070205080204" pitchFamily="34" charset="-128"/>
                <a:ea typeface="MS PGothic" panose="020B0600070205080204" pitchFamily="34" charset="-128"/>
              </a:rPr>
              <a:t>BigGAN</a:t>
            </a:r>
            <a:r>
              <a:rPr kumimoji="1" lang="ja-JP" altLang="en-US" sz="3200">
                <a:solidFill>
                  <a:schemeClr val="tx1"/>
                </a:solidFill>
                <a:latin typeface="MS PGothic" panose="020B0600070205080204" pitchFamily="34" charset="-128"/>
                <a:ea typeface="MS PGothic" panose="020B0600070205080204" pitchFamily="34" charset="-128"/>
              </a:rPr>
              <a:t>，</a:t>
            </a:r>
            <a:r>
              <a:rPr kumimoji="1" lang="en-US" altLang="ja-JP" sz="3200" dirty="0">
                <a:solidFill>
                  <a:schemeClr val="tx1"/>
                </a:solidFill>
                <a:latin typeface="MS PGothic" panose="020B0600070205080204" pitchFamily="34" charset="-128"/>
                <a:ea typeface="MS PGothic" panose="020B0600070205080204" pitchFamily="34" charset="-128"/>
              </a:rPr>
              <a:t>ADM</a:t>
            </a:r>
            <a:r>
              <a:rPr kumimoji="1" lang="ja-JP" altLang="en-US" sz="3200">
                <a:solidFill>
                  <a:schemeClr val="tx1"/>
                </a:solidFill>
                <a:latin typeface="MS PGothic" panose="020B0600070205080204" pitchFamily="34" charset="-128"/>
                <a:ea typeface="MS PGothic" panose="020B0600070205080204" pitchFamily="34" charset="-128"/>
              </a:rPr>
              <a:t>，</a:t>
            </a:r>
            <a:r>
              <a:rPr kumimoji="1" lang="en-US" altLang="ja-JP" sz="3200" dirty="0">
                <a:solidFill>
                  <a:schemeClr val="tx1"/>
                </a:solidFill>
                <a:latin typeface="MS PGothic" panose="020B0600070205080204" pitchFamily="34" charset="-128"/>
                <a:ea typeface="MS PGothic" panose="020B0600070205080204" pitchFamily="34" charset="-128"/>
              </a:rPr>
              <a:t>GLIDE</a:t>
            </a:r>
            <a:r>
              <a:rPr kumimoji="1" lang="ja-JP" altLang="en-US" sz="3200">
                <a:solidFill>
                  <a:schemeClr val="tx1"/>
                </a:solidFill>
                <a:latin typeface="MS PGothic" panose="020B0600070205080204" pitchFamily="34" charset="-128"/>
                <a:ea typeface="MS PGothic" panose="020B0600070205080204" pitchFamily="34" charset="-128"/>
              </a:rPr>
              <a:t>，</a:t>
            </a:r>
            <a:r>
              <a:rPr kumimoji="1" lang="en-US" altLang="ja-JP" sz="3200" dirty="0">
                <a:solidFill>
                  <a:schemeClr val="tx1"/>
                </a:solidFill>
                <a:latin typeface="MS PGothic" panose="020B0600070205080204" pitchFamily="34" charset="-128"/>
                <a:ea typeface="MS PGothic" panose="020B0600070205080204" pitchFamily="34" charset="-128"/>
              </a:rPr>
              <a:t>SDv4</a:t>
            </a:r>
            <a:r>
              <a:rPr kumimoji="1" lang="ja-JP" altLang="en-US" sz="3200">
                <a:solidFill>
                  <a:schemeClr val="tx1"/>
                </a:solidFill>
                <a:latin typeface="MS PGothic" panose="020B0600070205080204" pitchFamily="34" charset="-128"/>
                <a:ea typeface="MS PGothic" panose="020B0600070205080204" pitchFamily="34" charset="-128"/>
              </a:rPr>
              <a:t>，</a:t>
            </a:r>
            <a:r>
              <a:rPr kumimoji="1" lang="en-US" altLang="ja-JP" sz="3200" dirty="0">
                <a:solidFill>
                  <a:schemeClr val="tx1"/>
                </a:solidFill>
                <a:latin typeface="MS PGothic" panose="020B0600070205080204" pitchFamily="34" charset="-128"/>
                <a:ea typeface="MS PGothic" panose="020B0600070205080204" pitchFamily="34" charset="-128"/>
              </a:rPr>
              <a:t>SDv5</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1158" name="直線矢印コネクタ 1157">
            <a:extLst>
              <a:ext uri="{FF2B5EF4-FFF2-40B4-BE49-F238E27FC236}">
                <a16:creationId xmlns:a16="http://schemas.microsoft.com/office/drawing/2014/main" id="{7C94FE25-8E2B-24DB-3037-3F7FEBD4EAE2}"/>
              </a:ext>
            </a:extLst>
          </p:cNvPr>
          <p:cNvCxnSpPr>
            <a:cxnSpLocks/>
            <a:stCxn id="1156" idx="3"/>
            <a:endCxn id="1157" idx="1"/>
          </p:cNvCxnSpPr>
          <p:nvPr/>
        </p:nvCxnSpPr>
        <p:spPr>
          <a:xfrm>
            <a:off x="18277854" y="10727463"/>
            <a:ext cx="107085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9" name="直線矢印コネクタ 1158">
            <a:extLst>
              <a:ext uri="{FF2B5EF4-FFF2-40B4-BE49-F238E27FC236}">
                <a16:creationId xmlns:a16="http://schemas.microsoft.com/office/drawing/2014/main" id="{02C3F99A-681D-4516-961C-B0F2206D47A9}"/>
              </a:ext>
            </a:extLst>
          </p:cNvPr>
          <p:cNvCxnSpPr>
            <a:cxnSpLocks/>
            <a:stCxn id="1157" idx="3"/>
            <a:endCxn id="1161" idx="1"/>
          </p:cNvCxnSpPr>
          <p:nvPr/>
        </p:nvCxnSpPr>
        <p:spPr>
          <a:xfrm flipV="1">
            <a:off x="26316393" y="10435229"/>
            <a:ext cx="960985" cy="2922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0" name="直線矢印コネクタ 1159">
            <a:extLst>
              <a:ext uri="{FF2B5EF4-FFF2-40B4-BE49-F238E27FC236}">
                <a16:creationId xmlns:a16="http://schemas.microsoft.com/office/drawing/2014/main" id="{1EC7168F-798E-F18D-D9FC-2AB16203F6E9}"/>
              </a:ext>
            </a:extLst>
          </p:cNvPr>
          <p:cNvCxnSpPr>
            <a:cxnSpLocks/>
            <a:stCxn id="1157" idx="3"/>
            <a:endCxn id="1162" idx="1"/>
          </p:cNvCxnSpPr>
          <p:nvPr/>
        </p:nvCxnSpPr>
        <p:spPr>
          <a:xfrm>
            <a:off x="26316393" y="10727463"/>
            <a:ext cx="961824" cy="3166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61" name="テキスト ボックス 1160">
                <a:extLst>
                  <a:ext uri="{FF2B5EF4-FFF2-40B4-BE49-F238E27FC236}">
                    <a16:creationId xmlns:a16="http://schemas.microsoft.com/office/drawing/2014/main" id="{964D0C1D-AC63-ADC2-E289-9EAF6C3EF0C0}"/>
                  </a:ext>
                </a:extLst>
              </p:cNvPr>
              <p:cNvSpPr txBox="1"/>
              <p:nvPr/>
            </p:nvSpPr>
            <p:spPr>
              <a:xfrm>
                <a:off x="27277378" y="10142841"/>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𝑅𝑒𝑎𝑙</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161" name="テキスト ボックス 1160">
                <a:extLst>
                  <a:ext uri="{FF2B5EF4-FFF2-40B4-BE49-F238E27FC236}">
                    <a16:creationId xmlns:a16="http://schemas.microsoft.com/office/drawing/2014/main" id="{964D0C1D-AC63-ADC2-E289-9EAF6C3EF0C0}"/>
                  </a:ext>
                </a:extLst>
              </p:cNvPr>
              <p:cNvSpPr txBox="1">
                <a:spLocks noRot="1" noChangeAspect="1" noMove="1" noResize="1" noEditPoints="1" noAdjustHandles="1" noChangeArrowheads="1" noChangeShapeType="1" noTextEdit="1"/>
              </p:cNvSpPr>
              <p:nvPr/>
            </p:nvSpPr>
            <p:spPr>
              <a:xfrm>
                <a:off x="27277378" y="10142841"/>
                <a:ext cx="1585290" cy="584775"/>
              </a:xfrm>
              <a:prstGeom prst="rect">
                <a:avLst/>
              </a:prstGeom>
              <a:blipFill>
                <a:blip r:embed="rId25"/>
                <a:stretch>
                  <a:fillRect b="-2128"/>
                </a:stretch>
              </a:blipFill>
              <a:ln w="38100">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62" name="テキスト ボックス 1161">
                <a:extLst>
                  <a:ext uri="{FF2B5EF4-FFF2-40B4-BE49-F238E27FC236}">
                    <a16:creationId xmlns:a16="http://schemas.microsoft.com/office/drawing/2014/main" id="{4F224CFB-CFAB-2B07-35AD-CCAAAB4687D1}"/>
                  </a:ext>
                </a:extLst>
              </p:cNvPr>
              <p:cNvSpPr txBox="1"/>
              <p:nvPr/>
            </p:nvSpPr>
            <p:spPr>
              <a:xfrm>
                <a:off x="27278217" y="10751734"/>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𝐹𝑎𝑘𝑒</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162" name="テキスト ボックス 1161">
                <a:extLst>
                  <a:ext uri="{FF2B5EF4-FFF2-40B4-BE49-F238E27FC236}">
                    <a16:creationId xmlns:a16="http://schemas.microsoft.com/office/drawing/2014/main" id="{4F224CFB-CFAB-2B07-35AD-CCAAAB4687D1}"/>
                  </a:ext>
                </a:extLst>
              </p:cNvPr>
              <p:cNvSpPr txBox="1">
                <a:spLocks noRot="1" noChangeAspect="1" noMove="1" noResize="1" noEditPoints="1" noAdjustHandles="1" noChangeArrowheads="1" noChangeShapeType="1" noTextEdit="1"/>
              </p:cNvSpPr>
              <p:nvPr/>
            </p:nvSpPr>
            <p:spPr>
              <a:xfrm>
                <a:off x="27278217" y="10751734"/>
                <a:ext cx="1585290" cy="584775"/>
              </a:xfrm>
              <a:prstGeom prst="rect">
                <a:avLst/>
              </a:prstGeom>
              <a:blipFill>
                <a:blip r:embed="rId26"/>
                <a:stretch>
                  <a:fillRect b="-2128"/>
                </a:stretch>
              </a:blipFill>
              <a:ln w="38100">
                <a:noFill/>
              </a:ln>
            </p:spPr>
            <p:txBody>
              <a:bodyPr/>
              <a:lstStyle/>
              <a:p>
                <a:r>
                  <a:rPr lang="ja-JP" altLang="en-US">
                    <a:noFill/>
                  </a:rPr>
                  <a:t> </a:t>
                </a:r>
              </a:p>
            </p:txBody>
          </p:sp>
        </mc:Fallback>
      </mc:AlternateContent>
      <p:sp>
        <p:nvSpPr>
          <p:cNvPr id="1176" name="テキスト ボックス 1175">
            <a:extLst>
              <a:ext uri="{FF2B5EF4-FFF2-40B4-BE49-F238E27FC236}">
                <a16:creationId xmlns:a16="http://schemas.microsoft.com/office/drawing/2014/main" id="{2D23E2AD-0958-357C-82DA-60D6324E17D2}"/>
              </a:ext>
            </a:extLst>
          </p:cNvPr>
          <p:cNvSpPr txBox="1"/>
          <p:nvPr/>
        </p:nvSpPr>
        <p:spPr>
          <a:xfrm>
            <a:off x="19882431" y="11239699"/>
            <a:ext cx="5815705"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7</a:t>
            </a:r>
            <a:r>
              <a:rPr kumimoji="1" lang="ja-JP" altLang="en-US" sz="3200">
                <a:latin typeface="MS PGothic" panose="020B0600070205080204" pitchFamily="34" charset="-128"/>
                <a:ea typeface="MS PGothic" panose="020B0600070205080204" pitchFamily="34" charset="-128"/>
              </a:rPr>
              <a:t>　</a:t>
            </a:r>
            <a:r>
              <a:rPr kumimoji="1" lang="en-US" altLang="ja-JP" sz="3200" dirty="0">
                <a:latin typeface="MS PGothic" panose="020B0600070205080204" pitchFamily="34" charset="-128"/>
                <a:ea typeface="MS PGothic" panose="020B0600070205080204" pitchFamily="34" charset="-128"/>
              </a:rPr>
              <a:t>All</a:t>
            </a:r>
            <a:r>
              <a:rPr kumimoji="1" lang="ja-JP" altLang="en-US" sz="3200">
                <a:latin typeface="MS PGothic" panose="020B0600070205080204" pitchFamily="34" charset="-128"/>
                <a:ea typeface="MS PGothic" panose="020B0600070205080204" pitchFamily="34" charset="-128"/>
              </a:rPr>
              <a:t>の構造</a:t>
            </a:r>
          </a:p>
        </p:txBody>
      </p:sp>
      <p:graphicFrame>
        <p:nvGraphicFramePr>
          <p:cNvPr id="1177" name="表 1176">
            <a:extLst>
              <a:ext uri="{FF2B5EF4-FFF2-40B4-BE49-F238E27FC236}">
                <a16:creationId xmlns:a16="http://schemas.microsoft.com/office/drawing/2014/main" id="{8C86A203-2B3F-1284-3220-0BFC2F7F7E0B}"/>
              </a:ext>
            </a:extLst>
          </p:cNvPr>
          <p:cNvGraphicFramePr>
            <a:graphicFrameLocks noGrp="1"/>
          </p:cNvGraphicFramePr>
          <p:nvPr>
            <p:extLst>
              <p:ext uri="{D42A27DB-BD31-4B8C-83A1-F6EECF244321}">
                <p14:modId xmlns:p14="http://schemas.microsoft.com/office/powerpoint/2010/main" val="1867758086"/>
              </p:ext>
            </p:extLst>
          </p:nvPr>
        </p:nvGraphicFramePr>
        <p:xfrm>
          <a:off x="15435309" y="14037365"/>
          <a:ext cx="14724512" cy="2694030"/>
        </p:xfrm>
        <a:graphic>
          <a:graphicData uri="http://schemas.openxmlformats.org/drawingml/2006/table">
            <a:tbl>
              <a:tblPr firstRow="1" bandRow="1">
                <a:tableStyleId>{5C22544A-7EE6-4342-B048-85BDC9FD1C3A}</a:tableStyleId>
              </a:tblPr>
              <a:tblGrid>
                <a:gridCol w="1851086">
                  <a:extLst>
                    <a:ext uri="{9D8B030D-6E8A-4147-A177-3AD203B41FA5}">
                      <a16:colId xmlns:a16="http://schemas.microsoft.com/office/drawing/2014/main" val="1006599521"/>
                    </a:ext>
                  </a:extLst>
                </a:gridCol>
                <a:gridCol w="1851086">
                  <a:extLst>
                    <a:ext uri="{9D8B030D-6E8A-4147-A177-3AD203B41FA5}">
                      <a16:colId xmlns:a16="http://schemas.microsoft.com/office/drawing/2014/main" val="1129127037"/>
                    </a:ext>
                  </a:extLst>
                </a:gridCol>
                <a:gridCol w="1851086">
                  <a:extLst>
                    <a:ext uri="{9D8B030D-6E8A-4147-A177-3AD203B41FA5}">
                      <a16:colId xmlns:a16="http://schemas.microsoft.com/office/drawing/2014/main" val="1069729706"/>
                    </a:ext>
                  </a:extLst>
                </a:gridCol>
                <a:gridCol w="1851086">
                  <a:extLst>
                    <a:ext uri="{9D8B030D-6E8A-4147-A177-3AD203B41FA5}">
                      <a16:colId xmlns:a16="http://schemas.microsoft.com/office/drawing/2014/main" val="1391522219"/>
                    </a:ext>
                  </a:extLst>
                </a:gridCol>
                <a:gridCol w="1851086">
                  <a:extLst>
                    <a:ext uri="{9D8B030D-6E8A-4147-A177-3AD203B41FA5}">
                      <a16:colId xmlns:a16="http://schemas.microsoft.com/office/drawing/2014/main" val="3237086396"/>
                    </a:ext>
                  </a:extLst>
                </a:gridCol>
                <a:gridCol w="1851086">
                  <a:extLst>
                    <a:ext uri="{9D8B030D-6E8A-4147-A177-3AD203B41FA5}">
                      <a16:colId xmlns:a16="http://schemas.microsoft.com/office/drawing/2014/main" val="3822305079"/>
                    </a:ext>
                  </a:extLst>
                </a:gridCol>
                <a:gridCol w="1851086">
                  <a:extLst>
                    <a:ext uri="{9D8B030D-6E8A-4147-A177-3AD203B41FA5}">
                      <a16:colId xmlns:a16="http://schemas.microsoft.com/office/drawing/2014/main" val="2005082671"/>
                    </a:ext>
                  </a:extLst>
                </a:gridCol>
                <a:gridCol w="1766910">
                  <a:extLst>
                    <a:ext uri="{9D8B030D-6E8A-4147-A177-3AD203B41FA5}">
                      <a16:colId xmlns:a16="http://schemas.microsoft.com/office/drawing/2014/main" val="1626923288"/>
                    </a:ext>
                  </a:extLst>
                </a:gridCol>
              </a:tblGrid>
              <a:tr h="507793">
                <a:tc>
                  <a:txBody>
                    <a:bodyPr/>
                    <a:lstStyle/>
                    <a:p>
                      <a:pPr algn="ct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tc>
                  <a:txBody>
                    <a:bodyPr/>
                    <a:lstStyle/>
                    <a:p>
                      <a:pPr algn="ctr"/>
                      <a:r>
                        <a:rPr kumimoji="1" lang="en-US" altLang="ja-JP" sz="3200" b="0" dirty="0" err="1">
                          <a:latin typeface="MS PGothic" panose="020B0600070205080204" pitchFamily="34" charset="-128"/>
                          <a:ea typeface="MS PGothic" panose="020B0600070205080204" pitchFamily="34" charset="-128"/>
                        </a:rPr>
                        <a:t>BigGAN</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ADM</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GLIDE</a:t>
                      </a:r>
                    </a:p>
                  </a:txBody>
                  <a:tcPr marL="85210" marR="85210" marT="42605" marB="42605" anchor="ct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SDv4</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SDv5</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ImageNet</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Flickr30k</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extLst>
                  <a:ext uri="{0D108BD9-81ED-4DB2-BD59-A6C34878D82A}">
                    <a16:rowId xmlns:a16="http://schemas.microsoft.com/office/drawing/2014/main" val="4294180002"/>
                  </a:ext>
                </a:extLst>
              </a:tr>
              <a:tr h="610764">
                <a:tc>
                  <a:txBody>
                    <a:bodyPr/>
                    <a:lstStyle/>
                    <a:p>
                      <a:pPr algn="ctr"/>
                      <a:r>
                        <a:rPr kumimoji="1" lang="ja-JP" altLang="en-US" sz="3200" b="0">
                          <a:latin typeface="MS PGothic" panose="020B0600070205080204" pitchFamily="34" charset="-128"/>
                          <a:ea typeface="MS PGothic" panose="020B0600070205080204" pitchFamily="34" charset="-128"/>
                        </a:rPr>
                        <a:t>学習</a:t>
                      </a:r>
                      <a:endParaRPr kumimoji="1" lang="en-US" altLang="ja-JP" sz="3200" b="0" dirty="0">
                        <a:latin typeface="MS PGothic" panose="020B0600070205080204" pitchFamily="34" charset="-128"/>
                        <a:ea typeface="MS PGothic" panose="020B0600070205080204" pitchFamily="34" charset="-128"/>
                      </a:endParaRPr>
                    </a:p>
                    <a:p>
                      <a:pPr algn="ctr"/>
                      <a:r>
                        <a:rPr kumimoji="1" lang="ja-JP" altLang="en-US" sz="3200" b="0">
                          <a:latin typeface="MS PGothic" panose="020B0600070205080204" pitchFamily="34" charset="-128"/>
                          <a:ea typeface="MS PGothic" panose="020B0600070205080204" pitchFamily="34" charset="-128"/>
                        </a:rPr>
                        <a:t>データ</a:t>
                      </a: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162,000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162,000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162,000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162,000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166,000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153,274</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extLst>
                  <a:ext uri="{0D108BD9-81ED-4DB2-BD59-A6C34878D82A}">
                    <a16:rowId xmlns:a16="http://schemas.microsoft.com/office/drawing/2014/main" val="3850057749"/>
                  </a:ext>
                </a:extLst>
              </a:tr>
              <a:tr h="583864">
                <a:tc>
                  <a:txBody>
                    <a:bodyPr/>
                    <a:lstStyle/>
                    <a:p>
                      <a:pPr algn="ctr"/>
                      <a:r>
                        <a:rPr kumimoji="1" lang="ja-JP" altLang="en-US" sz="3200" b="0">
                          <a:latin typeface="MS PGothic" panose="020B0600070205080204" pitchFamily="34" charset="-128"/>
                          <a:ea typeface="MS PGothic" panose="020B0600070205080204" pitchFamily="34" charset="-128"/>
                        </a:rPr>
                        <a:t>テストデータ</a:t>
                      </a: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6,000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6,000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6,000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6,000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8,000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8,000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31,783</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extLst>
                  <a:ext uri="{0D108BD9-81ED-4DB2-BD59-A6C34878D82A}">
                    <a16:rowId xmlns:a16="http://schemas.microsoft.com/office/drawing/2014/main" val="2157235240"/>
                  </a:ext>
                </a:extLst>
              </a:tr>
            </a:tbl>
          </a:graphicData>
        </a:graphic>
      </p:graphicFrame>
      <p:pic>
        <p:nvPicPr>
          <p:cNvPr id="1179" name="図 1178">
            <a:extLst>
              <a:ext uri="{FF2B5EF4-FFF2-40B4-BE49-F238E27FC236}">
                <a16:creationId xmlns:a16="http://schemas.microsoft.com/office/drawing/2014/main" id="{A6766A4E-4D87-97C6-2044-D6964FAB6049}"/>
              </a:ext>
            </a:extLst>
          </p:cNvPr>
          <p:cNvPicPr>
            <a:picLocks noChangeAspect="1"/>
          </p:cNvPicPr>
          <p:nvPr/>
        </p:nvPicPr>
        <p:blipFill rotWithShape="1">
          <a:blip r:embed="rId27"/>
          <a:srcRect l="9561" t="33514" r="11027" b="14607"/>
          <a:stretch/>
        </p:blipFill>
        <p:spPr>
          <a:xfrm>
            <a:off x="15926863" y="17336046"/>
            <a:ext cx="13785594" cy="5849005"/>
          </a:xfrm>
          <a:prstGeom prst="rect">
            <a:avLst/>
          </a:prstGeom>
        </p:spPr>
      </p:pic>
      <p:grpSp>
        <p:nvGrpSpPr>
          <p:cNvPr id="1209" name="グループ化 1208">
            <a:extLst>
              <a:ext uri="{FF2B5EF4-FFF2-40B4-BE49-F238E27FC236}">
                <a16:creationId xmlns:a16="http://schemas.microsoft.com/office/drawing/2014/main" id="{F069F98E-EFC7-1BD6-0FD9-A35D3C350FD7}"/>
              </a:ext>
            </a:extLst>
          </p:cNvPr>
          <p:cNvGrpSpPr/>
          <p:nvPr/>
        </p:nvGrpSpPr>
        <p:grpSpPr>
          <a:xfrm>
            <a:off x="16857762" y="27531686"/>
            <a:ext cx="12004906" cy="5838219"/>
            <a:chOff x="15864425" y="26070054"/>
            <a:chExt cx="13785594" cy="6704202"/>
          </a:xfrm>
        </p:grpSpPr>
        <p:pic>
          <p:nvPicPr>
            <p:cNvPr id="1180" name="図 1179">
              <a:extLst>
                <a:ext uri="{FF2B5EF4-FFF2-40B4-BE49-F238E27FC236}">
                  <a16:creationId xmlns:a16="http://schemas.microsoft.com/office/drawing/2014/main" id="{9D76985D-5530-C5D3-06B3-E2DE49999A63}"/>
                </a:ext>
              </a:extLst>
            </p:cNvPr>
            <p:cNvPicPr>
              <a:picLocks noChangeAspect="1"/>
            </p:cNvPicPr>
            <p:nvPr/>
          </p:nvPicPr>
          <p:blipFill rotWithShape="1">
            <a:blip r:embed="rId28"/>
            <a:srcRect l="9422" t="30496" r="11049" b="9952"/>
            <a:stretch/>
          </p:blipFill>
          <p:spPr>
            <a:xfrm>
              <a:off x="15864425" y="26070054"/>
              <a:ext cx="13785594" cy="6704202"/>
            </a:xfrm>
            <a:prstGeom prst="rect">
              <a:avLst/>
            </a:prstGeom>
          </p:spPr>
        </p:pic>
        <p:cxnSp>
          <p:nvCxnSpPr>
            <p:cNvPr id="1183" name="直線コネクタ 1182">
              <a:extLst>
                <a:ext uri="{FF2B5EF4-FFF2-40B4-BE49-F238E27FC236}">
                  <a16:creationId xmlns:a16="http://schemas.microsoft.com/office/drawing/2014/main" id="{63BF42E3-561A-E121-874D-975B191C26F2}"/>
                </a:ext>
              </a:extLst>
            </p:cNvPr>
            <p:cNvCxnSpPr>
              <a:cxnSpLocks/>
            </p:cNvCxnSpPr>
            <p:nvPr/>
          </p:nvCxnSpPr>
          <p:spPr>
            <a:xfrm>
              <a:off x="18666372" y="28377931"/>
              <a:ext cx="2385849"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85" name="直線コネクタ 1184">
              <a:extLst>
                <a:ext uri="{FF2B5EF4-FFF2-40B4-BE49-F238E27FC236}">
                  <a16:creationId xmlns:a16="http://schemas.microsoft.com/office/drawing/2014/main" id="{5DAA11B0-5FAC-C635-5E65-7C0F8C7B9EEA}"/>
                </a:ext>
              </a:extLst>
            </p:cNvPr>
            <p:cNvCxnSpPr>
              <a:cxnSpLocks/>
            </p:cNvCxnSpPr>
            <p:nvPr/>
          </p:nvCxnSpPr>
          <p:spPr>
            <a:xfrm>
              <a:off x="21052221" y="29066358"/>
              <a:ext cx="1807779"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87" name="直線コネクタ 1186">
              <a:extLst>
                <a:ext uri="{FF2B5EF4-FFF2-40B4-BE49-F238E27FC236}">
                  <a16:creationId xmlns:a16="http://schemas.microsoft.com/office/drawing/2014/main" id="{2C236125-23CF-C75A-606B-9D3CFB464143}"/>
                </a:ext>
              </a:extLst>
            </p:cNvPr>
            <p:cNvCxnSpPr>
              <a:cxnSpLocks/>
            </p:cNvCxnSpPr>
            <p:nvPr/>
          </p:nvCxnSpPr>
          <p:spPr>
            <a:xfrm>
              <a:off x="22860000" y="29767110"/>
              <a:ext cx="1977090"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89" name="直線コネクタ 1188">
              <a:extLst>
                <a:ext uri="{FF2B5EF4-FFF2-40B4-BE49-F238E27FC236}">
                  <a16:creationId xmlns:a16="http://schemas.microsoft.com/office/drawing/2014/main" id="{D385354E-1FF3-8D51-1745-7D5BD1A1AE0E}"/>
                </a:ext>
              </a:extLst>
            </p:cNvPr>
            <p:cNvCxnSpPr>
              <a:cxnSpLocks/>
            </p:cNvCxnSpPr>
            <p:nvPr/>
          </p:nvCxnSpPr>
          <p:spPr>
            <a:xfrm>
              <a:off x="24837090" y="30483871"/>
              <a:ext cx="2088728"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90" name="直線コネクタ 1189">
              <a:extLst>
                <a:ext uri="{FF2B5EF4-FFF2-40B4-BE49-F238E27FC236}">
                  <a16:creationId xmlns:a16="http://schemas.microsoft.com/office/drawing/2014/main" id="{A8F5FED2-676E-6AE4-A4A6-C046DF7B4F09}"/>
                </a:ext>
              </a:extLst>
            </p:cNvPr>
            <p:cNvCxnSpPr>
              <a:cxnSpLocks/>
            </p:cNvCxnSpPr>
            <p:nvPr/>
          </p:nvCxnSpPr>
          <p:spPr>
            <a:xfrm>
              <a:off x="26925818" y="31214339"/>
              <a:ext cx="2345492"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92" name="直線コネクタ 1191">
              <a:extLst>
                <a:ext uri="{FF2B5EF4-FFF2-40B4-BE49-F238E27FC236}">
                  <a16:creationId xmlns:a16="http://schemas.microsoft.com/office/drawing/2014/main" id="{1E924537-2BC8-A225-A8D1-23E286A4C79E}"/>
                </a:ext>
              </a:extLst>
            </p:cNvPr>
            <p:cNvCxnSpPr>
              <a:cxnSpLocks/>
            </p:cNvCxnSpPr>
            <p:nvPr/>
          </p:nvCxnSpPr>
          <p:spPr>
            <a:xfrm flipV="1">
              <a:off x="21052221" y="28377931"/>
              <a:ext cx="0" cy="688427"/>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96" name="直線コネクタ 1195">
              <a:extLst>
                <a:ext uri="{FF2B5EF4-FFF2-40B4-BE49-F238E27FC236}">
                  <a16:creationId xmlns:a16="http://schemas.microsoft.com/office/drawing/2014/main" id="{E4D416B9-2213-C797-F51D-CD67F44FE878}"/>
                </a:ext>
              </a:extLst>
            </p:cNvPr>
            <p:cNvCxnSpPr>
              <a:cxnSpLocks/>
            </p:cNvCxnSpPr>
            <p:nvPr/>
          </p:nvCxnSpPr>
          <p:spPr>
            <a:xfrm flipV="1">
              <a:off x="22860000" y="29066358"/>
              <a:ext cx="0" cy="700752"/>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99" name="直線コネクタ 1198">
              <a:extLst>
                <a:ext uri="{FF2B5EF4-FFF2-40B4-BE49-F238E27FC236}">
                  <a16:creationId xmlns:a16="http://schemas.microsoft.com/office/drawing/2014/main" id="{8EE471B5-4F84-BCDD-06C0-D899D2084A5E}"/>
                </a:ext>
              </a:extLst>
            </p:cNvPr>
            <p:cNvCxnSpPr>
              <a:cxnSpLocks/>
            </p:cNvCxnSpPr>
            <p:nvPr/>
          </p:nvCxnSpPr>
          <p:spPr>
            <a:xfrm flipV="1">
              <a:off x="24837090" y="29767110"/>
              <a:ext cx="0" cy="71676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03" name="直線コネクタ 1202">
              <a:extLst>
                <a:ext uri="{FF2B5EF4-FFF2-40B4-BE49-F238E27FC236}">
                  <a16:creationId xmlns:a16="http://schemas.microsoft.com/office/drawing/2014/main" id="{16FB7BEA-95AE-A2BB-8DB1-9C7D83B4B0BB}"/>
                </a:ext>
              </a:extLst>
            </p:cNvPr>
            <p:cNvCxnSpPr>
              <a:cxnSpLocks/>
            </p:cNvCxnSpPr>
            <p:nvPr/>
          </p:nvCxnSpPr>
          <p:spPr>
            <a:xfrm flipV="1">
              <a:off x="26925818" y="30497578"/>
              <a:ext cx="0" cy="716761"/>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1210" name="テキスト ボックス 1209">
            <a:extLst>
              <a:ext uri="{FF2B5EF4-FFF2-40B4-BE49-F238E27FC236}">
                <a16:creationId xmlns:a16="http://schemas.microsoft.com/office/drawing/2014/main" id="{1B992F44-1613-3F33-D6B9-D0A11EF26E37}"/>
              </a:ext>
            </a:extLst>
          </p:cNvPr>
          <p:cNvSpPr txBox="1"/>
          <p:nvPr/>
        </p:nvSpPr>
        <p:spPr>
          <a:xfrm>
            <a:off x="4059086" y="38617901"/>
            <a:ext cx="1796760"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パッチ化</a:t>
            </a:r>
            <a:endParaRPr kumimoji="1" lang="en-US" altLang="ja-JP" sz="3200" dirty="0">
              <a:latin typeface="MS PGothic" panose="020B0600070205080204" pitchFamily="34" charset="-128"/>
              <a:ea typeface="MS PGothic" panose="020B0600070205080204" pitchFamily="34" charset="-128"/>
            </a:endParaRPr>
          </a:p>
        </p:txBody>
      </p:sp>
      <p:sp>
        <p:nvSpPr>
          <p:cNvPr id="1181" name="テキスト ボックス 1180">
            <a:extLst>
              <a:ext uri="{FF2B5EF4-FFF2-40B4-BE49-F238E27FC236}">
                <a16:creationId xmlns:a16="http://schemas.microsoft.com/office/drawing/2014/main" id="{85922929-9CCF-03D3-C725-142E77381509}"/>
              </a:ext>
            </a:extLst>
          </p:cNvPr>
          <p:cNvSpPr txBox="1"/>
          <p:nvPr/>
        </p:nvSpPr>
        <p:spPr>
          <a:xfrm>
            <a:off x="19872058" y="27009622"/>
            <a:ext cx="5851014"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4</a:t>
            </a:r>
            <a:r>
              <a:rPr kumimoji="1" lang="ja-JP" altLang="en-US" sz="3200">
                <a:latin typeface="MS PGothic" panose="020B0600070205080204" pitchFamily="34" charset="-128"/>
                <a:ea typeface="MS PGothic" panose="020B0600070205080204" pitchFamily="34" charset="-128"/>
              </a:rPr>
              <a:t>　実験結果</a:t>
            </a:r>
            <a:r>
              <a:rPr kumimoji="1" lang="en-US" altLang="ja-JP" sz="3200" dirty="0">
                <a:latin typeface="MS PGothic" panose="020B0600070205080204" pitchFamily="34" charset="-128"/>
                <a:ea typeface="MS PGothic" panose="020B0600070205080204" pitchFamily="34" charset="-128"/>
              </a:rPr>
              <a:t>Ⅱ</a:t>
            </a:r>
          </a:p>
        </p:txBody>
      </p:sp>
    </p:spTree>
    <p:extLst>
      <p:ext uri="{BB962C8B-B14F-4D97-AF65-F5344CB8AC3E}">
        <p14:creationId xmlns:p14="http://schemas.microsoft.com/office/powerpoint/2010/main" val="2509754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05CBE-5464-C5E6-CB1A-3402D2B7B63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5F1815F4-3AB7-DDCE-2164-13D9AF5AFC8F}"/>
              </a:ext>
            </a:extLst>
          </p:cNvPr>
          <p:cNvSpPr/>
          <p:nvPr/>
        </p:nvSpPr>
        <p:spPr>
          <a:xfrm>
            <a:off x="15428502" y="2298379"/>
            <a:ext cx="14724513" cy="33147406"/>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1" name="正方形/長方形 1110">
            <a:extLst>
              <a:ext uri="{FF2B5EF4-FFF2-40B4-BE49-F238E27FC236}">
                <a16:creationId xmlns:a16="http://schemas.microsoft.com/office/drawing/2014/main" id="{52898348-1738-4211-F166-71DFDD306695}"/>
              </a:ext>
            </a:extLst>
          </p:cNvPr>
          <p:cNvSpPr/>
          <p:nvPr/>
        </p:nvSpPr>
        <p:spPr>
          <a:xfrm>
            <a:off x="174494" y="9946997"/>
            <a:ext cx="14681200" cy="23853927"/>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f</a:t>
            </a:r>
            <a:endParaRPr kumimoji="1" lang="ja-JP" altLang="en-US"/>
          </a:p>
        </p:txBody>
      </p:sp>
      <p:sp>
        <p:nvSpPr>
          <p:cNvPr id="1047" name="正方形/長方形 1046">
            <a:extLst>
              <a:ext uri="{FF2B5EF4-FFF2-40B4-BE49-F238E27FC236}">
                <a16:creationId xmlns:a16="http://schemas.microsoft.com/office/drawing/2014/main" id="{AED8E68E-BAC7-74DD-CB94-3AE4A57236AC}"/>
              </a:ext>
            </a:extLst>
          </p:cNvPr>
          <p:cNvSpPr/>
          <p:nvPr/>
        </p:nvSpPr>
        <p:spPr>
          <a:xfrm>
            <a:off x="15420508" y="35681325"/>
            <a:ext cx="14741327" cy="4588522"/>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E4EC16C-A008-30BA-FD68-8047C0229614}"/>
              </a:ext>
            </a:extLst>
          </p:cNvPr>
          <p:cNvSpPr>
            <a:spLocks noGrp="1"/>
          </p:cNvSpPr>
          <p:nvPr>
            <p:ph type="ctrTitle"/>
          </p:nvPr>
        </p:nvSpPr>
        <p:spPr/>
        <p:txBody>
          <a:bodyPr>
            <a:normAutofit fontScale="90000"/>
          </a:bodyPr>
          <a:lstStyle/>
          <a:p>
            <a:r>
              <a:rPr kumimoji="1" lang="ja-JP" altLang="en-US" dirty="0"/>
              <a:t>ディープラーニングを用いた生成画像の識別に関する研究 </a:t>
            </a:r>
          </a:p>
        </p:txBody>
      </p:sp>
      <p:sp>
        <p:nvSpPr>
          <p:cNvPr id="3" name="字幕 2">
            <a:extLst>
              <a:ext uri="{FF2B5EF4-FFF2-40B4-BE49-F238E27FC236}">
                <a16:creationId xmlns:a16="http://schemas.microsoft.com/office/drawing/2014/main" id="{341D56BE-DB72-F29C-EF1A-1F2A1A09A1DB}"/>
              </a:ext>
            </a:extLst>
          </p:cNvPr>
          <p:cNvSpPr>
            <a:spLocks noGrp="1"/>
          </p:cNvSpPr>
          <p:nvPr>
            <p:ph type="subTitle" idx="1"/>
          </p:nvPr>
        </p:nvSpPr>
        <p:spPr/>
        <p:txBody>
          <a:bodyPr>
            <a:normAutofit fontScale="92500" lnSpcReduction="10000"/>
          </a:bodyPr>
          <a:lstStyle/>
          <a:p>
            <a:r>
              <a:rPr kumimoji="1" lang="ja-JP" altLang="en-US"/>
              <a:t>李</a:t>
            </a:r>
            <a:r>
              <a:rPr kumimoji="1" lang="en-US" altLang="ja-JP" dirty="0"/>
              <a:t> </a:t>
            </a:r>
            <a:r>
              <a:rPr kumimoji="1" lang="ja-JP" altLang="en-US"/>
              <a:t>洪企，山富 龍，マハブービ</a:t>
            </a:r>
            <a:r>
              <a:rPr kumimoji="1" lang="en-US" altLang="ja-JP" dirty="0"/>
              <a:t> </a:t>
            </a:r>
            <a:r>
              <a:rPr kumimoji="1" lang="ja-JP" altLang="en-US"/>
              <a:t>シェヘラザード，二宮 洋</a:t>
            </a:r>
            <a:r>
              <a:rPr kumimoji="1" lang="en-US" altLang="ja-JP" dirty="0"/>
              <a:t> (</a:t>
            </a:r>
            <a:r>
              <a:rPr kumimoji="1" lang="ja-JP" altLang="en-US"/>
              <a:t>湘南工科大学</a:t>
            </a:r>
            <a:r>
              <a:rPr kumimoji="1" lang="en-US" altLang="ja-JP" dirty="0"/>
              <a:t>)</a:t>
            </a:r>
            <a:endParaRPr kumimoji="1" lang="ja-JP" altLang="en-US"/>
          </a:p>
        </p:txBody>
      </p:sp>
      <p:sp>
        <p:nvSpPr>
          <p:cNvPr id="4" name="正方形/長方形 3">
            <a:extLst>
              <a:ext uri="{FF2B5EF4-FFF2-40B4-BE49-F238E27FC236}">
                <a16:creationId xmlns:a16="http://schemas.microsoft.com/office/drawing/2014/main" id="{14A23C87-1620-5F71-BA57-2FBADD8A4F31}"/>
              </a:ext>
            </a:extLst>
          </p:cNvPr>
          <p:cNvSpPr/>
          <p:nvPr/>
        </p:nvSpPr>
        <p:spPr>
          <a:xfrm>
            <a:off x="203200" y="2288710"/>
            <a:ext cx="14681200" cy="7507884"/>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f</a:t>
            </a:r>
            <a:endParaRPr kumimoji="1" lang="ja-JP" altLang="en-US"/>
          </a:p>
        </p:txBody>
      </p:sp>
      <p:sp>
        <p:nvSpPr>
          <p:cNvPr id="5" name="正方形/長方形 4">
            <a:extLst>
              <a:ext uri="{FF2B5EF4-FFF2-40B4-BE49-F238E27FC236}">
                <a16:creationId xmlns:a16="http://schemas.microsoft.com/office/drawing/2014/main" id="{45BB109B-B12A-D084-26DC-63E1CC65A659}"/>
              </a:ext>
            </a:extLst>
          </p:cNvPr>
          <p:cNvSpPr/>
          <p:nvPr/>
        </p:nvSpPr>
        <p:spPr>
          <a:xfrm>
            <a:off x="203200" y="2288708"/>
            <a:ext cx="1468120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背景</a:t>
            </a:r>
          </a:p>
        </p:txBody>
      </p:sp>
      <p:sp>
        <p:nvSpPr>
          <p:cNvPr id="6" name="テキスト ボックス 5">
            <a:extLst>
              <a:ext uri="{FF2B5EF4-FFF2-40B4-BE49-F238E27FC236}">
                <a16:creationId xmlns:a16="http://schemas.microsoft.com/office/drawing/2014/main" id="{5053F6BE-A7FC-E918-A1D3-760E60EED580}"/>
              </a:ext>
            </a:extLst>
          </p:cNvPr>
          <p:cNvSpPr txBox="1"/>
          <p:nvPr/>
        </p:nvSpPr>
        <p:spPr>
          <a:xfrm>
            <a:off x="203199" y="3169285"/>
            <a:ext cx="14681200" cy="2062103"/>
          </a:xfrm>
          <a:prstGeom prst="rect">
            <a:avLst/>
          </a:prstGeom>
          <a:noFill/>
        </p:spPr>
        <p:txBody>
          <a:bodyPr wrap="square" rtlCol="0">
            <a:spAutoFit/>
          </a:bodyPr>
          <a:lstStyle/>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近年</a:t>
            </a:r>
            <a:r>
              <a:rPr kumimoji="1" lang="en" altLang="ja-JP" sz="3200" dirty="0" err="1">
                <a:latin typeface="MS PGothic" panose="020B0600070205080204" pitchFamily="34" charset="-128"/>
                <a:ea typeface="MS PGothic" panose="020B0600070205080204" pitchFamily="34" charset="-128"/>
              </a:rPr>
              <a:t>BigGAN</a:t>
            </a:r>
            <a:r>
              <a:rPr kumimoji="1" lang="en" altLang="ja-JP" sz="3200" dirty="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1</a:t>
            </a:r>
            <a:r>
              <a:rPr kumimoji="1" lang="en" altLang="ja-JP" sz="3200" dirty="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や </a:t>
            </a:r>
            <a:r>
              <a:rPr kumimoji="1" lang="en" altLang="ja-JP" sz="3200" dirty="0">
                <a:latin typeface="MS PGothic" panose="020B0600070205080204" pitchFamily="34" charset="-128"/>
                <a:ea typeface="MS PGothic" panose="020B0600070205080204" pitchFamily="34" charset="-128"/>
              </a:rPr>
              <a:t>Stable Diffusion[</a:t>
            </a:r>
            <a:r>
              <a:rPr kumimoji="1" lang="en-US" altLang="ja-JP" sz="3200" dirty="0">
                <a:latin typeface="MS PGothic" panose="020B0600070205080204" pitchFamily="34" charset="-128"/>
                <a:ea typeface="MS PGothic" panose="020B0600070205080204" pitchFamily="34" charset="-128"/>
              </a:rPr>
              <a:t>1</a:t>
            </a:r>
            <a:r>
              <a:rPr kumimoji="1" lang="en" altLang="ja-JP" sz="3200" dirty="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等の画像生成 </a:t>
            </a:r>
            <a:r>
              <a:rPr kumimoji="1" lang="en" altLang="ja-JP" sz="3200" dirty="0">
                <a:latin typeface="MS PGothic" panose="020B0600070205080204" pitchFamily="34" charset="-128"/>
                <a:ea typeface="MS PGothic" panose="020B0600070205080204" pitchFamily="34" charset="-128"/>
              </a:rPr>
              <a:t>AI </a:t>
            </a:r>
            <a:r>
              <a:rPr kumimoji="1" lang="ja-JP" altLang="en-US" sz="3200" dirty="0">
                <a:latin typeface="MS PGothic" panose="020B0600070205080204" pitchFamily="34" charset="-128"/>
                <a:ea typeface="MS PGothic" panose="020B0600070205080204" pitchFamily="34" charset="-128"/>
              </a:rPr>
              <a:t>が発展</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画像生成</a:t>
            </a:r>
            <a:r>
              <a:rPr kumimoji="1" lang="en"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の悪用問題</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生成画像を識別できる</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が必要</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 altLang="ja-JP" sz="3200" dirty="0">
              <a:latin typeface="MS PGothic" panose="020B0600070205080204" pitchFamily="34" charset="-128"/>
              <a:ea typeface="MS PGothic" panose="020B0600070205080204" pitchFamily="34" charset="-128"/>
            </a:endParaRPr>
          </a:p>
        </p:txBody>
      </p:sp>
      <p:sp>
        <p:nvSpPr>
          <p:cNvPr id="14" name="テキスト ボックス 13">
            <a:extLst>
              <a:ext uri="{FF2B5EF4-FFF2-40B4-BE49-F238E27FC236}">
                <a16:creationId xmlns:a16="http://schemas.microsoft.com/office/drawing/2014/main" id="{7B30B02A-BE80-C4AF-A257-B2A8CBFDFF7C}"/>
              </a:ext>
            </a:extLst>
          </p:cNvPr>
          <p:cNvSpPr txBox="1"/>
          <p:nvPr/>
        </p:nvSpPr>
        <p:spPr>
          <a:xfrm>
            <a:off x="15400997" y="40293774"/>
            <a:ext cx="14721397" cy="1938992"/>
          </a:xfrm>
          <a:prstGeom prst="rect">
            <a:avLst/>
          </a:prstGeom>
          <a:noFill/>
        </p:spPr>
        <p:txBody>
          <a:bodyPr wrap="square" rtlCol="0">
            <a:spAutoFit/>
          </a:bodyPr>
          <a:lstStyle/>
          <a:p>
            <a:r>
              <a:rPr kumimoji="1" lang="en-US" altLang="ja-JP" sz="2400" dirty="0">
                <a:latin typeface="MS PGothic" panose="020B0600070205080204" pitchFamily="34" charset="-128"/>
                <a:ea typeface="MS PGothic" panose="020B0600070205080204" pitchFamily="34" charset="-128"/>
              </a:rPr>
              <a:t>[1] </a:t>
            </a:r>
            <a:r>
              <a:rPr kumimoji="1" lang="en-US" altLang="ja-JP" sz="2400" dirty="0" err="1">
                <a:latin typeface="MS PGothic" panose="020B0600070205080204" pitchFamily="34" charset="-128"/>
                <a:ea typeface="MS PGothic" panose="020B0600070205080204" pitchFamily="34" charset="-128"/>
              </a:rPr>
              <a:t>M.Zhu</a:t>
            </a:r>
            <a:r>
              <a:rPr kumimoji="1" lang="ja-JP" altLang="en-US" sz="2400" dirty="0">
                <a:latin typeface="MS PGothic" panose="020B0600070205080204" pitchFamily="34" charset="-128"/>
                <a:ea typeface="MS PGothic" panose="020B0600070205080204" pitchFamily="34" charset="-128"/>
              </a:rPr>
              <a:t>，</a:t>
            </a:r>
            <a:r>
              <a:rPr kumimoji="1" lang="en-US" altLang="ja-JP" sz="2400" dirty="0">
                <a:latin typeface="MS PGothic" panose="020B0600070205080204" pitchFamily="34" charset="-128"/>
                <a:ea typeface="MS PGothic" panose="020B0600070205080204" pitchFamily="34" charset="-128"/>
              </a:rPr>
              <a:t>et al.</a:t>
            </a:r>
            <a:r>
              <a:rPr kumimoji="1" lang="ja-JP" altLang="en-US" sz="2400" dirty="0">
                <a:latin typeface="MS PGothic" panose="020B0600070205080204" pitchFamily="34" charset="-128"/>
                <a:ea typeface="MS PGothic" panose="020B0600070205080204" pitchFamily="34" charset="-128"/>
              </a:rPr>
              <a:t>，</a:t>
            </a:r>
            <a:r>
              <a:rPr kumimoji="1" lang="en-US" altLang="ja-JP" sz="2400" i="1" dirty="0" err="1">
                <a:latin typeface="MS PGothic" panose="020B0600070205080204" pitchFamily="34" charset="-128"/>
                <a:ea typeface="MS PGothic" panose="020B0600070205080204" pitchFamily="34" charset="-128"/>
              </a:rPr>
              <a:t>arXiv</a:t>
            </a:r>
            <a:r>
              <a:rPr kumimoji="1" lang="en-US" altLang="ja-JP" sz="2400" i="1" dirty="0">
                <a:latin typeface="MS PGothic" panose="020B0600070205080204" pitchFamily="34" charset="-128"/>
                <a:ea typeface="MS PGothic" panose="020B0600070205080204" pitchFamily="34" charset="-128"/>
              </a:rPr>
              <a:t> :2306.08571</a:t>
            </a:r>
            <a:r>
              <a:rPr kumimoji="1" lang="ja-JP" altLang="en-US" sz="2400" dirty="0">
                <a:latin typeface="MS PGothic" panose="020B0600070205080204" pitchFamily="34" charset="-128"/>
                <a:ea typeface="MS PGothic" panose="020B0600070205080204" pitchFamily="34" charset="-128"/>
              </a:rPr>
              <a:t>，</a:t>
            </a:r>
            <a:r>
              <a:rPr kumimoji="1" lang="en-US" altLang="ja-JP" sz="2400" dirty="0">
                <a:latin typeface="MS PGothic" panose="020B0600070205080204" pitchFamily="34" charset="-128"/>
                <a:ea typeface="MS PGothic" panose="020B0600070205080204" pitchFamily="34" charset="-128"/>
              </a:rPr>
              <a:t>Jun</a:t>
            </a:r>
            <a:r>
              <a:rPr kumimoji="1" lang="ja-JP" altLang="en-US" sz="2400" dirty="0">
                <a:latin typeface="MS PGothic" panose="020B0600070205080204" pitchFamily="34" charset="-128"/>
                <a:ea typeface="MS PGothic" panose="020B0600070205080204" pitchFamily="34" charset="-128"/>
              </a:rPr>
              <a:t>．</a:t>
            </a:r>
            <a:r>
              <a:rPr kumimoji="1" lang="en-US" altLang="ja-JP" sz="2400" dirty="0">
                <a:latin typeface="MS PGothic" panose="020B0600070205080204" pitchFamily="34" charset="-128"/>
                <a:ea typeface="MS PGothic" panose="020B0600070205080204" pitchFamily="34" charset="-128"/>
              </a:rPr>
              <a:t>2023. </a:t>
            </a:r>
          </a:p>
          <a:p>
            <a:r>
              <a:rPr kumimoji="1" lang="en-US" altLang="ja-JP" sz="2400" dirty="0">
                <a:latin typeface="MS PGothic" panose="020B0600070205080204" pitchFamily="34" charset="-128"/>
                <a:ea typeface="MS PGothic" panose="020B0600070205080204" pitchFamily="34" charset="-128"/>
              </a:rPr>
              <a:t>[2] Twitter Inc., </a:t>
            </a:r>
            <a:r>
              <a:rPr kumimoji="1" lang="ja-JP" altLang="en-US" sz="2400" dirty="0">
                <a:latin typeface="MS PGothic" panose="020B0600070205080204" pitchFamily="34" charset="-128"/>
                <a:ea typeface="MS PGothic" panose="020B0600070205080204" pitchFamily="34" charset="-128"/>
              </a:rPr>
              <a:t>くろん</a:t>
            </a:r>
            <a:r>
              <a:rPr kumimoji="1" lang="en-US" altLang="ja-JP" sz="2400" dirty="0">
                <a:latin typeface="MS PGothic" panose="020B0600070205080204" pitchFamily="34" charset="-128"/>
                <a:ea typeface="MS PGothic" panose="020B0600070205080204" pitchFamily="34" charset="-128"/>
              </a:rPr>
              <a:t>, https://</a:t>
            </a:r>
            <a:r>
              <a:rPr kumimoji="1" lang="en-US" altLang="ja-JP" sz="2400" dirty="0" err="1">
                <a:latin typeface="MS PGothic" panose="020B0600070205080204" pitchFamily="34" charset="-128"/>
                <a:ea typeface="MS PGothic" panose="020B0600070205080204" pitchFamily="34" charset="-128"/>
              </a:rPr>
              <a:t>twitter.com</a:t>
            </a:r>
            <a:r>
              <a:rPr kumimoji="1" lang="en-US" altLang="ja-JP" sz="2400" dirty="0">
                <a:latin typeface="MS PGothic" panose="020B0600070205080204" pitchFamily="34" charset="-128"/>
                <a:ea typeface="MS PGothic" panose="020B0600070205080204" pitchFamily="34" charset="-128"/>
              </a:rPr>
              <a:t>/</a:t>
            </a:r>
            <a:r>
              <a:rPr kumimoji="1" lang="en-US" altLang="ja-JP" sz="2400" dirty="0" err="1">
                <a:latin typeface="MS PGothic" panose="020B0600070205080204" pitchFamily="34" charset="-128"/>
                <a:ea typeface="MS PGothic" panose="020B0600070205080204" pitchFamily="34" charset="-128"/>
              </a:rPr>
              <a:t>kuron_nano</a:t>
            </a:r>
            <a:r>
              <a:rPr kumimoji="1" lang="en-US" altLang="ja-JP" sz="2400" dirty="0">
                <a:latin typeface="MS PGothic" panose="020B0600070205080204" pitchFamily="34" charset="-128"/>
                <a:ea typeface="MS PGothic" panose="020B0600070205080204" pitchFamily="34" charset="-128"/>
              </a:rPr>
              <a:t>/status/1574121450860007424, Last Access : 2024/3/1.</a:t>
            </a:r>
          </a:p>
          <a:p>
            <a:r>
              <a:rPr kumimoji="1" lang="en-US" altLang="ja-JP" sz="2400" dirty="0">
                <a:latin typeface="MS PGothic" panose="020B0600070205080204" pitchFamily="34" charset="-128"/>
                <a:ea typeface="MS PGothic" panose="020B0600070205080204" pitchFamily="34" charset="-128"/>
              </a:rPr>
              <a:t>[3] Twitter Inc. GIGAZIN, https://</a:t>
            </a:r>
            <a:r>
              <a:rPr kumimoji="1" lang="en-US" altLang="ja-JP" sz="2400" dirty="0" err="1">
                <a:latin typeface="MS PGothic" panose="020B0600070205080204" pitchFamily="34" charset="-128"/>
                <a:ea typeface="MS PGothic" panose="020B0600070205080204" pitchFamily="34" charset="-128"/>
              </a:rPr>
              <a:t>twitter.com</a:t>
            </a:r>
            <a:r>
              <a:rPr kumimoji="1" lang="en-US" altLang="ja-JP" sz="2400" dirty="0">
                <a:latin typeface="MS PGothic" panose="020B0600070205080204" pitchFamily="34" charset="-128"/>
                <a:ea typeface="MS PGothic" panose="020B0600070205080204" pitchFamily="34" charset="-128"/>
              </a:rPr>
              <a:t>/</a:t>
            </a:r>
            <a:r>
              <a:rPr kumimoji="1" lang="en-US" altLang="ja-JP" sz="2400" dirty="0" err="1">
                <a:latin typeface="MS PGothic" panose="020B0600070205080204" pitchFamily="34" charset="-128"/>
                <a:ea typeface="MS PGothic" panose="020B0600070205080204" pitchFamily="34" charset="-128"/>
              </a:rPr>
              <a:t>gigazine</a:t>
            </a:r>
            <a:r>
              <a:rPr kumimoji="1" lang="en-US" altLang="ja-JP" sz="2400" dirty="0">
                <a:latin typeface="MS PGothic" panose="020B0600070205080204" pitchFamily="34" charset="-128"/>
                <a:ea typeface="MS PGothic" panose="020B0600070205080204" pitchFamily="34" charset="-128"/>
              </a:rPr>
              <a:t>/status/1638782686407036928, Last Access : 2024/3/1.</a:t>
            </a:r>
          </a:p>
          <a:p>
            <a:r>
              <a:rPr kumimoji="1" lang="en-US" altLang="ja-JP" sz="2400" dirty="0">
                <a:latin typeface="MS PGothic" panose="020B0600070205080204" pitchFamily="34" charset="-128"/>
                <a:ea typeface="MS PGothic" panose="020B0600070205080204" pitchFamily="34" charset="-128"/>
              </a:rPr>
              <a:t>[4] </a:t>
            </a:r>
            <a:r>
              <a:rPr lang="en" altLang="ja-JP" sz="2400" dirty="0" err="1">
                <a:solidFill>
                  <a:srgbClr val="111111"/>
                </a:solidFill>
                <a:latin typeface="MS PGothic" panose="020B0600070205080204" pitchFamily="34" charset="-128"/>
                <a:ea typeface="MS PGothic" panose="020B0600070205080204" pitchFamily="34" charset="-128"/>
              </a:rPr>
              <a:t>Z.Liu</a:t>
            </a:r>
            <a:r>
              <a:rPr lang="ja-JP" altLang="en-US" sz="2400" dirty="0">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et al</a:t>
            </a:r>
            <a:r>
              <a:rPr lang="ja-JP" altLang="en" sz="2400" dirty="0">
                <a:solidFill>
                  <a:srgbClr val="111111"/>
                </a:solidFill>
                <a:latin typeface="MS PGothic" panose="020B0600070205080204" pitchFamily="34" charset="-128"/>
                <a:ea typeface="MS PGothic" panose="020B0600070205080204" pitchFamily="34" charset="-128"/>
              </a:rPr>
              <a:t>，</a:t>
            </a:r>
            <a:r>
              <a:rPr lang="en" altLang="ja-JP" sz="2400" i="1" dirty="0">
                <a:solidFill>
                  <a:srgbClr val="111111"/>
                </a:solidFill>
                <a:latin typeface="MS PGothic" panose="020B0600070205080204" pitchFamily="34" charset="-128"/>
                <a:ea typeface="MS PGothic" panose="020B0600070205080204" pitchFamily="34" charset="-128"/>
              </a:rPr>
              <a:t>Proc</a:t>
            </a:r>
            <a:r>
              <a:rPr lang="ja-JP" altLang="en" sz="2400" i="1" dirty="0">
                <a:solidFill>
                  <a:srgbClr val="111111"/>
                </a:solidFill>
                <a:latin typeface="MS PGothic" panose="020B0600070205080204" pitchFamily="34" charset="-128"/>
                <a:ea typeface="MS PGothic" panose="020B0600070205080204" pitchFamily="34" charset="-128"/>
              </a:rPr>
              <a:t>．</a:t>
            </a:r>
            <a:r>
              <a:rPr lang="en" altLang="ja-JP" sz="2400" i="1" dirty="0">
                <a:solidFill>
                  <a:srgbClr val="111111"/>
                </a:solidFill>
                <a:latin typeface="MS PGothic" panose="020B0600070205080204" pitchFamily="34" charset="-128"/>
                <a:ea typeface="MS PGothic" panose="020B0600070205080204" pitchFamily="34" charset="-128"/>
              </a:rPr>
              <a:t>IEEE/CVF ICCV</a:t>
            </a:r>
            <a:r>
              <a:rPr lang="ja-JP" altLang="en" sz="2400" i="1" dirty="0">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pp.10012-10022</a:t>
            </a:r>
            <a:r>
              <a:rPr lang="ja-JP" altLang="en" sz="2400" dirty="0">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Oct</a:t>
            </a:r>
            <a:r>
              <a:rPr lang="ja-JP" altLang="en-US" sz="2400" dirty="0">
                <a:solidFill>
                  <a:srgbClr val="111111"/>
                </a:solidFill>
                <a:latin typeface="MS PGothic" panose="020B0600070205080204" pitchFamily="34" charset="-128"/>
                <a:ea typeface="MS PGothic" panose="020B0600070205080204" pitchFamily="34" charset="-128"/>
              </a:rPr>
              <a:t>．</a:t>
            </a:r>
            <a:r>
              <a:rPr lang="en" altLang="ja-JP" sz="2400" dirty="0">
                <a:solidFill>
                  <a:srgbClr val="111111"/>
                </a:solidFill>
                <a:latin typeface="MS PGothic" panose="020B0600070205080204" pitchFamily="34" charset="-128"/>
                <a:ea typeface="MS PGothic" panose="020B0600070205080204" pitchFamily="34" charset="-128"/>
              </a:rPr>
              <a:t>2021</a:t>
            </a:r>
            <a:r>
              <a:rPr lang="ja-JP" altLang="en-US" sz="2400" dirty="0">
                <a:solidFill>
                  <a:srgbClr val="111111"/>
                </a:solidFill>
                <a:latin typeface="MS PGothic" panose="020B0600070205080204" pitchFamily="34" charset="-128"/>
                <a:ea typeface="MS PGothic" panose="020B0600070205080204" pitchFamily="34" charset="-128"/>
              </a:rPr>
              <a:t>．</a:t>
            </a:r>
            <a:endParaRPr lang="en-US" altLang="ja-JP" sz="2400" dirty="0">
              <a:solidFill>
                <a:srgbClr val="111111"/>
              </a:solidFill>
              <a:latin typeface="MS PGothic" panose="020B0600070205080204" pitchFamily="34" charset="-128"/>
              <a:ea typeface="MS PGothic" panose="020B0600070205080204" pitchFamily="34" charset="-128"/>
            </a:endParaRPr>
          </a:p>
          <a:p>
            <a:r>
              <a:rPr lang="en-US" altLang="ja-JP" sz="2400" dirty="0">
                <a:solidFill>
                  <a:srgbClr val="111111"/>
                </a:solidFill>
                <a:latin typeface="MS PGothic" panose="020B0600070205080204" pitchFamily="34" charset="-128"/>
                <a:ea typeface="MS PGothic" panose="020B0600070205080204" pitchFamily="34" charset="-128"/>
              </a:rPr>
              <a:t>[5] P</a:t>
            </a:r>
            <a:r>
              <a:rPr lang="ja-JP" altLang="en-US" sz="2400" dirty="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Young</a:t>
            </a:r>
            <a:r>
              <a:rPr lang="ja-JP" altLang="en-US" sz="2400" dirty="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et al.</a:t>
            </a:r>
            <a:r>
              <a:rPr lang="ja-JP" altLang="en-US" sz="2400" dirty="0">
                <a:solidFill>
                  <a:srgbClr val="111111"/>
                </a:solidFill>
                <a:latin typeface="MS PGothic" panose="020B0600070205080204" pitchFamily="34" charset="-128"/>
                <a:ea typeface="MS PGothic" panose="020B0600070205080204" pitchFamily="34" charset="-128"/>
              </a:rPr>
              <a:t>，</a:t>
            </a:r>
            <a:r>
              <a:rPr lang="en-US" altLang="ja-JP" sz="2400" i="1" dirty="0">
                <a:solidFill>
                  <a:srgbClr val="111111"/>
                </a:solidFill>
                <a:latin typeface="MS PGothic" panose="020B0600070205080204" pitchFamily="34" charset="-128"/>
                <a:ea typeface="MS PGothic" panose="020B0600070205080204" pitchFamily="34" charset="-128"/>
              </a:rPr>
              <a:t>TACL</a:t>
            </a:r>
            <a:r>
              <a:rPr lang="ja-JP" altLang="en-US" sz="2400" dirty="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Vol.2, pp.67-78</a:t>
            </a:r>
            <a:r>
              <a:rPr lang="ja-JP" altLang="en-US" sz="2400" dirty="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Feb</a:t>
            </a:r>
            <a:r>
              <a:rPr lang="ja-JP" altLang="en-US" sz="2400" dirty="0">
                <a:solidFill>
                  <a:srgbClr val="111111"/>
                </a:solidFill>
                <a:latin typeface="MS PGothic" panose="020B0600070205080204" pitchFamily="34" charset="-128"/>
                <a:ea typeface="MS PGothic" panose="020B0600070205080204" pitchFamily="34" charset="-128"/>
              </a:rPr>
              <a:t>．</a:t>
            </a:r>
            <a:r>
              <a:rPr lang="en-US" altLang="ja-JP" sz="2400" dirty="0">
                <a:solidFill>
                  <a:srgbClr val="111111"/>
                </a:solidFill>
                <a:latin typeface="MS PGothic" panose="020B0600070205080204" pitchFamily="34" charset="-128"/>
                <a:ea typeface="MS PGothic" panose="020B0600070205080204" pitchFamily="34" charset="-128"/>
              </a:rPr>
              <a:t>2014.</a:t>
            </a:r>
          </a:p>
        </p:txBody>
      </p:sp>
      <p:sp>
        <p:nvSpPr>
          <p:cNvPr id="8" name="テキスト ボックス 7">
            <a:extLst>
              <a:ext uri="{FF2B5EF4-FFF2-40B4-BE49-F238E27FC236}">
                <a16:creationId xmlns:a16="http://schemas.microsoft.com/office/drawing/2014/main" id="{D5CD26BF-D61E-BF97-8A9C-F58E8DD2A30C}"/>
              </a:ext>
            </a:extLst>
          </p:cNvPr>
          <p:cNvSpPr txBox="1"/>
          <p:nvPr/>
        </p:nvSpPr>
        <p:spPr>
          <a:xfrm>
            <a:off x="15406070" y="36403209"/>
            <a:ext cx="14741327" cy="3785652"/>
          </a:xfrm>
          <a:prstGeom prst="rect">
            <a:avLst/>
          </a:prstGeom>
          <a:noFill/>
        </p:spPr>
        <p:txBody>
          <a:bodyPr wrap="square" rtlCol="0">
            <a:spAutoFit/>
          </a:bodyPr>
          <a:lstStyle/>
          <a:p>
            <a:pPr algn="ctr"/>
            <a:r>
              <a:rPr kumimoji="1" lang="ja-JP" altLang="en-US" sz="3200" b="1" dirty="0">
                <a:latin typeface="MS PGothic" panose="020B0600070205080204" pitchFamily="34" charset="-128"/>
                <a:ea typeface="MS PGothic" panose="020B0600070205080204" pitchFamily="34" charset="-128"/>
              </a:rPr>
              <a:t>まとめ</a:t>
            </a:r>
            <a:endParaRPr kumimoji="1" lang="en-US" altLang="ja-JP" sz="3200" b="1"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が生成した画像であるか判別する</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を提案</a:t>
            </a:r>
            <a:endParaRPr kumimoji="1" lang="en-US" altLang="ja-JP" sz="3200"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提案手法では，新たな画像生成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の画像を学習した</a:t>
            </a:r>
            <a:r>
              <a:rPr kumimoji="1" lang="ja-JP" altLang="en-US" sz="3200">
                <a:latin typeface="MS PGothic" panose="020B0600070205080204" pitchFamily="34" charset="-128"/>
                <a:ea typeface="MS PGothic" panose="020B0600070205080204" pitchFamily="34" charset="-128"/>
              </a:rPr>
              <a:t>画像分類</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を</a:t>
            </a:r>
            <a:r>
              <a:rPr kumimoji="1" lang="ja-JP" altLang="en-US" sz="3200" dirty="0">
                <a:latin typeface="MS PGothic" panose="020B0600070205080204" pitchFamily="34" charset="-128"/>
                <a:ea typeface="MS PGothic" panose="020B0600070205080204" pitchFamily="34" charset="-128"/>
              </a:rPr>
              <a:t>追加することで対応する</a:t>
            </a:r>
            <a:endParaRPr kumimoji="1" lang="en-US" altLang="ja-JP" sz="3200"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実験から，従来手法と比べ，生成画像に対し高い分類精度が得られた</a:t>
            </a:r>
            <a:endParaRPr kumimoji="1" lang="en-US" altLang="ja-JP" sz="3200"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endParaRPr kumimoji="1" lang="en-US" altLang="ja-JP" sz="1600" dirty="0">
              <a:latin typeface="MS PGothic" panose="020B0600070205080204" pitchFamily="34" charset="-128"/>
              <a:ea typeface="MS PGothic" panose="020B0600070205080204" pitchFamily="34" charset="-128"/>
            </a:endParaRPr>
          </a:p>
          <a:p>
            <a:pPr algn="ctr"/>
            <a:r>
              <a:rPr kumimoji="1" lang="ja-JP" altLang="en-US" sz="3200" b="1" dirty="0">
                <a:latin typeface="MS PGothic" panose="020B0600070205080204" pitchFamily="34" charset="-128"/>
                <a:ea typeface="MS PGothic" panose="020B0600070205080204" pitchFamily="34" charset="-128"/>
              </a:rPr>
              <a:t>今後の課題</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a:latin typeface="MS PGothic" panose="020B0600070205080204" pitchFamily="34" charset="-128"/>
                <a:ea typeface="MS PGothic" panose="020B0600070205080204" pitchFamily="34" charset="-128"/>
              </a:rPr>
              <a:t>他の画像生成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の画像に対応した画像分類</a:t>
            </a:r>
            <a:r>
              <a:rPr kumimoji="1" lang="en-US" altLang="ja-JP" sz="320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を追加し，実験を行う</a:t>
            </a:r>
            <a:endParaRPr kumimoji="1" lang="en-US" altLang="ja-JP" sz="3200" dirty="0">
              <a:latin typeface="MS PGothic" panose="020B0600070205080204" pitchFamily="34" charset="-128"/>
              <a:ea typeface="MS PGothic" panose="020B0600070205080204" pitchFamily="34" charset="-128"/>
            </a:endParaRPr>
          </a:p>
        </p:txBody>
      </p:sp>
      <p:sp>
        <p:nvSpPr>
          <p:cNvPr id="1127" name="テキスト ボックス 1126">
            <a:extLst>
              <a:ext uri="{FF2B5EF4-FFF2-40B4-BE49-F238E27FC236}">
                <a16:creationId xmlns:a16="http://schemas.microsoft.com/office/drawing/2014/main" id="{FA4FA36C-A7A7-F2BE-6E92-3BCFEC62E954}"/>
              </a:ext>
            </a:extLst>
          </p:cNvPr>
          <p:cNvSpPr txBox="1"/>
          <p:nvPr/>
        </p:nvSpPr>
        <p:spPr>
          <a:xfrm>
            <a:off x="3604873" y="9188019"/>
            <a:ext cx="7902945" cy="584775"/>
          </a:xfrm>
          <a:prstGeom prst="rect">
            <a:avLst/>
          </a:prstGeom>
          <a:noFill/>
        </p:spPr>
        <p:txBody>
          <a:bodyPr wrap="square" rtlCol="0">
            <a:spAutoFit/>
          </a:bodyPr>
          <a:lstStyle/>
          <a:p>
            <a:pPr algn="ctr"/>
            <a:r>
              <a:rPr kumimoji="1" lang="ja-JP" altLang="en-US" sz="3200" dirty="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1</a:t>
            </a:r>
            <a:r>
              <a:rPr kumimoji="1" lang="ja-JP" altLang="en-US" sz="3200" dirty="0">
                <a:latin typeface="MS PGothic" panose="020B0600070205080204" pitchFamily="34" charset="-128"/>
                <a:ea typeface="MS PGothic" panose="020B0600070205080204" pitchFamily="34" charset="-128"/>
              </a:rPr>
              <a:t>　生成画像の悪用例</a:t>
            </a:r>
            <a:r>
              <a:rPr kumimoji="1" lang="en-US" altLang="ja-JP" sz="3200" dirty="0">
                <a:latin typeface="MS PGothic" panose="020B0600070205080204" pitchFamily="34" charset="-128"/>
                <a:ea typeface="MS PGothic" panose="020B0600070205080204" pitchFamily="34" charset="-128"/>
              </a:rPr>
              <a:t>[2][3]</a:t>
            </a:r>
          </a:p>
        </p:txBody>
      </p:sp>
      <p:pic>
        <p:nvPicPr>
          <p:cNvPr id="12" name="Picture 2" descr="Tech Blog AIフェイク画像">
            <a:extLst>
              <a:ext uri="{FF2B5EF4-FFF2-40B4-BE49-F238E27FC236}">
                <a16:creationId xmlns:a16="http://schemas.microsoft.com/office/drawing/2014/main" id="{2FC04ECF-FE4C-96C2-43D4-3E0241D80E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618" y="4669922"/>
            <a:ext cx="5943312" cy="4544301"/>
          </a:xfrm>
          <a:prstGeom prst="rect">
            <a:avLst/>
          </a:prstGeom>
          <a:noFill/>
          <a:extLst>
            <a:ext uri="{909E8E84-426E-40DD-AFC4-6F175D3DCCD1}">
              <a14:hiddenFill xmlns:a14="http://schemas.microsoft.com/office/drawing/2010/main">
                <a:solidFill>
                  <a:srgbClr val="FFFFFF"/>
                </a:solidFill>
              </a14:hiddenFill>
            </a:ext>
          </a:extLst>
        </p:spPr>
      </p:pic>
      <p:pic>
        <p:nvPicPr>
          <p:cNvPr id="13" name="図 12">
            <a:extLst>
              <a:ext uri="{FF2B5EF4-FFF2-40B4-BE49-F238E27FC236}">
                <a16:creationId xmlns:a16="http://schemas.microsoft.com/office/drawing/2014/main" id="{E793F733-BAB9-F6A0-4DA1-5740FA4FBE0B}"/>
              </a:ext>
            </a:extLst>
          </p:cNvPr>
          <p:cNvPicPr>
            <a:picLocks noChangeAspect="1"/>
          </p:cNvPicPr>
          <p:nvPr/>
        </p:nvPicPr>
        <p:blipFill rotWithShape="1">
          <a:blip r:embed="rId4"/>
          <a:srcRect b="29442"/>
          <a:stretch/>
        </p:blipFill>
        <p:spPr>
          <a:xfrm>
            <a:off x="7556346" y="4590623"/>
            <a:ext cx="6252960" cy="4582194"/>
          </a:xfrm>
          <a:prstGeom prst="rect">
            <a:avLst/>
          </a:prstGeom>
        </p:spPr>
      </p:pic>
      <p:sp>
        <p:nvSpPr>
          <p:cNvPr id="1045" name="正方形/長方形 1044">
            <a:extLst>
              <a:ext uri="{FF2B5EF4-FFF2-40B4-BE49-F238E27FC236}">
                <a16:creationId xmlns:a16="http://schemas.microsoft.com/office/drawing/2014/main" id="{7D4B3039-B3E5-F3D4-6BDA-8A290F1CF94B}"/>
              </a:ext>
            </a:extLst>
          </p:cNvPr>
          <p:cNvSpPr/>
          <p:nvPr/>
        </p:nvSpPr>
        <p:spPr>
          <a:xfrm>
            <a:off x="15395211" y="35550698"/>
            <a:ext cx="14786150"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まとめと今後の課題</a:t>
            </a:r>
            <a:endParaRPr kumimoji="1" lang="ja-JP" altLang="en-US" sz="4400" dirty="0">
              <a:latin typeface="MS PGothic" panose="020B0600070205080204" pitchFamily="34" charset="-128"/>
              <a:ea typeface="MS PGothic" panose="020B0600070205080204" pitchFamily="34" charset="-128"/>
            </a:endParaRPr>
          </a:p>
        </p:txBody>
      </p:sp>
      <p:sp>
        <p:nvSpPr>
          <p:cNvPr id="1110" name="正方形/長方形 1109">
            <a:extLst>
              <a:ext uri="{FF2B5EF4-FFF2-40B4-BE49-F238E27FC236}">
                <a16:creationId xmlns:a16="http://schemas.microsoft.com/office/drawing/2014/main" id="{D2011074-8B8D-D0A8-770D-F07155FE7F80}"/>
              </a:ext>
            </a:extLst>
          </p:cNvPr>
          <p:cNvSpPr/>
          <p:nvPr/>
        </p:nvSpPr>
        <p:spPr>
          <a:xfrm>
            <a:off x="189669" y="9936381"/>
            <a:ext cx="14693732"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a:latin typeface="MS PGothic" panose="020B0600070205080204" pitchFamily="34" charset="-128"/>
                <a:ea typeface="MS PGothic" panose="020B0600070205080204" pitchFamily="34" charset="-128"/>
              </a:rPr>
              <a:t>既存研究</a:t>
            </a:r>
          </a:p>
        </p:txBody>
      </p:sp>
      <p:sp>
        <p:nvSpPr>
          <p:cNvPr id="10" name="正方形/長方形 9">
            <a:extLst>
              <a:ext uri="{FF2B5EF4-FFF2-40B4-BE49-F238E27FC236}">
                <a16:creationId xmlns:a16="http://schemas.microsoft.com/office/drawing/2014/main" id="{3F6921C2-1D18-25E5-2E6C-7C0FFE585704}"/>
              </a:ext>
            </a:extLst>
          </p:cNvPr>
          <p:cNvSpPr/>
          <p:nvPr/>
        </p:nvSpPr>
        <p:spPr>
          <a:xfrm>
            <a:off x="15431633" y="2317429"/>
            <a:ext cx="14717304" cy="84908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dirty="0">
                <a:latin typeface="MS PGothic" panose="020B0600070205080204" pitchFamily="34" charset="-128"/>
                <a:ea typeface="MS PGothic" panose="020B0600070205080204" pitchFamily="34" charset="-128"/>
              </a:rPr>
              <a:t>実験</a:t>
            </a:r>
          </a:p>
        </p:txBody>
      </p:sp>
      <p:sp>
        <p:nvSpPr>
          <p:cNvPr id="15" name="テキスト ボックス 14">
            <a:extLst>
              <a:ext uri="{FF2B5EF4-FFF2-40B4-BE49-F238E27FC236}">
                <a16:creationId xmlns:a16="http://schemas.microsoft.com/office/drawing/2014/main" id="{9B830A6C-0B85-E1E5-F41E-11E26934497E}"/>
              </a:ext>
            </a:extLst>
          </p:cNvPr>
          <p:cNvSpPr txBox="1"/>
          <p:nvPr/>
        </p:nvSpPr>
        <p:spPr>
          <a:xfrm>
            <a:off x="15492154" y="3223338"/>
            <a:ext cx="14625650" cy="33024425"/>
          </a:xfrm>
          <a:prstGeom prst="rect">
            <a:avLst/>
          </a:prstGeom>
          <a:noFill/>
          <a:ln w="38100">
            <a:noFill/>
          </a:ln>
        </p:spPr>
        <p:txBody>
          <a:bodyPr wrap="square" rtlCol="0">
            <a:spAutoFit/>
          </a:bodyPr>
          <a:lstStyle/>
          <a:p>
            <a:pPr indent="457200" algn="ctr"/>
            <a:r>
              <a:rPr kumimoji="1" lang="ja-JP" altLang="en-US" sz="3200" b="1" dirty="0">
                <a:latin typeface="MS PGothic" panose="020B0600070205080204" pitchFamily="34" charset="-128"/>
                <a:ea typeface="MS PGothic" panose="020B0600070205080204" pitchFamily="34" charset="-128"/>
              </a:rPr>
              <a:t>実験</a:t>
            </a:r>
            <a:r>
              <a:rPr kumimoji="1" lang="en-US" altLang="ja-JP" sz="3200" b="1" dirty="0">
                <a:latin typeface="MS PGothic" panose="020B0600070205080204" pitchFamily="34" charset="-128"/>
                <a:ea typeface="MS PGothic" panose="020B0600070205080204" pitchFamily="34" charset="-128"/>
              </a:rPr>
              <a:t>1</a:t>
            </a:r>
          </a:p>
          <a:p>
            <a:pPr indent="457200" algn="just"/>
            <a:r>
              <a:rPr kumimoji="1" lang="ja-JP" altLang="en-US" sz="3200" dirty="0">
                <a:latin typeface="MS PGothic" panose="020B0600070205080204" pitchFamily="34" charset="-128"/>
                <a:ea typeface="MS PGothic" panose="020B0600070205080204" pitchFamily="34" charset="-128"/>
              </a:rPr>
              <a:t>従来手法</a:t>
            </a:r>
            <a:r>
              <a:rPr kumimoji="1" lang="en-US" altLang="ja-JP" sz="3200" dirty="0">
                <a:latin typeface="MS PGothic" panose="020B0600070205080204" pitchFamily="34" charset="-128"/>
                <a:ea typeface="MS PGothic" panose="020B0600070205080204" pitchFamily="34" charset="-128"/>
              </a:rPr>
              <a:t>[1]</a:t>
            </a:r>
            <a:r>
              <a:rPr kumimoji="1" lang="ja-JP" altLang="en-US" sz="3200" dirty="0">
                <a:latin typeface="MS PGothic" panose="020B0600070205080204" pitchFamily="34" charset="-128"/>
                <a:ea typeface="MS PGothic" panose="020B0600070205080204" pitchFamily="34" charset="-128"/>
              </a:rPr>
              <a:t>と提案手法で生成画像か現実画像か判別する二値分類</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を学習し，その結果を比較する</a:t>
            </a:r>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indent="457200" algn="just"/>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dirty="0">
                <a:latin typeface="MS PGothic" panose="020B0600070205080204" pitchFamily="34" charset="-128"/>
                <a:ea typeface="MS PGothic" panose="020B0600070205080204" pitchFamily="34" charset="-128"/>
              </a:rPr>
              <a:t>比較手法</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一種類の画像生成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が生成した画像を学習した識別器</a:t>
            </a:r>
            <a:r>
              <a:rPr kumimoji="1" lang="en-US" altLang="ja-JP" sz="3200" dirty="0">
                <a:latin typeface="MS PGothic" panose="020B0600070205080204" pitchFamily="34" charset="-128"/>
                <a:ea typeface="MS PGothic" panose="020B0600070205080204" pitchFamily="34" charset="-128"/>
              </a:rPr>
              <a:t>[1]</a:t>
            </a: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全ての画像生成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が生成した画像を学習した識別器</a:t>
            </a:r>
            <a:r>
              <a:rPr kumimoji="1" lang="en-US" altLang="ja-JP" sz="3200" dirty="0">
                <a:latin typeface="MS PGothic" panose="020B0600070205080204" pitchFamily="34" charset="-128"/>
                <a:ea typeface="MS PGothic" panose="020B0600070205080204" pitchFamily="34" charset="-128"/>
              </a:rPr>
              <a:t>(All)</a:t>
            </a: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提案手法</a:t>
            </a:r>
            <a:r>
              <a:rPr kumimoji="1" lang="en-US" altLang="ja-JP" sz="3200" dirty="0">
                <a:latin typeface="MS PGothic" panose="020B0600070205080204" pitchFamily="34" charset="-128"/>
                <a:ea typeface="MS PGothic" panose="020B0600070205080204" pitchFamily="34" charset="-128"/>
              </a:rPr>
              <a:t>(Ours)</a:t>
            </a: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dirty="0">
                <a:latin typeface="MS PGothic" panose="020B0600070205080204" pitchFamily="34" charset="-128"/>
                <a:ea typeface="MS PGothic" panose="020B0600070205080204" pitchFamily="34" charset="-128"/>
              </a:rPr>
              <a:t>使用するデータ</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en-US" altLang="ja-JP" sz="3200" dirty="0">
                <a:latin typeface="MS PGothic" panose="020B0600070205080204" pitchFamily="34" charset="-128"/>
                <a:ea typeface="MS PGothic" panose="020B0600070205080204" pitchFamily="34" charset="-128"/>
              </a:rPr>
              <a:t>[1]</a:t>
            </a:r>
            <a:r>
              <a:rPr kumimoji="1" lang="ja-JP" altLang="en-US" sz="3200" dirty="0">
                <a:latin typeface="MS PGothic" panose="020B0600070205080204" pitchFamily="34" charset="-128"/>
                <a:ea typeface="MS PGothic" panose="020B0600070205080204" pitchFamily="34" charset="-128"/>
              </a:rPr>
              <a:t>の公開したデータセットを使用</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en-US" altLang="ja-JP" sz="3200" dirty="0">
                <a:latin typeface="MS PGothic" panose="020B0600070205080204" pitchFamily="34" charset="-128"/>
                <a:ea typeface="MS PGothic" panose="020B0600070205080204" pitchFamily="34" charset="-128"/>
              </a:rPr>
              <a:t>[1]</a:t>
            </a:r>
            <a:r>
              <a:rPr kumimoji="1" lang="ja-JP" altLang="en-US" sz="3200" dirty="0">
                <a:latin typeface="MS PGothic" panose="020B0600070205080204" pitchFamily="34" charset="-128"/>
                <a:ea typeface="MS PGothic" panose="020B0600070205080204" pitchFamily="34" charset="-128"/>
              </a:rPr>
              <a:t>のデータセットは</a:t>
            </a:r>
            <a:r>
              <a:rPr kumimoji="1" lang="en-US" altLang="ja-JP" sz="3200" dirty="0">
                <a:latin typeface="MS PGothic" panose="020B0600070205080204" pitchFamily="34" charset="-128"/>
                <a:ea typeface="MS PGothic" panose="020B0600070205080204" pitchFamily="34" charset="-128"/>
              </a:rPr>
              <a:t>ImageNet</a:t>
            </a:r>
            <a:r>
              <a:rPr kumimoji="1" lang="ja-JP" altLang="en-US" sz="3200" dirty="0">
                <a:latin typeface="MS PGothic" panose="020B0600070205080204" pitchFamily="34" charset="-128"/>
                <a:ea typeface="MS PGothic" panose="020B0600070205080204" pitchFamily="34" charset="-128"/>
              </a:rPr>
              <a:t>のカテゴリで画像が生成されているため，</a:t>
            </a:r>
            <a:r>
              <a:rPr kumimoji="1" lang="en-US" altLang="ja-JP" sz="3200" dirty="0">
                <a:latin typeface="MS PGothic" panose="020B0600070205080204" pitchFamily="34" charset="-128"/>
                <a:ea typeface="MS PGothic" panose="020B0600070205080204" pitchFamily="34" charset="-128"/>
              </a:rPr>
              <a:t>ImageNet</a:t>
            </a:r>
            <a:r>
              <a:rPr kumimoji="1" lang="ja-JP" altLang="en-US" sz="3200" dirty="0">
                <a:latin typeface="MS PGothic" panose="020B0600070205080204" pitchFamily="34" charset="-128"/>
                <a:ea typeface="MS PGothic" panose="020B0600070205080204" pitchFamily="34" charset="-128"/>
              </a:rPr>
              <a:t>のカテゴリ外の現実画像として</a:t>
            </a:r>
            <a:r>
              <a:rPr kumimoji="1" lang="en-US" altLang="ja-JP" sz="3200" dirty="0">
                <a:latin typeface="MS PGothic" panose="020B0600070205080204" pitchFamily="34" charset="-128"/>
                <a:ea typeface="MS PGothic" panose="020B0600070205080204" pitchFamily="34" charset="-128"/>
              </a:rPr>
              <a:t>Flickr30K[5]</a:t>
            </a:r>
            <a:r>
              <a:rPr kumimoji="1" lang="ja-JP" altLang="en-US" sz="3200" dirty="0">
                <a:latin typeface="MS PGothic" panose="020B0600070205080204" pitchFamily="34" charset="-128"/>
                <a:ea typeface="MS PGothic" panose="020B0600070205080204" pitchFamily="34" charset="-128"/>
              </a:rPr>
              <a:t>を検証に使用</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r>
              <a:rPr kumimoji="1" lang="en-US" altLang="ja-JP" sz="3200" dirty="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縦軸はテストデータ，横軸は識別器，各値は分類精度</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提案手法は生成画像に対する分類精度が高い</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提案手法では現実画像に対する分類精度が低い</a:t>
            </a:r>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dirty="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全ての識別器が生成画像でないと判別した場合のみ，現実画像と判別するため</a:t>
            </a:r>
            <a:endParaRPr kumimoji="1" lang="en-US" altLang="ja-JP" sz="2000" dirty="0">
              <a:latin typeface="MS PGothic" panose="020B0600070205080204" pitchFamily="34" charset="-128"/>
              <a:ea typeface="MS PGothic" panose="020B0600070205080204" pitchFamily="34" charset="-128"/>
            </a:endParaRPr>
          </a:p>
          <a:p>
            <a:pPr algn="just"/>
            <a:endParaRPr kumimoji="1" lang="en-US" altLang="ja-JP" sz="1600" dirty="0">
              <a:latin typeface="MS PGothic" panose="020B0600070205080204" pitchFamily="34" charset="-128"/>
              <a:ea typeface="MS PGothic" panose="020B0600070205080204" pitchFamily="34" charset="-128"/>
            </a:endParaRPr>
          </a:p>
          <a:p>
            <a:pPr algn="ctr"/>
            <a:r>
              <a:rPr kumimoji="1" lang="ja-JP" altLang="en-US" sz="3200" b="1" dirty="0">
                <a:latin typeface="MS PGothic" panose="020B0600070205080204" pitchFamily="34" charset="-128"/>
                <a:ea typeface="MS PGothic" panose="020B0600070205080204" pitchFamily="34" charset="-128"/>
              </a:rPr>
              <a:t>実験</a:t>
            </a:r>
            <a:r>
              <a:rPr kumimoji="1" lang="en-US" altLang="ja-JP" sz="3200" b="1" dirty="0">
                <a:latin typeface="MS PGothic" panose="020B0600070205080204" pitchFamily="34" charset="-128"/>
                <a:ea typeface="MS PGothic" panose="020B0600070205080204" pitchFamily="34" charset="-128"/>
              </a:rPr>
              <a:t>2</a:t>
            </a:r>
          </a:p>
          <a:p>
            <a:pPr algn="just"/>
            <a:r>
              <a:rPr kumimoji="1" lang="ja-JP" altLang="en-US" sz="3200" dirty="0">
                <a:latin typeface="MS PGothic" panose="020B0600070205080204" pitchFamily="34" charset="-128"/>
                <a:ea typeface="MS PGothic" panose="020B0600070205080204" pitchFamily="34" charset="-128"/>
              </a:rPr>
              <a:t>未対応の生成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の生成画像に対する提案手法の性能を調査する</a:t>
            </a:r>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dirty="0">
                <a:latin typeface="MS PGothic" panose="020B0600070205080204" pitchFamily="34" charset="-128"/>
                <a:ea typeface="MS PGothic" panose="020B0600070205080204" pitchFamily="34" charset="-128"/>
              </a:rPr>
              <a:t>異なる画像生成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に対応した画像分類</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を増やしていき，その精度を比較した</a:t>
            </a:r>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画像分類</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を増やすことで現実画像に対する精度が下がっている</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一部の画像生成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の生成画像を学習した画像分類モデルが，他の画像生成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の生成画像に対し高い精度が得られている</a:t>
            </a:r>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dirty="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 </a:t>
            </a:r>
            <a:r>
              <a:rPr kumimoji="1" lang="ja-JP" altLang="en-US" sz="3200" dirty="0">
                <a:latin typeface="MS PGothic" panose="020B0600070205080204" pitchFamily="34" charset="-128"/>
                <a:ea typeface="MS PGothic" panose="020B0600070205080204" pitchFamily="34" charset="-128"/>
              </a:rPr>
              <a:t>一部の画像生成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が類似した傾向を持つ画像を生成していると考えられる</a:t>
            </a:r>
            <a:endParaRPr kumimoji="1" lang="en-US" altLang="ja-JP" sz="3200" dirty="0">
              <a:latin typeface="MS PGothic" panose="020B0600070205080204" pitchFamily="34" charset="-128"/>
              <a:ea typeface="MS PGothic" panose="020B0600070205080204" pitchFamily="34" charset="-128"/>
            </a:endParaRPr>
          </a:p>
        </p:txBody>
      </p:sp>
      <mc:AlternateContent xmlns:mc="http://schemas.openxmlformats.org/markup-compatibility/2006" xmlns:a14="http://schemas.microsoft.com/office/drawing/2010/main">
        <mc:Choice Requires="a14">
          <p:graphicFrame>
            <p:nvGraphicFramePr>
              <p:cNvPr id="17" name="表 16">
                <a:extLst>
                  <a:ext uri="{FF2B5EF4-FFF2-40B4-BE49-F238E27FC236}">
                    <a16:creationId xmlns:a16="http://schemas.microsoft.com/office/drawing/2014/main" id="{EA397BFA-5380-F4BF-1643-98416F37298C}"/>
                  </a:ext>
                </a:extLst>
              </p:cNvPr>
              <p:cNvGraphicFramePr>
                <a:graphicFrameLocks noGrp="1"/>
              </p:cNvGraphicFramePr>
              <p:nvPr/>
            </p:nvGraphicFramePr>
            <p:xfrm>
              <a:off x="15447335" y="5100224"/>
              <a:ext cx="14713600" cy="2895600"/>
            </p:xfrm>
            <a:graphic>
              <a:graphicData uri="http://schemas.openxmlformats.org/drawingml/2006/table">
                <a:tbl>
                  <a:tblPr firstRow="1" bandRow="1">
                    <a:tableStyleId>{5C22544A-7EE6-4342-B048-85BDC9FD1C3A}</a:tableStyleId>
                  </a:tblPr>
                  <a:tblGrid>
                    <a:gridCol w="3662017">
                      <a:extLst>
                        <a:ext uri="{9D8B030D-6E8A-4147-A177-3AD203B41FA5}">
                          <a16:colId xmlns:a16="http://schemas.microsoft.com/office/drawing/2014/main" val="1302717659"/>
                        </a:ext>
                      </a:extLst>
                    </a:gridCol>
                    <a:gridCol w="3662017">
                      <a:extLst>
                        <a:ext uri="{9D8B030D-6E8A-4147-A177-3AD203B41FA5}">
                          <a16:colId xmlns:a16="http://schemas.microsoft.com/office/drawing/2014/main" val="1335503367"/>
                        </a:ext>
                      </a:extLst>
                    </a:gridCol>
                    <a:gridCol w="7389566">
                      <a:extLst>
                        <a:ext uri="{9D8B030D-6E8A-4147-A177-3AD203B41FA5}">
                          <a16:colId xmlns:a16="http://schemas.microsoft.com/office/drawing/2014/main" val="118972529"/>
                        </a:ext>
                      </a:extLst>
                    </a:gridCol>
                  </a:tblGrid>
                  <a:tr h="403115">
                    <a:tc rowSpan="2">
                      <a:txBody>
                        <a:bodyPr/>
                        <a:lstStyle/>
                        <a:p>
                          <a:pPr algn="ctr"/>
                          <a:r>
                            <a:rPr kumimoji="1" lang="ja-JP" altLang="en-US" sz="3200" b="0" dirty="0">
                              <a:solidFill>
                                <a:schemeClr val="tx1"/>
                              </a:solidFill>
                              <a:latin typeface="MS PGothic" panose="020B0600070205080204" pitchFamily="34" charset="-128"/>
                              <a:ea typeface="MS PGothic" panose="020B0600070205080204" pitchFamily="34" charset="-128"/>
                            </a:rPr>
                            <a:t>データ</a:t>
                          </a:r>
                          <a:r>
                            <a:rPr kumimoji="1" lang="en-US" altLang="ja-JP" sz="3200" b="0" dirty="0">
                              <a:solidFill>
                                <a:schemeClr val="tx1"/>
                              </a:solidFill>
                              <a:latin typeface="MS PGothic" panose="020B0600070205080204" pitchFamily="34" charset="-128"/>
                              <a:ea typeface="MS PGothic" panose="020B0600070205080204" pitchFamily="34" charset="-128"/>
                            </a:rPr>
                            <a:t>[1]</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3200" b="0" dirty="0">
                              <a:solidFill>
                                <a:schemeClr val="tx1"/>
                              </a:solidFill>
                              <a:latin typeface="MS PGothic" panose="020B0600070205080204" pitchFamily="34" charset="-128"/>
                              <a:ea typeface="MS PGothic" panose="020B0600070205080204" pitchFamily="34" charset="-128"/>
                            </a:rPr>
                            <a:t>生成画像</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en-US" altLang="ja-JP" sz="3200" b="0" dirty="0">
                              <a:solidFill>
                                <a:schemeClr val="tx1"/>
                              </a:solidFill>
                              <a:latin typeface="MS PGothic" panose="020B0600070205080204" pitchFamily="34" charset="-128"/>
                              <a:ea typeface="MS PGothic" panose="020B0600070205080204" pitchFamily="34" charset="-128"/>
                            </a:rPr>
                            <a:t>814,000</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(train)</a:t>
                          </a:r>
                          <a:r>
                            <a:rPr kumimoji="1" lang="ja-JP" altLang="en-US" sz="3200" b="0">
                              <a:solidFill>
                                <a:schemeClr val="tx1"/>
                              </a:solidFill>
                              <a:latin typeface="MS PGothic" panose="020B0600070205080204" pitchFamily="34" charset="-128"/>
                              <a:ea typeface="MS PGothic" panose="020B0600070205080204" pitchFamily="34" charset="-128"/>
                            </a:rPr>
                            <a:t> </a:t>
                          </a:r>
                          <a:r>
                            <a:rPr kumimoji="1" lang="en-US" altLang="ja-JP" sz="3200" b="0" dirty="0">
                              <a:solidFill>
                                <a:schemeClr val="tx1"/>
                              </a:solidFill>
                              <a:latin typeface="MS PGothic" panose="020B0600070205080204" pitchFamily="34" charset="-128"/>
                              <a:ea typeface="MS PGothic" panose="020B0600070205080204" pitchFamily="34" charset="-128"/>
                            </a:rPr>
                            <a:t>/ 32,000</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(test)</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142047">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現実画像</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3200" dirty="0"/>
                            <a:t>153,274</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(train) / </a:t>
                          </a:r>
                          <a:r>
                            <a:rPr kumimoji="1" lang="en-US" altLang="ja-JP" sz="3200" dirty="0"/>
                            <a:t>39,783</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(test)</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278545">
                    <a:tc gridSpan="2">
                      <a:txBody>
                        <a:bodyPr/>
                        <a:lstStyle/>
                        <a:p>
                          <a:pPr algn="ctr"/>
                          <a:r>
                            <a:rPr kumimoji="1" lang="ja-JP" altLang="en-US" sz="32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Adam(</a:t>
                          </a:r>
                          <a14:m>
                            <m:oMath xmlns:m="http://schemas.openxmlformats.org/officeDocument/2006/math">
                              <m:r>
                                <a:rPr kumimoji="1" lang="en-US" altLang="ja-JP" sz="3200" b="0" i="1" smtClean="0">
                                  <a:latin typeface="Cambria Math" panose="02040503050406030204" pitchFamily="18" charset="0"/>
                                  <a:ea typeface="Cambria Math" panose="02040503050406030204" pitchFamily="18" charset="0"/>
                                </a:rPr>
                                <m:t>𝜂</m:t>
                              </m:r>
                              <m:r>
                                <a:rPr kumimoji="1" lang="en-US" altLang="ja-JP" sz="3200" b="0" i="1" smtClean="0">
                                  <a:latin typeface="Cambria Math" panose="02040503050406030204" pitchFamily="18" charset="0"/>
                                  <a:ea typeface="Cambria Math" panose="02040503050406030204" pitchFamily="18" charset="0"/>
                                </a:rPr>
                                <m:t>=0.0001</m:t>
                              </m:r>
                            </m:oMath>
                          </a14:m>
                          <a:r>
                            <a:rPr kumimoji="1" lang="en-US" altLang="ja-JP" sz="3200" b="0" dirty="0">
                              <a:latin typeface="MS PGothic" panose="020B0600070205080204" pitchFamily="34" charset="-128"/>
                              <a:ea typeface="MS PGothic" panose="020B0600070205080204" pitchFamily="34" charset="-128"/>
                            </a:rPr>
                            <a:t>)</a:t>
                          </a:r>
                          <a:endParaRPr kumimoji="1" lang="ja-JP" altLang="en-US" sz="32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1801116897"/>
                      </a:ext>
                    </a:extLst>
                  </a:tr>
                  <a:tr h="395164">
                    <a:tc gridSpan="2">
                      <a:txBody>
                        <a:bodyPr/>
                        <a:lstStyle/>
                        <a:p>
                          <a:pPr algn="ctr"/>
                          <a:r>
                            <a:rPr kumimoji="1" lang="ja-JP" altLang="en-US" sz="3200" b="0">
                              <a:latin typeface="MS PGothic" panose="020B0600070205080204" pitchFamily="34" charset="-128"/>
                              <a:ea typeface="MS PGothic" panose="020B0600070205080204" pitchFamily="34" charset="-128"/>
                            </a:rPr>
                            <a:t>ミニバッチサイズ</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512</a:t>
                          </a:r>
                          <a:endParaRPr kumimoji="1" lang="en" altLang="ja-JP" sz="32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213609">
                    <a:tc gridSpan="2">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3200" b="0">
                              <a:latin typeface="MS PGothic" panose="020B0600070205080204" pitchFamily="34" charset="-128"/>
                              <a:ea typeface="MS PGothic" panose="020B0600070205080204" pitchFamily="34" charset="-128"/>
                            </a:rPr>
                            <a:t>学習反復回数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10</a:t>
                          </a:r>
                          <a:endParaRPr kumimoji="1" lang="en" altLang="ja-JP" sz="32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bl>
              </a:graphicData>
            </a:graphic>
          </p:graphicFrame>
        </mc:Choice>
        <mc:Fallback xmlns="">
          <p:graphicFrame>
            <p:nvGraphicFramePr>
              <p:cNvPr id="17" name="表 16">
                <a:extLst>
                  <a:ext uri="{FF2B5EF4-FFF2-40B4-BE49-F238E27FC236}">
                    <a16:creationId xmlns:a16="http://schemas.microsoft.com/office/drawing/2014/main" id="{372B6A31-0AAB-25D3-B6E7-91C0490B0FC8}"/>
                  </a:ext>
                </a:extLst>
              </p:cNvPr>
              <p:cNvGraphicFramePr>
                <a:graphicFrameLocks noGrp="1"/>
              </p:cNvGraphicFramePr>
              <p:nvPr>
                <p:extLst>
                  <p:ext uri="{D42A27DB-BD31-4B8C-83A1-F6EECF244321}">
                    <p14:modId xmlns:p14="http://schemas.microsoft.com/office/powerpoint/2010/main" val="2361308204"/>
                  </p:ext>
                </p:extLst>
              </p:nvPr>
            </p:nvGraphicFramePr>
            <p:xfrm>
              <a:off x="15447335" y="5100224"/>
              <a:ext cx="14713600" cy="2895600"/>
            </p:xfrm>
            <a:graphic>
              <a:graphicData uri="http://schemas.openxmlformats.org/drawingml/2006/table">
                <a:tbl>
                  <a:tblPr firstRow="1" bandRow="1">
                    <a:tableStyleId>{5C22544A-7EE6-4342-B048-85BDC9FD1C3A}</a:tableStyleId>
                  </a:tblPr>
                  <a:tblGrid>
                    <a:gridCol w="3662017">
                      <a:extLst>
                        <a:ext uri="{9D8B030D-6E8A-4147-A177-3AD203B41FA5}">
                          <a16:colId xmlns:a16="http://schemas.microsoft.com/office/drawing/2014/main" val="1302717659"/>
                        </a:ext>
                      </a:extLst>
                    </a:gridCol>
                    <a:gridCol w="3662017">
                      <a:extLst>
                        <a:ext uri="{9D8B030D-6E8A-4147-A177-3AD203B41FA5}">
                          <a16:colId xmlns:a16="http://schemas.microsoft.com/office/drawing/2014/main" val="1335503367"/>
                        </a:ext>
                      </a:extLst>
                    </a:gridCol>
                    <a:gridCol w="7389566">
                      <a:extLst>
                        <a:ext uri="{9D8B030D-6E8A-4147-A177-3AD203B41FA5}">
                          <a16:colId xmlns:a16="http://schemas.microsoft.com/office/drawing/2014/main" val="118972529"/>
                        </a:ext>
                      </a:extLst>
                    </a:gridCol>
                  </a:tblGrid>
                  <a:tr h="579120">
                    <a:tc rowSpan="2">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データ</a:t>
                          </a:r>
                          <a:r>
                            <a:rPr kumimoji="1" lang="en-US" altLang="ja-JP" sz="3200" b="0" dirty="0">
                              <a:solidFill>
                                <a:schemeClr val="tx1"/>
                              </a:solidFill>
                              <a:latin typeface="MS PGothic" panose="020B0600070205080204" pitchFamily="34" charset="-128"/>
                              <a:ea typeface="MS PGothic" panose="020B0600070205080204" pitchFamily="34" charset="-128"/>
                            </a:rPr>
                            <a:t>[1]</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生成画像</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en-US" altLang="ja-JP" sz="3200" b="0" dirty="0">
                              <a:solidFill>
                                <a:schemeClr val="tx1"/>
                              </a:solidFill>
                              <a:latin typeface="MS PGothic" panose="020B0600070205080204" pitchFamily="34" charset="-128"/>
                              <a:ea typeface="MS PGothic" panose="020B0600070205080204" pitchFamily="34" charset="-128"/>
                            </a:rPr>
                            <a:t>814,000</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(train)</a:t>
                          </a:r>
                          <a:r>
                            <a:rPr kumimoji="1" lang="ja-JP" altLang="en-US" sz="3200" b="0">
                              <a:solidFill>
                                <a:schemeClr val="tx1"/>
                              </a:solidFill>
                              <a:latin typeface="MS PGothic" panose="020B0600070205080204" pitchFamily="34" charset="-128"/>
                              <a:ea typeface="MS PGothic" panose="020B0600070205080204" pitchFamily="34" charset="-128"/>
                            </a:rPr>
                            <a:t> </a:t>
                          </a:r>
                          <a:r>
                            <a:rPr kumimoji="1" lang="en-US" altLang="ja-JP" sz="3200" b="0" dirty="0">
                              <a:solidFill>
                                <a:schemeClr val="tx1"/>
                              </a:solidFill>
                              <a:latin typeface="MS PGothic" panose="020B0600070205080204" pitchFamily="34" charset="-128"/>
                              <a:ea typeface="MS PGothic" panose="020B0600070205080204" pitchFamily="34" charset="-128"/>
                            </a:rPr>
                            <a:t>/ 32,000</a:t>
                          </a:r>
                          <a:r>
                            <a:rPr kumimoji="1" lang="ja-JP" altLang="en-US" sz="3200" b="0">
                              <a:solidFill>
                                <a:schemeClr val="tx1"/>
                              </a:solidFill>
                              <a:latin typeface="MS PGothic" panose="020B0600070205080204" pitchFamily="34" charset="-128"/>
                              <a:ea typeface="MS PGothic" panose="020B0600070205080204" pitchFamily="34" charset="-128"/>
                            </a:rPr>
                            <a:t>枚</a:t>
                          </a:r>
                          <a:r>
                            <a:rPr kumimoji="1" lang="en-US" altLang="ja-JP" sz="3200" b="0" dirty="0">
                              <a:solidFill>
                                <a:schemeClr val="tx1"/>
                              </a:solidFill>
                              <a:latin typeface="MS PGothic" panose="020B0600070205080204" pitchFamily="34" charset="-128"/>
                              <a:ea typeface="MS PGothic" panose="020B0600070205080204" pitchFamily="34" charset="-128"/>
                            </a:rPr>
                            <a:t>(test)</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3361642135"/>
                      </a:ext>
                    </a:extLst>
                  </a:tr>
                  <a:tr h="579120">
                    <a:tc vMerge="1">
                      <a:txBody>
                        <a:bodyPr/>
                        <a:lstStyle/>
                        <a:p>
                          <a:pPr algn="ctr"/>
                          <a:endParaRPr kumimoji="1" lang="ja-JP" altLang="en-US" sz="4000" b="0" dirty="0">
                            <a:solidFill>
                              <a:schemeClr val="tx1"/>
                            </a:solidFill>
                            <a:latin typeface="MS PGothic" panose="020B0600070205080204" pitchFamily="34" charset="-128"/>
                            <a:ea typeface="MS PGothic" panose="020B0600070205080204" pitchFamily="34" charset="-128"/>
                          </a:endParaRPr>
                        </a:p>
                      </a:txBody>
                      <a:tcPr>
                        <a:solidFill>
                          <a:srgbClr val="E9EBF5"/>
                        </a:solidFill>
                      </a:tcPr>
                    </a:tc>
                    <a:tc>
                      <a:txBody>
                        <a:bodyPr/>
                        <a:lstStyle/>
                        <a:p>
                          <a:pPr algn="ctr"/>
                          <a:r>
                            <a:rPr kumimoji="1" lang="ja-JP" altLang="en-US" sz="3200" b="0">
                              <a:solidFill>
                                <a:schemeClr val="tx1"/>
                              </a:solidFill>
                              <a:latin typeface="MS PGothic" panose="020B0600070205080204" pitchFamily="34" charset="-128"/>
                              <a:ea typeface="MS PGothic" panose="020B0600070205080204" pitchFamily="34" charset="-128"/>
                            </a:rPr>
                            <a:t>現実画像</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tc>
                      <a:txBody>
                        <a:bodyPr/>
                        <a:lstStyle/>
                        <a:p>
                          <a:pPr algn="ctr"/>
                          <a:r>
                            <a:rPr kumimoji="1" lang="en-US" altLang="ja-JP" sz="3200" dirty="0"/>
                            <a:t>153,274</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(train) / </a:t>
                          </a:r>
                          <a:r>
                            <a:rPr kumimoji="1" lang="en-US" altLang="ja-JP" sz="3200" dirty="0"/>
                            <a:t>39,783</a:t>
                          </a:r>
                          <a:r>
                            <a:rPr kumimoji="1" lang="ja-JP" altLang="en-US" sz="3200" b="0">
                              <a:solidFill>
                                <a:schemeClr val="tx1"/>
                              </a:solidFill>
                              <a:latin typeface="MS PGothic" panose="020B0600070205080204" pitchFamily="34" charset="-128"/>
                              <a:ea typeface="MS PGothic" panose="020B0600070205080204" pitchFamily="34" charset="-128"/>
                            </a:rPr>
                            <a:t>件</a:t>
                          </a:r>
                          <a:r>
                            <a:rPr kumimoji="1" lang="en-US" altLang="ja-JP" sz="3200" b="0" dirty="0">
                              <a:solidFill>
                                <a:schemeClr val="tx1"/>
                              </a:solidFill>
                              <a:latin typeface="MS PGothic" panose="020B0600070205080204" pitchFamily="34" charset="-128"/>
                              <a:ea typeface="MS PGothic" panose="020B0600070205080204" pitchFamily="34" charset="-128"/>
                            </a:rPr>
                            <a:t>(test)</a:t>
                          </a:r>
                          <a:endParaRPr kumimoji="1" lang="ja-JP" altLang="en-US" sz="3200" b="0" dirty="0">
                            <a:solidFill>
                              <a:schemeClr val="tx1"/>
                            </a:solidFill>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solidFill>
                          <a:srgbClr val="CFD5EA"/>
                        </a:solidFill>
                      </a:tcPr>
                    </a:tc>
                    <a:extLst>
                      <a:ext uri="{0D108BD9-81ED-4DB2-BD59-A6C34878D82A}">
                        <a16:rowId xmlns:a16="http://schemas.microsoft.com/office/drawing/2014/main" val="138946860"/>
                      </a:ext>
                    </a:extLst>
                  </a:tr>
                  <a:tr h="579120">
                    <a:tc gridSpan="2">
                      <a:txBody>
                        <a:bodyPr/>
                        <a:lstStyle/>
                        <a:p>
                          <a:pPr algn="ctr"/>
                          <a:r>
                            <a:rPr kumimoji="1" lang="ja-JP" altLang="en-US" sz="3200" b="0" dirty="0">
                              <a:latin typeface="MS PGothic" panose="020B0600070205080204" pitchFamily="34" charset="-128"/>
                              <a:ea typeface="MS PGothic" panose="020B0600070205080204" pitchFamily="34" charset="-128"/>
                            </a:rPr>
                            <a:t>最適化手法</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endParaRPr lang="ja-JP"/>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blipFill>
                          <a:blip r:embed="rId5"/>
                          <a:stretch>
                            <a:fillRect l="-99313" t="-217778" r="-172" b="-237778"/>
                          </a:stretch>
                        </a:blipFill>
                      </a:tcPr>
                    </a:tc>
                    <a:extLst>
                      <a:ext uri="{0D108BD9-81ED-4DB2-BD59-A6C34878D82A}">
                        <a16:rowId xmlns:a16="http://schemas.microsoft.com/office/drawing/2014/main" val="1801116897"/>
                      </a:ext>
                    </a:extLst>
                  </a:tr>
                  <a:tr h="579120">
                    <a:tc gridSpan="2">
                      <a:txBody>
                        <a:bodyPr/>
                        <a:lstStyle/>
                        <a:p>
                          <a:pPr algn="ctr"/>
                          <a:r>
                            <a:rPr kumimoji="1" lang="ja-JP" altLang="en-US" sz="3200" b="0">
                              <a:latin typeface="MS PGothic" panose="020B0600070205080204" pitchFamily="34" charset="-128"/>
                              <a:ea typeface="MS PGothic" panose="020B0600070205080204" pitchFamily="34" charset="-128"/>
                            </a:rPr>
                            <a:t>ミニバッチサイズ</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512</a:t>
                          </a:r>
                          <a:endParaRPr kumimoji="1" lang="en" altLang="ja-JP" sz="32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3798152386"/>
                      </a:ext>
                    </a:extLst>
                  </a:tr>
                  <a:tr h="579120">
                    <a:tc gridSpan="2">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3200" b="0">
                              <a:latin typeface="MS PGothic" panose="020B0600070205080204" pitchFamily="34" charset="-128"/>
                              <a:ea typeface="MS PGothic" panose="020B0600070205080204" pitchFamily="34" charset="-128"/>
                            </a:rPr>
                            <a:t>学習反復回数</a:t>
                          </a: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tc hMerge="1">
                      <a:txBody>
                        <a:bodyPr/>
                        <a:lstStyle/>
                        <a:p>
                          <a:endParaRPr kumimoji="1" lang="ja-JP" altLang="en-US"/>
                        </a:p>
                      </a:txBody>
                      <a:tcPr/>
                    </a:tc>
                    <a:tc>
                      <a:txBody>
                        <a:bodyPr/>
                        <a:lstStyle/>
                        <a:p>
                          <a:pPr marL="0" indent="0" algn="ctr">
                            <a:buFont typeface="Arial" panose="020B0604020202020204" pitchFamily="34" charset="0"/>
                            <a:buNone/>
                          </a:pPr>
                          <a:r>
                            <a:rPr kumimoji="1" lang="en-US" altLang="ja-JP" sz="3200" b="0" dirty="0">
                              <a:latin typeface="MS PGothic" panose="020B0600070205080204" pitchFamily="34" charset="-128"/>
                              <a:ea typeface="MS PGothic" panose="020B0600070205080204" pitchFamily="34" charset="-128"/>
                            </a:rPr>
                            <a:t>10</a:t>
                          </a:r>
                          <a:endParaRPr kumimoji="1" lang="en" altLang="ja-JP" sz="3200" b="0" dirty="0">
                            <a:latin typeface="MS PGothic" panose="020B0600070205080204" pitchFamily="34" charset="-128"/>
                            <a:ea typeface="MS PGothic" panose="020B0600070205080204" pitchFamily="34" charset="-128"/>
                          </a:endParaRPr>
                        </a:p>
                      </a:txBody>
                      <a:tcPr anchor="ctr">
                        <a:lnL w="12700" cap="flat" cmpd="sng" algn="ctr">
                          <a:solidFill>
                            <a:srgbClr val="0070C0"/>
                          </a:solidFill>
                          <a:prstDash val="solid"/>
                          <a:round/>
                          <a:headEnd type="none" w="med" len="med"/>
                          <a:tailEnd type="none" w="med" len="med"/>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ap="flat" cmpd="sng" algn="ctr">
                          <a:solidFill>
                            <a:srgbClr val="0070C0"/>
                          </a:solidFill>
                          <a:prstDash val="solid"/>
                          <a:round/>
                          <a:headEnd type="none" w="med" len="med"/>
                          <a:tailEnd type="none" w="med" len="med"/>
                        </a:lnB>
                      </a:tcPr>
                    </a:tc>
                    <a:extLst>
                      <a:ext uri="{0D108BD9-81ED-4DB2-BD59-A6C34878D82A}">
                        <a16:rowId xmlns:a16="http://schemas.microsoft.com/office/drawing/2014/main" val="2893383439"/>
                      </a:ext>
                    </a:extLst>
                  </a:tr>
                </a:tbl>
              </a:graphicData>
            </a:graphic>
          </p:graphicFrame>
        </mc:Fallback>
      </mc:AlternateContent>
      <p:sp>
        <p:nvSpPr>
          <p:cNvPr id="18" name="テキスト ボックス 17">
            <a:extLst>
              <a:ext uri="{FF2B5EF4-FFF2-40B4-BE49-F238E27FC236}">
                <a16:creationId xmlns:a16="http://schemas.microsoft.com/office/drawing/2014/main" id="{119BAC6E-85D5-0F13-9F96-2C9253B05575}"/>
              </a:ext>
            </a:extLst>
          </p:cNvPr>
          <p:cNvSpPr txBox="1"/>
          <p:nvPr/>
        </p:nvSpPr>
        <p:spPr>
          <a:xfrm>
            <a:off x="20420150" y="4515449"/>
            <a:ext cx="4740269" cy="584775"/>
          </a:xfrm>
          <a:prstGeom prst="rect">
            <a:avLst/>
          </a:prstGeom>
          <a:noFill/>
        </p:spPr>
        <p:txBody>
          <a:bodyPr wrap="square" rtlCol="0">
            <a:spAutoFit/>
          </a:bodyPr>
          <a:lstStyle/>
          <a:p>
            <a:pPr algn="ctr"/>
            <a:r>
              <a:rPr kumimoji="1" lang="ja-JP" altLang="en-US" sz="3200" dirty="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2</a:t>
            </a:r>
            <a:r>
              <a:rPr kumimoji="1" lang="ja-JP" altLang="en-US" sz="3200" dirty="0">
                <a:latin typeface="MS PGothic" panose="020B0600070205080204" pitchFamily="34" charset="-128"/>
                <a:ea typeface="MS PGothic" panose="020B0600070205080204" pitchFamily="34" charset="-128"/>
              </a:rPr>
              <a:t>　実験条件</a:t>
            </a:r>
            <a:endParaRPr kumimoji="1" lang="en-US" altLang="ja-JP" sz="3200" dirty="0">
              <a:latin typeface="MS PGothic" panose="020B0600070205080204" pitchFamily="34" charset="-128"/>
              <a:ea typeface="MS PGothic" panose="020B0600070205080204" pitchFamily="34" charset="-128"/>
            </a:endParaRPr>
          </a:p>
        </p:txBody>
      </p:sp>
      <p:sp>
        <p:nvSpPr>
          <p:cNvPr id="19" name="テキスト ボックス 18">
            <a:extLst>
              <a:ext uri="{FF2B5EF4-FFF2-40B4-BE49-F238E27FC236}">
                <a16:creationId xmlns:a16="http://schemas.microsoft.com/office/drawing/2014/main" id="{180A6E7C-5EF0-A570-A685-00286C858AE2}"/>
              </a:ext>
            </a:extLst>
          </p:cNvPr>
          <p:cNvSpPr txBox="1"/>
          <p:nvPr/>
        </p:nvSpPr>
        <p:spPr>
          <a:xfrm>
            <a:off x="169876" y="10815493"/>
            <a:ext cx="14681200" cy="14373165"/>
          </a:xfrm>
          <a:prstGeom prst="rect">
            <a:avLst/>
          </a:prstGeom>
          <a:noFill/>
        </p:spPr>
        <p:txBody>
          <a:bodyPr wrap="square" rtlCol="0">
            <a:spAutoFit/>
          </a:bodyPr>
          <a:lstStyle/>
          <a:p>
            <a:pPr algn="just"/>
            <a:r>
              <a:rPr kumimoji="1" lang="en" altLang="ja-JP" sz="3200" dirty="0" err="1">
                <a:latin typeface="MS PGothic" panose="020B0600070205080204" pitchFamily="34" charset="-128"/>
                <a:ea typeface="MS PGothic" panose="020B0600070205080204" pitchFamily="34" charset="-128"/>
              </a:rPr>
              <a:t>GenImage</a:t>
            </a:r>
            <a:r>
              <a:rPr kumimoji="1" lang="en" altLang="ja-JP" sz="3200" dirty="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1</a:t>
            </a:r>
            <a:r>
              <a:rPr kumimoji="1" lang="en" altLang="ja-JP" sz="3200" dirty="0">
                <a:latin typeface="MS PGothic" panose="020B0600070205080204" pitchFamily="34" charset="-128"/>
                <a:ea typeface="MS PGothic" panose="020B0600070205080204" pitchFamily="34" charset="-128"/>
              </a:rPr>
              <a:t>]</a:t>
            </a:r>
          </a:p>
          <a:p>
            <a:pPr marL="571500" indent="-571500" algn="just">
              <a:buFont typeface="Arial" panose="020B0604020202020204" pitchFamily="34" charset="0"/>
              <a:buChar char="•"/>
            </a:pPr>
            <a:r>
              <a:rPr kumimoji="1" lang="en" altLang="ja-JP" sz="3200" dirty="0" err="1">
                <a:latin typeface="MS PGothic" panose="020B0600070205080204" pitchFamily="34" charset="-128"/>
                <a:ea typeface="MS PGothic" panose="020B0600070205080204" pitchFamily="34" charset="-128"/>
              </a:rPr>
              <a:t>BigGAN</a:t>
            </a:r>
            <a:r>
              <a:rPr kumimoji="1" lang="ja-JP" altLang="en-US" sz="3200" dirty="0">
                <a:latin typeface="MS PGothic" panose="020B0600070205080204" pitchFamily="34" charset="-128"/>
                <a:ea typeface="MS PGothic" panose="020B0600070205080204" pitchFamily="34" charset="-128"/>
              </a:rPr>
              <a:t>や</a:t>
            </a:r>
            <a:r>
              <a:rPr kumimoji="1" lang="en-US" altLang="ja-JP" sz="3200" dirty="0">
                <a:latin typeface="MS PGothic" panose="020B0600070205080204" pitchFamily="34" charset="-128"/>
                <a:ea typeface="MS PGothic" panose="020B0600070205080204" pitchFamily="34" charset="-128"/>
              </a:rPr>
              <a:t>Stable Diffusion(SD)</a:t>
            </a:r>
            <a:r>
              <a:rPr kumimoji="1" lang="ja-JP" altLang="en-US" sz="3200" dirty="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GLIDE</a:t>
            </a:r>
            <a:r>
              <a:rPr kumimoji="1" lang="ja-JP" altLang="en-US" sz="3200" dirty="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ADM</a:t>
            </a:r>
            <a:r>
              <a:rPr kumimoji="1" lang="ja-JP" altLang="en-US" sz="3200" dirty="0">
                <a:latin typeface="MS PGothic" panose="020B0600070205080204" pitchFamily="34" charset="-128"/>
                <a:ea typeface="MS PGothic" panose="020B0600070205080204" pitchFamily="34" charset="-128"/>
              </a:rPr>
              <a:t>等の</a:t>
            </a:r>
            <a:r>
              <a:rPr kumimoji="1" lang="en-US" altLang="ja-JP" sz="3200" dirty="0">
                <a:latin typeface="MS PGothic" panose="020B0600070205080204" pitchFamily="34" charset="-128"/>
                <a:ea typeface="MS PGothic" panose="020B0600070205080204" pitchFamily="34" charset="-128"/>
              </a:rPr>
              <a:t>8</a:t>
            </a:r>
            <a:r>
              <a:rPr kumimoji="1" lang="ja-JP" altLang="en-US" sz="3200" dirty="0">
                <a:latin typeface="MS PGothic" panose="020B0600070205080204" pitchFamily="34" charset="-128"/>
                <a:ea typeface="MS PGothic" panose="020B0600070205080204" pitchFamily="34" charset="-128"/>
              </a:rPr>
              <a:t>種類の画像生成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の生成画像で構成されるデータセットを提案</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en-US" altLang="ja-JP" sz="3200" dirty="0">
                <a:latin typeface="MS PGothic" panose="020B0600070205080204" pitchFamily="34" charset="-128"/>
                <a:ea typeface="MS PGothic" panose="020B0600070205080204" pitchFamily="34" charset="-128"/>
              </a:rPr>
              <a:t>ImageNet</a:t>
            </a:r>
            <a:r>
              <a:rPr kumimoji="1" lang="ja-JP" altLang="en-US" sz="3200" dirty="0">
                <a:latin typeface="MS PGothic" panose="020B0600070205080204" pitchFamily="34" charset="-128"/>
                <a:ea typeface="MS PGothic" panose="020B0600070205080204" pitchFamily="34" charset="-128"/>
              </a:rPr>
              <a:t>のラベルを各画像生成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に入力し画像を生成</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en" altLang="ja-JP" sz="3200" dirty="0">
                <a:latin typeface="MS PGothic" panose="020B0600070205080204" pitchFamily="34" charset="-128"/>
                <a:ea typeface="MS PGothic" panose="020B0600070205080204" pitchFamily="34" charset="-128"/>
              </a:rPr>
              <a:t>ResNet50</a:t>
            </a:r>
            <a:r>
              <a:rPr kumimoji="1" lang="ja-JP" altLang="en-US" sz="3200" dirty="0">
                <a:latin typeface="MS PGothic" panose="020B0600070205080204" pitchFamily="34" charset="-128"/>
                <a:ea typeface="MS PGothic" panose="020B0600070205080204" pitchFamily="34" charset="-128"/>
              </a:rPr>
              <a:t>や</a:t>
            </a:r>
            <a:r>
              <a:rPr kumimoji="1" lang="en-US" altLang="ja-JP" sz="3200" dirty="0" err="1">
                <a:latin typeface="MS PGothic" panose="020B0600070205080204" pitchFamily="34" charset="-128"/>
                <a:ea typeface="MS PGothic" panose="020B0600070205080204" pitchFamily="34" charset="-128"/>
              </a:rPr>
              <a:t>Swin</a:t>
            </a:r>
            <a:r>
              <a:rPr kumimoji="1" lang="en-US" altLang="ja-JP" sz="3200" dirty="0">
                <a:latin typeface="MS PGothic" panose="020B0600070205080204" pitchFamily="34" charset="-128"/>
                <a:ea typeface="MS PGothic" panose="020B0600070205080204" pitchFamily="34" charset="-128"/>
              </a:rPr>
              <a:t>-Transformer(</a:t>
            </a:r>
            <a:r>
              <a:rPr kumimoji="1" lang="en-US" altLang="ja-JP" sz="3200" dirty="0" err="1">
                <a:latin typeface="MS PGothic" panose="020B0600070205080204" pitchFamily="34" charset="-128"/>
                <a:ea typeface="MS PGothic" panose="020B0600070205080204" pitchFamily="34" charset="-128"/>
              </a:rPr>
              <a:t>Swin</a:t>
            </a:r>
            <a:r>
              <a:rPr kumimoji="1" lang="en-US" altLang="ja-JP" sz="3200" dirty="0">
                <a:latin typeface="MS PGothic" panose="020B0600070205080204" pitchFamily="34" charset="-128"/>
                <a:ea typeface="MS PGothic" panose="020B0600070205080204" pitchFamily="34" charset="-128"/>
              </a:rPr>
              <a:t>-T)[4]</a:t>
            </a:r>
            <a:r>
              <a:rPr kumimoji="1" lang="ja-JP" altLang="en-US" sz="3200" dirty="0">
                <a:latin typeface="MS PGothic" panose="020B0600070205080204" pitchFamily="34" charset="-128"/>
                <a:ea typeface="MS PGothic" panose="020B0600070205080204" pitchFamily="34" charset="-128"/>
              </a:rPr>
              <a:t>等の</a:t>
            </a:r>
            <a:r>
              <a:rPr kumimoji="1" lang="en-US" altLang="ja-JP" sz="3200" dirty="0">
                <a:latin typeface="MS PGothic" panose="020B0600070205080204" pitchFamily="34" charset="-128"/>
                <a:ea typeface="MS PGothic" panose="020B0600070205080204" pitchFamily="34" charset="-128"/>
              </a:rPr>
              <a:t>7</a:t>
            </a:r>
            <a:r>
              <a:rPr kumimoji="1" lang="ja-JP" altLang="en-US" sz="3200" dirty="0">
                <a:latin typeface="MS PGothic" panose="020B0600070205080204" pitchFamily="34" charset="-128"/>
                <a:ea typeface="MS PGothic" panose="020B0600070205080204" pitchFamily="34" charset="-128"/>
              </a:rPr>
              <a:t>種類の画像分類モデルで提案したデータセットを学習</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各画像分類モデルは，一種類の画像生成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の画像と</a:t>
            </a:r>
            <a:r>
              <a:rPr kumimoji="1" lang="en-US" altLang="ja-JP" sz="3200" dirty="0">
                <a:latin typeface="MS PGothic" panose="020B0600070205080204" pitchFamily="34" charset="-128"/>
                <a:ea typeface="MS PGothic" panose="020B0600070205080204" pitchFamily="34" charset="-128"/>
              </a:rPr>
              <a:t>ImageNet</a:t>
            </a:r>
            <a:r>
              <a:rPr kumimoji="1" lang="ja-JP" altLang="en-US" sz="3200" dirty="0">
                <a:latin typeface="MS PGothic" panose="020B0600070205080204" pitchFamily="34" charset="-128"/>
                <a:ea typeface="MS PGothic" panose="020B0600070205080204" pitchFamily="34" charset="-128"/>
              </a:rPr>
              <a:t>の画像を学習し，生成画像か現実画像か判別する二値分類</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を実現</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algn="just"/>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endParaRPr kumimoji="1" lang="en-US" altLang="ja-JP" sz="3200" dirty="0">
              <a:latin typeface="MS PGothic" panose="020B0600070205080204" pitchFamily="34" charset="-128"/>
              <a:ea typeface="MS PGothic" panose="020B0600070205080204" pitchFamily="34" charset="-128"/>
            </a:endParaRPr>
          </a:p>
          <a:p>
            <a:pPr algn="just"/>
            <a:endParaRPr kumimoji="1" lang="en" altLang="ja-JP" sz="3200" dirty="0">
              <a:latin typeface="MS PGothic" panose="020B0600070205080204" pitchFamily="34" charset="-128"/>
              <a:ea typeface="MS PGothic" panose="020B0600070205080204" pitchFamily="34" charset="-128"/>
            </a:endParaRPr>
          </a:p>
          <a:p>
            <a:pPr algn="just"/>
            <a:endParaRPr kumimoji="1" lang="en" altLang="ja-JP" sz="3200" dirty="0">
              <a:latin typeface="MS PGothic" panose="020B0600070205080204" pitchFamily="34" charset="-128"/>
              <a:ea typeface="MS PGothic" panose="020B0600070205080204" pitchFamily="34" charset="-128"/>
            </a:endParaRPr>
          </a:p>
          <a:p>
            <a:pPr algn="just"/>
            <a:endParaRPr kumimoji="1" lang="en" altLang="ja-JP" sz="3200" dirty="0">
              <a:latin typeface="MS PGothic" panose="020B0600070205080204" pitchFamily="34" charset="-128"/>
              <a:ea typeface="MS PGothic" panose="020B0600070205080204" pitchFamily="34" charset="-128"/>
            </a:endParaRPr>
          </a:p>
          <a:p>
            <a:pPr algn="just"/>
            <a:r>
              <a:rPr kumimoji="1" lang="en" altLang="ja-JP" sz="3200" dirty="0" err="1">
                <a:latin typeface="MS PGothic" panose="020B0600070205080204" pitchFamily="34" charset="-128"/>
                <a:ea typeface="MS PGothic" panose="020B0600070205080204" pitchFamily="34" charset="-128"/>
              </a:rPr>
              <a:t>Swin</a:t>
            </a:r>
            <a:r>
              <a:rPr kumimoji="1" lang="en" altLang="ja-JP" sz="3200" dirty="0">
                <a:latin typeface="MS PGothic" panose="020B0600070205080204" pitchFamily="34" charset="-128"/>
                <a:ea typeface="MS PGothic" panose="020B0600070205080204" pitchFamily="34" charset="-128"/>
              </a:rPr>
              <a:t>-Transformer [</a:t>
            </a:r>
            <a:r>
              <a:rPr kumimoji="1" lang="en-US" altLang="ja-JP" sz="3200" dirty="0">
                <a:latin typeface="MS PGothic" panose="020B0600070205080204" pitchFamily="34" charset="-128"/>
                <a:ea typeface="MS PGothic" panose="020B0600070205080204" pitchFamily="34" charset="-128"/>
              </a:rPr>
              <a:t>4</a:t>
            </a:r>
            <a:r>
              <a:rPr kumimoji="1" lang="en" altLang="ja-JP" sz="3200" dirty="0">
                <a:latin typeface="MS PGothic" panose="020B0600070205080204" pitchFamily="34" charset="-128"/>
                <a:ea typeface="MS PGothic" panose="020B0600070205080204" pitchFamily="34" charset="-128"/>
              </a:rPr>
              <a:t>]</a:t>
            </a:r>
          </a:p>
          <a:p>
            <a:pPr marL="571500" indent="-571500" algn="just">
              <a:buFont typeface="Arial" panose="020B0604020202020204" pitchFamily="34" charset="0"/>
              <a:buChar char="•"/>
            </a:pPr>
            <a:r>
              <a:rPr kumimoji="1" lang="en" altLang="ja-JP" sz="3200" dirty="0">
                <a:latin typeface="MS PGothic" panose="020B0600070205080204" pitchFamily="34" charset="-128"/>
                <a:ea typeface="MS PGothic" panose="020B0600070205080204" pitchFamily="34" charset="-128"/>
              </a:rPr>
              <a:t>Vision-Transformer</a:t>
            </a:r>
            <a:r>
              <a:rPr kumimoji="1" lang="ja-JP" altLang="en-US" sz="3200" dirty="0">
                <a:latin typeface="MS PGothic" panose="020B0600070205080204" pitchFamily="34" charset="-128"/>
                <a:ea typeface="MS PGothic" panose="020B0600070205080204" pitchFamily="34" charset="-128"/>
              </a:rPr>
              <a:t>を発展させた画像分類モデル</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画像を小さな画像</a:t>
            </a:r>
            <a:r>
              <a:rPr kumimoji="1" lang="en-US" altLang="ja-JP" sz="3200" dirty="0">
                <a:latin typeface="MS PGothic" panose="020B0600070205080204" pitchFamily="34" charset="-128"/>
                <a:ea typeface="MS PGothic" panose="020B0600070205080204" pitchFamily="34" charset="-128"/>
              </a:rPr>
              <a:t>(</a:t>
            </a:r>
            <a:r>
              <a:rPr kumimoji="1" lang="ja-JP" altLang="en-US" sz="3200" dirty="0">
                <a:latin typeface="MS PGothic" panose="020B0600070205080204" pitchFamily="34" charset="-128"/>
                <a:ea typeface="MS PGothic" panose="020B0600070205080204" pitchFamily="34" charset="-128"/>
              </a:rPr>
              <a:t>パッチ</a:t>
            </a:r>
            <a:r>
              <a:rPr kumimoji="1" lang="en-US" altLang="ja-JP" sz="3200" dirty="0">
                <a:latin typeface="MS PGothic" panose="020B0600070205080204" pitchFamily="34" charset="-128"/>
                <a:ea typeface="MS PGothic" panose="020B0600070205080204" pitchFamily="34" charset="-128"/>
              </a:rPr>
              <a:t>)</a:t>
            </a:r>
            <a:r>
              <a:rPr kumimoji="1" lang="ja-JP" altLang="en-US" sz="3200" dirty="0">
                <a:latin typeface="MS PGothic" panose="020B0600070205080204" pitchFamily="34" charset="-128"/>
                <a:ea typeface="MS PGothic" panose="020B0600070205080204" pitchFamily="34" charset="-128"/>
              </a:rPr>
              <a:t>に分割し，いくつかのパッチの集まり</a:t>
            </a:r>
            <a:r>
              <a:rPr kumimoji="1" lang="en-US" altLang="ja-JP" sz="3200" dirty="0">
                <a:latin typeface="MS PGothic" panose="020B0600070205080204" pitchFamily="34" charset="-128"/>
                <a:ea typeface="MS PGothic" panose="020B0600070205080204" pitchFamily="34" charset="-128"/>
              </a:rPr>
              <a:t>(</a:t>
            </a:r>
            <a:r>
              <a:rPr kumimoji="1" lang="ja-JP" altLang="en-US" sz="3200" dirty="0">
                <a:latin typeface="MS PGothic" panose="020B0600070205080204" pitchFamily="34" charset="-128"/>
                <a:ea typeface="MS PGothic" panose="020B0600070205080204" pitchFamily="34" charset="-128"/>
              </a:rPr>
              <a:t>ウィンドウ</a:t>
            </a:r>
            <a:r>
              <a:rPr kumimoji="1" lang="en-US" altLang="ja-JP" sz="3200" dirty="0">
                <a:latin typeface="MS PGothic" panose="020B0600070205080204" pitchFamily="34" charset="-128"/>
                <a:ea typeface="MS PGothic" panose="020B0600070205080204" pitchFamily="34" charset="-128"/>
              </a:rPr>
              <a:t>)</a:t>
            </a:r>
            <a:r>
              <a:rPr kumimoji="1" lang="ja-JP" altLang="en-US" sz="3200" dirty="0">
                <a:latin typeface="MS PGothic" panose="020B0600070205080204" pitchFamily="34" charset="-128"/>
                <a:ea typeface="MS PGothic" panose="020B0600070205080204" pitchFamily="34" charset="-128"/>
              </a:rPr>
              <a:t>内のパッチ同士で</a:t>
            </a:r>
            <a:r>
              <a:rPr kumimoji="1" lang="en-US" altLang="ja-JP" sz="3200" dirty="0">
                <a:latin typeface="MS PGothic" panose="020B0600070205080204" pitchFamily="34" charset="-128"/>
                <a:ea typeface="MS PGothic" panose="020B0600070205080204" pitchFamily="34" charset="-128"/>
              </a:rPr>
              <a:t>Self-Attention</a:t>
            </a:r>
            <a:r>
              <a:rPr kumimoji="1" lang="ja-JP" altLang="en-US" sz="3200" dirty="0">
                <a:latin typeface="MS PGothic" panose="020B0600070205080204" pitchFamily="34" charset="-128"/>
                <a:ea typeface="MS PGothic" panose="020B0600070205080204" pitchFamily="34" charset="-128"/>
              </a:rPr>
              <a:t>を計算する</a:t>
            </a:r>
            <a:endParaRPr kumimoji="1" lang="en-US" altLang="ja-JP" sz="3200" dirty="0">
              <a:latin typeface="MS PGothic" panose="020B0600070205080204" pitchFamily="34" charset="-128"/>
              <a:ea typeface="MS PGothic" panose="020B0600070205080204" pitchFamily="34" charset="-128"/>
            </a:endParaRPr>
          </a:p>
          <a:p>
            <a:pPr marL="571500" indent="-5715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ウィンドウはレイヤーごとに移動し，パッチはレイヤーごとに大きくなる</a:t>
            </a:r>
            <a:endParaRPr kumimoji="1" lang="en-US" altLang="ja-JP" sz="3200" dirty="0">
              <a:latin typeface="MS PGothic" panose="020B0600070205080204" pitchFamily="34" charset="-128"/>
              <a:ea typeface="MS PGothic" panose="020B0600070205080204" pitchFamily="34" charset="-128"/>
            </a:endParaRPr>
          </a:p>
        </p:txBody>
      </p:sp>
      <p:sp>
        <p:nvSpPr>
          <p:cNvPr id="27" name="正方形/長方形 26">
            <a:extLst>
              <a:ext uri="{FF2B5EF4-FFF2-40B4-BE49-F238E27FC236}">
                <a16:creationId xmlns:a16="http://schemas.microsoft.com/office/drawing/2014/main" id="{D3374712-329A-AFF6-5F39-39D177C6AC45}"/>
              </a:ext>
            </a:extLst>
          </p:cNvPr>
          <p:cNvSpPr/>
          <p:nvPr/>
        </p:nvSpPr>
        <p:spPr>
          <a:xfrm>
            <a:off x="172193" y="34338076"/>
            <a:ext cx="14681200" cy="7894689"/>
          </a:xfrm>
          <a:prstGeom prst="rect">
            <a:avLst/>
          </a:prstGeom>
          <a:solidFill>
            <a:schemeClr val="bg1"/>
          </a:solid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360AC5FA-77B4-E400-B7D9-B21663DD3824}"/>
              </a:ext>
            </a:extLst>
          </p:cNvPr>
          <p:cNvSpPr/>
          <p:nvPr/>
        </p:nvSpPr>
        <p:spPr>
          <a:xfrm>
            <a:off x="158698" y="33918042"/>
            <a:ext cx="14716827" cy="94169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4400" dirty="0">
                <a:latin typeface="MS PGothic" panose="020B0600070205080204" pitchFamily="34" charset="-128"/>
                <a:ea typeface="MS PGothic" panose="020B0600070205080204" pitchFamily="34" charset="-128"/>
              </a:rPr>
              <a:t>提案手法</a:t>
            </a:r>
          </a:p>
        </p:txBody>
      </p:sp>
      <p:sp>
        <p:nvSpPr>
          <p:cNvPr id="30" name="テキスト ボックス 29">
            <a:extLst>
              <a:ext uri="{FF2B5EF4-FFF2-40B4-BE49-F238E27FC236}">
                <a16:creationId xmlns:a16="http://schemas.microsoft.com/office/drawing/2014/main" id="{619F8CC7-5EAE-531C-62D5-3BB3EDDDE200}"/>
              </a:ext>
            </a:extLst>
          </p:cNvPr>
          <p:cNvSpPr txBox="1"/>
          <p:nvPr/>
        </p:nvSpPr>
        <p:spPr>
          <a:xfrm>
            <a:off x="4101555" y="41625577"/>
            <a:ext cx="6884481" cy="584775"/>
          </a:xfrm>
          <a:prstGeom prst="rect">
            <a:avLst/>
          </a:prstGeom>
          <a:noFill/>
        </p:spPr>
        <p:txBody>
          <a:bodyPr wrap="square" rtlCol="0">
            <a:spAutoFit/>
          </a:bodyPr>
          <a:lstStyle/>
          <a:p>
            <a:pPr algn="ctr"/>
            <a:r>
              <a:rPr kumimoji="1" lang="ja-JP" altLang="en-US" sz="3200" dirty="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6</a:t>
            </a:r>
            <a:r>
              <a:rPr kumimoji="1" lang="ja-JP" altLang="en-US" sz="3200" dirty="0">
                <a:latin typeface="MS PGothic" panose="020B0600070205080204" pitchFamily="34" charset="-128"/>
                <a:ea typeface="MS PGothic" panose="020B0600070205080204" pitchFamily="34" charset="-128"/>
              </a:rPr>
              <a:t>　提案手法の構造</a:t>
            </a:r>
            <a:endParaRPr kumimoji="1" lang="en-US" altLang="ja-JP" sz="3200" dirty="0">
              <a:latin typeface="MS PGothic" panose="020B0600070205080204" pitchFamily="34" charset="-128"/>
              <a:ea typeface="MS PGothic" panose="020B0600070205080204" pitchFamily="34" charset="-128"/>
            </a:endParaRPr>
          </a:p>
        </p:txBody>
      </p:sp>
      <p:pic>
        <p:nvPicPr>
          <p:cNvPr id="36" name="図 35">
            <a:extLst>
              <a:ext uri="{FF2B5EF4-FFF2-40B4-BE49-F238E27FC236}">
                <a16:creationId xmlns:a16="http://schemas.microsoft.com/office/drawing/2014/main" id="{DAF5546B-03E4-2C53-8945-B292178A236A}"/>
              </a:ext>
            </a:extLst>
          </p:cNvPr>
          <p:cNvPicPr>
            <a:picLocks noChangeAspect="1"/>
          </p:cNvPicPr>
          <p:nvPr/>
        </p:nvPicPr>
        <p:blipFill rotWithShape="1">
          <a:blip r:embed="rId6"/>
          <a:srcRect l="61" t="5382" r="-61" b="1296"/>
          <a:stretch/>
        </p:blipFill>
        <p:spPr>
          <a:xfrm>
            <a:off x="1050130" y="25007616"/>
            <a:ext cx="13141791" cy="4242509"/>
          </a:xfrm>
          <a:prstGeom prst="rect">
            <a:avLst/>
          </a:prstGeom>
        </p:spPr>
      </p:pic>
      <p:sp>
        <p:nvSpPr>
          <p:cNvPr id="37" name="テキスト ボックス 36">
            <a:extLst>
              <a:ext uri="{FF2B5EF4-FFF2-40B4-BE49-F238E27FC236}">
                <a16:creationId xmlns:a16="http://schemas.microsoft.com/office/drawing/2014/main" id="{AE945A63-0F42-7B4E-5E90-241268A3CB74}"/>
              </a:ext>
            </a:extLst>
          </p:cNvPr>
          <p:cNvSpPr txBox="1"/>
          <p:nvPr/>
        </p:nvSpPr>
        <p:spPr>
          <a:xfrm>
            <a:off x="2252278" y="29250125"/>
            <a:ext cx="10583036"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4</a:t>
            </a:r>
            <a:r>
              <a:rPr kumimoji="1" lang="ja-JP" altLang="en-US" sz="3200">
                <a:latin typeface="MS PGothic" panose="020B0600070205080204" pitchFamily="34" charset="-128"/>
                <a:ea typeface="MS PGothic" panose="020B0600070205080204" pitchFamily="34" charset="-128"/>
              </a:rPr>
              <a:t>　</a:t>
            </a:r>
            <a:r>
              <a:rPr kumimoji="1" lang="en-US" altLang="ja-JP" sz="3200" dirty="0" err="1">
                <a:latin typeface="MS PGothic" panose="020B0600070205080204" pitchFamily="34" charset="-128"/>
                <a:ea typeface="MS PGothic" panose="020B0600070205080204" pitchFamily="34" charset="-128"/>
              </a:rPr>
              <a:t>Swin</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a:latin typeface="MS PGothic" panose="020B0600070205080204" pitchFamily="34" charset="-128"/>
                <a:ea typeface="MS PGothic" panose="020B0600070205080204" pitchFamily="34" charset="-128"/>
              </a:rPr>
              <a:t>の構造</a:t>
            </a:r>
            <a:r>
              <a:rPr kumimoji="1" lang="en-US" altLang="ja-JP" sz="3200" dirty="0">
                <a:latin typeface="MS PGothic" panose="020B0600070205080204" pitchFamily="34" charset="-128"/>
                <a:ea typeface="MS PGothic" panose="020B0600070205080204" pitchFamily="34" charset="-128"/>
              </a:rPr>
              <a:t>[4]</a:t>
            </a:r>
          </a:p>
        </p:txBody>
      </p:sp>
      <p:sp>
        <p:nvSpPr>
          <p:cNvPr id="7" name="テキスト ボックス 6">
            <a:extLst>
              <a:ext uri="{FF2B5EF4-FFF2-40B4-BE49-F238E27FC236}">
                <a16:creationId xmlns:a16="http://schemas.microsoft.com/office/drawing/2014/main" id="{83DAB784-A331-7550-959F-1124EA12827C}"/>
              </a:ext>
            </a:extLst>
          </p:cNvPr>
          <p:cNvSpPr txBox="1"/>
          <p:nvPr/>
        </p:nvSpPr>
        <p:spPr>
          <a:xfrm>
            <a:off x="166618" y="34859732"/>
            <a:ext cx="14685817" cy="4524315"/>
          </a:xfrm>
          <a:prstGeom prst="rect">
            <a:avLst/>
          </a:prstGeom>
          <a:noFill/>
        </p:spPr>
        <p:txBody>
          <a:bodyPr wrap="square" rtlCol="0">
            <a:spAutoFit/>
          </a:bodyPr>
          <a:lstStyle/>
          <a:p>
            <a:pPr marL="571500" indent="-571500" algn="just">
              <a:buFont typeface="Arial" panose="020B0604020202020204" pitchFamily="34" charset="0"/>
              <a:buChar char="•"/>
            </a:pPr>
            <a:r>
              <a:rPr kumimoji="1" lang="en-US" altLang="ja-JP" sz="3200" dirty="0" err="1">
                <a:latin typeface="MS PGothic" panose="020B0600070205080204" pitchFamily="34" charset="-128"/>
                <a:ea typeface="MS PGothic" panose="020B0600070205080204" pitchFamily="34" charset="-128"/>
              </a:rPr>
              <a:t>Swin</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dirty="0">
                <a:latin typeface="MS PGothic" panose="020B0600070205080204" pitchFamily="34" charset="-128"/>
                <a:ea typeface="MS PGothic" panose="020B0600070205080204" pitchFamily="34" charset="-128"/>
              </a:rPr>
              <a:t>を画像分類モデルとする</a:t>
            </a:r>
            <a:endParaRPr kumimoji="1" lang="en-US" altLang="ja-JP" sz="3200" dirty="0">
              <a:latin typeface="MS PGothic" panose="020B0600070205080204" pitchFamily="34" charset="-128"/>
              <a:ea typeface="MS PGothic" panose="020B0600070205080204" pitchFamily="34" charset="-128"/>
            </a:endParaRPr>
          </a:p>
          <a:p>
            <a:pPr algn="just"/>
            <a:r>
              <a:rPr kumimoji="1" lang="ja-JP" altLang="en-US" sz="3200" dirty="0">
                <a:latin typeface="MS PGothic" panose="020B0600070205080204" pitchFamily="34" charset="-128"/>
                <a:ea typeface="MS PGothic" panose="020B0600070205080204" pitchFamily="34" charset="-128"/>
              </a:rPr>
              <a:t>→</a:t>
            </a:r>
            <a:r>
              <a:rPr kumimoji="1" lang="en-US" altLang="ja-JP" sz="3200" dirty="0">
                <a:latin typeface="MS PGothic" panose="020B0600070205080204" pitchFamily="34" charset="-128"/>
                <a:ea typeface="MS PGothic" panose="020B0600070205080204" pitchFamily="34" charset="-128"/>
              </a:rPr>
              <a:t> [1]</a:t>
            </a:r>
            <a:r>
              <a:rPr kumimoji="1" lang="ja-JP" altLang="en-US" sz="3200" dirty="0">
                <a:latin typeface="MS PGothic" panose="020B0600070205080204" pitchFamily="34" charset="-128"/>
                <a:ea typeface="MS PGothic" panose="020B0600070205080204" pitchFamily="34" charset="-128"/>
              </a:rPr>
              <a:t>において，</a:t>
            </a:r>
            <a:r>
              <a:rPr kumimoji="1" lang="en-US" altLang="ja-JP" sz="3200" dirty="0" err="1">
                <a:latin typeface="MS PGothic" panose="020B0600070205080204" pitchFamily="34" charset="-128"/>
                <a:ea typeface="MS PGothic" panose="020B0600070205080204" pitchFamily="34" charset="-128"/>
              </a:rPr>
              <a:t>Siwn</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dirty="0">
                <a:latin typeface="MS PGothic" panose="020B0600070205080204" pitchFamily="34" charset="-128"/>
                <a:ea typeface="MS PGothic" panose="020B0600070205080204" pitchFamily="34" charset="-128"/>
              </a:rPr>
              <a:t>が最も分類精度が高いため</a:t>
            </a:r>
            <a:endParaRPr kumimoji="1" lang="en-US" altLang="ja-JP" sz="3200" dirty="0">
              <a:latin typeface="MS PGothic" panose="020B0600070205080204" pitchFamily="34" charset="-128"/>
              <a:ea typeface="MS PGothic" panose="020B0600070205080204" pitchFamily="34" charset="-128"/>
            </a:endParaRPr>
          </a:p>
          <a:p>
            <a:pPr marL="457200" indent="-457200" algn="just">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事前学習済みの</a:t>
            </a:r>
            <a:r>
              <a:rPr kumimoji="1" lang="en-US" altLang="ja-JP" sz="3200" dirty="0" err="1">
                <a:latin typeface="MS PGothic" panose="020B0600070205080204" pitchFamily="34" charset="-128"/>
                <a:ea typeface="MS PGothic" panose="020B0600070205080204" pitchFamily="34" charset="-128"/>
              </a:rPr>
              <a:t>Swin</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dirty="0">
                <a:latin typeface="MS PGothic" panose="020B0600070205080204" pitchFamily="34" charset="-128"/>
                <a:ea typeface="MS PGothic" panose="020B0600070205080204" pitchFamily="34" charset="-128"/>
              </a:rPr>
              <a:t>の重みを凍結し，加えた出力層のみ学習する</a:t>
            </a:r>
            <a:endParaRPr kumimoji="1" lang="en-US" altLang="ja-JP" sz="3200"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１種類の画像生成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ごとに</a:t>
            </a:r>
            <a:r>
              <a:rPr kumimoji="1" lang="en-US" altLang="ja-JP" sz="3200" dirty="0" err="1">
                <a:latin typeface="MS PGothic" panose="020B0600070205080204" pitchFamily="34" charset="-128"/>
                <a:ea typeface="MS PGothic" panose="020B0600070205080204" pitchFamily="34" charset="-128"/>
              </a:rPr>
              <a:t>Swin</a:t>
            </a:r>
            <a:r>
              <a:rPr kumimoji="1" lang="en-US" altLang="ja-JP" sz="3200" dirty="0">
                <a:latin typeface="MS PGothic" panose="020B0600070205080204" pitchFamily="34" charset="-128"/>
                <a:ea typeface="MS PGothic" panose="020B0600070205080204" pitchFamily="34" charset="-128"/>
              </a:rPr>
              <a:t>-Transformer</a:t>
            </a:r>
            <a:r>
              <a:rPr kumimoji="1" lang="ja-JP" altLang="en-US" sz="3200" dirty="0">
                <a:latin typeface="MS PGothic" panose="020B0600070205080204" pitchFamily="34" charset="-128"/>
                <a:ea typeface="MS PGothic" panose="020B0600070205080204" pitchFamily="34" charset="-128"/>
              </a:rPr>
              <a:t>を学習する</a:t>
            </a:r>
            <a:endParaRPr kumimoji="1" lang="en-US" altLang="ja-JP" sz="3200"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推論時は，学習した各画像分類モデルに画像を入力し，</a:t>
            </a:r>
            <a:endParaRPr kumimoji="1" lang="en-US" altLang="ja-JP" sz="3200" dirty="0">
              <a:latin typeface="MS PGothic" panose="020B0600070205080204" pitchFamily="34" charset="-128"/>
              <a:ea typeface="MS PGothic" panose="020B0600070205080204" pitchFamily="34" charset="-128"/>
            </a:endParaRPr>
          </a:p>
          <a:p>
            <a:r>
              <a:rPr kumimoji="1" lang="ja-JP" altLang="en-US" sz="3200" dirty="0">
                <a:latin typeface="MS PGothic" panose="020B0600070205080204" pitchFamily="34" charset="-128"/>
                <a:ea typeface="MS PGothic" panose="020B0600070205080204" pitchFamily="34" charset="-128"/>
              </a:rPr>
              <a:t>　　少なくとも</a:t>
            </a:r>
            <a:r>
              <a:rPr kumimoji="1" lang="en-US" altLang="ja-JP" sz="3200" dirty="0">
                <a:latin typeface="MS PGothic" panose="020B0600070205080204" pitchFamily="34" charset="-128"/>
                <a:ea typeface="MS PGothic" panose="020B0600070205080204" pitchFamily="34" charset="-128"/>
              </a:rPr>
              <a:t>1</a:t>
            </a:r>
            <a:r>
              <a:rPr kumimoji="1" lang="ja-JP" altLang="en-US" sz="3200" dirty="0">
                <a:latin typeface="MS PGothic" panose="020B0600070205080204" pitchFamily="34" charset="-128"/>
                <a:ea typeface="MS PGothic" panose="020B0600070205080204" pitchFamily="34" charset="-128"/>
              </a:rPr>
              <a:t>つのモデルが</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だと判別した場合は生成画像，</a:t>
            </a:r>
            <a:endParaRPr kumimoji="1" lang="en-US" altLang="ja-JP" sz="3200" dirty="0">
              <a:latin typeface="MS PGothic" panose="020B0600070205080204" pitchFamily="34" charset="-128"/>
              <a:ea typeface="MS PGothic" panose="020B0600070205080204" pitchFamily="34" charset="-128"/>
            </a:endParaRPr>
          </a:p>
          <a:p>
            <a:r>
              <a:rPr kumimoji="1" lang="ja-JP" altLang="en-US" sz="3200" dirty="0">
                <a:latin typeface="MS PGothic" panose="020B0600070205080204" pitchFamily="34" charset="-128"/>
                <a:ea typeface="MS PGothic" panose="020B0600070205080204" pitchFamily="34" charset="-128"/>
              </a:rPr>
              <a:t>　　全てのモデルが</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でないと判別した場合は現実画像とする</a:t>
            </a:r>
            <a:endParaRPr kumimoji="1" lang="en-US" altLang="ja-JP" sz="3200" dirty="0">
              <a:latin typeface="MS PGothic" panose="020B0600070205080204" pitchFamily="34" charset="-128"/>
              <a:ea typeface="MS PGothic" panose="020B0600070205080204" pitchFamily="34" charset="-128"/>
            </a:endParaRPr>
          </a:p>
          <a:p>
            <a:pPr marL="571500" indent="-571500">
              <a:buFont typeface="Arial" panose="020B0604020202020204" pitchFamily="34" charset="0"/>
              <a:buChar char="•"/>
            </a:pPr>
            <a:r>
              <a:rPr kumimoji="1" lang="ja-JP" altLang="en-US" sz="3200" dirty="0">
                <a:latin typeface="MS PGothic" panose="020B0600070205080204" pitchFamily="34" charset="-128"/>
                <a:ea typeface="MS PGothic" panose="020B0600070205080204" pitchFamily="34" charset="-128"/>
              </a:rPr>
              <a:t>新たな画像生成</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が公開された場合，その</a:t>
            </a:r>
            <a:r>
              <a:rPr kumimoji="1" lang="en-US" altLang="ja-JP" sz="3200" dirty="0">
                <a:latin typeface="MS PGothic" panose="020B0600070205080204" pitchFamily="34" charset="-128"/>
                <a:ea typeface="MS PGothic" panose="020B0600070205080204" pitchFamily="34" charset="-128"/>
              </a:rPr>
              <a:t>AI</a:t>
            </a:r>
            <a:r>
              <a:rPr kumimoji="1" lang="ja-JP" altLang="en-US" sz="3200" dirty="0">
                <a:latin typeface="MS PGothic" panose="020B0600070205080204" pitchFamily="34" charset="-128"/>
                <a:ea typeface="MS PGothic" panose="020B0600070205080204" pitchFamily="34" charset="-128"/>
              </a:rPr>
              <a:t>の生成画像を学習した</a:t>
            </a:r>
            <a:r>
              <a:rPr kumimoji="1" lang="ja-JP" altLang="en-US" sz="3200">
                <a:latin typeface="MS PGothic" panose="020B0600070205080204" pitchFamily="34" charset="-128"/>
                <a:ea typeface="MS PGothic" panose="020B0600070205080204" pitchFamily="34" charset="-128"/>
              </a:rPr>
              <a:t>画像分類</a:t>
            </a:r>
            <a:r>
              <a:rPr kumimoji="1" lang="en-US" altLang="ja-JP" sz="3200" dirty="0">
                <a:latin typeface="MS PGothic" panose="020B0600070205080204" pitchFamily="34" charset="-128"/>
                <a:ea typeface="MS PGothic" panose="020B0600070205080204" pitchFamily="34" charset="-128"/>
              </a:rPr>
              <a:t>AI</a:t>
            </a:r>
            <a:r>
              <a:rPr kumimoji="1" lang="ja-JP" altLang="en-US" sz="3200">
                <a:latin typeface="MS PGothic" panose="020B0600070205080204" pitchFamily="34" charset="-128"/>
                <a:ea typeface="MS PGothic" panose="020B0600070205080204" pitchFamily="34" charset="-128"/>
              </a:rPr>
              <a:t>を</a:t>
            </a:r>
            <a:r>
              <a:rPr kumimoji="1" lang="ja-JP" altLang="en-US" sz="3200" dirty="0">
                <a:latin typeface="MS PGothic" panose="020B0600070205080204" pitchFamily="34" charset="-128"/>
                <a:ea typeface="MS PGothic" panose="020B0600070205080204" pitchFamily="34" charset="-128"/>
              </a:rPr>
              <a:t>追加することで対応できる</a:t>
            </a:r>
            <a:endParaRPr kumimoji="1" lang="en-US" altLang="ja-JP" sz="3200" dirty="0">
              <a:latin typeface="MS PGothic" panose="020B0600070205080204" pitchFamily="34" charset="-128"/>
              <a:ea typeface="MS PGothic" panose="020B0600070205080204" pitchFamily="34" charset="-128"/>
            </a:endParaRPr>
          </a:p>
        </p:txBody>
      </p:sp>
      <p:sp>
        <p:nvSpPr>
          <p:cNvPr id="1121" name="テキスト ボックス 1120">
            <a:extLst>
              <a:ext uri="{FF2B5EF4-FFF2-40B4-BE49-F238E27FC236}">
                <a16:creationId xmlns:a16="http://schemas.microsoft.com/office/drawing/2014/main" id="{26AA5447-CCEE-E239-4A0C-053DBEAD5347}"/>
              </a:ext>
            </a:extLst>
          </p:cNvPr>
          <p:cNvSpPr txBox="1"/>
          <p:nvPr/>
        </p:nvSpPr>
        <p:spPr>
          <a:xfrm>
            <a:off x="19864775" y="16741575"/>
            <a:ext cx="5851014" cy="584775"/>
          </a:xfrm>
          <a:prstGeom prst="rect">
            <a:avLst/>
          </a:prstGeom>
          <a:noFill/>
        </p:spPr>
        <p:txBody>
          <a:bodyPr wrap="square" rtlCol="0">
            <a:spAutoFit/>
          </a:bodyPr>
          <a:lstStyle/>
          <a:p>
            <a:pPr algn="ctr"/>
            <a:r>
              <a:rPr kumimoji="1" lang="ja-JP" altLang="en-US" sz="3200" dirty="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4</a:t>
            </a:r>
            <a:r>
              <a:rPr kumimoji="1" lang="ja-JP" altLang="en-US" sz="3200" dirty="0">
                <a:latin typeface="MS PGothic" panose="020B0600070205080204" pitchFamily="34" charset="-128"/>
                <a:ea typeface="MS PGothic" panose="020B0600070205080204" pitchFamily="34" charset="-128"/>
              </a:rPr>
              <a:t>　実験結果</a:t>
            </a:r>
            <a:r>
              <a:rPr kumimoji="1" lang="en-US" altLang="ja-JP" sz="3200" dirty="0">
                <a:latin typeface="MS PGothic" panose="020B0600070205080204" pitchFamily="34" charset="-128"/>
                <a:ea typeface="MS PGothic" panose="020B0600070205080204" pitchFamily="34" charset="-128"/>
              </a:rPr>
              <a:t>Ⅰ</a:t>
            </a:r>
          </a:p>
        </p:txBody>
      </p:sp>
      <p:pic>
        <p:nvPicPr>
          <p:cNvPr id="11" name="図 10" descr="部屋に備えている様々な写真のコラージュ&#10;&#10;中程度の精度で自動的に生成された説明">
            <a:extLst>
              <a:ext uri="{FF2B5EF4-FFF2-40B4-BE49-F238E27FC236}">
                <a16:creationId xmlns:a16="http://schemas.microsoft.com/office/drawing/2014/main" id="{28A76A30-26D7-60B3-386B-014A40439D86}"/>
              </a:ext>
            </a:extLst>
          </p:cNvPr>
          <p:cNvPicPr>
            <a:picLocks noChangeAspect="1"/>
          </p:cNvPicPr>
          <p:nvPr/>
        </p:nvPicPr>
        <p:blipFill rotWithShape="1">
          <a:blip r:embed="rId7">
            <a:extLst>
              <a:ext uri="{28A0092B-C50C-407E-A947-70E740481C1C}">
                <a14:useLocalDpi xmlns:a14="http://schemas.microsoft.com/office/drawing/2010/main" val="0"/>
              </a:ext>
            </a:extLst>
          </a:blip>
          <a:srcRect l="89375" t="5914" r="661" b="75399"/>
          <a:stretch/>
        </p:blipFill>
        <p:spPr>
          <a:xfrm>
            <a:off x="638148" y="30767323"/>
            <a:ext cx="2217928" cy="2182048"/>
          </a:xfrm>
          <a:prstGeom prst="rect">
            <a:avLst/>
          </a:prstGeom>
        </p:spPr>
      </p:pic>
      <p:grpSp>
        <p:nvGrpSpPr>
          <p:cNvPr id="57" name="グループ化 56">
            <a:extLst>
              <a:ext uri="{FF2B5EF4-FFF2-40B4-BE49-F238E27FC236}">
                <a16:creationId xmlns:a16="http://schemas.microsoft.com/office/drawing/2014/main" id="{ED21D401-0E4E-CC01-AFBB-90F6389B4772}"/>
              </a:ext>
            </a:extLst>
          </p:cNvPr>
          <p:cNvGrpSpPr/>
          <p:nvPr/>
        </p:nvGrpSpPr>
        <p:grpSpPr>
          <a:xfrm>
            <a:off x="3989856" y="30777763"/>
            <a:ext cx="2162196" cy="2182048"/>
            <a:chOff x="18810010" y="12897704"/>
            <a:chExt cx="2162196" cy="2182048"/>
          </a:xfrm>
        </p:grpSpPr>
        <p:pic>
          <p:nvPicPr>
            <p:cNvPr id="16" name="図 15" descr="部屋に備えている様々な写真のコラージュ&#10;&#10;中程度の精度で自動的に生成された説明">
              <a:extLst>
                <a:ext uri="{FF2B5EF4-FFF2-40B4-BE49-F238E27FC236}">
                  <a16:creationId xmlns:a16="http://schemas.microsoft.com/office/drawing/2014/main" id="{A41DDC02-96DD-9A81-CC75-97217A861E20}"/>
                </a:ext>
              </a:extLst>
            </p:cNvPr>
            <p:cNvPicPr>
              <a:picLocks noChangeAspect="1"/>
            </p:cNvPicPr>
            <p:nvPr/>
          </p:nvPicPr>
          <p:blipFill rotWithShape="1">
            <a:blip r:embed="rId7">
              <a:extLst>
                <a:ext uri="{28A0092B-C50C-407E-A947-70E740481C1C}">
                  <a14:useLocalDpi xmlns:a14="http://schemas.microsoft.com/office/drawing/2010/main" val="0"/>
                </a:ext>
              </a:extLst>
            </a:blip>
            <a:srcRect l="89375" t="5914" r="911" b="75399"/>
            <a:stretch/>
          </p:blipFill>
          <p:spPr>
            <a:xfrm>
              <a:off x="18810010" y="12897704"/>
              <a:ext cx="2162196" cy="2182048"/>
            </a:xfrm>
            <a:prstGeom prst="rect">
              <a:avLst/>
            </a:prstGeom>
            <a:ln>
              <a:solidFill>
                <a:schemeClr val="bg1"/>
              </a:solidFill>
            </a:ln>
          </p:spPr>
        </p:pic>
        <p:cxnSp>
          <p:nvCxnSpPr>
            <p:cNvPr id="22" name="直線コネクタ 21">
              <a:extLst>
                <a:ext uri="{FF2B5EF4-FFF2-40B4-BE49-F238E27FC236}">
                  <a16:creationId xmlns:a16="http://schemas.microsoft.com/office/drawing/2014/main" id="{F177E9EF-A365-97A3-3B85-ECFA8AC0DFE4}"/>
                </a:ext>
              </a:extLst>
            </p:cNvPr>
            <p:cNvCxnSpPr>
              <a:cxnSpLocks/>
              <a:stCxn id="16" idx="0"/>
            </p:cNvCxnSpPr>
            <p:nvPr/>
          </p:nvCxnSpPr>
          <p:spPr>
            <a:xfrm>
              <a:off x="19891108" y="12897704"/>
              <a:ext cx="0" cy="21820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63F2DCC7-C08C-E4D4-1E1A-B87E5B412B69}"/>
                </a:ext>
              </a:extLst>
            </p:cNvPr>
            <p:cNvCxnSpPr>
              <a:cxnSpLocks/>
              <a:stCxn id="16" idx="3"/>
              <a:endCxn id="16" idx="1"/>
            </p:cNvCxnSpPr>
            <p:nvPr/>
          </p:nvCxnSpPr>
          <p:spPr>
            <a:xfrm flipH="1">
              <a:off x="18810010" y="13988728"/>
              <a:ext cx="216219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E5EA34A2-BBC8-A0C9-1D4C-1A96445ED42A}"/>
                </a:ext>
              </a:extLst>
            </p:cNvPr>
            <p:cNvCxnSpPr>
              <a:cxnSpLocks/>
            </p:cNvCxnSpPr>
            <p:nvPr/>
          </p:nvCxnSpPr>
          <p:spPr>
            <a:xfrm flipH="1">
              <a:off x="18810010" y="13207181"/>
              <a:ext cx="216219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AFA505E0-D984-E7DB-C875-BDEA564D1A4E}"/>
                </a:ext>
              </a:extLst>
            </p:cNvPr>
            <p:cNvCxnSpPr>
              <a:cxnSpLocks/>
            </p:cNvCxnSpPr>
            <p:nvPr/>
          </p:nvCxnSpPr>
          <p:spPr>
            <a:xfrm flipH="1">
              <a:off x="18810010" y="13604947"/>
              <a:ext cx="216219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02AD78-C6E3-F463-AF1A-433D8B682ED4}"/>
                </a:ext>
              </a:extLst>
            </p:cNvPr>
            <p:cNvCxnSpPr>
              <a:cxnSpLocks/>
            </p:cNvCxnSpPr>
            <p:nvPr/>
          </p:nvCxnSpPr>
          <p:spPr>
            <a:xfrm flipH="1">
              <a:off x="18810010" y="14376779"/>
              <a:ext cx="216219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F4EF0D8C-E8F4-2104-FB3A-2E71C4667AE2}"/>
                </a:ext>
              </a:extLst>
            </p:cNvPr>
            <p:cNvCxnSpPr>
              <a:cxnSpLocks/>
            </p:cNvCxnSpPr>
            <p:nvPr/>
          </p:nvCxnSpPr>
          <p:spPr>
            <a:xfrm flipH="1">
              <a:off x="18810010" y="14750405"/>
              <a:ext cx="216219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8A48CD16-6E1C-5A1C-AF63-5BF6276789CB}"/>
                </a:ext>
              </a:extLst>
            </p:cNvPr>
            <p:cNvCxnSpPr>
              <a:cxnSpLocks/>
            </p:cNvCxnSpPr>
            <p:nvPr/>
          </p:nvCxnSpPr>
          <p:spPr>
            <a:xfrm flipV="1">
              <a:off x="19158153" y="12897704"/>
              <a:ext cx="0" cy="21820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841B560B-1D15-2282-ECA0-ABEDD4ADA7B2}"/>
                </a:ext>
              </a:extLst>
            </p:cNvPr>
            <p:cNvCxnSpPr>
              <a:cxnSpLocks/>
            </p:cNvCxnSpPr>
            <p:nvPr/>
          </p:nvCxnSpPr>
          <p:spPr>
            <a:xfrm flipV="1">
              <a:off x="19517030" y="12897704"/>
              <a:ext cx="0" cy="21820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FBBEBD14-50F7-8FE0-18FC-6D158F863D83}"/>
                </a:ext>
              </a:extLst>
            </p:cNvPr>
            <p:cNvCxnSpPr>
              <a:cxnSpLocks/>
            </p:cNvCxnSpPr>
            <p:nvPr/>
          </p:nvCxnSpPr>
          <p:spPr>
            <a:xfrm flipV="1">
              <a:off x="20251991" y="12897704"/>
              <a:ext cx="0" cy="21820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DF37079F-1715-BCC8-9A5A-D9BC0CF810C6}"/>
                </a:ext>
              </a:extLst>
            </p:cNvPr>
            <p:cNvCxnSpPr>
              <a:cxnSpLocks/>
            </p:cNvCxnSpPr>
            <p:nvPr/>
          </p:nvCxnSpPr>
          <p:spPr>
            <a:xfrm flipV="1">
              <a:off x="20618243" y="12897704"/>
              <a:ext cx="0" cy="218204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59" name="直線矢印コネクタ 58">
            <a:extLst>
              <a:ext uri="{FF2B5EF4-FFF2-40B4-BE49-F238E27FC236}">
                <a16:creationId xmlns:a16="http://schemas.microsoft.com/office/drawing/2014/main" id="{F6AE1C2E-B045-AB95-518D-4087AC788C50}"/>
              </a:ext>
            </a:extLst>
          </p:cNvPr>
          <p:cNvCxnSpPr>
            <a:stCxn id="11" idx="3"/>
            <a:endCxn id="16" idx="1"/>
          </p:cNvCxnSpPr>
          <p:nvPr/>
        </p:nvCxnSpPr>
        <p:spPr>
          <a:xfrm>
            <a:off x="2856076" y="31858347"/>
            <a:ext cx="1133780" cy="1044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54" name="正方形/長方形 1053">
            <a:extLst>
              <a:ext uri="{FF2B5EF4-FFF2-40B4-BE49-F238E27FC236}">
                <a16:creationId xmlns:a16="http://schemas.microsoft.com/office/drawing/2014/main" id="{0F36FD38-759A-BB48-403D-CEFBCC73730D}"/>
              </a:ext>
            </a:extLst>
          </p:cNvPr>
          <p:cNvSpPr/>
          <p:nvPr/>
        </p:nvSpPr>
        <p:spPr>
          <a:xfrm>
            <a:off x="7503087" y="30523655"/>
            <a:ext cx="3151990" cy="2674746"/>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4800">
              <a:latin typeface="MS PGothic" panose="020B0600070205080204" pitchFamily="34" charset="-128"/>
              <a:ea typeface="MS PGothic" panose="020B0600070205080204" pitchFamily="34" charset="-128"/>
            </a:endParaRPr>
          </a:p>
        </p:txBody>
      </p:sp>
      <p:sp>
        <p:nvSpPr>
          <p:cNvPr id="60" name="台形 59">
            <a:extLst>
              <a:ext uri="{FF2B5EF4-FFF2-40B4-BE49-F238E27FC236}">
                <a16:creationId xmlns:a16="http://schemas.microsoft.com/office/drawing/2014/main" id="{6BB31B6F-45B6-9770-629C-25E8561A738B}"/>
              </a:ext>
            </a:extLst>
          </p:cNvPr>
          <p:cNvSpPr/>
          <p:nvPr/>
        </p:nvSpPr>
        <p:spPr>
          <a:xfrm rot="5400000">
            <a:off x="7890508" y="30443473"/>
            <a:ext cx="2451608" cy="2862757"/>
          </a:xfrm>
          <a:prstGeom prst="trapezoid">
            <a:avLst>
              <a:gd name="adj" fmla="val 23334"/>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vert270" lIns="0" tIns="0" rIns="0" bIns="0" rtlCol="0" anchor="ctr"/>
          <a:lstStyle/>
          <a:p>
            <a:pPr algn="ctr"/>
            <a:r>
              <a:rPr kumimoji="1" lang="en-US" altLang="ja-JP" sz="3200" spc="-200" dirty="0">
                <a:solidFill>
                  <a:schemeClr val="tx1"/>
                </a:solidFill>
                <a:latin typeface="MS PGothic" panose="020B0600070205080204" pitchFamily="34" charset="-128"/>
                <a:ea typeface="MS PGothic" panose="020B0600070205080204" pitchFamily="34" charset="-128"/>
              </a:rPr>
              <a:t> </a:t>
            </a:r>
            <a:r>
              <a:rPr kumimoji="1" lang="ja-JP" altLang="en-US" sz="3200" spc="-200">
                <a:solidFill>
                  <a:schemeClr val="tx1"/>
                </a:solidFill>
                <a:latin typeface="MS PGothic" panose="020B0600070205080204" pitchFamily="34" charset="-128"/>
                <a:ea typeface="MS PGothic" panose="020B0600070205080204" pitchFamily="34" charset="-128"/>
              </a:rPr>
              <a:t>事前学習済み</a:t>
            </a:r>
            <a:endParaRPr kumimoji="1" lang="en-US" altLang="ja-JP" sz="3200" spc="-200" dirty="0">
              <a:solidFill>
                <a:schemeClr val="tx1"/>
              </a:solidFill>
              <a:latin typeface="MS PGothic" panose="020B0600070205080204" pitchFamily="34" charset="-128"/>
              <a:ea typeface="MS PGothic" panose="020B0600070205080204" pitchFamily="34" charset="-128"/>
            </a:endParaRPr>
          </a:p>
          <a:p>
            <a:pPr algn="ctr"/>
            <a:r>
              <a:rPr kumimoji="1" lang="en-US" altLang="ja-JP" sz="3200" dirty="0" err="1">
                <a:solidFill>
                  <a:schemeClr val="tx1"/>
                </a:solidFill>
                <a:latin typeface="MS PGothic" panose="020B0600070205080204" pitchFamily="34" charset="-128"/>
                <a:ea typeface="MS PGothic" panose="020B0600070205080204" pitchFamily="34" charset="-128"/>
              </a:rPr>
              <a:t>Swin</a:t>
            </a:r>
            <a:r>
              <a:rPr kumimoji="1" lang="en-US" altLang="ja-JP" sz="3200" dirty="0">
                <a:solidFill>
                  <a:schemeClr val="tx1"/>
                </a:solidFill>
                <a:latin typeface="MS PGothic" panose="020B0600070205080204" pitchFamily="34" charset="-128"/>
                <a:ea typeface="MS PGothic" panose="020B0600070205080204" pitchFamily="34" charset="-128"/>
              </a:rPr>
              <a:t>-T</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61" name="直線矢印コネクタ 60">
            <a:extLst>
              <a:ext uri="{FF2B5EF4-FFF2-40B4-BE49-F238E27FC236}">
                <a16:creationId xmlns:a16="http://schemas.microsoft.com/office/drawing/2014/main" id="{8FB39EDD-516A-4F18-7024-3CE4F1DF8C76}"/>
              </a:ext>
            </a:extLst>
          </p:cNvPr>
          <p:cNvCxnSpPr>
            <a:cxnSpLocks/>
            <a:stCxn id="16" idx="3"/>
            <a:endCxn id="60" idx="2"/>
          </p:cNvCxnSpPr>
          <p:nvPr/>
        </p:nvCxnSpPr>
        <p:spPr>
          <a:xfrm>
            <a:off x="6152052" y="31868787"/>
            <a:ext cx="1532882" cy="606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5" name="円/楕円 1024">
            <a:extLst>
              <a:ext uri="{FF2B5EF4-FFF2-40B4-BE49-F238E27FC236}">
                <a16:creationId xmlns:a16="http://schemas.microsoft.com/office/drawing/2014/main" id="{E8848486-42A0-31C5-7FB9-56D1FF28DE65}"/>
              </a:ext>
            </a:extLst>
          </p:cNvPr>
          <p:cNvSpPr/>
          <p:nvPr/>
        </p:nvSpPr>
        <p:spPr>
          <a:xfrm>
            <a:off x="12196777" y="31634664"/>
            <a:ext cx="447365" cy="447365"/>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4800">
              <a:latin typeface="MS PGothic" panose="020B0600070205080204" pitchFamily="34" charset="-128"/>
              <a:ea typeface="MS PGothic" panose="020B0600070205080204" pitchFamily="34" charset="-128"/>
            </a:endParaRPr>
          </a:p>
        </p:txBody>
      </p:sp>
      <mc:AlternateContent xmlns:mc="http://schemas.openxmlformats.org/markup-compatibility/2006">
        <mc:Choice xmlns:a14="http://schemas.microsoft.com/office/drawing/2010/main" Requires="a14">
          <p:sp>
            <p:nvSpPr>
              <p:cNvPr id="1046" name="テキスト ボックス 1045">
                <a:extLst>
                  <a:ext uri="{FF2B5EF4-FFF2-40B4-BE49-F238E27FC236}">
                    <a16:creationId xmlns:a16="http://schemas.microsoft.com/office/drawing/2014/main" id="{C614ADEC-4266-8E6E-5139-1A4A514D69BF}"/>
                  </a:ext>
                </a:extLst>
              </p:cNvPr>
              <p:cNvSpPr txBox="1"/>
              <p:nvPr/>
            </p:nvSpPr>
            <p:spPr>
              <a:xfrm>
                <a:off x="13514805" y="30994222"/>
                <a:ext cx="1102674" cy="58477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𝑅𝑒𝑎𝑙</m:t>
                      </m:r>
                    </m:oMath>
                  </m:oMathPara>
                </a14:m>
                <a:endParaRPr kumimoji="1" lang="ja-JP" altLang="en-US" sz="3200">
                  <a:latin typeface="MS PGothic" panose="020B0600070205080204" pitchFamily="34" charset="-128"/>
                  <a:ea typeface="MS PGothic" panose="020B0600070205080204" pitchFamily="34" charset="-128"/>
                </a:endParaRPr>
              </a:p>
            </p:txBody>
          </p:sp>
        </mc:Choice>
        <mc:Fallback>
          <p:sp>
            <p:nvSpPr>
              <p:cNvPr id="1046" name="テキスト ボックス 1045">
                <a:extLst>
                  <a:ext uri="{FF2B5EF4-FFF2-40B4-BE49-F238E27FC236}">
                    <a16:creationId xmlns:a16="http://schemas.microsoft.com/office/drawing/2014/main" id="{C614ADEC-4266-8E6E-5139-1A4A514D69BF}"/>
                  </a:ext>
                </a:extLst>
              </p:cNvPr>
              <p:cNvSpPr txBox="1">
                <a:spLocks noRot="1" noChangeAspect="1" noMove="1" noResize="1" noEditPoints="1" noAdjustHandles="1" noChangeArrowheads="1" noChangeShapeType="1" noTextEdit="1"/>
              </p:cNvSpPr>
              <p:nvPr/>
            </p:nvSpPr>
            <p:spPr>
              <a:xfrm>
                <a:off x="13514805" y="30994222"/>
                <a:ext cx="1102674" cy="584775"/>
              </a:xfrm>
              <a:prstGeom prst="rect">
                <a:avLst/>
              </a:prstGeom>
              <a:blipFill>
                <a:blip r:embed="rId8"/>
                <a:stretch>
                  <a:fillRect l="-6818" b="-2128"/>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048" name="テキスト ボックス 1047">
                <a:extLst>
                  <a:ext uri="{FF2B5EF4-FFF2-40B4-BE49-F238E27FC236}">
                    <a16:creationId xmlns:a16="http://schemas.microsoft.com/office/drawing/2014/main" id="{07FF3587-E010-9533-8564-3C240AB38921}"/>
                  </a:ext>
                </a:extLst>
              </p:cNvPr>
              <p:cNvSpPr txBox="1"/>
              <p:nvPr/>
            </p:nvSpPr>
            <p:spPr>
              <a:xfrm>
                <a:off x="13517834" y="32030559"/>
                <a:ext cx="1099645" cy="58477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𝐹𝑎𝑘𝑒</m:t>
                      </m:r>
                    </m:oMath>
                  </m:oMathPara>
                </a14:m>
                <a:endParaRPr kumimoji="1" lang="ja-JP" altLang="en-US" sz="3200">
                  <a:latin typeface="MS PGothic" panose="020B0600070205080204" pitchFamily="34" charset="-128"/>
                  <a:ea typeface="MS PGothic" panose="020B0600070205080204" pitchFamily="34" charset="-128"/>
                </a:endParaRPr>
              </a:p>
            </p:txBody>
          </p:sp>
        </mc:Choice>
        <mc:Fallback>
          <p:sp>
            <p:nvSpPr>
              <p:cNvPr id="1048" name="テキスト ボックス 1047">
                <a:extLst>
                  <a:ext uri="{FF2B5EF4-FFF2-40B4-BE49-F238E27FC236}">
                    <a16:creationId xmlns:a16="http://schemas.microsoft.com/office/drawing/2014/main" id="{07FF3587-E010-9533-8564-3C240AB38921}"/>
                  </a:ext>
                </a:extLst>
              </p:cNvPr>
              <p:cNvSpPr txBox="1">
                <a:spLocks noRot="1" noChangeAspect="1" noMove="1" noResize="1" noEditPoints="1" noAdjustHandles="1" noChangeArrowheads="1" noChangeShapeType="1" noTextEdit="1"/>
              </p:cNvSpPr>
              <p:nvPr/>
            </p:nvSpPr>
            <p:spPr>
              <a:xfrm>
                <a:off x="13517834" y="32030559"/>
                <a:ext cx="1099645" cy="584775"/>
              </a:xfrm>
              <a:prstGeom prst="rect">
                <a:avLst/>
              </a:prstGeom>
              <a:blipFill>
                <a:blip r:embed="rId9"/>
                <a:stretch>
                  <a:fillRect l="-9091" b="-2128"/>
                </a:stretch>
              </a:blipFill>
            </p:spPr>
            <p:txBody>
              <a:bodyPr/>
              <a:lstStyle/>
              <a:p>
                <a:r>
                  <a:rPr lang="ja-JP" altLang="en-US">
                    <a:noFill/>
                  </a:rPr>
                  <a:t> </a:t>
                </a:r>
              </a:p>
            </p:txBody>
          </p:sp>
        </mc:Fallback>
      </mc:AlternateContent>
      <p:sp>
        <p:nvSpPr>
          <p:cNvPr id="1059" name="四角形吹き出し 1058">
            <a:extLst>
              <a:ext uri="{FF2B5EF4-FFF2-40B4-BE49-F238E27FC236}">
                <a16:creationId xmlns:a16="http://schemas.microsoft.com/office/drawing/2014/main" id="{BAA328E6-EBD0-4415-D37D-6631A3E49E12}"/>
              </a:ext>
            </a:extLst>
          </p:cNvPr>
          <p:cNvSpPr/>
          <p:nvPr/>
        </p:nvSpPr>
        <p:spPr>
          <a:xfrm>
            <a:off x="8453254" y="29835267"/>
            <a:ext cx="2251900" cy="820518"/>
          </a:xfrm>
          <a:prstGeom prst="wedgeRectCallout">
            <a:avLst>
              <a:gd name="adj1" fmla="val 8698"/>
              <a:gd name="adj2" fmla="val 86010"/>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solidFill>
                  <a:schemeClr val="tx1"/>
                </a:solidFill>
                <a:latin typeface="MS PGothic" panose="020B0600070205080204" pitchFamily="34" charset="-128"/>
                <a:ea typeface="MS PGothic" panose="020B0600070205080204" pitchFamily="34" charset="-128"/>
              </a:rPr>
              <a:t>凍結する</a:t>
            </a:r>
          </a:p>
        </p:txBody>
      </p:sp>
      <p:sp>
        <p:nvSpPr>
          <p:cNvPr id="1060" name="テキスト ボックス 1059">
            <a:extLst>
              <a:ext uri="{FF2B5EF4-FFF2-40B4-BE49-F238E27FC236}">
                <a16:creationId xmlns:a16="http://schemas.microsoft.com/office/drawing/2014/main" id="{301C8F3E-1297-3A03-46ED-4D88481397E7}"/>
              </a:ext>
            </a:extLst>
          </p:cNvPr>
          <p:cNvSpPr txBox="1"/>
          <p:nvPr/>
        </p:nvSpPr>
        <p:spPr>
          <a:xfrm>
            <a:off x="4897487" y="33198401"/>
            <a:ext cx="5628956" cy="584775"/>
          </a:xfrm>
          <a:prstGeom prst="rect">
            <a:avLst/>
          </a:prstGeom>
          <a:noFill/>
        </p:spPr>
        <p:txBody>
          <a:bodyPr wrap="square" rtlCol="0">
            <a:spAutoFit/>
          </a:bodyPr>
          <a:lstStyle/>
          <a:p>
            <a:pPr algn="ctr"/>
            <a:r>
              <a:rPr kumimoji="1" lang="ja-JP" altLang="en-US" sz="3200" dirty="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5</a:t>
            </a:r>
            <a:r>
              <a:rPr kumimoji="1" lang="ja-JP" altLang="en-US" sz="3200" dirty="0">
                <a:latin typeface="MS PGothic" panose="020B0600070205080204" pitchFamily="34" charset="-128"/>
                <a:ea typeface="MS PGothic" panose="020B0600070205080204" pitchFamily="34" charset="-128"/>
              </a:rPr>
              <a:t>　学習するモデル</a:t>
            </a:r>
          </a:p>
        </p:txBody>
      </p:sp>
      <p:sp>
        <p:nvSpPr>
          <p:cNvPr id="1061" name="字幕 2">
            <a:extLst>
              <a:ext uri="{FF2B5EF4-FFF2-40B4-BE49-F238E27FC236}">
                <a16:creationId xmlns:a16="http://schemas.microsoft.com/office/drawing/2014/main" id="{052BA769-3BA9-1F6C-2AA6-875F66F5632D}"/>
              </a:ext>
            </a:extLst>
          </p:cNvPr>
          <p:cNvSpPr txBox="1">
            <a:spLocks/>
          </p:cNvSpPr>
          <p:nvPr/>
        </p:nvSpPr>
        <p:spPr>
          <a:xfrm>
            <a:off x="0" y="3301"/>
            <a:ext cx="3170629" cy="673479"/>
          </a:xfrm>
          <a:prstGeom prst="rect">
            <a:avLst/>
          </a:prstGeom>
        </p:spPr>
        <p:txBody>
          <a:bodyPr vert="horz" lIns="91440" tIns="45720" rIns="91440" bIns="45720" rtlCol="0" anchor="ctr" anchorCtr="1">
            <a:normAutofit fontScale="92500" lnSpcReduction="10000"/>
          </a:bodyPr>
          <a:lstStyle>
            <a:lvl1pPr marL="0" indent="0" algn="ctr" defTabSz="3024012" rtl="0" eaLnBrk="1" latinLnBrk="0" hangingPunct="1">
              <a:lnSpc>
                <a:spcPct val="90000"/>
              </a:lnSpc>
              <a:spcBef>
                <a:spcPts val="3307"/>
              </a:spcBef>
              <a:buFont typeface="Arial" panose="020B0604020202020204" pitchFamily="34" charset="0"/>
              <a:buNone/>
              <a:defRPr kumimoji="1" sz="4800" kern="1200">
                <a:solidFill>
                  <a:schemeClr val="bg1"/>
                </a:solidFill>
                <a:latin typeface="MS PGothic" panose="020B0600070205080204" pitchFamily="34" charset="-128"/>
                <a:ea typeface="MS PGothic" panose="020B0600070205080204" pitchFamily="34" charset="-128"/>
                <a:cs typeface="+mn-cs"/>
              </a:defRPr>
            </a:lvl1pPr>
            <a:lvl2pPr marL="1512006" indent="0" algn="ctr" defTabSz="3024012" rtl="0" eaLnBrk="1" latinLnBrk="0" hangingPunct="1">
              <a:lnSpc>
                <a:spcPct val="90000"/>
              </a:lnSpc>
              <a:spcBef>
                <a:spcPts val="1654"/>
              </a:spcBef>
              <a:buFont typeface="Arial" panose="020B0604020202020204" pitchFamily="34" charset="0"/>
              <a:buNone/>
              <a:defRPr kumimoji="1" sz="6614" kern="1200">
                <a:solidFill>
                  <a:schemeClr val="tx1"/>
                </a:solidFill>
                <a:latin typeface="MS PGothic" panose="020B0600070205080204" pitchFamily="34" charset="-128"/>
                <a:ea typeface="MS PGothic" panose="020B0600070205080204" pitchFamily="34" charset="-128"/>
                <a:cs typeface="+mn-cs"/>
              </a:defRPr>
            </a:lvl2pPr>
            <a:lvl3pPr marL="3024012" indent="0" algn="ctr" defTabSz="3024012" rtl="0" eaLnBrk="1" latinLnBrk="0" hangingPunct="1">
              <a:lnSpc>
                <a:spcPct val="90000"/>
              </a:lnSpc>
              <a:spcBef>
                <a:spcPts val="1654"/>
              </a:spcBef>
              <a:buFont typeface="Arial" panose="020B0604020202020204" pitchFamily="34" charset="0"/>
              <a:buNone/>
              <a:defRPr kumimoji="1" sz="5953" kern="1200">
                <a:solidFill>
                  <a:schemeClr val="tx1"/>
                </a:solidFill>
                <a:latin typeface="MS PGothic" panose="020B0600070205080204" pitchFamily="34" charset="-128"/>
                <a:ea typeface="MS PGothic" panose="020B0600070205080204" pitchFamily="34" charset="-128"/>
                <a:cs typeface="+mn-cs"/>
              </a:defRPr>
            </a:lvl3pPr>
            <a:lvl4pPr marL="4536018"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S PGothic" panose="020B0600070205080204" pitchFamily="34" charset="-128"/>
                <a:ea typeface="MS PGothic" panose="020B0600070205080204" pitchFamily="34" charset="-128"/>
                <a:cs typeface="+mn-cs"/>
              </a:defRPr>
            </a:lvl4pPr>
            <a:lvl5pPr marL="6048024"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S PGothic" panose="020B0600070205080204" pitchFamily="34" charset="-128"/>
                <a:ea typeface="MS PGothic" panose="020B0600070205080204" pitchFamily="34" charset="-128"/>
                <a:cs typeface="+mn-cs"/>
              </a:defRPr>
            </a:lvl5pPr>
            <a:lvl6pPr marL="7560031"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n-lt"/>
                <a:ea typeface="+mn-ea"/>
                <a:cs typeface="+mn-cs"/>
              </a:defRPr>
            </a:lvl6pPr>
            <a:lvl7pPr marL="9072037"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n-lt"/>
                <a:ea typeface="+mn-ea"/>
                <a:cs typeface="+mn-cs"/>
              </a:defRPr>
            </a:lvl7pPr>
            <a:lvl8pPr marL="10584043"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n-lt"/>
                <a:ea typeface="+mn-ea"/>
                <a:cs typeface="+mn-cs"/>
              </a:defRPr>
            </a:lvl8pPr>
            <a:lvl9pPr marL="12096049" indent="0" algn="ctr" defTabSz="3024012" rtl="0" eaLnBrk="1" latinLnBrk="0" hangingPunct="1">
              <a:lnSpc>
                <a:spcPct val="90000"/>
              </a:lnSpc>
              <a:spcBef>
                <a:spcPts val="1654"/>
              </a:spcBef>
              <a:buFont typeface="Arial" panose="020B0604020202020204" pitchFamily="34" charset="0"/>
              <a:buNone/>
              <a:defRPr kumimoji="1" sz="5291" kern="1200">
                <a:solidFill>
                  <a:schemeClr val="tx1"/>
                </a:solidFill>
                <a:latin typeface="+mn-lt"/>
                <a:ea typeface="+mn-ea"/>
                <a:cs typeface="+mn-cs"/>
              </a:defRPr>
            </a:lvl9pPr>
          </a:lstStyle>
          <a:p>
            <a:r>
              <a:rPr lang="en" altLang="ja-JP" b="0" i="0" dirty="0">
                <a:effectLst/>
              </a:rPr>
              <a:t>ISS-SP-034</a:t>
            </a:r>
            <a:endParaRPr lang="ja-JP" altLang="en-US"/>
          </a:p>
        </p:txBody>
      </p:sp>
      <p:sp>
        <p:nvSpPr>
          <p:cNvPr id="1034" name="テキスト ボックス 1033">
            <a:extLst>
              <a:ext uri="{FF2B5EF4-FFF2-40B4-BE49-F238E27FC236}">
                <a16:creationId xmlns:a16="http://schemas.microsoft.com/office/drawing/2014/main" id="{7F8F6FBE-57FC-4FC1-F78F-D7C1231F8713}"/>
              </a:ext>
            </a:extLst>
          </p:cNvPr>
          <p:cNvSpPr txBox="1"/>
          <p:nvPr/>
        </p:nvSpPr>
        <p:spPr>
          <a:xfrm>
            <a:off x="3001395" y="19232511"/>
            <a:ext cx="9141611" cy="584775"/>
          </a:xfrm>
          <a:prstGeom prst="rect">
            <a:avLst/>
          </a:prstGeom>
          <a:noFill/>
        </p:spPr>
        <p:txBody>
          <a:bodyPr wrap="square" rtlCol="0">
            <a:spAutoFit/>
          </a:bodyPr>
          <a:lstStyle/>
          <a:p>
            <a:pPr algn="ctr"/>
            <a:r>
              <a:rPr kumimoji="1" lang="ja-JP" altLang="en-US" sz="3200" dirty="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2</a:t>
            </a:r>
            <a:r>
              <a:rPr kumimoji="1" lang="ja-JP" altLang="en-US" sz="3200" dirty="0">
                <a:latin typeface="MS PGothic" panose="020B0600070205080204" pitchFamily="34" charset="-128"/>
                <a:ea typeface="MS PGothic" panose="020B0600070205080204" pitchFamily="34" charset="-128"/>
              </a:rPr>
              <a:t>　</a:t>
            </a:r>
            <a:r>
              <a:rPr kumimoji="1" lang="en-US" altLang="ja-JP" sz="3200" dirty="0" err="1">
                <a:latin typeface="MS PGothic" panose="020B0600070205080204" pitchFamily="34" charset="-128"/>
                <a:ea typeface="MS PGothic" panose="020B0600070205080204" pitchFamily="34" charset="-128"/>
              </a:rPr>
              <a:t>GenImage</a:t>
            </a:r>
            <a:r>
              <a:rPr kumimoji="1" lang="ja-JP" altLang="en-US" sz="3200" dirty="0">
                <a:latin typeface="MS PGothic" panose="020B0600070205080204" pitchFamily="34" charset="-128"/>
                <a:ea typeface="MS PGothic" panose="020B0600070205080204" pitchFamily="34" charset="-128"/>
              </a:rPr>
              <a:t>デーセット</a:t>
            </a:r>
            <a:r>
              <a:rPr kumimoji="1" lang="en-US" altLang="ja-JP" sz="3200" dirty="0">
                <a:latin typeface="MS PGothic" panose="020B0600070205080204" pitchFamily="34" charset="-128"/>
                <a:ea typeface="MS PGothic" panose="020B0600070205080204" pitchFamily="34" charset="-128"/>
              </a:rPr>
              <a:t>[1]</a:t>
            </a:r>
            <a:endParaRPr kumimoji="1" lang="ja-JP" altLang="en-US" sz="3200" dirty="0">
              <a:latin typeface="MS PGothic" panose="020B0600070205080204" pitchFamily="34" charset="-128"/>
              <a:ea typeface="MS PGothic" panose="020B0600070205080204" pitchFamily="34" charset="-128"/>
            </a:endParaRPr>
          </a:p>
        </p:txBody>
      </p:sp>
      <p:pic>
        <p:nvPicPr>
          <p:cNvPr id="1042" name="図 1041" descr="部屋に備えている様々な写真のコラージュ&#10;&#10;中程度の精度で自動的に生成された説明">
            <a:extLst>
              <a:ext uri="{FF2B5EF4-FFF2-40B4-BE49-F238E27FC236}">
                <a16:creationId xmlns:a16="http://schemas.microsoft.com/office/drawing/2014/main" id="{C1F72129-14FD-1CDA-FF58-FF4B02308303}"/>
              </a:ext>
            </a:extLst>
          </p:cNvPr>
          <p:cNvPicPr>
            <a:picLocks noChangeAspect="1"/>
          </p:cNvPicPr>
          <p:nvPr/>
        </p:nvPicPr>
        <p:blipFill rotWithShape="1">
          <a:blip r:embed="rId7">
            <a:extLst>
              <a:ext uri="{28A0092B-C50C-407E-A947-70E740481C1C}">
                <a14:useLocalDpi xmlns:a14="http://schemas.microsoft.com/office/drawing/2010/main" val="0"/>
              </a:ext>
            </a:extLst>
          </a:blip>
          <a:srcRect t="2" b="38582"/>
          <a:stretch/>
        </p:blipFill>
        <p:spPr>
          <a:xfrm>
            <a:off x="907796" y="14852735"/>
            <a:ext cx="13426458" cy="4325738"/>
          </a:xfrm>
          <a:prstGeom prst="rect">
            <a:avLst/>
          </a:prstGeom>
        </p:spPr>
      </p:pic>
      <p:pic>
        <p:nvPicPr>
          <p:cNvPr id="1064" name="図 1063">
            <a:extLst>
              <a:ext uri="{FF2B5EF4-FFF2-40B4-BE49-F238E27FC236}">
                <a16:creationId xmlns:a16="http://schemas.microsoft.com/office/drawing/2014/main" id="{2A77D1BA-32BA-120C-65EC-23E32B778344}"/>
              </a:ext>
            </a:extLst>
          </p:cNvPr>
          <p:cNvPicPr>
            <a:picLocks noChangeAspect="1"/>
          </p:cNvPicPr>
          <p:nvPr/>
        </p:nvPicPr>
        <p:blipFill>
          <a:blip r:embed="rId10"/>
          <a:stretch>
            <a:fillRect/>
          </a:stretch>
        </p:blipFill>
        <p:spPr>
          <a:xfrm>
            <a:off x="556439" y="39845618"/>
            <a:ext cx="1028875" cy="1028875"/>
          </a:xfrm>
          <a:prstGeom prst="rect">
            <a:avLst/>
          </a:prstGeom>
        </p:spPr>
      </p:pic>
      <p:sp>
        <p:nvSpPr>
          <p:cNvPr id="1065" name="正方形/長方形 1064">
            <a:extLst>
              <a:ext uri="{FF2B5EF4-FFF2-40B4-BE49-F238E27FC236}">
                <a16:creationId xmlns:a16="http://schemas.microsoft.com/office/drawing/2014/main" id="{8CBDF55C-D44A-5223-12E8-1D4039B6554B}"/>
              </a:ext>
            </a:extLst>
          </p:cNvPr>
          <p:cNvSpPr/>
          <p:nvPr/>
        </p:nvSpPr>
        <p:spPr>
          <a:xfrm>
            <a:off x="2474342" y="39640777"/>
            <a:ext cx="2447903" cy="102887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u="sng" dirty="0" err="1">
                <a:solidFill>
                  <a:schemeClr val="tx1"/>
                </a:solidFill>
                <a:latin typeface="MS PGothic" panose="020B0600070205080204" pitchFamily="34" charset="-128"/>
                <a:ea typeface="MS PGothic" panose="020B0600070205080204" pitchFamily="34" charset="-128"/>
              </a:rPr>
              <a:t>Swin</a:t>
            </a:r>
            <a:r>
              <a:rPr kumimoji="1" lang="en-US" altLang="ja-JP" sz="3200" u="sng" dirty="0">
                <a:solidFill>
                  <a:schemeClr val="tx1"/>
                </a:solidFill>
                <a:latin typeface="MS PGothic" panose="020B0600070205080204" pitchFamily="34" charset="-128"/>
                <a:ea typeface="MS PGothic" panose="020B0600070205080204" pitchFamily="34" charset="-128"/>
              </a:rPr>
              <a:t>-T</a:t>
            </a:r>
          </a:p>
          <a:p>
            <a:pPr algn="ctr"/>
            <a:r>
              <a:rPr kumimoji="1" lang="en-US" altLang="ja-JP" sz="3200" dirty="0" err="1">
                <a:solidFill>
                  <a:schemeClr val="tx1"/>
                </a:solidFill>
                <a:latin typeface="MS PGothic" panose="020B0600070205080204" pitchFamily="34" charset="-128"/>
                <a:ea typeface="MS PGothic" panose="020B0600070205080204" pitchFamily="34" charset="-128"/>
              </a:rPr>
              <a:t>BigGAN</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1066" name="直線矢印コネクタ 1065">
            <a:extLst>
              <a:ext uri="{FF2B5EF4-FFF2-40B4-BE49-F238E27FC236}">
                <a16:creationId xmlns:a16="http://schemas.microsoft.com/office/drawing/2014/main" id="{5954923C-5E62-6F8B-3859-6C14094F1A5A}"/>
              </a:ext>
            </a:extLst>
          </p:cNvPr>
          <p:cNvCxnSpPr>
            <a:cxnSpLocks/>
            <a:stCxn id="1064" idx="3"/>
            <a:endCxn id="21" idx="1"/>
          </p:cNvCxnSpPr>
          <p:nvPr/>
        </p:nvCxnSpPr>
        <p:spPr>
          <a:xfrm>
            <a:off x="1585314" y="40360056"/>
            <a:ext cx="66696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67" name="正方形/長方形 1066">
            <a:extLst>
              <a:ext uri="{FF2B5EF4-FFF2-40B4-BE49-F238E27FC236}">
                <a16:creationId xmlns:a16="http://schemas.microsoft.com/office/drawing/2014/main" id="{05901A51-44DE-902F-E6A1-EA69F117973D}"/>
              </a:ext>
            </a:extLst>
          </p:cNvPr>
          <p:cNvSpPr/>
          <p:nvPr/>
        </p:nvSpPr>
        <p:spPr>
          <a:xfrm>
            <a:off x="5800845" y="39632796"/>
            <a:ext cx="2447903" cy="102887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u="sng" dirty="0" err="1">
                <a:solidFill>
                  <a:schemeClr val="tx1"/>
                </a:solidFill>
                <a:latin typeface="MS PGothic" panose="020B0600070205080204" pitchFamily="34" charset="-128"/>
                <a:ea typeface="MS PGothic" panose="020B0600070205080204" pitchFamily="34" charset="-128"/>
              </a:rPr>
              <a:t>Swin</a:t>
            </a:r>
            <a:r>
              <a:rPr kumimoji="1" lang="en-US" altLang="ja-JP" sz="3200" u="sng" dirty="0">
                <a:solidFill>
                  <a:schemeClr val="tx1"/>
                </a:solidFill>
                <a:latin typeface="MS PGothic" panose="020B0600070205080204" pitchFamily="34" charset="-128"/>
                <a:ea typeface="MS PGothic" panose="020B0600070205080204" pitchFamily="34" charset="-128"/>
              </a:rPr>
              <a:t>-T</a:t>
            </a:r>
          </a:p>
          <a:p>
            <a:pPr algn="ctr"/>
            <a:r>
              <a:rPr kumimoji="1" lang="en-US" altLang="ja-JP" sz="3200" dirty="0">
                <a:solidFill>
                  <a:schemeClr val="tx1"/>
                </a:solidFill>
                <a:latin typeface="MS PGothic" panose="020B0600070205080204" pitchFamily="34" charset="-128"/>
                <a:ea typeface="MS PGothic" panose="020B0600070205080204" pitchFamily="34" charset="-128"/>
              </a:rPr>
              <a:t>ADM</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1068" name="直線矢印コネクタ 1067">
            <a:extLst>
              <a:ext uri="{FF2B5EF4-FFF2-40B4-BE49-F238E27FC236}">
                <a16:creationId xmlns:a16="http://schemas.microsoft.com/office/drawing/2014/main" id="{A18EC0CB-36D3-41A2-97FB-7385C2F6F78D}"/>
              </a:ext>
            </a:extLst>
          </p:cNvPr>
          <p:cNvCxnSpPr>
            <a:cxnSpLocks/>
            <a:stCxn id="1065" idx="3"/>
            <a:endCxn id="1067" idx="1"/>
          </p:cNvCxnSpPr>
          <p:nvPr/>
        </p:nvCxnSpPr>
        <p:spPr>
          <a:xfrm flipV="1">
            <a:off x="4922245" y="40147233"/>
            <a:ext cx="878600" cy="7981"/>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72" name="直線矢印コネクタ 1071">
            <a:extLst>
              <a:ext uri="{FF2B5EF4-FFF2-40B4-BE49-F238E27FC236}">
                <a16:creationId xmlns:a16="http://schemas.microsoft.com/office/drawing/2014/main" id="{3460B655-611A-0A97-6621-D2F58048AA6F}"/>
              </a:ext>
            </a:extLst>
          </p:cNvPr>
          <p:cNvCxnSpPr>
            <a:cxnSpLocks/>
            <a:stCxn id="1067" idx="3"/>
            <a:endCxn id="1075" idx="1"/>
          </p:cNvCxnSpPr>
          <p:nvPr/>
        </p:nvCxnSpPr>
        <p:spPr>
          <a:xfrm>
            <a:off x="8248748" y="40147233"/>
            <a:ext cx="878600" cy="5846"/>
          </a:xfrm>
          <a:prstGeom prst="straightConnector1">
            <a:avLst/>
          </a:prstGeom>
          <a:ln w="381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75" name="正方形/長方形 1074">
            <a:extLst>
              <a:ext uri="{FF2B5EF4-FFF2-40B4-BE49-F238E27FC236}">
                <a16:creationId xmlns:a16="http://schemas.microsoft.com/office/drawing/2014/main" id="{554AD821-0214-1406-97D9-ADB83DFA0110}"/>
              </a:ext>
            </a:extLst>
          </p:cNvPr>
          <p:cNvSpPr/>
          <p:nvPr/>
        </p:nvSpPr>
        <p:spPr>
          <a:xfrm>
            <a:off x="9127348" y="39638642"/>
            <a:ext cx="2447903" cy="102887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u="sng" dirty="0" err="1">
                <a:solidFill>
                  <a:schemeClr val="tx1"/>
                </a:solidFill>
                <a:latin typeface="MS PGothic" panose="020B0600070205080204" pitchFamily="34" charset="-128"/>
                <a:ea typeface="MS PGothic" panose="020B0600070205080204" pitchFamily="34" charset="-128"/>
              </a:rPr>
              <a:t>Swin</a:t>
            </a:r>
            <a:r>
              <a:rPr kumimoji="1" lang="en-US" altLang="ja-JP" sz="3200" u="sng" dirty="0">
                <a:solidFill>
                  <a:schemeClr val="tx1"/>
                </a:solidFill>
                <a:latin typeface="MS PGothic" panose="020B0600070205080204" pitchFamily="34" charset="-128"/>
                <a:ea typeface="MS PGothic" panose="020B0600070205080204" pitchFamily="34" charset="-128"/>
              </a:rPr>
              <a:t>-T</a:t>
            </a:r>
          </a:p>
          <a:p>
            <a:pPr algn="ctr"/>
            <a:r>
              <a:rPr kumimoji="1" lang="en-US" altLang="ja-JP" sz="3200" dirty="0">
                <a:solidFill>
                  <a:schemeClr val="tx1"/>
                </a:solidFill>
                <a:latin typeface="MS PGothic" panose="020B0600070205080204" pitchFamily="34" charset="-128"/>
                <a:ea typeface="MS PGothic" panose="020B0600070205080204" pitchFamily="34" charset="-128"/>
              </a:rPr>
              <a:t>GLIDE</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1082" name="直線矢印コネクタ 1081">
            <a:extLst>
              <a:ext uri="{FF2B5EF4-FFF2-40B4-BE49-F238E27FC236}">
                <a16:creationId xmlns:a16="http://schemas.microsoft.com/office/drawing/2014/main" id="{A069A03F-B12B-29C0-146A-C0E25E8AE9B1}"/>
              </a:ext>
            </a:extLst>
          </p:cNvPr>
          <p:cNvCxnSpPr>
            <a:cxnSpLocks/>
            <a:endCxn id="1084" idx="1"/>
          </p:cNvCxnSpPr>
          <p:nvPr/>
        </p:nvCxnSpPr>
        <p:spPr>
          <a:xfrm>
            <a:off x="12420459" y="40183361"/>
            <a:ext cx="620491" cy="0"/>
          </a:xfrm>
          <a:prstGeom prst="straightConnector1">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84" name="テキスト ボックス 1083">
                <a:extLst>
                  <a:ext uri="{FF2B5EF4-FFF2-40B4-BE49-F238E27FC236}">
                    <a16:creationId xmlns:a16="http://schemas.microsoft.com/office/drawing/2014/main" id="{5D551BD7-B577-0EDF-F939-7405D64985C8}"/>
                  </a:ext>
                </a:extLst>
              </p:cNvPr>
              <p:cNvSpPr txBox="1"/>
              <p:nvPr/>
            </p:nvSpPr>
            <p:spPr>
              <a:xfrm>
                <a:off x="13040950" y="39890973"/>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𝑅𝑒𝑎𝑙</m:t>
                      </m:r>
                    </m:oMath>
                  </m:oMathPara>
                </a14:m>
                <a:endParaRPr kumimoji="1" lang="ja-JP" altLang="en-US" sz="3200">
                  <a:latin typeface="MS PGothic" panose="020B0600070205080204" pitchFamily="34" charset="-128"/>
                  <a:ea typeface="MS PGothic" panose="020B0600070205080204" pitchFamily="34" charset="-128"/>
                </a:endParaRPr>
              </a:p>
            </p:txBody>
          </p:sp>
        </mc:Choice>
        <mc:Fallback>
          <p:sp>
            <p:nvSpPr>
              <p:cNvPr id="1084" name="テキスト ボックス 1083">
                <a:extLst>
                  <a:ext uri="{FF2B5EF4-FFF2-40B4-BE49-F238E27FC236}">
                    <a16:creationId xmlns:a16="http://schemas.microsoft.com/office/drawing/2014/main" id="{5D551BD7-B577-0EDF-F939-7405D64985C8}"/>
                  </a:ext>
                </a:extLst>
              </p:cNvPr>
              <p:cNvSpPr txBox="1">
                <a:spLocks noRot="1" noChangeAspect="1" noMove="1" noResize="1" noEditPoints="1" noAdjustHandles="1" noChangeArrowheads="1" noChangeShapeType="1" noTextEdit="1"/>
              </p:cNvSpPr>
              <p:nvPr/>
            </p:nvSpPr>
            <p:spPr>
              <a:xfrm>
                <a:off x="13040950" y="39890973"/>
                <a:ext cx="1585290" cy="584775"/>
              </a:xfrm>
              <a:prstGeom prst="rect">
                <a:avLst/>
              </a:prstGeom>
              <a:blipFill>
                <a:blip r:embed="rId11"/>
                <a:stretch>
                  <a:fillRect/>
                </a:stretch>
              </a:blipFill>
              <a:ln w="38100">
                <a:noFill/>
              </a:ln>
            </p:spPr>
            <p:txBody>
              <a:bodyPr/>
              <a:lstStyle/>
              <a:p>
                <a:r>
                  <a:rPr lang="ja-JP" altLang="en-US">
                    <a:noFill/>
                  </a:rPr>
                  <a:t> </a:t>
                </a:r>
              </a:p>
            </p:txBody>
          </p:sp>
        </mc:Fallback>
      </mc:AlternateContent>
      <p:sp>
        <p:nvSpPr>
          <p:cNvPr id="1087" name="テキスト ボックス 1086">
            <a:extLst>
              <a:ext uri="{FF2B5EF4-FFF2-40B4-BE49-F238E27FC236}">
                <a16:creationId xmlns:a16="http://schemas.microsoft.com/office/drawing/2014/main" id="{F2BF8B68-C28C-16CB-3441-ECB9A0466F0C}"/>
              </a:ext>
            </a:extLst>
          </p:cNvPr>
          <p:cNvSpPr txBox="1"/>
          <p:nvPr/>
        </p:nvSpPr>
        <p:spPr>
          <a:xfrm>
            <a:off x="11684404" y="39831019"/>
            <a:ext cx="586169" cy="584775"/>
          </a:xfrm>
          <a:prstGeom prst="rect">
            <a:avLst/>
          </a:prstGeom>
          <a:solidFill>
            <a:schemeClr val="bg1"/>
          </a:solidFill>
        </p:spPr>
        <p:txBody>
          <a:bodyPr wrap="square" rtlCol="0">
            <a:spAutoFit/>
          </a:bodyPr>
          <a:lstStyle/>
          <a:p>
            <a:pPr algn="ctr"/>
            <a:r>
              <a:rPr kumimoji="1" lang="en-US" altLang="ja-JP" sz="3200" dirty="0">
                <a:latin typeface="MS PGothic" panose="020B0600070205080204" pitchFamily="34" charset="-128"/>
                <a:ea typeface="MS PGothic" panose="020B0600070205080204" pitchFamily="34" charset="-128"/>
              </a:rPr>
              <a:t>…</a:t>
            </a:r>
          </a:p>
        </p:txBody>
      </p:sp>
      <mc:AlternateContent xmlns:mc="http://schemas.openxmlformats.org/markup-compatibility/2006">
        <mc:Choice xmlns:a14="http://schemas.microsoft.com/office/drawing/2010/main" Requires="a14">
          <p:sp>
            <p:nvSpPr>
              <p:cNvPr id="1088" name="テキスト ボックス 1087">
                <a:extLst>
                  <a:ext uri="{FF2B5EF4-FFF2-40B4-BE49-F238E27FC236}">
                    <a16:creationId xmlns:a16="http://schemas.microsoft.com/office/drawing/2014/main" id="{7091B269-1194-CFC8-B321-90CEEE6D5ED4}"/>
                  </a:ext>
                </a:extLst>
              </p:cNvPr>
              <p:cNvSpPr txBox="1"/>
              <p:nvPr/>
            </p:nvSpPr>
            <p:spPr>
              <a:xfrm>
                <a:off x="13037572" y="41169406"/>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𝐹𝑎𝑘𝑒</m:t>
                      </m:r>
                    </m:oMath>
                  </m:oMathPara>
                </a14:m>
                <a:endParaRPr kumimoji="1" lang="ja-JP" altLang="en-US" sz="3200">
                  <a:latin typeface="MS PGothic" panose="020B0600070205080204" pitchFamily="34" charset="-128"/>
                  <a:ea typeface="MS PGothic" panose="020B0600070205080204" pitchFamily="34" charset="-128"/>
                </a:endParaRPr>
              </a:p>
            </p:txBody>
          </p:sp>
        </mc:Choice>
        <mc:Fallback>
          <p:sp>
            <p:nvSpPr>
              <p:cNvPr id="1088" name="テキスト ボックス 1087">
                <a:extLst>
                  <a:ext uri="{FF2B5EF4-FFF2-40B4-BE49-F238E27FC236}">
                    <a16:creationId xmlns:a16="http://schemas.microsoft.com/office/drawing/2014/main" id="{7091B269-1194-CFC8-B321-90CEEE6D5ED4}"/>
                  </a:ext>
                </a:extLst>
              </p:cNvPr>
              <p:cNvSpPr txBox="1">
                <a:spLocks noRot="1" noChangeAspect="1" noMove="1" noResize="1" noEditPoints="1" noAdjustHandles="1" noChangeArrowheads="1" noChangeShapeType="1" noTextEdit="1"/>
              </p:cNvSpPr>
              <p:nvPr/>
            </p:nvSpPr>
            <p:spPr>
              <a:xfrm>
                <a:off x="13037572" y="41169406"/>
                <a:ext cx="1585290" cy="584775"/>
              </a:xfrm>
              <a:prstGeom prst="rect">
                <a:avLst/>
              </a:prstGeom>
              <a:blipFill>
                <a:blip r:embed="rId12"/>
                <a:stretch>
                  <a:fillRect b="-2128"/>
                </a:stretch>
              </a:blipFill>
              <a:ln w="38100">
                <a:noFill/>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098" name="テキスト ボックス 1097">
                <a:extLst>
                  <a:ext uri="{FF2B5EF4-FFF2-40B4-BE49-F238E27FC236}">
                    <a16:creationId xmlns:a16="http://schemas.microsoft.com/office/drawing/2014/main" id="{42E5EF4E-74F2-2FA3-2C7A-33E7BCCBB212}"/>
                  </a:ext>
                </a:extLst>
              </p:cNvPr>
              <p:cNvSpPr txBox="1"/>
              <p:nvPr/>
            </p:nvSpPr>
            <p:spPr>
              <a:xfrm>
                <a:off x="4991709" y="39664401"/>
                <a:ext cx="739671" cy="46166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ea typeface="MS PGothic" panose="020B0600070205080204" pitchFamily="34" charset="-128"/>
                        </a:rPr>
                        <m:t>𝑅𝑒𝑎𝑙</m:t>
                      </m:r>
                    </m:oMath>
                  </m:oMathPara>
                </a14:m>
                <a:endParaRPr kumimoji="1" lang="ja-JP" altLang="en-US" sz="2400">
                  <a:latin typeface="MS PGothic" panose="020B0600070205080204" pitchFamily="34" charset="-128"/>
                  <a:ea typeface="MS PGothic" panose="020B0600070205080204" pitchFamily="34" charset="-128"/>
                </a:endParaRPr>
              </a:p>
            </p:txBody>
          </p:sp>
        </mc:Choice>
        <mc:Fallback>
          <p:sp>
            <p:nvSpPr>
              <p:cNvPr id="1098" name="テキスト ボックス 1097">
                <a:extLst>
                  <a:ext uri="{FF2B5EF4-FFF2-40B4-BE49-F238E27FC236}">
                    <a16:creationId xmlns:a16="http://schemas.microsoft.com/office/drawing/2014/main" id="{42E5EF4E-74F2-2FA3-2C7A-33E7BCCBB212}"/>
                  </a:ext>
                </a:extLst>
              </p:cNvPr>
              <p:cNvSpPr txBox="1">
                <a:spLocks noRot="1" noChangeAspect="1" noMove="1" noResize="1" noEditPoints="1" noAdjustHandles="1" noChangeArrowheads="1" noChangeShapeType="1" noTextEdit="1"/>
              </p:cNvSpPr>
              <p:nvPr/>
            </p:nvSpPr>
            <p:spPr>
              <a:xfrm>
                <a:off x="4991709" y="39664401"/>
                <a:ext cx="739671" cy="461665"/>
              </a:xfrm>
              <a:prstGeom prst="rect">
                <a:avLst/>
              </a:prstGeom>
              <a:blipFill>
                <a:blip r:embed="rId13"/>
                <a:stretch>
                  <a:fillRect l="-13559"/>
                </a:stretch>
              </a:blipFill>
              <a:ln w="38100">
                <a:noFill/>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099" name="テキスト ボックス 1098">
                <a:extLst>
                  <a:ext uri="{FF2B5EF4-FFF2-40B4-BE49-F238E27FC236}">
                    <a16:creationId xmlns:a16="http://schemas.microsoft.com/office/drawing/2014/main" id="{14141C14-99CB-1C95-08C7-CD4926E4B9AF}"/>
                  </a:ext>
                </a:extLst>
              </p:cNvPr>
              <p:cNvSpPr txBox="1"/>
              <p:nvPr/>
            </p:nvSpPr>
            <p:spPr>
              <a:xfrm>
                <a:off x="8318871" y="39653436"/>
                <a:ext cx="739671" cy="46166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ea typeface="MS PGothic" panose="020B0600070205080204" pitchFamily="34" charset="-128"/>
                        </a:rPr>
                        <m:t>𝑅𝑒𝑎𝑙</m:t>
                      </m:r>
                    </m:oMath>
                  </m:oMathPara>
                </a14:m>
                <a:endParaRPr kumimoji="1" lang="ja-JP" altLang="en-US" sz="2400">
                  <a:latin typeface="MS PGothic" panose="020B0600070205080204" pitchFamily="34" charset="-128"/>
                  <a:ea typeface="MS PGothic" panose="020B0600070205080204" pitchFamily="34" charset="-128"/>
                </a:endParaRPr>
              </a:p>
            </p:txBody>
          </p:sp>
        </mc:Choice>
        <mc:Fallback>
          <p:sp>
            <p:nvSpPr>
              <p:cNvPr id="1099" name="テキスト ボックス 1098">
                <a:extLst>
                  <a:ext uri="{FF2B5EF4-FFF2-40B4-BE49-F238E27FC236}">
                    <a16:creationId xmlns:a16="http://schemas.microsoft.com/office/drawing/2014/main" id="{14141C14-99CB-1C95-08C7-CD4926E4B9AF}"/>
                  </a:ext>
                </a:extLst>
              </p:cNvPr>
              <p:cNvSpPr txBox="1">
                <a:spLocks noRot="1" noChangeAspect="1" noMove="1" noResize="1" noEditPoints="1" noAdjustHandles="1" noChangeArrowheads="1" noChangeShapeType="1" noTextEdit="1"/>
              </p:cNvSpPr>
              <p:nvPr/>
            </p:nvSpPr>
            <p:spPr>
              <a:xfrm>
                <a:off x="8318871" y="39653436"/>
                <a:ext cx="739671" cy="461665"/>
              </a:xfrm>
              <a:prstGeom prst="rect">
                <a:avLst/>
              </a:prstGeom>
              <a:blipFill>
                <a:blip r:embed="rId13"/>
                <a:stretch>
                  <a:fillRect l="-13559"/>
                </a:stretch>
              </a:blipFill>
              <a:ln w="38100">
                <a:noFill/>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00" name="テキスト ボックス 1099">
                <a:extLst>
                  <a:ext uri="{FF2B5EF4-FFF2-40B4-BE49-F238E27FC236}">
                    <a16:creationId xmlns:a16="http://schemas.microsoft.com/office/drawing/2014/main" id="{27CA0217-E526-4631-7A52-4CF041E8E0AA}"/>
                  </a:ext>
                </a:extLst>
              </p:cNvPr>
              <p:cNvSpPr txBox="1"/>
              <p:nvPr/>
            </p:nvSpPr>
            <p:spPr>
              <a:xfrm>
                <a:off x="11644057" y="39661742"/>
                <a:ext cx="739671" cy="46166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ea typeface="MS PGothic" panose="020B0600070205080204" pitchFamily="34" charset="-128"/>
                        </a:rPr>
                        <m:t>𝑅𝑒𝑎𝑙</m:t>
                      </m:r>
                    </m:oMath>
                  </m:oMathPara>
                </a14:m>
                <a:endParaRPr kumimoji="1" lang="ja-JP" altLang="en-US" sz="2400">
                  <a:latin typeface="MS PGothic" panose="020B0600070205080204" pitchFamily="34" charset="-128"/>
                  <a:ea typeface="MS PGothic" panose="020B0600070205080204" pitchFamily="34" charset="-128"/>
                </a:endParaRPr>
              </a:p>
            </p:txBody>
          </p:sp>
        </mc:Choice>
        <mc:Fallback>
          <p:sp>
            <p:nvSpPr>
              <p:cNvPr id="1100" name="テキスト ボックス 1099">
                <a:extLst>
                  <a:ext uri="{FF2B5EF4-FFF2-40B4-BE49-F238E27FC236}">
                    <a16:creationId xmlns:a16="http://schemas.microsoft.com/office/drawing/2014/main" id="{27CA0217-E526-4631-7A52-4CF041E8E0AA}"/>
                  </a:ext>
                </a:extLst>
              </p:cNvPr>
              <p:cNvSpPr txBox="1">
                <a:spLocks noRot="1" noChangeAspect="1" noMove="1" noResize="1" noEditPoints="1" noAdjustHandles="1" noChangeArrowheads="1" noChangeShapeType="1" noTextEdit="1"/>
              </p:cNvSpPr>
              <p:nvPr/>
            </p:nvSpPr>
            <p:spPr>
              <a:xfrm>
                <a:off x="11644057" y="39661742"/>
                <a:ext cx="739671" cy="461665"/>
              </a:xfrm>
              <a:prstGeom prst="rect">
                <a:avLst/>
              </a:prstGeom>
              <a:blipFill>
                <a:blip r:embed="rId14"/>
                <a:stretch>
                  <a:fillRect l="-11864"/>
                </a:stretch>
              </a:blipFill>
              <a:ln w="38100">
                <a:noFill/>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01" name="テキスト ボックス 1100">
                <a:extLst>
                  <a:ext uri="{FF2B5EF4-FFF2-40B4-BE49-F238E27FC236}">
                    <a16:creationId xmlns:a16="http://schemas.microsoft.com/office/drawing/2014/main" id="{24DD8BD3-A1C7-EB2E-CD76-B56BE6E6D76F}"/>
                  </a:ext>
                </a:extLst>
              </p:cNvPr>
              <p:cNvSpPr txBox="1"/>
              <p:nvPr/>
            </p:nvSpPr>
            <p:spPr>
              <a:xfrm>
                <a:off x="3685230" y="40714647"/>
                <a:ext cx="913925" cy="46166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ea typeface="MS PGothic" panose="020B0600070205080204" pitchFamily="34" charset="-128"/>
                        </a:rPr>
                        <m:t>𝐹𝑎𝑘𝑒</m:t>
                      </m:r>
                    </m:oMath>
                  </m:oMathPara>
                </a14:m>
                <a:endParaRPr kumimoji="1" lang="ja-JP" altLang="en-US" sz="2400">
                  <a:latin typeface="MS PGothic" panose="020B0600070205080204" pitchFamily="34" charset="-128"/>
                  <a:ea typeface="MS PGothic" panose="020B0600070205080204" pitchFamily="34" charset="-128"/>
                </a:endParaRPr>
              </a:p>
            </p:txBody>
          </p:sp>
        </mc:Choice>
        <mc:Fallback>
          <p:sp>
            <p:nvSpPr>
              <p:cNvPr id="1101" name="テキスト ボックス 1100">
                <a:extLst>
                  <a:ext uri="{FF2B5EF4-FFF2-40B4-BE49-F238E27FC236}">
                    <a16:creationId xmlns:a16="http://schemas.microsoft.com/office/drawing/2014/main" id="{24DD8BD3-A1C7-EB2E-CD76-B56BE6E6D76F}"/>
                  </a:ext>
                </a:extLst>
              </p:cNvPr>
              <p:cNvSpPr txBox="1">
                <a:spLocks noRot="1" noChangeAspect="1" noMove="1" noResize="1" noEditPoints="1" noAdjustHandles="1" noChangeArrowheads="1" noChangeShapeType="1" noTextEdit="1"/>
              </p:cNvSpPr>
              <p:nvPr/>
            </p:nvSpPr>
            <p:spPr>
              <a:xfrm>
                <a:off x="3685230" y="40714647"/>
                <a:ext cx="913925" cy="461665"/>
              </a:xfrm>
              <a:prstGeom prst="rect">
                <a:avLst/>
              </a:prstGeom>
              <a:blipFill>
                <a:blip r:embed="rId15"/>
                <a:stretch>
                  <a:fillRect l="-4167"/>
                </a:stretch>
              </a:blipFill>
              <a:ln w="38100">
                <a:noFill/>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02" name="テキスト ボックス 1101">
                <a:extLst>
                  <a:ext uri="{FF2B5EF4-FFF2-40B4-BE49-F238E27FC236}">
                    <a16:creationId xmlns:a16="http://schemas.microsoft.com/office/drawing/2014/main" id="{10A39CA5-751D-09B7-F6E3-FA502BEF8457}"/>
                  </a:ext>
                </a:extLst>
              </p:cNvPr>
              <p:cNvSpPr txBox="1"/>
              <p:nvPr/>
            </p:nvSpPr>
            <p:spPr>
              <a:xfrm>
                <a:off x="7024796" y="40726010"/>
                <a:ext cx="887799" cy="46166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ea typeface="MS PGothic" panose="020B0600070205080204" pitchFamily="34" charset="-128"/>
                        </a:rPr>
                        <m:t>𝐹𝑎𝑘𝑒</m:t>
                      </m:r>
                    </m:oMath>
                  </m:oMathPara>
                </a14:m>
                <a:endParaRPr kumimoji="1" lang="ja-JP" altLang="en-US" sz="2400">
                  <a:latin typeface="MS PGothic" panose="020B0600070205080204" pitchFamily="34" charset="-128"/>
                  <a:ea typeface="MS PGothic" panose="020B0600070205080204" pitchFamily="34" charset="-128"/>
                </a:endParaRPr>
              </a:p>
            </p:txBody>
          </p:sp>
        </mc:Choice>
        <mc:Fallback>
          <p:sp>
            <p:nvSpPr>
              <p:cNvPr id="1102" name="テキスト ボックス 1101">
                <a:extLst>
                  <a:ext uri="{FF2B5EF4-FFF2-40B4-BE49-F238E27FC236}">
                    <a16:creationId xmlns:a16="http://schemas.microsoft.com/office/drawing/2014/main" id="{10A39CA5-751D-09B7-F6E3-FA502BEF8457}"/>
                  </a:ext>
                </a:extLst>
              </p:cNvPr>
              <p:cNvSpPr txBox="1">
                <a:spLocks noRot="1" noChangeAspect="1" noMove="1" noResize="1" noEditPoints="1" noAdjustHandles="1" noChangeArrowheads="1" noChangeShapeType="1" noTextEdit="1"/>
              </p:cNvSpPr>
              <p:nvPr/>
            </p:nvSpPr>
            <p:spPr>
              <a:xfrm>
                <a:off x="7024796" y="40726010"/>
                <a:ext cx="887799" cy="461665"/>
              </a:xfrm>
              <a:prstGeom prst="rect">
                <a:avLst/>
              </a:prstGeom>
              <a:blipFill>
                <a:blip r:embed="rId16"/>
                <a:stretch>
                  <a:fillRect l="-5556"/>
                </a:stretch>
              </a:blipFill>
              <a:ln w="38100">
                <a:noFill/>
              </a:ln>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03" name="テキスト ボックス 1102">
                <a:extLst>
                  <a:ext uri="{FF2B5EF4-FFF2-40B4-BE49-F238E27FC236}">
                    <a16:creationId xmlns:a16="http://schemas.microsoft.com/office/drawing/2014/main" id="{C17036DE-D6AC-BCFB-62D6-15A973063F53}"/>
                  </a:ext>
                </a:extLst>
              </p:cNvPr>
              <p:cNvSpPr txBox="1"/>
              <p:nvPr/>
            </p:nvSpPr>
            <p:spPr>
              <a:xfrm>
                <a:off x="10338236" y="40714647"/>
                <a:ext cx="885783" cy="46166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ea typeface="MS PGothic" panose="020B0600070205080204" pitchFamily="34" charset="-128"/>
                        </a:rPr>
                        <m:t>𝐹𝑎𝑘𝑒</m:t>
                      </m:r>
                    </m:oMath>
                  </m:oMathPara>
                </a14:m>
                <a:endParaRPr kumimoji="1" lang="ja-JP" altLang="en-US" sz="2400">
                  <a:latin typeface="MS PGothic" panose="020B0600070205080204" pitchFamily="34" charset="-128"/>
                  <a:ea typeface="MS PGothic" panose="020B0600070205080204" pitchFamily="34" charset="-128"/>
                </a:endParaRPr>
              </a:p>
            </p:txBody>
          </p:sp>
        </mc:Choice>
        <mc:Fallback>
          <p:sp>
            <p:nvSpPr>
              <p:cNvPr id="1103" name="テキスト ボックス 1102">
                <a:extLst>
                  <a:ext uri="{FF2B5EF4-FFF2-40B4-BE49-F238E27FC236}">
                    <a16:creationId xmlns:a16="http://schemas.microsoft.com/office/drawing/2014/main" id="{C17036DE-D6AC-BCFB-62D6-15A973063F53}"/>
                  </a:ext>
                </a:extLst>
              </p:cNvPr>
              <p:cNvSpPr txBox="1">
                <a:spLocks noRot="1" noChangeAspect="1" noMove="1" noResize="1" noEditPoints="1" noAdjustHandles="1" noChangeArrowheads="1" noChangeShapeType="1" noTextEdit="1"/>
              </p:cNvSpPr>
              <p:nvPr/>
            </p:nvSpPr>
            <p:spPr>
              <a:xfrm>
                <a:off x="10338236" y="40714647"/>
                <a:ext cx="885783" cy="461665"/>
              </a:xfrm>
              <a:prstGeom prst="rect">
                <a:avLst/>
              </a:prstGeom>
              <a:blipFill>
                <a:blip r:embed="rId17"/>
                <a:stretch>
                  <a:fillRect l="-7143"/>
                </a:stretch>
              </a:blipFill>
              <a:ln w="38100">
                <a:noFill/>
              </a:ln>
            </p:spPr>
            <p:txBody>
              <a:bodyPr/>
              <a:lstStyle/>
              <a:p>
                <a:r>
                  <a:rPr lang="ja-JP" altLang="en-US">
                    <a:noFill/>
                  </a:rPr>
                  <a:t> </a:t>
                </a:r>
              </a:p>
            </p:txBody>
          </p:sp>
        </mc:Fallback>
      </mc:AlternateContent>
      <p:cxnSp>
        <p:nvCxnSpPr>
          <p:cNvPr id="1030" name="直線矢印コネクタ 1029">
            <a:extLst>
              <a:ext uri="{FF2B5EF4-FFF2-40B4-BE49-F238E27FC236}">
                <a16:creationId xmlns:a16="http://schemas.microsoft.com/office/drawing/2014/main" id="{76EBC80E-6E1F-DE2C-ED0F-5FE9C9DD50C6}"/>
              </a:ext>
            </a:extLst>
          </p:cNvPr>
          <p:cNvCxnSpPr>
            <a:cxnSpLocks/>
            <a:stCxn id="60" idx="0"/>
            <a:endCxn id="1025" idx="2"/>
          </p:cNvCxnSpPr>
          <p:nvPr/>
        </p:nvCxnSpPr>
        <p:spPr>
          <a:xfrm flipV="1">
            <a:off x="10547691" y="31858347"/>
            <a:ext cx="1649086" cy="1650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16" name="直線矢印コネクタ 1115">
            <a:extLst>
              <a:ext uri="{FF2B5EF4-FFF2-40B4-BE49-F238E27FC236}">
                <a16:creationId xmlns:a16="http://schemas.microsoft.com/office/drawing/2014/main" id="{B2F80BEA-1583-567F-92BA-F27FC5DB65BE}"/>
              </a:ext>
            </a:extLst>
          </p:cNvPr>
          <p:cNvCxnSpPr>
            <a:cxnSpLocks/>
            <a:endCxn id="1025" idx="2"/>
          </p:cNvCxnSpPr>
          <p:nvPr/>
        </p:nvCxnSpPr>
        <p:spPr>
          <a:xfrm flipV="1">
            <a:off x="10562129" y="31858347"/>
            <a:ext cx="1634648" cy="371733"/>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19" name="直線矢印コネクタ 1118">
            <a:extLst>
              <a:ext uri="{FF2B5EF4-FFF2-40B4-BE49-F238E27FC236}">
                <a16:creationId xmlns:a16="http://schemas.microsoft.com/office/drawing/2014/main" id="{C7B98AD0-E339-8767-64E5-C5159CB3D7C1}"/>
              </a:ext>
            </a:extLst>
          </p:cNvPr>
          <p:cNvCxnSpPr>
            <a:cxnSpLocks/>
            <a:endCxn id="1025" idx="2"/>
          </p:cNvCxnSpPr>
          <p:nvPr/>
        </p:nvCxnSpPr>
        <p:spPr>
          <a:xfrm flipV="1">
            <a:off x="10547691" y="31858347"/>
            <a:ext cx="1649086" cy="200644"/>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32" name="直線矢印コネクタ 1131">
            <a:extLst>
              <a:ext uri="{FF2B5EF4-FFF2-40B4-BE49-F238E27FC236}">
                <a16:creationId xmlns:a16="http://schemas.microsoft.com/office/drawing/2014/main" id="{200DEE2B-767B-F369-1730-5CDAB9C3ADE2}"/>
              </a:ext>
            </a:extLst>
          </p:cNvPr>
          <p:cNvCxnSpPr>
            <a:cxnSpLocks/>
            <a:endCxn id="1025" idx="2"/>
          </p:cNvCxnSpPr>
          <p:nvPr/>
        </p:nvCxnSpPr>
        <p:spPr>
          <a:xfrm flipV="1">
            <a:off x="10554910" y="31858347"/>
            <a:ext cx="1641867" cy="545269"/>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35" name="直線矢印コネクタ 1134">
            <a:extLst>
              <a:ext uri="{FF2B5EF4-FFF2-40B4-BE49-F238E27FC236}">
                <a16:creationId xmlns:a16="http://schemas.microsoft.com/office/drawing/2014/main" id="{4B0E8252-9F53-EA7B-28FF-C67F729F090F}"/>
              </a:ext>
            </a:extLst>
          </p:cNvPr>
          <p:cNvCxnSpPr>
            <a:cxnSpLocks/>
            <a:endCxn id="1025" idx="2"/>
          </p:cNvCxnSpPr>
          <p:nvPr/>
        </p:nvCxnSpPr>
        <p:spPr>
          <a:xfrm>
            <a:off x="10554910" y="31710296"/>
            <a:ext cx="1641867" cy="148051"/>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39" name="直線矢印コネクタ 1138">
            <a:extLst>
              <a:ext uri="{FF2B5EF4-FFF2-40B4-BE49-F238E27FC236}">
                <a16:creationId xmlns:a16="http://schemas.microsoft.com/office/drawing/2014/main" id="{84164197-C146-4EEA-D67B-11D8BB23059F}"/>
              </a:ext>
            </a:extLst>
          </p:cNvPr>
          <p:cNvCxnSpPr>
            <a:cxnSpLocks/>
            <a:endCxn id="1025" idx="2"/>
          </p:cNvCxnSpPr>
          <p:nvPr/>
        </p:nvCxnSpPr>
        <p:spPr>
          <a:xfrm>
            <a:off x="10554910" y="31517765"/>
            <a:ext cx="1641867" cy="340582"/>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42" name="直線矢印コネクタ 1141">
            <a:extLst>
              <a:ext uri="{FF2B5EF4-FFF2-40B4-BE49-F238E27FC236}">
                <a16:creationId xmlns:a16="http://schemas.microsoft.com/office/drawing/2014/main" id="{713AC2C8-CDBD-32DB-D04F-4809A190AC28}"/>
              </a:ext>
            </a:extLst>
          </p:cNvPr>
          <p:cNvCxnSpPr>
            <a:cxnSpLocks/>
            <a:endCxn id="1025" idx="2"/>
          </p:cNvCxnSpPr>
          <p:nvPr/>
        </p:nvCxnSpPr>
        <p:spPr>
          <a:xfrm>
            <a:off x="10547691" y="31340589"/>
            <a:ext cx="1649086" cy="517758"/>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058" name="四角形吹き出し 1057">
            <a:extLst>
              <a:ext uri="{FF2B5EF4-FFF2-40B4-BE49-F238E27FC236}">
                <a16:creationId xmlns:a16="http://schemas.microsoft.com/office/drawing/2014/main" id="{C18D3E15-0FBF-AA3B-3392-979C68E8E9D5}"/>
              </a:ext>
            </a:extLst>
          </p:cNvPr>
          <p:cNvSpPr/>
          <p:nvPr/>
        </p:nvSpPr>
        <p:spPr>
          <a:xfrm>
            <a:off x="10830430" y="30431483"/>
            <a:ext cx="1939114" cy="820518"/>
          </a:xfrm>
          <a:prstGeom prst="wedgeRectCallout">
            <a:avLst>
              <a:gd name="adj1" fmla="val -8399"/>
              <a:gd name="adj2" fmla="val 77212"/>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a:solidFill>
                  <a:schemeClr val="tx1"/>
                </a:solidFill>
                <a:latin typeface="MS PGothic" panose="020B0600070205080204" pitchFamily="34" charset="-128"/>
                <a:ea typeface="MS PGothic" panose="020B0600070205080204" pitchFamily="34" charset="-128"/>
              </a:rPr>
              <a:t>学習する</a:t>
            </a:r>
          </a:p>
        </p:txBody>
      </p:sp>
      <p:cxnSp>
        <p:nvCxnSpPr>
          <p:cNvPr id="1148" name="直線矢印コネクタ 1147">
            <a:extLst>
              <a:ext uri="{FF2B5EF4-FFF2-40B4-BE49-F238E27FC236}">
                <a16:creationId xmlns:a16="http://schemas.microsoft.com/office/drawing/2014/main" id="{C8AEF6C1-1380-E158-6916-5AE433469230}"/>
              </a:ext>
            </a:extLst>
          </p:cNvPr>
          <p:cNvCxnSpPr>
            <a:cxnSpLocks/>
            <a:stCxn id="1025" idx="7"/>
            <a:endCxn id="1046" idx="1"/>
          </p:cNvCxnSpPr>
          <p:nvPr/>
        </p:nvCxnSpPr>
        <p:spPr>
          <a:xfrm flipV="1">
            <a:off x="12578627" y="31286610"/>
            <a:ext cx="936178" cy="41356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3" name="直線矢印コネクタ 1152">
            <a:extLst>
              <a:ext uri="{FF2B5EF4-FFF2-40B4-BE49-F238E27FC236}">
                <a16:creationId xmlns:a16="http://schemas.microsoft.com/office/drawing/2014/main" id="{F1CD9BBA-2BA7-7DFC-2436-36FE75A61708}"/>
              </a:ext>
            </a:extLst>
          </p:cNvPr>
          <p:cNvCxnSpPr>
            <a:cxnSpLocks/>
            <a:stCxn id="1025" idx="5"/>
            <a:endCxn id="1048" idx="1"/>
          </p:cNvCxnSpPr>
          <p:nvPr/>
        </p:nvCxnSpPr>
        <p:spPr>
          <a:xfrm>
            <a:off x="12578627" y="32016514"/>
            <a:ext cx="939207" cy="3064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56" name="図 1155">
            <a:extLst>
              <a:ext uri="{FF2B5EF4-FFF2-40B4-BE49-F238E27FC236}">
                <a16:creationId xmlns:a16="http://schemas.microsoft.com/office/drawing/2014/main" id="{912F2803-23B6-0586-C111-5C712E1E449F}"/>
              </a:ext>
            </a:extLst>
          </p:cNvPr>
          <p:cNvPicPr>
            <a:picLocks noChangeAspect="1"/>
          </p:cNvPicPr>
          <p:nvPr/>
        </p:nvPicPr>
        <p:blipFill>
          <a:blip r:embed="rId10"/>
          <a:stretch>
            <a:fillRect/>
          </a:stretch>
        </p:blipFill>
        <p:spPr>
          <a:xfrm>
            <a:off x="17248980" y="10213026"/>
            <a:ext cx="1028874" cy="1028874"/>
          </a:xfrm>
          <a:prstGeom prst="rect">
            <a:avLst/>
          </a:prstGeom>
        </p:spPr>
      </p:pic>
      <p:sp>
        <p:nvSpPr>
          <p:cNvPr id="1157" name="正方形/長方形 1156">
            <a:extLst>
              <a:ext uri="{FF2B5EF4-FFF2-40B4-BE49-F238E27FC236}">
                <a16:creationId xmlns:a16="http://schemas.microsoft.com/office/drawing/2014/main" id="{93C69BA6-44C8-EA02-F8A1-33063A6BDD74}"/>
              </a:ext>
            </a:extLst>
          </p:cNvPr>
          <p:cNvSpPr/>
          <p:nvPr/>
        </p:nvSpPr>
        <p:spPr>
          <a:xfrm>
            <a:off x="19348707" y="10213026"/>
            <a:ext cx="6967686" cy="102887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u="sng" dirty="0" err="1">
                <a:solidFill>
                  <a:schemeClr val="tx1"/>
                </a:solidFill>
                <a:latin typeface="MS PGothic" panose="020B0600070205080204" pitchFamily="34" charset="-128"/>
                <a:ea typeface="MS PGothic" panose="020B0600070205080204" pitchFamily="34" charset="-128"/>
              </a:rPr>
              <a:t>Swin</a:t>
            </a:r>
            <a:r>
              <a:rPr kumimoji="1" lang="en-US" altLang="ja-JP" sz="3200" u="sng" dirty="0">
                <a:solidFill>
                  <a:schemeClr val="tx1"/>
                </a:solidFill>
                <a:latin typeface="MS PGothic" panose="020B0600070205080204" pitchFamily="34" charset="-128"/>
                <a:ea typeface="MS PGothic" panose="020B0600070205080204" pitchFamily="34" charset="-128"/>
              </a:rPr>
              <a:t>-T</a:t>
            </a:r>
          </a:p>
          <a:p>
            <a:pPr algn="ctr"/>
            <a:r>
              <a:rPr kumimoji="1" lang="en-US" altLang="ja-JP" sz="3200" dirty="0" err="1">
                <a:solidFill>
                  <a:schemeClr val="tx1"/>
                </a:solidFill>
                <a:latin typeface="MS PGothic" panose="020B0600070205080204" pitchFamily="34" charset="-128"/>
                <a:ea typeface="MS PGothic" panose="020B0600070205080204" pitchFamily="34" charset="-128"/>
              </a:rPr>
              <a:t>BigGAN</a:t>
            </a:r>
            <a:r>
              <a:rPr kumimoji="1" lang="ja-JP" altLang="en-US" sz="3200">
                <a:solidFill>
                  <a:schemeClr val="tx1"/>
                </a:solidFill>
                <a:latin typeface="MS PGothic" panose="020B0600070205080204" pitchFamily="34" charset="-128"/>
                <a:ea typeface="MS PGothic" panose="020B0600070205080204" pitchFamily="34" charset="-128"/>
              </a:rPr>
              <a:t>，</a:t>
            </a:r>
            <a:r>
              <a:rPr kumimoji="1" lang="en-US" altLang="ja-JP" sz="3200" dirty="0">
                <a:solidFill>
                  <a:schemeClr val="tx1"/>
                </a:solidFill>
                <a:latin typeface="MS PGothic" panose="020B0600070205080204" pitchFamily="34" charset="-128"/>
                <a:ea typeface="MS PGothic" panose="020B0600070205080204" pitchFamily="34" charset="-128"/>
              </a:rPr>
              <a:t>ADM</a:t>
            </a:r>
            <a:r>
              <a:rPr kumimoji="1" lang="ja-JP" altLang="en-US" sz="3200">
                <a:solidFill>
                  <a:schemeClr val="tx1"/>
                </a:solidFill>
                <a:latin typeface="MS PGothic" panose="020B0600070205080204" pitchFamily="34" charset="-128"/>
                <a:ea typeface="MS PGothic" panose="020B0600070205080204" pitchFamily="34" charset="-128"/>
              </a:rPr>
              <a:t>，</a:t>
            </a:r>
            <a:r>
              <a:rPr kumimoji="1" lang="en-US" altLang="ja-JP" sz="3200" dirty="0">
                <a:solidFill>
                  <a:schemeClr val="tx1"/>
                </a:solidFill>
                <a:latin typeface="MS PGothic" panose="020B0600070205080204" pitchFamily="34" charset="-128"/>
                <a:ea typeface="MS PGothic" panose="020B0600070205080204" pitchFamily="34" charset="-128"/>
              </a:rPr>
              <a:t>GLIDE</a:t>
            </a:r>
            <a:r>
              <a:rPr kumimoji="1" lang="ja-JP" altLang="en-US" sz="3200">
                <a:solidFill>
                  <a:schemeClr val="tx1"/>
                </a:solidFill>
                <a:latin typeface="MS PGothic" panose="020B0600070205080204" pitchFamily="34" charset="-128"/>
                <a:ea typeface="MS PGothic" panose="020B0600070205080204" pitchFamily="34" charset="-128"/>
              </a:rPr>
              <a:t>，</a:t>
            </a:r>
            <a:r>
              <a:rPr kumimoji="1" lang="en-US" altLang="ja-JP" sz="3200" dirty="0">
                <a:solidFill>
                  <a:schemeClr val="tx1"/>
                </a:solidFill>
                <a:latin typeface="MS PGothic" panose="020B0600070205080204" pitchFamily="34" charset="-128"/>
                <a:ea typeface="MS PGothic" panose="020B0600070205080204" pitchFamily="34" charset="-128"/>
              </a:rPr>
              <a:t>SDv4</a:t>
            </a:r>
            <a:r>
              <a:rPr kumimoji="1" lang="ja-JP" altLang="en-US" sz="3200">
                <a:solidFill>
                  <a:schemeClr val="tx1"/>
                </a:solidFill>
                <a:latin typeface="MS PGothic" panose="020B0600070205080204" pitchFamily="34" charset="-128"/>
                <a:ea typeface="MS PGothic" panose="020B0600070205080204" pitchFamily="34" charset="-128"/>
              </a:rPr>
              <a:t>，</a:t>
            </a:r>
            <a:r>
              <a:rPr kumimoji="1" lang="en-US" altLang="ja-JP" sz="3200" dirty="0">
                <a:solidFill>
                  <a:schemeClr val="tx1"/>
                </a:solidFill>
                <a:latin typeface="MS PGothic" panose="020B0600070205080204" pitchFamily="34" charset="-128"/>
                <a:ea typeface="MS PGothic" panose="020B0600070205080204" pitchFamily="34" charset="-128"/>
              </a:rPr>
              <a:t>SDv5</a:t>
            </a:r>
            <a:endParaRPr kumimoji="1" lang="ja-JP" altLang="en-US" sz="3200">
              <a:solidFill>
                <a:schemeClr val="tx1"/>
              </a:solidFill>
              <a:latin typeface="MS PGothic" panose="020B0600070205080204" pitchFamily="34" charset="-128"/>
              <a:ea typeface="MS PGothic" panose="020B0600070205080204" pitchFamily="34" charset="-128"/>
            </a:endParaRPr>
          </a:p>
        </p:txBody>
      </p:sp>
      <p:cxnSp>
        <p:nvCxnSpPr>
          <p:cNvPr id="1158" name="直線矢印コネクタ 1157">
            <a:extLst>
              <a:ext uri="{FF2B5EF4-FFF2-40B4-BE49-F238E27FC236}">
                <a16:creationId xmlns:a16="http://schemas.microsoft.com/office/drawing/2014/main" id="{FD53F496-EC51-4FD0-5208-1C408DAB1EA6}"/>
              </a:ext>
            </a:extLst>
          </p:cNvPr>
          <p:cNvCxnSpPr>
            <a:cxnSpLocks/>
            <a:stCxn id="1156" idx="3"/>
            <a:endCxn id="1157" idx="1"/>
          </p:cNvCxnSpPr>
          <p:nvPr/>
        </p:nvCxnSpPr>
        <p:spPr>
          <a:xfrm>
            <a:off x="18277854" y="10727463"/>
            <a:ext cx="107085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9" name="直線矢印コネクタ 1158">
            <a:extLst>
              <a:ext uri="{FF2B5EF4-FFF2-40B4-BE49-F238E27FC236}">
                <a16:creationId xmlns:a16="http://schemas.microsoft.com/office/drawing/2014/main" id="{AE4906F8-251C-3B53-D710-85A37A6ECC2F}"/>
              </a:ext>
            </a:extLst>
          </p:cNvPr>
          <p:cNvCxnSpPr>
            <a:cxnSpLocks/>
            <a:stCxn id="1157" idx="3"/>
            <a:endCxn id="1161" idx="1"/>
          </p:cNvCxnSpPr>
          <p:nvPr/>
        </p:nvCxnSpPr>
        <p:spPr>
          <a:xfrm flipV="1">
            <a:off x="26316393" y="10435229"/>
            <a:ext cx="960985" cy="2922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0" name="直線矢印コネクタ 1159">
            <a:extLst>
              <a:ext uri="{FF2B5EF4-FFF2-40B4-BE49-F238E27FC236}">
                <a16:creationId xmlns:a16="http://schemas.microsoft.com/office/drawing/2014/main" id="{50DEF2CC-7850-5CB9-B2D2-15D77DBDE6C9}"/>
              </a:ext>
            </a:extLst>
          </p:cNvPr>
          <p:cNvCxnSpPr>
            <a:cxnSpLocks/>
            <a:stCxn id="1157" idx="3"/>
            <a:endCxn id="1162" idx="1"/>
          </p:cNvCxnSpPr>
          <p:nvPr/>
        </p:nvCxnSpPr>
        <p:spPr>
          <a:xfrm>
            <a:off x="26316393" y="10727463"/>
            <a:ext cx="961824" cy="3166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61" name="テキスト ボックス 1160">
                <a:extLst>
                  <a:ext uri="{FF2B5EF4-FFF2-40B4-BE49-F238E27FC236}">
                    <a16:creationId xmlns:a16="http://schemas.microsoft.com/office/drawing/2014/main" id="{2105742B-3E18-DC05-1A74-BC0CD42E9461}"/>
                  </a:ext>
                </a:extLst>
              </p:cNvPr>
              <p:cNvSpPr txBox="1"/>
              <p:nvPr/>
            </p:nvSpPr>
            <p:spPr>
              <a:xfrm>
                <a:off x="27277378" y="10142841"/>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𝑅𝑒𝑎𝑙</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161" name="テキスト ボックス 1160">
                <a:extLst>
                  <a:ext uri="{FF2B5EF4-FFF2-40B4-BE49-F238E27FC236}">
                    <a16:creationId xmlns:a16="http://schemas.microsoft.com/office/drawing/2014/main" id="{964D0C1D-AC63-ADC2-E289-9EAF6C3EF0C0}"/>
                  </a:ext>
                </a:extLst>
              </p:cNvPr>
              <p:cNvSpPr txBox="1">
                <a:spLocks noRot="1" noChangeAspect="1" noMove="1" noResize="1" noEditPoints="1" noAdjustHandles="1" noChangeArrowheads="1" noChangeShapeType="1" noTextEdit="1"/>
              </p:cNvSpPr>
              <p:nvPr/>
            </p:nvSpPr>
            <p:spPr>
              <a:xfrm>
                <a:off x="27277378" y="10142841"/>
                <a:ext cx="1585290" cy="584775"/>
              </a:xfrm>
              <a:prstGeom prst="rect">
                <a:avLst/>
              </a:prstGeom>
              <a:blipFill>
                <a:blip r:embed="rId25"/>
                <a:stretch>
                  <a:fillRect b="-2128"/>
                </a:stretch>
              </a:blipFill>
              <a:ln w="38100">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62" name="テキスト ボックス 1161">
                <a:extLst>
                  <a:ext uri="{FF2B5EF4-FFF2-40B4-BE49-F238E27FC236}">
                    <a16:creationId xmlns:a16="http://schemas.microsoft.com/office/drawing/2014/main" id="{91725B37-D57D-B4AB-EB8F-E375E3E394D9}"/>
                  </a:ext>
                </a:extLst>
              </p:cNvPr>
              <p:cNvSpPr txBox="1"/>
              <p:nvPr/>
            </p:nvSpPr>
            <p:spPr>
              <a:xfrm>
                <a:off x="27278217" y="10751734"/>
                <a:ext cx="1585290"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𝐹𝑎𝑘𝑒</m:t>
                      </m:r>
                    </m:oMath>
                  </m:oMathPara>
                </a14:m>
                <a:endParaRPr kumimoji="1" lang="ja-JP" altLang="en-US" sz="3200">
                  <a:latin typeface="MS PGothic" panose="020B0600070205080204" pitchFamily="34" charset="-128"/>
                  <a:ea typeface="MS PGothic" panose="020B0600070205080204" pitchFamily="34" charset="-128"/>
                </a:endParaRPr>
              </a:p>
            </p:txBody>
          </p:sp>
        </mc:Choice>
        <mc:Fallback xmlns="">
          <p:sp>
            <p:nvSpPr>
              <p:cNvPr id="1162" name="テキスト ボックス 1161">
                <a:extLst>
                  <a:ext uri="{FF2B5EF4-FFF2-40B4-BE49-F238E27FC236}">
                    <a16:creationId xmlns:a16="http://schemas.microsoft.com/office/drawing/2014/main" id="{4F224CFB-CFAB-2B07-35AD-CCAAAB4687D1}"/>
                  </a:ext>
                </a:extLst>
              </p:cNvPr>
              <p:cNvSpPr txBox="1">
                <a:spLocks noRot="1" noChangeAspect="1" noMove="1" noResize="1" noEditPoints="1" noAdjustHandles="1" noChangeArrowheads="1" noChangeShapeType="1" noTextEdit="1"/>
              </p:cNvSpPr>
              <p:nvPr/>
            </p:nvSpPr>
            <p:spPr>
              <a:xfrm>
                <a:off x="27278217" y="10751734"/>
                <a:ext cx="1585290" cy="584775"/>
              </a:xfrm>
              <a:prstGeom prst="rect">
                <a:avLst/>
              </a:prstGeom>
              <a:blipFill>
                <a:blip r:embed="rId26"/>
                <a:stretch>
                  <a:fillRect b="-2128"/>
                </a:stretch>
              </a:blipFill>
              <a:ln w="38100">
                <a:noFill/>
              </a:ln>
            </p:spPr>
            <p:txBody>
              <a:bodyPr/>
              <a:lstStyle/>
              <a:p>
                <a:r>
                  <a:rPr lang="ja-JP" altLang="en-US">
                    <a:noFill/>
                  </a:rPr>
                  <a:t> </a:t>
                </a:r>
              </a:p>
            </p:txBody>
          </p:sp>
        </mc:Fallback>
      </mc:AlternateContent>
      <p:sp>
        <p:nvSpPr>
          <p:cNvPr id="1176" name="テキスト ボックス 1175">
            <a:extLst>
              <a:ext uri="{FF2B5EF4-FFF2-40B4-BE49-F238E27FC236}">
                <a16:creationId xmlns:a16="http://schemas.microsoft.com/office/drawing/2014/main" id="{798FEAA2-57A4-ECF0-692E-14620C32D296}"/>
              </a:ext>
            </a:extLst>
          </p:cNvPr>
          <p:cNvSpPr txBox="1"/>
          <p:nvPr/>
        </p:nvSpPr>
        <p:spPr>
          <a:xfrm>
            <a:off x="19882431" y="11239699"/>
            <a:ext cx="5815705"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7</a:t>
            </a:r>
            <a:r>
              <a:rPr kumimoji="1" lang="ja-JP" altLang="en-US" sz="3200">
                <a:latin typeface="MS PGothic" panose="020B0600070205080204" pitchFamily="34" charset="-128"/>
                <a:ea typeface="MS PGothic" panose="020B0600070205080204" pitchFamily="34" charset="-128"/>
              </a:rPr>
              <a:t>　</a:t>
            </a:r>
            <a:r>
              <a:rPr kumimoji="1" lang="en-US" altLang="ja-JP" sz="3200" dirty="0">
                <a:latin typeface="MS PGothic" panose="020B0600070205080204" pitchFamily="34" charset="-128"/>
                <a:ea typeface="MS PGothic" panose="020B0600070205080204" pitchFamily="34" charset="-128"/>
              </a:rPr>
              <a:t>All</a:t>
            </a:r>
            <a:r>
              <a:rPr kumimoji="1" lang="ja-JP" altLang="en-US" sz="3200">
                <a:latin typeface="MS PGothic" panose="020B0600070205080204" pitchFamily="34" charset="-128"/>
                <a:ea typeface="MS PGothic" panose="020B0600070205080204" pitchFamily="34" charset="-128"/>
              </a:rPr>
              <a:t>の構造</a:t>
            </a:r>
          </a:p>
        </p:txBody>
      </p:sp>
      <p:graphicFrame>
        <p:nvGraphicFramePr>
          <p:cNvPr id="1177" name="表 1176">
            <a:extLst>
              <a:ext uri="{FF2B5EF4-FFF2-40B4-BE49-F238E27FC236}">
                <a16:creationId xmlns:a16="http://schemas.microsoft.com/office/drawing/2014/main" id="{FE359103-CFA8-449B-1276-93D2984E4D57}"/>
              </a:ext>
            </a:extLst>
          </p:cNvPr>
          <p:cNvGraphicFramePr>
            <a:graphicFrameLocks noGrp="1"/>
          </p:cNvGraphicFramePr>
          <p:nvPr/>
        </p:nvGraphicFramePr>
        <p:xfrm>
          <a:off x="15435309" y="14037365"/>
          <a:ext cx="14724512" cy="2694030"/>
        </p:xfrm>
        <a:graphic>
          <a:graphicData uri="http://schemas.openxmlformats.org/drawingml/2006/table">
            <a:tbl>
              <a:tblPr firstRow="1" bandRow="1">
                <a:tableStyleId>{5C22544A-7EE6-4342-B048-85BDC9FD1C3A}</a:tableStyleId>
              </a:tblPr>
              <a:tblGrid>
                <a:gridCol w="1851086">
                  <a:extLst>
                    <a:ext uri="{9D8B030D-6E8A-4147-A177-3AD203B41FA5}">
                      <a16:colId xmlns:a16="http://schemas.microsoft.com/office/drawing/2014/main" val="1006599521"/>
                    </a:ext>
                  </a:extLst>
                </a:gridCol>
                <a:gridCol w="1851086">
                  <a:extLst>
                    <a:ext uri="{9D8B030D-6E8A-4147-A177-3AD203B41FA5}">
                      <a16:colId xmlns:a16="http://schemas.microsoft.com/office/drawing/2014/main" val="1129127037"/>
                    </a:ext>
                  </a:extLst>
                </a:gridCol>
                <a:gridCol w="1851086">
                  <a:extLst>
                    <a:ext uri="{9D8B030D-6E8A-4147-A177-3AD203B41FA5}">
                      <a16:colId xmlns:a16="http://schemas.microsoft.com/office/drawing/2014/main" val="1069729706"/>
                    </a:ext>
                  </a:extLst>
                </a:gridCol>
                <a:gridCol w="1851086">
                  <a:extLst>
                    <a:ext uri="{9D8B030D-6E8A-4147-A177-3AD203B41FA5}">
                      <a16:colId xmlns:a16="http://schemas.microsoft.com/office/drawing/2014/main" val="1391522219"/>
                    </a:ext>
                  </a:extLst>
                </a:gridCol>
                <a:gridCol w="1851086">
                  <a:extLst>
                    <a:ext uri="{9D8B030D-6E8A-4147-A177-3AD203B41FA5}">
                      <a16:colId xmlns:a16="http://schemas.microsoft.com/office/drawing/2014/main" val="3237086396"/>
                    </a:ext>
                  </a:extLst>
                </a:gridCol>
                <a:gridCol w="1851086">
                  <a:extLst>
                    <a:ext uri="{9D8B030D-6E8A-4147-A177-3AD203B41FA5}">
                      <a16:colId xmlns:a16="http://schemas.microsoft.com/office/drawing/2014/main" val="3822305079"/>
                    </a:ext>
                  </a:extLst>
                </a:gridCol>
                <a:gridCol w="1851086">
                  <a:extLst>
                    <a:ext uri="{9D8B030D-6E8A-4147-A177-3AD203B41FA5}">
                      <a16:colId xmlns:a16="http://schemas.microsoft.com/office/drawing/2014/main" val="2005082671"/>
                    </a:ext>
                  </a:extLst>
                </a:gridCol>
                <a:gridCol w="1766910">
                  <a:extLst>
                    <a:ext uri="{9D8B030D-6E8A-4147-A177-3AD203B41FA5}">
                      <a16:colId xmlns:a16="http://schemas.microsoft.com/office/drawing/2014/main" val="1626923288"/>
                    </a:ext>
                  </a:extLst>
                </a:gridCol>
              </a:tblGrid>
              <a:tr h="507793">
                <a:tc>
                  <a:txBody>
                    <a:bodyPr/>
                    <a:lstStyle/>
                    <a:p>
                      <a:pPr algn="ct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tc>
                  <a:txBody>
                    <a:bodyPr/>
                    <a:lstStyle/>
                    <a:p>
                      <a:pPr algn="ctr"/>
                      <a:r>
                        <a:rPr kumimoji="1" lang="en-US" altLang="ja-JP" sz="3200" b="0" dirty="0" err="1">
                          <a:latin typeface="MS PGothic" panose="020B0600070205080204" pitchFamily="34" charset="-128"/>
                          <a:ea typeface="MS PGothic" panose="020B0600070205080204" pitchFamily="34" charset="-128"/>
                        </a:rPr>
                        <a:t>BigGAN</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ADM</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GLIDE</a:t>
                      </a:r>
                    </a:p>
                  </a:txBody>
                  <a:tcPr marL="85210" marR="85210" marT="42605" marB="42605" anchor="ct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SDv4</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SDv5</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ImageNet</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tc>
                  <a:txBody>
                    <a:bodyPr/>
                    <a:lstStyle/>
                    <a:p>
                      <a:pPr algn="ctr"/>
                      <a:r>
                        <a:rPr kumimoji="1" lang="en-US" altLang="ja-JP" sz="3200" b="0" dirty="0">
                          <a:latin typeface="MS PGothic" panose="020B0600070205080204" pitchFamily="34" charset="-128"/>
                          <a:ea typeface="MS PGothic" panose="020B0600070205080204" pitchFamily="34" charset="-128"/>
                        </a:rPr>
                        <a:t>Flickr30k</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solidFill>
                      <a:srgbClr val="0070C0"/>
                    </a:solidFill>
                  </a:tcPr>
                </a:tc>
                <a:extLst>
                  <a:ext uri="{0D108BD9-81ED-4DB2-BD59-A6C34878D82A}">
                    <a16:rowId xmlns:a16="http://schemas.microsoft.com/office/drawing/2014/main" val="4294180002"/>
                  </a:ext>
                </a:extLst>
              </a:tr>
              <a:tr h="610764">
                <a:tc>
                  <a:txBody>
                    <a:bodyPr/>
                    <a:lstStyle/>
                    <a:p>
                      <a:pPr algn="ctr"/>
                      <a:r>
                        <a:rPr kumimoji="1" lang="ja-JP" altLang="en-US" sz="3200" b="0">
                          <a:latin typeface="MS PGothic" panose="020B0600070205080204" pitchFamily="34" charset="-128"/>
                          <a:ea typeface="MS PGothic" panose="020B0600070205080204" pitchFamily="34" charset="-128"/>
                        </a:rPr>
                        <a:t>学習</a:t>
                      </a:r>
                      <a:endParaRPr kumimoji="1" lang="en-US" altLang="ja-JP" sz="3200" b="0" dirty="0">
                        <a:latin typeface="MS PGothic" panose="020B0600070205080204" pitchFamily="34" charset="-128"/>
                        <a:ea typeface="MS PGothic" panose="020B0600070205080204" pitchFamily="34" charset="-128"/>
                      </a:endParaRPr>
                    </a:p>
                    <a:p>
                      <a:pPr algn="ctr"/>
                      <a:r>
                        <a:rPr kumimoji="1" lang="ja-JP" altLang="en-US" sz="3200" b="0">
                          <a:latin typeface="MS PGothic" panose="020B0600070205080204" pitchFamily="34" charset="-128"/>
                          <a:ea typeface="MS PGothic" panose="020B0600070205080204" pitchFamily="34" charset="-128"/>
                        </a:rPr>
                        <a:t>データ</a:t>
                      </a: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162,000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162,000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162,000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162,000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166,000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153,274</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extLst>
                  <a:ext uri="{0D108BD9-81ED-4DB2-BD59-A6C34878D82A}">
                    <a16:rowId xmlns:a16="http://schemas.microsoft.com/office/drawing/2014/main" val="3850057749"/>
                  </a:ext>
                </a:extLst>
              </a:tr>
              <a:tr h="583864">
                <a:tc>
                  <a:txBody>
                    <a:bodyPr/>
                    <a:lstStyle/>
                    <a:p>
                      <a:pPr algn="ctr"/>
                      <a:r>
                        <a:rPr kumimoji="1" lang="ja-JP" altLang="en-US" sz="3200" b="0">
                          <a:latin typeface="MS PGothic" panose="020B0600070205080204" pitchFamily="34" charset="-128"/>
                          <a:ea typeface="MS PGothic" panose="020B0600070205080204" pitchFamily="34" charset="-128"/>
                        </a:rPr>
                        <a:t>テストデータ</a:t>
                      </a: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6,000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6,000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6,000</a:t>
                      </a:r>
                      <a:endParaRPr kumimoji="1" lang="ja-JP" altLang="en-US" sz="3200" b="0" dirty="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6,000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8,000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8,000</a:t>
                      </a:r>
                      <a:endParaRPr kumimoji="1" lang="ja-JP" altLang="en-US" sz="3200" b="0">
                        <a:latin typeface="MS PGothic" panose="020B0600070205080204" pitchFamily="34" charset="-128"/>
                        <a:ea typeface="MS PGothic" panose="020B0600070205080204" pitchFamily="34" charset="-128"/>
                      </a:endParaRPr>
                    </a:p>
                  </a:txBody>
                  <a:tcPr marL="85210" marR="85210" marT="42605" marB="42605" anchor="ctr"/>
                </a:tc>
                <a:tc>
                  <a:txBody>
                    <a:bodyPr/>
                    <a:lstStyle/>
                    <a:p>
                      <a:pPr algn="ctr"/>
                      <a:r>
                        <a:rPr kumimoji="1" lang="en-US" altLang="ja-JP" sz="3200" b="0" dirty="0">
                          <a:latin typeface="MS PGothic" panose="020B0600070205080204" pitchFamily="34" charset="-128"/>
                          <a:ea typeface="MS PGothic" panose="020B0600070205080204" pitchFamily="34" charset="-128"/>
                        </a:rPr>
                        <a:t>31,783</a:t>
                      </a:r>
                      <a:endParaRPr kumimoji="1" lang="ja-JP" altLang="en-US" sz="3200" b="0" dirty="0">
                        <a:latin typeface="MS PGothic" panose="020B0600070205080204" pitchFamily="34" charset="-128"/>
                        <a:ea typeface="MS PGothic" panose="020B0600070205080204" pitchFamily="34" charset="-128"/>
                      </a:endParaRPr>
                    </a:p>
                  </a:txBody>
                  <a:tcPr marL="85210" marR="85210" marT="42605" marB="42605" anchor="ctr"/>
                </a:tc>
                <a:extLst>
                  <a:ext uri="{0D108BD9-81ED-4DB2-BD59-A6C34878D82A}">
                    <a16:rowId xmlns:a16="http://schemas.microsoft.com/office/drawing/2014/main" val="2157235240"/>
                  </a:ext>
                </a:extLst>
              </a:tr>
            </a:tbl>
          </a:graphicData>
        </a:graphic>
      </p:graphicFrame>
      <p:pic>
        <p:nvPicPr>
          <p:cNvPr id="1179" name="図 1178">
            <a:extLst>
              <a:ext uri="{FF2B5EF4-FFF2-40B4-BE49-F238E27FC236}">
                <a16:creationId xmlns:a16="http://schemas.microsoft.com/office/drawing/2014/main" id="{1ACF0D7E-20A0-071E-9347-CD9647C3DC40}"/>
              </a:ext>
            </a:extLst>
          </p:cNvPr>
          <p:cNvPicPr>
            <a:picLocks noChangeAspect="1"/>
          </p:cNvPicPr>
          <p:nvPr/>
        </p:nvPicPr>
        <p:blipFill rotWithShape="1">
          <a:blip r:embed="rId27"/>
          <a:srcRect l="9561" t="33514" r="11027" b="14607"/>
          <a:stretch/>
        </p:blipFill>
        <p:spPr>
          <a:xfrm>
            <a:off x="15926863" y="17336046"/>
            <a:ext cx="13785594" cy="5849005"/>
          </a:xfrm>
          <a:prstGeom prst="rect">
            <a:avLst/>
          </a:prstGeom>
        </p:spPr>
      </p:pic>
      <p:pic>
        <p:nvPicPr>
          <p:cNvPr id="1180" name="図 1179">
            <a:extLst>
              <a:ext uri="{FF2B5EF4-FFF2-40B4-BE49-F238E27FC236}">
                <a16:creationId xmlns:a16="http://schemas.microsoft.com/office/drawing/2014/main" id="{630549CB-2D4C-D478-2E1D-C3A20589DF0C}"/>
              </a:ext>
            </a:extLst>
          </p:cNvPr>
          <p:cNvPicPr>
            <a:picLocks noChangeAspect="1"/>
          </p:cNvPicPr>
          <p:nvPr/>
        </p:nvPicPr>
        <p:blipFill rotWithShape="1">
          <a:blip r:embed="rId28"/>
          <a:srcRect l="9422" t="30496" r="11049" b="9952"/>
          <a:stretch/>
        </p:blipFill>
        <p:spPr>
          <a:xfrm>
            <a:off x="16857762" y="27443195"/>
            <a:ext cx="12004906" cy="5838219"/>
          </a:xfrm>
          <a:prstGeom prst="rect">
            <a:avLst/>
          </a:prstGeom>
        </p:spPr>
      </p:pic>
      <p:cxnSp>
        <p:nvCxnSpPr>
          <p:cNvPr id="1183" name="直線コネクタ 1182">
            <a:extLst>
              <a:ext uri="{FF2B5EF4-FFF2-40B4-BE49-F238E27FC236}">
                <a16:creationId xmlns:a16="http://schemas.microsoft.com/office/drawing/2014/main" id="{6D7F4764-E67D-13B9-8A4F-E7288FE5CCC0}"/>
              </a:ext>
            </a:extLst>
          </p:cNvPr>
          <p:cNvCxnSpPr>
            <a:cxnSpLocks/>
          </p:cNvCxnSpPr>
          <p:nvPr/>
        </p:nvCxnSpPr>
        <p:spPr>
          <a:xfrm>
            <a:off x="19297781" y="29452963"/>
            <a:ext cx="2077668" cy="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85" name="直線コネクタ 1184">
            <a:extLst>
              <a:ext uri="{FF2B5EF4-FFF2-40B4-BE49-F238E27FC236}">
                <a16:creationId xmlns:a16="http://schemas.microsoft.com/office/drawing/2014/main" id="{A0999FA0-3257-7B0B-2CA7-F44A6EBC3D0F}"/>
              </a:ext>
            </a:extLst>
          </p:cNvPr>
          <p:cNvCxnSpPr>
            <a:cxnSpLocks/>
          </p:cNvCxnSpPr>
          <p:nvPr/>
        </p:nvCxnSpPr>
        <p:spPr>
          <a:xfrm>
            <a:off x="21375449" y="30052466"/>
            <a:ext cx="1574268" cy="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87" name="直線コネクタ 1186">
            <a:extLst>
              <a:ext uri="{FF2B5EF4-FFF2-40B4-BE49-F238E27FC236}">
                <a16:creationId xmlns:a16="http://schemas.microsoft.com/office/drawing/2014/main" id="{9BD70D0D-2A26-B0E0-5C4F-E2F2348AF378}"/>
              </a:ext>
            </a:extLst>
          </p:cNvPr>
          <p:cNvCxnSpPr>
            <a:cxnSpLocks/>
          </p:cNvCxnSpPr>
          <p:nvPr/>
        </p:nvCxnSpPr>
        <p:spPr>
          <a:xfrm>
            <a:off x="22949717" y="30662702"/>
            <a:ext cx="1721709" cy="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89" name="直線コネクタ 1188">
            <a:extLst>
              <a:ext uri="{FF2B5EF4-FFF2-40B4-BE49-F238E27FC236}">
                <a16:creationId xmlns:a16="http://schemas.microsoft.com/office/drawing/2014/main" id="{159255A9-0373-A7B0-2DC6-0631F3665504}"/>
              </a:ext>
            </a:extLst>
          </p:cNvPr>
          <p:cNvCxnSpPr>
            <a:cxnSpLocks/>
          </p:cNvCxnSpPr>
          <p:nvPr/>
        </p:nvCxnSpPr>
        <p:spPr>
          <a:xfrm>
            <a:off x="24671426" y="31286878"/>
            <a:ext cx="1818927" cy="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90" name="直線コネクタ 1189">
            <a:extLst>
              <a:ext uri="{FF2B5EF4-FFF2-40B4-BE49-F238E27FC236}">
                <a16:creationId xmlns:a16="http://schemas.microsoft.com/office/drawing/2014/main" id="{3F703B15-6BE0-66CA-D802-80A26F9C757E}"/>
              </a:ext>
            </a:extLst>
          </p:cNvPr>
          <p:cNvCxnSpPr>
            <a:cxnSpLocks/>
          </p:cNvCxnSpPr>
          <p:nvPr/>
        </p:nvCxnSpPr>
        <p:spPr>
          <a:xfrm>
            <a:off x="26490353" y="31922992"/>
            <a:ext cx="2042524" cy="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92" name="直線コネクタ 1191">
            <a:extLst>
              <a:ext uri="{FF2B5EF4-FFF2-40B4-BE49-F238E27FC236}">
                <a16:creationId xmlns:a16="http://schemas.microsoft.com/office/drawing/2014/main" id="{3E7C8ED5-7FD4-0F19-227C-5DACA612F256}"/>
              </a:ext>
            </a:extLst>
          </p:cNvPr>
          <p:cNvCxnSpPr>
            <a:cxnSpLocks/>
          </p:cNvCxnSpPr>
          <p:nvPr/>
        </p:nvCxnSpPr>
        <p:spPr>
          <a:xfrm flipV="1">
            <a:off x="21375449" y="29452963"/>
            <a:ext cx="0" cy="599503"/>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96" name="直線コネクタ 1195">
            <a:extLst>
              <a:ext uri="{FF2B5EF4-FFF2-40B4-BE49-F238E27FC236}">
                <a16:creationId xmlns:a16="http://schemas.microsoft.com/office/drawing/2014/main" id="{ECB4A4DD-1119-4D53-552F-AD0AEFB03A34}"/>
              </a:ext>
            </a:extLst>
          </p:cNvPr>
          <p:cNvCxnSpPr>
            <a:cxnSpLocks/>
          </p:cNvCxnSpPr>
          <p:nvPr/>
        </p:nvCxnSpPr>
        <p:spPr>
          <a:xfrm flipV="1">
            <a:off x="22949717" y="30052466"/>
            <a:ext cx="0" cy="610236"/>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99" name="直線コネクタ 1198">
            <a:extLst>
              <a:ext uri="{FF2B5EF4-FFF2-40B4-BE49-F238E27FC236}">
                <a16:creationId xmlns:a16="http://schemas.microsoft.com/office/drawing/2014/main" id="{68AC61F5-45E8-0481-F7D6-F3F3D4B213F8}"/>
              </a:ext>
            </a:extLst>
          </p:cNvPr>
          <p:cNvCxnSpPr>
            <a:cxnSpLocks/>
          </p:cNvCxnSpPr>
          <p:nvPr/>
        </p:nvCxnSpPr>
        <p:spPr>
          <a:xfrm flipV="1">
            <a:off x="24671426" y="30662702"/>
            <a:ext cx="0" cy="624177"/>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03" name="直線コネクタ 1202">
            <a:extLst>
              <a:ext uri="{FF2B5EF4-FFF2-40B4-BE49-F238E27FC236}">
                <a16:creationId xmlns:a16="http://schemas.microsoft.com/office/drawing/2014/main" id="{275EBF08-222F-2679-ED64-D31E42EAA823}"/>
              </a:ext>
            </a:extLst>
          </p:cNvPr>
          <p:cNvCxnSpPr>
            <a:cxnSpLocks/>
          </p:cNvCxnSpPr>
          <p:nvPr/>
        </p:nvCxnSpPr>
        <p:spPr>
          <a:xfrm flipV="1">
            <a:off x="26490353" y="31298815"/>
            <a:ext cx="0" cy="624177"/>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210" name="テキスト ボックス 1209">
            <a:extLst>
              <a:ext uri="{FF2B5EF4-FFF2-40B4-BE49-F238E27FC236}">
                <a16:creationId xmlns:a16="http://schemas.microsoft.com/office/drawing/2014/main" id="{3206BCE8-F393-3675-C9B9-DF81111BCEF1}"/>
              </a:ext>
            </a:extLst>
          </p:cNvPr>
          <p:cNvSpPr txBox="1"/>
          <p:nvPr/>
        </p:nvSpPr>
        <p:spPr>
          <a:xfrm>
            <a:off x="4172574" y="30155568"/>
            <a:ext cx="1796760" cy="584775"/>
          </a:xfrm>
          <a:prstGeom prst="rect">
            <a:avLst/>
          </a:prstGeom>
          <a:noFill/>
        </p:spPr>
        <p:txBody>
          <a:bodyPr wrap="square" rtlCol="0">
            <a:spAutoFit/>
          </a:bodyPr>
          <a:lstStyle/>
          <a:p>
            <a:pPr algn="ctr"/>
            <a:r>
              <a:rPr kumimoji="1" lang="ja-JP" altLang="en-US" sz="3200">
                <a:latin typeface="MS PGothic" panose="020B0600070205080204" pitchFamily="34" charset="-128"/>
                <a:ea typeface="MS PGothic" panose="020B0600070205080204" pitchFamily="34" charset="-128"/>
              </a:rPr>
              <a:t>パッチ化</a:t>
            </a:r>
            <a:endParaRPr kumimoji="1" lang="en-US" altLang="ja-JP" sz="3200" dirty="0">
              <a:latin typeface="MS PGothic" panose="020B0600070205080204" pitchFamily="34" charset="-128"/>
              <a:ea typeface="MS PGothic" panose="020B0600070205080204" pitchFamily="34" charset="-128"/>
            </a:endParaRPr>
          </a:p>
        </p:txBody>
      </p:sp>
      <p:sp>
        <p:nvSpPr>
          <p:cNvPr id="1181" name="テキスト ボックス 1180">
            <a:extLst>
              <a:ext uri="{FF2B5EF4-FFF2-40B4-BE49-F238E27FC236}">
                <a16:creationId xmlns:a16="http://schemas.microsoft.com/office/drawing/2014/main" id="{47F6221A-9615-D3E9-CC2C-AAC5267559E2}"/>
              </a:ext>
            </a:extLst>
          </p:cNvPr>
          <p:cNvSpPr txBox="1"/>
          <p:nvPr/>
        </p:nvSpPr>
        <p:spPr>
          <a:xfrm>
            <a:off x="19872058" y="26921131"/>
            <a:ext cx="5851014" cy="584775"/>
          </a:xfrm>
          <a:prstGeom prst="rect">
            <a:avLst/>
          </a:prstGeom>
          <a:noFill/>
        </p:spPr>
        <p:txBody>
          <a:bodyPr wrap="square" rtlCol="0">
            <a:spAutoFit/>
          </a:bodyPr>
          <a:lstStyle/>
          <a:p>
            <a:pPr algn="ctr"/>
            <a:r>
              <a:rPr kumimoji="1" lang="ja-JP" altLang="en-US" sz="3200" dirty="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5</a:t>
            </a:r>
            <a:r>
              <a:rPr kumimoji="1" lang="ja-JP" altLang="en-US" sz="3200" dirty="0">
                <a:latin typeface="MS PGothic" panose="020B0600070205080204" pitchFamily="34" charset="-128"/>
                <a:ea typeface="MS PGothic" panose="020B0600070205080204" pitchFamily="34" charset="-128"/>
              </a:rPr>
              <a:t>　実験結果</a:t>
            </a:r>
            <a:r>
              <a:rPr kumimoji="1" lang="en-US" altLang="ja-JP" sz="3200" dirty="0">
                <a:latin typeface="MS PGothic" panose="020B0600070205080204" pitchFamily="34" charset="-128"/>
                <a:ea typeface="MS PGothic" panose="020B0600070205080204" pitchFamily="34" charset="-128"/>
              </a:rPr>
              <a:t>Ⅱ</a:t>
            </a:r>
          </a:p>
        </p:txBody>
      </p:sp>
      <p:graphicFrame>
        <p:nvGraphicFramePr>
          <p:cNvPr id="20" name="表 19">
            <a:extLst>
              <a:ext uri="{FF2B5EF4-FFF2-40B4-BE49-F238E27FC236}">
                <a16:creationId xmlns:a16="http://schemas.microsoft.com/office/drawing/2014/main" id="{9D0EE765-9CAA-CFBF-C617-72A8841F4023}"/>
              </a:ext>
            </a:extLst>
          </p:cNvPr>
          <p:cNvGraphicFramePr>
            <a:graphicFrameLocks noGrp="1"/>
          </p:cNvGraphicFramePr>
          <p:nvPr>
            <p:extLst>
              <p:ext uri="{D42A27DB-BD31-4B8C-83A1-F6EECF244321}">
                <p14:modId xmlns:p14="http://schemas.microsoft.com/office/powerpoint/2010/main" val="918087183"/>
              </p:ext>
            </p:extLst>
          </p:nvPr>
        </p:nvGraphicFramePr>
        <p:xfrm>
          <a:off x="6351621" y="20400712"/>
          <a:ext cx="8483378" cy="2072640"/>
        </p:xfrm>
        <a:graphic>
          <a:graphicData uri="http://schemas.openxmlformats.org/drawingml/2006/table">
            <a:tbl>
              <a:tblPr firstRow="1" bandRow="1">
                <a:tableStyleId>{5C22544A-7EE6-4342-B048-85BDC9FD1C3A}</a:tableStyleId>
              </a:tblPr>
              <a:tblGrid>
                <a:gridCol w="1829974">
                  <a:extLst>
                    <a:ext uri="{9D8B030D-6E8A-4147-A177-3AD203B41FA5}">
                      <a16:colId xmlns:a16="http://schemas.microsoft.com/office/drawing/2014/main" val="1454048403"/>
                    </a:ext>
                  </a:extLst>
                </a:gridCol>
                <a:gridCol w="1663351">
                  <a:extLst>
                    <a:ext uri="{9D8B030D-6E8A-4147-A177-3AD203B41FA5}">
                      <a16:colId xmlns:a16="http://schemas.microsoft.com/office/drawing/2014/main" val="1780659337"/>
                    </a:ext>
                  </a:extLst>
                </a:gridCol>
                <a:gridCol w="1663351">
                  <a:extLst>
                    <a:ext uri="{9D8B030D-6E8A-4147-A177-3AD203B41FA5}">
                      <a16:colId xmlns:a16="http://schemas.microsoft.com/office/drawing/2014/main" val="1821318542"/>
                    </a:ext>
                  </a:extLst>
                </a:gridCol>
                <a:gridCol w="1663351">
                  <a:extLst>
                    <a:ext uri="{9D8B030D-6E8A-4147-A177-3AD203B41FA5}">
                      <a16:colId xmlns:a16="http://schemas.microsoft.com/office/drawing/2014/main" val="1917327389"/>
                    </a:ext>
                  </a:extLst>
                </a:gridCol>
                <a:gridCol w="1663351">
                  <a:extLst>
                    <a:ext uri="{9D8B030D-6E8A-4147-A177-3AD203B41FA5}">
                      <a16:colId xmlns:a16="http://schemas.microsoft.com/office/drawing/2014/main" val="4173293513"/>
                    </a:ext>
                  </a:extLst>
                </a:gridCol>
              </a:tblGrid>
              <a:tr h="280945">
                <a:tc rowSpan="2">
                  <a:txBody>
                    <a:bodyPr/>
                    <a:lstStyle/>
                    <a:p>
                      <a:pPr algn="ctr"/>
                      <a:r>
                        <a:rPr kumimoji="1" lang="ja-JP" altLang="en-US" sz="2800" b="0" spc="-150" baseline="0">
                          <a:solidFill>
                            <a:schemeClr val="bg1"/>
                          </a:solidFill>
                          <a:latin typeface="ＭＳ Ｐゴシック" panose="020B0600070205080204" pitchFamily="50" charset="-128"/>
                          <a:ea typeface="ＭＳ Ｐゴシック" panose="020B0600070205080204" pitchFamily="50" charset="-128"/>
                        </a:rPr>
                        <a:t>画像分類</a:t>
                      </a:r>
                      <a:endParaRPr kumimoji="1" lang="en-US" altLang="ja-JP" sz="2800" b="0" spc="-150" baseline="0" dirty="0">
                        <a:solidFill>
                          <a:schemeClr val="bg1"/>
                        </a:solidFill>
                        <a:latin typeface="ＭＳ Ｐゴシック" panose="020B0600070205080204" pitchFamily="50" charset="-128"/>
                        <a:ea typeface="ＭＳ Ｐゴシック" panose="020B0600070205080204" pitchFamily="50" charset="-128"/>
                      </a:endParaRPr>
                    </a:p>
                    <a:p>
                      <a:pPr algn="ctr"/>
                      <a:r>
                        <a:rPr kumimoji="1" lang="ja-JP" altLang="en-US" sz="2800" b="0" spc="-150" baseline="0">
                          <a:solidFill>
                            <a:schemeClr val="bg1"/>
                          </a:solidFill>
                          <a:latin typeface="ＭＳ Ｐゴシック" panose="020B0600070205080204" pitchFamily="50" charset="-128"/>
                          <a:ea typeface="ＭＳ Ｐゴシック" panose="020B0600070205080204" pitchFamily="50" charset="-128"/>
                        </a:rPr>
                        <a:t>モデル</a:t>
                      </a:r>
                      <a:endParaRPr kumimoji="1" lang="ja-JP" altLang="en-US" sz="2800" b="0" spc="-150" baseline="0" dirty="0">
                        <a:solidFill>
                          <a:schemeClr val="bg1"/>
                        </a:solidFill>
                        <a:latin typeface="ＭＳ Ｐゴシック" panose="020B0600070205080204" pitchFamily="50" charset="-128"/>
                        <a:ea typeface="ＭＳ Ｐゴシック" panose="020B0600070205080204" pitchFamily="50" charset="-128"/>
                      </a:endParaRPr>
                    </a:p>
                  </a:txBody>
                  <a:tcPr anchor="ctr">
                    <a:solidFill>
                      <a:srgbClr val="0070C0"/>
                    </a:solidFill>
                  </a:tcPr>
                </a:tc>
                <a:tc>
                  <a:txBody>
                    <a:bodyPr/>
                    <a:lstStyle/>
                    <a:p>
                      <a:pPr algn="ctr"/>
                      <a:r>
                        <a:rPr kumimoji="1" lang="en-US" altLang="ja-JP" sz="2800" b="0" spc="-150" baseline="0" dirty="0">
                          <a:solidFill>
                            <a:schemeClr val="tx1"/>
                          </a:solidFill>
                          <a:latin typeface="ＭＳ Ｐゴシック" panose="020B0600070205080204" pitchFamily="50" charset="-128"/>
                          <a:ea typeface="ＭＳ Ｐゴシック" panose="020B0600070205080204" pitchFamily="50" charset="-128"/>
                        </a:rPr>
                        <a:t>ResNet-50</a:t>
                      </a:r>
                      <a:endParaRPr kumimoji="1" lang="ja-JP" altLang="en-US" sz="2800" b="0" spc="-150" baseline="0" dirty="0">
                        <a:solidFill>
                          <a:schemeClr val="tx1"/>
                        </a:solidFill>
                        <a:latin typeface="ＭＳ Ｐゴシック" panose="020B0600070205080204" pitchFamily="50" charset="-128"/>
                        <a:ea typeface="ＭＳ Ｐゴシック" panose="020B0600070205080204" pitchFamily="50" charset="-128"/>
                      </a:endParaRPr>
                    </a:p>
                  </a:txBody>
                  <a:tcPr anchor="ctr">
                    <a:solidFill>
                      <a:schemeClr val="accent5">
                        <a:lumMod val="60000"/>
                        <a:lumOff val="40000"/>
                      </a:schemeClr>
                    </a:solidFill>
                  </a:tcPr>
                </a:tc>
                <a:tc>
                  <a:txBody>
                    <a:bodyPr/>
                    <a:lstStyle/>
                    <a:p>
                      <a:pPr algn="ctr"/>
                      <a:r>
                        <a:rPr kumimoji="1" lang="en-US" altLang="ja-JP" sz="2800" b="0" spc="-150" baseline="0" dirty="0" err="1">
                          <a:solidFill>
                            <a:schemeClr val="tx1"/>
                          </a:solidFill>
                          <a:latin typeface="ＭＳ Ｐゴシック" panose="020B0600070205080204" pitchFamily="50" charset="-128"/>
                          <a:ea typeface="ＭＳ Ｐゴシック" panose="020B0600070205080204" pitchFamily="50" charset="-128"/>
                        </a:rPr>
                        <a:t>DeiT</a:t>
                      </a:r>
                      <a:r>
                        <a:rPr kumimoji="1" lang="en-US" altLang="ja-JP" sz="2800" b="0" spc="-150" baseline="0" dirty="0">
                          <a:solidFill>
                            <a:schemeClr val="tx1"/>
                          </a:solidFill>
                          <a:latin typeface="ＭＳ Ｐゴシック" panose="020B0600070205080204" pitchFamily="50" charset="-128"/>
                          <a:ea typeface="ＭＳ Ｐゴシック" panose="020B0600070205080204" pitchFamily="50" charset="-128"/>
                        </a:rPr>
                        <a:t>-S</a:t>
                      </a:r>
                      <a:endParaRPr kumimoji="1" lang="ja-JP" altLang="en-US" sz="2800" b="0" spc="-150" baseline="0" dirty="0">
                        <a:solidFill>
                          <a:schemeClr val="tx1"/>
                        </a:solidFill>
                        <a:latin typeface="ＭＳ Ｐゴシック" panose="020B0600070205080204" pitchFamily="50" charset="-128"/>
                        <a:ea typeface="ＭＳ Ｐゴシック" panose="020B0600070205080204" pitchFamily="50" charset="-128"/>
                      </a:endParaRPr>
                    </a:p>
                  </a:txBody>
                  <a:tcPr anchor="ctr">
                    <a:solidFill>
                      <a:schemeClr val="accent5">
                        <a:lumMod val="60000"/>
                        <a:lumOff val="40000"/>
                      </a:schemeClr>
                    </a:solidFill>
                  </a:tcPr>
                </a:tc>
                <a:tc>
                  <a:txBody>
                    <a:bodyPr/>
                    <a:lstStyle/>
                    <a:p>
                      <a:pPr algn="ctr"/>
                      <a:r>
                        <a:rPr kumimoji="1" lang="en-US" altLang="ja-JP" sz="2800" b="0" spc="-150" baseline="0" dirty="0" err="1">
                          <a:solidFill>
                            <a:schemeClr val="tx1"/>
                          </a:solidFill>
                          <a:latin typeface="ＭＳ Ｐゴシック" panose="020B0600070205080204" pitchFamily="50" charset="-128"/>
                          <a:ea typeface="ＭＳ Ｐゴシック" panose="020B0600070205080204" pitchFamily="50" charset="-128"/>
                        </a:rPr>
                        <a:t>Swin</a:t>
                      </a:r>
                      <a:r>
                        <a:rPr kumimoji="1" lang="en-US" altLang="ja-JP" sz="2800" b="0" spc="-150" baseline="0" dirty="0">
                          <a:solidFill>
                            <a:schemeClr val="tx1"/>
                          </a:solidFill>
                          <a:latin typeface="ＭＳ Ｐゴシック" panose="020B0600070205080204" pitchFamily="50" charset="-128"/>
                          <a:ea typeface="ＭＳ Ｐゴシック" panose="020B0600070205080204" pitchFamily="50" charset="-128"/>
                        </a:rPr>
                        <a:t>-T</a:t>
                      </a:r>
                      <a:endParaRPr kumimoji="1" lang="ja-JP" altLang="en-US" sz="2800" b="0" spc="-150" baseline="0" dirty="0">
                        <a:solidFill>
                          <a:schemeClr val="tx1"/>
                        </a:solidFill>
                        <a:latin typeface="ＭＳ Ｐゴシック" panose="020B0600070205080204" pitchFamily="50" charset="-128"/>
                        <a:ea typeface="ＭＳ Ｐゴシック" panose="020B0600070205080204" pitchFamily="50" charset="-128"/>
                      </a:endParaRPr>
                    </a:p>
                  </a:txBody>
                  <a:tcPr anchor="ctr">
                    <a:solidFill>
                      <a:schemeClr val="accent5">
                        <a:lumMod val="60000"/>
                        <a:lumOff val="40000"/>
                      </a:schemeClr>
                    </a:solidFill>
                  </a:tcPr>
                </a:tc>
                <a:tc>
                  <a:txBody>
                    <a:bodyPr/>
                    <a:lstStyle/>
                    <a:p>
                      <a:pPr algn="ctr"/>
                      <a:r>
                        <a:rPr kumimoji="1" lang="en-US" altLang="ja-JP" sz="2800" b="0" spc="-150" baseline="0" dirty="0" err="1">
                          <a:solidFill>
                            <a:schemeClr val="tx1"/>
                          </a:solidFill>
                          <a:latin typeface="ＭＳ Ｐゴシック" panose="020B0600070205080204" pitchFamily="50" charset="-128"/>
                          <a:ea typeface="ＭＳ Ｐゴシック" panose="020B0600070205080204" pitchFamily="50" charset="-128"/>
                        </a:rPr>
                        <a:t>CNNSpot</a:t>
                      </a:r>
                      <a:endParaRPr kumimoji="1" lang="ja-JP" altLang="en-US" sz="2800" b="0" spc="-150" baseline="0" dirty="0">
                        <a:solidFill>
                          <a:schemeClr val="tx1"/>
                        </a:solidFill>
                        <a:latin typeface="ＭＳ Ｐゴシック" panose="020B0600070205080204" pitchFamily="50" charset="-128"/>
                        <a:ea typeface="ＭＳ Ｐゴシック" panose="020B0600070205080204" pitchFamily="50" charset="-128"/>
                      </a:endParaRPr>
                    </a:p>
                  </a:txBody>
                  <a:tcPr anchor="ctr">
                    <a:solidFill>
                      <a:schemeClr val="accent5">
                        <a:lumMod val="60000"/>
                        <a:lumOff val="40000"/>
                      </a:schemeClr>
                    </a:solidFill>
                  </a:tcPr>
                </a:tc>
                <a:extLst>
                  <a:ext uri="{0D108BD9-81ED-4DB2-BD59-A6C34878D82A}">
                    <a16:rowId xmlns:a16="http://schemas.microsoft.com/office/drawing/2014/main" val="1126532769"/>
                  </a:ext>
                </a:extLst>
              </a:tr>
              <a:tr h="497617">
                <a:tc vMerge="1">
                  <a:txBody>
                    <a:bodyPr/>
                    <a:lstStyle/>
                    <a:p>
                      <a:pPr algn="ctr"/>
                      <a:endParaRPr kumimoji="1" lang="ja-JP" altLang="en-US" sz="2800" b="0" spc="-100" baseline="0" dirty="0">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sz="2800" b="0" spc="-150" baseline="0" dirty="0">
                          <a:solidFill>
                            <a:schemeClr val="tx1"/>
                          </a:solidFill>
                          <a:latin typeface="ＭＳ Ｐゴシック" panose="020B0600070205080204" pitchFamily="50" charset="-128"/>
                          <a:ea typeface="ＭＳ Ｐゴシック" panose="020B0600070205080204" pitchFamily="50" charset="-128"/>
                        </a:rPr>
                        <a:t>Spec</a:t>
                      </a:r>
                      <a:endParaRPr kumimoji="1" lang="ja-JP" altLang="en-US" sz="2800" b="0" spc="-150" baseline="0" dirty="0">
                        <a:solidFill>
                          <a:schemeClr val="tx1"/>
                        </a:solidFill>
                        <a:latin typeface="ＭＳ Ｐゴシック" panose="020B0600070205080204" pitchFamily="50" charset="-128"/>
                        <a:ea typeface="ＭＳ Ｐゴシック" panose="020B0600070205080204" pitchFamily="50" charset="-128"/>
                      </a:endParaRPr>
                    </a:p>
                  </a:txBody>
                  <a:tcPr anchor="ctr"/>
                </a:tc>
                <a:tc>
                  <a:txBody>
                    <a:bodyPr/>
                    <a:lstStyle/>
                    <a:p>
                      <a:pPr algn="ctr"/>
                      <a:r>
                        <a:rPr kumimoji="1" lang="en-US" altLang="ja-JP" sz="2800" b="0" spc="-150" baseline="0" dirty="0">
                          <a:solidFill>
                            <a:schemeClr val="tx1"/>
                          </a:solidFill>
                          <a:latin typeface="ＭＳ Ｐゴシック" panose="020B0600070205080204" pitchFamily="50" charset="-128"/>
                          <a:ea typeface="ＭＳ Ｐゴシック" panose="020B0600070205080204" pitchFamily="50" charset="-128"/>
                        </a:rPr>
                        <a:t>F3Ney</a:t>
                      </a:r>
                      <a:endParaRPr kumimoji="1" lang="ja-JP" altLang="en-US" sz="2800" b="0" spc="-150" baseline="0" dirty="0">
                        <a:solidFill>
                          <a:schemeClr val="tx1"/>
                        </a:solidFill>
                        <a:latin typeface="ＭＳ Ｐゴシック" panose="020B0600070205080204" pitchFamily="50" charset="-128"/>
                        <a:ea typeface="ＭＳ Ｐゴシック" panose="020B0600070205080204" pitchFamily="50" charset="-128"/>
                      </a:endParaRPr>
                    </a:p>
                  </a:txBody>
                  <a:tcPr anchor="ctr"/>
                </a:tc>
                <a:tc>
                  <a:txBody>
                    <a:bodyPr/>
                    <a:lstStyle/>
                    <a:p>
                      <a:pPr algn="ctr"/>
                      <a:r>
                        <a:rPr kumimoji="1" lang="en-US" altLang="ja-JP" sz="2800" b="0" spc="-150" baseline="0" dirty="0" err="1">
                          <a:solidFill>
                            <a:schemeClr val="tx1"/>
                          </a:solidFill>
                          <a:latin typeface="ＭＳ Ｐゴシック" panose="020B0600070205080204" pitchFamily="50" charset="-128"/>
                          <a:ea typeface="ＭＳ Ｐゴシック" panose="020B0600070205080204" pitchFamily="50" charset="-128"/>
                        </a:rPr>
                        <a:t>GramNet</a:t>
                      </a:r>
                      <a:endParaRPr kumimoji="1" lang="ja-JP" altLang="en-US" sz="2800" b="0" spc="-150" baseline="0" dirty="0">
                        <a:solidFill>
                          <a:schemeClr val="tx1"/>
                        </a:solidFill>
                        <a:latin typeface="ＭＳ Ｐゴシック" panose="020B0600070205080204" pitchFamily="50" charset="-128"/>
                        <a:ea typeface="ＭＳ Ｐゴシック" panose="020B0600070205080204" pitchFamily="50" charset="-128"/>
                      </a:endParaRPr>
                    </a:p>
                  </a:txBody>
                  <a:tcPr anchor="ctr"/>
                </a:tc>
                <a:tc>
                  <a:txBody>
                    <a:bodyPr/>
                    <a:lstStyle/>
                    <a:p>
                      <a:pPr algn="ctr"/>
                      <a:endParaRPr kumimoji="1" lang="ja-JP" altLang="en-US" sz="2800" b="0" spc="-150" baseline="0" dirty="0">
                        <a:solidFill>
                          <a:schemeClr val="tx1"/>
                        </a:solidFill>
                        <a:latin typeface="ＭＳ Ｐゴシック" panose="020B0600070205080204" pitchFamily="50" charset="-128"/>
                        <a:ea typeface="ＭＳ Ｐゴシック" panose="020B0600070205080204" pitchFamily="50" charset="-128"/>
                      </a:endParaRPr>
                    </a:p>
                  </a:txBody>
                  <a:tcPr anchor="ctr"/>
                </a:tc>
                <a:extLst>
                  <a:ext uri="{0D108BD9-81ED-4DB2-BD59-A6C34878D82A}">
                    <a16:rowId xmlns:a16="http://schemas.microsoft.com/office/drawing/2014/main" val="987965456"/>
                  </a:ext>
                </a:extLst>
              </a:tr>
              <a:tr h="370840">
                <a:tc rowSpan="2">
                  <a:txBody>
                    <a:bodyPr/>
                    <a:lstStyle/>
                    <a:p>
                      <a:pPr algn="ctr"/>
                      <a:r>
                        <a:rPr kumimoji="1" lang="ja-JP" altLang="en-US" sz="2800" b="0" spc="-150" baseline="0" dirty="0">
                          <a:solidFill>
                            <a:schemeClr val="bg1"/>
                          </a:solidFill>
                          <a:latin typeface="ＭＳ Ｐゴシック" panose="020B0600070205080204" pitchFamily="50" charset="-128"/>
                          <a:ea typeface="ＭＳ Ｐゴシック" panose="020B0600070205080204" pitchFamily="50" charset="-128"/>
                        </a:rPr>
                        <a:t>画像生成</a:t>
                      </a:r>
                      <a:r>
                        <a:rPr kumimoji="1" lang="en-US" altLang="ja-JP" sz="2800" b="0" spc="-150" baseline="0" dirty="0">
                          <a:solidFill>
                            <a:schemeClr val="bg1"/>
                          </a:solidFill>
                          <a:latin typeface="ＭＳ Ｐゴシック" panose="020B0600070205080204" pitchFamily="50" charset="-128"/>
                          <a:ea typeface="ＭＳ Ｐゴシック" panose="020B0600070205080204" pitchFamily="50" charset="-128"/>
                        </a:rPr>
                        <a:t>AI</a:t>
                      </a:r>
                      <a:endParaRPr kumimoji="1" lang="ja-JP" altLang="en-US" sz="2800" b="0" spc="-150" baseline="0" dirty="0">
                        <a:solidFill>
                          <a:schemeClr val="bg1"/>
                        </a:solidFill>
                        <a:latin typeface="ＭＳ Ｐゴシック" panose="020B0600070205080204" pitchFamily="50" charset="-128"/>
                        <a:ea typeface="ＭＳ Ｐゴシック" panose="020B0600070205080204" pitchFamily="50" charset="-128"/>
                      </a:endParaRPr>
                    </a:p>
                  </a:txBody>
                  <a:tcPr anchor="ctr">
                    <a:solidFill>
                      <a:srgbClr val="0070C0"/>
                    </a:solidFill>
                  </a:tcPr>
                </a:tc>
                <a:tc>
                  <a:txBody>
                    <a:bodyPr/>
                    <a:lstStyle/>
                    <a:p>
                      <a:pPr algn="ctr"/>
                      <a:r>
                        <a:rPr kumimoji="1" lang="en-US" altLang="ja-JP" sz="2800" b="0" spc="-150" baseline="0" dirty="0" err="1">
                          <a:solidFill>
                            <a:schemeClr val="tx1"/>
                          </a:solidFill>
                          <a:latin typeface="ＭＳ Ｐゴシック" panose="020B0600070205080204" pitchFamily="50" charset="-128"/>
                          <a:ea typeface="ＭＳ Ｐゴシック" panose="020B0600070205080204" pitchFamily="50" charset="-128"/>
                        </a:rPr>
                        <a:t>BigGAN</a:t>
                      </a:r>
                      <a:endParaRPr kumimoji="1" lang="ja-JP" altLang="en-US" sz="2800" b="0" spc="-150" baseline="0" dirty="0">
                        <a:solidFill>
                          <a:schemeClr val="tx1"/>
                        </a:solidFill>
                        <a:latin typeface="ＭＳ Ｐゴシック" panose="020B0600070205080204" pitchFamily="50" charset="-128"/>
                        <a:ea typeface="ＭＳ Ｐゴシック" panose="020B0600070205080204" pitchFamily="50" charset="-128"/>
                      </a:endParaRPr>
                    </a:p>
                  </a:txBody>
                  <a:tcPr anchor="ctr">
                    <a:solidFill>
                      <a:schemeClr val="accent5">
                        <a:lumMod val="60000"/>
                        <a:lumOff val="40000"/>
                      </a:schemeClr>
                    </a:solidFill>
                  </a:tcPr>
                </a:tc>
                <a:tc>
                  <a:txBody>
                    <a:bodyPr/>
                    <a:lstStyle/>
                    <a:p>
                      <a:pPr algn="ctr"/>
                      <a:r>
                        <a:rPr kumimoji="1" lang="en-US" altLang="ja-JP" sz="2800" b="0" spc="-150" baseline="0" dirty="0">
                          <a:solidFill>
                            <a:schemeClr val="tx1"/>
                          </a:solidFill>
                          <a:latin typeface="ＭＳ Ｐゴシック" panose="020B0600070205080204" pitchFamily="50" charset="-128"/>
                          <a:ea typeface="ＭＳ Ｐゴシック" panose="020B0600070205080204" pitchFamily="50" charset="-128"/>
                        </a:rPr>
                        <a:t>ADM</a:t>
                      </a:r>
                      <a:endParaRPr kumimoji="1" lang="ja-JP" altLang="en-US" sz="2800" b="0" spc="-150" baseline="0" dirty="0">
                        <a:solidFill>
                          <a:schemeClr val="tx1"/>
                        </a:solidFill>
                        <a:latin typeface="ＭＳ Ｐゴシック" panose="020B0600070205080204" pitchFamily="50" charset="-128"/>
                        <a:ea typeface="ＭＳ Ｐゴシック" panose="020B0600070205080204" pitchFamily="50" charset="-128"/>
                      </a:endParaRPr>
                    </a:p>
                  </a:txBody>
                  <a:tcPr anchor="ctr">
                    <a:solidFill>
                      <a:schemeClr val="accent5">
                        <a:lumMod val="60000"/>
                        <a:lumOff val="40000"/>
                      </a:schemeClr>
                    </a:solidFill>
                  </a:tcPr>
                </a:tc>
                <a:tc>
                  <a:txBody>
                    <a:bodyPr/>
                    <a:lstStyle/>
                    <a:p>
                      <a:pPr algn="ctr"/>
                      <a:r>
                        <a:rPr kumimoji="1" lang="en-US" altLang="ja-JP" sz="2800" b="0" spc="-150" baseline="0" dirty="0">
                          <a:solidFill>
                            <a:schemeClr val="tx1"/>
                          </a:solidFill>
                          <a:latin typeface="ＭＳ Ｐゴシック" panose="020B0600070205080204" pitchFamily="50" charset="-128"/>
                          <a:ea typeface="ＭＳ Ｐゴシック" panose="020B0600070205080204" pitchFamily="50" charset="-128"/>
                        </a:rPr>
                        <a:t>GLIDE</a:t>
                      </a:r>
                      <a:endParaRPr kumimoji="1" lang="ja-JP" altLang="en-US" sz="2800" b="0" spc="-150" baseline="0" dirty="0">
                        <a:solidFill>
                          <a:schemeClr val="tx1"/>
                        </a:solidFill>
                        <a:latin typeface="ＭＳ Ｐゴシック" panose="020B0600070205080204" pitchFamily="50" charset="-128"/>
                        <a:ea typeface="ＭＳ Ｐゴシック" panose="020B0600070205080204" pitchFamily="50" charset="-128"/>
                      </a:endParaRPr>
                    </a:p>
                  </a:txBody>
                  <a:tcPr anchor="ctr">
                    <a:solidFill>
                      <a:schemeClr val="accent5">
                        <a:lumMod val="60000"/>
                        <a:lumOff val="40000"/>
                      </a:schemeClr>
                    </a:solidFill>
                  </a:tcPr>
                </a:tc>
                <a:tc>
                  <a:txBody>
                    <a:bodyPr/>
                    <a:lstStyle/>
                    <a:p>
                      <a:pPr algn="ctr"/>
                      <a:r>
                        <a:rPr kumimoji="1" lang="en-US" altLang="ja-JP" sz="2800" b="0" spc="-150" baseline="0" dirty="0">
                          <a:solidFill>
                            <a:schemeClr val="tx1"/>
                          </a:solidFill>
                          <a:latin typeface="ＭＳ Ｐゴシック" panose="020B0600070205080204" pitchFamily="50" charset="-128"/>
                          <a:ea typeface="ＭＳ Ｐゴシック" panose="020B0600070205080204" pitchFamily="50" charset="-128"/>
                        </a:rPr>
                        <a:t>SDv4</a:t>
                      </a:r>
                      <a:endParaRPr kumimoji="1" lang="ja-JP" altLang="en-US" sz="2800" b="0" spc="-150" baseline="0" dirty="0">
                        <a:solidFill>
                          <a:schemeClr val="tx1"/>
                        </a:solidFill>
                        <a:latin typeface="ＭＳ Ｐゴシック" panose="020B0600070205080204" pitchFamily="50" charset="-128"/>
                        <a:ea typeface="ＭＳ Ｐゴシック" panose="020B0600070205080204" pitchFamily="50" charset="-128"/>
                      </a:endParaRPr>
                    </a:p>
                  </a:txBody>
                  <a:tcPr anchor="ctr">
                    <a:solidFill>
                      <a:schemeClr val="accent5">
                        <a:lumMod val="60000"/>
                        <a:lumOff val="40000"/>
                      </a:schemeClr>
                    </a:solidFill>
                  </a:tcPr>
                </a:tc>
                <a:extLst>
                  <a:ext uri="{0D108BD9-81ED-4DB2-BD59-A6C34878D82A}">
                    <a16:rowId xmlns:a16="http://schemas.microsoft.com/office/drawing/2014/main" val="3634865276"/>
                  </a:ext>
                </a:extLst>
              </a:tr>
              <a:tr h="370840">
                <a:tc vMerge="1">
                  <a:txBody>
                    <a:bodyPr/>
                    <a:lstStyle/>
                    <a:p>
                      <a:pPr algn="ctr"/>
                      <a:endParaRPr kumimoji="1" lang="ja-JP" altLang="en-US" sz="2800" b="0" spc="-100" baseline="0" dirty="0">
                        <a:latin typeface="ＭＳ Ｐゴシック" panose="020B0600070205080204" pitchFamily="50" charset="-128"/>
                        <a:ea typeface="ＭＳ Ｐゴシック" panose="020B0600070205080204" pitchFamily="50" charset="-128"/>
                      </a:endParaRPr>
                    </a:p>
                  </a:txBody>
                  <a:tcPr/>
                </a:tc>
                <a:tc>
                  <a:txBody>
                    <a:bodyPr/>
                    <a:lstStyle/>
                    <a:p>
                      <a:pPr algn="ctr"/>
                      <a:r>
                        <a:rPr kumimoji="1" lang="en-US" altLang="ja-JP" sz="2800" b="0" spc="-150" baseline="0" dirty="0" err="1">
                          <a:latin typeface="ＭＳ Ｐゴシック" panose="020B0600070205080204" pitchFamily="50" charset="-128"/>
                          <a:ea typeface="ＭＳ Ｐゴシック" panose="020B0600070205080204" pitchFamily="50" charset="-128"/>
                        </a:rPr>
                        <a:t>Midjorney</a:t>
                      </a:r>
                      <a:endParaRPr kumimoji="1" lang="ja-JP" altLang="en-US" sz="2800" b="0" spc="-150" baseline="0" dirty="0">
                        <a:latin typeface="ＭＳ Ｐゴシック" panose="020B0600070205080204" pitchFamily="50" charset="-128"/>
                        <a:ea typeface="ＭＳ Ｐゴシック" panose="020B0600070205080204" pitchFamily="50" charset="-128"/>
                      </a:endParaRPr>
                    </a:p>
                  </a:txBody>
                  <a:tcPr anchor="ctr"/>
                </a:tc>
                <a:tc>
                  <a:txBody>
                    <a:bodyPr/>
                    <a:lstStyle/>
                    <a:p>
                      <a:pPr algn="ctr"/>
                      <a:r>
                        <a:rPr kumimoji="1" lang="en-US" altLang="ja-JP" sz="2800" b="0" spc="-150" baseline="0" dirty="0">
                          <a:latin typeface="ＭＳ Ｐゴシック" panose="020B0600070205080204" pitchFamily="50" charset="-128"/>
                          <a:ea typeface="ＭＳ Ｐゴシック" panose="020B0600070205080204" pitchFamily="50" charset="-128"/>
                        </a:rPr>
                        <a:t>VQDM</a:t>
                      </a:r>
                      <a:endParaRPr kumimoji="1" lang="ja-JP" altLang="en-US" sz="2800" b="0" spc="-150" baseline="0" dirty="0">
                        <a:latin typeface="ＭＳ Ｐゴシック" panose="020B0600070205080204" pitchFamily="50" charset="-128"/>
                        <a:ea typeface="ＭＳ Ｐゴシック" panose="020B0600070205080204" pitchFamily="50" charset="-128"/>
                      </a:endParaRPr>
                    </a:p>
                  </a:txBody>
                  <a:tcPr anchor="ctr"/>
                </a:tc>
                <a:tc>
                  <a:txBody>
                    <a:bodyPr/>
                    <a:lstStyle/>
                    <a:p>
                      <a:pPr algn="ctr"/>
                      <a:r>
                        <a:rPr kumimoji="1" lang="en-US" altLang="ja-JP" sz="2800" b="0" spc="-150" baseline="0" dirty="0" err="1">
                          <a:latin typeface="ＭＳ Ｐゴシック" panose="020B0600070205080204" pitchFamily="50" charset="-128"/>
                          <a:ea typeface="ＭＳ Ｐゴシック" panose="020B0600070205080204" pitchFamily="50" charset="-128"/>
                        </a:rPr>
                        <a:t>Wukong</a:t>
                      </a:r>
                      <a:endParaRPr kumimoji="1" lang="ja-JP" altLang="en-US" sz="2800" b="0" spc="-150" baseline="0" dirty="0">
                        <a:latin typeface="ＭＳ Ｐゴシック" panose="020B0600070205080204" pitchFamily="50" charset="-128"/>
                        <a:ea typeface="ＭＳ Ｐゴシック" panose="020B0600070205080204" pitchFamily="50" charset="-128"/>
                      </a:endParaRPr>
                    </a:p>
                  </a:txBody>
                  <a:tcPr anchor="ctr"/>
                </a:tc>
                <a:tc>
                  <a:txBody>
                    <a:bodyPr/>
                    <a:lstStyle/>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800" b="0" spc="-150" baseline="0" dirty="0">
                          <a:latin typeface="ＭＳ Ｐゴシック" panose="020B0600070205080204" pitchFamily="50" charset="-128"/>
                          <a:ea typeface="ＭＳ Ｐゴシック" panose="020B0600070205080204" pitchFamily="50" charset="-128"/>
                        </a:rPr>
                        <a:t>SDv5</a:t>
                      </a:r>
                      <a:endParaRPr kumimoji="1" lang="ja-JP" altLang="en-US" sz="2800" b="0" spc="-150" baseline="0" dirty="0">
                        <a:latin typeface="ＭＳ Ｐゴシック" panose="020B0600070205080204" pitchFamily="50" charset="-128"/>
                        <a:ea typeface="ＭＳ Ｐゴシック" panose="020B0600070205080204" pitchFamily="50" charset="-128"/>
                      </a:endParaRPr>
                    </a:p>
                  </a:txBody>
                  <a:tcPr anchor="ctr"/>
                </a:tc>
                <a:extLst>
                  <a:ext uri="{0D108BD9-81ED-4DB2-BD59-A6C34878D82A}">
                    <a16:rowId xmlns:a16="http://schemas.microsoft.com/office/drawing/2014/main" val="3231830050"/>
                  </a:ext>
                </a:extLst>
              </a:tr>
            </a:tbl>
          </a:graphicData>
        </a:graphic>
      </p:graphicFrame>
      <p:sp>
        <p:nvSpPr>
          <p:cNvPr id="25" name="テキスト ボックス 24">
            <a:extLst>
              <a:ext uri="{FF2B5EF4-FFF2-40B4-BE49-F238E27FC236}">
                <a16:creationId xmlns:a16="http://schemas.microsoft.com/office/drawing/2014/main" id="{C0C14F3C-A95B-4982-7F70-2BF1399B36FD}"/>
              </a:ext>
            </a:extLst>
          </p:cNvPr>
          <p:cNvSpPr txBox="1"/>
          <p:nvPr/>
        </p:nvSpPr>
        <p:spPr>
          <a:xfrm>
            <a:off x="6351621" y="19820761"/>
            <a:ext cx="8474591" cy="584775"/>
          </a:xfrm>
          <a:prstGeom prst="rect">
            <a:avLst/>
          </a:prstGeom>
          <a:noFill/>
        </p:spPr>
        <p:txBody>
          <a:bodyPr wrap="square" rtlCol="0">
            <a:spAutoFit/>
          </a:bodyPr>
          <a:lstStyle/>
          <a:p>
            <a:pPr algn="ctr"/>
            <a:r>
              <a:rPr kumimoji="1" lang="ja-JP" altLang="en-US" sz="3200" spc="-100" dirty="0">
                <a:latin typeface="MS PGothic" panose="020B0600070205080204" pitchFamily="34" charset="-128"/>
                <a:ea typeface="MS PGothic" panose="020B0600070205080204" pitchFamily="34" charset="-128"/>
              </a:rPr>
              <a:t>表</a:t>
            </a:r>
            <a:r>
              <a:rPr kumimoji="1" lang="en-US" altLang="ja-JP" sz="3200" spc="-100" dirty="0">
                <a:latin typeface="MS PGothic" panose="020B0600070205080204" pitchFamily="34" charset="-128"/>
                <a:ea typeface="MS PGothic" panose="020B0600070205080204" pitchFamily="34" charset="-128"/>
              </a:rPr>
              <a:t>1</a:t>
            </a:r>
            <a:r>
              <a:rPr kumimoji="1" lang="ja-JP" altLang="en-US" sz="3200" spc="-100" dirty="0">
                <a:latin typeface="MS PGothic" panose="020B0600070205080204" pitchFamily="34" charset="-128"/>
                <a:ea typeface="MS PGothic" panose="020B0600070205080204" pitchFamily="34" charset="-128"/>
              </a:rPr>
              <a:t>　</a:t>
            </a:r>
            <a:r>
              <a:rPr kumimoji="1" lang="en-US" altLang="ja-JP" sz="3200" spc="-100" dirty="0">
                <a:latin typeface="MS PGothic" panose="020B0600070205080204" pitchFamily="34" charset="-128"/>
                <a:ea typeface="MS PGothic" panose="020B0600070205080204" pitchFamily="34" charset="-128"/>
              </a:rPr>
              <a:t>[1]</a:t>
            </a:r>
            <a:r>
              <a:rPr kumimoji="1" lang="ja-JP" altLang="en-US" sz="3200" spc="-100" dirty="0">
                <a:latin typeface="MS PGothic" panose="020B0600070205080204" pitchFamily="34" charset="-128"/>
                <a:ea typeface="MS PGothic" panose="020B0600070205080204" pitchFamily="34" charset="-128"/>
              </a:rPr>
              <a:t>で使用された画像分類モデル・画像生成</a:t>
            </a:r>
            <a:r>
              <a:rPr kumimoji="1" lang="en-US" altLang="ja-JP" sz="3200" spc="-100" dirty="0">
                <a:latin typeface="MS PGothic" panose="020B0600070205080204" pitchFamily="34" charset="-128"/>
                <a:ea typeface="MS PGothic" panose="020B0600070205080204" pitchFamily="34" charset="-128"/>
              </a:rPr>
              <a:t>AI</a:t>
            </a:r>
            <a:r>
              <a:rPr kumimoji="1" lang="ja-JP" altLang="en-US" sz="3200" spc="-100" dirty="0">
                <a:latin typeface="MS PGothic" panose="020B0600070205080204" pitchFamily="34" charset="-128"/>
                <a:ea typeface="MS PGothic" panose="020B0600070205080204" pitchFamily="34" charset="-128"/>
              </a:rPr>
              <a:t> </a:t>
            </a:r>
          </a:p>
        </p:txBody>
      </p:sp>
      <p:sp>
        <p:nvSpPr>
          <p:cNvPr id="48" name="テキスト ボックス 47">
            <a:extLst>
              <a:ext uri="{FF2B5EF4-FFF2-40B4-BE49-F238E27FC236}">
                <a16:creationId xmlns:a16="http://schemas.microsoft.com/office/drawing/2014/main" id="{AFBCBEE5-5B38-3CF5-0BF1-EFF81364299D}"/>
              </a:ext>
            </a:extLst>
          </p:cNvPr>
          <p:cNvSpPr txBox="1"/>
          <p:nvPr/>
        </p:nvSpPr>
        <p:spPr>
          <a:xfrm>
            <a:off x="20163507" y="13395602"/>
            <a:ext cx="5253551" cy="584775"/>
          </a:xfrm>
          <a:prstGeom prst="rect">
            <a:avLst/>
          </a:prstGeom>
          <a:noFill/>
        </p:spPr>
        <p:txBody>
          <a:bodyPr wrap="square" rtlCol="0">
            <a:spAutoFit/>
          </a:bodyPr>
          <a:lstStyle/>
          <a:p>
            <a:pPr algn="ctr"/>
            <a:r>
              <a:rPr kumimoji="1" lang="ja-JP" altLang="en-US" sz="3200" dirty="0">
                <a:latin typeface="MS PGothic" panose="020B0600070205080204" pitchFamily="34" charset="-128"/>
                <a:ea typeface="MS PGothic" panose="020B0600070205080204" pitchFamily="34" charset="-128"/>
              </a:rPr>
              <a:t>表</a:t>
            </a:r>
            <a:r>
              <a:rPr kumimoji="1" lang="en-US" altLang="ja-JP" sz="3200" dirty="0">
                <a:latin typeface="MS PGothic" panose="020B0600070205080204" pitchFamily="34" charset="-128"/>
                <a:ea typeface="MS PGothic" panose="020B0600070205080204" pitchFamily="34" charset="-128"/>
              </a:rPr>
              <a:t>3</a:t>
            </a:r>
            <a:r>
              <a:rPr kumimoji="1" lang="ja-JP" altLang="en-US" sz="3200" dirty="0">
                <a:latin typeface="MS PGothic" panose="020B0600070205080204" pitchFamily="34" charset="-128"/>
                <a:ea typeface="MS PGothic" panose="020B0600070205080204" pitchFamily="34" charset="-128"/>
              </a:rPr>
              <a:t>　使用するデータ</a:t>
            </a:r>
          </a:p>
        </p:txBody>
      </p:sp>
      <p:pic>
        <p:nvPicPr>
          <p:cNvPr id="31" name="図 30">
            <a:extLst>
              <a:ext uri="{FF2B5EF4-FFF2-40B4-BE49-F238E27FC236}">
                <a16:creationId xmlns:a16="http://schemas.microsoft.com/office/drawing/2014/main" id="{6CF2F031-6105-7168-008C-72515E8AFF9B}"/>
              </a:ext>
            </a:extLst>
          </p:cNvPr>
          <p:cNvPicPr>
            <a:picLocks noChangeAspect="1"/>
          </p:cNvPicPr>
          <p:nvPr/>
        </p:nvPicPr>
        <p:blipFill>
          <a:blip r:embed="rId10"/>
          <a:stretch>
            <a:fillRect/>
          </a:stretch>
        </p:blipFill>
        <p:spPr>
          <a:xfrm>
            <a:off x="299482" y="20544329"/>
            <a:ext cx="1028874" cy="1028874"/>
          </a:xfrm>
          <a:prstGeom prst="rect">
            <a:avLst/>
          </a:prstGeom>
        </p:spPr>
      </p:pic>
      <p:sp>
        <p:nvSpPr>
          <p:cNvPr id="33" name="正方形/長方形 32">
            <a:extLst>
              <a:ext uri="{FF2B5EF4-FFF2-40B4-BE49-F238E27FC236}">
                <a16:creationId xmlns:a16="http://schemas.microsoft.com/office/drawing/2014/main" id="{D9F3D6F9-4592-34CC-D1B2-85F3CA666F23}"/>
              </a:ext>
            </a:extLst>
          </p:cNvPr>
          <p:cNvSpPr/>
          <p:nvPr/>
        </p:nvSpPr>
        <p:spPr>
          <a:xfrm>
            <a:off x="1818309" y="20544329"/>
            <a:ext cx="3003260" cy="1028874"/>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u="sng" dirty="0">
                <a:solidFill>
                  <a:schemeClr val="tx1"/>
                </a:solidFill>
                <a:latin typeface="MS PGothic" panose="020B0600070205080204" pitchFamily="34" charset="-128"/>
                <a:ea typeface="MS PGothic" panose="020B0600070205080204" pitchFamily="34" charset="-128"/>
              </a:rPr>
              <a:t>画像分類モデル</a:t>
            </a:r>
            <a:endParaRPr kumimoji="1" lang="en-US" altLang="ja-JP" sz="3200" u="sng" dirty="0">
              <a:solidFill>
                <a:schemeClr val="tx1"/>
              </a:solidFill>
              <a:latin typeface="MS PGothic" panose="020B0600070205080204" pitchFamily="34" charset="-128"/>
              <a:ea typeface="MS PGothic" panose="020B0600070205080204" pitchFamily="34" charset="-128"/>
            </a:endParaRPr>
          </a:p>
          <a:p>
            <a:pPr algn="ctr"/>
            <a:r>
              <a:rPr kumimoji="1" lang="ja-JP" altLang="en-US" sz="3200" dirty="0">
                <a:solidFill>
                  <a:schemeClr val="tx1"/>
                </a:solidFill>
                <a:latin typeface="MS PGothic" panose="020B0600070205080204" pitchFamily="34" charset="-128"/>
                <a:ea typeface="MS PGothic" panose="020B0600070205080204" pitchFamily="34" charset="-128"/>
              </a:rPr>
              <a:t>画像生成</a:t>
            </a:r>
            <a:r>
              <a:rPr kumimoji="1" lang="en-US" altLang="ja-JP" sz="3200" dirty="0">
                <a:solidFill>
                  <a:schemeClr val="tx1"/>
                </a:solidFill>
                <a:latin typeface="MS PGothic" panose="020B0600070205080204" pitchFamily="34" charset="-128"/>
                <a:ea typeface="MS PGothic" panose="020B0600070205080204" pitchFamily="34" charset="-128"/>
              </a:rPr>
              <a:t>AI</a:t>
            </a:r>
            <a:endParaRPr kumimoji="1" lang="ja-JP" altLang="en-US" sz="3200" dirty="0">
              <a:solidFill>
                <a:schemeClr val="tx1"/>
              </a:solidFill>
              <a:latin typeface="MS PGothic" panose="020B0600070205080204" pitchFamily="34" charset="-128"/>
              <a:ea typeface="MS PGothic" panose="020B0600070205080204" pitchFamily="34" charset="-128"/>
            </a:endParaRPr>
          </a:p>
        </p:txBody>
      </p:sp>
      <p:cxnSp>
        <p:nvCxnSpPr>
          <p:cNvPr id="35" name="直線矢印コネクタ 34">
            <a:extLst>
              <a:ext uri="{FF2B5EF4-FFF2-40B4-BE49-F238E27FC236}">
                <a16:creationId xmlns:a16="http://schemas.microsoft.com/office/drawing/2014/main" id="{8CE6D9D8-3920-8443-F09F-4900A3C8C392}"/>
              </a:ext>
            </a:extLst>
          </p:cNvPr>
          <p:cNvCxnSpPr>
            <a:cxnSpLocks/>
            <a:stCxn id="31" idx="3"/>
            <a:endCxn id="33" idx="1"/>
          </p:cNvCxnSpPr>
          <p:nvPr/>
        </p:nvCxnSpPr>
        <p:spPr>
          <a:xfrm>
            <a:off x="1328356" y="21058766"/>
            <a:ext cx="48995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381334FC-A08B-3227-CFAF-31CD4F7E6437}"/>
              </a:ext>
            </a:extLst>
          </p:cNvPr>
          <p:cNvCxnSpPr>
            <a:cxnSpLocks/>
            <a:stCxn id="33" idx="3"/>
            <a:endCxn id="41" idx="1"/>
          </p:cNvCxnSpPr>
          <p:nvPr/>
        </p:nvCxnSpPr>
        <p:spPr>
          <a:xfrm flipV="1">
            <a:off x="4821569" y="20745288"/>
            <a:ext cx="462820" cy="3134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D022B495-9540-1E4B-14E3-B5310A3B88B7}"/>
              </a:ext>
            </a:extLst>
          </p:cNvPr>
          <p:cNvCxnSpPr>
            <a:cxnSpLocks/>
            <a:stCxn id="33" idx="3"/>
            <a:endCxn id="43" idx="1"/>
          </p:cNvCxnSpPr>
          <p:nvPr/>
        </p:nvCxnSpPr>
        <p:spPr>
          <a:xfrm>
            <a:off x="4821569" y="21058766"/>
            <a:ext cx="463659" cy="29541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78FC8EEB-5BF4-8FE5-D66D-9D1159ED5E8A}"/>
                  </a:ext>
                </a:extLst>
              </p:cNvPr>
              <p:cNvSpPr txBox="1"/>
              <p:nvPr/>
            </p:nvSpPr>
            <p:spPr>
              <a:xfrm>
                <a:off x="5284389" y="20452900"/>
                <a:ext cx="1051623"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𝑅𝑒𝑎𝑙</m:t>
                      </m:r>
                    </m:oMath>
                  </m:oMathPara>
                </a14:m>
                <a:endParaRPr kumimoji="1" lang="ja-JP" altLang="en-US" sz="3200" dirty="0">
                  <a:latin typeface="MS PGothic" panose="020B0600070205080204" pitchFamily="34" charset="-128"/>
                  <a:ea typeface="MS PGothic" panose="020B0600070205080204" pitchFamily="34" charset="-128"/>
                </a:endParaRPr>
              </a:p>
            </p:txBody>
          </p:sp>
        </mc:Choice>
        <mc:Fallback xmlns="">
          <p:sp>
            <p:nvSpPr>
              <p:cNvPr id="41" name="テキスト ボックス 40">
                <a:extLst>
                  <a:ext uri="{FF2B5EF4-FFF2-40B4-BE49-F238E27FC236}">
                    <a16:creationId xmlns:a16="http://schemas.microsoft.com/office/drawing/2014/main" id="{78FC8EEB-5BF4-8FE5-D66D-9D1159ED5E8A}"/>
                  </a:ext>
                </a:extLst>
              </p:cNvPr>
              <p:cNvSpPr txBox="1">
                <a:spLocks noRot="1" noChangeAspect="1" noMove="1" noResize="1" noEditPoints="1" noAdjustHandles="1" noChangeArrowheads="1" noChangeShapeType="1" noTextEdit="1"/>
              </p:cNvSpPr>
              <p:nvPr/>
            </p:nvSpPr>
            <p:spPr>
              <a:xfrm>
                <a:off x="5284389" y="20452900"/>
                <a:ext cx="1051623" cy="584775"/>
              </a:xfrm>
              <a:prstGeom prst="rect">
                <a:avLst/>
              </a:prstGeom>
              <a:blipFill>
                <a:blip r:embed="rId29"/>
                <a:stretch>
                  <a:fillRect/>
                </a:stretch>
              </a:blipFill>
              <a:ln w="38100">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76CB25D0-0CEA-BD68-A68A-461964A27AB0}"/>
                  </a:ext>
                </a:extLst>
              </p:cNvPr>
              <p:cNvSpPr txBox="1"/>
              <p:nvPr/>
            </p:nvSpPr>
            <p:spPr>
              <a:xfrm>
                <a:off x="5285228" y="21061793"/>
                <a:ext cx="1051623" cy="584775"/>
              </a:xfrm>
              <a:prstGeom prst="rect">
                <a:avLst/>
              </a:prstGeom>
              <a:noFill/>
              <a:ln w="38100">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ea typeface="MS PGothic" panose="020B0600070205080204" pitchFamily="34" charset="-128"/>
                        </a:rPr>
                        <m:t>𝐹𝑎𝑘𝑒</m:t>
                      </m:r>
                    </m:oMath>
                  </m:oMathPara>
                </a14:m>
                <a:endParaRPr kumimoji="1" lang="ja-JP" altLang="en-US" sz="3200" dirty="0">
                  <a:latin typeface="MS PGothic" panose="020B0600070205080204" pitchFamily="34" charset="-128"/>
                  <a:ea typeface="MS PGothic" panose="020B0600070205080204" pitchFamily="34" charset="-128"/>
                </a:endParaRPr>
              </a:p>
            </p:txBody>
          </p:sp>
        </mc:Choice>
        <mc:Fallback xmlns="">
          <p:sp>
            <p:nvSpPr>
              <p:cNvPr id="43" name="テキスト ボックス 42">
                <a:extLst>
                  <a:ext uri="{FF2B5EF4-FFF2-40B4-BE49-F238E27FC236}">
                    <a16:creationId xmlns:a16="http://schemas.microsoft.com/office/drawing/2014/main" id="{76CB25D0-0CEA-BD68-A68A-461964A27AB0}"/>
                  </a:ext>
                </a:extLst>
              </p:cNvPr>
              <p:cNvSpPr txBox="1">
                <a:spLocks noRot="1" noChangeAspect="1" noMove="1" noResize="1" noEditPoints="1" noAdjustHandles="1" noChangeArrowheads="1" noChangeShapeType="1" noTextEdit="1"/>
              </p:cNvSpPr>
              <p:nvPr/>
            </p:nvSpPr>
            <p:spPr>
              <a:xfrm>
                <a:off x="5285228" y="21061793"/>
                <a:ext cx="1051623" cy="584775"/>
              </a:xfrm>
              <a:prstGeom prst="rect">
                <a:avLst/>
              </a:prstGeom>
              <a:blipFill>
                <a:blip r:embed="rId30"/>
                <a:stretch>
                  <a:fillRect/>
                </a:stretch>
              </a:blipFill>
              <a:ln w="38100">
                <a:noFill/>
              </a:ln>
            </p:spPr>
            <p:txBody>
              <a:bodyPr/>
              <a:lstStyle/>
              <a:p>
                <a:r>
                  <a:rPr lang="ja-JP" altLang="en-US">
                    <a:noFill/>
                  </a:rPr>
                  <a:t> </a:t>
                </a:r>
              </a:p>
            </p:txBody>
          </p:sp>
        </mc:Fallback>
      </mc:AlternateContent>
      <p:sp>
        <p:nvSpPr>
          <p:cNvPr id="1083" name="テキスト ボックス 1082">
            <a:extLst>
              <a:ext uri="{FF2B5EF4-FFF2-40B4-BE49-F238E27FC236}">
                <a16:creationId xmlns:a16="http://schemas.microsoft.com/office/drawing/2014/main" id="{AAA30E3F-706D-8829-72AA-85718089B37D}"/>
              </a:ext>
            </a:extLst>
          </p:cNvPr>
          <p:cNvSpPr txBox="1"/>
          <p:nvPr/>
        </p:nvSpPr>
        <p:spPr>
          <a:xfrm>
            <a:off x="1285285" y="21683018"/>
            <a:ext cx="4068876" cy="584775"/>
          </a:xfrm>
          <a:prstGeom prst="rect">
            <a:avLst/>
          </a:prstGeom>
          <a:noFill/>
        </p:spPr>
        <p:txBody>
          <a:bodyPr wrap="square" rtlCol="0">
            <a:spAutoFit/>
          </a:bodyPr>
          <a:lstStyle/>
          <a:p>
            <a:pPr algn="ctr"/>
            <a:r>
              <a:rPr kumimoji="1" lang="ja-JP" altLang="en-US" sz="3200" dirty="0">
                <a:latin typeface="MS PGothic" panose="020B0600070205080204" pitchFamily="34" charset="-128"/>
                <a:ea typeface="MS PGothic" panose="020B0600070205080204" pitchFamily="34" charset="-128"/>
              </a:rPr>
              <a:t>図</a:t>
            </a:r>
            <a:r>
              <a:rPr kumimoji="1" lang="en-US" altLang="ja-JP" sz="3200" dirty="0">
                <a:latin typeface="MS PGothic" panose="020B0600070205080204" pitchFamily="34" charset="-128"/>
                <a:ea typeface="MS PGothic" panose="020B0600070205080204" pitchFamily="34" charset="-128"/>
              </a:rPr>
              <a:t>3</a:t>
            </a:r>
            <a:r>
              <a:rPr kumimoji="1" lang="ja-JP" altLang="en-US" sz="3200" dirty="0">
                <a:latin typeface="MS PGothic" panose="020B0600070205080204" pitchFamily="34" charset="-128"/>
                <a:ea typeface="MS PGothic" panose="020B0600070205080204" pitchFamily="34" charset="-128"/>
              </a:rPr>
              <a:t>　</a:t>
            </a:r>
            <a:r>
              <a:rPr kumimoji="1" lang="en-US" altLang="ja-JP" sz="3200" dirty="0">
                <a:latin typeface="MS PGothic" panose="020B0600070205080204" pitchFamily="34" charset="-128"/>
                <a:ea typeface="MS PGothic" panose="020B0600070205080204" pitchFamily="34" charset="-128"/>
              </a:rPr>
              <a:t>[1]</a:t>
            </a:r>
            <a:r>
              <a:rPr kumimoji="1" lang="ja-JP" altLang="en-US" sz="3200" dirty="0">
                <a:latin typeface="MS PGothic" panose="020B0600070205080204" pitchFamily="34" charset="-128"/>
                <a:ea typeface="MS PGothic" panose="020B0600070205080204" pitchFamily="34" charset="-128"/>
              </a:rPr>
              <a:t>の分類手法</a:t>
            </a:r>
          </a:p>
        </p:txBody>
      </p:sp>
      <p:sp>
        <p:nvSpPr>
          <p:cNvPr id="21" name="正方形/長方形 20">
            <a:extLst>
              <a:ext uri="{FF2B5EF4-FFF2-40B4-BE49-F238E27FC236}">
                <a16:creationId xmlns:a16="http://schemas.microsoft.com/office/drawing/2014/main" id="{04303719-A326-0BCD-2110-6B5AC137EEDF}"/>
              </a:ext>
            </a:extLst>
          </p:cNvPr>
          <p:cNvSpPr/>
          <p:nvPr/>
        </p:nvSpPr>
        <p:spPr>
          <a:xfrm>
            <a:off x="2252278" y="39519919"/>
            <a:ext cx="10131450" cy="1680274"/>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4800">
              <a:latin typeface="MS PGothic" panose="020B0600070205080204" pitchFamily="34" charset="-128"/>
              <a:ea typeface="MS PGothic" panose="020B0600070205080204" pitchFamily="34" charset="-128"/>
            </a:endParaRPr>
          </a:p>
        </p:txBody>
      </p:sp>
      <p:cxnSp>
        <p:nvCxnSpPr>
          <p:cNvPr id="1027" name="直線矢印コネクタ 1026">
            <a:extLst>
              <a:ext uri="{FF2B5EF4-FFF2-40B4-BE49-F238E27FC236}">
                <a16:creationId xmlns:a16="http://schemas.microsoft.com/office/drawing/2014/main" id="{50CBA4BD-50D2-240E-6EA6-E8AD744A8407}"/>
              </a:ext>
            </a:extLst>
          </p:cNvPr>
          <p:cNvCxnSpPr>
            <a:cxnSpLocks/>
            <a:stCxn id="1065" idx="2"/>
          </p:cNvCxnSpPr>
          <p:nvPr/>
        </p:nvCxnSpPr>
        <p:spPr>
          <a:xfrm flipH="1">
            <a:off x="3698293" y="40669651"/>
            <a:ext cx="1" cy="538594"/>
          </a:xfrm>
          <a:prstGeom prst="straightConnector1">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3" name="直線矢印コネクタ 1032">
            <a:extLst>
              <a:ext uri="{FF2B5EF4-FFF2-40B4-BE49-F238E27FC236}">
                <a16:creationId xmlns:a16="http://schemas.microsoft.com/office/drawing/2014/main" id="{439ED1CD-BF3E-DF39-8EDB-5B764374F66B}"/>
              </a:ext>
            </a:extLst>
          </p:cNvPr>
          <p:cNvCxnSpPr>
            <a:cxnSpLocks/>
          </p:cNvCxnSpPr>
          <p:nvPr/>
        </p:nvCxnSpPr>
        <p:spPr>
          <a:xfrm flipH="1">
            <a:off x="7024796" y="40664089"/>
            <a:ext cx="1" cy="538594"/>
          </a:xfrm>
          <a:prstGeom prst="straightConnector1">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5" name="直線矢印コネクタ 1034">
            <a:extLst>
              <a:ext uri="{FF2B5EF4-FFF2-40B4-BE49-F238E27FC236}">
                <a16:creationId xmlns:a16="http://schemas.microsoft.com/office/drawing/2014/main" id="{8B460663-6A2F-669B-4968-3F3F0D4808C4}"/>
              </a:ext>
            </a:extLst>
          </p:cNvPr>
          <p:cNvCxnSpPr>
            <a:cxnSpLocks/>
          </p:cNvCxnSpPr>
          <p:nvPr/>
        </p:nvCxnSpPr>
        <p:spPr>
          <a:xfrm flipH="1">
            <a:off x="10329968" y="40676182"/>
            <a:ext cx="1" cy="538594"/>
          </a:xfrm>
          <a:prstGeom prst="straightConnector1">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6" name="直線矢印コネクタ 1035">
            <a:extLst>
              <a:ext uri="{FF2B5EF4-FFF2-40B4-BE49-F238E27FC236}">
                <a16:creationId xmlns:a16="http://schemas.microsoft.com/office/drawing/2014/main" id="{121EEF27-C71D-7650-F542-641E628B7D5A}"/>
              </a:ext>
            </a:extLst>
          </p:cNvPr>
          <p:cNvCxnSpPr>
            <a:cxnSpLocks/>
            <a:endCxn id="1088" idx="1"/>
          </p:cNvCxnSpPr>
          <p:nvPr/>
        </p:nvCxnSpPr>
        <p:spPr>
          <a:xfrm>
            <a:off x="3685230" y="41214776"/>
            <a:ext cx="9352342" cy="247018"/>
          </a:xfrm>
          <a:prstGeom prst="bentConnector3">
            <a:avLst>
              <a:gd name="adj1" fmla="val -14"/>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40" name="直線矢印コネクタ 1035">
            <a:extLst>
              <a:ext uri="{FF2B5EF4-FFF2-40B4-BE49-F238E27FC236}">
                <a16:creationId xmlns:a16="http://schemas.microsoft.com/office/drawing/2014/main" id="{231DB00D-5051-A581-B1E7-90EA06F5554F}"/>
              </a:ext>
            </a:extLst>
          </p:cNvPr>
          <p:cNvCxnSpPr>
            <a:cxnSpLocks/>
            <a:endCxn id="1088" idx="1"/>
          </p:cNvCxnSpPr>
          <p:nvPr/>
        </p:nvCxnSpPr>
        <p:spPr>
          <a:xfrm>
            <a:off x="7024796" y="41206470"/>
            <a:ext cx="6012776" cy="255324"/>
          </a:xfrm>
          <a:prstGeom prst="bentConnector3">
            <a:avLst>
              <a:gd name="adj1" fmla="val -10"/>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49" name="直線矢印コネクタ 1035">
            <a:extLst>
              <a:ext uri="{FF2B5EF4-FFF2-40B4-BE49-F238E27FC236}">
                <a16:creationId xmlns:a16="http://schemas.microsoft.com/office/drawing/2014/main" id="{2988C523-0828-1D84-56CB-712ECA919DD3}"/>
              </a:ext>
            </a:extLst>
          </p:cNvPr>
          <p:cNvCxnSpPr>
            <a:cxnSpLocks/>
            <a:endCxn id="1088" idx="1"/>
          </p:cNvCxnSpPr>
          <p:nvPr/>
        </p:nvCxnSpPr>
        <p:spPr>
          <a:xfrm>
            <a:off x="10338236" y="41206206"/>
            <a:ext cx="2699336" cy="255588"/>
          </a:xfrm>
          <a:prstGeom prst="bentConnector3">
            <a:avLst>
              <a:gd name="adj1" fmla="val -161"/>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56" name="直線コネクタ 1055">
            <a:extLst>
              <a:ext uri="{FF2B5EF4-FFF2-40B4-BE49-F238E27FC236}">
                <a16:creationId xmlns:a16="http://schemas.microsoft.com/office/drawing/2014/main" id="{373A4722-0A88-F12A-98D1-FDA5E24B7BA9}"/>
              </a:ext>
            </a:extLst>
          </p:cNvPr>
          <p:cNvCxnSpPr>
            <a:cxnSpLocks/>
          </p:cNvCxnSpPr>
          <p:nvPr/>
        </p:nvCxnSpPr>
        <p:spPr>
          <a:xfrm>
            <a:off x="18398169" y="21784752"/>
            <a:ext cx="8331810" cy="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057" name="直線コネクタ 1056">
            <a:extLst>
              <a:ext uri="{FF2B5EF4-FFF2-40B4-BE49-F238E27FC236}">
                <a16:creationId xmlns:a16="http://schemas.microsoft.com/office/drawing/2014/main" id="{19A71CCA-C896-678B-5CB2-1BA4281E4479}"/>
              </a:ext>
            </a:extLst>
          </p:cNvPr>
          <p:cNvCxnSpPr>
            <a:cxnSpLocks/>
          </p:cNvCxnSpPr>
          <p:nvPr/>
        </p:nvCxnSpPr>
        <p:spPr>
          <a:xfrm>
            <a:off x="26729979" y="18667141"/>
            <a:ext cx="0" cy="3117611"/>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1074" name="図 1073">
            <a:extLst>
              <a:ext uri="{FF2B5EF4-FFF2-40B4-BE49-F238E27FC236}">
                <a16:creationId xmlns:a16="http://schemas.microsoft.com/office/drawing/2014/main" id="{69BEC9B2-1EF6-A10C-5659-805CAA73B4A2}"/>
              </a:ext>
            </a:extLst>
          </p:cNvPr>
          <p:cNvPicPr>
            <a:picLocks noChangeAspect="1"/>
          </p:cNvPicPr>
          <p:nvPr/>
        </p:nvPicPr>
        <p:blipFill rotWithShape="1">
          <a:blip r:embed="rId28"/>
          <a:srcRect l="33187" t="83933" r="65002" b="12353"/>
          <a:stretch/>
        </p:blipFill>
        <p:spPr>
          <a:xfrm>
            <a:off x="20738998" y="32677098"/>
            <a:ext cx="273348" cy="364090"/>
          </a:xfrm>
          <a:prstGeom prst="rect">
            <a:avLst/>
          </a:prstGeom>
        </p:spPr>
      </p:pic>
    </p:spTree>
    <p:extLst>
      <p:ext uri="{BB962C8B-B14F-4D97-AF65-F5344CB8AC3E}">
        <p14:creationId xmlns:p14="http://schemas.microsoft.com/office/powerpoint/2010/main" val="365340153"/>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a:noFill/>
        </a:ln>
      </a:spPr>
      <a:bodyPr rtlCol="0" anchor="ctr"/>
      <a:lstStyle>
        <a:defPPr algn="ctr">
          <a:defRPr kumimoji="1" sz="4800" smtClean="0">
            <a:latin typeface="MS PGothic" panose="020B0600070205080204" pitchFamily="34" charset="-128"/>
            <a:ea typeface="MS PGothic" panose="020B0600070205080204" pitchFamily="34" charset="-128"/>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27413</TotalTime>
  <Words>3797</Words>
  <Application>Microsoft Macintosh PowerPoint</Application>
  <PresentationFormat>ユーザー設定</PresentationFormat>
  <Paragraphs>645</Paragraphs>
  <Slides>4</Slides>
  <Notes>3</Notes>
  <HiddenSlides>3</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vt:i4>
      </vt:variant>
    </vt:vector>
  </HeadingPairs>
  <TitlesOfParts>
    <vt:vector size="11" baseType="lpstr">
      <vt:lpstr>MS PGothic</vt:lpstr>
      <vt:lpstr>MS PGothic</vt:lpstr>
      <vt:lpstr>游ゴシック</vt:lpstr>
      <vt:lpstr>Arial</vt:lpstr>
      <vt:lpstr>Cambria Math</vt:lpstr>
      <vt:lpstr>Times New Roman</vt:lpstr>
      <vt:lpstr>Office テーマ</vt:lpstr>
      <vt:lpstr>ディープラーニングを用いた生成画像の識別に関する研究 </vt:lpstr>
      <vt:lpstr>ディープラーニングを用いた生成画像の識別に関する研究 </vt:lpstr>
      <vt:lpstr>ディープラーニングを用いた生成画像の識別に関する研究 </vt:lpstr>
      <vt:lpstr>ディープラーニングを用いた生成画像の識別に関する研究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山富龍</dc:creator>
  <cp:lastModifiedBy>山富龍</cp:lastModifiedBy>
  <cp:revision>244</cp:revision>
  <cp:lastPrinted>2024-03-02T03:53:01Z</cp:lastPrinted>
  <dcterms:created xsi:type="dcterms:W3CDTF">2022-05-23T00:31:20Z</dcterms:created>
  <dcterms:modified xsi:type="dcterms:W3CDTF">2024-03-04T08:37:38Z</dcterms:modified>
</cp:coreProperties>
</file>