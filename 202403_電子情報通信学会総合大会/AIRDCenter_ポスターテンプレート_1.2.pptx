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9" r:id="rId2"/>
    <p:sldId id="257" r:id="rId3"/>
    <p:sldId id="258" r:id="rId4"/>
  </p:sldIdLst>
  <p:sldSz cx="30240288" cy="424799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7E79"/>
    <a:srgbClr val="FF8AD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EB344D84-9AFB-497E-A393-DC336BA19D2E}" styleName="中間スタイル 3 - アクセント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4958" autoAdjust="0"/>
    <p:restoredTop sz="94660"/>
  </p:normalViewPr>
  <p:slideViewPr>
    <p:cSldViewPr snapToGrid="0">
      <p:cViewPr>
        <p:scale>
          <a:sx n="64" d="100"/>
          <a:sy n="64" d="100"/>
        </p:scale>
        <p:origin x="648" y="-4408"/>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CFB9B762-B2B8-86FF-2745-B8929E3ACB32}"/>
              </a:ext>
            </a:extLst>
          </p:cNvPr>
          <p:cNvSpPr/>
          <p:nvPr userDrawn="1"/>
        </p:nvSpPr>
        <p:spPr>
          <a:xfrm>
            <a:off x="0" y="-14242"/>
            <a:ext cx="30258000" cy="206471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Times New Roman" panose="02020603050405020304" pitchFamily="18" charset="0"/>
              <a:cs typeface="Times New Roman" panose="02020603050405020304" pitchFamily="18" charset="0"/>
            </a:endParaRPr>
          </a:p>
        </p:txBody>
      </p:sp>
      <p:sp>
        <p:nvSpPr>
          <p:cNvPr id="2" name="Title 1"/>
          <p:cNvSpPr>
            <a:spLocks noGrp="1"/>
          </p:cNvSpPr>
          <p:nvPr>
            <p:ph type="ctrTitle"/>
          </p:nvPr>
        </p:nvSpPr>
        <p:spPr>
          <a:xfrm>
            <a:off x="4599155" y="150483"/>
            <a:ext cx="21089818" cy="890917"/>
          </a:xfrm>
        </p:spPr>
        <p:txBody>
          <a:bodyPr anchor="ctr" anchorCtr="1">
            <a:normAutofit/>
          </a:bodyPr>
          <a:lstStyle>
            <a:lvl1pPr algn="ctr">
              <a:defRPr sz="6000">
                <a:solidFill>
                  <a:schemeClr val="bg1"/>
                </a:solidFill>
              </a:defRPr>
            </a:lvl1pPr>
          </a:lstStyle>
          <a:p>
            <a:r>
              <a:rPr lang="ja-JP" altLang="en-US"/>
              <a:t>マスター タイトルの書式設定</a:t>
            </a:r>
            <a:endParaRPr lang="en-US" dirty="0"/>
          </a:p>
        </p:txBody>
      </p:sp>
      <p:sp>
        <p:nvSpPr>
          <p:cNvPr id="3" name="Subtitle 2"/>
          <p:cNvSpPr>
            <a:spLocks noGrp="1"/>
          </p:cNvSpPr>
          <p:nvPr>
            <p:ph type="subTitle" idx="1"/>
          </p:nvPr>
        </p:nvSpPr>
        <p:spPr>
          <a:xfrm>
            <a:off x="4599155" y="1206126"/>
            <a:ext cx="21087377" cy="673479"/>
          </a:xfrm>
        </p:spPr>
        <p:txBody>
          <a:bodyPr anchor="ctr" anchorCtr="1">
            <a:normAutofit/>
          </a:bodyPr>
          <a:lstStyle>
            <a:lvl1pPr marL="0" indent="0" algn="ctr">
              <a:buNone/>
              <a:defRPr sz="4800">
                <a:solidFill>
                  <a:schemeClr val="bg1"/>
                </a:solidFill>
              </a:defRPr>
            </a:lvl1pPr>
            <a:lvl2pPr marL="1512006" indent="0" algn="ctr">
              <a:buNone/>
              <a:defRPr sz="6614"/>
            </a:lvl2pPr>
            <a:lvl3pPr marL="3024012" indent="0" algn="ctr">
              <a:buNone/>
              <a:defRPr sz="5953"/>
            </a:lvl3pPr>
            <a:lvl4pPr marL="4536018" indent="0" algn="ctr">
              <a:buNone/>
              <a:defRPr sz="5291"/>
            </a:lvl4pPr>
            <a:lvl5pPr marL="6048024" indent="0" algn="ctr">
              <a:buNone/>
              <a:defRPr sz="5291"/>
            </a:lvl5pPr>
            <a:lvl6pPr marL="7560031" indent="0" algn="ctr">
              <a:buNone/>
              <a:defRPr sz="5291"/>
            </a:lvl6pPr>
            <a:lvl7pPr marL="9072037" indent="0" algn="ctr">
              <a:buNone/>
              <a:defRPr sz="5291"/>
            </a:lvl7pPr>
            <a:lvl8pPr marL="10584043" indent="0" algn="ctr">
              <a:buNone/>
              <a:defRPr sz="5291"/>
            </a:lvl8pPr>
            <a:lvl9pPr marL="12096049" indent="0" algn="ctr">
              <a:buNone/>
              <a:defRPr sz="5291"/>
            </a:lvl9pPr>
          </a:lstStyle>
          <a:p>
            <a:r>
              <a:rPr lang="ja-JP" altLang="en-US"/>
              <a:t>マスター サブタイトルの書式設定</a:t>
            </a:r>
            <a:endParaRPr lang="en-US" dirty="0"/>
          </a:p>
        </p:txBody>
      </p:sp>
      <p:pic>
        <p:nvPicPr>
          <p:cNvPr id="12" name="図 11" descr="テキスト が含まれている画像&#10;&#10;自動的に生成された説明">
            <a:extLst>
              <a:ext uri="{FF2B5EF4-FFF2-40B4-BE49-F238E27FC236}">
                <a16:creationId xmlns:a16="http://schemas.microsoft.com/office/drawing/2014/main" id="{9C282365-2A88-EDF5-623B-2D9C79D1591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034868" y="1158062"/>
            <a:ext cx="3057123" cy="724428"/>
          </a:xfrm>
          <a:prstGeom prst="rect">
            <a:avLst/>
          </a:prstGeom>
        </p:spPr>
      </p:pic>
      <p:grpSp>
        <p:nvGrpSpPr>
          <p:cNvPr id="14" name="グループ化 13">
            <a:extLst>
              <a:ext uri="{FF2B5EF4-FFF2-40B4-BE49-F238E27FC236}">
                <a16:creationId xmlns:a16="http://schemas.microsoft.com/office/drawing/2014/main" id="{B75BBDA0-7C56-3C0F-0003-AF27B005AAF8}"/>
              </a:ext>
            </a:extLst>
          </p:cNvPr>
          <p:cNvGrpSpPr/>
          <p:nvPr userDrawn="1"/>
        </p:nvGrpSpPr>
        <p:grpSpPr>
          <a:xfrm>
            <a:off x="27034870" y="132505"/>
            <a:ext cx="3057122" cy="890424"/>
            <a:chOff x="22204619" y="236738"/>
            <a:chExt cx="4200284" cy="1223384"/>
          </a:xfrm>
        </p:grpSpPr>
        <p:sp>
          <p:nvSpPr>
            <p:cNvPr id="13" name="正方形/長方形 12">
              <a:extLst>
                <a:ext uri="{FF2B5EF4-FFF2-40B4-BE49-F238E27FC236}">
                  <a16:creationId xmlns:a16="http://schemas.microsoft.com/office/drawing/2014/main" id="{191CC354-E49F-6F9B-9ABD-DCC782D7FE3B}"/>
                </a:ext>
              </a:extLst>
            </p:cNvPr>
            <p:cNvSpPr/>
            <p:nvPr userDrawn="1"/>
          </p:nvSpPr>
          <p:spPr>
            <a:xfrm>
              <a:off x="22204619" y="236738"/>
              <a:ext cx="4200284" cy="1223384"/>
            </a:xfrm>
            <a:prstGeom prst="rect">
              <a:avLst/>
            </a:prstGeom>
            <a:solidFill>
              <a:schemeClr val="bg1"/>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1" name="Picture 2" descr="湘南工科大学">
              <a:extLst>
                <a:ext uri="{FF2B5EF4-FFF2-40B4-BE49-F238E27FC236}">
                  <a16:creationId xmlns:a16="http://schemas.microsoft.com/office/drawing/2014/main" id="{A4FA65DC-C920-B31B-AA0C-CAA15D57AB3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2204619" y="236738"/>
              <a:ext cx="4200284" cy="1223384"/>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133944753"/>
      </p:ext>
    </p:extLst>
  </p:cSld>
  <p:clrMapOvr>
    <a:masterClrMapping/>
  </p:clrMapOvr>
  <p:extLst>
    <p:ext uri="{DCECCB84-F9BA-43D5-87BE-67443E8EF086}">
      <p15:sldGuideLst xmlns:p15="http://schemas.microsoft.com/office/powerpoint/2012/main">
        <p15:guide id="1" orient="horz" pos="13379" userDrawn="1">
          <p15:clr>
            <a:srgbClr val="FBAE40"/>
          </p15:clr>
        </p15:guide>
        <p15:guide id="2" pos="9524" userDrawn="1">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79020" y="2261671"/>
            <a:ext cx="26082248" cy="8210820"/>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2079020" y="11308310"/>
            <a:ext cx="26082248" cy="26953115"/>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2079020" y="39372595"/>
            <a:ext cx="6804065" cy="2261662"/>
          </a:xfrm>
          <a:prstGeom prst="rect">
            <a:avLst/>
          </a:prstGeom>
        </p:spPr>
        <p:txBody>
          <a:bodyPr vert="horz" lIns="91440" tIns="45720" rIns="91440" bIns="45720" rtlCol="0" anchor="ctr"/>
          <a:lstStyle>
            <a:lvl1pPr algn="l">
              <a:defRPr sz="3969">
                <a:solidFill>
                  <a:schemeClr val="tx1">
                    <a:tint val="75000"/>
                  </a:schemeClr>
                </a:solidFill>
                <a:latin typeface="MS PGothic" panose="020B0600070205080204" pitchFamily="34" charset="-128"/>
                <a:ea typeface="MS PGothic" panose="020B0600070205080204" pitchFamily="34" charset="-128"/>
              </a:defRPr>
            </a:lvl1pPr>
          </a:lstStyle>
          <a:p>
            <a:fld id="{FC3D127C-1B49-4030-A14A-47C3343079FD}" type="datetimeFigureOut">
              <a:rPr kumimoji="1" lang="ja-JP" altLang="en-US" smtClean="0"/>
              <a:pPr/>
              <a:t>2024/3/4</a:t>
            </a:fld>
            <a:endParaRPr kumimoji="1" lang="ja-JP" altLang="en-US"/>
          </a:p>
        </p:txBody>
      </p:sp>
      <p:sp>
        <p:nvSpPr>
          <p:cNvPr id="5" name="Footer Placeholder 4"/>
          <p:cNvSpPr>
            <a:spLocks noGrp="1"/>
          </p:cNvSpPr>
          <p:nvPr>
            <p:ph type="ftr" sz="quarter" idx="3"/>
          </p:nvPr>
        </p:nvSpPr>
        <p:spPr>
          <a:xfrm>
            <a:off x="10017096" y="39372595"/>
            <a:ext cx="10206097" cy="2261662"/>
          </a:xfrm>
          <a:prstGeom prst="rect">
            <a:avLst/>
          </a:prstGeom>
        </p:spPr>
        <p:txBody>
          <a:bodyPr vert="horz" lIns="91440" tIns="45720" rIns="91440" bIns="45720" rtlCol="0" anchor="ctr"/>
          <a:lstStyle>
            <a:lvl1pPr algn="ctr">
              <a:defRPr sz="3969">
                <a:solidFill>
                  <a:schemeClr val="tx1">
                    <a:tint val="75000"/>
                  </a:schemeClr>
                </a:solidFill>
                <a:latin typeface="MS PGothic" panose="020B0600070205080204" pitchFamily="34" charset="-128"/>
                <a:ea typeface="MS PGothic" panose="020B0600070205080204" pitchFamily="34" charset="-128"/>
              </a:defRPr>
            </a:lvl1pPr>
          </a:lstStyle>
          <a:p>
            <a:endParaRPr kumimoji="1" lang="ja-JP" altLang="en-US"/>
          </a:p>
        </p:txBody>
      </p:sp>
      <p:sp>
        <p:nvSpPr>
          <p:cNvPr id="6" name="Slide Number Placeholder 5"/>
          <p:cNvSpPr>
            <a:spLocks noGrp="1"/>
          </p:cNvSpPr>
          <p:nvPr>
            <p:ph type="sldNum" sz="quarter" idx="4"/>
          </p:nvPr>
        </p:nvSpPr>
        <p:spPr>
          <a:xfrm>
            <a:off x="21357203" y="39372595"/>
            <a:ext cx="6804065" cy="2261662"/>
          </a:xfrm>
          <a:prstGeom prst="rect">
            <a:avLst/>
          </a:prstGeom>
        </p:spPr>
        <p:txBody>
          <a:bodyPr vert="horz" lIns="91440" tIns="45720" rIns="91440" bIns="45720" rtlCol="0" anchor="ctr"/>
          <a:lstStyle>
            <a:lvl1pPr algn="r">
              <a:defRPr sz="3969">
                <a:solidFill>
                  <a:schemeClr val="tx1">
                    <a:tint val="75000"/>
                  </a:schemeClr>
                </a:solidFill>
                <a:latin typeface="MS PGothic" panose="020B0600070205080204" pitchFamily="34" charset="-128"/>
                <a:ea typeface="MS PGothic" panose="020B0600070205080204" pitchFamily="34" charset="-128"/>
              </a:defRPr>
            </a:lvl1pPr>
          </a:lstStyle>
          <a:p>
            <a:fld id="{A62A1443-9936-4EEC-9B0E-CF8A37092E09}" type="slidenum">
              <a:rPr kumimoji="1" lang="ja-JP" altLang="en-US" smtClean="0"/>
              <a:pPr/>
              <a:t>‹#›</a:t>
            </a:fld>
            <a:endParaRPr kumimoji="1" lang="ja-JP" altLang="en-US"/>
          </a:p>
        </p:txBody>
      </p:sp>
    </p:spTree>
    <p:extLst>
      <p:ext uri="{BB962C8B-B14F-4D97-AF65-F5344CB8AC3E}">
        <p14:creationId xmlns:p14="http://schemas.microsoft.com/office/powerpoint/2010/main" val="4287371860"/>
      </p:ext>
    </p:extLst>
  </p:cSld>
  <p:clrMap bg1="lt1" tx1="dk1" bg2="lt2" tx2="dk2" accent1="accent1" accent2="accent2" accent3="accent3" accent4="accent4" accent5="accent5" accent6="accent6" hlink="hlink" folHlink="folHlink"/>
  <p:sldLayoutIdLst>
    <p:sldLayoutId id="2147483661" r:id="rId1"/>
  </p:sldLayoutIdLst>
  <p:txStyles>
    <p:titleStyle>
      <a:lvl1pPr algn="l" defTabSz="3024012" rtl="0" eaLnBrk="1" latinLnBrk="0" hangingPunct="1">
        <a:lnSpc>
          <a:spcPct val="90000"/>
        </a:lnSpc>
        <a:spcBef>
          <a:spcPct val="0"/>
        </a:spcBef>
        <a:buNone/>
        <a:defRPr kumimoji="1" sz="14551" kern="1200">
          <a:solidFill>
            <a:schemeClr val="tx1"/>
          </a:solidFill>
          <a:latin typeface="MS PGothic" panose="020B0600070205080204" pitchFamily="34" charset="-128"/>
          <a:ea typeface="MS PGothic" panose="020B0600070205080204" pitchFamily="34" charset="-128"/>
          <a:cs typeface="+mj-cs"/>
        </a:defRPr>
      </a:lvl1pPr>
    </p:titleStyle>
    <p:bodyStyle>
      <a:lvl1pPr marL="756003" indent="-756003" algn="l" defTabSz="3024012" rtl="0" eaLnBrk="1" latinLnBrk="0" hangingPunct="1">
        <a:lnSpc>
          <a:spcPct val="90000"/>
        </a:lnSpc>
        <a:spcBef>
          <a:spcPts val="3307"/>
        </a:spcBef>
        <a:buFont typeface="Arial" panose="020B0604020202020204" pitchFamily="34" charset="0"/>
        <a:buChar char="•"/>
        <a:defRPr kumimoji="1" sz="9260" kern="1200">
          <a:solidFill>
            <a:schemeClr val="tx1"/>
          </a:solidFill>
          <a:latin typeface="MS PGothic" panose="020B0600070205080204" pitchFamily="34" charset="-128"/>
          <a:ea typeface="MS PGothic" panose="020B0600070205080204" pitchFamily="34" charset="-128"/>
          <a:cs typeface="+mn-cs"/>
        </a:defRPr>
      </a:lvl1pPr>
      <a:lvl2pPr marL="2268009" indent="-756003" algn="l" defTabSz="3024012" rtl="0" eaLnBrk="1" latinLnBrk="0" hangingPunct="1">
        <a:lnSpc>
          <a:spcPct val="90000"/>
        </a:lnSpc>
        <a:spcBef>
          <a:spcPts val="1654"/>
        </a:spcBef>
        <a:buFont typeface="Arial" panose="020B0604020202020204" pitchFamily="34" charset="0"/>
        <a:buChar char="•"/>
        <a:defRPr kumimoji="1" sz="7937" kern="1200">
          <a:solidFill>
            <a:schemeClr val="tx1"/>
          </a:solidFill>
          <a:latin typeface="MS PGothic" panose="020B0600070205080204" pitchFamily="34" charset="-128"/>
          <a:ea typeface="MS PGothic" panose="020B0600070205080204" pitchFamily="34" charset="-128"/>
          <a:cs typeface="+mn-cs"/>
        </a:defRPr>
      </a:lvl2pPr>
      <a:lvl3pPr marL="3780015" indent="-756003" algn="l" defTabSz="3024012" rtl="0" eaLnBrk="1" latinLnBrk="0" hangingPunct="1">
        <a:lnSpc>
          <a:spcPct val="90000"/>
        </a:lnSpc>
        <a:spcBef>
          <a:spcPts val="1654"/>
        </a:spcBef>
        <a:buFont typeface="Arial" panose="020B0604020202020204" pitchFamily="34" charset="0"/>
        <a:buChar char="•"/>
        <a:defRPr kumimoji="1" sz="6614" kern="1200">
          <a:solidFill>
            <a:schemeClr val="tx1"/>
          </a:solidFill>
          <a:latin typeface="MS PGothic" panose="020B0600070205080204" pitchFamily="34" charset="-128"/>
          <a:ea typeface="MS PGothic" panose="020B0600070205080204" pitchFamily="34" charset="-128"/>
          <a:cs typeface="+mn-cs"/>
        </a:defRPr>
      </a:lvl3pPr>
      <a:lvl4pPr marL="5292021" indent="-756003" algn="l" defTabSz="3024012" rtl="0" eaLnBrk="1" latinLnBrk="0" hangingPunct="1">
        <a:lnSpc>
          <a:spcPct val="90000"/>
        </a:lnSpc>
        <a:spcBef>
          <a:spcPts val="1654"/>
        </a:spcBef>
        <a:buFont typeface="Arial" panose="020B0604020202020204" pitchFamily="34" charset="0"/>
        <a:buChar char="•"/>
        <a:defRPr kumimoji="1" sz="5953" kern="1200">
          <a:solidFill>
            <a:schemeClr val="tx1"/>
          </a:solidFill>
          <a:latin typeface="MS PGothic" panose="020B0600070205080204" pitchFamily="34" charset="-128"/>
          <a:ea typeface="MS PGothic" panose="020B0600070205080204" pitchFamily="34" charset="-128"/>
          <a:cs typeface="+mn-cs"/>
        </a:defRPr>
      </a:lvl4pPr>
      <a:lvl5pPr marL="6804028" indent="-756003" algn="l" defTabSz="3024012" rtl="0" eaLnBrk="1" latinLnBrk="0" hangingPunct="1">
        <a:lnSpc>
          <a:spcPct val="90000"/>
        </a:lnSpc>
        <a:spcBef>
          <a:spcPts val="1654"/>
        </a:spcBef>
        <a:buFont typeface="Arial" panose="020B0604020202020204" pitchFamily="34" charset="0"/>
        <a:buChar char="•"/>
        <a:defRPr kumimoji="1" sz="5953" kern="1200">
          <a:solidFill>
            <a:schemeClr val="tx1"/>
          </a:solidFill>
          <a:latin typeface="MS PGothic" panose="020B0600070205080204" pitchFamily="34" charset="-128"/>
          <a:ea typeface="MS PGothic" panose="020B0600070205080204" pitchFamily="34" charset="-128"/>
          <a:cs typeface="+mn-cs"/>
        </a:defRPr>
      </a:lvl5pPr>
      <a:lvl6pPr marL="8316034" indent="-756003" algn="l" defTabSz="3024012" rtl="0" eaLnBrk="1" latinLnBrk="0" hangingPunct="1">
        <a:lnSpc>
          <a:spcPct val="90000"/>
        </a:lnSpc>
        <a:spcBef>
          <a:spcPts val="1654"/>
        </a:spcBef>
        <a:buFont typeface="Arial" panose="020B0604020202020204" pitchFamily="34" charset="0"/>
        <a:buChar char="•"/>
        <a:defRPr kumimoji="1" sz="5953" kern="1200">
          <a:solidFill>
            <a:schemeClr val="tx1"/>
          </a:solidFill>
          <a:latin typeface="+mn-lt"/>
          <a:ea typeface="+mn-ea"/>
          <a:cs typeface="+mn-cs"/>
        </a:defRPr>
      </a:lvl6pPr>
      <a:lvl7pPr marL="9828040" indent="-756003" algn="l" defTabSz="3024012" rtl="0" eaLnBrk="1" latinLnBrk="0" hangingPunct="1">
        <a:lnSpc>
          <a:spcPct val="90000"/>
        </a:lnSpc>
        <a:spcBef>
          <a:spcPts val="1654"/>
        </a:spcBef>
        <a:buFont typeface="Arial" panose="020B0604020202020204" pitchFamily="34" charset="0"/>
        <a:buChar char="•"/>
        <a:defRPr kumimoji="1" sz="5953" kern="1200">
          <a:solidFill>
            <a:schemeClr val="tx1"/>
          </a:solidFill>
          <a:latin typeface="+mn-lt"/>
          <a:ea typeface="+mn-ea"/>
          <a:cs typeface="+mn-cs"/>
        </a:defRPr>
      </a:lvl7pPr>
      <a:lvl8pPr marL="11340046" indent="-756003" algn="l" defTabSz="3024012" rtl="0" eaLnBrk="1" latinLnBrk="0" hangingPunct="1">
        <a:lnSpc>
          <a:spcPct val="90000"/>
        </a:lnSpc>
        <a:spcBef>
          <a:spcPts val="1654"/>
        </a:spcBef>
        <a:buFont typeface="Arial" panose="020B0604020202020204" pitchFamily="34" charset="0"/>
        <a:buChar char="•"/>
        <a:defRPr kumimoji="1" sz="5953" kern="1200">
          <a:solidFill>
            <a:schemeClr val="tx1"/>
          </a:solidFill>
          <a:latin typeface="+mn-lt"/>
          <a:ea typeface="+mn-ea"/>
          <a:cs typeface="+mn-cs"/>
        </a:defRPr>
      </a:lvl8pPr>
      <a:lvl9pPr marL="12852052" indent="-756003" algn="l" defTabSz="3024012" rtl="0" eaLnBrk="1" latinLnBrk="0" hangingPunct="1">
        <a:lnSpc>
          <a:spcPct val="90000"/>
        </a:lnSpc>
        <a:spcBef>
          <a:spcPts val="1654"/>
        </a:spcBef>
        <a:buFont typeface="Arial" panose="020B0604020202020204" pitchFamily="34" charset="0"/>
        <a:buChar char="•"/>
        <a:defRPr kumimoji="1" sz="5953" kern="1200">
          <a:solidFill>
            <a:schemeClr val="tx1"/>
          </a:solidFill>
          <a:latin typeface="+mn-lt"/>
          <a:ea typeface="+mn-ea"/>
          <a:cs typeface="+mn-cs"/>
        </a:defRPr>
      </a:lvl9pPr>
    </p:bodyStyle>
    <p:otherStyle>
      <a:defPPr>
        <a:defRPr lang="en-US"/>
      </a:defPPr>
      <a:lvl1pPr marL="0" algn="l" defTabSz="3024012" rtl="0" eaLnBrk="1" latinLnBrk="0" hangingPunct="1">
        <a:defRPr kumimoji="1" sz="5953" kern="1200">
          <a:solidFill>
            <a:schemeClr val="tx1"/>
          </a:solidFill>
          <a:latin typeface="+mn-lt"/>
          <a:ea typeface="+mn-ea"/>
          <a:cs typeface="+mn-cs"/>
        </a:defRPr>
      </a:lvl1pPr>
      <a:lvl2pPr marL="1512006" algn="l" defTabSz="3024012" rtl="0" eaLnBrk="1" latinLnBrk="0" hangingPunct="1">
        <a:defRPr kumimoji="1" sz="5953" kern="1200">
          <a:solidFill>
            <a:schemeClr val="tx1"/>
          </a:solidFill>
          <a:latin typeface="+mn-lt"/>
          <a:ea typeface="+mn-ea"/>
          <a:cs typeface="+mn-cs"/>
        </a:defRPr>
      </a:lvl2pPr>
      <a:lvl3pPr marL="3024012" algn="l" defTabSz="3024012" rtl="0" eaLnBrk="1" latinLnBrk="0" hangingPunct="1">
        <a:defRPr kumimoji="1" sz="5953" kern="1200">
          <a:solidFill>
            <a:schemeClr val="tx1"/>
          </a:solidFill>
          <a:latin typeface="+mn-lt"/>
          <a:ea typeface="+mn-ea"/>
          <a:cs typeface="+mn-cs"/>
        </a:defRPr>
      </a:lvl3pPr>
      <a:lvl4pPr marL="4536018" algn="l" defTabSz="3024012" rtl="0" eaLnBrk="1" latinLnBrk="0" hangingPunct="1">
        <a:defRPr kumimoji="1" sz="5953" kern="1200">
          <a:solidFill>
            <a:schemeClr val="tx1"/>
          </a:solidFill>
          <a:latin typeface="+mn-lt"/>
          <a:ea typeface="+mn-ea"/>
          <a:cs typeface="+mn-cs"/>
        </a:defRPr>
      </a:lvl4pPr>
      <a:lvl5pPr marL="6048024" algn="l" defTabSz="3024012" rtl="0" eaLnBrk="1" latinLnBrk="0" hangingPunct="1">
        <a:defRPr kumimoji="1" sz="5953" kern="1200">
          <a:solidFill>
            <a:schemeClr val="tx1"/>
          </a:solidFill>
          <a:latin typeface="+mn-lt"/>
          <a:ea typeface="+mn-ea"/>
          <a:cs typeface="+mn-cs"/>
        </a:defRPr>
      </a:lvl5pPr>
      <a:lvl6pPr marL="7560031" algn="l" defTabSz="3024012" rtl="0" eaLnBrk="1" latinLnBrk="0" hangingPunct="1">
        <a:defRPr kumimoji="1" sz="5953" kern="1200">
          <a:solidFill>
            <a:schemeClr val="tx1"/>
          </a:solidFill>
          <a:latin typeface="+mn-lt"/>
          <a:ea typeface="+mn-ea"/>
          <a:cs typeface="+mn-cs"/>
        </a:defRPr>
      </a:lvl6pPr>
      <a:lvl7pPr marL="9072037" algn="l" defTabSz="3024012" rtl="0" eaLnBrk="1" latinLnBrk="0" hangingPunct="1">
        <a:defRPr kumimoji="1" sz="5953" kern="1200">
          <a:solidFill>
            <a:schemeClr val="tx1"/>
          </a:solidFill>
          <a:latin typeface="+mn-lt"/>
          <a:ea typeface="+mn-ea"/>
          <a:cs typeface="+mn-cs"/>
        </a:defRPr>
      </a:lvl7pPr>
      <a:lvl8pPr marL="10584043" algn="l" defTabSz="3024012" rtl="0" eaLnBrk="1" latinLnBrk="0" hangingPunct="1">
        <a:defRPr kumimoji="1" sz="5953" kern="1200">
          <a:solidFill>
            <a:schemeClr val="tx1"/>
          </a:solidFill>
          <a:latin typeface="+mn-lt"/>
          <a:ea typeface="+mn-ea"/>
          <a:cs typeface="+mn-cs"/>
        </a:defRPr>
      </a:lvl8pPr>
      <a:lvl9pPr marL="12096049" algn="l" defTabSz="3024012" rtl="0" eaLnBrk="1" latinLnBrk="0" hangingPunct="1">
        <a:defRPr kumimoji="1" sz="595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image" Target="../media/image4.jpeg"/><Relationship Id="rId18" Type="http://schemas.openxmlformats.org/officeDocument/2006/relationships/image" Target="NULL"/><Relationship Id="rId26" Type="http://schemas.openxmlformats.org/officeDocument/2006/relationships/image" Target="NULL"/><Relationship Id="rId3" Type="http://schemas.openxmlformats.org/officeDocument/2006/relationships/image" Target="NULL"/><Relationship Id="rId21" Type="http://schemas.openxmlformats.org/officeDocument/2006/relationships/image" Target="NULL"/><Relationship Id="rId7" Type="http://schemas.openxmlformats.org/officeDocument/2006/relationships/image" Target="NULL"/><Relationship Id="rId12" Type="http://schemas.openxmlformats.org/officeDocument/2006/relationships/image" Target="NULL"/><Relationship Id="rId17" Type="http://schemas.openxmlformats.org/officeDocument/2006/relationships/image" Target="NULL"/><Relationship Id="rId25" Type="http://schemas.openxmlformats.org/officeDocument/2006/relationships/image" Target="NULL"/><Relationship Id="rId33" Type="http://schemas.openxmlformats.org/officeDocument/2006/relationships/image" Target="../media/image11.jpeg"/><Relationship Id="rId2" Type="http://schemas.openxmlformats.org/officeDocument/2006/relationships/image" Target="../media/image3.png"/><Relationship Id="rId16" Type="http://schemas.openxmlformats.org/officeDocument/2006/relationships/image" Target="NULL"/><Relationship Id="rId20" Type="http://schemas.openxmlformats.org/officeDocument/2006/relationships/image" Target="NULL"/><Relationship Id="rId29"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image" Target="NULL"/><Relationship Id="rId11" Type="http://schemas.openxmlformats.org/officeDocument/2006/relationships/image" Target="NULL"/><Relationship Id="rId24" Type="http://schemas.openxmlformats.org/officeDocument/2006/relationships/image" Target="NULL"/><Relationship Id="rId32" Type="http://schemas.openxmlformats.org/officeDocument/2006/relationships/image" Target="../media/image10.png"/><Relationship Id="rId5" Type="http://schemas.openxmlformats.org/officeDocument/2006/relationships/image" Target="NULL"/><Relationship Id="rId15" Type="http://schemas.openxmlformats.org/officeDocument/2006/relationships/image" Target="NULL"/><Relationship Id="rId23" Type="http://schemas.openxmlformats.org/officeDocument/2006/relationships/image" Target="NULL"/><Relationship Id="rId28" Type="http://schemas.openxmlformats.org/officeDocument/2006/relationships/image" Target="../media/image6.png"/><Relationship Id="rId10" Type="http://schemas.openxmlformats.org/officeDocument/2006/relationships/image" Target="NULL"/><Relationship Id="rId19" Type="http://schemas.openxmlformats.org/officeDocument/2006/relationships/image" Target="NULL"/><Relationship Id="rId31" Type="http://schemas.openxmlformats.org/officeDocument/2006/relationships/image" Target="../media/image9.png"/><Relationship Id="rId4" Type="http://schemas.openxmlformats.org/officeDocument/2006/relationships/image" Target="NULL"/><Relationship Id="rId9" Type="http://schemas.openxmlformats.org/officeDocument/2006/relationships/image" Target="NULL"/><Relationship Id="rId22" Type="http://schemas.openxmlformats.org/officeDocument/2006/relationships/image" Target="../media/image5.png"/><Relationship Id="rId27" Type="http://schemas.openxmlformats.org/officeDocument/2006/relationships/image" Target="NULL"/><Relationship Id="rId30"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14.png"/><Relationship Id="rId18" Type="http://schemas.openxmlformats.org/officeDocument/2006/relationships/image" Target="../media/image19.png"/><Relationship Id="rId26" Type="http://schemas.openxmlformats.org/officeDocument/2006/relationships/image" Target="../media/image26.png"/><Relationship Id="rId3" Type="http://schemas.openxmlformats.org/officeDocument/2006/relationships/image" Target="../media/image11.jpeg"/><Relationship Id="rId21" Type="http://schemas.openxmlformats.org/officeDocument/2006/relationships/image" Target="../media/image5.png"/><Relationship Id="rId7" Type="http://schemas.openxmlformats.org/officeDocument/2006/relationships/image" Target="../media/image26.png"/><Relationship Id="rId12" Type="http://schemas.openxmlformats.org/officeDocument/2006/relationships/image" Target="../media/image13.png"/><Relationship Id="rId17" Type="http://schemas.openxmlformats.org/officeDocument/2006/relationships/image" Target="../media/image18.png"/><Relationship Id="rId25" Type="http://schemas.openxmlformats.org/officeDocument/2006/relationships/image" Target="../media/image22.png"/><Relationship Id="rId2" Type="http://schemas.openxmlformats.org/officeDocument/2006/relationships/image" Target="../media/image4.jpeg"/><Relationship Id="rId16" Type="http://schemas.openxmlformats.org/officeDocument/2006/relationships/image" Target="../media/image17.png"/><Relationship Id="rId20" Type="http://schemas.openxmlformats.org/officeDocument/2006/relationships/image" Target="../media/image21.png"/><Relationship Id="rId1" Type="http://schemas.openxmlformats.org/officeDocument/2006/relationships/slideLayout" Target="../slideLayouts/slideLayout1.xml"/><Relationship Id="rId6" Type="http://schemas.openxmlformats.org/officeDocument/2006/relationships/image" Target="../media/image22.png"/><Relationship Id="rId11" Type="http://schemas.openxmlformats.org/officeDocument/2006/relationships/image" Target="../media/image12.png"/><Relationship Id="rId24" Type="http://schemas.openxmlformats.org/officeDocument/2006/relationships/image" Target="../media/image25.png"/><Relationship Id="rId5" Type="http://schemas.openxmlformats.org/officeDocument/2006/relationships/image" Target="../media/image60.png"/><Relationship Id="rId15" Type="http://schemas.openxmlformats.org/officeDocument/2006/relationships/image" Target="../media/image16.png"/><Relationship Id="rId23" Type="http://schemas.openxmlformats.org/officeDocument/2006/relationships/image" Target="../media/image24.png"/><Relationship Id="rId28" Type="http://schemas.openxmlformats.org/officeDocument/2006/relationships/image" Target="../media/image28.png"/><Relationship Id="rId10" Type="http://schemas.openxmlformats.org/officeDocument/2006/relationships/image" Target="../media/image11.png"/><Relationship Id="rId19" Type="http://schemas.openxmlformats.org/officeDocument/2006/relationships/image" Target="../media/image20.png"/><Relationship Id="rId4" Type="http://schemas.openxmlformats.org/officeDocument/2006/relationships/image" Target="../media/image3.png"/><Relationship Id="rId9" Type="http://schemas.openxmlformats.org/officeDocument/2006/relationships/image" Target="../media/image28.png"/><Relationship Id="rId14" Type="http://schemas.openxmlformats.org/officeDocument/2006/relationships/image" Target="../media/image15.png"/><Relationship Id="rId22" Type="http://schemas.openxmlformats.org/officeDocument/2006/relationships/image" Target="../media/image23.png"/><Relationship Id="rId27" Type="http://schemas.openxmlformats.org/officeDocument/2006/relationships/image" Target="../media/image27.png"/></Relationships>
</file>

<file path=ppt/slides/_rels/slide3.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39.png"/><Relationship Id="rId18" Type="http://schemas.openxmlformats.org/officeDocument/2006/relationships/image" Target="../media/image43.png"/><Relationship Id="rId26" Type="http://schemas.openxmlformats.org/officeDocument/2006/relationships/image" Target="../media/image9.png"/><Relationship Id="rId3" Type="http://schemas.openxmlformats.org/officeDocument/2006/relationships/image" Target="../media/image11.jpeg"/><Relationship Id="rId21" Type="http://schemas.openxmlformats.org/officeDocument/2006/relationships/image" Target="../media/image5.png"/><Relationship Id="rId7" Type="http://schemas.openxmlformats.org/officeDocument/2006/relationships/image" Target="../media/image33.png"/><Relationship Id="rId12" Type="http://schemas.openxmlformats.org/officeDocument/2006/relationships/image" Target="../media/image38.png"/><Relationship Id="rId17" Type="http://schemas.openxmlformats.org/officeDocument/2006/relationships/image" Target="../media/image3.png"/><Relationship Id="rId25" Type="http://schemas.openxmlformats.org/officeDocument/2006/relationships/image" Target="../media/image7.png"/><Relationship Id="rId2" Type="http://schemas.openxmlformats.org/officeDocument/2006/relationships/image" Target="../media/image4.jpeg"/><Relationship Id="rId16" Type="http://schemas.openxmlformats.org/officeDocument/2006/relationships/image" Target="../media/image42.png"/><Relationship Id="rId20" Type="http://schemas.openxmlformats.org/officeDocument/2006/relationships/image" Target="../media/image45.png"/><Relationship Id="rId29" Type="http://schemas.openxmlformats.org/officeDocument/2006/relationships/image" Target="../media/image490.png"/><Relationship Id="rId1" Type="http://schemas.openxmlformats.org/officeDocument/2006/relationships/slideLayout" Target="../slideLayouts/slideLayout1.xml"/><Relationship Id="rId6" Type="http://schemas.openxmlformats.org/officeDocument/2006/relationships/image" Target="../media/image32.png"/><Relationship Id="rId11" Type="http://schemas.openxmlformats.org/officeDocument/2006/relationships/image" Target="../media/image37.png"/><Relationship Id="rId24" Type="http://schemas.openxmlformats.org/officeDocument/2006/relationships/image" Target="../media/image48.png"/><Relationship Id="rId5" Type="http://schemas.openxmlformats.org/officeDocument/2006/relationships/image" Target="../media/image31.png"/><Relationship Id="rId15" Type="http://schemas.openxmlformats.org/officeDocument/2006/relationships/image" Target="../media/image41.png"/><Relationship Id="rId23" Type="http://schemas.openxmlformats.org/officeDocument/2006/relationships/image" Target="../media/image47.png"/><Relationship Id="rId28" Type="http://schemas.openxmlformats.org/officeDocument/2006/relationships/image" Target="../media/image6.png"/><Relationship Id="rId10" Type="http://schemas.openxmlformats.org/officeDocument/2006/relationships/image" Target="../media/image36.png"/><Relationship Id="rId19" Type="http://schemas.openxmlformats.org/officeDocument/2006/relationships/image" Target="../media/image29.png"/><Relationship Id="rId4" Type="http://schemas.openxmlformats.org/officeDocument/2006/relationships/image" Target="../media/image30.png"/><Relationship Id="rId9" Type="http://schemas.openxmlformats.org/officeDocument/2006/relationships/image" Target="../media/image35.png"/><Relationship Id="rId14" Type="http://schemas.openxmlformats.org/officeDocument/2006/relationships/image" Target="../media/image40.png"/><Relationship Id="rId22" Type="http://schemas.openxmlformats.org/officeDocument/2006/relationships/image" Target="../media/image46.png"/><Relationship Id="rId27"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1B6D45F-B603-43C3-990D-E2BDB474793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96BEC64-A6AA-B645-A03F-CAA3F36DC4B9}"/>
              </a:ext>
            </a:extLst>
          </p:cNvPr>
          <p:cNvSpPr>
            <a:spLocks noGrp="1"/>
          </p:cNvSpPr>
          <p:nvPr>
            <p:ph type="ctrTitle"/>
          </p:nvPr>
        </p:nvSpPr>
        <p:spPr/>
        <p:txBody>
          <a:bodyPr>
            <a:normAutofit fontScale="90000"/>
          </a:bodyPr>
          <a:lstStyle/>
          <a:p>
            <a:r>
              <a:rPr kumimoji="1" lang="en-US" altLang="ja-JP" dirty="0"/>
              <a:t>Transformer</a:t>
            </a:r>
            <a:r>
              <a:rPr kumimoji="1" lang="ja-JP" altLang="en-US"/>
              <a:t>を用いた大喜利の生成に関する研究</a:t>
            </a:r>
          </a:p>
        </p:txBody>
      </p:sp>
      <p:sp>
        <p:nvSpPr>
          <p:cNvPr id="3" name="字幕 2">
            <a:extLst>
              <a:ext uri="{FF2B5EF4-FFF2-40B4-BE49-F238E27FC236}">
                <a16:creationId xmlns:a16="http://schemas.microsoft.com/office/drawing/2014/main" id="{E0A9EA28-53B5-D48D-237F-1AD40E826C02}"/>
              </a:ext>
            </a:extLst>
          </p:cNvPr>
          <p:cNvSpPr>
            <a:spLocks noGrp="1"/>
          </p:cNvSpPr>
          <p:nvPr>
            <p:ph type="subTitle" idx="1"/>
          </p:nvPr>
        </p:nvSpPr>
        <p:spPr/>
        <p:txBody>
          <a:bodyPr>
            <a:normAutofit fontScale="92500" lnSpcReduction="10000"/>
          </a:bodyPr>
          <a:lstStyle/>
          <a:p>
            <a:r>
              <a:rPr kumimoji="1" lang="ja-JP" altLang="en-US"/>
              <a:t>山富 龍，シェヘラザード マハブービ，二宮 洋</a:t>
            </a:r>
            <a:r>
              <a:rPr kumimoji="1" lang="en-US" altLang="ja-JP" dirty="0"/>
              <a:t> (</a:t>
            </a:r>
            <a:r>
              <a:rPr kumimoji="1" lang="ja-JP" altLang="en-US"/>
              <a:t>湘南工科大学</a:t>
            </a:r>
            <a:r>
              <a:rPr kumimoji="1" lang="en-US" altLang="ja-JP" dirty="0"/>
              <a:t>)</a:t>
            </a:r>
            <a:endParaRPr kumimoji="1" lang="ja-JP" altLang="en-US"/>
          </a:p>
        </p:txBody>
      </p:sp>
      <p:sp>
        <p:nvSpPr>
          <p:cNvPr id="4" name="正方形/長方形 3">
            <a:extLst>
              <a:ext uri="{FF2B5EF4-FFF2-40B4-BE49-F238E27FC236}">
                <a16:creationId xmlns:a16="http://schemas.microsoft.com/office/drawing/2014/main" id="{E9155F89-CC99-382B-930C-364AFBBC5285}"/>
              </a:ext>
            </a:extLst>
          </p:cNvPr>
          <p:cNvSpPr/>
          <p:nvPr/>
        </p:nvSpPr>
        <p:spPr>
          <a:xfrm>
            <a:off x="203200" y="2288708"/>
            <a:ext cx="14681200" cy="17592844"/>
          </a:xfrm>
          <a:prstGeom prst="rect">
            <a:avLst/>
          </a:prstGeom>
          <a:solidFill>
            <a:schemeClr val="bg1"/>
          </a:solid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正方形/長方形 4">
            <a:extLst>
              <a:ext uri="{FF2B5EF4-FFF2-40B4-BE49-F238E27FC236}">
                <a16:creationId xmlns:a16="http://schemas.microsoft.com/office/drawing/2014/main" id="{A9E90CEF-9F74-C476-F572-2F9C344B4FB3}"/>
              </a:ext>
            </a:extLst>
          </p:cNvPr>
          <p:cNvSpPr/>
          <p:nvPr/>
        </p:nvSpPr>
        <p:spPr>
          <a:xfrm>
            <a:off x="203200" y="2288708"/>
            <a:ext cx="14681200" cy="849085"/>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4800">
                <a:latin typeface="MS PGothic" panose="020B0600070205080204" pitchFamily="34" charset="-128"/>
                <a:ea typeface="MS PGothic" panose="020B0600070205080204" pitchFamily="34" charset="-128"/>
              </a:rPr>
              <a:t>背景</a:t>
            </a:r>
          </a:p>
        </p:txBody>
      </p:sp>
      <p:sp>
        <p:nvSpPr>
          <p:cNvPr id="6" name="テキスト ボックス 5">
            <a:extLst>
              <a:ext uri="{FF2B5EF4-FFF2-40B4-BE49-F238E27FC236}">
                <a16:creationId xmlns:a16="http://schemas.microsoft.com/office/drawing/2014/main" id="{639C3CC5-541F-AF4C-7D8A-3F75ED98CB91}"/>
              </a:ext>
            </a:extLst>
          </p:cNvPr>
          <p:cNvSpPr txBox="1"/>
          <p:nvPr/>
        </p:nvSpPr>
        <p:spPr>
          <a:xfrm>
            <a:off x="203199" y="3169285"/>
            <a:ext cx="14681200" cy="16712267"/>
          </a:xfrm>
          <a:prstGeom prst="rect">
            <a:avLst/>
          </a:prstGeom>
          <a:noFill/>
        </p:spPr>
        <p:txBody>
          <a:bodyPr wrap="square" rtlCol="0">
            <a:spAutoFit/>
          </a:bodyPr>
          <a:lstStyle/>
          <a:p>
            <a:pPr indent="457200" algn="just"/>
            <a:r>
              <a:rPr kumimoji="1" lang="ja-JP" altLang="en-US" sz="4000" dirty="0">
                <a:latin typeface="MS PGothic" panose="020B0600070205080204" pitchFamily="34" charset="-128"/>
                <a:ea typeface="MS PGothic" panose="020B0600070205080204" pitchFamily="34" charset="-128"/>
              </a:rPr>
              <a:t>近年，画像に対し大喜利文章を生成する研究が行われている</a:t>
            </a:r>
            <a:r>
              <a:rPr kumimoji="1" lang="en-US" altLang="ja-JP" sz="4000" dirty="0">
                <a:latin typeface="MS PGothic" panose="020B0600070205080204" pitchFamily="34" charset="-128"/>
                <a:ea typeface="MS PGothic" panose="020B0600070205080204" pitchFamily="34" charset="-128"/>
              </a:rPr>
              <a:t>[1]</a:t>
            </a:r>
            <a:r>
              <a:rPr kumimoji="1" lang="ja-JP" altLang="en-US" sz="4000" dirty="0">
                <a:latin typeface="MS PGothic" panose="020B0600070205080204" pitchFamily="34" charset="-128"/>
                <a:ea typeface="MS PGothic" panose="020B0600070205080204" pitchFamily="34" charset="-128"/>
              </a:rPr>
              <a:t>，</a:t>
            </a:r>
            <a:r>
              <a:rPr kumimoji="1" lang="en-US" altLang="ja-JP" sz="4000" dirty="0">
                <a:latin typeface="MS PGothic" panose="020B0600070205080204" pitchFamily="34" charset="-128"/>
                <a:ea typeface="MS PGothic" panose="020B0600070205080204" pitchFamily="34" charset="-128"/>
              </a:rPr>
              <a:t>[2]</a:t>
            </a:r>
            <a:r>
              <a:rPr kumimoji="1" lang="ja-JP" altLang="en-US" sz="4000" dirty="0">
                <a:latin typeface="MS PGothic" panose="020B0600070205080204" pitchFamily="34" charset="-128"/>
                <a:ea typeface="MS PGothic" panose="020B0600070205080204" pitchFamily="34" charset="-128"/>
              </a:rPr>
              <a:t>．これらの手法では</a:t>
            </a:r>
            <a:r>
              <a:rPr kumimoji="1" lang="ja-JP" altLang="en-US" sz="4000">
                <a:latin typeface="MS PGothic" panose="020B0600070205080204" pitchFamily="34" charset="-128"/>
                <a:ea typeface="MS PGothic" panose="020B0600070205080204" pitchFamily="34" charset="-128"/>
              </a:rPr>
              <a:t>，</a:t>
            </a:r>
            <a:r>
              <a:rPr kumimoji="1" lang="en-US" altLang="ja-JP" sz="4000" b="1" dirty="0">
                <a:latin typeface="MS PGothic" panose="020B0600070205080204" pitchFamily="34" charset="-128"/>
                <a:ea typeface="MS PGothic" panose="020B0600070205080204" pitchFamily="34" charset="-128"/>
              </a:rPr>
              <a:t>CNN+LSTM</a:t>
            </a:r>
            <a:r>
              <a:rPr kumimoji="1" lang="ja-JP" altLang="en-US" sz="4000" dirty="0">
                <a:latin typeface="MS PGothic" panose="020B0600070205080204" pitchFamily="34" charset="-128"/>
                <a:ea typeface="MS PGothic" panose="020B0600070205080204" pitchFamily="34" charset="-128"/>
              </a:rPr>
              <a:t>の画像キャプション生成モデルに，大喜利投稿サイト「ボケて」</a:t>
            </a:r>
            <a:r>
              <a:rPr kumimoji="1" lang="en-US" altLang="ja-JP" sz="4000" dirty="0">
                <a:latin typeface="MS PGothic" panose="020B0600070205080204" pitchFamily="34" charset="-128"/>
                <a:ea typeface="MS PGothic" panose="020B0600070205080204" pitchFamily="34" charset="-128"/>
              </a:rPr>
              <a:t>[3]</a:t>
            </a:r>
            <a:r>
              <a:rPr kumimoji="1" lang="ja-JP" altLang="en-US" sz="4000" dirty="0">
                <a:latin typeface="MS PGothic" panose="020B0600070205080204" pitchFamily="34" charset="-128"/>
                <a:ea typeface="MS PGothic" panose="020B0600070205080204" pitchFamily="34" charset="-128"/>
              </a:rPr>
              <a:t>の画像と大喜利を学習させて</a:t>
            </a:r>
            <a:r>
              <a:rPr kumimoji="1" lang="ja-JP" altLang="en-US" sz="4000">
                <a:latin typeface="MS PGothic" panose="020B0600070205080204" pitchFamily="34" charset="-128"/>
                <a:ea typeface="MS PGothic" panose="020B0600070205080204" pitchFamily="34" charset="-128"/>
              </a:rPr>
              <a:t>いる．</a:t>
            </a:r>
            <a:r>
              <a:rPr kumimoji="1" lang="en-US" altLang="ja-JP" sz="4000" dirty="0">
                <a:latin typeface="MS PGothic" panose="020B0600070205080204" pitchFamily="34" charset="-128"/>
                <a:ea typeface="MS PGothic" panose="020B0600070205080204" pitchFamily="34" charset="-128"/>
              </a:rPr>
              <a:t>LSTM</a:t>
            </a:r>
            <a:r>
              <a:rPr kumimoji="1" lang="ja-JP" altLang="en-US" sz="4000">
                <a:latin typeface="MS PGothic" panose="020B0600070205080204" pitchFamily="34" charset="-128"/>
                <a:ea typeface="MS PGothic" panose="020B0600070205080204" pitchFamily="34" charset="-128"/>
              </a:rPr>
              <a:t>等の再帰的ニューラルネットワークは長期</a:t>
            </a:r>
            <a:r>
              <a:rPr kumimoji="1" lang="ja-JP" altLang="en-US" sz="4000" dirty="0">
                <a:latin typeface="MS PGothic" panose="020B0600070205080204" pitchFamily="34" charset="-128"/>
                <a:ea typeface="MS PGothic" panose="020B0600070205080204" pitchFamily="34" charset="-128"/>
              </a:rPr>
              <a:t>の記憶保持に難があり，このため高精度に大喜利を生成できていない．</a:t>
            </a:r>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p:txBody>
      </p:sp>
      <p:sp>
        <p:nvSpPr>
          <p:cNvPr id="14" name="テキスト ボックス 13">
            <a:extLst>
              <a:ext uri="{FF2B5EF4-FFF2-40B4-BE49-F238E27FC236}">
                <a16:creationId xmlns:a16="http://schemas.microsoft.com/office/drawing/2014/main" id="{8D7C9ADB-B95E-949C-A1DA-44739C21FE17}"/>
              </a:ext>
            </a:extLst>
          </p:cNvPr>
          <p:cNvSpPr txBox="1"/>
          <p:nvPr/>
        </p:nvSpPr>
        <p:spPr>
          <a:xfrm>
            <a:off x="203200" y="41199730"/>
            <a:ext cx="14916944" cy="1200329"/>
          </a:xfrm>
          <a:prstGeom prst="rect">
            <a:avLst/>
          </a:prstGeom>
          <a:noFill/>
        </p:spPr>
        <p:txBody>
          <a:bodyPr wrap="square" rtlCol="0">
            <a:spAutoFit/>
          </a:bodyPr>
          <a:lstStyle/>
          <a:p>
            <a:r>
              <a:rPr kumimoji="1" lang="en-US" altLang="ja-JP" sz="2400" dirty="0">
                <a:latin typeface="MS PGothic" panose="020B0600070205080204" pitchFamily="34" charset="-128"/>
                <a:ea typeface="MS PGothic" panose="020B0600070205080204" pitchFamily="34" charset="-128"/>
              </a:rPr>
              <a:t>[1] K. Yoshida, et al., </a:t>
            </a:r>
            <a:r>
              <a:rPr kumimoji="1" lang="en-US" altLang="ja-JP" sz="2400" i="1" dirty="0">
                <a:latin typeface="MS PGothic" panose="020B0600070205080204" pitchFamily="34" charset="-128"/>
                <a:ea typeface="MS PGothic" panose="020B0600070205080204" pitchFamily="34" charset="-128"/>
              </a:rPr>
              <a:t>Proc. IEEE CVPR Language</a:t>
            </a:r>
            <a:r>
              <a:rPr kumimoji="1" lang="ja-JP" altLang="en-US" sz="2400" i="1" dirty="0">
                <a:latin typeface="MS PGothic" panose="020B0600070205080204" pitchFamily="34" charset="-128"/>
                <a:ea typeface="MS PGothic" panose="020B0600070205080204" pitchFamily="34" charset="-128"/>
              </a:rPr>
              <a:t> </a:t>
            </a:r>
            <a:r>
              <a:rPr kumimoji="1" lang="en-US" altLang="ja-JP" sz="2400" i="1" dirty="0">
                <a:latin typeface="MS PGothic" panose="020B0600070205080204" pitchFamily="34" charset="-128"/>
                <a:ea typeface="MS PGothic" panose="020B0600070205080204" pitchFamily="34" charset="-128"/>
              </a:rPr>
              <a:t>and Vision workshop</a:t>
            </a:r>
            <a:r>
              <a:rPr kumimoji="1" lang="en-US" altLang="ja-JP" sz="2400" dirty="0">
                <a:latin typeface="MS PGothic" panose="020B0600070205080204" pitchFamily="34" charset="-128"/>
                <a:ea typeface="MS PGothic" panose="020B0600070205080204" pitchFamily="34" charset="-128"/>
              </a:rPr>
              <a:t>, pp.1-4, Jun. 2018.</a:t>
            </a:r>
          </a:p>
          <a:p>
            <a:r>
              <a:rPr kumimoji="1" lang="en-US" altLang="ja-JP" sz="2400" dirty="0">
                <a:latin typeface="MS PGothic" panose="020B0600070205080204" pitchFamily="34" charset="-128"/>
                <a:ea typeface="MS PGothic" panose="020B0600070205080204" pitchFamily="34" charset="-128"/>
              </a:rPr>
              <a:t>[2] </a:t>
            </a:r>
            <a:r>
              <a:rPr lang="en" altLang="ja-JP" sz="2400" b="0" i="0" dirty="0">
                <a:solidFill>
                  <a:srgbClr val="111111"/>
                </a:solidFill>
                <a:effectLst/>
                <a:latin typeface="MS PGothic" panose="020B0600070205080204" pitchFamily="34" charset="-128"/>
                <a:ea typeface="MS PGothic" panose="020B0600070205080204" pitchFamily="34" charset="-128"/>
              </a:rPr>
              <a:t>R. </a:t>
            </a:r>
            <a:r>
              <a:rPr lang="en" altLang="ja-JP" sz="2400" b="0" i="0" dirty="0" err="1">
                <a:solidFill>
                  <a:srgbClr val="111111"/>
                </a:solidFill>
                <a:effectLst/>
                <a:latin typeface="MS PGothic" panose="020B0600070205080204" pitchFamily="34" charset="-128"/>
                <a:ea typeface="MS PGothic" panose="020B0600070205080204" pitchFamily="34" charset="-128"/>
              </a:rPr>
              <a:t>Yamatomi</a:t>
            </a:r>
            <a:r>
              <a:rPr lang="en" altLang="ja-JP" sz="2400" b="0" i="0" dirty="0">
                <a:solidFill>
                  <a:srgbClr val="111111"/>
                </a:solidFill>
                <a:effectLst/>
                <a:latin typeface="MS PGothic" panose="020B0600070205080204" pitchFamily="34" charset="-128"/>
                <a:ea typeface="MS PGothic" panose="020B0600070205080204" pitchFamily="34" charset="-128"/>
              </a:rPr>
              <a:t>, et al., </a:t>
            </a:r>
            <a:r>
              <a:rPr lang="en" altLang="ja-JP" sz="2400" b="0" i="1" dirty="0">
                <a:solidFill>
                  <a:srgbClr val="111111"/>
                </a:solidFill>
                <a:effectLst/>
                <a:latin typeface="MS PGothic" panose="020B0600070205080204" pitchFamily="34" charset="-128"/>
                <a:ea typeface="MS PGothic" panose="020B0600070205080204" pitchFamily="34" charset="-128"/>
              </a:rPr>
              <a:t>Proc. PRICAI</a:t>
            </a:r>
            <a:r>
              <a:rPr lang="en" altLang="ja-JP" sz="2400" b="0" i="0" dirty="0">
                <a:solidFill>
                  <a:srgbClr val="111111"/>
                </a:solidFill>
                <a:effectLst/>
                <a:latin typeface="MS PGothic" panose="020B0600070205080204" pitchFamily="34" charset="-128"/>
                <a:ea typeface="MS PGothic" panose="020B0600070205080204" pitchFamily="34" charset="-128"/>
              </a:rPr>
              <a:t>, pp.237-248, Nov. 2023.</a:t>
            </a:r>
          </a:p>
          <a:p>
            <a:r>
              <a:rPr kumimoji="1" lang="en-US" altLang="ja-JP" sz="2400" dirty="0">
                <a:latin typeface="MS PGothic" panose="020B0600070205080204" pitchFamily="34" charset="-128"/>
                <a:ea typeface="MS PGothic" panose="020B0600070205080204" pitchFamily="34" charset="-128"/>
              </a:rPr>
              <a:t>[3] </a:t>
            </a:r>
            <a:r>
              <a:rPr kumimoji="1" lang="en-US" altLang="ja-JP" sz="2400" dirty="0" err="1">
                <a:solidFill>
                  <a:srgbClr val="111111"/>
                </a:solidFill>
                <a:latin typeface="MS PGothic" panose="020B0600070205080204" pitchFamily="34" charset="-128"/>
                <a:ea typeface="MS PGothic" panose="020B0600070205080204" pitchFamily="34" charset="-128"/>
              </a:rPr>
              <a:t>Omoroki</a:t>
            </a:r>
            <a:r>
              <a:rPr kumimoji="1" lang="en-US" altLang="ja-JP" sz="2400" dirty="0">
                <a:solidFill>
                  <a:srgbClr val="111111"/>
                </a:solidFill>
                <a:latin typeface="MS PGothic" panose="020B0600070205080204" pitchFamily="34" charset="-128"/>
                <a:ea typeface="MS PGothic" panose="020B0600070205080204" pitchFamily="34" charset="-128"/>
              </a:rPr>
              <a:t> Inc.</a:t>
            </a:r>
            <a:r>
              <a:rPr kumimoji="1" lang="ja-JP" altLang="en-US" sz="2400" dirty="0">
                <a:solidFill>
                  <a:srgbClr val="111111"/>
                </a:solidFill>
                <a:latin typeface="MS PGothic" panose="020B0600070205080204" pitchFamily="34" charset="-128"/>
                <a:ea typeface="MS PGothic" panose="020B0600070205080204" pitchFamily="34" charset="-128"/>
              </a:rPr>
              <a:t> ボケて</a:t>
            </a:r>
            <a:r>
              <a:rPr kumimoji="1" lang="en-US" altLang="ja-JP" sz="2400" dirty="0">
                <a:solidFill>
                  <a:srgbClr val="111111"/>
                </a:solidFill>
                <a:latin typeface="MS PGothic" panose="020B0600070205080204" pitchFamily="34" charset="-128"/>
                <a:ea typeface="MS PGothic" panose="020B0600070205080204" pitchFamily="34" charset="-128"/>
              </a:rPr>
              <a:t>, https://</a:t>
            </a:r>
            <a:r>
              <a:rPr kumimoji="1" lang="en-US" altLang="ja-JP" sz="2400" dirty="0" err="1">
                <a:solidFill>
                  <a:srgbClr val="111111"/>
                </a:solidFill>
                <a:latin typeface="MS PGothic" panose="020B0600070205080204" pitchFamily="34" charset="-128"/>
                <a:ea typeface="MS PGothic" panose="020B0600070205080204" pitchFamily="34" charset="-128"/>
              </a:rPr>
              <a:t>sp.bokete.jp</a:t>
            </a:r>
            <a:r>
              <a:rPr kumimoji="1" lang="en-US" altLang="ja-JP" sz="2400" dirty="0">
                <a:solidFill>
                  <a:srgbClr val="111111"/>
                </a:solidFill>
                <a:latin typeface="MS PGothic" panose="020B0600070205080204" pitchFamily="34" charset="-128"/>
                <a:ea typeface="MS PGothic" panose="020B0600070205080204" pitchFamily="34" charset="-128"/>
              </a:rPr>
              <a:t>/, </a:t>
            </a:r>
            <a:r>
              <a:rPr kumimoji="1" lang="ja-JP" altLang="en-US" sz="2400" dirty="0">
                <a:solidFill>
                  <a:srgbClr val="111111"/>
                </a:solidFill>
                <a:latin typeface="MS PGothic" panose="020B0600070205080204" pitchFamily="34" charset="-128"/>
                <a:ea typeface="MS PGothic" panose="020B0600070205080204" pitchFamily="34" charset="-128"/>
              </a:rPr>
              <a:t>最終確認日</a:t>
            </a:r>
            <a:r>
              <a:rPr kumimoji="1" lang="en-US" altLang="ja-JP" sz="2400" dirty="0">
                <a:solidFill>
                  <a:srgbClr val="111111"/>
                </a:solidFill>
                <a:latin typeface="MS PGothic" panose="020B0600070205080204" pitchFamily="34" charset="-128"/>
                <a:ea typeface="MS PGothic" panose="020B0600070205080204" pitchFamily="34" charset="-128"/>
              </a:rPr>
              <a:t> : 2024/2/12</a:t>
            </a:r>
            <a:endParaRPr lang="en-US" altLang="ja-JP" sz="2400" b="0" i="0" dirty="0">
              <a:solidFill>
                <a:srgbClr val="111111"/>
              </a:solidFill>
              <a:effectLst/>
              <a:latin typeface="MS PGothic" panose="020B0600070205080204" pitchFamily="34" charset="-128"/>
              <a:ea typeface="MS PGothic" panose="020B0600070205080204" pitchFamily="34" charset="-128"/>
            </a:endParaRPr>
          </a:p>
        </p:txBody>
      </p:sp>
      <p:graphicFrame>
        <p:nvGraphicFramePr>
          <p:cNvPr id="7" name="表 6">
            <a:extLst>
              <a:ext uri="{FF2B5EF4-FFF2-40B4-BE49-F238E27FC236}">
                <a16:creationId xmlns:a16="http://schemas.microsoft.com/office/drawing/2014/main" id="{D9E31A0A-B18A-D385-7889-9D3594BA0670}"/>
              </a:ext>
            </a:extLst>
          </p:cNvPr>
          <p:cNvGraphicFramePr>
            <a:graphicFrameLocks noGrp="1"/>
          </p:cNvGraphicFramePr>
          <p:nvPr/>
        </p:nvGraphicFramePr>
        <p:xfrm>
          <a:off x="203198" y="7055575"/>
          <a:ext cx="14678712" cy="8199120"/>
        </p:xfrm>
        <a:graphic>
          <a:graphicData uri="http://schemas.openxmlformats.org/drawingml/2006/table">
            <a:tbl>
              <a:tblPr firstRow="1" bandRow="1">
                <a:tableStyleId>{5C22544A-7EE6-4342-B048-85BDC9FD1C3A}</a:tableStyleId>
              </a:tblPr>
              <a:tblGrid>
                <a:gridCol w="3873016">
                  <a:extLst>
                    <a:ext uri="{9D8B030D-6E8A-4147-A177-3AD203B41FA5}">
                      <a16:colId xmlns:a16="http://schemas.microsoft.com/office/drawing/2014/main" val="1302717659"/>
                    </a:ext>
                  </a:extLst>
                </a:gridCol>
                <a:gridCol w="10805696">
                  <a:extLst>
                    <a:ext uri="{9D8B030D-6E8A-4147-A177-3AD203B41FA5}">
                      <a16:colId xmlns:a16="http://schemas.microsoft.com/office/drawing/2014/main" val="118972529"/>
                    </a:ext>
                  </a:extLst>
                </a:gridCol>
              </a:tblGrid>
              <a:tr h="530909">
                <a:tc>
                  <a:txBody>
                    <a:bodyPr/>
                    <a:lstStyle/>
                    <a:p>
                      <a:pPr algn="ctr"/>
                      <a:r>
                        <a:rPr kumimoji="1" lang="ja-JP" altLang="en-US" sz="4000" dirty="0">
                          <a:latin typeface="MS PGothic" panose="020B0600070205080204" pitchFamily="34" charset="-128"/>
                          <a:ea typeface="MS PGothic" panose="020B0600070205080204" pitchFamily="34" charset="-128"/>
                        </a:rPr>
                        <a:t>画像</a:t>
                      </a: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0070C0"/>
                    </a:solidFill>
                  </a:tcPr>
                </a:tc>
                <a:tc>
                  <a:txBody>
                    <a:bodyPr/>
                    <a:lstStyle/>
                    <a:p>
                      <a:pPr algn="ctr"/>
                      <a:r>
                        <a:rPr kumimoji="1" lang="ja-JP" altLang="en-US" sz="4000" dirty="0">
                          <a:latin typeface="MS PGothic" panose="020B0600070205080204" pitchFamily="34" charset="-128"/>
                          <a:ea typeface="MS PGothic" panose="020B0600070205080204" pitchFamily="34" charset="-128"/>
                        </a:rPr>
                        <a:t>大喜利</a:t>
                      </a: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0070C0"/>
                    </a:solidFill>
                  </a:tcPr>
                </a:tc>
                <a:extLst>
                  <a:ext uri="{0D108BD9-81ED-4DB2-BD59-A6C34878D82A}">
                    <a16:rowId xmlns:a16="http://schemas.microsoft.com/office/drawing/2014/main" val="3361642135"/>
                  </a:ext>
                </a:extLst>
              </a:tr>
              <a:tr h="3703761">
                <a:tc>
                  <a:txBody>
                    <a:bodyPr/>
                    <a:lstStyle/>
                    <a:p>
                      <a:pPr algn="ctr"/>
                      <a:endParaRPr kumimoji="1" lang="ja-JP" altLang="en-US" sz="4000">
                        <a:latin typeface="MS PGothic" panose="020B0600070205080204" pitchFamily="34" charset="-128"/>
                        <a:ea typeface="MS PGothic" panose="020B0600070205080204" pitchFamily="34" charset="-128"/>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marL="571500" indent="-571500" algn="l">
                        <a:buFont typeface="Arial" panose="020B0604020202020204" pitchFamily="34" charset="0"/>
                        <a:buChar char="•"/>
                      </a:pPr>
                      <a:r>
                        <a:rPr kumimoji="1" lang="ja-JP" altLang="en-US" sz="4000" dirty="0">
                          <a:latin typeface="MS PGothic" panose="020B0600070205080204" pitchFamily="34" charset="-128"/>
                          <a:ea typeface="MS PGothic" panose="020B0600070205080204" pitchFamily="34" charset="-128"/>
                        </a:rPr>
                        <a:t>羊たちの注目</a:t>
                      </a:r>
                    </a:p>
                    <a:p>
                      <a:pPr marL="571500" indent="-571500" algn="l">
                        <a:buFont typeface="Arial" panose="020B0604020202020204" pitchFamily="34" charset="0"/>
                        <a:buChar char="•"/>
                      </a:pPr>
                      <a:r>
                        <a:rPr kumimoji="1" lang="ja-JP" altLang="en-US" sz="4000" dirty="0">
                          <a:latin typeface="MS PGothic" panose="020B0600070205080204" pitchFamily="34" charset="-128"/>
                          <a:ea typeface="MS PGothic" panose="020B0600070205080204" pitchFamily="34" charset="-128"/>
                        </a:rPr>
                        <a:t>ジンギスカン食べた日の夢</a:t>
                      </a:r>
                    </a:p>
                    <a:p>
                      <a:pPr marL="571500" indent="-571500" algn="l">
                        <a:buFont typeface="Arial" panose="020B0604020202020204" pitchFamily="34" charset="0"/>
                        <a:buChar char="•"/>
                      </a:pPr>
                      <a:r>
                        <a:rPr kumimoji="1" lang="ja-JP" altLang="en-US" sz="4000" dirty="0">
                          <a:latin typeface="MS PGothic" panose="020B0600070205080204" pitchFamily="34" charset="-128"/>
                          <a:ea typeface="MS PGothic" panose="020B0600070205080204" pitchFamily="34" charset="-128"/>
                        </a:rPr>
                        <a:t>てメェ～いい加減に眠れよ</a:t>
                      </a:r>
                    </a:p>
                    <a:p>
                      <a:pPr marL="571500" indent="-571500" algn="l">
                        <a:buFont typeface="Arial" panose="020B0604020202020204" pitchFamily="34" charset="0"/>
                        <a:buChar char="•"/>
                      </a:pPr>
                      <a:r>
                        <a:rPr kumimoji="1" lang="ja-JP" altLang="en-US" sz="4000" dirty="0">
                          <a:latin typeface="MS PGothic" panose="020B0600070205080204" pitchFamily="34" charset="-128"/>
                          <a:ea typeface="MS PGothic" panose="020B0600070205080204" pitchFamily="34" charset="-128"/>
                        </a:rPr>
                        <a:t>どう？寝れそう？</a:t>
                      </a:r>
                    </a:p>
                    <a:p>
                      <a:pPr marL="571500" indent="-571500" algn="l">
                        <a:buFont typeface="Arial" panose="020B0604020202020204" pitchFamily="34" charset="0"/>
                        <a:buChar char="•"/>
                      </a:pPr>
                      <a:r>
                        <a:rPr kumimoji="1" lang="ja-JP" altLang="en-US" sz="4000" dirty="0">
                          <a:latin typeface="MS PGothic" panose="020B0600070205080204" pitchFamily="34" charset="-128"/>
                          <a:ea typeface="MS PGothic" panose="020B0600070205080204" pitchFamily="34" charset="-128"/>
                        </a:rPr>
                        <a:t>ヒツ陣</a:t>
                      </a:r>
                    </a:p>
                    <a:p>
                      <a:pPr marL="571500" indent="-571500" algn="l">
                        <a:buFont typeface="Arial" panose="020B0604020202020204" pitchFamily="34" charset="0"/>
                        <a:buChar char="•"/>
                      </a:pPr>
                      <a:r>
                        <a:rPr kumimoji="1" lang="ja-JP" altLang="en-US" sz="4000" dirty="0">
                          <a:latin typeface="MS PGothic" panose="020B0600070205080204" pitchFamily="34" charset="-128"/>
                          <a:ea typeface="MS PGothic" panose="020B0600070205080204" pitchFamily="34" charset="-128"/>
                        </a:rPr>
                        <a:t>数えてた人が寝落ちした</a:t>
                      </a: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1801116897"/>
                  </a:ext>
                </a:extLst>
              </a:tr>
              <a:tr h="3685073">
                <a:tc>
                  <a:txBody>
                    <a:bodyPr/>
                    <a:lstStyle/>
                    <a:p>
                      <a:pPr algn="ctr"/>
                      <a:endParaRPr kumimoji="1" lang="ja-JP" altLang="en-US" sz="4000">
                        <a:latin typeface="MS PGothic" panose="020B0600070205080204" pitchFamily="34" charset="-128"/>
                        <a:ea typeface="MS PGothic" panose="020B0600070205080204" pitchFamily="34" charset="-128"/>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marL="571500" indent="-571500" algn="l">
                        <a:buFont typeface="Arial" panose="020B0604020202020204" pitchFamily="34" charset="0"/>
                        <a:buChar char="•"/>
                      </a:pPr>
                      <a:r>
                        <a:rPr kumimoji="1" lang="ja-JP" altLang="en-US" sz="4000" dirty="0">
                          <a:latin typeface="MS PGothic" panose="020B0600070205080204" pitchFamily="34" charset="-128"/>
                          <a:ea typeface="MS PGothic" panose="020B0600070205080204" pitchFamily="34" charset="-128"/>
                        </a:rPr>
                        <a:t>転生したらイスラムだった件</a:t>
                      </a:r>
                    </a:p>
                    <a:p>
                      <a:pPr marL="571500" indent="-571500" algn="l">
                        <a:buFont typeface="Arial" panose="020B0604020202020204" pitchFamily="34" charset="0"/>
                        <a:buChar char="•"/>
                      </a:pPr>
                      <a:r>
                        <a:rPr kumimoji="1" lang="ja-JP" altLang="en-US" sz="4000" dirty="0">
                          <a:latin typeface="MS PGothic" panose="020B0600070205080204" pitchFamily="34" charset="-128"/>
                          <a:ea typeface="MS PGothic" panose="020B0600070205080204" pitchFamily="34" charset="-128"/>
                        </a:rPr>
                        <a:t>砂遊びしてたら石油当てたわ</a:t>
                      </a:r>
                    </a:p>
                    <a:p>
                      <a:pPr marL="571500" indent="-571500" algn="l">
                        <a:buFont typeface="Arial" panose="020B0604020202020204" pitchFamily="34" charset="0"/>
                        <a:buChar char="•"/>
                      </a:pPr>
                      <a:r>
                        <a:rPr kumimoji="1" lang="ja-JP" altLang="en-US" sz="4000" dirty="0">
                          <a:latin typeface="MS PGothic" panose="020B0600070205080204" pitchFamily="34" charset="-128"/>
                          <a:ea typeface="MS PGothic" panose="020B0600070205080204" pitchFamily="34" charset="-128"/>
                        </a:rPr>
                        <a:t>俺の仕事？寝ることさ！</a:t>
                      </a:r>
                    </a:p>
                    <a:p>
                      <a:pPr marL="571500" indent="-571500" algn="l">
                        <a:buFont typeface="Arial" panose="020B0604020202020204" pitchFamily="34" charset="0"/>
                        <a:buChar char="•"/>
                      </a:pPr>
                      <a:r>
                        <a:rPr kumimoji="1" lang="ja-JP" altLang="en-US" sz="4000" dirty="0">
                          <a:latin typeface="MS PGothic" panose="020B0600070205080204" pitchFamily="34" charset="-128"/>
                          <a:ea typeface="MS PGothic" panose="020B0600070205080204" pitchFamily="34" charset="-128"/>
                        </a:rPr>
                        <a:t>アバブの石油王</a:t>
                      </a:r>
                    </a:p>
                    <a:p>
                      <a:pPr marL="571500" indent="-571500" algn="l">
                        <a:buFont typeface="Arial" panose="020B0604020202020204" pitchFamily="34" charset="0"/>
                        <a:buChar char="•"/>
                      </a:pPr>
                      <a:r>
                        <a:rPr kumimoji="1" lang="ja-JP" altLang="en-US" sz="4000" dirty="0">
                          <a:latin typeface="MS PGothic" panose="020B0600070205080204" pitchFamily="34" charset="-128"/>
                          <a:ea typeface="MS PGothic" panose="020B0600070205080204" pitchFamily="34" charset="-128"/>
                        </a:rPr>
                        <a:t>親ガチャ成功したわ</a:t>
                      </a:r>
                      <a:r>
                        <a:rPr kumimoji="1" lang="en-US" altLang="ja-JP" sz="4000" dirty="0">
                          <a:latin typeface="MS PGothic" panose="020B0600070205080204" pitchFamily="34" charset="-128"/>
                          <a:ea typeface="MS PGothic" panose="020B0600070205080204" pitchFamily="34" charset="-128"/>
                        </a:rPr>
                        <a:t>〜</a:t>
                      </a:r>
                    </a:p>
                    <a:p>
                      <a:pPr marL="571500" indent="-571500" algn="l">
                        <a:buFont typeface="Arial" panose="020B0604020202020204" pitchFamily="34" charset="0"/>
                        <a:buChar char="•"/>
                      </a:pPr>
                      <a:r>
                        <a:rPr kumimoji="1" lang="ja-JP" altLang="en-US" sz="4000" dirty="0">
                          <a:latin typeface="MS PGothic" panose="020B0600070205080204" pitchFamily="34" charset="-128"/>
                          <a:ea typeface="MS PGothic" panose="020B0600070205080204" pitchFamily="34" charset="-128"/>
                        </a:rPr>
                        <a:t>え？</a:t>
                      </a:r>
                      <a:r>
                        <a:rPr kumimoji="1" lang="en" altLang="ja-JP" sz="4000" dirty="0">
                          <a:latin typeface="MS PGothic" panose="020B0600070205080204" pitchFamily="34" charset="-128"/>
                          <a:ea typeface="MS PGothic" panose="020B0600070205080204" pitchFamily="34" charset="-128"/>
                        </a:rPr>
                        <a:t>w</a:t>
                      </a:r>
                      <a:r>
                        <a:rPr kumimoji="1" lang="ja-JP" altLang="en-US" sz="4000" dirty="0">
                          <a:latin typeface="MS PGothic" panose="020B0600070205080204" pitchFamily="34" charset="-128"/>
                          <a:ea typeface="MS PGothic" panose="020B0600070205080204" pitchFamily="34" charset="-128"/>
                        </a:rPr>
                        <a:t>おとん？</a:t>
                      </a:r>
                      <a:r>
                        <a:rPr kumimoji="1" lang="en" altLang="ja-JP" sz="4000" dirty="0">
                          <a:latin typeface="MS PGothic" panose="020B0600070205080204" pitchFamily="34" charset="-128"/>
                          <a:ea typeface="MS PGothic" panose="020B0600070205080204" pitchFamily="34" charset="-128"/>
                        </a:rPr>
                        <a:t>w </a:t>
                      </a:r>
                      <a:r>
                        <a:rPr kumimoji="1" lang="ja-JP" altLang="en-US" sz="4000" dirty="0">
                          <a:latin typeface="MS PGothic" panose="020B0600070205080204" pitchFamily="34" charset="-128"/>
                          <a:ea typeface="MS PGothic" panose="020B0600070205080204" pitchFamily="34" charset="-128"/>
                        </a:rPr>
                        <a:t>どっかで油うってるわ</a:t>
                      </a:r>
                      <a:r>
                        <a:rPr kumimoji="1" lang="en" altLang="ja-JP" sz="4000" dirty="0" err="1">
                          <a:latin typeface="MS PGothic" panose="020B0600070205080204" pitchFamily="34" charset="-128"/>
                          <a:ea typeface="MS PGothic" panose="020B0600070205080204" pitchFamily="34" charset="-128"/>
                        </a:rPr>
                        <a:t>ww</a:t>
                      </a:r>
                      <a:endParaRPr kumimoji="1" lang="en" altLang="ja-JP" sz="4000" dirty="0">
                        <a:latin typeface="MS PGothic" panose="020B0600070205080204" pitchFamily="34" charset="-128"/>
                        <a:ea typeface="MS PGothic" panose="020B0600070205080204" pitchFamily="34" charset="-128"/>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3798152386"/>
                  </a:ext>
                </a:extLst>
              </a:tr>
            </a:tbl>
          </a:graphicData>
        </a:graphic>
      </p:graphicFrame>
      <p:pic>
        <p:nvPicPr>
          <p:cNvPr id="1079" name="図 1078" descr="建物, グループ, テーブル, フロント が含まれている画像&#10;&#10;自動的に生成された説明">
            <a:extLst>
              <a:ext uri="{FF2B5EF4-FFF2-40B4-BE49-F238E27FC236}">
                <a16:creationId xmlns:a16="http://schemas.microsoft.com/office/drawing/2014/main" id="{C469C8F3-DC53-A841-8E8A-69F462CB9A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9763" y="16422495"/>
            <a:ext cx="1773758" cy="1773758"/>
          </a:xfrm>
          <a:prstGeom prst="rect">
            <a:avLst/>
          </a:prstGeom>
        </p:spPr>
      </p:pic>
      <p:cxnSp>
        <p:nvCxnSpPr>
          <p:cNvPr id="1080" name="直線矢印コネクタ 1079">
            <a:extLst>
              <a:ext uri="{FF2B5EF4-FFF2-40B4-BE49-F238E27FC236}">
                <a16:creationId xmlns:a16="http://schemas.microsoft.com/office/drawing/2014/main" id="{38C3419A-2FDB-08C2-AAB7-691C1BDA4217}"/>
              </a:ext>
            </a:extLst>
          </p:cNvPr>
          <p:cNvCxnSpPr>
            <a:cxnSpLocks/>
            <a:stCxn id="1079" idx="3"/>
          </p:cNvCxnSpPr>
          <p:nvPr/>
        </p:nvCxnSpPr>
        <p:spPr>
          <a:xfrm>
            <a:off x="2343521" y="17309374"/>
            <a:ext cx="964700"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81" name="台形 1080">
                <a:extLst>
                  <a:ext uri="{FF2B5EF4-FFF2-40B4-BE49-F238E27FC236}">
                    <a16:creationId xmlns:a16="http://schemas.microsoft.com/office/drawing/2014/main" id="{931E4B76-CDCC-39DD-135B-C928A42CA20E}"/>
                  </a:ext>
                </a:extLst>
              </p:cNvPr>
              <p:cNvSpPr/>
              <p:nvPr/>
            </p:nvSpPr>
            <p:spPr>
              <a:xfrm rot="5400000">
                <a:off x="3308220" y="16422497"/>
                <a:ext cx="1773758" cy="1773755"/>
              </a:xfrm>
              <a:prstGeom prst="trapezoid">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14:m>
                  <m:oMathPara xmlns:m="http://schemas.openxmlformats.org/officeDocument/2006/math">
                    <m:oMathParaPr>
                      <m:jc m:val="centerGroup"/>
                    </m:oMathParaPr>
                    <m:oMath xmlns:m="http://schemas.openxmlformats.org/officeDocument/2006/math">
                      <m:r>
                        <a:rPr kumimoji="1" lang="en-US" altLang="ja-JP" sz="4000" b="0" i="1" smtClean="0">
                          <a:solidFill>
                            <a:schemeClr val="tx1"/>
                          </a:solidFill>
                          <a:latin typeface="Cambria Math" panose="02040503050406030204" pitchFamily="18" charset="0"/>
                        </a:rPr>
                        <m:t>    </m:t>
                      </m:r>
                      <m:r>
                        <a:rPr kumimoji="1" lang="en-US" altLang="ja-JP" sz="4000" b="0" i="1" smtClean="0">
                          <a:solidFill>
                            <a:schemeClr val="tx1"/>
                          </a:solidFill>
                          <a:latin typeface="Cambria Math" panose="02040503050406030204" pitchFamily="18" charset="0"/>
                        </a:rPr>
                        <m:t>𝐶𝑁𝑁</m:t>
                      </m:r>
                    </m:oMath>
                  </m:oMathPara>
                </a14:m>
                <a:endParaRPr kumimoji="1" lang="ja-JP" altLang="en-US" sz="4000" dirty="0">
                  <a:solidFill>
                    <a:schemeClr val="tx1"/>
                  </a:solidFill>
                </a:endParaRPr>
              </a:p>
            </p:txBody>
          </p:sp>
        </mc:Choice>
        <mc:Fallback xmlns="">
          <p:sp>
            <p:nvSpPr>
              <p:cNvPr id="1081" name="台形 1080">
                <a:extLst>
                  <a:ext uri="{FF2B5EF4-FFF2-40B4-BE49-F238E27FC236}">
                    <a16:creationId xmlns:a16="http://schemas.microsoft.com/office/drawing/2014/main" id="{3B16D0FF-84F9-9348-8547-28AC8A95BA92}"/>
                  </a:ext>
                </a:extLst>
              </p:cNvPr>
              <p:cNvSpPr>
                <a:spLocks noRot="1" noChangeAspect="1" noMove="1" noResize="1" noEditPoints="1" noAdjustHandles="1" noChangeArrowheads="1" noChangeShapeType="1" noTextEdit="1"/>
              </p:cNvSpPr>
              <p:nvPr/>
            </p:nvSpPr>
            <p:spPr>
              <a:xfrm rot="5400000">
                <a:off x="3308220" y="16422497"/>
                <a:ext cx="1773758" cy="1773755"/>
              </a:xfrm>
              <a:prstGeom prst="trapezoid">
                <a:avLst/>
              </a:prstGeom>
              <a:blipFill>
                <a:blip r:embed="rId3"/>
                <a:stretch>
                  <a:fillRect/>
                </a:stretch>
              </a:blipFill>
              <a:ln w="38100">
                <a:solidFill>
                  <a:schemeClr val="tx1"/>
                </a:solid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83" name="正方形/長方形 1082">
                <a:extLst>
                  <a:ext uri="{FF2B5EF4-FFF2-40B4-BE49-F238E27FC236}">
                    <a16:creationId xmlns:a16="http://schemas.microsoft.com/office/drawing/2014/main" id="{38C3D9A5-5C88-5557-03BA-5796BF72059C}"/>
                  </a:ext>
                </a:extLst>
              </p:cNvPr>
              <p:cNvSpPr/>
              <p:nvPr/>
            </p:nvSpPr>
            <p:spPr>
              <a:xfrm>
                <a:off x="6046677" y="16835240"/>
                <a:ext cx="2218267" cy="948267"/>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ja-JP" sz="4400" b="0" i="1" smtClean="0">
                          <a:solidFill>
                            <a:schemeClr val="tx1"/>
                          </a:solidFill>
                          <a:latin typeface="Cambria Math" panose="02040503050406030204" pitchFamily="18" charset="0"/>
                          <a:ea typeface="MS PGothic" panose="020B0600070205080204" pitchFamily="34" charset="-128"/>
                        </a:rPr>
                        <m:t>   </m:t>
                      </m:r>
                      <m:r>
                        <a:rPr kumimoji="1" lang="en-US" altLang="ja-JP" sz="4400" b="0" i="1" smtClean="0">
                          <a:solidFill>
                            <a:schemeClr val="tx1"/>
                          </a:solidFill>
                          <a:latin typeface="Cambria Math" panose="02040503050406030204" pitchFamily="18" charset="0"/>
                          <a:ea typeface="MS PGothic" panose="020B0600070205080204" pitchFamily="34" charset="-128"/>
                        </a:rPr>
                        <m:t>𝐿𝑆𝑇𝑀</m:t>
                      </m:r>
                    </m:oMath>
                  </m:oMathPara>
                </a14:m>
                <a:endParaRPr kumimoji="1" lang="ja-JP" altLang="en-US" sz="4400">
                  <a:solidFill>
                    <a:schemeClr val="tx1"/>
                  </a:solidFill>
                  <a:latin typeface="MS PGothic" panose="020B0600070205080204" pitchFamily="34" charset="-128"/>
                  <a:ea typeface="MS PGothic" panose="020B0600070205080204" pitchFamily="34" charset="-128"/>
                </a:endParaRPr>
              </a:p>
            </p:txBody>
          </p:sp>
        </mc:Choice>
        <mc:Fallback xmlns="">
          <p:sp>
            <p:nvSpPr>
              <p:cNvPr id="1083" name="正方形/長方形 1082">
                <a:extLst>
                  <a:ext uri="{FF2B5EF4-FFF2-40B4-BE49-F238E27FC236}">
                    <a16:creationId xmlns:a16="http://schemas.microsoft.com/office/drawing/2014/main" id="{25556A0C-2B92-4DD6-E812-2D510940AD89}"/>
                  </a:ext>
                </a:extLst>
              </p:cNvPr>
              <p:cNvSpPr>
                <a:spLocks noRot="1" noChangeAspect="1" noMove="1" noResize="1" noEditPoints="1" noAdjustHandles="1" noChangeArrowheads="1" noChangeShapeType="1" noTextEdit="1"/>
              </p:cNvSpPr>
              <p:nvPr/>
            </p:nvSpPr>
            <p:spPr>
              <a:xfrm>
                <a:off x="6046677" y="16835240"/>
                <a:ext cx="2218267" cy="948267"/>
              </a:xfrm>
              <a:prstGeom prst="rect">
                <a:avLst/>
              </a:prstGeom>
              <a:blipFill>
                <a:blip r:embed="rId4"/>
                <a:stretch>
                  <a:fillRect/>
                </a:stretch>
              </a:blipFill>
              <a:ln w="38100">
                <a:solidFill>
                  <a:schemeClr val="tx1"/>
                </a:solid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84" name="正方形/長方形 1083">
                <a:extLst>
                  <a:ext uri="{FF2B5EF4-FFF2-40B4-BE49-F238E27FC236}">
                    <a16:creationId xmlns:a16="http://schemas.microsoft.com/office/drawing/2014/main" id="{BA461927-2B43-DF60-8A31-0685BF57F80B}"/>
                  </a:ext>
                </a:extLst>
              </p:cNvPr>
              <p:cNvSpPr/>
              <p:nvPr/>
            </p:nvSpPr>
            <p:spPr>
              <a:xfrm>
                <a:off x="9163595" y="16835239"/>
                <a:ext cx="2218267" cy="948267"/>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ja-JP" sz="4400" b="0" i="1" smtClean="0">
                          <a:solidFill>
                            <a:schemeClr val="tx1"/>
                          </a:solidFill>
                          <a:latin typeface="Cambria Math" panose="02040503050406030204" pitchFamily="18" charset="0"/>
                          <a:ea typeface="MS PGothic" panose="020B0600070205080204" pitchFamily="34" charset="-128"/>
                        </a:rPr>
                        <m:t>   </m:t>
                      </m:r>
                      <m:r>
                        <a:rPr kumimoji="1" lang="en-US" altLang="ja-JP" sz="4400" b="0" i="1" smtClean="0">
                          <a:solidFill>
                            <a:schemeClr val="tx1"/>
                          </a:solidFill>
                          <a:latin typeface="Cambria Math" panose="02040503050406030204" pitchFamily="18" charset="0"/>
                          <a:ea typeface="MS PGothic" panose="020B0600070205080204" pitchFamily="34" charset="-128"/>
                        </a:rPr>
                        <m:t>𝐿𝑆𝑇𝑀</m:t>
                      </m:r>
                    </m:oMath>
                  </m:oMathPara>
                </a14:m>
                <a:endParaRPr kumimoji="1" lang="ja-JP" altLang="en-US" sz="4400">
                  <a:solidFill>
                    <a:schemeClr val="tx1"/>
                  </a:solidFill>
                  <a:latin typeface="MS PGothic" panose="020B0600070205080204" pitchFamily="34" charset="-128"/>
                  <a:ea typeface="MS PGothic" panose="020B0600070205080204" pitchFamily="34" charset="-128"/>
                </a:endParaRPr>
              </a:p>
            </p:txBody>
          </p:sp>
        </mc:Choice>
        <mc:Fallback xmlns="">
          <p:sp>
            <p:nvSpPr>
              <p:cNvPr id="1084" name="正方形/長方形 1083">
                <a:extLst>
                  <a:ext uri="{FF2B5EF4-FFF2-40B4-BE49-F238E27FC236}">
                    <a16:creationId xmlns:a16="http://schemas.microsoft.com/office/drawing/2014/main" id="{7346E67A-7E02-8D5C-D363-870A5768F521}"/>
                  </a:ext>
                </a:extLst>
              </p:cNvPr>
              <p:cNvSpPr>
                <a:spLocks noRot="1" noChangeAspect="1" noMove="1" noResize="1" noEditPoints="1" noAdjustHandles="1" noChangeArrowheads="1" noChangeShapeType="1" noTextEdit="1"/>
              </p:cNvSpPr>
              <p:nvPr/>
            </p:nvSpPr>
            <p:spPr>
              <a:xfrm>
                <a:off x="9163595" y="16835239"/>
                <a:ext cx="2218267" cy="948267"/>
              </a:xfrm>
              <a:prstGeom prst="rect">
                <a:avLst/>
              </a:prstGeom>
              <a:blipFill>
                <a:blip r:embed="rId5"/>
                <a:stretch>
                  <a:fillRect/>
                </a:stretch>
              </a:blipFill>
              <a:ln w="38100">
                <a:solidFill>
                  <a:schemeClr val="tx1"/>
                </a:solid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85" name="正方形/長方形 1084">
                <a:extLst>
                  <a:ext uri="{FF2B5EF4-FFF2-40B4-BE49-F238E27FC236}">
                    <a16:creationId xmlns:a16="http://schemas.microsoft.com/office/drawing/2014/main" id="{EC7A3D5D-9440-B323-933C-9CEE9E41E708}"/>
                  </a:ext>
                </a:extLst>
              </p:cNvPr>
              <p:cNvSpPr/>
              <p:nvPr/>
            </p:nvSpPr>
            <p:spPr>
              <a:xfrm>
                <a:off x="12221297" y="16835238"/>
                <a:ext cx="2218267" cy="948267"/>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ja-JP" sz="4400" b="0" i="1" smtClean="0">
                          <a:solidFill>
                            <a:schemeClr val="tx1"/>
                          </a:solidFill>
                          <a:latin typeface="Cambria Math" panose="02040503050406030204" pitchFamily="18" charset="0"/>
                          <a:ea typeface="MS PGothic" panose="020B0600070205080204" pitchFamily="34" charset="-128"/>
                        </a:rPr>
                        <m:t>   </m:t>
                      </m:r>
                      <m:r>
                        <a:rPr kumimoji="1" lang="en-US" altLang="ja-JP" sz="4400" b="0" i="1" smtClean="0">
                          <a:solidFill>
                            <a:schemeClr val="tx1"/>
                          </a:solidFill>
                          <a:latin typeface="Cambria Math" panose="02040503050406030204" pitchFamily="18" charset="0"/>
                          <a:ea typeface="MS PGothic" panose="020B0600070205080204" pitchFamily="34" charset="-128"/>
                        </a:rPr>
                        <m:t>𝐿𝑆𝑇𝑀</m:t>
                      </m:r>
                    </m:oMath>
                  </m:oMathPara>
                </a14:m>
                <a:endParaRPr kumimoji="1" lang="ja-JP" altLang="en-US" sz="4400">
                  <a:solidFill>
                    <a:schemeClr val="tx1"/>
                  </a:solidFill>
                  <a:latin typeface="MS PGothic" panose="020B0600070205080204" pitchFamily="34" charset="-128"/>
                  <a:ea typeface="MS PGothic" panose="020B0600070205080204" pitchFamily="34" charset="-128"/>
                </a:endParaRPr>
              </a:p>
            </p:txBody>
          </p:sp>
        </mc:Choice>
        <mc:Fallback xmlns="">
          <p:sp>
            <p:nvSpPr>
              <p:cNvPr id="1085" name="正方形/長方形 1084">
                <a:extLst>
                  <a:ext uri="{FF2B5EF4-FFF2-40B4-BE49-F238E27FC236}">
                    <a16:creationId xmlns:a16="http://schemas.microsoft.com/office/drawing/2014/main" id="{AA9DDE90-773A-96B8-7121-A33E75B58C49}"/>
                  </a:ext>
                </a:extLst>
              </p:cNvPr>
              <p:cNvSpPr>
                <a:spLocks noRot="1" noChangeAspect="1" noMove="1" noResize="1" noEditPoints="1" noAdjustHandles="1" noChangeArrowheads="1" noChangeShapeType="1" noTextEdit="1"/>
              </p:cNvSpPr>
              <p:nvPr/>
            </p:nvSpPr>
            <p:spPr>
              <a:xfrm>
                <a:off x="12221297" y="16835238"/>
                <a:ext cx="2218267" cy="948267"/>
              </a:xfrm>
              <a:prstGeom prst="rect">
                <a:avLst/>
              </a:prstGeom>
              <a:blipFill>
                <a:blip r:embed="rId6"/>
                <a:stretch>
                  <a:fillRect/>
                </a:stretch>
              </a:blipFill>
              <a:ln w="38100">
                <a:solidFill>
                  <a:schemeClr val="tx1"/>
                </a:solid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86" name="テキスト ボックス 1085">
                <a:extLst>
                  <a:ext uri="{FF2B5EF4-FFF2-40B4-BE49-F238E27FC236}">
                    <a16:creationId xmlns:a16="http://schemas.microsoft.com/office/drawing/2014/main" id="{4456C3F3-9A11-281C-0068-4CD69698056D}"/>
                  </a:ext>
                </a:extLst>
              </p:cNvPr>
              <p:cNvSpPr txBox="1"/>
              <p:nvPr/>
            </p:nvSpPr>
            <p:spPr>
              <a:xfrm>
                <a:off x="6992976" y="18594954"/>
                <a:ext cx="325667" cy="615553"/>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kumimoji="1" lang="en-US" altLang="ja-JP" sz="4000" b="0" i="1" smtClean="0">
                          <a:latin typeface="Cambria Math" panose="02040503050406030204" pitchFamily="18" charset="0"/>
                        </a:rPr>
                        <m:t>𝐼</m:t>
                      </m:r>
                    </m:oMath>
                  </m:oMathPara>
                </a14:m>
                <a:endParaRPr kumimoji="1" lang="ja-JP" altLang="en-US" sz="4000" dirty="0"/>
              </a:p>
            </p:txBody>
          </p:sp>
        </mc:Choice>
        <mc:Fallback xmlns="">
          <p:sp>
            <p:nvSpPr>
              <p:cNvPr id="1086" name="テキスト ボックス 1085">
                <a:extLst>
                  <a:ext uri="{FF2B5EF4-FFF2-40B4-BE49-F238E27FC236}">
                    <a16:creationId xmlns:a16="http://schemas.microsoft.com/office/drawing/2014/main" id="{2DD1559A-4149-2198-F946-23B2FA4AE23E}"/>
                  </a:ext>
                </a:extLst>
              </p:cNvPr>
              <p:cNvSpPr txBox="1">
                <a:spLocks noRot="1" noChangeAspect="1" noMove="1" noResize="1" noEditPoints="1" noAdjustHandles="1" noChangeArrowheads="1" noChangeShapeType="1" noTextEdit="1"/>
              </p:cNvSpPr>
              <p:nvPr/>
            </p:nvSpPr>
            <p:spPr>
              <a:xfrm>
                <a:off x="6992976" y="18594954"/>
                <a:ext cx="325667" cy="615553"/>
              </a:xfrm>
              <a:prstGeom prst="rect">
                <a:avLst/>
              </a:prstGeom>
              <a:blipFill>
                <a:blip r:embed="rId7"/>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87" name="テキスト ボックス 1086">
                <a:extLst>
                  <a:ext uri="{FF2B5EF4-FFF2-40B4-BE49-F238E27FC236}">
                    <a16:creationId xmlns:a16="http://schemas.microsoft.com/office/drawing/2014/main" id="{9FA48A5F-36E7-2019-6640-976ADC34C4D5}"/>
                  </a:ext>
                </a:extLst>
              </p:cNvPr>
              <p:cNvSpPr txBox="1"/>
              <p:nvPr/>
            </p:nvSpPr>
            <p:spPr>
              <a:xfrm>
                <a:off x="9657143" y="18601290"/>
                <a:ext cx="1231170" cy="615553"/>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kumimoji="1" lang="en-US" altLang="ja-JP" sz="4000" i="1">
                          <a:latin typeface="Cambria Math" panose="02040503050406030204" pitchFamily="18" charset="0"/>
                        </a:rPr>
                        <m:t>h𝑎𝑣𝑒</m:t>
                      </m:r>
                    </m:oMath>
                  </m:oMathPara>
                </a14:m>
                <a:endParaRPr kumimoji="1" lang="ja-JP" altLang="en-US" sz="4000" dirty="0"/>
              </a:p>
            </p:txBody>
          </p:sp>
        </mc:Choice>
        <mc:Fallback xmlns="">
          <p:sp>
            <p:nvSpPr>
              <p:cNvPr id="1087" name="テキスト ボックス 1086">
                <a:extLst>
                  <a:ext uri="{FF2B5EF4-FFF2-40B4-BE49-F238E27FC236}">
                    <a16:creationId xmlns:a16="http://schemas.microsoft.com/office/drawing/2014/main" id="{4AC680E0-F0C9-1CF3-5643-25006FDA1800}"/>
                  </a:ext>
                </a:extLst>
              </p:cNvPr>
              <p:cNvSpPr txBox="1">
                <a:spLocks noRot="1" noChangeAspect="1" noMove="1" noResize="1" noEditPoints="1" noAdjustHandles="1" noChangeArrowheads="1" noChangeShapeType="1" noTextEdit="1"/>
              </p:cNvSpPr>
              <p:nvPr/>
            </p:nvSpPr>
            <p:spPr>
              <a:xfrm>
                <a:off x="9657143" y="18601290"/>
                <a:ext cx="1231170" cy="615553"/>
              </a:xfrm>
              <a:prstGeom prst="rect">
                <a:avLst/>
              </a:prstGeom>
              <a:blipFill>
                <a:blip r:embed="rId8"/>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88" name="テキスト ボックス 1087">
                <a:extLst>
                  <a:ext uri="{FF2B5EF4-FFF2-40B4-BE49-F238E27FC236}">
                    <a16:creationId xmlns:a16="http://schemas.microsoft.com/office/drawing/2014/main" id="{BA140A4A-D0A8-9020-97D8-97900A4602D5}"/>
                  </a:ext>
                </a:extLst>
              </p:cNvPr>
              <p:cNvSpPr txBox="1"/>
              <p:nvPr/>
            </p:nvSpPr>
            <p:spPr>
              <a:xfrm>
                <a:off x="13123803" y="18601290"/>
                <a:ext cx="413254" cy="615553"/>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kumimoji="1" lang="en-US" altLang="ja-JP" sz="4000" b="0" i="1" smtClean="0">
                          <a:latin typeface="Cambria Math" panose="02040503050406030204" pitchFamily="18" charset="0"/>
                        </a:rPr>
                        <m:t>𝑎</m:t>
                      </m:r>
                    </m:oMath>
                  </m:oMathPara>
                </a14:m>
                <a:endParaRPr kumimoji="1" lang="ja-JP" altLang="en-US" sz="4000" dirty="0"/>
              </a:p>
            </p:txBody>
          </p:sp>
        </mc:Choice>
        <mc:Fallback xmlns="">
          <p:sp>
            <p:nvSpPr>
              <p:cNvPr id="1088" name="テキスト ボックス 1087">
                <a:extLst>
                  <a:ext uri="{FF2B5EF4-FFF2-40B4-BE49-F238E27FC236}">
                    <a16:creationId xmlns:a16="http://schemas.microsoft.com/office/drawing/2014/main" id="{DFD3624E-A991-E4B3-BD01-7ACF9BC684CB}"/>
                  </a:ext>
                </a:extLst>
              </p:cNvPr>
              <p:cNvSpPr txBox="1">
                <a:spLocks noRot="1" noChangeAspect="1" noMove="1" noResize="1" noEditPoints="1" noAdjustHandles="1" noChangeArrowheads="1" noChangeShapeType="1" noTextEdit="1"/>
              </p:cNvSpPr>
              <p:nvPr/>
            </p:nvSpPr>
            <p:spPr>
              <a:xfrm>
                <a:off x="13123803" y="18601290"/>
                <a:ext cx="413254" cy="615553"/>
              </a:xfrm>
              <a:prstGeom prst="rect">
                <a:avLst/>
              </a:prstGeom>
              <a:blipFill>
                <a:blip r:embed="rId9"/>
                <a:stretch>
                  <a:fillRect/>
                </a:stretch>
              </a:blipFill>
            </p:spPr>
            <p:txBody>
              <a:bodyPr/>
              <a:lstStyle/>
              <a:p>
                <a:r>
                  <a:rPr lang="ja-JP" altLang="en-US">
                    <a:noFill/>
                  </a:rPr>
                  <a:t> </a:t>
                </a:r>
              </a:p>
            </p:txBody>
          </p:sp>
        </mc:Fallback>
      </mc:AlternateContent>
      <p:cxnSp>
        <p:nvCxnSpPr>
          <p:cNvPr id="1089" name="直線矢印コネクタ 1088">
            <a:extLst>
              <a:ext uri="{FF2B5EF4-FFF2-40B4-BE49-F238E27FC236}">
                <a16:creationId xmlns:a16="http://schemas.microsoft.com/office/drawing/2014/main" id="{64CD5790-7BB4-4A10-7622-C6EB5E911681}"/>
              </a:ext>
            </a:extLst>
          </p:cNvPr>
          <p:cNvCxnSpPr>
            <a:cxnSpLocks/>
            <a:stCxn id="1086" idx="0"/>
            <a:endCxn id="1083" idx="2"/>
          </p:cNvCxnSpPr>
          <p:nvPr/>
        </p:nvCxnSpPr>
        <p:spPr>
          <a:xfrm flipV="1">
            <a:off x="7155810" y="17783507"/>
            <a:ext cx="1" cy="811447"/>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92" name="直線矢印コネクタ 1091">
            <a:extLst>
              <a:ext uri="{FF2B5EF4-FFF2-40B4-BE49-F238E27FC236}">
                <a16:creationId xmlns:a16="http://schemas.microsoft.com/office/drawing/2014/main" id="{D8346668-A9F2-37DD-9548-3B1D8816FC4B}"/>
              </a:ext>
            </a:extLst>
          </p:cNvPr>
          <p:cNvCxnSpPr>
            <a:cxnSpLocks/>
            <a:stCxn id="1087" idx="0"/>
            <a:endCxn id="1084" idx="2"/>
          </p:cNvCxnSpPr>
          <p:nvPr/>
        </p:nvCxnSpPr>
        <p:spPr>
          <a:xfrm flipV="1">
            <a:off x="10272728" y="17783506"/>
            <a:ext cx="1" cy="817784"/>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95" name="直線矢印コネクタ 1094">
            <a:extLst>
              <a:ext uri="{FF2B5EF4-FFF2-40B4-BE49-F238E27FC236}">
                <a16:creationId xmlns:a16="http://schemas.microsoft.com/office/drawing/2014/main" id="{1B01FB72-F340-7408-0E04-0063A5FA031C}"/>
              </a:ext>
            </a:extLst>
          </p:cNvPr>
          <p:cNvCxnSpPr>
            <a:cxnSpLocks/>
            <a:stCxn id="1088" idx="0"/>
            <a:endCxn id="1085" idx="2"/>
          </p:cNvCxnSpPr>
          <p:nvPr/>
        </p:nvCxnSpPr>
        <p:spPr>
          <a:xfrm flipV="1">
            <a:off x="13330430" y="17783505"/>
            <a:ext cx="1" cy="817785"/>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98" name="直線矢印コネクタ 1097">
            <a:extLst>
              <a:ext uri="{FF2B5EF4-FFF2-40B4-BE49-F238E27FC236}">
                <a16:creationId xmlns:a16="http://schemas.microsoft.com/office/drawing/2014/main" id="{F7AEE776-C7D9-694D-824C-854F951F4864}"/>
              </a:ext>
            </a:extLst>
          </p:cNvPr>
          <p:cNvCxnSpPr>
            <a:cxnSpLocks/>
            <a:endCxn id="1083" idx="1"/>
          </p:cNvCxnSpPr>
          <p:nvPr/>
        </p:nvCxnSpPr>
        <p:spPr>
          <a:xfrm>
            <a:off x="5081977" y="17309371"/>
            <a:ext cx="964700" cy="3"/>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01" name="直線矢印コネクタ 1100">
            <a:extLst>
              <a:ext uri="{FF2B5EF4-FFF2-40B4-BE49-F238E27FC236}">
                <a16:creationId xmlns:a16="http://schemas.microsoft.com/office/drawing/2014/main" id="{31CE338A-2FE5-57E3-857A-6DCB24C3FD60}"/>
              </a:ext>
            </a:extLst>
          </p:cNvPr>
          <p:cNvCxnSpPr>
            <a:cxnSpLocks/>
            <a:stCxn id="1083" idx="3"/>
            <a:endCxn id="1084" idx="1"/>
          </p:cNvCxnSpPr>
          <p:nvPr/>
        </p:nvCxnSpPr>
        <p:spPr>
          <a:xfrm flipV="1">
            <a:off x="8264944" y="17309373"/>
            <a:ext cx="898651" cy="1"/>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04" name="直線矢印コネクタ 1103">
            <a:extLst>
              <a:ext uri="{FF2B5EF4-FFF2-40B4-BE49-F238E27FC236}">
                <a16:creationId xmlns:a16="http://schemas.microsoft.com/office/drawing/2014/main" id="{65B802BC-7D32-726A-766D-98DB4B0E5BED}"/>
              </a:ext>
            </a:extLst>
          </p:cNvPr>
          <p:cNvCxnSpPr>
            <a:cxnSpLocks/>
            <a:stCxn id="1084" idx="3"/>
            <a:endCxn id="1085" idx="1"/>
          </p:cNvCxnSpPr>
          <p:nvPr/>
        </p:nvCxnSpPr>
        <p:spPr>
          <a:xfrm flipV="1">
            <a:off x="11381862" y="17309372"/>
            <a:ext cx="839435" cy="1"/>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07" name="テキスト ボックス 1106">
                <a:extLst>
                  <a:ext uri="{FF2B5EF4-FFF2-40B4-BE49-F238E27FC236}">
                    <a16:creationId xmlns:a16="http://schemas.microsoft.com/office/drawing/2014/main" id="{9EEFF7DA-C7E2-7948-66BE-BA89CFBEEFA0}"/>
                  </a:ext>
                </a:extLst>
              </p:cNvPr>
              <p:cNvSpPr txBox="1"/>
              <p:nvPr/>
            </p:nvSpPr>
            <p:spPr>
              <a:xfrm>
                <a:off x="6540225" y="15408240"/>
                <a:ext cx="1231170" cy="615553"/>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kumimoji="1" lang="en-US" altLang="ja-JP" sz="4000" i="1">
                          <a:latin typeface="Cambria Math" panose="02040503050406030204" pitchFamily="18" charset="0"/>
                        </a:rPr>
                        <m:t>h𝑎𝑣𝑒</m:t>
                      </m:r>
                    </m:oMath>
                  </m:oMathPara>
                </a14:m>
                <a:endParaRPr kumimoji="1" lang="ja-JP" altLang="en-US" sz="4000" dirty="0"/>
              </a:p>
            </p:txBody>
          </p:sp>
        </mc:Choice>
        <mc:Fallback xmlns="">
          <p:sp>
            <p:nvSpPr>
              <p:cNvPr id="1107" name="テキスト ボックス 1106">
                <a:extLst>
                  <a:ext uri="{FF2B5EF4-FFF2-40B4-BE49-F238E27FC236}">
                    <a16:creationId xmlns:a16="http://schemas.microsoft.com/office/drawing/2014/main" id="{D04168A4-88C1-3684-CF28-0191197EBAC4}"/>
                  </a:ext>
                </a:extLst>
              </p:cNvPr>
              <p:cNvSpPr txBox="1">
                <a:spLocks noRot="1" noChangeAspect="1" noMove="1" noResize="1" noEditPoints="1" noAdjustHandles="1" noChangeArrowheads="1" noChangeShapeType="1" noTextEdit="1"/>
              </p:cNvSpPr>
              <p:nvPr/>
            </p:nvSpPr>
            <p:spPr>
              <a:xfrm>
                <a:off x="6540225" y="15408240"/>
                <a:ext cx="1231170" cy="615553"/>
              </a:xfrm>
              <a:prstGeom prst="rect">
                <a:avLst/>
              </a:prstGeom>
              <a:blipFill>
                <a:blip r:embed="rId10"/>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108" name="テキスト ボックス 1107">
                <a:extLst>
                  <a:ext uri="{FF2B5EF4-FFF2-40B4-BE49-F238E27FC236}">
                    <a16:creationId xmlns:a16="http://schemas.microsoft.com/office/drawing/2014/main" id="{01FADCB1-2AE4-691E-7D62-39C748EA08AF}"/>
                  </a:ext>
                </a:extLst>
              </p:cNvPr>
              <p:cNvSpPr txBox="1"/>
              <p:nvPr/>
            </p:nvSpPr>
            <p:spPr>
              <a:xfrm>
                <a:off x="10066101" y="15401902"/>
                <a:ext cx="413254" cy="615553"/>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kumimoji="1" lang="en-US" altLang="ja-JP" sz="4000" b="0" i="1" smtClean="0">
                          <a:latin typeface="Cambria Math" panose="02040503050406030204" pitchFamily="18" charset="0"/>
                        </a:rPr>
                        <m:t>𝑎</m:t>
                      </m:r>
                    </m:oMath>
                  </m:oMathPara>
                </a14:m>
                <a:endParaRPr kumimoji="1" lang="ja-JP" altLang="en-US" sz="4000" dirty="0"/>
              </a:p>
            </p:txBody>
          </p:sp>
        </mc:Choice>
        <mc:Fallback xmlns="">
          <p:sp>
            <p:nvSpPr>
              <p:cNvPr id="1108" name="テキスト ボックス 1107">
                <a:extLst>
                  <a:ext uri="{FF2B5EF4-FFF2-40B4-BE49-F238E27FC236}">
                    <a16:creationId xmlns:a16="http://schemas.microsoft.com/office/drawing/2014/main" id="{D93A6B3E-894D-A312-6FE8-453A8E0E6208}"/>
                  </a:ext>
                </a:extLst>
              </p:cNvPr>
              <p:cNvSpPr txBox="1">
                <a:spLocks noRot="1" noChangeAspect="1" noMove="1" noResize="1" noEditPoints="1" noAdjustHandles="1" noChangeArrowheads="1" noChangeShapeType="1" noTextEdit="1"/>
              </p:cNvSpPr>
              <p:nvPr/>
            </p:nvSpPr>
            <p:spPr>
              <a:xfrm>
                <a:off x="10066101" y="15401902"/>
                <a:ext cx="413254" cy="615553"/>
              </a:xfrm>
              <a:prstGeom prst="rect">
                <a:avLst/>
              </a:prstGeom>
              <a:blipFill>
                <a:blip r:embed="rId11"/>
                <a:stretch>
                  <a:fillRect/>
                </a:stretch>
              </a:blipFill>
            </p:spPr>
            <p:txBody>
              <a:bodyPr/>
              <a:lstStyle/>
              <a:p>
                <a:r>
                  <a:rPr lang="ja-JP" altLang="en-US">
                    <a:noFill/>
                  </a:rPr>
                  <a:t> </a:t>
                </a:r>
              </a:p>
            </p:txBody>
          </p:sp>
        </mc:Fallback>
      </mc:AlternateContent>
      <p:cxnSp>
        <p:nvCxnSpPr>
          <p:cNvPr id="1109" name="直線矢印コネクタ 1108">
            <a:extLst>
              <a:ext uri="{FF2B5EF4-FFF2-40B4-BE49-F238E27FC236}">
                <a16:creationId xmlns:a16="http://schemas.microsoft.com/office/drawing/2014/main" id="{B16F5276-EEF5-7A5F-0E41-FE3BA513B385}"/>
              </a:ext>
            </a:extLst>
          </p:cNvPr>
          <p:cNvCxnSpPr>
            <a:cxnSpLocks/>
            <a:stCxn id="1083" idx="0"/>
            <a:endCxn id="1107" idx="2"/>
          </p:cNvCxnSpPr>
          <p:nvPr/>
        </p:nvCxnSpPr>
        <p:spPr>
          <a:xfrm flipH="1" flipV="1">
            <a:off x="7155810" y="16023793"/>
            <a:ext cx="1" cy="811447"/>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13" name="直線矢印コネクタ 1112">
            <a:extLst>
              <a:ext uri="{FF2B5EF4-FFF2-40B4-BE49-F238E27FC236}">
                <a16:creationId xmlns:a16="http://schemas.microsoft.com/office/drawing/2014/main" id="{5AF58B5C-514C-4E22-E7AA-4309E89E0DD8}"/>
              </a:ext>
            </a:extLst>
          </p:cNvPr>
          <p:cNvCxnSpPr>
            <a:cxnSpLocks/>
            <a:stCxn id="1084" idx="0"/>
            <a:endCxn id="1108" idx="2"/>
          </p:cNvCxnSpPr>
          <p:nvPr/>
        </p:nvCxnSpPr>
        <p:spPr>
          <a:xfrm flipH="1" flipV="1">
            <a:off x="10272728" y="16017455"/>
            <a:ext cx="1" cy="817784"/>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16" name="直線矢印コネクタ 1115">
            <a:extLst>
              <a:ext uri="{FF2B5EF4-FFF2-40B4-BE49-F238E27FC236}">
                <a16:creationId xmlns:a16="http://schemas.microsoft.com/office/drawing/2014/main" id="{285F2EA8-C34B-09CC-4FBE-C11CEA6A586E}"/>
              </a:ext>
            </a:extLst>
          </p:cNvPr>
          <p:cNvCxnSpPr>
            <a:cxnSpLocks/>
            <a:stCxn id="1085" idx="0"/>
            <a:endCxn id="1117" idx="2"/>
          </p:cNvCxnSpPr>
          <p:nvPr/>
        </p:nvCxnSpPr>
        <p:spPr>
          <a:xfrm flipV="1">
            <a:off x="13330431" y="16017453"/>
            <a:ext cx="0" cy="817785"/>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17" name="テキスト ボックス 1116">
                <a:extLst>
                  <a:ext uri="{FF2B5EF4-FFF2-40B4-BE49-F238E27FC236}">
                    <a16:creationId xmlns:a16="http://schemas.microsoft.com/office/drawing/2014/main" id="{A9713EBF-5722-7AA1-B23B-0239E4F802AE}"/>
                  </a:ext>
                </a:extLst>
              </p:cNvPr>
              <p:cNvSpPr txBox="1"/>
              <p:nvPr/>
            </p:nvSpPr>
            <p:spPr>
              <a:xfrm>
                <a:off x="12513316" y="15401900"/>
                <a:ext cx="1634230" cy="615553"/>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kumimoji="1" lang="en-US" altLang="ja-JP" sz="4000" b="0" i="1" smtClean="0">
                          <a:latin typeface="Cambria Math" panose="02040503050406030204" pitchFamily="18" charset="0"/>
                        </a:rPr>
                        <m:t>𝑑𝑟𝑒𝑎𝑚</m:t>
                      </m:r>
                    </m:oMath>
                  </m:oMathPara>
                </a14:m>
                <a:endParaRPr kumimoji="1" lang="ja-JP" altLang="en-US" sz="4000" dirty="0"/>
              </a:p>
            </p:txBody>
          </p:sp>
        </mc:Choice>
        <mc:Fallback xmlns="">
          <p:sp>
            <p:nvSpPr>
              <p:cNvPr id="1117" name="テキスト ボックス 1116">
                <a:extLst>
                  <a:ext uri="{FF2B5EF4-FFF2-40B4-BE49-F238E27FC236}">
                    <a16:creationId xmlns:a16="http://schemas.microsoft.com/office/drawing/2014/main" id="{0946AE78-8044-154E-3C7E-413D0B06E5E2}"/>
                  </a:ext>
                </a:extLst>
              </p:cNvPr>
              <p:cNvSpPr txBox="1">
                <a:spLocks noRot="1" noChangeAspect="1" noMove="1" noResize="1" noEditPoints="1" noAdjustHandles="1" noChangeArrowheads="1" noChangeShapeType="1" noTextEdit="1"/>
              </p:cNvSpPr>
              <p:nvPr/>
            </p:nvSpPr>
            <p:spPr>
              <a:xfrm>
                <a:off x="12513316" y="15401900"/>
                <a:ext cx="1634230" cy="615553"/>
              </a:xfrm>
              <a:prstGeom prst="rect">
                <a:avLst/>
              </a:prstGeom>
              <a:blipFill>
                <a:blip r:embed="rId12"/>
                <a:stretch>
                  <a:fillRect/>
                </a:stretch>
              </a:blipFill>
            </p:spPr>
            <p:txBody>
              <a:bodyPr/>
              <a:lstStyle/>
              <a:p>
                <a:r>
                  <a:rPr lang="ja-JP" altLang="en-US">
                    <a:noFill/>
                  </a:rPr>
                  <a:t> </a:t>
                </a:r>
              </a:p>
            </p:txBody>
          </p:sp>
        </mc:Fallback>
      </mc:AlternateContent>
      <p:cxnSp>
        <p:nvCxnSpPr>
          <p:cNvPr id="1120" name="直線コネクタ 1119">
            <a:extLst>
              <a:ext uri="{FF2B5EF4-FFF2-40B4-BE49-F238E27FC236}">
                <a16:creationId xmlns:a16="http://schemas.microsoft.com/office/drawing/2014/main" id="{E42D63D2-386E-761B-4274-7A801F6EA10D}"/>
              </a:ext>
            </a:extLst>
          </p:cNvPr>
          <p:cNvCxnSpPr>
            <a:cxnSpLocks/>
          </p:cNvCxnSpPr>
          <p:nvPr/>
        </p:nvCxnSpPr>
        <p:spPr>
          <a:xfrm>
            <a:off x="2825871" y="15523157"/>
            <a:ext cx="0" cy="2901446"/>
          </a:xfrm>
          <a:prstGeom prst="line">
            <a:avLst/>
          </a:prstGeom>
          <a:ln w="38100">
            <a:solidFill>
              <a:srgbClr val="0070C0"/>
            </a:solidFill>
            <a:prstDash val="dash"/>
          </a:ln>
        </p:spPr>
        <p:style>
          <a:lnRef idx="1">
            <a:schemeClr val="accent1"/>
          </a:lnRef>
          <a:fillRef idx="0">
            <a:schemeClr val="accent1"/>
          </a:fillRef>
          <a:effectRef idx="0">
            <a:schemeClr val="accent1"/>
          </a:effectRef>
          <a:fontRef idx="minor">
            <a:schemeClr val="tx1"/>
          </a:fontRef>
        </p:style>
      </p:cxnSp>
      <p:cxnSp>
        <p:nvCxnSpPr>
          <p:cNvPr id="1123" name="直線コネクタ 1122">
            <a:extLst>
              <a:ext uri="{FF2B5EF4-FFF2-40B4-BE49-F238E27FC236}">
                <a16:creationId xmlns:a16="http://schemas.microsoft.com/office/drawing/2014/main" id="{A61B0E8A-8E77-881E-CE58-2F3F39755DDA}"/>
              </a:ext>
            </a:extLst>
          </p:cNvPr>
          <p:cNvCxnSpPr>
            <a:cxnSpLocks/>
          </p:cNvCxnSpPr>
          <p:nvPr/>
        </p:nvCxnSpPr>
        <p:spPr>
          <a:xfrm>
            <a:off x="2815009" y="18360248"/>
            <a:ext cx="11831181" cy="0"/>
          </a:xfrm>
          <a:prstGeom prst="line">
            <a:avLst/>
          </a:prstGeom>
          <a:ln w="38100">
            <a:solidFill>
              <a:srgbClr val="0070C0"/>
            </a:solidFill>
            <a:prstDash val="dash"/>
          </a:ln>
        </p:spPr>
        <p:style>
          <a:lnRef idx="1">
            <a:schemeClr val="accent1"/>
          </a:lnRef>
          <a:fillRef idx="0">
            <a:schemeClr val="accent1"/>
          </a:fillRef>
          <a:effectRef idx="0">
            <a:schemeClr val="accent1"/>
          </a:effectRef>
          <a:fontRef idx="minor">
            <a:schemeClr val="tx1"/>
          </a:fontRef>
        </p:style>
      </p:cxnSp>
      <p:sp>
        <p:nvSpPr>
          <p:cNvPr id="1127" name="テキスト ボックス 1126">
            <a:extLst>
              <a:ext uri="{FF2B5EF4-FFF2-40B4-BE49-F238E27FC236}">
                <a16:creationId xmlns:a16="http://schemas.microsoft.com/office/drawing/2014/main" id="{3906841C-46EA-5797-655A-712B64A32414}"/>
              </a:ext>
            </a:extLst>
          </p:cNvPr>
          <p:cNvSpPr txBox="1"/>
          <p:nvPr/>
        </p:nvSpPr>
        <p:spPr>
          <a:xfrm>
            <a:off x="4101558" y="19165953"/>
            <a:ext cx="6884481" cy="707886"/>
          </a:xfrm>
          <a:prstGeom prst="rect">
            <a:avLst/>
          </a:prstGeom>
          <a:noFill/>
        </p:spPr>
        <p:txBody>
          <a:bodyPr wrap="square" rtlCol="0">
            <a:spAutoFit/>
          </a:bodyPr>
          <a:lstStyle/>
          <a:p>
            <a:pPr algn="ctr"/>
            <a:r>
              <a:rPr kumimoji="1" lang="ja-JP" altLang="en-US" sz="4000" dirty="0">
                <a:latin typeface="MS PGothic" panose="020B0600070205080204" pitchFamily="34" charset="-128"/>
                <a:ea typeface="MS PGothic" panose="020B0600070205080204" pitchFamily="34" charset="-128"/>
              </a:rPr>
              <a:t>図</a:t>
            </a:r>
            <a:r>
              <a:rPr kumimoji="1" lang="en-US" altLang="ja-JP" sz="4000" dirty="0">
                <a:latin typeface="MS PGothic" panose="020B0600070205080204" pitchFamily="34" charset="-128"/>
                <a:ea typeface="MS PGothic" panose="020B0600070205080204" pitchFamily="34" charset="-128"/>
              </a:rPr>
              <a:t>1</a:t>
            </a:r>
            <a:r>
              <a:rPr kumimoji="1" lang="ja-JP" altLang="en-US" sz="4000" dirty="0">
                <a:latin typeface="MS PGothic" panose="020B0600070205080204" pitchFamily="34" charset="-128"/>
                <a:ea typeface="MS PGothic" panose="020B0600070205080204" pitchFamily="34" charset="-128"/>
              </a:rPr>
              <a:t>　従来手法の構造</a:t>
            </a:r>
            <a:endParaRPr kumimoji="1" lang="en-US" altLang="ja-JP" sz="4000" dirty="0">
              <a:latin typeface="MS PGothic" panose="020B0600070205080204" pitchFamily="34" charset="-128"/>
              <a:ea typeface="MS PGothic" panose="020B0600070205080204" pitchFamily="34" charset="-128"/>
            </a:endParaRPr>
          </a:p>
        </p:txBody>
      </p:sp>
      <p:sp>
        <p:nvSpPr>
          <p:cNvPr id="19" name="テキスト ボックス 18">
            <a:extLst>
              <a:ext uri="{FF2B5EF4-FFF2-40B4-BE49-F238E27FC236}">
                <a16:creationId xmlns:a16="http://schemas.microsoft.com/office/drawing/2014/main" id="{92159453-4FC1-EC36-FBD0-8E2A841F176C}"/>
              </a:ext>
            </a:extLst>
          </p:cNvPr>
          <p:cNvSpPr txBox="1"/>
          <p:nvPr/>
        </p:nvSpPr>
        <p:spPr>
          <a:xfrm>
            <a:off x="203198" y="6364471"/>
            <a:ext cx="14681200" cy="707886"/>
          </a:xfrm>
          <a:prstGeom prst="rect">
            <a:avLst/>
          </a:prstGeom>
          <a:noFill/>
        </p:spPr>
        <p:txBody>
          <a:bodyPr wrap="square" rtlCol="0">
            <a:spAutoFit/>
          </a:bodyPr>
          <a:lstStyle/>
          <a:p>
            <a:pPr algn="ctr"/>
            <a:r>
              <a:rPr kumimoji="1" lang="ja-JP" altLang="en-US" sz="4000" dirty="0">
                <a:latin typeface="MS PGothic" panose="020B0600070205080204" pitchFamily="34" charset="-128"/>
                <a:ea typeface="MS PGothic" panose="020B0600070205080204" pitchFamily="34" charset="-128"/>
              </a:rPr>
              <a:t>表</a:t>
            </a:r>
            <a:r>
              <a:rPr kumimoji="1" lang="en-US" altLang="ja-JP" sz="4000" dirty="0">
                <a:latin typeface="MS PGothic" panose="020B0600070205080204" pitchFamily="34" charset="-128"/>
                <a:ea typeface="MS PGothic" panose="020B0600070205080204" pitchFamily="34" charset="-128"/>
              </a:rPr>
              <a:t>1</a:t>
            </a:r>
            <a:r>
              <a:rPr kumimoji="1" lang="ja-JP" altLang="en-US" sz="4000" dirty="0">
                <a:latin typeface="MS PGothic" panose="020B0600070205080204" pitchFamily="34" charset="-128"/>
                <a:ea typeface="MS PGothic" panose="020B0600070205080204" pitchFamily="34" charset="-128"/>
              </a:rPr>
              <a:t>　ボケて</a:t>
            </a:r>
            <a:r>
              <a:rPr kumimoji="1" lang="en-US" altLang="ja-JP" sz="4000" dirty="0">
                <a:latin typeface="MS PGothic" panose="020B0600070205080204" pitchFamily="34" charset="-128"/>
                <a:ea typeface="MS PGothic" panose="020B0600070205080204" pitchFamily="34" charset="-128"/>
              </a:rPr>
              <a:t>[3]</a:t>
            </a:r>
            <a:r>
              <a:rPr kumimoji="1" lang="ja-JP" altLang="en-US" sz="4000" dirty="0">
                <a:latin typeface="MS PGothic" panose="020B0600070205080204" pitchFamily="34" charset="-128"/>
                <a:ea typeface="MS PGothic" panose="020B0600070205080204" pitchFamily="34" charset="-128"/>
              </a:rPr>
              <a:t>に投稿された画像と大喜利</a:t>
            </a:r>
            <a:endParaRPr kumimoji="1" lang="en-US" altLang="ja-JP" sz="4000" dirty="0">
              <a:latin typeface="MS PGothic" panose="020B0600070205080204" pitchFamily="34" charset="-128"/>
              <a:ea typeface="MS PGothic" panose="020B0600070205080204" pitchFamily="34" charset="-128"/>
            </a:endParaRPr>
          </a:p>
        </p:txBody>
      </p:sp>
      <p:pic>
        <p:nvPicPr>
          <p:cNvPr id="1028" name="Picture 4" descr="水ジェスチャードラム">
            <a:extLst>
              <a:ext uri="{FF2B5EF4-FFF2-40B4-BE49-F238E27FC236}">
                <a16:creationId xmlns:a16="http://schemas.microsoft.com/office/drawing/2014/main" id="{1E13D90A-282D-A178-BFA5-DB41FF21D365}"/>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18411" y="11528533"/>
            <a:ext cx="3626959" cy="3626958"/>
          </a:xfrm>
          <a:prstGeom prst="rect">
            <a:avLst/>
          </a:prstGeom>
          <a:noFill/>
          <a:extLst>
            <a:ext uri="{909E8E84-426E-40DD-AFC4-6F175D3DCCD1}">
              <a14:hiddenFill xmlns:a14="http://schemas.microsoft.com/office/drawing/2010/main">
                <a:solidFill>
                  <a:srgbClr val="FFFFFF"/>
                </a:solidFill>
              </a14:hiddenFill>
            </a:ext>
          </a:extLst>
        </p:spPr>
      </p:pic>
      <p:sp>
        <p:nvSpPr>
          <p:cNvPr id="16" name="正方形/長方形 15">
            <a:extLst>
              <a:ext uri="{FF2B5EF4-FFF2-40B4-BE49-F238E27FC236}">
                <a16:creationId xmlns:a16="http://schemas.microsoft.com/office/drawing/2014/main" id="{A1D592DC-DC1F-8EB9-4013-41FC5935B33E}"/>
              </a:ext>
            </a:extLst>
          </p:cNvPr>
          <p:cNvSpPr/>
          <p:nvPr/>
        </p:nvSpPr>
        <p:spPr>
          <a:xfrm>
            <a:off x="15366748" y="2288708"/>
            <a:ext cx="14681200" cy="17592844"/>
          </a:xfrm>
          <a:prstGeom prst="rect">
            <a:avLst/>
          </a:prstGeom>
          <a:solidFill>
            <a:schemeClr val="bg1"/>
          </a:solid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正方形/長方形 48">
            <a:extLst>
              <a:ext uri="{FF2B5EF4-FFF2-40B4-BE49-F238E27FC236}">
                <a16:creationId xmlns:a16="http://schemas.microsoft.com/office/drawing/2014/main" id="{DFB667F7-FE7F-30AB-E051-DCE8BC45FF06}"/>
              </a:ext>
            </a:extLst>
          </p:cNvPr>
          <p:cNvSpPr/>
          <p:nvPr/>
        </p:nvSpPr>
        <p:spPr>
          <a:xfrm>
            <a:off x="15366748" y="2288708"/>
            <a:ext cx="14681200" cy="849085"/>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4800" dirty="0">
                <a:latin typeface="MS PGothic" panose="020B0600070205080204" pitchFamily="34" charset="-128"/>
                <a:ea typeface="MS PGothic" panose="020B0600070205080204" pitchFamily="34" charset="-128"/>
              </a:rPr>
              <a:t>提案手法</a:t>
            </a:r>
          </a:p>
        </p:txBody>
      </p:sp>
      <p:sp>
        <p:nvSpPr>
          <p:cNvPr id="55" name="テキスト ボックス 54">
            <a:extLst>
              <a:ext uri="{FF2B5EF4-FFF2-40B4-BE49-F238E27FC236}">
                <a16:creationId xmlns:a16="http://schemas.microsoft.com/office/drawing/2014/main" id="{DF4B0634-A2F9-7028-5F32-953EC93032ED}"/>
              </a:ext>
            </a:extLst>
          </p:cNvPr>
          <p:cNvSpPr txBox="1"/>
          <p:nvPr/>
        </p:nvSpPr>
        <p:spPr>
          <a:xfrm>
            <a:off x="15357714" y="3169285"/>
            <a:ext cx="14681200" cy="17943374"/>
          </a:xfrm>
          <a:prstGeom prst="rect">
            <a:avLst/>
          </a:prstGeom>
          <a:noFill/>
        </p:spPr>
        <p:txBody>
          <a:bodyPr wrap="square" rtlCol="0">
            <a:spAutoFit/>
          </a:bodyPr>
          <a:lstStyle/>
          <a:p>
            <a:pPr indent="457200" algn="just"/>
            <a:r>
              <a:rPr kumimoji="1" lang="en-US" altLang="ja-JP" sz="4000" dirty="0">
                <a:latin typeface="MS PGothic" panose="020B0600070205080204" pitchFamily="34" charset="-128"/>
                <a:ea typeface="MS PGothic" panose="020B0600070205080204" pitchFamily="34" charset="-128"/>
              </a:rPr>
              <a:t>Transformer[4]</a:t>
            </a:r>
            <a:r>
              <a:rPr kumimoji="1" lang="ja-JP" altLang="en-US" sz="4000" dirty="0">
                <a:latin typeface="MS PGothic" panose="020B0600070205080204" pitchFamily="34" charset="-128"/>
                <a:ea typeface="MS PGothic" panose="020B0600070205080204" pitchFamily="34" charset="-128"/>
              </a:rPr>
              <a:t>は，</a:t>
            </a:r>
            <a:r>
              <a:rPr kumimoji="1" lang="en-US" altLang="ja-JP" sz="4000" dirty="0">
                <a:latin typeface="MS PGothic" panose="020B0600070205080204" pitchFamily="34" charset="-128"/>
                <a:ea typeface="MS PGothic" panose="020B0600070205080204" pitchFamily="34" charset="-128"/>
              </a:rPr>
              <a:t>BERT</a:t>
            </a:r>
            <a:r>
              <a:rPr kumimoji="1" lang="ja-JP" altLang="en-US" sz="4000" dirty="0">
                <a:latin typeface="MS PGothic" panose="020B0600070205080204" pitchFamily="34" charset="-128"/>
                <a:ea typeface="MS PGothic" panose="020B0600070205080204" pitchFamily="34" charset="-128"/>
              </a:rPr>
              <a:t>や</a:t>
            </a:r>
            <a:r>
              <a:rPr kumimoji="1" lang="en-US" altLang="ja-JP" sz="4000" dirty="0">
                <a:latin typeface="MS PGothic" panose="020B0600070205080204" pitchFamily="34" charset="-128"/>
                <a:ea typeface="MS PGothic" panose="020B0600070205080204" pitchFamily="34" charset="-128"/>
              </a:rPr>
              <a:t>ChatGPT</a:t>
            </a:r>
            <a:r>
              <a:rPr kumimoji="1" lang="ja-JP" altLang="en-US" sz="4000" dirty="0">
                <a:latin typeface="MS PGothic" panose="020B0600070205080204" pitchFamily="34" charset="-128"/>
                <a:ea typeface="MS PGothic" panose="020B0600070205080204" pitchFamily="34" charset="-128"/>
              </a:rPr>
              <a:t>を代表とする，近年の自然言語処理におけるデファクトスタンダードとなっている．</a:t>
            </a:r>
            <a:r>
              <a:rPr kumimoji="1" lang="en-US" altLang="ja-JP" sz="4000" dirty="0">
                <a:latin typeface="MS PGothic" panose="020B0600070205080204" pitchFamily="34" charset="-128"/>
                <a:ea typeface="MS PGothic" panose="020B0600070205080204" pitchFamily="34" charset="-128"/>
              </a:rPr>
              <a:t>Transformer</a:t>
            </a:r>
            <a:r>
              <a:rPr kumimoji="1" lang="ja-JP" altLang="en-US" sz="4000" dirty="0">
                <a:latin typeface="MS PGothic" panose="020B0600070205080204" pitchFamily="34" charset="-128"/>
                <a:ea typeface="MS PGothic" panose="020B0600070205080204" pitchFamily="34" charset="-128"/>
              </a:rPr>
              <a:t>は，並列に時系列を処理することで，再帰的ニューラルネットワークの長期の記憶保持に難がある問題を解決している．</a:t>
            </a:r>
            <a:r>
              <a:rPr kumimoji="1" lang="en-US" altLang="ja-JP" sz="4000" dirty="0">
                <a:latin typeface="MS PGothic" panose="020B0600070205080204" pitchFamily="34" charset="-128"/>
                <a:ea typeface="MS PGothic" panose="020B0600070205080204" pitchFamily="34" charset="-128"/>
              </a:rPr>
              <a:t>Transformer</a:t>
            </a:r>
            <a:r>
              <a:rPr kumimoji="1" lang="ja-JP" altLang="en-US" sz="4000">
                <a:latin typeface="MS PGothic" panose="020B0600070205080204" pitchFamily="34" charset="-128"/>
                <a:ea typeface="MS PGothic" panose="020B0600070205080204" pitchFamily="34" charset="-128"/>
              </a:rPr>
              <a:t>を用いた画像キャプション生成モデルでは，画像のエンコーダと文章のデコーダが出力した特徴量</a:t>
            </a:r>
            <a:r>
              <a:rPr kumimoji="1" lang="ja-JP" altLang="en-US" sz="4000" dirty="0">
                <a:latin typeface="MS PGothic" panose="020B0600070205080204" pitchFamily="34" charset="-128"/>
                <a:ea typeface="MS PGothic" panose="020B0600070205080204" pitchFamily="34" charset="-128"/>
              </a:rPr>
              <a:t>を混合する</a:t>
            </a:r>
            <a:r>
              <a:rPr kumimoji="1" lang="ja-JP" altLang="en-US" sz="4000">
                <a:latin typeface="MS PGothic" panose="020B0600070205080204" pitchFamily="34" charset="-128"/>
                <a:ea typeface="MS PGothic" panose="020B0600070205080204" pitchFamily="34" charset="-128"/>
              </a:rPr>
              <a:t>ため</a:t>
            </a:r>
            <a:r>
              <a:rPr kumimoji="1" lang="en-US" altLang="ja-JP" sz="4000" dirty="0">
                <a:latin typeface="MS PGothic" panose="020B0600070205080204" pitchFamily="34" charset="-128"/>
                <a:ea typeface="MS PGothic" panose="020B0600070205080204" pitchFamily="34" charset="-128"/>
              </a:rPr>
              <a:t>Cross-Attention[4]</a:t>
            </a:r>
            <a:r>
              <a:rPr kumimoji="1" lang="ja-JP" altLang="en-US" sz="4000">
                <a:latin typeface="MS PGothic" panose="020B0600070205080204" pitchFamily="34" charset="-128"/>
                <a:ea typeface="MS PGothic" panose="020B0600070205080204" pitchFamily="34" charset="-128"/>
              </a:rPr>
              <a:t>が</a:t>
            </a:r>
            <a:r>
              <a:rPr kumimoji="1" lang="ja-JP" altLang="en-US" sz="4000" dirty="0">
                <a:latin typeface="MS PGothic" panose="020B0600070205080204" pitchFamily="34" charset="-128"/>
                <a:ea typeface="MS PGothic" panose="020B0600070205080204" pitchFamily="34" charset="-128"/>
              </a:rPr>
              <a:t>用いられる．</a:t>
            </a:r>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r>
              <a:rPr kumimoji="1" lang="ja-JP" altLang="en-US" sz="4000">
                <a:latin typeface="MS PGothic" panose="020B0600070205080204" pitchFamily="34" charset="-128"/>
                <a:ea typeface="MS PGothic" panose="020B0600070205080204" pitchFamily="34" charset="-128"/>
              </a:rPr>
              <a:t>本研究</a:t>
            </a:r>
            <a:r>
              <a:rPr kumimoji="1" lang="ja-JP" altLang="en-US" sz="4000" dirty="0">
                <a:latin typeface="MS PGothic" panose="020B0600070205080204" pitchFamily="34" charset="-128"/>
                <a:ea typeface="MS PGothic" panose="020B0600070205080204" pitchFamily="34" charset="-128"/>
              </a:rPr>
              <a:t>では，</a:t>
            </a:r>
            <a:r>
              <a:rPr kumimoji="1" lang="en-US" altLang="ja-JP" sz="4000" b="1" dirty="0">
                <a:latin typeface="MS PGothic" panose="020B0600070205080204" pitchFamily="34" charset="-128"/>
                <a:ea typeface="MS PGothic" panose="020B0600070205080204" pitchFamily="34" charset="-128"/>
              </a:rPr>
              <a:t>Transformer</a:t>
            </a:r>
            <a:r>
              <a:rPr kumimoji="1" lang="ja-JP" altLang="en-US" sz="4000" dirty="0">
                <a:latin typeface="MS PGothic" panose="020B0600070205080204" pitchFamily="34" charset="-128"/>
                <a:ea typeface="MS PGothic" panose="020B0600070205080204" pitchFamily="34" charset="-128"/>
              </a:rPr>
              <a:t>を用いた画像に対し大喜利文章を生成する</a:t>
            </a:r>
            <a:r>
              <a:rPr kumimoji="1" lang="en-US" altLang="ja-JP" sz="4000" dirty="0">
                <a:latin typeface="MS PGothic" panose="020B0600070205080204" pitchFamily="34" charset="-128"/>
                <a:ea typeface="MS PGothic" panose="020B0600070205080204" pitchFamily="34" charset="-128"/>
              </a:rPr>
              <a:t>AI</a:t>
            </a:r>
            <a:r>
              <a:rPr kumimoji="1" lang="ja-JP" altLang="en-US" sz="4000" dirty="0">
                <a:latin typeface="MS PGothic" panose="020B0600070205080204" pitchFamily="34" charset="-128"/>
                <a:ea typeface="MS PGothic" panose="020B0600070205080204" pitchFamily="34" charset="-128"/>
              </a:rPr>
              <a:t>を提案する．提案手法では，画像は事前学習済み</a:t>
            </a:r>
            <a:r>
              <a:rPr kumimoji="1" lang="en-US" altLang="ja-JP" sz="4000" dirty="0">
                <a:latin typeface="MS PGothic" panose="020B0600070205080204" pitchFamily="34" charset="-128"/>
                <a:ea typeface="MS PGothic" panose="020B0600070205080204" pitchFamily="34" charset="-128"/>
              </a:rPr>
              <a:t>Vision-Transformer(</a:t>
            </a:r>
            <a:r>
              <a:rPr kumimoji="1" lang="en-US" altLang="ja-JP" sz="4000" dirty="0" err="1">
                <a:latin typeface="MS PGothic" panose="020B0600070205080204" pitchFamily="34" charset="-128"/>
                <a:ea typeface="MS PGothic" panose="020B0600070205080204" pitchFamily="34" charset="-128"/>
              </a:rPr>
              <a:t>ViT</a:t>
            </a:r>
            <a:r>
              <a:rPr kumimoji="1" lang="en-US" altLang="ja-JP" sz="4000" dirty="0">
                <a:latin typeface="MS PGothic" panose="020B0600070205080204" pitchFamily="34" charset="-128"/>
                <a:ea typeface="MS PGothic" panose="020B0600070205080204" pitchFamily="34" charset="-128"/>
              </a:rPr>
              <a:t>)[5]</a:t>
            </a:r>
            <a:r>
              <a:rPr kumimoji="1" lang="ja-JP" altLang="en-US" sz="4000" dirty="0">
                <a:latin typeface="MS PGothic" panose="020B0600070205080204" pitchFamily="34" charset="-128"/>
                <a:ea typeface="MS PGothic" panose="020B0600070205080204" pitchFamily="34" charset="-128"/>
              </a:rPr>
              <a:t>に入力し特徴量に変換する．文章はサブワードに変換しサブワードごとに埋め込みベクトルに変換する．得られた画像と文章の特徴量は</a:t>
            </a:r>
            <a:r>
              <a:rPr kumimoji="1" lang="en-US" altLang="ja-JP" sz="4000" dirty="0">
                <a:latin typeface="MS PGothic" panose="020B0600070205080204" pitchFamily="34" charset="-128"/>
                <a:ea typeface="MS PGothic" panose="020B0600070205080204" pitchFamily="34" charset="-128"/>
              </a:rPr>
              <a:t>Cross-Attention</a:t>
            </a:r>
            <a:r>
              <a:rPr kumimoji="1" lang="ja-JP" altLang="en-US" sz="4000" dirty="0">
                <a:latin typeface="MS PGothic" panose="020B0600070205080204" pitchFamily="34" charset="-128"/>
                <a:ea typeface="MS PGothic" panose="020B0600070205080204" pitchFamily="34" charset="-128"/>
              </a:rPr>
              <a:t>により混合する．提案手法では，文章の</a:t>
            </a:r>
            <a:r>
              <a:rPr kumimoji="1" lang="ja-JP" altLang="en-US" sz="4000">
                <a:latin typeface="MS PGothic" panose="020B0600070205080204" pitchFamily="34" charset="-128"/>
                <a:ea typeface="MS PGothic" panose="020B0600070205080204" pitchFamily="34" charset="-128"/>
              </a:rPr>
              <a:t>位置エンコードを学習</a:t>
            </a:r>
            <a:r>
              <a:rPr kumimoji="1" lang="ja-JP" altLang="en-US" sz="4000" dirty="0">
                <a:latin typeface="MS PGothic" panose="020B0600070205080204" pitchFamily="34" charset="-128"/>
                <a:ea typeface="MS PGothic" panose="020B0600070205080204" pitchFamily="34" charset="-128"/>
              </a:rPr>
              <a:t>する．</a:t>
            </a:r>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p:txBody>
      </p:sp>
      <p:pic>
        <p:nvPicPr>
          <p:cNvPr id="1050" name="図 1049" descr="建物, グループ, テーブル, フロント が含まれている画像&#10;&#10;自動的に生成された説明">
            <a:extLst>
              <a:ext uri="{FF2B5EF4-FFF2-40B4-BE49-F238E27FC236}">
                <a16:creationId xmlns:a16="http://schemas.microsoft.com/office/drawing/2014/main" id="{A681D74B-6C0F-FE80-D485-E54CF69F3A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601331" y="14172796"/>
            <a:ext cx="1773758" cy="1773758"/>
          </a:xfrm>
          <a:prstGeom prst="rect">
            <a:avLst/>
          </a:prstGeom>
        </p:spPr>
      </p:pic>
      <p:cxnSp>
        <p:nvCxnSpPr>
          <p:cNvPr id="1051" name="直線矢印コネクタ 1050">
            <a:extLst>
              <a:ext uri="{FF2B5EF4-FFF2-40B4-BE49-F238E27FC236}">
                <a16:creationId xmlns:a16="http://schemas.microsoft.com/office/drawing/2014/main" id="{720EA6BA-5C06-A66D-B2C7-77FA6862C9D9}"/>
              </a:ext>
            </a:extLst>
          </p:cNvPr>
          <p:cNvCxnSpPr>
            <a:cxnSpLocks/>
            <a:stCxn id="1050" idx="3"/>
            <a:endCxn id="1053" idx="1"/>
          </p:cNvCxnSpPr>
          <p:nvPr/>
        </p:nvCxnSpPr>
        <p:spPr>
          <a:xfrm>
            <a:off x="17375089" y="15059675"/>
            <a:ext cx="640816"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052" name="グループ化 1051">
            <a:extLst>
              <a:ext uri="{FF2B5EF4-FFF2-40B4-BE49-F238E27FC236}">
                <a16:creationId xmlns:a16="http://schemas.microsoft.com/office/drawing/2014/main" id="{AD69912F-66BA-24D2-FDA3-00C2E1D1FC99}"/>
              </a:ext>
            </a:extLst>
          </p:cNvPr>
          <p:cNvGrpSpPr/>
          <p:nvPr/>
        </p:nvGrpSpPr>
        <p:grpSpPr>
          <a:xfrm>
            <a:off x="18015905" y="14172796"/>
            <a:ext cx="1773758" cy="1773758"/>
            <a:chOff x="17905150" y="9667945"/>
            <a:chExt cx="1773758" cy="1773758"/>
          </a:xfrm>
        </p:grpSpPr>
        <p:pic>
          <p:nvPicPr>
            <p:cNvPr id="1053" name="図 1052" descr="建物, グループ, テーブル, フロント が含まれている画像&#10;&#10;自動的に生成された説明">
              <a:extLst>
                <a:ext uri="{FF2B5EF4-FFF2-40B4-BE49-F238E27FC236}">
                  <a16:creationId xmlns:a16="http://schemas.microsoft.com/office/drawing/2014/main" id="{18F6EC9E-BE2E-060C-9FF0-26DF3746C9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05150" y="9667945"/>
              <a:ext cx="1773758" cy="1773758"/>
            </a:xfrm>
            <a:prstGeom prst="rect">
              <a:avLst/>
            </a:prstGeom>
          </p:spPr>
        </p:pic>
        <p:cxnSp>
          <p:nvCxnSpPr>
            <p:cNvPr id="1054" name="直線コネクタ 1053">
              <a:extLst>
                <a:ext uri="{FF2B5EF4-FFF2-40B4-BE49-F238E27FC236}">
                  <a16:creationId xmlns:a16="http://schemas.microsoft.com/office/drawing/2014/main" id="{F748FA71-16BC-E969-F45A-502C297AEC0F}"/>
                </a:ext>
              </a:extLst>
            </p:cNvPr>
            <p:cNvCxnSpPr/>
            <p:nvPr/>
          </p:nvCxnSpPr>
          <p:spPr>
            <a:xfrm>
              <a:off x="18281197" y="9667945"/>
              <a:ext cx="0" cy="1773758"/>
            </a:xfrm>
            <a:prstGeom prst="line">
              <a:avLst/>
            </a:prstGeom>
            <a:ln w="19050">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1055" name="直線コネクタ 1054">
              <a:extLst>
                <a:ext uri="{FF2B5EF4-FFF2-40B4-BE49-F238E27FC236}">
                  <a16:creationId xmlns:a16="http://schemas.microsoft.com/office/drawing/2014/main" id="{782CB199-A140-95CB-532A-EF79B8DBE1FF}"/>
                </a:ext>
              </a:extLst>
            </p:cNvPr>
            <p:cNvCxnSpPr>
              <a:cxnSpLocks/>
              <a:stCxn id="1053" idx="0"/>
              <a:endCxn id="1053" idx="2"/>
            </p:cNvCxnSpPr>
            <p:nvPr/>
          </p:nvCxnSpPr>
          <p:spPr>
            <a:xfrm>
              <a:off x="18792029" y="9667945"/>
              <a:ext cx="0" cy="1773758"/>
            </a:xfrm>
            <a:prstGeom prst="line">
              <a:avLst/>
            </a:prstGeom>
            <a:ln w="19050">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1056" name="直線コネクタ 1055">
              <a:extLst>
                <a:ext uri="{FF2B5EF4-FFF2-40B4-BE49-F238E27FC236}">
                  <a16:creationId xmlns:a16="http://schemas.microsoft.com/office/drawing/2014/main" id="{04B14026-B380-5C31-5B6E-950BF15E7A7E}"/>
                </a:ext>
              </a:extLst>
            </p:cNvPr>
            <p:cNvCxnSpPr>
              <a:cxnSpLocks/>
            </p:cNvCxnSpPr>
            <p:nvPr/>
          </p:nvCxnSpPr>
          <p:spPr>
            <a:xfrm>
              <a:off x="19283991" y="9667945"/>
              <a:ext cx="0" cy="1773758"/>
            </a:xfrm>
            <a:prstGeom prst="line">
              <a:avLst/>
            </a:prstGeom>
            <a:ln w="19050">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1057" name="直線コネクタ 1056">
              <a:extLst>
                <a:ext uri="{FF2B5EF4-FFF2-40B4-BE49-F238E27FC236}">
                  <a16:creationId xmlns:a16="http://schemas.microsoft.com/office/drawing/2014/main" id="{DCF3C195-9ED9-DD5A-7FED-68C27A3B8C39}"/>
                </a:ext>
              </a:extLst>
            </p:cNvPr>
            <p:cNvCxnSpPr>
              <a:cxnSpLocks/>
              <a:stCxn id="1053" idx="1"/>
              <a:endCxn id="1053" idx="3"/>
            </p:cNvCxnSpPr>
            <p:nvPr/>
          </p:nvCxnSpPr>
          <p:spPr>
            <a:xfrm>
              <a:off x="17905150" y="10554824"/>
              <a:ext cx="1773758" cy="0"/>
            </a:xfrm>
            <a:prstGeom prst="line">
              <a:avLst/>
            </a:prstGeom>
            <a:ln w="19050">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1058" name="直線コネクタ 1057">
              <a:extLst>
                <a:ext uri="{FF2B5EF4-FFF2-40B4-BE49-F238E27FC236}">
                  <a16:creationId xmlns:a16="http://schemas.microsoft.com/office/drawing/2014/main" id="{87A86068-15E1-80D5-E612-36583DC3FB10}"/>
                </a:ext>
              </a:extLst>
            </p:cNvPr>
            <p:cNvCxnSpPr>
              <a:cxnSpLocks/>
            </p:cNvCxnSpPr>
            <p:nvPr/>
          </p:nvCxnSpPr>
          <p:spPr>
            <a:xfrm>
              <a:off x="17905150" y="10985180"/>
              <a:ext cx="1773758" cy="0"/>
            </a:xfrm>
            <a:prstGeom prst="line">
              <a:avLst/>
            </a:prstGeom>
            <a:ln w="19050">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1059" name="直線コネクタ 1058">
              <a:extLst>
                <a:ext uri="{FF2B5EF4-FFF2-40B4-BE49-F238E27FC236}">
                  <a16:creationId xmlns:a16="http://schemas.microsoft.com/office/drawing/2014/main" id="{158B657F-E623-94CA-AA64-EAEDF042C9A9}"/>
                </a:ext>
              </a:extLst>
            </p:cNvPr>
            <p:cNvCxnSpPr>
              <a:cxnSpLocks/>
            </p:cNvCxnSpPr>
            <p:nvPr/>
          </p:nvCxnSpPr>
          <p:spPr>
            <a:xfrm>
              <a:off x="17905150" y="10043992"/>
              <a:ext cx="1773758" cy="0"/>
            </a:xfrm>
            <a:prstGeom prst="line">
              <a:avLst/>
            </a:prstGeom>
            <a:ln w="19050">
              <a:solidFill>
                <a:schemeClr val="bg1"/>
              </a:solidFill>
              <a:tailEnd type="non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061" name="テキスト ボックス 1060">
                <a:extLst>
                  <a:ext uri="{FF2B5EF4-FFF2-40B4-BE49-F238E27FC236}">
                    <a16:creationId xmlns:a16="http://schemas.microsoft.com/office/drawing/2014/main" id="{9433F9DE-87B6-60FE-272F-3D83F33E7D88}"/>
                  </a:ext>
                </a:extLst>
              </p:cNvPr>
              <p:cNvSpPr txBox="1"/>
              <p:nvPr/>
            </p:nvSpPr>
            <p:spPr>
              <a:xfrm>
                <a:off x="18194673" y="13504710"/>
                <a:ext cx="1416222" cy="615553"/>
              </a:xfrm>
              <a:prstGeom prst="rect">
                <a:avLst/>
              </a:prstGeom>
              <a:noFill/>
            </p:spPr>
            <p:txBody>
              <a:bodyPr wrap="none" lIns="0" tIns="0" rIns="0" bIns="0" rtlCol="0">
                <a:spAutoFit/>
              </a:bodyPr>
              <a:lstStyle/>
              <a:p>
                <a:pPr algn="ctr"/>
                <a14:m>
                  <m:oMathPara xmlns:m="http://schemas.openxmlformats.org/officeDocument/2006/math">
                    <m:oMathParaPr>
                      <m:jc m:val="center"/>
                    </m:oMathParaPr>
                    <m:oMath xmlns:m="http://schemas.openxmlformats.org/officeDocument/2006/math">
                      <m:r>
                        <a:rPr kumimoji="1" lang="en-US" altLang="ja-JP" sz="4000" b="0" i="1" smtClean="0">
                          <a:latin typeface="Cambria Math" panose="02040503050406030204" pitchFamily="18" charset="0"/>
                        </a:rPr>
                        <m:t>𝑝𝑎𝑡𝑐h</m:t>
                      </m:r>
                    </m:oMath>
                  </m:oMathPara>
                </a14:m>
                <a:endParaRPr kumimoji="1" lang="ja-JP" altLang="en-US" sz="4000" dirty="0"/>
              </a:p>
            </p:txBody>
          </p:sp>
        </mc:Choice>
        <mc:Fallback xmlns="">
          <p:sp>
            <p:nvSpPr>
              <p:cNvPr id="1061" name="テキスト ボックス 1060">
                <a:extLst>
                  <a:ext uri="{FF2B5EF4-FFF2-40B4-BE49-F238E27FC236}">
                    <a16:creationId xmlns:a16="http://schemas.microsoft.com/office/drawing/2014/main" id="{0CD59AD8-3596-B563-73B8-B35B86299253}"/>
                  </a:ext>
                </a:extLst>
              </p:cNvPr>
              <p:cNvSpPr txBox="1">
                <a:spLocks noRot="1" noChangeAspect="1" noMove="1" noResize="1" noEditPoints="1" noAdjustHandles="1" noChangeArrowheads="1" noChangeShapeType="1" noTextEdit="1"/>
              </p:cNvSpPr>
              <p:nvPr/>
            </p:nvSpPr>
            <p:spPr>
              <a:xfrm>
                <a:off x="18194673" y="13504710"/>
                <a:ext cx="1416222" cy="615553"/>
              </a:xfrm>
              <a:prstGeom prst="rect">
                <a:avLst/>
              </a:prstGeom>
              <a:blipFill>
                <a:blip r:embed="rId15"/>
                <a:stretch>
                  <a:fillRect l="-15044" r="-7080" b="-3265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62" name="台形 1061">
                <a:extLst>
                  <a:ext uri="{FF2B5EF4-FFF2-40B4-BE49-F238E27FC236}">
                    <a16:creationId xmlns:a16="http://schemas.microsoft.com/office/drawing/2014/main" id="{BBA898AA-50F7-4621-1A14-D5D000B4E3FB}"/>
                  </a:ext>
                </a:extLst>
              </p:cNvPr>
              <p:cNvSpPr/>
              <p:nvPr/>
            </p:nvSpPr>
            <p:spPr>
              <a:xfrm rot="5400000">
                <a:off x="20210869" y="14172798"/>
                <a:ext cx="1773758" cy="1773755"/>
              </a:xfrm>
              <a:prstGeom prst="trapezoid">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14:m>
                  <m:oMathPara xmlns:m="http://schemas.openxmlformats.org/officeDocument/2006/math">
                    <m:oMathParaPr>
                      <m:jc m:val="centerGroup"/>
                    </m:oMathParaPr>
                    <m:oMath xmlns:m="http://schemas.openxmlformats.org/officeDocument/2006/math">
                      <m:r>
                        <a:rPr kumimoji="1" lang="en-US" altLang="ja-JP" sz="4000" b="0" i="1" smtClean="0">
                          <a:solidFill>
                            <a:schemeClr val="tx1"/>
                          </a:solidFill>
                          <a:latin typeface="Cambria Math" panose="02040503050406030204" pitchFamily="18" charset="0"/>
                        </a:rPr>
                        <m:t>   </m:t>
                      </m:r>
                      <m:r>
                        <a:rPr kumimoji="1" lang="en-US" altLang="ja-JP" sz="4000" b="0" i="1" smtClean="0">
                          <a:solidFill>
                            <a:schemeClr val="tx1"/>
                          </a:solidFill>
                          <a:latin typeface="Cambria Math" panose="02040503050406030204" pitchFamily="18" charset="0"/>
                        </a:rPr>
                        <m:t>𝑉𝑖𝑇</m:t>
                      </m:r>
                    </m:oMath>
                  </m:oMathPara>
                </a14:m>
                <a:endParaRPr kumimoji="1" lang="ja-JP" altLang="en-US" sz="4000" dirty="0">
                  <a:solidFill>
                    <a:schemeClr val="tx1"/>
                  </a:solidFill>
                </a:endParaRPr>
              </a:p>
            </p:txBody>
          </p:sp>
        </mc:Choice>
        <mc:Fallback xmlns="">
          <p:sp>
            <p:nvSpPr>
              <p:cNvPr id="1062" name="台形 1061">
                <a:extLst>
                  <a:ext uri="{FF2B5EF4-FFF2-40B4-BE49-F238E27FC236}">
                    <a16:creationId xmlns:a16="http://schemas.microsoft.com/office/drawing/2014/main" id="{DD61F822-4D09-7C45-DB91-A8C794BA5609}"/>
                  </a:ext>
                </a:extLst>
              </p:cNvPr>
              <p:cNvSpPr>
                <a:spLocks noRot="1" noChangeAspect="1" noMove="1" noResize="1" noEditPoints="1" noAdjustHandles="1" noChangeArrowheads="1" noChangeShapeType="1" noTextEdit="1"/>
              </p:cNvSpPr>
              <p:nvPr/>
            </p:nvSpPr>
            <p:spPr>
              <a:xfrm rot="5400000">
                <a:off x="20210869" y="14172798"/>
                <a:ext cx="1773758" cy="1773755"/>
              </a:xfrm>
              <a:prstGeom prst="trapezoid">
                <a:avLst/>
              </a:prstGeom>
              <a:blipFill>
                <a:blip r:embed="rId16"/>
                <a:stretch>
                  <a:fillRect l="-6250"/>
                </a:stretch>
              </a:blipFill>
              <a:ln w="38100">
                <a:solidFill>
                  <a:schemeClr val="tx1"/>
                </a:solidFill>
              </a:ln>
            </p:spPr>
            <p:txBody>
              <a:bodyPr/>
              <a:lstStyle/>
              <a:p>
                <a:r>
                  <a:rPr lang="ja-JP" altLang="en-US">
                    <a:noFill/>
                  </a:rPr>
                  <a:t> </a:t>
                </a:r>
              </a:p>
            </p:txBody>
          </p:sp>
        </mc:Fallback>
      </mc:AlternateContent>
      <p:cxnSp>
        <p:nvCxnSpPr>
          <p:cNvPr id="1063" name="直線矢印コネクタ 1062">
            <a:extLst>
              <a:ext uri="{FF2B5EF4-FFF2-40B4-BE49-F238E27FC236}">
                <a16:creationId xmlns:a16="http://schemas.microsoft.com/office/drawing/2014/main" id="{527FE21B-EBB1-F9D7-864D-C9156A1F3467}"/>
              </a:ext>
            </a:extLst>
          </p:cNvPr>
          <p:cNvCxnSpPr>
            <a:cxnSpLocks/>
            <a:stCxn id="1053" idx="3"/>
            <a:endCxn id="1062" idx="2"/>
          </p:cNvCxnSpPr>
          <p:nvPr/>
        </p:nvCxnSpPr>
        <p:spPr>
          <a:xfrm>
            <a:off x="19789663" y="15059675"/>
            <a:ext cx="421208" cy="1"/>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064" name="表 1063">
            <a:extLst>
              <a:ext uri="{FF2B5EF4-FFF2-40B4-BE49-F238E27FC236}">
                <a16:creationId xmlns:a16="http://schemas.microsoft.com/office/drawing/2014/main" id="{86CD6FD0-2194-F026-63F3-D1603A037B9F}"/>
              </a:ext>
            </a:extLst>
          </p:cNvPr>
          <p:cNvGraphicFramePr>
            <a:graphicFrameLocks noGrp="1"/>
          </p:cNvGraphicFramePr>
          <p:nvPr/>
        </p:nvGraphicFramePr>
        <p:xfrm>
          <a:off x="22496362" y="14186101"/>
          <a:ext cx="1773756" cy="1763192"/>
        </p:xfrm>
        <a:graphic>
          <a:graphicData uri="http://schemas.openxmlformats.org/drawingml/2006/table">
            <a:tbl>
              <a:tblPr firstRow="1" bandRow="1">
                <a:tableStyleId>{5C22544A-7EE6-4342-B048-85BDC9FD1C3A}</a:tableStyleId>
              </a:tblPr>
              <a:tblGrid>
                <a:gridCol w="443439">
                  <a:extLst>
                    <a:ext uri="{9D8B030D-6E8A-4147-A177-3AD203B41FA5}">
                      <a16:colId xmlns:a16="http://schemas.microsoft.com/office/drawing/2014/main" val="1924354661"/>
                    </a:ext>
                  </a:extLst>
                </a:gridCol>
                <a:gridCol w="443439">
                  <a:extLst>
                    <a:ext uri="{9D8B030D-6E8A-4147-A177-3AD203B41FA5}">
                      <a16:colId xmlns:a16="http://schemas.microsoft.com/office/drawing/2014/main" val="725095564"/>
                    </a:ext>
                  </a:extLst>
                </a:gridCol>
                <a:gridCol w="443439">
                  <a:extLst>
                    <a:ext uri="{9D8B030D-6E8A-4147-A177-3AD203B41FA5}">
                      <a16:colId xmlns:a16="http://schemas.microsoft.com/office/drawing/2014/main" val="3810880878"/>
                    </a:ext>
                  </a:extLst>
                </a:gridCol>
                <a:gridCol w="443439">
                  <a:extLst>
                    <a:ext uri="{9D8B030D-6E8A-4147-A177-3AD203B41FA5}">
                      <a16:colId xmlns:a16="http://schemas.microsoft.com/office/drawing/2014/main" val="2831103198"/>
                    </a:ext>
                  </a:extLst>
                </a:gridCol>
              </a:tblGrid>
              <a:tr h="440798">
                <a:tc>
                  <a:txBody>
                    <a:bodyPr/>
                    <a:lstStyle/>
                    <a:p>
                      <a:endParaRPr kumimoji="1" lang="ja-JP" altLang="en-US" sz="1600"/>
                    </a:p>
                  </a:txBody>
                  <a:tcPr marL="158229" marR="158229" marT="79114" marB="79114">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endParaRPr kumimoji="1" lang="ja-JP" altLang="en-US" sz="1600"/>
                    </a:p>
                  </a:txBody>
                  <a:tcPr marL="158229" marR="158229" marT="79114" marB="791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endParaRPr kumimoji="1" lang="ja-JP" altLang="en-US" sz="1600"/>
                    </a:p>
                  </a:txBody>
                  <a:tcPr marL="158229" marR="158229" marT="79114" marB="791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endParaRPr kumimoji="1" lang="ja-JP" altLang="en-US" sz="1600"/>
                    </a:p>
                  </a:txBody>
                  <a:tcPr marL="158229" marR="158229" marT="79114" marB="79114">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520130726"/>
                  </a:ext>
                </a:extLst>
              </a:tr>
              <a:tr h="440798">
                <a:tc>
                  <a:txBody>
                    <a:bodyPr/>
                    <a:lstStyle/>
                    <a:p>
                      <a:endParaRPr kumimoji="1" lang="ja-JP" altLang="en-US" sz="1600"/>
                    </a:p>
                  </a:txBody>
                  <a:tcPr marL="158229" marR="158229" marT="79114" marB="79114">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endParaRPr kumimoji="1" lang="ja-JP" altLang="en-US" sz="1600"/>
                    </a:p>
                  </a:txBody>
                  <a:tcPr marL="158229" marR="158229" marT="79114" marB="791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endParaRPr kumimoji="1" lang="ja-JP" altLang="en-US" sz="1600"/>
                    </a:p>
                  </a:txBody>
                  <a:tcPr marL="158229" marR="158229" marT="79114" marB="791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endParaRPr kumimoji="1" lang="ja-JP" altLang="en-US" sz="1600"/>
                    </a:p>
                  </a:txBody>
                  <a:tcPr marL="158229" marR="158229" marT="79114" marB="79114">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2800975036"/>
                  </a:ext>
                </a:extLst>
              </a:tr>
              <a:tr h="440798">
                <a:tc>
                  <a:txBody>
                    <a:bodyPr/>
                    <a:lstStyle/>
                    <a:p>
                      <a:endParaRPr kumimoji="1" lang="ja-JP" altLang="en-US" sz="1600"/>
                    </a:p>
                  </a:txBody>
                  <a:tcPr marL="158229" marR="158229" marT="79114" marB="79114">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endParaRPr kumimoji="1" lang="ja-JP" altLang="en-US" sz="1600"/>
                    </a:p>
                  </a:txBody>
                  <a:tcPr marL="158229" marR="158229" marT="79114" marB="791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endParaRPr kumimoji="1" lang="ja-JP" altLang="en-US" sz="1600"/>
                    </a:p>
                  </a:txBody>
                  <a:tcPr marL="158229" marR="158229" marT="79114" marB="791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endParaRPr kumimoji="1" lang="ja-JP" altLang="en-US" sz="1600"/>
                    </a:p>
                  </a:txBody>
                  <a:tcPr marL="158229" marR="158229" marT="79114" marB="79114">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760887995"/>
                  </a:ext>
                </a:extLst>
              </a:tr>
              <a:tr h="440798">
                <a:tc>
                  <a:txBody>
                    <a:bodyPr/>
                    <a:lstStyle/>
                    <a:p>
                      <a:endParaRPr kumimoji="1" lang="ja-JP" altLang="en-US" sz="1600"/>
                    </a:p>
                  </a:txBody>
                  <a:tcPr marL="158229" marR="158229" marT="79114" marB="79114">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endParaRPr kumimoji="1" lang="ja-JP" altLang="en-US" sz="1600"/>
                    </a:p>
                  </a:txBody>
                  <a:tcPr marL="158229" marR="158229" marT="79114" marB="791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endParaRPr kumimoji="1" lang="ja-JP" altLang="en-US" sz="1600"/>
                    </a:p>
                  </a:txBody>
                  <a:tcPr marL="158229" marR="158229" marT="79114" marB="791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endParaRPr kumimoji="1" lang="ja-JP" altLang="en-US" sz="1600"/>
                    </a:p>
                  </a:txBody>
                  <a:tcPr marL="158229" marR="158229" marT="79114" marB="79114">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2389960"/>
                  </a:ext>
                </a:extLst>
              </a:tr>
            </a:tbl>
          </a:graphicData>
        </a:graphic>
      </p:graphicFrame>
      <mc:AlternateContent xmlns:mc="http://schemas.openxmlformats.org/markup-compatibility/2006" xmlns:a14="http://schemas.microsoft.com/office/drawing/2010/main">
        <mc:Choice Requires="a14">
          <p:sp>
            <p:nvSpPr>
              <p:cNvPr id="1065" name="テキスト ボックス 1064">
                <a:extLst>
                  <a:ext uri="{FF2B5EF4-FFF2-40B4-BE49-F238E27FC236}">
                    <a16:creationId xmlns:a16="http://schemas.microsoft.com/office/drawing/2014/main" id="{2DB7DC8B-DB4F-F258-C9B6-D545F558810D}"/>
                  </a:ext>
                </a:extLst>
              </p:cNvPr>
              <p:cNvSpPr txBox="1"/>
              <p:nvPr/>
            </p:nvSpPr>
            <p:spPr>
              <a:xfrm>
                <a:off x="15434975" y="16689641"/>
                <a:ext cx="1959767" cy="615553"/>
              </a:xfrm>
              <a:prstGeom prst="rect">
                <a:avLst/>
              </a:prstGeom>
              <a:noFill/>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r>
                        <a:rPr kumimoji="1" lang="en-US" altLang="ja-JP" sz="4000" b="0" i="1" smtClean="0">
                          <a:latin typeface="Cambria Math" panose="02040503050406030204" pitchFamily="18" charset="0"/>
                        </a:rPr>
                        <m:t>𝐼</m:t>
                      </m:r>
                      <m:r>
                        <a:rPr kumimoji="1" lang="en-US" altLang="ja-JP" sz="4000" b="0" i="1" smtClean="0">
                          <a:latin typeface="Cambria Math" panose="02040503050406030204" pitchFamily="18" charset="0"/>
                        </a:rPr>
                        <m:t> </m:t>
                      </m:r>
                      <m:r>
                        <a:rPr kumimoji="1" lang="en-US" altLang="ja-JP" sz="4000" b="0" i="1" smtClean="0">
                          <a:latin typeface="Cambria Math" panose="02040503050406030204" pitchFamily="18" charset="0"/>
                        </a:rPr>
                        <m:t>h𝑎𝑣𝑒</m:t>
                      </m:r>
                      <m:r>
                        <a:rPr kumimoji="1" lang="en-US" altLang="ja-JP" sz="4000" b="0" i="1" smtClean="0">
                          <a:latin typeface="Cambria Math" panose="02040503050406030204" pitchFamily="18" charset="0"/>
                        </a:rPr>
                        <m:t> </m:t>
                      </m:r>
                      <m:r>
                        <a:rPr kumimoji="1" lang="en-US" altLang="ja-JP" sz="4000" b="0" i="1" smtClean="0">
                          <a:latin typeface="Cambria Math" panose="02040503050406030204" pitchFamily="18" charset="0"/>
                        </a:rPr>
                        <m:t>𝑎</m:t>
                      </m:r>
                    </m:oMath>
                  </m:oMathPara>
                </a14:m>
                <a:endParaRPr kumimoji="1" lang="ja-JP" altLang="en-US" sz="4000" dirty="0"/>
              </a:p>
            </p:txBody>
          </p:sp>
        </mc:Choice>
        <mc:Fallback xmlns="">
          <p:sp>
            <p:nvSpPr>
              <p:cNvPr id="1065" name="テキスト ボックス 1064">
                <a:extLst>
                  <a:ext uri="{FF2B5EF4-FFF2-40B4-BE49-F238E27FC236}">
                    <a16:creationId xmlns:a16="http://schemas.microsoft.com/office/drawing/2014/main" id="{06F8D12E-5C14-4433-CF55-D491BE1FAD66}"/>
                  </a:ext>
                </a:extLst>
              </p:cNvPr>
              <p:cNvSpPr txBox="1">
                <a:spLocks noRot="1" noChangeAspect="1" noMove="1" noResize="1" noEditPoints="1" noAdjustHandles="1" noChangeArrowheads="1" noChangeShapeType="1" noTextEdit="1"/>
              </p:cNvSpPr>
              <p:nvPr/>
            </p:nvSpPr>
            <p:spPr>
              <a:xfrm>
                <a:off x="15434975" y="16689641"/>
                <a:ext cx="1959767" cy="615553"/>
              </a:xfrm>
              <a:prstGeom prst="rect">
                <a:avLst/>
              </a:prstGeom>
              <a:blipFill>
                <a:blip r:embed="rId17"/>
                <a:stretch>
                  <a:fillRect l="-8387" t="-8163" b="-3877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66" name="テキスト ボックス 1065">
                <a:extLst>
                  <a:ext uri="{FF2B5EF4-FFF2-40B4-BE49-F238E27FC236}">
                    <a16:creationId xmlns:a16="http://schemas.microsoft.com/office/drawing/2014/main" id="{28E6B3C3-13C8-B8F9-7E42-47C8C4AA2EAD}"/>
                  </a:ext>
                </a:extLst>
              </p:cNvPr>
              <p:cNvSpPr txBox="1"/>
              <p:nvPr/>
            </p:nvSpPr>
            <p:spPr>
              <a:xfrm>
                <a:off x="21626284" y="13565201"/>
                <a:ext cx="3513911" cy="615553"/>
              </a:xfrm>
              <a:prstGeom prst="rect">
                <a:avLst/>
              </a:prstGeom>
              <a:noFill/>
            </p:spPr>
            <p:txBody>
              <a:bodyPr wrap="none" lIns="0" tIns="0" rIns="0" bIns="0" rtlCol="0">
                <a:spAutoFit/>
              </a:bodyPr>
              <a:lstStyle/>
              <a:p>
                <a:pPr algn="ctr"/>
                <a14:m>
                  <m:oMathPara xmlns:m="http://schemas.openxmlformats.org/officeDocument/2006/math">
                    <m:oMathParaPr>
                      <m:jc m:val="center"/>
                    </m:oMathParaPr>
                    <m:oMath xmlns:m="http://schemas.openxmlformats.org/officeDocument/2006/math">
                      <m:r>
                        <a:rPr kumimoji="1" lang="en-US" altLang="ja-JP" sz="4000" b="0" i="1" smtClean="0">
                          <a:latin typeface="Cambria Math" panose="02040503050406030204" pitchFamily="18" charset="0"/>
                        </a:rPr>
                        <m:t>𝑖𝑚𝑎𝑔𝑒</m:t>
                      </m:r>
                      <m:r>
                        <a:rPr kumimoji="1" lang="en-US" altLang="ja-JP" sz="4000" b="0" i="1" smtClean="0">
                          <a:latin typeface="Cambria Math" panose="02040503050406030204" pitchFamily="18" charset="0"/>
                        </a:rPr>
                        <m:t> </m:t>
                      </m:r>
                      <m:r>
                        <a:rPr kumimoji="1" lang="en-US" altLang="ja-JP" sz="4000" b="0" i="1" smtClean="0">
                          <a:latin typeface="Cambria Math" panose="02040503050406030204" pitchFamily="18" charset="0"/>
                        </a:rPr>
                        <m:t>𝑓𝑒𝑎𝑡𝑢𝑟𝑒</m:t>
                      </m:r>
                    </m:oMath>
                  </m:oMathPara>
                </a14:m>
                <a:endParaRPr kumimoji="1" lang="ja-JP" altLang="en-US" sz="4000" dirty="0"/>
              </a:p>
            </p:txBody>
          </p:sp>
        </mc:Choice>
        <mc:Fallback xmlns="">
          <p:sp>
            <p:nvSpPr>
              <p:cNvPr id="1066" name="テキスト ボックス 1065">
                <a:extLst>
                  <a:ext uri="{FF2B5EF4-FFF2-40B4-BE49-F238E27FC236}">
                    <a16:creationId xmlns:a16="http://schemas.microsoft.com/office/drawing/2014/main" id="{DA30D9D6-00C1-C077-F43D-57BB00A67368}"/>
                  </a:ext>
                </a:extLst>
              </p:cNvPr>
              <p:cNvSpPr txBox="1">
                <a:spLocks noRot="1" noChangeAspect="1" noMove="1" noResize="1" noEditPoints="1" noAdjustHandles="1" noChangeArrowheads="1" noChangeShapeType="1" noTextEdit="1"/>
              </p:cNvSpPr>
              <p:nvPr/>
            </p:nvSpPr>
            <p:spPr>
              <a:xfrm>
                <a:off x="21626284" y="13565201"/>
                <a:ext cx="3513911" cy="615553"/>
              </a:xfrm>
              <a:prstGeom prst="rect">
                <a:avLst/>
              </a:prstGeom>
              <a:blipFill>
                <a:blip r:embed="rId18"/>
                <a:stretch>
                  <a:fillRect l="-6137" t="-8163" r="-2888" b="-38776"/>
                </a:stretch>
              </a:blipFill>
            </p:spPr>
            <p:txBody>
              <a:bodyPr/>
              <a:lstStyle/>
              <a:p>
                <a:r>
                  <a:rPr lang="ja-JP" altLang="en-US">
                    <a:noFill/>
                  </a:rPr>
                  <a:t> </a:t>
                </a:r>
              </a:p>
            </p:txBody>
          </p:sp>
        </mc:Fallback>
      </mc:AlternateContent>
      <p:graphicFrame>
        <p:nvGraphicFramePr>
          <p:cNvPr id="1067" name="表 1066">
            <a:extLst>
              <a:ext uri="{FF2B5EF4-FFF2-40B4-BE49-F238E27FC236}">
                <a16:creationId xmlns:a16="http://schemas.microsoft.com/office/drawing/2014/main" id="{338269C5-7F94-FD34-5225-6936D3AA83A3}"/>
              </a:ext>
            </a:extLst>
          </p:cNvPr>
          <p:cNvGraphicFramePr>
            <a:graphicFrameLocks noGrp="1"/>
          </p:cNvGraphicFramePr>
          <p:nvPr/>
        </p:nvGraphicFramePr>
        <p:xfrm>
          <a:off x="19321628" y="16104823"/>
          <a:ext cx="1773756" cy="1757844"/>
        </p:xfrm>
        <a:graphic>
          <a:graphicData uri="http://schemas.openxmlformats.org/drawingml/2006/table">
            <a:tbl>
              <a:tblPr firstRow="1" bandRow="1">
                <a:tableStyleId>{5C22544A-7EE6-4342-B048-85BDC9FD1C3A}</a:tableStyleId>
              </a:tblPr>
              <a:tblGrid>
                <a:gridCol w="443439">
                  <a:extLst>
                    <a:ext uri="{9D8B030D-6E8A-4147-A177-3AD203B41FA5}">
                      <a16:colId xmlns:a16="http://schemas.microsoft.com/office/drawing/2014/main" val="1924354661"/>
                    </a:ext>
                  </a:extLst>
                </a:gridCol>
                <a:gridCol w="443439">
                  <a:extLst>
                    <a:ext uri="{9D8B030D-6E8A-4147-A177-3AD203B41FA5}">
                      <a16:colId xmlns:a16="http://schemas.microsoft.com/office/drawing/2014/main" val="725095564"/>
                    </a:ext>
                  </a:extLst>
                </a:gridCol>
                <a:gridCol w="443439">
                  <a:extLst>
                    <a:ext uri="{9D8B030D-6E8A-4147-A177-3AD203B41FA5}">
                      <a16:colId xmlns:a16="http://schemas.microsoft.com/office/drawing/2014/main" val="3810880878"/>
                    </a:ext>
                  </a:extLst>
                </a:gridCol>
                <a:gridCol w="443439">
                  <a:extLst>
                    <a:ext uri="{9D8B030D-6E8A-4147-A177-3AD203B41FA5}">
                      <a16:colId xmlns:a16="http://schemas.microsoft.com/office/drawing/2014/main" val="2831103198"/>
                    </a:ext>
                  </a:extLst>
                </a:gridCol>
              </a:tblGrid>
              <a:tr h="439461">
                <a:tc>
                  <a:txBody>
                    <a:bodyPr/>
                    <a:lstStyle/>
                    <a:p>
                      <a:endParaRPr kumimoji="1" lang="ja-JP" altLang="en-US" sz="1600"/>
                    </a:p>
                  </a:txBody>
                  <a:tcPr marL="157749" marR="157749" marT="78874" marB="78874">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kumimoji="1" lang="ja-JP" altLang="en-US" sz="1600"/>
                    </a:p>
                  </a:txBody>
                  <a:tcPr marL="157749" marR="157749" marT="78874" marB="7887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kumimoji="1" lang="ja-JP" altLang="en-US" sz="1600"/>
                    </a:p>
                  </a:txBody>
                  <a:tcPr marL="157749" marR="157749" marT="78874" marB="7887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kumimoji="1" lang="ja-JP" altLang="en-US" sz="1600"/>
                    </a:p>
                  </a:txBody>
                  <a:tcPr marL="157749" marR="157749" marT="78874" marB="78874">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520130726"/>
                  </a:ext>
                </a:extLst>
              </a:tr>
              <a:tr h="439461">
                <a:tc>
                  <a:txBody>
                    <a:bodyPr/>
                    <a:lstStyle/>
                    <a:p>
                      <a:endParaRPr kumimoji="1" lang="ja-JP" altLang="en-US" sz="1600"/>
                    </a:p>
                  </a:txBody>
                  <a:tcPr marL="157749" marR="157749" marT="78874" marB="78874">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kumimoji="1" lang="ja-JP" altLang="en-US" sz="1600"/>
                    </a:p>
                  </a:txBody>
                  <a:tcPr marL="157749" marR="157749" marT="78874" marB="7887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kumimoji="1" lang="ja-JP" altLang="en-US" sz="1600"/>
                    </a:p>
                  </a:txBody>
                  <a:tcPr marL="157749" marR="157749" marT="78874" marB="7887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kumimoji="1" lang="ja-JP" altLang="en-US" sz="1600"/>
                    </a:p>
                  </a:txBody>
                  <a:tcPr marL="157749" marR="157749" marT="78874" marB="78874">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2800975036"/>
                  </a:ext>
                </a:extLst>
              </a:tr>
              <a:tr h="439461">
                <a:tc>
                  <a:txBody>
                    <a:bodyPr/>
                    <a:lstStyle/>
                    <a:p>
                      <a:endParaRPr kumimoji="1" lang="ja-JP" altLang="en-US" sz="1600"/>
                    </a:p>
                  </a:txBody>
                  <a:tcPr marL="157749" marR="157749" marT="78874" marB="78874">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kumimoji="1" lang="ja-JP" altLang="en-US" sz="1600"/>
                    </a:p>
                  </a:txBody>
                  <a:tcPr marL="157749" marR="157749" marT="78874" marB="7887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kumimoji="1" lang="ja-JP" altLang="en-US" sz="1600"/>
                    </a:p>
                  </a:txBody>
                  <a:tcPr marL="157749" marR="157749" marT="78874" marB="7887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kumimoji="1" lang="ja-JP" altLang="en-US" sz="1600"/>
                    </a:p>
                  </a:txBody>
                  <a:tcPr marL="157749" marR="157749" marT="78874" marB="78874">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760887995"/>
                  </a:ext>
                </a:extLst>
              </a:tr>
              <a:tr h="439461">
                <a:tc>
                  <a:txBody>
                    <a:bodyPr/>
                    <a:lstStyle/>
                    <a:p>
                      <a:endParaRPr kumimoji="1" lang="ja-JP" altLang="en-US" sz="1600"/>
                    </a:p>
                  </a:txBody>
                  <a:tcPr marL="157749" marR="157749" marT="78874" marB="78874">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kumimoji="1" lang="ja-JP" altLang="en-US" sz="1600"/>
                    </a:p>
                  </a:txBody>
                  <a:tcPr marL="157749" marR="157749" marT="78874" marB="7887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kumimoji="1" lang="ja-JP" altLang="en-US" sz="1600"/>
                    </a:p>
                  </a:txBody>
                  <a:tcPr marL="157749" marR="157749" marT="78874" marB="7887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kumimoji="1" lang="ja-JP" altLang="en-US" sz="1600"/>
                    </a:p>
                  </a:txBody>
                  <a:tcPr marL="157749" marR="157749" marT="78874" marB="78874">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2389960"/>
                  </a:ext>
                </a:extLst>
              </a:tr>
            </a:tbl>
          </a:graphicData>
        </a:graphic>
      </p:graphicFrame>
      <p:cxnSp>
        <p:nvCxnSpPr>
          <p:cNvPr id="1068" name="直線矢印コネクタ 1067">
            <a:extLst>
              <a:ext uri="{FF2B5EF4-FFF2-40B4-BE49-F238E27FC236}">
                <a16:creationId xmlns:a16="http://schemas.microsoft.com/office/drawing/2014/main" id="{45FA09B7-D414-CC9E-EA7D-1CAA5356F65C}"/>
              </a:ext>
            </a:extLst>
          </p:cNvPr>
          <p:cNvCxnSpPr>
            <a:cxnSpLocks/>
            <a:stCxn id="1065" idx="3"/>
            <a:endCxn id="1067" idx="1"/>
          </p:cNvCxnSpPr>
          <p:nvPr/>
        </p:nvCxnSpPr>
        <p:spPr>
          <a:xfrm flipV="1">
            <a:off x="17394742" y="16983745"/>
            <a:ext cx="1926886" cy="13673"/>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70" name="テキスト ボックス 1069">
                <a:extLst>
                  <a:ext uri="{FF2B5EF4-FFF2-40B4-BE49-F238E27FC236}">
                    <a16:creationId xmlns:a16="http://schemas.microsoft.com/office/drawing/2014/main" id="{5CF29223-3D74-2713-98AA-A6C2423C9828}"/>
                  </a:ext>
                </a:extLst>
              </p:cNvPr>
              <p:cNvSpPr txBox="1"/>
              <p:nvPr/>
            </p:nvSpPr>
            <p:spPr>
              <a:xfrm>
                <a:off x="18856790" y="17870623"/>
                <a:ext cx="2703432" cy="615553"/>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kumimoji="1" lang="en-US" altLang="ja-JP" sz="4000" b="0" i="1" smtClean="0">
                          <a:latin typeface="Cambria Math" panose="02040503050406030204" pitchFamily="18" charset="0"/>
                        </a:rPr>
                        <m:t>𝑒𝑚𝑏𝑒𝑑𝑑𝑖𝑛𝑔</m:t>
                      </m:r>
                    </m:oMath>
                  </m:oMathPara>
                </a14:m>
                <a:endParaRPr kumimoji="1" lang="ja-JP" altLang="en-US" sz="4000" dirty="0"/>
              </a:p>
            </p:txBody>
          </p:sp>
        </mc:Choice>
        <mc:Fallback xmlns="">
          <p:sp>
            <p:nvSpPr>
              <p:cNvPr id="1070" name="テキスト ボックス 1069">
                <a:extLst>
                  <a:ext uri="{FF2B5EF4-FFF2-40B4-BE49-F238E27FC236}">
                    <a16:creationId xmlns:a16="http://schemas.microsoft.com/office/drawing/2014/main" id="{28BD0E96-B392-0517-964E-FBEAD2806976}"/>
                  </a:ext>
                </a:extLst>
              </p:cNvPr>
              <p:cNvSpPr txBox="1">
                <a:spLocks noRot="1" noChangeAspect="1" noMove="1" noResize="1" noEditPoints="1" noAdjustHandles="1" noChangeArrowheads="1" noChangeShapeType="1" noTextEdit="1"/>
              </p:cNvSpPr>
              <p:nvPr/>
            </p:nvSpPr>
            <p:spPr>
              <a:xfrm>
                <a:off x="18856790" y="17870623"/>
                <a:ext cx="2703432" cy="615553"/>
              </a:xfrm>
              <a:prstGeom prst="rect">
                <a:avLst/>
              </a:prstGeom>
              <a:blipFill>
                <a:blip r:embed="rId19"/>
                <a:stretch>
                  <a:fillRect l="-8411" r="-3738" b="-34694"/>
                </a:stretch>
              </a:blipFill>
            </p:spPr>
            <p:txBody>
              <a:bodyPr/>
              <a:lstStyle/>
              <a:p>
                <a:r>
                  <a:rPr lang="ja-JP" altLang="en-US">
                    <a:noFill/>
                  </a:rPr>
                  <a:t> </a:t>
                </a:r>
              </a:p>
            </p:txBody>
          </p:sp>
        </mc:Fallback>
      </mc:AlternateContent>
      <p:graphicFrame>
        <p:nvGraphicFramePr>
          <p:cNvPr id="1071" name="表 1070">
            <a:extLst>
              <a:ext uri="{FF2B5EF4-FFF2-40B4-BE49-F238E27FC236}">
                <a16:creationId xmlns:a16="http://schemas.microsoft.com/office/drawing/2014/main" id="{25EBF95F-025E-C2F6-9F13-68B6A90B88B0}"/>
              </a:ext>
            </a:extLst>
          </p:cNvPr>
          <p:cNvGraphicFramePr>
            <a:graphicFrameLocks noGrp="1"/>
          </p:cNvGraphicFramePr>
          <p:nvPr/>
        </p:nvGraphicFramePr>
        <p:xfrm>
          <a:off x="24009274" y="16099475"/>
          <a:ext cx="1773752" cy="1763192"/>
        </p:xfrm>
        <a:graphic>
          <a:graphicData uri="http://schemas.openxmlformats.org/drawingml/2006/table">
            <a:tbl>
              <a:tblPr firstRow="1" bandRow="1">
                <a:tableStyleId>{5C22544A-7EE6-4342-B048-85BDC9FD1C3A}</a:tableStyleId>
              </a:tblPr>
              <a:tblGrid>
                <a:gridCol w="443438">
                  <a:extLst>
                    <a:ext uri="{9D8B030D-6E8A-4147-A177-3AD203B41FA5}">
                      <a16:colId xmlns:a16="http://schemas.microsoft.com/office/drawing/2014/main" val="1924354661"/>
                    </a:ext>
                  </a:extLst>
                </a:gridCol>
                <a:gridCol w="443438">
                  <a:extLst>
                    <a:ext uri="{9D8B030D-6E8A-4147-A177-3AD203B41FA5}">
                      <a16:colId xmlns:a16="http://schemas.microsoft.com/office/drawing/2014/main" val="725095564"/>
                    </a:ext>
                  </a:extLst>
                </a:gridCol>
                <a:gridCol w="443438">
                  <a:extLst>
                    <a:ext uri="{9D8B030D-6E8A-4147-A177-3AD203B41FA5}">
                      <a16:colId xmlns:a16="http://schemas.microsoft.com/office/drawing/2014/main" val="3810880878"/>
                    </a:ext>
                  </a:extLst>
                </a:gridCol>
                <a:gridCol w="443438">
                  <a:extLst>
                    <a:ext uri="{9D8B030D-6E8A-4147-A177-3AD203B41FA5}">
                      <a16:colId xmlns:a16="http://schemas.microsoft.com/office/drawing/2014/main" val="2831103198"/>
                    </a:ext>
                  </a:extLst>
                </a:gridCol>
              </a:tblGrid>
              <a:tr h="440798">
                <a:tc>
                  <a:txBody>
                    <a:bodyPr/>
                    <a:lstStyle/>
                    <a:p>
                      <a:endParaRPr kumimoji="1" lang="ja-JP" altLang="en-US" sz="1600"/>
                    </a:p>
                  </a:txBody>
                  <a:tcPr marL="158229" marR="158229" marT="79114" marB="79114">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endParaRPr kumimoji="1" lang="ja-JP" altLang="en-US" sz="1600"/>
                    </a:p>
                  </a:txBody>
                  <a:tcPr marL="158229" marR="158229" marT="79114" marB="791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endParaRPr kumimoji="1" lang="ja-JP" altLang="en-US" sz="1600"/>
                    </a:p>
                  </a:txBody>
                  <a:tcPr marL="158229" marR="158229" marT="79114" marB="791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endParaRPr kumimoji="1" lang="ja-JP" altLang="en-US" sz="1600"/>
                    </a:p>
                  </a:txBody>
                  <a:tcPr marL="158229" marR="158229" marT="79114" marB="79114">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520130726"/>
                  </a:ext>
                </a:extLst>
              </a:tr>
              <a:tr h="440798">
                <a:tc>
                  <a:txBody>
                    <a:bodyPr/>
                    <a:lstStyle/>
                    <a:p>
                      <a:endParaRPr kumimoji="1" lang="ja-JP" altLang="en-US" sz="1600"/>
                    </a:p>
                  </a:txBody>
                  <a:tcPr marL="158229" marR="158229" marT="79114" marB="79114">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endParaRPr kumimoji="1" lang="ja-JP" altLang="en-US" sz="1600"/>
                    </a:p>
                  </a:txBody>
                  <a:tcPr marL="158229" marR="158229" marT="79114" marB="791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endParaRPr kumimoji="1" lang="ja-JP" altLang="en-US" sz="1600"/>
                    </a:p>
                  </a:txBody>
                  <a:tcPr marL="158229" marR="158229" marT="79114" marB="791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endParaRPr kumimoji="1" lang="ja-JP" altLang="en-US" sz="1600"/>
                    </a:p>
                  </a:txBody>
                  <a:tcPr marL="158229" marR="158229" marT="79114" marB="79114">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2800975036"/>
                  </a:ext>
                </a:extLst>
              </a:tr>
              <a:tr h="440798">
                <a:tc>
                  <a:txBody>
                    <a:bodyPr/>
                    <a:lstStyle/>
                    <a:p>
                      <a:endParaRPr kumimoji="1" lang="ja-JP" altLang="en-US" sz="1600"/>
                    </a:p>
                  </a:txBody>
                  <a:tcPr marL="158229" marR="158229" marT="79114" marB="79114">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endParaRPr kumimoji="1" lang="ja-JP" altLang="en-US" sz="1600"/>
                    </a:p>
                  </a:txBody>
                  <a:tcPr marL="158229" marR="158229" marT="79114" marB="791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endParaRPr kumimoji="1" lang="ja-JP" altLang="en-US" sz="1600"/>
                    </a:p>
                  </a:txBody>
                  <a:tcPr marL="158229" marR="158229" marT="79114" marB="791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endParaRPr kumimoji="1" lang="ja-JP" altLang="en-US" sz="1600"/>
                    </a:p>
                  </a:txBody>
                  <a:tcPr marL="158229" marR="158229" marT="79114" marB="79114">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760887995"/>
                  </a:ext>
                </a:extLst>
              </a:tr>
              <a:tr h="440798">
                <a:tc>
                  <a:txBody>
                    <a:bodyPr/>
                    <a:lstStyle/>
                    <a:p>
                      <a:endParaRPr kumimoji="1" lang="ja-JP" altLang="en-US" sz="1600"/>
                    </a:p>
                  </a:txBody>
                  <a:tcPr marL="158229" marR="158229" marT="79114" marB="79114">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endParaRPr kumimoji="1" lang="ja-JP" altLang="en-US" sz="1600"/>
                    </a:p>
                  </a:txBody>
                  <a:tcPr marL="158229" marR="158229" marT="79114" marB="791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endParaRPr kumimoji="1" lang="ja-JP" altLang="en-US" sz="1600"/>
                    </a:p>
                  </a:txBody>
                  <a:tcPr marL="158229" marR="158229" marT="79114" marB="791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endParaRPr kumimoji="1" lang="ja-JP" altLang="en-US" sz="1600"/>
                    </a:p>
                  </a:txBody>
                  <a:tcPr marL="158229" marR="158229" marT="79114" marB="79114">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2389960"/>
                  </a:ext>
                </a:extLst>
              </a:tr>
            </a:tbl>
          </a:graphicData>
        </a:graphic>
      </p:graphicFrame>
      <p:cxnSp>
        <p:nvCxnSpPr>
          <p:cNvPr id="1072" name="直線矢印コネクタ 87">
            <a:extLst>
              <a:ext uri="{FF2B5EF4-FFF2-40B4-BE49-F238E27FC236}">
                <a16:creationId xmlns:a16="http://schemas.microsoft.com/office/drawing/2014/main" id="{E8A8B95E-CE15-37ED-56C0-F471E0EC85AD}"/>
              </a:ext>
            </a:extLst>
          </p:cNvPr>
          <p:cNvCxnSpPr>
            <a:cxnSpLocks/>
            <a:stCxn id="1064" idx="3"/>
            <a:endCxn id="1071" idx="0"/>
          </p:cNvCxnSpPr>
          <p:nvPr/>
        </p:nvCxnSpPr>
        <p:spPr>
          <a:xfrm>
            <a:off x="24270118" y="15067697"/>
            <a:ext cx="626032" cy="1031778"/>
          </a:xfrm>
          <a:prstGeom prst="bentConnector2">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73" name="直線矢印コネクタ 1072">
            <a:extLst>
              <a:ext uri="{FF2B5EF4-FFF2-40B4-BE49-F238E27FC236}">
                <a16:creationId xmlns:a16="http://schemas.microsoft.com/office/drawing/2014/main" id="{567E3FE3-193C-28BF-5B7F-3620172F899F}"/>
              </a:ext>
            </a:extLst>
          </p:cNvPr>
          <p:cNvCxnSpPr>
            <a:cxnSpLocks/>
            <a:stCxn id="1067" idx="3"/>
            <a:endCxn id="1071" idx="1"/>
          </p:cNvCxnSpPr>
          <p:nvPr/>
        </p:nvCxnSpPr>
        <p:spPr>
          <a:xfrm flipV="1">
            <a:off x="21095384" y="16981071"/>
            <a:ext cx="2913890" cy="2674"/>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74" name="テキスト ボックス 1073">
                <a:extLst>
                  <a:ext uri="{FF2B5EF4-FFF2-40B4-BE49-F238E27FC236}">
                    <a16:creationId xmlns:a16="http://schemas.microsoft.com/office/drawing/2014/main" id="{5A206651-7E2A-E357-258F-2F8F76F3EF9C}"/>
                  </a:ext>
                </a:extLst>
              </p:cNvPr>
              <p:cNvSpPr txBox="1"/>
              <p:nvPr/>
            </p:nvSpPr>
            <p:spPr>
              <a:xfrm>
                <a:off x="22090802" y="16565728"/>
                <a:ext cx="811119" cy="738664"/>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kumimoji="1" lang="ja-JP" altLang="en-US" sz="4800" i="1" smtClean="0">
                          <a:latin typeface="Cambria Math" panose="02040503050406030204" pitchFamily="18" charset="0"/>
                          <a:ea typeface="Cambria Math" panose="02040503050406030204" pitchFamily="18" charset="0"/>
                        </a:rPr>
                        <m:t> </m:t>
                      </m:r>
                      <m:r>
                        <a:rPr kumimoji="1" lang="en-US" altLang="ja-JP" sz="4800" b="0" i="1" smtClean="0">
                          <a:latin typeface="Cambria Math" panose="02040503050406030204" pitchFamily="18" charset="0"/>
                          <a:ea typeface="Cambria Math" panose="02040503050406030204" pitchFamily="18" charset="0"/>
                        </a:rPr>
                        <m:t>⨁</m:t>
                      </m:r>
                    </m:oMath>
                  </m:oMathPara>
                </a14:m>
                <a:endParaRPr kumimoji="1" lang="ja-JP" altLang="en-US" sz="4800" dirty="0"/>
              </a:p>
            </p:txBody>
          </p:sp>
        </mc:Choice>
        <mc:Fallback xmlns="">
          <p:sp>
            <p:nvSpPr>
              <p:cNvPr id="1074" name="テキスト ボックス 1073">
                <a:extLst>
                  <a:ext uri="{FF2B5EF4-FFF2-40B4-BE49-F238E27FC236}">
                    <a16:creationId xmlns:a16="http://schemas.microsoft.com/office/drawing/2014/main" id="{471CC729-0D71-E026-D27D-63968D07E7E7}"/>
                  </a:ext>
                </a:extLst>
              </p:cNvPr>
              <p:cNvSpPr txBox="1">
                <a:spLocks noRot="1" noChangeAspect="1" noMove="1" noResize="1" noEditPoints="1" noAdjustHandles="1" noChangeArrowheads="1" noChangeShapeType="1" noTextEdit="1"/>
              </p:cNvSpPr>
              <p:nvPr/>
            </p:nvSpPr>
            <p:spPr>
              <a:xfrm>
                <a:off x="22090802" y="16565728"/>
                <a:ext cx="811119" cy="738664"/>
              </a:xfrm>
              <a:prstGeom prst="rect">
                <a:avLst/>
              </a:prstGeom>
              <a:blipFill>
                <a:blip r:embed="rId20"/>
                <a:stretch>
                  <a:fillRect l="-36923" t="-8475" r="-12308" b="-37288"/>
                </a:stretch>
              </a:blipFill>
            </p:spPr>
            <p:txBody>
              <a:bodyPr/>
              <a:lstStyle/>
              <a:p>
                <a:r>
                  <a:rPr lang="ja-JP" altLang="en-US">
                    <a:noFill/>
                  </a:rPr>
                  <a:t> </a:t>
                </a:r>
              </a:p>
            </p:txBody>
          </p:sp>
        </mc:Fallback>
      </mc:AlternateContent>
      <p:cxnSp>
        <p:nvCxnSpPr>
          <p:cNvPr id="1075" name="直線矢印コネクタ 1074">
            <a:extLst>
              <a:ext uri="{FF2B5EF4-FFF2-40B4-BE49-F238E27FC236}">
                <a16:creationId xmlns:a16="http://schemas.microsoft.com/office/drawing/2014/main" id="{0330B473-2916-A98C-C130-E948179670C6}"/>
              </a:ext>
            </a:extLst>
          </p:cNvPr>
          <p:cNvCxnSpPr>
            <a:cxnSpLocks/>
            <a:stCxn id="1082" idx="0"/>
            <a:endCxn id="1074" idx="2"/>
          </p:cNvCxnSpPr>
          <p:nvPr/>
        </p:nvCxnSpPr>
        <p:spPr>
          <a:xfrm flipV="1">
            <a:off x="22496362" y="17304392"/>
            <a:ext cx="0" cy="441517"/>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76" name="テキスト ボックス 1075">
                <a:extLst>
                  <a:ext uri="{FF2B5EF4-FFF2-40B4-BE49-F238E27FC236}">
                    <a16:creationId xmlns:a16="http://schemas.microsoft.com/office/drawing/2014/main" id="{8CCB6C59-628A-5CFE-452E-29C25FE799C3}"/>
                  </a:ext>
                </a:extLst>
              </p:cNvPr>
              <p:cNvSpPr txBox="1"/>
              <p:nvPr/>
            </p:nvSpPr>
            <p:spPr>
              <a:xfrm>
                <a:off x="20366803" y="18608892"/>
                <a:ext cx="4259115" cy="615553"/>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kumimoji="1" lang="en-US" altLang="ja-JP" sz="4000" b="0" i="1" smtClean="0">
                          <a:latin typeface="Cambria Math" panose="02040503050406030204" pitchFamily="18" charset="0"/>
                        </a:rPr>
                        <m:t>𝑝𝑜𝑠𝑖𝑡𝑖𝑜𝑛</m:t>
                      </m:r>
                      <m:r>
                        <a:rPr kumimoji="1" lang="en-US" altLang="ja-JP" sz="4000" b="0" i="0" smtClean="0">
                          <a:latin typeface="Cambria Math" panose="02040503050406030204" pitchFamily="18" charset="0"/>
                        </a:rPr>
                        <m:t> </m:t>
                      </m:r>
                      <m:r>
                        <a:rPr kumimoji="1" lang="en-US" altLang="ja-JP" sz="4000" b="0" i="1" smtClean="0">
                          <a:latin typeface="Cambria Math" panose="02040503050406030204" pitchFamily="18" charset="0"/>
                        </a:rPr>
                        <m:t>𝑒𝑛𝑐𝑜𝑑𝑖𝑛𝑔</m:t>
                      </m:r>
                    </m:oMath>
                  </m:oMathPara>
                </a14:m>
                <a:endParaRPr kumimoji="1" lang="ja-JP" altLang="en-US" sz="4000" dirty="0"/>
              </a:p>
            </p:txBody>
          </p:sp>
        </mc:Choice>
        <mc:Fallback xmlns="">
          <p:sp>
            <p:nvSpPr>
              <p:cNvPr id="1076" name="テキスト ボックス 1075">
                <a:extLst>
                  <a:ext uri="{FF2B5EF4-FFF2-40B4-BE49-F238E27FC236}">
                    <a16:creationId xmlns:a16="http://schemas.microsoft.com/office/drawing/2014/main" id="{5730A885-07BC-D4E0-C5B1-98C9696796B7}"/>
                  </a:ext>
                </a:extLst>
              </p:cNvPr>
              <p:cNvSpPr txBox="1">
                <a:spLocks noRot="1" noChangeAspect="1" noMove="1" noResize="1" noEditPoints="1" noAdjustHandles="1" noChangeArrowheads="1" noChangeShapeType="1" noTextEdit="1"/>
              </p:cNvSpPr>
              <p:nvPr/>
            </p:nvSpPr>
            <p:spPr>
              <a:xfrm>
                <a:off x="20366803" y="18608892"/>
                <a:ext cx="4259115" cy="615553"/>
              </a:xfrm>
              <a:prstGeom prst="rect">
                <a:avLst/>
              </a:prstGeom>
              <a:blipFill>
                <a:blip r:embed="rId21"/>
                <a:stretch>
                  <a:fillRect l="-4748" t="-6122" r="-2077" b="-38776"/>
                </a:stretch>
              </a:blipFill>
            </p:spPr>
            <p:txBody>
              <a:bodyPr/>
              <a:lstStyle/>
              <a:p>
                <a:r>
                  <a:rPr lang="ja-JP" altLang="en-US">
                    <a:noFill/>
                  </a:rPr>
                  <a:t> </a:t>
                </a:r>
              </a:p>
            </p:txBody>
          </p:sp>
        </mc:Fallback>
      </mc:AlternateContent>
      <p:pic>
        <p:nvPicPr>
          <p:cNvPr id="1082" name="Picture 4" descr="Generated by DALL·E">
            <a:extLst>
              <a:ext uri="{FF2B5EF4-FFF2-40B4-BE49-F238E27FC236}">
                <a16:creationId xmlns:a16="http://schemas.microsoft.com/office/drawing/2014/main" id="{144F345F-883E-7E7E-BB57-9352163D19A6}"/>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2078309" y="17745909"/>
            <a:ext cx="836105" cy="836105"/>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90" name="テキスト ボックス 1089">
                <a:extLst>
                  <a:ext uri="{FF2B5EF4-FFF2-40B4-BE49-F238E27FC236}">
                    <a16:creationId xmlns:a16="http://schemas.microsoft.com/office/drawing/2014/main" id="{A061AEC9-69F5-260E-9C20-D914F8834C05}"/>
                  </a:ext>
                </a:extLst>
              </p:cNvPr>
              <p:cNvSpPr txBox="1"/>
              <p:nvPr/>
            </p:nvSpPr>
            <p:spPr>
              <a:xfrm>
                <a:off x="26423649" y="16673294"/>
                <a:ext cx="3562476" cy="615553"/>
              </a:xfrm>
              <a:prstGeom prst="rect">
                <a:avLst/>
              </a:prstGeom>
              <a:noFill/>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r>
                        <a:rPr kumimoji="1" lang="en-US" altLang="ja-JP" sz="4000" b="0" i="1" smtClean="0">
                          <a:latin typeface="Cambria Math" panose="02040503050406030204" pitchFamily="18" charset="0"/>
                        </a:rPr>
                        <m:t>h𝑎𝑣𝑒</m:t>
                      </m:r>
                      <m:r>
                        <a:rPr kumimoji="1" lang="en-US" altLang="ja-JP" sz="4000" b="0" i="1" smtClean="0">
                          <a:latin typeface="Cambria Math" panose="02040503050406030204" pitchFamily="18" charset="0"/>
                        </a:rPr>
                        <m:t> </m:t>
                      </m:r>
                      <m:r>
                        <a:rPr kumimoji="1" lang="en-US" altLang="ja-JP" sz="4000" b="0" i="1" smtClean="0">
                          <a:latin typeface="Cambria Math" panose="02040503050406030204" pitchFamily="18" charset="0"/>
                        </a:rPr>
                        <m:t>𝑎</m:t>
                      </m:r>
                      <m:r>
                        <a:rPr kumimoji="1" lang="en-US" altLang="ja-JP" sz="4000" b="0" i="1" smtClean="0">
                          <a:latin typeface="Cambria Math" panose="02040503050406030204" pitchFamily="18" charset="0"/>
                        </a:rPr>
                        <m:t> </m:t>
                      </m:r>
                      <m:r>
                        <a:rPr kumimoji="1" lang="en-US" altLang="ja-JP" sz="4000" b="0" i="1" smtClean="0">
                          <a:latin typeface="Cambria Math" panose="02040503050406030204" pitchFamily="18" charset="0"/>
                        </a:rPr>
                        <m:t>𝑑𝑟𝑒𝑎𝑚</m:t>
                      </m:r>
                    </m:oMath>
                  </m:oMathPara>
                </a14:m>
                <a:endParaRPr kumimoji="1" lang="ja-JP" altLang="en-US" sz="4000" dirty="0"/>
              </a:p>
            </p:txBody>
          </p:sp>
        </mc:Choice>
        <mc:Fallback xmlns="">
          <p:sp>
            <p:nvSpPr>
              <p:cNvPr id="1090" name="テキスト ボックス 1089">
                <a:extLst>
                  <a:ext uri="{FF2B5EF4-FFF2-40B4-BE49-F238E27FC236}">
                    <a16:creationId xmlns:a16="http://schemas.microsoft.com/office/drawing/2014/main" id="{9E3E26EC-0E58-D938-73DD-449B8C27552D}"/>
                  </a:ext>
                </a:extLst>
              </p:cNvPr>
              <p:cNvSpPr txBox="1">
                <a:spLocks noRot="1" noChangeAspect="1" noMove="1" noResize="1" noEditPoints="1" noAdjustHandles="1" noChangeArrowheads="1" noChangeShapeType="1" noTextEdit="1"/>
              </p:cNvSpPr>
              <p:nvPr/>
            </p:nvSpPr>
            <p:spPr>
              <a:xfrm>
                <a:off x="26423649" y="16673294"/>
                <a:ext cx="3562476" cy="615553"/>
              </a:xfrm>
              <a:prstGeom prst="rect">
                <a:avLst/>
              </a:prstGeom>
              <a:blipFill>
                <a:blip r:embed="rId23"/>
                <a:stretch>
                  <a:fillRect l="-709" t="-6000" b="-36000"/>
                </a:stretch>
              </a:blipFill>
            </p:spPr>
            <p:txBody>
              <a:bodyPr/>
              <a:lstStyle/>
              <a:p>
                <a:r>
                  <a:rPr lang="ja-JP" altLang="en-US">
                    <a:noFill/>
                  </a:rPr>
                  <a:t> </a:t>
                </a:r>
              </a:p>
            </p:txBody>
          </p:sp>
        </mc:Fallback>
      </mc:AlternateContent>
      <p:cxnSp>
        <p:nvCxnSpPr>
          <p:cNvPr id="1091" name="直線矢印コネクタ 1090">
            <a:extLst>
              <a:ext uri="{FF2B5EF4-FFF2-40B4-BE49-F238E27FC236}">
                <a16:creationId xmlns:a16="http://schemas.microsoft.com/office/drawing/2014/main" id="{1642BB69-6C3A-0C40-7ECE-428BDFF3FF6D}"/>
              </a:ext>
            </a:extLst>
          </p:cNvPr>
          <p:cNvCxnSpPr>
            <a:cxnSpLocks/>
            <a:stCxn id="1071" idx="3"/>
            <a:endCxn id="1090" idx="1"/>
          </p:cNvCxnSpPr>
          <p:nvPr/>
        </p:nvCxnSpPr>
        <p:spPr>
          <a:xfrm>
            <a:off x="25783026" y="16981071"/>
            <a:ext cx="640623"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93" name="テキスト ボックス 1092">
                <a:extLst>
                  <a:ext uri="{FF2B5EF4-FFF2-40B4-BE49-F238E27FC236}">
                    <a16:creationId xmlns:a16="http://schemas.microsoft.com/office/drawing/2014/main" id="{BCDC52A6-C0F2-B6DE-3FF8-2324046EEED2}"/>
                  </a:ext>
                </a:extLst>
              </p:cNvPr>
              <p:cNvSpPr txBox="1"/>
              <p:nvPr/>
            </p:nvSpPr>
            <p:spPr>
              <a:xfrm>
                <a:off x="23017870" y="17866541"/>
                <a:ext cx="3754297" cy="615553"/>
              </a:xfrm>
              <a:prstGeom prst="rect">
                <a:avLst/>
              </a:prstGeom>
              <a:noFill/>
            </p:spPr>
            <p:txBody>
              <a:bodyPr wrap="none" lIns="0" tIns="0" rIns="0" bIns="0" rtlCol="0">
                <a:spAutoFit/>
              </a:bodyPr>
              <a:lstStyle/>
              <a:p>
                <a:pPr algn="ctr"/>
                <a14:m>
                  <m:oMathPara xmlns:m="http://schemas.openxmlformats.org/officeDocument/2006/math">
                    <m:oMathParaPr>
                      <m:jc m:val="center"/>
                    </m:oMathParaPr>
                    <m:oMath xmlns:m="http://schemas.openxmlformats.org/officeDocument/2006/math">
                      <m:r>
                        <a:rPr kumimoji="1" lang="en-US" altLang="ja-JP" sz="4000" b="0" i="1" smtClean="0">
                          <a:latin typeface="Cambria Math" panose="02040503050406030204" pitchFamily="18" charset="0"/>
                        </a:rPr>
                        <m:t>𝐶𝑟𝑜𝑠𝑠</m:t>
                      </m:r>
                      <m:r>
                        <a:rPr kumimoji="1" lang="en-US" altLang="ja-JP" sz="4000" b="0" i="1" smtClean="0">
                          <a:latin typeface="Cambria Math" panose="02040503050406030204" pitchFamily="18" charset="0"/>
                        </a:rPr>
                        <m:t> </m:t>
                      </m:r>
                      <m:r>
                        <a:rPr kumimoji="1" lang="en-US" altLang="ja-JP" sz="4000" b="0" i="1" smtClean="0">
                          <a:latin typeface="Cambria Math" panose="02040503050406030204" pitchFamily="18" charset="0"/>
                        </a:rPr>
                        <m:t>𝐴𝑡𝑡𝑒𝑛𝑡𝑖𝑜𝑛</m:t>
                      </m:r>
                    </m:oMath>
                  </m:oMathPara>
                </a14:m>
                <a:endParaRPr kumimoji="1" lang="ja-JP" altLang="en-US" sz="4000" dirty="0"/>
              </a:p>
            </p:txBody>
          </p:sp>
        </mc:Choice>
        <mc:Fallback xmlns="">
          <p:sp>
            <p:nvSpPr>
              <p:cNvPr id="1093" name="テキスト ボックス 1092">
                <a:extLst>
                  <a:ext uri="{FF2B5EF4-FFF2-40B4-BE49-F238E27FC236}">
                    <a16:creationId xmlns:a16="http://schemas.microsoft.com/office/drawing/2014/main" id="{E6D84905-13D6-CA4F-FD3D-3B2113C46228}"/>
                  </a:ext>
                </a:extLst>
              </p:cNvPr>
              <p:cNvSpPr txBox="1">
                <a:spLocks noRot="1" noChangeAspect="1" noMove="1" noResize="1" noEditPoints="1" noAdjustHandles="1" noChangeArrowheads="1" noChangeShapeType="1" noTextEdit="1"/>
              </p:cNvSpPr>
              <p:nvPr/>
            </p:nvSpPr>
            <p:spPr>
              <a:xfrm>
                <a:off x="23017870" y="17866541"/>
                <a:ext cx="3754297" cy="615553"/>
              </a:xfrm>
              <a:prstGeom prst="rect">
                <a:avLst/>
              </a:prstGeom>
              <a:blipFill>
                <a:blip r:embed="rId24"/>
                <a:stretch>
                  <a:fillRect l="-4040" t="-6000" r="-673" b="-38000"/>
                </a:stretch>
              </a:blipFill>
            </p:spPr>
            <p:txBody>
              <a:bodyPr/>
              <a:lstStyle/>
              <a:p>
                <a:r>
                  <a:rPr lang="ja-JP" altLang="en-US">
                    <a:noFill/>
                  </a:rPr>
                  <a:t> </a:t>
                </a:r>
              </a:p>
            </p:txBody>
          </p:sp>
        </mc:Fallback>
      </mc:AlternateContent>
      <p:cxnSp>
        <p:nvCxnSpPr>
          <p:cNvPr id="1094" name="直線矢印コネクタ 1093">
            <a:extLst>
              <a:ext uri="{FF2B5EF4-FFF2-40B4-BE49-F238E27FC236}">
                <a16:creationId xmlns:a16="http://schemas.microsoft.com/office/drawing/2014/main" id="{FACBD55E-BDF9-A53E-6C37-64E28AEED8F8}"/>
              </a:ext>
            </a:extLst>
          </p:cNvPr>
          <p:cNvCxnSpPr>
            <a:cxnSpLocks/>
            <a:stCxn id="1062" idx="0"/>
            <a:endCxn id="1064" idx="1"/>
          </p:cNvCxnSpPr>
          <p:nvPr/>
        </p:nvCxnSpPr>
        <p:spPr>
          <a:xfrm>
            <a:off x="21984626" y="15059676"/>
            <a:ext cx="511736" cy="8021"/>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96" name="直線コネクタ 1095">
            <a:extLst>
              <a:ext uri="{FF2B5EF4-FFF2-40B4-BE49-F238E27FC236}">
                <a16:creationId xmlns:a16="http://schemas.microsoft.com/office/drawing/2014/main" id="{1A702B9E-02E4-29D3-423B-B7CCDCCD2AD9}"/>
              </a:ext>
            </a:extLst>
          </p:cNvPr>
          <p:cNvCxnSpPr>
            <a:cxnSpLocks/>
          </p:cNvCxnSpPr>
          <p:nvPr/>
        </p:nvCxnSpPr>
        <p:spPr>
          <a:xfrm>
            <a:off x="17642334" y="13607437"/>
            <a:ext cx="0" cy="5891328"/>
          </a:xfrm>
          <a:prstGeom prst="line">
            <a:avLst/>
          </a:prstGeom>
          <a:ln w="38100">
            <a:solidFill>
              <a:srgbClr val="0070C0"/>
            </a:solidFill>
            <a:prstDash val="dash"/>
          </a:ln>
        </p:spPr>
        <p:style>
          <a:lnRef idx="1">
            <a:schemeClr val="accent1"/>
          </a:lnRef>
          <a:fillRef idx="0">
            <a:schemeClr val="accent1"/>
          </a:fillRef>
          <a:effectRef idx="0">
            <a:schemeClr val="accent1"/>
          </a:effectRef>
          <a:fontRef idx="minor">
            <a:schemeClr val="tx1"/>
          </a:fontRef>
        </p:style>
      </p:cxnSp>
      <p:sp>
        <p:nvSpPr>
          <p:cNvPr id="1097" name="テキスト ボックス 1096">
            <a:extLst>
              <a:ext uri="{FF2B5EF4-FFF2-40B4-BE49-F238E27FC236}">
                <a16:creationId xmlns:a16="http://schemas.microsoft.com/office/drawing/2014/main" id="{9778D218-A5F0-F50B-03A8-1037F003EC72}"/>
              </a:ext>
            </a:extLst>
          </p:cNvPr>
          <p:cNvSpPr txBox="1"/>
          <p:nvPr/>
        </p:nvSpPr>
        <p:spPr>
          <a:xfrm>
            <a:off x="19394746" y="19152818"/>
            <a:ext cx="6884481" cy="707886"/>
          </a:xfrm>
          <a:prstGeom prst="rect">
            <a:avLst/>
          </a:prstGeom>
          <a:noFill/>
        </p:spPr>
        <p:txBody>
          <a:bodyPr wrap="square" rtlCol="0">
            <a:spAutoFit/>
          </a:bodyPr>
          <a:lstStyle/>
          <a:p>
            <a:pPr algn="ctr"/>
            <a:r>
              <a:rPr kumimoji="1" lang="ja-JP" altLang="en-US" sz="4000" dirty="0">
                <a:latin typeface="MS PGothic" panose="020B0600070205080204" pitchFamily="34" charset="-128"/>
                <a:ea typeface="MS PGothic" panose="020B0600070205080204" pitchFamily="34" charset="-128"/>
              </a:rPr>
              <a:t>図</a:t>
            </a:r>
            <a:r>
              <a:rPr kumimoji="1" lang="en-US" altLang="ja-JP" sz="4000" dirty="0">
                <a:latin typeface="MS PGothic" panose="020B0600070205080204" pitchFamily="34" charset="-128"/>
                <a:ea typeface="MS PGothic" panose="020B0600070205080204" pitchFamily="34" charset="-128"/>
              </a:rPr>
              <a:t>2</a:t>
            </a:r>
            <a:r>
              <a:rPr kumimoji="1" lang="ja-JP" altLang="en-US" sz="4000" dirty="0">
                <a:latin typeface="MS PGothic" panose="020B0600070205080204" pitchFamily="34" charset="-128"/>
                <a:ea typeface="MS PGothic" panose="020B0600070205080204" pitchFamily="34" charset="-128"/>
              </a:rPr>
              <a:t>　提案手法の構造</a:t>
            </a:r>
            <a:endParaRPr kumimoji="1" lang="en-US" altLang="ja-JP" sz="4000" dirty="0">
              <a:latin typeface="MS PGothic" panose="020B0600070205080204" pitchFamily="34" charset="-128"/>
              <a:ea typeface="MS PGothic" panose="020B0600070205080204" pitchFamily="34" charset="-128"/>
            </a:endParaRPr>
          </a:p>
        </p:txBody>
      </p:sp>
      <mc:AlternateContent xmlns:mc="http://schemas.openxmlformats.org/markup-compatibility/2006" xmlns:a14="http://schemas.microsoft.com/office/drawing/2010/main">
        <mc:Choice Requires="a14">
          <p:sp>
            <p:nvSpPr>
              <p:cNvPr id="1099" name="テキスト ボックス 1098">
                <a:extLst>
                  <a:ext uri="{FF2B5EF4-FFF2-40B4-BE49-F238E27FC236}">
                    <a16:creationId xmlns:a16="http://schemas.microsoft.com/office/drawing/2014/main" id="{0787DA61-51B8-E55B-7B24-52E84F09719B}"/>
                  </a:ext>
                </a:extLst>
              </p:cNvPr>
              <p:cNvSpPr txBox="1"/>
              <p:nvPr/>
            </p:nvSpPr>
            <p:spPr>
              <a:xfrm>
                <a:off x="24998225" y="15474602"/>
                <a:ext cx="786241" cy="615553"/>
              </a:xfrm>
              <a:prstGeom prst="rect">
                <a:avLst/>
              </a:prstGeom>
              <a:noFill/>
            </p:spPr>
            <p:txBody>
              <a:bodyPr wrap="none" lIns="0" tIns="0" rIns="0" bIns="0" rtlCol="0">
                <a:spAutoFit/>
              </a:bodyPr>
              <a:lstStyle/>
              <a:p>
                <a:pPr algn="ctr"/>
                <a14:m>
                  <m:oMathPara xmlns:m="http://schemas.openxmlformats.org/officeDocument/2006/math">
                    <m:oMathParaPr>
                      <m:jc m:val="center"/>
                    </m:oMathParaPr>
                    <m:oMath xmlns:m="http://schemas.openxmlformats.org/officeDocument/2006/math">
                      <m:r>
                        <a:rPr kumimoji="1" lang="en-US" altLang="ja-JP" sz="4000" b="0" i="1" smtClean="0">
                          <a:latin typeface="Cambria Math" panose="02040503050406030204" pitchFamily="18" charset="0"/>
                          <a:ea typeface="Cambria Math" panose="02040503050406030204" pitchFamily="18" charset="0"/>
                        </a:rPr>
                        <m:t>×</m:t>
                      </m:r>
                      <m:r>
                        <a:rPr kumimoji="1" lang="en-US" altLang="ja-JP" sz="4000" b="0" i="1" smtClean="0">
                          <a:latin typeface="Cambria Math" panose="02040503050406030204" pitchFamily="18" charset="0"/>
                          <a:ea typeface="Cambria Math" panose="02040503050406030204" pitchFamily="18" charset="0"/>
                        </a:rPr>
                        <m:t>𝑛</m:t>
                      </m:r>
                    </m:oMath>
                  </m:oMathPara>
                </a14:m>
                <a:endParaRPr kumimoji="1" lang="ja-JP" altLang="en-US" sz="4000" dirty="0"/>
              </a:p>
            </p:txBody>
          </p:sp>
        </mc:Choice>
        <mc:Fallback xmlns="">
          <p:sp>
            <p:nvSpPr>
              <p:cNvPr id="1099" name="テキスト ボックス 1098">
                <a:extLst>
                  <a:ext uri="{FF2B5EF4-FFF2-40B4-BE49-F238E27FC236}">
                    <a16:creationId xmlns:a16="http://schemas.microsoft.com/office/drawing/2014/main" id="{21149565-9370-D3D0-8A81-DC0EE1A55407}"/>
                  </a:ext>
                </a:extLst>
              </p:cNvPr>
              <p:cNvSpPr txBox="1">
                <a:spLocks noRot="1" noChangeAspect="1" noMove="1" noResize="1" noEditPoints="1" noAdjustHandles="1" noChangeArrowheads="1" noChangeShapeType="1" noTextEdit="1"/>
              </p:cNvSpPr>
              <p:nvPr/>
            </p:nvSpPr>
            <p:spPr>
              <a:xfrm>
                <a:off x="24998225" y="15474602"/>
                <a:ext cx="786241" cy="615553"/>
              </a:xfrm>
              <a:prstGeom prst="rect">
                <a:avLst/>
              </a:prstGeom>
              <a:blipFill>
                <a:blip r:embed="rId25"/>
                <a:stretch>
                  <a:fillRect l="-17460" b="-204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100" name="テキスト ボックス 1099">
                <a:extLst>
                  <a:ext uri="{FF2B5EF4-FFF2-40B4-BE49-F238E27FC236}">
                    <a16:creationId xmlns:a16="http://schemas.microsoft.com/office/drawing/2014/main" id="{5CB9F6A2-1E30-D2BA-E259-C2FD6FBA0BEA}"/>
                  </a:ext>
                </a:extLst>
              </p:cNvPr>
              <p:cNvSpPr txBox="1"/>
              <p:nvPr/>
            </p:nvSpPr>
            <p:spPr>
              <a:xfrm>
                <a:off x="15375781" y="7215262"/>
                <a:ext cx="14681201" cy="2640275"/>
              </a:xfrm>
              <a:prstGeom prst="rect">
                <a:avLst/>
              </a:prstGeom>
              <a:noFill/>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r>
                        <a:rPr kumimoji="1" lang="en-US" altLang="ja-JP" sz="4000" b="1" i="0" smtClean="0">
                          <a:latin typeface="Cambria Math" panose="02040503050406030204" pitchFamily="18" charset="0"/>
                        </a:rPr>
                        <m:t>𝐐</m:t>
                      </m:r>
                      <m:r>
                        <a:rPr kumimoji="1" lang="en-US" altLang="ja-JP" sz="4000" b="0" i="1" smtClean="0">
                          <a:latin typeface="Cambria Math" panose="02040503050406030204" pitchFamily="18" charset="0"/>
                        </a:rPr>
                        <m:t>=</m:t>
                      </m:r>
                      <m:r>
                        <a:rPr kumimoji="1" lang="en-US" altLang="ja-JP" sz="4000" b="1" i="0" smtClean="0">
                          <a:latin typeface="Cambria Math" panose="02040503050406030204" pitchFamily="18" charset="0"/>
                        </a:rPr>
                        <m:t>𝐗</m:t>
                      </m:r>
                      <m:sSub>
                        <m:sSubPr>
                          <m:ctrlPr>
                            <a:rPr kumimoji="1" lang="en-US" altLang="ja-JP" sz="4000" b="1" i="1" smtClean="0">
                              <a:latin typeface="Cambria Math" panose="02040503050406030204" pitchFamily="18" charset="0"/>
                            </a:rPr>
                          </m:ctrlPr>
                        </m:sSubPr>
                        <m:e>
                          <m:r>
                            <a:rPr kumimoji="1" lang="en-US" altLang="ja-JP" sz="4000" b="1" i="0" smtClean="0">
                              <a:latin typeface="Cambria Math" panose="02040503050406030204" pitchFamily="18" charset="0"/>
                            </a:rPr>
                            <m:t>𝐖</m:t>
                          </m:r>
                        </m:e>
                        <m:sub>
                          <m:r>
                            <a:rPr kumimoji="1" lang="en-US" altLang="ja-JP" sz="4000" b="1" i="0" smtClean="0">
                              <a:latin typeface="Cambria Math" panose="02040503050406030204" pitchFamily="18" charset="0"/>
                            </a:rPr>
                            <m:t>𝐐</m:t>
                          </m:r>
                        </m:sub>
                      </m:sSub>
                      <m:r>
                        <a:rPr kumimoji="1" lang="en-US" altLang="ja-JP" sz="4000" b="0" i="0" smtClean="0">
                          <a:latin typeface="Cambria Math" panose="02040503050406030204" pitchFamily="18" charset="0"/>
                        </a:rPr>
                        <m:t>,   </m:t>
                      </m:r>
                      <m:r>
                        <a:rPr kumimoji="1" lang="en-US" altLang="ja-JP" sz="4000" b="1" i="0" smtClean="0">
                          <a:latin typeface="Cambria Math" panose="02040503050406030204" pitchFamily="18" charset="0"/>
                        </a:rPr>
                        <m:t>𝐊</m:t>
                      </m:r>
                      <m:r>
                        <a:rPr kumimoji="1" lang="en-US" altLang="ja-JP" sz="4000" i="1">
                          <a:latin typeface="Cambria Math" panose="02040503050406030204" pitchFamily="18" charset="0"/>
                        </a:rPr>
                        <m:t>=</m:t>
                      </m:r>
                      <m:r>
                        <a:rPr kumimoji="1" lang="en-US" altLang="ja-JP" sz="4000" b="1" i="0" smtClean="0">
                          <a:latin typeface="Cambria Math" panose="02040503050406030204" pitchFamily="18" charset="0"/>
                        </a:rPr>
                        <m:t>𝐘</m:t>
                      </m:r>
                      <m:sSub>
                        <m:sSubPr>
                          <m:ctrlPr>
                            <a:rPr kumimoji="1" lang="en-US" altLang="ja-JP" sz="4000" b="1" i="1">
                              <a:latin typeface="Cambria Math" panose="02040503050406030204" pitchFamily="18" charset="0"/>
                            </a:rPr>
                          </m:ctrlPr>
                        </m:sSubPr>
                        <m:e>
                          <m:r>
                            <a:rPr kumimoji="1" lang="en-US" altLang="ja-JP" sz="4000" b="1">
                              <a:latin typeface="Cambria Math" panose="02040503050406030204" pitchFamily="18" charset="0"/>
                            </a:rPr>
                            <m:t>𝐖</m:t>
                          </m:r>
                        </m:e>
                        <m:sub>
                          <m:r>
                            <a:rPr kumimoji="1" lang="en-US" altLang="ja-JP" sz="4000" b="1" i="0" smtClean="0">
                              <a:latin typeface="Cambria Math" panose="02040503050406030204" pitchFamily="18" charset="0"/>
                            </a:rPr>
                            <m:t>𝐊</m:t>
                          </m:r>
                        </m:sub>
                      </m:sSub>
                      <m:r>
                        <a:rPr kumimoji="1" lang="en-US" altLang="ja-JP" sz="4000" b="1" i="1" smtClean="0">
                          <a:latin typeface="Cambria Math" panose="02040503050406030204" pitchFamily="18" charset="0"/>
                        </a:rPr>
                        <m:t>,   </m:t>
                      </m:r>
                      <m:r>
                        <a:rPr kumimoji="1" lang="en-US" altLang="ja-JP" sz="4000" b="1" i="0" smtClean="0">
                          <a:latin typeface="Cambria Math" panose="02040503050406030204" pitchFamily="18" charset="0"/>
                        </a:rPr>
                        <m:t>𝐕</m:t>
                      </m:r>
                      <m:r>
                        <a:rPr kumimoji="1" lang="en-US" altLang="ja-JP" sz="4000" i="1">
                          <a:latin typeface="Cambria Math" panose="02040503050406030204" pitchFamily="18" charset="0"/>
                        </a:rPr>
                        <m:t>=</m:t>
                      </m:r>
                      <m:r>
                        <a:rPr kumimoji="1" lang="en-US" altLang="ja-JP" sz="4000" b="1" i="0" smtClean="0">
                          <a:latin typeface="Cambria Math" panose="02040503050406030204" pitchFamily="18" charset="0"/>
                        </a:rPr>
                        <m:t>𝐘</m:t>
                      </m:r>
                      <m:sSub>
                        <m:sSubPr>
                          <m:ctrlPr>
                            <a:rPr kumimoji="1" lang="en-US" altLang="ja-JP" sz="4000" b="1" i="1">
                              <a:latin typeface="Cambria Math" panose="02040503050406030204" pitchFamily="18" charset="0"/>
                            </a:rPr>
                          </m:ctrlPr>
                        </m:sSubPr>
                        <m:e>
                          <m:r>
                            <a:rPr kumimoji="1" lang="en-US" altLang="ja-JP" sz="4000" b="1">
                              <a:latin typeface="Cambria Math" panose="02040503050406030204" pitchFamily="18" charset="0"/>
                            </a:rPr>
                            <m:t>𝐖</m:t>
                          </m:r>
                        </m:e>
                        <m:sub>
                          <m:r>
                            <a:rPr kumimoji="1" lang="en-US" altLang="ja-JP" sz="4000" b="1" i="0" smtClean="0">
                              <a:latin typeface="Cambria Math" panose="02040503050406030204" pitchFamily="18" charset="0"/>
                            </a:rPr>
                            <m:t>𝐕</m:t>
                          </m:r>
                        </m:sub>
                      </m:sSub>
                    </m:oMath>
                  </m:oMathPara>
                </a14:m>
                <a:endParaRPr kumimoji="1" lang="en-US" altLang="ja-JP" sz="4000" dirty="0"/>
              </a:p>
              <a:p>
                <a:pPr algn="ctr"/>
                <a14:m>
                  <m:oMathPara xmlns:m="http://schemas.openxmlformats.org/officeDocument/2006/math">
                    <m:oMathParaPr>
                      <m:jc m:val="centerGroup"/>
                    </m:oMathParaPr>
                    <m:oMath xmlns:m="http://schemas.openxmlformats.org/officeDocument/2006/math">
                      <m:r>
                        <a:rPr kumimoji="1" lang="en-US" altLang="ja-JP" sz="4000" b="1" i="0" smtClean="0">
                          <a:latin typeface="Cambria Math" panose="02040503050406030204" pitchFamily="18" charset="0"/>
                        </a:rPr>
                        <m:t>𝐀</m:t>
                      </m:r>
                      <m:r>
                        <a:rPr kumimoji="1" lang="en-US" altLang="ja-JP" sz="4000" b="0" i="1" smtClean="0">
                          <a:latin typeface="Cambria Math" panose="02040503050406030204" pitchFamily="18" charset="0"/>
                        </a:rPr>
                        <m:t>=</m:t>
                      </m:r>
                      <m:f>
                        <m:fPr>
                          <m:type m:val="lin"/>
                          <m:ctrlPr>
                            <a:rPr kumimoji="1" lang="en-US" altLang="ja-JP" sz="4000" b="0" i="1" smtClean="0">
                              <a:latin typeface="Cambria Math" panose="02040503050406030204" pitchFamily="18" charset="0"/>
                            </a:rPr>
                          </m:ctrlPr>
                        </m:fPr>
                        <m:num>
                          <m:r>
                            <a:rPr kumimoji="1" lang="en-US" altLang="ja-JP" sz="4000" b="1">
                              <a:latin typeface="Cambria Math" panose="02040503050406030204" pitchFamily="18" charset="0"/>
                            </a:rPr>
                            <m:t>𝐐</m:t>
                          </m:r>
                          <m:r>
                            <a:rPr kumimoji="1" lang="en-US" altLang="ja-JP" sz="4000" b="1" i="0" smtClean="0">
                              <a:latin typeface="Cambria Math" panose="02040503050406030204" pitchFamily="18" charset="0"/>
                            </a:rPr>
                            <m:t>𝐊</m:t>
                          </m:r>
                        </m:num>
                        <m:den>
                          <m:rad>
                            <m:radPr>
                              <m:degHide m:val="on"/>
                              <m:ctrlPr>
                                <a:rPr kumimoji="1" lang="en-US" altLang="ja-JP" sz="4000" b="0" i="1" smtClean="0">
                                  <a:latin typeface="Cambria Math" panose="02040503050406030204" pitchFamily="18" charset="0"/>
                                </a:rPr>
                              </m:ctrlPr>
                            </m:radPr>
                            <m:deg/>
                            <m:e>
                              <m:r>
                                <a:rPr kumimoji="1" lang="en-US" altLang="ja-JP" sz="4000" b="0" i="1" smtClean="0">
                                  <a:latin typeface="Cambria Math" panose="02040503050406030204" pitchFamily="18" charset="0"/>
                                </a:rPr>
                                <m:t>𝑑</m:t>
                              </m:r>
                            </m:e>
                          </m:rad>
                        </m:den>
                      </m:f>
                      <m:r>
                        <a:rPr kumimoji="1" lang="en-US" altLang="ja-JP" sz="4000" b="0" i="1" smtClean="0">
                          <a:latin typeface="Cambria Math" panose="02040503050406030204" pitchFamily="18" charset="0"/>
                        </a:rPr>
                        <m:t>,   </m:t>
                      </m:r>
                      <m:acc>
                        <m:accPr>
                          <m:chr m:val="̂"/>
                          <m:ctrlPr>
                            <a:rPr kumimoji="1" lang="en-US" altLang="ja-JP" sz="4000" b="0" i="1" smtClean="0">
                              <a:latin typeface="Cambria Math" panose="02040503050406030204" pitchFamily="18" charset="0"/>
                            </a:rPr>
                          </m:ctrlPr>
                        </m:accPr>
                        <m:e>
                          <m:r>
                            <a:rPr kumimoji="1" lang="en-US" altLang="ja-JP" sz="4000" b="1">
                              <a:latin typeface="Cambria Math" panose="02040503050406030204" pitchFamily="18" charset="0"/>
                            </a:rPr>
                            <m:t>𝐘</m:t>
                          </m:r>
                        </m:e>
                      </m:acc>
                      <m:r>
                        <a:rPr kumimoji="1" lang="en-US" altLang="ja-JP" sz="4000" b="0" i="1" smtClean="0">
                          <a:latin typeface="Cambria Math" panose="02040503050406030204" pitchFamily="18" charset="0"/>
                        </a:rPr>
                        <m:t>=</m:t>
                      </m:r>
                      <m:r>
                        <a:rPr kumimoji="1" lang="en-US" altLang="ja-JP" sz="4000" b="1">
                          <a:latin typeface="Cambria Math" panose="02040503050406030204" pitchFamily="18" charset="0"/>
                        </a:rPr>
                        <m:t>𝐀𝐕</m:t>
                      </m:r>
                      <m:r>
                        <a:rPr kumimoji="1" lang="en-US" altLang="ja-JP" sz="4000" b="1" i="0" smtClean="0">
                          <a:latin typeface="Cambria Math" panose="02040503050406030204" pitchFamily="18" charset="0"/>
                        </a:rPr>
                        <m:t>,   </m:t>
                      </m:r>
                      <m:acc>
                        <m:accPr>
                          <m:chr m:val="̂"/>
                          <m:ctrlPr>
                            <a:rPr kumimoji="1" lang="en-US" altLang="ja-JP" sz="4000" b="1" i="1" smtClean="0">
                              <a:latin typeface="Cambria Math" panose="02040503050406030204" pitchFamily="18" charset="0"/>
                            </a:rPr>
                          </m:ctrlPr>
                        </m:accPr>
                        <m:e>
                          <m:r>
                            <a:rPr kumimoji="1" lang="en-US" altLang="ja-JP" sz="4000" b="1" i="0" smtClean="0">
                              <a:latin typeface="Cambria Math" panose="02040503050406030204" pitchFamily="18" charset="0"/>
                            </a:rPr>
                            <m:t>𝐗</m:t>
                          </m:r>
                        </m:e>
                      </m:acc>
                      <m:r>
                        <a:rPr kumimoji="1" lang="en-US" altLang="ja-JP" sz="4000" b="1" i="1" smtClean="0">
                          <a:latin typeface="Cambria Math" panose="02040503050406030204" pitchFamily="18" charset="0"/>
                        </a:rPr>
                        <m:t>=</m:t>
                      </m:r>
                      <m:r>
                        <a:rPr kumimoji="1" lang="en-US" altLang="ja-JP" sz="4000" b="1" i="0" smtClean="0">
                          <a:latin typeface="Cambria Math" panose="02040503050406030204" pitchFamily="18" charset="0"/>
                        </a:rPr>
                        <m:t>𝐗</m:t>
                      </m:r>
                      <m:r>
                        <a:rPr kumimoji="1" lang="en-US" altLang="ja-JP" sz="4000" b="1" i="1" smtClean="0">
                          <a:latin typeface="Cambria Math" panose="02040503050406030204" pitchFamily="18" charset="0"/>
                        </a:rPr>
                        <m:t>+</m:t>
                      </m:r>
                      <m:acc>
                        <m:accPr>
                          <m:chr m:val="̂"/>
                          <m:ctrlPr>
                            <a:rPr kumimoji="1" lang="en-US" altLang="ja-JP" sz="4000" i="1">
                              <a:latin typeface="Cambria Math" panose="02040503050406030204" pitchFamily="18" charset="0"/>
                            </a:rPr>
                          </m:ctrlPr>
                        </m:accPr>
                        <m:e>
                          <m:r>
                            <a:rPr kumimoji="1" lang="en-US" altLang="ja-JP" sz="4000" b="1">
                              <a:latin typeface="Cambria Math" panose="02040503050406030204" pitchFamily="18" charset="0"/>
                            </a:rPr>
                            <m:t>𝐘</m:t>
                          </m:r>
                        </m:e>
                      </m:acc>
                    </m:oMath>
                  </m:oMathPara>
                </a14:m>
                <a:endParaRPr kumimoji="1" lang="ja-JP" altLang="en-US" sz="4000" dirty="0"/>
              </a:p>
              <a:p>
                <a:pPr algn="ctr"/>
                <a:r>
                  <a:rPr kumimoji="1" lang="en-US" altLang="ja-JP" sz="4000" dirty="0">
                    <a:latin typeface="ＭＳ Ｐゴシック" panose="020B0600070205080204" pitchFamily="50" charset="-128"/>
                    <a:ea typeface="ＭＳ Ｐゴシック" panose="020B0600070205080204" pitchFamily="50" charset="-128"/>
                  </a:rPr>
                  <a:t>※</a:t>
                </a:r>
                <a:r>
                  <a:rPr kumimoji="1" lang="ja-JP" altLang="en-US" sz="4000" dirty="0">
                    <a:latin typeface="ＭＳ Ｐゴシック" panose="020B0600070205080204" pitchFamily="50" charset="-128"/>
                    <a:ea typeface="ＭＳ Ｐゴシック" panose="020B0600070205080204" pitchFamily="50" charset="-128"/>
                  </a:rPr>
                  <a:t> </a:t>
                </a:r>
                <a14:m>
                  <m:oMath xmlns:m="http://schemas.openxmlformats.org/officeDocument/2006/math">
                    <m:r>
                      <a:rPr kumimoji="1" lang="en-US" altLang="ja-JP" sz="4000" b="1">
                        <a:latin typeface="Cambria Math" panose="02040503050406030204" pitchFamily="18" charset="0"/>
                      </a:rPr>
                      <m:t>𝐗</m:t>
                    </m:r>
                    <m:r>
                      <a:rPr kumimoji="1" lang="ja-JP" altLang="en-US" sz="4000" b="1" i="1" smtClean="0">
                        <a:latin typeface="Cambria Math" panose="02040503050406030204" pitchFamily="18" charset="0"/>
                      </a:rPr>
                      <m:t> </m:t>
                    </m:r>
                  </m:oMath>
                </a14:m>
                <a:r>
                  <a:rPr kumimoji="1" lang="en-US" altLang="ja-JP" sz="4000" dirty="0">
                    <a:latin typeface="ＭＳ Ｐゴシック" panose="020B0600070205080204" pitchFamily="50" charset="-128"/>
                    <a:ea typeface="ＭＳ Ｐゴシック" panose="020B0600070205080204" pitchFamily="50" charset="-128"/>
                  </a:rPr>
                  <a:t>: </a:t>
                </a:r>
                <a:r>
                  <a:rPr kumimoji="1" lang="ja-JP" altLang="en-US" sz="4000">
                    <a:latin typeface="ＭＳ Ｐゴシック" panose="020B0600070205080204" pitchFamily="50" charset="-128"/>
                    <a:ea typeface="ＭＳ Ｐゴシック" panose="020B0600070205080204" pitchFamily="50" charset="-128"/>
                  </a:rPr>
                  <a:t>デコーダの特徴量，</a:t>
                </a:r>
                <a14:m>
                  <m:oMath xmlns:m="http://schemas.openxmlformats.org/officeDocument/2006/math">
                    <m:r>
                      <a:rPr kumimoji="1" lang="en-US" altLang="ja-JP" sz="4000" b="1">
                        <a:latin typeface="Cambria Math" panose="02040503050406030204" pitchFamily="18" charset="0"/>
                      </a:rPr>
                      <m:t>𝐘</m:t>
                    </m:r>
                  </m:oMath>
                </a14:m>
                <a:r>
                  <a:rPr kumimoji="1" lang="ja-JP" altLang="en-US" sz="4000" dirty="0">
                    <a:latin typeface="ＭＳ Ｐゴシック" panose="020B0600070205080204" pitchFamily="50" charset="-128"/>
                    <a:ea typeface="ＭＳ Ｐゴシック" panose="020B0600070205080204" pitchFamily="50" charset="-128"/>
                  </a:rPr>
                  <a:t> </a:t>
                </a:r>
                <a:r>
                  <a:rPr kumimoji="1" lang="en-US" altLang="ja-JP" sz="4000" dirty="0">
                    <a:latin typeface="ＭＳ Ｐゴシック" panose="020B0600070205080204" pitchFamily="50" charset="-128"/>
                    <a:ea typeface="ＭＳ Ｐゴシック" panose="020B0600070205080204" pitchFamily="50" charset="-128"/>
                  </a:rPr>
                  <a:t>: </a:t>
                </a:r>
                <a:r>
                  <a:rPr kumimoji="1" lang="ja-JP" altLang="en-US" sz="4000">
                    <a:latin typeface="ＭＳ Ｐゴシック" panose="020B0600070205080204" pitchFamily="50" charset="-128"/>
                    <a:ea typeface="ＭＳ Ｐゴシック" panose="020B0600070205080204" pitchFamily="50" charset="-128"/>
                  </a:rPr>
                  <a:t>エンコーダの特徴量，</a:t>
                </a:r>
                <a:endParaRPr kumimoji="1" lang="en-US" altLang="ja-JP" sz="4000" dirty="0">
                  <a:latin typeface="ＭＳ Ｐゴシック" panose="020B0600070205080204" pitchFamily="50" charset="-128"/>
                  <a:ea typeface="ＭＳ Ｐゴシック" panose="020B0600070205080204" pitchFamily="50" charset="-128"/>
                </a:endParaRPr>
              </a:p>
              <a:p>
                <a:pPr algn="ctr"/>
                <a14:m>
                  <m:oMath xmlns:m="http://schemas.openxmlformats.org/officeDocument/2006/math">
                    <m:sSub>
                      <m:sSubPr>
                        <m:ctrlPr>
                          <a:rPr kumimoji="1" lang="en-US" altLang="ja-JP" sz="4000" b="1" i="1" smtClean="0">
                            <a:latin typeface="Cambria Math" panose="02040503050406030204" pitchFamily="18" charset="0"/>
                          </a:rPr>
                        </m:ctrlPr>
                      </m:sSubPr>
                      <m:e>
                        <m:r>
                          <a:rPr kumimoji="1" lang="en-US" altLang="ja-JP" sz="4000" b="1" i="0" smtClean="0">
                            <a:latin typeface="Cambria Math" panose="02040503050406030204" pitchFamily="18" charset="0"/>
                          </a:rPr>
                          <m:t>𝐖</m:t>
                        </m:r>
                      </m:e>
                      <m:sub>
                        <m:r>
                          <a:rPr kumimoji="1" lang="en-US" altLang="ja-JP" sz="4000" b="1" i="0" smtClean="0">
                            <a:latin typeface="Cambria Math" panose="02040503050406030204" pitchFamily="18" charset="0"/>
                          </a:rPr>
                          <m:t>𝐐</m:t>
                        </m:r>
                      </m:sub>
                    </m:sSub>
                    <m:r>
                      <a:rPr kumimoji="1" lang="en-US" altLang="ja-JP" sz="4000" b="1" i="1" smtClean="0">
                        <a:latin typeface="Cambria Math" panose="02040503050406030204" pitchFamily="18" charset="0"/>
                      </a:rPr>
                      <m:t>,</m:t>
                    </m:r>
                    <m:sSub>
                      <m:sSubPr>
                        <m:ctrlPr>
                          <a:rPr kumimoji="1" lang="en-US" altLang="ja-JP" sz="4000" b="1" i="1">
                            <a:latin typeface="Cambria Math" panose="02040503050406030204" pitchFamily="18" charset="0"/>
                          </a:rPr>
                        </m:ctrlPr>
                      </m:sSubPr>
                      <m:e>
                        <m:r>
                          <a:rPr kumimoji="1" lang="en-US" altLang="ja-JP" sz="4000" b="1">
                            <a:latin typeface="Cambria Math" panose="02040503050406030204" pitchFamily="18" charset="0"/>
                          </a:rPr>
                          <m:t>𝐖</m:t>
                        </m:r>
                      </m:e>
                      <m:sub>
                        <m:r>
                          <a:rPr kumimoji="1" lang="en-US" altLang="ja-JP" sz="4000" b="1">
                            <a:latin typeface="Cambria Math" panose="02040503050406030204" pitchFamily="18" charset="0"/>
                          </a:rPr>
                          <m:t>𝐊</m:t>
                        </m:r>
                      </m:sub>
                    </m:sSub>
                    <m:r>
                      <a:rPr kumimoji="1" lang="en-US" altLang="ja-JP" sz="4000" b="1" i="1" smtClean="0">
                        <a:latin typeface="Cambria Math" panose="02040503050406030204" pitchFamily="18" charset="0"/>
                      </a:rPr>
                      <m:t>,</m:t>
                    </m:r>
                    <m:sSub>
                      <m:sSubPr>
                        <m:ctrlPr>
                          <a:rPr kumimoji="1" lang="en-US" altLang="ja-JP" sz="4000" b="1" i="1">
                            <a:latin typeface="Cambria Math" panose="02040503050406030204" pitchFamily="18" charset="0"/>
                          </a:rPr>
                        </m:ctrlPr>
                      </m:sSubPr>
                      <m:e>
                        <m:r>
                          <a:rPr kumimoji="1" lang="en-US" altLang="ja-JP" sz="4000" b="1">
                            <a:latin typeface="Cambria Math" panose="02040503050406030204" pitchFamily="18" charset="0"/>
                          </a:rPr>
                          <m:t>𝐖</m:t>
                        </m:r>
                      </m:e>
                      <m:sub>
                        <m:r>
                          <a:rPr kumimoji="1" lang="en-US" altLang="ja-JP" sz="4000" b="1">
                            <a:latin typeface="Cambria Math" panose="02040503050406030204" pitchFamily="18" charset="0"/>
                          </a:rPr>
                          <m:t>𝐕</m:t>
                        </m:r>
                      </m:sub>
                    </m:sSub>
                  </m:oMath>
                </a14:m>
                <a:r>
                  <a:rPr kumimoji="1" lang="ja-JP" altLang="en-US" sz="4000" dirty="0"/>
                  <a:t> </a:t>
                </a:r>
                <a:r>
                  <a:rPr kumimoji="1" lang="en-US" altLang="ja-JP" sz="4000" dirty="0">
                    <a:latin typeface="ＭＳ Ｐゴシック" panose="020B0600070205080204" pitchFamily="50" charset="-128"/>
                    <a:ea typeface="ＭＳ Ｐゴシック" panose="020B0600070205080204" pitchFamily="50" charset="-128"/>
                  </a:rPr>
                  <a:t>: </a:t>
                </a:r>
                <a:r>
                  <a:rPr kumimoji="1" lang="ja-JP" altLang="en-US" sz="4000" dirty="0">
                    <a:latin typeface="ＭＳ Ｐゴシック" panose="020B0600070205080204" pitchFamily="50" charset="-128"/>
                    <a:ea typeface="ＭＳ Ｐゴシック" panose="020B0600070205080204" pitchFamily="50" charset="-128"/>
                  </a:rPr>
                  <a:t>学習するパラメータ，</a:t>
                </a:r>
                <a:r>
                  <a:rPr kumimoji="1" lang="en-US" altLang="ja-JP" sz="4000" dirty="0">
                    <a:latin typeface="ＭＳ Ｐゴシック" panose="020B0600070205080204" pitchFamily="50" charset="-128"/>
                    <a:ea typeface="ＭＳ Ｐゴシック" panose="020B0600070205080204" pitchFamily="50" charset="-128"/>
                  </a:rPr>
                  <a:t> </a:t>
                </a:r>
                <a14:m>
                  <m:oMath xmlns:m="http://schemas.openxmlformats.org/officeDocument/2006/math">
                    <m:r>
                      <a:rPr kumimoji="1" lang="en-US" altLang="ja-JP" sz="4000" i="1">
                        <a:latin typeface="Cambria Math" panose="02040503050406030204" pitchFamily="18" charset="0"/>
                      </a:rPr>
                      <m:t>𝑑</m:t>
                    </m:r>
                  </m:oMath>
                </a14:m>
                <a:r>
                  <a:rPr kumimoji="1" lang="en-US" altLang="ja-JP" sz="4000" dirty="0">
                    <a:latin typeface="ＭＳ Ｐゴシック" panose="020B0600070205080204" pitchFamily="50" charset="-128"/>
                    <a:ea typeface="ＭＳ Ｐゴシック" panose="020B0600070205080204" pitchFamily="50" charset="-128"/>
                  </a:rPr>
                  <a:t> : </a:t>
                </a:r>
                <a:r>
                  <a:rPr kumimoji="1" lang="ja-JP" altLang="en-US" sz="4000" dirty="0">
                    <a:latin typeface="ＭＳ Ｐゴシック" panose="020B0600070205080204" pitchFamily="50" charset="-128"/>
                    <a:ea typeface="ＭＳ Ｐゴシック" panose="020B0600070205080204" pitchFamily="50" charset="-128"/>
                  </a:rPr>
                  <a:t>特徴量次元数，</a:t>
                </a:r>
                <a:r>
                  <a:rPr kumimoji="1" lang="en-US" altLang="ja-JP" sz="4000" b="1" dirty="0"/>
                  <a:t> </a:t>
                </a:r>
                <a14:m>
                  <m:oMath xmlns:m="http://schemas.openxmlformats.org/officeDocument/2006/math">
                    <m:acc>
                      <m:accPr>
                        <m:chr m:val="̂"/>
                        <m:ctrlPr>
                          <a:rPr kumimoji="1" lang="en-US" altLang="ja-JP" sz="4000" b="1" i="1">
                            <a:latin typeface="Cambria Math" panose="02040503050406030204" pitchFamily="18" charset="0"/>
                          </a:rPr>
                        </m:ctrlPr>
                      </m:accPr>
                      <m:e>
                        <m:r>
                          <a:rPr kumimoji="1" lang="en-US" altLang="ja-JP" sz="4000" b="1">
                            <a:latin typeface="Cambria Math" panose="02040503050406030204" pitchFamily="18" charset="0"/>
                          </a:rPr>
                          <m:t>𝐗</m:t>
                        </m:r>
                      </m:e>
                    </m:acc>
                  </m:oMath>
                </a14:m>
                <a:r>
                  <a:rPr kumimoji="1" lang="en-US" altLang="ja-JP" sz="4000" dirty="0">
                    <a:latin typeface="ＭＳ Ｐゴシック" panose="020B0600070205080204" pitchFamily="50" charset="-128"/>
                    <a:ea typeface="ＭＳ Ｐゴシック" panose="020B0600070205080204" pitchFamily="50" charset="-128"/>
                  </a:rPr>
                  <a:t> : </a:t>
                </a:r>
                <a:r>
                  <a:rPr kumimoji="1" lang="ja-JP" altLang="en-US" sz="4000">
                    <a:latin typeface="ＭＳ Ｐゴシック" panose="020B0600070205080204" pitchFamily="50" charset="-128"/>
                    <a:ea typeface="ＭＳ Ｐゴシック" panose="020B0600070205080204" pitchFamily="50" charset="-128"/>
                  </a:rPr>
                  <a:t>出力</a:t>
                </a:r>
                <a:endParaRPr kumimoji="1" lang="en-US" altLang="ja-JP" sz="4000" dirty="0">
                  <a:latin typeface="ＭＳ Ｐゴシック" panose="020B0600070205080204" pitchFamily="50" charset="-128"/>
                  <a:ea typeface="ＭＳ Ｐゴシック" panose="020B0600070205080204" pitchFamily="50" charset="-128"/>
                </a:endParaRPr>
              </a:p>
            </p:txBody>
          </p:sp>
        </mc:Choice>
        <mc:Fallback xmlns="">
          <p:sp>
            <p:nvSpPr>
              <p:cNvPr id="1100" name="テキスト ボックス 1099">
                <a:extLst>
                  <a:ext uri="{FF2B5EF4-FFF2-40B4-BE49-F238E27FC236}">
                    <a16:creationId xmlns:a16="http://schemas.microsoft.com/office/drawing/2014/main" id="{EEFED4CD-DD79-A3B1-CFC9-BB221822E563}"/>
                  </a:ext>
                </a:extLst>
              </p:cNvPr>
              <p:cNvSpPr txBox="1">
                <a:spLocks noRot="1" noChangeAspect="1" noMove="1" noResize="1" noEditPoints="1" noAdjustHandles="1" noChangeArrowheads="1" noChangeShapeType="1" noTextEdit="1"/>
              </p:cNvSpPr>
              <p:nvPr/>
            </p:nvSpPr>
            <p:spPr>
              <a:xfrm>
                <a:off x="15375781" y="7215262"/>
                <a:ext cx="14681201" cy="2640275"/>
              </a:xfrm>
              <a:prstGeom prst="rect">
                <a:avLst/>
              </a:prstGeom>
              <a:blipFill>
                <a:blip r:embed="rId26"/>
                <a:stretch>
                  <a:fillRect t="-11483" b="-9569"/>
                </a:stretch>
              </a:blipFill>
            </p:spPr>
            <p:txBody>
              <a:bodyPr/>
              <a:lstStyle/>
              <a:p>
                <a:r>
                  <a:rPr lang="ja-JP" altLang="en-US">
                    <a:noFill/>
                  </a:rPr>
                  <a:t> </a:t>
                </a:r>
              </a:p>
            </p:txBody>
          </p:sp>
        </mc:Fallback>
      </mc:AlternateContent>
      <p:sp>
        <p:nvSpPr>
          <p:cNvPr id="1102" name="正方形/長方形 1101">
            <a:extLst>
              <a:ext uri="{FF2B5EF4-FFF2-40B4-BE49-F238E27FC236}">
                <a16:creationId xmlns:a16="http://schemas.microsoft.com/office/drawing/2014/main" id="{11AA8D3C-0CE7-5411-481C-B7F73BB8FE2E}"/>
              </a:ext>
            </a:extLst>
          </p:cNvPr>
          <p:cNvSpPr/>
          <p:nvPr/>
        </p:nvSpPr>
        <p:spPr>
          <a:xfrm>
            <a:off x="197412" y="20148112"/>
            <a:ext cx="29864951" cy="21045726"/>
          </a:xfrm>
          <a:prstGeom prst="rect">
            <a:avLst/>
          </a:prstGeom>
          <a:solidFill>
            <a:schemeClr val="bg1"/>
          </a:solid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03" name="正方形/長方形 1102">
            <a:extLst>
              <a:ext uri="{FF2B5EF4-FFF2-40B4-BE49-F238E27FC236}">
                <a16:creationId xmlns:a16="http://schemas.microsoft.com/office/drawing/2014/main" id="{6AD2A89F-3BA9-8C11-C578-DC63D813D69B}"/>
              </a:ext>
            </a:extLst>
          </p:cNvPr>
          <p:cNvSpPr/>
          <p:nvPr/>
        </p:nvSpPr>
        <p:spPr>
          <a:xfrm>
            <a:off x="197412" y="20148113"/>
            <a:ext cx="29864951" cy="849085"/>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4800" dirty="0">
                <a:latin typeface="MS PGothic" panose="020B0600070205080204" pitchFamily="34" charset="-128"/>
                <a:ea typeface="MS PGothic" panose="020B0600070205080204" pitchFamily="34" charset="-128"/>
              </a:rPr>
              <a:t>実験</a:t>
            </a:r>
          </a:p>
        </p:txBody>
      </p:sp>
      <p:sp>
        <p:nvSpPr>
          <p:cNvPr id="1105" name="テキスト ボックス 1104">
            <a:extLst>
              <a:ext uri="{FF2B5EF4-FFF2-40B4-BE49-F238E27FC236}">
                <a16:creationId xmlns:a16="http://schemas.microsoft.com/office/drawing/2014/main" id="{E4CAF03B-627C-72BF-056E-1D29D1F08E2F}"/>
              </a:ext>
            </a:extLst>
          </p:cNvPr>
          <p:cNvSpPr txBox="1"/>
          <p:nvPr/>
        </p:nvSpPr>
        <p:spPr>
          <a:xfrm>
            <a:off x="203198" y="21038453"/>
            <a:ext cx="14681200" cy="20405586"/>
          </a:xfrm>
          <a:prstGeom prst="rect">
            <a:avLst/>
          </a:prstGeom>
          <a:noFill/>
        </p:spPr>
        <p:txBody>
          <a:bodyPr wrap="square" rtlCol="0">
            <a:spAutoFit/>
          </a:bodyPr>
          <a:lstStyle/>
          <a:p>
            <a:pPr indent="457200" algn="ctr"/>
            <a:r>
              <a:rPr kumimoji="1" lang="ja-JP" altLang="en-US" sz="4000" b="1" dirty="0">
                <a:latin typeface="MS PGothic" panose="020B0600070205080204" pitchFamily="34" charset="-128"/>
                <a:ea typeface="MS PGothic" panose="020B0600070205080204" pitchFamily="34" charset="-128"/>
              </a:rPr>
              <a:t>実験</a:t>
            </a:r>
            <a:r>
              <a:rPr kumimoji="1" lang="en-US" altLang="ja-JP" sz="4000" b="1" dirty="0">
                <a:latin typeface="MS PGothic" panose="020B0600070205080204" pitchFamily="34" charset="-128"/>
                <a:ea typeface="MS PGothic" panose="020B0600070205080204" pitchFamily="34" charset="-128"/>
              </a:rPr>
              <a:t>1 : </a:t>
            </a:r>
            <a:r>
              <a:rPr kumimoji="1" lang="ja-JP" altLang="en-US" sz="4000" b="1" dirty="0">
                <a:latin typeface="MS PGothic" panose="020B0600070205080204" pitchFamily="34" charset="-128"/>
                <a:ea typeface="MS PGothic" panose="020B0600070205080204" pitchFamily="34" charset="-128"/>
              </a:rPr>
              <a:t>大喜利生成</a:t>
            </a:r>
            <a:r>
              <a:rPr kumimoji="1" lang="en-US" altLang="ja-JP" sz="4000" b="1" dirty="0">
                <a:latin typeface="MS PGothic" panose="020B0600070205080204" pitchFamily="34" charset="-128"/>
                <a:ea typeface="MS PGothic" panose="020B0600070205080204" pitchFamily="34" charset="-128"/>
              </a:rPr>
              <a:t>AI</a:t>
            </a:r>
            <a:r>
              <a:rPr kumimoji="1" lang="ja-JP" altLang="en-US" sz="4000" b="1" dirty="0">
                <a:latin typeface="MS PGothic" panose="020B0600070205080204" pitchFamily="34" charset="-128"/>
                <a:ea typeface="MS PGothic" panose="020B0600070205080204" pitchFamily="34" charset="-128"/>
              </a:rPr>
              <a:t>の学習</a:t>
            </a:r>
            <a:endParaRPr kumimoji="1" lang="en-US" altLang="ja-JP" sz="4000" b="1" dirty="0">
              <a:latin typeface="MS PGothic" panose="020B0600070205080204" pitchFamily="34" charset="-128"/>
              <a:ea typeface="MS PGothic" panose="020B0600070205080204" pitchFamily="34" charset="-128"/>
            </a:endParaRPr>
          </a:p>
          <a:p>
            <a:pPr indent="457200" algn="just"/>
            <a:r>
              <a:rPr kumimoji="1" lang="ja-JP" altLang="en-US" sz="4000" dirty="0">
                <a:latin typeface="MS PGothic" panose="020B0600070205080204" pitchFamily="34" charset="-128"/>
                <a:ea typeface="MS PGothic" panose="020B0600070205080204" pitchFamily="34" charset="-128"/>
              </a:rPr>
              <a:t>提案手法と従来手法の</a:t>
            </a:r>
            <a:r>
              <a:rPr kumimoji="1" lang="en-US" altLang="ja-JP" sz="4000" dirty="0">
                <a:latin typeface="MS PGothic" panose="020B0600070205080204" pitchFamily="34" charset="-128"/>
                <a:ea typeface="MS PGothic" panose="020B0600070205080204" pitchFamily="34" charset="-128"/>
              </a:rPr>
              <a:t>NJM[1]</a:t>
            </a:r>
            <a:r>
              <a:rPr kumimoji="1" lang="ja-JP" altLang="en-US" sz="4000" dirty="0">
                <a:latin typeface="MS PGothic" panose="020B0600070205080204" pitchFamily="34" charset="-128"/>
                <a:ea typeface="MS PGothic" panose="020B0600070205080204" pitchFamily="34" charset="-128"/>
              </a:rPr>
              <a:t>，</a:t>
            </a:r>
            <a:r>
              <a:rPr kumimoji="1" lang="en-US" altLang="ja-JP" sz="4000" dirty="0">
                <a:latin typeface="MS PGothic" panose="020B0600070205080204" pitchFamily="34" charset="-128"/>
                <a:ea typeface="MS PGothic" panose="020B0600070205080204" pitchFamily="34" charset="-128"/>
              </a:rPr>
              <a:t>GUMI-AE[2]</a:t>
            </a:r>
            <a:r>
              <a:rPr kumimoji="1" lang="ja-JP" altLang="en-US" sz="4000" dirty="0">
                <a:latin typeface="MS PGothic" panose="020B0600070205080204" pitchFamily="34" charset="-128"/>
                <a:ea typeface="MS PGothic" panose="020B0600070205080204" pitchFamily="34" charset="-128"/>
              </a:rPr>
              <a:t>を同条件で学習し，その結果を比較する．</a:t>
            </a:r>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r>
              <a:rPr kumimoji="1" lang="ja-JP" altLang="en-US" sz="4000">
                <a:latin typeface="MS PGothic" panose="020B0600070205080204" pitchFamily="34" charset="-128"/>
                <a:ea typeface="MS PGothic" panose="020B0600070205080204" pitchFamily="34" charset="-128"/>
              </a:rPr>
              <a:t>従来手法と比較し，低い学習損失，高い学習精度を得られた</a:t>
            </a:r>
            <a:endParaRPr kumimoji="1" lang="en-US" altLang="ja-JP" sz="40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r>
              <a:rPr kumimoji="1" lang="ja-JP" altLang="en-US" sz="4000">
                <a:latin typeface="MS PGothic" panose="020B0600070205080204" pitchFamily="34" charset="-128"/>
                <a:ea typeface="MS PGothic" panose="020B0600070205080204" pitchFamily="34" charset="-128"/>
              </a:rPr>
              <a:t>テストデータに対しても従来手法と比べ低い</a:t>
            </a:r>
            <a:r>
              <a:rPr kumimoji="1" lang="en-US" altLang="ja-JP" sz="4000" dirty="0">
                <a:latin typeface="MS PGothic" panose="020B0600070205080204" pitchFamily="34" charset="-128"/>
                <a:ea typeface="MS PGothic" panose="020B0600070205080204" pitchFamily="34" charset="-128"/>
              </a:rPr>
              <a:t>Perplexity</a:t>
            </a:r>
            <a:r>
              <a:rPr kumimoji="1" lang="ja-JP" altLang="en-US" sz="4000">
                <a:latin typeface="MS PGothic" panose="020B0600070205080204" pitchFamily="34" charset="-128"/>
                <a:ea typeface="MS PGothic" panose="020B0600070205080204" pitchFamily="34" charset="-128"/>
              </a:rPr>
              <a:t>を得られた</a:t>
            </a:r>
            <a:endParaRPr kumimoji="1" lang="en-US" altLang="ja-JP" sz="4000" dirty="0">
              <a:latin typeface="MS PGothic" panose="020B0600070205080204" pitchFamily="34" charset="-128"/>
              <a:ea typeface="MS PGothic" panose="020B0600070205080204" pitchFamily="34" charset="-128"/>
            </a:endParaRPr>
          </a:p>
          <a:p>
            <a:pPr algn="just"/>
            <a:r>
              <a:rPr kumimoji="1" lang="ja-JP" altLang="en-US" sz="4000">
                <a:latin typeface="MS PGothic" panose="020B0600070205080204" pitchFamily="34" charset="-128"/>
                <a:ea typeface="MS PGothic" panose="020B0600070205080204" pitchFamily="34" charset="-128"/>
              </a:rPr>
              <a:t>→ </a:t>
            </a:r>
            <a:r>
              <a:rPr kumimoji="1" lang="en-US" altLang="ja-JP" sz="4000" dirty="0">
                <a:latin typeface="MS PGothic" panose="020B0600070205080204" pitchFamily="34" charset="-128"/>
                <a:ea typeface="MS PGothic" panose="020B0600070205080204" pitchFamily="34" charset="-128"/>
              </a:rPr>
              <a:t>Transformer</a:t>
            </a:r>
            <a:r>
              <a:rPr kumimoji="1" lang="ja-JP" altLang="en-US" sz="4000">
                <a:latin typeface="MS PGothic" panose="020B0600070205080204" pitchFamily="34" charset="-128"/>
                <a:ea typeface="MS PGothic" panose="020B0600070205080204" pitchFamily="34" charset="-128"/>
              </a:rPr>
              <a:t>構造では残差接続が可能であり，これにより勾配消失問題を軽減したと考えられる．</a:t>
            </a:r>
            <a:endParaRPr kumimoji="1" lang="en-US" altLang="ja-JP" sz="40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r>
              <a:rPr kumimoji="1" lang="ja-JP" altLang="en-US" sz="4000">
                <a:latin typeface="MS PGothic" panose="020B0600070205080204" pitchFamily="34" charset="-128"/>
                <a:ea typeface="MS PGothic" panose="020B0600070205080204" pitchFamily="34" charset="-128"/>
              </a:rPr>
              <a:t>従来手法と比較し，画像の特徴を捉えた大喜利が生成された</a:t>
            </a:r>
            <a:endParaRPr kumimoji="1" lang="en-US" altLang="ja-JP" sz="4000" dirty="0">
              <a:latin typeface="MS PGothic" panose="020B0600070205080204" pitchFamily="34" charset="-128"/>
              <a:ea typeface="MS PGothic" panose="020B0600070205080204" pitchFamily="34" charset="-128"/>
            </a:endParaRPr>
          </a:p>
          <a:p>
            <a:pPr algn="just"/>
            <a:r>
              <a:rPr kumimoji="1" lang="ja-JP" altLang="en-US" sz="4000">
                <a:latin typeface="MS PGothic" panose="020B0600070205080204" pitchFamily="34" charset="-128"/>
                <a:ea typeface="MS PGothic" panose="020B0600070205080204" pitchFamily="34" charset="-128"/>
              </a:rPr>
              <a:t>→　</a:t>
            </a:r>
            <a:r>
              <a:rPr kumimoji="1" lang="en-US" altLang="ja-JP" sz="4000" dirty="0">
                <a:latin typeface="MS PGothic" panose="020B0600070205080204" pitchFamily="34" charset="-128"/>
                <a:ea typeface="MS PGothic" panose="020B0600070205080204" pitchFamily="34" charset="-128"/>
              </a:rPr>
              <a:t>Attention</a:t>
            </a:r>
            <a:r>
              <a:rPr kumimoji="1" lang="ja-JP" altLang="en-US" sz="4000">
                <a:latin typeface="MS PGothic" panose="020B0600070205080204" pitchFamily="34" charset="-128"/>
                <a:ea typeface="MS PGothic" panose="020B0600070205080204" pitchFamily="34" charset="-128"/>
              </a:rPr>
              <a:t>機構により，適切に画像と文章の特徴量を混合したと考えられる．</a:t>
            </a:r>
            <a:endParaRPr kumimoji="1" lang="en-US" altLang="ja-JP" sz="4000" dirty="0">
              <a:latin typeface="MS PGothic" panose="020B0600070205080204" pitchFamily="34" charset="-128"/>
              <a:ea typeface="MS PGothic" panose="020B0600070205080204" pitchFamily="34" charset="-128"/>
            </a:endParaRPr>
          </a:p>
        </p:txBody>
      </p:sp>
      <mc:AlternateContent xmlns:mc="http://schemas.openxmlformats.org/markup-compatibility/2006" xmlns:a14="http://schemas.microsoft.com/office/drawing/2010/main">
        <mc:Choice Requires="a14">
          <p:graphicFrame>
            <p:nvGraphicFramePr>
              <p:cNvPr id="1112" name="表 1111">
                <a:extLst>
                  <a:ext uri="{FF2B5EF4-FFF2-40B4-BE49-F238E27FC236}">
                    <a16:creationId xmlns:a16="http://schemas.microsoft.com/office/drawing/2014/main" id="{1543282F-AC88-2987-AE13-AB2338B26CD4}"/>
                  </a:ext>
                </a:extLst>
              </p:cNvPr>
              <p:cNvGraphicFramePr>
                <a:graphicFrameLocks noGrp="1"/>
              </p:cNvGraphicFramePr>
              <p:nvPr/>
            </p:nvGraphicFramePr>
            <p:xfrm>
              <a:off x="203198" y="23633130"/>
              <a:ext cx="14670343" cy="3505200"/>
            </p:xfrm>
            <a:graphic>
              <a:graphicData uri="http://schemas.openxmlformats.org/drawingml/2006/table">
                <a:tbl>
                  <a:tblPr firstRow="1" bandRow="1">
                    <a:tableStyleId>{5C22544A-7EE6-4342-B048-85BDC9FD1C3A}</a:tableStyleId>
                  </a:tblPr>
                  <a:tblGrid>
                    <a:gridCol w="3651251">
                      <a:extLst>
                        <a:ext uri="{9D8B030D-6E8A-4147-A177-3AD203B41FA5}">
                          <a16:colId xmlns:a16="http://schemas.microsoft.com/office/drawing/2014/main" val="1302717659"/>
                        </a:ext>
                      </a:extLst>
                    </a:gridCol>
                    <a:gridCol w="3651251">
                      <a:extLst>
                        <a:ext uri="{9D8B030D-6E8A-4147-A177-3AD203B41FA5}">
                          <a16:colId xmlns:a16="http://schemas.microsoft.com/office/drawing/2014/main" val="1335503367"/>
                        </a:ext>
                      </a:extLst>
                    </a:gridCol>
                    <a:gridCol w="7367841">
                      <a:extLst>
                        <a:ext uri="{9D8B030D-6E8A-4147-A177-3AD203B41FA5}">
                          <a16:colId xmlns:a16="http://schemas.microsoft.com/office/drawing/2014/main" val="118972529"/>
                        </a:ext>
                      </a:extLst>
                    </a:gridCol>
                  </a:tblGrid>
                  <a:tr h="405772">
                    <a:tc rowSpan="2">
                      <a:txBody>
                        <a:bodyPr/>
                        <a:lstStyle/>
                        <a:p>
                          <a:pPr algn="ctr"/>
                          <a:r>
                            <a:rPr kumimoji="1" lang="ja-JP" altLang="en-US" sz="4000" b="0" dirty="0">
                              <a:solidFill>
                                <a:schemeClr val="tx1"/>
                              </a:solidFill>
                              <a:latin typeface="MS PGothic" panose="020B0600070205080204" pitchFamily="34" charset="-128"/>
                              <a:ea typeface="MS PGothic" panose="020B0600070205080204" pitchFamily="34" charset="-128"/>
                            </a:rPr>
                            <a:t>データ</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tc>
                      <a:txBody>
                        <a:bodyPr/>
                        <a:lstStyle/>
                        <a:p>
                          <a:pPr algn="ctr"/>
                          <a:r>
                            <a:rPr kumimoji="1" lang="ja-JP" altLang="en-US" sz="4000" b="0" dirty="0">
                              <a:solidFill>
                                <a:schemeClr val="tx1"/>
                              </a:solidFill>
                              <a:latin typeface="MS PGothic" panose="020B0600070205080204" pitchFamily="34" charset="-128"/>
                              <a:ea typeface="MS PGothic" panose="020B0600070205080204" pitchFamily="34" charset="-128"/>
                            </a:rPr>
                            <a:t>画像</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tc>
                      <a:txBody>
                        <a:bodyPr/>
                        <a:lstStyle/>
                        <a:p>
                          <a:pPr algn="ctr"/>
                          <a:r>
                            <a:rPr kumimoji="1" lang="en-US" altLang="ja-JP" sz="4000" b="0" dirty="0">
                              <a:solidFill>
                                <a:schemeClr val="tx1"/>
                              </a:solidFill>
                              <a:latin typeface="MS PGothic" panose="020B0600070205080204" pitchFamily="34" charset="-128"/>
                              <a:ea typeface="MS PGothic" panose="020B0600070205080204" pitchFamily="34" charset="-128"/>
                            </a:rPr>
                            <a:t>74,027</a:t>
                          </a:r>
                          <a:r>
                            <a:rPr kumimoji="1" lang="ja-JP" altLang="en-US" sz="4000" b="0" dirty="0">
                              <a:solidFill>
                                <a:schemeClr val="tx1"/>
                              </a:solidFill>
                              <a:latin typeface="MS PGothic" panose="020B0600070205080204" pitchFamily="34" charset="-128"/>
                              <a:ea typeface="MS PGothic" panose="020B0600070205080204" pitchFamily="34" charset="-128"/>
                            </a:rPr>
                            <a:t>枚 </a:t>
                          </a:r>
                          <a:r>
                            <a:rPr kumimoji="1" lang="en-US" altLang="ja-JP" sz="4000" b="0" dirty="0">
                              <a:solidFill>
                                <a:schemeClr val="tx1"/>
                              </a:solidFill>
                              <a:latin typeface="MS PGothic" panose="020B0600070205080204" pitchFamily="34" charset="-128"/>
                              <a:ea typeface="MS PGothic" panose="020B0600070205080204" pitchFamily="34" charset="-128"/>
                            </a:rPr>
                            <a:t>/ 7,515</a:t>
                          </a:r>
                          <a:r>
                            <a:rPr kumimoji="1" lang="ja-JP" altLang="en-US" sz="4000" b="0">
                              <a:solidFill>
                                <a:schemeClr val="tx1"/>
                              </a:solidFill>
                              <a:latin typeface="MS PGothic" panose="020B0600070205080204" pitchFamily="34" charset="-128"/>
                              <a:ea typeface="MS PGothic" panose="020B0600070205080204" pitchFamily="34" charset="-128"/>
                            </a:rPr>
                            <a:t>枚</a:t>
                          </a:r>
                          <a:r>
                            <a:rPr kumimoji="1" lang="en-US" altLang="ja-JP" sz="4000" b="0" dirty="0">
                              <a:solidFill>
                                <a:schemeClr val="tx1"/>
                              </a:solidFill>
                              <a:latin typeface="MS PGothic" panose="020B0600070205080204" pitchFamily="34" charset="-128"/>
                              <a:ea typeface="MS PGothic" panose="020B0600070205080204" pitchFamily="34" charset="-128"/>
                            </a:rPr>
                            <a:t>(test)</a:t>
                          </a:r>
                          <a:endParaRPr kumimoji="1" lang="ja-JP" altLang="en-US" sz="4000" b="0" dirty="0">
                            <a:solidFill>
                              <a:schemeClr val="tx1"/>
                            </a:solidFill>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extLst>
                      <a:ext uri="{0D108BD9-81ED-4DB2-BD59-A6C34878D82A}">
                        <a16:rowId xmlns:a16="http://schemas.microsoft.com/office/drawing/2014/main" val="3361642135"/>
                      </a:ext>
                    </a:extLst>
                  </a:tr>
                  <a:tr h="405772">
                    <a:tc vMerge="1">
                      <a:txBody>
                        <a:bodyPr/>
                        <a:lstStyle/>
                        <a:p>
                          <a:pPr algn="ctr"/>
                          <a:endParaRPr kumimoji="1" lang="ja-JP" altLang="en-US" sz="4000" b="0" dirty="0">
                            <a:solidFill>
                              <a:schemeClr val="tx1"/>
                            </a:solidFill>
                            <a:latin typeface="MS PGothic" panose="020B0600070205080204" pitchFamily="34" charset="-128"/>
                            <a:ea typeface="MS PGothic" panose="020B0600070205080204" pitchFamily="34" charset="-128"/>
                          </a:endParaRPr>
                        </a:p>
                      </a:txBody>
                      <a:tcPr>
                        <a:solidFill>
                          <a:srgbClr val="E9EBF5"/>
                        </a:solidFill>
                      </a:tcPr>
                    </a:tc>
                    <a:tc>
                      <a:txBody>
                        <a:bodyPr/>
                        <a:lstStyle/>
                        <a:p>
                          <a:pPr algn="ctr"/>
                          <a:r>
                            <a:rPr kumimoji="1" lang="ja-JP" altLang="en-US" sz="4000" b="0" dirty="0">
                              <a:solidFill>
                                <a:schemeClr val="tx1"/>
                              </a:solidFill>
                              <a:latin typeface="MS PGothic" panose="020B0600070205080204" pitchFamily="34" charset="-128"/>
                              <a:ea typeface="MS PGothic" panose="020B0600070205080204" pitchFamily="34" charset="-128"/>
                            </a:rPr>
                            <a:t>大喜利</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tc>
                      <a:txBody>
                        <a:bodyPr/>
                        <a:lstStyle/>
                        <a:p>
                          <a:pPr algn="ctr"/>
                          <a:r>
                            <a:rPr kumimoji="1" lang="en-US" altLang="ja-JP" sz="4000" b="0" dirty="0">
                              <a:solidFill>
                                <a:schemeClr val="tx1"/>
                              </a:solidFill>
                              <a:latin typeface="MS PGothic" panose="020B0600070205080204" pitchFamily="34" charset="-128"/>
                              <a:ea typeface="MS PGothic" panose="020B0600070205080204" pitchFamily="34" charset="-128"/>
                            </a:rPr>
                            <a:t>849,043</a:t>
                          </a:r>
                          <a:r>
                            <a:rPr kumimoji="1" lang="ja-JP" altLang="en-US" sz="4000" b="0" dirty="0">
                              <a:solidFill>
                                <a:schemeClr val="tx1"/>
                              </a:solidFill>
                              <a:latin typeface="MS PGothic" panose="020B0600070205080204" pitchFamily="34" charset="-128"/>
                              <a:ea typeface="MS PGothic" panose="020B0600070205080204" pitchFamily="34" charset="-128"/>
                            </a:rPr>
                            <a:t>件</a:t>
                          </a:r>
                          <a:r>
                            <a:rPr kumimoji="1" lang="en-US" altLang="ja-JP" sz="4000" b="0" dirty="0">
                              <a:solidFill>
                                <a:schemeClr val="tx1"/>
                              </a:solidFill>
                              <a:latin typeface="MS PGothic" panose="020B0600070205080204" pitchFamily="34" charset="-128"/>
                              <a:ea typeface="MS PGothic" panose="020B0600070205080204" pitchFamily="34" charset="-128"/>
                            </a:rPr>
                            <a:t>/ 8,577</a:t>
                          </a:r>
                          <a:r>
                            <a:rPr kumimoji="1" lang="ja-JP" altLang="en-US" sz="4000" b="0">
                              <a:solidFill>
                                <a:schemeClr val="tx1"/>
                              </a:solidFill>
                              <a:latin typeface="MS PGothic" panose="020B0600070205080204" pitchFamily="34" charset="-128"/>
                              <a:ea typeface="MS PGothic" panose="020B0600070205080204" pitchFamily="34" charset="-128"/>
                            </a:rPr>
                            <a:t>件</a:t>
                          </a:r>
                          <a:r>
                            <a:rPr kumimoji="1" lang="en-US" altLang="ja-JP" sz="4000" b="0" dirty="0">
                              <a:solidFill>
                                <a:schemeClr val="tx1"/>
                              </a:solidFill>
                              <a:latin typeface="MS PGothic" panose="020B0600070205080204" pitchFamily="34" charset="-128"/>
                              <a:ea typeface="MS PGothic" panose="020B0600070205080204" pitchFamily="34" charset="-128"/>
                            </a:rPr>
                            <a:t>(test)</a:t>
                          </a:r>
                          <a:endParaRPr kumimoji="1" lang="ja-JP" altLang="en-US" sz="4000" b="0" dirty="0">
                            <a:solidFill>
                              <a:schemeClr val="tx1"/>
                            </a:solidFill>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extLst>
                      <a:ext uri="{0D108BD9-81ED-4DB2-BD59-A6C34878D82A}">
                        <a16:rowId xmlns:a16="http://schemas.microsoft.com/office/drawing/2014/main" val="138946860"/>
                      </a:ext>
                    </a:extLst>
                  </a:tr>
                  <a:tr h="405772">
                    <a:tc gridSpan="2">
                      <a:txBody>
                        <a:bodyPr/>
                        <a:lstStyle/>
                        <a:p>
                          <a:pPr algn="ctr"/>
                          <a:r>
                            <a:rPr kumimoji="1" lang="ja-JP" altLang="en-US" sz="4000" b="0" dirty="0">
                              <a:latin typeface="MS PGothic" panose="020B0600070205080204" pitchFamily="34" charset="-128"/>
                              <a:ea typeface="MS PGothic" panose="020B0600070205080204" pitchFamily="34" charset="-128"/>
                            </a:rPr>
                            <a:t>最適化手法</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hMerge="1">
                      <a:txBody>
                        <a:bodyPr/>
                        <a:lstStyle/>
                        <a:p>
                          <a:endParaRPr kumimoji="1" lang="ja-JP" altLang="en-US"/>
                        </a:p>
                      </a:txBody>
                      <a:tcPr/>
                    </a:tc>
                    <a:tc>
                      <a:txBody>
                        <a:bodyPr/>
                        <a:lstStyle/>
                        <a:p>
                          <a:pPr marL="0" indent="0" algn="ctr">
                            <a:buFont typeface="Arial" panose="020B0604020202020204" pitchFamily="34" charset="0"/>
                            <a:buNone/>
                          </a:pPr>
                          <a:r>
                            <a:rPr kumimoji="1" lang="en-US" altLang="ja-JP" sz="4000" b="0" dirty="0">
                              <a:latin typeface="MS PGothic" panose="020B0600070205080204" pitchFamily="34" charset="-128"/>
                              <a:ea typeface="MS PGothic" panose="020B0600070205080204" pitchFamily="34" charset="-128"/>
                            </a:rPr>
                            <a:t>Adam(</a:t>
                          </a:r>
                          <a14:m>
                            <m:oMath xmlns:m="http://schemas.openxmlformats.org/officeDocument/2006/math">
                              <m:r>
                                <a:rPr kumimoji="1" lang="en-US" altLang="ja-JP" sz="4000" b="0" i="1" smtClean="0">
                                  <a:latin typeface="Cambria Math" panose="02040503050406030204" pitchFamily="18" charset="0"/>
                                  <a:ea typeface="Cambria Math" panose="02040503050406030204" pitchFamily="18" charset="0"/>
                                </a:rPr>
                                <m:t>𝜂</m:t>
                              </m:r>
                              <m:r>
                                <a:rPr kumimoji="1" lang="en-US" altLang="ja-JP" sz="4000" b="0" i="1" smtClean="0">
                                  <a:latin typeface="Cambria Math" panose="02040503050406030204" pitchFamily="18" charset="0"/>
                                  <a:ea typeface="Cambria Math" panose="02040503050406030204" pitchFamily="18" charset="0"/>
                                </a:rPr>
                                <m:t>=0.0001</m:t>
                              </m:r>
                            </m:oMath>
                          </a14:m>
                          <a:r>
                            <a:rPr kumimoji="1" lang="en-US" altLang="ja-JP" sz="4000" b="0" dirty="0">
                              <a:latin typeface="MS PGothic" panose="020B0600070205080204" pitchFamily="34" charset="-128"/>
                              <a:ea typeface="MS PGothic" panose="020B0600070205080204" pitchFamily="34" charset="-128"/>
                            </a:rPr>
                            <a:t>)</a:t>
                          </a:r>
                          <a:endParaRPr kumimoji="1" lang="ja-JP" altLang="en-US" sz="4000" b="0" dirty="0">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1801116897"/>
                      </a:ext>
                    </a:extLst>
                  </a:tr>
                  <a:tr h="405772">
                    <a:tc gridSpan="2">
                      <a:txBody>
                        <a:bodyPr/>
                        <a:lstStyle/>
                        <a:p>
                          <a:pPr algn="ctr"/>
                          <a:r>
                            <a:rPr kumimoji="1" lang="ja-JP" altLang="en-US" sz="4000" b="0">
                              <a:latin typeface="MS PGothic" panose="020B0600070205080204" pitchFamily="34" charset="-128"/>
                              <a:ea typeface="MS PGothic" panose="020B0600070205080204" pitchFamily="34" charset="-128"/>
                            </a:rPr>
                            <a:t>ミニバッチサイズ</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hMerge="1">
                      <a:txBody>
                        <a:bodyPr/>
                        <a:lstStyle/>
                        <a:p>
                          <a:endParaRPr kumimoji="1" lang="ja-JP" altLang="en-US"/>
                        </a:p>
                      </a:txBody>
                      <a:tcPr/>
                    </a:tc>
                    <a:tc>
                      <a:txBody>
                        <a:bodyPr/>
                        <a:lstStyle/>
                        <a:p>
                          <a:pPr marL="0" indent="0" algn="ctr">
                            <a:buFont typeface="Arial" panose="020B0604020202020204" pitchFamily="34" charset="0"/>
                            <a:buNone/>
                          </a:pPr>
                          <a:r>
                            <a:rPr kumimoji="1" lang="en" altLang="ja-JP" sz="4000" b="0" dirty="0">
                              <a:latin typeface="MS PGothic" panose="020B0600070205080204" pitchFamily="34" charset="-128"/>
                              <a:ea typeface="MS PGothic" panose="020B0600070205080204" pitchFamily="34" charset="-128"/>
                            </a:rPr>
                            <a:t>64</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3798152386"/>
                      </a:ext>
                    </a:extLst>
                  </a:tr>
                  <a:tr h="405772">
                    <a:tc gridSpan="2">
                      <a:txBody>
                        <a:bodyPr/>
                        <a:lstStyle/>
                        <a:p>
                          <a:pPr algn="ctr"/>
                          <a:r>
                            <a:rPr kumimoji="1" lang="ja-JP" altLang="en-US" sz="4000" b="0">
                              <a:latin typeface="MS PGothic" panose="020B0600070205080204" pitchFamily="34" charset="-128"/>
                              <a:ea typeface="MS PGothic" panose="020B0600070205080204" pitchFamily="34" charset="-128"/>
                            </a:rPr>
                            <a:t>特徴量次元数</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hMerge="1">
                      <a:txBody>
                        <a:bodyPr/>
                        <a:lstStyle/>
                        <a:p>
                          <a:endParaRPr kumimoji="1" lang="ja-JP" altLang="en-US"/>
                        </a:p>
                      </a:txBody>
                      <a:tcPr/>
                    </a:tc>
                    <a:tc>
                      <a:txBody>
                        <a:bodyPr/>
                        <a:lstStyle/>
                        <a:p>
                          <a:pPr marL="0" indent="0" algn="ctr">
                            <a:buFont typeface="Arial" panose="020B0604020202020204" pitchFamily="34" charset="0"/>
                            <a:buNone/>
                          </a:pPr>
                          <a:r>
                            <a:rPr kumimoji="1" lang="en" altLang="ja-JP" sz="4000" b="0" dirty="0">
                              <a:latin typeface="MS PGothic" panose="020B0600070205080204" pitchFamily="34" charset="-128"/>
                              <a:ea typeface="MS PGothic" panose="020B0600070205080204" pitchFamily="34" charset="-128"/>
                            </a:rPr>
                            <a:t>768</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2893383439"/>
                      </a:ext>
                    </a:extLst>
                  </a:tr>
                </a:tbl>
              </a:graphicData>
            </a:graphic>
          </p:graphicFrame>
        </mc:Choice>
        <mc:Fallback xmlns="">
          <p:graphicFrame>
            <p:nvGraphicFramePr>
              <p:cNvPr id="1112" name="表 1111">
                <a:extLst>
                  <a:ext uri="{FF2B5EF4-FFF2-40B4-BE49-F238E27FC236}">
                    <a16:creationId xmlns:a16="http://schemas.microsoft.com/office/drawing/2014/main" id="{0B20C9B6-E037-AB30-EB46-3AF987C90A3F}"/>
                  </a:ext>
                </a:extLst>
              </p:cNvPr>
              <p:cNvGraphicFramePr>
                <a:graphicFrameLocks noGrp="1"/>
              </p:cNvGraphicFramePr>
              <p:nvPr>
                <p:extLst>
                  <p:ext uri="{D42A27DB-BD31-4B8C-83A1-F6EECF244321}">
                    <p14:modId xmlns:p14="http://schemas.microsoft.com/office/powerpoint/2010/main" val="5233346"/>
                  </p:ext>
                </p:extLst>
              </p:nvPr>
            </p:nvGraphicFramePr>
            <p:xfrm>
              <a:off x="203198" y="23633130"/>
              <a:ext cx="14670343" cy="3505200"/>
            </p:xfrm>
            <a:graphic>
              <a:graphicData uri="http://schemas.openxmlformats.org/drawingml/2006/table">
                <a:tbl>
                  <a:tblPr firstRow="1" bandRow="1">
                    <a:tableStyleId>{5C22544A-7EE6-4342-B048-85BDC9FD1C3A}</a:tableStyleId>
                  </a:tblPr>
                  <a:tblGrid>
                    <a:gridCol w="3651251">
                      <a:extLst>
                        <a:ext uri="{9D8B030D-6E8A-4147-A177-3AD203B41FA5}">
                          <a16:colId xmlns:a16="http://schemas.microsoft.com/office/drawing/2014/main" val="1302717659"/>
                        </a:ext>
                      </a:extLst>
                    </a:gridCol>
                    <a:gridCol w="3651251">
                      <a:extLst>
                        <a:ext uri="{9D8B030D-6E8A-4147-A177-3AD203B41FA5}">
                          <a16:colId xmlns:a16="http://schemas.microsoft.com/office/drawing/2014/main" val="1335503367"/>
                        </a:ext>
                      </a:extLst>
                    </a:gridCol>
                    <a:gridCol w="7367841">
                      <a:extLst>
                        <a:ext uri="{9D8B030D-6E8A-4147-A177-3AD203B41FA5}">
                          <a16:colId xmlns:a16="http://schemas.microsoft.com/office/drawing/2014/main" val="118972529"/>
                        </a:ext>
                      </a:extLst>
                    </a:gridCol>
                  </a:tblGrid>
                  <a:tr h="701040">
                    <a:tc rowSpan="2">
                      <a:txBody>
                        <a:bodyPr/>
                        <a:lstStyle/>
                        <a:p>
                          <a:pPr algn="ctr"/>
                          <a:r>
                            <a:rPr kumimoji="1" lang="ja-JP" altLang="en-US" sz="4000" b="0" dirty="0">
                              <a:solidFill>
                                <a:schemeClr val="tx1"/>
                              </a:solidFill>
                              <a:latin typeface="MS PGothic" panose="020B0600070205080204" pitchFamily="34" charset="-128"/>
                              <a:ea typeface="MS PGothic" panose="020B0600070205080204" pitchFamily="34" charset="-128"/>
                            </a:rPr>
                            <a:t>データ</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tc>
                      <a:txBody>
                        <a:bodyPr/>
                        <a:lstStyle/>
                        <a:p>
                          <a:pPr algn="ctr"/>
                          <a:r>
                            <a:rPr kumimoji="1" lang="ja-JP" altLang="en-US" sz="4000" b="0" dirty="0">
                              <a:solidFill>
                                <a:schemeClr val="tx1"/>
                              </a:solidFill>
                              <a:latin typeface="MS PGothic" panose="020B0600070205080204" pitchFamily="34" charset="-128"/>
                              <a:ea typeface="MS PGothic" panose="020B0600070205080204" pitchFamily="34" charset="-128"/>
                            </a:rPr>
                            <a:t>画像</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tc>
                      <a:txBody>
                        <a:bodyPr/>
                        <a:lstStyle/>
                        <a:p>
                          <a:pPr algn="ctr"/>
                          <a:r>
                            <a:rPr kumimoji="1" lang="en-US" altLang="ja-JP" sz="4000" b="0" dirty="0">
                              <a:solidFill>
                                <a:schemeClr val="tx1"/>
                              </a:solidFill>
                              <a:latin typeface="MS PGothic" panose="020B0600070205080204" pitchFamily="34" charset="-128"/>
                              <a:ea typeface="MS PGothic" panose="020B0600070205080204" pitchFamily="34" charset="-128"/>
                            </a:rPr>
                            <a:t>74,027</a:t>
                          </a:r>
                          <a:r>
                            <a:rPr kumimoji="1" lang="ja-JP" altLang="en-US" sz="4000" b="0" dirty="0">
                              <a:solidFill>
                                <a:schemeClr val="tx1"/>
                              </a:solidFill>
                              <a:latin typeface="MS PGothic" panose="020B0600070205080204" pitchFamily="34" charset="-128"/>
                              <a:ea typeface="MS PGothic" panose="020B0600070205080204" pitchFamily="34" charset="-128"/>
                            </a:rPr>
                            <a:t>枚 </a:t>
                          </a:r>
                          <a:r>
                            <a:rPr kumimoji="1" lang="en-US" altLang="ja-JP" sz="4000" b="0" dirty="0">
                              <a:solidFill>
                                <a:schemeClr val="tx1"/>
                              </a:solidFill>
                              <a:latin typeface="MS PGothic" panose="020B0600070205080204" pitchFamily="34" charset="-128"/>
                              <a:ea typeface="MS PGothic" panose="020B0600070205080204" pitchFamily="34" charset="-128"/>
                            </a:rPr>
                            <a:t>/ 7,515</a:t>
                          </a:r>
                          <a:r>
                            <a:rPr kumimoji="1" lang="ja-JP" altLang="en-US" sz="4000" b="0">
                              <a:solidFill>
                                <a:schemeClr val="tx1"/>
                              </a:solidFill>
                              <a:latin typeface="MS PGothic" panose="020B0600070205080204" pitchFamily="34" charset="-128"/>
                              <a:ea typeface="MS PGothic" panose="020B0600070205080204" pitchFamily="34" charset="-128"/>
                            </a:rPr>
                            <a:t>枚</a:t>
                          </a:r>
                          <a:r>
                            <a:rPr kumimoji="1" lang="en-US" altLang="ja-JP" sz="4000" b="0" dirty="0">
                              <a:solidFill>
                                <a:schemeClr val="tx1"/>
                              </a:solidFill>
                              <a:latin typeface="MS PGothic" panose="020B0600070205080204" pitchFamily="34" charset="-128"/>
                              <a:ea typeface="MS PGothic" panose="020B0600070205080204" pitchFamily="34" charset="-128"/>
                            </a:rPr>
                            <a:t>(test)</a:t>
                          </a:r>
                          <a:endParaRPr kumimoji="1" lang="ja-JP" altLang="en-US" sz="4000" b="0" dirty="0">
                            <a:solidFill>
                              <a:schemeClr val="tx1"/>
                            </a:solidFill>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extLst>
                      <a:ext uri="{0D108BD9-81ED-4DB2-BD59-A6C34878D82A}">
                        <a16:rowId xmlns:a16="http://schemas.microsoft.com/office/drawing/2014/main" val="3361642135"/>
                      </a:ext>
                    </a:extLst>
                  </a:tr>
                  <a:tr h="701040">
                    <a:tc vMerge="1">
                      <a:txBody>
                        <a:bodyPr/>
                        <a:lstStyle/>
                        <a:p>
                          <a:pPr algn="ctr"/>
                          <a:endParaRPr kumimoji="1" lang="ja-JP" altLang="en-US" sz="4000" b="0" dirty="0">
                            <a:solidFill>
                              <a:schemeClr val="tx1"/>
                            </a:solidFill>
                            <a:latin typeface="MS PGothic" panose="020B0600070205080204" pitchFamily="34" charset="-128"/>
                            <a:ea typeface="MS PGothic" panose="020B0600070205080204" pitchFamily="34" charset="-128"/>
                          </a:endParaRPr>
                        </a:p>
                      </a:txBody>
                      <a:tcPr>
                        <a:solidFill>
                          <a:srgbClr val="E9EBF5"/>
                        </a:solidFill>
                      </a:tcPr>
                    </a:tc>
                    <a:tc>
                      <a:txBody>
                        <a:bodyPr/>
                        <a:lstStyle/>
                        <a:p>
                          <a:pPr algn="ctr"/>
                          <a:r>
                            <a:rPr kumimoji="1" lang="ja-JP" altLang="en-US" sz="4000" b="0" dirty="0">
                              <a:solidFill>
                                <a:schemeClr val="tx1"/>
                              </a:solidFill>
                              <a:latin typeface="MS PGothic" panose="020B0600070205080204" pitchFamily="34" charset="-128"/>
                              <a:ea typeface="MS PGothic" panose="020B0600070205080204" pitchFamily="34" charset="-128"/>
                            </a:rPr>
                            <a:t>大喜利</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tc>
                      <a:txBody>
                        <a:bodyPr/>
                        <a:lstStyle/>
                        <a:p>
                          <a:pPr algn="ctr"/>
                          <a:r>
                            <a:rPr kumimoji="1" lang="en-US" altLang="ja-JP" sz="4000" b="0" dirty="0">
                              <a:solidFill>
                                <a:schemeClr val="tx1"/>
                              </a:solidFill>
                              <a:latin typeface="MS PGothic" panose="020B0600070205080204" pitchFamily="34" charset="-128"/>
                              <a:ea typeface="MS PGothic" panose="020B0600070205080204" pitchFamily="34" charset="-128"/>
                            </a:rPr>
                            <a:t>849,043</a:t>
                          </a:r>
                          <a:r>
                            <a:rPr kumimoji="1" lang="ja-JP" altLang="en-US" sz="4000" b="0" dirty="0">
                              <a:solidFill>
                                <a:schemeClr val="tx1"/>
                              </a:solidFill>
                              <a:latin typeface="MS PGothic" panose="020B0600070205080204" pitchFamily="34" charset="-128"/>
                              <a:ea typeface="MS PGothic" panose="020B0600070205080204" pitchFamily="34" charset="-128"/>
                            </a:rPr>
                            <a:t>件</a:t>
                          </a:r>
                          <a:r>
                            <a:rPr kumimoji="1" lang="en-US" altLang="ja-JP" sz="4000" b="0" dirty="0">
                              <a:solidFill>
                                <a:schemeClr val="tx1"/>
                              </a:solidFill>
                              <a:latin typeface="MS PGothic" panose="020B0600070205080204" pitchFamily="34" charset="-128"/>
                              <a:ea typeface="MS PGothic" panose="020B0600070205080204" pitchFamily="34" charset="-128"/>
                            </a:rPr>
                            <a:t>/ 8,577</a:t>
                          </a:r>
                          <a:r>
                            <a:rPr kumimoji="1" lang="ja-JP" altLang="en-US" sz="4000" b="0">
                              <a:solidFill>
                                <a:schemeClr val="tx1"/>
                              </a:solidFill>
                              <a:latin typeface="MS PGothic" panose="020B0600070205080204" pitchFamily="34" charset="-128"/>
                              <a:ea typeface="MS PGothic" panose="020B0600070205080204" pitchFamily="34" charset="-128"/>
                            </a:rPr>
                            <a:t>件</a:t>
                          </a:r>
                          <a:r>
                            <a:rPr kumimoji="1" lang="en-US" altLang="ja-JP" sz="4000" b="0" dirty="0">
                              <a:solidFill>
                                <a:schemeClr val="tx1"/>
                              </a:solidFill>
                              <a:latin typeface="MS PGothic" panose="020B0600070205080204" pitchFamily="34" charset="-128"/>
                              <a:ea typeface="MS PGothic" panose="020B0600070205080204" pitchFamily="34" charset="-128"/>
                            </a:rPr>
                            <a:t>(test)</a:t>
                          </a:r>
                          <a:endParaRPr kumimoji="1" lang="ja-JP" altLang="en-US" sz="4000" b="0" dirty="0">
                            <a:solidFill>
                              <a:schemeClr val="tx1"/>
                            </a:solidFill>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extLst>
                      <a:ext uri="{0D108BD9-81ED-4DB2-BD59-A6C34878D82A}">
                        <a16:rowId xmlns:a16="http://schemas.microsoft.com/office/drawing/2014/main" val="138946860"/>
                      </a:ext>
                    </a:extLst>
                  </a:tr>
                  <a:tr h="701040">
                    <a:tc gridSpan="2">
                      <a:txBody>
                        <a:bodyPr/>
                        <a:lstStyle/>
                        <a:p>
                          <a:pPr algn="ctr"/>
                          <a:r>
                            <a:rPr kumimoji="1" lang="ja-JP" altLang="en-US" sz="4000" b="0" dirty="0">
                              <a:latin typeface="MS PGothic" panose="020B0600070205080204" pitchFamily="34" charset="-128"/>
                              <a:ea typeface="MS PGothic" panose="020B0600070205080204" pitchFamily="34" charset="-128"/>
                            </a:rPr>
                            <a:t>最適化手法</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hMerge="1">
                      <a:txBody>
                        <a:bodyPr/>
                        <a:lstStyle/>
                        <a:p>
                          <a:endParaRPr kumimoji="1" lang="ja-JP" altLang="en-US"/>
                        </a:p>
                      </a:txBody>
                      <a:tcPr/>
                    </a:tc>
                    <a:tc>
                      <a:txBody>
                        <a:bodyPr/>
                        <a:lstStyle/>
                        <a:p>
                          <a:endParaRPr lang="ja-JP"/>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blipFill>
                          <a:blip r:embed="rId27"/>
                          <a:stretch>
                            <a:fillRect l="-99139" t="-216364" r="-172" b="-240000"/>
                          </a:stretch>
                        </a:blipFill>
                      </a:tcPr>
                    </a:tc>
                    <a:extLst>
                      <a:ext uri="{0D108BD9-81ED-4DB2-BD59-A6C34878D82A}">
                        <a16:rowId xmlns:a16="http://schemas.microsoft.com/office/drawing/2014/main" val="1801116897"/>
                      </a:ext>
                    </a:extLst>
                  </a:tr>
                  <a:tr h="701040">
                    <a:tc gridSpan="2">
                      <a:txBody>
                        <a:bodyPr/>
                        <a:lstStyle/>
                        <a:p>
                          <a:pPr algn="ctr"/>
                          <a:r>
                            <a:rPr kumimoji="1" lang="ja-JP" altLang="en-US" sz="4000" b="0">
                              <a:latin typeface="MS PGothic" panose="020B0600070205080204" pitchFamily="34" charset="-128"/>
                              <a:ea typeface="MS PGothic" panose="020B0600070205080204" pitchFamily="34" charset="-128"/>
                            </a:rPr>
                            <a:t>ミニバッチサイズ</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hMerge="1">
                      <a:txBody>
                        <a:bodyPr/>
                        <a:lstStyle/>
                        <a:p>
                          <a:endParaRPr kumimoji="1" lang="ja-JP" altLang="en-US"/>
                        </a:p>
                      </a:txBody>
                      <a:tcPr/>
                    </a:tc>
                    <a:tc>
                      <a:txBody>
                        <a:bodyPr/>
                        <a:lstStyle/>
                        <a:p>
                          <a:pPr marL="0" indent="0" algn="ctr">
                            <a:buFont typeface="Arial" panose="020B0604020202020204" pitchFamily="34" charset="0"/>
                            <a:buNone/>
                          </a:pPr>
                          <a:r>
                            <a:rPr kumimoji="1" lang="en" altLang="ja-JP" sz="4000" b="0" dirty="0">
                              <a:latin typeface="MS PGothic" panose="020B0600070205080204" pitchFamily="34" charset="-128"/>
                              <a:ea typeface="MS PGothic" panose="020B0600070205080204" pitchFamily="34" charset="-128"/>
                            </a:rPr>
                            <a:t>64</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3798152386"/>
                      </a:ext>
                    </a:extLst>
                  </a:tr>
                  <a:tr h="701040">
                    <a:tc gridSpan="2">
                      <a:txBody>
                        <a:bodyPr/>
                        <a:lstStyle/>
                        <a:p>
                          <a:pPr algn="ctr"/>
                          <a:r>
                            <a:rPr kumimoji="1" lang="ja-JP" altLang="en-US" sz="4000" b="0">
                              <a:latin typeface="MS PGothic" panose="020B0600070205080204" pitchFamily="34" charset="-128"/>
                              <a:ea typeface="MS PGothic" panose="020B0600070205080204" pitchFamily="34" charset="-128"/>
                            </a:rPr>
                            <a:t>特徴量次元数</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hMerge="1">
                      <a:txBody>
                        <a:bodyPr/>
                        <a:lstStyle/>
                        <a:p>
                          <a:endParaRPr kumimoji="1" lang="ja-JP" altLang="en-US"/>
                        </a:p>
                      </a:txBody>
                      <a:tcPr/>
                    </a:tc>
                    <a:tc>
                      <a:txBody>
                        <a:bodyPr/>
                        <a:lstStyle/>
                        <a:p>
                          <a:pPr marL="0" indent="0" algn="ctr">
                            <a:buFont typeface="Arial" panose="020B0604020202020204" pitchFamily="34" charset="0"/>
                            <a:buNone/>
                          </a:pPr>
                          <a:r>
                            <a:rPr kumimoji="1" lang="en" altLang="ja-JP" sz="4000" b="0" dirty="0">
                              <a:latin typeface="MS PGothic" panose="020B0600070205080204" pitchFamily="34" charset="-128"/>
                              <a:ea typeface="MS PGothic" panose="020B0600070205080204" pitchFamily="34" charset="-128"/>
                            </a:rPr>
                            <a:t>768</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2893383439"/>
                      </a:ext>
                    </a:extLst>
                  </a:tr>
                </a:tbl>
              </a:graphicData>
            </a:graphic>
          </p:graphicFrame>
        </mc:Fallback>
      </mc:AlternateContent>
      <p:sp>
        <p:nvSpPr>
          <p:cNvPr id="1114" name="テキスト ボックス 1113">
            <a:extLst>
              <a:ext uri="{FF2B5EF4-FFF2-40B4-BE49-F238E27FC236}">
                <a16:creationId xmlns:a16="http://schemas.microsoft.com/office/drawing/2014/main" id="{4457CFF7-61C9-6300-2443-B21362AFF848}"/>
              </a:ext>
            </a:extLst>
          </p:cNvPr>
          <p:cNvSpPr txBox="1"/>
          <p:nvPr/>
        </p:nvSpPr>
        <p:spPr>
          <a:xfrm>
            <a:off x="203198" y="22918688"/>
            <a:ext cx="14670344" cy="707886"/>
          </a:xfrm>
          <a:prstGeom prst="rect">
            <a:avLst/>
          </a:prstGeom>
          <a:noFill/>
        </p:spPr>
        <p:txBody>
          <a:bodyPr wrap="square" rtlCol="0">
            <a:spAutoFit/>
          </a:bodyPr>
          <a:lstStyle/>
          <a:p>
            <a:pPr algn="ctr"/>
            <a:r>
              <a:rPr kumimoji="1" lang="ja-JP" altLang="en-US" sz="4000">
                <a:latin typeface="MS PGothic" panose="020B0600070205080204" pitchFamily="34" charset="-128"/>
                <a:ea typeface="MS PGothic" panose="020B0600070205080204" pitchFamily="34" charset="-128"/>
              </a:rPr>
              <a:t>表</a:t>
            </a:r>
            <a:r>
              <a:rPr kumimoji="1" lang="en-US" altLang="ja-JP" sz="4000" dirty="0">
                <a:latin typeface="MS PGothic" panose="020B0600070205080204" pitchFamily="34" charset="-128"/>
                <a:ea typeface="MS PGothic" panose="020B0600070205080204" pitchFamily="34" charset="-128"/>
              </a:rPr>
              <a:t>2</a:t>
            </a:r>
            <a:r>
              <a:rPr kumimoji="1" lang="ja-JP" altLang="en-US" sz="4000">
                <a:latin typeface="MS PGothic" panose="020B0600070205080204" pitchFamily="34" charset="-128"/>
                <a:ea typeface="MS PGothic" panose="020B0600070205080204" pitchFamily="34" charset="-128"/>
              </a:rPr>
              <a:t>　</a:t>
            </a:r>
            <a:r>
              <a:rPr kumimoji="1" lang="ja-JP" altLang="en-US" sz="4000" dirty="0">
                <a:latin typeface="MS PGothic" panose="020B0600070205080204" pitchFamily="34" charset="-128"/>
                <a:ea typeface="MS PGothic" panose="020B0600070205080204" pitchFamily="34" charset="-128"/>
              </a:rPr>
              <a:t>実験条件</a:t>
            </a:r>
            <a:endParaRPr kumimoji="1" lang="en-US" altLang="ja-JP" sz="4000" dirty="0">
              <a:latin typeface="MS PGothic" panose="020B0600070205080204" pitchFamily="34" charset="-128"/>
              <a:ea typeface="MS PGothic" panose="020B0600070205080204" pitchFamily="34" charset="-128"/>
            </a:endParaRPr>
          </a:p>
        </p:txBody>
      </p:sp>
      <p:pic>
        <p:nvPicPr>
          <p:cNvPr id="1115" name="Picture 2">
            <a:extLst>
              <a:ext uri="{FF2B5EF4-FFF2-40B4-BE49-F238E27FC236}">
                <a16:creationId xmlns:a16="http://schemas.microsoft.com/office/drawing/2014/main" id="{F2BA4AD7-5C52-BD68-0170-264CC5A99894}"/>
              </a:ext>
            </a:extLst>
          </p:cNvPr>
          <p:cNvPicPr>
            <a:picLocks noChangeAspect="1" noChangeArrowheads="1"/>
          </p:cNvPicPr>
          <p:nvPr/>
        </p:nvPicPr>
        <p:blipFill rotWithShape="1">
          <a:blip r:embed="rId28">
            <a:extLst>
              <a:ext uri="{28A0092B-C50C-407E-A947-70E740481C1C}">
                <a14:useLocalDpi xmlns:a14="http://schemas.microsoft.com/office/drawing/2010/main" val="0"/>
              </a:ext>
            </a:extLst>
          </a:blip>
          <a:srcRect b="49684"/>
          <a:stretch/>
        </p:blipFill>
        <p:spPr bwMode="auto">
          <a:xfrm>
            <a:off x="523927" y="27168810"/>
            <a:ext cx="13968546" cy="5357053"/>
          </a:xfrm>
          <a:prstGeom prst="rect">
            <a:avLst/>
          </a:prstGeom>
          <a:noFill/>
          <a:extLst>
            <a:ext uri="{909E8E84-426E-40DD-AFC4-6F175D3DCCD1}">
              <a14:hiddenFill xmlns:a14="http://schemas.microsoft.com/office/drawing/2010/main">
                <a:solidFill>
                  <a:srgbClr val="FFFFFF"/>
                </a:solidFill>
              </a14:hiddenFill>
            </a:ext>
          </a:extLst>
        </p:spPr>
      </p:pic>
      <p:sp>
        <p:nvSpPr>
          <p:cNvPr id="1118" name="テキスト ボックス 1117">
            <a:extLst>
              <a:ext uri="{FF2B5EF4-FFF2-40B4-BE49-F238E27FC236}">
                <a16:creationId xmlns:a16="http://schemas.microsoft.com/office/drawing/2014/main" id="{DDBA88F7-8D3C-46A5-AAAC-F404ECBC73E2}"/>
              </a:ext>
            </a:extLst>
          </p:cNvPr>
          <p:cNvSpPr txBox="1"/>
          <p:nvPr/>
        </p:nvSpPr>
        <p:spPr>
          <a:xfrm>
            <a:off x="210406" y="32495383"/>
            <a:ext cx="14681200" cy="707886"/>
          </a:xfrm>
          <a:prstGeom prst="rect">
            <a:avLst/>
          </a:prstGeom>
          <a:noFill/>
        </p:spPr>
        <p:txBody>
          <a:bodyPr wrap="square" rtlCol="0">
            <a:spAutoFit/>
          </a:bodyPr>
          <a:lstStyle/>
          <a:p>
            <a:pPr algn="ctr"/>
            <a:r>
              <a:rPr kumimoji="1" lang="ja-JP" altLang="en-US" sz="4000">
                <a:latin typeface="MS PGothic" panose="020B0600070205080204" pitchFamily="34" charset="-128"/>
                <a:ea typeface="MS PGothic" panose="020B0600070205080204" pitchFamily="34" charset="-128"/>
              </a:rPr>
              <a:t>図</a:t>
            </a:r>
            <a:r>
              <a:rPr kumimoji="1" lang="en-US" altLang="ja-JP" sz="4000" dirty="0">
                <a:latin typeface="MS PGothic" panose="020B0600070205080204" pitchFamily="34" charset="-128"/>
                <a:ea typeface="MS PGothic" panose="020B0600070205080204" pitchFamily="34" charset="-128"/>
              </a:rPr>
              <a:t>3</a:t>
            </a:r>
            <a:r>
              <a:rPr kumimoji="1" lang="ja-JP" altLang="en-US" sz="4000">
                <a:latin typeface="MS PGothic" panose="020B0600070205080204" pitchFamily="34" charset="-128"/>
                <a:ea typeface="MS PGothic" panose="020B0600070205080204" pitchFamily="34" charset="-128"/>
              </a:rPr>
              <a:t>　</a:t>
            </a:r>
            <a:r>
              <a:rPr kumimoji="1" lang="ja-JP" altLang="en-US" sz="4000" dirty="0">
                <a:latin typeface="MS PGothic" panose="020B0600070205080204" pitchFamily="34" charset="-128"/>
                <a:ea typeface="MS PGothic" panose="020B0600070205080204" pitchFamily="34" charset="-128"/>
              </a:rPr>
              <a:t>学習結果</a:t>
            </a:r>
            <a:r>
              <a:rPr kumimoji="1" lang="en-US" altLang="ja-JP" sz="4000" dirty="0">
                <a:latin typeface="MS PGothic" panose="020B0600070205080204" pitchFamily="34" charset="-128"/>
                <a:ea typeface="MS PGothic" panose="020B0600070205080204" pitchFamily="34" charset="-128"/>
              </a:rPr>
              <a:t>(</a:t>
            </a:r>
            <a:r>
              <a:rPr kumimoji="1" lang="ja-JP" altLang="en-US" sz="4000" dirty="0">
                <a:latin typeface="MS PGothic" panose="020B0600070205080204" pitchFamily="34" charset="-128"/>
                <a:ea typeface="MS PGothic" panose="020B0600070205080204" pitchFamily="34" charset="-128"/>
              </a:rPr>
              <a:t>学習損失，学習精度</a:t>
            </a:r>
            <a:r>
              <a:rPr kumimoji="1" lang="en-US" altLang="ja-JP" sz="4000" dirty="0">
                <a:latin typeface="MS PGothic" panose="020B0600070205080204" pitchFamily="34" charset="-128"/>
                <a:ea typeface="MS PGothic" panose="020B0600070205080204" pitchFamily="34" charset="-128"/>
              </a:rPr>
              <a:t>)</a:t>
            </a:r>
          </a:p>
        </p:txBody>
      </p:sp>
      <p:graphicFrame>
        <p:nvGraphicFramePr>
          <p:cNvPr id="1119" name="表 1118">
            <a:extLst>
              <a:ext uri="{FF2B5EF4-FFF2-40B4-BE49-F238E27FC236}">
                <a16:creationId xmlns:a16="http://schemas.microsoft.com/office/drawing/2014/main" id="{BCD378F3-DB9D-A584-8CA7-595B7F5A4B76}"/>
              </a:ext>
            </a:extLst>
          </p:cNvPr>
          <p:cNvGraphicFramePr>
            <a:graphicFrameLocks noGrp="1"/>
          </p:cNvGraphicFramePr>
          <p:nvPr/>
        </p:nvGraphicFramePr>
        <p:xfrm>
          <a:off x="210406" y="33911155"/>
          <a:ext cx="14909738" cy="2804160"/>
        </p:xfrm>
        <a:graphic>
          <a:graphicData uri="http://schemas.openxmlformats.org/drawingml/2006/table">
            <a:tbl>
              <a:tblPr firstRow="1" bandRow="1">
                <a:tableStyleId>{5C22544A-7EE6-4342-B048-85BDC9FD1C3A}</a:tableStyleId>
              </a:tblPr>
              <a:tblGrid>
                <a:gridCol w="7454869">
                  <a:extLst>
                    <a:ext uri="{9D8B030D-6E8A-4147-A177-3AD203B41FA5}">
                      <a16:colId xmlns:a16="http://schemas.microsoft.com/office/drawing/2014/main" val="1302717659"/>
                    </a:ext>
                  </a:extLst>
                </a:gridCol>
                <a:gridCol w="7454869">
                  <a:extLst>
                    <a:ext uri="{9D8B030D-6E8A-4147-A177-3AD203B41FA5}">
                      <a16:colId xmlns:a16="http://schemas.microsoft.com/office/drawing/2014/main" val="118972529"/>
                    </a:ext>
                  </a:extLst>
                </a:gridCol>
              </a:tblGrid>
              <a:tr h="405772">
                <a:tc>
                  <a:txBody>
                    <a:bodyPr/>
                    <a:lstStyle/>
                    <a:p>
                      <a:pPr algn="ctr"/>
                      <a:r>
                        <a:rPr kumimoji="1" lang="ja-JP" altLang="en-US" sz="4000" dirty="0">
                          <a:latin typeface="MS PGothic" panose="020B0600070205080204" pitchFamily="34" charset="-128"/>
                          <a:ea typeface="MS PGothic" panose="020B0600070205080204" pitchFamily="34" charset="-128"/>
                        </a:rPr>
                        <a:t>モデル</a:t>
                      </a:r>
                    </a:p>
                  </a:txBody>
                  <a:tcPr>
                    <a:solidFill>
                      <a:srgbClr val="0070C0"/>
                    </a:solidFill>
                  </a:tcPr>
                </a:tc>
                <a:tc>
                  <a:txBody>
                    <a:bodyPr/>
                    <a:lstStyle/>
                    <a:p>
                      <a:pPr algn="ctr"/>
                      <a:r>
                        <a:rPr kumimoji="1" lang="en-US" altLang="ja-JP" sz="4000" dirty="0">
                          <a:latin typeface="MS PGothic" panose="020B0600070205080204" pitchFamily="34" charset="-128"/>
                          <a:ea typeface="MS PGothic" panose="020B0600070205080204" pitchFamily="34" charset="-128"/>
                        </a:rPr>
                        <a:t>Perplexity</a:t>
                      </a:r>
                      <a:endParaRPr kumimoji="1" lang="ja-JP" altLang="en-US" sz="4000" dirty="0">
                        <a:latin typeface="MS PGothic" panose="020B0600070205080204" pitchFamily="34" charset="-128"/>
                        <a:ea typeface="MS PGothic" panose="020B0600070205080204" pitchFamily="34" charset="-128"/>
                      </a:endParaRPr>
                    </a:p>
                  </a:txBody>
                  <a:tcPr>
                    <a:solidFill>
                      <a:srgbClr val="0070C0"/>
                    </a:solidFill>
                  </a:tcPr>
                </a:tc>
                <a:extLst>
                  <a:ext uri="{0D108BD9-81ED-4DB2-BD59-A6C34878D82A}">
                    <a16:rowId xmlns:a16="http://schemas.microsoft.com/office/drawing/2014/main" val="3361642135"/>
                  </a:ext>
                </a:extLst>
              </a:tr>
              <a:tr h="405772">
                <a:tc>
                  <a:txBody>
                    <a:bodyPr/>
                    <a:lstStyle/>
                    <a:p>
                      <a:pPr algn="ctr"/>
                      <a:r>
                        <a:rPr kumimoji="1" lang="ja-JP" altLang="en-US" sz="4000">
                          <a:latin typeface="MS PGothic" panose="020B0600070205080204" pitchFamily="34" charset="-128"/>
                          <a:ea typeface="MS PGothic" panose="020B0600070205080204" pitchFamily="34" charset="-128"/>
                        </a:rPr>
                        <a:t>提案手法</a:t>
                      </a:r>
                    </a:p>
                  </a:txBody>
                  <a:tcPr/>
                </a:tc>
                <a:tc>
                  <a:txBody>
                    <a:bodyPr/>
                    <a:lstStyle/>
                    <a:p>
                      <a:pPr marL="0" indent="0" algn="ctr">
                        <a:buFont typeface="Arial" panose="020B0604020202020204" pitchFamily="34" charset="0"/>
                        <a:buNone/>
                      </a:pPr>
                      <a:r>
                        <a:rPr kumimoji="1" lang="en-US" altLang="ja-JP" sz="4000" b="1" dirty="0">
                          <a:latin typeface="MS PGothic" panose="020B0600070205080204" pitchFamily="34" charset="-128"/>
                          <a:ea typeface="MS PGothic" panose="020B0600070205080204" pitchFamily="34" charset="-128"/>
                        </a:rPr>
                        <a:t>40.564274</a:t>
                      </a:r>
                    </a:p>
                  </a:txBody>
                  <a:tcPr/>
                </a:tc>
                <a:extLst>
                  <a:ext uri="{0D108BD9-81ED-4DB2-BD59-A6C34878D82A}">
                    <a16:rowId xmlns:a16="http://schemas.microsoft.com/office/drawing/2014/main" val="1801116897"/>
                  </a:ext>
                </a:extLst>
              </a:tr>
              <a:tr h="405772">
                <a:tc>
                  <a:txBody>
                    <a:bodyPr/>
                    <a:lstStyle/>
                    <a:p>
                      <a:pPr algn="ctr"/>
                      <a:r>
                        <a:rPr kumimoji="1" lang="en-US" altLang="ja-JP" sz="4000" dirty="0">
                          <a:latin typeface="MS PGothic" panose="020B0600070205080204" pitchFamily="34" charset="-128"/>
                          <a:ea typeface="MS PGothic" panose="020B0600070205080204" pitchFamily="34" charset="-128"/>
                        </a:rPr>
                        <a:t>NJM</a:t>
                      </a:r>
                      <a:endParaRPr kumimoji="1" lang="ja-JP" altLang="en-US" sz="4000">
                        <a:latin typeface="MS PGothic" panose="020B0600070205080204" pitchFamily="34" charset="-128"/>
                        <a:ea typeface="MS PGothic" panose="020B0600070205080204" pitchFamily="34" charset="-128"/>
                      </a:endParaRPr>
                    </a:p>
                  </a:txBody>
                  <a:tcPr/>
                </a:tc>
                <a:tc>
                  <a:txBody>
                    <a:bodyPr/>
                    <a:lstStyle/>
                    <a:p>
                      <a:pPr marL="0" indent="0" algn="ctr">
                        <a:buFont typeface="Arial" panose="020B0604020202020204" pitchFamily="34" charset="0"/>
                        <a:buNone/>
                      </a:pPr>
                      <a:r>
                        <a:rPr kumimoji="1" lang="en" altLang="ja-JP" sz="4000" dirty="0">
                          <a:latin typeface="MS PGothic" panose="020B0600070205080204" pitchFamily="34" charset="-128"/>
                          <a:ea typeface="MS PGothic" panose="020B0600070205080204" pitchFamily="34" charset="-128"/>
                        </a:rPr>
                        <a:t>46.557705</a:t>
                      </a:r>
                    </a:p>
                  </a:txBody>
                  <a:tcPr/>
                </a:tc>
                <a:extLst>
                  <a:ext uri="{0D108BD9-81ED-4DB2-BD59-A6C34878D82A}">
                    <a16:rowId xmlns:a16="http://schemas.microsoft.com/office/drawing/2014/main" val="3798152386"/>
                  </a:ext>
                </a:extLst>
              </a:tr>
              <a:tr h="405772">
                <a:tc>
                  <a:txBody>
                    <a:bodyPr/>
                    <a:lstStyle/>
                    <a:p>
                      <a:pPr algn="ctr"/>
                      <a:r>
                        <a:rPr kumimoji="1" lang="en-US" altLang="ja-JP" sz="4000" dirty="0">
                          <a:latin typeface="MS PGothic" panose="020B0600070205080204" pitchFamily="34" charset="-128"/>
                          <a:ea typeface="MS PGothic" panose="020B0600070205080204" pitchFamily="34" charset="-128"/>
                        </a:rPr>
                        <a:t>GUMI-AE</a:t>
                      </a:r>
                      <a:endParaRPr kumimoji="1" lang="ja-JP" altLang="en-US" sz="4000">
                        <a:latin typeface="MS PGothic" panose="020B0600070205080204" pitchFamily="34" charset="-128"/>
                        <a:ea typeface="MS PGothic" panose="020B0600070205080204" pitchFamily="34" charset="-128"/>
                      </a:endParaRPr>
                    </a:p>
                  </a:txBody>
                  <a:tcPr/>
                </a:tc>
                <a:tc>
                  <a:txBody>
                    <a:bodyPr/>
                    <a:lstStyle/>
                    <a:p>
                      <a:pPr marL="0" indent="0" algn="ctr">
                        <a:buFont typeface="Arial" panose="020B0604020202020204" pitchFamily="34" charset="0"/>
                        <a:buNone/>
                      </a:pPr>
                      <a:r>
                        <a:rPr kumimoji="1" lang="en" altLang="ja-JP" sz="4000" dirty="0">
                          <a:latin typeface="MS PGothic" panose="020B0600070205080204" pitchFamily="34" charset="-128"/>
                          <a:ea typeface="MS PGothic" panose="020B0600070205080204" pitchFamily="34" charset="-128"/>
                        </a:rPr>
                        <a:t>47.633007</a:t>
                      </a:r>
                    </a:p>
                  </a:txBody>
                  <a:tcPr/>
                </a:tc>
                <a:extLst>
                  <a:ext uri="{0D108BD9-81ED-4DB2-BD59-A6C34878D82A}">
                    <a16:rowId xmlns:a16="http://schemas.microsoft.com/office/drawing/2014/main" val="2893383439"/>
                  </a:ext>
                </a:extLst>
              </a:tr>
            </a:tbl>
          </a:graphicData>
        </a:graphic>
      </p:graphicFrame>
      <p:sp>
        <p:nvSpPr>
          <p:cNvPr id="1121" name="テキスト ボックス 1120">
            <a:extLst>
              <a:ext uri="{FF2B5EF4-FFF2-40B4-BE49-F238E27FC236}">
                <a16:creationId xmlns:a16="http://schemas.microsoft.com/office/drawing/2014/main" id="{22A2B444-A184-2813-AB9B-83256BB197B9}"/>
              </a:ext>
            </a:extLst>
          </p:cNvPr>
          <p:cNvSpPr txBox="1"/>
          <p:nvPr/>
        </p:nvSpPr>
        <p:spPr>
          <a:xfrm>
            <a:off x="188782" y="33203269"/>
            <a:ext cx="14702824" cy="707886"/>
          </a:xfrm>
          <a:prstGeom prst="rect">
            <a:avLst/>
          </a:prstGeom>
          <a:noFill/>
        </p:spPr>
        <p:txBody>
          <a:bodyPr wrap="square" rtlCol="0">
            <a:spAutoFit/>
          </a:bodyPr>
          <a:lstStyle/>
          <a:p>
            <a:pPr algn="ctr"/>
            <a:r>
              <a:rPr kumimoji="1" lang="ja-JP" altLang="en-US" sz="4000">
                <a:latin typeface="MS PGothic" panose="020B0600070205080204" pitchFamily="34" charset="-128"/>
                <a:ea typeface="MS PGothic" panose="020B0600070205080204" pitchFamily="34" charset="-128"/>
              </a:rPr>
              <a:t>表</a:t>
            </a:r>
            <a:r>
              <a:rPr kumimoji="1" lang="en-US" altLang="ja-JP" sz="4000" dirty="0">
                <a:latin typeface="MS PGothic" panose="020B0600070205080204" pitchFamily="34" charset="-128"/>
                <a:ea typeface="MS PGothic" panose="020B0600070205080204" pitchFamily="34" charset="-128"/>
              </a:rPr>
              <a:t>3</a:t>
            </a:r>
            <a:r>
              <a:rPr kumimoji="1" lang="ja-JP" altLang="en-US" sz="4000">
                <a:latin typeface="MS PGothic" panose="020B0600070205080204" pitchFamily="34" charset="-128"/>
                <a:ea typeface="MS PGothic" panose="020B0600070205080204" pitchFamily="34" charset="-128"/>
              </a:rPr>
              <a:t>　</a:t>
            </a:r>
            <a:r>
              <a:rPr kumimoji="1" lang="ja-JP" altLang="en-US" sz="4000" dirty="0">
                <a:latin typeface="MS PGothic" panose="020B0600070205080204" pitchFamily="34" charset="-128"/>
                <a:ea typeface="MS PGothic" panose="020B0600070205080204" pitchFamily="34" charset="-128"/>
              </a:rPr>
              <a:t>テストデータに対する</a:t>
            </a:r>
            <a:r>
              <a:rPr kumimoji="1" lang="en-US" altLang="ja-JP" sz="4000" dirty="0">
                <a:latin typeface="MS PGothic" panose="020B0600070205080204" pitchFamily="34" charset="-128"/>
                <a:ea typeface="MS PGothic" panose="020B0600070205080204" pitchFamily="34" charset="-128"/>
              </a:rPr>
              <a:t>Perplexity</a:t>
            </a:r>
          </a:p>
        </p:txBody>
      </p:sp>
      <p:sp>
        <p:nvSpPr>
          <p:cNvPr id="8" name="テキスト ボックス 7">
            <a:extLst>
              <a:ext uri="{FF2B5EF4-FFF2-40B4-BE49-F238E27FC236}">
                <a16:creationId xmlns:a16="http://schemas.microsoft.com/office/drawing/2014/main" id="{9C2F76D8-3C95-60A7-A26B-173A6DD45344}"/>
              </a:ext>
            </a:extLst>
          </p:cNvPr>
          <p:cNvSpPr txBox="1"/>
          <p:nvPr/>
        </p:nvSpPr>
        <p:spPr>
          <a:xfrm>
            <a:off x="15357714" y="20999523"/>
            <a:ext cx="14681200" cy="19790033"/>
          </a:xfrm>
          <a:prstGeom prst="rect">
            <a:avLst/>
          </a:prstGeom>
          <a:noFill/>
        </p:spPr>
        <p:txBody>
          <a:bodyPr wrap="square" rtlCol="0">
            <a:spAutoFit/>
          </a:bodyPr>
          <a:lstStyle/>
          <a:p>
            <a:pPr indent="457200" algn="ctr"/>
            <a:r>
              <a:rPr kumimoji="1" lang="ja-JP" altLang="en-US" sz="4000" b="1">
                <a:latin typeface="MS PGothic" panose="020B0600070205080204" pitchFamily="34" charset="-128"/>
                <a:ea typeface="MS PGothic" panose="020B0600070205080204" pitchFamily="34" charset="-128"/>
              </a:rPr>
              <a:t>実験</a:t>
            </a:r>
            <a:r>
              <a:rPr kumimoji="1" lang="en-US" altLang="ja-JP" sz="4000" b="1" dirty="0">
                <a:latin typeface="MS PGothic" panose="020B0600070205080204" pitchFamily="34" charset="-128"/>
                <a:ea typeface="MS PGothic" panose="020B0600070205080204" pitchFamily="34" charset="-128"/>
              </a:rPr>
              <a:t>2 :</a:t>
            </a:r>
            <a:r>
              <a:rPr kumimoji="1" lang="ja-JP" altLang="en-US" sz="4000" b="1">
                <a:latin typeface="MS PGothic" panose="020B0600070205080204" pitchFamily="34" charset="-128"/>
                <a:ea typeface="MS PGothic" panose="020B0600070205080204" pitchFamily="34" charset="-128"/>
              </a:rPr>
              <a:t> 学習した</a:t>
            </a:r>
            <a:r>
              <a:rPr kumimoji="1" lang="en-US" altLang="ja-JP" sz="4000" b="1" dirty="0">
                <a:latin typeface="MS PGothic" panose="020B0600070205080204" pitchFamily="34" charset="-128"/>
                <a:ea typeface="MS PGothic" panose="020B0600070205080204" pitchFamily="34" charset="-128"/>
              </a:rPr>
              <a:t>AI</a:t>
            </a:r>
            <a:r>
              <a:rPr kumimoji="1" lang="ja-JP" altLang="en-US" sz="4000" b="1">
                <a:latin typeface="MS PGothic" panose="020B0600070205080204" pitchFamily="34" charset="-128"/>
                <a:ea typeface="MS PGothic" panose="020B0600070205080204" pitchFamily="34" charset="-128"/>
              </a:rPr>
              <a:t>による大喜利生成</a:t>
            </a:r>
            <a:endParaRPr kumimoji="1" lang="en-US" altLang="ja-JP" sz="4000" b="1" dirty="0">
              <a:latin typeface="MS PGothic" panose="020B0600070205080204" pitchFamily="34" charset="-128"/>
              <a:ea typeface="MS PGothic" panose="020B0600070205080204" pitchFamily="34" charset="-128"/>
            </a:endParaRPr>
          </a:p>
          <a:p>
            <a:pPr indent="457200" algn="just"/>
            <a:r>
              <a:rPr kumimoji="1" lang="ja-JP" altLang="en-US" sz="4000">
                <a:latin typeface="MS PGothic" panose="020B0600070205080204" pitchFamily="34" charset="-128"/>
                <a:ea typeface="MS PGothic" panose="020B0600070205080204" pitchFamily="34" charset="-128"/>
              </a:rPr>
              <a:t>実験</a:t>
            </a:r>
            <a:r>
              <a:rPr kumimoji="1" lang="en-US" altLang="ja-JP" sz="4000" dirty="0">
                <a:latin typeface="MS PGothic" panose="020B0600070205080204" pitchFamily="34" charset="-128"/>
                <a:ea typeface="MS PGothic" panose="020B0600070205080204" pitchFamily="34" charset="-128"/>
              </a:rPr>
              <a:t>1</a:t>
            </a:r>
            <a:r>
              <a:rPr kumimoji="1" lang="ja-JP" altLang="en-US" sz="4000">
                <a:latin typeface="MS PGothic" panose="020B0600070205080204" pitchFamily="34" charset="-128"/>
                <a:ea typeface="MS PGothic" panose="020B0600070205080204" pitchFamily="34" charset="-128"/>
              </a:rPr>
              <a:t>で学習した</a:t>
            </a:r>
            <a:r>
              <a:rPr kumimoji="1" lang="en-US" altLang="ja-JP" sz="4000" dirty="0">
                <a:latin typeface="MS PGothic" panose="020B0600070205080204" pitchFamily="34" charset="-128"/>
                <a:ea typeface="MS PGothic" panose="020B0600070205080204" pitchFamily="34" charset="-128"/>
              </a:rPr>
              <a:t>AI</a:t>
            </a:r>
            <a:r>
              <a:rPr kumimoji="1" lang="ja-JP" altLang="en-US" sz="4000">
                <a:latin typeface="MS PGothic" panose="020B0600070205080204" pitchFamily="34" charset="-128"/>
                <a:ea typeface="MS PGothic" panose="020B0600070205080204" pitchFamily="34" charset="-128"/>
              </a:rPr>
              <a:t>に同様の画像を入力し生成される大喜利を比較する．ここで，入力画像は学習に使用していない未知の画像である．</a:t>
            </a:r>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p:txBody>
      </p:sp>
      <p:graphicFrame>
        <p:nvGraphicFramePr>
          <p:cNvPr id="9" name="表 8">
            <a:extLst>
              <a:ext uri="{FF2B5EF4-FFF2-40B4-BE49-F238E27FC236}">
                <a16:creationId xmlns:a16="http://schemas.microsoft.com/office/drawing/2014/main" id="{AB6DD818-8BC3-6678-4E8F-BEAFFECFB55F}"/>
              </a:ext>
            </a:extLst>
          </p:cNvPr>
          <p:cNvGraphicFramePr>
            <a:graphicFrameLocks noGrp="1"/>
          </p:cNvGraphicFramePr>
          <p:nvPr/>
        </p:nvGraphicFramePr>
        <p:xfrm>
          <a:off x="15403735" y="24323602"/>
          <a:ext cx="14678712" cy="16428720"/>
        </p:xfrm>
        <a:graphic>
          <a:graphicData uri="http://schemas.openxmlformats.org/drawingml/2006/table">
            <a:tbl>
              <a:tblPr firstRow="1" bandRow="1">
                <a:tableStyleId>{5C22544A-7EE6-4342-B048-85BDC9FD1C3A}</a:tableStyleId>
              </a:tblPr>
              <a:tblGrid>
                <a:gridCol w="3873016">
                  <a:extLst>
                    <a:ext uri="{9D8B030D-6E8A-4147-A177-3AD203B41FA5}">
                      <a16:colId xmlns:a16="http://schemas.microsoft.com/office/drawing/2014/main" val="1302717659"/>
                    </a:ext>
                  </a:extLst>
                </a:gridCol>
                <a:gridCol w="2342278">
                  <a:extLst>
                    <a:ext uri="{9D8B030D-6E8A-4147-A177-3AD203B41FA5}">
                      <a16:colId xmlns:a16="http://schemas.microsoft.com/office/drawing/2014/main" val="118972529"/>
                    </a:ext>
                  </a:extLst>
                </a:gridCol>
                <a:gridCol w="8463418">
                  <a:extLst>
                    <a:ext uri="{9D8B030D-6E8A-4147-A177-3AD203B41FA5}">
                      <a16:colId xmlns:a16="http://schemas.microsoft.com/office/drawing/2014/main" val="2229152924"/>
                    </a:ext>
                  </a:extLst>
                </a:gridCol>
              </a:tblGrid>
              <a:tr h="530909">
                <a:tc>
                  <a:txBody>
                    <a:bodyPr/>
                    <a:lstStyle/>
                    <a:p>
                      <a:pPr algn="ctr"/>
                      <a:r>
                        <a:rPr kumimoji="1" lang="ja-JP" altLang="en-US" sz="4000">
                          <a:latin typeface="MS PGothic" panose="020B0600070205080204" pitchFamily="34" charset="-128"/>
                          <a:ea typeface="MS PGothic" panose="020B0600070205080204" pitchFamily="34" charset="-128"/>
                        </a:rPr>
                        <a:t>入力画像</a:t>
                      </a:r>
                      <a:endParaRPr kumimoji="1" lang="ja-JP" altLang="en-US" sz="4000" dirty="0">
                        <a:latin typeface="MS PGothic" panose="020B0600070205080204" pitchFamily="34" charset="-128"/>
                        <a:ea typeface="MS PGothic" panose="020B0600070205080204" pitchFamily="34" charset="-128"/>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0070C0"/>
                    </a:solidFill>
                  </a:tcPr>
                </a:tc>
                <a:tc gridSpan="2">
                  <a:txBody>
                    <a:bodyPr/>
                    <a:lstStyle/>
                    <a:p>
                      <a:pPr algn="ctr"/>
                      <a:r>
                        <a:rPr kumimoji="1" lang="ja-JP" altLang="en-US" sz="4000" dirty="0">
                          <a:latin typeface="MS PGothic" panose="020B0600070205080204" pitchFamily="34" charset="-128"/>
                          <a:ea typeface="MS PGothic" panose="020B0600070205080204" pitchFamily="34" charset="-128"/>
                        </a:rPr>
                        <a:t>大喜利</a:t>
                      </a: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0070C0"/>
                    </a:solidFill>
                  </a:tcPr>
                </a:tc>
                <a:tc hMerge="1">
                  <a:txBody>
                    <a:bodyPr/>
                    <a:lstStyle/>
                    <a:p>
                      <a:endParaRPr kumimoji="1" lang="ja-JP" altLang="en-US"/>
                    </a:p>
                  </a:txBody>
                  <a:tcPr/>
                </a:tc>
                <a:extLst>
                  <a:ext uri="{0D108BD9-81ED-4DB2-BD59-A6C34878D82A}">
                    <a16:rowId xmlns:a16="http://schemas.microsoft.com/office/drawing/2014/main" val="3361642135"/>
                  </a:ext>
                </a:extLst>
              </a:tr>
              <a:tr h="1234587">
                <a:tc rowSpan="3">
                  <a:txBody>
                    <a:bodyPr/>
                    <a:lstStyle/>
                    <a:p>
                      <a:pPr algn="ctr"/>
                      <a:endParaRPr kumimoji="1" lang="ja-JP" altLang="en-US" sz="4000">
                        <a:latin typeface="MS PGothic" panose="020B0600070205080204" pitchFamily="34" charset="-128"/>
                        <a:ea typeface="MS PGothic" panose="020B0600070205080204" pitchFamily="34" charset="-128"/>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marL="0" indent="0" algn="ctr">
                        <a:buFont typeface="Arial" panose="020B0604020202020204" pitchFamily="34" charset="0"/>
                        <a:buNone/>
                      </a:pPr>
                      <a:r>
                        <a:rPr kumimoji="1" lang="en-US" altLang="ja-JP" sz="4000" dirty="0">
                          <a:latin typeface="MS PGothic" panose="020B0600070205080204" pitchFamily="34" charset="-128"/>
                          <a:ea typeface="MS PGothic" panose="020B0600070205080204" pitchFamily="34" charset="-128"/>
                        </a:rPr>
                        <a:t>NJM</a:t>
                      </a:r>
                      <a:endParaRPr kumimoji="1" lang="ja-JP" altLang="en-US" sz="4000" dirty="0">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marL="571500" indent="-571500" algn="l">
                        <a:buFont typeface="Arial" panose="020B0604020202020204" pitchFamily="34" charset="0"/>
                        <a:buChar char="•"/>
                      </a:pPr>
                      <a:r>
                        <a:rPr kumimoji="1" lang="ja-JP" altLang="en-US" sz="4000">
                          <a:latin typeface="MS PGothic" panose="020B0600070205080204" pitchFamily="34" charset="-128"/>
                          <a:ea typeface="MS PGothic" panose="020B0600070205080204" pitchFamily="34" charset="-128"/>
                        </a:rPr>
                        <a:t>この状態で</a:t>
                      </a:r>
                      <a:r>
                        <a:rPr kumimoji="1" lang="en-US" altLang="ja-JP" sz="4000" dirty="0">
                          <a:latin typeface="MS PGothic" panose="020B0600070205080204" pitchFamily="34" charset="-128"/>
                          <a:ea typeface="MS PGothic" panose="020B0600070205080204" pitchFamily="34" charset="-128"/>
                        </a:rPr>
                        <a:t>10</a:t>
                      </a:r>
                      <a:r>
                        <a:rPr kumimoji="1" lang="ja-JP" altLang="en-US" sz="4000">
                          <a:latin typeface="MS PGothic" panose="020B0600070205080204" pitchFamily="34" charset="-128"/>
                          <a:ea typeface="MS PGothic" panose="020B0600070205080204" pitchFamily="34" charset="-128"/>
                        </a:rPr>
                        <a:t>分経過した</a:t>
                      </a:r>
                      <a:endParaRPr kumimoji="1" lang="en-US" altLang="ja-JP" sz="4000" dirty="0">
                        <a:latin typeface="MS PGothic" panose="020B0600070205080204" pitchFamily="34" charset="-128"/>
                        <a:ea typeface="MS PGothic" panose="020B0600070205080204" pitchFamily="34" charset="-128"/>
                      </a:endParaRPr>
                    </a:p>
                    <a:p>
                      <a:pPr marL="571500" indent="-571500" algn="l">
                        <a:buFont typeface="Arial" panose="020B0604020202020204" pitchFamily="34" charset="0"/>
                        <a:buChar char="•"/>
                      </a:pPr>
                      <a:r>
                        <a:rPr kumimoji="1" lang="ja-JP" altLang="en-US" sz="4000">
                          <a:latin typeface="MS PGothic" panose="020B0600070205080204" pitchFamily="34" charset="-128"/>
                          <a:ea typeface="MS PGothic" panose="020B0600070205080204" pitchFamily="34" charset="-128"/>
                        </a:rPr>
                        <a:t>「お前の母ちゃんでーべそ！」</a:t>
                      </a:r>
                      <a:endParaRPr kumimoji="1" lang="ja-JP" altLang="en-US" sz="4000" dirty="0">
                        <a:latin typeface="MS PGothic" panose="020B0600070205080204" pitchFamily="34" charset="-128"/>
                        <a:ea typeface="MS PGothic" panose="020B0600070205080204" pitchFamily="34" charset="-128"/>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1801116897"/>
                  </a:ext>
                </a:extLst>
              </a:tr>
              <a:tr h="1234587">
                <a:tc vMerge="1">
                  <a:txBody>
                    <a:bodyPr/>
                    <a:lstStyle/>
                    <a:p>
                      <a:endParaRPr kumimoji="1" lang="ja-JP" altLang="en-US"/>
                    </a:p>
                  </a:txBody>
                  <a:tcPr/>
                </a:tc>
                <a:tc>
                  <a:txBody>
                    <a:bodyPr/>
                    <a:lstStyle/>
                    <a:p>
                      <a:pPr marL="0" indent="0" algn="ctr">
                        <a:buFont typeface="Arial" panose="020B0604020202020204" pitchFamily="34" charset="0"/>
                        <a:buNone/>
                      </a:pPr>
                      <a:r>
                        <a:rPr kumimoji="1" lang="en-US" altLang="ja-JP" sz="4000" dirty="0">
                          <a:latin typeface="MS PGothic" panose="020B0600070205080204" pitchFamily="34" charset="-128"/>
                          <a:ea typeface="MS PGothic" panose="020B0600070205080204" pitchFamily="34" charset="-128"/>
                        </a:rPr>
                        <a:t>GUMI-AE</a:t>
                      </a:r>
                      <a:endParaRPr kumimoji="1" lang="ja-JP" altLang="en-US" sz="4000" dirty="0">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marL="571500" indent="-571500" algn="l">
                        <a:buFont typeface="Arial" panose="020B0604020202020204" pitchFamily="34" charset="0"/>
                        <a:buChar char="•"/>
                      </a:pPr>
                      <a:r>
                        <a:rPr kumimoji="1" lang="ja-JP" altLang="en-US" sz="4000">
                          <a:latin typeface="MS PGothic" panose="020B0600070205080204" pitchFamily="34" charset="-128"/>
                          <a:ea typeface="MS PGothic" panose="020B0600070205080204" pitchFamily="34" charset="-128"/>
                        </a:rPr>
                        <a:t>この顔にピンときたら</a:t>
                      </a:r>
                      <a:r>
                        <a:rPr kumimoji="1" lang="en-US" altLang="ja-JP" sz="4000" dirty="0">
                          <a:latin typeface="MS PGothic" panose="020B0600070205080204" pitchFamily="34" charset="-128"/>
                          <a:ea typeface="MS PGothic" panose="020B0600070205080204" pitchFamily="34" charset="-128"/>
                        </a:rPr>
                        <a:t>110</a:t>
                      </a:r>
                      <a:r>
                        <a:rPr kumimoji="1" lang="ja-JP" altLang="en-US" sz="4000">
                          <a:latin typeface="MS PGothic" panose="020B0600070205080204" pitchFamily="34" charset="-128"/>
                          <a:ea typeface="MS PGothic" panose="020B0600070205080204" pitchFamily="34" charset="-128"/>
                        </a:rPr>
                        <a:t>番</a:t>
                      </a:r>
                      <a:endParaRPr kumimoji="1" lang="en-US" altLang="ja-JP" sz="4000" dirty="0">
                        <a:latin typeface="MS PGothic" panose="020B0600070205080204" pitchFamily="34" charset="-128"/>
                        <a:ea typeface="MS PGothic" panose="020B0600070205080204" pitchFamily="34" charset="-128"/>
                      </a:endParaRPr>
                    </a:p>
                    <a:p>
                      <a:pPr marL="571500" indent="-571500" algn="l">
                        <a:buFont typeface="Arial" panose="020B0604020202020204" pitchFamily="34" charset="0"/>
                        <a:buChar char="•"/>
                      </a:pPr>
                      <a:r>
                        <a:rPr kumimoji="1" lang="ja-JP" altLang="en-US" sz="4000">
                          <a:latin typeface="MS PGothic" panose="020B0600070205080204" pitchFamily="34" charset="-128"/>
                          <a:ea typeface="MS PGothic" panose="020B0600070205080204" pitchFamily="34" charset="-128"/>
                        </a:rPr>
                        <a:t>もうそろそろ疲れたわ</a:t>
                      </a:r>
                      <a:endParaRPr kumimoji="1" lang="ja-JP" altLang="en-US" sz="4000" dirty="0">
                        <a:latin typeface="MS PGothic" panose="020B0600070205080204" pitchFamily="34" charset="-128"/>
                        <a:ea typeface="MS PGothic" panose="020B0600070205080204" pitchFamily="34" charset="-128"/>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2771984664"/>
                  </a:ext>
                </a:extLst>
              </a:tr>
              <a:tr h="1234587">
                <a:tc vMerge="1">
                  <a:txBody>
                    <a:bodyPr/>
                    <a:lstStyle/>
                    <a:p>
                      <a:endParaRPr kumimoji="1" lang="ja-JP" altLang="en-US"/>
                    </a:p>
                  </a:txBody>
                  <a:tcPr/>
                </a:tc>
                <a:tc>
                  <a:txBody>
                    <a:bodyPr/>
                    <a:lstStyle/>
                    <a:p>
                      <a:pPr marL="0" indent="0" algn="ctr">
                        <a:buFont typeface="Arial" panose="020B0604020202020204" pitchFamily="34" charset="0"/>
                        <a:buNone/>
                      </a:pPr>
                      <a:r>
                        <a:rPr kumimoji="1" lang="ja-JP" altLang="en-US" sz="4000">
                          <a:latin typeface="MS PGothic" panose="020B0600070205080204" pitchFamily="34" charset="-128"/>
                          <a:ea typeface="MS PGothic" panose="020B0600070205080204" pitchFamily="34" charset="-128"/>
                        </a:rPr>
                        <a:t>提案手法</a:t>
                      </a:r>
                      <a:endParaRPr kumimoji="1" lang="ja-JP" altLang="en-US" sz="4000" dirty="0">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marL="571500" indent="-571500" algn="l">
                        <a:buFont typeface="Arial" panose="020B0604020202020204" pitchFamily="34" charset="0"/>
                        <a:buChar char="•"/>
                      </a:pPr>
                      <a:r>
                        <a:rPr kumimoji="1" lang="ja-JP" altLang="en-US" sz="4000" b="1">
                          <a:latin typeface="MS PGothic" panose="020B0600070205080204" pitchFamily="34" charset="-128"/>
                          <a:ea typeface="MS PGothic" panose="020B0600070205080204" pitchFamily="34" charset="-128"/>
                        </a:rPr>
                        <a:t>俺のマタタビはこの中だ</a:t>
                      </a:r>
                      <a:endParaRPr kumimoji="1" lang="en-US" altLang="ja-JP" sz="4000" b="1" dirty="0">
                        <a:latin typeface="MS PGothic" panose="020B0600070205080204" pitchFamily="34" charset="-128"/>
                        <a:ea typeface="MS PGothic" panose="020B0600070205080204" pitchFamily="34" charset="-128"/>
                      </a:endParaRPr>
                    </a:p>
                    <a:p>
                      <a:pPr marL="571500" indent="-571500" algn="l">
                        <a:buFont typeface="Arial" panose="020B0604020202020204" pitchFamily="34" charset="0"/>
                        <a:buChar char="•"/>
                      </a:pPr>
                      <a:r>
                        <a:rPr kumimoji="1" lang="ja-JP" altLang="en-US" sz="4000">
                          <a:latin typeface="MS PGothic" panose="020B0600070205080204" pitchFamily="34" charset="-128"/>
                          <a:ea typeface="MS PGothic" panose="020B0600070205080204" pitchFamily="34" charset="-128"/>
                        </a:rPr>
                        <a:t>お、こんなところにお宝が</a:t>
                      </a:r>
                      <a:r>
                        <a:rPr kumimoji="1" lang="en-US" altLang="ja-JP" sz="4000" dirty="0">
                          <a:latin typeface="MS PGothic" panose="020B0600070205080204" pitchFamily="34" charset="-128"/>
                          <a:ea typeface="MS PGothic" panose="020B0600070205080204" pitchFamily="34" charset="-128"/>
                        </a:rPr>
                        <a:t>…</a:t>
                      </a:r>
                      <a:endParaRPr kumimoji="1" lang="ja-JP" altLang="en-US" sz="4000" dirty="0">
                        <a:latin typeface="MS PGothic" panose="020B0600070205080204" pitchFamily="34" charset="-128"/>
                        <a:ea typeface="MS PGothic" panose="020B0600070205080204" pitchFamily="34" charset="-128"/>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1205125791"/>
                  </a:ext>
                </a:extLst>
              </a:tr>
              <a:tr h="1228358">
                <a:tc rowSpan="3">
                  <a:txBody>
                    <a:bodyPr/>
                    <a:lstStyle/>
                    <a:p>
                      <a:pPr algn="ctr"/>
                      <a:endParaRPr kumimoji="1" lang="ja-JP" altLang="en-US" sz="4000">
                        <a:latin typeface="MS PGothic" panose="020B0600070205080204" pitchFamily="34" charset="-128"/>
                        <a:ea typeface="MS PGothic" panose="020B0600070205080204" pitchFamily="34" charset="-128"/>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marL="0" indent="0" algn="ctr">
                        <a:buFont typeface="Arial" panose="020B0604020202020204" pitchFamily="34" charset="0"/>
                        <a:buNone/>
                      </a:pPr>
                      <a:r>
                        <a:rPr kumimoji="1" lang="en-US" altLang="ja-JP" sz="4000" dirty="0">
                          <a:latin typeface="MS PGothic" panose="020B0600070205080204" pitchFamily="34" charset="-128"/>
                          <a:ea typeface="MS PGothic" panose="020B0600070205080204" pitchFamily="34" charset="-128"/>
                        </a:rPr>
                        <a:t>NJM</a:t>
                      </a:r>
                      <a:endParaRPr kumimoji="1" lang="ja-JP" altLang="en-US" sz="4000" dirty="0">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marL="571500" indent="-571500" algn="l">
                        <a:buFont typeface="Arial" panose="020B0604020202020204" pitchFamily="34" charset="0"/>
                        <a:buChar char="•"/>
                      </a:pPr>
                      <a:r>
                        <a:rPr kumimoji="1" lang="ja-JP" altLang="en-US" sz="4000">
                          <a:latin typeface="MS PGothic" panose="020B0600070205080204" pitchFamily="34" charset="-128"/>
                          <a:ea typeface="MS PGothic" panose="020B0600070205080204" pitchFamily="34" charset="-128"/>
                        </a:rPr>
                        <a:t>「お前の席ねぇから！」</a:t>
                      </a:r>
                      <a:endParaRPr kumimoji="1" lang="en-US" altLang="ja-JP" sz="4000" dirty="0">
                        <a:latin typeface="MS PGothic" panose="020B0600070205080204" pitchFamily="34" charset="-128"/>
                        <a:ea typeface="MS PGothic" panose="020B0600070205080204" pitchFamily="34" charset="-128"/>
                      </a:endParaRPr>
                    </a:p>
                    <a:p>
                      <a:pPr marL="571500" indent="-571500" algn="l">
                        <a:buFont typeface="Arial" panose="020B0604020202020204" pitchFamily="34" charset="0"/>
                        <a:buChar char="•"/>
                      </a:pPr>
                      <a:r>
                        <a:rPr kumimoji="1" lang="ja-JP" altLang="en-US" sz="4000">
                          <a:latin typeface="MS PGothic" panose="020B0600070205080204" pitchFamily="34" charset="-128"/>
                          <a:ea typeface="MS PGothic" panose="020B0600070205080204" pitchFamily="34" charset="-128"/>
                        </a:rPr>
                        <a:t>この人、痴漢です！！</a:t>
                      </a:r>
                      <a:endParaRPr kumimoji="1" lang="ja-JP" altLang="en-US" sz="4000" dirty="0">
                        <a:latin typeface="MS PGothic" panose="020B0600070205080204" pitchFamily="34" charset="-128"/>
                        <a:ea typeface="MS PGothic" panose="020B0600070205080204" pitchFamily="34" charset="-128"/>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3798152386"/>
                  </a:ext>
                </a:extLst>
              </a:tr>
              <a:tr h="1228357">
                <a:tc vMerge="1">
                  <a:txBody>
                    <a:bodyPr/>
                    <a:lstStyle/>
                    <a:p>
                      <a:endParaRPr kumimoji="1" lang="ja-JP" altLang="en-US"/>
                    </a:p>
                  </a:txBody>
                  <a:tcPr/>
                </a:tc>
                <a:tc>
                  <a:txBody>
                    <a:bodyPr/>
                    <a:lstStyle/>
                    <a:p>
                      <a:pPr marL="0" indent="0" algn="ctr">
                        <a:buFont typeface="Arial" panose="020B0604020202020204" pitchFamily="34" charset="0"/>
                        <a:buNone/>
                      </a:pPr>
                      <a:r>
                        <a:rPr kumimoji="1" lang="en-US" altLang="ja-JP" sz="4000" dirty="0">
                          <a:latin typeface="MS PGothic" panose="020B0600070205080204" pitchFamily="34" charset="-128"/>
                          <a:ea typeface="MS PGothic" panose="020B0600070205080204" pitchFamily="34" charset="-128"/>
                        </a:rPr>
                        <a:t>GUMI-AE</a:t>
                      </a:r>
                      <a:endParaRPr kumimoji="1" lang="ja-JP" altLang="en-US" sz="4000" dirty="0">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marL="571500" indent="-571500" algn="l">
                        <a:buFont typeface="Arial" panose="020B0604020202020204" pitchFamily="34" charset="0"/>
                        <a:buChar char="•"/>
                      </a:pPr>
                      <a:r>
                        <a:rPr kumimoji="1" lang="ja-JP" altLang="en-US" sz="4000">
                          <a:latin typeface="MS PGothic" panose="020B0600070205080204" pitchFamily="34" charset="-128"/>
                          <a:ea typeface="MS PGothic" panose="020B0600070205080204" pitchFamily="34" charset="-128"/>
                        </a:rPr>
                        <a:t>「この子が昼間っからゴロゴロ</a:t>
                      </a:r>
                      <a:r>
                        <a:rPr kumimoji="1" lang="en-US" altLang="ja-JP" sz="4000" dirty="0">
                          <a:latin typeface="MS PGothic" panose="020B0600070205080204" pitchFamily="34" charset="-128"/>
                          <a:ea typeface="MS PGothic" panose="020B0600070205080204" pitchFamily="34" charset="-128"/>
                        </a:rPr>
                        <a:t>〜</a:t>
                      </a:r>
                      <a:r>
                        <a:rPr kumimoji="1" lang="ja-JP" altLang="en-US" sz="4000">
                          <a:latin typeface="MS PGothic" panose="020B0600070205080204" pitchFamily="34" charset="-128"/>
                          <a:ea typeface="MS PGothic" panose="020B0600070205080204" pitchFamily="34" charset="-128"/>
                        </a:rPr>
                        <a:t>ゥ」</a:t>
                      </a:r>
                      <a:endParaRPr kumimoji="1" lang="en-US" altLang="ja-JP" sz="4000" dirty="0">
                        <a:latin typeface="MS PGothic" panose="020B0600070205080204" pitchFamily="34" charset="-128"/>
                        <a:ea typeface="MS PGothic" panose="020B0600070205080204" pitchFamily="34" charset="-128"/>
                      </a:endParaRPr>
                    </a:p>
                    <a:p>
                      <a:pPr marL="571500" indent="-571500" algn="l">
                        <a:buFont typeface="Arial" panose="020B0604020202020204" pitchFamily="34" charset="0"/>
                        <a:buChar char="•"/>
                      </a:pPr>
                      <a:r>
                        <a:rPr kumimoji="1" lang="ja-JP" altLang="en-US" sz="4000">
                          <a:latin typeface="MS PGothic" panose="020B0600070205080204" pitchFamily="34" charset="-128"/>
                          <a:ea typeface="MS PGothic" panose="020B0600070205080204" pitchFamily="34" charset="-128"/>
                        </a:rPr>
                        <a:t>お前、俺の顔に何かついてる？</a:t>
                      </a:r>
                      <a:endParaRPr kumimoji="1" lang="ja-JP" altLang="en-US" sz="4000" dirty="0">
                        <a:latin typeface="MS PGothic" panose="020B0600070205080204" pitchFamily="34" charset="-128"/>
                        <a:ea typeface="MS PGothic" panose="020B0600070205080204" pitchFamily="34" charset="-128"/>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1114946705"/>
                  </a:ext>
                </a:extLst>
              </a:tr>
              <a:tr h="1228358">
                <a:tc vMerge="1">
                  <a:txBody>
                    <a:bodyPr/>
                    <a:lstStyle/>
                    <a:p>
                      <a:endParaRPr kumimoji="1" lang="ja-JP" altLang="en-US"/>
                    </a:p>
                  </a:txBody>
                  <a:tcPr/>
                </a:tc>
                <a:tc>
                  <a:txBody>
                    <a:bodyPr/>
                    <a:lstStyle/>
                    <a:p>
                      <a:pPr marL="0" indent="0" algn="ctr">
                        <a:buFont typeface="Arial" panose="020B0604020202020204" pitchFamily="34" charset="0"/>
                        <a:buNone/>
                      </a:pPr>
                      <a:r>
                        <a:rPr kumimoji="1" lang="ja-JP" altLang="en-US" sz="4000">
                          <a:latin typeface="MS PGothic" panose="020B0600070205080204" pitchFamily="34" charset="-128"/>
                          <a:ea typeface="MS PGothic" panose="020B0600070205080204" pitchFamily="34" charset="-128"/>
                        </a:rPr>
                        <a:t>提案手法</a:t>
                      </a:r>
                      <a:endParaRPr kumimoji="1" lang="ja-JP" altLang="en-US" sz="4000" dirty="0">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marL="571500" indent="-571500" algn="l">
                        <a:buFont typeface="Arial" panose="020B0604020202020204" pitchFamily="34" charset="0"/>
                        <a:buChar char="•"/>
                      </a:pPr>
                      <a:r>
                        <a:rPr kumimoji="1" lang="ja-JP" altLang="en-US" sz="4000">
                          <a:latin typeface="MS PGothic" panose="020B0600070205080204" pitchFamily="34" charset="-128"/>
                          <a:ea typeface="MS PGothic" panose="020B0600070205080204" pitchFamily="34" charset="-128"/>
                        </a:rPr>
                        <a:t>「また寝袋が寝てる</a:t>
                      </a:r>
                      <a:r>
                        <a:rPr kumimoji="1" lang="en-US" altLang="ja-JP" sz="4000" dirty="0">
                          <a:latin typeface="MS PGothic" panose="020B0600070205080204" pitchFamily="34" charset="-128"/>
                          <a:ea typeface="MS PGothic" panose="020B0600070205080204" pitchFamily="34" charset="-128"/>
                        </a:rPr>
                        <a:t>…</a:t>
                      </a:r>
                      <a:r>
                        <a:rPr kumimoji="1" lang="ja-JP" altLang="en-US" sz="4000">
                          <a:latin typeface="MS PGothic" panose="020B0600070205080204" pitchFamily="34" charset="-128"/>
                          <a:ea typeface="MS PGothic" panose="020B0600070205080204" pitchFamily="34" charset="-128"/>
                        </a:rPr>
                        <a:t>。」</a:t>
                      </a:r>
                      <a:endParaRPr kumimoji="1" lang="en-US" altLang="ja-JP" sz="4000" dirty="0">
                        <a:latin typeface="MS PGothic" panose="020B0600070205080204" pitchFamily="34" charset="-128"/>
                        <a:ea typeface="MS PGothic" panose="020B0600070205080204" pitchFamily="34" charset="-128"/>
                      </a:endParaRPr>
                    </a:p>
                    <a:p>
                      <a:pPr marL="571500" indent="-571500" algn="l">
                        <a:buFont typeface="Arial" panose="020B0604020202020204" pitchFamily="34" charset="0"/>
                        <a:buChar char="•"/>
                      </a:pPr>
                      <a:r>
                        <a:rPr kumimoji="1" lang="ja-JP" altLang="en-US" sz="4000" b="1">
                          <a:latin typeface="MS PGothic" panose="020B0600070205080204" pitchFamily="34" charset="-128"/>
                          <a:ea typeface="MS PGothic" panose="020B0600070205080204" pitchFamily="34" charset="-128"/>
                        </a:rPr>
                        <a:t>この状態から動けない・・・</a:t>
                      </a:r>
                      <a:endParaRPr kumimoji="1" lang="ja-JP" altLang="en-US" sz="4000" b="1" dirty="0">
                        <a:latin typeface="MS PGothic" panose="020B0600070205080204" pitchFamily="34" charset="-128"/>
                        <a:ea typeface="MS PGothic" panose="020B0600070205080204" pitchFamily="34" charset="-128"/>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2687650386"/>
                  </a:ext>
                </a:extLst>
              </a:tr>
              <a:tr h="1228358">
                <a:tc rowSpan="3">
                  <a:txBody>
                    <a:bodyPr/>
                    <a:lstStyle/>
                    <a:p>
                      <a:pPr algn="ctr"/>
                      <a:endParaRPr kumimoji="1" lang="ja-JP" altLang="en-US" sz="4000">
                        <a:latin typeface="MS PGothic" panose="020B0600070205080204" pitchFamily="34" charset="-128"/>
                        <a:ea typeface="MS PGothic" panose="020B0600070205080204" pitchFamily="34" charset="-128"/>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marL="0" indent="0" algn="ctr">
                        <a:buFont typeface="Arial" panose="020B0604020202020204" pitchFamily="34" charset="0"/>
                        <a:buNone/>
                      </a:pPr>
                      <a:r>
                        <a:rPr kumimoji="1" lang="en-US" altLang="ja-JP" sz="4000" dirty="0">
                          <a:latin typeface="MS PGothic" panose="020B0600070205080204" pitchFamily="34" charset="-128"/>
                          <a:ea typeface="MS PGothic" panose="020B0600070205080204" pitchFamily="34" charset="-128"/>
                        </a:rPr>
                        <a:t>NJM</a:t>
                      </a:r>
                      <a:endParaRPr kumimoji="1" lang="ja-JP" altLang="en-US" sz="4000" dirty="0">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marL="571500" indent="-571500" algn="l">
                        <a:buFont typeface="Arial" panose="020B0604020202020204" pitchFamily="34" charset="0"/>
                        <a:buChar char="•"/>
                      </a:pPr>
                      <a:r>
                        <a:rPr kumimoji="1" lang="en-US" altLang="ja-JP" sz="4000" dirty="0">
                          <a:latin typeface="MS PGothic" panose="020B0600070205080204" pitchFamily="34" charset="-128"/>
                          <a:ea typeface="MS PGothic" panose="020B0600070205080204" pitchFamily="34" charset="-128"/>
                        </a:rPr>
                        <a:t>(</a:t>
                      </a:r>
                      <a:r>
                        <a:rPr kumimoji="1" lang="ja-JP" altLang="en-US" sz="4000">
                          <a:latin typeface="MS PGothic" panose="020B0600070205080204" pitchFamily="34" charset="-128"/>
                          <a:ea typeface="MS PGothic" panose="020B0600070205080204" pitchFamily="34" charset="-128"/>
                        </a:rPr>
                        <a:t>この人、痴漢です</a:t>
                      </a:r>
                      <a:r>
                        <a:rPr kumimoji="1" lang="en-US" altLang="ja-JP" sz="4000" dirty="0">
                          <a:latin typeface="MS PGothic" panose="020B0600070205080204" pitchFamily="34" charset="-128"/>
                          <a:ea typeface="MS PGothic" panose="020B0600070205080204" pitchFamily="34" charset="-128"/>
                        </a:rPr>
                        <a:t>)</a:t>
                      </a:r>
                    </a:p>
                    <a:p>
                      <a:pPr marL="571500" indent="-571500" algn="l">
                        <a:buFont typeface="Arial" panose="020B0604020202020204" pitchFamily="34" charset="0"/>
                        <a:buChar char="•"/>
                      </a:pPr>
                      <a:r>
                        <a:rPr kumimoji="1" lang="ja-JP" altLang="en-US" sz="4000">
                          <a:latin typeface="MS PGothic" panose="020B0600070205080204" pitchFamily="34" charset="-128"/>
                          <a:ea typeface="MS PGothic" panose="020B0600070205080204" pitchFamily="34" charset="-128"/>
                        </a:rPr>
                        <a:t>「この後は、ぷっすま！！」</a:t>
                      </a:r>
                      <a:endParaRPr kumimoji="1" lang="ja-JP" altLang="en-US" sz="4000" dirty="0">
                        <a:latin typeface="MS PGothic" panose="020B0600070205080204" pitchFamily="34" charset="-128"/>
                        <a:ea typeface="MS PGothic" panose="020B0600070205080204" pitchFamily="34" charset="-128"/>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2502933185"/>
                  </a:ext>
                </a:extLst>
              </a:tr>
              <a:tr h="1228357">
                <a:tc vMerge="1">
                  <a:txBody>
                    <a:bodyPr/>
                    <a:lstStyle/>
                    <a:p>
                      <a:endParaRPr kumimoji="1" lang="ja-JP" altLang="en-US"/>
                    </a:p>
                  </a:txBody>
                  <a:tcPr/>
                </a:tc>
                <a:tc>
                  <a:txBody>
                    <a:bodyPr/>
                    <a:lstStyle/>
                    <a:p>
                      <a:pPr marL="0" indent="0" algn="ctr">
                        <a:buFont typeface="Arial" panose="020B0604020202020204" pitchFamily="34" charset="0"/>
                        <a:buNone/>
                      </a:pPr>
                      <a:r>
                        <a:rPr kumimoji="1" lang="en-US" altLang="ja-JP" sz="4000" dirty="0">
                          <a:latin typeface="MS PGothic" panose="020B0600070205080204" pitchFamily="34" charset="-128"/>
                          <a:ea typeface="MS PGothic" panose="020B0600070205080204" pitchFamily="34" charset="-128"/>
                        </a:rPr>
                        <a:t>GUMI-AE</a:t>
                      </a:r>
                      <a:endParaRPr kumimoji="1" lang="ja-JP" altLang="en-US" sz="4000" dirty="0">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marL="571500" indent="-571500" algn="l">
                        <a:buFont typeface="Arial" panose="020B0604020202020204" pitchFamily="34" charset="0"/>
                        <a:buChar char="•"/>
                      </a:pPr>
                      <a:r>
                        <a:rPr kumimoji="1" lang="ja-JP" altLang="en-US" sz="4000">
                          <a:latin typeface="MS PGothic" panose="020B0600070205080204" pitchFamily="34" charset="-128"/>
                          <a:ea typeface="MS PGothic" panose="020B0600070205080204" pitchFamily="34" charset="-128"/>
                        </a:rPr>
                        <a:t>「今でしょ」の精霊</a:t>
                      </a:r>
                      <a:endParaRPr kumimoji="1" lang="en-US" altLang="ja-JP" sz="4000" dirty="0">
                        <a:latin typeface="MS PGothic" panose="020B0600070205080204" pitchFamily="34" charset="-128"/>
                        <a:ea typeface="MS PGothic" panose="020B0600070205080204" pitchFamily="34" charset="-128"/>
                      </a:endParaRPr>
                    </a:p>
                    <a:p>
                      <a:pPr marL="571500" indent="-571500" algn="l">
                        <a:buFont typeface="Arial" panose="020B0604020202020204" pitchFamily="34" charset="0"/>
                        <a:buChar char="•"/>
                      </a:pPr>
                      <a:r>
                        <a:rPr kumimoji="1" lang="ja-JP" altLang="en-US" sz="4000">
                          <a:latin typeface="MS PGothic" panose="020B0600070205080204" pitchFamily="34" charset="-128"/>
                          <a:ea typeface="MS PGothic" panose="020B0600070205080204" pitchFamily="34" charset="-128"/>
                        </a:rPr>
                        <a:t>「お前も蝋人形にしてやろうか！！」</a:t>
                      </a:r>
                      <a:endParaRPr kumimoji="1" lang="ja-JP" altLang="en-US" sz="4000" dirty="0">
                        <a:latin typeface="MS PGothic" panose="020B0600070205080204" pitchFamily="34" charset="-128"/>
                        <a:ea typeface="MS PGothic" panose="020B0600070205080204" pitchFamily="34" charset="-128"/>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2538114739"/>
                  </a:ext>
                </a:extLst>
              </a:tr>
              <a:tr h="1228358">
                <a:tc vMerge="1">
                  <a:txBody>
                    <a:bodyPr/>
                    <a:lstStyle/>
                    <a:p>
                      <a:endParaRPr kumimoji="1" lang="ja-JP" altLang="en-US"/>
                    </a:p>
                  </a:txBody>
                  <a:tcPr/>
                </a:tc>
                <a:tc>
                  <a:txBody>
                    <a:bodyPr/>
                    <a:lstStyle/>
                    <a:p>
                      <a:pPr marL="0" indent="0" algn="ctr">
                        <a:buFont typeface="Arial" panose="020B0604020202020204" pitchFamily="34" charset="0"/>
                        <a:buNone/>
                      </a:pPr>
                      <a:r>
                        <a:rPr kumimoji="1" lang="ja-JP" altLang="en-US" sz="4000">
                          <a:latin typeface="MS PGothic" panose="020B0600070205080204" pitchFamily="34" charset="-128"/>
                          <a:ea typeface="MS PGothic" panose="020B0600070205080204" pitchFamily="34" charset="-128"/>
                        </a:rPr>
                        <a:t>提案手法</a:t>
                      </a:r>
                      <a:endParaRPr kumimoji="1" lang="ja-JP" altLang="en-US" sz="4000" dirty="0">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marL="571500" indent="-571500" algn="l">
                        <a:buFont typeface="Arial" panose="020B0604020202020204" pitchFamily="34" charset="0"/>
                        <a:buChar char="•"/>
                      </a:pPr>
                      <a:r>
                        <a:rPr kumimoji="1" lang="ja-JP" altLang="en-US" sz="4000" b="1">
                          <a:latin typeface="MS PGothic" panose="020B0600070205080204" pitchFamily="34" charset="-128"/>
                          <a:ea typeface="MS PGothic" panose="020B0600070205080204" pitchFamily="34" charset="-128"/>
                        </a:rPr>
                        <a:t>あっちむいてほい</a:t>
                      </a:r>
                      <a:endParaRPr kumimoji="1" lang="en-US" altLang="ja-JP" sz="4000" b="1" dirty="0">
                        <a:latin typeface="MS PGothic" panose="020B0600070205080204" pitchFamily="34" charset="-128"/>
                        <a:ea typeface="MS PGothic" panose="020B0600070205080204" pitchFamily="34" charset="-128"/>
                      </a:endParaRPr>
                    </a:p>
                    <a:p>
                      <a:pPr marL="571500" indent="-571500" algn="l">
                        <a:buFont typeface="Arial" panose="020B0604020202020204" pitchFamily="34" charset="0"/>
                        <a:buChar char="•"/>
                      </a:pPr>
                      <a:r>
                        <a:rPr kumimoji="1" lang="ja-JP" altLang="en-US" sz="4000">
                          <a:latin typeface="MS PGothic" panose="020B0600070205080204" pitchFamily="34" charset="-128"/>
                          <a:ea typeface="MS PGothic" panose="020B0600070205080204" pitchFamily="34" charset="-128"/>
                        </a:rPr>
                        <a:t>「ここ！マダガスカルっ！！」</a:t>
                      </a:r>
                      <a:endParaRPr kumimoji="1" lang="ja-JP" altLang="en-US" sz="4000" dirty="0">
                        <a:latin typeface="MS PGothic" panose="020B0600070205080204" pitchFamily="34" charset="-128"/>
                        <a:ea typeface="MS PGothic" panose="020B0600070205080204" pitchFamily="34" charset="-128"/>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2892306223"/>
                  </a:ext>
                </a:extLst>
              </a:tr>
              <a:tr h="1228358">
                <a:tc rowSpan="3">
                  <a:txBody>
                    <a:bodyPr/>
                    <a:lstStyle/>
                    <a:p>
                      <a:pPr algn="ctr"/>
                      <a:endParaRPr kumimoji="1" lang="ja-JP" altLang="en-US" sz="4000">
                        <a:latin typeface="MS PGothic" panose="020B0600070205080204" pitchFamily="34" charset="-128"/>
                        <a:ea typeface="MS PGothic" panose="020B0600070205080204" pitchFamily="34" charset="-128"/>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marL="0" indent="0" algn="ctr">
                        <a:buFont typeface="Arial" panose="020B0604020202020204" pitchFamily="34" charset="0"/>
                        <a:buNone/>
                      </a:pPr>
                      <a:r>
                        <a:rPr kumimoji="1" lang="en-US" altLang="ja-JP" sz="4000" dirty="0">
                          <a:latin typeface="MS PGothic" panose="020B0600070205080204" pitchFamily="34" charset="-128"/>
                          <a:ea typeface="MS PGothic" panose="020B0600070205080204" pitchFamily="34" charset="-128"/>
                        </a:rPr>
                        <a:t>NJM</a:t>
                      </a:r>
                      <a:endParaRPr kumimoji="1" lang="ja-JP" altLang="en-US" sz="4000" dirty="0">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marL="571500" indent="-571500" algn="l">
                        <a:buFont typeface="Arial" panose="020B0604020202020204" pitchFamily="34" charset="0"/>
                        <a:buChar char="•"/>
                      </a:pPr>
                      <a:r>
                        <a:rPr kumimoji="1" lang="ja-JP" altLang="en-US" sz="4000">
                          <a:latin typeface="MS PGothic" panose="020B0600070205080204" pitchFamily="34" charset="-128"/>
                          <a:ea typeface="MS PGothic" panose="020B0600070205080204" pitchFamily="34" charset="-128"/>
                        </a:rPr>
                        <a:t>「お前の席ねぇから」</a:t>
                      </a:r>
                      <a:endParaRPr kumimoji="1" lang="en-US" altLang="ja-JP" sz="4000" dirty="0">
                        <a:latin typeface="MS PGothic" panose="020B0600070205080204" pitchFamily="34" charset="-128"/>
                        <a:ea typeface="MS PGothic" panose="020B0600070205080204" pitchFamily="34" charset="-128"/>
                      </a:endParaRPr>
                    </a:p>
                    <a:p>
                      <a:pPr marL="571500" indent="-571500" algn="l">
                        <a:buFont typeface="Arial" panose="020B0604020202020204" pitchFamily="34" charset="0"/>
                        <a:buChar char="•"/>
                      </a:pPr>
                      <a:r>
                        <a:rPr kumimoji="1" lang="ja-JP" altLang="en-US" sz="4000">
                          <a:latin typeface="MS PGothic" panose="020B0600070205080204" pitchFamily="34" charset="-128"/>
                          <a:ea typeface="MS PGothic" panose="020B0600070205080204" pitchFamily="34" charset="-128"/>
                        </a:rPr>
                        <a:t>「え！？この人が私の父さん？！」</a:t>
                      </a:r>
                      <a:endParaRPr kumimoji="1" lang="ja-JP" altLang="en-US" sz="4000" dirty="0">
                        <a:latin typeface="MS PGothic" panose="020B0600070205080204" pitchFamily="34" charset="-128"/>
                        <a:ea typeface="MS PGothic" panose="020B0600070205080204" pitchFamily="34" charset="-128"/>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338461129"/>
                  </a:ext>
                </a:extLst>
              </a:tr>
              <a:tr h="1228357">
                <a:tc vMerge="1">
                  <a:txBody>
                    <a:bodyPr/>
                    <a:lstStyle/>
                    <a:p>
                      <a:endParaRPr kumimoji="1" lang="ja-JP" altLang="en-US"/>
                    </a:p>
                  </a:txBody>
                  <a:tcPr/>
                </a:tc>
                <a:tc>
                  <a:txBody>
                    <a:bodyPr/>
                    <a:lstStyle/>
                    <a:p>
                      <a:pPr marL="0" indent="0" algn="ctr">
                        <a:buFont typeface="Arial" panose="020B0604020202020204" pitchFamily="34" charset="0"/>
                        <a:buNone/>
                      </a:pPr>
                      <a:r>
                        <a:rPr kumimoji="1" lang="en-US" altLang="ja-JP" sz="4000" dirty="0">
                          <a:latin typeface="MS PGothic" panose="020B0600070205080204" pitchFamily="34" charset="-128"/>
                          <a:ea typeface="MS PGothic" panose="020B0600070205080204" pitchFamily="34" charset="-128"/>
                        </a:rPr>
                        <a:t>GUMI-AE</a:t>
                      </a:r>
                      <a:endParaRPr kumimoji="1" lang="ja-JP" altLang="en-US" sz="4000" dirty="0">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marL="571500" indent="-571500" algn="l">
                        <a:buFont typeface="Arial" panose="020B0604020202020204" pitchFamily="34" charset="0"/>
                        <a:buChar char="•"/>
                      </a:pPr>
                      <a:r>
                        <a:rPr kumimoji="1" lang="ja-JP" altLang="en-US" sz="4000">
                          <a:latin typeface="MS PGothic" panose="020B0600070205080204" pitchFamily="34" charset="-128"/>
                          <a:ea typeface="MS PGothic" panose="020B0600070205080204" pitchFamily="34" charset="-128"/>
                        </a:rPr>
                        <a:t>この後、車に轢かれた</a:t>
                      </a:r>
                      <a:endParaRPr kumimoji="1" lang="en-US" altLang="ja-JP" sz="4000" dirty="0">
                        <a:latin typeface="MS PGothic" panose="020B0600070205080204" pitchFamily="34" charset="-128"/>
                        <a:ea typeface="MS PGothic" panose="020B0600070205080204" pitchFamily="34" charset="-128"/>
                      </a:endParaRPr>
                    </a:p>
                    <a:p>
                      <a:pPr marL="571500" indent="-571500" algn="l">
                        <a:buFont typeface="Arial" panose="020B0604020202020204" pitchFamily="34" charset="0"/>
                        <a:buChar char="•"/>
                      </a:pPr>
                      <a:r>
                        <a:rPr kumimoji="1" lang="ja-JP" altLang="en-US" sz="4000">
                          <a:latin typeface="MS PGothic" panose="020B0600070205080204" pitchFamily="34" charset="-128"/>
                          <a:ea typeface="MS PGothic" panose="020B0600070205080204" pitchFamily="34" charset="-128"/>
                        </a:rPr>
                        <a:t>この人が新しいお父さん？</a:t>
                      </a:r>
                      <a:endParaRPr kumimoji="1" lang="ja-JP" altLang="en-US" sz="4000" dirty="0">
                        <a:latin typeface="MS PGothic" panose="020B0600070205080204" pitchFamily="34" charset="-128"/>
                        <a:ea typeface="MS PGothic" panose="020B0600070205080204" pitchFamily="34" charset="-128"/>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3389838361"/>
                  </a:ext>
                </a:extLst>
              </a:tr>
              <a:tr h="1228358">
                <a:tc vMerge="1">
                  <a:txBody>
                    <a:bodyPr/>
                    <a:lstStyle/>
                    <a:p>
                      <a:endParaRPr kumimoji="1" lang="ja-JP" altLang="en-US"/>
                    </a:p>
                  </a:txBody>
                  <a:tcPr/>
                </a:tc>
                <a:tc>
                  <a:txBody>
                    <a:bodyPr/>
                    <a:lstStyle/>
                    <a:p>
                      <a:pPr marL="0" indent="0" algn="ctr">
                        <a:buFont typeface="Arial" panose="020B0604020202020204" pitchFamily="34" charset="0"/>
                        <a:buNone/>
                      </a:pPr>
                      <a:r>
                        <a:rPr kumimoji="1" lang="ja-JP" altLang="en-US" sz="4000">
                          <a:latin typeface="MS PGothic" panose="020B0600070205080204" pitchFamily="34" charset="-128"/>
                          <a:ea typeface="MS PGothic" panose="020B0600070205080204" pitchFamily="34" charset="-128"/>
                        </a:rPr>
                        <a:t>提案手法</a:t>
                      </a:r>
                      <a:endParaRPr kumimoji="1" lang="ja-JP" altLang="en-US" sz="4000" dirty="0">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marL="571500" indent="-571500" algn="l">
                        <a:buFont typeface="Arial" panose="020B0604020202020204" pitchFamily="34" charset="0"/>
                        <a:buChar char="•"/>
                      </a:pPr>
                      <a:r>
                        <a:rPr kumimoji="1" lang="ja-JP" altLang="en-US" sz="4000">
                          <a:latin typeface="MS PGothic" panose="020B0600070205080204" pitchFamily="34" charset="-128"/>
                          <a:ea typeface="MS PGothic" panose="020B0600070205080204" pitchFamily="34" charset="-128"/>
                        </a:rPr>
                        <a:t>はじめてのおつかい</a:t>
                      </a:r>
                      <a:r>
                        <a:rPr kumimoji="1" lang="en-US" altLang="ja-JP" sz="4000" dirty="0">
                          <a:latin typeface="MS PGothic" panose="020B0600070205080204" pitchFamily="34" charset="-128"/>
                          <a:ea typeface="MS PGothic" panose="020B0600070205080204" pitchFamily="34" charset="-128"/>
                        </a:rPr>
                        <a:t>〜</a:t>
                      </a:r>
                      <a:r>
                        <a:rPr kumimoji="1" lang="ja-JP" altLang="en-US" sz="4000">
                          <a:latin typeface="MS PGothic" panose="020B0600070205080204" pitchFamily="34" charset="-128"/>
                          <a:ea typeface="MS PGothic" panose="020B0600070205080204" pitchFamily="34" charset="-128"/>
                        </a:rPr>
                        <a:t>？</a:t>
                      </a:r>
                      <a:endParaRPr kumimoji="1" lang="en-US" altLang="ja-JP" sz="4000" dirty="0">
                        <a:latin typeface="MS PGothic" panose="020B0600070205080204" pitchFamily="34" charset="-128"/>
                        <a:ea typeface="MS PGothic" panose="020B0600070205080204" pitchFamily="34" charset="-128"/>
                      </a:endParaRPr>
                    </a:p>
                    <a:p>
                      <a:pPr marL="571500" indent="-571500" algn="l">
                        <a:buFont typeface="Arial" panose="020B0604020202020204" pitchFamily="34" charset="0"/>
                        <a:buChar char="•"/>
                      </a:pPr>
                      <a:r>
                        <a:rPr kumimoji="1" lang="ja-JP" altLang="en-US" sz="4000" b="1">
                          <a:latin typeface="MS PGothic" panose="020B0600070205080204" pitchFamily="34" charset="-128"/>
                          <a:ea typeface="MS PGothic" panose="020B0600070205080204" pitchFamily="34" charset="-128"/>
                        </a:rPr>
                        <a:t>はじめての絶叫マシン</a:t>
                      </a:r>
                      <a:endParaRPr kumimoji="1" lang="ja-JP" altLang="en-US" sz="4000" b="1" dirty="0">
                        <a:latin typeface="MS PGothic" panose="020B0600070205080204" pitchFamily="34" charset="-128"/>
                        <a:ea typeface="MS PGothic" panose="020B0600070205080204" pitchFamily="34" charset="-128"/>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3475250430"/>
                  </a:ext>
                </a:extLst>
              </a:tr>
            </a:tbl>
          </a:graphicData>
        </a:graphic>
      </p:graphicFrame>
      <p:sp>
        <p:nvSpPr>
          <p:cNvPr id="10" name="テキスト ボックス 9">
            <a:extLst>
              <a:ext uri="{FF2B5EF4-FFF2-40B4-BE49-F238E27FC236}">
                <a16:creationId xmlns:a16="http://schemas.microsoft.com/office/drawing/2014/main" id="{D9D2C117-395C-350E-F2FF-7C3174417860}"/>
              </a:ext>
            </a:extLst>
          </p:cNvPr>
          <p:cNvSpPr txBox="1"/>
          <p:nvPr/>
        </p:nvSpPr>
        <p:spPr>
          <a:xfrm>
            <a:off x="15403735" y="23632498"/>
            <a:ext cx="14681200" cy="707886"/>
          </a:xfrm>
          <a:prstGeom prst="rect">
            <a:avLst/>
          </a:prstGeom>
          <a:noFill/>
        </p:spPr>
        <p:txBody>
          <a:bodyPr wrap="square" rtlCol="0">
            <a:spAutoFit/>
          </a:bodyPr>
          <a:lstStyle/>
          <a:p>
            <a:pPr algn="ctr"/>
            <a:r>
              <a:rPr kumimoji="1" lang="ja-JP" altLang="en-US" sz="4000">
                <a:latin typeface="MS PGothic" panose="020B0600070205080204" pitchFamily="34" charset="-128"/>
                <a:ea typeface="MS PGothic" panose="020B0600070205080204" pitchFamily="34" charset="-128"/>
              </a:rPr>
              <a:t>表</a:t>
            </a:r>
            <a:r>
              <a:rPr kumimoji="1" lang="en-US" altLang="ja-JP" sz="4000" dirty="0">
                <a:latin typeface="MS PGothic" panose="020B0600070205080204" pitchFamily="34" charset="-128"/>
                <a:ea typeface="MS PGothic" panose="020B0600070205080204" pitchFamily="34" charset="-128"/>
              </a:rPr>
              <a:t>4</a:t>
            </a:r>
            <a:r>
              <a:rPr kumimoji="1" lang="ja-JP" altLang="en-US" sz="4000">
                <a:latin typeface="MS PGothic" panose="020B0600070205080204" pitchFamily="34" charset="-128"/>
                <a:ea typeface="MS PGothic" panose="020B0600070205080204" pitchFamily="34" charset="-128"/>
              </a:rPr>
              <a:t>　学習した</a:t>
            </a:r>
            <a:r>
              <a:rPr kumimoji="1" lang="en-US" altLang="ja-JP" sz="4000" dirty="0">
                <a:latin typeface="MS PGothic" panose="020B0600070205080204" pitchFamily="34" charset="-128"/>
                <a:ea typeface="MS PGothic" panose="020B0600070205080204" pitchFamily="34" charset="-128"/>
              </a:rPr>
              <a:t>AI</a:t>
            </a:r>
            <a:r>
              <a:rPr kumimoji="1" lang="ja-JP" altLang="en-US" sz="4000">
                <a:latin typeface="MS PGothic" panose="020B0600070205080204" pitchFamily="34" charset="-128"/>
                <a:ea typeface="MS PGothic" panose="020B0600070205080204" pitchFamily="34" charset="-128"/>
              </a:rPr>
              <a:t>が生成した大喜利</a:t>
            </a:r>
            <a:endParaRPr kumimoji="1" lang="en-US" altLang="ja-JP" sz="4000" dirty="0">
              <a:latin typeface="MS PGothic" panose="020B0600070205080204" pitchFamily="34" charset="-128"/>
              <a:ea typeface="MS PGothic" panose="020B0600070205080204" pitchFamily="34" charset="-128"/>
            </a:endParaRPr>
          </a:p>
        </p:txBody>
      </p:sp>
      <p:pic>
        <p:nvPicPr>
          <p:cNvPr id="17" name="図 16">
            <a:extLst>
              <a:ext uri="{FF2B5EF4-FFF2-40B4-BE49-F238E27FC236}">
                <a16:creationId xmlns:a16="http://schemas.microsoft.com/office/drawing/2014/main" id="{399B6378-9916-5A72-95B9-0468129A97C6}"/>
              </a:ext>
            </a:extLst>
          </p:cNvPr>
          <p:cNvPicPr>
            <a:picLocks/>
          </p:cNvPicPr>
          <p:nvPr/>
        </p:nvPicPr>
        <p:blipFill>
          <a:blip r:embed="rId29"/>
          <a:stretch>
            <a:fillRect/>
          </a:stretch>
        </p:blipFill>
        <p:spPr>
          <a:xfrm>
            <a:off x="15524651" y="25206091"/>
            <a:ext cx="3628800" cy="3628800"/>
          </a:xfrm>
          <a:prstGeom prst="rect">
            <a:avLst/>
          </a:prstGeom>
        </p:spPr>
      </p:pic>
      <p:pic>
        <p:nvPicPr>
          <p:cNvPr id="18" name="図 17">
            <a:extLst>
              <a:ext uri="{FF2B5EF4-FFF2-40B4-BE49-F238E27FC236}">
                <a16:creationId xmlns:a16="http://schemas.microsoft.com/office/drawing/2014/main" id="{FD0DEFB5-8593-4D88-9C25-E64F106ADFA8}"/>
              </a:ext>
            </a:extLst>
          </p:cNvPr>
          <p:cNvPicPr>
            <a:picLocks/>
          </p:cNvPicPr>
          <p:nvPr/>
        </p:nvPicPr>
        <p:blipFill>
          <a:blip r:embed="rId30"/>
          <a:stretch>
            <a:fillRect/>
          </a:stretch>
        </p:blipFill>
        <p:spPr>
          <a:xfrm>
            <a:off x="15524651" y="29125646"/>
            <a:ext cx="3628800" cy="3628800"/>
          </a:xfrm>
          <a:prstGeom prst="rect">
            <a:avLst/>
          </a:prstGeom>
        </p:spPr>
      </p:pic>
      <p:pic>
        <p:nvPicPr>
          <p:cNvPr id="20" name="図 19">
            <a:extLst>
              <a:ext uri="{FF2B5EF4-FFF2-40B4-BE49-F238E27FC236}">
                <a16:creationId xmlns:a16="http://schemas.microsoft.com/office/drawing/2014/main" id="{7B00FD77-DD40-B9D2-3B5C-1687E20142A0}"/>
              </a:ext>
            </a:extLst>
          </p:cNvPr>
          <p:cNvPicPr>
            <a:picLocks/>
          </p:cNvPicPr>
          <p:nvPr/>
        </p:nvPicPr>
        <p:blipFill>
          <a:blip r:embed="rId31"/>
          <a:stretch>
            <a:fillRect/>
          </a:stretch>
        </p:blipFill>
        <p:spPr>
          <a:xfrm>
            <a:off x="15531129" y="33038307"/>
            <a:ext cx="3628800" cy="3628800"/>
          </a:xfrm>
          <a:prstGeom prst="rect">
            <a:avLst/>
          </a:prstGeom>
        </p:spPr>
      </p:pic>
      <p:pic>
        <p:nvPicPr>
          <p:cNvPr id="21" name="図 20">
            <a:extLst>
              <a:ext uri="{FF2B5EF4-FFF2-40B4-BE49-F238E27FC236}">
                <a16:creationId xmlns:a16="http://schemas.microsoft.com/office/drawing/2014/main" id="{A32FCC2F-E235-F241-DDA7-B8E8A42701A3}"/>
              </a:ext>
            </a:extLst>
          </p:cNvPr>
          <p:cNvPicPr>
            <a:picLocks/>
          </p:cNvPicPr>
          <p:nvPr/>
        </p:nvPicPr>
        <p:blipFill>
          <a:blip r:embed="rId32"/>
          <a:stretch>
            <a:fillRect/>
          </a:stretch>
        </p:blipFill>
        <p:spPr>
          <a:xfrm>
            <a:off x="15524651" y="36957862"/>
            <a:ext cx="3628800" cy="3628800"/>
          </a:xfrm>
          <a:prstGeom prst="rect">
            <a:avLst/>
          </a:prstGeom>
        </p:spPr>
      </p:pic>
      <p:sp>
        <p:nvSpPr>
          <p:cNvPr id="22" name="テキスト ボックス 21">
            <a:extLst>
              <a:ext uri="{FF2B5EF4-FFF2-40B4-BE49-F238E27FC236}">
                <a16:creationId xmlns:a16="http://schemas.microsoft.com/office/drawing/2014/main" id="{173076FA-3EDE-57D3-D6E6-95CF74F24449}"/>
              </a:ext>
            </a:extLst>
          </p:cNvPr>
          <p:cNvSpPr txBox="1"/>
          <p:nvPr/>
        </p:nvSpPr>
        <p:spPr>
          <a:xfrm>
            <a:off x="15145419" y="41193838"/>
            <a:ext cx="14916944" cy="830997"/>
          </a:xfrm>
          <a:prstGeom prst="rect">
            <a:avLst/>
          </a:prstGeom>
          <a:noFill/>
        </p:spPr>
        <p:txBody>
          <a:bodyPr wrap="square" rtlCol="0">
            <a:spAutoFit/>
          </a:bodyPr>
          <a:lstStyle/>
          <a:p>
            <a:r>
              <a:rPr lang="en-US" altLang="ja-JP" sz="2400" dirty="0">
                <a:solidFill>
                  <a:srgbClr val="111111"/>
                </a:solidFill>
                <a:latin typeface="MS PGothic" panose="020B0600070205080204" pitchFamily="34" charset="-128"/>
                <a:ea typeface="MS PGothic" panose="020B0600070205080204" pitchFamily="34" charset="-128"/>
              </a:rPr>
              <a:t>[4] V. Ashish, et al., </a:t>
            </a:r>
            <a:r>
              <a:rPr lang="en-US" altLang="ja-JP" sz="2400" i="1" dirty="0">
                <a:solidFill>
                  <a:srgbClr val="111111"/>
                </a:solidFill>
                <a:latin typeface="MS PGothic" panose="020B0600070205080204" pitchFamily="34" charset="-128"/>
                <a:ea typeface="MS PGothic" panose="020B0600070205080204" pitchFamily="34" charset="-128"/>
              </a:rPr>
              <a:t>Advances in neural information processing systems 31</a:t>
            </a:r>
            <a:r>
              <a:rPr lang="en-US" altLang="ja-JP" sz="2400" dirty="0">
                <a:solidFill>
                  <a:srgbClr val="111111"/>
                </a:solidFill>
                <a:latin typeface="MS PGothic" panose="020B0600070205080204" pitchFamily="34" charset="-128"/>
                <a:ea typeface="MS PGothic" panose="020B0600070205080204" pitchFamily="34" charset="-128"/>
              </a:rPr>
              <a:t>, pp.5998-6008, Dec. 2017.</a:t>
            </a:r>
          </a:p>
          <a:p>
            <a:r>
              <a:rPr lang="en-US" altLang="ja-JP" sz="2400" b="0" i="0" dirty="0">
                <a:solidFill>
                  <a:srgbClr val="111111"/>
                </a:solidFill>
                <a:effectLst/>
                <a:latin typeface="MS PGothic" panose="020B0600070205080204" pitchFamily="34" charset="-128"/>
                <a:ea typeface="MS PGothic" panose="020B0600070205080204" pitchFamily="34" charset="-128"/>
              </a:rPr>
              <a:t>[5] D. Alexey, et al., </a:t>
            </a:r>
            <a:r>
              <a:rPr lang="en-US" altLang="ja-JP" sz="2400" b="0" i="1" dirty="0" err="1">
                <a:solidFill>
                  <a:srgbClr val="111111"/>
                </a:solidFill>
                <a:effectLst/>
                <a:latin typeface="MS PGothic" panose="020B0600070205080204" pitchFamily="34" charset="-128"/>
                <a:ea typeface="MS PGothic" panose="020B0600070205080204" pitchFamily="34" charset="-128"/>
              </a:rPr>
              <a:t>arXiv</a:t>
            </a:r>
            <a:r>
              <a:rPr lang="en-US" altLang="ja-JP" sz="2400" b="0" i="1" dirty="0">
                <a:solidFill>
                  <a:srgbClr val="111111"/>
                </a:solidFill>
                <a:effectLst/>
                <a:latin typeface="MS PGothic" panose="020B0600070205080204" pitchFamily="34" charset="-128"/>
                <a:ea typeface="MS PGothic" panose="020B0600070205080204" pitchFamily="34" charset="-128"/>
              </a:rPr>
              <a:t> preprint arXiv:2010.11929</a:t>
            </a:r>
            <a:r>
              <a:rPr lang="en-US" altLang="ja-JP" sz="2400" b="0" i="0" dirty="0">
                <a:solidFill>
                  <a:srgbClr val="111111"/>
                </a:solidFill>
                <a:effectLst/>
                <a:latin typeface="MS PGothic" panose="020B0600070205080204" pitchFamily="34" charset="-128"/>
                <a:ea typeface="MS PGothic" panose="020B0600070205080204" pitchFamily="34" charset="-128"/>
              </a:rPr>
              <a:t>, Oct. 2020.</a:t>
            </a:r>
            <a:endParaRPr lang="en" altLang="ja-JP" sz="2400" b="0" i="0" dirty="0">
              <a:solidFill>
                <a:srgbClr val="111111"/>
              </a:solidFill>
              <a:effectLst/>
              <a:latin typeface="MS PGothic" panose="020B0600070205080204" pitchFamily="34" charset="-128"/>
              <a:ea typeface="MS PGothic" panose="020B0600070205080204" pitchFamily="34" charset="-128"/>
            </a:endParaRPr>
          </a:p>
        </p:txBody>
      </p:sp>
      <p:pic>
        <p:nvPicPr>
          <p:cNvPr id="1026" name="Picture 2" descr="衣服乾燥機洗濯機ランドリー">
            <a:extLst>
              <a:ext uri="{FF2B5EF4-FFF2-40B4-BE49-F238E27FC236}">
                <a16:creationId xmlns:a16="http://schemas.microsoft.com/office/drawing/2014/main" id="{86ECC39E-666A-5846-0D03-CBA495DA5232}"/>
              </a:ext>
            </a:extLst>
          </p:cNvPr>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317387" y="7837221"/>
            <a:ext cx="3626958" cy="36269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27716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F5371F-BD94-9DF2-2AAC-91EF86270484}"/>
              </a:ext>
            </a:extLst>
          </p:cNvPr>
          <p:cNvSpPr>
            <a:spLocks noGrp="1"/>
          </p:cNvSpPr>
          <p:nvPr>
            <p:ph type="ctrTitle"/>
          </p:nvPr>
        </p:nvSpPr>
        <p:spPr/>
        <p:txBody>
          <a:bodyPr>
            <a:normAutofit/>
          </a:bodyPr>
          <a:lstStyle/>
          <a:p>
            <a:r>
              <a:rPr kumimoji="1" lang="en-US" altLang="ja-JP" sz="4800" dirty="0"/>
              <a:t>Transformer</a:t>
            </a:r>
            <a:r>
              <a:rPr kumimoji="1" lang="ja-JP" altLang="en-US" sz="4800"/>
              <a:t>を用いた大喜利の生成に関する研究</a:t>
            </a:r>
          </a:p>
        </p:txBody>
      </p:sp>
      <p:sp>
        <p:nvSpPr>
          <p:cNvPr id="3" name="字幕 2">
            <a:extLst>
              <a:ext uri="{FF2B5EF4-FFF2-40B4-BE49-F238E27FC236}">
                <a16:creationId xmlns:a16="http://schemas.microsoft.com/office/drawing/2014/main" id="{BB5E39A8-1A8D-5C13-F5CF-37BE5A2A21D9}"/>
              </a:ext>
            </a:extLst>
          </p:cNvPr>
          <p:cNvSpPr>
            <a:spLocks noGrp="1"/>
          </p:cNvSpPr>
          <p:nvPr>
            <p:ph type="subTitle" idx="1"/>
          </p:nvPr>
        </p:nvSpPr>
        <p:spPr/>
        <p:txBody>
          <a:bodyPr>
            <a:normAutofit/>
          </a:bodyPr>
          <a:lstStyle/>
          <a:p>
            <a:r>
              <a:rPr kumimoji="1" lang="ja-JP" altLang="en-US" sz="4000"/>
              <a:t>山富 龍，シェヘラザード マハブービ，二宮 洋</a:t>
            </a:r>
            <a:r>
              <a:rPr kumimoji="1" lang="en-US" altLang="ja-JP" sz="4000" dirty="0"/>
              <a:t> (</a:t>
            </a:r>
            <a:r>
              <a:rPr kumimoji="1" lang="ja-JP" altLang="en-US" sz="4000"/>
              <a:t>湘南工科大学</a:t>
            </a:r>
            <a:r>
              <a:rPr kumimoji="1" lang="en-US" altLang="ja-JP" sz="4000" dirty="0"/>
              <a:t>)</a:t>
            </a:r>
            <a:endParaRPr kumimoji="1" lang="ja-JP" altLang="en-US" sz="4000"/>
          </a:p>
        </p:txBody>
      </p:sp>
      <p:sp>
        <p:nvSpPr>
          <p:cNvPr id="4" name="正方形/長方形 3">
            <a:extLst>
              <a:ext uri="{FF2B5EF4-FFF2-40B4-BE49-F238E27FC236}">
                <a16:creationId xmlns:a16="http://schemas.microsoft.com/office/drawing/2014/main" id="{DE95EF5C-53FB-FE66-F28D-20DAE8FE334C}"/>
              </a:ext>
            </a:extLst>
          </p:cNvPr>
          <p:cNvSpPr/>
          <p:nvPr/>
        </p:nvSpPr>
        <p:spPr>
          <a:xfrm>
            <a:off x="203200" y="2288708"/>
            <a:ext cx="14681200" cy="10215712"/>
          </a:xfrm>
          <a:prstGeom prst="rect">
            <a:avLst/>
          </a:prstGeom>
          <a:solidFill>
            <a:schemeClr val="bg1"/>
          </a:solid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正方形/長方形 4">
            <a:extLst>
              <a:ext uri="{FF2B5EF4-FFF2-40B4-BE49-F238E27FC236}">
                <a16:creationId xmlns:a16="http://schemas.microsoft.com/office/drawing/2014/main" id="{A2B111CC-6D71-BBAC-4AE9-1091385A3254}"/>
              </a:ext>
            </a:extLst>
          </p:cNvPr>
          <p:cNvSpPr/>
          <p:nvPr/>
        </p:nvSpPr>
        <p:spPr>
          <a:xfrm>
            <a:off x="203200" y="2288708"/>
            <a:ext cx="14681200" cy="849085"/>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4400">
                <a:latin typeface="MS PGothic" panose="020B0600070205080204" pitchFamily="34" charset="-128"/>
                <a:ea typeface="MS PGothic" panose="020B0600070205080204" pitchFamily="34" charset="-128"/>
              </a:rPr>
              <a:t>背景</a:t>
            </a:r>
          </a:p>
        </p:txBody>
      </p:sp>
      <p:sp>
        <p:nvSpPr>
          <p:cNvPr id="6" name="テキスト ボックス 5">
            <a:extLst>
              <a:ext uri="{FF2B5EF4-FFF2-40B4-BE49-F238E27FC236}">
                <a16:creationId xmlns:a16="http://schemas.microsoft.com/office/drawing/2014/main" id="{186B17AA-08AA-C07F-F3F0-27BF9EB9F5A0}"/>
              </a:ext>
            </a:extLst>
          </p:cNvPr>
          <p:cNvSpPr txBox="1"/>
          <p:nvPr/>
        </p:nvSpPr>
        <p:spPr>
          <a:xfrm>
            <a:off x="203200" y="3173095"/>
            <a:ext cx="14681200" cy="9448740"/>
          </a:xfrm>
          <a:prstGeom prst="rect">
            <a:avLst/>
          </a:prstGeom>
          <a:noFill/>
        </p:spPr>
        <p:txBody>
          <a:bodyPr wrap="square" rtlCol="0">
            <a:spAutoFit/>
          </a:bodyPr>
          <a:lstStyle/>
          <a:p>
            <a:pPr indent="457200" algn="just"/>
            <a:r>
              <a:rPr kumimoji="1" lang="ja-JP" altLang="en-US" sz="3200">
                <a:latin typeface="MS PGothic" panose="020B0600070205080204" pitchFamily="34" charset="-128"/>
                <a:ea typeface="MS PGothic" panose="020B0600070205080204" pitchFamily="34" charset="-128"/>
              </a:rPr>
              <a:t>近年，画像に対し大喜利文章を生成する</a:t>
            </a:r>
            <a:r>
              <a:rPr kumimoji="1" lang="en-US" altLang="ja-JP" sz="3200" dirty="0">
                <a:latin typeface="MS PGothic" panose="020B0600070205080204" pitchFamily="34" charset="-128"/>
                <a:ea typeface="MS PGothic" panose="020B0600070205080204" pitchFamily="34" charset="-128"/>
              </a:rPr>
              <a:t>AI</a:t>
            </a:r>
            <a:r>
              <a:rPr kumimoji="1" lang="ja-JP" altLang="en-US" sz="3200">
                <a:latin typeface="MS PGothic" panose="020B0600070205080204" pitchFamily="34" charset="-128"/>
                <a:ea typeface="MS PGothic" panose="020B0600070205080204" pitchFamily="34" charset="-128"/>
              </a:rPr>
              <a:t>について研究が行われている</a:t>
            </a:r>
            <a:r>
              <a:rPr kumimoji="1" lang="en-US" altLang="ja-JP" sz="3200" dirty="0">
                <a:latin typeface="MS PGothic" panose="020B0600070205080204" pitchFamily="34" charset="-128"/>
                <a:ea typeface="MS PGothic" panose="020B0600070205080204" pitchFamily="34" charset="-128"/>
              </a:rPr>
              <a:t>[1], [2]</a:t>
            </a:r>
            <a:r>
              <a:rPr kumimoji="1" lang="ja-JP" altLang="en-US" sz="3200">
                <a:latin typeface="MS PGothic" panose="020B0600070205080204" pitchFamily="34" charset="-128"/>
                <a:ea typeface="MS PGothic" panose="020B0600070205080204" pitchFamily="34" charset="-128"/>
              </a:rPr>
              <a:t>．これらの研究では</a:t>
            </a:r>
            <a:r>
              <a:rPr kumimoji="1" lang="en-US" altLang="ja-JP" sz="3200" b="1" dirty="0">
                <a:latin typeface="MS PGothic" panose="020B0600070205080204" pitchFamily="34" charset="-128"/>
                <a:ea typeface="MS PGothic" panose="020B0600070205080204" pitchFamily="34" charset="-128"/>
              </a:rPr>
              <a:t>CNN+LSTM</a:t>
            </a:r>
            <a:r>
              <a:rPr kumimoji="1" lang="ja-JP" altLang="en-US" sz="3200">
                <a:latin typeface="MS PGothic" panose="020B0600070205080204" pitchFamily="34" charset="-128"/>
                <a:ea typeface="MS PGothic" panose="020B0600070205080204" pitchFamily="34" charset="-128"/>
              </a:rPr>
              <a:t>で構成される画像キャプション生成モデルに対し，大喜利投稿サイト「ボケて」</a:t>
            </a:r>
            <a:r>
              <a:rPr kumimoji="1" lang="en-US" altLang="ja-JP" sz="3200" dirty="0">
                <a:latin typeface="MS PGothic" panose="020B0600070205080204" pitchFamily="34" charset="-128"/>
                <a:ea typeface="MS PGothic" panose="020B0600070205080204" pitchFamily="34" charset="-128"/>
              </a:rPr>
              <a:t>[3]</a:t>
            </a:r>
            <a:r>
              <a:rPr kumimoji="1" lang="ja-JP" altLang="en-US" sz="3200">
                <a:latin typeface="MS PGothic" panose="020B0600070205080204" pitchFamily="34" charset="-128"/>
                <a:ea typeface="MS PGothic" panose="020B0600070205080204" pitchFamily="34" charset="-128"/>
              </a:rPr>
              <a:t>の画像と大喜利を学習することで画像に対し大喜利文章を生成する</a:t>
            </a:r>
            <a:r>
              <a:rPr kumimoji="1" lang="en-US" altLang="ja-JP" sz="3200" dirty="0">
                <a:latin typeface="MS PGothic" panose="020B0600070205080204" pitchFamily="34" charset="-128"/>
                <a:ea typeface="MS PGothic" panose="020B0600070205080204" pitchFamily="34" charset="-128"/>
              </a:rPr>
              <a:t>AI</a:t>
            </a:r>
            <a:r>
              <a:rPr kumimoji="1" lang="ja-JP" altLang="en-US" sz="3200">
                <a:latin typeface="MS PGothic" panose="020B0600070205080204" pitchFamily="34" charset="-128"/>
                <a:ea typeface="MS PGothic" panose="020B0600070205080204" pitchFamily="34" charset="-128"/>
              </a:rPr>
              <a:t>を実現している．</a:t>
            </a:r>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p:txBody>
      </p:sp>
      <p:sp>
        <p:nvSpPr>
          <p:cNvPr id="8" name="正方形/長方形 7">
            <a:extLst>
              <a:ext uri="{FF2B5EF4-FFF2-40B4-BE49-F238E27FC236}">
                <a16:creationId xmlns:a16="http://schemas.microsoft.com/office/drawing/2014/main" id="{6C5D86AC-FF90-F7B1-AD41-E0E18331E7C5}"/>
              </a:ext>
            </a:extLst>
          </p:cNvPr>
          <p:cNvSpPr/>
          <p:nvPr/>
        </p:nvSpPr>
        <p:spPr>
          <a:xfrm>
            <a:off x="203200" y="26486519"/>
            <a:ext cx="29833888" cy="14707317"/>
          </a:xfrm>
          <a:prstGeom prst="rect">
            <a:avLst/>
          </a:prstGeom>
          <a:solidFill>
            <a:schemeClr val="bg1"/>
          </a:solid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1662A24B-FE58-6832-050F-3450DEC9D1C3}"/>
              </a:ext>
            </a:extLst>
          </p:cNvPr>
          <p:cNvSpPr/>
          <p:nvPr/>
        </p:nvSpPr>
        <p:spPr>
          <a:xfrm>
            <a:off x="203200" y="26486520"/>
            <a:ext cx="29833888" cy="849085"/>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4400">
                <a:latin typeface="MS PGothic" panose="020B0600070205080204" pitchFamily="34" charset="-128"/>
                <a:ea typeface="MS PGothic" panose="020B0600070205080204" pitchFamily="34" charset="-128"/>
              </a:rPr>
              <a:t>実験</a:t>
            </a:r>
          </a:p>
        </p:txBody>
      </p:sp>
      <p:graphicFrame>
        <p:nvGraphicFramePr>
          <p:cNvPr id="11" name="表 10">
            <a:extLst>
              <a:ext uri="{FF2B5EF4-FFF2-40B4-BE49-F238E27FC236}">
                <a16:creationId xmlns:a16="http://schemas.microsoft.com/office/drawing/2014/main" id="{1A8023D7-52DA-85E2-FDB9-37AEEB1B7FB6}"/>
              </a:ext>
            </a:extLst>
          </p:cNvPr>
          <p:cNvGraphicFramePr>
            <a:graphicFrameLocks noGrp="1"/>
          </p:cNvGraphicFramePr>
          <p:nvPr>
            <p:extLst>
              <p:ext uri="{D42A27DB-BD31-4B8C-83A1-F6EECF244321}">
                <p14:modId xmlns:p14="http://schemas.microsoft.com/office/powerpoint/2010/main" val="4044296452"/>
              </p:ext>
            </p:extLst>
          </p:nvPr>
        </p:nvGraphicFramePr>
        <p:xfrm>
          <a:off x="203198" y="5765306"/>
          <a:ext cx="14678712" cy="6739114"/>
        </p:xfrm>
        <a:graphic>
          <a:graphicData uri="http://schemas.openxmlformats.org/drawingml/2006/table">
            <a:tbl>
              <a:tblPr firstRow="1" bandRow="1">
                <a:tableStyleId>{5C22544A-7EE6-4342-B048-85BDC9FD1C3A}</a:tableStyleId>
              </a:tblPr>
              <a:tblGrid>
                <a:gridCol w="3088642">
                  <a:extLst>
                    <a:ext uri="{9D8B030D-6E8A-4147-A177-3AD203B41FA5}">
                      <a16:colId xmlns:a16="http://schemas.microsoft.com/office/drawing/2014/main" val="1302717659"/>
                    </a:ext>
                  </a:extLst>
                </a:gridCol>
                <a:gridCol w="11590070">
                  <a:extLst>
                    <a:ext uri="{9D8B030D-6E8A-4147-A177-3AD203B41FA5}">
                      <a16:colId xmlns:a16="http://schemas.microsoft.com/office/drawing/2014/main" val="118972529"/>
                    </a:ext>
                  </a:extLst>
                </a:gridCol>
              </a:tblGrid>
              <a:tr h="530909">
                <a:tc>
                  <a:txBody>
                    <a:bodyPr/>
                    <a:lstStyle/>
                    <a:p>
                      <a:pPr algn="ctr"/>
                      <a:r>
                        <a:rPr kumimoji="1" lang="ja-JP" altLang="en-US" sz="3200" b="0" dirty="0">
                          <a:latin typeface="MS PGothic" panose="020B0600070205080204" pitchFamily="34" charset="-128"/>
                          <a:ea typeface="MS PGothic" panose="020B0600070205080204" pitchFamily="34" charset="-128"/>
                        </a:rPr>
                        <a:t>画像</a:t>
                      </a: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0070C0"/>
                    </a:solidFill>
                  </a:tcPr>
                </a:tc>
                <a:tc>
                  <a:txBody>
                    <a:bodyPr/>
                    <a:lstStyle/>
                    <a:p>
                      <a:pPr algn="ctr"/>
                      <a:r>
                        <a:rPr kumimoji="1" lang="ja-JP" altLang="en-US" sz="3200" b="0" dirty="0">
                          <a:latin typeface="MS PGothic" panose="020B0600070205080204" pitchFamily="34" charset="-128"/>
                          <a:ea typeface="MS PGothic" panose="020B0600070205080204" pitchFamily="34" charset="-128"/>
                        </a:rPr>
                        <a:t>大喜利</a:t>
                      </a: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0070C0"/>
                    </a:solidFill>
                  </a:tcPr>
                </a:tc>
                <a:extLst>
                  <a:ext uri="{0D108BD9-81ED-4DB2-BD59-A6C34878D82A}">
                    <a16:rowId xmlns:a16="http://schemas.microsoft.com/office/drawing/2014/main" val="3361642135"/>
                  </a:ext>
                </a:extLst>
              </a:tr>
              <a:tr h="3096754">
                <a:tc>
                  <a:txBody>
                    <a:bodyPr/>
                    <a:lstStyle/>
                    <a:p>
                      <a:pPr algn="ctr"/>
                      <a:endParaRPr kumimoji="1" lang="ja-JP" altLang="en-US" sz="3200" b="0">
                        <a:latin typeface="MS PGothic" panose="020B0600070205080204" pitchFamily="34" charset="-128"/>
                        <a:ea typeface="MS PGothic" panose="020B0600070205080204" pitchFamily="34" charset="-128"/>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marL="571500" indent="-571500" algn="l">
                        <a:buFont typeface="Arial" panose="020B0604020202020204" pitchFamily="34" charset="0"/>
                        <a:buChar char="•"/>
                      </a:pPr>
                      <a:r>
                        <a:rPr kumimoji="1" lang="ja-JP" altLang="en-US" sz="3200" b="0">
                          <a:latin typeface="MS PGothic" panose="020B0600070205080204" pitchFamily="34" charset="-128"/>
                          <a:ea typeface="MS PGothic" panose="020B0600070205080204" pitchFamily="34" charset="-128"/>
                        </a:rPr>
                        <a:t>だって、お金を入れて回すって</a:t>
                      </a:r>
                      <a:r>
                        <a:rPr kumimoji="1" lang="en-US" altLang="ja-JP" sz="3200" b="0" dirty="0">
                          <a:latin typeface="MS PGothic" panose="020B0600070205080204" pitchFamily="34" charset="-128"/>
                          <a:ea typeface="MS PGothic" panose="020B0600070205080204" pitchFamily="34" charset="-128"/>
                        </a:rPr>
                        <a:t>…</a:t>
                      </a:r>
                    </a:p>
                    <a:p>
                      <a:pPr marL="571500" indent="-571500" algn="l">
                        <a:buFont typeface="Arial" panose="020B0604020202020204" pitchFamily="34" charset="0"/>
                        <a:buChar char="•"/>
                      </a:pPr>
                      <a:r>
                        <a:rPr kumimoji="1" lang="ja-JP" altLang="en-US" sz="3200" b="0">
                          <a:latin typeface="MS PGothic" panose="020B0600070205080204" pitchFamily="34" charset="-128"/>
                          <a:ea typeface="MS PGothic" panose="020B0600070205080204" pitchFamily="34" charset="-128"/>
                        </a:rPr>
                        <a:t>マネーロンダリングしてます</a:t>
                      </a:r>
                    </a:p>
                    <a:p>
                      <a:pPr marL="571500" indent="-571500" algn="l">
                        <a:buFont typeface="Arial" panose="020B0604020202020204" pitchFamily="34" charset="0"/>
                        <a:buChar char="•"/>
                      </a:pPr>
                      <a:r>
                        <a:rPr kumimoji="1" lang="ja-JP" altLang="en-US" sz="3200" b="0">
                          <a:latin typeface="MS PGothic" panose="020B0600070205080204" pitchFamily="34" charset="-128"/>
                          <a:ea typeface="MS PGothic" panose="020B0600070205080204" pitchFamily="34" charset="-128"/>
                        </a:rPr>
                        <a:t>お金を洗浄て言われたし</a:t>
                      </a:r>
                    </a:p>
                    <a:p>
                      <a:pPr marL="571500" indent="-571500" algn="l">
                        <a:buFont typeface="Arial" panose="020B0604020202020204" pitchFamily="34" charset="0"/>
                        <a:buChar char="•"/>
                      </a:pPr>
                      <a:r>
                        <a:rPr kumimoji="1" lang="ja-JP" altLang="en-US" sz="3200" b="0">
                          <a:latin typeface="MS PGothic" panose="020B0600070205080204" pitchFamily="34" charset="-128"/>
                          <a:ea typeface="MS PGothic" panose="020B0600070205080204" pitchFamily="34" charset="-128"/>
                        </a:rPr>
                        <a:t>「資金洗浄」について</a:t>
                      </a:r>
                      <a:r>
                        <a:rPr kumimoji="1" lang="en-US" altLang="ja-JP" sz="3200" b="0" dirty="0">
                          <a:latin typeface="MS PGothic" panose="020B0600070205080204" pitchFamily="34" charset="-128"/>
                          <a:ea typeface="MS PGothic" panose="020B0600070205080204" pitchFamily="34" charset="-128"/>
                        </a:rPr>
                        <a:t>AI</a:t>
                      </a:r>
                      <a:r>
                        <a:rPr kumimoji="1" lang="ja-JP" altLang="en-US" sz="3200" b="0">
                          <a:latin typeface="MS PGothic" panose="020B0600070205080204" pitchFamily="34" charset="-128"/>
                          <a:ea typeface="MS PGothic" panose="020B0600070205080204" pitchFamily="34" charset="-128"/>
                        </a:rPr>
                        <a:t>に描かせたらこうなった</a:t>
                      </a:r>
                    </a:p>
                    <a:p>
                      <a:pPr marL="571500" indent="-571500" algn="l">
                        <a:buFont typeface="Arial" panose="020B0604020202020204" pitchFamily="34" charset="0"/>
                        <a:buChar char="•"/>
                      </a:pPr>
                      <a:r>
                        <a:rPr kumimoji="1" lang="ja-JP" altLang="en-US" sz="3200" b="0">
                          <a:latin typeface="MS PGothic" panose="020B0600070205080204" pitchFamily="34" charset="-128"/>
                          <a:ea typeface="MS PGothic" panose="020B0600070205080204" pitchFamily="34" charset="-128"/>
                        </a:rPr>
                        <a:t>いけなーい、ポケットに入れてたの忘れてた！</a:t>
                      </a:r>
                    </a:p>
                    <a:p>
                      <a:pPr marL="571500" indent="-571500" algn="l">
                        <a:buFont typeface="Arial" panose="020B0604020202020204" pitchFamily="34" charset="0"/>
                        <a:buChar char="•"/>
                      </a:pPr>
                      <a:r>
                        <a:rPr kumimoji="1" lang="ja-JP" altLang="en-US" sz="3200" b="0">
                          <a:latin typeface="MS PGothic" panose="020B0600070205080204" pitchFamily="34" charset="-128"/>
                          <a:ea typeface="MS PGothic" panose="020B0600070205080204" pitchFamily="34" charset="-128"/>
                        </a:rPr>
                        <a:t>金使いが洗いって日本語</a:t>
                      </a: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1801116897"/>
                  </a:ext>
                </a:extLst>
              </a:tr>
              <a:tr h="3063240">
                <a:tc>
                  <a:txBody>
                    <a:bodyPr/>
                    <a:lstStyle/>
                    <a:p>
                      <a:pPr algn="ctr"/>
                      <a:endParaRPr kumimoji="1" lang="ja-JP" altLang="en-US" sz="3200" b="0">
                        <a:latin typeface="MS PGothic" panose="020B0600070205080204" pitchFamily="34" charset="-128"/>
                        <a:ea typeface="MS PGothic" panose="020B0600070205080204" pitchFamily="34" charset="-128"/>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marL="571500" indent="-571500" algn="l">
                        <a:buFont typeface="Arial" panose="020B0604020202020204" pitchFamily="34" charset="0"/>
                        <a:buChar char="•"/>
                      </a:pPr>
                      <a:r>
                        <a:rPr kumimoji="1" lang="ja-JP" altLang="en-US" sz="3200" b="0" dirty="0">
                          <a:latin typeface="MS PGothic" panose="020B0600070205080204" pitchFamily="34" charset="-128"/>
                          <a:ea typeface="MS PGothic" panose="020B0600070205080204" pitchFamily="34" charset="-128"/>
                        </a:rPr>
                        <a:t>転生したらイスラムだった件</a:t>
                      </a:r>
                    </a:p>
                    <a:p>
                      <a:pPr marL="571500" indent="-571500" algn="l">
                        <a:buFont typeface="Arial" panose="020B0604020202020204" pitchFamily="34" charset="0"/>
                        <a:buChar char="•"/>
                      </a:pPr>
                      <a:r>
                        <a:rPr kumimoji="1" lang="ja-JP" altLang="en-US" sz="3200" b="0" dirty="0">
                          <a:latin typeface="MS PGothic" panose="020B0600070205080204" pitchFamily="34" charset="-128"/>
                          <a:ea typeface="MS PGothic" panose="020B0600070205080204" pitchFamily="34" charset="-128"/>
                        </a:rPr>
                        <a:t>砂遊びしてたら石油当てたわ</a:t>
                      </a:r>
                    </a:p>
                    <a:p>
                      <a:pPr marL="571500" indent="-571500" algn="l">
                        <a:buFont typeface="Arial" panose="020B0604020202020204" pitchFamily="34" charset="0"/>
                        <a:buChar char="•"/>
                      </a:pPr>
                      <a:r>
                        <a:rPr kumimoji="1" lang="ja-JP" altLang="en-US" sz="3200" b="0" dirty="0">
                          <a:latin typeface="MS PGothic" panose="020B0600070205080204" pitchFamily="34" charset="-128"/>
                          <a:ea typeface="MS PGothic" panose="020B0600070205080204" pitchFamily="34" charset="-128"/>
                        </a:rPr>
                        <a:t>俺の仕事？寝ることさ！</a:t>
                      </a:r>
                    </a:p>
                    <a:p>
                      <a:pPr marL="571500" indent="-571500" algn="l">
                        <a:buFont typeface="Arial" panose="020B0604020202020204" pitchFamily="34" charset="0"/>
                        <a:buChar char="•"/>
                      </a:pPr>
                      <a:r>
                        <a:rPr kumimoji="1" lang="ja-JP" altLang="en-US" sz="3200" b="0" dirty="0">
                          <a:latin typeface="MS PGothic" panose="020B0600070205080204" pitchFamily="34" charset="-128"/>
                          <a:ea typeface="MS PGothic" panose="020B0600070205080204" pitchFamily="34" charset="-128"/>
                        </a:rPr>
                        <a:t>アバブの石油王</a:t>
                      </a:r>
                    </a:p>
                    <a:p>
                      <a:pPr marL="571500" indent="-571500" algn="l">
                        <a:buFont typeface="Arial" panose="020B0604020202020204" pitchFamily="34" charset="0"/>
                        <a:buChar char="•"/>
                      </a:pPr>
                      <a:r>
                        <a:rPr kumimoji="1" lang="ja-JP" altLang="en-US" sz="3200" b="0" dirty="0">
                          <a:latin typeface="MS PGothic" panose="020B0600070205080204" pitchFamily="34" charset="-128"/>
                          <a:ea typeface="MS PGothic" panose="020B0600070205080204" pitchFamily="34" charset="-128"/>
                        </a:rPr>
                        <a:t>親ガチャ成功したわ</a:t>
                      </a:r>
                      <a:r>
                        <a:rPr kumimoji="1" lang="en-US" altLang="ja-JP" sz="3200" b="0" dirty="0">
                          <a:latin typeface="MS PGothic" panose="020B0600070205080204" pitchFamily="34" charset="-128"/>
                          <a:ea typeface="MS PGothic" panose="020B0600070205080204" pitchFamily="34" charset="-128"/>
                        </a:rPr>
                        <a:t>〜</a:t>
                      </a:r>
                    </a:p>
                    <a:p>
                      <a:pPr marL="571500" indent="-571500" algn="l">
                        <a:buFont typeface="Arial" panose="020B0604020202020204" pitchFamily="34" charset="0"/>
                        <a:buChar char="•"/>
                      </a:pPr>
                      <a:r>
                        <a:rPr kumimoji="1" lang="ja-JP" altLang="en-US" sz="3200" b="0" dirty="0">
                          <a:latin typeface="MS PGothic" panose="020B0600070205080204" pitchFamily="34" charset="-128"/>
                          <a:ea typeface="MS PGothic" panose="020B0600070205080204" pitchFamily="34" charset="-128"/>
                        </a:rPr>
                        <a:t>え？</a:t>
                      </a:r>
                      <a:r>
                        <a:rPr kumimoji="1" lang="en" altLang="ja-JP" sz="3200" b="0" dirty="0">
                          <a:latin typeface="MS PGothic" panose="020B0600070205080204" pitchFamily="34" charset="-128"/>
                          <a:ea typeface="MS PGothic" panose="020B0600070205080204" pitchFamily="34" charset="-128"/>
                        </a:rPr>
                        <a:t>w</a:t>
                      </a:r>
                      <a:r>
                        <a:rPr kumimoji="1" lang="ja-JP" altLang="en-US" sz="3200" b="0" dirty="0">
                          <a:latin typeface="MS PGothic" panose="020B0600070205080204" pitchFamily="34" charset="-128"/>
                          <a:ea typeface="MS PGothic" panose="020B0600070205080204" pitchFamily="34" charset="-128"/>
                        </a:rPr>
                        <a:t>おとん？</a:t>
                      </a:r>
                      <a:r>
                        <a:rPr kumimoji="1" lang="en" altLang="ja-JP" sz="3200" b="0" dirty="0">
                          <a:latin typeface="MS PGothic" panose="020B0600070205080204" pitchFamily="34" charset="-128"/>
                          <a:ea typeface="MS PGothic" panose="020B0600070205080204" pitchFamily="34" charset="-128"/>
                        </a:rPr>
                        <a:t>w </a:t>
                      </a:r>
                      <a:r>
                        <a:rPr kumimoji="1" lang="ja-JP" altLang="en-US" sz="3200" b="0" dirty="0">
                          <a:latin typeface="MS PGothic" panose="020B0600070205080204" pitchFamily="34" charset="-128"/>
                          <a:ea typeface="MS PGothic" panose="020B0600070205080204" pitchFamily="34" charset="-128"/>
                        </a:rPr>
                        <a:t>どっかで油うってるわ</a:t>
                      </a:r>
                      <a:r>
                        <a:rPr kumimoji="1" lang="en" altLang="ja-JP" sz="3200" b="0" dirty="0" err="1">
                          <a:latin typeface="MS PGothic" panose="020B0600070205080204" pitchFamily="34" charset="-128"/>
                          <a:ea typeface="MS PGothic" panose="020B0600070205080204" pitchFamily="34" charset="-128"/>
                        </a:rPr>
                        <a:t>ww</a:t>
                      </a:r>
                      <a:endParaRPr kumimoji="1" lang="en" altLang="ja-JP" sz="3200" b="0" dirty="0">
                        <a:latin typeface="MS PGothic" panose="020B0600070205080204" pitchFamily="34" charset="-128"/>
                        <a:ea typeface="MS PGothic" panose="020B0600070205080204" pitchFamily="34" charset="-128"/>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3798152386"/>
                  </a:ext>
                </a:extLst>
              </a:tr>
            </a:tbl>
          </a:graphicData>
        </a:graphic>
      </p:graphicFrame>
      <p:sp>
        <p:nvSpPr>
          <p:cNvPr id="12" name="テキスト ボックス 11">
            <a:extLst>
              <a:ext uri="{FF2B5EF4-FFF2-40B4-BE49-F238E27FC236}">
                <a16:creationId xmlns:a16="http://schemas.microsoft.com/office/drawing/2014/main" id="{19FA9774-5904-F65E-7B95-644B1AF0ACD5}"/>
              </a:ext>
            </a:extLst>
          </p:cNvPr>
          <p:cNvSpPr txBox="1"/>
          <p:nvPr/>
        </p:nvSpPr>
        <p:spPr>
          <a:xfrm>
            <a:off x="200710" y="5166892"/>
            <a:ext cx="14681200" cy="584775"/>
          </a:xfrm>
          <a:prstGeom prst="rect">
            <a:avLst/>
          </a:prstGeom>
          <a:noFill/>
        </p:spPr>
        <p:txBody>
          <a:bodyPr wrap="square" rtlCol="0">
            <a:spAutoFit/>
          </a:bodyPr>
          <a:lstStyle/>
          <a:p>
            <a:pPr algn="ctr"/>
            <a:r>
              <a:rPr kumimoji="1" lang="ja-JP" altLang="en-US" sz="3200" dirty="0">
                <a:latin typeface="MS PGothic" panose="020B0600070205080204" pitchFamily="34" charset="-128"/>
                <a:ea typeface="MS PGothic" panose="020B0600070205080204" pitchFamily="34" charset="-128"/>
              </a:rPr>
              <a:t>表</a:t>
            </a:r>
            <a:r>
              <a:rPr kumimoji="1" lang="en-US" altLang="ja-JP" sz="3200" dirty="0">
                <a:latin typeface="MS PGothic" panose="020B0600070205080204" pitchFamily="34" charset="-128"/>
                <a:ea typeface="MS PGothic" panose="020B0600070205080204" pitchFamily="34" charset="-128"/>
              </a:rPr>
              <a:t>1</a:t>
            </a:r>
            <a:r>
              <a:rPr kumimoji="1" lang="ja-JP" altLang="en-US" sz="3200" dirty="0">
                <a:latin typeface="MS PGothic" panose="020B0600070205080204" pitchFamily="34" charset="-128"/>
                <a:ea typeface="MS PGothic" panose="020B0600070205080204" pitchFamily="34" charset="-128"/>
              </a:rPr>
              <a:t>　ボケて</a:t>
            </a:r>
            <a:r>
              <a:rPr kumimoji="1" lang="en-US" altLang="ja-JP" sz="3200" dirty="0">
                <a:latin typeface="MS PGothic" panose="020B0600070205080204" pitchFamily="34" charset="-128"/>
                <a:ea typeface="MS PGothic" panose="020B0600070205080204" pitchFamily="34" charset="-128"/>
              </a:rPr>
              <a:t>[3]</a:t>
            </a:r>
            <a:r>
              <a:rPr kumimoji="1" lang="ja-JP" altLang="en-US" sz="3200" dirty="0">
                <a:latin typeface="MS PGothic" panose="020B0600070205080204" pitchFamily="34" charset="-128"/>
                <a:ea typeface="MS PGothic" panose="020B0600070205080204" pitchFamily="34" charset="-128"/>
              </a:rPr>
              <a:t>に投稿された画像と大喜利</a:t>
            </a:r>
            <a:endParaRPr kumimoji="1" lang="en-US" altLang="ja-JP" sz="3200" dirty="0">
              <a:latin typeface="MS PGothic" panose="020B0600070205080204" pitchFamily="34" charset="-128"/>
              <a:ea typeface="MS PGothic" panose="020B0600070205080204" pitchFamily="34" charset="-128"/>
            </a:endParaRPr>
          </a:p>
        </p:txBody>
      </p:sp>
      <p:pic>
        <p:nvPicPr>
          <p:cNvPr id="17" name="Picture 4" descr="水ジェスチャードラム">
            <a:extLst>
              <a:ext uri="{FF2B5EF4-FFF2-40B4-BE49-F238E27FC236}">
                <a16:creationId xmlns:a16="http://schemas.microsoft.com/office/drawing/2014/main" id="{80372213-6813-B825-F5D3-2FA62D74C4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830" y="9494086"/>
            <a:ext cx="2947783" cy="2947782"/>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衣服乾燥機洗濯機ランドリー">
            <a:extLst>
              <a:ext uri="{FF2B5EF4-FFF2-40B4-BE49-F238E27FC236}">
                <a16:creationId xmlns:a16="http://schemas.microsoft.com/office/drawing/2014/main" id="{4897BA55-C5A8-C1DB-43A8-024007B0F5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830" y="6403774"/>
            <a:ext cx="2947783" cy="2947783"/>
          </a:xfrm>
          <a:prstGeom prst="rect">
            <a:avLst/>
          </a:prstGeom>
          <a:noFill/>
          <a:extLst>
            <a:ext uri="{909E8E84-426E-40DD-AFC4-6F175D3DCCD1}">
              <a14:hiddenFill xmlns:a14="http://schemas.microsoft.com/office/drawing/2010/main">
                <a:solidFill>
                  <a:srgbClr val="FFFFFF"/>
                </a:solidFill>
              </a14:hiddenFill>
            </a:ext>
          </a:extLst>
        </p:spPr>
      </p:pic>
      <p:sp>
        <p:nvSpPr>
          <p:cNvPr id="20" name="正方形/長方形 19">
            <a:extLst>
              <a:ext uri="{FF2B5EF4-FFF2-40B4-BE49-F238E27FC236}">
                <a16:creationId xmlns:a16="http://schemas.microsoft.com/office/drawing/2014/main" id="{DCE46D3B-F14D-47C8-1510-B66C0875877B}"/>
              </a:ext>
            </a:extLst>
          </p:cNvPr>
          <p:cNvSpPr/>
          <p:nvPr/>
        </p:nvSpPr>
        <p:spPr>
          <a:xfrm>
            <a:off x="203200" y="12667336"/>
            <a:ext cx="14681200" cy="13677745"/>
          </a:xfrm>
          <a:prstGeom prst="rect">
            <a:avLst/>
          </a:prstGeom>
          <a:solidFill>
            <a:schemeClr val="bg1"/>
          </a:solid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20F859FB-0CF8-030E-CA39-C0231EC12413}"/>
              </a:ext>
            </a:extLst>
          </p:cNvPr>
          <p:cNvSpPr/>
          <p:nvPr/>
        </p:nvSpPr>
        <p:spPr>
          <a:xfrm>
            <a:off x="203200" y="12667337"/>
            <a:ext cx="14681200" cy="849085"/>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4400">
                <a:latin typeface="MS PGothic" panose="020B0600070205080204" pitchFamily="34" charset="-128"/>
                <a:ea typeface="MS PGothic" panose="020B0600070205080204" pitchFamily="34" charset="-128"/>
              </a:rPr>
              <a:t>関連研究</a:t>
            </a:r>
          </a:p>
        </p:txBody>
      </p:sp>
      <p:sp>
        <p:nvSpPr>
          <p:cNvPr id="22" name="テキスト ボックス 21">
            <a:extLst>
              <a:ext uri="{FF2B5EF4-FFF2-40B4-BE49-F238E27FC236}">
                <a16:creationId xmlns:a16="http://schemas.microsoft.com/office/drawing/2014/main" id="{B2983AD1-4110-E64C-CD41-E81D261BAA97}"/>
              </a:ext>
            </a:extLst>
          </p:cNvPr>
          <p:cNvSpPr txBox="1"/>
          <p:nvPr/>
        </p:nvSpPr>
        <p:spPr>
          <a:xfrm>
            <a:off x="200710" y="13533814"/>
            <a:ext cx="14681200" cy="13388280"/>
          </a:xfrm>
          <a:prstGeom prst="rect">
            <a:avLst/>
          </a:prstGeom>
          <a:noFill/>
        </p:spPr>
        <p:txBody>
          <a:bodyPr wrap="square" rtlCol="0">
            <a:spAutoFit/>
          </a:bodyPr>
          <a:lstStyle/>
          <a:p>
            <a:pPr indent="457200" algn="just"/>
            <a:r>
              <a:rPr kumimoji="1" lang="en-US" altLang="ja-JP" sz="3200" dirty="0">
                <a:latin typeface="MS PGothic" panose="020B0600070205080204" pitchFamily="34" charset="-128"/>
                <a:ea typeface="MS PGothic" panose="020B0600070205080204" pitchFamily="34" charset="-128"/>
              </a:rPr>
              <a:t>Neural Joking Machine(</a:t>
            </a:r>
            <a:r>
              <a:rPr kumimoji="1" lang="en-US" altLang="ja-JP" sz="3200" dirty="0">
                <a:solidFill>
                  <a:srgbClr val="0070C0"/>
                </a:solidFill>
                <a:latin typeface="MS PGothic" panose="020B0600070205080204" pitchFamily="34" charset="-128"/>
                <a:ea typeface="MS PGothic" panose="020B0600070205080204" pitchFamily="34" charset="-128"/>
              </a:rPr>
              <a:t>NJM</a:t>
            </a:r>
            <a:r>
              <a:rPr kumimoji="1" lang="en-US" altLang="ja-JP" sz="3200" dirty="0">
                <a:latin typeface="MS PGothic" panose="020B0600070205080204" pitchFamily="34" charset="-128"/>
                <a:ea typeface="MS PGothic" panose="020B0600070205080204" pitchFamily="34" charset="-128"/>
              </a:rPr>
              <a:t>)[1]</a:t>
            </a:r>
            <a:r>
              <a:rPr kumimoji="1" lang="ja-JP" altLang="en-US" sz="3200">
                <a:latin typeface="MS PGothic" panose="020B0600070205080204" pitchFamily="34" charset="-128"/>
                <a:ea typeface="MS PGothic" panose="020B0600070205080204" pitchFamily="34" charset="-128"/>
              </a:rPr>
              <a:t>では，画像キャプション生成モデルの画像のエンコーダに</a:t>
            </a:r>
            <a:r>
              <a:rPr kumimoji="1" lang="en-US" altLang="ja-JP" sz="3200" dirty="0">
                <a:latin typeface="MS PGothic" panose="020B0600070205080204" pitchFamily="34" charset="-128"/>
                <a:ea typeface="MS PGothic" panose="020B0600070205080204" pitchFamily="34" charset="-128"/>
              </a:rPr>
              <a:t>ImageNet</a:t>
            </a:r>
            <a:r>
              <a:rPr kumimoji="1" lang="ja-JP" altLang="en-US" sz="3200">
                <a:latin typeface="MS PGothic" panose="020B0600070205080204" pitchFamily="34" charset="-128"/>
                <a:ea typeface="MS PGothic" panose="020B0600070205080204" pitchFamily="34" charset="-128"/>
              </a:rPr>
              <a:t>を事前学習済みの</a:t>
            </a:r>
            <a:r>
              <a:rPr kumimoji="1" lang="en-US" altLang="ja-JP" sz="3200" dirty="0">
                <a:latin typeface="MS PGothic" panose="020B0600070205080204" pitchFamily="34" charset="-128"/>
                <a:ea typeface="MS PGothic" panose="020B0600070205080204" pitchFamily="34" charset="-128"/>
              </a:rPr>
              <a:t>ResNet152</a:t>
            </a:r>
            <a:r>
              <a:rPr kumimoji="1" lang="ja-JP" altLang="en-US" sz="3200">
                <a:latin typeface="MS PGothic" panose="020B0600070205080204" pitchFamily="34" charset="-128"/>
                <a:ea typeface="MS PGothic" panose="020B0600070205080204" pitchFamily="34" charset="-128"/>
              </a:rPr>
              <a:t>を使用している．これは，文章生成学習時のパラメータを削減するための一般的なアプローチである．しかし，ボケてには</a:t>
            </a:r>
            <a:r>
              <a:rPr kumimoji="1" lang="en-US" altLang="ja-JP" sz="3200" dirty="0">
                <a:latin typeface="MS PGothic" panose="020B0600070205080204" pitchFamily="34" charset="-128"/>
                <a:ea typeface="MS PGothic" panose="020B0600070205080204" pitchFamily="34" charset="-128"/>
              </a:rPr>
              <a:t>ImageNet</a:t>
            </a:r>
            <a:r>
              <a:rPr kumimoji="1" lang="ja-JP" altLang="en-US" sz="3200">
                <a:latin typeface="MS PGothic" panose="020B0600070205080204" pitchFamily="34" charset="-128"/>
                <a:ea typeface="MS PGothic" panose="020B0600070205080204" pitchFamily="34" charset="-128"/>
              </a:rPr>
              <a:t>とドメインが異なる画像が多く投稿されており，これにより</a:t>
            </a:r>
            <a:r>
              <a:rPr kumimoji="1" lang="en-US" altLang="ja-JP" sz="3200" dirty="0">
                <a:latin typeface="MS PGothic" panose="020B0600070205080204" pitchFamily="34" charset="-128"/>
                <a:ea typeface="MS PGothic" panose="020B0600070205080204" pitchFamily="34" charset="-128"/>
              </a:rPr>
              <a:t>ImageNet</a:t>
            </a:r>
            <a:r>
              <a:rPr kumimoji="1" lang="ja-JP" altLang="en-US" sz="3200">
                <a:latin typeface="MS PGothic" panose="020B0600070205080204" pitchFamily="34" charset="-128"/>
                <a:ea typeface="MS PGothic" panose="020B0600070205080204" pitchFamily="34" charset="-128"/>
              </a:rPr>
              <a:t>事前学習済み</a:t>
            </a:r>
            <a:r>
              <a:rPr kumimoji="1" lang="en-US" altLang="ja-JP" sz="3200" dirty="0">
                <a:latin typeface="MS PGothic" panose="020B0600070205080204" pitchFamily="34" charset="-128"/>
                <a:ea typeface="MS PGothic" panose="020B0600070205080204" pitchFamily="34" charset="-128"/>
              </a:rPr>
              <a:t>ResNet152</a:t>
            </a:r>
            <a:r>
              <a:rPr kumimoji="1" lang="ja-JP" altLang="en-US" sz="3200">
                <a:latin typeface="MS PGothic" panose="020B0600070205080204" pitchFamily="34" charset="-128"/>
                <a:ea typeface="MS PGothic" panose="020B0600070205080204" pitchFamily="34" charset="-128"/>
              </a:rPr>
              <a:t>とボケての画像はドメイン乖離が発生している．このドメイン乖離のため，</a:t>
            </a:r>
            <a:r>
              <a:rPr kumimoji="1" lang="en-US" altLang="ja-JP" sz="3200" dirty="0">
                <a:latin typeface="MS PGothic" panose="020B0600070205080204" pitchFamily="34" charset="-128"/>
                <a:ea typeface="MS PGothic" panose="020B0600070205080204" pitchFamily="34" charset="-128"/>
              </a:rPr>
              <a:t>NJM</a:t>
            </a:r>
            <a:r>
              <a:rPr kumimoji="1" lang="ja-JP" altLang="en-US" sz="3200">
                <a:latin typeface="MS PGothic" panose="020B0600070205080204" pitchFamily="34" charset="-128"/>
                <a:ea typeface="MS PGothic" panose="020B0600070205080204" pitchFamily="34" charset="-128"/>
              </a:rPr>
              <a:t>は十分に画像の特徴を捉えた大喜利を生成できていないと考えられる．</a:t>
            </a:r>
            <a:endParaRPr kumimoji="1" lang="en-US" altLang="ja-JP" sz="3200" dirty="0">
              <a:latin typeface="MS PGothic" panose="020B0600070205080204" pitchFamily="34" charset="-128"/>
              <a:ea typeface="MS PGothic" panose="020B0600070205080204" pitchFamily="34" charset="-128"/>
            </a:endParaRPr>
          </a:p>
          <a:p>
            <a:pPr indent="457200" algn="just"/>
            <a:r>
              <a:rPr kumimoji="1" lang="en-US" altLang="ja-JP" sz="3200" dirty="0">
                <a:latin typeface="MS PGothic" panose="020B0600070205080204" pitchFamily="34" charset="-128"/>
                <a:ea typeface="MS PGothic" panose="020B0600070205080204" pitchFamily="34" charset="-128"/>
              </a:rPr>
              <a:t>Generative Model of Suitable Meme Sentences for Images using </a:t>
            </a:r>
            <a:r>
              <a:rPr kumimoji="1" lang="en-US" altLang="ja-JP" sz="3200" dirty="0" err="1">
                <a:latin typeface="MS PGothic" panose="020B0600070205080204" pitchFamily="34" charset="-128"/>
                <a:ea typeface="MS PGothic" panose="020B0600070205080204" pitchFamily="34" charset="-128"/>
              </a:rPr>
              <a:t>AutoEncoder</a:t>
            </a:r>
            <a:r>
              <a:rPr kumimoji="1" lang="ja-JP" altLang="en-US" sz="3200">
                <a:latin typeface="MS PGothic" panose="020B0600070205080204" pitchFamily="34" charset="-128"/>
                <a:ea typeface="MS PGothic" panose="020B0600070205080204" pitchFamily="34" charset="-128"/>
              </a:rPr>
              <a:t>　</a:t>
            </a:r>
            <a:r>
              <a:rPr kumimoji="1" lang="en-US" altLang="ja-JP" sz="3200" dirty="0">
                <a:latin typeface="MS PGothic" panose="020B0600070205080204" pitchFamily="34" charset="-128"/>
                <a:ea typeface="MS PGothic" panose="020B0600070205080204" pitchFamily="34" charset="-128"/>
              </a:rPr>
              <a:t>(</a:t>
            </a:r>
            <a:r>
              <a:rPr kumimoji="1" lang="en-US" altLang="ja-JP" sz="3200" dirty="0">
                <a:solidFill>
                  <a:srgbClr val="00B050"/>
                </a:solidFill>
                <a:latin typeface="MS PGothic" panose="020B0600070205080204" pitchFamily="34" charset="-128"/>
                <a:ea typeface="MS PGothic" panose="020B0600070205080204" pitchFamily="34" charset="-128"/>
              </a:rPr>
              <a:t>GUMI-AE</a:t>
            </a:r>
            <a:r>
              <a:rPr kumimoji="1" lang="en-US" altLang="ja-JP" sz="3200" dirty="0">
                <a:latin typeface="MS PGothic" panose="020B0600070205080204" pitchFamily="34" charset="-128"/>
                <a:ea typeface="MS PGothic" panose="020B0600070205080204" pitchFamily="34" charset="-128"/>
              </a:rPr>
              <a:t>)[2]</a:t>
            </a:r>
            <a:r>
              <a:rPr kumimoji="1" lang="ja-JP" altLang="en-US" sz="3200">
                <a:latin typeface="MS PGothic" panose="020B0600070205080204" pitchFamily="34" charset="-128"/>
                <a:ea typeface="MS PGothic" panose="020B0600070205080204" pitchFamily="34" charset="-128"/>
              </a:rPr>
              <a:t>は</a:t>
            </a:r>
            <a:r>
              <a:rPr kumimoji="1" lang="en-US" altLang="ja-JP" sz="3200" dirty="0">
                <a:latin typeface="MS PGothic" panose="020B0600070205080204" pitchFamily="34" charset="-128"/>
                <a:ea typeface="MS PGothic" panose="020B0600070205080204" pitchFamily="34" charset="-128"/>
              </a:rPr>
              <a:t>NJM</a:t>
            </a:r>
            <a:r>
              <a:rPr kumimoji="1" lang="ja-JP" altLang="en-US" sz="3200">
                <a:latin typeface="MS PGothic" panose="020B0600070205080204" pitchFamily="34" charset="-128"/>
                <a:ea typeface="MS PGothic" panose="020B0600070205080204" pitchFamily="34" charset="-128"/>
              </a:rPr>
              <a:t>のドメイン乖離の問題を解決するためボケて特有の画像に適した画像のエンコーダを学習し，これを画像キャプション生成モデルの画像のエンコーダとする方法を提案している．ボケての画像にはアノテーションが付与されておらず，</a:t>
            </a:r>
            <a:r>
              <a:rPr kumimoji="1" lang="en-US" altLang="ja-JP" sz="3200" dirty="0">
                <a:latin typeface="MS PGothic" panose="020B0600070205080204" pitchFamily="34" charset="-128"/>
                <a:ea typeface="MS PGothic" panose="020B0600070205080204" pitchFamily="34" charset="-128"/>
              </a:rPr>
              <a:t>ResNet152</a:t>
            </a:r>
            <a:r>
              <a:rPr kumimoji="1" lang="ja-JP" altLang="en-US" sz="3200">
                <a:latin typeface="MS PGothic" panose="020B0600070205080204" pitchFamily="34" charset="-128"/>
                <a:ea typeface="MS PGothic" panose="020B0600070205080204" pitchFamily="34" charset="-128"/>
              </a:rPr>
              <a:t>を再学習することはできない．そこで，</a:t>
            </a:r>
            <a:r>
              <a:rPr kumimoji="1" lang="en-US" altLang="ja-JP" sz="3200" dirty="0">
                <a:latin typeface="MS PGothic" panose="020B0600070205080204" pitchFamily="34" charset="-128"/>
                <a:ea typeface="MS PGothic" panose="020B0600070205080204" pitchFamily="34" charset="-128"/>
              </a:rPr>
              <a:t>[2]</a:t>
            </a:r>
            <a:r>
              <a:rPr kumimoji="1" lang="ja-JP" altLang="en-US" sz="3200">
                <a:latin typeface="MS PGothic" panose="020B0600070205080204" pitchFamily="34" charset="-128"/>
                <a:ea typeface="MS PGothic" panose="020B0600070205080204" pitchFamily="34" charset="-128"/>
              </a:rPr>
              <a:t>ではボケての画像を</a:t>
            </a:r>
            <a:r>
              <a:rPr kumimoji="1" lang="en-US" altLang="ja-JP" sz="3200" dirty="0" err="1">
                <a:latin typeface="MS PGothic" panose="020B0600070205080204" pitchFamily="34" charset="-128"/>
                <a:ea typeface="MS PGothic" panose="020B0600070205080204" pitchFamily="34" charset="-128"/>
              </a:rPr>
              <a:t>AutoEncoder</a:t>
            </a:r>
            <a:r>
              <a:rPr kumimoji="1" lang="ja-JP" altLang="en-US" sz="3200">
                <a:latin typeface="MS PGothic" panose="020B0600070205080204" pitchFamily="34" charset="-128"/>
                <a:ea typeface="MS PGothic" panose="020B0600070205080204" pitchFamily="34" charset="-128"/>
              </a:rPr>
              <a:t>で学習し，学習した</a:t>
            </a:r>
            <a:r>
              <a:rPr kumimoji="1" lang="en-US" altLang="ja-JP" sz="3200" dirty="0" err="1">
                <a:latin typeface="MS PGothic" panose="020B0600070205080204" pitchFamily="34" charset="-128"/>
                <a:ea typeface="MS PGothic" panose="020B0600070205080204" pitchFamily="34" charset="-128"/>
              </a:rPr>
              <a:t>AutoEncoder</a:t>
            </a:r>
            <a:r>
              <a:rPr kumimoji="1" lang="ja-JP" altLang="en-US" sz="3200">
                <a:latin typeface="MS PGothic" panose="020B0600070205080204" pitchFamily="34" charset="-128"/>
                <a:ea typeface="MS PGothic" panose="020B0600070205080204" pitchFamily="34" charset="-128"/>
              </a:rPr>
              <a:t>のエンコーダを画像キャプション生成モデルの画像のエンコーダとしている．</a:t>
            </a:r>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r>
              <a:rPr kumimoji="1" lang="ja-JP" altLang="en-US" sz="3200">
                <a:latin typeface="MS PGothic" panose="020B0600070205080204" pitchFamily="34" charset="-128"/>
                <a:ea typeface="MS PGothic" panose="020B0600070205080204" pitchFamily="34" charset="-128"/>
              </a:rPr>
              <a:t>これらの手法では，文章のデコーダが</a:t>
            </a:r>
            <a:r>
              <a:rPr kumimoji="1" lang="en-US" altLang="ja-JP" sz="3200" dirty="0">
                <a:latin typeface="MS PGothic" panose="020B0600070205080204" pitchFamily="34" charset="-128"/>
                <a:ea typeface="MS PGothic" panose="020B0600070205080204" pitchFamily="34" charset="-128"/>
              </a:rPr>
              <a:t>LSTM</a:t>
            </a:r>
            <a:r>
              <a:rPr kumimoji="1" lang="ja-JP" altLang="en-US" sz="3200">
                <a:latin typeface="MS PGothic" panose="020B0600070205080204" pitchFamily="34" charset="-128"/>
                <a:ea typeface="MS PGothic" panose="020B0600070205080204" pitchFamily="34" charset="-128"/>
              </a:rPr>
              <a:t>で構成されている．</a:t>
            </a:r>
            <a:r>
              <a:rPr kumimoji="1" lang="en-US" altLang="ja-JP" sz="3200" dirty="0">
                <a:latin typeface="MS PGothic" panose="020B0600070205080204" pitchFamily="34" charset="-128"/>
                <a:ea typeface="MS PGothic" panose="020B0600070205080204" pitchFamily="34" charset="-128"/>
              </a:rPr>
              <a:t>LSTM</a:t>
            </a:r>
            <a:r>
              <a:rPr kumimoji="1" lang="ja-JP" altLang="en-US" sz="3200">
                <a:latin typeface="MS PGothic" panose="020B0600070205080204" pitchFamily="34" charset="-128"/>
                <a:ea typeface="MS PGothic" panose="020B0600070205080204" pitchFamily="34" charset="-128"/>
              </a:rPr>
              <a:t>等の再帰的ニューラルネットワークは過去の時系列の重み付け和によって時系列を考慮している．そのため，</a:t>
            </a:r>
            <a:r>
              <a:rPr kumimoji="1" lang="ja-JP" altLang="en-US" sz="3200">
                <a:solidFill>
                  <a:srgbClr val="FF0000"/>
                </a:solidFill>
                <a:latin typeface="MS PGothic" panose="020B0600070205080204" pitchFamily="34" charset="-128"/>
                <a:ea typeface="MS PGothic" panose="020B0600070205080204" pitchFamily="34" charset="-128"/>
              </a:rPr>
              <a:t>長期の時系列を考慮することができない問題</a:t>
            </a:r>
            <a:r>
              <a:rPr kumimoji="1" lang="ja-JP" altLang="en-US" sz="3200">
                <a:latin typeface="MS PGothic" panose="020B0600070205080204" pitchFamily="34" charset="-128"/>
                <a:ea typeface="MS PGothic" panose="020B0600070205080204" pitchFamily="34" charset="-128"/>
              </a:rPr>
              <a:t>がある．</a:t>
            </a:r>
            <a:endParaRPr kumimoji="1" lang="en-US" altLang="ja-JP" sz="3200" dirty="0">
              <a:latin typeface="MS PGothic" panose="020B0600070205080204" pitchFamily="34" charset="-128"/>
              <a:ea typeface="MS PGothic" panose="020B0600070205080204" pitchFamily="34" charset="-128"/>
            </a:endParaRPr>
          </a:p>
        </p:txBody>
      </p:sp>
      <p:pic>
        <p:nvPicPr>
          <p:cNvPr id="27" name="図 26" descr="建物, グループ, テーブル, フロント が含まれている画像&#10;&#10;自動的に生成された説明">
            <a:extLst>
              <a:ext uri="{FF2B5EF4-FFF2-40B4-BE49-F238E27FC236}">
                <a16:creationId xmlns:a16="http://schemas.microsoft.com/office/drawing/2014/main" id="{81E2BB0F-2D8E-54DF-2425-AE0E62925B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9425" y="20825483"/>
            <a:ext cx="1773758" cy="1773758"/>
          </a:xfrm>
          <a:prstGeom prst="rect">
            <a:avLst/>
          </a:prstGeom>
        </p:spPr>
      </p:pic>
      <p:sp>
        <p:nvSpPr>
          <p:cNvPr id="28" name="台形 27">
            <a:extLst>
              <a:ext uri="{FF2B5EF4-FFF2-40B4-BE49-F238E27FC236}">
                <a16:creationId xmlns:a16="http://schemas.microsoft.com/office/drawing/2014/main" id="{9FAD2044-3C6C-9860-5435-7DF1CE6616C6}"/>
              </a:ext>
            </a:extLst>
          </p:cNvPr>
          <p:cNvSpPr/>
          <p:nvPr/>
        </p:nvSpPr>
        <p:spPr>
          <a:xfrm rot="5400000">
            <a:off x="4797881" y="19417156"/>
            <a:ext cx="1773758" cy="2171210"/>
          </a:xfrm>
          <a:prstGeom prst="trapezoid">
            <a:avLst>
              <a:gd name="adj" fmla="val 17189"/>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vert270" rIns="0" rtlCol="0" anchor="ctr">
            <a:noAutofit/>
          </a:bodyPr>
          <a:lstStyle/>
          <a:p>
            <a:pPr algn="ctr"/>
            <a:r>
              <a:rPr kumimoji="1" lang="en-US" altLang="ja-JP" sz="3200" spc="-100" dirty="0">
                <a:solidFill>
                  <a:schemeClr val="tx1"/>
                </a:solidFill>
                <a:latin typeface="MS PGothic" panose="020B0600070205080204" pitchFamily="34" charset="-128"/>
                <a:ea typeface="MS PGothic" panose="020B0600070205080204" pitchFamily="34" charset="-128"/>
              </a:rPr>
              <a:t>ResNet152</a:t>
            </a:r>
            <a:endParaRPr kumimoji="1" lang="ja-JP" altLang="en-US" sz="3200" spc="-100">
              <a:solidFill>
                <a:schemeClr val="tx1"/>
              </a:solidFill>
              <a:latin typeface="MS PGothic" panose="020B0600070205080204" pitchFamily="34" charset="-128"/>
              <a:ea typeface="MS PGothic" panose="020B0600070205080204" pitchFamily="34" charset="-128"/>
            </a:endParaRPr>
          </a:p>
        </p:txBody>
      </p:sp>
      <p:cxnSp>
        <p:nvCxnSpPr>
          <p:cNvPr id="32" name="直線矢印コネクタ 31">
            <a:extLst>
              <a:ext uri="{FF2B5EF4-FFF2-40B4-BE49-F238E27FC236}">
                <a16:creationId xmlns:a16="http://schemas.microsoft.com/office/drawing/2014/main" id="{A3450C2E-9A1B-FE75-7CE4-424799727F22}"/>
              </a:ext>
            </a:extLst>
          </p:cNvPr>
          <p:cNvCxnSpPr>
            <a:cxnSpLocks/>
            <a:stCxn id="27" idx="3"/>
            <a:endCxn id="28" idx="2"/>
          </p:cNvCxnSpPr>
          <p:nvPr/>
        </p:nvCxnSpPr>
        <p:spPr>
          <a:xfrm flipV="1">
            <a:off x="2273183" y="20502761"/>
            <a:ext cx="2325972" cy="1209601"/>
          </a:xfrm>
          <a:prstGeom prst="bentConnector3">
            <a:avLst>
              <a:gd name="adj1" fmla="val 20152"/>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線矢印コネクタ 31">
            <a:extLst>
              <a:ext uri="{FF2B5EF4-FFF2-40B4-BE49-F238E27FC236}">
                <a16:creationId xmlns:a16="http://schemas.microsoft.com/office/drawing/2014/main" id="{26328A9D-9685-7567-C950-21A6222C5A56}"/>
              </a:ext>
            </a:extLst>
          </p:cNvPr>
          <p:cNvCxnSpPr>
            <a:cxnSpLocks/>
            <a:stCxn id="27" idx="3"/>
            <a:endCxn id="29" idx="2"/>
          </p:cNvCxnSpPr>
          <p:nvPr/>
        </p:nvCxnSpPr>
        <p:spPr>
          <a:xfrm>
            <a:off x="2273183" y="21712362"/>
            <a:ext cx="924430" cy="1237480"/>
          </a:xfrm>
          <a:prstGeom prst="bentConnector3">
            <a:avLst>
              <a:gd name="adj1" fmla="val 50000"/>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58" name="正方形/長方形 57">
            <a:extLst>
              <a:ext uri="{FF2B5EF4-FFF2-40B4-BE49-F238E27FC236}">
                <a16:creationId xmlns:a16="http://schemas.microsoft.com/office/drawing/2014/main" id="{B6F2158C-29F8-E5B6-CE91-45BC2253883E}"/>
              </a:ext>
            </a:extLst>
          </p:cNvPr>
          <p:cNvSpPr/>
          <p:nvPr/>
        </p:nvSpPr>
        <p:spPr>
          <a:xfrm>
            <a:off x="9432224" y="21268922"/>
            <a:ext cx="1828800" cy="886879"/>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dirty="0">
                <a:solidFill>
                  <a:schemeClr val="tx1"/>
                </a:solidFill>
                <a:latin typeface="MS PGothic" panose="020B0600070205080204" pitchFamily="34" charset="-128"/>
                <a:ea typeface="MS PGothic" panose="020B0600070205080204" pitchFamily="34" charset="-128"/>
              </a:rPr>
              <a:t>LSTM</a:t>
            </a:r>
            <a:endParaRPr kumimoji="1" lang="ja-JP" altLang="en-US" sz="3200">
              <a:solidFill>
                <a:schemeClr val="tx1"/>
              </a:solidFill>
              <a:latin typeface="MS PGothic" panose="020B0600070205080204" pitchFamily="34" charset="-128"/>
              <a:ea typeface="MS PGothic" panose="020B0600070205080204" pitchFamily="34" charset="-128"/>
            </a:endParaRPr>
          </a:p>
        </p:txBody>
      </p:sp>
      <p:cxnSp>
        <p:nvCxnSpPr>
          <p:cNvPr id="63" name="直線矢印コネクタ 31">
            <a:extLst>
              <a:ext uri="{FF2B5EF4-FFF2-40B4-BE49-F238E27FC236}">
                <a16:creationId xmlns:a16="http://schemas.microsoft.com/office/drawing/2014/main" id="{52FF5D19-339D-BD9A-4585-DEF7703B6C11}"/>
              </a:ext>
            </a:extLst>
          </p:cNvPr>
          <p:cNvCxnSpPr>
            <a:cxnSpLocks/>
            <a:stCxn id="28" idx="0"/>
            <a:endCxn id="58" idx="1"/>
          </p:cNvCxnSpPr>
          <p:nvPr/>
        </p:nvCxnSpPr>
        <p:spPr>
          <a:xfrm>
            <a:off x="6770365" y="20502761"/>
            <a:ext cx="2661859" cy="1209601"/>
          </a:xfrm>
          <a:prstGeom prst="bentConnector3">
            <a:avLst>
              <a:gd name="adj1" fmla="val 50000"/>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027" name="正方形/長方形 1026">
            <a:extLst>
              <a:ext uri="{FF2B5EF4-FFF2-40B4-BE49-F238E27FC236}">
                <a16:creationId xmlns:a16="http://schemas.microsoft.com/office/drawing/2014/main" id="{573CE1A5-CEDE-8D6F-F286-9EAB832B50AF}"/>
              </a:ext>
            </a:extLst>
          </p:cNvPr>
          <p:cNvSpPr/>
          <p:nvPr/>
        </p:nvSpPr>
        <p:spPr>
          <a:xfrm>
            <a:off x="11952702" y="21268921"/>
            <a:ext cx="1828800" cy="886879"/>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dirty="0">
                <a:solidFill>
                  <a:schemeClr val="tx1"/>
                </a:solidFill>
                <a:latin typeface="MS PGothic" panose="020B0600070205080204" pitchFamily="34" charset="-128"/>
                <a:ea typeface="MS PGothic" panose="020B0600070205080204" pitchFamily="34" charset="-128"/>
              </a:rPr>
              <a:t>LSTM</a:t>
            </a:r>
            <a:endParaRPr kumimoji="1" lang="ja-JP" altLang="en-US" sz="3200">
              <a:solidFill>
                <a:schemeClr val="tx1"/>
              </a:solidFill>
              <a:latin typeface="MS PGothic" panose="020B0600070205080204" pitchFamily="34" charset="-128"/>
              <a:ea typeface="MS PGothic" panose="020B0600070205080204" pitchFamily="34" charset="-128"/>
            </a:endParaRPr>
          </a:p>
        </p:txBody>
      </p:sp>
      <p:sp>
        <p:nvSpPr>
          <p:cNvPr id="1029" name="正方形/長方形 1028">
            <a:extLst>
              <a:ext uri="{FF2B5EF4-FFF2-40B4-BE49-F238E27FC236}">
                <a16:creationId xmlns:a16="http://schemas.microsoft.com/office/drawing/2014/main" id="{938EF87F-E3B4-4DAA-DF49-0FD1A305F0AE}"/>
              </a:ext>
            </a:extLst>
          </p:cNvPr>
          <p:cNvSpPr/>
          <p:nvPr/>
        </p:nvSpPr>
        <p:spPr>
          <a:xfrm>
            <a:off x="2940224" y="21965497"/>
            <a:ext cx="5554998" cy="2102003"/>
          </a:xfrm>
          <a:prstGeom prst="rect">
            <a:avLst/>
          </a:prstGeom>
          <a:noFill/>
          <a:ln w="381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3200">
              <a:solidFill>
                <a:schemeClr val="tx1"/>
              </a:solidFill>
              <a:latin typeface="MS PGothic" panose="020B0600070205080204" pitchFamily="34" charset="-128"/>
              <a:ea typeface="MS PGothic" panose="020B0600070205080204" pitchFamily="34" charset="-128"/>
            </a:endParaRPr>
          </a:p>
        </p:txBody>
      </p:sp>
      <p:sp>
        <p:nvSpPr>
          <p:cNvPr id="29" name="台形 28">
            <a:extLst>
              <a:ext uri="{FF2B5EF4-FFF2-40B4-BE49-F238E27FC236}">
                <a16:creationId xmlns:a16="http://schemas.microsoft.com/office/drawing/2014/main" id="{DA5C9C6E-F95A-A1AB-9833-A5D22FD6075C}"/>
              </a:ext>
            </a:extLst>
          </p:cNvPr>
          <p:cNvSpPr/>
          <p:nvPr/>
        </p:nvSpPr>
        <p:spPr>
          <a:xfrm rot="5400000">
            <a:off x="3396339" y="21864237"/>
            <a:ext cx="1773758" cy="2171210"/>
          </a:xfrm>
          <a:prstGeom prst="trapezoid">
            <a:avLst>
              <a:gd name="adj" fmla="val 17189"/>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vert270" rIns="0" rtlCol="0" anchor="ctr">
            <a:noAutofit/>
          </a:bodyPr>
          <a:lstStyle/>
          <a:p>
            <a:pPr algn="ctr"/>
            <a:r>
              <a:rPr kumimoji="1" lang="ja-JP" altLang="en-US" sz="3200" spc="-100">
                <a:solidFill>
                  <a:schemeClr val="tx1"/>
                </a:solidFill>
                <a:latin typeface="MS PGothic" panose="020B0600070205080204" pitchFamily="34" charset="-128"/>
                <a:ea typeface="MS PGothic" panose="020B0600070205080204" pitchFamily="34" charset="-128"/>
              </a:rPr>
              <a:t>エンコーダ</a:t>
            </a:r>
            <a:endParaRPr kumimoji="1" lang="en-US" altLang="ja-JP" sz="3200" spc="-100" dirty="0">
              <a:solidFill>
                <a:schemeClr val="tx1"/>
              </a:solidFill>
              <a:latin typeface="MS PGothic" panose="020B0600070205080204" pitchFamily="34" charset="-128"/>
              <a:ea typeface="MS PGothic" panose="020B0600070205080204" pitchFamily="34" charset="-128"/>
            </a:endParaRPr>
          </a:p>
        </p:txBody>
      </p:sp>
      <p:sp>
        <p:nvSpPr>
          <p:cNvPr id="30" name="台形 29">
            <a:extLst>
              <a:ext uri="{FF2B5EF4-FFF2-40B4-BE49-F238E27FC236}">
                <a16:creationId xmlns:a16="http://schemas.microsoft.com/office/drawing/2014/main" id="{8AF5A4E1-4143-FE06-D157-A14FE0CD160A}"/>
              </a:ext>
            </a:extLst>
          </p:cNvPr>
          <p:cNvSpPr/>
          <p:nvPr/>
        </p:nvSpPr>
        <p:spPr>
          <a:xfrm rot="16200000" flipH="1">
            <a:off x="6196750" y="21864237"/>
            <a:ext cx="1773758" cy="2171210"/>
          </a:xfrm>
          <a:prstGeom prst="trapezoid">
            <a:avLst>
              <a:gd name="adj" fmla="val 17189"/>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vert" rIns="0" rtlCol="0" anchor="ctr">
            <a:noAutofit/>
          </a:bodyPr>
          <a:lstStyle/>
          <a:p>
            <a:pPr algn="ctr"/>
            <a:r>
              <a:rPr kumimoji="1" lang="ja-JP" altLang="en-US" sz="3200" spc="-100">
                <a:solidFill>
                  <a:schemeClr val="tx1"/>
                </a:solidFill>
                <a:latin typeface="MS PGothic" panose="020B0600070205080204" pitchFamily="34" charset="-128"/>
                <a:ea typeface="MS PGothic" panose="020B0600070205080204" pitchFamily="34" charset="-128"/>
              </a:rPr>
              <a:t>デコーダ</a:t>
            </a:r>
            <a:endParaRPr kumimoji="1" lang="en-US" altLang="ja-JP" sz="3200" spc="-100" dirty="0">
              <a:solidFill>
                <a:schemeClr val="tx1"/>
              </a:solidFill>
              <a:latin typeface="MS PGothic" panose="020B0600070205080204" pitchFamily="34" charset="-128"/>
              <a:ea typeface="MS PGothic" panose="020B0600070205080204" pitchFamily="34" charset="-128"/>
            </a:endParaRPr>
          </a:p>
        </p:txBody>
      </p:sp>
      <p:cxnSp>
        <p:nvCxnSpPr>
          <p:cNvPr id="40" name="直線矢印コネクタ 31">
            <a:extLst>
              <a:ext uri="{FF2B5EF4-FFF2-40B4-BE49-F238E27FC236}">
                <a16:creationId xmlns:a16="http://schemas.microsoft.com/office/drawing/2014/main" id="{6E3D6F97-A846-E4F7-AA1D-1B9F70B26D41}"/>
              </a:ext>
            </a:extLst>
          </p:cNvPr>
          <p:cNvCxnSpPr>
            <a:cxnSpLocks/>
            <a:stCxn id="29" idx="0"/>
            <a:endCxn id="30" idx="0"/>
          </p:cNvCxnSpPr>
          <p:nvPr/>
        </p:nvCxnSpPr>
        <p:spPr>
          <a:xfrm>
            <a:off x="5368823" y="22949842"/>
            <a:ext cx="629201" cy="0"/>
          </a:xfrm>
          <a:prstGeom prst="straightConnector1">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44" name="直線矢印コネクタ 31">
            <a:extLst>
              <a:ext uri="{FF2B5EF4-FFF2-40B4-BE49-F238E27FC236}">
                <a16:creationId xmlns:a16="http://schemas.microsoft.com/office/drawing/2014/main" id="{D5870F44-EDB0-4BC4-C086-8E2F6E6E4066}"/>
              </a:ext>
            </a:extLst>
          </p:cNvPr>
          <p:cNvCxnSpPr>
            <a:cxnSpLocks/>
            <a:stCxn id="29" idx="0"/>
            <a:endCxn id="58" idx="1"/>
          </p:cNvCxnSpPr>
          <p:nvPr/>
        </p:nvCxnSpPr>
        <p:spPr>
          <a:xfrm flipV="1">
            <a:off x="5368823" y="21712362"/>
            <a:ext cx="4063401" cy="1237480"/>
          </a:xfrm>
          <a:prstGeom prst="bentConnector3">
            <a:avLst>
              <a:gd name="adj1" fmla="val 7738"/>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031" name="テキスト ボックス 1030">
            <a:extLst>
              <a:ext uri="{FF2B5EF4-FFF2-40B4-BE49-F238E27FC236}">
                <a16:creationId xmlns:a16="http://schemas.microsoft.com/office/drawing/2014/main" id="{52C7ED24-E674-E606-6749-BD4F22F342C0}"/>
              </a:ext>
            </a:extLst>
          </p:cNvPr>
          <p:cNvSpPr txBox="1"/>
          <p:nvPr/>
        </p:nvSpPr>
        <p:spPr>
          <a:xfrm>
            <a:off x="4504822" y="23785430"/>
            <a:ext cx="2357204" cy="584775"/>
          </a:xfrm>
          <a:prstGeom prst="rect">
            <a:avLst/>
          </a:prstGeom>
          <a:solidFill>
            <a:schemeClr val="bg1"/>
          </a:solidFill>
        </p:spPr>
        <p:txBody>
          <a:bodyPr wrap="square">
            <a:spAutoFit/>
          </a:bodyPr>
          <a:lstStyle/>
          <a:p>
            <a:pPr algn="ctr"/>
            <a:r>
              <a:rPr kumimoji="1" lang="en-US" altLang="ja-JP" sz="3200" spc="-100" dirty="0" err="1">
                <a:solidFill>
                  <a:schemeClr val="tx1"/>
                </a:solidFill>
                <a:latin typeface="MS PGothic" panose="020B0600070205080204" pitchFamily="34" charset="-128"/>
                <a:ea typeface="MS PGothic" panose="020B0600070205080204" pitchFamily="34" charset="-128"/>
              </a:rPr>
              <a:t>AutoEncoder</a:t>
            </a:r>
            <a:endParaRPr kumimoji="1" lang="ja-JP" altLang="en-US" sz="3200" spc="-100">
              <a:solidFill>
                <a:schemeClr val="tx1"/>
              </a:solidFill>
              <a:latin typeface="MS PGothic" panose="020B0600070205080204" pitchFamily="34" charset="-128"/>
              <a:ea typeface="MS PGothic" panose="020B0600070205080204" pitchFamily="34" charset="-128"/>
            </a:endParaRPr>
          </a:p>
        </p:txBody>
      </p:sp>
      <p:cxnSp>
        <p:nvCxnSpPr>
          <p:cNvPr id="1032" name="直線矢印コネクタ 31">
            <a:extLst>
              <a:ext uri="{FF2B5EF4-FFF2-40B4-BE49-F238E27FC236}">
                <a16:creationId xmlns:a16="http://schemas.microsoft.com/office/drawing/2014/main" id="{1938D20E-04E2-53CC-3382-7AD7E8DD15FE}"/>
              </a:ext>
            </a:extLst>
          </p:cNvPr>
          <p:cNvCxnSpPr>
            <a:cxnSpLocks/>
            <a:stCxn id="58" idx="3"/>
            <a:endCxn id="1027" idx="1"/>
          </p:cNvCxnSpPr>
          <p:nvPr/>
        </p:nvCxnSpPr>
        <p:spPr>
          <a:xfrm flipV="1">
            <a:off x="11261024" y="21712361"/>
            <a:ext cx="691678" cy="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35" name="直線矢印コネクタ 31">
            <a:extLst>
              <a:ext uri="{FF2B5EF4-FFF2-40B4-BE49-F238E27FC236}">
                <a16:creationId xmlns:a16="http://schemas.microsoft.com/office/drawing/2014/main" id="{311ACD28-DCBA-2CB3-A37E-9A3874A8F47B}"/>
              </a:ext>
            </a:extLst>
          </p:cNvPr>
          <p:cNvCxnSpPr>
            <a:cxnSpLocks/>
            <a:stCxn id="1027" idx="3"/>
          </p:cNvCxnSpPr>
          <p:nvPr/>
        </p:nvCxnSpPr>
        <p:spPr>
          <a:xfrm>
            <a:off x="13781502" y="21712361"/>
            <a:ext cx="50558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39" name="テキスト ボックス 1038">
                <a:extLst>
                  <a:ext uri="{FF2B5EF4-FFF2-40B4-BE49-F238E27FC236}">
                    <a16:creationId xmlns:a16="http://schemas.microsoft.com/office/drawing/2014/main" id="{4BD1961C-D563-EA41-3108-16667D7FF1A3}"/>
                  </a:ext>
                </a:extLst>
              </p:cNvPr>
              <p:cNvSpPr txBox="1"/>
              <p:nvPr/>
            </p:nvSpPr>
            <p:spPr>
              <a:xfrm>
                <a:off x="10060360" y="23042280"/>
                <a:ext cx="572528"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3200" i="1" smtClean="0">
                              <a:latin typeface="Cambria Math" panose="02040503050406030204" pitchFamily="18" charset="0"/>
                            </a:rPr>
                          </m:ctrlPr>
                        </m:sSubPr>
                        <m:e>
                          <m:r>
                            <a:rPr kumimoji="1" lang="en-US" altLang="ja-JP" sz="3200" b="0" i="1" smtClean="0">
                              <a:latin typeface="Cambria Math" panose="02040503050406030204" pitchFamily="18" charset="0"/>
                            </a:rPr>
                            <m:t>𝑤</m:t>
                          </m:r>
                        </m:e>
                        <m:sub>
                          <m:r>
                            <a:rPr kumimoji="1" lang="en-US" altLang="ja-JP" sz="3200" b="0" i="1" smtClean="0">
                              <a:latin typeface="Cambria Math" panose="02040503050406030204" pitchFamily="18" charset="0"/>
                            </a:rPr>
                            <m:t>0</m:t>
                          </m:r>
                        </m:sub>
                      </m:sSub>
                    </m:oMath>
                  </m:oMathPara>
                </a14:m>
                <a:endParaRPr kumimoji="1" lang="ja-JP" altLang="en-US" sz="3200"/>
              </a:p>
            </p:txBody>
          </p:sp>
        </mc:Choice>
        <mc:Fallback xmlns="">
          <p:sp>
            <p:nvSpPr>
              <p:cNvPr id="1039" name="テキスト ボックス 1038">
                <a:extLst>
                  <a:ext uri="{FF2B5EF4-FFF2-40B4-BE49-F238E27FC236}">
                    <a16:creationId xmlns:a16="http://schemas.microsoft.com/office/drawing/2014/main" id="{4BD1961C-D563-EA41-3108-16667D7FF1A3}"/>
                  </a:ext>
                </a:extLst>
              </p:cNvPr>
              <p:cNvSpPr txBox="1">
                <a:spLocks noRot="1" noChangeAspect="1" noMove="1" noResize="1" noEditPoints="1" noAdjustHandles="1" noChangeArrowheads="1" noChangeShapeType="1" noTextEdit="1"/>
              </p:cNvSpPr>
              <p:nvPr/>
            </p:nvSpPr>
            <p:spPr>
              <a:xfrm>
                <a:off x="10060360" y="23042280"/>
                <a:ext cx="572528" cy="492443"/>
              </a:xfrm>
              <a:prstGeom prst="rect">
                <a:avLst/>
              </a:prstGeom>
              <a:blipFill>
                <a:blip r:embed="rId5"/>
                <a:stretch>
                  <a:fillRect l="-8696" r="-4348" b="-15000"/>
                </a:stretch>
              </a:blipFill>
            </p:spPr>
            <p:txBody>
              <a:bodyPr/>
              <a:lstStyle/>
              <a:p>
                <a:r>
                  <a:rPr lang="ja-JP" altLang="en-US">
                    <a:noFill/>
                  </a:rPr>
                  <a:t> </a:t>
                </a:r>
              </a:p>
            </p:txBody>
          </p:sp>
        </mc:Fallback>
      </mc:AlternateContent>
      <p:cxnSp>
        <p:nvCxnSpPr>
          <p:cNvPr id="1040" name="直線矢印コネクタ 31">
            <a:extLst>
              <a:ext uri="{FF2B5EF4-FFF2-40B4-BE49-F238E27FC236}">
                <a16:creationId xmlns:a16="http://schemas.microsoft.com/office/drawing/2014/main" id="{43DA7992-03A7-70F7-E862-0BAC7BE2FE4B}"/>
              </a:ext>
            </a:extLst>
          </p:cNvPr>
          <p:cNvCxnSpPr>
            <a:cxnSpLocks/>
            <a:stCxn id="1039" idx="0"/>
            <a:endCxn id="58" idx="2"/>
          </p:cNvCxnSpPr>
          <p:nvPr/>
        </p:nvCxnSpPr>
        <p:spPr>
          <a:xfrm flipV="1">
            <a:off x="10346624" y="22155801"/>
            <a:ext cx="0" cy="88647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43" name="テキスト ボックス 1042">
                <a:extLst>
                  <a:ext uri="{FF2B5EF4-FFF2-40B4-BE49-F238E27FC236}">
                    <a16:creationId xmlns:a16="http://schemas.microsoft.com/office/drawing/2014/main" id="{038BB71B-B144-C65E-599C-DE98B9482E08}"/>
                  </a:ext>
                </a:extLst>
              </p:cNvPr>
              <p:cNvSpPr txBox="1"/>
              <p:nvPr/>
            </p:nvSpPr>
            <p:spPr>
              <a:xfrm>
                <a:off x="10060360" y="20019478"/>
                <a:ext cx="563039"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ja-JP" sz="3200" i="1" smtClean="0">
                              <a:latin typeface="Cambria Math" panose="02040503050406030204" pitchFamily="18" charset="0"/>
                            </a:rPr>
                          </m:ctrlPr>
                        </m:accPr>
                        <m:e>
                          <m:sSub>
                            <m:sSubPr>
                              <m:ctrlPr>
                                <a:rPr kumimoji="1" lang="en-US" altLang="ja-JP" sz="3200" i="1">
                                  <a:latin typeface="Cambria Math" panose="02040503050406030204" pitchFamily="18" charset="0"/>
                                </a:rPr>
                              </m:ctrlPr>
                            </m:sSubPr>
                            <m:e>
                              <m:r>
                                <a:rPr kumimoji="1" lang="en-US" altLang="ja-JP" sz="3200" i="1">
                                  <a:latin typeface="Cambria Math" panose="02040503050406030204" pitchFamily="18" charset="0"/>
                                </a:rPr>
                                <m:t>𝑤</m:t>
                              </m:r>
                            </m:e>
                            <m:sub>
                              <m:r>
                                <a:rPr kumimoji="1" lang="en-US" altLang="ja-JP" sz="3200" i="1">
                                  <a:latin typeface="Cambria Math" panose="02040503050406030204" pitchFamily="18" charset="0"/>
                                </a:rPr>
                                <m:t>1</m:t>
                              </m:r>
                            </m:sub>
                          </m:sSub>
                        </m:e>
                      </m:acc>
                    </m:oMath>
                  </m:oMathPara>
                </a14:m>
                <a:endParaRPr kumimoji="1" lang="ja-JP" altLang="en-US" sz="3200"/>
              </a:p>
            </p:txBody>
          </p:sp>
        </mc:Choice>
        <mc:Fallback xmlns="">
          <p:sp>
            <p:nvSpPr>
              <p:cNvPr id="1043" name="テキスト ボックス 1042">
                <a:extLst>
                  <a:ext uri="{FF2B5EF4-FFF2-40B4-BE49-F238E27FC236}">
                    <a16:creationId xmlns:a16="http://schemas.microsoft.com/office/drawing/2014/main" id="{038BB71B-B144-C65E-599C-DE98B9482E08}"/>
                  </a:ext>
                </a:extLst>
              </p:cNvPr>
              <p:cNvSpPr txBox="1">
                <a:spLocks noRot="1" noChangeAspect="1" noMove="1" noResize="1" noEditPoints="1" noAdjustHandles="1" noChangeArrowheads="1" noChangeShapeType="1" noTextEdit="1"/>
              </p:cNvSpPr>
              <p:nvPr/>
            </p:nvSpPr>
            <p:spPr>
              <a:xfrm>
                <a:off x="10060360" y="20019478"/>
                <a:ext cx="563039" cy="492443"/>
              </a:xfrm>
              <a:prstGeom prst="rect">
                <a:avLst/>
              </a:prstGeom>
              <a:blipFill>
                <a:blip r:embed="rId6"/>
                <a:stretch>
                  <a:fillRect l="-8889" t="-7500" r="-4444" b="-12500"/>
                </a:stretch>
              </a:blipFill>
            </p:spPr>
            <p:txBody>
              <a:bodyPr/>
              <a:lstStyle/>
              <a:p>
                <a:r>
                  <a:rPr lang="ja-JP" altLang="en-US">
                    <a:noFill/>
                  </a:rPr>
                  <a:t> </a:t>
                </a:r>
              </a:p>
            </p:txBody>
          </p:sp>
        </mc:Fallback>
      </mc:AlternateContent>
      <p:cxnSp>
        <p:nvCxnSpPr>
          <p:cNvPr id="1045" name="直線矢印コネクタ 31">
            <a:extLst>
              <a:ext uri="{FF2B5EF4-FFF2-40B4-BE49-F238E27FC236}">
                <a16:creationId xmlns:a16="http://schemas.microsoft.com/office/drawing/2014/main" id="{5AD43AAA-B886-23DE-065B-83F3C8124D6F}"/>
              </a:ext>
            </a:extLst>
          </p:cNvPr>
          <p:cNvCxnSpPr>
            <a:cxnSpLocks/>
            <a:stCxn id="58" idx="0"/>
            <a:endCxn id="1043" idx="2"/>
          </p:cNvCxnSpPr>
          <p:nvPr/>
        </p:nvCxnSpPr>
        <p:spPr>
          <a:xfrm flipH="1" flipV="1">
            <a:off x="10341880" y="20511921"/>
            <a:ext cx="4744" cy="75700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50" name="テキスト ボックス 1049">
                <a:extLst>
                  <a:ext uri="{FF2B5EF4-FFF2-40B4-BE49-F238E27FC236}">
                    <a16:creationId xmlns:a16="http://schemas.microsoft.com/office/drawing/2014/main" id="{7986B83D-CF8E-9C79-AC05-525666B40DE9}"/>
                  </a:ext>
                </a:extLst>
              </p:cNvPr>
              <p:cNvSpPr txBox="1"/>
              <p:nvPr/>
            </p:nvSpPr>
            <p:spPr>
              <a:xfrm>
                <a:off x="12580838" y="23042280"/>
                <a:ext cx="572528"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3200" i="1" smtClean="0">
                              <a:latin typeface="Cambria Math" panose="02040503050406030204" pitchFamily="18" charset="0"/>
                            </a:rPr>
                          </m:ctrlPr>
                        </m:sSubPr>
                        <m:e>
                          <m:r>
                            <a:rPr kumimoji="1" lang="en-US" altLang="ja-JP" sz="3200" b="0" i="1" smtClean="0">
                              <a:latin typeface="Cambria Math" panose="02040503050406030204" pitchFamily="18" charset="0"/>
                            </a:rPr>
                            <m:t>𝑤</m:t>
                          </m:r>
                        </m:e>
                        <m:sub>
                          <m:r>
                            <a:rPr kumimoji="1" lang="en-US" altLang="ja-JP" sz="3200" b="0" i="1" smtClean="0">
                              <a:latin typeface="Cambria Math" panose="02040503050406030204" pitchFamily="18" charset="0"/>
                            </a:rPr>
                            <m:t>1</m:t>
                          </m:r>
                        </m:sub>
                      </m:sSub>
                    </m:oMath>
                  </m:oMathPara>
                </a14:m>
                <a:endParaRPr kumimoji="1" lang="ja-JP" altLang="en-US" sz="3200"/>
              </a:p>
            </p:txBody>
          </p:sp>
        </mc:Choice>
        <mc:Fallback xmlns="">
          <p:sp>
            <p:nvSpPr>
              <p:cNvPr id="1050" name="テキスト ボックス 1049">
                <a:extLst>
                  <a:ext uri="{FF2B5EF4-FFF2-40B4-BE49-F238E27FC236}">
                    <a16:creationId xmlns:a16="http://schemas.microsoft.com/office/drawing/2014/main" id="{7986B83D-CF8E-9C79-AC05-525666B40DE9}"/>
                  </a:ext>
                </a:extLst>
              </p:cNvPr>
              <p:cNvSpPr txBox="1">
                <a:spLocks noRot="1" noChangeAspect="1" noMove="1" noResize="1" noEditPoints="1" noAdjustHandles="1" noChangeArrowheads="1" noChangeShapeType="1" noTextEdit="1"/>
              </p:cNvSpPr>
              <p:nvPr/>
            </p:nvSpPr>
            <p:spPr>
              <a:xfrm>
                <a:off x="12580838" y="23042280"/>
                <a:ext cx="572528" cy="492443"/>
              </a:xfrm>
              <a:prstGeom prst="rect">
                <a:avLst/>
              </a:prstGeom>
              <a:blipFill>
                <a:blip r:embed="rId7"/>
                <a:stretch>
                  <a:fillRect l="-8696" r="-4348" b="-12500"/>
                </a:stretch>
              </a:blipFill>
            </p:spPr>
            <p:txBody>
              <a:bodyPr/>
              <a:lstStyle/>
              <a:p>
                <a:r>
                  <a:rPr lang="ja-JP" altLang="en-US">
                    <a:noFill/>
                  </a:rPr>
                  <a:t> </a:t>
                </a:r>
              </a:p>
            </p:txBody>
          </p:sp>
        </mc:Fallback>
      </mc:AlternateContent>
      <p:cxnSp>
        <p:nvCxnSpPr>
          <p:cNvPr id="1051" name="直線矢印コネクタ 31">
            <a:extLst>
              <a:ext uri="{FF2B5EF4-FFF2-40B4-BE49-F238E27FC236}">
                <a16:creationId xmlns:a16="http://schemas.microsoft.com/office/drawing/2014/main" id="{1E87281E-2CAF-D45E-DFB6-3974DD1A87C7}"/>
              </a:ext>
            </a:extLst>
          </p:cNvPr>
          <p:cNvCxnSpPr>
            <a:cxnSpLocks/>
            <a:stCxn id="1050" idx="0"/>
            <a:endCxn id="1027" idx="2"/>
          </p:cNvCxnSpPr>
          <p:nvPr/>
        </p:nvCxnSpPr>
        <p:spPr>
          <a:xfrm flipV="1">
            <a:off x="12867102" y="22155800"/>
            <a:ext cx="0" cy="88648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54" name="テキスト ボックス 1053">
                <a:extLst>
                  <a:ext uri="{FF2B5EF4-FFF2-40B4-BE49-F238E27FC236}">
                    <a16:creationId xmlns:a16="http://schemas.microsoft.com/office/drawing/2014/main" id="{2AC72F0B-93A3-CC39-9826-0CB83EA1912A}"/>
                  </a:ext>
                </a:extLst>
              </p:cNvPr>
              <p:cNvSpPr txBox="1"/>
              <p:nvPr/>
            </p:nvSpPr>
            <p:spPr>
              <a:xfrm>
                <a:off x="12596526" y="20019478"/>
                <a:ext cx="572528"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ja-JP" sz="3200" i="1" smtClean="0">
                              <a:latin typeface="Cambria Math" panose="02040503050406030204" pitchFamily="18" charset="0"/>
                            </a:rPr>
                          </m:ctrlPr>
                        </m:accPr>
                        <m:e>
                          <m:sSub>
                            <m:sSubPr>
                              <m:ctrlPr>
                                <a:rPr kumimoji="1" lang="en-US" altLang="ja-JP" sz="3200" i="1">
                                  <a:latin typeface="Cambria Math" panose="02040503050406030204" pitchFamily="18" charset="0"/>
                                </a:rPr>
                              </m:ctrlPr>
                            </m:sSubPr>
                            <m:e>
                              <m:r>
                                <a:rPr kumimoji="1" lang="en-US" altLang="ja-JP" sz="3200" i="1">
                                  <a:latin typeface="Cambria Math" panose="02040503050406030204" pitchFamily="18" charset="0"/>
                                </a:rPr>
                                <m:t>𝑤</m:t>
                              </m:r>
                            </m:e>
                            <m:sub>
                              <m:r>
                                <a:rPr kumimoji="1" lang="en-US" altLang="ja-JP" sz="3200" b="0" i="1" smtClean="0">
                                  <a:latin typeface="Cambria Math" panose="02040503050406030204" pitchFamily="18" charset="0"/>
                                </a:rPr>
                                <m:t>2</m:t>
                              </m:r>
                            </m:sub>
                          </m:sSub>
                        </m:e>
                      </m:acc>
                    </m:oMath>
                  </m:oMathPara>
                </a14:m>
                <a:endParaRPr kumimoji="1" lang="ja-JP" altLang="en-US" sz="3200"/>
              </a:p>
            </p:txBody>
          </p:sp>
        </mc:Choice>
        <mc:Fallback xmlns="">
          <p:sp>
            <p:nvSpPr>
              <p:cNvPr id="1054" name="テキスト ボックス 1053">
                <a:extLst>
                  <a:ext uri="{FF2B5EF4-FFF2-40B4-BE49-F238E27FC236}">
                    <a16:creationId xmlns:a16="http://schemas.microsoft.com/office/drawing/2014/main" id="{2AC72F0B-93A3-CC39-9826-0CB83EA1912A}"/>
                  </a:ext>
                </a:extLst>
              </p:cNvPr>
              <p:cNvSpPr txBox="1">
                <a:spLocks noRot="1" noChangeAspect="1" noMove="1" noResize="1" noEditPoints="1" noAdjustHandles="1" noChangeArrowheads="1" noChangeShapeType="1" noTextEdit="1"/>
              </p:cNvSpPr>
              <p:nvPr/>
            </p:nvSpPr>
            <p:spPr>
              <a:xfrm>
                <a:off x="12596526" y="20019478"/>
                <a:ext cx="572528" cy="492443"/>
              </a:xfrm>
              <a:prstGeom prst="rect">
                <a:avLst/>
              </a:prstGeom>
              <a:blipFill>
                <a:blip r:embed="rId8"/>
                <a:stretch>
                  <a:fillRect l="-8696" t="-7500" r="-4348" b="-12500"/>
                </a:stretch>
              </a:blipFill>
            </p:spPr>
            <p:txBody>
              <a:bodyPr/>
              <a:lstStyle/>
              <a:p>
                <a:r>
                  <a:rPr lang="ja-JP" altLang="en-US">
                    <a:noFill/>
                  </a:rPr>
                  <a:t> </a:t>
                </a:r>
              </a:p>
            </p:txBody>
          </p:sp>
        </mc:Fallback>
      </mc:AlternateContent>
      <p:cxnSp>
        <p:nvCxnSpPr>
          <p:cNvPr id="1055" name="直線矢印コネクタ 31">
            <a:extLst>
              <a:ext uri="{FF2B5EF4-FFF2-40B4-BE49-F238E27FC236}">
                <a16:creationId xmlns:a16="http://schemas.microsoft.com/office/drawing/2014/main" id="{89D5DADF-45FE-C677-09E8-ED786E90E310}"/>
              </a:ext>
            </a:extLst>
          </p:cNvPr>
          <p:cNvCxnSpPr>
            <a:cxnSpLocks/>
            <a:stCxn id="1027" idx="0"/>
            <a:endCxn id="1054" idx="2"/>
          </p:cNvCxnSpPr>
          <p:nvPr/>
        </p:nvCxnSpPr>
        <p:spPr>
          <a:xfrm flipV="1">
            <a:off x="12867102" y="20511921"/>
            <a:ext cx="15688" cy="7570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58" name="テキスト ボックス 1057">
                <a:extLst>
                  <a:ext uri="{FF2B5EF4-FFF2-40B4-BE49-F238E27FC236}">
                    <a16:creationId xmlns:a16="http://schemas.microsoft.com/office/drawing/2014/main" id="{FF33038F-2E36-695A-1005-50F603734E04}"/>
                  </a:ext>
                </a:extLst>
              </p:cNvPr>
              <p:cNvSpPr txBox="1"/>
              <p:nvPr/>
            </p:nvSpPr>
            <p:spPr>
              <a:xfrm>
                <a:off x="9976149" y="23731117"/>
                <a:ext cx="4880631" cy="984885"/>
              </a:xfrm>
              <a:prstGeom prst="rect">
                <a:avLst/>
              </a:prstGeom>
              <a:noFill/>
            </p:spPr>
            <p:txBody>
              <a:bodyPr wrap="none" lIns="0" tIns="0" rIns="0" bIns="0" rtlCol="0">
                <a:spAutoFit/>
              </a:bodyPr>
              <a:lstStyle/>
              <a:p>
                <a:r>
                  <a:rPr kumimoji="1" lang="en-US" altLang="ja-JP" sz="3200" dirty="0">
                    <a:latin typeface="MS PGothic" panose="020B0600070205080204" pitchFamily="34" charset="-128"/>
                    <a:ea typeface="MS PGothic" panose="020B0600070205080204" pitchFamily="34" charset="-128"/>
                  </a:rPr>
                  <a:t>※ </a:t>
                </a:r>
                <a14:m>
                  <m:oMath xmlns:m="http://schemas.openxmlformats.org/officeDocument/2006/math">
                    <m:sSub>
                      <m:sSubPr>
                        <m:ctrlPr>
                          <a:rPr kumimoji="1" lang="en-US" altLang="ja-JP" sz="3200" i="1" smtClean="0">
                            <a:latin typeface="Cambria Math" panose="02040503050406030204" pitchFamily="18" charset="0"/>
                          </a:rPr>
                        </m:ctrlPr>
                      </m:sSubPr>
                      <m:e>
                        <m:r>
                          <a:rPr kumimoji="1" lang="en-US" altLang="ja-JP" sz="3200" b="0" i="1" smtClean="0">
                            <a:latin typeface="Cambria Math" panose="02040503050406030204" pitchFamily="18" charset="0"/>
                          </a:rPr>
                          <m:t>𝑤</m:t>
                        </m:r>
                      </m:e>
                      <m:sub>
                        <m:r>
                          <a:rPr kumimoji="1" lang="en-US" altLang="ja-JP" sz="3200" b="0" i="1" smtClean="0">
                            <a:latin typeface="Cambria Math" panose="02040503050406030204" pitchFamily="18" charset="0"/>
                          </a:rPr>
                          <m:t>𝑖</m:t>
                        </m:r>
                      </m:sub>
                    </m:sSub>
                  </m:oMath>
                </a14:m>
                <a:r>
                  <a:rPr kumimoji="1" lang="en-US" altLang="ja-JP" sz="3200" dirty="0"/>
                  <a:t> </a:t>
                </a:r>
                <a:r>
                  <a:rPr kumimoji="1" lang="en-US" altLang="ja-JP" sz="3200" dirty="0">
                    <a:latin typeface="MS PGothic" panose="020B0600070205080204" pitchFamily="34" charset="-128"/>
                    <a:ea typeface="MS PGothic" panose="020B0600070205080204" pitchFamily="34" charset="-128"/>
                  </a:rPr>
                  <a:t>: </a:t>
                </a:r>
                <a:r>
                  <a:rPr kumimoji="1" lang="ja-JP" altLang="en-US" sz="3200">
                    <a:latin typeface="MS PGothic" panose="020B0600070205080204" pitchFamily="34" charset="-128"/>
                    <a:ea typeface="MS PGothic" panose="020B0600070205080204" pitchFamily="34" charset="-128"/>
                  </a:rPr>
                  <a:t>文章の</a:t>
                </a:r>
                <a14:m>
                  <m:oMath xmlns:m="http://schemas.openxmlformats.org/officeDocument/2006/math">
                    <m:r>
                      <a:rPr kumimoji="1" lang="en-US" altLang="ja-JP" sz="3200" i="1">
                        <a:latin typeface="Cambria Math" panose="02040503050406030204" pitchFamily="18" charset="0"/>
                      </a:rPr>
                      <m:t>𝑖</m:t>
                    </m:r>
                  </m:oMath>
                </a14:m>
                <a:r>
                  <a:rPr kumimoji="1" lang="ja-JP" altLang="en-US" sz="3200">
                    <a:latin typeface="MS PGothic" panose="020B0600070205080204" pitchFamily="34" charset="-128"/>
                    <a:ea typeface="MS PGothic" panose="020B0600070205080204" pitchFamily="34" charset="-128"/>
                  </a:rPr>
                  <a:t>番目の単語</a:t>
                </a:r>
                <a:endParaRPr kumimoji="1" lang="en-US" altLang="ja-JP" sz="3200" dirty="0">
                  <a:latin typeface="MS PGothic" panose="020B0600070205080204" pitchFamily="34" charset="-128"/>
                  <a:ea typeface="MS PGothic" panose="020B0600070205080204" pitchFamily="34" charset="-128"/>
                </a:endParaRPr>
              </a:p>
              <a:p>
                <a:r>
                  <a:rPr kumimoji="1" lang="ja-JP" altLang="en-US" sz="3200">
                    <a:latin typeface="MS PGothic" panose="020B0600070205080204" pitchFamily="34" charset="-128"/>
                    <a:ea typeface="MS PGothic" panose="020B0600070205080204" pitchFamily="34" charset="-128"/>
                  </a:rPr>
                  <a:t>　　</a:t>
                </a:r>
                <a14:m>
                  <m:oMath xmlns:m="http://schemas.openxmlformats.org/officeDocument/2006/math">
                    <m:acc>
                      <m:accPr>
                        <m:chr m:val="̇"/>
                        <m:ctrlPr>
                          <a:rPr kumimoji="1" lang="en-US" altLang="ja-JP" sz="3200" i="1" smtClean="0">
                            <a:latin typeface="Cambria Math" panose="02040503050406030204" pitchFamily="18" charset="0"/>
                          </a:rPr>
                        </m:ctrlPr>
                      </m:accPr>
                      <m:e>
                        <m:sSub>
                          <m:sSubPr>
                            <m:ctrlPr>
                              <a:rPr kumimoji="1" lang="en-US" altLang="ja-JP" sz="3200" i="1">
                                <a:latin typeface="Cambria Math" panose="02040503050406030204" pitchFamily="18" charset="0"/>
                              </a:rPr>
                            </m:ctrlPr>
                          </m:sSubPr>
                          <m:e>
                            <m:r>
                              <a:rPr kumimoji="1" lang="en-US" altLang="ja-JP" sz="3200" i="1">
                                <a:latin typeface="Cambria Math" panose="02040503050406030204" pitchFamily="18" charset="0"/>
                              </a:rPr>
                              <m:t>𝑤</m:t>
                            </m:r>
                          </m:e>
                          <m:sub>
                            <m:r>
                              <a:rPr kumimoji="1" lang="en-US" altLang="ja-JP" sz="3200" b="0" i="1" smtClean="0">
                                <a:latin typeface="Cambria Math" panose="02040503050406030204" pitchFamily="18" charset="0"/>
                              </a:rPr>
                              <m:t>𝑖</m:t>
                            </m:r>
                          </m:sub>
                        </m:sSub>
                      </m:e>
                    </m:acc>
                  </m:oMath>
                </a14:m>
                <a:r>
                  <a:rPr kumimoji="1" lang="en-US" altLang="ja-JP" sz="3200" dirty="0">
                    <a:latin typeface="MS PGothic" panose="020B0600070205080204" pitchFamily="34" charset="-128"/>
                    <a:ea typeface="MS PGothic" panose="020B0600070205080204" pitchFamily="34" charset="-128"/>
                  </a:rPr>
                  <a:t> : </a:t>
                </a:r>
                <a14:m>
                  <m:oMath xmlns:m="http://schemas.openxmlformats.org/officeDocument/2006/math">
                    <m:r>
                      <a:rPr kumimoji="1" lang="en-US" altLang="ja-JP" sz="3200" i="1">
                        <a:latin typeface="Cambria Math" panose="02040503050406030204" pitchFamily="18" charset="0"/>
                      </a:rPr>
                      <m:t>𝑖</m:t>
                    </m:r>
                  </m:oMath>
                </a14:m>
                <a:r>
                  <a:rPr kumimoji="1" lang="ja-JP" altLang="en-US" sz="3200">
                    <a:latin typeface="MS PGothic" panose="020B0600070205080204" pitchFamily="34" charset="-128"/>
                    <a:ea typeface="MS PGothic" panose="020B0600070205080204" pitchFamily="34" charset="-128"/>
                  </a:rPr>
                  <a:t>番目の単語の予測</a:t>
                </a:r>
              </a:p>
            </p:txBody>
          </p:sp>
        </mc:Choice>
        <mc:Fallback xmlns="">
          <p:sp>
            <p:nvSpPr>
              <p:cNvPr id="1058" name="テキスト ボックス 1057">
                <a:extLst>
                  <a:ext uri="{FF2B5EF4-FFF2-40B4-BE49-F238E27FC236}">
                    <a16:creationId xmlns:a16="http://schemas.microsoft.com/office/drawing/2014/main" id="{FF33038F-2E36-695A-1005-50F603734E04}"/>
                  </a:ext>
                </a:extLst>
              </p:cNvPr>
              <p:cNvSpPr txBox="1">
                <a:spLocks noRot="1" noChangeAspect="1" noMove="1" noResize="1" noEditPoints="1" noAdjustHandles="1" noChangeArrowheads="1" noChangeShapeType="1" noTextEdit="1"/>
              </p:cNvSpPr>
              <p:nvPr/>
            </p:nvSpPr>
            <p:spPr>
              <a:xfrm>
                <a:off x="9976149" y="23731117"/>
                <a:ext cx="4880631" cy="984885"/>
              </a:xfrm>
              <a:prstGeom prst="rect">
                <a:avLst/>
              </a:prstGeom>
              <a:blipFill>
                <a:blip r:embed="rId9"/>
                <a:stretch>
                  <a:fillRect l="-4935" t="-15385" r="-1039" b="-21795"/>
                </a:stretch>
              </a:blipFill>
            </p:spPr>
            <p:txBody>
              <a:bodyPr/>
              <a:lstStyle/>
              <a:p>
                <a:r>
                  <a:rPr lang="ja-JP" altLang="en-US">
                    <a:noFill/>
                  </a:rPr>
                  <a:t> </a:t>
                </a:r>
              </a:p>
            </p:txBody>
          </p:sp>
        </mc:Fallback>
      </mc:AlternateContent>
      <p:sp>
        <p:nvSpPr>
          <p:cNvPr id="1059" name="テキスト ボックス 1058">
            <a:extLst>
              <a:ext uri="{FF2B5EF4-FFF2-40B4-BE49-F238E27FC236}">
                <a16:creationId xmlns:a16="http://schemas.microsoft.com/office/drawing/2014/main" id="{B56A2F00-A413-B38E-80F2-6C713B77EEC9}"/>
              </a:ext>
            </a:extLst>
          </p:cNvPr>
          <p:cNvSpPr txBox="1"/>
          <p:nvPr/>
        </p:nvSpPr>
        <p:spPr>
          <a:xfrm>
            <a:off x="5043661" y="24191923"/>
            <a:ext cx="5020460" cy="584775"/>
          </a:xfrm>
          <a:prstGeom prst="rect">
            <a:avLst/>
          </a:prstGeom>
          <a:noFill/>
        </p:spPr>
        <p:txBody>
          <a:bodyPr wrap="square">
            <a:spAutoFit/>
          </a:bodyPr>
          <a:lstStyle/>
          <a:p>
            <a:pPr algn="ctr"/>
            <a:r>
              <a:rPr kumimoji="1" lang="ja-JP" altLang="en-US" sz="3200" spc="-100">
                <a:solidFill>
                  <a:schemeClr val="tx1"/>
                </a:solidFill>
                <a:latin typeface="MS PGothic" panose="020B0600070205080204" pitchFamily="34" charset="-128"/>
                <a:ea typeface="MS PGothic" panose="020B0600070205080204" pitchFamily="34" charset="-128"/>
              </a:rPr>
              <a:t>図</a:t>
            </a:r>
            <a:r>
              <a:rPr kumimoji="1" lang="en-US" altLang="ja-JP" sz="3200" spc="-100" dirty="0">
                <a:solidFill>
                  <a:schemeClr val="tx1"/>
                </a:solidFill>
                <a:latin typeface="MS PGothic" panose="020B0600070205080204" pitchFamily="34" charset="-128"/>
                <a:ea typeface="MS PGothic" panose="020B0600070205080204" pitchFamily="34" charset="-128"/>
              </a:rPr>
              <a:t>1 </a:t>
            </a:r>
            <a:r>
              <a:rPr kumimoji="1" lang="ja-JP" altLang="en-US" sz="3200" spc="-100">
                <a:solidFill>
                  <a:schemeClr val="tx1"/>
                </a:solidFill>
                <a:latin typeface="MS PGothic" panose="020B0600070205080204" pitchFamily="34" charset="-128"/>
                <a:ea typeface="MS PGothic" panose="020B0600070205080204" pitchFamily="34" charset="-128"/>
              </a:rPr>
              <a:t>従来手法の構造</a:t>
            </a:r>
          </a:p>
        </p:txBody>
      </p:sp>
      <p:sp>
        <p:nvSpPr>
          <p:cNvPr id="1068" name="正方形/長方形 1067">
            <a:extLst>
              <a:ext uri="{FF2B5EF4-FFF2-40B4-BE49-F238E27FC236}">
                <a16:creationId xmlns:a16="http://schemas.microsoft.com/office/drawing/2014/main" id="{1FA91D9A-96F9-6A15-4689-FEF8C696D5C1}"/>
              </a:ext>
            </a:extLst>
          </p:cNvPr>
          <p:cNvSpPr/>
          <p:nvPr/>
        </p:nvSpPr>
        <p:spPr>
          <a:xfrm>
            <a:off x="15355890" y="2974507"/>
            <a:ext cx="14681200" cy="13704665"/>
          </a:xfrm>
          <a:prstGeom prst="rect">
            <a:avLst/>
          </a:prstGeom>
          <a:solidFill>
            <a:schemeClr val="bg1"/>
          </a:solid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69" name="正方形/長方形 1068">
            <a:extLst>
              <a:ext uri="{FF2B5EF4-FFF2-40B4-BE49-F238E27FC236}">
                <a16:creationId xmlns:a16="http://schemas.microsoft.com/office/drawing/2014/main" id="{A42DF63D-0EEE-91A2-2CBC-6AA3858AC378}"/>
              </a:ext>
            </a:extLst>
          </p:cNvPr>
          <p:cNvSpPr/>
          <p:nvPr/>
        </p:nvSpPr>
        <p:spPr>
          <a:xfrm>
            <a:off x="15341676" y="2288708"/>
            <a:ext cx="14708963" cy="849085"/>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4400">
                <a:latin typeface="MS PGothic" panose="020B0600070205080204" pitchFamily="34" charset="-128"/>
                <a:ea typeface="MS PGothic" panose="020B0600070205080204" pitchFamily="34" charset="-128"/>
              </a:rPr>
              <a:t>基盤技術</a:t>
            </a:r>
          </a:p>
        </p:txBody>
      </p:sp>
      <p:sp>
        <p:nvSpPr>
          <p:cNvPr id="1070" name="テキスト ボックス 1069">
            <a:extLst>
              <a:ext uri="{FF2B5EF4-FFF2-40B4-BE49-F238E27FC236}">
                <a16:creationId xmlns:a16="http://schemas.microsoft.com/office/drawing/2014/main" id="{6D8D9654-FF37-400B-B010-87AEE77CFA31}"/>
              </a:ext>
            </a:extLst>
          </p:cNvPr>
          <p:cNvSpPr txBox="1"/>
          <p:nvPr/>
        </p:nvSpPr>
        <p:spPr>
          <a:xfrm>
            <a:off x="15355890" y="3173095"/>
            <a:ext cx="14681200" cy="3046988"/>
          </a:xfrm>
          <a:prstGeom prst="rect">
            <a:avLst/>
          </a:prstGeom>
          <a:noFill/>
        </p:spPr>
        <p:txBody>
          <a:bodyPr wrap="square" rtlCol="0">
            <a:spAutoFit/>
          </a:bodyPr>
          <a:lstStyle/>
          <a:p>
            <a:pPr indent="457200" algn="just"/>
            <a:r>
              <a:rPr kumimoji="1" lang="en-US" altLang="ja-JP" sz="3200" dirty="0">
                <a:latin typeface="MS PGothic" panose="020B0600070205080204" pitchFamily="34" charset="-128"/>
                <a:ea typeface="MS PGothic" panose="020B0600070205080204" pitchFamily="34" charset="-128"/>
              </a:rPr>
              <a:t>BERT</a:t>
            </a:r>
            <a:r>
              <a:rPr kumimoji="1" lang="ja-JP" altLang="en-US" sz="3200">
                <a:latin typeface="MS PGothic" panose="020B0600070205080204" pitchFamily="34" charset="-128"/>
                <a:ea typeface="MS PGothic" panose="020B0600070205080204" pitchFamily="34" charset="-128"/>
              </a:rPr>
              <a:t>や</a:t>
            </a:r>
            <a:r>
              <a:rPr kumimoji="1" lang="en-US" altLang="ja-JP" sz="3200" dirty="0" err="1">
                <a:latin typeface="MS PGothic" panose="020B0600070205080204" pitchFamily="34" charset="-128"/>
                <a:ea typeface="MS PGothic" panose="020B0600070205080204" pitchFamily="34" charset="-128"/>
              </a:rPr>
              <a:t>ChatGPT</a:t>
            </a:r>
            <a:r>
              <a:rPr kumimoji="1" lang="ja-JP" altLang="en-US" sz="3200">
                <a:latin typeface="MS PGothic" panose="020B0600070205080204" pitchFamily="34" charset="-128"/>
                <a:ea typeface="MS PGothic" panose="020B0600070205080204" pitchFamily="34" charset="-128"/>
              </a:rPr>
              <a:t>が代表する近年の自然言語処理では，</a:t>
            </a:r>
            <a:r>
              <a:rPr kumimoji="1" lang="en-US" altLang="ja-JP" sz="3200" dirty="0">
                <a:latin typeface="MS PGothic" panose="020B0600070205080204" pitchFamily="34" charset="-128"/>
                <a:ea typeface="MS PGothic" panose="020B0600070205080204" pitchFamily="34" charset="-128"/>
              </a:rPr>
              <a:t>Transformer[4]</a:t>
            </a:r>
            <a:r>
              <a:rPr kumimoji="1" lang="ja-JP" altLang="en-US" sz="3200">
                <a:latin typeface="MS PGothic" panose="020B0600070205080204" pitchFamily="34" charset="-128"/>
                <a:ea typeface="MS PGothic" panose="020B0600070205080204" pitchFamily="34" charset="-128"/>
              </a:rPr>
              <a:t>が用いられるのがデファクトスタンダードとなっている．</a:t>
            </a:r>
            <a:r>
              <a:rPr kumimoji="1" lang="en-US" altLang="ja-JP" sz="3200" dirty="0">
                <a:latin typeface="MS PGothic" panose="020B0600070205080204" pitchFamily="34" charset="-128"/>
                <a:ea typeface="MS PGothic" panose="020B0600070205080204" pitchFamily="34" charset="-128"/>
              </a:rPr>
              <a:t>Transformer</a:t>
            </a:r>
            <a:r>
              <a:rPr kumimoji="1" lang="ja-JP" altLang="en-US" sz="3200">
                <a:latin typeface="MS PGothic" panose="020B0600070205080204" pitchFamily="34" charset="-128"/>
                <a:ea typeface="MS PGothic" panose="020B0600070205080204" pitchFamily="34" charset="-128"/>
              </a:rPr>
              <a:t>では</a:t>
            </a:r>
            <a:r>
              <a:rPr kumimoji="1" lang="en-US" altLang="ja-JP" sz="3200" dirty="0">
                <a:latin typeface="MS PGothic" panose="020B0600070205080204" pitchFamily="34" charset="-128"/>
                <a:ea typeface="MS PGothic" panose="020B0600070205080204" pitchFamily="34" charset="-128"/>
              </a:rPr>
              <a:t>Self-Attention</a:t>
            </a:r>
            <a:r>
              <a:rPr kumimoji="1" lang="ja-JP" altLang="en-US" sz="3200">
                <a:latin typeface="MS PGothic" panose="020B0600070205080204" pitchFamily="34" charset="-128"/>
                <a:ea typeface="MS PGothic" panose="020B0600070205080204" pitchFamily="34" charset="-128"/>
              </a:rPr>
              <a:t>により全ての時系列の関連性を並列で考慮することが可能となり，これにより再起的ニューラルネットワークの長期の時系列を考慮できない問題を解決している．</a:t>
            </a:r>
            <a:r>
              <a:rPr kumimoji="1" lang="en-US" altLang="ja-JP" sz="3200" dirty="0">
                <a:latin typeface="MS PGothic" panose="020B0600070205080204" pitchFamily="34" charset="-128"/>
                <a:ea typeface="MS PGothic" panose="020B0600070205080204" pitchFamily="34" charset="-128"/>
              </a:rPr>
              <a:t>Self-Attention</a:t>
            </a:r>
            <a:r>
              <a:rPr kumimoji="1" lang="ja-JP" altLang="en-US" sz="3200">
                <a:latin typeface="MS PGothic" panose="020B0600070205080204" pitchFamily="34" charset="-128"/>
                <a:ea typeface="MS PGothic" panose="020B0600070205080204" pitchFamily="34" charset="-128"/>
              </a:rPr>
              <a:t>は複数の時系列データを要素ごとにベクトルで表しデータを行列とする</a:t>
            </a:r>
            <a:r>
              <a:rPr kumimoji="1" lang="en-US" altLang="ja-JP" sz="3200" dirty="0">
                <a:latin typeface="MS PGothic" panose="020B0600070205080204" pitchFamily="34" charset="-128"/>
                <a:ea typeface="MS PGothic" panose="020B0600070205080204" pitchFamily="34" charset="-128"/>
              </a:rPr>
              <a:t>(</a:t>
            </a:r>
            <a:r>
              <a:rPr kumimoji="1" lang="ja-JP" altLang="en-US" sz="3200">
                <a:latin typeface="MS PGothic" panose="020B0600070205080204" pitchFamily="34" charset="-128"/>
                <a:ea typeface="MS PGothic" panose="020B0600070205080204" pitchFamily="34" charset="-128"/>
              </a:rPr>
              <a:t>文章を扱う場合，文章を単語ごとに分かち書きし，書く単語を埋め込みベクトルに変換する</a:t>
            </a:r>
            <a:r>
              <a:rPr kumimoji="1" lang="en-US" altLang="ja-JP" sz="3200" dirty="0">
                <a:latin typeface="MS PGothic" panose="020B0600070205080204" pitchFamily="34" charset="-128"/>
                <a:ea typeface="MS PGothic" panose="020B0600070205080204" pitchFamily="34" charset="-128"/>
              </a:rPr>
              <a:t>)</a:t>
            </a:r>
            <a:r>
              <a:rPr kumimoji="1" lang="ja-JP" altLang="en-US" sz="3200">
                <a:latin typeface="MS PGothic" panose="020B0600070205080204" pitchFamily="34" charset="-128"/>
                <a:ea typeface="MS PGothic" panose="020B0600070205080204" pitchFamily="34" charset="-128"/>
              </a:rPr>
              <a:t>．得られた</a:t>
            </a:r>
            <a:endParaRPr kumimoji="1" lang="en-US" altLang="ja-JP" sz="3200" dirty="0">
              <a:latin typeface="MS PGothic" panose="020B0600070205080204" pitchFamily="34" charset="-128"/>
              <a:ea typeface="MS PGothic" panose="020B0600070205080204" pitchFamily="34" charset="-128"/>
            </a:endParaRPr>
          </a:p>
        </p:txBody>
      </p:sp>
      <mc:AlternateContent xmlns:mc="http://schemas.openxmlformats.org/markup-compatibility/2006" xmlns:a14="http://schemas.microsoft.com/office/drawing/2010/main">
        <mc:Choice Requires="a14">
          <p:sp>
            <p:nvSpPr>
              <p:cNvPr id="1073" name="テキスト ボックス 1072">
                <a:extLst>
                  <a:ext uri="{FF2B5EF4-FFF2-40B4-BE49-F238E27FC236}">
                    <a16:creationId xmlns:a16="http://schemas.microsoft.com/office/drawing/2014/main" id="{FE099830-C665-0490-64BB-419BB4EEC852}"/>
                  </a:ext>
                </a:extLst>
              </p:cNvPr>
              <p:cNvSpPr txBox="1"/>
              <p:nvPr/>
            </p:nvSpPr>
            <p:spPr>
              <a:xfrm>
                <a:off x="15381572" y="9617116"/>
                <a:ext cx="10392040" cy="2680414"/>
              </a:xfrm>
              <a:prstGeom prst="rect">
                <a:avLst/>
              </a:prstGeom>
              <a:solidFill>
                <a:schemeClr val="bg1"/>
              </a:solidFill>
            </p:spPr>
            <p:txBody>
              <a:bodyPr wrap="square">
                <a:spAutoFit/>
              </a:bodyPr>
              <a:lstStyle/>
              <a:p>
                <a:pPr algn="ctr"/>
                <a14:m>
                  <m:oMath xmlns:m="http://schemas.openxmlformats.org/officeDocument/2006/math">
                    <m:r>
                      <a:rPr kumimoji="1" lang="en-US" altLang="ja-JP" sz="3200" b="1" i="0" spc="-100" smtClean="0">
                        <a:solidFill>
                          <a:schemeClr val="tx1"/>
                        </a:solidFill>
                        <a:latin typeface="Cambria Math" panose="02040503050406030204" pitchFamily="18" charset="0"/>
                        <a:ea typeface="MS PGothic" panose="020B0600070205080204" pitchFamily="34" charset="-128"/>
                      </a:rPr>
                      <m:t>𝐐</m:t>
                    </m:r>
                    <m:r>
                      <a:rPr kumimoji="1" lang="en-US" altLang="ja-JP" sz="3200" b="0" i="1" spc="-100" smtClean="0">
                        <a:solidFill>
                          <a:schemeClr val="tx1"/>
                        </a:solidFill>
                        <a:latin typeface="Cambria Math" panose="02040503050406030204" pitchFamily="18" charset="0"/>
                        <a:ea typeface="MS PGothic" panose="020B0600070205080204" pitchFamily="34" charset="-128"/>
                      </a:rPr>
                      <m:t>=</m:t>
                    </m:r>
                    <m:r>
                      <a:rPr kumimoji="1" lang="en-US" altLang="ja-JP" sz="3200" b="1" i="0" spc="-100" smtClean="0">
                        <a:solidFill>
                          <a:srgbClr val="FF0000"/>
                        </a:solidFill>
                        <a:latin typeface="Cambria Math" panose="02040503050406030204" pitchFamily="18" charset="0"/>
                        <a:ea typeface="MS PGothic" panose="020B0600070205080204" pitchFamily="34" charset="-128"/>
                      </a:rPr>
                      <m:t>𝐗</m:t>
                    </m:r>
                    <m:sSub>
                      <m:sSubPr>
                        <m:ctrlPr>
                          <a:rPr kumimoji="1" lang="en-US" altLang="ja-JP" sz="3200" b="1" i="1" spc="-100" smtClean="0">
                            <a:solidFill>
                              <a:schemeClr val="tx1"/>
                            </a:solidFill>
                            <a:latin typeface="Cambria Math" panose="02040503050406030204" pitchFamily="18" charset="0"/>
                            <a:ea typeface="MS PGothic" panose="020B0600070205080204" pitchFamily="34" charset="-128"/>
                          </a:rPr>
                        </m:ctrlPr>
                      </m:sSubPr>
                      <m:e>
                        <m:r>
                          <a:rPr kumimoji="1" lang="en-US" altLang="ja-JP" sz="3200" b="1" i="0" spc="-100" smtClean="0">
                            <a:solidFill>
                              <a:schemeClr val="tx1"/>
                            </a:solidFill>
                            <a:latin typeface="Cambria Math" panose="02040503050406030204" pitchFamily="18" charset="0"/>
                            <a:ea typeface="MS PGothic" panose="020B0600070205080204" pitchFamily="34" charset="-128"/>
                          </a:rPr>
                          <m:t>𝐖</m:t>
                        </m:r>
                      </m:e>
                      <m:sub>
                        <m:r>
                          <a:rPr kumimoji="1" lang="en-US" altLang="ja-JP" sz="3200" b="1" i="0" spc="-100" smtClean="0">
                            <a:solidFill>
                              <a:schemeClr val="tx1"/>
                            </a:solidFill>
                            <a:latin typeface="Cambria Math" panose="02040503050406030204" pitchFamily="18" charset="0"/>
                            <a:ea typeface="MS PGothic" panose="020B0600070205080204" pitchFamily="34" charset="-128"/>
                          </a:rPr>
                          <m:t>𝐐</m:t>
                        </m:r>
                      </m:sub>
                    </m:sSub>
                  </m:oMath>
                </a14:m>
                <a:r>
                  <a:rPr kumimoji="1" lang="en-US" altLang="ja-JP" sz="3200" spc="-100" dirty="0">
                    <a:solidFill>
                      <a:schemeClr val="tx1"/>
                    </a:solidFill>
                    <a:latin typeface="MS PGothic" panose="020B0600070205080204" pitchFamily="34" charset="-128"/>
                    <a:ea typeface="MS PGothic" panose="020B0600070205080204" pitchFamily="34" charset="-128"/>
                  </a:rPr>
                  <a:t>,      </a:t>
                </a:r>
                <a14:m>
                  <m:oMath xmlns:m="http://schemas.openxmlformats.org/officeDocument/2006/math">
                    <m:r>
                      <a:rPr kumimoji="1" lang="en-US" altLang="ja-JP" sz="3200" b="1" i="0" spc="-100" smtClean="0">
                        <a:solidFill>
                          <a:schemeClr val="tx1"/>
                        </a:solidFill>
                        <a:latin typeface="Cambria Math" panose="02040503050406030204" pitchFamily="18" charset="0"/>
                        <a:ea typeface="MS PGothic" panose="020B0600070205080204" pitchFamily="34" charset="-128"/>
                      </a:rPr>
                      <m:t>𝐊</m:t>
                    </m:r>
                    <m:r>
                      <a:rPr kumimoji="1" lang="en-US" altLang="ja-JP" sz="3200" b="0" i="1" spc="-100" smtClean="0">
                        <a:solidFill>
                          <a:schemeClr val="tx1"/>
                        </a:solidFill>
                        <a:latin typeface="Cambria Math" panose="02040503050406030204" pitchFamily="18" charset="0"/>
                        <a:ea typeface="MS PGothic" panose="020B0600070205080204" pitchFamily="34" charset="-128"/>
                      </a:rPr>
                      <m:t>=</m:t>
                    </m:r>
                    <m:r>
                      <a:rPr kumimoji="1" lang="en-US" altLang="ja-JP" sz="3200" b="1" i="0" spc="-100" smtClean="0">
                        <a:solidFill>
                          <a:srgbClr val="0070C0"/>
                        </a:solidFill>
                        <a:latin typeface="Cambria Math" panose="02040503050406030204" pitchFamily="18" charset="0"/>
                        <a:ea typeface="MS PGothic" panose="020B0600070205080204" pitchFamily="34" charset="-128"/>
                      </a:rPr>
                      <m:t>𝐘</m:t>
                    </m:r>
                    <m:sSub>
                      <m:sSubPr>
                        <m:ctrlPr>
                          <a:rPr kumimoji="1" lang="en-US" altLang="ja-JP" sz="3200" b="1" i="1" spc="-100" smtClean="0">
                            <a:solidFill>
                              <a:schemeClr val="tx1"/>
                            </a:solidFill>
                            <a:latin typeface="Cambria Math" panose="02040503050406030204" pitchFamily="18" charset="0"/>
                            <a:ea typeface="MS PGothic" panose="020B0600070205080204" pitchFamily="34" charset="-128"/>
                          </a:rPr>
                        </m:ctrlPr>
                      </m:sSubPr>
                      <m:e>
                        <m:r>
                          <a:rPr kumimoji="1" lang="en-US" altLang="ja-JP" sz="3200" b="1" i="0" spc="-100" smtClean="0">
                            <a:solidFill>
                              <a:schemeClr val="tx1"/>
                            </a:solidFill>
                            <a:latin typeface="Cambria Math" panose="02040503050406030204" pitchFamily="18" charset="0"/>
                            <a:ea typeface="MS PGothic" panose="020B0600070205080204" pitchFamily="34" charset="-128"/>
                          </a:rPr>
                          <m:t>𝐖</m:t>
                        </m:r>
                      </m:e>
                      <m:sub>
                        <m:r>
                          <a:rPr kumimoji="1" lang="en-US" altLang="ja-JP" sz="3200" b="1" i="0" spc="-100" smtClean="0">
                            <a:solidFill>
                              <a:schemeClr val="tx1"/>
                            </a:solidFill>
                            <a:latin typeface="Cambria Math" panose="02040503050406030204" pitchFamily="18" charset="0"/>
                            <a:ea typeface="MS PGothic" panose="020B0600070205080204" pitchFamily="34" charset="-128"/>
                          </a:rPr>
                          <m:t>𝐊</m:t>
                        </m:r>
                      </m:sub>
                    </m:sSub>
                  </m:oMath>
                </a14:m>
                <a:r>
                  <a:rPr kumimoji="1" lang="en-US" altLang="ja-JP" sz="3200" spc="-100" dirty="0">
                    <a:solidFill>
                      <a:schemeClr val="tx1"/>
                    </a:solidFill>
                    <a:latin typeface="MS PGothic" panose="020B0600070205080204" pitchFamily="34" charset="-128"/>
                    <a:ea typeface="MS PGothic" panose="020B0600070205080204" pitchFamily="34" charset="-128"/>
                  </a:rPr>
                  <a:t>,      </a:t>
                </a:r>
                <a14:m>
                  <m:oMath xmlns:m="http://schemas.openxmlformats.org/officeDocument/2006/math">
                    <m:r>
                      <a:rPr kumimoji="1" lang="en-US" altLang="ja-JP" sz="3200" b="1" i="0" spc="-100" smtClean="0">
                        <a:solidFill>
                          <a:schemeClr val="tx1"/>
                        </a:solidFill>
                        <a:latin typeface="Cambria Math" panose="02040503050406030204" pitchFamily="18" charset="0"/>
                        <a:ea typeface="MS PGothic" panose="020B0600070205080204" pitchFamily="34" charset="-128"/>
                      </a:rPr>
                      <m:t>𝐕</m:t>
                    </m:r>
                    <m:r>
                      <a:rPr kumimoji="1" lang="en-US" altLang="ja-JP" sz="3200" b="0" i="1" spc="-100" smtClean="0">
                        <a:solidFill>
                          <a:schemeClr val="tx1"/>
                        </a:solidFill>
                        <a:latin typeface="Cambria Math" panose="02040503050406030204" pitchFamily="18" charset="0"/>
                        <a:ea typeface="MS PGothic" panose="020B0600070205080204" pitchFamily="34" charset="-128"/>
                      </a:rPr>
                      <m:t>=</m:t>
                    </m:r>
                    <m:r>
                      <a:rPr kumimoji="1" lang="en-US" altLang="ja-JP" sz="3200" b="1" i="0" spc="-100" smtClean="0">
                        <a:solidFill>
                          <a:srgbClr val="0070C0"/>
                        </a:solidFill>
                        <a:latin typeface="Cambria Math" panose="02040503050406030204" pitchFamily="18" charset="0"/>
                        <a:ea typeface="MS PGothic" panose="020B0600070205080204" pitchFamily="34" charset="-128"/>
                      </a:rPr>
                      <m:t>𝐘</m:t>
                    </m:r>
                    <m:sSub>
                      <m:sSubPr>
                        <m:ctrlPr>
                          <a:rPr kumimoji="1" lang="en-US" altLang="ja-JP" sz="3200" b="1" i="1" spc="-100" smtClean="0">
                            <a:solidFill>
                              <a:schemeClr val="tx1"/>
                            </a:solidFill>
                            <a:latin typeface="Cambria Math" panose="02040503050406030204" pitchFamily="18" charset="0"/>
                            <a:ea typeface="MS PGothic" panose="020B0600070205080204" pitchFamily="34" charset="-128"/>
                          </a:rPr>
                        </m:ctrlPr>
                      </m:sSubPr>
                      <m:e>
                        <m:r>
                          <a:rPr kumimoji="1" lang="en-US" altLang="ja-JP" sz="3200" b="1" i="0" spc="-100" smtClean="0">
                            <a:solidFill>
                              <a:schemeClr val="tx1"/>
                            </a:solidFill>
                            <a:latin typeface="Cambria Math" panose="02040503050406030204" pitchFamily="18" charset="0"/>
                            <a:ea typeface="MS PGothic" panose="020B0600070205080204" pitchFamily="34" charset="-128"/>
                          </a:rPr>
                          <m:t>𝐖</m:t>
                        </m:r>
                      </m:e>
                      <m:sub>
                        <m:r>
                          <a:rPr kumimoji="1" lang="en-US" altLang="ja-JP" sz="3200" b="1" i="0" spc="-100" smtClean="0">
                            <a:solidFill>
                              <a:schemeClr val="tx1"/>
                            </a:solidFill>
                            <a:latin typeface="Cambria Math" panose="02040503050406030204" pitchFamily="18" charset="0"/>
                            <a:ea typeface="MS PGothic" panose="020B0600070205080204" pitchFamily="34" charset="-128"/>
                          </a:rPr>
                          <m:t>𝐕</m:t>
                        </m:r>
                      </m:sub>
                    </m:sSub>
                  </m:oMath>
                </a14:m>
                <a:r>
                  <a:rPr kumimoji="1" lang="en-US" altLang="ja-JP" sz="3200" spc="-100" dirty="0">
                    <a:solidFill>
                      <a:schemeClr val="tx1"/>
                    </a:solidFill>
                    <a:latin typeface="MS PGothic" panose="020B0600070205080204" pitchFamily="34" charset="-128"/>
                    <a:ea typeface="MS PGothic" panose="020B0600070205080204" pitchFamily="34" charset="-128"/>
                  </a:rPr>
                  <a:t>,</a:t>
                </a:r>
              </a:p>
              <a:p>
                <a:pPr algn="ctr"/>
                <a14:m>
                  <m:oMath xmlns:m="http://schemas.openxmlformats.org/officeDocument/2006/math">
                    <m:r>
                      <a:rPr kumimoji="1" lang="en-US" altLang="ja-JP" sz="3200" b="1" i="0" spc="-100" smtClean="0">
                        <a:solidFill>
                          <a:schemeClr val="tx1"/>
                        </a:solidFill>
                        <a:latin typeface="Cambria Math" panose="02040503050406030204" pitchFamily="18" charset="0"/>
                        <a:ea typeface="MS PGothic" panose="020B0600070205080204" pitchFamily="34" charset="-128"/>
                      </a:rPr>
                      <m:t>𝐀</m:t>
                    </m:r>
                    <m:r>
                      <a:rPr kumimoji="1" lang="en-US" altLang="ja-JP" sz="3200" b="0" i="1" spc="-100" smtClean="0">
                        <a:solidFill>
                          <a:schemeClr val="tx1"/>
                        </a:solidFill>
                        <a:latin typeface="Cambria Math" panose="02040503050406030204" pitchFamily="18" charset="0"/>
                        <a:ea typeface="MS PGothic" panose="020B0600070205080204" pitchFamily="34" charset="-128"/>
                      </a:rPr>
                      <m:t>=</m:t>
                    </m:r>
                    <m:f>
                      <m:fPr>
                        <m:type m:val="lin"/>
                        <m:ctrlPr>
                          <a:rPr kumimoji="1" lang="en-US" altLang="ja-JP" sz="3200" b="0" i="1" spc="-100" smtClean="0">
                            <a:solidFill>
                              <a:schemeClr val="tx1"/>
                            </a:solidFill>
                            <a:latin typeface="Cambria Math" panose="02040503050406030204" pitchFamily="18" charset="0"/>
                            <a:ea typeface="MS PGothic" panose="020B0600070205080204" pitchFamily="34" charset="-128"/>
                          </a:rPr>
                        </m:ctrlPr>
                      </m:fPr>
                      <m:num>
                        <m:r>
                          <a:rPr kumimoji="1" lang="en-US" altLang="ja-JP" sz="3200" b="1" i="0" spc="-100" smtClean="0">
                            <a:solidFill>
                              <a:schemeClr val="tx1"/>
                            </a:solidFill>
                            <a:latin typeface="Cambria Math" panose="02040503050406030204" pitchFamily="18" charset="0"/>
                            <a:ea typeface="MS PGothic" panose="020B0600070205080204" pitchFamily="34" charset="-128"/>
                          </a:rPr>
                          <m:t>𝐐</m:t>
                        </m:r>
                        <m:sSup>
                          <m:sSupPr>
                            <m:ctrlPr>
                              <a:rPr kumimoji="1" lang="en-US" altLang="ja-JP" sz="3200" b="0" i="1" spc="-100" smtClean="0">
                                <a:solidFill>
                                  <a:schemeClr val="tx1"/>
                                </a:solidFill>
                                <a:latin typeface="Cambria Math" panose="02040503050406030204" pitchFamily="18" charset="0"/>
                                <a:ea typeface="MS PGothic" panose="020B0600070205080204" pitchFamily="34" charset="-128"/>
                              </a:rPr>
                            </m:ctrlPr>
                          </m:sSupPr>
                          <m:e>
                            <m:r>
                              <a:rPr kumimoji="1" lang="en-US" altLang="ja-JP" sz="3200" b="1" i="0" spc="-100" smtClean="0">
                                <a:solidFill>
                                  <a:schemeClr val="tx1"/>
                                </a:solidFill>
                                <a:latin typeface="Cambria Math" panose="02040503050406030204" pitchFamily="18" charset="0"/>
                                <a:ea typeface="MS PGothic" panose="020B0600070205080204" pitchFamily="34" charset="-128"/>
                              </a:rPr>
                              <m:t>𝐊</m:t>
                            </m:r>
                          </m:e>
                          <m:sup>
                            <m:r>
                              <a:rPr kumimoji="1" lang="en-US" altLang="ja-JP" sz="3200" b="0" i="1" spc="-100" smtClean="0">
                                <a:solidFill>
                                  <a:schemeClr val="tx1"/>
                                </a:solidFill>
                                <a:latin typeface="Cambria Math" panose="02040503050406030204" pitchFamily="18" charset="0"/>
                                <a:ea typeface="MS PGothic" panose="020B0600070205080204" pitchFamily="34" charset="-128"/>
                              </a:rPr>
                              <m:t>𝑇</m:t>
                            </m:r>
                          </m:sup>
                        </m:sSup>
                      </m:num>
                      <m:den>
                        <m:rad>
                          <m:radPr>
                            <m:degHide m:val="on"/>
                            <m:ctrlPr>
                              <a:rPr kumimoji="1" lang="en-US" altLang="ja-JP" sz="3200" b="0" i="1" spc="-100" smtClean="0">
                                <a:solidFill>
                                  <a:schemeClr val="tx1"/>
                                </a:solidFill>
                                <a:latin typeface="Cambria Math" panose="02040503050406030204" pitchFamily="18" charset="0"/>
                                <a:ea typeface="MS PGothic" panose="020B0600070205080204" pitchFamily="34" charset="-128"/>
                              </a:rPr>
                            </m:ctrlPr>
                          </m:radPr>
                          <m:deg/>
                          <m:e>
                            <m:r>
                              <a:rPr kumimoji="1" lang="en-US" altLang="ja-JP" sz="3200" b="0" i="1" spc="-100" smtClean="0">
                                <a:solidFill>
                                  <a:schemeClr val="tx1"/>
                                </a:solidFill>
                                <a:latin typeface="Cambria Math" panose="02040503050406030204" pitchFamily="18" charset="0"/>
                                <a:ea typeface="MS PGothic" panose="020B0600070205080204" pitchFamily="34" charset="-128"/>
                              </a:rPr>
                              <m:t>𝑑</m:t>
                            </m:r>
                          </m:e>
                        </m:rad>
                      </m:den>
                    </m:f>
                  </m:oMath>
                </a14:m>
                <a:r>
                  <a:rPr kumimoji="1" lang="en-US" altLang="ja-JP" sz="3200" spc="-100" dirty="0">
                    <a:solidFill>
                      <a:schemeClr val="tx1"/>
                    </a:solidFill>
                    <a:latin typeface="MS PGothic" panose="020B0600070205080204" pitchFamily="34" charset="-128"/>
                    <a:ea typeface="MS PGothic" panose="020B0600070205080204" pitchFamily="34" charset="-128"/>
                  </a:rPr>
                  <a:t>,      </a:t>
                </a:r>
                <a14:m>
                  <m:oMath xmlns:m="http://schemas.openxmlformats.org/officeDocument/2006/math">
                    <m:acc>
                      <m:accPr>
                        <m:chr m:val="̂"/>
                        <m:ctrlPr>
                          <a:rPr kumimoji="1" lang="en-US" altLang="ja-JP" sz="3200" i="1" spc="-100" smtClean="0">
                            <a:solidFill>
                              <a:schemeClr val="tx1"/>
                            </a:solidFill>
                            <a:latin typeface="Cambria Math" panose="02040503050406030204" pitchFamily="18" charset="0"/>
                            <a:ea typeface="MS PGothic" panose="020B0600070205080204" pitchFamily="34" charset="-128"/>
                          </a:rPr>
                        </m:ctrlPr>
                      </m:accPr>
                      <m:e>
                        <m:r>
                          <a:rPr kumimoji="1" lang="en-US" altLang="ja-JP" sz="3200" b="1" i="0" spc="-100" smtClean="0">
                            <a:solidFill>
                              <a:schemeClr val="tx1"/>
                            </a:solidFill>
                            <a:latin typeface="Cambria Math" panose="02040503050406030204" pitchFamily="18" charset="0"/>
                            <a:ea typeface="MS PGothic" panose="020B0600070205080204" pitchFamily="34" charset="-128"/>
                          </a:rPr>
                          <m:t>𝐘</m:t>
                        </m:r>
                      </m:e>
                    </m:acc>
                    <m:r>
                      <a:rPr kumimoji="1" lang="en-US" altLang="ja-JP" sz="3200" b="0" i="1" spc="-100" smtClean="0">
                        <a:solidFill>
                          <a:schemeClr val="tx1"/>
                        </a:solidFill>
                        <a:latin typeface="Cambria Math" panose="02040503050406030204" pitchFamily="18" charset="0"/>
                        <a:ea typeface="MS PGothic" panose="020B0600070205080204" pitchFamily="34" charset="-128"/>
                      </a:rPr>
                      <m:t>=</m:t>
                    </m:r>
                    <m:r>
                      <a:rPr kumimoji="1" lang="en-US" altLang="ja-JP" sz="3200" b="1" i="0" spc="-100" smtClean="0">
                        <a:solidFill>
                          <a:schemeClr val="tx1"/>
                        </a:solidFill>
                        <a:latin typeface="Cambria Math" panose="02040503050406030204" pitchFamily="18" charset="0"/>
                        <a:ea typeface="MS PGothic" panose="020B0600070205080204" pitchFamily="34" charset="-128"/>
                      </a:rPr>
                      <m:t>𝐀𝐕</m:t>
                    </m:r>
                  </m:oMath>
                </a14:m>
                <a:r>
                  <a:rPr kumimoji="1" lang="en-US" altLang="ja-JP" sz="3200" b="1" spc="-100" dirty="0">
                    <a:solidFill>
                      <a:schemeClr val="tx1"/>
                    </a:solidFill>
                    <a:latin typeface="MS PGothic" panose="020B0600070205080204" pitchFamily="34" charset="-128"/>
                    <a:ea typeface="MS PGothic" panose="020B0600070205080204" pitchFamily="34" charset="-128"/>
                  </a:rPr>
                  <a:t>,      </a:t>
                </a:r>
                <a14:m>
                  <m:oMath xmlns:m="http://schemas.openxmlformats.org/officeDocument/2006/math">
                    <m:acc>
                      <m:accPr>
                        <m:chr m:val="̂"/>
                        <m:ctrlPr>
                          <a:rPr kumimoji="1" lang="en-US" altLang="ja-JP" sz="3200" i="1" spc="-100">
                            <a:latin typeface="Cambria Math" panose="02040503050406030204" pitchFamily="18" charset="0"/>
                            <a:ea typeface="MS PGothic" panose="020B0600070205080204" pitchFamily="34" charset="-128"/>
                          </a:rPr>
                        </m:ctrlPr>
                      </m:accPr>
                      <m:e>
                        <m:r>
                          <a:rPr kumimoji="1" lang="en-US" altLang="ja-JP" sz="3200" b="1" i="0" spc="-100" smtClean="0">
                            <a:latin typeface="Cambria Math" panose="02040503050406030204" pitchFamily="18" charset="0"/>
                            <a:ea typeface="MS PGothic" panose="020B0600070205080204" pitchFamily="34" charset="-128"/>
                          </a:rPr>
                          <m:t>𝐗</m:t>
                        </m:r>
                      </m:e>
                    </m:acc>
                    <m:r>
                      <a:rPr kumimoji="1" lang="en-US" altLang="ja-JP" sz="3200" i="1" spc="-100">
                        <a:latin typeface="Cambria Math" panose="02040503050406030204" pitchFamily="18" charset="0"/>
                        <a:ea typeface="MS PGothic" panose="020B0600070205080204" pitchFamily="34" charset="-128"/>
                      </a:rPr>
                      <m:t>=</m:t>
                    </m:r>
                    <m:acc>
                      <m:accPr>
                        <m:chr m:val="̂"/>
                        <m:ctrlPr>
                          <a:rPr kumimoji="1" lang="en-US" altLang="ja-JP" sz="3200" i="1" spc="-100">
                            <a:latin typeface="Cambria Math" panose="02040503050406030204" pitchFamily="18" charset="0"/>
                            <a:ea typeface="MS PGothic" panose="020B0600070205080204" pitchFamily="34" charset="-128"/>
                          </a:rPr>
                        </m:ctrlPr>
                      </m:accPr>
                      <m:e>
                        <m:r>
                          <a:rPr kumimoji="1" lang="en-US" altLang="ja-JP" sz="3200" b="1" spc="-100">
                            <a:latin typeface="Cambria Math" panose="02040503050406030204" pitchFamily="18" charset="0"/>
                            <a:ea typeface="MS PGothic" panose="020B0600070205080204" pitchFamily="34" charset="-128"/>
                          </a:rPr>
                          <m:t>𝐘</m:t>
                        </m:r>
                      </m:e>
                    </m:acc>
                    <m:r>
                      <a:rPr kumimoji="1" lang="en-US" altLang="ja-JP" sz="3200" b="1" i="1" spc="-100" smtClean="0">
                        <a:latin typeface="Cambria Math" panose="02040503050406030204" pitchFamily="18" charset="0"/>
                        <a:ea typeface="MS PGothic" panose="020B0600070205080204" pitchFamily="34" charset="-128"/>
                      </a:rPr>
                      <m:t>+</m:t>
                    </m:r>
                    <m:r>
                      <a:rPr kumimoji="1" lang="en-US" altLang="ja-JP" sz="3200" b="1" i="0" spc="-100" smtClean="0">
                        <a:latin typeface="Cambria Math" panose="02040503050406030204" pitchFamily="18" charset="0"/>
                        <a:ea typeface="MS PGothic" panose="020B0600070205080204" pitchFamily="34" charset="-128"/>
                      </a:rPr>
                      <m:t>𝐗</m:t>
                    </m:r>
                  </m:oMath>
                </a14:m>
                <a:endParaRPr kumimoji="1" lang="en-US" altLang="ja-JP" sz="3200" spc="-100" dirty="0">
                  <a:solidFill>
                    <a:schemeClr val="tx1"/>
                  </a:solidFill>
                  <a:latin typeface="MS PGothic" panose="020B0600070205080204" pitchFamily="34" charset="-128"/>
                  <a:ea typeface="MS PGothic" panose="020B0600070205080204" pitchFamily="34" charset="-128"/>
                </a:endParaRPr>
              </a:p>
              <a:p>
                <a:r>
                  <a:rPr kumimoji="1" lang="en-US" altLang="ja-JP" sz="3200" spc="-100" dirty="0">
                    <a:latin typeface="MS PGothic" panose="020B0600070205080204" pitchFamily="34" charset="-128"/>
                    <a:ea typeface="MS PGothic" panose="020B0600070205080204" pitchFamily="34" charset="-128"/>
                  </a:rPr>
                  <a:t>※</a:t>
                </a:r>
                <a:r>
                  <a:rPr kumimoji="1" lang="ja-JP" altLang="en-US" sz="3200" spc="-100">
                    <a:latin typeface="MS PGothic" panose="020B0600070205080204" pitchFamily="34" charset="-128"/>
                    <a:ea typeface="MS PGothic" panose="020B0600070205080204" pitchFamily="34" charset="-128"/>
                  </a:rPr>
                  <a:t> </a:t>
                </a:r>
                <a:r>
                  <a:rPr kumimoji="1" lang="en-US" altLang="ja-JP" sz="3200" b="1" spc="-100" dirty="0">
                    <a:ea typeface="MS PGothic" panose="020B0600070205080204" pitchFamily="34" charset="-128"/>
                  </a:rPr>
                  <a:t> </a:t>
                </a:r>
                <a14:m>
                  <m:oMath xmlns:m="http://schemas.openxmlformats.org/officeDocument/2006/math">
                    <m:r>
                      <a:rPr kumimoji="1" lang="en-US" altLang="ja-JP" sz="3200" b="1" spc="-100" smtClean="0">
                        <a:solidFill>
                          <a:srgbClr val="FF0000"/>
                        </a:solidFill>
                        <a:latin typeface="Cambria Math" panose="02040503050406030204" pitchFamily="18" charset="0"/>
                        <a:ea typeface="MS PGothic" panose="020B0600070205080204" pitchFamily="34" charset="-128"/>
                      </a:rPr>
                      <m:t>𝐗</m:t>
                    </m:r>
                  </m:oMath>
                </a14:m>
                <a:r>
                  <a:rPr kumimoji="1" lang="en-US" altLang="ja-JP" sz="3200" spc="-100" dirty="0">
                    <a:latin typeface="MS PGothic" panose="020B0600070205080204" pitchFamily="34" charset="-128"/>
                    <a:ea typeface="MS PGothic" panose="020B0600070205080204" pitchFamily="34" charset="-128"/>
                  </a:rPr>
                  <a:t> : </a:t>
                </a:r>
                <a:r>
                  <a:rPr kumimoji="1" lang="ja-JP" altLang="en-US" sz="3200" spc="-100">
                    <a:latin typeface="MS PGothic" panose="020B0600070205080204" pitchFamily="34" charset="-128"/>
                    <a:ea typeface="MS PGothic" panose="020B0600070205080204" pitchFamily="34" charset="-128"/>
                  </a:rPr>
                  <a:t>デコーダの特徴量</a:t>
                </a:r>
                <a:r>
                  <a:rPr kumimoji="1" lang="en-US" altLang="ja-JP" sz="3200" spc="-100" dirty="0">
                    <a:latin typeface="MS PGothic" panose="020B0600070205080204" pitchFamily="34" charset="-128"/>
                    <a:ea typeface="MS PGothic" panose="020B0600070205080204" pitchFamily="34" charset="-128"/>
                  </a:rPr>
                  <a:t>(</a:t>
                </a:r>
                <a:r>
                  <a:rPr kumimoji="1" lang="ja-JP" altLang="en-US" sz="3200" spc="-100">
                    <a:latin typeface="MS PGothic" panose="020B0600070205080204" pitchFamily="34" charset="-128"/>
                    <a:ea typeface="MS PGothic" panose="020B0600070205080204" pitchFamily="34" charset="-128"/>
                  </a:rPr>
                  <a:t>画像</a:t>
                </a:r>
                <a:r>
                  <a:rPr kumimoji="1" lang="en-US" altLang="ja-JP" sz="3200" spc="-100" dirty="0">
                    <a:latin typeface="MS PGothic" panose="020B0600070205080204" pitchFamily="34" charset="-128"/>
                    <a:ea typeface="MS PGothic" panose="020B0600070205080204" pitchFamily="34" charset="-128"/>
                  </a:rPr>
                  <a:t>), </a:t>
                </a:r>
                <a14:m>
                  <m:oMath xmlns:m="http://schemas.openxmlformats.org/officeDocument/2006/math">
                    <m:r>
                      <a:rPr kumimoji="1" lang="en-US" altLang="ja-JP" sz="3200" b="1" spc="-100" smtClean="0">
                        <a:solidFill>
                          <a:srgbClr val="0070C0"/>
                        </a:solidFill>
                        <a:latin typeface="Cambria Math" panose="02040503050406030204" pitchFamily="18" charset="0"/>
                        <a:ea typeface="MS PGothic" panose="020B0600070205080204" pitchFamily="34" charset="-128"/>
                      </a:rPr>
                      <m:t>𝐘</m:t>
                    </m:r>
                  </m:oMath>
                </a14:m>
                <a:r>
                  <a:rPr kumimoji="1" lang="en-US" altLang="ja-JP" sz="3200" spc="-100" dirty="0">
                    <a:latin typeface="MS PGothic" panose="020B0600070205080204" pitchFamily="34" charset="-128"/>
                    <a:ea typeface="MS PGothic" panose="020B0600070205080204" pitchFamily="34" charset="-128"/>
                  </a:rPr>
                  <a:t> : </a:t>
                </a:r>
                <a:r>
                  <a:rPr kumimoji="1" lang="ja-JP" altLang="en-US" sz="3200" spc="-100">
                    <a:latin typeface="MS PGothic" panose="020B0600070205080204" pitchFamily="34" charset="-128"/>
                    <a:ea typeface="MS PGothic" panose="020B0600070205080204" pitchFamily="34" charset="-128"/>
                  </a:rPr>
                  <a:t>エンコーダの特徴量</a:t>
                </a:r>
                <a:r>
                  <a:rPr kumimoji="1" lang="en-US" altLang="ja-JP" sz="3200" spc="-100" dirty="0">
                    <a:latin typeface="MS PGothic" panose="020B0600070205080204" pitchFamily="34" charset="-128"/>
                    <a:ea typeface="MS PGothic" panose="020B0600070205080204" pitchFamily="34" charset="-128"/>
                  </a:rPr>
                  <a:t>(</a:t>
                </a:r>
                <a:r>
                  <a:rPr kumimoji="1" lang="ja-JP" altLang="en-US" sz="3200" spc="-100">
                    <a:latin typeface="MS PGothic" panose="020B0600070205080204" pitchFamily="34" charset="-128"/>
                    <a:ea typeface="MS PGothic" panose="020B0600070205080204" pitchFamily="34" charset="-128"/>
                  </a:rPr>
                  <a:t>文章</a:t>
                </a:r>
                <a:r>
                  <a:rPr kumimoji="1" lang="en-US" altLang="ja-JP" sz="3200" spc="-100" dirty="0">
                    <a:latin typeface="MS PGothic" panose="020B0600070205080204" pitchFamily="34" charset="-128"/>
                    <a:ea typeface="MS PGothic" panose="020B0600070205080204" pitchFamily="34" charset="-128"/>
                  </a:rPr>
                  <a:t>),</a:t>
                </a:r>
              </a:p>
              <a:p>
                <a:r>
                  <a:rPr kumimoji="1" lang="ja-JP" altLang="en-US" sz="3200" spc="-100" dirty="0">
                    <a:latin typeface="MS PGothic" panose="020B0600070205080204" pitchFamily="34" charset="-128"/>
                    <a:ea typeface="MS PGothic" panose="020B0600070205080204" pitchFamily="34" charset="-128"/>
                  </a:rPr>
                  <a:t>　　</a:t>
                </a:r>
                <a14:m>
                  <m:oMath xmlns:m="http://schemas.openxmlformats.org/officeDocument/2006/math">
                    <m:sSub>
                      <m:sSubPr>
                        <m:ctrlPr>
                          <a:rPr kumimoji="1" lang="en-US" altLang="ja-JP" sz="3200" b="1" i="1" spc="-100" smtClean="0">
                            <a:solidFill>
                              <a:schemeClr val="tx1"/>
                            </a:solidFill>
                            <a:latin typeface="Cambria Math" panose="02040503050406030204" pitchFamily="18" charset="0"/>
                            <a:ea typeface="MS PGothic" panose="020B0600070205080204" pitchFamily="34" charset="-128"/>
                          </a:rPr>
                        </m:ctrlPr>
                      </m:sSubPr>
                      <m:e>
                        <m:r>
                          <a:rPr kumimoji="1" lang="en-US" altLang="ja-JP" sz="3200" b="1" i="0" spc="-100" smtClean="0">
                            <a:solidFill>
                              <a:schemeClr val="tx1"/>
                            </a:solidFill>
                            <a:latin typeface="Cambria Math" panose="02040503050406030204" pitchFamily="18" charset="0"/>
                            <a:ea typeface="MS PGothic" panose="020B0600070205080204" pitchFamily="34" charset="-128"/>
                          </a:rPr>
                          <m:t>𝐖</m:t>
                        </m:r>
                      </m:e>
                      <m:sub>
                        <m:r>
                          <a:rPr kumimoji="1" lang="en-US" altLang="ja-JP" sz="3200" b="1" i="0" spc="-100" smtClean="0">
                            <a:solidFill>
                              <a:schemeClr val="tx1"/>
                            </a:solidFill>
                            <a:latin typeface="Cambria Math" panose="02040503050406030204" pitchFamily="18" charset="0"/>
                            <a:ea typeface="MS PGothic" panose="020B0600070205080204" pitchFamily="34" charset="-128"/>
                          </a:rPr>
                          <m:t>𝐐</m:t>
                        </m:r>
                      </m:sub>
                    </m:sSub>
                  </m:oMath>
                </a14:m>
                <a:r>
                  <a:rPr kumimoji="1" lang="en-US" altLang="ja-JP" sz="3200" spc="-100" dirty="0">
                    <a:solidFill>
                      <a:schemeClr val="tx1"/>
                    </a:solidFill>
                    <a:latin typeface="MS PGothic" panose="020B0600070205080204" pitchFamily="34" charset="-128"/>
                    <a:ea typeface="MS PGothic" panose="020B0600070205080204" pitchFamily="34" charset="-128"/>
                  </a:rPr>
                  <a:t>, </a:t>
                </a:r>
                <a14:m>
                  <m:oMath xmlns:m="http://schemas.openxmlformats.org/officeDocument/2006/math">
                    <m:sSub>
                      <m:sSubPr>
                        <m:ctrlPr>
                          <a:rPr kumimoji="1" lang="en-US" altLang="ja-JP" sz="3200" b="1" i="1" spc="-100">
                            <a:latin typeface="Cambria Math" panose="02040503050406030204" pitchFamily="18" charset="0"/>
                            <a:ea typeface="MS PGothic" panose="020B0600070205080204" pitchFamily="34" charset="-128"/>
                          </a:rPr>
                        </m:ctrlPr>
                      </m:sSubPr>
                      <m:e>
                        <m:r>
                          <a:rPr kumimoji="1" lang="en-US" altLang="ja-JP" sz="3200" b="1" spc="-100">
                            <a:latin typeface="Cambria Math" panose="02040503050406030204" pitchFamily="18" charset="0"/>
                            <a:ea typeface="MS PGothic" panose="020B0600070205080204" pitchFamily="34" charset="-128"/>
                          </a:rPr>
                          <m:t>𝐖</m:t>
                        </m:r>
                      </m:e>
                      <m:sub>
                        <m:r>
                          <a:rPr kumimoji="1" lang="en-US" altLang="ja-JP" sz="3200" b="1" spc="-100">
                            <a:latin typeface="Cambria Math" panose="02040503050406030204" pitchFamily="18" charset="0"/>
                            <a:ea typeface="MS PGothic" panose="020B0600070205080204" pitchFamily="34" charset="-128"/>
                          </a:rPr>
                          <m:t>𝐊</m:t>
                        </m:r>
                      </m:sub>
                    </m:sSub>
                  </m:oMath>
                </a14:m>
                <a:r>
                  <a:rPr kumimoji="1" lang="en-US" altLang="ja-JP" sz="3200" b="1" spc="-100" dirty="0">
                    <a:ea typeface="MS PGothic" panose="020B0600070205080204" pitchFamily="34" charset="-128"/>
                  </a:rPr>
                  <a:t> </a:t>
                </a:r>
                <a:r>
                  <a:rPr kumimoji="1" lang="en-US" altLang="ja-JP" sz="3200" spc="-100" dirty="0">
                    <a:latin typeface="MS PGothic" panose="020B0600070205080204" pitchFamily="34" charset="-128"/>
                    <a:ea typeface="MS PGothic" panose="020B0600070205080204" pitchFamily="34" charset="-128"/>
                  </a:rPr>
                  <a:t>, </a:t>
                </a:r>
                <a14:m>
                  <m:oMath xmlns:m="http://schemas.openxmlformats.org/officeDocument/2006/math">
                    <m:sSub>
                      <m:sSubPr>
                        <m:ctrlPr>
                          <a:rPr kumimoji="1" lang="en-US" altLang="ja-JP" sz="3200" b="1" i="1" spc="-100">
                            <a:latin typeface="Cambria Math" panose="02040503050406030204" pitchFamily="18" charset="0"/>
                            <a:ea typeface="MS PGothic" panose="020B0600070205080204" pitchFamily="34" charset="-128"/>
                          </a:rPr>
                        </m:ctrlPr>
                      </m:sSubPr>
                      <m:e>
                        <m:r>
                          <a:rPr kumimoji="1" lang="en-US" altLang="ja-JP" sz="3200" b="1" spc="-100">
                            <a:latin typeface="Cambria Math" panose="02040503050406030204" pitchFamily="18" charset="0"/>
                            <a:ea typeface="MS PGothic" panose="020B0600070205080204" pitchFamily="34" charset="-128"/>
                          </a:rPr>
                          <m:t>𝐖</m:t>
                        </m:r>
                      </m:e>
                      <m:sub>
                        <m:r>
                          <a:rPr kumimoji="1" lang="en-US" altLang="ja-JP" sz="3200" b="1" spc="-100">
                            <a:latin typeface="Cambria Math" panose="02040503050406030204" pitchFamily="18" charset="0"/>
                            <a:ea typeface="MS PGothic" panose="020B0600070205080204" pitchFamily="34" charset="-128"/>
                          </a:rPr>
                          <m:t>𝐕</m:t>
                        </m:r>
                      </m:sub>
                    </m:sSub>
                  </m:oMath>
                </a14:m>
                <a:r>
                  <a:rPr kumimoji="1" lang="en-US" altLang="ja-JP" sz="3200" spc="-100" dirty="0">
                    <a:solidFill>
                      <a:schemeClr val="tx1"/>
                    </a:solidFill>
                    <a:latin typeface="MS PGothic" panose="020B0600070205080204" pitchFamily="34" charset="-128"/>
                    <a:ea typeface="MS PGothic" panose="020B0600070205080204" pitchFamily="34" charset="-128"/>
                  </a:rPr>
                  <a:t> : </a:t>
                </a:r>
                <a:r>
                  <a:rPr kumimoji="1" lang="ja-JP" altLang="en-US" sz="3200" spc="-100">
                    <a:solidFill>
                      <a:schemeClr val="tx1"/>
                    </a:solidFill>
                    <a:latin typeface="MS PGothic" panose="020B0600070205080204" pitchFamily="34" charset="-128"/>
                    <a:ea typeface="MS PGothic" panose="020B0600070205080204" pitchFamily="34" charset="-128"/>
                  </a:rPr>
                  <a:t>パラメータ</a:t>
                </a:r>
                <a:r>
                  <a:rPr kumimoji="1" lang="en-US" altLang="ja-JP" sz="3200" spc="-100" dirty="0">
                    <a:solidFill>
                      <a:schemeClr val="tx1"/>
                    </a:solidFill>
                    <a:latin typeface="MS PGothic" panose="020B0600070205080204" pitchFamily="34" charset="-128"/>
                    <a:ea typeface="MS PGothic" panose="020B0600070205080204" pitchFamily="34" charset="-128"/>
                  </a:rPr>
                  <a:t>,      </a:t>
                </a:r>
                <a14:m>
                  <m:oMath xmlns:m="http://schemas.openxmlformats.org/officeDocument/2006/math">
                    <m:r>
                      <a:rPr kumimoji="1" lang="en-US" altLang="ja-JP" sz="3200" i="1" spc="-100">
                        <a:latin typeface="Cambria Math" panose="02040503050406030204" pitchFamily="18" charset="0"/>
                        <a:ea typeface="MS PGothic" panose="020B0600070205080204" pitchFamily="34" charset="-128"/>
                      </a:rPr>
                      <m:t>𝑑</m:t>
                    </m:r>
                  </m:oMath>
                </a14:m>
                <a:r>
                  <a:rPr kumimoji="1" lang="en-US" altLang="ja-JP" sz="3200" spc="-100" dirty="0">
                    <a:solidFill>
                      <a:schemeClr val="tx1"/>
                    </a:solidFill>
                    <a:latin typeface="MS PGothic" panose="020B0600070205080204" pitchFamily="34" charset="-128"/>
                    <a:ea typeface="MS PGothic" panose="020B0600070205080204" pitchFamily="34" charset="-128"/>
                  </a:rPr>
                  <a:t> : </a:t>
                </a:r>
                <a:r>
                  <a:rPr kumimoji="1" lang="ja-JP" altLang="en-US" sz="3200" spc="-100">
                    <a:solidFill>
                      <a:schemeClr val="tx1"/>
                    </a:solidFill>
                    <a:latin typeface="MS PGothic" panose="020B0600070205080204" pitchFamily="34" charset="-128"/>
                    <a:ea typeface="MS PGothic" panose="020B0600070205080204" pitchFamily="34" charset="-128"/>
                  </a:rPr>
                  <a:t>特徴量次元数</a:t>
                </a:r>
                <a:r>
                  <a:rPr kumimoji="1" lang="en-US" altLang="ja-JP" sz="3200" spc="-100" dirty="0">
                    <a:solidFill>
                      <a:schemeClr val="tx1"/>
                    </a:solidFill>
                    <a:latin typeface="MS PGothic" panose="020B0600070205080204" pitchFamily="34" charset="-128"/>
                    <a:ea typeface="MS PGothic" panose="020B0600070205080204" pitchFamily="34" charset="-128"/>
                  </a:rPr>
                  <a:t>,</a:t>
                </a:r>
              </a:p>
              <a:p>
                <a:r>
                  <a:rPr kumimoji="1" lang="ja-JP" altLang="en-US" sz="3200" spc="-100">
                    <a:latin typeface="MS PGothic" panose="020B0600070205080204" pitchFamily="34" charset="-128"/>
                    <a:ea typeface="MS PGothic" panose="020B0600070205080204" pitchFamily="34" charset="-128"/>
                  </a:rPr>
                  <a:t>　  </a:t>
                </a:r>
                <a14:m>
                  <m:oMath xmlns:m="http://schemas.openxmlformats.org/officeDocument/2006/math">
                    <m:r>
                      <a:rPr kumimoji="1" lang="en-US" altLang="ja-JP" sz="3200" b="1" i="0" spc="-100" smtClean="0">
                        <a:solidFill>
                          <a:schemeClr val="tx1"/>
                        </a:solidFill>
                        <a:latin typeface="Cambria Math" panose="02040503050406030204" pitchFamily="18" charset="0"/>
                        <a:ea typeface="MS PGothic" panose="020B0600070205080204" pitchFamily="34" charset="-128"/>
                      </a:rPr>
                      <m:t>𝐀</m:t>
                    </m:r>
                  </m:oMath>
                </a14:m>
                <a:r>
                  <a:rPr kumimoji="1" lang="en-US" altLang="ja-JP" sz="3200" spc="-100" dirty="0">
                    <a:solidFill>
                      <a:schemeClr val="tx1"/>
                    </a:solidFill>
                    <a:latin typeface="MS PGothic" panose="020B0600070205080204" pitchFamily="34" charset="-128"/>
                    <a:ea typeface="MS PGothic" panose="020B0600070205080204" pitchFamily="34" charset="-128"/>
                  </a:rPr>
                  <a:t> : Attention Score,               </a:t>
                </a:r>
                <a14:m>
                  <m:oMath xmlns:m="http://schemas.openxmlformats.org/officeDocument/2006/math">
                    <m:acc>
                      <m:accPr>
                        <m:chr m:val="̂"/>
                        <m:ctrlPr>
                          <a:rPr kumimoji="1" lang="en-US" altLang="ja-JP" sz="3200" i="1" spc="-100">
                            <a:latin typeface="Cambria Math" panose="02040503050406030204" pitchFamily="18" charset="0"/>
                            <a:ea typeface="MS PGothic" panose="020B0600070205080204" pitchFamily="34" charset="-128"/>
                          </a:rPr>
                        </m:ctrlPr>
                      </m:accPr>
                      <m:e>
                        <m:r>
                          <a:rPr kumimoji="1" lang="en-US" altLang="ja-JP" sz="3200" b="1" spc="-100">
                            <a:latin typeface="Cambria Math" panose="02040503050406030204" pitchFamily="18" charset="0"/>
                            <a:ea typeface="MS PGothic" panose="020B0600070205080204" pitchFamily="34" charset="-128"/>
                          </a:rPr>
                          <m:t>𝐗</m:t>
                        </m:r>
                      </m:e>
                    </m:acc>
                  </m:oMath>
                </a14:m>
                <a:r>
                  <a:rPr kumimoji="1" lang="en-US" altLang="ja-JP" sz="3200" spc="-100" dirty="0">
                    <a:solidFill>
                      <a:schemeClr val="tx1"/>
                    </a:solidFill>
                    <a:latin typeface="MS PGothic" panose="020B0600070205080204" pitchFamily="34" charset="-128"/>
                    <a:ea typeface="MS PGothic" panose="020B0600070205080204" pitchFamily="34" charset="-128"/>
                  </a:rPr>
                  <a:t> : Cross-Attention</a:t>
                </a:r>
                <a:r>
                  <a:rPr kumimoji="1" lang="ja-JP" altLang="en-US" sz="3200" spc="-100">
                    <a:solidFill>
                      <a:schemeClr val="tx1"/>
                    </a:solidFill>
                    <a:latin typeface="MS PGothic" panose="020B0600070205080204" pitchFamily="34" charset="-128"/>
                    <a:ea typeface="MS PGothic" panose="020B0600070205080204" pitchFamily="34" charset="-128"/>
                  </a:rPr>
                  <a:t>の出力</a:t>
                </a:r>
              </a:p>
            </p:txBody>
          </p:sp>
        </mc:Choice>
        <mc:Fallback xmlns="">
          <p:sp>
            <p:nvSpPr>
              <p:cNvPr id="1073" name="テキスト ボックス 1072">
                <a:extLst>
                  <a:ext uri="{FF2B5EF4-FFF2-40B4-BE49-F238E27FC236}">
                    <a16:creationId xmlns:a16="http://schemas.microsoft.com/office/drawing/2014/main" id="{FE099830-C665-0490-64BB-419BB4EEC852}"/>
                  </a:ext>
                </a:extLst>
              </p:cNvPr>
              <p:cNvSpPr txBox="1">
                <a:spLocks noRot="1" noChangeAspect="1" noMove="1" noResize="1" noEditPoints="1" noAdjustHandles="1" noChangeArrowheads="1" noChangeShapeType="1" noTextEdit="1"/>
              </p:cNvSpPr>
              <p:nvPr/>
            </p:nvSpPr>
            <p:spPr>
              <a:xfrm>
                <a:off x="15381572" y="9617116"/>
                <a:ext cx="10392040" cy="2680414"/>
              </a:xfrm>
              <a:prstGeom prst="rect">
                <a:avLst/>
              </a:prstGeom>
              <a:blipFill>
                <a:blip r:embed="rId10"/>
                <a:stretch>
                  <a:fillRect l="-1465" t="-7075" r="-2076" b="-6132"/>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75" name="正方形/長方形 1074">
                <a:extLst>
                  <a:ext uri="{FF2B5EF4-FFF2-40B4-BE49-F238E27FC236}">
                    <a16:creationId xmlns:a16="http://schemas.microsoft.com/office/drawing/2014/main" id="{58BB0CE7-DC90-6AF4-EF81-893308E99E04}"/>
                  </a:ext>
                </a:extLst>
              </p:cNvPr>
              <p:cNvSpPr/>
              <p:nvPr/>
            </p:nvSpPr>
            <p:spPr>
              <a:xfrm>
                <a:off x="27129588" y="10703974"/>
                <a:ext cx="690880" cy="69088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ja-JP" sz="3200" b="1" i="0" spc="-100" smtClean="0">
                          <a:solidFill>
                            <a:schemeClr val="tx1"/>
                          </a:solidFill>
                          <a:latin typeface="Cambria Math" panose="02040503050406030204" pitchFamily="18" charset="0"/>
                          <a:ea typeface="MS PGothic" panose="020B0600070205080204" pitchFamily="34" charset="-128"/>
                        </a:rPr>
                        <m:t>𝐗</m:t>
                      </m:r>
                    </m:oMath>
                  </m:oMathPara>
                </a14:m>
                <a:endParaRPr kumimoji="1" lang="ja-JP" altLang="en-US" sz="3200">
                  <a:latin typeface="MS PGothic" panose="020B0600070205080204" pitchFamily="34" charset="-128"/>
                  <a:ea typeface="MS PGothic" panose="020B0600070205080204" pitchFamily="34" charset="-128"/>
                </a:endParaRPr>
              </a:p>
            </p:txBody>
          </p:sp>
        </mc:Choice>
        <mc:Fallback xmlns="">
          <p:sp>
            <p:nvSpPr>
              <p:cNvPr id="1075" name="正方形/長方形 1074">
                <a:extLst>
                  <a:ext uri="{FF2B5EF4-FFF2-40B4-BE49-F238E27FC236}">
                    <a16:creationId xmlns:a16="http://schemas.microsoft.com/office/drawing/2014/main" id="{58BB0CE7-DC90-6AF4-EF81-893308E99E04}"/>
                  </a:ext>
                </a:extLst>
              </p:cNvPr>
              <p:cNvSpPr>
                <a:spLocks noRot="1" noChangeAspect="1" noMove="1" noResize="1" noEditPoints="1" noAdjustHandles="1" noChangeArrowheads="1" noChangeShapeType="1" noTextEdit="1"/>
              </p:cNvSpPr>
              <p:nvPr/>
            </p:nvSpPr>
            <p:spPr>
              <a:xfrm>
                <a:off x="27129588" y="10703974"/>
                <a:ext cx="690880" cy="690880"/>
              </a:xfrm>
              <a:prstGeom prst="rect">
                <a:avLst/>
              </a:prstGeom>
              <a:blipFill>
                <a:blip r:embed="rId11"/>
                <a:stretch>
                  <a:fillRect/>
                </a:stretch>
              </a:blipFill>
              <a:ln w="38100">
                <a:solidFill>
                  <a:schemeClr val="tx1"/>
                </a:solid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76" name="正方形/長方形 1075">
                <a:extLst>
                  <a:ext uri="{FF2B5EF4-FFF2-40B4-BE49-F238E27FC236}">
                    <a16:creationId xmlns:a16="http://schemas.microsoft.com/office/drawing/2014/main" id="{DAD6F64A-A223-F982-E2BD-0597AC62619E}"/>
                  </a:ext>
                </a:extLst>
              </p:cNvPr>
              <p:cNvSpPr/>
              <p:nvPr/>
            </p:nvSpPr>
            <p:spPr>
              <a:xfrm>
                <a:off x="28291958" y="10703974"/>
                <a:ext cx="690880" cy="69088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ja-JP" sz="3200" b="1" i="0" spc="-100" smtClean="0">
                          <a:solidFill>
                            <a:schemeClr val="tx1"/>
                          </a:solidFill>
                          <a:latin typeface="Cambria Math" panose="02040503050406030204" pitchFamily="18" charset="0"/>
                          <a:ea typeface="MS PGothic" panose="020B0600070205080204" pitchFamily="34" charset="-128"/>
                        </a:rPr>
                        <m:t>𝐘</m:t>
                      </m:r>
                    </m:oMath>
                  </m:oMathPara>
                </a14:m>
                <a:endParaRPr kumimoji="1" lang="ja-JP" altLang="en-US" sz="3200">
                  <a:latin typeface="MS PGothic" panose="020B0600070205080204" pitchFamily="34" charset="-128"/>
                  <a:ea typeface="MS PGothic" panose="020B0600070205080204" pitchFamily="34" charset="-128"/>
                </a:endParaRPr>
              </a:p>
            </p:txBody>
          </p:sp>
        </mc:Choice>
        <mc:Fallback xmlns="">
          <p:sp>
            <p:nvSpPr>
              <p:cNvPr id="1076" name="正方形/長方形 1075">
                <a:extLst>
                  <a:ext uri="{FF2B5EF4-FFF2-40B4-BE49-F238E27FC236}">
                    <a16:creationId xmlns:a16="http://schemas.microsoft.com/office/drawing/2014/main" id="{DAD6F64A-A223-F982-E2BD-0597AC62619E}"/>
                  </a:ext>
                </a:extLst>
              </p:cNvPr>
              <p:cNvSpPr>
                <a:spLocks noRot="1" noChangeAspect="1" noMove="1" noResize="1" noEditPoints="1" noAdjustHandles="1" noChangeArrowheads="1" noChangeShapeType="1" noTextEdit="1"/>
              </p:cNvSpPr>
              <p:nvPr/>
            </p:nvSpPr>
            <p:spPr>
              <a:xfrm>
                <a:off x="28291958" y="10703974"/>
                <a:ext cx="690880" cy="690880"/>
              </a:xfrm>
              <a:prstGeom prst="rect">
                <a:avLst/>
              </a:prstGeom>
              <a:blipFill>
                <a:blip r:embed="rId12"/>
                <a:stretch>
                  <a:fillRect/>
                </a:stretch>
              </a:blipFill>
              <a:ln w="38100">
                <a:solidFill>
                  <a:schemeClr val="tx1"/>
                </a:solid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77" name="正方形/長方形 1076">
                <a:extLst>
                  <a:ext uri="{FF2B5EF4-FFF2-40B4-BE49-F238E27FC236}">
                    <a16:creationId xmlns:a16="http://schemas.microsoft.com/office/drawing/2014/main" id="{838038C2-EC35-E0B4-08F7-4547D3F88855}"/>
                  </a:ext>
                </a:extLst>
              </p:cNvPr>
              <p:cNvSpPr/>
              <p:nvPr/>
            </p:nvSpPr>
            <p:spPr>
              <a:xfrm>
                <a:off x="26564758" y="9650160"/>
                <a:ext cx="690880" cy="69088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ja-JP" sz="3200" b="1" i="0" spc="-100" smtClean="0">
                          <a:solidFill>
                            <a:schemeClr val="tx1"/>
                          </a:solidFill>
                          <a:latin typeface="Cambria Math" panose="02040503050406030204" pitchFamily="18" charset="0"/>
                          <a:ea typeface="MS PGothic" panose="020B0600070205080204" pitchFamily="34" charset="-128"/>
                        </a:rPr>
                        <m:t>𝐐</m:t>
                      </m:r>
                    </m:oMath>
                  </m:oMathPara>
                </a14:m>
                <a:endParaRPr kumimoji="1" lang="ja-JP" altLang="en-US" sz="3200">
                  <a:latin typeface="MS PGothic" panose="020B0600070205080204" pitchFamily="34" charset="-128"/>
                  <a:ea typeface="MS PGothic" panose="020B0600070205080204" pitchFamily="34" charset="-128"/>
                </a:endParaRPr>
              </a:p>
            </p:txBody>
          </p:sp>
        </mc:Choice>
        <mc:Fallback xmlns="">
          <p:sp>
            <p:nvSpPr>
              <p:cNvPr id="1077" name="正方形/長方形 1076">
                <a:extLst>
                  <a:ext uri="{FF2B5EF4-FFF2-40B4-BE49-F238E27FC236}">
                    <a16:creationId xmlns:a16="http://schemas.microsoft.com/office/drawing/2014/main" id="{838038C2-EC35-E0B4-08F7-4547D3F88855}"/>
                  </a:ext>
                </a:extLst>
              </p:cNvPr>
              <p:cNvSpPr>
                <a:spLocks noRot="1" noChangeAspect="1" noMove="1" noResize="1" noEditPoints="1" noAdjustHandles="1" noChangeArrowheads="1" noChangeShapeType="1" noTextEdit="1"/>
              </p:cNvSpPr>
              <p:nvPr/>
            </p:nvSpPr>
            <p:spPr>
              <a:xfrm>
                <a:off x="26564758" y="9650160"/>
                <a:ext cx="690880" cy="690880"/>
              </a:xfrm>
              <a:prstGeom prst="rect">
                <a:avLst/>
              </a:prstGeom>
              <a:blipFill>
                <a:blip r:embed="rId13"/>
                <a:stretch>
                  <a:fillRect l="-3448" b="-8621"/>
                </a:stretch>
              </a:blipFill>
              <a:ln w="38100">
                <a:solidFill>
                  <a:schemeClr val="tx1"/>
                </a:solid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78" name="正方形/長方形 1077">
                <a:extLst>
                  <a:ext uri="{FF2B5EF4-FFF2-40B4-BE49-F238E27FC236}">
                    <a16:creationId xmlns:a16="http://schemas.microsoft.com/office/drawing/2014/main" id="{D8E4779D-E8FB-71EC-234D-CA0D06063A28}"/>
                  </a:ext>
                </a:extLst>
              </p:cNvPr>
              <p:cNvSpPr/>
              <p:nvPr/>
            </p:nvSpPr>
            <p:spPr>
              <a:xfrm>
                <a:off x="27727128" y="9650160"/>
                <a:ext cx="690880" cy="69088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ja-JP" sz="3200" b="1" i="0" spc="-100" smtClean="0">
                          <a:solidFill>
                            <a:schemeClr val="tx1"/>
                          </a:solidFill>
                          <a:latin typeface="Cambria Math" panose="02040503050406030204" pitchFamily="18" charset="0"/>
                          <a:ea typeface="MS PGothic" panose="020B0600070205080204" pitchFamily="34" charset="-128"/>
                        </a:rPr>
                        <m:t>𝐊</m:t>
                      </m:r>
                    </m:oMath>
                  </m:oMathPara>
                </a14:m>
                <a:endParaRPr kumimoji="1" lang="ja-JP" altLang="en-US" sz="3200">
                  <a:latin typeface="MS PGothic" panose="020B0600070205080204" pitchFamily="34" charset="-128"/>
                  <a:ea typeface="MS PGothic" panose="020B0600070205080204" pitchFamily="34" charset="-128"/>
                </a:endParaRPr>
              </a:p>
            </p:txBody>
          </p:sp>
        </mc:Choice>
        <mc:Fallback xmlns="">
          <p:sp>
            <p:nvSpPr>
              <p:cNvPr id="1078" name="正方形/長方形 1077">
                <a:extLst>
                  <a:ext uri="{FF2B5EF4-FFF2-40B4-BE49-F238E27FC236}">
                    <a16:creationId xmlns:a16="http://schemas.microsoft.com/office/drawing/2014/main" id="{D8E4779D-E8FB-71EC-234D-CA0D06063A28}"/>
                  </a:ext>
                </a:extLst>
              </p:cNvPr>
              <p:cNvSpPr>
                <a:spLocks noRot="1" noChangeAspect="1" noMove="1" noResize="1" noEditPoints="1" noAdjustHandles="1" noChangeArrowheads="1" noChangeShapeType="1" noTextEdit="1"/>
              </p:cNvSpPr>
              <p:nvPr/>
            </p:nvSpPr>
            <p:spPr>
              <a:xfrm>
                <a:off x="27727128" y="9650160"/>
                <a:ext cx="690880" cy="690880"/>
              </a:xfrm>
              <a:prstGeom prst="rect">
                <a:avLst/>
              </a:prstGeom>
              <a:blipFill>
                <a:blip r:embed="rId14"/>
                <a:stretch>
                  <a:fillRect/>
                </a:stretch>
              </a:blipFill>
              <a:ln w="38100">
                <a:solidFill>
                  <a:schemeClr val="tx1"/>
                </a:solid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79" name="正方形/長方形 1078">
                <a:extLst>
                  <a:ext uri="{FF2B5EF4-FFF2-40B4-BE49-F238E27FC236}">
                    <a16:creationId xmlns:a16="http://schemas.microsoft.com/office/drawing/2014/main" id="{40183DE6-0740-B7A9-DC4A-4CC5EEAD0CFE}"/>
                  </a:ext>
                </a:extLst>
              </p:cNvPr>
              <p:cNvSpPr/>
              <p:nvPr/>
            </p:nvSpPr>
            <p:spPr>
              <a:xfrm>
                <a:off x="28889498" y="9650160"/>
                <a:ext cx="690880" cy="69088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ja-JP" sz="3200" b="1" i="0" spc="-100" smtClean="0">
                          <a:solidFill>
                            <a:schemeClr val="tx1"/>
                          </a:solidFill>
                          <a:latin typeface="Cambria Math" panose="02040503050406030204" pitchFamily="18" charset="0"/>
                          <a:ea typeface="MS PGothic" panose="020B0600070205080204" pitchFamily="34" charset="-128"/>
                        </a:rPr>
                        <m:t>𝐕</m:t>
                      </m:r>
                    </m:oMath>
                  </m:oMathPara>
                </a14:m>
                <a:endParaRPr kumimoji="1" lang="ja-JP" altLang="en-US" sz="3200">
                  <a:latin typeface="MS PGothic" panose="020B0600070205080204" pitchFamily="34" charset="-128"/>
                  <a:ea typeface="MS PGothic" panose="020B0600070205080204" pitchFamily="34" charset="-128"/>
                </a:endParaRPr>
              </a:p>
            </p:txBody>
          </p:sp>
        </mc:Choice>
        <mc:Fallback xmlns="">
          <p:sp>
            <p:nvSpPr>
              <p:cNvPr id="1079" name="正方形/長方形 1078">
                <a:extLst>
                  <a:ext uri="{FF2B5EF4-FFF2-40B4-BE49-F238E27FC236}">
                    <a16:creationId xmlns:a16="http://schemas.microsoft.com/office/drawing/2014/main" id="{40183DE6-0740-B7A9-DC4A-4CC5EEAD0CFE}"/>
                  </a:ext>
                </a:extLst>
              </p:cNvPr>
              <p:cNvSpPr>
                <a:spLocks noRot="1" noChangeAspect="1" noMove="1" noResize="1" noEditPoints="1" noAdjustHandles="1" noChangeArrowheads="1" noChangeShapeType="1" noTextEdit="1"/>
              </p:cNvSpPr>
              <p:nvPr/>
            </p:nvSpPr>
            <p:spPr>
              <a:xfrm>
                <a:off x="28889498" y="9650160"/>
                <a:ext cx="690880" cy="690880"/>
              </a:xfrm>
              <a:prstGeom prst="rect">
                <a:avLst/>
              </a:prstGeom>
              <a:blipFill>
                <a:blip r:embed="rId15"/>
                <a:stretch>
                  <a:fillRect/>
                </a:stretch>
              </a:blipFill>
              <a:ln w="38100">
                <a:solidFill>
                  <a:schemeClr val="tx1"/>
                </a:solid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80" name="正方形/長方形 1079">
                <a:extLst>
                  <a:ext uri="{FF2B5EF4-FFF2-40B4-BE49-F238E27FC236}">
                    <a16:creationId xmlns:a16="http://schemas.microsoft.com/office/drawing/2014/main" id="{09DAF71E-25DF-B7B1-EC17-E316CE5282EE}"/>
                  </a:ext>
                </a:extLst>
              </p:cNvPr>
              <p:cNvSpPr/>
              <p:nvPr/>
            </p:nvSpPr>
            <p:spPr>
              <a:xfrm>
                <a:off x="27129588" y="8596346"/>
                <a:ext cx="690880" cy="69088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ja-JP" sz="3200" b="1" i="0" spc="-100" smtClean="0">
                          <a:solidFill>
                            <a:schemeClr val="tx1"/>
                          </a:solidFill>
                          <a:latin typeface="Cambria Math" panose="02040503050406030204" pitchFamily="18" charset="0"/>
                          <a:ea typeface="MS PGothic" panose="020B0600070205080204" pitchFamily="34" charset="-128"/>
                        </a:rPr>
                        <m:t>𝐀</m:t>
                      </m:r>
                    </m:oMath>
                  </m:oMathPara>
                </a14:m>
                <a:endParaRPr kumimoji="1" lang="ja-JP" altLang="en-US" sz="3200">
                  <a:latin typeface="MS PGothic" panose="020B0600070205080204" pitchFamily="34" charset="-128"/>
                  <a:ea typeface="MS PGothic" panose="020B0600070205080204" pitchFamily="34" charset="-128"/>
                </a:endParaRPr>
              </a:p>
            </p:txBody>
          </p:sp>
        </mc:Choice>
        <mc:Fallback xmlns="">
          <p:sp>
            <p:nvSpPr>
              <p:cNvPr id="1080" name="正方形/長方形 1079">
                <a:extLst>
                  <a:ext uri="{FF2B5EF4-FFF2-40B4-BE49-F238E27FC236}">
                    <a16:creationId xmlns:a16="http://schemas.microsoft.com/office/drawing/2014/main" id="{09DAF71E-25DF-B7B1-EC17-E316CE5282EE}"/>
                  </a:ext>
                </a:extLst>
              </p:cNvPr>
              <p:cNvSpPr>
                <a:spLocks noRot="1" noChangeAspect="1" noMove="1" noResize="1" noEditPoints="1" noAdjustHandles="1" noChangeArrowheads="1" noChangeShapeType="1" noTextEdit="1"/>
              </p:cNvSpPr>
              <p:nvPr/>
            </p:nvSpPr>
            <p:spPr>
              <a:xfrm>
                <a:off x="27129588" y="8596346"/>
                <a:ext cx="690880" cy="690880"/>
              </a:xfrm>
              <a:prstGeom prst="rect">
                <a:avLst/>
              </a:prstGeom>
              <a:blipFill>
                <a:blip r:embed="rId16"/>
                <a:stretch>
                  <a:fillRect/>
                </a:stretch>
              </a:blipFill>
              <a:ln w="38100">
                <a:solidFill>
                  <a:schemeClr val="tx1"/>
                </a:solid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81" name="正方形/長方形 1080">
                <a:extLst>
                  <a:ext uri="{FF2B5EF4-FFF2-40B4-BE49-F238E27FC236}">
                    <a16:creationId xmlns:a16="http://schemas.microsoft.com/office/drawing/2014/main" id="{CC7A2EB0-00DA-D9B9-A76E-BE5011C3AE77}"/>
                  </a:ext>
                </a:extLst>
              </p:cNvPr>
              <p:cNvSpPr/>
              <p:nvPr/>
            </p:nvSpPr>
            <p:spPr>
              <a:xfrm>
                <a:off x="27727128" y="7614070"/>
                <a:ext cx="690880" cy="69088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acc>
                        <m:accPr>
                          <m:chr m:val="̂"/>
                          <m:ctrlPr>
                            <a:rPr kumimoji="1" lang="en-US" altLang="ja-JP" sz="3200" i="1" spc="-100" smtClean="0">
                              <a:solidFill>
                                <a:schemeClr val="tx1"/>
                              </a:solidFill>
                              <a:latin typeface="Cambria Math" panose="02040503050406030204" pitchFamily="18" charset="0"/>
                              <a:ea typeface="MS PGothic" panose="020B0600070205080204" pitchFamily="34" charset="-128"/>
                            </a:rPr>
                          </m:ctrlPr>
                        </m:accPr>
                        <m:e>
                          <m:r>
                            <a:rPr kumimoji="1" lang="en-US" altLang="ja-JP" sz="3200" b="1" spc="-100">
                              <a:solidFill>
                                <a:schemeClr val="tx1"/>
                              </a:solidFill>
                              <a:latin typeface="Cambria Math" panose="02040503050406030204" pitchFamily="18" charset="0"/>
                              <a:ea typeface="MS PGothic" panose="020B0600070205080204" pitchFamily="34" charset="-128"/>
                            </a:rPr>
                            <m:t>𝐘</m:t>
                          </m:r>
                        </m:e>
                      </m:acc>
                    </m:oMath>
                  </m:oMathPara>
                </a14:m>
                <a:endParaRPr kumimoji="1" lang="ja-JP" altLang="en-US" sz="3200">
                  <a:solidFill>
                    <a:schemeClr val="tx1"/>
                  </a:solidFill>
                  <a:latin typeface="MS PGothic" panose="020B0600070205080204" pitchFamily="34" charset="-128"/>
                  <a:ea typeface="MS PGothic" panose="020B0600070205080204" pitchFamily="34" charset="-128"/>
                </a:endParaRPr>
              </a:p>
            </p:txBody>
          </p:sp>
        </mc:Choice>
        <mc:Fallback xmlns="">
          <p:sp>
            <p:nvSpPr>
              <p:cNvPr id="1081" name="正方形/長方形 1080">
                <a:extLst>
                  <a:ext uri="{FF2B5EF4-FFF2-40B4-BE49-F238E27FC236}">
                    <a16:creationId xmlns:a16="http://schemas.microsoft.com/office/drawing/2014/main" id="{CC7A2EB0-00DA-D9B9-A76E-BE5011C3AE77}"/>
                  </a:ext>
                </a:extLst>
              </p:cNvPr>
              <p:cNvSpPr>
                <a:spLocks noRot="1" noChangeAspect="1" noMove="1" noResize="1" noEditPoints="1" noAdjustHandles="1" noChangeArrowheads="1" noChangeShapeType="1" noTextEdit="1"/>
              </p:cNvSpPr>
              <p:nvPr/>
            </p:nvSpPr>
            <p:spPr>
              <a:xfrm>
                <a:off x="27727128" y="7614070"/>
                <a:ext cx="690880" cy="690880"/>
              </a:xfrm>
              <a:prstGeom prst="rect">
                <a:avLst/>
              </a:prstGeom>
              <a:blipFill>
                <a:blip r:embed="rId17"/>
                <a:stretch>
                  <a:fillRect/>
                </a:stretch>
              </a:blipFill>
              <a:ln w="38100">
                <a:solidFill>
                  <a:schemeClr val="tx1"/>
                </a:solid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82" name="正方形/長方形 1081">
                <a:extLst>
                  <a:ext uri="{FF2B5EF4-FFF2-40B4-BE49-F238E27FC236}">
                    <a16:creationId xmlns:a16="http://schemas.microsoft.com/office/drawing/2014/main" id="{AE7905C9-A870-ED41-028F-86CCEB06DF4C}"/>
                  </a:ext>
                </a:extLst>
              </p:cNvPr>
              <p:cNvSpPr/>
              <p:nvPr/>
            </p:nvSpPr>
            <p:spPr>
              <a:xfrm>
                <a:off x="27727128" y="6488718"/>
                <a:ext cx="690880" cy="69088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acc>
                        <m:accPr>
                          <m:chr m:val="̂"/>
                          <m:ctrlPr>
                            <a:rPr kumimoji="1" lang="en-US" altLang="ja-JP" sz="3200" i="1" spc="-100" smtClean="0">
                              <a:solidFill>
                                <a:schemeClr val="tx1"/>
                              </a:solidFill>
                              <a:latin typeface="Cambria Math" panose="02040503050406030204" pitchFamily="18" charset="0"/>
                              <a:ea typeface="MS PGothic" panose="020B0600070205080204" pitchFamily="34" charset="-128"/>
                            </a:rPr>
                          </m:ctrlPr>
                        </m:accPr>
                        <m:e>
                          <m:r>
                            <a:rPr kumimoji="1" lang="en-US" altLang="ja-JP" sz="3200" b="1" spc="-100">
                              <a:solidFill>
                                <a:schemeClr val="tx1"/>
                              </a:solidFill>
                              <a:latin typeface="Cambria Math" panose="02040503050406030204" pitchFamily="18" charset="0"/>
                              <a:ea typeface="MS PGothic" panose="020B0600070205080204" pitchFamily="34" charset="-128"/>
                            </a:rPr>
                            <m:t>𝐗</m:t>
                          </m:r>
                        </m:e>
                      </m:acc>
                    </m:oMath>
                  </m:oMathPara>
                </a14:m>
                <a:endParaRPr kumimoji="1" lang="ja-JP" altLang="en-US" sz="3200">
                  <a:solidFill>
                    <a:schemeClr val="tx1"/>
                  </a:solidFill>
                  <a:latin typeface="MS PGothic" panose="020B0600070205080204" pitchFamily="34" charset="-128"/>
                  <a:ea typeface="MS PGothic" panose="020B0600070205080204" pitchFamily="34" charset="-128"/>
                </a:endParaRPr>
              </a:p>
            </p:txBody>
          </p:sp>
        </mc:Choice>
        <mc:Fallback xmlns="">
          <p:sp>
            <p:nvSpPr>
              <p:cNvPr id="1082" name="正方形/長方形 1081">
                <a:extLst>
                  <a:ext uri="{FF2B5EF4-FFF2-40B4-BE49-F238E27FC236}">
                    <a16:creationId xmlns:a16="http://schemas.microsoft.com/office/drawing/2014/main" id="{AE7905C9-A870-ED41-028F-86CCEB06DF4C}"/>
                  </a:ext>
                </a:extLst>
              </p:cNvPr>
              <p:cNvSpPr>
                <a:spLocks noRot="1" noChangeAspect="1" noMove="1" noResize="1" noEditPoints="1" noAdjustHandles="1" noChangeArrowheads="1" noChangeShapeType="1" noTextEdit="1"/>
              </p:cNvSpPr>
              <p:nvPr/>
            </p:nvSpPr>
            <p:spPr>
              <a:xfrm>
                <a:off x="27727128" y="6488718"/>
                <a:ext cx="690880" cy="690880"/>
              </a:xfrm>
              <a:prstGeom prst="rect">
                <a:avLst/>
              </a:prstGeom>
              <a:blipFill>
                <a:blip r:embed="rId18"/>
                <a:stretch>
                  <a:fillRect/>
                </a:stretch>
              </a:blipFill>
              <a:ln w="38100">
                <a:solidFill>
                  <a:schemeClr val="tx1"/>
                </a:solidFill>
              </a:ln>
            </p:spPr>
            <p:txBody>
              <a:bodyPr/>
              <a:lstStyle/>
              <a:p>
                <a:r>
                  <a:rPr lang="ja-JP" altLang="en-US">
                    <a:noFill/>
                  </a:rPr>
                  <a:t> </a:t>
                </a:r>
              </a:p>
            </p:txBody>
          </p:sp>
        </mc:Fallback>
      </mc:AlternateContent>
      <p:cxnSp>
        <p:nvCxnSpPr>
          <p:cNvPr id="1084" name="直線矢印コネクタ 1083">
            <a:extLst>
              <a:ext uri="{FF2B5EF4-FFF2-40B4-BE49-F238E27FC236}">
                <a16:creationId xmlns:a16="http://schemas.microsoft.com/office/drawing/2014/main" id="{683C5131-F156-D1EF-C740-C528482BEBD4}"/>
              </a:ext>
            </a:extLst>
          </p:cNvPr>
          <p:cNvCxnSpPr>
            <a:stCxn id="1075" idx="0"/>
            <a:endCxn id="1077" idx="2"/>
          </p:cNvCxnSpPr>
          <p:nvPr/>
        </p:nvCxnSpPr>
        <p:spPr>
          <a:xfrm rot="16200000" flipV="1">
            <a:off x="27011146" y="10240092"/>
            <a:ext cx="362934" cy="564830"/>
          </a:xfrm>
          <a:prstGeom prst="curvedConnector3">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85" name="直線矢印コネクタ 1083">
            <a:extLst>
              <a:ext uri="{FF2B5EF4-FFF2-40B4-BE49-F238E27FC236}">
                <a16:creationId xmlns:a16="http://schemas.microsoft.com/office/drawing/2014/main" id="{7F42E35B-8F31-A7B6-DFD0-0DCF1B2698A0}"/>
              </a:ext>
            </a:extLst>
          </p:cNvPr>
          <p:cNvCxnSpPr>
            <a:cxnSpLocks/>
            <a:stCxn id="1076" idx="0"/>
            <a:endCxn id="1078" idx="2"/>
          </p:cNvCxnSpPr>
          <p:nvPr/>
        </p:nvCxnSpPr>
        <p:spPr>
          <a:xfrm rot="16200000" flipV="1">
            <a:off x="28173516" y="10240092"/>
            <a:ext cx="362934" cy="564830"/>
          </a:xfrm>
          <a:prstGeom prst="curvedConnector3">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088" name="直線矢印コネクタ 1083">
            <a:extLst>
              <a:ext uri="{FF2B5EF4-FFF2-40B4-BE49-F238E27FC236}">
                <a16:creationId xmlns:a16="http://schemas.microsoft.com/office/drawing/2014/main" id="{EE6E5C52-72F5-C9B5-9E74-25AEA1698B05}"/>
              </a:ext>
            </a:extLst>
          </p:cNvPr>
          <p:cNvCxnSpPr>
            <a:cxnSpLocks/>
            <a:stCxn id="1076" idx="0"/>
            <a:endCxn id="1079" idx="2"/>
          </p:cNvCxnSpPr>
          <p:nvPr/>
        </p:nvCxnSpPr>
        <p:spPr>
          <a:xfrm rot="5400000" flipH="1" flipV="1">
            <a:off x="28754701" y="10223737"/>
            <a:ext cx="362934" cy="597540"/>
          </a:xfrm>
          <a:prstGeom prst="curvedConnector3">
            <a:avLst>
              <a:gd name="adj1" fmla="val 50000"/>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092" name="直線矢印コネクタ 1083">
            <a:extLst>
              <a:ext uri="{FF2B5EF4-FFF2-40B4-BE49-F238E27FC236}">
                <a16:creationId xmlns:a16="http://schemas.microsoft.com/office/drawing/2014/main" id="{BEAA86DF-E597-E233-93FD-77E2FED0332D}"/>
              </a:ext>
            </a:extLst>
          </p:cNvPr>
          <p:cNvCxnSpPr>
            <a:cxnSpLocks/>
            <a:stCxn id="1078" idx="0"/>
            <a:endCxn id="1080" idx="2"/>
          </p:cNvCxnSpPr>
          <p:nvPr/>
        </p:nvCxnSpPr>
        <p:spPr>
          <a:xfrm rot="16200000" flipV="1">
            <a:off x="27592331" y="9169923"/>
            <a:ext cx="362934" cy="597540"/>
          </a:xfrm>
          <a:prstGeom prst="curvedConnector3">
            <a:avLst>
              <a:gd name="adj1" fmla="val 50000"/>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095" name="直線矢印コネクタ 1083">
            <a:extLst>
              <a:ext uri="{FF2B5EF4-FFF2-40B4-BE49-F238E27FC236}">
                <a16:creationId xmlns:a16="http://schemas.microsoft.com/office/drawing/2014/main" id="{CF1191E4-ACF1-AE15-6FF0-468E9213886A}"/>
              </a:ext>
            </a:extLst>
          </p:cNvPr>
          <p:cNvCxnSpPr>
            <a:cxnSpLocks/>
            <a:stCxn id="1077" idx="0"/>
            <a:endCxn id="1080" idx="2"/>
          </p:cNvCxnSpPr>
          <p:nvPr/>
        </p:nvCxnSpPr>
        <p:spPr>
          <a:xfrm rot="5400000" flipH="1" flipV="1">
            <a:off x="27011146" y="9186278"/>
            <a:ext cx="362934" cy="564830"/>
          </a:xfrm>
          <a:prstGeom prst="curvedConnector3">
            <a:avLst>
              <a:gd name="adj1" fmla="val 50000"/>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98" name="直線矢印コネクタ 1083">
            <a:extLst>
              <a:ext uri="{FF2B5EF4-FFF2-40B4-BE49-F238E27FC236}">
                <a16:creationId xmlns:a16="http://schemas.microsoft.com/office/drawing/2014/main" id="{B2283DFD-90F1-3D68-92CD-9D0DE2007A76}"/>
              </a:ext>
            </a:extLst>
          </p:cNvPr>
          <p:cNvCxnSpPr>
            <a:cxnSpLocks/>
            <a:stCxn id="1080" idx="0"/>
            <a:endCxn id="1081" idx="2"/>
          </p:cNvCxnSpPr>
          <p:nvPr/>
        </p:nvCxnSpPr>
        <p:spPr>
          <a:xfrm rot="5400000" flipH="1" flipV="1">
            <a:off x="27628100" y="8151878"/>
            <a:ext cx="291396" cy="597540"/>
          </a:xfrm>
          <a:prstGeom prst="curved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01" name="直線矢印コネクタ 1083">
            <a:extLst>
              <a:ext uri="{FF2B5EF4-FFF2-40B4-BE49-F238E27FC236}">
                <a16:creationId xmlns:a16="http://schemas.microsoft.com/office/drawing/2014/main" id="{7430420B-4BC0-9367-C3F8-08F1CCF8FFE8}"/>
              </a:ext>
            </a:extLst>
          </p:cNvPr>
          <p:cNvCxnSpPr>
            <a:cxnSpLocks/>
            <a:stCxn id="1079" idx="0"/>
            <a:endCxn id="1081" idx="2"/>
          </p:cNvCxnSpPr>
          <p:nvPr/>
        </p:nvCxnSpPr>
        <p:spPr>
          <a:xfrm rot="16200000" flipV="1">
            <a:off x="27981148" y="8396370"/>
            <a:ext cx="1345210" cy="1162370"/>
          </a:xfrm>
          <a:prstGeom prst="curvedConnector3">
            <a:avLst>
              <a:gd name="adj1" fmla="val 50000"/>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04" name="直線矢印コネクタ 1083">
            <a:extLst>
              <a:ext uri="{FF2B5EF4-FFF2-40B4-BE49-F238E27FC236}">
                <a16:creationId xmlns:a16="http://schemas.microsoft.com/office/drawing/2014/main" id="{06F95F20-C5E7-E290-6748-6698764F40BC}"/>
              </a:ext>
            </a:extLst>
          </p:cNvPr>
          <p:cNvCxnSpPr>
            <a:cxnSpLocks/>
            <a:stCxn id="1081" idx="0"/>
            <a:endCxn id="1082" idx="2"/>
          </p:cNvCxnSpPr>
          <p:nvPr/>
        </p:nvCxnSpPr>
        <p:spPr>
          <a:xfrm flipV="1">
            <a:off x="28072568" y="7179598"/>
            <a:ext cx="0" cy="43447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07" name="直線矢印コネクタ 1083">
            <a:extLst>
              <a:ext uri="{FF2B5EF4-FFF2-40B4-BE49-F238E27FC236}">
                <a16:creationId xmlns:a16="http://schemas.microsoft.com/office/drawing/2014/main" id="{E9C9700C-13AC-EC89-FD4B-659BF8CA8C15}"/>
              </a:ext>
            </a:extLst>
          </p:cNvPr>
          <p:cNvCxnSpPr>
            <a:cxnSpLocks/>
            <a:endCxn id="1082" idx="2"/>
          </p:cNvCxnSpPr>
          <p:nvPr/>
        </p:nvCxnSpPr>
        <p:spPr>
          <a:xfrm rot="5400000" flipH="1" flipV="1">
            <a:off x="26098481" y="7200876"/>
            <a:ext cx="1995365" cy="1952810"/>
          </a:xfrm>
          <a:prstGeom prst="curvedConnector3">
            <a:avLst>
              <a:gd name="adj1" fmla="val 79329"/>
            </a:avLst>
          </a:prstGeom>
          <a:ln w="3810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112" name="直線矢印コネクタ 1083">
            <a:extLst>
              <a:ext uri="{FF2B5EF4-FFF2-40B4-BE49-F238E27FC236}">
                <a16:creationId xmlns:a16="http://schemas.microsoft.com/office/drawing/2014/main" id="{E8B7D4A7-72CE-6A4D-4456-BA4EC156E052}"/>
              </a:ext>
            </a:extLst>
          </p:cNvPr>
          <p:cNvCxnSpPr>
            <a:cxnSpLocks/>
            <a:stCxn id="1075" idx="0"/>
          </p:cNvCxnSpPr>
          <p:nvPr/>
        </p:nvCxnSpPr>
        <p:spPr>
          <a:xfrm rot="16200000" flipV="1">
            <a:off x="26028466" y="9257412"/>
            <a:ext cx="1537854" cy="1355270"/>
          </a:xfrm>
          <a:prstGeom prst="curvedConnector3">
            <a:avLst>
              <a:gd name="adj1" fmla="val 9568"/>
            </a:avLst>
          </a:prstGeom>
          <a:ln w="38100">
            <a:solidFill>
              <a:srgbClr val="FF0000"/>
            </a:solidFill>
            <a:prstDash val="dash"/>
            <a:tailEnd type="none"/>
          </a:ln>
        </p:spPr>
        <p:style>
          <a:lnRef idx="1">
            <a:schemeClr val="accent1"/>
          </a:lnRef>
          <a:fillRef idx="0">
            <a:schemeClr val="accent1"/>
          </a:fillRef>
          <a:effectRef idx="0">
            <a:schemeClr val="accent1"/>
          </a:effectRef>
          <a:fontRef idx="minor">
            <a:schemeClr val="tx1"/>
          </a:fontRef>
        </p:style>
      </p:cxnSp>
      <p:sp>
        <p:nvSpPr>
          <p:cNvPr id="1135" name="テキスト ボックス 1134">
            <a:extLst>
              <a:ext uri="{FF2B5EF4-FFF2-40B4-BE49-F238E27FC236}">
                <a16:creationId xmlns:a16="http://schemas.microsoft.com/office/drawing/2014/main" id="{FE995F39-142E-C2C3-4B63-88BBA2B9F46B}"/>
              </a:ext>
            </a:extLst>
          </p:cNvPr>
          <p:cNvSpPr txBox="1"/>
          <p:nvPr/>
        </p:nvSpPr>
        <p:spPr>
          <a:xfrm>
            <a:off x="26140654" y="11397868"/>
            <a:ext cx="3863828" cy="584775"/>
          </a:xfrm>
          <a:prstGeom prst="rect">
            <a:avLst/>
          </a:prstGeom>
          <a:noFill/>
        </p:spPr>
        <p:txBody>
          <a:bodyPr wrap="square">
            <a:spAutoFit/>
          </a:bodyPr>
          <a:lstStyle/>
          <a:p>
            <a:pPr algn="ctr"/>
            <a:r>
              <a:rPr kumimoji="1" lang="ja-JP" altLang="en-US" sz="3200" spc="-100">
                <a:solidFill>
                  <a:schemeClr val="tx1"/>
                </a:solidFill>
                <a:latin typeface="MS PGothic" panose="020B0600070205080204" pitchFamily="34" charset="-128"/>
                <a:ea typeface="MS PGothic" panose="020B0600070205080204" pitchFamily="34" charset="-128"/>
              </a:rPr>
              <a:t>図</a:t>
            </a:r>
            <a:r>
              <a:rPr kumimoji="1" lang="en-US" altLang="ja-JP" sz="3200" spc="-100" dirty="0">
                <a:latin typeface="MS PGothic" panose="020B0600070205080204" pitchFamily="34" charset="-128"/>
                <a:ea typeface="MS PGothic" panose="020B0600070205080204" pitchFamily="34" charset="-128"/>
              </a:rPr>
              <a:t>2</a:t>
            </a:r>
            <a:r>
              <a:rPr kumimoji="1" lang="en-US" altLang="ja-JP" sz="3200" spc="-100" dirty="0">
                <a:solidFill>
                  <a:schemeClr val="tx1"/>
                </a:solidFill>
                <a:latin typeface="MS PGothic" panose="020B0600070205080204" pitchFamily="34" charset="-128"/>
                <a:ea typeface="MS PGothic" panose="020B0600070205080204" pitchFamily="34" charset="-128"/>
              </a:rPr>
              <a:t> Cross-Attention</a:t>
            </a:r>
            <a:endParaRPr kumimoji="1" lang="ja-JP" altLang="en-US" sz="3200" spc="-100">
              <a:solidFill>
                <a:schemeClr val="tx1"/>
              </a:solidFill>
              <a:latin typeface="MS PGothic" panose="020B0600070205080204" pitchFamily="34" charset="-128"/>
              <a:ea typeface="MS PGothic" panose="020B0600070205080204" pitchFamily="34" charset="-128"/>
            </a:endParaRPr>
          </a:p>
        </p:txBody>
      </p:sp>
      <p:sp>
        <p:nvSpPr>
          <p:cNvPr id="1136" name="正方形/長方形 1135">
            <a:extLst>
              <a:ext uri="{FF2B5EF4-FFF2-40B4-BE49-F238E27FC236}">
                <a16:creationId xmlns:a16="http://schemas.microsoft.com/office/drawing/2014/main" id="{346F4DC7-9A25-832A-8947-F40C181D6213}"/>
              </a:ext>
            </a:extLst>
          </p:cNvPr>
          <p:cNvSpPr/>
          <p:nvPr/>
        </p:nvSpPr>
        <p:spPr>
          <a:xfrm>
            <a:off x="15353951" y="16876056"/>
            <a:ext cx="14681200" cy="9469026"/>
          </a:xfrm>
          <a:prstGeom prst="rect">
            <a:avLst/>
          </a:prstGeom>
          <a:solidFill>
            <a:schemeClr val="bg1"/>
          </a:solid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37" name="正方形/長方形 1136">
            <a:extLst>
              <a:ext uri="{FF2B5EF4-FFF2-40B4-BE49-F238E27FC236}">
                <a16:creationId xmlns:a16="http://schemas.microsoft.com/office/drawing/2014/main" id="{D11C1FB0-5F54-ED65-DA58-E0343A79B551}"/>
              </a:ext>
            </a:extLst>
          </p:cNvPr>
          <p:cNvSpPr/>
          <p:nvPr/>
        </p:nvSpPr>
        <p:spPr>
          <a:xfrm>
            <a:off x="15353951" y="16876056"/>
            <a:ext cx="14681200" cy="849085"/>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4400">
                <a:latin typeface="MS PGothic" panose="020B0600070205080204" pitchFamily="34" charset="-128"/>
                <a:ea typeface="MS PGothic" panose="020B0600070205080204" pitchFamily="34" charset="-128"/>
              </a:rPr>
              <a:t>提案手法</a:t>
            </a:r>
          </a:p>
        </p:txBody>
      </p:sp>
      <p:sp>
        <p:nvSpPr>
          <p:cNvPr id="1138" name="テキスト ボックス 1137">
            <a:extLst>
              <a:ext uri="{FF2B5EF4-FFF2-40B4-BE49-F238E27FC236}">
                <a16:creationId xmlns:a16="http://schemas.microsoft.com/office/drawing/2014/main" id="{7A195D71-2185-41D6-E7AC-27CBAC79B279}"/>
              </a:ext>
            </a:extLst>
          </p:cNvPr>
          <p:cNvSpPr txBox="1"/>
          <p:nvPr/>
        </p:nvSpPr>
        <p:spPr>
          <a:xfrm>
            <a:off x="15353951" y="17760443"/>
            <a:ext cx="14681200" cy="8463855"/>
          </a:xfrm>
          <a:prstGeom prst="rect">
            <a:avLst/>
          </a:prstGeom>
          <a:noFill/>
        </p:spPr>
        <p:txBody>
          <a:bodyPr wrap="square" rtlCol="0">
            <a:spAutoFit/>
          </a:bodyPr>
          <a:lstStyle/>
          <a:p>
            <a:pPr indent="457200" algn="just"/>
            <a:r>
              <a:rPr kumimoji="1" lang="ja-JP" altLang="en-US" sz="3200">
                <a:latin typeface="MS PGothic" panose="020B0600070205080204" pitchFamily="34" charset="-128"/>
                <a:ea typeface="MS PGothic" panose="020B0600070205080204" pitchFamily="34" charset="-128"/>
              </a:rPr>
              <a:t>本研究では，</a:t>
            </a:r>
            <a:r>
              <a:rPr kumimoji="1" lang="en-US" altLang="ja-JP" sz="3200" b="1" dirty="0">
                <a:latin typeface="MS PGothic" panose="020B0600070205080204" pitchFamily="34" charset="-128"/>
                <a:ea typeface="MS PGothic" panose="020B0600070205080204" pitchFamily="34" charset="-128"/>
              </a:rPr>
              <a:t>Transformer</a:t>
            </a:r>
            <a:r>
              <a:rPr kumimoji="1" lang="ja-JP" altLang="en-US" sz="3200">
                <a:latin typeface="MS PGothic" panose="020B0600070205080204" pitchFamily="34" charset="-128"/>
                <a:ea typeface="MS PGothic" panose="020B0600070205080204" pitchFamily="34" charset="-128"/>
              </a:rPr>
              <a:t>を用いた画像に対し大喜利を生成する</a:t>
            </a:r>
            <a:r>
              <a:rPr kumimoji="1" lang="en-US" altLang="ja-JP" sz="3200" dirty="0">
                <a:latin typeface="MS PGothic" panose="020B0600070205080204" pitchFamily="34" charset="-128"/>
                <a:ea typeface="MS PGothic" panose="020B0600070205080204" pitchFamily="34" charset="-128"/>
              </a:rPr>
              <a:t>AI</a:t>
            </a:r>
            <a:r>
              <a:rPr kumimoji="1" lang="ja-JP" altLang="en-US" sz="3200">
                <a:latin typeface="MS PGothic" panose="020B0600070205080204" pitchFamily="34" charset="-128"/>
                <a:ea typeface="MS PGothic" panose="020B0600070205080204" pitchFamily="34" charset="-128"/>
              </a:rPr>
              <a:t>を提案する．提案手法では，画像は事前学習済み</a:t>
            </a:r>
            <a:r>
              <a:rPr kumimoji="1" lang="en-US" altLang="ja-JP" sz="3200" dirty="0" err="1">
                <a:latin typeface="MS PGothic" panose="020B0600070205080204" pitchFamily="34" charset="-128"/>
                <a:ea typeface="MS PGothic" panose="020B0600070205080204" pitchFamily="34" charset="-128"/>
              </a:rPr>
              <a:t>ViT</a:t>
            </a:r>
            <a:r>
              <a:rPr kumimoji="1" lang="ja-JP" altLang="en-US" sz="3200">
                <a:latin typeface="MS PGothic" panose="020B0600070205080204" pitchFamily="34" charset="-128"/>
                <a:ea typeface="MS PGothic" panose="020B0600070205080204" pitchFamily="34" charset="-128"/>
              </a:rPr>
              <a:t>に入力することで特徴量の行列に，文章はサブワードに分割しサブワードごと埋め込みベクトルに変換し特徴量の行列にする．文章の位置エンコード行列もニューラルネットワークのパラメータとして学習する．</a:t>
            </a:r>
            <a:endParaRPr kumimoji="1" lang="en-US" altLang="ja-JP" sz="3200" dirty="0">
              <a:latin typeface="MS PGothic" panose="020B0600070205080204" pitchFamily="34" charset="-128"/>
              <a:ea typeface="MS PGothic" panose="020B0600070205080204" pitchFamily="34" charset="-128"/>
            </a:endParaRPr>
          </a:p>
          <a:p>
            <a:pPr indent="457200" algn="just"/>
            <a:r>
              <a:rPr kumimoji="1" lang="ja-JP" altLang="en-US" sz="3200">
                <a:latin typeface="MS PGothic" panose="020B0600070205080204" pitchFamily="34" charset="-128"/>
                <a:ea typeface="MS PGothic" panose="020B0600070205080204" pitchFamily="34" charset="-128"/>
              </a:rPr>
              <a:t>提案手法は</a:t>
            </a:r>
            <a:r>
              <a:rPr kumimoji="1" lang="en-US" altLang="ja-JP" sz="3200" dirty="0">
                <a:latin typeface="MS PGothic" panose="020B0600070205080204" pitchFamily="34" charset="-128"/>
                <a:ea typeface="MS PGothic" panose="020B0600070205080204" pitchFamily="34" charset="-128"/>
              </a:rPr>
              <a:t>Cross-Attention</a:t>
            </a:r>
            <a:r>
              <a:rPr kumimoji="1" lang="ja-JP" altLang="en-US" sz="3200">
                <a:latin typeface="MS PGothic" panose="020B0600070205080204" pitchFamily="34" charset="-128"/>
                <a:ea typeface="MS PGothic" panose="020B0600070205080204" pitchFamily="34" charset="-128"/>
              </a:rPr>
              <a:t>を用い文章と画像の特徴量を混合するため，</a:t>
            </a:r>
            <a:r>
              <a:rPr kumimoji="1" lang="en-US" altLang="ja-JP" sz="3200" dirty="0">
                <a:latin typeface="MS PGothic" panose="020B0600070205080204" pitchFamily="34" charset="-128"/>
                <a:ea typeface="MS PGothic" panose="020B0600070205080204" pitchFamily="34" charset="-128"/>
              </a:rPr>
              <a:t>LSTM</a:t>
            </a:r>
            <a:r>
              <a:rPr kumimoji="1" lang="ja-JP" altLang="en-US" sz="3200">
                <a:latin typeface="MS PGothic" panose="020B0600070205080204" pitchFamily="34" charset="-128"/>
                <a:ea typeface="MS PGothic" panose="020B0600070205080204" pitchFamily="34" charset="-128"/>
              </a:rPr>
              <a:t>を用いるモデルと比べ高品質に大喜利を生成可能であると考えられる．</a:t>
            </a:r>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p:txBody>
      </p:sp>
      <p:sp>
        <p:nvSpPr>
          <p:cNvPr id="1143" name="テキスト ボックス 1142">
            <a:extLst>
              <a:ext uri="{FF2B5EF4-FFF2-40B4-BE49-F238E27FC236}">
                <a16:creationId xmlns:a16="http://schemas.microsoft.com/office/drawing/2014/main" id="{3EEA29BE-D78C-62E9-BFA5-4A02FF6EC8F5}"/>
              </a:ext>
            </a:extLst>
          </p:cNvPr>
          <p:cNvSpPr txBox="1"/>
          <p:nvPr/>
        </p:nvSpPr>
        <p:spPr>
          <a:xfrm>
            <a:off x="15353400" y="6092142"/>
            <a:ext cx="10479937" cy="3539430"/>
          </a:xfrm>
          <a:prstGeom prst="rect">
            <a:avLst/>
          </a:prstGeom>
          <a:noFill/>
        </p:spPr>
        <p:txBody>
          <a:bodyPr wrap="square" rtlCol="0">
            <a:spAutoFit/>
          </a:bodyPr>
          <a:lstStyle/>
          <a:p>
            <a:pPr algn="just"/>
            <a:r>
              <a:rPr kumimoji="1" lang="ja-JP" altLang="en-US" sz="3200">
                <a:latin typeface="MS PGothic" panose="020B0600070205080204" pitchFamily="34" charset="-128"/>
                <a:ea typeface="MS PGothic" panose="020B0600070205080204" pitchFamily="34" charset="-128"/>
              </a:rPr>
              <a:t>データを表す行列の内積を求めることで，ある行と他の行の関連度を考慮する構造である．</a:t>
            </a:r>
            <a:r>
              <a:rPr kumimoji="1" lang="en-US" altLang="ja-JP" sz="3200" dirty="0">
                <a:latin typeface="MS PGothic" panose="020B0600070205080204" pitchFamily="34" charset="-128"/>
                <a:ea typeface="MS PGothic" panose="020B0600070205080204" pitchFamily="34" charset="-128"/>
              </a:rPr>
              <a:t>Transformer</a:t>
            </a:r>
            <a:r>
              <a:rPr kumimoji="1" lang="ja-JP" altLang="en-US" sz="3200">
                <a:latin typeface="MS PGothic" panose="020B0600070205080204" pitchFamily="34" charset="-128"/>
                <a:ea typeface="MS PGothic" panose="020B0600070205080204" pitchFamily="34" charset="-128"/>
              </a:rPr>
              <a:t>は</a:t>
            </a:r>
            <a:r>
              <a:rPr kumimoji="1" lang="en-US" altLang="ja-JP" sz="3200" dirty="0">
                <a:latin typeface="MS PGothic" panose="020B0600070205080204" pitchFamily="34" charset="-128"/>
                <a:ea typeface="MS PGothic" panose="020B0600070205080204" pitchFamily="34" charset="-128"/>
              </a:rPr>
              <a:t>Self-Attention</a:t>
            </a:r>
            <a:r>
              <a:rPr kumimoji="1" lang="ja-JP" altLang="en-US" sz="3200">
                <a:latin typeface="MS PGothic" panose="020B0600070205080204" pitchFamily="34" charset="-128"/>
                <a:ea typeface="MS PGothic" panose="020B0600070205080204" pitchFamily="34" charset="-128"/>
              </a:rPr>
              <a:t>を並列に並べる</a:t>
            </a:r>
            <a:r>
              <a:rPr kumimoji="1" lang="en-US" altLang="ja-JP" sz="3200" dirty="0">
                <a:latin typeface="MS PGothic" panose="020B0600070205080204" pitchFamily="34" charset="-128"/>
                <a:ea typeface="MS PGothic" panose="020B0600070205080204" pitchFamily="34" charset="-128"/>
              </a:rPr>
              <a:t>(Multi-Head)</a:t>
            </a:r>
            <a:r>
              <a:rPr kumimoji="1" lang="ja-JP" altLang="en-US" sz="3200">
                <a:latin typeface="MS PGothic" panose="020B0600070205080204" pitchFamily="34" charset="-128"/>
                <a:ea typeface="MS PGothic" panose="020B0600070205080204" pitchFamily="34" charset="-128"/>
              </a:rPr>
              <a:t>ことで性能を向上している．</a:t>
            </a:r>
            <a:endParaRPr kumimoji="1" lang="en-US" altLang="ja-JP" sz="3200" dirty="0">
              <a:latin typeface="MS PGothic" panose="020B0600070205080204" pitchFamily="34" charset="-128"/>
              <a:ea typeface="MS PGothic" panose="020B0600070205080204" pitchFamily="34" charset="-128"/>
            </a:endParaRPr>
          </a:p>
          <a:p>
            <a:pPr indent="457200" algn="just"/>
            <a:r>
              <a:rPr kumimoji="1" lang="en-US" altLang="ja-JP" sz="3200" dirty="0">
                <a:latin typeface="MS PGothic" panose="020B0600070205080204" pitchFamily="34" charset="-128"/>
                <a:ea typeface="MS PGothic" panose="020B0600070205080204" pitchFamily="34" charset="-128"/>
              </a:rPr>
              <a:t>Cross-Attention[4]</a:t>
            </a:r>
            <a:r>
              <a:rPr kumimoji="1" lang="ja-JP" altLang="en-US" sz="3200">
                <a:latin typeface="MS PGothic" panose="020B0600070205080204" pitchFamily="34" charset="-128"/>
                <a:ea typeface="MS PGothic" panose="020B0600070205080204" pitchFamily="34" charset="-128"/>
              </a:rPr>
              <a:t>は単一の特徴量の特徴を抽出する</a:t>
            </a:r>
            <a:r>
              <a:rPr kumimoji="1" lang="en-US" altLang="ja-JP" sz="3200" dirty="0">
                <a:latin typeface="MS PGothic" panose="020B0600070205080204" pitchFamily="34" charset="-128"/>
                <a:ea typeface="MS PGothic" panose="020B0600070205080204" pitchFamily="34" charset="-128"/>
              </a:rPr>
              <a:t>Self-Attention</a:t>
            </a:r>
            <a:r>
              <a:rPr kumimoji="1" lang="ja-JP" altLang="en-US" sz="3200">
                <a:latin typeface="MS PGothic" panose="020B0600070205080204" pitchFamily="34" charset="-128"/>
                <a:ea typeface="MS PGothic" panose="020B0600070205080204" pitchFamily="34" charset="-128"/>
              </a:rPr>
              <a:t>をエンコーダとデコーダの特徴量を混合して特徴を抽出する．</a:t>
            </a:r>
            <a:r>
              <a:rPr kumimoji="1" lang="en-US" altLang="ja-JP" sz="3200" dirty="0">
                <a:latin typeface="MS PGothic" panose="020B0600070205080204" pitchFamily="34" charset="-128"/>
                <a:ea typeface="MS PGothic" panose="020B0600070205080204" pitchFamily="34" charset="-128"/>
              </a:rPr>
              <a:t>Cross-Attention</a:t>
            </a:r>
            <a:r>
              <a:rPr kumimoji="1" lang="ja-JP" altLang="en-US" sz="3200">
                <a:latin typeface="MS PGothic" panose="020B0600070205080204" pitchFamily="34" charset="-128"/>
                <a:ea typeface="MS PGothic" panose="020B0600070205080204" pitchFamily="34" charset="-128"/>
              </a:rPr>
              <a:t>は画像キャプション生成モデル等のマルチモーダルモデルで使用される</a:t>
            </a:r>
            <a:r>
              <a:rPr kumimoji="1" lang="en-US" altLang="ja-JP" sz="3200" dirty="0">
                <a:latin typeface="MS PGothic" panose="020B0600070205080204" pitchFamily="34" charset="-128"/>
                <a:ea typeface="MS PGothic" panose="020B0600070205080204" pitchFamily="34" charset="-128"/>
              </a:rPr>
              <a:t>[5]</a:t>
            </a:r>
            <a:r>
              <a:rPr kumimoji="1" lang="ja-JP" altLang="en-US" sz="3200">
                <a:latin typeface="MS PGothic" panose="020B0600070205080204" pitchFamily="34" charset="-128"/>
                <a:ea typeface="MS PGothic" panose="020B0600070205080204" pitchFamily="34" charset="-128"/>
              </a:rPr>
              <a:t>．</a:t>
            </a:r>
            <a:endParaRPr kumimoji="1" lang="en-US" altLang="ja-JP" sz="3200" dirty="0">
              <a:latin typeface="MS PGothic" panose="020B0600070205080204" pitchFamily="34" charset="-128"/>
              <a:ea typeface="MS PGothic" panose="020B0600070205080204" pitchFamily="34" charset="-128"/>
            </a:endParaRPr>
          </a:p>
        </p:txBody>
      </p:sp>
      <p:sp>
        <p:nvSpPr>
          <p:cNvPr id="1144" name="テキスト ボックス 1143">
            <a:extLst>
              <a:ext uri="{FF2B5EF4-FFF2-40B4-BE49-F238E27FC236}">
                <a16:creationId xmlns:a16="http://schemas.microsoft.com/office/drawing/2014/main" id="{BC603153-2E7A-F995-F0E8-6DC09137B7A1}"/>
              </a:ext>
            </a:extLst>
          </p:cNvPr>
          <p:cNvSpPr txBox="1"/>
          <p:nvPr/>
        </p:nvSpPr>
        <p:spPr>
          <a:xfrm>
            <a:off x="203200" y="41199730"/>
            <a:ext cx="14916944" cy="1200329"/>
          </a:xfrm>
          <a:prstGeom prst="rect">
            <a:avLst/>
          </a:prstGeom>
          <a:noFill/>
        </p:spPr>
        <p:txBody>
          <a:bodyPr wrap="square" rtlCol="0">
            <a:spAutoFit/>
          </a:bodyPr>
          <a:lstStyle/>
          <a:p>
            <a:r>
              <a:rPr kumimoji="1" lang="en-US" altLang="ja-JP" sz="2400" dirty="0">
                <a:latin typeface="MS PGothic" panose="020B0600070205080204" pitchFamily="34" charset="-128"/>
                <a:ea typeface="MS PGothic" panose="020B0600070205080204" pitchFamily="34" charset="-128"/>
              </a:rPr>
              <a:t>[1] K. Yoshida, et al., </a:t>
            </a:r>
            <a:r>
              <a:rPr kumimoji="1" lang="en-US" altLang="ja-JP" sz="2400" i="1" dirty="0">
                <a:latin typeface="MS PGothic" panose="020B0600070205080204" pitchFamily="34" charset="-128"/>
                <a:ea typeface="MS PGothic" panose="020B0600070205080204" pitchFamily="34" charset="-128"/>
              </a:rPr>
              <a:t>Proc. IEEE CVPR Language</a:t>
            </a:r>
            <a:r>
              <a:rPr kumimoji="1" lang="ja-JP" altLang="en-US" sz="2400" i="1" dirty="0">
                <a:latin typeface="MS PGothic" panose="020B0600070205080204" pitchFamily="34" charset="-128"/>
                <a:ea typeface="MS PGothic" panose="020B0600070205080204" pitchFamily="34" charset="-128"/>
              </a:rPr>
              <a:t> </a:t>
            </a:r>
            <a:r>
              <a:rPr kumimoji="1" lang="en-US" altLang="ja-JP" sz="2400" i="1" dirty="0">
                <a:latin typeface="MS PGothic" panose="020B0600070205080204" pitchFamily="34" charset="-128"/>
                <a:ea typeface="MS PGothic" panose="020B0600070205080204" pitchFamily="34" charset="-128"/>
              </a:rPr>
              <a:t>and Vision workshop</a:t>
            </a:r>
            <a:r>
              <a:rPr kumimoji="1" lang="en-US" altLang="ja-JP" sz="2400" dirty="0">
                <a:latin typeface="MS PGothic" panose="020B0600070205080204" pitchFamily="34" charset="-128"/>
                <a:ea typeface="MS PGothic" panose="020B0600070205080204" pitchFamily="34" charset="-128"/>
              </a:rPr>
              <a:t>, pp.1-4, Jun. 2018.</a:t>
            </a:r>
          </a:p>
          <a:p>
            <a:r>
              <a:rPr kumimoji="1" lang="en-US" altLang="ja-JP" sz="2400" dirty="0">
                <a:latin typeface="MS PGothic" panose="020B0600070205080204" pitchFamily="34" charset="-128"/>
                <a:ea typeface="MS PGothic" panose="020B0600070205080204" pitchFamily="34" charset="-128"/>
              </a:rPr>
              <a:t>[2] </a:t>
            </a:r>
            <a:r>
              <a:rPr lang="en" altLang="ja-JP" sz="2400" b="0" i="0" dirty="0">
                <a:solidFill>
                  <a:srgbClr val="111111"/>
                </a:solidFill>
                <a:effectLst/>
                <a:latin typeface="MS PGothic" panose="020B0600070205080204" pitchFamily="34" charset="-128"/>
                <a:ea typeface="MS PGothic" panose="020B0600070205080204" pitchFamily="34" charset="-128"/>
              </a:rPr>
              <a:t>R. </a:t>
            </a:r>
            <a:r>
              <a:rPr lang="en" altLang="ja-JP" sz="2400" b="0" i="0" dirty="0" err="1">
                <a:solidFill>
                  <a:srgbClr val="111111"/>
                </a:solidFill>
                <a:effectLst/>
                <a:latin typeface="MS PGothic" panose="020B0600070205080204" pitchFamily="34" charset="-128"/>
                <a:ea typeface="MS PGothic" panose="020B0600070205080204" pitchFamily="34" charset="-128"/>
              </a:rPr>
              <a:t>Yamatomi</a:t>
            </a:r>
            <a:r>
              <a:rPr lang="en" altLang="ja-JP" sz="2400" b="0" i="0" dirty="0">
                <a:solidFill>
                  <a:srgbClr val="111111"/>
                </a:solidFill>
                <a:effectLst/>
                <a:latin typeface="MS PGothic" panose="020B0600070205080204" pitchFamily="34" charset="-128"/>
                <a:ea typeface="MS PGothic" panose="020B0600070205080204" pitchFamily="34" charset="-128"/>
              </a:rPr>
              <a:t>, et al., </a:t>
            </a:r>
            <a:r>
              <a:rPr lang="en" altLang="ja-JP" sz="2400" b="0" i="1" dirty="0">
                <a:solidFill>
                  <a:srgbClr val="111111"/>
                </a:solidFill>
                <a:effectLst/>
                <a:latin typeface="MS PGothic" panose="020B0600070205080204" pitchFamily="34" charset="-128"/>
                <a:ea typeface="MS PGothic" panose="020B0600070205080204" pitchFamily="34" charset="-128"/>
              </a:rPr>
              <a:t>Proc. PRICAI</a:t>
            </a:r>
            <a:r>
              <a:rPr lang="en" altLang="ja-JP" sz="2400" b="0" i="0" dirty="0">
                <a:solidFill>
                  <a:srgbClr val="111111"/>
                </a:solidFill>
                <a:effectLst/>
                <a:latin typeface="MS PGothic" panose="020B0600070205080204" pitchFamily="34" charset="-128"/>
                <a:ea typeface="MS PGothic" panose="020B0600070205080204" pitchFamily="34" charset="-128"/>
              </a:rPr>
              <a:t>, pp.237-248, Nov. 2023.</a:t>
            </a:r>
          </a:p>
          <a:p>
            <a:r>
              <a:rPr kumimoji="1" lang="en-US" altLang="ja-JP" sz="2400" dirty="0">
                <a:latin typeface="MS PGothic" panose="020B0600070205080204" pitchFamily="34" charset="-128"/>
                <a:ea typeface="MS PGothic" panose="020B0600070205080204" pitchFamily="34" charset="-128"/>
              </a:rPr>
              <a:t>[3] </a:t>
            </a:r>
            <a:r>
              <a:rPr kumimoji="1" lang="en-US" altLang="ja-JP" sz="2400" dirty="0" err="1">
                <a:solidFill>
                  <a:srgbClr val="111111"/>
                </a:solidFill>
                <a:latin typeface="MS PGothic" panose="020B0600070205080204" pitchFamily="34" charset="-128"/>
                <a:ea typeface="MS PGothic" panose="020B0600070205080204" pitchFamily="34" charset="-128"/>
              </a:rPr>
              <a:t>Omoroki</a:t>
            </a:r>
            <a:r>
              <a:rPr kumimoji="1" lang="en-US" altLang="ja-JP" sz="2400" dirty="0">
                <a:solidFill>
                  <a:srgbClr val="111111"/>
                </a:solidFill>
                <a:latin typeface="MS PGothic" panose="020B0600070205080204" pitchFamily="34" charset="-128"/>
                <a:ea typeface="MS PGothic" panose="020B0600070205080204" pitchFamily="34" charset="-128"/>
              </a:rPr>
              <a:t> Inc., https://</a:t>
            </a:r>
            <a:r>
              <a:rPr kumimoji="1" lang="en-US" altLang="ja-JP" sz="2400" dirty="0" err="1">
                <a:solidFill>
                  <a:srgbClr val="111111"/>
                </a:solidFill>
                <a:latin typeface="MS PGothic" panose="020B0600070205080204" pitchFamily="34" charset="-128"/>
                <a:ea typeface="MS PGothic" panose="020B0600070205080204" pitchFamily="34" charset="-128"/>
              </a:rPr>
              <a:t>sp.bokete.jp</a:t>
            </a:r>
            <a:r>
              <a:rPr kumimoji="1" lang="en-US" altLang="ja-JP" sz="2400" dirty="0">
                <a:solidFill>
                  <a:srgbClr val="111111"/>
                </a:solidFill>
                <a:latin typeface="MS PGothic" panose="020B0600070205080204" pitchFamily="34" charset="-128"/>
                <a:ea typeface="MS PGothic" panose="020B0600070205080204" pitchFamily="34" charset="-128"/>
              </a:rPr>
              <a:t>/, </a:t>
            </a:r>
            <a:r>
              <a:rPr kumimoji="1" lang="ja-JP" altLang="en-US" sz="2400" dirty="0">
                <a:solidFill>
                  <a:srgbClr val="111111"/>
                </a:solidFill>
                <a:latin typeface="MS PGothic" panose="020B0600070205080204" pitchFamily="34" charset="-128"/>
                <a:ea typeface="MS PGothic" panose="020B0600070205080204" pitchFamily="34" charset="-128"/>
              </a:rPr>
              <a:t>最終確認日</a:t>
            </a:r>
            <a:r>
              <a:rPr kumimoji="1" lang="en-US" altLang="ja-JP" sz="2400" dirty="0">
                <a:solidFill>
                  <a:srgbClr val="111111"/>
                </a:solidFill>
                <a:latin typeface="MS PGothic" panose="020B0600070205080204" pitchFamily="34" charset="-128"/>
                <a:ea typeface="MS PGothic" panose="020B0600070205080204" pitchFamily="34" charset="-128"/>
              </a:rPr>
              <a:t> : 2024/2/28</a:t>
            </a:r>
            <a:endParaRPr lang="en-US" altLang="ja-JP" sz="2400" b="0" i="0" dirty="0">
              <a:solidFill>
                <a:srgbClr val="111111"/>
              </a:solidFill>
              <a:effectLst/>
              <a:latin typeface="MS PGothic" panose="020B0600070205080204" pitchFamily="34" charset="-128"/>
              <a:ea typeface="MS PGothic" panose="020B0600070205080204" pitchFamily="34" charset="-128"/>
            </a:endParaRPr>
          </a:p>
        </p:txBody>
      </p:sp>
      <p:sp>
        <p:nvSpPr>
          <p:cNvPr id="1145" name="テキスト ボックス 1144">
            <a:extLst>
              <a:ext uri="{FF2B5EF4-FFF2-40B4-BE49-F238E27FC236}">
                <a16:creationId xmlns:a16="http://schemas.microsoft.com/office/drawing/2014/main" id="{6940AF62-809B-BA30-7D51-B5C927363839}"/>
              </a:ext>
            </a:extLst>
          </p:cNvPr>
          <p:cNvSpPr txBox="1"/>
          <p:nvPr/>
        </p:nvSpPr>
        <p:spPr>
          <a:xfrm>
            <a:off x="15145419" y="41193838"/>
            <a:ext cx="14916944" cy="1200329"/>
          </a:xfrm>
          <a:prstGeom prst="rect">
            <a:avLst/>
          </a:prstGeom>
          <a:noFill/>
        </p:spPr>
        <p:txBody>
          <a:bodyPr wrap="square" rtlCol="0">
            <a:spAutoFit/>
          </a:bodyPr>
          <a:lstStyle/>
          <a:p>
            <a:r>
              <a:rPr lang="en-US" altLang="ja-JP" sz="2400" dirty="0">
                <a:solidFill>
                  <a:srgbClr val="111111"/>
                </a:solidFill>
                <a:latin typeface="MS PGothic" panose="020B0600070205080204" pitchFamily="34" charset="-128"/>
                <a:ea typeface="MS PGothic" panose="020B0600070205080204" pitchFamily="34" charset="-128"/>
              </a:rPr>
              <a:t>[4] V. Ashish, et al., </a:t>
            </a:r>
            <a:r>
              <a:rPr lang="en-US" altLang="ja-JP" sz="2400" i="1" dirty="0">
                <a:solidFill>
                  <a:srgbClr val="111111"/>
                </a:solidFill>
                <a:latin typeface="MS PGothic" panose="020B0600070205080204" pitchFamily="34" charset="-128"/>
                <a:ea typeface="MS PGothic" panose="020B0600070205080204" pitchFamily="34" charset="-128"/>
              </a:rPr>
              <a:t>Advances in neural information processing systems 31</a:t>
            </a:r>
            <a:r>
              <a:rPr lang="en-US" altLang="ja-JP" sz="2400" dirty="0">
                <a:solidFill>
                  <a:srgbClr val="111111"/>
                </a:solidFill>
                <a:latin typeface="MS PGothic" panose="020B0600070205080204" pitchFamily="34" charset="-128"/>
                <a:ea typeface="MS PGothic" panose="020B0600070205080204" pitchFamily="34" charset="-128"/>
              </a:rPr>
              <a:t>, pp.5998-6008, Dec. 2017.</a:t>
            </a:r>
          </a:p>
          <a:p>
            <a:r>
              <a:rPr lang="en-US" altLang="ja-JP" sz="2400" b="0" i="0" dirty="0">
                <a:solidFill>
                  <a:srgbClr val="111111"/>
                </a:solidFill>
                <a:effectLst/>
                <a:latin typeface="MS PGothic" panose="020B0600070205080204" pitchFamily="34" charset="-128"/>
                <a:ea typeface="MS PGothic" panose="020B0600070205080204" pitchFamily="34" charset="-128"/>
              </a:rPr>
              <a:t>[5] TensorFlow, https://</a:t>
            </a:r>
            <a:r>
              <a:rPr lang="en-US" altLang="ja-JP" sz="2400" b="0" i="0" dirty="0" err="1">
                <a:solidFill>
                  <a:srgbClr val="111111"/>
                </a:solidFill>
                <a:effectLst/>
                <a:latin typeface="MS PGothic" panose="020B0600070205080204" pitchFamily="34" charset="-128"/>
                <a:ea typeface="MS PGothic" panose="020B0600070205080204" pitchFamily="34" charset="-128"/>
              </a:rPr>
              <a:t>www.tensorflow.org</a:t>
            </a:r>
            <a:r>
              <a:rPr lang="en-US" altLang="ja-JP" sz="2400" b="0" i="0" dirty="0">
                <a:solidFill>
                  <a:srgbClr val="111111"/>
                </a:solidFill>
                <a:effectLst/>
                <a:latin typeface="MS PGothic" panose="020B0600070205080204" pitchFamily="34" charset="-128"/>
                <a:ea typeface="MS PGothic" panose="020B0600070205080204" pitchFamily="34" charset="-128"/>
              </a:rPr>
              <a:t>/text/tutorials/</a:t>
            </a:r>
            <a:r>
              <a:rPr lang="en-US" altLang="ja-JP" sz="2400" b="0" i="0" dirty="0" err="1">
                <a:solidFill>
                  <a:srgbClr val="111111"/>
                </a:solidFill>
                <a:effectLst/>
                <a:latin typeface="MS PGothic" panose="020B0600070205080204" pitchFamily="34" charset="-128"/>
                <a:ea typeface="MS PGothic" panose="020B0600070205080204" pitchFamily="34" charset="-128"/>
              </a:rPr>
              <a:t>image_captioning</a:t>
            </a:r>
            <a:r>
              <a:rPr lang="en-US" altLang="ja-JP" sz="2400" b="0" i="0" dirty="0">
                <a:solidFill>
                  <a:srgbClr val="111111"/>
                </a:solidFill>
                <a:effectLst/>
                <a:latin typeface="MS PGothic" panose="020B0600070205080204" pitchFamily="34" charset="-128"/>
                <a:ea typeface="MS PGothic" panose="020B0600070205080204" pitchFamily="34" charset="-128"/>
              </a:rPr>
              <a:t>, </a:t>
            </a:r>
            <a:r>
              <a:rPr lang="ja-JP" altLang="en-US" sz="2400" b="0" i="0">
                <a:solidFill>
                  <a:srgbClr val="111111"/>
                </a:solidFill>
                <a:effectLst/>
                <a:latin typeface="MS PGothic" panose="020B0600070205080204" pitchFamily="34" charset="-128"/>
                <a:ea typeface="MS PGothic" panose="020B0600070205080204" pitchFamily="34" charset="-128"/>
              </a:rPr>
              <a:t>最終確認日</a:t>
            </a:r>
            <a:r>
              <a:rPr lang="en-US" altLang="ja-JP" sz="2400" b="0" i="0" dirty="0">
                <a:solidFill>
                  <a:srgbClr val="111111"/>
                </a:solidFill>
                <a:effectLst/>
                <a:latin typeface="MS PGothic" panose="020B0600070205080204" pitchFamily="34" charset="-128"/>
                <a:ea typeface="MS PGothic" panose="020B0600070205080204" pitchFamily="34" charset="-128"/>
              </a:rPr>
              <a:t> : 2024/2/28</a:t>
            </a:r>
          </a:p>
          <a:p>
            <a:r>
              <a:rPr lang="en-US" altLang="ja-JP" sz="2400" b="0" i="0" dirty="0">
                <a:solidFill>
                  <a:srgbClr val="111111"/>
                </a:solidFill>
                <a:effectLst/>
                <a:latin typeface="MS PGothic" panose="020B0600070205080204" pitchFamily="34" charset="-128"/>
                <a:ea typeface="MS PGothic" panose="020B0600070205080204" pitchFamily="34" charset="-128"/>
              </a:rPr>
              <a:t>[6] D. Alexey, et al., </a:t>
            </a:r>
            <a:r>
              <a:rPr lang="en-US" altLang="ja-JP" sz="2400" b="0" i="1" dirty="0" err="1">
                <a:solidFill>
                  <a:srgbClr val="111111"/>
                </a:solidFill>
                <a:effectLst/>
                <a:latin typeface="MS PGothic" panose="020B0600070205080204" pitchFamily="34" charset="-128"/>
                <a:ea typeface="MS PGothic" panose="020B0600070205080204" pitchFamily="34" charset="-128"/>
              </a:rPr>
              <a:t>arXiv</a:t>
            </a:r>
            <a:r>
              <a:rPr lang="en-US" altLang="ja-JP" sz="2400" b="0" i="1" dirty="0">
                <a:solidFill>
                  <a:srgbClr val="111111"/>
                </a:solidFill>
                <a:effectLst/>
                <a:latin typeface="MS PGothic" panose="020B0600070205080204" pitchFamily="34" charset="-128"/>
                <a:ea typeface="MS PGothic" panose="020B0600070205080204" pitchFamily="34" charset="-128"/>
              </a:rPr>
              <a:t> preprint arXiv:2010.11929</a:t>
            </a:r>
            <a:r>
              <a:rPr lang="en-US" altLang="ja-JP" sz="2400" b="0" i="0" dirty="0">
                <a:solidFill>
                  <a:srgbClr val="111111"/>
                </a:solidFill>
                <a:effectLst/>
                <a:latin typeface="MS PGothic" panose="020B0600070205080204" pitchFamily="34" charset="-128"/>
                <a:ea typeface="MS PGothic" panose="020B0600070205080204" pitchFamily="34" charset="-128"/>
              </a:rPr>
              <a:t>, Oct. 2020.</a:t>
            </a:r>
            <a:endParaRPr lang="en" altLang="ja-JP" sz="2400" b="0" i="0" dirty="0">
              <a:solidFill>
                <a:srgbClr val="111111"/>
              </a:solidFill>
              <a:effectLst/>
              <a:latin typeface="MS PGothic" panose="020B0600070205080204" pitchFamily="34" charset="-128"/>
              <a:ea typeface="MS PGothic" panose="020B0600070205080204" pitchFamily="34" charset="-128"/>
            </a:endParaRPr>
          </a:p>
        </p:txBody>
      </p:sp>
      <p:pic>
        <p:nvPicPr>
          <p:cNvPr id="1146" name="図 1145" descr="建物, グループ, テーブル, フロント が含まれている画像&#10;&#10;自動的に生成された説明">
            <a:extLst>
              <a:ext uri="{FF2B5EF4-FFF2-40B4-BE49-F238E27FC236}">
                <a16:creationId xmlns:a16="http://schemas.microsoft.com/office/drawing/2014/main" id="{5F6C512C-7A4D-DF0D-D473-5D0C50C1AB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033586" y="21156226"/>
            <a:ext cx="1773758" cy="1773758"/>
          </a:xfrm>
          <a:prstGeom prst="rect">
            <a:avLst/>
          </a:prstGeom>
        </p:spPr>
      </p:pic>
      <p:cxnSp>
        <p:nvCxnSpPr>
          <p:cNvPr id="1147" name="直線矢印コネクタ 1146">
            <a:extLst>
              <a:ext uri="{FF2B5EF4-FFF2-40B4-BE49-F238E27FC236}">
                <a16:creationId xmlns:a16="http://schemas.microsoft.com/office/drawing/2014/main" id="{E7BC81D3-D0DB-C745-8063-A2933A6FC618}"/>
              </a:ext>
            </a:extLst>
          </p:cNvPr>
          <p:cNvCxnSpPr>
            <a:cxnSpLocks/>
            <a:stCxn id="1146" idx="3"/>
            <a:endCxn id="1149" idx="1"/>
          </p:cNvCxnSpPr>
          <p:nvPr/>
        </p:nvCxnSpPr>
        <p:spPr>
          <a:xfrm>
            <a:off x="17807344" y="22043105"/>
            <a:ext cx="64081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149" name="図 1148" descr="建物, グループ, テーブル, フロント が含まれている画像&#10;&#10;自動的に生成された説明">
            <a:extLst>
              <a:ext uri="{FF2B5EF4-FFF2-40B4-BE49-F238E27FC236}">
                <a16:creationId xmlns:a16="http://schemas.microsoft.com/office/drawing/2014/main" id="{C267B951-6FBC-EE2E-2ADB-1EA37740AC5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448160" y="21156226"/>
            <a:ext cx="1773758" cy="1773758"/>
          </a:xfrm>
          <a:prstGeom prst="rect">
            <a:avLst/>
          </a:prstGeom>
        </p:spPr>
      </p:pic>
      <p:cxnSp>
        <p:nvCxnSpPr>
          <p:cNvPr id="1150" name="直線コネクタ 1149">
            <a:extLst>
              <a:ext uri="{FF2B5EF4-FFF2-40B4-BE49-F238E27FC236}">
                <a16:creationId xmlns:a16="http://schemas.microsoft.com/office/drawing/2014/main" id="{FD1F775D-A206-5B5E-BD8E-D95556585596}"/>
              </a:ext>
            </a:extLst>
          </p:cNvPr>
          <p:cNvCxnSpPr/>
          <p:nvPr/>
        </p:nvCxnSpPr>
        <p:spPr>
          <a:xfrm>
            <a:off x="18824207" y="21156226"/>
            <a:ext cx="0" cy="1773758"/>
          </a:xfrm>
          <a:prstGeom prst="line">
            <a:avLst/>
          </a:prstGeom>
          <a:ln w="38100">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1151" name="直線コネクタ 1150">
            <a:extLst>
              <a:ext uri="{FF2B5EF4-FFF2-40B4-BE49-F238E27FC236}">
                <a16:creationId xmlns:a16="http://schemas.microsoft.com/office/drawing/2014/main" id="{54B9CF0D-AA8C-888E-B824-FB5712B8E786}"/>
              </a:ext>
            </a:extLst>
          </p:cNvPr>
          <p:cNvCxnSpPr>
            <a:cxnSpLocks/>
            <a:stCxn id="1149" idx="0"/>
            <a:endCxn id="1149" idx="2"/>
          </p:cNvCxnSpPr>
          <p:nvPr/>
        </p:nvCxnSpPr>
        <p:spPr>
          <a:xfrm>
            <a:off x="19335039" y="21156226"/>
            <a:ext cx="0" cy="1773758"/>
          </a:xfrm>
          <a:prstGeom prst="line">
            <a:avLst/>
          </a:prstGeom>
          <a:ln w="38100">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1152" name="直線コネクタ 1151">
            <a:extLst>
              <a:ext uri="{FF2B5EF4-FFF2-40B4-BE49-F238E27FC236}">
                <a16:creationId xmlns:a16="http://schemas.microsoft.com/office/drawing/2014/main" id="{C49B7350-BD30-32C7-0171-8397B6DA3488}"/>
              </a:ext>
            </a:extLst>
          </p:cNvPr>
          <p:cNvCxnSpPr>
            <a:cxnSpLocks/>
          </p:cNvCxnSpPr>
          <p:nvPr/>
        </p:nvCxnSpPr>
        <p:spPr>
          <a:xfrm>
            <a:off x="19827001" y="21156226"/>
            <a:ext cx="0" cy="1773758"/>
          </a:xfrm>
          <a:prstGeom prst="line">
            <a:avLst/>
          </a:prstGeom>
          <a:ln w="38100">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1153" name="直線コネクタ 1152">
            <a:extLst>
              <a:ext uri="{FF2B5EF4-FFF2-40B4-BE49-F238E27FC236}">
                <a16:creationId xmlns:a16="http://schemas.microsoft.com/office/drawing/2014/main" id="{72B04FF4-7A76-85FC-A5B4-F56932AB5EE3}"/>
              </a:ext>
            </a:extLst>
          </p:cNvPr>
          <p:cNvCxnSpPr>
            <a:cxnSpLocks/>
            <a:stCxn id="1149" idx="1"/>
            <a:endCxn id="1149" idx="3"/>
          </p:cNvCxnSpPr>
          <p:nvPr/>
        </p:nvCxnSpPr>
        <p:spPr>
          <a:xfrm>
            <a:off x="18448160" y="22043105"/>
            <a:ext cx="1773758" cy="0"/>
          </a:xfrm>
          <a:prstGeom prst="line">
            <a:avLst/>
          </a:prstGeom>
          <a:ln w="38100">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1154" name="直線コネクタ 1153">
            <a:extLst>
              <a:ext uri="{FF2B5EF4-FFF2-40B4-BE49-F238E27FC236}">
                <a16:creationId xmlns:a16="http://schemas.microsoft.com/office/drawing/2014/main" id="{09937138-CD96-E1F7-AA74-A71B5C233ED0}"/>
              </a:ext>
            </a:extLst>
          </p:cNvPr>
          <p:cNvCxnSpPr>
            <a:cxnSpLocks/>
          </p:cNvCxnSpPr>
          <p:nvPr/>
        </p:nvCxnSpPr>
        <p:spPr>
          <a:xfrm>
            <a:off x="18448160" y="22473461"/>
            <a:ext cx="1773758" cy="0"/>
          </a:xfrm>
          <a:prstGeom prst="line">
            <a:avLst/>
          </a:prstGeom>
          <a:ln w="38100">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1155" name="直線コネクタ 1154">
            <a:extLst>
              <a:ext uri="{FF2B5EF4-FFF2-40B4-BE49-F238E27FC236}">
                <a16:creationId xmlns:a16="http://schemas.microsoft.com/office/drawing/2014/main" id="{0B8BA4F7-191D-9F61-7283-9A4BEBB9C09E}"/>
              </a:ext>
            </a:extLst>
          </p:cNvPr>
          <p:cNvCxnSpPr>
            <a:cxnSpLocks/>
          </p:cNvCxnSpPr>
          <p:nvPr/>
        </p:nvCxnSpPr>
        <p:spPr>
          <a:xfrm>
            <a:off x="18448160" y="21532273"/>
            <a:ext cx="1773758" cy="0"/>
          </a:xfrm>
          <a:prstGeom prst="line">
            <a:avLst/>
          </a:prstGeom>
          <a:ln w="38100">
            <a:solidFill>
              <a:schemeClr val="bg1"/>
            </a:solidFill>
            <a:tailEnd type="none"/>
          </a:ln>
        </p:spPr>
        <p:style>
          <a:lnRef idx="1">
            <a:schemeClr val="accent1"/>
          </a:lnRef>
          <a:fillRef idx="0">
            <a:schemeClr val="accent1"/>
          </a:fillRef>
          <a:effectRef idx="0">
            <a:schemeClr val="accent1"/>
          </a:effectRef>
          <a:fontRef idx="minor">
            <a:schemeClr val="tx1"/>
          </a:fontRef>
        </p:style>
      </p:cxnSp>
      <p:sp>
        <p:nvSpPr>
          <p:cNvPr id="1157" name="台形 1156">
            <a:extLst>
              <a:ext uri="{FF2B5EF4-FFF2-40B4-BE49-F238E27FC236}">
                <a16:creationId xmlns:a16="http://schemas.microsoft.com/office/drawing/2014/main" id="{35A7B04F-7661-6D08-39FF-7622BA70C001}"/>
              </a:ext>
            </a:extLst>
          </p:cNvPr>
          <p:cNvSpPr/>
          <p:nvPr/>
        </p:nvSpPr>
        <p:spPr>
          <a:xfrm rot="5400000">
            <a:off x="20643124" y="21156228"/>
            <a:ext cx="1773758" cy="1773755"/>
          </a:xfrm>
          <a:prstGeom prst="trapezoid">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kumimoji="1" lang="en-US" altLang="ja-JP" sz="3200" dirty="0">
                <a:solidFill>
                  <a:schemeClr val="tx1"/>
                </a:solidFill>
                <a:latin typeface="MS PGothic" panose="020B0600070205080204" pitchFamily="34" charset="-128"/>
                <a:ea typeface="MS PGothic" panose="020B0600070205080204" pitchFamily="34" charset="-128"/>
              </a:rPr>
              <a:t>  </a:t>
            </a:r>
            <a:r>
              <a:rPr kumimoji="1" lang="en-US" altLang="ja-JP" sz="3200" dirty="0" err="1">
                <a:solidFill>
                  <a:schemeClr val="tx1"/>
                </a:solidFill>
                <a:latin typeface="MS PGothic" panose="020B0600070205080204" pitchFamily="34" charset="-128"/>
                <a:ea typeface="MS PGothic" panose="020B0600070205080204" pitchFamily="34" charset="-128"/>
              </a:rPr>
              <a:t>ViT</a:t>
            </a:r>
            <a:endParaRPr kumimoji="1" lang="ja-JP" altLang="en-US" sz="3200" dirty="0">
              <a:solidFill>
                <a:schemeClr val="tx1"/>
              </a:solidFill>
              <a:latin typeface="MS PGothic" panose="020B0600070205080204" pitchFamily="34" charset="-128"/>
              <a:ea typeface="MS PGothic" panose="020B0600070205080204" pitchFamily="34" charset="-128"/>
            </a:endParaRPr>
          </a:p>
        </p:txBody>
      </p:sp>
      <p:cxnSp>
        <p:nvCxnSpPr>
          <p:cNvPr id="1158" name="直線矢印コネクタ 1157">
            <a:extLst>
              <a:ext uri="{FF2B5EF4-FFF2-40B4-BE49-F238E27FC236}">
                <a16:creationId xmlns:a16="http://schemas.microsoft.com/office/drawing/2014/main" id="{2169B556-CB3D-9B9B-6025-B849AE2DA6B0}"/>
              </a:ext>
            </a:extLst>
          </p:cNvPr>
          <p:cNvCxnSpPr>
            <a:cxnSpLocks/>
            <a:stCxn id="1149" idx="3"/>
            <a:endCxn id="1157" idx="2"/>
          </p:cNvCxnSpPr>
          <p:nvPr/>
        </p:nvCxnSpPr>
        <p:spPr>
          <a:xfrm>
            <a:off x="20221918" y="22043105"/>
            <a:ext cx="421208" cy="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159" name="表 1158">
            <a:extLst>
              <a:ext uri="{FF2B5EF4-FFF2-40B4-BE49-F238E27FC236}">
                <a16:creationId xmlns:a16="http://schemas.microsoft.com/office/drawing/2014/main" id="{D3C91CB2-6A5A-2665-7757-A9FEB22493FA}"/>
              </a:ext>
            </a:extLst>
          </p:cNvPr>
          <p:cNvGraphicFramePr>
            <a:graphicFrameLocks noGrp="1"/>
          </p:cNvGraphicFramePr>
          <p:nvPr>
            <p:extLst>
              <p:ext uri="{D42A27DB-BD31-4B8C-83A1-F6EECF244321}">
                <p14:modId xmlns:p14="http://schemas.microsoft.com/office/powerpoint/2010/main" val="1919652868"/>
              </p:ext>
            </p:extLst>
          </p:nvPr>
        </p:nvGraphicFramePr>
        <p:xfrm>
          <a:off x="22928617" y="21169531"/>
          <a:ext cx="1773756" cy="1763192"/>
        </p:xfrm>
        <a:graphic>
          <a:graphicData uri="http://schemas.openxmlformats.org/drawingml/2006/table">
            <a:tbl>
              <a:tblPr firstRow="1" bandRow="1">
                <a:tableStyleId>{5C22544A-7EE6-4342-B048-85BDC9FD1C3A}</a:tableStyleId>
              </a:tblPr>
              <a:tblGrid>
                <a:gridCol w="1773756">
                  <a:extLst>
                    <a:ext uri="{9D8B030D-6E8A-4147-A177-3AD203B41FA5}">
                      <a16:colId xmlns:a16="http://schemas.microsoft.com/office/drawing/2014/main" val="1924354661"/>
                    </a:ext>
                  </a:extLst>
                </a:gridCol>
              </a:tblGrid>
              <a:tr h="440798">
                <a:tc>
                  <a:txBody>
                    <a:bodyPr/>
                    <a:lstStyle/>
                    <a:p>
                      <a:endParaRPr kumimoji="1" lang="ja-JP" altLang="en-US" sz="1600"/>
                    </a:p>
                  </a:txBody>
                  <a:tcPr marL="158229" marR="158229" marT="79114" marB="791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520130726"/>
                  </a:ext>
                </a:extLst>
              </a:tr>
              <a:tr h="440798">
                <a:tc>
                  <a:txBody>
                    <a:bodyPr/>
                    <a:lstStyle/>
                    <a:p>
                      <a:endParaRPr kumimoji="1" lang="ja-JP" altLang="en-US" sz="1600"/>
                    </a:p>
                  </a:txBody>
                  <a:tcPr marL="158229" marR="158229" marT="79114" marB="791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2800975036"/>
                  </a:ext>
                </a:extLst>
              </a:tr>
              <a:tr h="440798">
                <a:tc>
                  <a:txBody>
                    <a:bodyPr/>
                    <a:lstStyle/>
                    <a:p>
                      <a:endParaRPr kumimoji="1" lang="ja-JP" altLang="en-US" sz="1600"/>
                    </a:p>
                  </a:txBody>
                  <a:tcPr marL="158229" marR="158229" marT="79114" marB="791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760887995"/>
                  </a:ext>
                </a:extLst>
              </a:tr>
              <a:tr h="440798">
                <a:tc>
                  <a:txBody>
                    <a:bodyPr/>
                    <a:lstStyle/>
                    <a:p>
                      <a:endParaRPr kumimoji="1" lang="ja-JP" altLang="en-US" sz="1600"/>
                    </a:p>
                  </a:txBody>
                  <a:tcPr marL="158229" marR="158229" marT="79114" marB="791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2389960"/>
                  </a:ext>
                </a:extLst>
              </a:tr>
            </a:tbl>
          </a:graphicData>
        </a:graphic>
      </p:graphicFrame>
      <mc:AlternateContent xmlns:mc="http://schemas.openxmlformats.org/markup-compatibility/2006" xmlns:a14="http://schemas.microsoft.com/office/drawing/2010/main">
        <mc:Choice Requires="a14">
          <p:sp>
            <p:nvSpPr>
              <p:cNvPr id="1160" name="テキスト ボックス 1159">
                <a:extLst>
                  <a:ext uri="{FF2B5EF4-FFF2-40B4-BE49-F238E27FC236}">
                    <a16:creationId xmlns:a16="http://schemas.microsoft.com/office/drawing/2014/main" id="{651E8857-E655-0A19-E5F7-A0077440489A}"/>
                  </a:ext>
                </a:extLst>
              </p:cNvPr>
              <p:cNvSpPr txBox="1"/>
              <p:nvPr/>
            </p:nvSpPr>
            <p:spPr>
              <a:xfrm>
                <a:off x="16033586" y="23720953"/>
                <a:ext cx="2287696" cy="492443"/>
              </a:xfrm>
              <a:prstGeom prst="rect">
                <a:avLst/>
              </a:prstGeom>
              <a:noFill/>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sSub>
                        <m:sSubPr>
                          <m:ctrlPr>
                            <a:rPr kumimoji="1" lang="en-US" altLang="ja-JP" sz="3200" i="1" smtClean="0">
                              <a:latin typeface="Cambria Math" panose="02040503050406030204" pitchFamily="18" charset="0"/>
                            </a:rPr>
                          </m:ctrlPr>
                        </m:sSubPr>
                        <m:e>
                          <m:r>
                            <a:rPr kumimoji="1" lang="en-US" altLang="ja-JP" sz="3200" i="1">
                              <a:latin typeface="Cambria Math" panose="02040503050406030204" pitchFamily="18" charset="0"/>
                            </a:rPr>
                            <m:t>𝑤</m:t>
                          </m:r>
                        </m:e>
                        <m:sub>
                          <m:r>
                            <a:rPr kumimoji="1" lang="en-US" altLang="ja-JP" sz="3200" i="1">
                              <a:latin typeface="Cambria Math" panose="02040503050406030204" pitchFamily="18" charset="0"/>
                            </a:rPr>
                            <m:t>0</m:t>
                          </m:r>
                        </m:sub>
                      </m:sSub>
                      <m:r>
                        <a:rPr kumimoji="1" lang="en-US" altLang="ja-JP" sz="3200" b="0" i="1" smtClean="0">
                          <a:latin typeface="Cambria Math" panose="02040503050406030204" pitchFamily="18" charset="0"/>
                        </a:rPr>
                        <m:t>,</m:t>
                      </m:r>
                      <m:sSub>
                        <m:sSubPr>
                          <m:ctrlPr>
                            <a:rPr kumimoji="1" lang="en-US" altLang="ja-JP" sz="3200" i="1">
                              <a:latin typeface="Cambria Math" panose="02040503050406030204" pitchFamily="18" charset="0"/>
                            </a:rPr>
                          </m:ctrlPr>
                        </m:sSubPr>
                        <m:e>
                          <m:r>
                            <a:rPr kumimoji="1" lang="en-US" altLang="ja-JP" sz="3200" i="1">
                              <a:latin typeface="Cambria Math" panose="02040503050406030204" pitchFamily="18" charset="0"/>
                            </a:rPr>
                            <m:t>𝑤</m:t>
                          </m:r>
                        </m:e>
                        <m:sub>
                          <m:r>
                            <a:rPr kumimoji="1" lang="en-US" altLang="ja-JP" sz="3200" b="0" i="1" smtClean="0">
                              <a:latin typeface="Cambria Math" panose="02040503050406030204" pitchFamily="18" charset="0"/>
                            </a:rPr>
                            <m:t>1</m:t>
                          </m:r>
                        </m:sub>
                      </m:sSub>
                      <m:r>
                        <a:rPr kumimoji="1" lang="en-US" altLang="ja-JP" sz="3200" b="0" i="1" smtClean="0">
                          <a:latin typeface="Cambria Math" panose="02040503050406030204" pitchFamily="18" charset="0"/>
                        </a:rPr>
                        <m:t>,</m:t>
                      </m:r>
                      <m:sSub>
                        <m:sSubPr>
                          <m:ctrlPr>
                            <a:rPr kumimoji="1" lang="en-US" altLang="ja-JP" sz="3200" i="1">
                              <a:latin typeface="Cambria Math" panose="02040503050406030204" pitchFamily="18" charset="0"/>
                            </a:rPr>
                          </m:ctrlPr>
                        </m:sSubPr>
                        <m:e>
                          <m:r>
                            <a:rPr kumimoji="1" lang="en-US" altLang="ja-JP" sz="3200" i="1">
                              <a:latin typeface="Cambria Math" panose="02040503050406030204" pitchFamily="18" charset="0"/>
                            </a:rPr>
                            <m:t>𝑤</m:t>
                          </m:r>
                        </m:e>
                        <m:sub>
                          <m:r>
                            <a:rPr kumimoji="1" lang="en-US" altLang="ja-JP" sz="3200" b="0" i="1" smtClean="0">
                              <a:latin typeface="Cambria Math" panose="02040503050406030204" pitchFamily="18" charset="0"/>
                            </a:rPr>
                            <m:t>2</m:t>
                          </m:r>
                        </m:sub>
                      </m:sSub>
                      <m:r>
                        <a:rPr kumimoji="1" lang="en-US" altLang="ja-JP" sz="3200" b="0" i="1" smtClean="0">
                          <a:latin typeface="Cambria Math" panose="02040503050406030204" pitchFamily="18" charset="0"/>
                        </a:rPr>
                        <m:t>…</m:t>
                      </m:r>
                    </m:oMath>
                  </m:oMathPara>
                </a14:m>
                <a:endParaRPr kumimoji="1" lang="ja-JP" altLang="en-US" sz="3200" dirty="0"/>
              </a:p>
            </p:txBody>
          </p:sp>
        </mc:Choice>
        <mc:Fallback xmlns="">
          <p:sp>
            <p:nvSpPr>
              <p:cNvPr id="1160" name="テキスト ボックス 1159">
                <a:extLst>
                  <a:ext uri="{FF2B5EF4-FFF2-40B4-BE49-F238E27FC236}">
                    <a16:creationId xmlns:a16="http://schemas.microsoft.com/office/drawing/2014/main" id="{651E8857-E655-0A19-E5F7-A0077440489A}"/>
                  </a:ext>
                </a:extLst>
              </p:cNvPr>
              <p:cNvSpPr txBox="1">
                <a:spLocks noRot="1" noChangeAspect="1" noMove="1" noResize="1" noEditPoints="1" noAdjustHandles="1" noChangeArrowheads="1" noChangeShapeType="1" noTextEdit="1"/>
              </p:cNvSpPr>
              <p:nvPr/>
            </p:nvSpPr>
            <p:spPr>
              <a:xfrm>
                <a:off x="16033586" y="23720953"/>
                <a:ext cx="2287696" cy="492443"/>
              </a:xfrm>
              <a:prstGeom prst="rect">
                <a:avLst/>
              </a:prstGeom>
              <a:blipFill>
                <a:blip r:embed="rId19"/>
                <a:stretch>
                  <a:fillRect l="-2210" b="-17500"/>
                </a:stretch>
              </a:blipFill>
            </p:spPr>
            <p:txBody>
              <a:bodyPr/>
              <a:lstStyle/>
              <a:p>
                <a:r>
                  <a:rPr lang="ja-JP" altLang="en-US">
                    <a:noFill/>
                  </a:rPr>
                  <a:t> </a:t>
                </a:r>
              </a:p>
            </p:txBody>
          </p:sp>
        </mc:Fallback>
      </mc:AlternateContent>
      <p:sp>
        <p:nvSpPr>
          <p:cNvPr id="1161" name="テキスト ボックス 1160">
            <a:extLst>
              <a:ext uri="{FF2B5EF4-FFF2-40B4-BE49-F238E27FC236}">
                <a16:creationId xmlns:a16="http://schemas.microsoft.com/office/drawing/2014/main" id="{C3C8977D-CAD9-7711-BA1B-6C62538BCCE4}"/>
              </a:ext>
            </a:extLst>
          </p:cNvPr>
          <p:cNvSpPr txBox="1"/>
          <p:nvPr/>
        </p:nvSpPr>
        <p:spPr>
          <a:xfrm>
            <a:off x="22594808" y="20651347"/>
            <a:ext cx="2441374" cy="492443"/>
          </a:xfrm>
          <a:prstGeom prst="rect">
            <a:avLst/>
          </a:prstGeom>
          <a:noFill/>
        </p:spPr>
        <p:txBody>
          <a:bodyPr wrap="none" lIns="0" tIns="0" rIns="0" bIns="0" rtlCol="0">
            <a:spAutoFit/>
          </a:bodyPr>
          <a:lstStyle/>
          <a:p>
            <a:pPr algn="ctr"/>
            <a:r>
              <a:rPr kumimoji="1" lang="en-US" altLang="ja-JP" sz="3200" dirty="0">
                <a:latin typeface="MS PGothic" panose="020B0600070205080204" pitchFamily="34" charset="-128"/>
                <a:ea typeface="MS PGothic" panose="020B0600070205080204" pitchFamily="34" charset="-128"/>
              </a:rPr>
              <a:t>Image Feature</a:t>
            </a:r>
            <a:endParaRPr kumimoji="1" lang="ja-JP" altLang="en-US" sz="3200" dirty="0">
              <a:latin typeface="MS PGothic" panose="020B0600070205080204" pitchFamily="34" charset="-128"/>
              <a:ea typeface="MS PGothic" panose="020B0600070205080204" pitchFamily="34" charset="-128"/>
            </a:endParaRPr>
          </a:p>
        </p:txBody>
      </p:sp>
      <p:graphicFrame>
        <p:nvGraphicFramePr>
          <p:cNvPr id="1162" name="表 1161">
            <a:extLst>
              <a:ext uri="{FF2B5EF4-FFF2-40B4-BE49-F238E27FC236}">
                <a16:creationId xmlns:a16="http://schemas.microsoft.com/office/drawing/2014/main" id="{2ADFC97C-246B-C447-799C-1B6A1E4E125E}"/>
              </a:ext>
            </a:extLst>
          </p:cNvPr>
          <p:cNvGraphicFramePr>
            <a:graphicFrameLocks noGrp="1"/>
          </p:cNvGraphicFramePr>
          <p:nvPr>
            <p:extLst>
              <p:ext uri="{D42A27DB-BD31-4B8C-83A1-F6EECF244321}">
                <p14:modId xmlns:p14="http://schemas.microsoft.com/office/powerpoint/2010/main" val="2120449907"/>
              </p:ext>
            </p:extLst>
          </p:nvPr>
        </p:nvGraphicFramePr>
        <p:xfrm>
          <a:off x="19753883" y="23088253"/>
          <a:ext cx="1773756" cy="1757844"/>
        </p:xfrm>
        <a:graphic>
          <a:graphicData uri="http://schemas.openxmlformats.org/drawingml/2006/table">
            <a:tbl>
              <a:tblPr firstRow="1" bandRow="1">
                <a:tableStyleId>{5C22544A-7EE6-4342-B048-85BDC9FD1C3A}</a:tableStyleId>
              </a:tblPr>
              <a:tblGrid>
                <a:gridCol w="1773756">
                  <a:extLst>
                    <a:ext uri="{9D8B030D-6E8A-4147-A177-3AD203B41FA5}">
                      <a16:colId xmlns:a16="http://schemas.microsoft.com/office/drawing/2014/main" val="1924354661"/>
                    </a:ext>
                  </a:extLst>
                </a:gridCol>
              </a:tblGrid>
              <a:tr h="439461">
                <a:tc>
                  <a:txBody>
                    <a:bodyPr/>
                    <a:lstStyle/>
                    <a:p>
                      <a:endParaRPr kumimoji="1" lang="ja-JP" altLang="en-US" sz="1600"/>
                    </a:p>
                  </a:txBody>
                  <a:tcPr marL="157749" marR="157749" marT="78874" marB="788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520130726"/>
                  </a:ext>
                </a:extLst>
              </a:tr>
              <a:tr h="439461">
                <a:tc>
                  <a:txBody>
                    <a:bodyPr/>
                    <a:lstStyle/>
                    <a:p>
                      <a:endParaRPr kumimoji="1" lang="ja-JP" altLang="en-US" sz="1600"/>
                    </a:p>
                  </a:txBody>
                  <a:tcPr marL="157749" marR="157749" marT="78874" marB="788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2800975036"/>
                  </a:ext>
                </a:extLst>
              </a:tr>
              <a:tr h="439461">
                <a:tc>
                  <a:txBody>
                    <a:bodyPr/>
                    <a:lstStyle/>
                    <a:p>
                      <a:endParaRPr kumimoji="1" lang="ja-JP" altLang="en-US" sz="1600"/>
                    </a:p>
                  </a:txBody>
                  <a:tcPr marL="157749" marR="157749" marT="78874" marB="788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760887995"/>
                  </a:ext>
                </a:extLst>
              </a:tr>
              <a:tr h="439461">
                <a:tc>
                  <a:txBody>
                    <a:bodyPr/>
                    <a:lstStyle/>
                    <a:p>
                      <a:endParaRPr kumimoji="1" lang="ja-JP" altLang="en-US" sz="1600"/>
                    </a:p>
                  </a:txBody>
                  <a:tcPr marL="157749" marR="157749" marT="78874" marB="788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2389960"/>
                  </a:ext>
                </a:extLst>
              </a:tr>
            </a:tbl>
          </a:graphicData>
        </a:graphic>
      </p:graphicFrame>
      <p:cxnSp>
        <p:nvCxnSpPr>
          <p:cNvPr id="1163" name="直線矢印コネクタ 1162">
            <a:extLst>
              <a:ext uri="{FF2B5EF4-FFF2-40B4-BE49-F238E27FC236}">
                <a16:creationId xmlns:a16="http://schemas.microsoft.com/office/drawing/2014/main" id="{B91F5E32-EA19-9D41-570F-B65612E36251}"/>
              </a:ext>
            </a:extLst>
          </p:cNvPr>
          <p:cNvCxnSpPr>
            <a:cxnSpLocks/>
            <a:stCxn id="1160" idx="3"/>
            <a:endCxn id="1162" idx="1"/>
          </p:cNvCxnSpPr>
          <p:nvPr/>
        </p:nvCxnSpPr>
        <p:spPr>
          <a:xfrm>
            <a:off x="18321282" y="23967175"/>
            <a:ext cx="143260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64" name="テキスト ボックス 1163">
            <a:extLst>
              <a:ext uri="{FF2B5EF4-FFF2-40B4-BE49-F238E27FC236}">
                <a16:creationId xmlns:a16="http://schemas.microsoft.com/office/drawing/2014/main" id="{37B88A9D-8E2B-D67F-0380-9C79FAF25238}"/>
              </a:ext>
            </a:extLst>
          </p:cNvPr>
          <p:cNvSpPr txBox="1"/>
          <p:nvPr/>
        </p:nvSpPr>
        <p:spPr>
          <a:xfrm>
            <a:off x="19710515" y="24859335"/>
            <a:ext cx="1860492" cy="492443"/>
          </a:xfrm>
          <a:prstGeom prst="rect">
            <a:avLst/>
          </a:prstGeom>
          <a:noFill/>
        </p:spPr>
        <p:txBody>
          <a:bodyPr wrap="square" lIns="0" tIns="0" rIns="0" bIns="0" rtlCol="0">
            <a:spAutoFit/>
          </a:bodyPr>
          <a:lstStyle/>
          <a:p>
            <a:pPr algn="ctr"/>
            <a:r>
              <a:rPr kumimoji="1" lang="en-US" altLang="ja-JP" sz="3200" dirty="0">
                <a:latin typeface="MS PGothic" panose="020B0600070205080204" pitchFamily="34" charset="-128"/>
                <a:ea typeface="MS PGothic" panose="020B0600070205080204" pitchFamily="34" charset="-128"/>
              </a:rPr>
              <a:t>Embedding</a:t>
            </a:r>
            <a:endParaRPr kumimoji="1" lang="ja-JP" altLang="en-US" sz="3200" dirty="0">
              <a:latin typeface="MS PGothic" panose="020B0600070205080204" pitchFamily="34" charset="-128"/>
              <a:ea typeface="MS PGothic" panose="020B0600070205080204" pitchFamily="34" charset="-128"/>
            </a:endParaRPr>
          </a:p>
        </p:txBody>
      </p:sp>
      <p:graphicFrame>
        <p:nvGraphicFramePr>
          <p:cNvPr id="1165" name="表 1164">
            <a:extLst>
              <a:ext uri="{FF2B5EF4-FFF2-40B4-BE49-F238E27FC236}">
                <a16:creationId xmlns:a16="http://schemas.microsoft.com/office/drawing/2014/main" id="{10B39D3B-FA8F-D978-A465-51D0C6CACE9E}"/>
              </a:ext>
            </a:extLst>
          </p:cNvPr>
          <p:cNvGraphicFramePr>
            <a:graphicFrameLocks noGrp="1"/>
          </p:cNvGraphicFramePr>
          <p:nvPr>
            <p:extLst>
              <p:ext uri="{D42A27DB-BD31-4B8C-83A1-F6EECF244321}">
                <p14:modId xmlns:p14="http://schemas.microsoft.com/office/powerpoint/2010/main" val="3468163195"/>
              </p:ext>
            </p:extLst>
          </p:nvPr>
        </p:nvGraphicFramePr>
        <p:xfrm>
          <a:off x="24441529" y="23082905"/>
          <a:ext cx="1773752" cy="1763192"/>
        </p:xfrm>
        <a:graphic>
          <a:graphicData uri="http://schemas.openxmlformats.org/drawingml/2006/table">
            <a:tbl>
              <a:tblPr firstRow="1" bandRow="1">
                <a:tableStyleId>{5C22544A-7EE6-4342-B048-85BDC9FD1C3A}</a:tableStyleId>
              </a:tblPr>
              <a:tblGrid>
                <a:gridCol w="1773752">
                  <a:extLst>
                    <a:ext uri="{9D8B030D-6E8A-4147-A177-3AD203B41FA5}">
                      <a16:colId xmlns:a16="http://schemas.microsoft.com/office/drawing/2014/main" val="1924354661"/>
                    </a:ext>
                  </a:extLst>
                </a:gridCol>
              </a:tblGrid>
              <a:tr h="440798">
                <a:tc>
                  <a:txBody>
                    <a:bodyPr/>
                    <a:lstStyle/>
                    <a:p>
                      <a:endParaRPr kumimoji="1" lang="ja-JP" altLang="en-US" sz="1600"/>
                    </a:p>
                  </a:txBody>
                  <a:tcPr marL="158229" marR="158229" marT="79114" marB="791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520130726"/>
                  </a:ext>
                </a:extLst>
              </a:tr>
              <a:tr h="440798">
                <a:tc>
                  <a:txBody>
                    <a:bodyPr/>
                    <a:lstStyle/>
                    <a:p>
                      <a:endParaRPr kumimoji="1" lang="ja-JP" altLang="en-US" sz="1600"/>
                    </a:p>
                  </a:txBody>
                  <a:tcPr marL="158229" marR="158229" marT="79114" marB="791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2800975036"/>
                  </a:ext>
                </a:extLst>
              </a:tr>
              <a:tr h="440798">
                <a:tc>
                  <a:txBody>
                    <a:bodyPr/>
                    <a:lstStyle/>
                    <a:p>
                      <a:endParaRPr kumimoji="1" lang="ja-JP" altLang="en-US" sz="1600"/>
                    </a:p>
                  </a:txBody>
                  <a:tcPr marL="158229" marR="158229" marT="79114" marB="791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760887995"/>
                  </a:ext>
                </a:extLst>
              </a:tr>
              <a:tr h="440798">
                <a:tc>
                  <a:txBody>
                    <a:bodyPr/>
                    <a:lstStyle/>
                    <a:p>
                      <a:endParaRPr kumimoji="1" lang="ja-JP" altLang="en-US" sz="1600"/>
                    </a:p>
                  </a:txBody>
                  <a:tcPr marL="158229" marR="158229" marT="79114" marB="791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2389960"/>
                  </a:ext>
                </a:extLst>
              </a:tr>
            </a:tbl>
          </a:graphicData>
        </a:graphic>
      </p:graphicFrame>
      <p:cxnSp>
        <p:nvCxnSpPr>
          <p:cNvPr id="1166" name="直線矢印コネクタ 87">
            <a:extLst>
              <a:ext uri="{FF2B5EF4-FFF2-40B4-BE49-F238E27FC236}">
                <a16:creationId xmlns:a16="http://schemas.microsoft.com/office/drawing/2014/main" id="{1251416E-9A2B-49DE-3B7A-88CE1CEA4BE2}"/>
              </a:ext>
            </a:extLst>
          </p:cNvPr>
          <p:cNvCxnSpPr>
            <a:cxnSpLocks/>
            <a:stCxn id="1159" idx="3"/>
            <a:endCxn id="1165" idx="0"/>
          </p:cNvCxnSpPr>
          <p:nvPr/>
        </p:nvCxnSpPr>
        <p:spPr>
          <a:xfrm>
            <a:off x="24702373" y="22051127"/>
            <a:ext cx="626032" cy="1031778"/>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7" name="直線矢印コネクタ 1166">
            <a:extLst>
              <a:ext uri="{FF2B5EF4-FFF2-40B4-BE49-F238E27FC236}">
                <a16:creationId xmlns:a16="http://schemas.microsoft.com/office/drawing/2014/main" id="{ED9CAE50-1F39-FDD8-42E4-5FDB10541D42}"/>
              </a:ext>
            </a:extLst>
          </p:cNvPr>
          <p:cNvCxnSpPr>
            <a:cxnSpLocks/>
            <a:stCxn id="1162" idx="3"/>
            <a:endCxn id="1165" idx="1"/>
          </p:cNvCxnSpPr>
          <p:nvPr/>
        </p:nvCxnSpPr>
        <p:spPr>
          <a:xfrm flipV="1">
            <a:off x="21527639" y="23964501"/>
            <a:ext cx="2913890" cy="267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68" name="テキスト ボックス 1167">
                <a:extLst>
                  <a:ext uri="{FF2B5EF4-FFF2-40B4-BE49-F238E27FC236}">
                    <a16:creationId xmlns:a16="http://schemas.microsoft.com/office/drawing/2014/main" id="{3FBA4E9C-868B-D358-FEED-4B279DADD080}"/>
                  </a:ext>
                </a:extLst>
              </p:cNvPr>
              <p:cNvSpPr txBox="1"/>
              <p:nvPr/>
            </p:nvSpPr>
            <p:spPr>
              <a:xfrm>
                <a:off x="22523057" y="23573872"/>
                <a:ext cx="811119" cy="738664"/>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kumimoji="1" lang="ja-JP" altLang="en-US" sz="4800" i="1" smtClean="0">
                          <a:latin typeface="Cambria Math" panose="02040503050406030204" pitchFamily="18" charset="0"/>
                          <a:ea typeface="Cambria Math" panose="02040503050406030204" pitchFamily="18" charset="0"/>
                        </a:rPr>
                        <m:t> </m:t>
                      </m:r>
                      <m:r>
                        <a:rPr kumimoji="1" lang="en-US" altLang="ja-JP" sz="4800" b="0" i="1" smtClean="0">
                          <a:latin typeface="Cambria Math" panose="02040503050406030204" pitchFamily="18" charset="0"/>
                          <a:ea typeface="Cambria Math" panose="02040503050406030204" pitchFamily="18" charset="0"/>
                        </a:rPr>
                        <m:t>⨁</m:t>
                      </m:r>
                    </m:oMath>
                  </m:oMathPara>
                </a14:m>
                <a:endParaRPr kumimoji="1" lang="ja-JP" altLang="en-US" sz="4800" dirty="0"/>
              </a:p>
            </p:txBody>
          </p:sp>
        </mc:Choice>
        <mc:Fallback xmlns="">
          <p:sp>
            <p:nvSpPr>
              <p:cNvPr id="1168" name="テキスト ボックス 1167">
                <a:extLst>
                  <a:ext uri="{FF2B5EF4-FFF2-40B4-BE49-F238E27FC236}">
                    <a16:creationId xmlns:a16="http://schemas.microsoft.com/office/drawing/2014/main" id="{3FBA4E9C-868B-D358-FEED-4B279DADD080}"/>
                  </a:ext>
                </a:extLst>
              </p:cNvPr>
              <p:cNvSpPr txBox="1">
                <a:spLocks noRot="1" noChangeAspect="1" noMove="1" noResize="1" noEditPoints="1" noAdjustHandles="1" noChangeArrowheads="1" noChangeShapeType="1" noTextEdit="1"/>
              </p:cNvSpPr>
              <p:nvPr/>
            </p:nvSpPr>
            <p:spPr>
              <a:xfrm>
                <a:off x="22523057" y="23573872"/>
                <a:ext cx="811119" cy="738664"/>
              </a:xfrm>
              <a:prstGeom prst="rect">
                <a:avLst/>
              </a:prstGeom>
              <a:blipFill>
                <a:blip r:embed="rId20"/>
                <a:stretch>
                  <a:fillRect l="-36923" t="-8475" r="-12308" b="-37288"/>
                </a:stretch>
              </a:blipFill>
            </p:spPr>
            <p:txBody>
              <a:bodyPr/>
              <a:lstStyle/>
              <a:p>
                <a:r>
                  <a:rPr lang="ja-JP" altLang="en-US">
                    <a:noFill/>
                  </a:rPr>
                  <a:t> </a:t>
                </a:r>
              </a:p>
            </p:txBody>
          </p:sp>
        </mc:Fallback>
      </mc:AlternateContent>
      <p:cxnSp>
        <p:nvCxnSpPr>
          <p:cNvPr id="1169" name="直線矢印コネクタ 1168">
            <a:extLst>
              <a:ext uri="{FF2B5EF4-FFF2-40B4-BE49-F238E27FC236}">
                <a16:creationId xmlns:a16="http://schemas.microsoft.com/office/drawing/2014/main" id="{A6079CEA-0395-02A8-E95A-44C01BFFF74E}"/>
              </a:ext>
            </a:extLst>
          </p:cNvPr>
          <p:cNvCxnSpPr>
            <a:cxnSpLocks/>
            <a:stCxn id="1171" idx="0"/>
            <a:endCxn id="1168" idx="2"/>
          </p:cNvCxnSpPr>
          <p:nvPr/>
        </p:nvCxnSpPr>
        <p:spPr>
          <a:xfrm flipV="1">
            <a:off x="22928617" y="24312536"/>
            <a:ext cx="0" cy="46977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70" name="テキスト ボックス 1169">
            <a:extLst>
              <a:ext uri="{FF2B5EF4-FFF2-40B4-BE49-F238E27FC236}">
                <a16:creationId xmlns:a16="http://schemas.microsoft.com/office/drawing/2014/main" id="{B671EF95-96A9-4A6B-FC49-9D1E82FE33D0}"/>
              </a:ext>
            </a:extLst>
          </p:cNvPr>
          <p:cNvSpPr txBox="1"/>
          <p:nvPr/>
        </p:nvSpPr>
        <p:spPr>
          <a:xfrm>
            <a:off x="21281111" y="25306118"/>
            <a:ext cx="3295005" cy="492443"/>
          </a:xfrm>
          <a:prstGeom prst="rect">
            <a:avLst/>
          </a:prstGeom>
          <a:noFill/>
        </p:spPr>
        <p:txBody>
          <a:bodyPr wrap="square" lIns="0" tIns="0" rIns="0" bIns="0" rtlCol="0">
            <a:spAutoFit/>
          </a:bodyPr>
          <a:lstStyle/>
          <a:p>
            <a:pPr algn="ctr"/>
            <a:r>
              <a:rPr kumimoji="1" lang="en-US" altLang="ja-JP" sz="3200" dirty="0">
                <a:latin typeface="MS PGothic" panose="020B0600070205080204" pitchFamily="34" charset="-128"/>
                <a:ea typeface="MS PGothic" panose="020B0600070205080204" pitchFamily="34" charset="-128"/>
              </a:rPr>
              <a:t>Position Encoding</a:t>
            </a:r>
            <a:endParaRPr kumimoji="1" lang="ja-JP" altLang="en-US" sz="3200" dirty="0">
              <a:latin typeface="MS PGothic" panose="020B0600070205080204" pitchFamily="34" charset="-128"/>
              <a:ea typeface="MS PGothic" panose="020B0600070205080204" pitchFamily="34" charset="-128"/>
            </a:endParaRPr>
          </a:p>
        </p:txBody>
      </p:sp>
      <p:pic>
        <p:nvPicPr>
          <p:cNvPr id="1171" name="Picture 4" descr="Generated by DALL·E">
            <a:extLst>
              <a:ext uri="{FF2B5EF4-FFF2-40B4-BE49-F238E27FC236}">
                <a16:creationId xmlns:a16="http://schemas.microsoft.com/office/drawing/2014/main" id="{5A8D20DB-D4AB-A862-65A4-564CFA82ECE5}"/>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2625140" y="24782312"/>
            <a:ext cx="606953" cy="606953"/>
          </a:xfrm>
          <a:prstGeom prst="rect">
            <a:avLst/>
          </a:prstGeom>
          <a:noFill/>
          <a:extLst>
            <a:ext uri="{909E8E84-426E-40DD-AFC4-6F175D3DCCD1}">
              <a14:hiddenFill xmlns:a14="http://schemas.microsoft.com/office/drawing/2010/main">
                <a:solidFill>
                  <a:srgbClr val="FFFFFF"/>
                </a:solidFill>
              </a14:hiddenFill>
            </a:ext>
          </a:extLst>
        </p:spPr>
      </p:pic>
      <p:cxnSp>
        <p:nvCxnSpPr>
          <p:cNvPr id="1173" name="直線矢印コネクタ 1172">
            <a:extLst>
              <a:ext uri="{FF2B5EF4-FFF2-40B4-BE49-F238E27FC236}">
                <a16:creationId xmlns:a16="http://schemas.microsoft.com/office/drawing/2014/main" id="{44E86659-C9AE-E962-397C-FF3C90A16834}"/>
              </a:ext>
            </a:extLst>
          </p:cNvPr>
          <p:cNvCxnSpPr>
            <a:cxnSpLocks/>
            <a:stCxn id="1165" idx="3"/>
            <a:endCxn id="1184" idx="1"/>
          </p:cNvCxnSpPr>
          <p:nvPr/>
        </p:nvCxnSpPr>
        <p:spPr>
          <a:xfrm>
            <a:off x="26215281" y="23964501"/>
            <a:ext cx="640622"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74" name="テキスト ボックス 1173">
            <a:extLst>
              <a:ext uri="{FF2B5EF4-FFF2-40B4-BE49-F238E27FC236}">
                <a16:creationId xmlns:a16="http://schemas.microsoft.com/office/drawing/2014/main" id="{D389C9EF-DD2B-4DB4-565B-5701ED8D7F8F}"/>
              </a:ext>
            </a:extLst>
          </p:cNvPr>
          <p:cNvSpPr txBox="1"/>
          <p:nvPr/>
        </p:nvSpPr>
        <p:spPr>
          <a:xfrm>
            <a:off x="23870414" y="24858247"/>
            <a:ext cx="2933659" cy="492443"/>
          </a:xfrm>
          <a:prstGeom prst="rect">
            <a:avLst/>
          </a:prstGeom>
          <a:noFill/>
        </p:spPr>
        <p:txBody>
          <a:bodyPr wrap="square" lIns="0" tIns="0" rIns="0" bIns="0" rtlCol="0">
            <a:spAutoFit/>
          </a:bodyPr>
          <a:lstStyle/>
          <a:p>
            <a:pPr algn="ctr"/>
            <a:r>
              <a:rPr kumimoji="1" lang="en-US" altLang="ja-JP" sz="3200" dirty="0">
                <a:latin typeface="MS PGothic" panose="020B0600070205080204" pitchFamily="34" charset="-128"/>
                <a:ea typeface="MS PGothic" panose="020B0600070205080204" pitchFamily="34" charset="-128"/>
              </a:rPr>
              <a:t>Cross-Attention</a:t>
            </a:r>
            <a:endParaRPr kumimoji="1" lang="ja-JP" altLang="en-US" sz="3200" dirty="0">
              <a:latin typeface="MS PGothic" panose="020B0600070205080204" pitchFamily="34" charset="-128"/>
              <a:ea typeface="MS PGothic" panose="020B0600070205080204" pitchFamily="34" charset="-128"/>
            </a:endParaRPr>
          </a:p>
        </p:txBody>
      </p:sp>
      <p:cxnSp>
        <p:nvCxnSpPr>
          <p:cNvPr id="1175" name="直線矢印コネクタ 1174">
            <a:extLst>
              <a:ext uri="{FF2B5EF4-FFF2-40B4-BE49-F238E27FC236}">
                <a16:creationId xmlns:a16="http://schemas.microsoft.com/office/drawing/2014/main" id="{4286D5C5-E0D6-FCF0-CF19-651701C52266}"/>
              </a:ext>
            </a:extLst>
          </p:cNvPr>
          <p:cNvCxnSpPr>
            <a:cxnSpLocks/>
            <a:stCxn id="1157" idx="0"/>
            <a:endCxn id="1159" idx="1"/>
          </p:cNvCxnSpPr>
          <p:nvPr/>
        </p:nvCxnSpPr>
        <p:spPr>
          <a:xfrm>
            <a:off x="22416881" y="22043106"/>
            <a:ext cx="511736" cy="802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77" name="テキスト ボックス 1176">
            <a:extLst>
              <a:ext uri="{FF2B5EF4-FFF2-40B4-BE49-F238E27FC236}">
                <a16:creationId xmlns:a16="http://schemas.microsoft.com/office/drawing/2014/main" id="{A37D0F86-7FA1-DE0C-B5A3-FA68396A9AC6}"/>
              </a:ext>
            </a:extLst>
          </p:cNvPr>
          <p:cNvSpPr txBox="1"/>
          <p:nvPr/>
        </p:nvSpPr>
        <p:spPr>
          <a:xfrm>
            <a:off x="19486372" y="25775894"/>
            <a:ext cx="6884481" cy="584775"/>
          </a:xfrm>
          <a:prstGeom prst="rect">
            <a:avLst/>
          </a:prstGeom>
          <a:noFill/>
        </p:spPr>
        <p:txBody>
          <a:bodyPr wrap="square" rtlCol="0">
            <a:spAutoFit/>
          </a:bodyPr>
          <a:lstStyle/>
          <a:p>
            <a:pPr algn="ctr"/>
            <a:r>
              <a:rPr kumimoji="1" lang="ja-JP" altLang="en-US" sz="3200">
                <a:latin typeface="MS PGothic" panose="020B0600070205080204" pitchFamily="34" charset="-128"/>
                <a:ea typeface="MS PGothic" panose="020B0600070205080204" pitchFamily="34" charset="-128"/>
              </a:rPr>
              <a:t>図</a:t>
            </a:r>
            <a:r>
              <a:rPr kumimoji="1" lang="en-US" altLang="ja-JP" sz="3200" dirty="0">
                <a:latin typeface="MS PGothic" panose="020B0600070205080204" pitchFamily="34" charset="-128"/>
                <a:ea typeface="MS PGothic" panose="020B0600070205080204" pitchFamily="34" charset="-128"/>
              </a:rPr>
              <a:t>4</a:t>
            </a:r>
            <a:r>
              <a:rPr kumimoji="1" lang="ja-JP" altLang="en-US" sz="3200">
                <a:latin typeface="MS PGothic" panose="020B0600070205080204" pitchFamily="34" charset="-128"/>
                <a:ea typeface="MS PGothic" panose="020B0600070205080204" pitchFamily="34" charset="-128"/>
              </a:rPr>
              <a:t>　</a:t>
            </a:r>
            <a:r>
              <a:rPr kumimoji="1" lang="ja-JP" altLang="en-US" sz="3200" dirty="0">
                <a:latin typeface="MS PGothic" panose="020B0600070205080204" pitchFamily="34" charset="-128"/>
                <a:ea typeface="MS PGothic" panose="020B0600070205080204" pitchFamily="34" charset="-128"/>
              </a:rPr>
              <a:t>提案手法の構造</a:t>
            </a:r>
            <a:endParaRPr kumimoji="1" lang="en-US" altLang="ja-JP" sz="3200" dirty="0">
              <a:latin typeface="MS PGothic" panose="020B0600070205080204" pitchFamily="34" charset="-128"/>
              <a:ea typeface="MS PGothic" panose="020B0600070205080204" pitchFamily="34" charset="-128"/>
            </a:endParaRPr>
          </a:p>
        </p:txBody>
      </p:sp>
      <mc:AlternateContent xmlns:mc="http://schemas.openxmlformats.org/markup-compatibility/2006" xmlns:a14="http://schemas.microsoft.com/office/drawing/2010/main">
        <mc:Choice Requires="a14">
          <p:sp>
            <p:nvSpPr>
              <p:cNvPr id="1178" name="テキスト ボックス 1177">
                <a:extLst>
                  <a:ext uri="{FF2B5EF4-FFF2-40B4-BE49-F238E27FC236}">
                    <a16:creationId xmlns:a16="http://schemas.microsoft.com/office/drawing/2014/main" id="{2A2E71E1-5E3B-0FED-2409-2FD6A68BF5EC}"/>
                  </a:ext>
                </a:extLst>
              </p:cNvPr>
              <p:cNvSpPr txBox="1"/>
              <p:nvPr/>
            </p:nvSpPr>
            <p:spPr>
              <a:xfrm>
                <a:off x="25589249" y="22598259"/>
                <a:ext cx="628954" cy="492443"/>
              </a:xfrm>
              <a:prstGeom prst="rect">
                <a:avLst/>
              </a:prstGeom>
              <a:noFill/>
            </p:spPr>
            <p:txBody>
              <a:bodyPr wrap="none" lIns="0" tIns="0" rIns="0" bIns="0" rtlCol="0">
                <a:spAutoFit/>
              </a:bodyPr>
              <a:lstStyle/>
              <a:p>
                <a:pPr algn="ctr"/>
                <a14:m>
                  <m:oMathPara xmlns:m="http://schemas.openxmlformats.org/officeDocument/2006/math">
                    <m:oMathParaPr>
                      <m:jc m:val="center"/>
                    </m:oMathParaPr>
                    <m:oMath xmlns:m="http://schemas.openxmlformats.org/officeDocument/2006/math">
                      <m:r>
                        <a:rPr kumimoji="1" lang="en-US" altLang="ja-JP" sz="3200" b="0" i="1" smtClean="0">
                          <a:latin typeface="Cambria Math" panose="02040503050406030204" pitchFamily="18" charset="0"/>
                          <a:ea typeface="Cambria Math" panose="02040503050406030204" pitchFamily="18" charset="0"/>
                        </a:rPr>
                        <m:t>×</m:t>
                      </m:r>
                      <m:r>
                        <a:rPr kumimoji="1" lang="en-US" altLang="ja-JP" sz="3200" b="0" i="1" smtClean="0">
                          <a:latin typeface="Cambria Math" panose="02040503050406030204" pitchFamily="18" charset="0"/>
                          <a:ea typeface="Cambria Math" panose="02040503050406030204" pitchFamily="18" charset="0"/>
                        </a:rPr>
                        <m:t>𝑛</m:t>
                      </m:r>
                    </m:oMath>
                  </m:oMathPara>
                </a14:m>
                <a:endParaRPr kumimoji="1" lang="ja-JP" altLang="en-US" sz="3200" dirty="0"/>
              </a:p>
            </p:txBody>
          </p:sp>
        </mc:Choice>
        <mc:Fallback xmlns="">
          <p:sp>
            <p:nvSpPr>
              <p:cNvPr id="1178" name="テキスト ボックス 1177">
                <a:extLst>
                  <a:ext uri="{FF2B5EF4-FFF2-40B4-BE49-F238E27FC236}">
                    <a16:creationId xmlns:a16="http://schemas.microsoft.com/office/drawing/2014/main" id="{2A2E71E1-5E3B-0FED-2409-2FD6A68BF5EC}"/>
                  </a:ext>
                </a:extLst>
              </p:cNvPr>
              <p:cNvSpPr txBox="1">
                <a:spLocks noRot="1" noChangeAspect="1" noMove="1" noResize="1" noEditPoints="1" noAdjustHandles="1" noChangeArrowheads="1" noChangeShapeType="1" noTextEdit="1"/>
              </p:cNvSpPr>
              <p:nvPr/>
            </p:nvSpPr>
            <p:spPr>
              <a:xfrm>
                <a:off x="25589249" y="22598259"/>
                <a:ext cx="628954" cy="492443"/>
              </a:xfrm>
              <a:prstGeom prst="rect">
                <a:avLst/>
              </a:prstGeom>
              <a:blipFill>
                <a:blip r:embed="rId22"/>
                <a:stretch>
                  <a:fillRect l="-20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184" name="テキスト ボックス 1183">
                <a:extLst>
                  <a:ext uri="{FF2B5EF4-FFF2-40B4-BE49-F238E27FC236}">
                    <a16:creationId xmlns:a16="http://schemas.microsoft.com/office/drawing/2014/main" id="{99F11016-BF60-14BF-0ED4-7D65EDBD1CFC}"/>
                  </a:ext>
                </a:extLst>
              </p:cNvPr>
              <p:cNvSpPr txBox="1"/>
              <p:nvPr/>
            </p:nvSpPr>
            <p:spPr>
              <a:xfrm>
                <a:off x="26855903" y="23718279"/>
                <a:ext cx="2465849" cy="492443"/>
              </a:xfrm>
              <a:prstGeom prst="rect">
                <a:avLst/>
              </a:prstGeom>
              <a:noFill/>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acc>
                        <m:accPr>
                          <m:chr m:val="̇"/>
                          <m:ctrlPr>
                            <a:rPr kumimoji="1" lang="en-US" altLang="ja-JP" sz="3200" i="1" smtClean="0">
                              <a:latin typeface="Cambria Math" panose="02040503050406030204" pitchFamily="18" charset="0"/>
                            </a:rPr>
                          </m:ctrlPr>
                        </m:accPr>
                        <m:e>
                          <m:sSub>
                            <m:sSubPr>
                              <m:ctrlPr>
                                <a:rPr kumimoji="1" lang="en-US" altLang="ja-JP" sz="3200" i="1">
                                  <a:latin typeface="Cambria Math" panose="02040503050406030204" pitchFamily="18" charset="0"/>
                                </a:rPr>
                              </m:ctrlPr>
                            </m:sSubPr>
                            <m:e>
                              <m:r>
                                <a:rPr kumimoji="1" lang="en-US" altLang="ja-JP" sz="3200" i="1">
                                  <a:latin typeface="Cambria Math" panose="02040503050406030204" pitchFamily="18" charset="0"/>
                                </a:rPr>
                                <m:t>𝑤</m:t>
                              </m:r>
                            </m:e>
                            <m:sub>
                              <m:r>
                                <a:rPr kumimoji="1" lang="en-US" altLang="ja-JP" sz="3200" i="1">
                                  <a:latin typeface="Cambria Math" panose="02040503050406030204" pitchFamily="18" charset="0"/>
                                </a:rPr>
                                <m:t>1</m:t>
                              </m:r>
                            </m:sub>
                          </m:sSub>
                        </m:e>
                      </m:acc>
                      <m:r>
                        <a:rPr kumimoji="1" lang="en-US" altLang="ja-JP" sz="3200" b="0" i="1" smtClean="0">
                          <a:latin typeface="Cambria Math" panose="02040503050406030204" pitchFamily="18" charset="0"/>
                        </a:rPr>
                        <m:t>,</m:t>
                      </m:r>
                      <m:acc>
                        <m:accPr>
                          <m:chr m:val="̇"/>
                          <m:ctrlPr>
                            <a:rPr kumimoji="1" lang="en-US" altLang="ja-JP" sz="3200" i="1">
                              <a:latin typeface="Cambria Math" panose="02040503050406030204" pitchFamily="18" charset="0"/>
                            </a:rPr>
                          </m:ctrlPr>
                        </m:accPr>
                        <m:e>
                          <m:sSub>
                            <m:sSubPr>
                              <m:ctrlPr>
                                <a:rPr kumimoji="1" lang="en-US" altLang="ja-JP" sz="3200" i="1">
                                  <a:latin typeface="Cambria Math" panose="02040503050406030204" pitchFamily="18" charset="0"/>
                                </a:rPr>
                              </m:ctrlPr>
                            </m:sSubPr>
                            <m:e>
                              <m:r>
                                <a:rPr kumimoji="1" lang="en-US" altLang="ja-JP" sz="3200" i="1">
                                  <a:latin typeface="Cambria Math" panose="02040503050406030204" pitchFamily="18" charset="0"/>
                                </a:rPr>
                                <m:t>𝑤</m:t>
                              </m:r>
                            </m:e>
                            <m:sub>
                              <m:r>
                                <a:rPr kumimoji="1" lang="en-US" altLang="ja-JP" sz="3200" b="0" i="1" smtClean="0">
                                  <a:latin typeface="Cambria Math" panose="02040503050406030204" pitchFamily="18" charset="0"/>
                                </a:rPr>
                                <m:t>2</m:t>
                              </m:r>
                            </m:sub>
                          </m:sSub>
                        </m:e>
                      </m:acc>
                      <m:r>
                        <a:rPr kumimoji="1" lang="en-US" altLang="ja-JP" sz="3200" b="0" i="1" smtClean="0">
                          <a:latin typeface="Cambria Math" panose="02040503050406030204" pitchFamily="18" charset="0"/>
                        </a:rPr>
                        <m:t>,</m:t>
                      </m:r>
                      <m:acc>
                        <m:accPr>
                          <m:chr m:val="̇"/>
                          <m:ctrlPr>
                            <a:rPr kumimoji="1" lang="en-US" altLang="ja-JP" sz="3200" i="1">
                              <a:latin typeface="Cambria Math" panose="02040503050406030204" pitchFamily="18" charset="0"/>
                            </a:rPr>
                          </m:ctrlPr>
                        </m:accPr>
                        <m:e>
                          <m:sSub>
                            <m:sSubPr>
                              <m:ctrlPr>
                                <a:rPr kumimoji="1" lang="en-US" altLang="ja-JP" sz="3200" i="1">
                                  <a:latin typeface="Cambria Math" panose="02040503050406030204" pitchFamily="18" charset="0"/>
                                </a:rPr>
                              </m:ctrlPr>
                            </m:sSubPr>
                            <m:e>
                              <m:r>
                                <a:rPr kumimoji="1" lang="en-US" altLang="ja-JP" sz="3200" i="1">
                                  <a:latin typeface="Cambria Math" panose="02040503050406030204" pitchFamily="18" charset="0"/>
                                </a:rPr>
                                <m:t>𝑤</m:t>
                              </m:r>
                            </m:e>
                            <m:sub>
                              <m:r>
                                <a:rPr kumimoji="1" lang="en-US" altLang="ja-JP" sz="3200" b="0" i="1" smtClean="0">
                                  <a:latin typeface="Cambria Math" panose="02040503050406030204" pitchFamily="18" charset="0"/>
                                </a:rPr>
                                <m:t>3</m:t>
                              </m:r>
                            </m:sub>
                          </m:sSub>
                        </m:e>
                      </m:acc>
                      <m:r>
                        <a:rPr kumimoji="1" lang="en-US" altLang="ja-JP" sz="3200" b="0" i="1" smtClean="0">
                          <a:latin typeface="Cambria Math" panose="02040503050406030204" pitchFamily="18" charset="0"/>
                        </a:rPr>
                        <m:t>…</m:t>
                      </m:r>
                    </m:oMath>
                  </m:oMathPara>
                </a14:m>
                <a:endParaRPr kumimoji="1" lang="ja-JP" altLang="en-US" sz="3200" dirty="0"/>
              </a:p>
            </p:txBody>
          </p:sp>
        </mc:Choice>
        <mc:Fallback xmlns="">
          <p:sp>
            <p:nvSpPr>
              <p:cNvPr id="1184" name="テキスト ボックス 1183">
                <a:extLst>
                  <a:ext uri="{FF2B5EF4-FFF2-40B4-BE49-F238E27FC236}">
                    <a16:creationId xmlns:a16="http://schemas.microsoft.com/office/drawing/2014/main" id="{99F11016-BF60-14BF-0ED4-7D65EDBD1CFC}"/>
                  </a:ext>
                </a:extLst>
              </p:cNvPr>
              <p:cNvSpPr txBox="1">
                <a:spLocks noRot="1" noChangeAspect="1" noMove="1" noResize="1" noEditPoints="1" noAdjustHandles="1" noChangeArrowheads="1" noChangeShapeType="1" noTextEdit="1"/>
              </p:cNvSpPr>
              <p:nvPr/>
            </p:nvSpPr>
            <p:spPr>
              <a:xfrm>
                <a:off x="26855903" y="23718279"/>
                <a:ext cx="2465849" cy="492443"/>
              </a:xfrm>
              <a:prstGeom prst="rect">
                <a:avLst/>
              </a:prstGeom>
              <a:blipFill>
                <a:blip r:embed="rId23"/>
                <a:stretch>
                  <a:fillRect t="-5000" b="-15000"/>
                </a:stretch>
              </a:blipFill>
            </p:spPr>
            <p:txBody>
              <a:bodyPr/>
              <a:lstStyle/>
              <a:p>
                <a:r>
                  <a:rPr lang="ja-JP" altLang="en-US">
                    <a:noFill/>
                  </a:rPr>
                  <a:t> </a:t>
                </a:r>
              </a:p>
            </p:txBody>
          </p:sp>
        </mc:Fallback>
      </mc:AlternateContent>
      <p:sp>
        <p:nvSpPr>
          <p:cNvPr id="1187" name="テキスト ボックス 1186">
            <a:extLst>
              <a:ext uri="{FF2B5EF4-FFF2-40B4-BE49-F238E27FC236}">
                <a16:creationId xmlns:a16="http://schemas.microsoft.com/office/drawing/2014/main" id="{EC572527-072B-3859-AAA7-C730B93D1075}"/>
              </a:ext>
            </a:extLst>
          </p:cNvPr>
          <p:cNvSpPr txBox="1"/>
          <p:nvPr/>
        </p:nvSpPr>
        <p:spPr>
          <a:xfrm>
            <a:off x="15353951" y="12216846"/>
            <a:ext cx="14681200" cy="1569660"/>
          </a:xfrm>
          <a:prstGeom prst="rect">
            <a:avLst/>
          </a:prstGeom>
          <a:noFill/>
        </p:spPr>
        <p:txBody>
          <a:bodyPr wrap="square" rtlCol="0">
            <a:spAutoFit/>
          </a:bodyPr>
          <a:lstStyle/>
          <a:p>
            <a:pPr indent="457200" algn="just"/>
            <a:r>
              <a:rPr kumimoji="1" lang="en-US" altLang="ja-JP" sz="3200" dirty="0">
                <a:latin typeface="MS PGothic" panose="020B0600070205080204" pitchFamily="34" charset="-128"/>
                <a:ea typeface="MS PGothic" panose="020B0600070205080204" pitchFamily="34" charset="-128"/>
              </a:rPr>
              <a:t>Vision-Transformer(</a:t>
            </a:r>
            <a:r>
              <a:rPr kumimoji="1" lang="en-US" altLang="ja-JP" sz="3200" dirty="0" err="1">
                <a:latin typeface="MS PGothic" panose="020B0600070205080204" pitchFamily="34" charset="-128"/>
                <a:ea typeface="MS PGothic" panose="020B0600070205080204" pitchFamily="34" charset="-128"/>
              </a:rPr>
              <a:t>ViT</a:t>
            </a:r>
            <a:r>
              <a:rPr kumimoji="1" lang="en-US" altLang="ja-JP" sz="3200" dirty="0">
                <a:latin typeface="MS PGothic" panose="020B0600070205080204" pitchFamily="34" charset="-128"/>
                <a:ea typeface="MS PGothic" panose="020B0600070205080204" pitchFamily="34" charset="-128"/>
              </a:rPr>
              <a:t>)[6]</a:t>
            </a:r>
            <a:r>
              <a:rPr kumimoji="1" lang="ja-JP" altLang="en-US" sz="3200">
                <a:latin typeface="MS PGothic" panose="020B0600070205080204" pitchFamily="34" charset="-128"/>
                <a:ea typeface="MS PGothic" panose="020B0600070205080204" pitchFamily="34" charset="-128"/>
              </a:rPr>
              <a:t>は，</a:t>
            </a:r>
            <a:r>
              <a:rPr kumimoji="1" lang="en-US" altLang="ja-JP" sz="3200" dirty="0">
                <a:latin typeface="MS PGothic" panose="020B0600070205080204" pitchFamily="34" charset="-128"/>
                <a:ea typeface="MS PGothic" panose="020B0600070205080204" pitchFamily="34" charset="-128"/>
              </a:rPr>
              <a:t>Transformer</a:t>
            </a:r>
            <a:r>
              <a:rPr kumimoji="1" lang="ja-JP" altLang="en-US" sz="3200">
                <a:latin typeface="MS PGothic" panose="020B0600070205080204" pitchFamily="34" charset="-128"/>
                <a:ea typeface="MS PGothic" panose="020B0600070205080204" pitchFamily="34" charset="-128"/>
              </a:rPr>
              <a:t>を画像分類に応用したモデルである．</a:t>
            </a:r>
            <a:r>
              <a:rPr kumimoji="1" lang="en-US" altLang="ja-JP" sz="3200" dirty="0" err="1">
                <a:latin typeface="MS PGothic" panose="020B0600070205080204" pitchFamily="34" charset="-128"/>
                <a:ea typeface="MS PGothic" panose="020B0600070205080204" pitchFamily="34" charset="-128"/>
              </a:rPr>
              <a:t>ViT</a:t>
            </a:r>
            <a:r>
              <a:rPr kumimoji="1" lang="ja-JP" altLang="en-US" sz="3200">
                <a:latin typeface="MS PGothic" panose="020B0600070205080204" pitchFamily="34" charset="-128"/>
                <a:ea typeface="MS PGothic" panose="020B0600070205080204" pitchFamily="34" charset="-128"/>
              </a:rPr>
              <a:t>では，画像を小さな画像</a:t>
            </a:r>
            <a:r>
              <a:rPr kumimoji="1" lang="en-US" altLang="ja-JP" sz="3200" dirty="0">
                <a:latin typeface="MS PGothic" panose="020B0600070205080204" pitchFamily="34" charset="-128"/>
                <a:ea typeface="MS PGothic" panose="020B0600070205080204" pitchFamily="34" charset="-128"/>
              </a:rPr>
              <a:t>(</a:t>
            </a:r>
            <a:r>
              <a:rPr kumimoji="1" lang="ja-JP" altLang="en-US" sz="3200">
                <a:latin typeface="MS PGothic" panose="020B0600070205080204" pitchFamily="34" charset="-128"/>
                <a:ea typeface="MS PGothic" panose="020B0600070205080204" pitchFamily="34" charset="-128"/>
              </a:rPr>
              <a:t>パッチ</a:t>
            </a:r>
            <a:r>
              <a:rPr kumimoji="1" lang="en-US" altLang="ja-JP" sz="3200" dirty="0">
                <a:latin typeface="MS PGothic" panose="020B0600070205080204" pitchFamily="34" charset="-128"/>
                <a:ea typeface="MS PGothic" panose="020B0600070205080204" pitchFamily="34" charset="-128"/>
              </a:rPr>
              <a:t>)</a:t>
            </a:r>
            <a:r>
              <a:rPr kumimoji="1" lang="ja-JP" altLang="en-US" sz="3200">
                <a:latin typeface="MS PGothic" panose="020B0600070205080204" pitchFamily="34" charset="-128"/>
                <a:ea typeface="MS PGothic" panose="020B0600070205080204" pitchFamily="34" charset="-128"/>
              </a:rPr>
              <a:t>に分割し，パッチごとに一次元化することで画像を行列に変換している．行列となった画像は</a:t>
            </a:r>
            <a:r>
              <a:rPr kumimoji="1" lang="en-US" altLang="ja-JP" sz="3200" dirty="0">
                <a:latin typeface="MS PGothic" panose="020B0600070205080204" pitchFamily="34" charset="-128"/>
                <a:ea typeface="MS PGothic" panose="020B0600070205080204" pitchFamily="34" charset="-128"/>
              </a:rPr>
              <a:t>Self-Attention</a:t>
            </a:r>
            <a:r>
              <a:rPr kumimoji="1" lang="ja-JP" altLang="en-US" sz="3200">
                <a:latin typeface="MS PGothic" panose="020B0600070205080204" pitchFamily="34" charset="-128"/>
                <a:ea typeface="MS PGothic" panose="020B0600070205080204" pitchFamily="34" charset="-128"/>
              </a:rPr>
              <a:t>により特徴抽出される．</a:t>
            </a:r>
            <a:endParaRPr kumimoji="1" lang="en-US" altLang="ja-JP" sz="3200" dirty="0">
              <a:latin typeface="MS PGothic" panose="020B0600070205080204" pitchFamily="34" charset="-128"/>
              <a:ea typeface="MS PGothic" panose="020B0600070205080204" pitchFamily="34" charset="-128"/>
            </a:endParaRPr>
          </a:p>
        </p:txBody>
      </p:sp>
      <p:pic>
        <p:nvPicPr>
          <p:cNvPr id="1188" name="図 1187" descr="建物, グループ, テーブル, フロント が含まれている画像&#10;&#10;自動的に生成された説明">
            <a:extLst>
              <a:ext uri="{FF2B5EF4-FFF2-40B4-BE49-F238E27FC236}">
                <a16:creationId xmlns:a16="http://schemas.microsoft.com/office/drawing/2014/main" id="{2DD8232E-F7E6-E141-1102-943DAB510EB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127100" y="14238251"/>
            <a:ext cx="1773758" cy="1773758"/>
          </a:xfrm>
          <a:prstGeom prst="rect">
            <a:avLst/>
          </a:prstGeom>
        </p:spPr>
      </p:pic>
      <p:cxnSp>
        <p:nvCxnSpPr>
          <p:cNvPr id="1189" name="直線矢印コネクタ 1188">
            <a:extLst>
              <a:ext uri="{FF2B5EF4-FFF2-40B4-BE49-F238E27FC236}">
                <a16:creationId xmlns:a16="http://schemas.microsoft.com/office/drawing/2014/main" id="{063EC24A-7D0C-8B89-11C1-5B7F4074F2B9}"/>
              </a:ext>
            </a:extLst>
          </p:cNvPr>
          <p:cNvCxnSpPr>
            <a:cxnSpLocks/>
            <a:stCxn id="1188" idx="3"/>
            <a:endCxn id="1191" idx="1"/>
          </p:cNvCxnSpPr>
          <p:nvPr/>
        </p:nvCxnSpPr>
        <p:spPr>
          <a:xfrm>
            <a:off x="19900858" y="15125130"/>
            <a:ext cx="64081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191" name="図 1190" descr="建物, グループ, テーブル, フロント が含まれている画像&#10;&#10;自動的に生成された説明">
            <a:extLst>
              <a:ext uri="{FF2B5EF4-FFF2-40B4-BE49-F238E27FC236}">
                <a16:creationId xmlns:a16="http://schemas.microsoft.com/office/drawing/2014/main" id="{2F38AD3B-19D9-AB4C-07F5-7BB8EB68CB0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541674" y="14238251"/>
            <a:ext cx="1773758" cy="1773758"/>
          </a:xfrm>
          <a:prstGeom prst="rect">
            <a:avLst/>
          </a:prstGeom>
        </p:spPr>
      </p:pic>
      <p:cxnSp>
        <p:nvCxnSpPr>
          <p:cNvPr id="1192" name="直線コネクタ 1191">
            <a:extLst>
              <a:ext uri="{FF2B5EF4-FFF2-40B4-BE49-F238E27FC236}">
                <a16:creationId xmlns:a16="http://schemas.microsoft.com/office/drawing/2014/main" id="{6BC3863E-AC38-77ED-2575-D4BBAEAC0046}"/>
              </a:ext>
            </a:extLst>
          </p:cNvPr>
          <p:cNvCxnSpPr/>
          <p:nvPr/>
        </p:nvCxnSpPr>
        <p:spPr>
          <a:xfrm>
            <a:off x="20917721" y="14238251"/>
            <a:ext cx="0" cy="1773758"/>
          </a:xfrm>
          <a:prstGeom prst="line">
            <a:avLst/>
          </a:prstGeom>
          <a:ln w="38100">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1193" name="直線コネクタ 1192">
            <a:extLst>
              <a:ext uri="{FF2B5EF4-FFF2-40B4-BE49-F238E27FC236}">
                <a16:creationId xmlns:a16="http://schemas.microsoft.com/office/drawing/2014/main" id="{112695C7-D699-D0F8-E69A-81C2BFE6F859}"/>
              </a:ext>
            </a:extLst>
          </p:cNvPr>
          <p:cNvCxnSpPr>
            <a:cxnSpLocks/>
            <a:stCxn id="1191" idx="0"/>
            <a:endCxn id="1191" idx="2"/>
          </p:cNvCxnSpPr>
          <p:nvPr/>
        </p:nvCxnSpPr>
        <p:spPr>
          <a:xfrm>
            <a:off x="21428553" y="14238251"/>
            <a:ext cx="0" cy="1773758"/>
          </a:xfrm>
          <a:prstGeom prst="line">
            <a:avLst/>
          </a:prstGeom>
          <a:ln w="38100">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1194" name="直線コネクタ 1193">
            <a:extLst>
              <a:ext uri="{FF2B5EF4-FFF2-40B4-BE49-F238E27FC236}">
                <a16:creationId xmlns:a16="http://schemas.microsoft.com/office/drawing/2014/main" id="{B51E9635-EBC4-F8A4-568C-7389AD79796C}"/>
              </a:ext>
            </a:extLst>
          </p:cNvPr>
          <p:cNvCxnSpPr>
            <a:cxnSpLocks/>
          </p:cNvCxnSpPr>
          <p:nvPr/>
        </p:nvCxnSpPr>
        <p:spPr>
          <a:xfrm>
            <a:off x="21920515" y="14238251"/>
            <a:ext cx="0" cy="1773758"/>
          </a:xfrm>
          <a:prstGeom prst="line">
            <a:avLst/>
          </a:prstGeom>
          <a:ln w="38100">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1195" name="直線コネクタ 1194">
            <a:extLst>
              <a:ext uri="{FF2B5EF4-FFF2-40B4-BE49-F238E27FC236}">
                <a16:creationId xmlns:a16="http://schemas.microsoft.com/office/drawing/2014/main" id="{B8979688-C439-3AA0-8327-35891646B42B}"/>
              </a:ext>
            </a:extLst>
          </p:cNvPr>
          <p:cNvCxnSpPr>
            <a:cxnSpLocks/>
            <a:stCxn id="1191" idx="1"/>
            <a:endCxn id="1191" idx="3"/>
          </p:cNvCxnSpPr>
          <p:nvPr/>
        </p:nvCxnSpPr>
        <p:spPr>
          <a:xfrm>
            <a:off x="20541674" y="15125130"/>
            <a:ext cx="1773758" cy="0"/>
          </a:xfrm>
          <a:prstGeom prst="line">
            <a:avLst/>
          </a:prstGeom>
          <a:ln w="38100">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1196" name="直線コネクタ 1195">
            <a:extLst>
              <a:ext uri="{FF2B5EF4-FFF2-40B4-BE49-F238E27FC236}">
                <a16:creationId xmlns:a16="http://schemas.microsoft.com/office/drawing/2014/main" id="{603C3BC5-48A7-DF53-45ED-31471BC5352E}"/>
              </a:ext>
            </a:extLst>
          </p:cNvPr>
          <p:cNvCxnSpPr>
            <a:cxnSpLocks/>
          </p:cNvCxnSpPr>
          <p:nvPr/>
        </p:nvCxnSpPr>
        <p:spPr>
          <a:xfrm>
            <a:off x="20541674" y="15555486"/>
            <a:ext cx="1773758" cy="0"/>
          </a:xfrm>
          <a:prstGeom prst="line">
            <a:avLst/>
          </a:prstGeom>
          <a:ln w="38100">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1197" name="直線コネクタ 1196">
            <a:extLst>
              <a:ext uri="{FF2B5EF4-FFF2-40B4-BE49-F238E27FC236}">
                <a16:creationId xmlns:a16="http://schemas.microsoft.com/office/drawing/2014/main" id="{6BCCEFBA-11A8-BC50-4A11-AE77330CF73B}"/>
              </a:ext>
            </a:extLst>
          </p:cNvPr>
          <p:cNvCxnSpPr>
            <a:cxnSpLocks/>
          </p:cNvCxnSpPr>
          <p:nvPr/>
        </p:nvCxnSpPr>
        <p:spPr>
          <a:xfrm>
            <a:off x="20541674" y="14614298"/>
            <a:ext cx="1773758" cy="0"/>
          </a:xfrm>
          <a:prstGeom prst="line">
            <a:avLst/>
          </a:prstGeom>
          <a:ln w="38100">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1199" name="直線矢印コネクタ 1198">
            <a:extLst>
              <a:ext uri="{FF2B5EF4-FFF2-40B4-BE49-F238E27FC236}">
                <a16:creationId xmlns:a16="http://schemas.microsoft.com/office/drawing/2014/main" id="{BCB758BB-2BF4-E4A1-7F82-419124ACA9C3}"/>
              </a:ext>
            </a:extLst>
          </p:cNvPr>
          <p:cNvCxnSpPr>
            <a:cxnSpLocks/>
            <a:stCxn id="1191" idx="3"/>
            <a:endCxn id="1200" idx="1"/>
          </p:cNvCxnSpPr>
          <p:nvPr/>
        </p:nvCxnSpPr>
        <p:spPr>
          <a:xfrm>
            <a:off x="22315432" y="15125130"/>
            <a:ext cx="623134" cy="699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200" name="表 1199">
            <a:extLst>
              <a:ext uri="{FF2B5EF4-FFF2-40B4-BE49-F238E27FC236}">
                <a16:creationId xmlns:a16="http://schemas.microsoft.com/office/drawing/2014/main" id="{40A9CD71-DF7D-152B-3414-B26154F41A22}"/>
              </a:ext>
            </a:extLst>
          </p:cNvPr>
          <p:cNvGraphicFramePr>
            <a:graphicFrameLocks noGrp="1"/>
          </p:cNvGraphicFramePr>
          <p:nvPr>
            <p:extLst>
              <p:ext uri="{D42A27DB-BD31-4B8C-83A1-F6EECF244321}">
                <p14:modId xmlns:p14="http://schemas.microsoft.com/office/powerpoint/2010/main" val="3346512108"/>
              </p:ext>
            </p:extLst>
          </p:nvPr>
        </p:nvGraphicFramePr>
        <p:xfrm>
          <a:off x="22938566" y="14250531"/>
          <a:ext cx="1773756" cy="1763192"/>
        </p:xfrm>
        <a:graphic>
          <a:graphicData uri="http://schemas.openxmlformats.org/drawingml/2006/table">
            <a:tbl>
              <a:tblPr firstRow="1" bandRow="1">
                <a:tableStyleId>{5C22544A-7EE6-4342-B048-85BDC9FD1C3A}</a:tableStyleId>
              </a:tblPr>
              <a:tblGrid>
                <a:gridCol w="1773756">
                  <a:extLst>
                    <a:ext uri="{9D8B030D-6E8A-4147-A177-3AD203B41FA5}">
                      <a16:colId xmlns:a16="http://schemas.microsoft.com/office/drawing/2014/main" val="1924354661"/>
                    </a:ext>
                  </a:extLst>
                </a:gridCol>
              </a:tblGrid>
              <a:tr h="440798">
                <a:tc>
                  <a:txBody>
                    <a:bodyPr/>
                    <a:lstStyle/>
                    <a:p>
                      <a:endParaRPr kumimoji="1" lang="ja-JP" altLang="en-US" sz="1600"/>
                    </a:p>
                  </a:txBody>
                  <a:tcPr marL="158229" marR="158229" marT="79114" marB="791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20130726"/>
                  </a:ext>
                </a:extLst>
              </a:tr>
              <a:tr h="440798">
                <a:tc>
                  <a:txBody>
                    <a:bodyPr/>
                    <a:lstStyle/>
                    <a:p>
                      <a:endParaRPr kumimoji="1" lang="ja-JP" altLang="en-US" sz="1600"/>
                    </a:p>
                  </a:txBody>
                  <a:tcPr marL="158229" marR="158229" marT="79114" marB="791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00975036"/>
                  </a:ext>
                </a:extLst>
              </a:tr>
              <a:tr h="440798">
                <a:tc>
                  <a:txBody>
                    <a:bodyPr/>
                    <a:lstStyle/>
                    <a:p>
                      <a:endParaRPr kumimoji="1" lang="ja-JP" altLang="en-US" sz="1600"/>
                    </a:p>
                  </a:txBody>
                  <a:tcPr marL="158229" marR="158229" marT="79114" marB="791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60887995"/>
                  </a:ext>
                </a:extLst>
              </a:tr>
              <a:tr h="440798">
                <a:tc>
                  <a:txBody>
                    <a:bodyPr/>
                    <a:lstStyle/>
                    <a:p>
                      <a:endParaRPr kumimoji="1" lang="ja-JP" altLang="en-US" sz="1600"/>
                    </a:p>
                  </a:txBody>
                  <a:tcPr marL="158229" marR="158229" marT="79114" marB="791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389960"/>
                  </a:ext>
                </a:extLst>
              </a:tr>
            </a:tbl>
          </a:graphicData>
        </a:graphic>
      </p:graphicFrame>
      <p:sp>
        <p:nvSpPr>
          <p:cNvPr id="1203" name="テキスト ボックス 1202">
            <a:extLst>
              <a:ext uri="{FF2B5EF4-FFF2-40B4-BE49-F238E27FC236}">
                <a16:creationId xmlns:a16="http://schemas.microsoft.com/office/drawing/2014/main" id="{D9EC89A5-54C6-6B6D-3F10-2411C4C7D84F}"/>
              </a:ext>
            </a:extLst>
          </p:cNvPr>
          <p:cNvSpPr txBox="1"/>
          <p:nvPr/>
        </p:nvSpPr>
        <p:spPr>
          <a:xfrm>
            <a:off x="20541675" y="13622949"/>
            <a:ext cx="1773758" cy="584775"/>
          </a:xfrm>
          <a:prstGeom prst="rect">
            <a:avLst/>
          </a:prstGeom>
          <a:noFill/>
        </p:spPr>
        <p:txBody>
          <a:bodyPr wrap="square">
            <a:spAutoFit/>
          </a:bodyPr>
          <a:lstStyle/>
          <a:p>
            <a:pPr algn="ctr"/>
            <a:r>
              <a:rPr kumimoji="1" lang="ja-JP" altLang="en-US" sz="3200" spc="-100">
                <a:solidFill>
                  <a:schemeClr val="tx1"/>
                </a:solidFill>
                <a:latin typeface="MS PGothic" panose="020B0600070205080204" pitchFamily="34" charset="-128"/>
                <a:ea typeface="MS PGothic" panose="020B0600070205080204" pitchFamily="34" charset="-128"/>
              </a:rPr>
              <a:t>パッチ化</a:t>
            </a:r>
          </a:p>
        </p:txBody>
      </p:sp>
      <p:graphicFrame>
        <p:nvGraphicFramePr>
          <p:cNvPr id="1206" name="表 1205">
            <a:extLst>
              <a:ext uri="{FF2B5EF4-FFF2-40B4-BE49-F238E27FC236}">
                <a16:creationId xmlns:a16="http://schemas.microsoft.com/office/drawing/2014/main" id="{19D498AC-D225-F29E-8EF8-088C0ADD186A}"/>
              </a:ext>
            </a:extLst>
          </p:cNvPr>
          <p:cNvGraphicFramePr>
            <a:graphicFrameLocks noGrp="1"/>
          </p:cNvGraphicFramePr>
          <p:nvPr>
            <p:extLst>
              <p:ext uri="{D42A27DB-BD31-4B8C-83A1-F6EECF244321}">
                <p14:modId xmlns:p14="http://schemas.microsoft.com/office/powerpoint/2010/main" val="2007191757"/>
              </p:ext>
            </p:extLst>
          </p:nvPr>
        </p:nvGraphicFramePr>
        <p:xfrm>
          <a:off x="25335456" y="14243534"/>
          <a:ext cx="1773756" cy="1763192"/>
        </p:xfrm>
        <a:graphic>
          <a:graphicData uri="http://schemas.openxmlformats.org/drawingml/2006/table">
            <a:tbl>
              <a:tblPr firstRow="1" bandRow="1">
                <a:tableStyleId>{5C22544A-7EE6-4342-B048-85BDC9FD1C3A}</a:tableStyleId>
              </a:tblPr>
              <a:tblGrid>
                <a:gridCol w="1773756">
                  <a:extLst>
                    <a:ext uri="{9D8B030D-6E8A-4147-A177-3AD203B41FA5}">
                      <a16:colId xmlns:a16="http://schemas.microsoft.com/office/drawing/2014/main" val="1924354661"/>
                    </a:ext>
                  </a:extLst>
                </a:gridCol>
              </a:tblGrid>
              <a:tr h="440798">
                <a:tc>
                  <a:txBody>
                    <a:bodyPr/>
                    <a:lstStyle/>
                    <a:p>
                      <a:endParaRPr kumimoji="1" lang="ja-JP" altLang="en-US" sz="1600"/>
                    </a:p>
                  </a:txBody>
                  <a:tcPr marL="158229" marR="158229" marT="79114" marB="791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520130726"/>
                  </a:ext>
                </a:extLst>
              </a:tr>
              <a:tr h="440798">
                <a:tc>
                  <a:txBody>
                    <a:bodyPr/>
                    <a:lstStyle/>
                    <a:p>
                      <a:endParaRPr kumimoji="1" lang="ja-JP" altLang="en-US" sz="1600"/>
                    </a:p>
                  </a:txBody>
                  <a:tcPr marL="158229" marR="158229" marT="79114" marB="791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2800975036"/>
                  </a:ext>
                </a:extLst>
              </a:tr>
              <a:tr h="440798">
                <a:tc>
                  <a:txBody>
                    <a:bodyPr/>
                    <a:lstStyle/>
                    <a:p>
                      <a:endParaRPr kumimoji="1" lang="ja-JP" altLang="en-US" sz="1600"/>
                    </a:p>
                  </a:txBody>
                  <a:tcPr marL="158229" marR="158229" marT="79114" marB="791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760887995"/>
                  </a:ext>
                </a:extLst>
              </a:tr>
              <a:tr h="440798">
                <a:tc>
                  <a:txBody>
                    <a:bodyPr/>
                    <a:lstStyle/>
                    <a:p>
                      <a:endParaRPr kumimoji="1" lang="ja-JP" altLang="en-US" sz="1600"/>
                    </a:p>
                  </a:txBody>
                  <a:tcPr marL="158229" marR="158229" marT="79114" marB="791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2389960"/>
                  </a:ext>
                </a:extLst>
              </a:tr>
            </a:tbl>
          </a:graphicData>
        </a:graphic>
      </p:graphicFrame>
      <p:cxnSp>
        <p:nvCxnSpPr>
          <p:cNvPr id="1207" name="直線矢印コネクタ 1206">
            <a:extLst>
              <a:ext uri="{FF2B5EF4-FFF2-40B4-BE49-F238E27FC236}">
                <a16:creationId xmlns:a16="http://schemas.microsoft.com/office/drawing/2014/main" id="{9FC9FAD6-7957-AE71-8455-4DA4B7E2DB08}"/>
              </a:ext>
            </a:extLst>
          </p:cNvPr>
          <p:cNvCxnSpPr>
            <a:cxnSpLocks/>
            <a:stCxn id="1200" idx="3"/>
            <a:endCxn id="1206" idx="1"/>
          </p:cNvCxnSpPr>
          <p:nvPr/>
        </p:nvCxnSpPr>
        <p:spPr>
          <a:xfrm flipV="1">
            <a:off x="24712322" y="15125130"/>
            <a:ext cx="623134" cy="699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10" name="テキスト ボックス 1209">
            <a:extLst>
              <a:ext uri="{FF2B5EF4-FFF2-40B4-BE49-F238E27FC236}">
                <a16:creationId xmlns:a16="http://schemas.microsoft.com/office/drawing/2014/main" id="{02FF28F7-E815-4053-C59D-16D5334F9277}"/>
              </a:ext>
            </a:extLst>
          </p:cNvPr>
          <p:cNvSpPr txBox="1"/>
          <p:nvPr/>
        </p:nvSpPr>
        <p:spPr>
          <a:xfrm>
            <a:off x="24982603" y="13653878"/>
            <a:ext cx="2479462" cy="584775"/>
          </a:xfrm>
          <a:prstGeom prst="rect">
            <a:avLst/>
          </a:prstGeom>
          <a:noFill/>
        </p:spPr>
        <p:txBody>
          <a:bodyPr wrap="square">
            <a:spAutoFit/>
          </a:bodyPr>
          <a:lstStyle/>
          <a:p>
            <a:pPr algn="ctr"/>
            <a:r>
              <a:rPr kumimoji="1" lang="en-US" altLang="ja-JP" sz="3200" spc="-100" dirty="0">
                <a:solidFill>
                  <a:schemeClr val="tx1"/>
                </a:solidFill>
                <a:latin typeface="MS PGothic" panose="020B0600070205080204" pitchFamily="34" charset="-128"/>
                <a:ea typeface="MS PGothic" panose="020B0600070205080204" pitchFamily="34" charset="-128"/>
              </a:rPr>
              <a:t>Self-Attention</a:t>
            </a:r>
            <a:endParaRPr kumimoji="1" lang="ja-JP" altLang="en-US" sz="3200" spc="-100">
              <a:solidFill>
                <a:schemeClr val="tx1"/>
              </a:solidFill>
              <a:latin typeface="MS PGothic" panose="020B0600070205080204" pitchFamily="34" charset="-128"/>
              <a:ea typeface="MS PGothic" panose="020B0600070205080204" pitchFamily="34" charset="-128"/>
            </a:endParaRPr>
          </a:p>
        </p:txBody>
      </p:sp>
      <p:sp>
        <p:nvSpPr>
          <p:cNvPr id="1212" name="テキスト ボックス 1211">
            <a:extLst>
              <a:ext uri="{FF2B5EF4-FFF2-40B4-BE49-F238E27FC236}">
                <a16:creationId xmlns:a16="http://schemas.microsoft.com/office/drawing/2014/main" id="{E0DD50D9-4C22-6ACE-41D1-1169403C08A7}"/>
              </a:ext>
            </a:extLst>
          </p:cNvPr>
          <p:cNvSpPr txBox="1"/>
          <p:nvPr/>
        </p:nvSpPr>
        <p:spPr>
          <a:xfrm>
            <a:off x="19843640" y="16048476"/>
            <a:ext cx="5701821" cy="584775"/>
          </a:xfrm>
          <a:prstGeom prst="rect">
            <a:avLst/>
          </a:prstGeom>
          <a:noFill/>
        </p:spPr>
        <p:txBody>
          <a:bodyPr wrap="square">
            <a:spAutoFit/>
          </a:bodyPr>
          <a:lstStyle/>
          <a:p>
            <a:pPr algn="ctr"/>
            <a:r>
              <a:rPr kumimoji="1" lang="ja-JP" altLang="en-US" sz="3200">
                <a:latin typeface="MS PGothic" panose="020B0600070205080204" pitchFamily="34" charset="-128"/>
                <a:ea typeface="MS PGothic" panose="020B0600070205080204" pitchFamily="34" charset="-128"/>
              </a:rPr>
              <a:t>図</a:t>
            </a:r>
            <a:r>
              <a:rPr kumimoji="1" lang="en-US" altLang="ja-JP" sz="3200" dirty="0">
                <a:latin typeface="MS PGothic" panose="020B0600070205080204" pitchFamily="34" charset="-128"/>
                <a:ea typeface="MS PGothic" panose="020B0600070205080204" pitchFamily="34" charset="-128"/>
              </a:rPr>
              <a:t>3 Vision-Transformer</a:t>
            </a:r>
            <a:r>
              <a:rPr kumimoji="1" lang="ja-JP" altLang="en-US" sz="3200">
                <a:latin typeface="MS PGothic" panose="020B0600070205080204" pitchFamily="34" charset="-128"/>
                <a:ea typeface="MS PGothic" panose="020B0600070205080204" pitchFamily="34" charset="-128"/>
              </a:rPr>
              <a:t>の構造</a:t>
            </a:r>
            <a:endParaRPr lang="ja-JP" altLang="en-US" sz="3200"/>
          </a:p>
        </p:txBody>
      </p:sp>
      <p:sp>
        <p:nvSpPr>
          <p:cNvPr id="1216" name="テキスト ボックス 1215">
            <a:extLst>
              <a:ext uri="{FF2B5EF4-FFF2-40B4-BE49-F238E27FC236}">
                <a16:creationId xmlns:a16="http://schemas.microsoft.com/office/drawing/2014/main" id="{4559B181-83F0-E5C1-54F1-C943EF716BCF}"/>
              </a:ext>
            </a:extLst>
          </p:cNvPr>
          <p:cNvSpPr txBox="1"/>
          <p:nvPr/>
        </p:nvSpPr>
        <p:spPr>
          <a:xfrm>
            <a:off x="22928612" y="13622949"/>
            <a:ext cx="1773758" cy="584775"/>
          </a:xfrm>
          <a:prstGeom prst="rect">
            <a:avLst/>
          </a:prstGeom>
          <a:noFill/>
        </p:spPr>
        <p:txBody>
          <a:bodyPr wrap="square">
            <a:spAutoFit/>
          </a:bodyPr>
          <a:lstStyle/>
          <a:p>
            <a:pPr algn="ctr"/>
            <a:r>
              <a:rPr kumimoji="1" lang="ja-JP" altLang="en-US" sz="3200" spc="-100">
                <a:latin typeface="MS PGothic" panose="020B0600070205080204" pitchFamily="34" charset="-128"/>
                <a:ea typeface="MS PGothic" panose="020B0600070205080204" pitchFamily="34" charset="-128"/>
              </a:rPr>
              <a:t>一次元化</a:t>
            </a:r>
            <a:endParaRPr kumimoji="1" lang="ja-JP" altLang="en-US" sz="3200" spc="-100">
              <a:solidFill>
                <a:schemeClr val="tx1"/>
              </a:solidFill>
              <a:latin typeface="MS PGothic" panose="020B0600070205080204" pitchFamily="34" charset="-128"/>
              <a:ea typeface="MS PGothic" panose="020B0600070205080204" pitchFamily="34" charset="-128"/>
            </a:endParaRPr>
          </a:p>
        </p:txBody>
      </p:sp>
      <p:sp>
        <p:nvSpPr>
          <p:cNvPr id="1217" name="テキスト ボックス 1216">
            <a:extLst>
              <a:ext uri="{FF2B5EF4-FFF2-40B4-BE49-F238E27FC236}">
                <a16:creationId xmlns:a16="http://schemas.microsoft.com/office/drawing/2014/main" id="{45A82596-68E5-8F70-3BE6-53F939BE6BDF}"/>
              </a:ext>
            </a:extLst>
          </p:cNvPr>
          <p:cNvSpPr txBox="1"/>
          <p:nvPr/>
        </p:nvSpPr>
        <p:spPr>
          <a:xfrm>
            <a:off x="200710" y="27329426"/>
            <a:ext cx="14681200" cy="14373165"/>
          </a:xfrm>
          <a:prstGeom prst="rect">
            <a:avLst/>
          </a:prstGeom>
          <a:noFill/>
        </p:spPr>
        <p:txBody>
          <a:bodyPr wrap="square" rtlCol="0">
            <a:spAutoFit/>
          </a:bodyPr>
          <a:lstStyle/>
          <a:p>
            <a:pPr indent="457200" algn="ctr"/>
            <a:r>
              <a:rPr kumimoji="1" lang="ja-JP" altLang="en-US" sz="3200">
                <a:latin typeface="MS PGothic" panose="020B0600070205080204" pitchFamily="34" charset="-128"/>
                <a:ea typeface="MS PGothic" panose="020B0600070205080204" pitchFamily="34" charset="-128"/>
              </a:rPr>
              <a:t>実験</a:t>
            </a:r>
            <a:r>
              <a:rPr kumimoji="1" lang="en-US" altLang="ja-JP" sz="3200" dirty="0">
                <a:latin typeface="MS PGothic" panose="020B0600070205080204" pitchFamily="34" charset="-128"/>
                <a:ea typeface="MS PGothic" panose="020B0600070205080204" pitchFamily="34" charset="-128"/>
              </a:rPr>
              <a:t>1 </a:t>
            </a:r>
            <a:r>
              <a:rPr kumimoji="1" lang="ja-JP" altLang="en-US" sz="3200">
                <a:latin typeface="MS PGothic" panose="020B0600070205080204" pitchFamily="34" charset="-128"/>
                <a:ea typeface="MS PGothic" panose="020B0600070205080204" pitchFamily="34" charset="-128"/>
              </a:rPr>
              <a:t>大喜利生成</a:t>
            </a:r>
            <a:r>
              <a:rPr kumimoji="1" lang="en-US" altLang="ja-JP" sz="3200" dirty="0">
                <a:latin typeface="MS PGothic" panose="020B0600070205080204" pitchFamily="34" charset="-128"/>
                <a:ea typeface="MS PGothic" panose="020B0600070205080204" pitchFamily="34" charset="-128"/>
              </a:rPr>
              <a:t>AI</a:t>
            </a:r>
            <a:r>
              <a:rPr kumimoji="1" lang="ja-JP" altLang="en-US" sz="3200">
                <a:latin typeface="MS PGothic" panose="020B0600070205080204" pitchFamily="34" charset="-128"/>
                <a:ea typeface="MS PGothic" panose="020B0600070205080204" pitchFamily="34" charset="-128"/>
              </a:rPr>
              <a:t>の学習</a:t>
            </a:r>
            <a:endParaRPr kumimoji="1" lang="en-US" altLang="ja-JP" sz="3200" dirty="0">
              <a:latin typeface="MS PGothic" panose="020B0600070205080204" pitchFamily="34" charset="-128"/>
              <a:ea typeface="MS PGothic" panose="020B0600070205080204" pitchFamily="34" charset="-128"/>
            </a:endParaRPr>
          </a:p>
          <a:p>
            <a:pPr indent="457200" algn="just"/>
            <a:r>
              <a:rPr kumimoji="1" lang="ja-JP" altLang="en-US" sz="3200">
                <a:latin typeface="MS PGothic" panose="020B0600070205080204" pitchFamily="34" charset="-128"/>
                <a:ea typeface="MS PGothic" panose="020B0600070205080204" pitchFamily="34" charset="-128"/>
              </a:rPr>
              <a:t>本実験では，従来手法である</a:t>
            </a:r>
            <a:r>
              <a:rPr kumimoji="1" lang="en-US" altLang="ja-JP" sz="3200" dirty="0">
                <a:latin typeface="MS PGothic" panose="020B0600070205080204" pitchFamily="34" charset="-128"/>
                <a:ea typeface="MS PGothic" panose="020B0600070205080204" pitchFamily="34" charset="-128"/>
              </a:rPr>
              <a:t>NJM[1]</a:t>
            </a:r>
            <a:r>
              <a:rPr kumimoji="1" lang="ja-JP" altLang="en-US" sz="3200">
                <a:latin typeface="MS PGothic" panose="020B0600070205080204" pitchFamily="34" charset="-128"/>
                <a:ea typeface="MS PGothic" panose="020B0600070205080204" pitchFamily="34" charset="-128"/>
              </a:rPr>
              <a:t>，</a:t>
            </a:r>
            <a:r>
              <a:rPr kumimoji="1" lang="en-US" altLang="ja-JP" sz="3200" dirty="0">
                <a:latin typeface="MS PGothic" panose="020B0600070205080204" pitchFamily="34" charset="-128"/>
                <a:ea typeface="MS PGothic" panose="020B0600070205080204" pitchFamily="34" charset="-128"/>
              </a:rPr>
              <a:t>GUMI-AE[2]</a:t>
            </a:r>
            <a:r>
              <a:rPr kumimoji="1" lang="ja-JP" altLang="en-US" sz="3200">
                <a:latin typeface="MS PGothic" panose="020B0600070205080204" pitchFamily="34" charset="-128"/>
                <a:ea typeface="MS PGothic" panose="020B0600070205080204" pitchFamily="34" charset="-128"/>
              </a:rPr>
              <a:t>と提案手法を同条件で学習し，その結果を比較する．また学習した大喜利生成</a:t>
            </a:r>
            <a:r>
              <a:rPr kumimoji="1" lang="en-US" altLang="ja-JP" sz="3200" dirty="0">
                <a:latin typeface="MS PGothic" panose="020B0600070205080204" pitchFamily="34" charset="-128"/>
                <a:ea typeface="MS PGothic" panose="020B0600070205080204" pitchFamily="34" charset="-128"/>
              </a:rPr>
              <a:t>AI</a:t>
            </a:r>
            <a:r>
              <a:rPr kumimoji="1" lang="ja-JP" altLang="en-US" sz="3200">
                <a:latin typeface="MS PGothic" panose="020B0600070205080204" pitchFamily="34" charset="-128"/>
                <a:ea typeface="MS PGothic" panose="020B0600070205080204" pitchFamily="34" charset="-128"/>
              </a:rPr>
              <a:t>に未知の画像を入力し生成される大喜利を比較する．</a:t>
            </a:r>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marL="457200" indent="-457200" algn="just">
              <a:buFont typeface="Arial" panose="020B0604020202020204" pitchFamily="34" charset="0"/>
              <a:buChar char="•"/>
            </a:pPr>
            <a:r>
              <a:rPr kumimoji="1" lang="ja-JP" altLang="en-US" sz="3200">
                <a:latin typeface="MS PGothic" panose="020B0600070205080204" pitchFamily="34" charset="-128"/>
                <a:ea typeface="MS PGothic" panose="020B0600070205080204" pitchFamily="34" charset="-128"/>
              </a:rPr>
              <a:t>従来手法と比べ</a:t>
            </a:r>
            <a:r>
              <a:rPr kumimoji="1" lang="en-US" altLang="ja-JP" sz="3200" dirty="0">
                <a:latin typeface="MS PGothic" panose="020B0600070205080204" pitchFamily="34" charset="-128"/>
                <a:ea typeface="MS PGothic" panose="020B0600070205080204" pitchFamily="34" charset="-128"/>
              </a:rPr>
              <a:t>Loss</a:t>
            </a:r>
            <a:r>
              <a:rPr kumimoji="1" lang="ja-JP" altLang="en-US" sz="3200">
                <a:latin typeface="MS PGothic" panose="020B0600070205080204" pitchFamily="34" charset="-128"/>
                <a:ea typeface="MS PGothic" panose="020B0600070205080204" pitchFamily="34" charset="-128"/>
              </a:rPr>
              <a:t>，</a:t>
            </a:r>
            <a:r>
              <a:rPr kumimoji="1" lang="en-US" altLang="ja-JP" sz="3200" dirty="0">
                <a:latin typeface="MS PGothic" panose="020B0600070205080204" pitchFamily="34" charset="-128"/>
                <a:ea typeface="MS PGothic" panose="020B0600070205080204" pitchFamily="34" charset="-128"/>
              </a:rPr>
              <a:t>Accuracy</a:t>
            </a:r>
            <a:r>
              <a:rPr kumimoji="1" lang="ja-JP" altLang="en-US" sz="3200">
                <a:latin typeface="MS PGothic" panose="020B0600070205080204" pitchFamily="34" charset="-128"/>
                <a:ea typeface="MS PGothic" panose="020B0600070205080204" pitchFamily="34" charset="-128"/>
              </a:rPr>
              <a:t>，</a:t>
            </a:r>
            <a:r>
              <a:rPr kumimoji="1" lang="en-US" altLang="ja-JP" sz="3200" dirty="0">
                <a:latin typeface="MS PGothic" panose="020B0600070205080204" pitchFamily="34" charset="-128"/>
                <a:ea typeface="MS PGothic" panose="020B0600070205080204" pitchFamily="34" charset="-128"/>
              </a:rPr>
              <a:t>Perplexity</a:t>
            </a:r>
            <a:r>
              <a:rPr kumimoji="1" lang="ja-JP" altLang="en-US" sz="3200">
                <a:latin typeface="MS PGothic" panose="020B0600070205080204" pitchFamily="34" charset="-128"/>
                <a:ea typeface="MS PGothic" panose="020B0600070205080204" pitchFamily="34" charset="-128"/>
              </a:rPr>
              <a:t>が改善した．</a:t>
            </a:r>
            <a:endParaRPr kumimoji="1" lang="en-US" altLang="ja-JP" sz="3200" dirty="0">
              <a:latin typeface="MS PGothic" panose="020B0600070205080204" pitchFamily="34" charset="-128"/>
              <a:ea typeface="MS PGothic" panose="020B0600070205080204" pitchFamily="34" charset="-128"/>
            </a:endParaRPr>
          </a:p>
          <a:p>
            <a:pPr algn="just"/>
            <a:r>
              <a:rPr kumimoji="1" lang="ja-JP" altLang="en-US" sz="3200">
                <a:latin typeface="MS PGothic" panose="020B0600070205080204" pitchFamily="34" charset="-128"/>
                <a:ea typeface="MS PGothic" panose="020B0600070205080204" pitchFamily="34" charset="-128"/>
              </a:rPr>
              <a:t>→</a:t>
            </a:r>
            <a:r>
              <a:rPr kumimoji="1" lang="en-US" altLang="ja-JP" sz="3200" dirty="0">
                <a:latin typeface="MS PGothic" panose="020B0600070205080204" pitchFamily="34" charset="-128"/>
                <a:ea typeface="MS PGothic" panose="020B0600070205080204" pitchFamily="34" charset="-128"/>
              </a:rPr>
              <a:t> Transformer</a:t>
            </a:r>
            <a:r>
              <a:rPr kumimoji="1" lang="ja-JP" altLang="en-US" sz="3200">
                <a:latin typeface="MS PGothic" panose="020B0600070205080204" pitchFamily="34" charset="-128"/>
                <a:ea typeface="MS PGothic" panose="020B0600070205080204" pitchFamily="34" charset="-128"/>
              </a:rPr>
              <a:t>構造では残差接続が可能であり，これにより勾配消失問題を軽減した．</a:t>
            </a:r>
            <a:endParaRPr kumimoji="1" lang="en-US" altLang="ja-JP" sz="3200" dirty="0">
              <a:latin typeface="MS PGothic" panose="020B0600070205080204" pitchFamily="34" charset="-128"/>
              <a:ea typeface="MS PGothic" panose="020B0600070205080204" pitchFamily="34" charset="-128"/>
            </a:endParaRPr>
          </a:p>
          <a:p>
            <a:pPr marL="457200" indent="-457200" algn="just">
              <a:buFont typeface="Arial" panose="020B0604020202020204" pitchFamily="34" charset="0"/>
              <a:buChar char="•"/>
            </a:pPr>
            <a:r>
              <a:rPr kumimoji="1" lang="ja-JP" altLang="en-US" sz="3200">
                <a:latin typeface="MS PGothic" panose="020B0600070205080204" pitchFamily="34" charset="-128"/>
                <a:ea typeface="MS PGothic" panose="020B0600070205080204" pitchFamily="34" charset="-128"/>
              </a:rPr>
              <a:t>従来手法と比較し，画像の特徴を捉えた大喜利が生成された</a:t>
            </a:r>
            <a:endParaRPr kumimoji="1" lang="en-US" altLang="ja-JP" sz="3200" dirty="0">
              <a:latin typeface="MS PGothic" panose="020B0600070205080204" pitchFamily="34" charset="-128"/>
              <a:ea typeface="MS PGothic" panose="020B0600070205080204" pitchFamily="34" charset="-128"/>
            </a:endParaRPr>
          </a:p>
          <a:p>
            <a:pPr algn="just"/>
            <a:r>
              <a:rPr kumimoji="1" lang="ja-JP" altLang="en-US" sz="3200">
                <a:latin typeface="MS PGothic" panose="020B0600070205080204" pitchFamily="34" charset="-128"/>
                <a:ea typeface="MS PGothic" panose="020B0600070205080204" pitchFamily="34" charset="-128"/>
              </a:rPr>
              <a:t>→</a:t>
            </a:r>
            <a:r>
              <a:rPr kumimoji="1" lang="en-US" altLang="ja-JP" sz="3200" dirty="0">
                <a:latin typeface="MS PGothic" panose="020B0600070205080204" pitchFamily="34" charset="-128"/>
                <a:ea typeface="MS PGothic" panose="020B0600070205080204" pitchFamily="34" charset="-128"/>
              </a:rPr>
              <a:t> Attention</a:t>
            </a:r>
            <a:r>
              <a:rPr kumimoji="1" lang="ja-JP" altLang="en-US" sz="3200">
                <a:latin typeface="MS PGothic" panose="020B0600070205080204" pitchFamily="34" charset="-128"/>
                <a:ea typeface="MS PGothic" panose="020B0600070205080204" pitchFamily="34" charset="-128"/>
              </a:rPr>
              <a:t>機構により，適切に画像と文章の特徴量を混合した．</a:t>
            </a:r>
            <a:endParaRPr kumimoji="1" lang="en-US" altLang="ja-JP" sz="3200" dirty="0">
              <a:latin typeface="MS PGothic" panose="020B0600070205080204" pitchFamily="34" charset="-128"/>
              <a:ea typeface="MS PGothic" panose="020B0600070205080204" pitchFamily="34" charset="-128"/>
            </a:endParaRPr>
          </a:p>
        </p:txBody>
      </p:sp>
      <mc:AlternateContent xmlns:mc="http://schemas.openxmlformats.org/markup-compatibility/2006" xmlns:a14="http://schemas.microsoft.com/office/drawing/2010/main">
        <mc:Choice Requires="a14">
          <p:graphicFrame>
            <p:nvGraphicFramePr>
              <p:cNvPr id="1218" name="表 1217">
                <a:extLst>
                  <a:ext uri="{FF2B5EF4-FFF2-40B4-BE49-F238E27FC236}">
                    <a16:creationId xmlns:a16="http://schemas.microsoft.com/office/drawing/2014/main" id="{995C4F89-911E-B0E0-1BDB-85FD4A3ABDB7}"/>
                  </a:ext>
                </a:extLst>
              </p:cNvPr>
              <p:cNvGraphicFramePr>
                <a:graphicFrameLocks noGrp="1"/>
              </p:cNvGraphicFramePr>
              <p:nvPr>
                <p:extLst>
                  <p:ext uri="{D42A27DB-BD31-4B8C-83A1-F6EECF244321}">
                    <p14:modId xmlns:p14="http://schemas.microsoft.com/office/powerpoint/2010/main" val="468962048"/>
                  </p:ext>
                </p:extLst>
              </p:nvPr>
            </p:nvGraphicFramePr>
            <p:xfrm>
              <a:off x="230699" y="29452991"/>
              <a:ext cx="14914720" cy="3474720"/>
            </p:xfrm>
            <a:graphic>
              <a:graphicData uri="http://schemas.openxmlformats.org/drawingml/2006/table">
                <a:tbl>
                  <a:tblPr firstRow="1" bandRow="1">
                    <a:tableStyleId>{5C22544A-7EE6-4342-B048-85BDC9FD1C3A}</a:tableStyleId>
                  </a:tblPr>
                  <a:tblGrid>
                    <a:gridCol w="3712073">
                      <a:extLst>
                        <a:ext uri="{9D8B030D-6E8A-4147-A177-3AD203B41FA5}">
                          <a16:colId xmlns:a16="http://schemas.microsoft.com/office/drawing/2014/main" val="1302717659"/>
                        </a:ext>
                      </a:extLst>
                    </a:gridCol>
                    <a:gridCol w="3712073">
                      <a:extLst>
                        <a:ext uri="{9D8B030D-6E8A-4147-A177-3AD203B41FA5}">
                          <a16:colId xmlns:a16="http://schemas.microsoft.com/office/drawing/2014/main" val="1335503367"/>
                        </a:ext>
                      </a:extLst>
                    </a:gridCol>
                    <a:gridCol w="7490574">
                      <a:extLst>
                        <a:ext uri="{9D8B030D-6E8A-4147-A177-3AD203B41FA5}">
                          <a16:colId xmlns:a16="http://schemas.microsoft.com/office/drawing/2014/main" val="118972529"/>
                        </a:ext>
                      </a:extLst>
                    </a:gridCol>
                  </a:tblGrid>
                  <a:tr h="405772">
                    <a:tc rowSpan="2">
                      <a:txBody>
                        <a:bodyPr/>
                        <a:lstStyle/>
                        <a:p>
                          <a:pPr algn="ctr"/>
                          <a:r>
                            <a:rPr kumimoji="1" lang="ja-JP" altLang="en-US" sz="3200" b="0">
                              <a:solidFill>
                                <a:schemeClr val="tx1"/>
                              </a:solidFill>
                              <a:latin typeface="MS PGothic" panose="020B0600070205080204" pitchFamily="34" charset="-128"/>
                              <a:ea typeface="MS PGothic" panose="020B0600070205080204" pitchFamily="34" charset="-128"/>
                            </a:rPr>
                            <a:t>データ</a:t>
                          </a:r>
                          <a:endParaRPr kumimoji="1" lang="ja-JP" altLang="en-US" sz="3200" b="0" dirty="0">
                            <a:solidFill>
                              <a:schemeClr val="tx1"/>
                            </a:solidFill>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tc>
                      <a:txBody>
                        <a:bodyPr/>
                        <a:lstStyle/>
                        <a:p>
                          <a:pPr algn="ctr"/>
                          <a:r>
                            <a:rPr kumimoji="1" lang="ja-JP" altLang="en-US" sz="3200" b="0" dirty="0">
                              <a:solidFill>
                                <a:schemeClr val="tx1"/>
                              </a:solidFill>
                              <a:latin typeface="MS PGothic" panose="020B0600070205080204" pitchFamily="34" charset="-128"/>
                              <a:ea typeface="MS PGothic" panose="020B0600070205080204" pitchFamily="34" charset="-128"/>
                            </a:rPr>
                            <a:t>画像</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tc>
                      <a:txBody>
                        <a:bodyPr/>
                        <a:lstStyle/>
                        <a:p>
                          <a:pPr algn="ctr"/>
                          <a:r>
                            <a:rPr kumimoji="1" lang="en-US" altLang="ja-JP" sz="3200" b="0" dirty="0">
                              <a:solidFill>
                                <a:schemeClr val="tx1"/>
                              </a:solidFill>
                              <a:latin typeface="MS PGothic" panose="020B0600070205080204" pitchFamily="34" charset="-128"/>
                              <a:ea typeface="MS PGothic" panose="020B0600070205080204" pitchFamily="34" charset="-128"/>
                            </a:rPr>
                            <a:t>74,027</a:t>
                          </a:r>
                          <a:r>
                            <a:rPr kumimoji="1" lang="ja-JP" altLang="en-US" sz="3200" b="0" dirty="0">
                              <a:solidFill>
                                <a:schemeClr val="tx1"/>
                              </a:solidFill>
                              <a:latin typeface="MS PGothic" panose="020B0600070205080204" pitchFamily="34" charset="-128"/>
                              <a:ea typeface="MS PGothic" panose="020B0600070205080204" pitchFamily="34" charset="-128"/>
                            </a:rPr>
                            <a:t>枚 </a:t>
                          </a:r>
                          <a:r>
                            <a:rPr kumimoji="1" lang="en-US" altLang="ja-JP" sz="3200" b="0" dirty="0">
                              <a:solidFill>
                                <a:schemeClr val="tx1"/>
                              </a:solidFill>
                              <a:latin typeface="MS PGothic" panose="020B0600070205080204" pitchFamily="34" charset="-128"/>
                              <a:ea typeface="MS PGothic" panose="020B0600070205080204" pitchFamily="34" charset="-128"/>
                            </a:rPr>
                            <a:t>/ 7,515</a:t>
                          </a:r>
                          <a:r>
                            <a:rPr kumimoji="1" lang="ja-JP" altLang="en-US" sz="3200" b="0">
                              <a:solidFill>
                                <a:schemeClr val="tx1"/>
                              </a:solidFill>
                              <a:latin typeface="MS PGothic" panose="020B0600070205080204" pitchFamily="34" charset="-128"/>
                              <a:ea typeface="MS PGothic" panose="020B0600070205080204" pitchFamily="34" charset="-128"/>
                            </a:rPr>
                            <a:t>枚</a:t>
                          </a:r>
                          <a:r>
                            <a:rPr kumimoji="1" lang="en-US" altLang="ja-JP" sz="3200" b="0" dirty="0">
                              <a:solidFill>
                                <a:schemeClr val="tx1"/>
                              </a:solidFill>
                              <a:latin typeface="MS PGothic" panose="020B0600070205080204" pitchFamily="34" charset="-128"/>
                              <a:ea typeface="MS PGothic" panose="020B0600070205080204" pitchFamily="34" charset="-128"/>
                            </a:rPr>
                            <a:t>(test)[3]</a:t>
                          </a:r>
                          <a:endParaRPr kumimoji="1" lang="ja-JP" altLang="en-US" sz="3200" b="0" dirty="0">
                            <a:solidFill>
                              <a:schemeClr val="tx1"/>
                            </a:solidFill>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extLst>
                      <a:ext uri="{0D108BD9-81ED-4DB2-BD59-A6C34878D82A}">
                        <a16:rowId xmlns:a16="http://schemas.microsoft.com/office/drawing/2014/main" val="3361642135"/>
                      </a:ext>
                    </a:extLst>
                  </a:tr>
                  <a:tr h="405772">
                    <a:tc vMerge="1">
                      <a:txBody>
                        <a:bodyPr/>
                        <a:lstStyle/>
                        <a:p>
                          <a:pPr algn="ctr"/>
                          <a:endParaRPr kumimoji="1" lang="ja-JP" altLang="en-US" sz="4000" b="0" dirty="0">
                            <a:solidFill>
                              <a:schemeClr val="tx1"/>
                            </a:solidFill>
                            <a:latin typeface="MS PGothic" panose="020B0600070205080204" pitchFamily="34" charset="-128"/>
                            <a:ea typeface="MS PGothic" panose="020B0600070205080204" pitchFamily="34" charset="-128"/>
                          </a:endParaRPr>
                        </a:p>
                      </a:txBody>
                      <a:tcPr>
                        <a:solidFill>
                          <a:srgbClr val="E9EBF5"/>
                        </a:solidFill>
                      </a:tcPr>
                    </a:tc>
                    <a:tc>
                      <a:txBody>
                        <a:bodyPr/>
                        <a:lstStyle/>
                        <a:p>
                          <a:pPr algn="ctr"/>
                          <a:r>
                            <a:rPr kumimoji="1" lang="ja-JP" altLang="en-US" sz="3200" b="0" dirty="0">
                              <a:solidFill>
                                <a:schemeClr val="tx1"/>
                              </a:solidFill>
                              <a:latin typeface="MS PGothic" panose="020B0600070205080204" pitchFamily="34" charset="-128"/>
                              <a:ea typeface="MS PGothic" panose="020B0600070205080204" pitchFamily="34" charset="-128"/>
                            </a:rPr>
                            <a:t>大喜利</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tc>
                      <a:txBody>
                        <a:bodyPr/>
                        <a:lstStyle/>
                        <a:p>
                          <a:pPr algn="ctr"/>
                          <a:r>
                            <a:rPr kumimoji="1" lang="en-US" altLang="ja-JP" sz="3200" b="0" dirty="0">
                              <a:solidFill>
                                <a:schemeClr val="tx1"/>
                              </a:solidFill>
                              <a:latin typeface="MS PGothic" panose="020B0600070205080204" pitchFamily="34" charset="-128"/>
                              <a:ea typeface="MS PGothic" panose="020B0600070205080204" pitchFamily="34" charset="-128"/>
                            </a:rPr>
                            <a:t>849,043</a:t>
                          </a:r>
                          <a:r>
                            <a:rPr kumimoji="1" lang="ja-JP" altLang="en-US" sz="3200" b="0">
                              <a:solidFill>
                                <a:schemeClr val="tx1"/>
                              </a:solidFill>
                              <a:latin typeface="MS PGothic" panose="020B0600070205080204" pitchFamily="34" charset="-128"/>
                              <a:ea typeface="MS PGothic" panose="020B0600070205080204" pitchFamily="34" charset="-128"/>
                            </a:rPr>
                            <a:t>件</a:t>
                          </a:r>
                          <a:r>
                            <a:rPr kumimoji="1" lang="en-US" altLang="ja-JP" sz="3200" b="0" dirty="0">
                              <a:solidFill>
                                <a:schemeClr val="tx1"/>
                              </a:solidFill>
                              <a:latin typeface="MS PGothic" panose="020B0600070205080204" pitchFamily="34" charset="-128"/>
                              <a:ea typeface="MS PGothic" panose="020B0600070205080204" pitchFamily="34" charset="-128"/>
                            </a:rPr>
                            <a:t> / 8,577</a:t>
                          </a:r>
                          <a:r>
                            <a:rPr kumimoji="1" lang="ja-JP" altLang="en-US" sz="3200" b="0">
                              <a:solidFill>
                                <a:schemeClr val="tx1"/>
                              </a:solidFill>
                              <a:latin typeface="MS PGothic" panose="020B0600070205080204" pitchFamily="34" charset="-128"/>
                              <a:ea typeface="MS PGothic" panose="020B0600070205080204" pitchFamily="34" charset="-128"/>
                            </a:rPr>
                            <a:t>件</a:t>
                          </a:r>
                          <a:r>
                            <a:rPr kumimoji="1" lang="en-US" altLang="ja-JP" sz="3200" b="0" dirty="0">
                              <a:solidFill>
                                <a:schemeClr val="tx1"/>
                              </a:solidFill>
                              <a:latin typeface="MS PGothic" panose="020B0600070205080204" pitchFamily="34" charset="-128"/>
                              <a:ea typeface="MS PGothic" panose="020B0600070205080204" pitchFamily="34" charset="-128"/>
                            </a:rPr>
                            <a:t>(test)[3]</a:t>
                          </a:r>
                          <a:endParaRPr kumimoji="1" lang="ja-JP" altLang="en-US" sz="3200" b="0" dirty="0">
                            <a:solidFill>
                              <a:schemeClr val="tx1"/>
                            </a:solidFill>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extLst>
                      <a:ext uri="{0D108BD9-81ED-4DB2-BD59-A6C34878D82A}">
                        <a16:rowId xmlns:a16="http://schemas.microsoft.com/office/drawing/2014/main" val="138946860"/>
                      </a:ext>
                    </a:extLst>
                  </a:tr>
                  <a:tr h="405772">
                    <a:tc gridSpan="2">
                      <a:txBody>
                        <a:bodyPr/>
                        <a:lstStyle/>
                        <a:p>
                          <a:pPr algn="ctr"/>
                          <a:r>
                            <a:rPr kumimoji="1" lang="ja-JP" altLang="en-US" sz="3200" b="0" dirty="0">
                              <a:latin typeface="MS PGothic" panose="020B0600070205080204" pitchFamily="34" charset="-128"/>
                              <a:ea typeface="MS PGothic" panose="020B0600070205080204" pitchFamily="34" charset="-128"/>
                            </a:rPr>
                            <a:t>最適化手法</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hMerge="1">
                      <a:txBody>
                        <a:bodyPr/>
                        <a:lstStyle/>
                        <a:p>
                          <a:endParaRPr kumimoji="1" lang="ja-JP" altLang="en-US"/>
                        </a:p>
                      </a:txBody>
                      <a:tcPr/>
                    </a:tc>
                    <a:tc>
                      <a:txBody>
                        <a:bodyPr/>
                        <a:lstStyle/>
                        <a:p>
                          <a:pPr marL="0" indent="0" algn="ctr">
                            <a:buFont typeface="Arial" panose="020B0604020202020204" pitchFamily="34" charset="0"/>
                            <a:buNone/>
                          </a:pPr>
                          <a:r>
                            <a:rPr kumimoji="1" lang="en-US" altLang="ja-JP" sz="3200" b="0" dirty="0">
                              <a:latin typeface="MS PGothic" panose="020B0600070205080204" pitchFamily="34" charset="-128"/>
                              <a:ea typeface="MS PGothic" panose="020B0600070205080204" pitchFamily="34" charset="-128"/>
                            </a:rPr>
                            <a:t>Adam (</a:t>
                          </a:r>
                          <a14:m>
                            <m:oMath xmlns:m="http://schemas.openxmlformats.org/officeDocument/2006/math">
                              <m:r>
                                <a:rPr kumimoji="1" lang="en-US" altLang="ja-JP" sz="3200" b="0" i="1" smtClean="0">
                                  <a:latin typeface="Cambria Math" panose="02040503050406030204" pitchFamily="18" charset="0"/>
                                  <a:ea typeface="Cambria Math" panose="02040503050406030204" pitchFamily="18" charset="0"/>
                                </a:rPr>
                                <m:t>𝜂</m:t>
                              </m:r>
                              <m:r>
                                <a:rPr kumimoji="1" lang="en-US" altLang="ja-JP" sz="3200" b="0" i="1" smtClean="0">
                                  <a:latin typeface="Cambria Math" panose="02040503050406030204" pitchFamily="18" charset="0"/>
                                  <a:ea typeface="Cambria Math" panose="02040503050406030204" pitchFamily="18" charset="0"/>
                                </a:rPr>
                                <m:t>=0.0001</m:t>
                              </m:r>
                            </m:oMath>
                          </a14:m>
                          <a:r>
                            <a:rPr kumimoji="1" lang="en-US" altLang="ja-JP" sz="3200" b="0" dirty="0">
                              <a:latin typeface="MS PGothic" panose="020B0600070205080204" pitchFamily="34" charset="-128"/>
                              <a:ea typeface="MS PGothic" panose="020B0600070205080204" pitchFamily="34" charset="-128"/>
                            </a:rPr>
                            <a:t>)</a:t>
                          </a:r>
                          <a:endParaRPr kumimoji="1" lang="ja-JP" altLang="en-US" sz="3200" b="0" dirty="0">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1801116897"/>
                      </a:ext>
                    </a:extLst>
                  </a:tr>
                  <a:tr h="405772">
                    <a:tc gridSpan="2">
                      <a:txBody>
                        <a:bodyPr/>
                        <a:lstStyle/>
                        <a:p>
                          <a:pPr algn="ctr"/>
                          <a:r>
                            <a:rPr kumimoji="1" lang="ja-JP" altLang="en-US" sz="3200" b="0">
                              <a:latin typeface="MS PGothic" panose="020B0600070205080204" pitchFamily="34" charset="-128"/>
                              <a:ea typeface="MS PGothic" panose="020B0600070205080204" pitchFamily="34" charset="-128"/>
                            </a:rPr>
                            <a:t>ミニバッチサイズ</a:t>
                          </a:r>
                          <a:r>
                            <a:rPr kumimoji="1" lang="en-US" altLang="ja-JP" sz="3200" b="0" dirty="0">
                              <a:latin typeface="MS PGothic" panose="020B0600070205080204" pitchFamily="34" charset="-128"/>
                              <a:ea typeface="MS PGothic" panose="020B0600070205080204" pitchFamily="34" charset="-128"/>
                            </a:rPr>
                            <a:t> / </a:t>
                          </a:r>
                          <a:r>
                            <a:rPr kumimoji="1" lang="ja-JP" altLang="en-US" sz="3200" b="0">
                              <a:latin typeface="MS PGothic" panose="020B0600070205080204" pitchFamily="34" charset="-128"/>
                              <a:ea typeface="MS PGothic" panose="020B0600070205080204" pitchFamily="34" charset="-128"/>
                            </a:rPr>
                            <a:t>学習反復回数</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hMerge="1">
                      <a:txBody>
                        <a:bodyPr/>
                        <a:lstStyle/>
                        <a:p>
                          <a:endParaRPr kumimoji="1" lang="ja-JP" altLang="en-US"/>
                        </a:p>
                      </a:txBody>
                      <a:tcPr/>
                    </a:tc>
                    <a:tc>
                      <a:txBody>
                        <a:bodyPr/>
                        <a:lstStyle/>
                        <a:p>
                          <a:pPr marL="0" indent="0" algn="ctr">
                            <a:buFont typeface="Arial" panose="020B0604020202020204" pitchFamily="34" charset="0"/>
                            <a:buNone/>
                          </a:pPr>
                          <a:r>
                            <a:rPr kumimoji="1" lang="en" altLang="ja-JP" sz="3200" b="0" dirty="0">
                              <a:latin typeface="MS PGothic" panose="020B0600070205080204" pitchFamily="34" charset="-128"/>
                              <a:ea typeface="MS PGothic" panose="020B0600070205080204" pitchFamily="34" charset="-128"/>
                            </a:rPr>
                            <a:t>64 / 100</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3798152386"/>
                      </a:ext>
                    </a:extLst>
                  </a:tr>
                  <a:tr h="405772">
                    <a:tc gridSpan="2">
                      <a:txBody>
                        <a:bodyPr/>
                        <a:lstStyle/>
                        <a:p>
                          <a:pPr algn="ctr"/>
                          <a:r>
                            <a:rPr kumimoji="1" lang="ja-JP" altLang="en-US" sz="3200" b="0">
                              <a:latin typeface="MS PGothic" panose="020B0600070205080204" pitchFamily="34" charset="-128"/>
                              <a:ea typeface="MS PGothic" panose="020B0600070205080204" pitchFamily="34" charset="-128"/>
                            </a:rPr>
                            <a:t>特徴量次元数</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hMerge="1">
                      <a:txBody>
                        <a:bodyPr/>
                        <a:lstStyle/>
                        <a:p>
                          <a:endParaRPr kumimoji="1" lang="ja-JP" altLang="en-US"/>
                        </a:p>
                      </a:txBody>
                      <a:tcPr/>
                    </a:tc>
                    <a:tc>
                      <a:txBody>
                        <a:bodyPr/>
                        <a:lstStyle/>
                        <a:p>
                          <a:pPr marL="0" indent="0" algn="ctr">
                            <a:buFont typeface="Arial" panose="020B0604020202020204" pitchFamily="34" charset="0"/>
                            <a:buNone/>
                          </a:pPr>
                          <a:r>
                            <a:rPr kumimoji="1" lang="en" altLang="ja-JP" sz="3200" b="0" dirty="0">
                              <a:latin typeface="MS PGothic" panose="020B0600070205080204" pitchFamily="34" charset="-128"/>
                              <a:ea typeface="MS PGothic" panose="020B0600070205080204" pitchFamily="34" charset="-128"/>
                            </a:rPr>
                            <a:t>768</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2893383439"/>
                      </a:ext>
                    </a:extLst>
                  </a:tr>
                  <a:tr h="405772">
                    <a:tc gridSpan="2">
                      <a:txBody>
                        <a:bodyPr/>
                        <a:lstStyle/>
                        <a:p>
                          <a:pPr algn="ctr"/>
                          <a:r>
                            <a:rPr kumimoji="1" lang="en-US" altLang="ja-JP" sz="3200" b="0" dirty="0">
                              <a:latin typeface="MS PGothic" panose="020B0600070205080204" pitchFamily="34" charset="-128"/>
                              <a:ea typeface="MS PGothic" panose="020B0600070205080204" pitchFamily="34" charset="-128"/>
                            </a:rPr>
                            <a:t>Cross-Attention</a:t>
                          </a:r>
                          <a:r>
                            <a:rPr kumimoji="1" lang="ja-JP" altLang="en-US" sz="3200" b="0">
                              <a:latin typeface="MS PGothic" panose="020B0600070205080204" pitchFamily="34" charset="-128"/>
                              <a:ea typeface="MS PGothic" panose="020B0600070205080204" pitchFamily="34" charset="-128"/>
                            </a:rPr>
                            <a:t>層数</a:t>
                          </a:r>
                          <a:r>
                            <a:rPr kumimoji="1" lang="en-US" altLang="ja-JP" sz="3200" b="0" dirty="0">
                              <a:latin typeface="MS PGothic" panose="020B0600070205080204" pitchFamily="34" charset="-128"/>
                              <a:ea typeface="MS PGothic" panose="020B0600070205080204" pitchFamily="34" charset="-128"/>
                            </a:rPr>
                            <a:t> / Head</a:t>
                          </a:r>
                          <a:r>
                            <a:rPr kumimoji="1" lang="ja-JP" altLang="en-US" sz="3200" b="0">
                              <a:latin typeface="MS PGothic" panose="020B0600070205080204" pitchFamily="34" charset="-128"/>
                              <a:ea typeface="MS PGothic" panose="020B0600070205080204" pitchFamily="34" charset="-128"/>
                            </a:rPr>
                            <a:t>数</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hMerge="1">
                      <a:txBody>
                        <a:bodyPr/>
                        <a:lstStyle/>
                        <a:p>
                          <a:endParaRPr kumimoji="1" lang="ja-JP" altLang="en-US"/>
                        </a:p>
                      </a:txBody>
                      <a:tcPr/>
                    </a:tc>
                    <a:tc>
                      <a:txBody>
                        <a:bodyPr/>
                        <a:lstStyle/>
                        <a:p>
                          <a:pPr marL="0" indent="0" algn="ctr">
                            <a:buFont typeface="Arial" panose="020B0604020202020204" pitchFamily="34" charset="0"/>
                            <a:buNone/>
                          </a:pPr>
                          <a:r>
                            <a:rPr kumimoji="1" lang="en" altLang="ja-JP" sz="3200" b="0" dirty="0">
                              <a:latin typeface="MS PGothic" panose="020B0600070205080204" pitchFamily="34" charset="-128"/>
                              <a:ea typeface="MS PGothic" panose="020B0600070205080204" pitchFamily="34" charset="-128"/>
                            </a:rPr>
                            <a:t>4 / 4</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1512307595"/>
                      </a:ext>
                    </a:extLst>
                  </a:tr>
                </a:tbl>
              </a:graphicData>
            </a:graphic>
          </p:graphicFrame>
        </mc:Choice>
        <mc:Fallback xmlns="">
          <p:graphicFrame>
            <p:nvGraphicFramePr>
              <p:cNvPr id="1218" name="表 1217">
                <a:extLst>
                  <a:ext uri="{FF2B5EF4-FFF2-40B4-BE49-F238E27FC236}">
                    <a16:creationId xmlns:a16="http://schemas.microsoft.com/office/drawing/2014/main" id="{995C4F89-911E-B0E0-1BDB-85FD4A3ABDB7}"/>
                  </a:ext>
                </a:extLst>
              </p:cNvPr>
              <p:cNvGraphicFramePr>
                <a:graphicFrameLocks noGrp="1"/>
              </p:cNvGraphicFramePr>
              <p:nvPr>
                <p:extLst>
                  <p:ext uri="{D42A27DB-BD31-4B8C-83A1-F6EECF244321}">
                    <p14:modId xmlns:p14="http://schemas.microsoft.com/office/powerpoint/2010/main" val="468962048"/>
                  </p:ext>
                </p:extLst>
              </p:nvPr>
            </p:nvGraphicFramePr>
            <p:xfrm>
              <a:off x="230699" y="29452991"/>
              <a:ext cx="14914720" cy="3474720"/>
            </p:xfrm>
            <a:graphic>
              <a:graphicData uri="http://schemas.openxmlformats.org/drawingml/2006/table">
                <a:tbl>
                  <a:tblPr firstRow="1" bandRow="1">
                    <a:tableStyleId>{5C22544A-7EE6-4342-B048-85BDC9FD1C3A}</a:tableStyleId>
                  </a:tblPr>
                  <a:tblGrid>
                    <a:gridCol w="3712073">
                      <a:extLst>
                        <a:ext uri="{9D8B030D-6E8A-4147-A177-3AD203B41FA5}">
                          <a16:colId xmlns:a16="http://schemas.microsoft.com/office/drawing/2014/main" val="1302717659"/>
                        </a:ext>
                      </a:extLst>
                    </a:gridCol>
                    <a:gridCol w="3712073">
                      <a:extLst>
                        <a:ext uri="{9D8B030D-6E8A-4147-A177-3AD203B41FA5}">
                          <a16:colId xmlns:a16="http://schemas.microsoft.com/office/drawing/2014/main" val="1335503367"/>
                        </a:ext>
                      </a:extLst>
                    </a:gridCol>
                    <a:gridCol w="7490574">
                      <a:extLst>
                        <a:ext uri="{9D8B030D-6E8A-4147-A177-3AD203B41FA5}">
                          <a16:colId xmlns:a16="http://schemas.microsoft.com/office/drawing/2014/main" val="118972529"/>
                        </a:ext>
                      </a:extLst>
                    </a:gridCol>
                  </a:tblGrid>
                  <a:tr h="579120">
                    <a:tc rowSpan="2">
                      <a:txBody>
                        <a:bodyPr/>
                        <a:lstStyle/>
                        <a:p>
                          <a:pPr algn="ctr"/>
                          <a:r>
                            <a:rPr kumimoji="1" lang="ja-JP" altLang="en-US" sz="3200" b="0">
                              <a:solidFill>
                                <a:schemeClr val="tx1"/>
                              </a:solidFill>
                              <a:latin typeface="MS PGothic" panose="020B0600070205080204" pitchFamily="34" charset="-128"/>
                              <a:ea typeface="MS PGothic" panose="020B0600070205080204" pitchFamily="34" charset="-128"/>
                            </a:rPr>
                            <a:t>データ</a:t>
                          </a:r>
                          <a:endParaRPr kumimoji="1" lang="ja-JP" altLang="en-US" sz="3200" b="0" dirty="0">
                            <a:solidFill>
                              <a:schemeClr val="tx1"/>
                            </a:solidFill>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tc>
                      <a:txBody>
                        <a:bodyPr/>
                        <a:lstStyle/>
                        <a:p>
                          <a:pPr algn="ctr"/>
                          <a:r>
                            <a:rPr kumimoji="1" lang="ja-JP" altLang="en-US" sz="3200" b="0" dirty="0">
                              <a:solidFill>
                                <a:schemeClr val="tx1"/>
                              </a:solidFill>
                              <a:latin typeface="MS PGothic" panose="020B0600070205080204" pitchFamily="34" charset="-128"/>
                              <a:ea typeface="MS PGothic" panose="020B0600070205080204" pitchFamily="34" charset="-128"/>
                            </a:rPr>
                            <a:t>画像</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tc>
                      <a:txBody>
                        <a:bodyPr/>
                        <a:lstStyle/>
                        <a:p>
                          <a:pPr algn="ctr"/>
                          <a:r>
                            <a:rPr kumimoji="1" lang="en-US" altLang="ja-JP" sz="3200" b="0" dirty="0">
                              <a:solidFill>
                                <a:schemeClr val="tx1"/>
                              </a:solidFill>
                              <a:latin typeface="MS PGothic" panose="020B0600070205080204" pitchFamily="34" charset="-128"/>
                              <a:ea typeface="MS PGothic" panose="020B0600070205080204" pitchFamily="34" charset="-128"/>
                            </a:rPr>
                            <a:t>74,027</a:t>
                          </a:r>
                          <a:r>
                            <a:rPr kumimoji="1" lang="ja-JP" altLang="en-US" sz="3200" b="0" dirty="0">
                              <a:solidFill>
                                <a:schemeClr val="tx1"/>
                              </a:solidFill>
                              <a:latin typeface="MS PGothic" panose="020B0600070205080204" pitchFamily="34" charset="-128"/>
                              <a:ea typeface="MS PGothic" panose="020B0600070205080204" pitchFamily="34" charset="-128"/>
                            </a:rPr>
                            <a:t>枚 </a:t>
                          </a:r>
                          <a:r>
                            <a:rPr kumimoji="1" lang="en-US" altLang="ja-JP" sz="3200" b="0" dirty="0">
                              <a:solidFill>
                                <a:schemeClr val="tx1"/>
                              </a:solidFill>
                              <a:latin typeface="MS PGothic" panose="020B0600070205080204" pitchFamily="34" charset="-128"/>
                              <a:ea typeface="MS PGothic" panose="020B0600070205080204" pitchFamily="34" charset="-128"/>
                            </a:rPr>
                            <a:t>/ 7,515</a:t>
                          </a:r>
                          <a:r>
                            <a:rPr kumimoji="1" lang="ja-JP" altLang="en-US" sz="3200" b="0">
                              <a:solidFill>
                                <a:schemeClr val="tx1"/>
                              </a:solidFill>
                              <a:latin typeface="MS PGothic" panose="020B0600070205080204" pitchFamily="34" charset="-128"/>
                              <a:ea typeface="MS PGothic" panose="020B0600070205080204" pitchFamily="34" charset="-128"/>
                            </a:rPr>
                            <a:t>枚</a:t>
                          </a:r>
                          <a:r>
                            <a:rPr kumimoji="1" lang="en-US" altLang="ja-JP" sz="3200" b="0" dirty="0">
                              <a:solidFill>
                                <a:schemeClr val="tx1"/>
                              </a:solidFill>
                              <a:latin typeface="MS PGothic" panose="020B0600070205080204" pitchFamily="34" charset="-128"/>
                              <a:ea typeface="MS PGothic" panose="020B0600070205080204" pitchFamily="34" charset="-128"/>
                            </a:rPr>
                            <a:t>(test)[3]</a:t>
                          </a:r>
                          <a:endParaRPr kumimoji="1" lang="ja-JP" altLang="en-US" sz="3200" b="0" dirty="0">
                            <a:solidFill>
                              <a:schemeClr val="tx1"/>
                            </a:solidFill>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extLst>
                      <a:ext uri="{0D108BD9-81ED-4DB2-BD59-A6C34878D82A}">
                        <a16:rowId xmlns:a16="http://schemas.microsoft.com/office/drawing/2014/main" val="3361642135"/>
                      </a:ext>
                    </a:extLst>
                  </a:tr>
                  <a:tr h="579120">
                    <a:tc vMerge="1">
                      <a:txBody>
                        <a:bodyPr/>
                        <a:lstStyle/>
                        <a:p>
                          <a:pPr algn="ctr"/>
                          <a:endParaRPr kumimoji="1" lang="ja-JP" altLang="en-US" sz="4000" b="0" dirty="0">
                            <a:solidFill>
                              <a:schemeClr val="tx1"/>
                            </a:solidFill>
                            <a:latin typeface="MS PGothic" panose="020B0600070205080204" pitchFamily="34" charset="-128"/>
                            <a:ea typeface="MS PGothic" panose="020B0600070205080204" pitchFamily="34" charset="-128"/>
                          </a:endParaRPr>
                        </a:p>
                      </a:txBody>
                      <a:tcPr>
                        <a:solidFill>
                          <a:srgbClr val="E9EBF5"/>
                        </a:solidFill>
                      </a:tcPr>
                    </a:tc>
                    <a:tc>
                      <a:txBody>
                        <a:bodyPr/>
                        <a:lstStyle/>
                        <a:p>
                          <a:pPr algn="ctr"/>
                          <a:r>
                            <a:rPr kumimoji="1" lang="ja-JP" altLang="en-US" sz="3200" b="0" dirty="0">
                              <a:solidFill>
                                <a:schemeClr val="tx1"/>
                              </a:solidFill>
                              <a:latin typeface="MS PGothic" panose="020B0600070205080204" pitchFamily="34" charset="-128"/>
                              <a:ea typeface="MS PGothic" panose="020B0600070205080204" pitchFamily="34" charset="-128"/>
                            </a:rPr>
                            <a:t>大喜利</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tc>
                      <a:txBody>
                        <a:bodyPr/>
                        <a:lstStyle/>
                        <a:p>
                          <a:pPr algn="ctr"/>
                          <a:r>
                            <a:rPr kumimoji="1" lang="en-US" altLang="ja-JP" sz="3200" b="0" dirty="0">
                              <a:solidFill>
                                <a:schemeClr val="tx1"/>
                              </a:solidFill>
                              <a:latin typeface="MS PGothic" panose="020B0600070205080204" pitchFamily="34" charset="-128"/>
                              <a:ea typeface="MS PGothic" panose="020B0600070205080204" pitchFamily="34" charset="-128"/>
                            </a:rPr>
                            <a:t>849,043</a:t>
                          </a:r>
                          <a:r>
                            <a:rPr kumimoji="1" lang="ja-JP" altLang="en-US" sz="3200" b="0">
                              <a:solidFill>
                                <a:schemeClr val="tx1"/>
                              </a:solidFill>
                              <a:latin typeface="MS PGothic" panose="020B0600070205080204" pitchFamily="34" charset="-128"/>
                              <a:ea typeface="MS PGothic" panose="020B0600070205080204" pitchFamily="34" charset="-128"/>
                            </a:rPr>
                            <a:t>件</a:t>
                          </a:r>
                          <a:r>
                            <a:rPr kumimoji="1" lang="en-US" altLang="ja-JP" sz="3200" b="0" dirty="0">
                              <a:solidFill>
                                <a:schemeClr val="tx1"/>
                              </a:solidFill>
                              <a:latin typeface="MS PGothic" panose="020B0600070205080204" pitchFamily="34" charset="-128"/>
                              <a:ea typeface="MS PGothic" panose="020B0600070205080204" pitchFamily="34" charset="-128"/>
                            </a:rPr>
                            <a:t> / 8,577</a:t>
                          </a:r>
                          <a:r>
                            <a:rPr kumimoji="1" lang="ja-JP" altLang="en-US" sz="3200" b="0">
                              <a:solidFill>
                                <a:schemeClr val="tx1"/>
                              </a:solidFill>
                              <a:latin typeface="MS PGothic" panose="020B0600070205080204" pitchFamily="34" charset="-128"/>
                              <a:ea typeface="MS PGothic" panose="020B0600070205080204" pitchFamily="34" charset="-128"/>
                            </a:rPr>
                            <a:t>件</a:t>
                          </a:r>
                          <a:r>
                            <a:rPr kumimoji="1" lang="en-US" altLang="ja-JP" sz="3200" b="0" dirty="0">
                              <a:solidFill>
                                <a:schemeClr val="tx1"/>
                              </a:solidFill>
                              <a:latin typeface="MS PGothic" panose="020B0600070205080204" pitchFamily="34" charset="-128"/>
                              <a:ea typeface="MS PGothic" panose="020B0600070205080204" pitchFamily="34" charset="-128"/>
                            </a:rPr>
                            <a:t>(test)[3]</a:t>
                          </a:r>
                          <a:endParaRPr kumimoji="1" lang="ja-JP" altLang="en-US" sz="3200" b="0" dirty="0">
                            <a:solidFill>
                              <a:schemeClr val="tx1"/>
                            </a:solidFill>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extLst>
                      <a:ext uri="{0D108BD9-81ED-4DB2-BD59-A6C34878D82A}">
                        <a16:rowId xmlns:a16="http://schemas.microsoft.com/office/drawing/2014/main" val="138946860"/>
                      </a:ext>
                    </a:extLst>
                  </a:tr>
                  <a:tr h="579120">
                    <a:tc gridSpan="2">
                      <a:txBody>
                        <a:bodyPr/>
                        <a:lstStyle/>
                        <a:p>
                          <a:pPr algn="ctr"/>
                          <a:r>
                            <a:rPr kumimoji="1" lang="ja-JP" altLang="en-US" sz="3200" b="0" dirty="0">
                              <a:latin typeface="MS PGothic" panose="020B0600070205080204" pitchFamily="34" charset="-128"/>
                              <a:ea typeface="MS PGothic" panose="020B0600070205080204" pitchFamily="34" charset="-128"/>
                            </a:rPr>
                            <a:t>最適化手法</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hMerge="1">
                      <a:txBody>
                        <a:bodyPr/>
                        <a:lstStyle/>
                        <a:p>
                          <a:endParaRPr kumimoji="1" lang="ja-JP" altLang="en-US"/>
                        </a:p>
                      </a:txBody>
                      <a:tcPr/>
                    </a:tc>
                    <a:tc>
                      <a:txBody>
                        <a:bodyPr/>
                        <a:lstStyle/>
                        <a:p>
                          <a:endParaRPr lang="ja-JP"/>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blipFill>
                          <a:blip r:embed="rId24"/>
                          <a:stretch>
                            <a:fillRect l="-99322" t="-210870" r="-169" b="-330435"/>
                          </a:stretch>
                        </a:blipFill>
                      </a:tcPr>
                    </a:tc>
                    <a:extLst>
                      <a:ext uri="{0D108BD9-81ED-4DB2-BD59-A6C34878D82A}">
                        <a16:rowId xmlns:a16="http://schemas.microsoft.com/office/drawing/2014/main" val="1801116897"/>
                      </a:ext>
                    </a:extLst>
                  </a:tr>
                  <a:tr h="579120">
                    <a:tc gridSpan="2">
                      <a:txBody>
                        <a:bodyPr/>
                        <a:lstStyle/>
                        <a:p>
                          <a:pPr algn="ctr"/>
                          <a:r>
                            <a:rPr kumimoji="1" lang="ja-JP" altLang="en-US" sz="3200" b="0">
                              <a:latin typeface="MS PGothic" panose="020B0600070205080204" pitchFamily="34" charset="-128"/>
                              <a:ea typeface="MS PGothic" panose="020B0600070205080204" pitchFamily="34" charset="-128"/>
                            </a:rPr>
                            <a:t>ミニバッチサイズ</a:t>
                          </a:r>
                          <a:r>
                            <a:rPr kumimoji="1" lang="en-US" altLang="ja-JP" sz="3200" b="0" dirty="0">
                              <a:latin typeface="MS PGothic" panose="020B0600070205080204" pitchFamily="34" charset="-128"/>
                              <a:ea typeface="MS PGothic" panose="020B0600070205080204" pitchFamily="34" charset="-128"/>
                            </a:rPr>
                            <a:t> / </a:t>
                          </a:r>
                          <a:r>
                            <a:rPr kumimoji="1" lang="ja-JP" altLang="en-US" sz="3200" b="0">
                              <a:latin typeface="MS PGothic" panose="020B0600070205080204" pitchFamily="34" charset="-128"/>
                              <a:ea typeface="MS PGothic" panose="020B0600070205080204" pitchFamily="34" charset="-128"/>
                            </a:rPr>
                            <a:t>学習反復回数</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hMerge="1">
                      <a:txBody>
                        <a:bodyPr/>
                        <a:lstStyle/>
                        <a:p>
                          <a:endParaRPr kumimoji="1" lang="ja-JP" altLang="en-US"/>
                        </a:p>
                      </a:txBody>
                      <a:tcPr/>
                    </a:tc>
                    <a:tc>
                      <a:txBody>
                        <a:bodyPr/>
                        <a:lstStyle/>
                        <a:p>
                          <a:pPr marL="0" indent="0" algn="ctr">
                            <a:buFont typeface="Arial" panose="020B0604020202020204" pitchFamily="34" charset="0"/>
                            <a:buNone/>
                          </a:pPr>
                          <a:r>
                            <a:rPr kumimoji="1" lang="en" altLang="ja-JP" sz="3200" b="0" dirty="0">
                              <a:latin typeface="MS PGothic" panose="020B0600070205080204" pitchFamily="34" charset="-128"/>
                              <a:ea typeface="MS PGothic" panose="020B0600070205080204" pitchFamily="34" charset="-128"/>
                            </a:rPr>
                            <a:t>64 / 100</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3798152386"/>
                      </a:ext>
                    </a:extLst>
                  </a:tr>
                  <a:tr h="579120">
                    <a:tc gridSpan="2">
                      <a:txBody>
                        <a:bodyPr/>
                        <a:lstStyle/>
                        <a:p>
                          <a:pPr algn="ctr"/>
                          <a:r>
                            <a:rPr kumimoji="1" lang="ja-JP" altLang="en-US" sz="3200" b="0">
                              <a:latin typeface="MS PGothic" panose="020B0600070205080204" pitchFamily="34" charset="-128"/>
                              <a:ea typeface="MS PGothic" panose="020B0600070205080204" pitchFamily="34" charset="-128"/>
                            </a:rPr>
                            <a:t>特徴量次元数</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hMerge="1">
                      <a:txBody>
                        <a:bodyPr/>
                        <a:lstStyle/>
                        <a:p>
                          <a:endParaRPr kumimoji="1" lang="ja-JP" altLang="en-US"/>
                        </a:p>
                      </a:txBody>
                      <a:tcPr/>
                    </a:tc>
                    <a:tc>
                      <a:txBody>
                        <a:bodyPr/>
                        <a:lstStyle/>
                        <a:p>
                          <a:pPr marL="0" indent="0" algn="ctr">
                            <a:buFont typeface="Arial" panose="020B0604020202020204" pitchFamily="34" charset="0"/>
                            <a:buNone/>
                          </a:pPr>
                          <a:r>
                            <a:rPr kumimoji="1" lang="en" altLang="ja-JP" sz="3200" b="0" dirty="0">
                              <a:latin typeface="MS PGothic" panose="020B0600070205080204" pitchFamily="34" charset="-128"/>
                              <a:ea typeface="MS PGothic" panose="020B0600070205080204" pitchFamily="34" charset="-128"/>
                            </a:rPr>
                            <a:t>768</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2893383439"/>
                      </a:ext>
                    </a:extLst>
                  </a:tr>
                  <a:tr h="579120">
                    <a:tc gridSpan="2">
                      <a:txBody>
                        <a:bodyPr/>
                        <a:lstStyle/>
                        <a:p>
                          <a:pPr algn="ctr"/>
                          <a:r>
                            <a:rPr kumimoji="1" lang="en-US" altLang="ja-JP" sz="3200" b="0" dirty="0">
                              <a:latin typeface="MS PGothic" panose="020B0600070205080204" pitchFamily="34" charset="-128"/>
                              <a:ea typeface="MS PGothic" panose="020B0600070205080204" pitchFamily="34" charset="-128"/>
                            </a:rPr>
                            <a:t>Cross-Attention</a:t>
                          </a:r>
                          <a:r>
                            <a:rPr kumimoji="1" lang="ja-JP" altLang="en-US" sz="3200" b="0">
                              <a:latin typeface="MS PGothic" panose="020B0600070205080204" pitchFamily="34" charset="-128"/>
                              <a:ea typeface="MS PGothic" panose="020B0600070205080204" pitchFamily="34" charset="-128"/>
                            </a:rPr>
                            <a:t>層数</a:t>
                          </a:r>
                          <a:r>
                            <a:rPr kumimoji="1" lang="en-US" altLang="ja-JP" sz="3200" b="0" dirty="0">
                              <a:latin typeface="MS PGothic" panose="020B0600070205080204" pitchFamily="34" charset="-128"/>
                              <a:ea typeface="MS PGothic" panose="020B0600070205080204" pitchFamily="34" charset="-128"/>
                            </a:rPr>
                            <a:t> / Head</a:t>
                          </a:r>
                          <a:r>
                            <a:rPr kumimoji="1" lang="ja-JP" altLang="en-US" sz="3200" b="0">
                              <a:latin typeface="MS PGothic" panose="020B0600070205080204" pitchFamily="34" charset="-128"/>
                              <a:ea typeface="MS PGothic" panose="020B0600070205080204" pitchFamily="34" charset="-128"/>
                            </a:rPr>
                            <a:t>数</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hMerge="1">
                      <a:txBody>
                        <a:bodyPr/>
                        <a:lstStyle/>
                        <a:p>
                          <a:endParaRPr kumimoji="1" lang="ja-JP" altLang="en-US"/>
                        </a:p>
                      </a:txBody>
                      <a:tcPr/>
                    </a:tc>
                    <a:tc>
                      <a:txBody>
                        <a:bodyPr/>
                        <a:lstStyle/>
                        <a:p>
                          <a:pPr marL="0" indent="0" algn="ctr">
                            <a:buFont typeface="Arial" panose="020B0604020202020204" pitchFamily="34" charset="0"/>
                            <a:buNone/>
                          </a:pPr>
                          <a:r>
                            <a:rPr kumimoji="1" lang="en" altLang="ja-JP" sz="3200" b="0" dirty="0">
                              <a:latin typeface="MS PGothic" panose="020B0600070205080204" pitchFamily="34" charset="-128"/>
                              <a:ea typeface="MS PGothic" panose="020B0600070205080204" pitchFamily="34" charset="-128"/>
                            </a:rPr>
                            <a:t>4 / 4</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1512307595"/>
                      </a:ext>
                    </a:extLst>
                  </a:tr>
                </a:tbl>
              </a:graphicData>
            </a:graphic>
          </p:graphicFrame>
        </mc:Fallback>
      </mc:AlternateContent>
      <p:sp>
        <p:nvSpPr>
          <p:cNvPr id="1219" name="テキスト ボックス 1218">
            <a:extLst>
              <a:ext uri="{FF2B5EF4-FFF2-40B4-BE49-F238E27FC236}">
                <a16:creationId xmlns:a16="http://schemas.microsoft.com/office/drawing/2014/main" id="{40C5FC19-C0C1-035C-ABDC-58E9BB559069}"/>
              </a:ext>
            </a:extLst>
          </p:cNvPr>
          <p:cNvSpPr txBox="1"/>
          <p:nvPr/>
        </p:nvSpPr>
        <p:spPr>
          <a:xfrm>
            <a:off x="249830" y="28883073"/>
            <a:ext cx="14869520" cy="584775"/>
          </a:xfrm>
          <a:prstGeom prst="rect">
            <a:avLst/>
          </a:prstGeom>
          <a:noFill/>
        </p:spPr>
        <p:txBody>
          <a:bodyPr wrap="square" rtlCol="0">
            <a:spAutoFit/>
          </a:bodyPr>
          <a:lstStyle/>
          <a:p>
            <a:pPr algn="ctr"/>
            <a:r>
              <a:rPr kumimoji="1" lang="ja-JP" altLang="en-US" sz="3200">
                <a:latin typeface="MS PGothic" panose="020B0600070205080204" pitchFamily="34" charset="-128"/>
                <a:ea typeface="MS PGothic" panose="020B0600070205080204" pitchFamily="34" charset="-128"/>
              </a:rPr>
              <a:t>表</a:t>
            </a:r>
            <a:r>
              <a:rPr kumimoji="1" lang="en-US" altLang="ja-JP" sz="3200" dirty="0">
                <a:latin typeface="MS PGothic" panose="020B0600070205080204" pitchFamily="34" charset="-128"/>
                <a:ea typeface="MS PGothic" panose="020B0600070205080204" pitchFamily="34" charset="-128"/>
              </a:rPr>
              <a:t>2</a:t>
            </a:r>
            <a:r>
              <a:rPr kumimoji="1" lang="ja-JP" altLang="en-US" sz="3200">
                <a:latin typeface="MS PGothic" panose="020B0600070205080204" pitchFamily="34" charset="-128"/>
                <a:ea typeface="MS PGothic" panose="020B0600070205080204" pitchFamily="34" charset="-128"/>
              </a:rPr>
              <a:t>　</a:t>
            </a:r>
            <a:r>
              <a:rPr kumimoji="1" lang="ja-JP" altLang="en-US" sz="3200" dirty="0">
                <a:latin typeface="MS PGothic" panose="020B0600070205080204" pitchFamily="34" charset="-128"/>
                <a:ea typeface="MS PGothic" panose="020B0600070205080204" pitchFamily="34" charset="-128"/>
              </a:rPr>
              <a:t>実験条件</a:t>
            </a:r>
            <a:endParaRPr kumimoji="1" lang="en-US" altLang="ja-JP" sz="3200" dirty="0">
              <a:latin typeface="MS PGothic" panose="020B0600070205080204" pitchFamily="34" charset="-128"/>
              <a:ea typeface="MS PGothic" panose="020B0600070205080204" pitchFamily="34" charset="-128"/>
            </a:endParaRPr>
          </a:p>
        </p:txBody>
      </p:sp>
      <p:graphicFrame>
        <p:nvGraphicFramePr>
          <p:cNvPr id="1220" name="表 1219">
            <a:extLst>
              <a:ext uri="{FF2B5EF4-FFF2-40B4-BE49-F238E27FC236}">
                <a16:creationId xmlns:a16="http://schemas.microsoft.com/office/drawing/2014/main" id="{2E92CFBA-641E-70C4-7838-C0571EE4B707}"/>
              </a:ext>
            </a:extLst>
          </p:cNvPr>
          <p:cNvGraphicFramePr>
            <a:graphicFrameLocks noGrp="1"/>
          </p:cNvGraphicFramePr>
          <p:nvPr>
            <p:extLst>
              <p:ext uri="{D42A27DB-BD31-4B8C-83A1-F6EECF244321}">
                <p14:modId xmlns:p14="http://schemas.microsoft.com/office/powerpoint/2010/main" val="798777811"/>
              </p:ext>
            </p:extLst>
          </p:nvPr>
        </p:nvGraphicFramePr>
        <p:xfrm>
          <a:off x="231670" y="36483025"/>
          <a:ext cx="14909738" cy="2316480"/>
        </p:xfrm>
        <a:graphic>
          <a:graphicData uri="http://schemas.openxmlformats.org/drawingml/2006/table">
            <a:tbl>
              <a:tblPr firstRow="1" bandRow="1">
                <a:tableStyleId>{5C22544A-7EE6-4342-B048-85BDC9FD1C3A}</a:tableStyleId>
              </a:tblPr>
              <a:tblGrid>
                <a:gridCol w="7454869">
                  <a:extLst>
                    <a:ext uri="{9D8B030D-6E8A-4147-A177-3AD203B41FA5}">
                      <a16:colId xmlns:a16="http://schemas.microsoft.com/office/drawing/2014/main" val="1302717659"/>
                    </a:ext>
                  </a:extLst>
                </a:gridCol>
                <a:gridCol w="7454869">
                  <a:extLst>
                    <a:ext uri="{9D8B030D-6E8A-4147-A177-3AD203B41FA5}">
                      <a16:colId xmlns:a16="http://schemas.microsoft.com/office/drawing/2014/main" val="118972529"/>
                    </a:ext>
                  </a:extLst>
                </a:gridCol>
              </a:tblGrid>
              <a:tr h="569178">
                <a:tc>
                  <a:txBody>
                    <a:bodyPr/>
                    <a:lstStyle/>
                    <a:p>
                      <a:pPr algn="ctr"/>
                      <a:r>
                        <a:rPr kumimoji="1" lang="ja-JP" altLang="en-US" sz="3200" b="0" dirty="0">
                          <a:latin typeface="MS PGothic" panose="020B0600070205080204" pitchFamily="34" charset="-128"/>
                          <a:ea typeface="MS PGothic" panose="020B0600070205080204" pitchFamily="34" charset="-128"/>
                        </a:rPr>
                        <a:t>モデル</a:t>
                      </a:r>
                    </a:p>
                  </a:txBody>
                  <a:tcPr>
                    <a:solidFill>
                      <a:srgbClr val="0070C0"/>
                    </a:solidFill>
                  </a:tcPr>
                </a:tc>
                <a:tc>
                  <a:txBody>
                    <a:bodyPr/>
                    <a:lstStyle/>
                    <a:p>
                      <a:pPr algn="ctr"/>
                      <a:r>
                        <a:rPr kumimoji="1" lang="en-US" altLang="ja-JP" sz="3200" b="0" dirty="0">
                          <a:latin typeface="MS PGothic" panose="020B0600070205080204" pitchFamily="34" charset="-128"/>
                          <a:ea typeface="MS PGothic" panose="020B0600070205080204" pitchFamily="34" charset="-128"/>
                        </a:rPr>
                        <a:t>Perplexity</a:t>
                      </a:r>
                      <a:endParaRPr kumimoji="1" lang="ja-JP" altLang="en-US" sz="3200" b="0" dirty="0">
                        <a:latin typeface="MS PGothic" panose="020B0600070205080204" pitchFamily="34" charset="-128"/>
                        <a:ea typeface="MS PGothic" panose="020B0600070205080204" pitchFamily="34" charset="-128"/>
                      </a:endParaRPr>
                    </a:p>
                  </a:txBody>
                  <a:tcPr>
                    <a:solidFill>
                      <a:srgbClr val="0070C0"/>
                    </a:solidFill>
                  </a:tcPr>
                </a:tc>
                <a:extLst>
                  <a:ext uri="{0D108BD9-81ED-4DB2-BD59-A6C34878D82A}">
                    <a16:rowId xmlns:a16="http://schemas.microsoft.com/office/drawing/2014/main" val="3361642135"/>
                  </a:ext>
                </a:extLst>
              </a:tr>
              <a:tr h="405772">
                <a:tc>
                  <a:txBody>
                    <a:bodyPr/>
                    <a:lstStyle/>
                    <a:p>
                      <a:pPr algn="ctr"/>
                      <a:r>
                        <a:rPr kumimoji="1" lang="ja-JP" altLang="en-US" sz="3200" b="0">
                          <a:latin typeface="MS PGothic" panose="020B0600070205080204" pitchFamily="34" charset="-128"/>
                          <a:ea typeface="MS PGothic" panose="020B0600070205080204" pitchFamily="34" charset="-128"/>
                        </a:rPr>
                        <a:t>提案手法</a:t>
                      </a:r>
                    </a:p>
                  </a:txBody>
                  <a:tcPr/>
                </a:tc>
                <a:tc>
                  <a:txBody>
                    <a:bodyPr/>
                    <a:lstStyle/>
                    <a:p>
                      <a:pPr marL="0" indent="0" algn="ctr">
                        <a:buFont typeface="Arial" panose="020B0604020202020204" pitchFamily="34" charset="0"/>
                        <a:buNone/>
                      </a:pPr>
                      <a:r>
                        <a:rPr kumimoji="1" lang="en-US" altLang="ja-JP" sz="3200" b="0" dirty="0">
                          <a:latin typeface="MS PGothic" panose="020B0600070205080204" pitchFamily="34" charset="-128"/>
                          <a:ea typeface="MS PGothic" panose="020B0600070205080204" pitchFamily="34" charset="-128"/>
                        </a:rPr>
                        <a:t>40.564274</a:t>
                      </a:r>
                    </a:p>
                  </a:txBody>
                  <a:tcPr/>
                </a:tc>
                <a:extLst>
                  <a:ext uri="{0D108BD9-81ED-4DB2-BD59-A6C34878D82A}">
                    <a16:rowId xmlns:a16="http://schemas.microsoft.com/office/drawing/2014/main" val="1801116897"/>
                  </a:ext>
                </a:extLst>
              </a:tr>
              <a:tr h="405772">
                <a:tc>
                  <a:txBody>
                    <a:bodyPr/>
                    <a:lstStyle/>
                    <a:p>
                      <a:pPr algn="ctr"/>
                      <a:r>
                        <a:rPr kumimoji="1" lang="en-US" altLang="ja-JP" sz="3200" b="0" dirty="0">
                          <a:latin typeface="MS PGothic" panose="020B0600070205080204" pitchFamily="34" charset="-128"/>
                          <a:ea typeface="MS PGothic" panose="020B0600070205080204" pitchFamily="34" charset="-128"/>
                        </a:rPr>
                        <a:t>NJM</a:t>
                      </a:r>
                      <a:endParaRPr kumimoji="1" lang="ja-JP" altLang="en-US" sz="3200" b="0">
                        <a:latin typeface="MS PGothic" panose="020B0600070205080204" pitchFamily="34" charset="-128"/>
                        <a:ea typeface="MS PGothic" panose="020B0600070205080204" pitchFamily="34" charset="-128"/>
                      </a:endParaRPr>
                    </a:p>
                  </a:txBody>
                  <a:tcPr/>
                </a:tc>
                <a:tc>
                  <a:txBody>
                    <a:bodyPr/>
                    <a:lstStyle/>
                    <a:p>
                      <a:pPr marL="0" indent="0" algn="ctr">
                        <a:buFont typeface="Arial" panose="020B0604020202020204" pitchFamily="34" charset="0"/>
                        <a:buNone/>
                      </a:pPr>
                      <a:r>
                        <a:rPr kumimoji="1" lang="en" altLang="ja-JP" sz="3200" b="0" dirty="0">
                          <a:latin typeface="MS PGothic" panose="020B0600070205080204" pitchFamily="34" charset="-128"/>
                          <a:ea typeface="MS PGothic" panose="020B0600070205080204" pitchFamily="34" charset="-128"/>
                        </a:rPr>
                        <a:t>46.557705</a:t>
                      </a:r>
                    </a:p>
                  </a:txBody>
                  <a:tcPr/>
                </a:tc>
                <a:extLst>
                  <a:ext uri="{0D108BD9-81ED-4DB2-BD59-A6C34878D82A}">
                    <a16:rowId xmlns:a16="http://schemas.microsoft.com/office/drawing/2014/main" val="3798152386"/>
                  </a:ext>
                </a:extLst>
              </a:tr>
              <a:tr h="405772">
                <a:tc>
                  <a:txBody>
                    <a:bodyPr/>
                    <a:lstStyle/>
                    <a:p>
                      <a:pPr algn="ctr"/>
                      <a:r>
                        <a:rPr kumimoji="1" lang="en-US" altLang="ja-JP" sz="3200" b="0" dirty="0">
                          <a:latin typeface="MS PGothic" panose="020B0600070205080204" pitchFamily="34" charset="-128"/>
                          <a:ea typeface="MS PGothic" panose="020B0600070205080204" pitchFamily="34" charset="-128"/>
                        </a:rPr>
                        <a:t>GUMI-AE</a:t>
                      </a:r>
                      <a:endParaRPr kumimoji="1" lang="ja-JP" altLang="en-US" sz="3200" b="0">
                        <a:latin typeface="MS PGothic" panose="020B0600070205080204" pitchFamily="34" charset="-128"/>
                        <a:ea typeface="MS PGothic" panose="020B0600070205080204" pitchFamily="34" charset="-128"/>
                      </a:endParaRPr>
                    </a:p>
                  </a:txBody>
                  <a:tcPr/>
                </a:tc>
                <a:tc>
                  <a:txBody>
                    <a:bodyPr/>
                    <a:lstStyle/>
                    <a:p>
                      <a:pPr marL="0" indent="0" algn="ctr">
                        <a:buFont typeface="Arial" panose="020B0604020202020204" pitchFamily="34" charset="0"/>
                        <a:buNone/>
                      </a:pPr>
                      <a:r>
                        <a:rPr kumimoji="1" lang="en" altLang="ja-JP" sz="3200" b="0" dirty="0">
                          <a:latin typeface="MS PGothic" panose="020B0600070205080204" pitchFamily="34" charset="-128"/>
                          <a:ea typeface="MS PGothic" panose="020B0600070205080204" pitchFamily="34" charset="-128"/>
                        </a:rPr>
                        <a:t>47.633007</a:t>
                      </a:r>
                    </a:p>
                  </a:txBody>
                  <a:tcPr/>
                </a:tc>
                <a:extLst>
                  <a:ext uri="{0D108BD9-81ED-4DB2-BD59-A6C34878D82A}">
                    <a16:rowId xmlns:a16="http://schemas.microsoft.com/office/drawing/2014/main" val="2893383439"/>
                  </a:ext>
                </a:extLst>
              </a:tr>
            </a:tbl>
          </a:graphicData>
        </a:graphic>
      </p:graphicFrame>
      <p:sp>
        <p:nvSpPr>
          <p:cNvPr id="1221" name="テキスト ボックス 1220">
            <a:extLst>
              <a:ext uri="{FF2B5EF4-FFF2-40B4-BE49-F238E27FC236}">
                <a16:creationId xmlns:a16="http://schemas.microsoft.com/office/drawing/2014/main" id="{45AE452D-5629-0EB5-C07A-14C956A5EC16}"/>
              </a:ext>
            </a:extLst>
          </p:cNvPr>
          <p:cNvSpPr txBox="1"/>
          <p:nvPr/>
        </p:nvSpPr>
        <p:spPr>
          <a:xfrm>
            <a:off x="214457" y="35883216"/>
            <a:ext cx="14926951" cy="584775"/>
          </a:xfrm>
          <a:prstGeom prst="rect">
            <a:avLst/>
          </a:prstGeom>
          <a:noFill/>
        </p:spPr>
        <p:txBody>
          <a:bodyPr wrap="square" rtlCol="0">
            <a:spAutoFit/>
          </a:bodyPr>
          <a:lstStyle/>
          <a:p>
            <a:pPr algn="ctr"/>
            <a:r>
              <a:rPr kumimoji="1" lang="ja-JP" altLang="en-US" sz="3200">
                <a:latin typeface="MS PGothic" panose="020B0600070205080204" pitchFamily="34" charset="-128"/>
                <a:ea typeface="MS PGothic" panose="020B0600070205080204" pitchFamily="34" charset="-128"/>
              </a:rPr>
              <a:t>表</a:t>
            </a:r>
            <a:r>
              <a:rPr kumimoji="1" lang="en-US" altLang="ja-JP" sz="3200" dirty="0">
                <a:latin typeface="MS PGothic" panose="020B0600070205080204" pitchFamily="34" charset="-128"/>
                <a:ea typeface="MS PGothic" panose="020B0600070205080204" pitchFamily="34" charset="-128"/>
              </a:rPr>
              <a:t>4</a:t>
            </a:r>
            <a:r>
              <a:rPr kumimoji="1" lang="ja-JP" altLang="en-US" sz="3200">
                <a:latin typeface="MS PGothic" panose="020B0600070205080204" pitchFamily="34" charset="-128"/>
                <a:ea typeface="MS PGothic" panose="020B0600070205080204" pitchFamily="34" charset="-128"/>
              </a:rPr>
              <a:t>　</a:t>
            </a:r>
            <a:r>
              <a:rPr kumimoji="1" lang="ja-JP" altLang="en-US" sz="3200" dirty="0">
                <a:latin typeface="MS PGothic" panose="020B0600070205080204" pitchFamily="34" charset="-128"/>
                <a:ea typeface="MS PGothic" panose="020B0600070205080204" pitchFamily="34" charset="-128"/>
              </a:rPr>
              <a:t>テストデータに</a:t>
            </a:r>
            <a:r>
              <a:rPr kumimoji="1" lang="ja-JP" altLang="en-US" sz="3200">
                <a:latin typeface="MS PGothic" panose="020B0600070205080204" pitchFamily="34" charset="-128"/>
                <a:ea typeface="MS PGothic" panose="020B0600070205080204" pitchFamily="34" charset="-128"/>
              </a:rPr>
              <a:t>対する</a:t>
            </a:r>
            <a:r>
              <a:rPr kumimoji="1" lang="en-US" altLang="ja-JP" sz="3200" dirty="0">
                <a:latin typeface="MS PGothic" panose="020B0600070205080204" pitchFamily="34" charset="-128"/>
                <a:ea typeface="MS PGothic" panose="020B0600070205080204" pitchFamily="34" charset="-128"/>
              </a:rPr>
              <a:t>Perplexity</a:t>
            </a:r>
          </a:p>
        </p:txBody>
      </p:sp>
      <p:graphicFrame>
        <p:nvGraphicFramePr>
          <p:cNvPr id="1222" name="表 1221">
            <a:extLst>
              <a:ext uri="{FF2B5EF4-FFF2-40B4-BE49-F238E27FC236}">
                <a16:creationId xmlns:a16="http://schemas.microsoft.com/office/drawing/2014/main" id="{E4285528-8FC8-8C46-7910-73F74ADBF9C3}"/>
              </a:ext>
            </a:extLst>
          </p:cNvPr>
          <p:cNvGraphicFramePr>
            <a:graphicFrameLocks noGrp="1"/>
          </p:cNvGraphicFramePr>
          <p:nvPr>
            <p:extLst>
              <p:ext uri="{D42A27DB-BD31-4B8C-83A1-F6EECF244321}">
                <p14:modId xmlns:p14="http://schemas.microsoft.com/office/powerpoint/2010/main" val="1940633365"/>
              </p:ext>
            </p:extLst>
          </p:nvPr>
        </p:nvGraphicFramePr>
        <p:xfrm>
          <a:off x="231671" y="33592336"/>
          <a:ext cx="14909739" cy="2316480"/>
        </p:xfrm>
        <a:graphic>
          <a:graphicData uri="http://schemas.openxmlformats.org/drawingml/2006/table">
            <a:tbl>
              <a:tblPr firstRow="1" bandRow="1">
                <a:tableStyleId>{5C22544A-7EE6-4342-B048-85BDC9FD1C3A}</a:tableStyleId>
              </a:tblPr>
              <a:tblGrid>
                <a:gridCol w="4969913">
                  <a:extLst>
                    <a:ext uri="{9D8B030D-6E8A-4147-A177-3AD203B41FA5}">
                      <a16:colId xmlns:a16="http://schemas.microsoft.com/office/drawing/2014/main" val="1302717659"/>
                    </a:ext>
                  </a:extLst>
                </a:gridCol>
                <a:gridCol w="4969913">
                  <a:extLst>
                    <a:ext uri="{9D8B030D-6E8A-4147-A177-3AD203B41FA5}">
                      <a16:colId xmlns:a16="http://schemas.microsoft.com/office/drawing/2014/main" val="118972529"/>
                    </a:ext>
                  </a:extLst>
                </a:gridCol>
                <a:gridCol w="4969913">
                  <a:extLst>
                    <a:ext uri="{9D8B030D-6E8A-4147-A177-3AD203B41FA5}">
                      <a16:colId xmlns:a16="http://schemas.microsoft.com/office/drawing/2014/main" val="553549020"/>
                    </a:ext>
                  </a:extLst>
                </a:gridCol>
              </a:tblGrid>
              <a:tr h="510021">
                <a:tc>
                  <a:txBody>
                    <a:bodyPr/>
                    <a:lstStyle/>
                    <a:p>
                      <a:pPr algn="ctr"/>
                      <a:r>
                        <a:rPr kumimoji="1" lang="ja-JP" altLang="en-US" sz="3200" b="0" dirty="0">
                          <a:latin typeface="MS PGothic" panose="020B0600070205080204" pitchFamily="34" charset="-128"/>
                          <a:ea typeface="MS PGothic" panose="020B0600070205080204" pitchFamily="34" charset="-128"/>
                        </a:rPr>
                        <a:t>モデル</a:t>
                      </a:r>
                    </a:p>
                  </a:txBody>
                  <a:tcPr>
                    <a:solidFill>
                      <a:srgbClr val="0070C0"/>
                    </a:solidFill>
                  </a:tcPr>
                </a:tc>
                <a:tc>
                  <a:txBody>
                    <a:bodyPr/>
                    <a:lstStyle/>
                    <a:p>
                      <a:pPr algn="ctr"/>
                      <a:r>
                        <a:rPr kumimoji="1" lang="en-US" altLang="ja-JP" sz="3200" b="0" dirty="0">
                          <a:latin typeface="MS PGothic" panose="020B0600070205080204" pitchFamily="34" charset="-128"/>
                          <a:ea typeface="MS PGothic" panose="020B0600070205080204" pitchFamily="34" charset="-128"/>
                        </a:rPr>
                        <a:t>Loss(Best)</a:t>
                      </a:r>
                      <a:endParaRPr kumimoji="1" lang="ja-JP" altLang="en-US" sz="3200" b="0" dirty="0">
                        <a:latin typeface="MS PGothic" panose="020B0600070205080204" pitchFamily="34" charset="-128"/>
                        <a:ea typeface="MS PGothic" panose="020B0600070205080204" pitchFamily="34" charset="-128"/>
                      </a:endParaRPr>
                    </a:p>
                  </a:txBody>
                  <a:tcPr>
                    <a:solidFill>
                      <a:srgbClr val="0070C0"/>
                    </a:solidFill>
                  </a:tcPr>
                </a:tc>
                <a:tc>
                  <a:txBody>
                    <a:bodyPr/>
                    <a:lstStyle/>
                    <a:p>
                      <a:pPr algn="ctr"/>
                      <a:r>
                        <a:rPr kumimoji="1" lang="en-US" altLang="ja-JP" sz="3200" b="0" dirty="0">
                          <a:latin typeface="MS PGothic" panose="020B0600070205080204" pitchFamily="34" charset="-128"/>
                          <a:ea typeface="MS PGothic" panose="020B0600070205080204" pitchFamily="34" charset="-128"/>
                        </a:rPr>
                        <a:t>Accuracy(Best)</a:t>
                      </a:r>
                      <a:endParaRPr kumimoji="1" lang="ja-JP" altLang="en-US" sz="3200" b="0" dirty="0">
                        <a:latin typeface="MS PGothic" panose="020B0600070205080204" pitchFamily="34" charset="-128"/>
                        <a:ea typeface="MS PGothic" panose="020B0600070205080204" pitchFamily="34" charset="-128"/>
                      </a:endParaRPr>
                    </a:p>
                  </a:txBody>
                  <a:tcPr>
                    <a:solidFill>
                      <a:srgbClr val="0070C0"/>
                    </a:solidFill>
                  </a:tcPr>
                </a:tc>
                <a:extLst>
                  <a:ext uri="{0D108BD9-81ED-4DB2-BD59-A6C34878D82A}">
                    <a16:rowId xmlns:a16="http://schemas.microsoft.com/office/drawing/2014/main" val="3361642135"/>
                  </a:ext>
                </a:extLst>
              </a:tr>
              <a:tr h="405772">
                <a:tc>
                  <a:txBody>
                    <a:bodyPr/>
                    <a:lstStyle/>
                    <a:p>
                      <a:pPr algn="ctr"/>
                      <a:r>
                        <a:rPr kumimoji="1" lang="ja-JP" altLang="en-US" sz="3200" b="0">
                          <a:latin typeface="MS PGothic" panose="020B0600070205080204" pitchFamily="34" charset="-128"/>
                          <a:ea typeface="MS PGothic" panose="020B0600070205080204" pitchFamily="34" charset="-128"/>
                        </a:rPr>
                        <a:t>提案手法</a:t>
                      </a:r>
                    </a:p>
                  </a:txBody>
                  <a:tcPr/>
                </a:tc>
                <a:tc>
                  <a:txBody>
                    <a:bodyPr/>
                    <a:lstStyle/>
                    <a:p>
                      <a:pPr marL="0" indent="0" algn="ctr">
                        <a:buFont typeface="Arial" panose="020B0604020202020204" pitchFamily="34" charset="0"/>
                        <a:buNone/>
                      </a:pPr>
                      <a:r>
                        <a:rPr kumimoji="1" lang="en-US" altLang="ja-JP" sz="3200" b="1" dirty="0">
                          <a:latin typeface="MS PGothic" panose="020B0600070205080204" pitchFamily="34" charset="-128"/>
                          <a:ea typeface="MS PGothic" panose="020B0600070205080204" pitchFamily="34" charset="-128"/>
                        </a:rPr>
                        <a:t>1.4493992328643799</a:t>
                      </a:r>
                    </a:p>
                  </a:txBody>
                  <a:tcPr/>
                </a:tc>
                <a:tc>
                  <a:txBody>
                    <a:bodyPr/>
                    <a:lstStyle/>
                    <a:p>
                      <a:pPr marL="0" indent="0" algn="ctr">
                        <a:buFont typeface="Arial" panose="020B0604020202020204" pitchFamily="34" charset="0"/>
                        <a:buNone/>
                      </a:pPr>
                      <a:r>
                        <a:rPr kumimoji="1" lang="en-US" altLang="ja-JP" sz="3200" b="1" dirty="0">
                          <a:latin typeface="MS PGothic" panose="020B0600070205080204" pitchFamily="34" charset="-128"/>
                          <a:ea typeface="MS PGothic" panose="020B0600070205080204" pitchFamily="34" charset="-128"/>
                        </a:rPr>
                        <a:t>0.6517506241798401</a:t>
                      </a:r>
                    </a:p>
                  </a:txBody>
                  <a:tcPr/>
                </a:tc>
                <a:extLst>
                  <a:ext uri="{0D108BD9-81ED-4DB2-BD59-A6C34878D82A}">
                    <a16:rowId xmlns:a16="http://schemas.microsoft.com/office/drawing/2014/main" val="1801116897"/>
                  </a:ext>
                </a:extLst>
              </a:tr>
              <a:tr h="405772">
                <a:tc>
                  <a:txBody>
                    <a:bodyPr/>
                    <a:lstStyle/>
                    <a:p>
                      <a:pPr algn="ctr"/>
                      <a:r>
                        <a:rPr kumimoji="1" lang="en-US" altLang="ja-JP" sz="3200" b="0" dirty="0">
                          <a:latin typeface="MS PGothic" panose="020B0600070205080204" pitchFamily="34" charset="-128"/>
                          <a:ea typeface="MS PGothic" panose="020B0600070205080204" pitchFamily="34" charset="-128"/>
                        </a:rPr>
                        <a:t>NJM</a:t>
                      </a:r>
                      <a:endParaRPr kumimoji="1" lang="ja-JP" altLang="en-US" sz="3200" b="0">
                        <a:latin typeface="MS PGothic" panose="020B0600070205080204" pitchFamily="34" charset="-128"/>
                        <a:ea typeface="MS PGothic" panose="020B0600070205080204" pitchFamily="34" charset="-128"/>
                      </a:endParaRPr>
                    </a:p>
                  </a:txBody>
                  <a:tcPr/>
                </a:tc>
                <a:tc>
                  <a:txBody>
                    <a:bodyPr/>
                    <a:lstStyle/>
                    <a:p>
                      <a:pPr marL="0" indent="0" algn="ctr">
                        <a:buFont typeface="Arial" panose="020B0604020202020204" pitchFamily="34" charset="0"/>
                        <a:buNone/>
                      </a:pPr>
                      <a:r>
                        <a:rPr kumimoji="1" lang="en" altLang="ja-JP" sz="3200" b="0" dirty="0">
                          <a:latin typeface="MS PGothic" panose="020B0600070205080204" pitchFamily="34" charset="-128"/>
                          <a:ea typeface="MS PGothic" panose="020B0600070205080204" pitchFamily="34" charset="-128"/>
                        </a:rPr>
                        <a:t>2.2891807556152344</a:t>
                      </a:r>
                    </a:p>
                  </a:txBody>
                  <a:tcPr/>
                </a:tc>
                <a:tc>
                  <a:txBody>
                    <a:bodyPr/>
                    <a:lstStyle/>
                    <a:p>
                      <a:pPr marL="0" indent="0" algn="ctr">
                        <a:buFont typeface="Arial" panose="020B0604020202020204" pitchFamily="34" charset="0"/>
                        <a:buNone/>
                      </a:pPr>
                      <a:r>
                        <a:rPr kumimoji="1" lang="en" altLang="ja-JP" sz="3200" b="0" dirty="0">
                          <a:latin typeface="MS PGothic" panose="020B0600070205080204" pitchFamily="34" charset="-128"/>
                          <a:ea typeface="MS PGothic" panose="020B0600070205080204" pitchFamily="34" charset="-128"/>
                        </a:rPr>
                        <a:t>0.5655385255813599</a:t>
                      </a:r>
                    </a:p>
                  </a:txBody>
                  <a:tcPr/>
                </a:tc>
                <a:extLst>
                  <a:ext uri="{0D108BD9-81ED-4DB2-BD59-A6C34878D82A}">
                    <a16:rowId xmlns:a16="http://schemas.microsoft.com/office/drawing/2014/main" val="3798152386"/>
                  </a:ext>
                </a:extLst>
              </a:tr>
              <a:tr h="405772">
                <a:tc>
                  <a:txBody>
                    <a:bodyPr/>
                    <a:lstStyle/>
                    <a:p>
                      <a:pPr algn="ctr"/>
                      <a:r>
                        <a:rPr kumimoji="1" lang="en-US" altLang="ja-JP" sz="3200" b="0" dirty="0">
                          <a:latin typeface="MS PGothic" panose="020B0600070205080204" pitchFamily="34" charset="-128"/>
                          <a:ea typeface="MS PGothic" panose="020B0600070205080204" pitchFamily="34" charset="-128"/>
                        </a:rPr>
                        <a:t>GUMI-AE</a:t>
                      </a:r>
                      <a:endParaRPr kumimoji="1" lang="ja-JP" altLang="en-US" sz="3200" b="0">
                        <a:latin typeface="MS PGothic" panose="020B0600070205080204" pitchFamily="34" charset="-128"/>
                        <a:ea typeface="MS PGothic" panose="020B0600070205080204" pitchFamily="34" charset="-128"/>
                      </a:endParaRPr>
                    </a:p>
                  </a:txBody>
                  <a:tcPr/>
                </a:tc>
                <a:tc>
                  <a:txBody>
                    <a:bodyPr/>
                    <a:lstStyle/>
                    <a:p>
                      <a:pPr marL="0" indent="0" algn="ctr">
                        <a:buFont typeface="Arial" panose="020B0604020202020204" pitchFamily="34" charset="0"/>
                        <a:buNone/>
                      </a:pPr>
                      <a:r>
                        <a:rPr kumimoji="1" lang="en-US" altLang="ja-JP" sz="3200" b="0" dirty="0">
                          <a:latin typeface="MS PGothic" panose="020B0600070205080204" pitchFamily="34" charset="-128"/>
                          <a:ea typeface="MS PGothic" panose="020B0600070205080204" pitchFamily="34" charset="-128"/>
                        </a:rPr>
                        <a:t>2.249046802520752</a:t>
                      </a:r>
                    </a:p>
                  </a:txBody>
                  <a:tcPr/>
                </a:tc>
                <a:tc>
                  <a:txBody>
                    <a:bodyPr/>
                    <a:lstStyle/>
                    <a:p>
                      <a:pPr marL="0" indent="0" algn="ctr">
                        <a:buFont typeface="Arial" panose="020B0604020202020204" pitchFamily="34" charset="0"/>
                        <a:buNone/>
                      </a:pPr>
                      <a:r>
                        <a:rPr kumimoji="1" lang="en-US" altLang="ja-JP" sz="3200" b="0" dirty="0">
                          <a:latin typeface="MS PGothic" panose="020B0600070205080204" pitchFamily="34" charset="-128"/>
                          <a:ea typeface="MS PGothic" panose="020B0600070205080204" pitchFamily="34" charset="-128"/>
                        </a:rPr>
                        <a:t>0.5632294416427612</a:t>
                      </a:r>
                    </a:p>
                  </a:txBody>
                  <a:tcPr/>
                </a:tc>
                <a:extLst>
                  <a:ext uri="{0D108BD9-81ED-4DB2-BD59-A6C34878D82A}">
                    <a16:rowId xmlns:a16="http://schemas.microsoft.com/office/drawing/2014/main" val="2893383439"/>
                  </a:ext>
                </a:extLst>
              </a:tr>
            </a:tbl>
          </a:graphicData>
        </a:graphic>
      </p:graphicFrame>
      <p:sp>
        <p:nvSpPr>
          <p:cNvPr id="1223" name="テキスト ボックス 1222">
            <a:extLst>
              <a:ext uri="{FF2B5EF4-FFF2-40B4-BE49-F238E27FC236}">
                <a16:creationId xmlns:a16="http://schemas.microsoft.com/office/drawing/2014/main" id="{AB271C36-7FF0-6189-B041-34EB86F6678D}"/>
              </a:ext>
            </a:extLst>
          </p:cNvPr>
          <p:cNvSpPr txBox="1"/>
          <p:nvPr/>
        </p:nvSpPr>
        <p:spPr>
          <a:xfrm>
            <a:off x="214458" y="32975417"/>
            <a:ext cx="14904892" cy="584775"/>
          </a:xfrm>
          <a:prstGeom prst="rect">
            <a:avLst/>
          </a:prstGeom>
          <a:noFill/>
        </p:spPr>
        <p:txBody>
          <a:bodyPr wrap="square" rtlCol="0">
            <a:spAutoFit/>
          </a:bodyPr>
          <a:lstStyle/>
          <a:p>
            <a:pPr algn="ctr"/>
            <a:r>
              <a:rPr kumimoji="1" lang="ja-JP" altLang="en-US" sz="3200">
                <a:latin typeface="MS PGothic" panose="020B0600070205080204" pitchFamily="34" charset="-128"/>
                <a:ea typeface="MS PGothic" panose="020B0600070205080204" pitchFamily="34" charset="-128"/>
              </a:rPr>
              <a:t>表</a:t>
            </a:r>
            <a:r>
              <a:rPr kumimoji="1" lang="en-US" altLang="ja-JP" sz="3200" dirty="0">
                <a:latin typeface="MS PGothic" panose="020B0600070205080204" pitchFamily="34" charset="-128"/>
                <a:ea typeface="MS PGothic" panose="020B0600070205080204" pitchFamily="34" charset="-128"/>
              </a:rPr>
              <a:t>3</a:t>
            </a:r>
            <a:r>
              <a:rPr kumimoji="1" lang="ja-JP" altLang="en-US" sz="3200">
                <a:latin typeface="MS PGothic" panose="020B0600070205080204" pitchFamily="34" charset="-128"/>
                <a:ea typeface="MS PGothic" panose="020B0600070205080204" pitchFamily="34" charset="-128"/>
              </a:rPr>
              <a:t>　学習データに対する損失</a:t>
            </a:r>
            <a:r>
              <a:rPr kumimoji="1" lang="en-US" altLang="ja-JP" sz="3200" dirty="0">
                <a:latin typeface="MS PGothic" panose="020B0600070205080204" pitchFamily="34" charset="-128"/>
                <a:ea typeface="MS PGothic" panose="020B0600070205080204" pitchFamily="34" charset="-128"/>
              </a:rPr>
              <a:t>/</a:t>
            </a:r>
            <a:r>
              <a:rPr kumimoji="1" lang="ja-JP" altLang="en-US" sz="3200">
                <a:latin typeface="MS PGothic" panose="020B0600070205080204" pitchFamily="34" charset="-128"/>
                <a:ea typeface="MS PGothic" panose="020B0600070205080204" pitchFamily="34" charset="-128"/>
              </a:rPr>
              <a:t>精度</a:t>
            </a:r>
            <a:endParaRPr kumimoji="1" lang="en-US" altLang="ja-JP" sz="3200" dirty="0">
              <a:latin typeface="MS PGothic" panose="020B0600070205080204" pitchFamily="34" charset="-128"/>
              <a:ea typeface="MS PGothic" panose="020B0600070205080204" pitchFamily="34" charset="-128"/>
            </a:endParaRPr>
          </a:p>
        </p:txBody>
      </p:sp>
      <p:graphicFrame>
        <p:nvGraphicFramePr>
          <p:cNvPr id="1225" name="表 1224">
            <a:extLst>
              <a:ext uri="{FF2B5EF4-FFF2-40B4-BE49-F238E27FC236}">
                <a16:creationId xmlns:a16="http://schemas.microsoft.com/office/drawing/2014/main" id="{FA44B5EE-6A61-C03D-FD73-D22A2DD9DF1C}"/>
              </a:ext>
            </a:extLst>
          </p:cNvPr>
          <p:cNvGraphicFramePr>
            <a:graphicFrameLocks noGrp="1"/>
          </p:cNvGraphicFramePr>
          <p:nvPr>
            <p:extLst>
              <p:ext uri="{D42A27DB-BD31-4B8C-83A1-F6EECF244321}">
                <p14:modId xmlns:p14="http://schemas.microsoft.com/office/powerpoint/2010/main" val="2847430766"/>
              </p:ext>
            </p:extLst>
          </p:nvPr>
        </p:nvGraphicFramePr>
        <p:xfrm>
          <a:off x="15188038" y="28030639"/>
          <a:ext cx="14847113" cy="13110948"/>
        </p:xfrm>
        <a:graphic>
          <a:graphicData uri="http://schemas.openxmlformats.org/drawingml/2006/table">
            <a:tbl>
              <a:tblPr firstRow="1" bandRow="1">
                <a:tableStyleId>{5C22544A-7EE6-4342-B048-85BDC9FD1C3A}</a:tableStyleId>
              </a:tblPr>
              <a:tblGrid>
                <a:gridCol w="3099962">
                  <a:extLst>
                    <a:ext uri="{9D8B030D-6E8A-4147-A177-3AD203B41FA5}">
                      <a16:colId xmlns:a16="http://schemas.microsoft.com/office/drawing/2014/main" val="1302717659"/>
                    </a:ext>
                  </a:extLst>
                </a:gridCol>
                <a:gridCol w="3186637">
                  <a:extLst>
                    <a:ext uri="{9D8B030D-6E8A-4147-A177-3AD203B41FA5}">
                      <a16:colId xmlns:a16="http://schemas.microsoft.com/office/drawing/2014/main" val="118972529"/>
                    </a:ext>
                  </a:extLst>
                </a:gridCol>
                <a:gridCol w="8560514">
                  <a:extLst>
                    <a:ext uri="{9D8B030D-6E8A-4147-A177-3AD203B41FA5}">
                      <a16:colId xmlns:a16="http://schemas.microsoft.com/office/drawing/2014/main" val="2229152924"/>
                    </a:ext>
                  </a:extLst>
                </a:gridCol>
              </a:tblGrid>
              <a:tr h="567444">
                <a:tc>
                  <a:txBody>
                    <a:bodyPr/>
                    <a:lstStyle/>
                    <a:p>
                      <a:pPr algn="ctr"/>
                      <a:r>
                        <a:rPr kumimoji="1" lang="ja-JP" altLang="en-US" sz="3200" b="0">
                          <a:latin typeface="MS PGothic" panose="020B0600070205080204" pitchFamily="34" charset="-128"/>
                          <a:ea typeface="MS PGothic" panose="020B0600070205080204" pitchFamily="34" charset="-128"/>
                        </a:rPr>
                        <a:t>入力画像</a:t>
                      </a:r>
                      <a:endParaRPr kumimoji="1" lang="ja-JP" altLang="en-US" sz="3200" b="0" dirty="0">
                        <a:latin typeface="MS PGothic" panose="020B0600070205080204" pitchFamily="34" charset="-128"/>
                        <a:ea typeface="MS PGothic" panose="020B0600070205080204" pitchFamily="34" charset="-128"/>
                      </a:endParaRPr>
                    </a:p>
                  </a:txBody>
                  <a:tcPr marT="25200" marB="25200">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0070C0"/>
                    </a:solidFill>
                  </a:tcPr>
                </a:tc>
                <a:tc gridSpan="2">
                  <a:txBody>
                    <a:bodyPr/>
                    <a:lstStyle/>
                    <a:p>
                      <a:pPr algn="ctr"/>
                      <a:r>
                        <a:rPr kumimoji="1" lang="ja-JP" altLang="en-US" sz="3200" b="0" dirty="0">
                          <a:latin typeface="MS PGothic" panose="020B0600070205080204" pitchFamily="34" charset="-128"/>
                          <a:ea typeface="MS PGothic" panose="020B0600070205080204" pitchFamily="34" charset="-128"/>
                        </a:rPr>
                        <a:t>大喜利</a:t>
                      </a:r>
                    </a:p>
                  </a:txBody>
                  <a:tcPr marT="25200" marB="25200">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0070C0"/>
                    </a:solidFill>
                  </a:tcPr>
                </a:tc>
                <a:tc hMerge="1">
                  <a:txBody>
                    <a:bodyPr/>
                    <a:lstStyle/>
                    <a:p>
                      <a:endParaRPr kumimoji="1" lang="ja-JP" altLang="en-US"/>
                    </a:p>
                  </a:txBody>
                  <a:tcPr/>
                </a:tc>
                <a:extLst>
                  <a:ext uri="{0D108BD9-81ED-4DB2-BD59-A6C34878D82A}">
                    <a16:rowId xmlns:a16="http://schemas.microsoft.com/office/drawing/2014/main" val="3361642135"/>
                  </a:ext>
                </a:extLst>
              </a:tr>
              <a:tr h="1045292">
                <a:tc rowSpan="3">
                  <a:txBody>
                    <a:bodyPr/>
                    <a:lstStyle/>
                    <a:p>
                      <a:pPr algn="ctr"/>
                      <a:endParaRPr kumimoji="1" lang="ja-JP" altLang="en-US" sz="3200" b="0">
                        <a:latin typeface="MS PGothic" panose="020B0600070205080204" pitchFamily="34" charset="-128"/>
                        <a:ea typeface="MS PGothic" panose="020B0600070205080204" pitchFamily="34" charset="-128"/>
                      </a:endParaRPr>
                    </a:p>
                  </a:txBody>
                  <a:tcPr marT="25200" marB="25200">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marL="0" indent="0" algn="ctr">
                        <a:buFont typeface="Arial" panose="020B0604020202020204" pitchFamily="34" charset="0"/>
                        <a:buNone/>
                      </a:pPr>
                      <a:r>
                        <a:rPr kumimoji="1" lang="en-US" altLang="ja-JP" sz="3200" b="0" dirty="0">
                          <a:latin typeface="MS PGothic" panose="020B0600070205080204" pitchFamily="34" charset="-128"/>
                          <a:ea typeface="MS PGothic" panose="020B0600070205080204" pitchFamily="34" charset="-128"/>
                        </a:rPr>
                        <a:t>NJM</a:t>
                      </a:r>
                      <a:endParaRPr kumimoji="1" lang="ja-JP" altLang="en-US" sz="3200" b="0" dirty="0">
                        <a:latin typeface="MS PGothic" panose="020B0600070205080204" pitchFamily="34" charset="-128"/>
                        <a:ea typeface="MS PGothic" panose="020B0600070205080204" pitchFamily="34" charset="-128"/>
                      </a:endParaRPr>
                    </a:p>
                  </a:txBody>
                  <a:tcPr marT="25200" marB="2520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marL="571500" indent="-571500" algn="l">
                        <a:buFont typeface="Arial" panose="020B0604020202020204" pitchFamily="34" charset="0"/>
                        <a:buChar char="•"/>
                      </a:pPr>
                      <a:r>
                        <a:rPr kumimoji="1" lang="ja-JP" altLang="en-US" sz="3200" b="0">
                          <a:latin typeface="MS PGothic" panose="020B0600070205080204" pitchFamily="34" charset="-128"/>
                          <a:ea typeface="MS PGothic" panose="020B0600070205080204" pitchFamily="34" charset="-128"/>
                        </a:rPr>
                        <a:t>この状態で</a:t>
                      </a:r>
                      <a:r>
                        <a:rPr kumimoji="1" lang="en-US" altLang="ja-JP" sz="3200" b="0" dirty="0">
                          <a:latin typeface="MS PGothic" panose="020B0600070205080204" pitchFamily="34" charset="-128"/>
                          <a:ea typeface="MS PGothic" panose="020B0600070205080204" pitchFamily="34" charset="-128"/>
                        </a:rPr>
                        <a:t>10</a:t>
                      </a:r>
                      <a:r>
                        <a:rPr kumimoji="1" lang="ja-JP" altLang="en-US" sz="3200" b="0">
                          <a:latin typeface="MS PGothic" panose="020B0600070205080204" pitchFamily="34" charset="-128"/>
                          <a:ea typeface="MS PGothic" panose="020B0600070205080204" pitchFamily="34" charset="-128"/>
                        </a:rPr>
                        <a:t>分経過した</a:t>
                      </a:r>
                      <a:endParaRPr kumimoji="1" lang="en-US" altLang="ja-JP" sz="3200" b="0" dirty="0">
                        <a:latin typeface="MS PGothic" panose="020B0600070205080204" pitchFamily="34" charset="-128"/>
                        <a:ea typeface="MS PGothic" panose="020B0600070205080204" pitchFamily="34" charset="-128"/>
                      </a:endParaRPr>
                    </a:p>
                    <a:p>
                      <a:pPr marL="571500" indent="-571500" algn="l">
                        <a:buFont typeface="Arial" panose="020B0604020202020204" pitchFamily="34" charset="0"/>
                        <a:buChar char="•"/>
                      </a:pPr>
                      <a:r>
                        <a:rPr kumimoji="1" lang="ja-JP" altLang="en-US" sz="3200" b="0">
                          <a:latin typeface="MS PGothic" panose="020B0600070205080204" pitchFamily="34" charset="-128"/>
                          <a:ea typeface="MS PGothic" panose="020B0600070205080204" pitchFamily="34" charset="-128"/>
                        </a:rPr>
                        <a:t>「お前の母ちゃんでーべそ！」</a:t>
                      </a:r>
                      <a:endParaRPr kumimoji="1" lang="ja-JP" altLang="en-US" sz="3200" b="0" dirty="0">
                        <a:latin typeface="MS PGothic" panose="020B0600070205080204" pitchFamily="34" charset="-128"/>
                        <a:ea typeface="MS PGothic" panose="020B0600070205080204" pitchFamily="34" charset="-128"/>
                      </a:endParaRPr>
                    </a:p>
                  </a:txBody>
                  <a:tcPr marT="25200" marB="25200">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1801116897"/>
                  </a:ext>
                </a:extLst>
              </a:tr>
              <a:tr h="1045292">
                <a:tc vMerge="1">
                  <a:txBody>
                    <a:bodyPr/>
                    <a:lstStyle/>
                    <a:p>
                      <a:endParaRPr kumimoji="1" lang="ja-JP" altLang="en-US"/>
                    </a:p>
                  </a:txBody>
                  <a:tcPr/>
                </a:tc>
                <a:tc>
                  <a:txBody>
                    <a:bodyPr/>
                    <a:lstStyle/>
                    <a:p>
                      <a:pPr marL="0" indent="0" algn="ctr">
                        <a:buFont typeface="Arial" panose="020B0604020202020204" pitchFamily="34" charset="0"/>
                        <a:buNone/>
                      </a:pPr>
                      <a:r>
                        <a:rPr kumimoji="1" lang="en-US" altLang="ja-JP" sz="3200" b="0" dirty="0">
                          <a:latin typeface="MS PGothic" panose="020B0600070205080204" pitchFamily="34" charset="-128"/>
                          <a:ea typeface="MS PGothic" panose="020B0600070205080204" pitchFamily="34" charset="-128"/>
                        </a:rPr>
                        <a:t>GUMI-AE</a:t>
                      </a:r>
                      <a:endParaRPr kumimoji="1" lang="ja-JP" altLang="en-US" sz="3200" b="0" dirty="0">
                        <a:latin typeface="MS PGothic" panose="020B0600070205080204" pitchFamily="34" charset="-128"/>
                        <a:ea typeface="MS PGothic" panose="020B0600070205080204" pitchFamily="34" charset="-128"/>
                      </a:endParaRPr>
                    </a:p>
                  </a:txBody>
                  <a:tcPr marT="25200" marB="2520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marL="571500" indent="-571500" algn="l">
                        <a:buFont typeface="Arial" panose="020B0604020202020204" pitchFamily="34" charset="0"/>
                        <a:buChar char="•"/>
                      </a:pPr>
                      <a:r>
                        <a:rPr kumimoji="1" lang="ja-JP" altLang="en-US" sz="3200" b="0">
                          <a:latin typeface="MS PGothic" panose="020B0600070205080204" pitchFamily="34" charset="-128"/>
                          <a:ea typeface="MS PGothic" panose="020B0600070205080204" pitchFamily="34" charset="-128"/>
                        </a:rPr>
                        <a:t>この顔にピンときたら</a:t>
                      </a:r>
                      <a:r>
                        <a:rPr kumimoji="1" lang="en-US" altLang="ja-JP" sz="3200" b="0" dirty="0">
                          <a:latin typeface="MS PGothic" panose="020B0600070205080204" pitchFamily="34" charset="-128"/>
                          <a:ea typeface="MS PGothic" panose="020B0600070205080204" pitchFamily="34" charset="-128"/>
                        </a:rPr>
                        <a:t>110</a:t>
                      </a:r>
                      <a:r>
                        <a:rPr kumimoji="1" lang="ja-JP" altLang="en-US" sz="3200" b="0">
                          <a:latin typeface="MS PGothic" panose="020B0600070205080204" pitchFamily="34" charset="-128"/>
                          <a:ea typeface="MS PGothic" panose="020B0600070205080204" pitchFamily="34" charset="-128"/>
                        </a:rPr>
                        <a:t>番</a:t>
                      </a:r>
                      <a:endParaRPr kumimoji="1" lang="en-US" altLang="ja-JP" sz="3200" b="0" dirty="0">
                        <a:latin typeface="MS PGothic" panose="020B0600070205080204" pitchFamily="34" charset="-128"/>
                        <a:ea typeface="MS PGothic" panose="020B0600070205080204" pitchFamily="34" charset="-128"/>
                      </a:endParaRPr>
                    </a:p>
                    <a:p>
                      <a:pPr marL="571500" indent="-571500" algn="l">
                        <a:buFont typeface="Arial" panose="020B0604020202020204" pitchFamily="34" charset="0"/>
                        <a:buChar char="•"/>
                      </a:pPr>
                      <a:r>
                        <a:rPr kumimoji="1" lang="ja-JP" altLang="en-US" sz="3200" b="0">
                          <a:latin typeface="MS PGothic" panose="020B0600070205080204" pitchFamily="34" charset="-128"/>
                          <a:ea typeface="MS PGothic" panose="020B0600070205080204" pitchFamily="34" charset="-128"/>
                        </a:rPr>
                        <a:t>もうそろそろ疲れたわ</a:t>
                      </a:r>
                      <a:endParaRPr kumimoji="1" lang="ja-JP" altLang="en-US" sz="3200" b="0" dirty="0">
                        <a:latin typeface="MS PGothic" panose="020B0600070205080204" pitchFamily="34" charset="-128"/>
                        <a:ea typeface="MS PGothic" panose="020B0600070205080204" pitchFamily="34" charset="-128"/>
                      </a:endParaRPr>
                    </a:p>
                  </a:txBody>
                  <a:tcPr marT="25200" marB="25200">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2771984664"/>
                  </a:ext>
                </a:extLst>
              </a:tr>
              <a:tr h="1045292">
                <a:tc vMerge="1">
                  <a:txBody>
                    <a:bodyPr/>
                    <a:lstStyle/>
                    <a:p>
                      <a:endParaRPr kumimoji="1" lang="ja-JP" altLang="en-US"/>
                    </a:p>
                  </a:txBody>
                  <a:tcPr/>
                </a:tc>
                <a:tc>
                  <a:txBody>
                    <a:bodyPr/>
                    <a:lstStyle/>
                    <a:p>
                      <a:pPr marL="0" indent="0" algn="ctr">
                        <a:buFont typeface="Arial" panose="020B0604020202020204" pitchFamily="34" charset="0"/>
                        <a:buNone/>
                      </a:pPr>
                      <a:r>
                        <a:rPr kumimoji="1" lang="ja-JP" altLang="en-US" sz="3200" b="0">
                          <a:latin typeface="MS PGothic" panose="020B0600070205080204" pitchFamily="34" charset="-128"/>
                          <a:ea typeface="MS PGothic" panose="020B0600070205080204" pitchFamily="34" charset="-128"/>
                        </a:rPr>
                        <a:t>提案手法</a:t>
                      </a:r>
                      <a:endParaRPr kumimoji="1" lang="ja-JP" altLang="en-US" sz="3200" b="0" dirty="0">
                        <a:latin typeface="MS PGothic" panose="020B0600070205080204" pitchFamily="34" charset="-128"/>
                        <a:ea typeface="MS PGothic" panose="020B0600070205080204" pitchFamily="34" charset="-128"/>
                      </a:endParaRPr>
                    </a:p>
                  </a:txBody>
                  <a:tcPr marT="25200" marB="2520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marL="571500" indent="-571500" algn="l">
                        <a:buFont typeface="Arial" panose="020B0604020202020204" pitchFamily="34" charset="0"/>
                        <a:buChar char="•"/>
                      </a:pPr>
                      <a:r>
                        <a:rPr kumimoji="1" lang="ja-JP" altLang="en-US" sz="3200" b="1">
                          <a:latin typeface="MS PGothic" panose="020B0600070205080204" pitchFamily="34" charset="-128"/>
                          <a:ea typeface="MS PGothic" panose="020B0600070205080204" pitchFamily="34" charset="-128"/>
                        </a:rPr>
                        <a:t>俺のマタタビはこの中だ</a:t>
                      </a:r>
                      <a:endParaRPr kumimoji="1" lang="en-US" altLang="ja-JP" sz="3200" b="1" dirty="0">
                        <a:latin typeface="MS PGothic" panose="020B0600070205080204" pitchFamily="34" charset="-128"/>
                        <a:ea typeface="MS PGothic" panose="020B0600070205080204" pitchFamily="34" charset="-128"/>
                      </a:endParaRPr>
                    </a:p>
                    <a:p>
                      <a:pPr marL="571500" indent="-571500" algn="l">
                        <a:buFont typeface="Arial" panose="020B0604020202020204" pitchFamily="34" charset="0"/>
                        <a:buChar char="•"/>
                      </a:pPr>
                      <a:r>
                        <a:rPr kumimoji="1" lang="ja-JP" altLang="en-US" sz="3200" b="0">
                          <a:latin typeface="MS PGothic" panose="020B0600070205080204" pitchFamily="34" charset="-128"/>
                          <a:ea typeface="MS PGothic" panose="020B0600070205080204" pitchFamily="34" charset="-128"/>
                        </a:rPr>
                        <a:t>お、こんなところにお宝が</a:t>
                      </a:r>
                      <a:r>
                        <a:rPr kumimoji="1" lang="en-US" altLang="ja-JP" sz="3200" b="0" dirty="0">
                          <a:latin typeface="MS PGothic" panose="020B0600070205080204" pitchFamily="34" charset="-128"/>
                          <a:ea typeface="MS PGothic" panose="020B0600070205080204" pitchFamily="34" charset="-128"/>
                        </a:rPr>
                        <a:t>…</a:t>
                      </a:r>
                      <a:endParaRPr kumimoji="1" lang="ja-JP" altLang="en-US" sz="3200" b="0" dirty="0">
                        <a:latin typeface="MS PGothic" panose="020B0600070205080204" pitchFamily="34" charset="-128"/>
                        <a:ea typeface="MS PGothic" panose="020B0600070205080204" pitchFamily="34" charset="-128"/>
                      </a:endParaRPr>
                    </a:p>
                  </a:txBody>
                  <a:tcPr marT="25200" marB="25200">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1205125791"/>
                  </a:ext>
                </a:extLst>
              </a:tr>
              <a:tr h="1045292">
                <a:tc rowSpan="3">
                  <a:txBody>
                    <a:bodyPr/>
                    <a:lstStyle/>
                    <a:p>
                      <a:pPr algn="ctr"/>
                      <a:endParaRPr kumimoji="1" lang="ja-JP" altLang="en-US" sz="3200" b="0">
                        <a:latin typeface="MS PGothic" panose="020B0600070205080204" pitchFamily="34" charset="-128"/>
                        <a:ea typeface="MS PGothic" panose="020B0600070205080204" pitchFamily="34" charset="-128"/>
                      </a:endParaRPr>
                    </a:p>
                  </a:txBody>
                  <a:tcPr marT="25200" marB="25200">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marL="0" indent="0" algn="ctr">
                        <a:buFont typeface="Arial" panose="020B0604020202020204" pitchFamily="34" charset="0"/>
                        <a:buNone/>
                      </a:pPr>
                      <a:r>
                        <a:rPr kumimoji="1" lang="en-US" altLang="ja-JP" sz="3200" b="0" dirty="0">
                          <a:latin typeface="MS PGothic" panose="020B0600070205080204" pitchFamily="34" charset="-128"/>
                          <a:ea typeface="MS PGothic" panose="020B0600070205080204" pitchFamily="34" charset="-128"/>
                        </a:rPr>
                        <a:t>NJM</a:t>
                      </a:r>
                      <a:endParaRPr kumimoji="1" lang="ja-JP" altLang="en-US" sz="3200" b="0" dirty="0">
                        <a:latin typeface="MS PGothic" panose="020B0600070205080204" pitchFamily="34" charset="-128"/>
                        <a:ea typeface="MS PGothic" panose="020B0600070205080204" pitchFamily="34" charset="-128"/>
                      </a:endParaRPr>
                    </a:p>
                  </a:txBody>
                  <a:tcPr marT="25200" marB="2520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marL="571500" indent="-571500" algn="l">
                        <a:buFont typeface="Arial" panose="020B0604020202020204" pitchFamily="34" charset="0"/>
                        <a:buChar char="•"/>
                      </a:pPr>
                      <a:r>
                        <a:rPr kumimoji="1" lang="ja-JP" altLang="en-US" sz="3200" b="0">
                          <a:latin typeface="MS PGothic" panose="020B0600070205080204" pitchFamily="34" charset="-128"/>
                          <a:ea typeface="MS PGothic" panose="020B0600070205080204" pitchFamily="34" charset="-128"/>
                        </a:rPr>
                        <a:t>「お前の席ねぇから！」</a:t>
                      </a:r>
                      <a:endParaRPr kumimoji="1" lang="en-US" altLang="ja-JP" sz="3200" b="0" dirty="0">
                        <a:latin typeface="MS PGothic" panose="020B0600070205080204" pitchFamily="34" charset="-128"/>
                        <a:ea typeface="MS PGothic" panose="020B0600070205080204" pitchFamily="34" charset="-128"/>
                      </a:endParaRPr>
                    </a:p>
                    <a:p>
                      <a:pPr marL="571500" indent="-571500" algn="l">
                        <a:buFont typeface="Arial" panose="020B0604020202020204" pitchFamily="34" charset="0"/>
                        <a:buChar char="•"/>
                      </a:pPr>
                      <a:r>
                        <a:rPr kumimoji="1" lang="ja-JP" altLang="en-US" sz="3200" b="0">
                          <a:latin typeface="MS PGothic" panose="020B0600070205080204" pitchFamily="34" charset="-128"/>
                          <a:ea typeface="MS PGothic" panose="020B0600070205080204" pitchFamily="34" charset="-128"/>
                        </a:rPr>
                        <a:t>この人、痴漢です！！</a:t>
                      </a:r>
                      <a:endParaRPr kumimoji="1" lang="ja-JP" altLang="en-US" sz="3200" b="0" dirty="0">
                        <a:latin typeface="MS PGothic" panose="020B0600070205080204" pitchFamily="34" charset="-128"/>
                        <a:ea typeface="MS PGothic" panose="020B0600070205080204" pitchFamily="34" charset="-128"/>
                      </a:endParaRPr>
                    </a:p>
                  </a:txBody>
                  <a:tcPr marT="25200" marB="25200">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3798152386"/>
                  </a:ext>
                </a:extLst>
              </a:tr>
              <a:tr h="1045292">
                <a:tc vMerge="1">
                  <a:txBody>
                    <a:bodyPr/>
                    <a:lstStyle/>
                    <a:p>
                      <a:endParaRPr kumimoji="1" lang="ja-JP" altLang="en-US"/>
                    </a:p>
                  </a:txBody>
                  <a:tcPr/>
                </a:tc>
                <a:tc>
                  <a:txBody>
                    <a:bodyPr/>
                    <a:lstStyle/>
                    <a:p>
                      <a:pPr marL="0" indent="0" algn="ctr">
                        <a:buFont typeface="Arial" panose="020B0604020202020204" pitchFamily="34" charset="0"/>
                        <a:buNone/>
                      </a:pPr>
                      <a:r>
                        <a:rPr kumimoji="1" lang="en-US" altLang="ja-JP" sz="3200" b="0" dirty="0">
                          <a:latin typeface="MS PGothic" panose="020B0600070205080204" pitchFamily="34" charset="-128"/>
                          <a:ea typeface="MS PGothic" panose="020B0600070205080204" pitchFamily="34" charset="-128"/>
                        </a:rPr>
                        <a:t>GUMI-AE</a:t>
                      </a:r>
                      <a:endParaRPr kumimoji="1" lang="ja-JP" altLang="en-US" sz="3200" b="0" dirty="0">
                        <a:latin typeface="MS PGothic" panose="020B0600070205080204" pitchFamily="34" charset="-128"/>
                        <a:ea typeface="MS PGothic" panose="020B0600070205080204" pitchFamily="34" charset="-128"/>
                      </a:endParaRPr>
                    </a:p>
                  </a:txBody>
                  <a:tcPr marT="25200" marB="2520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marL="571500" indent="-571500" algn="l">
                        <a:buFont typeface="Arial" panose="020B0604020202020204" pitchFamily="34" charset="0"/>
                        <a:buChar char="•"/>
                      </a:pPr>
                      <a:r>
                        <a:rPr kumimoji="1" lang="ja-JP" altLang="en-US" sz="3200" b="0">
                          <a:latin typeface="MS PGothic" panose="020B0600070205080204" pitchFamily="34" charset="-128"/>
                          <a:ea typeface="MS PGothic" panose="020B0600070205080204" pitchFamily="34" charset="-128"/>
                        </a:rPr>
                        <a:t>「この子が昼間っからゴロゴロ</a:t>
                      </a:r>
                      <a:r>
                        <a:rPr kumimoji="1" lang="en-US" altLang="ja-JP" sz="3200" b="0" dirty="0">
                          <a:latin typeface="MS PGothic" panose="020B0600070205080204" pitchFamily="34" charset="-128"/>
                          <a:ea typeface="MS PGothic" panose="020B0600070205080204" pitchFamily="34" charset="-128"/>
                        </a:rPr>
                        <a:t>〜</a:t>
                      </a:r>
                      <a:r>
                        <a:rPr kumimoji="1" lang="ja-JP" altLang="en-US" sz="3200" b="0">
                          <a:latin typeface="MS PGothic" panose="020B0600070205080204" pitchFamily="34" charset="-128"/>
                          <a:ea typeface="MS PGothic" panose="020B0600070205080204" pitchFamily="34" charset="-128"/>
                        </a:rPr>
                        <a:t>ゥ」</a:t>
                      </a:r>
                      <a:endParaRPr kumimoji="1" lang="en-US" altLang="ja-JP" sz="3200" b="0" dirty="0">
                        <a:latin typeface="MS PGothic" panose="020B0600070205080204" pitchFamily="34" charset="-128"/>
                        <a:ea typeface="MS PGothic" panose="020B0600070205080204" pitchFamily="34" charset="-128"/>
                      </a:endParaRPr>
                    </a:p>
                    <a:p>
                      <a:pPr marL="571500" indent="-571500" algn="l">
                        <a:buFont typeface="Arial" panose="020B0604020202020204" pitchFamily="34" charset="0"/>
                        <a:buChar char="•"/>
                      </a:pPr>
                      <a:r>
                        <a:rPr kumimoji="1" lang="ja-JP" altLang="en-US" sz="3200" b="0">
                          <a:latin typeface="MS PGothic" panose="020B0600070205080204" pitchFamily="34" charset="-128"/>
                          <a:ea typeface="MS PGothic" panose="020B0600070205080204" pitchFamily="34" charset="-128"/>
                        </a:rPr>
                        <a:t>お前、俺の顔に何かついてる？</a:t>
                      </a:r>
                      <a:endParaRPr kumimoji="1" lang="ja-JP" altLang="en-US" sz="3200" b="0" dirty="0">
                        <a:latin typeface="MS PGothic" panose="020B0600070205080204" pitchFamily="34" charset="-128"/>
                        <a:ea typeface="MS PGothic" panose="020B0600070205080204" pitchFamily="34" charset="-128"/>
                      </a:endParaRPr>
                    </a:p>
                  </a:txBody>
                  <a:tcPr marT="25200" marB="25200">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1114946705"/>
                  </a:ext>
                </a:extLst>
              </a:tr>
              <a:tr h="1045292">
                <a:tc vMerge="1">
                  <a:txBody>
                    <a:bodyPr/>
                    <a:lstStyle/>
                    <a:p>
                      <a:endParaRPr kumimoji="1" lang="ja-JP" altLang="en-US"/>
                    </a:p>
                  </a:txBody>
                  <a:tcPr/>
                </a:tc>
                <a:tc>
                  <a:txBody>
                    <a:bodyPr/>
                    <a:lstStyle/>
                    <a:p>
                      <a:pPr marL="0" indent="0" algn="ctr">
                        <a:buFont typeface="Arial" panose="020B0604020202020204" pitchFamily="34" charset="0"/>
                        <a:buNone/>
                      </a:pPr>
                      <a:r>
                        <a:rPr kumimoji="1" lang="ja-JP" altLang="en-US" sz="3200" b="0">
                          <a:latin typeface="MS PGothic" panose="020B0600070205080204" pitchFamily="34" charset="-128"/>
                          <a:ea typeface="MS PGothic" panose="020B0600070205080204" pitchFamily="34" charset="-128"/>
                        </a:rPr>
                        <a:t>提案手法</a:t>
                      </a:r>
                      <a:endParaRPr kumimoji="1" lang="ja-JP" altLang="en-US" sz="3200" b="0" dirty="0">
                        <a:latin typeface="MS PGothic" panose="020B0600070205080204" pitchFamily="34" charset="-128"/>
                        <a:ea typeface="MS PGothic" panose="020B0600070205080204" pitchFamily="34" charset="-128"/>
                      </a:endParaRPr>
                    </a:p>
                  </a:txBody>
                  <a:tcPr marT="25200" marB="2520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marL="571500" indent="-571500" algn="l">
                        <a:buFont typeface="Arial" panose="020B0604020202020204" pitchFamily="34" charset="0"/>
                        <a:buChar char="•"/>
                      </a:pPr>
                      <a:r>
                        <a:rPr kumimoji="1" lang="ja-JP" altLang="en-US" sz="3200" b="0">
                          <a:latin typeface="MS PGothic" panose="020B0600070205080204" pitchFamily="34" charset="-128"/>
                          <a:ea typeface="MS PGothic" panose="020B0600070205080204" pitchFamily="34" charset="-128"/>
                        </a:rPr>
                        <a:t>「また寝袋が寝てる</a:t>
                      </a:r>
                      <a:r>
                        <a:rPr kumimoji="1" lang="en-US" altLang="ja-JP" sz="3200" b="0" dirty="0">
                          <a:latin typeface="MS PGothic" panose="020B0600070205080204" pitchFamily="34" charset="-128"/>
                          <a:ea typeface="MS PGothic" panose="020B0600070205080204" pitchFamily="34" charset="-128"/>
                        </a:rPr>
                        <a:t>…</a:t>
                      </a:r>
                      <a:r>
                        <a:rPr kumimoji="1" lang="ja-JP" altLang="en-US" sz="3200" b="0">
                          <a:latin typeface="MS PGothic" panose="020B0600070205080204" pitchFamily="34" charset="-128"/>
                          <a:ea typeface="MS PGothic" panose="020B0600070205080204" pitchFamily="34" charset="-128"/>
                        </a:rPr>
                        <a:t>。」</a:t>
                      </a:r>
                      <a:endParaRPr kumimoji="1" lang="en-US" altLang="ja-JP" sz="3200" b="0" dirty="0">
                        <a:latin typeface="MS PGothic" panose="020B0600070205080204" pitchFamily="34" charset="-128"/>
                        <a:ea typeface="MS PGothic" panose="020B0600070205080204" pitchFamily="34" charset="-128"/>
                      </a:endParaRPr>
                    </a:p>
                    <a:p>
                      <a:pPr marL="571500" indent="-571500" algn="l">
                        <a:buFont typeface="Arial" panose="020B0604020202020204" pitchFamily="34" charset="0"/>
                        <a:buChar char="•"/>
                      </a:pPr>
                      <a:r>
                        <a:rPr kumimoji="1" lang="ja-JP" altLang="en-US" sz="3200" b="1">
                          <a:latin typeface="MS PGothic" panose="020B0600070205080204" pitchFamily="34" charset="-128"/>
                          <a:ea typeface="MS PGothic" panose="020B0600070205080204" pitchFamily="34" charset="-128"/>
                        </a:rPr>
                        <a:t>この状態から動けない・・・</a:t>
                      </a:r>
                      <a:endParaRPr kumimoji="1" lang="ja-JP" altLang="en-US" sz="3200" b="1" dirty="0">
                        <a:latin typeface="MS PGothic" panose="020B0600070205080204" pitchFamily="34" charset="-128"/>
                        <a:ea typeface="MS PGothic" panose="020B0600070205080204" pitchFamily="34" charset="-128"/>
                      </a:endParaRPr>
                    </a:p>
                  </a:txBody>
                  <a:tcPr marT="25200" marB="25200">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2687650386"/>
                  </a:ext>
                </a:extLst>
              </a:tr>
              <a:tr h="1045292">
                <a:tc rowSpan="3">
                  <a:txBody>
                    <a:bodyPr/>
                    <a:lstStyle/>
                    <a:p>
                      <a:pPr algn="ctr"/>
                      <a:endParaRPr kumimoji="1" lang="ja-JP" altLang="en-US" sz="3200" b="0">
                        <a:latin typeface="MS PGothic" panose="020B0600070205080204" pitchFamily="34" charset="-128"/>
                        <a:ea typeface="MS PGothic" panose="020B0600070205080204" pitchFamily="34" charset="-128"/>
                      </a:endParaRPr>
                    </a:p>
                  </a:txBody>
                  <a:tcPr marT="25200" marB="25200">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marL="0" indent="0" algn="ctr">
                        <a:buFont typeface="Arial" panose="020B0604020202020204" pitchFamily="34" charset="0"/>
                        <a:buNone/>
                      </a:pPr>
                      <a:r>
                        <a:rPr kumimoji="1" lang="en-US" altLang="ja-JP" sz="3200" b="0" dirty="0">
                          <a:latin typeface="MS PGothic" panose="020B0600070205080204" pitchFamily="34" charset="-128"/>
                          <a:ea typeface="MS PGothic" panose="020B0600070205080204" pitchFamily="34" charset="-128"/>
                        </a:rPr>
                        <a:t>NJM</a:t>
                      </a:r>
                      <a:endParaRPr kumimoji="1" lang="ja-JP" altLang="en-US" sz="3200" b="0" dirty="0">
                        <a:latin typeface="MS PGothic" panose="020B0600070205080204" pitchFamily="34" charset="-128"/>
                        <a:ea typeface="MS PGothic" panose="020B0600070205080204" pitchFamily="34" charset="-128"/>
                      </a:endParaRPr>
                    </a:p>
                  </a:txBody>
                  <a:tcPr marT="25200" marB="2520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marL="571500" indent="-571500" algn="l">
                        <a:buFont typeface="Arial" panose="020B0604020202020204" pitchFamily="34" charset="0"/>
                        <a:buChar char="•"/>
                      </a:pPr>
                      <a:r>
                        <a:rPr kumimoji="1" lang="en-US" altLang="ja-JP" sz="3200" b="0" dirty="0">
                          <a:latin typeface="MS PGothic" panose="020B0600070205080204" pitchFamily="34" charset="-128"/>
                          <a:ea typeface="MS PGothic" panose="020B0600070205080204" pitchFamily="34" charset="-128"/>
                        </a:rPr>
                        <a:t>(</a:t>
                      </a:r>
                      <a:r>
                        <a:rPr kumimoji="1" lang="ja-JP" altLang="en-US" sz="3200" b="0">
                          <a:latin typeface="MS PGothic" panose="020B0600070205080204" pitchFamily="34" charset="-128"/>
                          <a:ea typeface="MS PGothic" panose="020B0600070205080204" pitchFamily="34" charset="-128"/>
                        </a:rPr>
                        <a:t>この人、痴漢です</a:t>
                      </a:r>
                      <a:r>
                        <a:rPr kumimoji="1" lang="en-US" altLang="ja-JP" sz="3200" b="0" dirty="0">
                          <a:latin typeface="MS PGothic" panose="020B0600070205080204" pitchFamily="34" charset="-128"/>
                          <a:ea typeface="MS PGothic" panose="020B0600070205080204" pitchFamily="34" charset="-128"/>
                        </a:rPr>
                        <a:t>)</a:t>
                      </a:r>
                    </a:p>
                    <a:p>
                      <a:pPr marL="571500" indent="-571500" algn="l">
                        <a:buFont typeface="Arial" panose="020B0604020202020204" pitchFamily="34" charset="0"/>
                        <a:buChar char="•"/>
                      </a:pPr>
                      <a:r>
                        <a:rPr kumimoji="1" lang="ja-JP" altLang="en-US" sz="3200" b="0">
                          <a:latin typeface="MS PGothic" panose="020B0600070205080204" pitchFamily="34" charset="-128"/>
                          <a:ea typeface="MS PGothic" panose="020B0600070205080204" pitchFamily="34" charset="-128"/>
                        </a:rPr>
                        <a:t>「この後は、ぷっすま！！」</a:t>
                      </a:r>
                      <a:endParaRPr kumimoji="1" lang="ja-JP" altLang="en-US" sz="3200" b="0" dirty="0">
                        <a:latin typeface="MS PGothic" panose="020B0600070205080204" pitchFamily="34" charset="-128"/>
                        <a:ea typeface="MS PGothic" panose="020B0600070205080204" pitchFamily="34" charset="-128"/>
                      </a:endParaRPr>
                    </a:p>
                  </a:txBody>
                  <a:tcPr marT="25200" marB="25200">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2502933185"/>
                  </a:ext>
                </a:extLst>
              </a:tr>
              <a:tr h="1045292">
                <a:tc vMerge="1">
                  <a:txBody>
                    <a:bodyPr/>
                    <a:lstStyle/>
                    <a:p>
                      <a:endParaRPr kumimoji="1" lang="ja-JP" altLang="en-US"/>
                    </a:p>
                  </a:txBody>
                  <a:tcPr/>
                </a:tc>
                <a:tc>
                  <a:txBody>
                    <a:bodyPr/>
                    <a:lstStyle/>
                    <a:p>
                      <a:pPr marL="0" indent="0" algn="ctr">
                        <a:buFont typeface="Arial" panose="020B0604020202020204" pitchFamily="34" charset="0"/>
                        <a:buNone/>
                      </a:pPr>
                      <a:r>
                        <a:rPr kumimoji="1" lang="en-US" altLang="ja-JP" sz="3200" b="0" dirty="0">
                          <a:latin typeface="MS PGothic" panose="020B0600070205080204" pitchFamily="34" charset="-128"/>
                          <a:ea typeface="MS PGothic" panose="020B0600070205080204" pitchFamily="34" charset="-128"/>
                        </a:rPr>
                        <a:t>GUMI-AE</a:t>
                      </a:r>
                      <a:endParaRPr kumimoji="1" lang="ja-JP" altLang="en-US" sz="3200" b="0" dirty="0">
                        <a:latin typeface="MS PGothic" panose="020B0600070205080204" pitchFamily="34" charset="-128"/>
                        <a:ea typeface="MS PGothic" panose="020B0600070205080204" pitchFamily="34" charset="-128"/>
                      </a:endParaRPr>
                    </a:p>
                  </a:txBody>
                  <a:tcPr marT="25200" marB="2520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marL="571500" indent="-571500" algn="l">
                        <a:buFont typeface="Arial" panose="020B0604020202020204" pitchFamily="34" charset="0"/>
                        <a:buChar char="•"/>
                      </a:pPr>
                      <a:r>
                        <a:rPr kumimoji="1" lang="ja-JP" altLang="en-US" sz="3200" b="0">
                          <a:latin typeface="MS PGothic" panose="020B0600070205080204" pitchFamily="34" charset="-128"/>
                          <a:ea typeface="MS PGothic" panose="020B0600070205080204" pitchFamily="34" charset="-128"/>
                        </a:rPr>
                        <a:t>「今でしょ」の精霊</a:t>
                      </a:r>
                      <a:endParaRPr kumimoji="1" lang="en-US" altLang="ja-JP" sz="3200" b="0" dirty="0">
                        <a:latin typeface="MS PGothic" panose="020B0600070205080204" pitchFamily="34" charset="-128"/>
                        <a:ea typeface="MS PGothic" panose="020B0600070205080204" pitchFamily="34" charset="-128"/>
                      </a:endParaRPr>
                    </a:p>
                    <a:p>
                      <a:pPr marL="571500" indent="-571500" algn="l">
                        <a:buFont typeface="Arial" panose="020B0604020202020204" pitchFamily="34" charset="0"/>
                        <a:buChar char="•"/>
                      </a:pPr>
                      <a:r>
                        <a:rPr kumimoji="1" lang="ja-JP" altLang="en-US" sz="3200" b="0">
                          <a:latin typeface="MS PGothic" panose="020B0600070205080204" pitchFamily="34" charset="-128"/>
                          <a:ea typeface="MS PGothic" panose="020B0600070205080204" pitchFamily="34" charset="-128"/>
                        </a:rPr>
                        <a:t>「お前も蝋人形にしてやろうか！！」</a:t>
                      </a:r>
                      <a:endParaRPr kumimoji="1" lang="ja-JP" altLang="en-US" sz="3200" b="0" dirty="0">
                        <a:latin typeface="MS PGothic" panose="020B0600070205080204" pitchFamily="34" charset="-128"/>
                        <a:ea typeface="MS PGothic" panose="020B0600070205080204" pitchFamily="34" charset="-128"/>
                      </a:endParaRPr>
                    </a:p>
                  </a:txBody>
                  <a:tcPr marT="25200" marB="25200">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2538114739"/>
                  </a:ext>
                </a:extLst>
              </a:tr>
              <a:tr h="1045292">
                <a:tc vMerge="1">
                  <a:txBody>
                    <a:bodyPr/>
                    <a:lstStyle/>
                    <a:p>
                      <a:endParaRPr kumimoji="1" lang="ja-JP" altLang="en-US"/>
                    </a:p>
                  </a:txBody>
                  <a:tcPr/>
                </a:tc>
                <a:tc>
                  <a:txBody>
                    <a:bodyPr/>
                    <a:lstStyle/>
                    <a:p>
                      <a:pPr marL="0" indent="0" algn="ctr">
                        <a:buFont typeface="Arial" panose="020B0604020202020204" pitchFamily="34" charset="0"/>
                        <a:buNone/>
                      </a:pPr>
                      <a:r>
                        <a:rPr kumimoji="1" lang="ja-JP" altLang="en-US" sz="3200" b="0">
                          <a:latin typeface="MS PGothic" panose="020B0600070205080204" pitchFamily="34" charset="-128"/>
                          <a:ea typeface="MS PGothic" panose="020B0600070205080204" pitchFamily="34" charset="-128"/>
                        </a:rPr>
                        <a:t>提案手法</a:t>
                      </a:r>
                      <a:endParaRPr kumimoji="1" lang="ja-JP" altLang="en-US" sz="3200" b="0" dirty="0">
                        <a:latin typeface="MS PGothic" panose="020B0600070205080204" pitchFamily="34" charset="-128"/>
                        <a:ea typeface="MS PGothic" panose="020B0600070205080204" pitchFamily="34" charset="-128"/>
                      </a:endParaRPr>
                    </a:p>
                  </a:txBody>
                  <a:tcPr marT="25200" marB="2520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marL="571500" indent="-571500" algn="l">
                        <a:buFont typeface="Arial" panose="020B0604020202020204" pitchFamily="34" charset="0"/>
                        <a:buChar char="•"/>
                      </a:pPr>
                      <a:r>
                        <a:rPr kumimoji="1" lang="ja-JP" altLang="en-US" sz="3200" b="1">
                          <a:latin typeface="MS PGothic" panose="020B0600070205080204" pitchFamily="34" charset="-128"/>
                          <a:ea typeface="MS PGothic" panose="020B0600070205080204" pitchFamily="34" charset="-128"/>
                        </a:rPr>
                        <a:t>あっちむいてほい</a:t>
                      </a:r>
                      <a:endParaRPr kumimoji="1" lang="en-US" altLang="ja-JP" sz="3200" b="1" dirty="0">
                        <a:latin typeface="MS PGothic" panose="020B0600070205080204" pitchFamily="34" charset="-128"/>
                        <a:ea typeface="MS PGothic" panose="020B0600070205080204" pitchFamily="34" charset="-128"/>
                      </a:endParaRPr>
                    </a:p>
                    <a:p>
                      <a:pPr marL="571500" indent="-571500" algn="l">
                        <a:buFont typeface="Arial" panose="020B0604020202020204" pitchFamily="34" charset="0"/>
                        <a:buChar char="•"/>
                      </a:pPr>
                      <a:r>
                        <a:rPr kumimoji="1" lang="ja-JP" altLang="en-US" sz="3200" b="1">
                          <a:latin typeface="MS PGothic" panose="020B0600070205080204" pitchFamily="34" charset="-128"/>
                          <a:ea typeface="MS PGothic" panose="020B0600070205080204" pitchFamily="34" charset="-128"/>
                        </a:rPr>
                        <a:t>「ここ！マダガスカルっ！！」</a:t>
                      </a:r>
                      <a:endParaRPr kumimoji="1" lang="ja-JP" altLang="en-US" sz="3200" b="1" dirty="0">
                        <a:latin typeface="MS PGothic" panose="020B0600070205080204" pitchFamily="34" charset="-128"/>
                        <a:ea typeface="MS PGothic" panose="020B0600070205080204" pitchFamily="34" charset="-128"/>
                      </a:endParaRPr>
                    </a:p>
                  </a:txBody>
                  <a:tcPr marT="25200" marB="25200">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2892306223"/>
                  </a:ext>
                </a:extLst>
              </a:tr>
              <a:tr h="1045292">
                <a:tc rowSpan="3">
                  <a:txBody>
                    <a:bodyPr/>
                    <a:lstStyle/>
                    <a:p>
                      <a:pPr algn="ctr"/>
                      <a:endParaRPr kumimoji="1" lang="ja-JP" altLang="en-US" sz="3200" b="0">
                        <a:latin typeface="MS PGothic" panose="020B0600070205080204" pitchFamily="34" charset="-128"/>
                        <a:ea typeface="MS PGothic" panose="020B0600070205080204" pitchFamily="34" charset="-128"/>
                      </a:endParaRPr>
                    </a:p>
                  </a:txBody>
                  <a:tcPr marT="25200" marB="25200">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marL="0" indent="0" algn="ctr">
                        <a:buFont typeface="Arial" panose="020B0604020202020204" pitchFamily="34" charset="0"/>
                        <a:buNone/>
                      </a:pPr>
                      <a:r>
                        <a:rPr kumimoji="1" lang="en-US" altLang="ja-JP" sz="3200" b="0" dirty="0">
                          <a:latin typeface="MS PGothic" panose="020B0600070205080204" pitchFamily="34" charset="-128"/>
                          <a:ea typeface="MS PGothic" panose="020B0600070205080204" pitchFamily="34" charset="-128"/>
                        </a:rPr>
                        <a:t>NJM</a:t>
                      </a:r>
                      <a:endParaRPr kumimoji="1" lang="ja-JP" altLang="en-US" sz="3200" b="0" dirty="0">
                        <a:latin typeface="MS PGothic" panose="020B0600070205080204" pitchFamily="34" charset="-128"/>
                        <a:ea typeface="MS PGothic" panose="020B0600070205080204" pitchFamily="34" charset="-128"/>
                      </a:endParaRPr>
                    </a:p>
                  </a:txBody>
                  <a:tcPr marT="25200" marB="2520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marL="571500" indent="-571500" algn="l">
                        <a:buFont typeface="Arial" panose="020B0604020202020204" pitchFamily="34" charset="0"/>
                        <a:buChar char="•"/>
                      </a:pPr>
                      <a:r>
                        <a:rPr kumimoji="1" lang="ja-JP" altLang="en-US" sz="3200" b="0">
                          <a:latin typeface="MS PGothic" panose="020B0600070205080204" pitchFamily="34" charset="-128"/>
                          <a:ea typeface="MS PGothic" panose="020B0600070205080204" pitchFamily="34" charset="-128"/>
                        </a:rPr>
                        <a:t>「お前の席ねぇから」</a:t>
                      </a:r>
                      <a:endParaRPr kumimoji="1" lang="en-US" altLang="ja-JP" sz="3200" b="0" dirty="0">
                        <a:latin typeface="MS PGothic" panose="020B0600070205080204" pitchFamily="34" charset="-128"/>
                        <a:ea typeface="MS PGothic" panose="020B0600070205080204" pitchFamily="34" charset="-128"/>
                      </a:endParaRPr>
                    </a:p>
                    <a:p>
                      <a:pPr marL="571500" indent="-571500" algn="l">
                        <a:buFont typeface="Arial" panose="020B0604020202020204" pitchFamily="34" charset="0"/>
                        <a:buChar char="•"/>
                      </a:pPr>
                      <a:r>
                        <a:rPr kumimoji="1" lang="ja-JP" altLang="en-US" sz="3200" b="0">
                          <a:latin typeface="MS PGothic" panose="020B0600070205080204" pitchFamily="34" charset="-128"/>
                          <a:ea typeface="MS PGothic" panose="020B0600070205080204" pitchFamily="34" charset="-128"/>
                        </a:rPr>
                        <a:t>「え！？この人が私の父さん？！」</a:t>
                      </a:r>
                      <a:endParaRPr kumimoji="1" lang="ja-JP" altLang="en-US" sz="3200" b="0" dirty="0">
                        <a:latin typeface="MS PGothic" panose="020B0600070205080204" pitchFamily="34" charset="-128"/>
                        <a:ea typeface="MS PGothic" panose="020B0600070205080204" pitchFamily="34" charset="-128"/>
                      </a:endParaRPr>
                    </a:p>
                  </a:txBody>
                  <a:tcPr marT="25200" marB="25200">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338461129"/>
                  </a:ext>
                </a:extLst>
              </a:tr>
              <a:tr h="1045292">
                <a:tc vMerge="1">
                  <a:txBody>
                    <a:bodyPr/>
                    <a:lstStyle/>
                    <a:p>
                      <a:endParaRPr kumimoji="1" lang="ja-JP" altLang="en-US"/>
                    </a:p>
                  </a:txBody>
                  <a:tcPr/>
                </a:tc>
                <a:tc>
                  <a:txBody>
                    <a:bodyPr/>
                    <a:lstStyle/>
                    <a:p>
                      <a:pPr marL="0" indent="0" algn="ctr">
                        <a:buFont typeface="Arial" panose="020B0604020202020204" pitchFamily="34" charset="0"/>
                        <a:buNone/>
                      </a:pPr>
                      <a:r>
                        <a:rPr kumimoji="1" lang="en-US" altLang="ja-JP" sz="3200" b="0" dirty="0">
                          <a:latin typeface="MS PGothic" panose="020B0600070205080204" pitchFamily="34" charset="-128"/>
                          <a:ea typeface="MS PGothic" panose="020B0600070205080204" pitchFamily="34" charset="-128"/>
                        </a:rPr>
                        <a:t>GUMI-AE</a:t>
                      </a:r>
                      <a:endParaRPr kumimoji="1" lang="ja-JP" altLang="en-US" sz="3200" b="0" dirty="0">
                        <a:latin typeface="MS PGothic" panose="020B0600070205080204" pitchFamily="34" charset="-128"/>
                        <a:ea typeface="MS PGothic" panose="020B0600070205080204" pitchFamily="34" charset="-128"/>
                      </a:endParaRPr>
                    </a:p>
                  </a:txBody>
                  <a:tcPr marT="25200" marB="2520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marL="571500" indent="-571500" algn="l">
                        <a:buFont typeface="Arial" panose="020B0604020202020204" pitchFamily="34" charset="0"/>
                        <a:buChar char="•"/>
                      </a:pPr>
                      <a:r>
                        <a:rPr kumimoji="1" lang="ja-JP" altLang="en-US" sz="3200" b="0">
                          <a:latin typeface="MS PGothic" panose="020B0600070205080204" pitchFamily="34" charset="-128"/>
                          <a:ea typeface="MS PGothic" panose="020B0600070205080204" pitchFamily="34" charset="-128"/>
                        </a:rPr>
                        <a:t>この後、車に轢かれた</a:t>
                      </a:r>
                      <a:endParaRPr kumimoji="1" lang="en-US" altLang="ja-JP" sz="3200" b="0" dirty="0">
                        <a:latin typeface="MS PGothic" panose="020B0600070205080204" pitchFamily="34" charset="-128"/>
                        <a:ea typeface="MS PGothic" panose="020B0600070205080204" pitchFamily="34" charset="-128"/>
                      </a:endParaRPr>
                    </a:p>
                    <a:p>
                      <a:pPr marL="571500" indent="-571500" algn="l">
                        <a:buFont typeface="Arial" panose="020B0604020202020204" pitchFamily="34" charset="0"/>
                        <a:buChar char="•"/>
                      </a:pPr>
                      <a:r>
                        <a:rPr kumimoji="1" lang="ja-JP" altLang="en-US" sz="3200" b="0">
                          <a:latin typeface="MS PGothic" panose="020B0600070205080204" pitchFamily="34" charset="-128"/>
                          <a:ea typeface="MS PGothic" panose="020B0600070205080204" pitchFamily="34" charset="-128"/>
                        </a:rPr>
                        <a:t>この人が新しいお父さん？</a:t>
                      </a:r>
                      <a:endParaRPr kumimoji="1" lang="ja-JP" altLang="en-US" sz="3200" b="0" dirty="0">
                        <a:latin typeface="MS PGothic" panose="020B0600070205080204" pitchFamily="34" charset="-128"/>
                        <a:ea typeface="MS PGothic" panose="020B0600070205080204" pitchFamily="34" charset="-128"/>
                      </a:endParaRPr>
                    </a:p>
                  </a:txBody>
                  <a:tcPr marT="25200" marB="25200">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3389838361"/>
                  </a:ext>
                </a:extLst>
              </a:tr>
              <a:tr h="1045292">
                <a:tc vMerge="1">
                  <a:txBody>
                    <a:bodyPr/>
                    <a:lstStyle/>
                    <a:p>
                      <a:endParaRPr kumimoji="1" lang="ja-JP" altLang="en-US"/>
                    </a:p>
                  </a:txBody>
                  <a:tcPr/>
                </a:tc>
                <a:tc>
                  <a:txBody>
                    <a:bodyPr/>
                    <a:lstStyle/>
                    <a:p>
                      <a:pPr marL="0" indent="0" algn="ctr">
                        <a:buFont typeface="Arial" panose="020B0604020202020204" pitchFamily="34" charset="0"/>
                        <a:buNone/>
                      </a:pPr>
                      <a:r>
                        <a:rPr kumimoji="1" lang="ja-JP" altLang="en-US" sz="3200" b="0">
                          <a:latin typeface="MS PGothic" panose="020B0600070205080204" pitchFamily="34" charset="-128"/>
                          <a:ea typeface="MS PGothic" panose="020B0600070205080204" pitchFamily="34" charset="-128"/>
                        </a:rPr>
                        <a:t>提案手法</a:t>
                      </a:r>
                      <a:endParaRPr kumimoji="1" lang="ja-JP" altLang="en-US" sz="3200" b="0" dirty="0">
                        <a:latin typeface="MS PGothic" panose="020B0600070205080204" pitchFamily="34" charset="-128"/>
                        <a:ea typeface="MS PGothic" panose="020B0600070205080204" pitchFamily="34" charset="-128"/>
                      </a:endParaRPr>
                    </a:p>
                  </a:txBody>
                  <a:tcPr marT="25200" marB="2520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marL="571500" indent="-571500" algn="l">
                        <a:buFont typeface="Arial" panose="020B0604020202020204" pitchFamily="34" charset="0"/>
                        <a:buChar char="•"/>
                      </a:pPr>
                      <a:r>
                        <a:rPr kumimoji="1" lang="ja-JP" altLang="en-US" sz="3200" b="0">
                          <a:latin typeface="MS PGothic" panose="020B0600070205080204" pitchFamily="34" charset="-128"/>
                          <a:ea typeface="MS PGothic" panose="020B0600070205080204" pitchFamily="34" charset="-128"/>
                        </a:rPr>
                        <a:t>はじめてのおつかい</a:t>
                      </a:r>
                      <a:r>
                        <a:rPr kumimoji="1" lang="en-US" altLang="ja-JP" sz="3200" b="0" dirty="0">
                          <a:latin typeface="MS PGothic" panose="020B0600070205080204" pitchFamily="34" charset="-128"/>
                          <a:ea typeface="MS PGothic" panose="020B0600070205080204" pitchFamily="34" charset="-128"/>
                        </a:rPr>
                        <a:t>〜</a:t>
                      </a:r>
                      <a:r>
                        <a:rPr kumimoji="1" lang="ja-JP" altLang="en-US" sz="3200" b="0">
                          <a:latin typeface="MS PGothic" panose="020B0600070205080204" pitchFamily="34" charset="-128"/>
                          <a:ea typeface="MS PGothic" panose="020B0600070205080204" pitchFamily="34" charset="-128"/>
                        </a:rPr>
                        <a:t>？</a:t>
                      </a:r>
                      <a:endParaRPr kumimoji="1" lang="en-US" altLang="ja-JP" sz="3200" b="0" dirty="0">
                        <a:latin typeface="MS PGothic" panose="020B0600070205080204" pitchFamily="34" charset="-128"/>
                        <a:ea typeface="MS PGothic" panose="020B0600070205080204" pitchFamily="34" charset="-128"/>
                      </a:endParaRPr>
                    </a:p>
                    <a:p>
                      <a:pPr marL="571500" indent="-571500" algn="l">
                        <a:buFont typeface="Arial" panose="020B0604020202020204" pitchFamily="34" charset="0"/>
                        <a:buChar char="•"/>
                      </a:pPr>
                      <a:r>
                        <a:rPr kumimoji="1" lang="ja-JP" altLang="en-US" sz="3200" b="1">
                          <a:latin typeface="MS PGothic" panose="020B0600070205080204" pitchFamily="34" charset="-128"/>
                          <a:ea typeface="MS PGothic" panose="020B0600070205080204" pitchFamily="34" charset="-128"/>
                        </a:rPr>
                        <a:t>はじめての絶叫マシン</a:t>
                      </a:r>
                      <a:endParaRPr kumimoji="1" lang="ja-JP" altLang="en-US" sz="3200" b="1" dirty="0">
                        <a:latin typeface="MS PGothic" panose="020B0600070205080204" pitchFamily="34" charset="-128"/>
                        <a:ea typeface="MS PGothic" panose="020B0600070205080204" pitchFamily="34" charset="-128"/>
                      </a:endParaRPr>
                    </a:p>
                  </a:txBody>
                  <a:tcPr marT="25200" marB="25200">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3475250430"/>
                  </a:ext>
                </a:extLst>
              </a:tr>
            </a:tbl>
          </a:graphicData>
        </a:graphic>
      </p:graphicFrame>
      <p:pic>
        <p:nvPicPr>
          <p:cNvPr id="1227" name="図 1226">
            <a:extLst>
              <a:ext uri="{FF2B5EF4-FFF2-40B4-BE49-F238E27FC236}">
                <a16:creationId xmlns:a16="http://schemas.microsoft.com/office/drawing/2014/main" id="{C8E0FF42-5215-C423-BB58-B7D237684887}"/>
              </a:ext>
            </a:extLst>
          </p:cNvPr>
          <p:cNvPicPr>
            <a:picLocks/>
          </p:cNvPicPr>
          <p:nvPr/>
        </p:nvPicPr>
        <p:blipFill>
          <a:blip r:embed="rId25"/>
          <a:stretch>
            <a:fillRect/>
          </a:stretch>
        </p:blipFill>
        <p:spPr>
          <a:xfrm>
            <a:off x="15280295" y="28725431"/>
            <a:ext cx="2923509" cy="2923509"/>
          </a:xfrm>
          <a:prstGeom prst="rect">
            <a:avLst/>
          </a:prstGeom>
        </p:spPr>
      </p:pic>
      <p:pic>
        <p:nvPicPr>
          <p:cNvPr id="1228" name="図 1227">
            <a:extLst>
              <a:ext uri="{FF2B5EF4-FFF2-40B4-BE49-F238E27FC236}">
                <a16:creationId xmlns:a16="http://schemas.microsoft.com/office/drawing/2014/main" id="{670D4B6D-F8F2-738E-87F9-9AD2B30FDD25}"/>
              </a:ext>
            </a:extLst>
          </p:cNvPr>
          <p:cNvPicPr>
            <a:picLocks/>
          </p:cNvPicPr>
          <p:nvPr/>
        </p:nvPicPr>
        <p:blipFill>
          <a:blip r:embed="rId26"/>
          <a:stretch>
            <a:fillRect/>
          </a:stretch>
        </p:blipFill>
        <p:spPr>
          <a:xfrm>
            <a:off x="15280294" y="31838841"/>
            <a:ext cx="2923509" cy="2923509"/>
          </a:xfrm>
          <a:prstGeom prst="rect">
            <a:avLst/>
          </a:prstGeom>
        </p:spPr>
      </p:pic>
      <p:pic>
        <p:nvPicPr>
          <p:cNvPr id="1229" name="図 1228">
            <a:extLst>
              <a:ext uri="{FF2B5EF4-FFF2-40B4-BE49-F238E27FC236}">
                <a16:creationId xmlns:a16="http://schemas.microsoft.com/office/drawing/2014/main" id="{026230BF-2F20-296D-6525-428A98980205}"/>
              </a:ext>
            </a:extLst>
          </p:cNvPr>
          <p:cNvPicPr>
            <a:picLocks/>
          </p:cNvPicPr>
          <p:nvPr/>
        </p:nvPicPr>
        <p:blipFill>
          <a:blip r:embed="rId27"/>
          <a:stretch>
            <a:fillRect/>
          </a:stretch>
        </p:blipFill>
        <p:spPr>
          <a:xfrm>
            <a:off x="15280293" y="34963779"/>
            <a:ext cx="2923509" cy="2923509"/>
          </a:xfrm>
          <a:prstGeom prst="rect">
            <a:avLst/>
          </a:prstGeom>
        </p:spPr>
      </p:pic>
      <p:pic>
        <p:nvPicPr>
          <p:cNvPr id="1230" name="図 1229">
            <a:extLst>
              <a:ext uri="{FF2B5EF4-FFF2-40B4-BE49-F238E27FC236}">
                <a16:creationId xmlns:a16="http://schemas.microsoft.com/office/drawing/2014/main" id="{3143806E-CA36-443D-4FE4-F04BF9954751}"/>
              </a:ext>
            </a:extLst>
          </p:cNvPr>
          <p:cNvPicPr>
            <a:picLocks/>
          </p:cNvPicPr>
          <p:nvPr/>
        </p:nvPicPr>
        <p:blipFill>
          <a:blip r:embed="rId28"/>
          <a:stretch>
            <a:fillRect/>
          </a:stretch>
        </p:blipFill>
        <p:spPr>
          <a:xfrm>
            <a:off x="15280292" y="38088717"/>
            <a:ext cx="2923509" cy="2923509"/>
          </a:xfrm>
          <a:prstGeom prst="rect">
            <a:avLst/>
          </a:prstGeom>
        </p:spPr>
      </p:pic>
      <p:sp>
        <p:nvSpPr>
          <p:cNvPr id="1232" name="テキスト ボックス 1231">
            <a:extLst>
              <a:ext uri="{FF2B5EF4-FFF2-40B4-BE49-F238E27FC236}">
                <a16:creationId xmlns:a16="http://schemas.microsoft.com/office/drawing/2014/main" id="{6713976F-4337-4C88-9136-38C63A48E83F}"/>
              </a:ext>
            </a:extLst>
          </p:cNvPr>
          <p:cNvSpPr txBox="1"/>
          <p:nvPr/>
        </p:nvSpPr>
        <p:spPr>
          <a:xfrm>
            <a:off x="15190380" y="27397842"/>
            <a:ext cx="14869520" cy="584775"/>
          </a:xfrm>
          <a:prstGeom prst="rect">
            <a:avLst/>
          </a:prstGeom>
          <a:noFill/>
        </p:spPr>
        <p:txBody>
          <a:bodyPr wrap="square" rtlCol="0">
            <a:spAutoFit/>
          </a:bodyPr>
          <a:lstStyle/>
          <a:p>
            <a:pPr algn="ctr"/>
            <a:r>
              <a:rPr kumimoji="1" lang="ja-JP" altLang="en-US" sz="3200">
                <a:latin typeface="MS PGothic" panose="020B0600070205080204" pitchFamily="34" charset="-128"/>
                <a:ea typeface="MS PGothic" panose="020B0600070205080204" pitchFamily="34" charset="-128"/>
              </a:rPr>
              <a:t>表</a:t>
            </a:r>
            <a:r>
              <a:rPr kumimoji="1" lang="en-US" altLang="ja-JP" sz="3200" dirty="0">
                <a:latin typeface="MS PGothic" panose="020B0600070205080204" pitchFamily="34" charset="-128"/>
                <a:ea typeface="MS PGothic" panose="020B0600070205080204" pitchFamily="34" charset="-128"/>
              </a:rPr>
              <a:t>5</a:t>
            </a:r>
            <a:r>
              <a:rPr kumimoji="1" lang="ja-JP" altLang="en-US" sz="3200">
                <a:latin typeface="MS PGothic" panose="020B0600070205080204" pitchFamily="34" charset="-128"/>
                <a:ea typeface="MS PGothic" panose="020B0600070205080204" pitchFamily="34" charset="-128"/>
              </a:rPr>
              <a:t>　学習した</a:t>
            </a:r>
            <a:r>
              <a:rPr kumimoji="1" lang="en-US" altLang="ja-JP" sz="3200" dirty="0">
                <a:latin typeface="MS PGothic" panose="020B0600070205080204" pitchFamily="34" charset="-128"/>
                <a:ea typeface="MS PGothic" panose="020B0600070205080204" pitchFamily="34" charset="-128"/>
              </a:rPr>
              <a:t>AI</a:t>
            </a:r>
            <a:r>
              <a:rPr kumimoji="1" lang="ja-JP" altLang="en-US" sz="3200">
                <a:latin typeface="MS PGothic" panose="020B0600070205080204" pitchFamily="34" charset="-128"/>
                <a:ea typeface="MS PGothic" panose="020B0600070205080204" pitchFamily="34" charset="-128"/>
              </a:rPr>
              <a:t>が生成した大喜利</a:t>
            </a:r>
            <a:endParaRPr kumimoji="1" lang="en-US" altLang="ja-JP" sz="3200" dirty="0">
              <a:latin typeface="MS PGothic" panose="020B0600070205080204" pitchFamily="34" charset="-128"/>
              <a:ea typeface="MS PGothic" panose="020B0600070205080204" pitchFamily="34" charset="-128"/>
            </a:endParaRPr>
          </a:p>
        </p:txBody>
      </p:sp>
    </p:spTree>
    <p:extLst>
      <p:ext uri="{BB962C8B-B14F-4D97-AF65-F5344CB8AC3E}">
        <p14:creationId xmlns:p14="http://schemas.microsoft.com/office/powerpoint/2010/main" val="37012958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461B5-0529-C81D-4DAB-818A57960A5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FE8134F-DCBE-AE53-24D1-A870CAA2A976}"/>
              </a:ext>
            </a:extLst>
          </p:cNvPr>
          <p:cNvSpPr>
            <a:spLocks noGrp="1"/>
          </p:cNvSpPr>
          <p:nvPr>
            <p:ph type="ctrTitle"/>
          </p:nvPr>
        </p:nvSpPr>
        <p:spPr/>
        <p:txBody>
          <a:bodyPr>
            <a:normAutofit/>
          </a:bodyPr>
          <a:lstStyle/>
          <a:p>
            <a:r>
              <a:rPr kumimoji="1" lang="en-US" altLang="ja-JP" sz="4800" dirty="0"/>
              <a:t>Transformer</a:t>
            </a:r>
            <a:r>
              <a:rPr kumimoji="1" lang="ja-JP" altLang="en-US" sz="4800"/>
              <a:t>を用いた大喜利の生成に関する研究</a:t>
            </a:r>
          </a:p>
        </p:txBody>
      </p:sp>
      <p:sp>
        <p:nvSpPr>
          <p:cNvPr id="3" name="字幕 2">
            <a:extLst>
              <a:ext uri="{FF2B5EF4-FFF2-40B4-BE49-F238E27FC236}">
                <a16:creationId xmlns:a16="http://schemas.microsoft.com/office/drawing/2014/main" id="{5EBC59FE-E43A-D173-47A8-8EAADC5178C3}"/>
              </a:ext>
            </a:extLst>
          </p:cNvPr>
          <p:cNvSpPr>
            <a:spLocks noGrp="1"/>
          </p:cNvSpPr>
          <p:nvPr>
            <p:ph type="subTitle" idx="1"/>
          </p:nvPr>
        </p:nvSpPr>
        <p:spPr/>
        <p:txBody>
          <a:bodyPr>
            <a:normAutofit fontScale="92500"/>
          </a:bodyPr>
          <a:lstStyle/>
          <a:p>
            <a:r>
              <a:rPr kumimoji="1" lang="ja-JP" altLang="en-US" sz="4000"/>
              <a:t>山富 龍，マハブービ</a:t>
            </a:r>
            <a:r>
              <a:rPr kumimoji="1" lang="en-US" altLang="ja-JP" sz="4000" dirty="0"/>
              <a:t> </a:t>
            </a:r>
            <a:r>
              <a:rPr kumimoji="1" lang="ja-JP" altLang="en-US" sz="4000"/>
              <a:t>シェヘラザード，二宮 洋</a:t>
            </a:r>
            <a:r>
              <a:rPr kumimoji="1" lang="en-US" altLang="ja-JP" sz="4000" dirty="0"/>
              <a:t> (</a:t>
            </a:r>
            <a:r>
              <a:rPr kumimoji="1" lang="ja-JP" altLang="en-US" sz="4000"/>
              <a:t>湘南工科大学大学院</a:t>
            </a:r>
            <a:r>
              <a:rPr kumimoji="1" lang="en-US" altLang="ja-JP" sz="4000" dirty="0"/>
              <a:t> </a:t>
            </a:r>
            <a:r>
              <a:rPr kumimoji="1" lang="ja-JP" altLang="en-US" sz="4000"/>
              <a:t>工学研究科</a:t>
            </a:r>
            <a:r>
              <a:rPr kumimoji="1" lang="en-US" altLang="ja-JP" sz="4000" dirty="0"/>
              <a:t> </a:t>
            </a:r>
            <a:r>
              <a:rPr kumimoji="1" lang="ja-JP" altLang="en-US" sz="4000"/>
              <a:t>電気情報工学専攻</a:t>
            </a:r>
            <a:r>
              <a:rPr kumimoji="1" lang="en-US" altLang="ja-JP" sz="4000" dirty="0"/>
              <a:t>)</a:t>
            </a:r>
            <a:endParaRPr kumimoji="1" lang="ja-JP" altLang="en-US" sz="4000"/>
          </a:p>
        </p:txBody>
      </p:sp>
      <p:sp>
        <p:nvSpPr>
          <p:cNvPr id="4" name="正方形/長方形 3">
            <a:extLst>
              <a:ext uri="{FF2B5EF4-FFF2-40B4-BE49-F238E27FC236}">
                <a16:creationId xmlns:a16="http://schemas.microsoft.com/office/drawing/2014/main" id="{C67EDEF0-3256-3805-D268-5FBD209AC972}"/>
              </a:ext>
            </a:extLst>
          </p:cNvPr>
          <p:cNvSpPr/>
          <p:nvPr/>
        </p:nvSpPr>
        <p:spPr>
          <a:xfrm>
            <a:off x="203200" y="2288708"/>
            <a:ext cx="14681200" cy="10215712"/>
          </a:xfrm>
          <a:prstGeom prst="rect">
            <a:avLst/>
          </a:prstGeom>
          <a:solidFill>
            <a:schemeClr val="bg1"/>
          </a:solid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正方形/長方形 4">
            <a:extLst>
              <a:ext uri="{FF2B5EF4-FFF2-40B4-BE49-F238E27FC236}">
                <a16:creationId xmlns:a16="http://schemas.microsoft.com/office/drawing/2014/main" id="{98E7706C-F1B7-0629-AEDB-4BC23BA6339C}"/>
              </a:ext>
            </a:extLst>
          </p:cNvPr>
          <p:cNvSpPr/>
          <p:nvPr/>
        </p:nvSpPr>
        <p:spPr>
          <a:xfrm>
            <a:off x="203200" y="2288708"/>
            <a:ext cx="14681200" cy="849085"/>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4400">
                <a:latin typeface="MS PGothic" panose="020B0600070205080204" pitchFamily="34" charset="-128"/>
                <a:ea typeface="MS PGothic" panose="020B0600070205080204" pitchFamily="34" charset="-128"/>
              </a:rPr>
              <a:t>背景</a:t>
            </a:r>
          </a:p>
        </p:txBody>
      </p:sp>
      <p:sp>
        <p:nvSpPr>
          <p:cNvPr id="6" name="テキスト ボックス 5">
            <a:extLst>
              <a:ext uri="{FF2B5EF4-FFF2-40B4-BE49-F238E27FC236}">
                <a16:creationId xmlns:a16="http://schemas.microsoft.com/office/drawing/2014/main" id="{C3D840BD-5667-7736-9D0C-EDDA6648E0DA}"/>
              </a:ext>
            </a:extLst>
          </p:cNvPr>
          <p:cNvSpPr txBox="1"/>
          <p:nvPr/>
        </p:nvSpPr>
        <p:spPr>
          <a:xfrm>
            <a:off x="203200" y="3173095"/>
            <a:ext cx="14681200" cy="9448740"/>
          </a:xfrm>
          <a:prstGeom prst="rect">
            <a:avLst/>
          </a:prstGeom>
          <a:noFill/>
        </p:spPr>
        <p:txBody>
          <a:bodyPr wrap="square" rtlCol="0">
            <a:spAutoFit/>
          </a:bodyPr>
          <a:lstStyle/>
          <a:p>
            <a:pPr marL="457200" indent="-457200" algn="just">
              <a:buFont typeface="Arial" panose="020B0604020202020204" pitchFamily="34" charset="0"/>
              <a:buChar char="•"/>
            </a:pPr>
            <a:r>
              <a:rPr kumimoji="1" lang="ja-JP" altLang="en-US" sz="3200">
                <a:latin typeface="MS PGothic" panose="020B0600070205080204" pitchFamily="34" charset="-128"/>
                <a:ea typeface="MS PGothic" panose="020B0600070205080204" pitchFamily="34" charset="-128"/>
              </a:rPr>
              <a:t>近年，画像に対し大喜利文章を生成する</a:t>
            </a:r>
            <a:r>
              <a:rPr kumimoji="1" lang="en-US" altLang="ja-JP" sz="3200" dirty="0">
                <a:latin typeface="MS PGothic" panose="020B0600070205080204" pitchFamily="34" charset="-128"/>
                <a:ea typeface="MS PGothic" panose="020B0600070205080204" pitchFamily="34" charset="-128"/>
              </a:rPr>
              <a:t>AI</a:t>
            </a:r>
            <a:r>
              <a:rPr kumimoji="1" lang="ja-JP" altLang="en-US" sz="3200">
                <a:latin typeface="MS PGothic" panose="020B0600070205080204" pitchFamily="34" charset="-128"/>
                <a:ea typeface="MS PGothic" panose="020B0600070205080204" pitchFamily="34" charset="-128"/>
              </a:rPr>
              <a:t>について研究が行われている</a:t>
            </a:r>
            <a:r>
              <a:rPr kumimoji="1" lang="en-US" altLang="ja-JP" sz="3200" dirty="0">
                <a:latin typeface="MS PGothic" panose="020B0600070205080204" pitchFamily="34" charset="-128"/>
                <a:ea typeface="MS PGothic" panose="020B0600070205080204" pitchFamily="34" charset="-128"/>
              </a:rPr>
              <a:t>[1][2]</a:t>
            </a:r>
            <a:r>
              <a:rPr kumimoji="1" lang="ja-JP" altLang="en-US" sz="3200">
                <a:latin typeface="MS PGothic" panose="020B0600070205080204" pitchFamily="34" charset="-128"/>
                <a:ea typeface="MS PGothic" panose="020B0600070205080204" pitchFamily="34" charset="-128"/>
              </a:rPr>
              <a:t>．</a:t>
            </a:r>
            <a:endParaRPr kumimoji="1" lang="en-US" altLang="ja-JP" sz="3200" dirty="0">
              <a:latin typeface="MS PGothic" panose="020B0600070205080204" pitchFamily="34" charset="-128"/>
              <a:ea typeface="MS PGothic" panose="020B0600070205080204" pitchFamily="34" charset="-128"/>
            </a:endParaRPr>
          </a:p>
          <a:p>
            <a:pPr marL="457200" indent="-457200" algn="just">
              <a:buFont typeface="Arial" panose="020B0604020202020204" pitchFamily="34" charset="0"/>
              <a:buChar char="•"/>
            </a:pPr>
            <a:r>
              <a:rPr kumimoji="1" lang="ja-JP" altLang="en-US" sz="3200">
                <a:latin typeface="MS PGothic" panose="020B0600070205080204" pitchFamily="34" charset="-128"/>
                <a:ea typeface="MS PGothic" panose="020B0600070205080204" pitchFamily="34" charset="-128"/>
              </a:rPr>
              <a:t>画像</a:t>
            </a:r>
            <a:r>
              <a:rPr kumimoji="1" lang="en-US" altLang="ja-JP" sz="3200" dirty="0">
                <a:latin typeface="MS PGothic" panose="020B0600070205080204" pitchFamily="34" charset="-128"/>
                <a:ea typeface="MS PGothic" panose="020B0600070205080204" pitchFamily="34" charset="-128"/>
              </a:rPr>
              <a:t>-</a:t>
            </a:r>
            <a:r>
              <a:rPr kumimoji="1" lang="ja-JP" altLang="en-US" sz="3200">
                <a:latin typeface="MS PGothic" panose="020B0600070205080204" pitchFamily="34" charset="-128"/>
                <a:ea typeface="MS PGothic" panose="020B0600070205080204" pitchFamily="34" charset="-128"/>
              </a:rPr>
              <a:t>大喜利のペアを大喜利投稿サイト「ボケて」</a:t>
            </a:r>
            <a:r>
              <a:rPr kumimoji="1" lang="en-US" altLang="ja-JP" sz="3200" dirty="0">
                <a:latin typeface="MS PGothic" panose="020B0600070205080204" pitchFamily="34" charset="-128"/>
                <a:ea typeface="MS PGothic" panose="020B0600070205080204" pitchFamily="34" charset="-128"/>
              </a:rPr>
              <a:t>[3]</a:t>
            </a:r>
            <a:r>
              <a:rPr kumimoji="1" lang="ja-JP" altLang="en-US" sz="3200">
                <a:latin typeface="MS PGothic" panose="020B0600070205080204" pitchFamily="34" charset="-128"/>
                <a:ea typeface="MS PGothic" panose="020B0600070205080204" pitchFamily="34" charset="-128"/>
              </a:rPr>
              <a:t>から取得．</a:t>
            </a:r>
            <a:endParaRPr kumimoji="1" lang="en-US" altLang="ja-JP" sz="3200" dirty="0">
              <a:latin typeface="MS PGothic" panose="020B0600070205080204" pitchFamily="34" charset="-128"/>
              <a:ea typeface="MS PGothic" panose="020B0600070205080204" pitchFamily="34" charset="-128"/>
            </a:endParaRPr>
          </a:p>
          <a:p>
            <a:pPr marL="457200" indent="-457200" algn="just">
              <a:buFont typeface="Arial" panose="020B0604020202020204" pitchFamily="34" charset="0"/>
              <a:buChar char="•"/>
            </a:pPr>
            <a:r>
              <a:rPr kumimoji="1" lang="en-US" altLang="ja-JP" sz="3200" dirty="0">
                <a:latin typeface="MS PGothic" panose="020B0600070205080204" pitchFamily="34" charset="-128"/>
                <a:ea typeface="MS PGothic" panose="020B0600070205080204" pitchFamily="34" charset="-128"/>
              </a:rPr>
              <a:t>[1][2]</a:t>
            </a:r>
            <a:r>
              <a:rPr kumimoji="1" lang="ja-JP" altLang="en-US" sz="3200">
                <a:latin typeface="MS PGothic" panose="020B0600070205080204" pitchFamily="34" charset="-128"/>
                <a:ea typeface="MS PGothic" panose="020B0600070205080204" pitchFamily="34" charset="-128"/>
              </a:rPr>
              <a:t>では</a:t>
            </a:r>
            <a:r>
              <a:rPr kumimoji="1" lang="en-US" altLang="ja-JP" sz="3200" b="1" dirty="0">
                <a:latin typeface="MS PGothic" panose="020B0600070205080204" pitchFamily="34" charset="-128"/>
                <a:ea typeface="MS PGothic" panose="020B0600070205080204" pitchFamily="34" charset="-128"/>
              </a:rPr>
              <a:t>CNN+LSTM</a:t>
            </a:r>
            <a:r>
              <a:rPr kumimoji="1" lang="ja-JP" altLang="en-US" sz="3200">
                <a:latin typeface="MS PGothic" panose="020B0600070205080204" pitchFamily="34" charset="-128"/>
                <a:ea typeface="MS PGothic" panose="020B0600070205080204" pitchFamily="34" charset="-128"/>
              </a:rPr>
              <a:t>で構成される画像キャプション生成モデルに，取得した</a:t>
            </a:r>
            <a:r>
              <a:rPr kumimoji="1" lang="en-US" altLang="ja-JP" sz="3200" dirty="0">
                <a:latin typeface="MS PGothic" panose="020B0600070205080204" pitchFamily="34" charset="-128"/>
                <a:ea typeface="MS PGothic" panose="020B0600070205080204" pitchFamily="34" charset="-128"/>
              </a:rPr>
              <a:t>     </a:t>
            </a:r>
            <a:r>
              <a:rPr kumimoji="1" lang="ja-JP" altLang="en-US" sz="3200">
                <a:latin typeface="MS PGothic" panose="020B0600070205080204" pitchFamily="34" charset="-128"/>
                <a:ea typeface="MS PGothic" panose="020B0600070205080204" pitchFamily="34" charset="-128"/>
              </a:rPr>
              <a:t>画像</a:t>
            </a:r>
            <a:r>
              <a:rPr kumimoji="1" lang="en-US" altLang="ja-JP" sz="3200" dirty="0">
                <a:latin typeface="MS PGothic" panose="020B0600070205080204" pitchFamily="34" charset="-128"/>
                <a:ea typeface="MS PGothic" panose="020B0600070205080204" pitchFamily="34" charset="-128"/>
              </a:rPr>
              <a:t>-</a:t>
            </a:r>
            <a:r>
              <a:rPr kumimoji="1" lang="ja-JP" altLang="en-US" sz="3200">
                <a:latin typeface="MS PGothic" panose="020B0600070205080204" pitchFamily="34" charset="-128"/>
                <a:ea typeface="MS PGothic" panose="020B0600070205080204" pitchFamily="34" charset="-128"/>
              </a:rPr>
              <a:t>大喜利のペアを学習させている．</a:t>
            </a:r>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p:txBody>
      </p:sp>
      <p:sp>
        <p:nvSpPr>
          <p:cNvPr id="8" name="正方形/長方形 7">
            <a:extLst>
              <a:ext uri="{FF2B5EF4-FFF2-40B4-BE49-F238E27FC236}">
                <a16:creationId xmlns:a16="http://schemas.microsoft.com/office/drawing/2014/main" id="{7FAB2B86-57B8-0F2D-CD38-21CC273F5640}"/>
              </a:ext>
            </a:extLst>
          </p:cNvPr>
          <p:cNvSpPr/>
          <p:nvPr/>
        </p:nvSpPr>
        <p:spPr>
          <a:xfrm>
            <a:off x="203200" y="26486519"/>
            <a:ext cx="29833888" cy="14707317"/>
          </a:xfrm>
          <a:prstGeom prst="rect">
            <a:avLst/>
          </a:prstGeom>
          <a:solidFill>
            <a:schemeClr val="bg1"/>
          </a:solid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B45F979B-0B75-2757-6CA2-E5CADC1509AE}"/>
              </a:ext>
            </a:extLst>
          </p:cNvPr>
          <p:cNvSpPr/>
          <p:nvPr/>
        </p:nvSpPr>
        <p:spPr>
          <a:xfrm>
            <a:off x="203200" y="26486520"/>
            <a:ext cx="29833888" cy="849085"/>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4400">
                <a:latin typeface="MS PGothic" panose="020B0600070205080204" pitchFamily="34" charset="-128"/>
                <a:ea typeface="MS PGothic" panose="020B0600070205080204" pitchFamily="34" charset="-128"/>
              </a:rPr>
              <a:t>実験</a:t>
            </a:r>
          </a:p>
        </p:txBody>
      </p:sp>
      <p:graphicFrame>
        <p:nvGraphicFramePr>
          <p:cNvPr id="11" name="表 10">
            <a:extLst>
              <a:ext uri="{FF2B5EF4-FFF2-40B4-BE49-F238E27FC236}">
                <a16:creationId xmlns:a16="http://schemas.microsoft.com/office/drawing/2014/main" id="{0DCD39C8-4A23-2246-5800-BA4AA72E8B72}"/>
              </a:ext>
            </a:extLst>
          </p:cNvPr>
          <p:cNvGraphicFramePr>
            <a:graphicFrameLocks noGrp="1"/>
          </p:cNvGraphicFramePr>
          <p:nvPr>
            <p:extLst>
              <p:ext uri="{D42A27DB-BD31-4B8C-83A1-F6EECF244321}">
                <p14:modId xmlns:p14="http://schemas.microsoft.com/office/powerpoint/2010/main" val="3826146325"/>
              </p:ext>
            </p:extLst>
          </p:nvPr>
        </p:nvGraphicFramePr>
        <p:xfrm>
          <a:off x="203198" y="5765306"/>
          <a:ext cx="14678712" cy="6739114"/>
        </p:xfrm>
        <a:graphic>
          <a:graphicData uri="http://schemas.openxmlformats.org/drawingml/2006/table">
            <a:tbl>
              <a:tblPr firstRow="1" bandRow="1">
                <a:tableStyleId>{5C22544A-7EE6-4342-B048-85BDC9FD1C3A}</a:tableStyleId>
              </a:tblPr>
              <a:tblGrid>
                <a:gridCol w="3088642">
                  <a:extLst>
                    <a:ext uri="{9D8B030D-6E8A-4147-A177-3AD203B41FA5}">
                      <a16:colId xmlns:a16="http://schemas.microsoft.com/office/drawing/2014/main" val="1302717659"/>
                    </a:ext>
                  </a:extLst>
                </a:gridCol>
                <a:gridCol w="11590070">
                  <a:extLst>
                    <a:ext uri="{9D8B030D-6E8A-4147-A177-3AD203B41FA5}">
                      <a16:colId xmlns:a16="http://schemas.microsoft.com/office/drawing/2014/main" val="118972529"/>
                    </a:ext>
                  </a:extLst>
                </a:gridCol>
              </a:tblGrid>
              <a:tr h="530909">
                <a:tc>
                  <a:txBody>
                    <a:bodyPr/>
                    <a:lstStyle/>
                    <a:p>
                      <a:pPr algn="ctr"/>
                      <a:r>
                        <a:rPr kumimoji="1" lang="ja-JP" altLang="en-US" sz="3200" b="0" dirty="0">
                          <a:latin typeface="MS PGothic" panose="020B0600070205080204" pitchFamily="34" charset="-128"/>
                          <a:ea typeface="MS PGothic" panose="020B0600070205080204" pitchFamily="34" charset="-128"/>
                        </a:rPr>
                        <a:t>画像</a:t>
                      </a: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0070C0"/>
                    </a:solidFill>
                  </a:tcPr>
                </a:tc>
                <a:tc>
                  <a:txBody>
                    <a:bodyPr/>
                    <a:lstStyle/>
                    <a:p>
                      <a:pPr algn="ctr"/>
                      <a:r>
                        <a:rPr kumimoji="1" lang="ja-JP" altLang="en-US" sz="3200" b="0" dirty="0">
                          <a:latin typeface="MS PGothic" panose="020B0600070205080204" pitchFamily="34" charset="-128"/>
                          <a:ea typeface="MS PGothic" panose="020B0600070205080204" pitchFamily="34" charset="-128"/>
                        </a:rPr>
                        <a:t>大喜利</a:t>
                      </a: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0070C0"/>
                    </a:solidFill>
                  </a:tcPr>
                </a:tc>
                <a:extLst>
                  <a:ext uri="{0D108BD9-81ED-4DB2-BD59-A6C34878D82A}">
                    <a16:rowId xmlns:a16="http://schemas.microsoft.com/office/drawing/2014/main" val="3361642135"/>
                  </a:ext>
                </a:extLst>
              </a:tr>
              <a:tr h="3096754">
                <a:tc>
                  <a:txBody>
                    <a:bodyPr/>
                    <a:lstStyle/>
                    <a:p>
                      <a:pPr algn="ctr"/>
                      <a:endParaRPr kumimoji="1" lang="ja-JP" altLang="en-US" sz="3200" b="0">
                        <a:latin typeface="MS PGothic" panose="020B0600070205080204" pitchFamily="34" charset="-128"/>
                        <a:ea typeface="MS PGothic" panose="020B0600070205080204" pitchFamily="34" charset="-128"/>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marL="571500" indent="-571500" algn="l">
                        <a:buFont typeface="Arial" panose="020B0604020202020204" pitchFamily="34" charset="0"/>
                        <a:buChar char="•"/>
                      </a:pPr>
                      <a:r>
                        <a:rPr kumimoji="1" lang="ja-JP" altLang="en-US" sz="3200" b="0">
                          <a:latin typeface="MS PGothic" panose="020B0600070205080204" pitchFamily="34" charset="-128"/>
                          <a:ea typeface="MS PGothic" panose="020B0600070205080204" pitchFamily="34" charset="-128"/>
                        </a:rPr>
                        <a:t>だって、お金を入れて回すって</a:t>
                      </a:r>
                      <a:r>
                        <a:rPr kumimoji="1" lang="en-US" altLang="ja-JP" sz="3200" b="0" dirty="0">
                          <a:latin typeface="MS PGothic" panose="020B0600070205080204" pitchFamily="34" charset="-128"/>
                          <a:ea typeface="MS PGothic" panose="020B0600070205080204" pitchFamily="34" charset="-128"/>
                        </a:rPr>
                        <a:t>…</a:t>
                      </a:r>
                    </a:p>
                    <a:p>
                      <a:pPr marL="571500" indent="-571500" algn="l">
                        <a:buFont typeface="Arial" panose="020B0604020202020204" pitchFamily="34" charset="0"/>
                        <a:buChar char="•"/>
                      </a:pPr>
                      <a:r>
                        <a:rPr kumimoji="1" lang="ja-JP" altLang="en-US" sz="3200" b="0">
                          <a:latin typeface="MS PGothic" panose="020B0600070205080204" pitchFamily="34" charset="-128"/>
                          <a:ea typeface="MS PGothic" panose="020B0600070205080204" pitchFamily="34" charset="-128"/>
                        </a:rPr>
                        <a:t>マネーロンダリングしてます</a:t>
                      </a:r>
                    </a:p>
                    <a:p>
                      <a:pPr marL="571500" indent="-571500" algn="l">
                        <a:buFont typeface="Arial" panose="020B0604020202020204" pitchFamily="34" charset="0"/>
                        <a:buChar char="•"/>
                      </a:pPr>
                      <a:r>
                        <a:rPr kumimoji="1" lang="ja-JP" altLang="en-US" sz="3200" b="0">
                          <a:latin typeface="MS PGothic" panose="020B0600070205080204" pitchFamily="34" charset="-128"/>
                          <a:ea typeface="MS PGothic" panose="020B0600070205080204" pitchFamily="34" charset="-128"/>
                        </a:rPr>
                        <a:t>お金を洗浄て言われたし</a:t>
                      </a:r>
                    </a:p>
                    <a:p>
                      <a:pPr marL="571500" indent="-571500" algn="l">
                        <a:buFont typeface="Arial" panose="020B0604020202020204" pitchFamily="34" charset="0"/>
                        <a:buChar char="•"/>
                      </a:pPr>
                      <a:r>
                        <a:rPr kumimoji="1" lang="ja-JP" altLang="en-US" sz="3200" b="0">
                          <a:latin typeface="MS PGothic" panose="020B0600070205080204" pitchFamily="34" charset="-128"/>
                          <a:ea typeface="MS PGothic" panose="020B0600070205080204" pitchFamily="34" charset="-128"/>
                        </a:rPr>
                        <a:t>「資金洗浄」について</a:t>
                      </a:r>
                      <a:r>
                        <a:rPr kumimoji="1" lang="en-US" altLang="ja-JP" sz="3200" b="0" dirty="0">
                          <a:latin typeface="MS PGothic" panose="020B0600070205080204" pitchFamily="34" charset="-128"/>
                          <a:ea typeface="MS PGothic" panose="020B0600070205080204" pitchFamily="34" charset="-128"/>
                        </a:rPr>
                        <a:t>AI</a:t>
                      </a:r>
                      <a:r>
                        <a:rPr kumimoji="1" lang="ja-JP" altLang="en-US" sz="3200" b="0">
                          <a:latin typeface="MS PGothic" panose="020B0600070205080204" pitchFamily="34" charset="-128"/>
                          <a:ea typeface="MS PGothic" panose="020B0600070205080204" pitchFamily="34" charset="-128"/>
                        </a:rPr>
                        <a:t>に描かせたらこうなった</a:t>
                      </a:r>
                    </a:p>
                    <a:p>
                      <a:pPr marL="571500" indent="-571500" algn="l">
                        <a:buFont typeface="Arial" panose="020B0604020202020204" pitchFamily="34" charset="0"/>
                        <a:buChar char="•"/>
                      </a:pPr>
                      <a:r>
                        <a:rPr kumimoji="1" lang="ja-JP" altLang="en-US" sz="3200" b="0">
                          <a:latin typeface="MS PGothic" panose="020B0600070205080204" pitchFamily="34" charset="-128"/>
                          <a:ea typeface="MS PGothic" panose="020B0600070205080204" pitchFamily="34" charset="-128"/>
                        </a:rPr>
                        <a:t>いけなーい、ポケットに入れてたの忘れてた！</a:t>
                      </a:r>
                    </a:p>
                    <a:p>
                      <a:pPr marL="571500" indent="-571500" algn="l">
                        <a:buFont typeface="Arial" panose="020B0604020202020204" pitchFamily="34" charset="0"/>
                        <a:buChar char="•"/>
                      </a:pPr>
                      <a:r>
                        <a:rPr kumimoji="1" lang="ja-JP" altLang="en-US" sz="3200" b="0">
                          <a:latin typeface="MS PGothic" panose="020B0600070205080204" pitchFamily="34" charset="-128"/>
                          <a:ea typeface="MS PGothic" panose="020B0600070205080204" pitchFamily="34" charset="-128"/>
                        </a:rPr>
                        <a:t>金使いが洗いって日本語</a:t>
                      </a: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1801116897"/>
                  </a:ext>
                </a:extLst>
              </a:tr>
              <a:tr h="3063240">
                <a:tc>
                  <a:txBody>
                    <a:bodyPr/>
                    <a:lstStyle/>
                    <a:p>
                      <a:pPr algn="ctr"/>
                      <a:endParaRPr kumimoji="1" lang="ja-JP" altLang="en-US" sz="3200" b="0">
                        <a:latin typeface="MS PGothic" panose="020B0600070205080204" pitchFamily="34" charset="-128"/>
                        <a:ea typeface="MS PGothic" panose="020B0600070205080204" pitchFamily="34" charset="-128"/>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marL="571500" indent="-571500" algn="l">
                        <a:buFont typeface="Arial" panose="020B0604020202020204" pitchFamily="34" charset="0"/>
                        <a:buChar char="•"/>
                      </a:pPr>
                      <a:r>
                        <a:rPr kumimoji="1" lang="ja-JP" altLang="en-US" sz="3200" b="0" dirty="0">
                          <a:latin typeface="MS PGothic" panose="020B0600070205080204" pitchFamily="34" charset="-128"/>
                          <a:ea typeface="MS PGothic" panose="020B0600070205080204" pitchFamily="34" charset="-128"/>
                        </a:rPr>
                        <a:t>転生したらイスラムだった件</a:t>
                      </a:r>
                    </a:p>
                    <a:p>
                      <a:pPr marL="571500" indent="-571500" algn="l">
                        <a:buFont typeface="Arial" panose="020B0604020202020204" pitchFamily="34" charset="0"/>
                        <a:buChar char="•"/>
                      </a:pPr>
                      <a:r>
                        <a:rPr kumimoji="1" lang="ja-JP" altLang="en-US" sz="3200" b="0" dirty="0">
                          <a:latin typeface="MS PGothic" panose="020B0600070205080204" pitchFamily="34" charset="-128"/>
                          <a:ea typeface="MS PGothic" panose="020B0600070205080204" pitchFamily="34" charset="-128"/>
                        </a:rPr>
                        <a:t>砂遊びしてたら石油当てたわ</a:t>
                      </a:r>
                    </a:p>
                    <a:p>
                      <a:pPr marL="571500" indent="-571500" algn="l">
                        <a:buFont typeface="Arial" panose="020B0604020202020204" pitchFamily="34" charset="0"/>
                        <a:buChar char="•"/>
                      </a:pPr>
                      <a:r>
                        <a:rPr kumimoji="1" lang="ja-JP" altLang="en-US" sz="3200" b="0">
                          <a:latin typeface="MS PGothic" panose="020B0600070205080204" pitchFamily="34" charset="-128"/>
                          <a:ea typeface="MS PGothic" panose="020B0600070205080204" pitchFamily="34" charset="-128"/>
                        </a:rPr>
                        <a:t>アバブ</a:t>
                      </a:r>
                      <a:r>
                        <a:rPr kumimoji="1" lang="ja-JP" altLang="en-US" sz="3200" b="0" dirty="0">
                          <a:latin typeface="MS PGothic" panose="020B0600070205080204" pitchFamily="34" charset="-128"/>
                          <a:ea typeface="MS PGothic" panose="020B0600070205080204" pitchFamily="34" charset="-128"/>
                        </a:rPr>
                        <a:t>の石油王</a:t>
                      </a:r>
                    </a:p>
                    <a:p>
                      <a:pPr marL="571500" indent="-571500" algn="l">
                        <a:buFont typeface="Arial" panose="020B0604020202020204" pitchFamily="34" charset="0"/>
                        <a:buChar char="•"/>
                      </a:pPr>
                      <a:r>
                        <a:rPr kumimoji="1" lang="ja-JP" altLang="en-US" sz="3200" b="0" dirty="0">
                          <a:latin typeface="MS PGothic" panose="020B0600070205080204" pitchFamily="34" charset="-128"/>
                          <a:ea typeface="MS PGothic" panose="020B0600070205080204" pitchFamily="34" charset="-128"/>
                        </a:rPr>
                        <a:t>親ガチャ成功したわ</a:t>
                      </a:r>
                      <a:r>
                        <a:rPr kumimoji="1" lang="en-US" altLang="ja-JP" sz="3200" b="0" dirty="0">
                          <a:latin typeface="MS PGothic" panose="020B0600070205080204" pitchFamily="34" charset="-128"/>
                          <a:ea typeface="MS PGothic" panose="020B0600070205080204" pitchFamily="34" charset="-128"/>
                        </a:rPr>
                        <a:t>〜</a:t>
                      </a:r>
                    </a:p>
                    <a:p>
                      <a:pPr marL="571500" indent="-571500" algn="l">
                        <a:buFont typeface="Arial" panose="020B0604020202020204" pitchFamily="34" charset="0"/>
                        <a:buChar char="•"/>
                      </a:pPr>
                      <a:r>
                        <a:rPr kumimoji="1" lang="ja-JP" altLang="en-US" sz="3200" b="0" dirty="0">
                          <a:latin typeface="MS PGothic" panose="020B0600070205080204" pitchFamily="34" charset="-128"/>
                          <a:ea typeface="MS PGothic" panose="020B0600070205080204" pitchFamily="34" charset="-128"/>
                        </a:rPr>
                        <a:t>え？</a:t>
                      </a:r>
                      <a:r>
                        <a:rPr kumimoji="1" lang="en" altLang="ja-JP" sz="3200" b="0" dirty="0">
                          <a:latin typeface="MS PGothic" panose="020B0600070205080204" pitchFamily="34" charset="-128"/>
                          <a:ea typeface="MS PGothic" panose="020B0600070205080204" pitchFamily="34" charset="-128"/>
                        </a:rPr>
                        <a:t>w</a:t>
                      </a:r>
                      <a:r>
                        <a:rPr kumimoji="1" lang="ja-JP" altLang="en-US" sz="3200" b="0" dirty="0">
                          <a:latin typeface="MS PGothic" panose="020B0600070205080204" pitchFamily="34" charset="-128"/>
                          <a:ea typeface="MS PGothic" panose="020B0600070205080204" pitchFamily="34" charset="-128"/>
                        </a:rPr>
                        <a:t>おとん？</a:t>
                      </a:r>
                      <a:r>
                        <a:rPr kumimoji="1" lang="en" altLang="ja-JP" sz="3200" b="0" dirty="0">
                          <a:latin typeface="MS PGothic" panose="020B0600070205080204" pitchFamily="34" charset="-128"/>
                          <a:ea typeface="MS PGothic" panose="020B0600070205080204" pitchFamily="34" charset="-128"/>
                        </a:rPr>
                        <a:t>w </a:t>
                      </a:r>
                      <a:r>
                        <a:rPr kumimoji="1" lang="ja-JP" altLang="en-US" sz="3200" b="0" dirty="0">
                          <a:latin typeface="MS PGothic" panose="020B0600070205080204" pitchFamily="34" charset="-128"/>
                          <a:ea typeface="MS PGothic" panose="020B0600070205080204" pitchFamily="34" charset="-128"/>
                        </a:rPr>
                        <a:t>どっかで油うってるわ</a:t>
                      </a:r>
                      <a:r>
                        <a:rPr kumimoji="1" lang="en" altLang="ja-JP" sz="3200" b="0" dirty="0" err="1">
                          <a:latin typeface="MS PGothic" panose="020B0600070205080204" pitchFamily="34" charset="-128"/>
                          <a:ea typeface="MS PGothic" panose="020B0600070205080204" pitchFamily="34" charset="-128"/>
                        </a:rPr>
                        <a:t>ww</a:t>
                      </a:r>
                      <a:endParaRPr kumimoji="1" lang="en" altLang="ja-JP" sz="3200" b="0" dirty="0">
                        <a:latin typeface="MS PGothic" panose="020B0600070205080204" pitchFamily="34" charset="-128"/>
                        <a:ea typeface="MS PGothic" panose="020B0600070205080204" pitchFamily="34" charset="-128"/>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3798152386"/>
                  </a:ext>
                </a:extLst>
              </a:tr>
            </a:tbl>
          </a:graphicData>
        </a:graphic>
      </p:graphicFrame>
      <p:sp>
        <p:nvSpPr>
          <p:cNvPr id="12" name="テキスト ボックス 11">
            <a:extLst>
              <a:ext uri="{FF2B5EF4-FFF2-40B4-BE49-F238E27FC236}">
                <a16:creationId xmlns:a16="http://schemas.microsoft.com/office/drawing/2014/main" id="{1E429DFB-52D6-9F96-B856-68B62EB0707A}"/>
              </a:ext>
            </a:extLst>
          </p:cNvPr>
          <p:cNvSpPr txBox="1"/>
          <p:nvPr/>
        </p:nvSpPr>
        <p:spPr>
          <a:xfrm>
            <a:off x="200710" y="5166892"/>
            <a:ext cx="14681200" cy="584775"/>
          </a:xfrm>
          <a:prstGeom prst="rect">
            <a:avLst/>
          </a:prstGeom>
          <a:noFill/>
        </p:spPr>
        <p:txBody>
          <a:bodyPr wrap="square" rtlCol="0">
            <a:spAutoFit/>
          </a:bodyPr>
          <a:lstStyle/>
          <a:p>
            <a:pPr algn="ctr"/>
            <a:r>
              <a:rPr kumimoji="1" lang="ja-JP" altLang="en-US" sz="3200" dirty="0">
                <a:latin typeface="MS PGothic" panose="020B0600070205080204" pitchFamily="34" charset="-128"/>
                <a:ea typeface="MS PGothic" panose="020B0600070205080204" pitchFamily="34" charset="-128"/>
              </a:rPr>
              <a:t>表</a:t>
            </a:r>
            <a:r>
              <a:rPr kumimoji="1" lang="en-US" altLang="ja-JP" sz="3200" dirty="0">
                <a:latin typeface="MS PGothic" panose="020B0600070205080204" pitchFamily="34" charset="-128"/>
                <a:ea typeface="MS PGothic" panose="020B0600070205080204" pitchFamily="34" charset="-128"/>
              </a:rPr>
              <a:t>1</a:t>
            </a:r>
            <a:r>
              <a:rPr kumimoji="1" lang="ja-JP" altLang="en-US" sz="3200">
                <a:latin typeface="MS PGothic" panose="020B0600070205080204" pitchFamily="34" charset="-128"/>
                <a:ea typeface="MS PGothic" panose="020B0600070205080204" pitchFamily="34" charset="-128"/>
              </a:rPr>
              <a:t>　「ボケて」に</a:t>
            </a:r>
            <a:r>
              <a:rPr kumimoji="1" lang="ja-JP" altLang="en-US" sz="3200" dirty="0">
                <a:latin typeface="MS PGothic" panose="020B0600070205080204" pitchFamily="34" charset="-128"/>
                <a:ea typeface="MS PGothic" panose="020B0600070205080204" pitchFamily="34" charset="-128"/>
              </a:rPr>
              <a:t>投稿された画像と</a:t>
            </a:r>
            <a:r>
              <a:rPr kumimoji="1" lang="ja-JP" altLang="en-US" sz="3200">
                <a:latin typeface="MS PGothic" panose="020B0600070205080204" pitchFamily="34" charset="-128"/>
                <a:ea typeface="MS PGothic" panose="020B0600070205080204" pitchFamily="34" charset="-128"/>
              </a:rPr>
              <a:t>大喜利</a:t>
            </a:r>
            <a:r>
              <a:rPr kumimoji="1" lang="en-US" altLang="ja-JP" sz="3200" dirty="0">
                <a:latin typeface="MS PGothic" panose="020B0600070205080204" pitchFamily="34" charset="-128"/>
                <a:ea typeface="MS PGothic" panose="020B0600070205080204" pitchFamily="34" charset="-128"/>
              </a:rPr>
              <a:t>[3]</a:t>
            </a:r>
          </a:p>
        </p:txBody>
      </p:sp>
      <p:pic>
        <p:nvPicPr>
          <p:cNvPr id="17" name="Picture 4" descr="水ジェスチャードラム">
            <a:extLst>
              <a:ext uri="{FF2B5EF4-FFF2-40B4-BE49-F238E27FC236}">
                <a16:creationId xmlns:a16="http://schemas.microsoft.com/office/drawing/2014/main" id="{840090A2-1D2E-295B-63FA-EC1DE30BF2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830" y="9494086"/>
            <a:ext cx="2947783" cy="2947782"/>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衣服乾燥機洗濯機ランドリー">
            <a:extLst>
              <a:ext uri="{FF2B5EF4-FFF2-40B4-BE49-F238E27FC236}">
                <a16:creationId xmlns:a16="http://schemas.microsoft.com/office/drawing/2014/main" id="{1DD30549-6010-5873-C099-27E6A72511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830" y="6403774"/>
            <a:ext cx="2947783" cy="2947783"/>
          </a:xfrm>
          <a:prstGeom prst="rect">
            <a:avLst/>
          </a:prstGeom>
          <a:noFill/>
          <a:extLst>
            <a:ext uri="{909E8E84-426E-40DD-AFC4-6F175D3DCCD1}">
              <a14:hiddenFill xmlns:a14="http://schemas.microsoft.com/office/drawing/2010/main">
                <a:solidFill>
                  <a:srgbClr val="FFFFFF"/>
                </a:solidFill>
              </a14:hiddenFill>
            </a:ext>
          </a:extLst>
        </p:spPr>
      </p:pic>
      <p:sp>
        <p:nvSpPr>
          <p:cNvPr id="20" name="正方形/長方形 19">
            <a:extLst>
              <a:ext uri="{FF2B5EF4-FFF2-40B4-BE49-F238E27FC236}">
                <a16:creationId xmlns:a16="http://schemas.microsoft.com/office/drawing/2014/main" id="{379174D0-D659-D52E-9708-98F0BE3150BB}"/>
              </a:ext>
            </a:extLst>
          </p:cNvPr>
          <p:cNvSpPr/>
          <p:nvPr/>
        </p:nvSpPr>
        <p:spPr>
          <a:xfrm>
            <a:off x="203200" y="12667336"/>
            <a:ext cx="14681200" cy="13677745"/>
          </a:xfrm>
          <a:prstGeom prst="rect">
            <a:avLst/>
          </a:prstGeom>
          <a:solidFill>
            <a:schemeClr val="bg1"/>
          </a:solid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3F363F97-64EB-68DD-A0F3-012D3DC628FB}"/>
              </a:ext>
            </a:extLst>
          </p:cNvPr>
          <p:cNvSpPr/>
          <p:nvPr/>
        </p:nvSpPr>
        <p:spPr>
          <a:xfrm>
            <a:off x="203200" y="12667337"/>
            <a:ext cx="14681200" cy="849085"/>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4400">
                <a:latin typeface="MS PGothic" panose="020B0600070205080204" pitchFamily="34" charset="-128"/>
                <a:ea typeface="MS PGothic" panose="020B0600070205080204" pitchFamily="34" charset="-128"/>
              </a:rPr>
              <a:t>関連研究</a:t>
            </a:r>
          </a:p>
        </p:txBody>
      </p:sp>
      <p:sp>
        <p:nvSpPr>
          <p:cNvPr id="22" name="テキスト ボックス 21">
            <a:extLst>
              <a:ext uri="{FF2B5EF4-FFF2-40B4-BE49-F238E27FC236}">
                <a16:creationId xmlns:a16="http://schemas.microsoft.com/office/drawing/2014/main" id="{72294D00-34B8-87F7-9878-A5E1FCF8B98B}"/>
              </a:ext>
            </a:extLst>
          </p:cNvPr>
          <p:cNvSpPr txBox="1"/>
          <p:nvPr/>
        </p:nvSpPr>
        <p:spPr>
          <a:xfrm>
            <a:off x="200710" y="13533814"/>
            <a:ext cx="14681200" cy="12895838"/>
          </a:xfrm>
          <a:prstGeom prst="rect">
            <a:avLst/>
          </a:prstGeom>
          <a:noFill/>
        </p:spPr>
        <p:txBody>
          <a:bodyPr wrap="square" rtlCol="0">
            <a:spAutoFit/>
          </a:bodyPr>
          <a:lstStyle/>
          <a:p>
            <a:pPr algn="just"/>
            <a:r>
              <a:rPr kumimoji="1" lang="en-US" altLang="ja-JP" sz="3200" dirty="0">
                <a:latin typeface="MS PGothic" panose="020B0600070205080204" pitchFamily="34" charset="-128"/>
                <a:ea typeface="MS PGothic" panose="020B0600070205080204" pitchFamily="34" charset="-128"/>
              </a:rPr>
              <a:t>Neural Joking Machine (</a:t>
            </a:r>
            <a:r>
              <a:rPr kumimoji="1" lang="en-US" altLang="ja-JP" sz="3200" dirty="0">
                <a:solidFill>
                  <a:srgbClr val="FF8AD8"/>
                </a:solidFill>
                <a:latin typeface="MS PGothic" panose="020B0600070205080204" pitchFamily="34" charset="-128"/>
                <a:ea typeface="MS PGothic" panose="020B0600070205080204" pitchFamily="34" charset="-128"/>
              </a:rPr>
              <a:t>NJM</a:t>
            </a:r>
            <a:r>
              <a:rPr kumimoji="1" lang="en-US" altLang="ja-JP" sz="3200" dirty="0">
                <a:latin typeface="MS PGothic" panose="020B0600070205080204" pitchFamily="34" charset="-128"/>
                <a:ea typeface="MS PGothic" panose="020B0600070205080204" pitchFamily="34" charset="-128"/>
              </a:rPr>
              <a:t>)[1]</a:t>
            </a:r>
          </a:p>
          <a:p>
            <a:pPr marL="457200" indent="-457200" algn="just">
              <a:buFont typeface="Arial" panose="020B0604020202020204" pitchFamily="34" charset="0"/>
              <a:buChar char="•"/>
            </a:pPr>
            <a:r>
              <a:rPr kumimoji="1" lang="ja-JP" altLang="en-US" sz="3200">
                <a:latin typeface="MS PGothic" panose="020B0600070205080204" pitchFamily="34" charset="-128"/>
                <a:ea typeface="MS PGothic" panose="020B0600070205080204" pitchFamily="34" charset="-128"/>
              </a:rPr>
              <a:t>画像に対し大喜利文章を生成する</a:t>
            </a:r>
            <a:r>
              <a:rPr kumimoji="1" lang="en-US" altLang="ja-JP" sz="3200" dirty="0">
                <a:latin typeface="MS PGothic" panose="020B0600070205080204" pitchFamily="34" charset="-128"/>
                <a:ea typeface="MS PGothic" panose="020B0600070205080204" pitchFamily="34" charset="-128"/>
              </a:rPr>
              <a:t>AI</a:t>
            </a:r>
            <a:r>
              <a:rPr kumimoji="1" lang="ja-JP" altLang="en-US" sz="3200">
                <a:latin typeface="MS PGothic" panose="020B0600070205080204" pitchFamily="34" charset="-128"/>
                <a:ea typeface="MS PGothic" panose="020B0600070205080204" pitchFamily="34" charset="-128"/>
              </a:rPr>
              <a:t>の先駆けの研究．</a:t>
            </a:r>
            <a:endParaRPr kumimoji="1" lang="en-US" altLang="ja-JP" sz="3200" dirty="0">
              <a:latin typeface="MS PGothic" panose="020B0600070205080204" pitchFamily="34" charset="-128"/>
              <a:ea typeface="MS PGothic" panose="020B0600070205080204" pitchFamily="34" charset="-128"/>
            </a:endParaRPr>
          </a:p>
          <a:p>
            <a:pPr marL="457200" indent="-457200" algn="just">
              <a:buFont typeface="Arial" panose="020B0604020202020204" pitchFamily="34" charset="0"/>
              <a:buChar char="•"/>
            </a:pPr>
            <a:r>
              <a:rPr kumimoji="1" lang="ja-JP" altLang="en-US" sz="3200">
                <a:latin typeface="MS PGothic" panose="020B0600070205080204" pitchFamily="34" charset="-128"/>
                <a:ea typeface="MS PGothic" panose="020B0600070205080204" pitchFamily="34" charset="-128"/>
              </a:rPr>
              <a:t>画像キャプション生成モデルの画像のエンコーダとして，</a:t>
            </a:r>
            <a:r>
              <a:rPr kumimoji="1" lang="en-US" altLang="ja-JP" sz="3200" dirty="0">
                <a:latin typeface="MS PGothic" panose="020B0600070205080204" pitchFamily="34" charset="-128"/>
                <a:ea typeface="MS PGothic" panose="020B0600070205080204" pitchFamily="34" charset="-128"/>
              </a:rPr>
              <a:t>ImageNet</a:t>
            </a:r>
            <a:r>
              <a:rPr kumimoji="1" lang="ja-JP" altLang="en-US" sz="3200">
                <a:latin typeface="MS PGothic" panose="020B0600070205080204" pitchFamily="34" charset="-128"/>
                <a:ea typeface="MS PGothic" panose="020B0600070205080204" pitchFamily="34" charset="-128"/>
              </a:rPr>
              <a:t>を事前に学習　した</a:t>
            </a:r>
            <a:r>
              <a:rPr kumimoji="1" lang="en-US" altLang="ja-JP" sz="3200" dirty="0">
                <a:latin typeface="MS PGothic" panose="020B0600070205080204" pitchFamily="34" charset="-128"/>
                <a:ea typeface="MS PGothic" panose="020B0600070205080204" pitchFamily="34" charset="-128"/>
              </a:rPr>
              <a:t>ResNet152</a:t>
            </a:r>
            <a:r>
              <a:rPr kumimoji="1" lang="ja-JP" altLang="en-US" sz="3200">
                <a:latin typeface="MS PGothic" panose="020B0600070205080204" pitchFamily="34" charset="-128"/>
                <a:ea typeface="MS PGothic" panose="020B0600070205080204" pitchFamily="34" charset="-128"/>
              </a:rPr>
              <a:t>を使用している．</a:t>
            </a:r>
            <a:endParaRPr kumimoji="1" lang="en-US" altLang="ja-JP" sz="3200" dirty="0">
              <a:latin typeface="MS PGothic" panose="020B0600070205080204" pitchFamily="34" charset="-128"/>
              <a:ea typeface="MS PGothic" panose="020B0600070205080204" pitchFamily="34" charset="-128"/>
            </a:endParaRPr>
          </a:p>
          <a:p>
            <a:pPr marL="457200" indent="-457200" algn="just">
              <a:buFont typeface="Arial" panose="020B0604020202020204" pitchFamily="34" charset="0"/>
              <a:buChar char="•"/>
            </a:pPr>
            <a:r>
              <a:rPr kumimoji="1" lang="ja-JP" altLang="en-US" sz="3200">
                <a:latin typeface="MS PGothic" panose="020B0600070205080204" pitchFamily="34" charset="-128"/>
                <a:ea typeface="MS PGothic" panose="020B0600070205080204" pitchFamily="34" charset="-128"/>
              </a:rPr>
              <a:t>ボケての画像と</a:t>
            </a:r>
            <a:r>
              <a:rPr kumimoji="1" lang="en-US" altLang="ja-JP" sz="3200" dirty="0">
                <a:latin typeface="MS PGothic" panose="020B0600070205080204" pitchFamily="34" charset="-128"/>
                <a:ea typeface="MS PGothic" panose="020B0600070205080204" pitchFamily="34" charset="-128"/>
              </a:rPr>
              <a:t>ImageNet</a:t>
            </a:r>
            <a:r>
              <a:rPr kumimoji="1" lang="ja-JP" altLang="en-US" sz="3200">
                <a:latin typeface="MS PGothic" panose="020B0600070205080204" pitchFamily="34" charset="-128"/>
                <a:ea typeface="MS PGothic" panose="020B0600070205080204" pitchFamily="34" charset="-128"/>
              </a:rPr>
              <a:t>の画像にはドメイン乖離があり，このため画像のエンコーダはボケての画像の特徴を抽出できていないと考えられる．</a:t>
            </a:r>
            <a:endParaRPr kumimoji="1" lang="en-US" altLang="ja-JP" sz="3200" dirty="0">
              <a:latin typeface="MS PGothic" panose="020B0600070205080204" pitchFamily="34" charset="-128"/>
              <a:ea typeface="MS PGothic" panose="020B0600070205080204" pitchFamily="34" charset="-128"/>
            </a:endParaRPr>
          </a:p>
          <a:p>
            <a:r>
              <a:rPr kumimoji="1" lang="en-US" altLang="ja-JP" sz="3200" spc="-100" dirty="0">
                <a:latin typeface="MS PGothic" panose="020B0600070205080204" pitchFamily="34" charset="-128"/>
                <a:ea typeface="MS PGothic" panose="020B0600070205080204" pitchFamily="34" charset="-128"/>
              </a:rPr>
              <a:t>Generative Model of Suitable Meme Sentences for Images using </a:t>
            </a:r>
            <a:r>
              <a:rPr kumimoji="1" lang="en-US" altLang="ja-JP" sz="3200" spc="-100" dirty="0" err="1">
                <a:latin typeface="MS PGothic" panose="020B0600070205080204" pitchFamily="34" charset="-128"/>
                <a:ea typeface="MS PGothic" panose="020B0600070205080204" pitchFamily="34" charset="-128"/>
              </a:rPr>
              <a:t>AutoEncoder</a:t>
            </a:r>
            <a:r>
              <a:rPr kumimoji="1" lang="en-US" altLang="ja-JP" sz="3200" spc="-100" dirty="0">
                <a:latin typeface="MS PGothic" panose="020B0600070205080204" pitchFamily="34" charset="-128"/>
                <a:ea typeface="MS PGothic" panose="020B0600070205080204" pitchFamily="34" charset="-128"/>
              </a:rPr>
              <a:t>(</a:t>
            </a:r>
            <a:r>
              <a:rPr kumimoji="1" lang="en-US" altLang="ja-JP" sz="3200" spc="-100" dirty="0">
                <a:solidFill>
                  <a:srgbClr val="FF7E79"/>
                </a:solidFill>
                <a:latin typeface="MS PGothic" panose="020B0600070205080204" pitchFamily="34" charset="-128"/>
                <a:ea typeface="MS PGothic" panose="020B0600070205080204" pitchFamily="34" charset="-128"/>
              </a:rPr>
              <a:t>GUMI-AE</a:t>
            </a:r>
            <a:r>
              <a:rPr kumimoji="1" lang="en-US" altLang="ja-JP" sz="3200" spc="-100" dirty="0">
                <a:latin typeface="MS PGothic" panose="020B0600070205080204" pitchFamily="34" charset="-128"/>
                <a:ea typeface="MS PGothic" panose="020B0600070205080204" pitchFamily="34" charset="-128"/>
              </a:rPr>
              <a:t>)[2]</a:t>
            </a:r>
          </a:p>
          <a:p>
            <a:pPr marL="457200" indent="-457200" algn="just">
              <a:buFont typeface="Arial" panose="020B0604020202020204" pitchFamily="34" charset="0"/>
              <a:buChar char="•"/>
            </a:pPr>
            <a:r>
              <a:rPr kumimoji="1" lang="ja-JP" altLang="en-US" sz="3200">
                <a:latin typeface="MS PGothic" panose="020B0600070205080204" pitchFamily="34" charset="-128"/>
                <a:ea typeface="MS PGothic" panose="020B0600070205080204" pitchFamily="34" charset="-128"/>
              </a:rPr>
              <a:t>ドメイン乖離を解決するため，ボケての画像に適した画像のエンコーダを用いる．</a:t>
            </a:r>
            <a:endParaRPr kumimoji="1" lang="en-US" altLang="ja-JP" sz="3200" dirty="0">
              <a:latin typeface="MS PGothic" panose="020B0600070205080204" pitchFamily="34" charset="-128"/>
              <a:ea typeface="MS PGothic" panose="020B0600070205080204" pitchFamily="34" charset="-128"/>
            </a:endParaRPr>
          </a:p>
          <a:p>
            <a:pPr marL="457200" indent="-457200" algn="just">
              <a:buFont typeface="Arial" panose="020B0604020202020204" pitchFamily="34" charset="0"/>
              <a:buChar char="•"/>
            </a:pPr>
            <a:r>
              <a:rPr kumimoji="1" lang="ja-JP" altLang="en-US" sz="3200">
                <a:latin typeface="MS PGothic" panose="020B0600070205080204" pitchFamily="34" charset="-128"/>
                <a:ea typeface="MS PGothic" panose="020B0600070205080204" pitchFamily="34" charset="-128"/>
              </a:rPr>
              <a:t>ボケての画像にはラベルが付与されていないので，学習時にラベルを必要としない</a:t>
            </a:r>
            <a:r>
              <a:rPr kumimoji="1" lang="en-US" altLang="ja-JP" sz="3200" dirty="0" err="1">
                <a:latin typeface="MS PGothic" panose="020B0600070205080204" pitchFamily="34" charset="-128"/>
                <a:ea typeface="MS PGothic" panose="020B0600070205080204" pitchFamily="34" charset="-128"/>
              </a:rPr>
              <a:t>AutoEncoder</a:t>
            </a:r>
            <a:r>
              <a:rPr kumimoji="1" lang="ja-JP" altLang="en-US" sz="3200">
                <a:latin typeface="MS PGothic" panose="020B0600070205080204" pitchFamily="34" charset="-128"/>
                <a:ea typeface="MS PGothic" panose="020B0600070205080204" pitchFamily="34" charset="-128"/>
              </a:rPr>
              <a:t>をボケての画像で学習し，そのエンコーダを画像キャプション生成モデルの画像のエンコーダとする．</a:t>
            </a:r>
            <a:endParaRPr kumimoji="1" lang="en-US" altLang="ja-JP" sz="3200" dirty="0">
              <a:latin typeface="MS PGothic" panose="020B0600070205080204" pitchFamily="34" charset="-128"/>
              <a:ea typeface="MS PGothic" panose="020B0600070205080204" pitchFamily="34" charset="-128"/>
            </a:endParaRPr>
          </a:p>
          <a:p>
            <a:pPr marL="457200" indent="-457200" algn="just">
              <a:buFont typeface="Arial" panose="020B0604020202020204" pitchFamily="34" charset="0"/>
              <a:buChar char="•"/>
            </a:pPr>
            <a:endParaRPr kumimoji="1" lang="en-US" altLang="ja-JP" sz="3200" dirty="0">
              <a:latin typeface="MS PGothic" panose="020B0600070205080204" pitchFamily="34" charset="-128"/>
              <a:ea typeface="MS PGothic" panose="020B0600070205080204" pitchFamily="34" charset="-128"/>
            </a:endParaRPr>
          </a:p>
          <a:p>
            <a:pPr marL="457200" indent="-457200" algn="just">
              <a:buFont typeface="Arial" panose="020B0604020202020204" pitchFamily="34" charset="0"/>
              <a:buChar char="•"/>
            </a:pPr>
            <a:endParaRPr kumimoji="1" lang="en-US" altLang="ja-JP" sz="3200" dirty="0">
              <a:latin typeface="MS PGothic" panose="020B0600070205080204" pitchFamily="34" charset="-128"/>
              <a:ea typeface="MS PGothic" panose="020B0600070205080204" pitchFamily="34" charset="-128"/>
            </a:endParaRPr>
          </a:p>
          <a:p>
            <a:pPr marL="457200" indent="-457200" algn="just">
              <a:buFont typeface="Arial" panose="020B0604020202020204" pitchFamily="34" charset="0"/>
              <a:buChar char="•"/>
            </a:pPr>
            <a:endParaRPr kumimoji="1" lang="en-US" altLang="ja-JP" sz="3200" dirty="0">
              <a:latin typeface="MS PGothic" panose="020B0600070205080204" pitchFamily="34" charset="-128"/>
              <a:ea typeface="MS PGothic" panose="020B0600070205080204" pitchFamily="34" charset="-128"/>
            </a:endParaRPr>
          </a:p>
          <a:p>
            <a:pPr marL="457200" indent="-457200" algn="just">
              <a:buFont typeface="Arial" panose="020B0604020202020204" pitchFamily="34" charset="0"/>
              <a:buChar char="•"/>
            </a:pPr>
            <a:endParaRPr kumimoji="1" lang="en-US" altLang="ja-JP" sz="3200" dirty="0">
              <a:latin typeface="MS PGothic" panose="020B0600070205080204" pitchFamily="34" charset="-128"/>
              <a:ea typeface="MS PGothic" panose="020B0600070205080204" pitchFamily="34" charset="-128"/>
            </a:endParaRPr>
          </a:p>
          <a:p>
            <a:pPr marL="457200" indent="-457200" algn="just">
              <a:buFont typeface="Arial" panose="020B0604020202020204" pitchFamily="34" charset="0"/>
              <a:buChar char="•"/>
            </a:pPr>
            <a:endParaRPr kumimoji="1" lang="en-US" altLang="ja-JP" sz="3200" dirty="0">
              <a:latin typeface="MS PGothic" panose="020B0600070205080204" pitchFamily="34" charset="-128"/>
              <a:ea typeface="MS PGothic" panose="020B0600070205080204" pitchFamily="34" charset="-128"/>
            </a:endParaRPr>
          </a:p>
          <a:p>
            <a:pPr marL="457200" indent="-457200" algn="just">
              <a:buFont typeface="Arial" panose="020B0604020202020204" pitchFamily="34" charset="0"/>
              <a:buChar char="•"/>
            </a:pPr>
            <a:endParaRPr kumimoji="1" lang="en-US" altLang="ja-JP" sz="3200" dirty="0">
              <a:latin typeface="MS PGothic" panose="020B0600070205080204" pitchFamily="34" charset="-128"/>
              <a:ea typeface="MS PGothic" panose="020B0600070205080204" pitchFamily="34" charset="-128"/>
            </a:endParaRPr>
          </a:p>
          <a:p>
            <a:pPr marL="457200" indent="-457200" algn="just">
              <a:buFont typeface="Arial" panose="020B0604020202020204" pitchFamily="34" charset="0"/>
              <a:buChar char="•"/>
            </a:pPr>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r>
              <a:rPr kumimoji="1" lang="ja-JP" altLang="en-US" sz="3200">
                <a:latin typeface="MS PGothic" panose="020B0600070205080204" pitchFamily="34" charset="-128"/>
                <a:ea typeface="MS PGothic" panose="020B0600070205080204" pitchFamily="34" charset="-128"/>
              </a:rPr>
              <a:t>これらの手法では，文章のデコーダが</a:t>
            </a:r>
            <a:r>
              <a:rPr kumimoji="1" lang="en-US" altLang="ja-JP" sz="3200" dirty="0">
                <a:latin typeface="MS PGothic" panose="020B0600070205080204" pitchFamily="34" charset="-128"/>
                <a:ea typeface="MS PGothic" panose="020B0600070205080204" pitchFamily="34" charset="-128"/>
              </a:rPr>
              <a:t>LSTM</a:t>
            </a:r>
            <a:r>
              <a:rPr kumimoji="1" lang="ja-JP" altLang="en-US" sz="3200">
                <a:latin typeface="MS PGothic" panose="020B0600070205080204" pitchFamily="34" charset="-128"/>
                <a:ea typeface="MS PGothic" panose="020B0600070205080204" pitchFamily="34" charset="-128"/>
              </a:rPr>
              <a:t>で構成されている．</a:t>
            </a:r>
            <a:r>
              <a:rPr kumimoji="1" lang="en-US" altLang="ja-JP" sz="3200" dirty="0">
                <a:latin typeface="MS PGothic" panose="020B0600070205080204" pitchFamily="34" charset="-128"/>
                <a:ea typeface="MS PGothic" panose="020B0600070205080204" pitchFamily="34" charset="-128"/>
              </a:rPr>
              <a:t>LSTM</a:t>
            </a:r>
            <a:r>
              <a:rPr kumimoji="1" lang="ja-JP" altLang="en-US" sz="3200">
                <a:latin typeface="MS PGothic" panose="020B0600070205080204" pitchFamily="34" charset="-128"/>
                <a:ea typeface="MS PGothic" panose="020B0600070205080204" pitchFamily="34" charset="-128"/>
              </a:rPr>
              <a:t>等の再帰的ニューラルネットワークは過去の時系列の重み付け和によって時系列を考慮している．そのため，</a:t>
            </a:r>
            <a:r>
              <a:rPr kumimoji="1" lang="ja-JP" altLang="en-US" sz="3200">
                <a:solidFill>
                  <a:srgbClr val="FF0000"/>
                </a:solidFill>
                <a:latin typeface="MS PGothic" panose="020B0600070205080204" pitchFamily="34" charset="-128"/>
                <a:ea typeface="MS PGothic" panose="020B0600070205080204" pitchFamily="34" charset="-128"/>
              </a:rPr>
              <a:t>長期の時系列を考慮することが困難であるという問題</a:t>
            </a:r>
            <a:r>
              <a:rPr kumimoji="1" lang="ja-JP" altLang="en-US" sz="3200">
                <a:latin typeface="MS PGothic" panose="020B0600070205080204" pitchFamily="34" charset="-128"/>
                <a:ea typeface="MS PGothic" panose="020B0600070205080204" pitchFamily="34" charset="-128"/>
              </a:rPr>
              <a:t>がある．</a:t>
            </a:r>
            <a:endParaRPr kumimoji="1" lang="en-US" altLang="ja-JP" sz="3200" dirty="0">
              <a:latin typeface="MS PGothic" panose="020B0600070205080204" pitchFamily="34" charset="-128"/>
              <a:ea typeface="MS PGothic" panose="020B0600070205080204" pitchFamily="34" charset="-128"/>
            </a:endParaRPr>
          </a:p>
        </p:txBody>
      </p:sp>
      <p:sp>
        <p:nvSpPr>
          <p:cNvPr id="58" name="正方形/長方形 57">
            <a:extLst>
              <a:ext uri="{FF2B5EF4-FFF2-40B4-BE49-F238E27FC236}">
                <a16:creationId xmlns:a16="http://schemas.microsoft.com/office/drawing/2014/main" id="{B0B153C7-2079-58AB-1258-D7851180223E}"/>
              </a:ext>
            </a:extLst>
          </p:cNvPr>
          <p:cNvSpPr/>
          <p:nvPr/>
        </p:nvSpPr>
        <p:spPr>
          <a:xfrm>
            <a:off x="9432224" y="21215135"/>
            <a:ext cx="1828800" cy="886879"/>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dirty="0">
                <a:solidFill>
                  <a:schemeClr val="tx1"/>
                </a:solidFill>
                <a:latin typeface="MS PGothic" panose="020B0600070205080204" pitchFamily="34" charset="-128"/>
                <a:ea typeface="MS PGothic" panose="020B0600070205080204" pitchFamily="34" charset="-128"/>
              </a:rPr>
              <a:t>LSTM</a:t>
            </a:r>
            <a:endParaRPr kumimoji="1" lang="ja-JP" altLang="en-US" sz="3200">
              <a:solidFill>
                <a:schemeClr val="tx1"/>
              </a:solidFill>
              <a:latin typeface="MS PGothic" panose="020B0600070205080204" pitchFamily="34" charset="-128"/>
              <a:ea typeface="MS PGothic" panose="020B0600070205080204" pitchFamily="34" charset="-128"/>
            </a:endParaRPr>
          </a:p>
        </p:txBody>
      </p:sp>
      <p:sp>
        <p:nvSpPr>
          <p:cNvPr id="1027" name="正方形/長方形 1026">
            <a:extLst>
              <a:ext uri="{FF2B5EF4-FFF2-40B4-BE49-F238E27FC236}">
                <a16:creationId xmlns:a16="http://schemas.microsoft.com/office/drawing/2014/main" id="{46B16C80-4E89-43B5-CD73-9747BF6951CD}"/>
              </a:ext>
            </a:extLst>
          </p:cNvPr>
          <p:cNvSpPr/>
          <p:nvPr/>
        </p:nvSpPr>
        <p:spPr>
          <a:xfrm>
            <a:off x="11952702" y="21215134"/>
            <a:ext cx="1828800" cy="886879"/>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dirty="0">
                <a:solidFill>
                  <a:schemeClr val="tx1"/>
                </a:solidFill>
                <a:latin typeface="MS PGothic" panose="020B0600070205080204" pitchFamily="34" charset="-128"/>
                <a:ea typeface="MS PGothic" panose="020B0600070205080204" pitchFamily="34" charset="-128"/>
              </a:rPr>
              <a:t>LSTM</a:t>
            </a:r>
            <a:endParaRPr kumimoji="1" lang="ja-JP" altLang="en-US" sz="3200">
              <a:solidFill>
                <a:schemeClr val="tx1"/>
              </a:solidFill>
              <a:latin typeface="MS PGothic" panose="020B0600070205080204" pitchFamily="34" charset="-128"/>
              <a:ea typeface="MS PGothic" panose="020B0600070205080204" pitchFamily="34" charset="-128"/>
            </a:endParaRPr>
          </a:p>
        </p:txBody>
      </p:sp>
      <p:cxnSp>
        <p:nvCxnSpPr>
          <p:cNvPr id="1032" name="直線矢印コネクタ 31">
            <a:extLst>
              <a:ext uri="{FF2B5EF4-FFF2-40B4-BE49-F238E27FC236}">
                <a16:creationId xmlns:a16="http://schemas.microsoft.com/office/drawing/2014/main" id="{07592C99-240B-FCF8-DC8C-A2B0B6D5D670}"/>
              </a:ext>
            </a:extLst>
          </p:cNvPr>
          <p:cNvCxnSpPr>
            <a:cxnSpLocks/>
            <a:stCxn id="58" idx="3"/>
            <a:endCxn id="1027" idx="1"/>
          </p:cNvCxnSpPr>
          <p:nvPr/>
        </p:nvCxnSpPr>
        <p:spPr>
          <a:xfrm flipV="1">
            <a:off x="11261024" y="21658574"/>
            <a:ext cx="691678" cy="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35" name="直線矢印コネクタ 31">
            <a:extLst>
              <a:ext uri="{FF2B5EF4-FFF2-40B4-BE49-F238E27FC236}">
                <a16:creationId xmlns:a16="http://schemas.microsoft.com/office/drawing/2014/main" id="{3761CEA1-8E7A-5B6E-8862-E5F0D7C5EBD3}"/>
              </a:ext>
            </a:extLst>
          </p:cNvPr>
          <p:cNvCxnSpPr>
            <a:cxnSpLocks/>
            <a:stCxn id="1027" idx="3"/>
          </p:cNvCxnSpPr>
          <p:nvPr/>
        </p:nvCxnSpPr>
        <p:spPr>
          <a:xfrm>
            <a:off x="13781502" y="21658574"/>
            <a:ext cx="50558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39" name="テキスト ボックス 1038">
                <a:extLst>
                  <a:ext uri="{FF2B5EF4-FFF2-40B4-BE49-F238E27FC236}">
                    <a16:creationId xmlns:a16="http://schemas.microsoft.com/office/drawing/2014/main" id="{B06230EC-0312-6D86-CBF2-AE3826C1690C}"/>
                  </a:ext>
                </a:extLst>
              </p:cNvPr>
              <p:cNvSpPr txBox="1"/>
              <p:nvPr/>
            </p:nvSpPr>
            <p:spPr>
              <a:xfrm>
                <a:off x="10131854" y="22915401"/>
                <a:ext cx="42954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3200" i="1">
                              <a:latin typeface="Cambria Math" panose="02040503050406030204" pitchFamily="18" charset="0"/>
                            </a:rPr>
                          </m:ctrlPr>
                        </m:sSubPr>
                        <m:e>
                          <m:r>
                            <a:rPr kumimoji="1" lang="en-US" altLang="ja-JP" sz="3200" i="1">
                              <a:latin typeface="Cambria Math" panose="02040503050406030204" pitchFamily="18" charset="0"/>
                            </a:rPr>
                            <m:t>𝑡</m:t>
                          </m:r>
                        </m:e>
                        <m:sub>
                          <m:r>
                            <a:rPr kumimoji="1" lang="en-US" altLang="ja-JP" sz="3200" i="1">
                              <a:latin typeface="Cambria Math" panose="02040503050406030204" pitchFamily="18" charset="0"/>
                            </a:rPr>
                            <m:t>1</m:t>
                          </m:r>
                        </m:sub>
                      </m:sSub>
                    </m:oMath>
                  </m:oMathPara>
                </a14:m>
                <a:endParaRPr kumimoji="1" lang="ja-JP" altLang="en-US" sz="3200"/>
              </a:p>
            </p:txBody>
          </p:sp>
        </mc:Choice>
        <mc:Fallback xmlns="">
          <p:sp>
            <p:nvSpPr>
              <p:cNvPr id="1039" name="テキスト ボックス 1038">
                <a:extLst>
                  <a:ext uri="{FF2B5EF4-FFF2-40B4-BE49-F238E27FC236}">
                    <a16:creationId xmlns:a16="http://schemas.microsoft.com/office/drawing/2014/main" id="{B06230EC-0312-6D86-CBF2-AE3826C1690C}"/>
                  </a:ext>
                </a:extLst>
              </p:cNvPr>
              <p:cNvSpPr txBox="1">
                <a:spLocks noRot="1" noChangeAspect="1" noMove="1" noResize="1" noEditPoints="1" noAdjustHandles="1" noChangeArrowheads="1" noChangeShapeType="1" noTextEdit="1"/>
              </p:cNvSpPr>
              <p:nvPr/>
            </p:nvSpPr>
            <p:spPr>
              <a:xfrm>
                <a:off x="10131854" y="22915401"/>
                <a:ext cx="429540" cy="492443"/>
              </a:xfrm>
              <a:prstGeom prst="rect">
                <a:avLst/>
              </a:prstGeom>
              <a:blipFill>
                <a:blip r:embed="rId4"/>
                <a:stretch>
                  <a:fillRect l="-14286" r="-5714" b="-12500"/>
                </a:stretch>
              </a:blipFill>
            </p:spPr>
            <p:txBody>
              <a:bodyPr/>
              <a:lstStyle/>
              <a:p>
                <a:r>
                  <a:rPr lang="ja-JP" altLang="en-US">
                    <a:noFill/>
                  </a:rPr>
                  <a:t> </a:t>
                </a:r>
              </a:p>
            </p:txBody>
          </p:sp>
        </mc:Fallback>
      </mc:AlternateContent>
      <p:cxnSp>
        <p:nvCxnSpPr>
          <p:cNvPr id="1040" name="直線矢印コネクタ 31">
            <a:extLst>
              <a:ext uri="{FF2B5EF4-FFF2-40B4-BE49-F238E27FC236}">
                <a16:creationId xmlns:a16="http://schemas.microsoft.com/office/drawing/2014/main" id="{B99C7F8F-0334-0789-70B4-7322BD031634}"/>
              </a:ext>
            </a:extLst>
          </p:cNvPr>
          <p:cNvCxnSpPr>
            <a:cxnSpLocks/>
            <a:stCxn id="1039" idx="0"/>
            <a:endCxn id="58" idx="2"/>
          </p:cNvCxnSpPr>
          <p:nvPr/>
        </p:nvCxnSpPr>
        <p:spPr>
          <a:xfrm flipV="1">
            <a:off x="10346624" y="22102014"/>
            <a:ext cx="0" cy="81338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43" name="テキスト ボックス 1042">
                <a:extLst>
                  <a:ext uri="{FF2B5EF4-FFF2-40B4-BE49-F238E27FC236}">
                    <a16:creationId xmlns:a16="http://schemas.microsoft.com/office/drawing/2014/main" id="{A09208DE-7102-5048-4EFE-C96CFEC613F8}"/>
                  </a:ext>
                </a:extLst>
              </p:cNvPr>
              <p:cNvSpPr txBox="1"/>
              <p:nvPr/>
            </p:nvSpPr>
            <p:spPr>
              <a:xfrm>
                <a:off x="10131854" y="19906254"/>
                <a:ext cx="42954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kumimoji="1" lang="ja-JP" altLang="en-US" sz="3200" i="1" smtClean="0">
                              <a:latin typeface="Cambria Math" panose="02040503050406030204" pitchFamily="18" charset="0"/>
                            </a:rPr>
                          </m:ctrlPr>
                        </m:accPr>
                        <m:e>
                          <m:sSub>
                            <m:sSubPr>
                              <m:ctrlPr>
                                <a:rPr kumimoji="1" lang="en-US" altLang="ja-JP" sz="3200" i="1" smtClean="0">
                                  <a:latin typeface="Cambria Math" panose="02040503050406030204" pitchFamily="18" charset="0"/>
                                </a:rPr>
                              </m:ctrlPr>
                            </m:sSubPr>
                            <m:e>
                              <m:r>
                                <a:rPr kumimoji="1" lang="en-US" altLang="ja-JP" sz="3200" b="0" i="1" smtClean="0">
                                  <a:latin typeface="Cambria Math" panose="02040503050406030204" pitchFamily="18" charset="0"/>
                                </a:rPr>
                                <m:t>𝑡</m:t>
                              </m:r>
                            </m:e>
                            <m:sub>
                              <m:r>
                                <a:rPr kumimoji="1" lang="en-US" altLang="ja-JP" sz="3200" b="0" i="1" smtClean="0">
                                  <a:latin typeface="Cambria Math" panose="02040503050406030204" pitchFamily="18" charset="0"/>
                                </a:rPr>
                                <m:t>1</m:t>
                              </m:r>
                            </m:sub>
                          </m:sSub>
                        </m:e>
                      </m:acc>
                    </m:oMath>
                  </m:oMathPara>
                </a14:m>
                <a:endParaRPr kumimoji="1" lang="ja-JP" altLang="en-US" sz="3200"/>
              </a:p>
            </p:txBody>
          </p:sp>
        </mc:Choice>
        <mc:Fallback xmlns="">
          <p:sp>
            <p:nvSpPr>
              <p:cNvPr id="1043" name="テキスト ボックス 1042">
                <a:extLst>
                  <a:ext uri="{FF2B5EF4-FFF2-40B4-BE49-F238E27FC236}">
                    <a16:creationId xmlns:a16="http://schemas.microsoft.com/office/drawing/2014/main" id="{A09208DE-7102-5048-4EFE-C96CFEC613F8}"/>
                  </a:ext>
                </a:extLst>
              </p:cNvPr>
              <p:cNvSpPr txBox="1">
                <a:spLocks noRot="1" noChangeAspect="1" noMove="1" noResize="1" noEditPoints="1" noAdjustHandles="1" noChangeArrowheads="1" noChangeShapeType="1" noTextEdit="1"/>
              </p:cNvSpPr>
              <p:nvPr/>
            </p:nvSpPr>
            <p:spPr>
              <a:xfrm>
                <a:off x="10131854" y="19906254"/>
                <a:ext cx="429540" cy="492443"/>
              </a:xfrm>
              <a:prstGeom prst="rect">
                <a:avLst/>
              </a:prstGeom>
              <a:blipFill>
                <a:blip r:embed="rId5"/>
                <a:stretch>
                  <a:fillRect l="-14286" t="-15000" r="-5714" b="-12500"/>
                </a:stretch>
              </a:blipFill>
            </p:spPr>
            <p:txBody>
              <a:bodyPr/>
              <a:lstStyle/>
              <a:p>
                <a:r>
                  <a:rPr lang="ja-JP" altLang="en-US">
                    <a:noFill/>
                  </a:rPr>
                  <a:t> </a:t>
                </a:r>
              </a:p>
            </p:txBody>
          </p:sp>
        </mc:Fallback>
      </mc:AlternateContent>
      <p:cxnSp>
        <p:nvCxnSpPr>
          <p:cNvPr id="1045" name="直線矢印コネクタ 31">
            <a:extLst>
              <a:ext uri="{FF2B5EF4-FFF2-40B4-BE49-F238E27FC236}">
                <a16:creationId xmlns:a16="http://schemas.microsoft.com/office/drawing/2014/main" id="{BFBB2F88-B41F-92D1-6D19-D79B8E4848A6}"/>
              </a:ext>
            </a:extLst>
          </p:cNvPr>
          <p:cNvCxnSpPr>
            <a:cxnSpLocks/>
            <a:stCxn id="58" idx="0"/>
            <a:endCxn id="1043" idx="2"/>
          </p:cNvCxnSpPr>
          <p:nvPr/>
        </p:nvCxnSpPr>
        <p:spPr>
          <a:xfrm flipV="1">
            <a:off x="10346624" y="20398697"/>
            <a:ext cx="0" cy="81643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51" name="直線矢印コネクタ 31">
            <a:extLst>
              <a:ext uri="{FF2B5EF4-FFF2-40B4-BE49-F238E27FC236}">
                <a16:creationId xmlns:a16="http://schemas.microsoft.com/office/drawing/2014/main" id="{F2E75E49-C338-203B-A3BC-D9959D25AE5B}"/>
              </a:ext>
            </a:extLst>
          </p:cNvPr>
          <p:cNvCxnSpPr>
            <a:cxnSpLocks/>
            <a:stCxn id="41" idx="0"/>
            <a:endCxn id="1027" idx="2"/>
          </p:cNvCxnSpPr>
          <p:nvPr/>
        </p:nvCxnSpPr>
        <p:spPr>
          <a:xfrm flipH="1" flipV="1">
            <a:off x="12867102" y="22102013"/>
            <a:ext cx="4745" cy="81247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54" name="テキスト ボックス 1053">
                <a:extLst>
                  <a:ext uri="{FF2B5EF4-FFF2-40B4-BE49-F238E27FC236}">
                    <a16:creationId xmlns:a16="http://schemas.microsoft.com/office/drawing/2014/main" id="{1264FB24-9271-0B81-233B-07D2BB10CB1E}"/>
                  </a:ext>
                </a:extLst>
              </p:cNvPr>
              <p:cNvSpPr txBox="1"/>
              <p:nvPr/>
            </p:nvSpPr>
            <p:spPr>
              <a:xfrm>
                <a:off x="12648855" y="19906253"/>
                <a:ext cx="439031"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kumimoji="1" lang="ja-JP" altLang="en-US" sz="3200" i="1" smtClean="0">
                              <a:latin typeface="Cambria Math" panose="02040503050406030204" pitchFamily="18" charset="0"/>
                            </a:rPr>
                          </m:ctrlPr>
                        </m:accPr>
                        <m:e>
                          <m:sSub>
                            <m:sSubPr>
                              <m:ctrlPr>
                                <a:rPr kumimoji="1" lang="en-US" altLang="ja-JP" sz="3200" i="1">
                                  <a:latin typeface="Cambria Math" panose="02040503050406030204" pitchFamily="18" charset="0"/>
                                </a:rPr>
                              </m:ctrlPr>
                            </m:sSubPr>
                            <m:e>
                              <m:r>
                                <a:rPr kumimoji="1" lang="en-US" altLang="ja-JP" sz="3200" i="1">
                                  <a:latin typeface="Cambria Math" panose="02040503050406030204" pitchFamily="18" charset="0"/>
                                </a:rPr>
                                <m:t>𝑡</m:t>
                              </m:r>
                            </m:e>
                            <m:sub>
                              <m:r>
                                <a:rPr kumimoji="1" lang="en-US" altLang="ja-JP" sz="3200" b="0" i="1" smtClean="0">
                                  <a:latin typeface="Cambria Math" panose="02040503050406030204" pitchFamily="18" charset="0"/>
                                </a:rPr>
                                <m:t>2</m:t>
                              </m:r>
                            </m:sub>
                          </m:sSub>
                        </m:e>
                      </m:acc>
                    </m:oMath>
                  </m:oMathPara>
                </a14:m>
                <a:endParaRPr kumimoji="1" lang="ja-JP" altLang="en-US" sz="3200"/>
              </a:p>
            </p:txBody>
          </p:sp>
        </mc:Choice>
        <mc:Fallback xmlns="">
          <p:sp>
            <p:nvSpPr>
              <p:cNvPr id="1054" name="テキスト ボックス 1053">
                <a:extLst>
                  <a:ext uri="{FF2B5EF4-FFF2-40B4-BE49-F238E27FC236}">
                    <a16:creationId xmlns:a16="http://schemas.microsoft.com/office/drawing/2014/main" id="{1264FB24-9271-0B81-233B-07D2BB10CB1E}"/>
                  </a:ext>
                </a:extLst>
              </p:cNvPr>
              <p:cNvSpPr txBox="1">
                <a:spLocks noRot="1" noChangeAspect="1" noMove="1" noResize="1" noEditPoints="1" noAdjustHandles="1" noChangeArrowheads="1" noChangeShapeType="1" noTextEdit="1"/>
              </p:cNvSpPr>
              <p:nvPr/>
            </p:nvSpPr>
            <p:spPr>
              <a:xfrm>
                <a:off x="12648855" y="19906253"/>
                <a:ext cx="439031" cy="492443"/>
              </a:xfrm>
              <a:prstGeom prst="rect">
                <a:avLst/>
              </a:prstGeom>
              <a:blipFill>
                <a:blip r:embed="rId6"/>
                <a:stretch>
                  <a:fillRect l="-20000" t="-15000" r="-5714" b="-12500"/>
                </a:stretch>
              </a:blipFill>
            </p:spPr>
            <p:txBody>
              <a:bodyPr/>
              <a:lstStyle/>
              <a:p>
                <a:r>
                  <a:rPr lang="ja-JP" altLang="en-US">
                    <a:noFill/>
                  </a:rPr>
                  <a:t> </a:t>
                </a:r>
              </a:p>
            </p:txBody>
          </p:sp>
        </mc:Fallback>
      </mc:AlternateContent>
      <p:cxnSp>
        <p:nvCxnSpPr>
          <p:cNvPr id="1055" name="直線矢印コネクタ 31">
            <a:extLst>
              <a:ext uri="{FF2B5EF4-FFF2-40B4-BE49-F238E27FC236}">
                <a16:creationId xmlns:a16="http://schemas.microsoft.com/office/drawing/2014/main" id="{000C500E-4C43-7F3A-BC84-1D4E32B0AFD9}"/>
              </a:ext>
            </a:extLst>
          </p:cNvPr>
          <p:cNvCxnSpPr>
            <a:cxnSpLocks/>
            <a:stCxn id="1027" idx="0"/>
            <a:endCxn id="1054" idx="2"/>
          </p:cNvCxnSpPr>
          <p:nvPr/>
        </p:nvCxnSpPr>
        <p:spPr>
          <a:xfrm flipV="1">
            <a:off x="12867102" y="20398696"/>
            <a:ext cx="1269" cy="81643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58" name="テキスト ボックス 1057">
                <a:extLst>
                  <a:ext uri="{FF2B5EF4-FFF2-40B4-BE49-F238E27FC236}">
                    <a16:creationId xmlns:a16="http://schemas.microsoft.com/office/drawing/2014/main" id="{DB3459E3-F65D-FE23-ECA7-D10B7DCB279A}"/>
                  </a:ext>
                </a:extLst>
              </p:cNvPr>
              <p:cNvSpPr txBox="1"/>
              <p:nvPr/>
            </p:nvSpPr>
            <p:spPr>
              <a:xfrm>
                <a:off x="9950032" y="23480734"/>
                <a:ext cx="4650953" cy="984885"/>
              </a:xfrm>
              <a:prstGeom prst="rect">
                <a:avLst/>
              </a:prstGeom>
              <a:noFill/>
            </p:spPr>
            <p:txBody>
              <a:bodyPr wrap="none" lIns="0" tIns="0" rIns="0" bIns="0" rtlCol="0">
                <a:spAutoFit/>
              </a:bodyPr>
              <a:lstStyle/>
              <a:p>
                <a:r>
                  <a:rPr kumimoji="1" lang="en-US" altLang="ja-JP" sz="3200" dirty="0">
                    <a:latin typeface="MS PGothic" panose="020B0600070205080204" pitchFamily="34" charset="-128"/>
                    <a:ea typeface="MS PGothic" panose="020B0600070205080204" pitchFamily="34" charset="-128"/>
                  </a:rPr>
                  <a:t>※ </a:t>
                </a:r>
                <a14:m>
                  <m:oMath xmlns:m="http://schemas.openxmlformats.org/officeDocument/2006/math">
                    <m:sSub>
                      <m:sSubPr>
                        <m:ctrlPr>
                          <a:rPr kumimoji="1" lang="en-US" altLang="ja-JP" sz="3200" i="1">
                            <a:latin typeface="Cambria Math" panose="02040503050406030204" pitchFamily="18" charset="0"/>
                          </a:rPr>
                        </m:ctrlPr>
                      </m:sSubPr>
                      <m:e>
                        <m:r>
                          <a:rPr kumimoji="1" lang="en-US" altLang="ja-JP" sz="3200" i="1">
                            <a:latin typeface="Cambria Math" panose="02040503050406030204" pitchFamily="18" charset="0"/>
                          </a:rPr>
                          <m:t>𝑡</m:t>
                        </m:r>
                      </m:e>
                      <m:sub>
                        <m:r>
                          <a:rPr kumimoji="1" lang="en-US" altLang="ja-JP" sz="3200" b="0" i="1" smtClean="0">
                            <a:latin typeface="Cambria Math" panose="02040503050406030204" pitchFamily="18" charset="0"/>
                          </a:rPr>
                          <m:t>𝑖</m:t>
                        </m:r>
                      </m:sub>
                    </m:sSub>
                  </m:oMath>
                </a14:m>
                <a:r>
                  <a:rPr kumimoji="1" lang="en-US" altLang="ja-JP" sz="3200" dirty="0">
                    <a:latin typeface="MS PGothic" panose="020B0600070205080204" pitchFamily="34" charset="-128"/>
                    <a:ea typeface="MS PGothic" panose="020B0600070205080204" pitchFamily="34" charset="-128"/>
                  </a:rPr>
                  <a:t> : </a:t>
                </a:r>
                <a:r>
                  <a:rPr kumimoji="1" lang="ja-JP" altLang="en-US" sz="3200">
                    <a:latin typeface="MS PGothic" panose="020B0600070205080204" pitchFamily="34" charset="-128"/>
                    <a:ea typeface="MS PGothic" panose="020B0600070205080204" pitchFamily="34" charset="-128"/>
                  </a:rPr>
                  <a:t>文章の</a:t>
                </a:r>
                <a14:m>
                  <m:oMath xmlns:m="http://schemas.openxmlformats.org/officeDocument/2006/math">
                    <m:r>
                      <a:rPr kumimoji="1" lang="en-US" altLang="ja-JP" sz="3200" i="1">
                        <a:latin typeface="Cambria Math" panose="02040503050406030204" pitchFamily="18" charset="0"/>
                      </a:rPr>
                      <m:t>𝑖</m:t>
                    </m:r>
                  </m:oMath>
                </a14:m>
                <a:r>
                  <a:rPr kumimoji="1" lang="ja-JP" altLang="en-US" sz="3200">
                    <a:latin typeface="MS PGothic" panose="020B0600070205080204" pitchFamily="34" charset="-128"/>
                    <a:ea typeface="MS PGothic" panose="020B0600070205080204" pitchFamily="34" charset="-128"/>
                  </a:rPr>
                  <a:t>番目の単語</a:t>
                </a:r>
                <a:endParaRPr kumimoji="1" lang="en-US" altLang="ja-JP" sz="3200" dirty="0">
                  <a:latin typeface="MS PGothic" panose="020B0600070205080204" pitchFamily="34" charset="-128"/>
                  <a:ea typeface="MS PGothic" panose="020B0600070205080204" pitchFamily="34" charset="-128"/>
                </a:endParaRPr>
              </a:p>
              <a:p>
                <a:r>
                  <a:rPr kumimoji="1" lang="ja-JP" altLang="en-US" sz="3200">
                    <a:latin typeface="MS PGothic" panose="020B0600070205080204" pitchFamily="34" charset="-128"/>
                    <a:ea typeface="MS PGothic" panose="020B0600070205080204" pitchFamily="34" charset="-128"/>
                  </a:rPr>
                  <a:t>　　</a:t>
                </a:r>
                <a14:m>
                  <m:oMath xmlns:m="http://schemas.openxmlformats.org/officeDocument/2006/math">
                    <m:acc>
                      <m:accPr>
                        <m:chr m:val="̃"/>
                        <m:ctrlPr>
                          <a:rPr kumimoji="1" lang="ja-JP" altLang="en-US" sz="3200" i="1">
                            <a:latin typeface="Cambria Math" panose="02040503050406030204" pitchFamily="18" charset="0"/>
                          </a:rPr>
                        </m:ctrlPr>
                      </m:accPr>
                      <m:e>
                        <m:sSub>
                          <m:sSubPr>
                            <m:ctrlPr>
                              <a:rPr kumimoji="1" lang="en-US" altLang="ja-JP" sz="3200" i="1">
                                <a:latin typeface="Cambria Math" panose="02040503050406030204" pitchFamily="18" charset="0"/>
                              </a:rPr>
                            </m:ctrlPr>
                          </m:sSubPr>
                          <m:e>
                            <m:r>
                              <a:rPr kumimoji="1" lang="en-US" altLang="ja-JP" sz="3200" i="1">
                                <a:latin typeface="Cambria Math" panose="02040503050406030204" pitchFamily="18" charset="0"/>
                              </a:rPr>
                              <m:t>𝑡</m:t>
                            </m:r>
                          </m:e>
                          <m:sub>
                            <m:r>
                              <a:rPr kumimoji="1" lang="en-US" altLang="ja-JP" sz="3200" b="0" i="1" smtClean="0">
                                <a:latin typeface="Cambria Math" panose="02040503050406030204" pitchFamily="18" charset="0"/>
                              </a:rPr>
                              <m:t>𝑖</m:t>
                            </m:r>
                          </m:sub>
                        </m:sSub>
                      </m:e>
                    </m:acc>
                    <m:r>
                      <a:rPr kumimoji="1" lang="en-US" altLang="ja-JP" sz="3200" i="1">
                        <a:latin typeface="Cambria Math" panose="02040503050406030204" pitchFamily="18" charset="0"/>
                      </a:rPr>
                      <m:t> </m:t>
                    </m:r>
                  </m:oMath>
                </a14:m>
                <a:r>
                  <a:rPr kumimoji="1" lang="en-US" altLang="ja-JP" sz="3200" dirty="0">
                    <a:latin typeface="MS PGothic" panose="020B0600070205080204" pitchFamily="34" charset="-128"/>
                    <a:ea typeface="MS PGothic" panose="020B0600070205080204" pitchFamily="34" charset="-128"/>
                  </a:rPr>
                  <a:t>: </a:t>
                </a:r>
                <a14:m>
                  <m:oMath xmlns:m="http://schemas.openxmlformats.org/officeDocument/2006/math">
                    <m:r>
                      <a:rPr kumimoji="1" lang="en-US" altLang="ja-JP" sz="3200" i="1">
                        <a:latin typeface="Cambria Math" panose="02040503050406030204" pitchFamily="18" charset="0"/>
                      </a:rPr>
                      <m:t>𝑖</m:t>
                    </m:r>
                  </m:oMath>
                </a14:m>
                <a:r>
                  <a:rPr kumimoji="1" lang="ja-JP" altLang="en-US" sz="3200">
                    <a:latin typeface="MS PGothic" panose="020B0600070205080204" pitchFamily="34" charset="-128"/>
                    <a:ea typeface="MS PGothic" panose="020B0600070205080204" pitchFamily="34" charset="-128"/>
                  </a:rPr>
                  <a:t>番目の単語の予測</a:t>
                </a:r>
              </a:p>
            </p:txBody>
          </p:sp>
        </mc:Choice>
        <mc:Fallback xmlns="">
          <p:sp>
            <p:nvSpPr>
              <p:cNvPr id="1058" name="テキスト ボックス 1057">
                <a:extLst>
                  <a:ext uri="{FF2B5EF4-FFF2-40B4-BE49-F238E27FC236}">
                    <a16:creationId xmlns:a16="http://schemas.microsoft.com/office/drawing/2014/main" id="{DB3459E3-F65D-FE23-ECA7-D10B7DCB279A}"/>
                  </a:ext>
                </a:extLst>
              </p:cNvPr>
              <p:cNvSpPr txBox="1">
                <a:spLocks noRot="1" noChangeAspect="1" noMove="1" noResize="1" noEditPoints="1" noAdjustHandles="1" noChangeArrowheads="1" noChangeShapeType="1" noTextEdit="1"/>
              </p:cNvSpPr>
              <p:nvPr/>
            </p:nvSpPr>
            <p:spPr>
              <a:xfrm>
                <a:off x="9950032" y="23480734"/>
                <a:ext cx="4650953" cy="984885"/>
              </a:xfrm>
              <a:prstGeom prst="rect">
                <a:avLst/>
              </a:prstGeom>
              <a:blipFill>
                <a:blip r:embed="rId7"/>
                <a:stretch>
                  <a:fillRect l="-5177" t="-13924" r="-2997" b="-21519"/>
                </a:stretch>
              </a:blipFill>
            </p:spPr>
            <p:txBody>
              <a:bodyPr/>
              <a:lstStyle/>
              <a:p>
                <a:r>
                  <a:rPr lang="ja-JP" altLang="en-US">
                    <a:noFill/>
                  </a:rPr>
                  <a:t> </a:t>
                </a:r>
              </a:p>
            </p:txBody>
          </p:sp>
        </mc:Fallback>
      </mc:AlternateContent>
      <p:sp>
        <p:nvSpPr>
          <p:cNvPr id="1059" name="テキスト ボックス 1058">
            <a:extLst>
              <a:ext uri="{FF2B5EF4-FFF2-40B4-BE49-F238E27FC236}">
                <a16:creationId xmlns:a16="http://schemas.microsoft.com/office/drawing/2014/main" id="{D7E3E93A-F7B5-3339-D27A-CFE0DFF613B5}"/>
              </a:ext>
            </a:extLst>
          </p:cNvPr>
          <p:cNvSpPr txBox="1"/>
          <p:nvPr/>
        </p:nvSpPr>
        <p:spPr>
          <a:xfrm>
            <a:off x="5043661" y="24022023"/>
            <a:ext cx="5020460" cy="584775"/>
          </a:xfrm>
          <a:prstGeom prst="rect">
            <a:avLst/>
          </a:prstGeom>
          <a:noFill/>
        </p:spPr>
        <p:txBody>
          <a:bodyPr wrap="square">
            <a:spAutoFit/>
          </a:bodyPr>
          <a:lstStyle/>
          <a:p>
            <a:pPr algn="ctr"/>
            <a:r>
              <a:rPr kumimoji="1" lang="ja-JP" altLang="en-US" sz="3200" spc="-100">
                <a:solidFill>
                  <a:schemeClr val="tx1"/>
                </a:solidFill>
                <a:latin typeface="MS PGothic" panose="020B0600070205080204" pitchFamily="34" charset="-128"/>
                <a:ea typeface="MS PGothic" panose="020B0600070205080204" pitchFamily="34" charset="-128"/>
              </a:rPr>
              <a:t>図</a:t>
            </a:r>
            <a:r>
              <a:rPr kumimoji="1" lang="en-US" altLang="ja-JP" sz="3200" spc="-100" dirty="0">
                <a:solidFill>
                  <a:schemeClr val="tx1"/>
                </a:solidFill>
                <a:latin typeface="MS PGothic" panose="020B0600070205080204" pitchFamily="34" charset="-128"/>
                <a:ea typeface="MS PGothic" panose="020B0600070205080204" pitchFamily="34" charset="-128"/>
              </a:rPr>
              <a:t>1 </a:t>
            </a:r>
            <a:r>
              <a:rPr kumimoji="1" lang="ja-JP" altLang="en-US" sz="3200" spc="-100">
                <a:solidFill>
                  <a:schemeClr val="tx1"/>
                </a:solidFill>
                <a:latin typeface="MS PGothic" panose="020B0600070205080204" pitchFamily="34" charset="-128"/>
                <a:ea typeface="MS PGothic" panose="020B0600070205080204" pitchFamily="34" charset="-128"/>
              </a:rPr>
              <a:t>従来手法の構造</a:t>
            </a:r>
          </a:p>
        </p:txBody>
      </p:sp>
      <p:sp>
        <p:nvSpPr>
          <p:cNvPr id="1068" name="正方形/長方形 1067">
            <a:extLst>
              <a:ext uri="{FF2B5EF4-FFF2-40B4-BE49-F238E27FC236}">
                <a16:creationId xmlns:a16="http://schemas.microsoft.com/office/drawing/2014/main" id="{1FDECE2E-977C-5689-906B-4306E50E1E24}"/>
              </a:ext>
            </a:extLst>
          </p:cNvPr>
          <p:cNvSpPr/>
          <p:nvPr/>
        </p:nvSpPr>
        <p:spPr>
          <a:xfrm>
            <a:off x="15355890" y="2974507"/>
            <a:ext cx="14681200" cy="13550261"/>
          </a:xfrm>
          <a:prstGeom prst="rect">
            <a:avLst/>
          </a:prstGeom>
          <a:solidFill>
            <a:schemeClr val="bg1"/>
          </a:solid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69" name="正方形/長方形 1068">
            <a:extLst>
              <a:ext uri="{FF2B5EF4-FFF2-40B4-BE49-F238E27FC236}">
                <a16:creationId xmlns:a16="http://schemas.microsoft.com/office/drawing/2014/main" id="{C46292B9-A2FA-56B5-624C-A92C72BF421C}"/>
              </a:ext>
            </a:extLst>
          </p:cNvPr>
          <p:cNvSpPr/>
          <p:nvPr/>
        </p:nvSpPr>
        <p:spPr>
          <a:xfrm>
            <a:off x="15341676" y="2288708"/>
            <a:ext cx="14708963" cy="849085"/>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4400">
                <a:latin typeface="MS PGothic" panose="020B0600070205080204" pitchFamily="34" charset="-128"/>
                <a:ea typeface="MS PGothic" panose="020B0600070205080204" pitchFamily="34" charset="-128"/>
              </a:rPr>
              <a:t>基盤技術</a:t>
            </a:r>
          </a:p>
        </p:txBody>
      </p:sp>
      <p:sp>
        <p:nvSpPr>
          <p:cNvPr id="1070" name="テキスト ボックス 1069">
            <a:extLst>
              <a:ext uri="{FF2B5EF4-FFF2-40B4-BE49-F238E27FC236}">
                <a16:creationId xmlns:a16="http://schemas.microsoft.com/office/drawing/2014/main" id="{19D8C677-69AF-2D4F-636C-FB82FB88F12E}"/>
              </a:ext>
            </a:extLst>
          </p:cNvPr>
          <p:cNvSpPr txBox="1"/>
          <p:nvPr/>
        </p:nvSpPr>
        <p:spPr>
          <a:xfrm>
            <a:off x="15355890" y="3173095"/>
            <a:ext cx="14681200" cy="5016758"/>
          </a:xfrm>
          <a:prstGeom prst="rect">
            <a:avLst/>
          </a:prstGeom>
          <a:noFill/>
        </p:spPr>
        <p:txBody>
          <a:bodyPr wrap="square" rtlCol="0">
            <a:spAutoFit/>
          </a:bodyPr>
          <a:lstStyle/>
          <a:p>
            <a:pPr indent="-457200" algn="just"/>
            <a:r>
              <a:rPr kumimoji="1" lang="en-US" altLang="ja-JP" sz="3200" dirty="0">
                <a:latin typeface="MS PGothic" panose="020B0600070205080204" pitchFamily="34" charset="-128"/>
                <a:ea typeface="MS PGothic" panose="020B0600070205080204" pitchFamily="34" charset="-128"/>
              </a:rPr>
              <a:t>Transformer[4]</a:t>
            </a:r>
          </a:p>
          <a:p>
            <a:pPr indent="-457200" algn="just">
              <a:buFont typeface="Arial" panose="020B0604020202020204" pitchFamily="34" charset="0"/>
              <a:buChar char="•"/>
            </a:pPr>
            <a:r>
              <a:rPr kumimoji="1" lang="en-US" altLang="ja-JP" sz="3200" dirty="0">
                <a:latin typeface="MS PGothic" panose="020B0600070205080204" pitchFamily="34" charset="-128"/>
                <a:ea typeface="MS PGothic" panose="020B0600070205080204" pitchFamily="34" charset="-128"/>
              </a:rPr>
              <a:t>BERT</a:t>
            </a:r>
            <a:r>
              <a:rPr kumimoji="1" lang="ja-JP" altLang="en-US" sz="3200">
                <a:latin typeface="MS PGothic" panose="020B0600070205080204" pitchFamily="34" charset="-128"/>
                <a:ea typeface="MS PGothic" panose="020B0600070205080204" pitchFamily="34" charset="-128"/>
              </a:rPr>
              <a:t>や</a:t>
            </a:r>
            <a:r>
              <a:rPr kumimoji="1" lang="en-US" altLang="ja-JP" sz="3200" dirty="0" err="1">
                <a:latin typeface="MS PGothic" panose="020B0600070205080204" pitchFamily="34" charset="-128"/>
                <a:ea typeface="MS PGothic" panose="020B0600070205080204" pitchFamily="34" charset="-128"/>
              </a:rPr>
              <a:t>ChatGPT</a:t>
            </a:r>
            <a:r>
              <a:rPr kumimoji="1" lang="ja-JP" altLang="en-US" sz="3200">
                <a:latin typeface="MS PGothic" panose="020B0600070205080204" pitchFamily="34" charset="-128"/>
                <a:ea typeface="MS PGothic" panose="020B0600070205080204" pitchFamily="34" charset="-128"/>
              </a:rPr>
              <a:t>等で使用される，近年の自然言語処理のデファクトスタンダード．</a:t>
            </a:r>
            <a:endParaRPr kumimoji="1" lang="en-US" altLang="ja-JP" sz="3200" dirty="0">
              <a:latin typeface="MS PGothic" panose="020B0600070205080204" pitchFamily="34" charset="-128"/>
              <a:ea typeface="MS PGothic" panose="020B0600070205080204" pitchFamily="34" charset="-128"/>
            </a:endParaRPr>
          </a:p>
          <a:p>
            <a:pPr indent="-457200" algn="just">
              <a:buFont typeface="Arial" panose="020B0604020202020204" pitchFamily="34" charset="0"/>
              <a:buChar char="•"/>
            </a:pPr>
            <a:r>
              <a:rPr kumimoji="1" lang="en-US" altLang="ja-JP" sz="3200" dirty="0">
                <a:latin typeface="MS PGothic" panose="020B0600070205080204" pitchFamily="34" charset="-128"/>
                <a:ea typeface="MS PGothic" panose="020B0600070205080204" pitchFamily="34" charset="-128"/>
              </a:rPr>
              <a:t>Self-Attention</a:t>
            </a:r>
            <a:r>
              <a:rPr kumimoji="1" lang="ja-JP" altLang="en-US" sz="3200">
                <a:latin typeface="MS PGothic" panose="020B0600070205080204" pitchFamily="34" charset="-128"/>
                <a:ea typeface="MS PGothic" panose="020B0600070205080204" pitchFamily="34" charset="-128"/>
              </a:rPr>
              <a:t>により時系列の各要素をベクトルで表現し得られた行列の内積から要素同士の関連性を考慮している．</a:t>
            </a:r>
            <a:endParaRPr kumimoji="1" lang="en-US" altLang="ja-JP" sz="3200" dirty="0">
              <a:latin typeface="MS PGothic" panose="020B0600070205080204" pitchFamily="34" charset="-128"/>
              <a:ea typeface="MS PGothic" panose="020B0600070205080204" pitchFamily="34" charset="-128"/>
            </a:endParaRPr>
          </a:p>
          <a:p>
            <a:pPr indent="-457200" algn="just">
              <a:buFont typeface="Arial" panose="020B0604020202020204" pitchFamily="34" charset="0"/>
              <a:buChar char="•"/>
            </a:pPr>
            <a:r>
              <a:rPr kumimoji="1" lang="ja-JP" altLang="en-US" sz="3200">
                <a:latin typeface="MS PGothic" panose="020B0600070205080204" pitchFamily="34" charset="-128"/>
                <a:ea typeface="MS PGothic" panose="020B0600070205080204" pitchFamily="34" charset="-128"/>
              </a:rPr>
              <a:t>文章を扱う場合，文章を単語に分割し単語ごとに埋め込みベクトルに変換する．</a:t>
            </a:r>
            <a:endParaRPr kumimoji="1" lang="en-US" altLang="ja-JP" sz="3200" dirty="0">
              <a:latin typeface="MS PGothic" panose="020B0600070205080204" pitchFamily="34" charset="-128"/>
              <a:ea typeface="MS PGothic" panose="020B0600070205080204" pitchFamily="34" charset="-128"/>
            </a:endParaRPr>
          </a:p>
          <a:p>
            <a:pPr algn="just"/>
            <a:r>
              <a:rPr kumimoji="1" lang="en-US" altLang="ja-JP" sz="3200" dirty="0">
                <a:latin typeface="MS PGothic" panose="020B0600070205080204" pitchFamily="34" charset="-128"/>
                <a:ea typeface="MS PGothic" panose="020B0600070205080204" pitchFamily="34" charset="-128"/>
              </a:rPr>
              <a:t>Vision-Transformer(</a:t>
            </a:r>
            <a:r>
              <a:rPr kumimoji="1" lang="en-US" altLang="ja-JP" sz="3200" dirty="0" err="1">
                <a:latin typeface="MS PGothic" panose="020B0600070205080204" pitchFamily="34" charset="-128"/>
                <a:ea typeface="MS PGothic" panose="020B0600070205080204" pitchFamily="34" charset="-128"/>
              </a:rPr>
              <a:t>ViT</a:t>
            </a:r>
            <a:r>
              <a:rPr kumimoji="1" lang="en-US" altLang="ja-JP" sz="3200" dirty="0">
                <a:latin typeface="MS PGothic" panose="020B0600070205080204" pitchFamily="34" charset="-128"/>
                <a:ea typeface="MS PGothic" panose="020B0600070205080204" pitchFamily="34" charset="-128"/>
              </a:rPr>
              <a:t>)[5]</a:t>
            </a:r>
          </a:p>
          <a:p>
            <a:pPr indent="-457200" algn="just">
              <a:buFont typeface="Arial" panose="020B0604020202020204" pitchFamily="34" charset="0"/>
              <a:buChar char="•"/>
            </a:pPr>
            <a:r>
              <a:rPr kumimoji="1" lang="ja-JP" altLang="en-US" sz="3200">
                <a:latin typeface="MS PGothic" panose="020B0600070205080204" pitchFamily="34" charset="-128"/>
                <a:ea typeface="MS PGothic" panose="020B0600070205080204" pitchFamily="34" charset="-128"/>
              </a:rPr>
              <a:t>画像分類に</a:t>
            </a:r>
            <a:r>
              <a:rPr kumimoji="1" lang="en-US" altLang="ja-JP" sz="3200" dirty="0">
                <a:latin typeface="MS PGothic" panose="020B0600070205080204" pitchFamily="34" charset="-128"/>
                <a:ea typeface="MS PGothic" panose="020B0600070205080204" pitchFamily="34" charset="-128"/>
              </a:rPr>
              <a:t>Transformer</a:t>
            </a:r>
            <a:r>
              <a:rPr kumimoji="1" lang="ja-JP" altLang="en-US" sz="3200">
                <a:latin typeface="MS PGothic" panose="020B0600070205080204" pitchFamily="34" charset="-128"/>
                <a:ea typeface="MS PGothic" panose="020B0600070205080204" pitchFamily="34" charset="-128"/>
              </a:rPr>
              <a:t>を応用したモデル．</a:t>
            </a:r>
            <a:endParaRPr kumimoji="1" lang="en-US" altLang="ja-JP" sz="3200" dirty="0">
              <a:latin typeface="MS PGothic" panose="020B0600070205080204" pitchFamily="34" charset="-128"/>
              <a:ea typeface="MS PGothic" panose="020B0600070205080204" pitchFamily="34" charset="-128"/>
            </a:endParaRPr>
          </a:p>
          <a:p>
            <a:pPr indent="-457200" algn="just">
              <a:buFont typeface="Arial" panose="020B0604020202020204" pitchFamily="34" charset="0"/>
              <a:buChar char="•"/>
            </a:pPr>
            <a:r>
              <a:rPr kumimoji="1" lang="ja-JP" altLang="en-US" sz="3200">
                <a:latin typeface="MS PGothic" panose="020B0600070205080204" pitchFamily="34" charset="-128"/>
                <a:ea typeface="MS PGothic" panose="020B0600070205080204" pitchFamily="34" charset="-128"/>
              </a:rPr>
              <a:t>画像を小さな画像</a:t>
            </a:r>
            <a:r>
              <a:rPr kumimoji="1" lang="en-US" altLang="ja-JP" sz="3200" dirty="0">
                <a:latin typeface="MS PGothic" panose="020B0600070205080204" pitchFamily="34" charset="-128"/>
                <a:ea typeface="MS PGothic" panose="020B0600070205080204" pitchFamily="34" charset="-128"/>
              </a:rPr>
              <a:t>(</a:t>
            </a:r>
            <a:r>
              <a:rPr kumimoji="1" lang="ja-JP" altLang="en-US" sz="3200">
                <a:latin typeface="MS PGothic" panose="020B0600070205080204" pitchFamily="34" charset="-128"/>
                <a:ea typeface="MS PGothic" panose="020B0600070205080204" pitchFamily="34" charset="-128"/>
              </a:rPr>
              <a:t>パッチ</a:t>
            </a:r>
            <a:r>
              <a:rPr kumimoji="1" lang="en-US" altLang="ja-JP" sz="3200" dirty="0">
                <a:latin typeface="MS PGothic" panose="020B0600070205080204" pitchFamily="34" charset="-128"/>
                <a:ea typeface="MS PGothic" panose="020B0600070205080204" pitchFamily="34" charset="-128"/>
              </a:rPr>
              <a:t>)</a:t>
            </a:r>
            <a:r>
              <a:rPr kumimoji="1" lang="ja-JP" altLang="en-US" sz="3200">
                <a:latin typeface="MS PGothic" panose="020B0600070205080204" pitchFamily="34" charset="-128"/>
                <a:ea typeface="MS PGothic" panose="020B0600070205080204" pitchFamily="34" charset="-128"/>
              </a:rPr>
              <a:t>に変換しパッチごとに一次元化することで画像を行列に変換している．</a:t>
            </a:r>
            <a:endParaRPr kumimoji="1" lang="en-US" altLang="ja-JP" sz="3200" dirty="0">
              <a:latin typeface="MS PGothic" panose="020B0600070205080204" pitchFamily="34" charset="-128"/>
              <a:ea typeface="MS PGothic" panose="020B0600070205080204" pitchFamily="34" charset="-128"/>
            </a:endParaRPr>
          </a:p>
          <a:p>
            <a:pPr indent="-457200" algn="just">
              <a:buFont typeface="Arial" panose="020B0604020202020204" pitchFamily="34" charset="0"/>
              <a:buChar char="•"/>
            </a:pPr>
            <a:r>
              <a:rPr kumimoji="1" lang="en-US" altLang="ja-JP" sz="3200" dirty="0">
                <a:latin typeface="MS PGothic" panose="020B0600070205080204" pitchFamily="34" charset="-128"/>
                <a:ea typeface="MS PGothic" panose="020B0600070205080204" pitchFamily="34" charset="-128"/>
              </a:rPr>
              <a:t>Vision-Transformer</a:t>
            </a:r>
            <a:r>
              <a:rPr kumimoji="1" lang="ja-JP" altLang="en-US" sz="3200">
                <a:latin typeface="MS PGothic" panose="020B0600070205080204" pitchFamily="34" charset="-128"/>
                <a:ea typeface="MS PGothic" panose="020B0600070205080204" pitchFamily="34" charset="-128"/>
              </a:rPr>
              <a:t>ではパッチ同士の関連性を考慮している．</a:t>
            </a:r>
            <a:endParaRPr kumimoji="1" lang="en-US" altLang="ja-JP" sz="3200" dirty="0">
              <a:latin typeface="MS PGothic" panose="020B0600070205080204" pitchFamily="34" charset="-128"/>
              <a:ea typeface="MS PGothic" panose="020B0600070205080204" pitchFamily="34" charset="-128"/>
            </a:endParaRPr>
          </a:p>
        </p:txBody>
      </p:sp>
      <mc:AlternateContent xmlns:mc="http://schemas.openxmlformats.org/markup-compatibility/2006" xmlns:a14="http://schemas.microsoft.com/office/drawing/2010/main">
        <mc:Choice Requires="a14">
          <p:sp>
            <p:nvSpPr>
              <p:cNvPr id="1073" name="テキスト ボックス 1072">
                <a:extLst>
                  <a:ext uri="{FF2B5EF4-FFF2-40B4-BE49-F238E27FC236}">
                    <a16:creationId xmlns:a16="http://schemas.microsoft.com/office/drawing/2014/main" id="{0AA7DDE8-90AF-0A21-F22D-67C8CB43C709}"/>
                  </a:ext>
                </a:extLst>
              </p:cNvPr>
              <p:cNvSpPr txBox="1"/>
              <p:nvPr/>
            </p:nvSpPr>
            <p:spPr>
              <a:xfrm>
                <a:off x="15382278" y="13742546"/>
                <a:ext cx="10392040" cy="2680414"/>
              </a:xfrm>
              <a:prstGeom prst="rect">
                <a:avLst/>
              </a:prstGeom>
              <a:solidFill>
                <a:schemeClr val="bg1"/>
              </a:solidFill>
            </p:spPr>
            <p:txBody>
              <a:bodyPr wrap="square">
                <a:spAutoFit/>
              </a:bodyPr>
              <a:lstStyle/>
              <a:p>
                <a:pPr algn="ctr"/>
                <a14:m>
                  <m:oMath xmlns:m="http://schemas.openxmlformats.org/officeDocument/2006/math">
                    <m:r>
                      <a:rPr kumimoji="1" lang="en-US" altLang="ja-JP" sz="3200" b="1" i="0" spc="-100" smtClean="0">
                        <a:solidFill>
                          <a:schemeClr val="tx1"/>
                        </a:solidFill>
                        <a:latin typeface="Cambria Math" panose="02040503050406030204" pitchFamily="18" charset="0"/>
                        <a:ea typeface="MS PGothic" panose="020B0600070205080204" pitchFamily="34" charset="-128"/>
                      </a:rPr>
                      <m:t>𝐐</m:t>
                    </m:r>
                    <m:r>
                      <a:rPr kumimoji="1" lang="en-US" altLang="ja-JP" sz="3200" b="0" i="1" spc="-100" smtClean="0">
                        <a:solidFill>
                          <a:schemeClr val="tx1"/>
                        </a:solidFill>
                        <a:latin typeface="Cambria Math" panose="02040503050406030204" pitchFamily="18" charset="0"/>
                        <a:ea typeface="MS PGothic" panose="020B0600070205080204" pitchFamily="34" charset="-128"/>
                      </a:rPr>
                      <m:t>=</m:t>
                    </m:r>
                    <m:r>
                      <a:rPr kumimoji="1" lang="en-US" altLang="ja-JP" sz="3200" b="1" i="0" spc="-100" smtClean="0">
                        <a:solidFill>
                          <a:schemeClr val="tx1"/>
                        </a:solidFill>
                        <a:latin typeface="Cambria Math" panose="02040503050406030204" pitchFamily="18" charset="0"/>
                        <a:ea typeface="MS PGothic" panose="020B0600070205080204" pitchFamily="34" charset="-128"/>
                      </a:rPr>
                      <m:t>𝐗</m:t>
                    </m:r>
                    <m:sSub>
                      <m:sSubPr>
                        <m:ctrlPr>
                          <a:rPr kumimoji="1" lang="en-US" altLang="ja-JP" sz="3200" b="1" i="1" spc="-100" smtClean="0">
                            <a:solidFill>
                              <a:schemeClr val="tx1"/>
                            </a:solidFill>
                            <a:latin typeface="Cambria Math" panose="02040503050406030204" pitchFamily="18" charset="0"/>
                            <a:ea typeface="MS PGothic" panose="020B0600070205080204" pitchFamily="34" charset="-128"/>
                          </a:rPr>
                        </m:ctrlPr>
                      </m:sSubPr>
                      <m:e>
                        <m:r>
                          <a:rPr kumimoji="1" lang="en-US" altLang="ja-JP" sz="3200" b="1" i="0" spc="-100" smtClean="0">
                            <a:solidFill>
                              <a:schemeClr val="tx1"/>
                            </a:solidFill>
                            <a:latin typeface="Cambria Math" panose="02040503050406030204" pitchFamily="18" charset="0"/>
                            <a:ea typeface="MS PGothic" panose="020B0600070205080204" pitchFamily="34" charset="-128"/>
                          </a:rPr>
                          <m:t>𝐖</m:t>
                        </m:r>
                      </m:e>
                      <m:sub>
                        <m:r>
                          <a:rPr kumimoji="1" lang="en-US" altLang="ja-JP" sz="3200" b="1" i="0" spc="-100" smtClean="0">
                            <a:solidFill>
                              <a:schemeClr val="tx1"/>
                            </a:solidFill>
                            <a:latin typeface="Cambria Math" panose="02040503050406030204" pitchFamily="18" charset="0"/>
                            <a:ea typeface="MS PGothic" panose="020B0600070205080204" pitchFamily="34" charset="-128"/>
                          </a:rPr>
                          <m:t>𝐐</m:t>
                        </m:r>
                      </m:sub>
                    </m:sSub>
                  </m:oMath>
                </a14:m>
                <a:r>
                  <a:rPr kumimoji="1" lang="en-US" altLang="ja-JP" sz="3200" spc="-100" dirty="0">
                    <a:solidFill>
                      <a:schemeClr val="tx1"/>
                    </a:solidFill>
                    <a:latin typeface="MS PGothic" panose="020B0600070205080204" pitchFamily="34" charset="-128"/>
                    <a:ea typeface="MS PGothic" panose="020B0600070205080204" pitchFamily="34" charset="-128"/>
                  </a:rPr>
                  <a:t>,      </a:t>
                </a:r>
                <a14:m>
                  <m:oMath xmlns:m="http://schemas.openxmlformats.org/officeDocument/2006/math">
                    <m:r>
                      <a:rPr kumimoji="1" lang="en-US" altLang="ja-JP" sz="3200" b="1" i="0" spc="-100" smtClean="0">
                        <a:solidFill>
                          <a:schemeClr val="tx1"/>
                        </a:solidFill>
                        <a:latin typeface="Cambria Math" panose="02040503050406030204" pitchFamily="18" charset="0"/>
                        <a:ea typeface="MS PGothic" panose="020B0600070205080204" pitchFamily="34" charset="-128"/>
                      </a:rPr>
                      <m:t>𝐊</m:t>
                    </m:r>
                    <m:r>
                      <a:rPr kumimoji="1" lang="en-US" altLang="ja-JP" sz="3200" b="0" i="1" spc="-100" smtClean="0">
                        <a:solidFill>
                          <a:schemeClr val="tx1"/>
                        </a:solidFill>
                        <a:latin typeface="Cambria Math" panose="02040503050406030204" pitchFamily="18" charset="0"/>
                        <a:ea typeface="MS PGothic" panose="020B0600070205080204" pitchFamily="34" charset="-128"/>
                      </a:rPr>
                      <m:t>=</m:t>
                    </m:r>
                    <m:r>
                      <a:rPr kumimoji="1" lang="en-US" altLang="ja-JP" sz="3200" b="1" i="0" spc="-100" smtClean="0">
                        <a:solidFill>
                          <a:schemeClr val="tx1"/>
                        </a:solidFill>
                        <a:latin typeface="Cambria Math" panose="02040503050406030204" pitchFamily="18" charset="0"/>
                        <a:ea typeface="MS PGothic" panose="020B0600070205080204" pitchFamily="34" charset="-128"/>
                      </a:rPr>
                      <m:t>𝐘</m:t>
                    </m:r>
                    <m:sSub>
                      <m:sSubPr>
                        <m:ctrlPr>
                          <a:rPr kumimoji="1" lang="en-US" altLang="ja-JP" sz="3200" b="1" i="1" spc="-100" smtClean="0">
                            <a:solidFill>
                              <a:schemeClr val="tx1"/>
                            </a:solidFill>
                            <a:latin typeface="Cambria Math" panose="02040503050406030204" pitchFamily="18" charset="0"/>
                            <a:ea typeface="MS PGothic" panose="020B0600070205080204" pitchFamily="34" charset="-128"/>
                          </a:rPr>
                        </m:ctrlPr>
                      </m:sSubPr>
                      <m:e>
                        <m:r>
                          <a:rPr kumimoji="1" lang="en-US" altLang="ja-JP" sz="3200" b="1" i="0" spc="-100" smtClean="0">
                            <a:solidFill>
                              <a:schemeClr val="tx1"/>
                            </a:solidFill>
                            <a:latin typeface="Cambria Math" panose="02040503050406030204" pitchFamily="18" charset="0"/>
                            <a:ea typeface="MS PGothic" panose="020B0600070205080204" pitchFamily="34" charset="-128"/>
                          </a:rPr>
                          <m:t>𝐖</m:t>
                        </m:r>
                      </m:e>
                      <m:sub>
                        <m:r>
                          <a:rPr kumimoji="1" lang="en-US" altLang="ja-JP" sz="3200" b="1" i="0" spc="-100" smtClean="0">
                            <a:solidFill>
                              <a:schemeClr val="tx1"/>
                            </a:solidFill>
                            <a:latin typeface="Cambria Math" panose="02040503050406030204" pitchFamily="18" charset="0"/>
                            <a:ea typeface="MS PGothic" panose="020B0600070205080204" pitchFamily="34" charset="-128"/>
                          </a:rPr>
                          <m:t>𝐊</m:t>
                        </m:r>
                      </m:sub>
                    </m:sSub>
                  </m:oMath>
                </a14:m>
                <a:r>
                  <a:rPr kumimoji="1" lang="en-US" altLang="ja-JP" sz="3200" spc="-100" dirty="0">
                    <a:solidFill>
                      <a:schemeClr val="tx1"/>
                    </a:solidFill>
                    <a:latin typeface="MS PGothic" panose="020B0600070205080204" pitchFamily="34" charset="-128"/>
                    <a:ea typeface="MS PGothic" panose="020B0600070205080204" pitchFamily="34" charset="-128"/>
                  </a:rPr>
                  <a:t>,      </a:t>
                </a:r>
                <a14:m>
                  <m:oMath xmlns:m="http://schemas.openxmlformats.org/officeDocument/2006/math">
                    <m:r>
                      <a:rPr kumimoji="1" lang="en-US" altLang="ja-JP" sz="3200" b="1" i="0" spc="-100" smtClean="0">
                        <a:solidFill>
                          <a:schemeClr val="tx1"/>
                        </a:solidFill>
                        <a:latin typeface="Cambria Math" panose="02040503050406030204" pitchFamily="18" charset="0"/>
                        <a:ea typeface="MS PGothic" panose="020B0600070205080204" pitchFamily="34" charset="-128"/>
                      </a:rPr>
                      <m:t>𝐕</m:t>
                    </m:r>
                    <m:r>
                      <a:rPr kumimoji="1" lang="en-US" altLang="ja-JP" sz="3200" b="0" i="1" spc="-100" smtClean="0">
                        <a:solidFill>
                          <a:schemeClr val="tx1"/>
                        </a:solidFill>
                        <a:latin typeface="Cambria Math" panose="02040503050406030204" pitchFamily="18" charset="0"/>
                        <a:ea typeface="MS PGothic" panose="020B0600070205080204" pitchFamily="34" charset="-128"/>
                      </a:rPr>
                      <m:t>=</m:t>
                    </m:r>
                    <m:r>
                      <a:rPr kumimoji="1" lang="en-US" altLang="ja-JP" sz="3200" b="1" i="0" spc="-100" smtClean="0">
                        <a:solidFill>
                          <a:schemeClr val="tx1"/>
                        </a:solidFill>
                        <a:latin typeface="Cambria Math" panose="02040503050406030204" pitchFamily="18" charset="0"/>
                        <a:ea typeface="MS PGothic" panose="020B0600070205080204" pitchFamily="34" charset="-128"/>
                      </a:rPr>
                      <m:t>𝐘</m:t>
                    </m:r>
                    <m:sSub>
                      <m:sSubPr>
                        <m:ctrlPr>
                          <a:rPr kumimoji="1" lang="en-US" altLang="ja-JP" sz="3200" b="1" i="1" spc="-100" smtClean="0">
                            <a:solidFill>
                              <a:schemeClr val="tx1"/>
                            </a:solidFill>
                            <a:latin typeface="Cambria Math" panose="02040503050406030204" pitchFamily="18" charset="0"/>
                            <a:ea typeface="MS PGothic" panose="020B0600070205080204" pitchFamily="34" charset="-128"/>
                          </a:rPr>
                        </m:ctrlPr>
                      </m:sSubPr>
                      <m:e>
                        <m:r>
                          <a:rPr kumimoji="1" lang="en-US" altLang="ja-JP" sz="3200" b="1" i="0" spc="-100" smtClean="0">
                            <a:solidFill>
                              <a:schemeClr val="tx1"/>
                            </a:solidFill>
                            <a:latin typeface="Cambria Math" panose="02040503050406030204" pitchFamily="18" charset="0"/>
                            <a:ea typeface="MS PGothic" panose="020B0600070205080204" pitchFamily="34" charset="-128"/>
                          </a:rPr>
                          <m:t>𝐖</m:t>
                        </m:r>
                      </m:e>
                      <m:sub>
                        <m:r>
                          <a:rPr kumimoji="1" lang="en-US" altLang="ja-JP" sz="3200" b="1" i="0" spc="-100" smtClean="0">
                            <a:solidFill>
                              <a:schemeClr val="tx1"/>
                            </a:solidFill>
                            <a:latin typeface="Cambria Math" panose="02040503050406030204" pitchFamily="18" charset="0"/>
                            <a:ea typeface="MS PGothic" panose="020B0600070205080204" pitchFamily="34" charset="-128"/>
                          </a:rPr>
                          <m:t>𝐕</m:t>
                        </m:r>
                      </m:sub>
                    </m:sSub>
                  </m:oMath>
                </a14:m>
                <a:r>
                  <a:rPr kumimoji="1" lang="en-US" altLang="ja-JP" sz="3200" spc="-100" dirty="0">
                    <a:solidFill>
                      <a:schemeClr val="tx1"/>
                    </a:solidFill>
                    <a:latin typeface="MS PGothic" panose="020B0600070205080204" pitchFamily="34" charset="-128"/>
                    <a:ea typeface="MS PGothic" panose="020B0600070205080204" pitchFamily="34" charset="-128"/>
                  </a:rPr>
                  <a:t>,</a:t>
                </a:r>
              </a:p>
              <a:p>
                <a:pPr algn="ctr"/>
                <a14:m>
                  <m:oMath xmlns:m="http://schemas.openxmlformats.org/officeDocument/2006/math">
                    <m:r>
                      <a:rPr kumimoji="1" lang="en-US" altLang="ja-JP" sz="3200" b="1" i="0" spc="-100" smtClean="0">
                        <a:solidFill>
                          <a:schemeClr val="tx1"/>
                        </a:solidFill>
                        <a:latin typeface="Cambria Math" panose="02040503050406030204" pitchFamily="18" charset="0"/>
                        <a:ea typeface="MS PGothic" panose="020B0600070205080204" pitchFamily="34" charset="-128"/>
                      </a:rPr>
                      <m:t>𝐀</m:t>
                    </m:r>
                    <m:r>
                      <a:rPr kumimoji="1" lang="en-US" altLang="ja-JP" sz="3200" b="0" i="1" spc="-100" smtClean="0">
                        <a:solidFill>
                          <a:schemeClr val="tx1"/>
                        </a:solidFill>
                        <a:latin typeface="Cambria Math" panose="02040503050406030204" pitchFamily="18" charset="0"/>
                        <a:ea typeface="MS PGothic" panose="020B0600070205080204" pitchFamily="34" charset="-128"/>
                      </a:rPr>
                      <m:t>=</m:t>
                    </m:r>
                    <m:f>
                      <m:fPr>
                        <m:type m:val="lin"/>
                        <m:ctrlPr>
                          <a:rPr kumimoji="1" lang="en-US" altLang="ja-JP" sz="3200" b="0" i="1" spc="-100" smtClean="0">
                            <a:solidFill>
                              <a:schemeClr val="tx1"/>
                            </a:solidFill>
                            <a:latin typeface="Cambria Math" panose="02040503050406030204" pitchFamily="18" charset="0"/>
                            <a:ea typeface="MS PGothic" panose="020B0600070205080204" pitchFamily="34" charset="-128"/>
                          </a:rPr>
                        </m:ctrlPr>
                      </m:fPr>
                      <m:num>
                        <m:r>
                          <a:rPr kumimoji="1" lang="en-US" altLang="ja-JP" sz="3200" b="1" i="0" spc="-100" smtClean="0">
                            <a:solidFill>
                              <a:schemeClr val="tx1"/>
                            </a:solidFill>
                            <a:latin typeface="Cambria Math" panose="02040503050406030204" pitchFamily="18" charset="0"/>
                            <a:ea typeface="MS PGothic" panose="020B0600070205080204" pitchFamily="34" charset="-128"/>
                          </a:rPr>
                          <m:t>𝐐</m:t>
                        </m:r>
                        <m:sSup>
                          <m:sSupPr>
                            <m:ctrlPr>
                              <a:rPr kumimoji="1" lang="en-US" altLang="ja-JP" sz="3200" b="0" i="1" spc="-100" smtClean="0">
                                <a:solidFill>
                                  <a:schemeClr val="tx1"/>
                                </a:solidFill>
                                <a:latin typeface="Cambria Math" panose="02040503050406030204" pitchFamily="18" charset="0"/>
                                <a:ea typeface="MS PGothic" panose="020B0600070205080204" pitchFamily="34" charset="-128"/>
                              </a:rPr>
                            </m:ctrlPr>
                          </m:sSupPr>
                          <m:e>
                            <m:r>
                              <a:rPr kumimoji="1" lang="en-US" altLang="ja-JP" sz="3200" b="1" i="0" spc="-100" smtClean="0">
                                <a:solidFill>
                                  <a:schemeClr val="tx1"/>
                                </a:solidFill>
                                <a:latin typeface="Cambria Math" panose="02040503050406030204" pitchFamily="18" charset="0"/>
                                <a:ea typeface="MS PGothic" panose="020B0600070205080204" pitchFamily="34" charset="-128"/>
                              </a:rPr>
                              <m:t>𝐊</m:t>
                            </m:r>
                          </m:e>
                          <m:sup>
                            <m:r>
                              <a:rPr kumimoji="1" lang="en-US" altLang="ja-JP" sz="3200" b="0" i="1" spc="-100" smtClean="0">
                                <a:solidFill>
                                  <a:schemeClr val="tx1"/>
                                </a:solidFill>
                                <a:latin typeface="Cambria Math" panose="02040503050406030204" pitchFamily="18" charset="0"/>
                                <a:ea typeface="MS PGothic" panose="020B0600070205080204" pitchFamily="34" charset="-128"/>
                              </a:rPr>
                              <m:t>𝑇</m:t>
                            </m:r>
                          </m:sup>
                        </m:sSup>
                      </m:num>
                      <m:den>
                        <m:rad>
                          <m:radPr>
                            <m:degHide m:val="on"/>
                            <m:ctrlPr>
                              <a:rPr kumimoji="1" lang="en-US" altLang="ja-JP" sz="3200" b="0" i="1" spc="-100" smtClean="0">
                                <a:solidFill>
                                  <a:schemeClr val="tx1"/>
                                </a:solidFill>
                                <a:latin typeface="Cambria Math" panose="02040503050406030204" pitchFamily="18" charset="0"/>
                                <a:ea typeface="MS PGothic" panose="020B0600070205080204" pitchFamily="34" charset="-128"/>
                              </a:rPr>
                            </m:ctrlPr>
                          </m:radPr>
                          <m:deg/>
                          <m:e>
                            <m:r>
                              <a:rPr kumimoji="1" lang="en-US" altLang="ja-JP" sz="3200" b="0" i="1" spc="-100" smtClean="0">
                                <a:solidFill>
                                  <a:schemeClr val="tx1"/>
                                </a:solidFill>
                                <a:latin typeface="Cambria Math" panose="02040503050406030204" pitchFamily="18" charset="0"/>
                                <a:ea typeface="MS PGothic" panose="020B0600070205080204" pitchFamily="34" charset="-128"/>
                              </a:rPr>
                              <m:t>𝑑</m:t>
                            </m:r>
                          </m:e>
                        </m:rad>
                      </m:den>
                    </m:f>
                  </m:oMath>
                </a14:m>
                <a:r>
                  <a:rPr kumimoji="1" lang="en-US" altLang="ja-JP" sz="3200" spc="-100" dirty="0">
                    <a:solidFill>
                      <a:schemeClr val="tx1"/>
                    </a:solidFill>
                    <a:latin typeface="MS PGothic" panose="020B0600070205080204" pitchFamily="34" charset="-128"/>
                    <a:ea typeface="MS PGothic" panose="020B0600070205080204" pitchFamily="34" charset="-128"/>
                  </a:rPr>
                  <a:t>,      </a:t>
                </a:r>
                <a14:m>
                  <m:oMath xmlns:m="http://schemas.openxmlformats.org/officeDocument/2006/math">
                    <m:acc>
                      <m:accPr>
                        <m:chr m:val="̂"/>
                        <m:ctrlPr>
                          <a:rPr kumimoji="1" lang="en-US" altLang="ja-JP" sz="3200" i="1" spc="-100" smtClean="0">
                            <a:solidFill>
                              <a:schemeClr val="tx1"/>
                            </a:solidFill>
                            <a:latin typeface="Cambria Math" panose="02040503050406030204" pitchFamily="18" charset="0"/>
                            <a:ea typeface="MS PGothic" panose="020B0600070205080204" pitchFamily="34" charset="-128"/>
                          </a:rPr>
                        </m:ctrlPr>
                      </m:accPr>
                      <m:e>
                        <m:r>
                          <a:rPr kumimoji="1" lang="en-US" altLang="ja-JP" sz="3200" b="1" i="0" spc="-100" smtClean="0">
                            <a:solidFill>
                              <a:schemeClr val="tx1"/>
                            </a:solidFill>
                            <a:latin typeface="Cambria Math" panose="02040503050406030204" pitchFamily="18" charset="0"/>
                            <a:ea typeface="MS PGothic" panose="020B0600070205080204" pitchFamily="34" charset="-128"/>
                          </a:rPr>
                          <m:t>𝐘</m:t>
                        </m:r>
                      </m:e>
                    </m:acc>
                    <m:r>
                      <a:rPr kumimoji="1" lang="en-US" altLang="ja-JP" sz="3200" b="0" i="1" spc="-100" smtClean="0">
                        <a:solidFill>
                          <a:schemeClr val="tx1"/>
                        </a:solidFill>
                        <a:latin typeface="Cambria Math" panose="02040503050406030204" pitchFamily="18" charset="0"/>
                        <a:ea typeface="MS PGothic" panose="020B0600070205080204" pitchFamily="34" charset="-128"/>
                      </a:rPr>
                      <m:t>=</m:t>
                    </m:r>
                    <m:r>
                      <a:rPr kumimoji="1" lang="en-US" altLang="ja-JP" sz="3200" b="1" i="0" spc="-100" smtClean="0">
                        <a:solidFill>
                          <a:schemeClr val="tx1"/>
                        </a:solidFill>
                        <a:latin typeface="Cambria Math" panose="02040503050406030204" pitchFamily="18" charset="0"/>
                        <a:ea typeface="MS PGothic" panose="020B0600070205080204" pitchFamily="34" charset="-128"/>
                      </a:rPr>
                      <m:t>𝐀𝐕</m:t>
                    </m:r>
                  </m:oMath>
                </a14:m>
                <a:r>
                  <a:rPr kumimoji="1" lang="en-US" altLang="ja-JP" sz="3200" b="1" spc="-100" dirty="0">
                    <a:solidFill>
                      <a:schemeClr val="tx1"/>
                    </a:solidFill>
                    <a:latin typeface="MS PGothic" panose="020B0600070205080204" pitchFamily="34" charset="-128"/>
                    <a:ea typeface="MS PGothic" panose="020B0600070205080204" pitchFamily="34" charset="-128"/>
                  </a:rPr>
                  <a:t>,      </a:t>
                </a:r>
                <a14:m>
                  <m:oMath xmlns:m="http://schemas.openxmlformats.org/officeDocument/2006/math">
                    <m:acc>
                      <m:accPr>
                        <m:chr m:val="̂"/>
                        <m:ctrlPr>
                          <a:rPr kumimoji="1" lang="en-US" altLang="ja-JP" sz="3200" i="1" spc="-100">
                            <a:solidFill>
                              <a:schemeClr val="tx1"/>
                            </a:solidFill>
                            <a:latin typeface="Cambria Math" panose="02040503050406030204" pitchFamily="18" charset="0"/>
                            <a:ea typeface="MS PGothic" panose="020B0600070205080204" pitchFamily="34" charset="-128"/>
                          </a:rPr>
                        </m:ctrlPr>
                      </m:accPr>
                      <m:e>
                        <m:r>
                          <a:rPr kumimoji="1" lang="en-US" altLang="ja-JP" sz="3200" b="1" i="0" spc="-100" smtClean="0">
                            <a:solidFill>
                              <a:schemeClr val="tx1"/>
                            </a:solidFill>
                            <a:latin typeface="Cambria Math" panose="02040503050406030204" pitchFamily="18" charset="0"/>
                            <a:ea typeface="MS PGothic" panose="020B0600070205080204" pitchFamily="34" charset="-128"/>
                          </a:rPr>
                          <m:t>𝐗</m:t>
                        </m:r>
                      </m:e>
                    </m:acc>
                    <m:r>
                      <a:rPr kumimoji="1" lang="en-US" altLang="ja-JP" sz="3200" i="1" spc="-100">
                        <a:solidFill>
                          <a:schemeClr val="tx1"/>
                        </a:solidFill>
                        <a:latin typeface="Cambria Math" panose="02040503050406030204" pitchFamily="18" charset="0"/>
                        <a:ea typeface="MS PGothic" panose="020B0600070205080204" pitchFamily="34" charset="-128"/>
                      </a:rPr>
                      <m:t>=</m:t>
                    </m:r>
                    <m:acc>
                      <m:accPr>
                        <m:chr m:val="̂"/>
                        <m:ctrlPr>
                          <a:rPr kumimoji="1" lang="en-US" altLang="ja-JP" sz="3200" i="1" spc="-100">
                            <a:solidFill>
                              <a:schemeClr val="tx1"/>
                            </a:solidFill>
                            <a:latin typeface="Cambria Math" panose="02040503050406030204" pitchFamily="18" charset="0"/>
                            <a:ea typeface="MS PGothic" panose="020B0600070205080204" pitchFamily="34" charset="-128"/>
                          </a:rPr>
                        </m:ctrlPr>
                      </m:accPr>
                      <m:e>
                        <m:r>
                          <a:rPr kumimoji="1" lang="en-US" altLang="ja-JP" sz="3200" b="1" spc="-100">
                            <a:solidFill>
                              <a:schemeClr val="tx1"/>
                            </a:solidFill>
                            <a:latin typeface="Cambria Math" panose="02040503050406030204" pitchFamily="18" charset="0"/>
                            <a:ea typeface="MS PGothic" panose="020B0600070205080204" pitchFamily="34" charset="-128"/>
                          </a:rPr>
                          <m:t>𝐘</m:t>
                        </m:r>
                      </m:e>
                    </m:acc>
                    <m:r>
                      <a:rPr kumimoji="1" lang="en-US" altLang="ja-JP" sz="3200" b="1" i="1" spc="-100" smtClean="0">
                        <a:solidFill>
                          <a:schemeClr val="tx1"/>
                        </a:solidFill>
                        <a:latin typeface="Cambria Math" panose="02040503050406030204" pitchFamily="18" charset="0"/>
                        <a:ea typeface="MS PGothic" panose="020B0600070205080204" pitchFamily="34" charset="-128"/>
                      </a:rPr>
                      <m:t>+</m:t>
                    </m:r>
                    <m:r>
                      <a:rPr kumimoji="1" lang="en-US" altLang="ja-JP" sz="3200" b="1" i="0" spc="-100" smtClean="0">
                        <a:solidFill>
                          <a:schemeClr val="tx1"/>
                        </a:solidFill>
                        <a:latin typeface="Cambria Math" panose="02040503050406030204" pitchFamily="18" charset="0"/>
                        <a:ea typeface="MS PGothic" panose="020B0600070205080204" pitchFamily="34" charset="-128"/>
                      </a:rPr>
                      <m:t>𝐗</m:t>
                    </m:r>
                  </m:oMath>
                </a14:m>
                <a:endParaRPr kumimoji="1" lang="en-US" altLang="ja-JP" sz="3200" spc="-100" dirty="0">
                  <a:solidFill>
                    <a:schemeClr val="tx1"/>
                  </a:solidFill>
                  <a:latin typeface="MS PGothic" panose="020B0600070205080204" pitchFamily="34" charset="-128"/>
                  <a:ea typeface="MS PGothic" panose="020B0600070205080204" pitchFamily="34" charset="-128"/>
                </a:endParaRPr>
              </a:p>
              <a:p>
                <a:r>
                  <a:rPr kumimoji="1" lang="en-US" altLang="ja-JP" sz="3200" spc="-100" dirty="0">
                    <a:solidFill>
                      <a:schemeClr val="tx1"/>
                    </a:solidFill>
                    <a:latin typeface="MS PGothic" panose="020B0600070205080204" pitchFamily="34" charset="-128"/>
                    <a:ea typeface="MS PGothic" panose="020B0600070205080204" pitchFamily="34" charset="-128"/>
                  </a:rPr>
                  <a:t>※</a:t>
                </a:r>
                <a:r>
                  <a:rPr kumimoji="1" lang="ja-JP" altLang="en-US" sz="3200" spc="-100">
                    <a:solidFill>
                      <a:schemeClr val="tx1"/>
                    </a:solidFill>
                    <a:latin typeface="MS PGothic" panose="020B0600070205080204" pitchFamily="34" charset="-128"/>
                    <a:ea typeface="MS PGothic" panose="020B0600070205080204" pitchFamily="34" charset="-128"/>
                  </a:rPr>
                  <a:t> </a:t>
                </a:r>
                <a:r>
                  <a:rPr kumimoji="1" lang="en-US" altLang="ja-JP" sz="3200" b="1" spc="-100" dirty="0">
                    <a:solidFill>
                      <a:schemeClr val="tx1"/>
                    </a:solidFill>
                    <a:ea typeface="MS PGothic" panose="020B0600070205080204" pitchFamily="34" charset="-128"/>
                  </a:rPr>
                  <a:t> </a:t>
                </a:r>
                <a14:m>
                  <m:oMath xmlns:m="http://schemas.openxmlformats.org/officeDocument/2006/math">
                    <m:r>
                      <a:rPr kumimoji="1" lang="en-US" altLang="ja-JP" sz="3200" b="1" spc="-100" smtClean="0">
                        <a:solidFill>
                          <a:schemeClr val="tx1"/>
                        </a:solidFill>
                        <a:latin typeface="Cambria Math" panose="02040503050406030204" pitchFamily="18" charset="0"/>
                        <a:ea typeface="MS PGothic" panose="020B0600070205080204" pitchFamily="34" charset="-128"/>
                      </a:rPr>
                      <m:t>𝐗</m:t>
                    </m:r>
                  </m:oMath>
                </a14:m>
                <a:r>
                  <a:rPr kumimoji="1" lang="en-US" altLang="ja-JP" sz="3200" spc="-100" dirty="0">
                    <a:solidFill>
                      <a:schemeClr val="tx1"/>
                    </a:solidFill>
                    <a:latin typeface="MS PGothic" panose="020B0600070205080204" pitchFamily="34" charset="-128"/>
                    <a:ea typeface="MS PGothic" panose="020B0600070205080204" pitchFamily="34" charset="-128"/>
                  </a:rPr>
                  <a:t> : </a:t>
                </a:r>
                <a:r>
                  <a:rPr kumimoji="1" lang="ja-JP" altLang="en-US" sz="3200" spc="-100">
                    <a:solidFill>
                      <a:schemeClr val="tx1"/>
                    </a:solidFill>
                    <a:latin typeface="MS PGothic" panose="020B0600070205080204" pitchFamily="34" charset="-128"/>
                    <a:ea typeface="MS PGothic" panose="020B0600070205080204" pitchFamily="34" charset="-128"/>
                  </a:rPr>
                  <a:t>デコーダの特徴量</a:t>
                </a:r>
                <a:r>
                  <a:rPr kumimoji="1" lang="en-US" altLang="ja-JP" sz="3200" spc="-100" dirty="0">
                    <a:solidFill>
                      <a:schemeClr val="tx1"/>
                    </a:solidFill>
                    <a:latin typeface="MS PGothic" panose="020B0600070205080204" pitchFamily="34" charset="-128"/>
                    <a:ea typeface="MS PGothic" panose="020B0600070205080204" pitchFamily="34" charset="-128"/>
                  </a:rPr>
                  <a:t>(</a:t>
                </a:r>
                <a:r>
                  <a:rPr kumimoji="1" lang="ja-JP" altLang="en-US" sz="3200" spc="-100">
                    <a:solidFill>
                      <a:schemeClr val="tx1"/>
                    </a:solidFill>
                    <a:latin typeface="MS PGothic" panose="020B0600070205080204" pitchFamily="34" charset="-128"/>
                    <a:ea typeface="MS PGothic" panose="020B0600070205080204" pitchFamily="34" charset="-128"/>
                  </a:rPr>
                  <a:t>画像</a:t>
                </a:r>
                <a:r>
                  <a:rPr kumimoji="1" lang="en-US" altLang="ja-JP" sz="3200" spc="-100" dirty="0">
                    <a:solidFill>
                      <a:schemeClr val="tx1"/>
                    </a:solidFill>
                    <a:latin typeface="MS PGothic" panose="020B0600070205080204" pitchFamily="34" charset="-128"/>
                    <a:ea typeface="MS PGothic" panose="020B0600070205080204" pitchFamily="34" charset="-128"/>
                  </a:rPr>
                  <a:t>), </a:t>
                </a:r>
                <a14:m>
                  <m:oMath xmlns:m="http://schemas.openxmlformats.org/officeDocument/2006/math">
                    <m:r>
                      <a:rPr kumimoji="1" lang="en-US" altLang="ja-JP" sz="3200" b="1" spc="-100" smtClean="0">
                        <a:solidFill>
                          <a:schemeClr val="tx1"/>
                        </a:solidFill>
                        <a:latin typeface="Cambria Math" panose="02040503050406030204" pitchFamily="18" charset="0"/>
                        <a:ea typeface="MS PGothic" panose="020B0600070205080204" pitchFamily="34" charset="-128"/>
                      </a:rPr>
                      <m:t>𝐘</m:t>
                    </m:r>
                  </m:oMath>
                </a14:m>
                <a:r>
                  <a:rPr kumimoji="1" lang="en-US" altLang="ja-JP" sz="3200" spc="-100" dirty="0">
                    <a:solidFill>
                      <a:schemeClr val="tx1"/>
                    </a:solidFill>
                    <a:latin typeface="MS PGothic" panose="020B0600070205080204" pitchFamily="34" charset="-128"/>
                    <a:ea typeface="MS PGothic" panose="020B0600070205080204" pitchFamily="34" charset="-128"/>
                  </a:rPr>
                  <a:t> : </a:t>
                </a:r>
                <a:r>
                  <a:rPr kumimoji="1" lang="ja-JP" altLang="en-US" sz="3200" spc="-100">
                    <a:solidFill>
                      <a:schemeClr val="tx1"/>
                    </a:solidFill>
                    <a:latin typeface="MS PGothic" panose="020B0600070205080204" pitchFamily="34" charset="-128"/>
                    <a:ea typeface="MS PGothic" panose="020B0600070205080204" pitchFamily="34" charset="-128"/>
                  </a:rPr>
                  <a:t>エンコーダの特徴量</a:t>
                </a:r>
                <a:r>
                  <a:rPr kumimoji="1" lang="en-US" altLang="ja-JP" sz="3200" spc="-100" dirty="0">
                    <a:solidFill>
                      <a:schemeClr val="tx1"/>
                    </a:solidFill>
                    <a:latin typeface="MS PGothic" panose="020B0600070205080204" pitchFamily="34" charset="-128"/>
                    <a:ea typeface="MS PGothic" panose="020B0600070205080204" pitchFamily="34" charset="-128"/>
                  </a:rPr>
                  <a:t>(</a:t>
                </a:r>
                <a:r>
                  <a:rPr kumimoji="1" lang="ja-JP" altLang="en-US" sz="3200" spc="-100">
                    <a:solidFill>
                      <a:schemeClr val="tx1"/>
                    </a:solidFill>
                    <a:latin typeface="MS PGothic" panose="020B0600070205080204" pitchFamily="34" charset="-128"/>
                    <a:ea typeface="MS PGothic" panose="020B0600070205080204" pitchFamily="34" charset="-128"/>
                  </a:rPr>
                  <a:t>文章</a:t>
                </a:r>
                <a:r>
                  <a:rPr kumimoji="1" lang="en-US" altLang="ja-JP" sz="3200" spc="-100" dirty="0">
                    <a:solidFill>
                      <a:schemeClr val="tx1"/>
                    </a:solidFill>
                    <a:latin typeface="MS PGothic" panose="020B0600070205080204" pitchFamily="34" charset="-128"/>
                    <a:ea typeface="MS PGothic" panose="020B0600070205080204" pitchFamily="34" charset="-128"/>
                  </a:rPr>
                  <a:t>),</a:t>
                </a:r>
              </a:p>
              <a:p>
                <a:r>
                  <a:rPr kumimoji="1" lang="ja-JP" altLang="en-US" sz="3200" spc="-100" dirty="0">
                    <a:solidFill>
                      <a:schemeClr val="tx1"/>
                    </a:solidFill>
                    <a:latin typeface="MS PGothic" panose="020B0600070205080204" pitchFamily="34" charset="-128"/>
                    <a:ea typeface="MS PGothic" panose="020B0600070205080204" pitchFamily="34" charset="-128"/>
                  </a:rPr>
                  <a:t>　　</a:t>
                </a:r>
                <a14:m>
                  <m:oMath xmlns:m="http://schemas.openxmlformats.org/officeDocument/2006/math">
                    <m:sSub>
                      <m:sSubPr>
                        <m:ctrlPr>
                          <a:rPr kumimoji="1" lang="en-US" altLang="ja-JP" sz="3200" b="1" i="1" spc="-100" smtClean="0">
                            <a:solidFill>
                              <a:schemeClr val="tx1"/>
                            </a:solidFill>
                            <a:latin typeface="Cambria Math" panose="02040503050406030204" pitchFamily="18" charset="0"/>
                            <a:ea typeface="MS PGothic" panose="020B0600070205080204" pitchFamily="34" charset="-128"/>
                          </a:rPr>
                        </m:ctrlPr>
                      </m:sSubPr>
                      <m:e>
                        <m:r>
                          <a:rPr kumimoji="1" lang="en-US" altLang="ja-JP" sz="3200" b="1" i="0" spc="-100" smtClean="0">
                            <a:solidFill>
                              <a:schemeClr val="tx1"/>
                            </a:solidFill>
                            <a:latin typeface="Cambria Math" panose="02040503050406030204" pitchFamily="18" charset="0"/>
                            <a:ea typeface="MS PGothic" panose="020B0600070205080204" pitchFamily="34" charset="-128"/>
                          </a:rPr>
                          <m:t>𝐖</m:t>
                        </m:r>
                      </m:e>
                      <m:sub>
                        <m:r>
                          <a:rPr kumimoji="1" lang="en-US" altLang="ja-JP" sz="3200" b="1" i="0" spc="-100" smtClean="0">
                            <a:solidFill>
                              <a:schemeClr val="tx1"/>
                            </a:solidFill>
                            <a:latin typeface="Cambria Math" panose="02040503050406030204" pitchFamily="18" charset="0"/>
                            <a:ea typeface="MS PGothic" panose="020B0600070205080204" pitchFamily="34" charset="-128"/>
                          </a:rPr>
                          <m:t>𝐐</m:t>
                        </m:r>
                      </m:sub>
                    </m:sSub>
                  </m:oMath>
                </a14:m>
                <a:r>
                  <a:rPr kumimoji="1" lang="en-US" altLang="ja-JP" sz="3200" spc="-100" dirty="0">
                    <a:solidFill>
                      <a:schemeClr val="tx1"/>
                    </a:solidFill>
                    <a:latin typeface="MS PGothic" panose="020B0600070205080204" pitchFamily="34" charset="-128"/>
                    <a:ea typeface="MS PGothic" panose="020B0600070205080204" pitchFamily="34" charset="-128"/>
                  </a:rPr>
                  <a:t>, </a:t>
                </a:r>
                <a14:m>
                  <m:oMath xmlns:m="http://schemas.openxmlformats.org/officeDocument/2006/math">
                    <m:sSub>
                      <m:sSubPr>
                        <m:ctrlPr>
                          <a:rPr kumimoji="1" lang="en-US" altLang="ja-JP" sz="3200" b="1" i="1" spc="-100">
                            <a:solidFill>
                              <a:schemeClr val="tx1"/>
                            </a:solidFill>
                            <a:latin typeface="Cambria Math" panose="02040503050406030204" pitchFamily="18" charset="0"/>
                            <a:ea typeface="MS PGothic" panose="020B0600070205080204" pitchFamily="34" charset="-128"/>
                          </a:rPr>
                        </m:ctrlPr>
                      </m:sSubPr>
                      <m:e>
                        <m:r>
                          <a:rPr kumimoji="1" lang="en-US" altLang="ja-JP" sz="3200" b="1" spc="-100">
                            <a:solidFill>
                              <a:schemeClr val="tx1"/>
                            </a:solidFill>
                            <a:latin typeface="Cambria Math" panose="02040503050406030204" pitchFamily="18" charset="0"/>
                            <a:ea typeface="MS PGothic" panose="020B0600070205080204" pitchFamily="34" charset="-128"/>
                          </a:rPr>
                          <m:t>𝐖</m:t>
                        </m:r>
                      </m:e>
                      <m:sub>
                        <m:r>
                          <a:rPr kumimoji="1" lang="en-US" altLang="ja-JP" sz="3200" b="1" spc="-100">
                            <a:solidFill>
                              <a:schemeClr val="tx1"/>
                            </a:solidFill>
                            <a:latin typeface="Cambria Math" panose="02040503050406030204" pitchFamily="18" charset="0"/>
                            <a:ea typeface="MS PGothic" panose="020B0600070205080204" pitchFamily="34" charset="-128"/>
                          </a:rPr>
                          <m:t>𝐊</m:t>
                        </m:r>
                      </m:sub>
                    </m:sSub>
                  </m:oMath>
                </a14:m>
                <a:r>
                  <a:rPr kumimoji="1" lang="en-US" altLang="ja-JP" sz="3200" b="1" spc="-100" dirty="0">
                    <a:solidFill>
                      <a:schemeClr val="tx1"/>
                    </a:solidFill>
                    <a:ea typeface="MS PGothic" panose="020B0600070205080204" pitchFamily="34" charset="-128"/>
                  </a:rPr>
                  <a:t> </a:t>
                </a:r>
                <a:r>
                  <a:rPr kumimoji="1" lang="en-US" altLang="ja-JP" sz="3200" spc="-100" dirty="0">
                    <a:solidFill>
                      <a:schemeClr val="tx1"/>
                    </a:solidFill>
                    <a:latin typeface="MS PGothic" panose="020B0600070205080204" pitchFamily="34" charset="-128"/>
                    <a:ea typeface="MS PGothic" panose="020B0600070205080204" pitchFamily="34" charset="-128"/>
                  </a:rPr>
                  <a:t>, </a:t>
                </a:r>
                <a14:m>
                  <m:oMath xmlns:m="http://schemas.openxmlformats.org/officeDocument/2006/math">
                    <m:sSub>
                      <m:sSubPr>
                        <m:ctrlPr>
                          <a:rPr kumimoji="1" lang="en-US" altLang="ja-JP" sz="3200" b="1" i="1" spc="-100">
                            <a:solidFill>
                              <a:schemeClr val="tx1"/>
                            </a:solidFill>
                            <a:latin typeface="Cambria Math" panose="02040503050406030204" pitchFamily="18" charset="0"/>
                            <a:ea typeface="MS PGothic" panose="020B0600070205080204" pitchFamily="34" charset="-128"/>
                          </a:rPr>
                        </m:ctrlPr>
                      </m:sSubPr>
                      <m:e>
                        <m:r>
                          <a:rPr kumimoji="1" lang="en-US" altLang="ja-JP" sz="3200" b="1" spc="-100">
                            <a:solidFill>
                              <a:schemeClr val="tx1"/>
                            </a:solidFill>
                            <a:latin typeface="Cambria Math" panose="02040503050406030204" pitchFamily="18" charset="0"/>
                            <a:ea typeface="MS PGothic" panose="020B0600070205080204" pitchFamily="34" charset="-128"/>
                          </a:rPr>
                          <m:t>𝐖</m:t>
                        </m:r>
                      </m:e>
                      <m:sub>
                        <m:r>
                          <a:rPr kumimoji="1" lang="en-US" altLang="ja-JP" sz="3200" b="1" spc="-100">
                            <a:solidFill>
                              <a:schemeClr val="tx1"/>
                            </a:solidFill>
                            <a:latin typeface="Cambria Math" panose="02040503050406030204" pitchFamily="18" charset="0"/>
                            <a:ea typeface="MS PGothic" panose="020B0600070205080204" pitchFamily="34" charset="-128"/>
                          </a:rPr>
                          <m:t>𝐕</m:t>
                        </m:r>
                      </m:sub>
                    </m:sSub>
                  </m:oMath>
                </a14:m>
                <a:r>
                  <a:rPr kumimoji="1" lang="en-US" altLang="ja-JP" sz="3200" spc="-100" dirty="0">
                    <a:solidFill>
                      <a:schemeClr val="tx1"/>
                    </a:solidFill>
                    <a:latin typeface="MS PGothic" panose="020B0600070205080204" pitchFamily="34" charset="-128"/>
                    <a:ea typeface="MS PGothic" panose="020B0600070205080204" pitchFamily="34" charset="-128"/>
                  </a:rPr>
                  <a:t> : </a:t>
                </a:r>
                <a:r>
                  <a:rPr kumimoji="1" lang="ja-JP" altLang="en-US" sz="3200" spc="-100">
                    <a:solidFill>
                      <a:schemeClr val="tx1"/>
                    </a:solidFill>
                    <a:latin typeface="MS PGothic" panose="020B0600070205080204" pitchFamily="34" charset="-128"/>
                    <a:ea typeface="MS PGothic" panose="020B0600070205080204" pitchFamily="34" charset="-128"/>
                  </a:rPr>
                  <a:t>パラメータ</a:t>
                </a:r>
                <a:r>
                  <a:rPr kumimoji="1" lang="en-US" altLang="ja-JP" sz="3200" spc="-100" dirty="0">
                    <a:solidFill>
                      <a:schemeClr val="tx1"/>
                    </a:solidFill>
                    <a:latin typeface="MS PGothic" panose="020B0600070205080204" pitchFamily="34" charset="-128"/>
                    <a:ea typeface="MS PGothic" panose="020B0600070205080204" pitchFamily="34" charset="-128"/>
                  </a:rPr>
                  <a:t>,      </a:t>
                </a:r>
                <a14:m>
                  <m:oMath xmlns:m="http://schemas.openxmlformats.org/officeDocument/2006/math">
                    <m:r>
                      <a:rPr kumimoji="1" lang="en-US" altLang="ja-JP" sz="3200" i="1" spc="-100">
                        <a:solidFill>
                          <a:schemeClr val="tx1"/>
                        </a:solidFill>
                        <a:latin typeface="Cambria Math" panose="02040503050406030204" pitchFamily="18" charset="0"/>
                        <a:ea typeface="MS PGothic" panose="020B0600070205080204" pitchFamily="34" charset="-128"/>
                      </a:rPr>
                      <m:t>𝑑</m:t>
                    </m:r>
                  </m:oMath>
                </a14:m>
                <a:r>
                  <a:rPr kumimoji="1" lang="en-US" altLang="ja-JP" sz="3200" spc="-100" dirty="0">
                    <a:solidFill>
                      <a:schemeClr val="tx1"/>
                    </a:solidFill>
                    <a:latin typeface="MS PGothic" panose="020B0600070205080204" pitchFamily="34" charset="-128"/>
                    <a:ea typeface="MS PGothic" panose="020B0600070205080204" pitchFamily="34" charset="-128"/>
                  </a:rPr>
                  <a:t> : </a:t>
                </a:r>
                <a:r>
                  <a:rPr kumimoji="1" lang="ja-JP" altLang="en-US" sz="3200" spc="-100">
                    <a:solidFill>
                      <a:schemeClr val="tx1"/>
                    </a:solidFill>
                    <a:latin typeface="MS PGothic" panose="020B0600070205080204" pitchFamily="34" charset="-128"/>
                    <a:ea typeface="MS PGothic" panose="020B0600070205080204" pitchFamily="34" charset="-128"/>
                  </a:rPr>
                  <a:t>特徴量次元数</a:t>
                </a:r>
                <a:r>
                  <a:rPr kumimoji="1" lang="en-US" altLang="ja-JP" sz="3200" spc="-100" dirty="0">
                    <a:solidFill>
                      <a:schemeClr val="tx1"/>
                    </a:solidFill>
                    <a:latin typeface="MS PGothic" panose="020B0600070205080204" pitchFamily="34" charset="-128"/>
                    <a:ea typeface="MS PGothic" panose="020B0600070205080204" pitchFamily="34" charset="-128"/>
                  </a:rPr>
                  <a:t>,</a:t>
                </a:r>
              </a:p>
              <a:p>
                <a:r>
                  <a:rPr kumimoji="1" lang="ja-JP" altLang="en-US" sz="3200" spc="-100">
                    <a:solidFill>
                      <a:schemeClr val="tx1"/>
                    </a:solidFill>
                    <a:latin typeface="MS PGothic" panose="020B0600070205080204" pitchFamily="34" charset="-128"/>
                    <a:ea typeface="MS PGothic" panose="020B0600070205080204" pitchFamily="34" charset="-128"/>
                  </a:rPr>
                  <a:t>　  </a:t>
                </a:r>
                <a14:m>
                  <m:oMath xmlns:m="http://schemas.openxmlformats.org/officeDocument/2006/math">
                    <m:r>
                      <a:rPr kumimoji="1" lang="en-US" altLang="ja-JP" sz="3200" b="1" i="0" spc="-100" smtClean="0">
                        <a:solidFill>
                          <a:schemeClr val="tx1"/>
                        </a:solidFill>
                        <a:latin typeface="Cambria Math" panose="02040503050406030204" pitchFamily="18" charset="0"/>
                        <a:ea typeface="MS PGothic" panose="020B0600070205080204" pitchFamily="34" charset="-128"/>
                      </a:rPr>
                      <m:t>𝐀</m:t>
                    </m:r>
                  </m:oMath>
                </a14:m>
                <a:r>
                  <a:rPr kumimoji="1" lang="en-US" altLang="ja-JP" sz="3200" spc="-100" dirty="0">
                    <a:solidFill>
                      <a:schemeClr val="tx1"/>
                    </a:solidFill>
                    <a:latin typeface="MS PGothic" panose="020B0600070205080204" pitchFamily="34" charset="-128"/>
                    <a:ea typeface="MS PGothic" panose="020B0600070205080204" pitchFamily="34" charset="-128"/>
                  </a:rPr>
                  <a:t> : Attention Score,               </a:t>
                </a:r>
                <a14:m>
                  <m:oMath xmlns:m="http://schemas.openxmlformats.org/officeDocument/2006/math">
                    <m:acc>
                      <m:accPr>
                        <m:chr m:val="̂"/>
                        <m:ctrlPr>
                          <a:rPr kumimoji="1" lang="en-US" altLang="ja-JP" sz="3200" i="1" spc="-100">
                            <a:solidFill>
                              <a:schemeClr val="tx1"/>
                            </a:solidFill>
                            <a:latin typeface="Cambria Math" panose="02040503050406030204" pitchFamily="18" charset="0"/>
                            <a:ea typeface="MS PGothic" panose="020B0600070205080204" pitchFamily="34" charset="-128"/>
                          </a:rPr>
                        </m:ctrlPr>
                      </m:accPr>
                      <m:e>
                        <m:r>
                          <a:rPr kumimoji="1" lang="en-US" altLang="ja-JP" sz="3200" b="1" spc="-100">
                            <a:solidFill>
                              <a:schemeClr val="tx1"/>
                            </a:solidFill>
                            <a:latin typeface="Cambria Math" panose="02040503050406030204" pitchFamily="18" charset="0"/>
                            <a:ea typeface="MS PGothic" panose="020B0600070205080204" pitchFamily="34" charset="-128"/>
                          </a:rPr>
                          <m:t>𝐗</m:t>
                        </m:r>
                      </m:e>
                    </m:acc>
                  </m:oMath>
                </a14:m>
                <a:r>
                  <a:rPr kumimoji="1" lang="en-US" altLang="ja-JP" sz="3200" spc="-100" dirty="0">
                    <a:solidFill>
                      <a:schemeClr val="tx1"/>
                    </a:solidFill>
                    <a:latin typeface="MS PGothic" panose="020B0600070205080204" pitchFamily="34" charset="-128"/>
                    <a:ea typeface="MS PGothic" panose="020B0600070205080204" pitchFamily="34" charset="-128"/>
                  </a:rPr>
                  <a:t> : Cross-Attention</a:t>
                </a:r>
                <a:r>
                  <a:rPr kumimoji="1" lang="ja-JP" altLang="en-US" sz="3200" spc="-100">
                    <a:solidFill>
                      <a:schemeClr val="tx1"/>
                    </a:solidFill>
                    <a:latin typeface="MS PGothic" panose="020B0600070205080204" pitchFamily="34" charset="-128"/>
                    <a:ea typeface="MS PGothic" panose="020B0600070205080204" pitchFamily="34" charset="-128"/>
                  </a:rPr>
                  <a:t>の出力</a:t>
                </a:r>
              </a:p>
            </p:txBody>
          </p:sp>
        </mc:Choice>
        <mc:Fallback xmlns="">
          <p:sp>
            <p:nvSpPr>
              <p:cNvPr id="1073" name="テキスト ボックス 1072">
                <a:extLst>
                  <a:ext uri="{FF2B5EF4-FFF2-40B4-BE49-F238E27FC236}">
                    <a16:creationId xmlns:a16="http://schemas.microsoft.com/office/drawing/2014/main" id="{0AA7DDE8-90AF-0A21-F22D-67C8CB43C709}"/>
                  </a:ext>
                </a:extLst>
              </p:cNvPr>
              <p:cNvSpPr txBox="1">
                <a:spLocks noRot="1" noChangeAspect="1" noMove="1" noResize="1" noEditPoints="1" noAdjustHandles="1" noChangeArrowheads="1" noChangeShapeType="1" noTextEdit="1"/>
              </p:cNvSpPr>
              <p:nvPr/>
            </p:nvSpPr>
            <p:spPr>
              <a:xfrm>
                <a:off x="15382278" y="13742546"/>
                <a:ext cx="10392040" cy="2680414"/>
              </a:xfrm>
              <a:prstGeom prst="rect">
                <a:avLst/>
              </a:prstGeom>
              <a:blipFill>
                <a:blip r:embed="rId8"/>
                <a:stretch>
                  <a:fillRect l="-1465" t="-6573" r="-2076" b="-610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75" name="正方形/長方形 1074">
                <a:extLst>
                  <a:ext uri="{FF2B5EF4-FFF2-40B4-BE49-F238E27FC236}">
                    <a16:creationId xmlns:a16="http://schemas.microsoft.com/office/drawing/2014/main" id="{2BBC8BAC-492F-F4AC-144F-9677A32997D3}"/>
                  </a:ext>
                </a:extLst>
              </p:cNvPr>
              <p:cNvSpPr/>
              <p:nvPr/>
            </p:nvSpPr>
            <p:spPr>
              <a:xfrm>
                <a:off x="27129588" y="15070234"/>
                <a:ext cx="690880" cy="69088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ja-JP" sz="3200" b="1" i="0" spc="-100" smtClean="0">
                          <a:solidFill>
                            <a:schemeClr val="tx1"/>
                          </a:solidFill>
                          <a:latin typeface="Cambria Math" panose="02040503050406030204" pitchFamily="18" charset="0"/>
                          <a:ea typeface="MS PGothic" panose="020B0600070205080204" pitchFamily="34" charset="-128"/>
                        </a:rPr>
                        <m:t>𝐗</m:t>
                      </m:r>
                    </m:oMath>
                  </m:oMathPara>
                </a14:m>
                <a:endParaRPr kumimoji="1" lang="ja-JP" altLang="en-US" sz="3200">
                  <a:latin typeface="MS PGothic" panose="020B0600070205080204" pitchFamily="34" charset="-128"/>
                  <a:ea typeface="MS PGothic" panose="020B0600070205080204" pitchFamily="34" charset="-128"/>
                </a:endParaRPr>
              </a:p>
            </p:txBody>
          </p:sp>
        </mc:Choice>
        <mc:Fallback xmlns="">
          <p:sp>
            <p:nvSpPr>
              <p:cNvPr id="1075" name="正方形/長方形 1074">
                <a:extLst>
                  <a:ext uri="{FF2B5EF4-FFF2-40B4-BE49-F238E27FC236}">
                    <a16:creationId xmlns:a16="http://schemas.microsoft.com/office/drawing/2014/main" id="{2BBC8BAC-492F-F4AC-144F-9677A32997D3}"/>
                  </a:ext>
                </a:extLst>
              </p:cNvPr>
              <p:cNvSpPr>
                <a:spLocks noRot="1" noChangeAspect="1" noMove="1" noResize="1" noEditPoints="1" noAdjustHandles="1" noChangeArrowheads="1" noChangeShapeType="1" noTextEdit="1"/>
              </p:cNvSpPr>
              <p:nvPr/>
            </p:nvSpPr>
            <p:spPr>
              <a:xfrm>
                <a:off x="27129588" y="15070234"/>
                <a:ext cx="690880" cy="690880"/>
              </a:xfrm>
              <a:prstGeom prst="rect">
                <a:avLst/>
              </a:prstGeom>
              <a:blipFill>
                <a:blip r:embed="rId9"/>
                <a:stretch>
                  <a:fillRect/>
                </a:stretch>
              </a:blipFill>
              <a:ln w="38100">
                <a:solidFill>
                  <a:schemeClr val="tx1"/>
                </a:solid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76" name="正方形/長方形 1075">
                <a:extLst>
                  <a:ext uri="{FF2B5EF4-FFF2-40B4-BE49-F238E27FC236}">
                    <a16:creationId xmlns:a16="http://schemas.microsoft.com/office/drawing/2014/main" id="{86B998A3-DB5F-953C-7398-CAE666600140}"/>
                  </a:ext>
                </a:extLst>
              </p:cNvPr>
              <p:cNvSpPr/>
              <p:nvPr/>
            </p:nvSpPr>
            <p:spPr>
              <a:xfrm>
                <a:off x="28291958" y="15070234"/>
                <a:ext cx="690880" cy="69088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ja-JP" sz="3200" b="1" i="0" spc="-100" smtClean="0">
                          <a:solidFill>
                            <a:schemeClr val="tx1"/>
                          </a:solidFill>
                          <a:latin typeface="Cambria Math" panose="02040503050406030204" pitchFamily="18" charset="0"/>
                          <a:ea typeface="MS PGothic" panose="020B0600070205080204" pitchFamily="34" charset="-128"/>
                        </a:rPr>
                        <m:t>𝐘</m:t>
                      </m:r>
                    </m:oMath>
                  </m:oMathPara>
                </a14:m>
                <a:endParaRPr kumimoji="1" lang="ja-JP" altLang="en-US" sz="3200">
                  <a:latin typeface="MS PGothic" panose="020B0600070205080204" pitchFamily="34" charset="-128"/>
                  <a:ea typeface="MS PGothic" panose="020B0600070205080204" pitchFamily="34" charset="-128"/>
                </a:endParaRPr>
              </a:p>
            </p:txBody>
          </p:sp>
        </mc:Choice>
        <mc:Fallback xmlns="">
          <p:sp>
            <p:nvSpPr>
              <p:cNvPr id="1076" name="正方形/長方形 1075">
                <a:extLst>
                  <a:ext uri="{FF2B5EF4-FFF2-40B4-BE49-F238E27FC236}">
                    <a16:creationId xmlns:a16="http://schemas.microsoft.com/office/drawing/2014/main" id="{86B998A3-DB5F-953C-7398-CAE666600140}"/>
                  </a:ext>
                </a:extLst>
              </p:cNvPr>
              <p:cNvSpPr>
                <a:spLocks noRot="1" noChangeAspect="1" noMove="1" noResize="1" noEditPoints="1" noAdjustHandles="1" noChangeArrowheads="1" noChangeShapeType="1" noTextEdit="1"/>
              </p:cNvSpPr>
              <p:nvPr/>
            </p:nvSpPr>
            <p:spPr>
              <a:xfrm>
                <a:off x="28291958" y="15070234"/>
                <a:ext cx="690880" cy="690880"/>
              </a:xfrm>
              <a:prstGeom prst="rect">
                <a:avLst/>
              </a:prstGeom>
              <a:blipFill>
                <a:blip r:embed="rId10"/>
                <a:stretch>
                  <a:fillRect/>
                </a:stretch>
              </a:blipFill>
              <a:ln w="38100">
                <a:solidFill>
                  <a:schemeClr val="tx1"/>
                </a:solid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77" name="正方形/長方形 1076">
                <a:extLst>
                  <a:ext uri="{FF2B5EF4-FFF2-40B4-BE49-F238E27FC236}">
                    <a16:creationId xmlns:a16="http://schemas.microsoft.com/office/drawing/2014/main" id="{C583F059-7E99-CB01-DFDF-F203990AC43A}"/>
                  </a:ext>
                </a:extLst>
              </p:cNvPr>
              <p:cNvSpPr/>
              <p:nvPr/>
            </p:nvSpPr>
            <p:spPr>
              <a:xfrm>
                <a:off x="26564758" y="14016420"/>
                <a:ext cx="690880" cy="69088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ja-JP" sz="3200" b="1" i="0" spc="-100" smtClean="0">
                          <a:solidFill>
                            <a:schemeClr val="tx1"/>
                          </a:solidFill>
                          <a:latin typeface="Cambria Math" panose="02040503050406030204" pitchFamily="18" charset="0"/>
                          <a:ea typeface="MS PGothic" panose="020B0600070205080204" pitchFamily="34" charset="-128"/>
                        </a:rPr>
                        <m:t>𝐐</m:t>
                      </m:r>
                    </m:oMath>
                  </m:oMathPara>
                </a14:m>
                <a:endParaRPr kumimoji="1" lang="ja-JP" altLang="en-US" sz="3200">
                  <a:latin typeface="MS PGothic" panose="020B0600070205080204" pitchFamily="34" charset="-128"/>
                  <a:ea typeface="MS PGothic" panose="020B0600070205080204" pitchFamily="34" charset="-128"/>
                </a:endParaRPr>
              </a:p>
            </p:txBody>
          </p:sp>
        </mc:Choice>
        <mc:Fallback xmlns="">
          <p:sp>
            <p:nvSpPr>
              <p:cNvPr id="1077" name="正方形/長方形 1076">
                <a:extLst>
                  <a:ext uri="{FF2B5EF4-FFF2-40B4-BE49-F238E27FC236}">
                    <a16:creationId xmlns:a16="http://schemas.microsoft.com/office/drawing/2014/main" id="{C583F059-7E99-CB01-DFDF-F203990AC43A}"/>
                  </a:ext>
                </a:extLst>
              </p:cNvPr>
              <p:cNvSpPr>
                <a:spLocks noRot="1" noChangeAspect="1" noMove="1" noResize="1" noEditPoints="1" noAdjustHandles="1" noChangeArrowheads="1" noChangeShapeType="1" noTextEdit="1"/>
              </p:cNvSpPr>
              <p:nvPr/>
            </p:nvSpPr>
            <p:spPr>
              <a:xfrm>
                <a:off x="26564758" y="14016420"/>
                <a:ext cx="690880" cy="690880"/>
              </a:xfrm>
              <a:prstGeom prst="rect">
                <a:avLst/>
              </a:prstGeom>
              <a:blipFill>
                <a:blip r:embed="rId11"/>
                <a:stretch>
                  <a:fillRect l="-3448" b="-6897"/>
                </a:stretch>
              </a:blipFill>
              <a:ln w="38100">
                <a:solidFill>
                  <a:schemeClr val="tx1"/>
                </a:solid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78" name="正方形/長方形 1077">
                <a:extLst>
                  <a:ext uri="{FF2B5EF4-FFF2-40B4-BE49-F238E27FC236}">
                    <a16:creationId xmlns:a16="http://schemas.microsoft.com/office/drawing/2014/main" id="{4802514E-2AD3-79C4-4074-01708665AEDF}"/>
                  </a:ext>
                </a:extLst>
              </p:cNvPr>
              <p:cNvSpPr/>
              <p:nvPr/>
            </p:nvSpPr>
            <p:spPr>
              <a:xfrm>
                <a:off x="27727128" y="14016420"/>
                <a:ext cx="690880" cy="69088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ja-JP" sz="3200" b="1" i="0" spc="-100" smtClean="0">
                          <a:solidFill>
                            <a:schemeClr val="tx1"/>
                          </a:solidFill>
                          <a:latin typeface="Cambria Math" panose="02040503050406030204" pitchFamily="18" charset="0"/>
                          <a:ea typeface="MS PGothic" panose="020B0600070205080204" pitchFamily="34" charset="-128"/>
                        </a:rPr>
                        <m:t>𝐊</m:t>
                      </m:r>
                    </m:oMath>
                  </m:oMathPara>
                </a14:m>
                <a:endParaRPr kumimoji="1" lang="ja-JP" altLang="en-US" sz="3200">
                  <a:latin typeface="MS PGothic" panose="020B0600070205080204" pitchFamily="34" charset="-128"/>
                  <a:ea typeface="MS PGothic" panose="020B0600070205080204" pitchFamily="34" charset="-128"/>
                </a:endParaRPr>
              </a:p>
            </p:txBody>
          </p:sp>
        </mc:Choice>
        <mc:Fallback xmlns="">
          <p:sp>
            <p:nvSpPr>
              <p:cNvPr id="1078" name="正方形/長方形 1077">
                <a:extLst>
                  <a:ext uri="{FF2B5EF4-FFF2-40B4-BE49-F238E27FC236}">
                    <a16:creationId xmlns:a16="http://schemas.microsoft.com/office/drawing/2014/main" id="{4802514E-2AD3-79C4-4074-01708665AEDF}"/>
                  </a:ext>
                </a:extLst>
              </p:cNvPr>
              <p:cNvSpPr>
                <a:spLocks noRot="1" noChangeAspect="1" noMove="1" noResize="1" noEditPoints="1" noAdjustHandles="1" noChangeArrowheads="1" noChangeShapeType="1" noTextEdit="1"/>
              </p:cNvSpPr>
              <p:nvPr/>
            </p:nvSpPr>
            <p:spPr>
              <a:xfrm>
                <a:off x="27727128" y="14016420"/>
                <a:ext cx="690880" cy="690880"/>
              </a:xfrm>
              <a:prstGeom prst="rect">
                <a:avLst/>
              </a:prstGeom>
              <a:blipFill>
                <a:blip r:embed="rId12"/>
                <a:stretch>
                  <a:fillRect/>
                </a:stretch>
              </a:blipFill>
              <a:ln w="38100">
                <a:solidFill>
                  <a:schemeClr val="tx1"/>
                </a:solid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79" name="正方形/長方形 1078">
                <a:extLst>
                  <a:ext uri="{FF2B5EF4-FFF2-40B4-BE49-F238E27FC236}">
                    <a16:creationId xmlns:a16="http://schemas.microsoft.com/office/drawing/2014/main" id="{0D0521ED-54FD-2712-4CD0-A28130F3E57B}"/>
                  </a:ext>
                </a:extLst>
              </p:cNvPr>
              <p:cNvSpPr/>
              <p:nvPr/>
            </p:nvSpPr>
            <p:spPr>
              <a:xfrm>
                <a:off x="28889498" y="14016420"/>
                <a:ext cx="690880" cy="69088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ja-JP" sz="3200" b="1" i="0" spc="-100" smtClean="0">
                          <a:solidFill>
                            <a:schemeClr val="tx1"/>
                          </a:solidFill>
                          <a:latin typeface="Cambria Math" panose="02040503050406030204" pitchFamily="18" charset="0"/>
                          <a:ea typeface="MS PGothic" panose="020B0600070205080204" pitchFamily="34" charset="-128"/>
                        </a:rPr>
                        <m:t>𝐕</m:t>
                      </m:r>
                    </m:oMath>
                  </m:oMathPara>
                </a14:m>
                <a:endParaRPr kumimoji="1" lang="ja-JP" altLang="en-US" sz="3200">
                  <a:latin typeface="MS PGothic" panose="020B0600070205080204" pitchFamily="34" charset="-128"/>
                  <a:ea typeface="MS PGothic" panose="020B0600070205080204" pitchFamily="34" charset="-128"/>
                </a:endParaRPr>
              </a:p>
            </p:txBody>
          </p:sp>
        </mc:Choice>
        <mc:Fallback xmlns="">
          <p:sp>
            <p:nvSpPr>
              <p:cNvPr id="1079" name="正方形/長方形 1078">
                <a:extLst>
                  <a:ext uri="{FF2B5EF4-FFF2-40B4-BE49-F238E27FC236}">
                    <a16:creationId xmlns:a16="http://schemas.microsoft.com/office/drawing/2014/main" id="{0D0521ED-54FD-2712-4CD0-A28130F3E57B}"/>
                  </a:ext>
                </a:extLst>
              </p:cNvPr>
              <p:cNvSpPr>
                <a:spLocks noRot="1" noChangeAspect="1" noMove="1" noResize="1" noEditPoints="1" noAdjustHandles="1" noChangeArrowheads="1" noChangeShapeType="1" noTextEdit="1"/>
              </p:cNvSpPr>
              <p:nvPr/>
            </p:nvSpPr>
            <p:spPr>
              <a:xfrm>
                <a:off x="28889498" y="14016420"/>
                <a:ext cx="690880" cy="690880"/>
              </a:xfrm>
              <a:prstGeom prst="rect">
                <a:avLst/>
              </a:prstGeom>
              <a:blipFill>
                <a:blip r:embed="rId13"/>
                <a:stretch>
                  <a:fillRect/>
                </a:stretch>
              </a:blipFill>
              <a:ln w="38100">
                <a:solidFill>
                  <a:schemeClr val="tx1"/>
                </a:solid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80" name="正方形/長方形 1079">
                <a:extLst>
                  <a:ext uri="{FF2B5EF4-FFF2-40B4-BE49-F238E27FC236}">
                    <a16:creationId xmlns:a16="http://schemas.microsoft.com/office/drawing/2014/main" id="{8CEF55C0-4FEF-B88C-8061-DC0F3D0B66B9}"/>
                  </a:ext>
                </a:extLst>
              </p:cNvPr>
              <p:cNvSpPr/>
              <p:nvPr/>
            </p:nvSpPr>
            <p:spPr>
              <a:xfrm>
                <a:off x="27129588" y="12962606"/>
                <a:ext cx="690880" cy="69088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ja-JP" sz="3200" b="1" i="0" spc="-100" smtClean="0">
                          <a:solidFill>
                            <a:schemeClr val="tx1"/>
                          </a:solidFill>
                          <a:latin typeface="Cambria Math" panose="02040503050406030204" pitchFamily="18" charset="0"/>
                          <a:ea typeface="MS PGothic" panose="020B0600070205080204" pitchFamily="34" charset="-128"/>
                        </a:rPr>
                        <m:t>𝐀</m:t>
                      </m:r>
                    </m:oMath>
                  </m:oMathPara>
                </a14:m>
                <a:endParaRPr kumimoji="1" lang="ja-JP" altLang="en-US" sz="3200">
                  <a:latin typeface="MS PGothic" panose="020B0600070205080204" pitchFamily="34" charset="-128"/>
                  <a:ea typeface="MS PGothic" panose="020B0600070205080204" pitchFamily="34" charset="-128"/>
                </a:endParaRPr>
              </a:p>
            </p:txBody>
          </p:sp>
        </mc:Choice>
        <mc:Fallback xmlns="">
          <p:sp>
            <p:nvSpPr>
              <p:cNvPr id="1080" name="正方形/長方形 1079">
                <a:extLst>
                  <a:ext uri="{FF2B5EF4-FFF2-40B4-BE49-F238E27FC236}">
                    <a16:creationId xmlns:a16="http://schemas.microsoft.com/office/drawing/2014/main" id="{8CEF55C0-4FEF-B88C-8061-DC0F3D0B66B9}"/>
                  </a:ext>
                </a:extLst>
              </p:cNvPr>
              <p:cNvSpPr>
                <a:spLocks noRot="1" noChangeAspect="1" noMove="1" noResize="1" noEditPoints="1" noAdjustHandles="1" noChangeArrowheads="1" noChangeShapeType="1" noTextEdit="1"/>
              </p:cNvSpPr>
              <p:nvPr/>
            </p:nvSpPr>
            <p:spPr>
              <a:xfrm>
                <a:off x="27129588" y="12962606"/>
                <a:ext cx="690880" cy="690880"/>
              </a:xfrm>
              <a:prstGeom prst="rect">
                <a:avLst/>
              </a:prstGeom>
              <a:blipFill>
                <a:blip r:embed="rId14"/>
                <a:stretch>
                  <a:fillRect/>
                </a:stretch>
              </a:blipFill>
              <a:ln w="38100">
                <a:solidFill>
                  <a:schemeClr val="tx1"/>
                </a:solid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81" name="正方形/長方形 1080">
                <a:extLst>
                  <a:ext uri="{FF2B5EF4-FFF2-40B4-BE49-F238E27FC236}">
                    <a16:creationId xmlns:a16="http://schemas.microsoft.com/office/drawing/2014/main" id="{8686BC0E-D4B5-C641-9A94-0B28F5F5F1F5}"/>
                  </a:ext>
                </a:extLst>
              </p:cNvPr>
              <p:cNvSpPr/>
              <p:nvPr/>
            </p:nvSpPr>
            <p:spPr>
              <a:xfrm>
                <a:off x="27727128" y="11980330"/>
                <a:ext cx="690880" cy="69088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acc>
                        <m:accPr>
                          <m:chr m:val="̂"/>
                          <m:ctrlPr>
                            <a:rPr kumimoji="1" lang="en-US" altLang="ja-JP" sz="3200" i="1" spc="-100" smtClean="0">
                              <a:solidFill>
                                <a:schemeClr val="tx1"/>
                              </a:solidFill>
                              <a:latin typeface="Cambria Math" panose="02040503050406030204" pitchFamily="18" charset="0"/>
                              <a:ea typeface="MS PGothic" panose="020B0600070205080204" pitchFamily="34" charset="-128"/>
                            </a:rPr>
                          </m:ctrlPr>
                        </m:accPr>
                        <m:e>
                          <m:r>
                            <a:rPr kumimoji="1" lang="en-US" altLang="ja-JP" sz="3200" b="1" spc="-100">
                              <a:solidFill>
                                <a:schemeClr val="tx1"/>
                              </a:solidFill>
                              <a:latin typeface="Cambria Math" panose="02040503050406030204" pitchFamily="18" charset="0"/>
                              <a:ea typeface="MS PGothic" panose="020B0600070205080204" pitchFamily="34" charset="-128"/>
                            </a:rPr>
                            <m:t>𝐘</m:t>
                          </m:r>
                        </m:e>
                      </m:acc>
                    </m:oMath>
                  </m:oMathPara>
                </a14:m>
                <a:endParaRPr kumimoji="1" lang="ja-JP" altLang="en-US" sz="3200">
                  <a:solidFill>
                    <a:schemeClr val="tx1"/>
                  </a:solidFill>
                  <a:latin typeface="MS PGothic" panose="020B0600070205080204" pitchFamily="34" charset="-128"/>
                  <a:ea typeface="MS PGothic" panose="020B0600070205080204" pitchFamily="34" charset="-128"/>
                </a:endParaRPr>
              </a:p>
            </p:txBody>
          </p:sp>
        </mc:Choice>
        <mc:Fallback xmlns="">
          <p:sp>
            <p:nvSpPr>
              <p:cNvPr id="1081" name="正方形/長方形 1080">
                <a:extLst>
                  <a:ext uri="{FF2B5EF4-FFF2-40B4-BE49-F238E27FC236}">
                    <a16:creationId xmlns:a16="http://schemas.microsoft.com/office/drawing/2014/main" id="{8686BC0E-D4B5-C641-9A94-0B28F5F5F1F5}"/>
                  </a:ext>
                </a:extLst>
              </p:cNvPr>
              <p:cNvSpPr>
                <a:spLocks noRot="1" noChangeAspect="1" noMove="1" noResize="1" noEditPoints="1" noAdjustHandles="1" noChangeArrowheads="1" noChangeShapeType="1" noTextEdit="1"/>
              </p:cNvSpPr>
              <p:nvPr/>
            </p:nvSpPr>
            <p:spPr>
              <a:xfrm>
                <a:off x="27727128" y="11980330"/>
                <a:ext cx="690880" cy="690880"/>
              </a:xfrm>
              <a:prstGeom prst="rect">
                <a:avLst/>
              </a:prstGeom>
              <a:blipFill>
                <a:blip r:embed="rId15"/>
                <a:stretch>
                  <a:fillRect/>
                </a:stretch>
              </a:blipFill>
              <a:ln w="38100">
                <a:solidFill>
                  <a:schemeClr val="tx1"/>
                </a:solid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82" name="正方形/長方形 1081">
                <a:extLst>
                  <a:ext uri="{FF2B5EF4-FFF2-40B4-BE49-F238E27FC236}">
                    <a16:creationId xmlns:a16="http://schemas.microsoft.com/office/drawing/2014/main" id="{015548D3-5C45-76CE-9733-C6D6A302DDC4}"/>
                  </a:ext>
                </a:extLst>
              </p:cNvPr>
              <p:cNvSpPr/>
              <p:nvPr/>
            </p:nvSpPr>
            <p:spPr>
              <a:xfrm>
                <a:off x="27727128" y="10854978"/>
                <a:ext cx="690880" cy="69088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acc>
                        <m:accPr>
                          <m:chr m:val="̂"/>
                          <m:ctrlPr>
                            <a:rPr kumimoji="1" lang="en-US" altLang="ja-JP" sz="3200" i="1" spc="-100" smtClean="0">
                              <a:solidFill>
                                <a:schemeClr val="tx1"/>
                              </a:solidFill>
                              <a:latin typeface="Cambria Math" panose="02040503050406030204" pitchFamily="18" charset="0"/>
                              <a:ea typeface="MS PGothic" panose="020B0600070205080204" pitchFamily="34" charset="-128"/>
                            </a:rPr>
                          </m:ctrlPr>
                        </m:accPr>
                        <m:e>
                          <m:r>
                            <a:rPr kumimoji="1" lang="en-US" altLang="ja-JP" sz="3200" b="1" spc="-100">
                              <a:solidFill>
                                <a:schemeClr val="tx1"/>
                              </a:solidFill>
                              <a:latin typeface="Cambria Math" panose="02040503050406030204" pitchFamily="18" charset="0"/>
                              <a:ea typeface="MS PGothic" panose="020B0600070205080204" pitchFamily="34" charset="-128"/>
                            </a:rPr>
                            <m:t>𝐗</m:t>
                          </m:r>
                        </m:e>
                      </m:acc>
                    </m:oMath>
                  </m:oMathPara>
                </a14:m>
                <a:endParaRPr kumimoji="1" lang="ja-JP" altLang="en-US" sz="3200">
                  <a:solidFill>
                    <a:schemeClr val="tx1"/>
                  </a:solidFill>
                  <a:latin typeface="MS PGothic" panose="020B0600070205080204" pitchFamily="34" charset="-128"/>
                  <a:ea typeface="MS PGothic" panose="020B0600070205080204" pitchFamily="34" charset="-128"/>
                </a:endParaRPr>
              </a:p>
            </p:txBody>
          </p:sp>
        </mc:Choice>
        <mc:Fallback xmlns="">
          <p:sp>
            <p:nvSpPr>
              <p:cNvPr id="1082" name="正方形/長方形 1081">
                <a:extLst>
                  <a:ext uri="{FF2B5EF4-FFF2-40B4-BE49-F238E27FC236}">
                    <a16:creationId xmlns:a16="http://schemas.microsoft.com/office/drawing/2014/main" id="{015548D3-5C45-76CE-9733-C6D6A302DDC4}"/>
                  </a:ext>
                </a:extLst>
              </p:cNvPr>
              <p:cNvSpPr>
                <a:spLocks noRot="1" noChangeAspect="1" noMove="1" noResize="1" noEditPoints="1" noAdjustHandles="1" noChangeArrowheads="1" noChangeShapeType="1" noTextEdit="1"/>
              </p:cNvSpPr>
              <p:nvPr/>
            </p:nvSpPr>
            <p:spPr>
              <a:xfrm>
                <a:off x="27727128" y="10854978"/>
                <a:ext cx="690880" cy="690880"/>
              </a:xfrm>
              <a:prstGeom prst="rect">
                <a:avLst/>
              </a:prstGeom>
              <a:blipFill>
                <a:blip r:embed="rId16"/>
                <a:stretch>
                  <a:fillRect/>
                </a:stretch>
              </a:blipFill>
              <a:ln w="38100">
                <a:solidFill>
                  <a:schemeClr val="tx1"/>
                </a:solidFill>
              </a:ln>
            </p:spPr>
            <p:txBody>
              <a:bodyPr/>
              <a:lstStyle/>
              <a:p>
                <a:r>
                  <a:rPr lang="ja-JP" altLang="en-US">
                    <a:noFill/>
                  </a:rPr>
                  <a:t> </a:t>
                </a:r>
              </a:p>
            </p:txBody>
          </p:sp>
        </mc:Fallback>
      </mc:AlternateContent>
      <p:cxnSp>
        <p:nvCxnSpPr>
          <p:cNvPr id="1084" name="直線矢印コネクタ 1083">
            <a:extLst>
              <a:ext uri="{FF2B5EF4-FFF2-40B4-BE49-F238E27FC236}">
                <a16:creationId xmlns:a16="http://schemas.microsoft.com/office/drawing/2014/main" id="{43CAE603-0FF4-77DD-FA53-E9D1C8014FBC}"/>
              </a:ext>
            </a:extLst>
          </p:cNvPr>
          <p:cNvCxnSpPr>
            <a:stCxn id="1075" idx="0"/>
            <a:endCxn id="1077" idx="2"/>
          </p:cNvCxnSpPr>
          <p:nvPr/>
        </p:nvCxnSpPr>
        <p:spPr>
          <a:xfrm rot="16200000" flipV="1">
            <a:off x="27011146" y="14606352"/>
            <a:ext cx="362934" cy="564830"/>
          </a:xfrm>
          <a:prstGeom prst="curvedConnector3">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85" name="直線矢印コネクタ 1083">
            <a:extLst>
              <a:ext uri="{FF2B5EF4-FFF2-40B4-BE49-F238E27FC236}">
                <a16:creationId xmlns:a16="http://schemas.microsoft.com/office/drawing/2014/main" id="{2256F739-93BA-F597-FC2B-3B26760A00A8}"/>
              </a:ext>
            </a:extLst>
          </p:cNvPr>
          <p:cNvCxnSpPr>
            <a:cxnSpLocks/>
            <a:stCxn id="1076" idx="0"/>
            <a:endCxn id="1078" idx="2"/>
          </p:cNvCxnSpPr>
          <p:nvPr/>
        </p:nvCxnSpPr>
        <p:spPr>
          <a:xfrm rot="16200000" flipV="1">
            <a:off x="28173516" y="14606352"/>
            <a:ext cx="362934" cy="564830"/>
          </a:xfrm>
          <a:prstGeom prst="curvedConnector3">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88" name="直線矢印コネクタ 1083">
            <a:extLst>
              <a:ext uri="{FF2B5EF4-FFF2-40B4-BE49-F238E27FC236}">
                <a16:creationId xmlns:a16="http://schemas.microsoft.com/office/drawing/2014/main" id="{66893A9E-2DB0-EF54-9F76-4A4650D8359F}"/>
              </a:ext>
            </a:extLst>
          </p:cNvPr>
          <p:cNvCxnSpPr>
            <a:cxnSpLocks/>
            <a:stCxn id="1076" idx="0"/>
            <a:endCxn id="1079" idx="2"/>
          </p:cNvCxnSpPr>
          <p:nvPr/>
        </p:nvCxnSpPr>
        <p:spPr>
          <a:xfrm rot="5400000" flipH="1" flipV="1">
            <a:off x="28754701" y="14589997"/>
            <a:ext cx="362934" cy="597540"/>
          </a:xfrm>
          <a:prstGeom prst="curved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92" name="直線矢印コネクタ 1083">
            <a:extLst>
              <a:ext uri="{FF2B5EF4-FFF2-40B4-BE49-F238E27FC236}">
                <a16:creationId xmlns:a16="http://schemas.microsoft.com/office/drawing/2014/main" id="{CB3897ED-BFE0-686B-226F-48AF8A49C164}"/>
              </a:ext>
            </a:extLst>
          </p:cNvPr>
          <p:cNvCxnSpPr>
            <a:cxnSpLocks/>
            <a:stCxn id="1078" idx="0"/>
            <a:endCxn id="1080" idx="2"/>
          </p:cNvCxnSpPr>
          <p:nvPr/>
        </p:nvCxnSpPr>
        <p:spPr>
          <a:xfrm rot="16200000" flipV="1">
            <a:off x="27592331" y="13536183"/>
            <a:ext cx="362934" cy="597540"/>
          </a:xfrm>
          <a:prstGeom prst="curved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95" name="直線矢印コネクタ 1083">
            <a:extLst>
              <a:ext uri="{FF2B5EF4-FFF2-40B4-BE49-F238E27FC236}">
                <a16:creationId xmlns:a16="http://schemas.microsoft.com/office/drawing/2014/main" id="{660A0301-B69F-DE03-264F-143DE3ACA951}"/>
              </a:ext>
            </a:extLst>
          </p:cNvPr>
          <p:cNvCxnSpPr>
            <a:cxnSpLocks/>
            <a:stCxn id="1077" idx="0"/>
            <a:endCxn id="1080" idx="2"/>
          </p:cNvCxnSpPr>
          <p:nvPr/>
        </p:nvCxnSpPr>
        <p:spPr>
          <a:xfrm rot="5400000" flipH="1" flipV="1">
            <a:off x="27011146" y="13552538"/>
            <a:ext cx="362934" cy="564830"/>
          </a:xfrm>
          <a:prstGeom prst="curved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98" name="直線矢印コネクタ 1083">
            <a:extLst>
              <a:ext uri="{FF2B5EF4-FFF2-40B4-BE49-F238E27FC236}">
                <a16:creationId xmlns:a16="http://schemas.microsoft.com/office/drawing/2014/main" id="{F24E99F4-164D-C31B-CA68-A97129BF4B38}"/>
              </a:ext>
            </a:extLst>
          </p:cNvPr>
          <p:cNvCxnSpPr>
            <a:cxnSpLocks/>
            <a:stCxn id="1080" idx="0"/>
            <a:endCxn id="1081" idx="2"/>
          </p:cNvCxnSpPr>
          <p:nvPr/>
        </p:nvCxnSpPr>
        <p:spPr>
          <a:xfrm rot="5400000" flipH="1" flipV="1">
            <a:off x="27628100" y="12518138"/>
            <a:ext cx="291396" cy="597540"/>
          </a:xfrm>
          <a:prstGeom prst="curved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01" name="直線矢印コネクタ 1083">
            <a:extLst>
              <a:ext uri="{FF2B5EF4-FFF2-40B4-BE49-F238E27FC236}">
                <a16:creationId xmlns:a16="http://schemas.microsoft.com/office/drawing/2014/main" id="{89FFCC3D-132C-BF2E-B556-EB4EA65710C4}"/>
              </a:ext>
            </a:extLst>
          </p:cNvPr>
          <p:cNvCxnSpPr>
            <a:cxnSpLocks/>
            <a:stCxn id="1079" idx="0"/>
            <a:endCxn id="1081" idx="2"/>
          </p:cNvCxnSpPr>
          <p:nvPr/>
        </p:nvCxnSpPr>
        <p:spPr>
          <a:xfrm rot="16200000" flipV="1">
            <a:off x="27981148" y="12762630"/>
            <a:ext cx="1345210" cy="1162370"/>
          </a:xfrm>
          <a:prstGeom prst="curved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04" name="直線矢印コネクタ 1083">
            <a:extLst>
              <a:ext uri="{FF2B5EF4-FFF2-40B4-BE49-F238E27FC236}">
                <a16:creationId xmlns:a16="http://schemas.microsoft.com/office/drawing/2014/main" id="{1FA921AD-5EE5-5822-63A6-E5D057AA5FFA}"/>
              </a:ext>
            </a:extLst>
          </p:cNvPr>
          <p:cNvCxnSpPr>
            <a:cxnSpLocks/>
            <a:stCxn id="1081" idx="0"/>
            <a:endCxn id="1082" idx="2"/>
          </p:cNvCxnSpPr>
          <p:nvPr/>
        </p:nvCxnSpPr>
        <p:spPr>
          <a:xfrm flipV="1">
            <a:off x="28072568" y="11545858"/>
            <a:ext cx="0" cy="43447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07" name="直線矢印コネクタ 1083">
            <a:extLst>
              <a:ext uri="{FF2B5EF4-FFF2-40B4-BE49-F238E27FC236}">
                <a16:creationId xmlns:a16="http://schemas.microsoft.com/office/drawing/2014/main" id="{F1EA820F-964B-2238-A263-75BAF5CD15DE}"/>
              </a:ext>
            </a:extLst>
          </p:cNvPr>
          <p:cNvCxnSpPr>
            <a:cxnSpLocks/>
            <a:endCxn id="1082" idx="2"/>
          </p:cNvCxnSpPr>
          <p:nvPr/>
        </p:nvCxnSpPr>
        <p:spPr>
          <a:xfrm rot="5400000" flipH="1" flipV="1">
            <a:off x="26098481" y="11567136"/>
            <a:ext cx="1995365" cy="1952810"/>
          </a:xfrm>
          <a:prstGeom prst="curvedConnector3">
            <a:avLst>
              <a:gd name="adj1" fmla="val 79329"/>
            </a:avLst>
          </a:prstGeom>
          <a:ln w="381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112" name="直線矢印コネクタ 1083">
            <a:extLst>
              <a:ext uri="{FF2B5EF4-FFF2-40B4-BE49-F238E27FC236}">
                <a16:creationId xmlns:a16="http://schemas.microsoft.com/office/drawing/2014/main" id="{F6AEE502-D6EF-CCE5-DEF1-32613A687BA9}"/>
              </a:ext>
            </a:extLst>
          </p:cNvPr>
          <p:cNvCxnSpPr>
            <a:cxnSpLocks/>
            <a:stCxn id="1075" idx="0"/>
          </p:cNvCxnSpPr>
          <p:nvPr/>
        </p:nvCxnSpPr>
        <p:spPr>
          <a:xfrm rot="16200000" flipV="1">
            <a:off x="26028466" y="13623672"/>
            <a:ext cx="1537854" cy="1355270"/>
          </a:xfrm>
          <a:prstGeom prst="curvedConnector3">
            <a:avLst>
              <a:gd name="adj1" fmla="val 9568"/>
            </a:avLst>
          </a:prstGeom>
          <a:ln w="3810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sp>
        <p:nvSpPr>
          <p:cNvPr id="1135" name="テキスト ボックス 1134">
            <a:extLst>
              <a:ext uri="{FF2B5EF4-FFF2-40B4-BE49-F238E27FC236}">
                <a16:creationId xmlns:a16="http://schemas.microsoft.com/office/drawing/2014/main" id="{557833BA-ED82-091C-01CB-F2F768F4FE66}"/>
              </a:ext>
            </a:extLst>
          </p:cNvPr>
          <p:cNvSpPr txBox="1"/>
          <p:nvPr/>
        </p:nvSpPr>
        <p:spPr>
          <a:xfrm>
            <a:off x="26140654" y="15764128"/>
            <a:ext cx="3863828" cy="584775"/>
          </a:xfrm>
          <a:prstGeom prst="rect">
            <a:avLst/>
          </a:prstGeom>
          <a:noFill/>
        </p:spPr>
        <p:txBody>
          <a:bodyPr wrap="square">
            <a:spAutoFit/>
          </a:bodyPr>
          <a:lstStyle/>
          <a:p>
            <a:pPr algn="ctr"/>
            <a:r>
              <a:rPr kumimoji="1" lang="ja-JP" altLang="en-US" sz="3200" spc="-100">
                <a:solidFill>
                  <a:schemeClr val="tx1"/>
                </a:solidFill>
                <a:latin typeface="MS PGothic" panose="020B0600070205080204" pitchFamily="34" charset="-128"/>
                <a:ea typeface="MS PGothic" panose="020B0600070205080204" pitchFamily="34" charset="-128"/>
              </a:rPr>
              <a:t>図</a:t>
            </a:r>
            <a:r>
              <a:rPr kumimoji="1" lang="en-US" altLang="ja-JP" sz="3200" spc="-100" dirty="0">
                <a:solidFill>
                  <a:schemeClr val="tx1"/>
                </a:solidFill>
                <a:latin typeface="MS PGothic" panose="020B0600070205080204" pitchFamily="34" charset="-128"/>
                <a:ea typeface="MS PGothic" panose="020B0600070205080204" pitchFamily="34" charset="-128"/>
              </a:rPr>
              <a:t>3 Cross-Attention</a:t>
            </a:r>
            <a:endParaRPr kumimoji="1" lang="ja-JP" altLang="en-US" sz="3200" spc="-100">
              <a:solidFill>
                <a:schemeClr val="tx1"/>
              </a:solidFill>
              <a:latin typeface="MS PGothic" panose="020B0600070205080204" pitchFamily="34" charset="-128"/>
              <a:ea typeface="MS PGothic" panose="020B0600070205080204" pitchFamily="34" charset="-128"/>
            </a:endParaRPr>
          </a:p>
        </p:txBody>
      </p:sp>
      <p:sp>
        <p:nvSpPr>
          <p:cNvPr id="1136" name="正方形/長方形 1135">
            <a:extLst>
              <a:ext uri="{FF2B5EF4-FFF2-40B4-BE49-F238E27FC236}">
                <a16:creationId xmlns:a16="http://schemas.microsoft.com/office/drawing/2014/main" id="{D66BF9B6-CA9F-76D8-E53D-4F74FBEE1756}"/>
              </a:ext>
            </a:extLst>
          </p:cNvPr>
          <p:cNvSpPr/>
          <p:nvPr/>
        </p:nvSpPr>
        <p:spPr>
          <a:xfrm>
            <a:off x="15353951" y="16659488"/>
            <a:ext cx="14681200" cy="9685593"/>
          </a:xfrm>
          <a:prstGeom prst="rect">
            <a:avLst/>
          </a:prstGeom>
          <a:solidFill>
            <a:schemeClr val="bg1"/>
          </a:solid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37" name="正方形/長方形 1136">
            <a:extLst>
              <a:ext uri="{FF2B5EF4-FFF2-40B4-BE49-F238E27FC236}">
                <a16:creationId xmlns:a16="http://schemas.microsoft.com/office/drawing/2014/main" id="{22582F02-D68C-3420-3FC9-739E89C56CFF}"/>
              </a:ext>
            </a:extLst>
          </p:cNvPr>
          <p:cNvSpPr/>
          <p:nvPr/>
        </p:nvSpPr>
        <p:spPr>
          <a:xfrm>
            <a:off x="15353951" y="16659489"/>
            <a:ext cx="14681200" cy="849085"/>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4400">
                <a:latin typeface="MS PGothic" panose="020B0600070205080204" pitchFamily="34" charset="-128"/>
                <a:ea typeface="MS PGothic" panose="020B0600070205080204" pitchFamily="34" charset="-128"/>
              </a:rPr>
              <a:t>提案手法</a:t>
            </a:r>
          </a:p>
        </p:txBody>
      </p:sp>
      <p:sp>
        <p:nvSpPr>
          <p:cNvPr id="1138" name="テキスト ボックス 1137">
            <a:extLst>
              <a:ext uri="{FF2B5EF4-FFF2-40B4-BE49-F238E27FC236}">
                <a16:creationId xmlns:a16="http://schemas.microsoft.com/office/drawing/2014/main" id="{8471F8C7-F4DA-604B-042C-0D13824FADEE}"/>
              </a:ext>
            </a:extLst>
          </p:cNvPr>
          <p:cNvSpPr txBox="1"/>
          <p:nvPr/>
        </p:nvSpPr>
        <p:spPr>
          <a:xfrm>
            <a:off x="15353951" y="17543876"/>
            <a:ext cx="14681200" cy="3046988"/>
          </a:xfrm>
          <a:prstGeom prst="rect">
            <a:avLst/>
          </a:prstGeom>
          <a:noFill/>
        </p:spPr>
        <p:txBody>
          <a:bodyPr wrap="square" rtlCol="0">
            <a:spAutoFit/>
          </a:bodyPr>
          <a:lstStyle/>
          <a:p>
            <a:pPr indent="457200" algn="just"/>
            <a:r>
              <a:rPr kumimoji="1" lang="ja-JP" altLang="en-US" sz="3200">
                <a:latin typeface="MS PGothic" panose="020B0600070205080204" pitchFamily="34" charset="-128"/>
                <a:ea typeface="MS PGothic" panose="020B0600070205080204" pitchFamily="34" charset="-128"/>
              </a:rPr>
              <a:t>本研究では，</a:t>
            </a:r>
            <a:r>
              <a:rPr kumimoji="1" lang="en-US" altLang="ja-JP" sz="3200" b="1" dirty="0">
                <a:latin typeface="MS PGothic" panose="020B0600070205080204" pitchFamily="34" charset="-128"/>
                <a:ea typeface="MS PGothic" panose="020B0600070205080204" pitchFamily="34" charset="-128"/>
              </a:rPr>
              <a:t>Transformer</a:t>
            </a:r>
            <a:r>
              <a:rPr kumimoji="1" lang="ja-JP" altLang="en-US" sz="3200">
                <a:latin typeface="MS PGothic" panose="020B0600070205080204" pitchFamily="34" charset="-128"/>
                <a:ea typeface="MS PGothic" panose="020B0600070205080204" pitchFamily="34" charset="-128"/>
              </a:rPr>
              <a:t>を用いた画像に対し大喜利を生成する</a:t>
            </a:r>
            <a:r>
              <a:rPr kumimoji="1" lang="en-US" altLang="ja-JP" sz="3200" dirty="0">
                <a:latin typeface="MS PGothic" panose="020B0600070205080204" pitchFamily="34" charset="-128"/>
                <a:ea typeface="MS PGothic" panose="020B0600070205080204" pitchFamily="34" charset="-128"/>
              </a:rPr>
              <a:t>AI</a:t>
            </a:r>
            <a:r>
              <a:rPr kumimoji="1" lang="ja-JP" altLang="en-US" sz="3200">
                <a:latin typeface="MS PGothic" panose="020B0600070205080204" pitchFamily="34" charset="-128"/>
                <a:ea typeface="MS PGothic" panose="020B0600070205080204" pitchFamily="34" charset="-128"/>
              </a:rPr>
              <a:t>を提案する．</a:t>
            </a:r>
            <a:endParaRPr kumimoji="1" lang="en-US" altLang="ja-JP" sz="3200" dirty="0">
              <a:latin typeface="MS PGothic" panose="020B0600070205080204" pitchFamily="34" charset="-128"/>
              <a:ea typeface="MS PGothic" panose="020B0600070205080204" pitchFamily="34" charset="-128"/>
            </a:endParaRPr>
          </a:p>
          <a:p>
            <a:pPr marL="457200" indent="-457200" algn="just">
              <a:buFont typeface="Arial" panose="020B0604020202020204" pitchFamily="34" charset="0"/>
              <a:buChar char="•"/>
            </a:pPr>
            <a:r>
              <a:rPr kumimoji="1" lang="ja-JP" altLang="en-US" sz="3200">
                <a:latin typeface="MS PGothic" panose="020B0600070205080204" pitchFamily="34" charset="-128"/>
                <a:ea typeface="MS PGothic" panose="020B0600070205080204" pitchFamily="34" charset="-128"/>
              </a:rPr>
              <a:t>画像は事前学習済みの</a:t>
            </a:r>
            <a:r>
              <a:rPr kumimoji="1" lang="en-US" altLang="ja-JP" sz="3200" dirty="0" err="1">
                <a:latin typeface="MS PGothic" panose="020B0600070205080204" pitchFamily="34" charset="-128"/>
                <a:ea typeface="MS PGothic" panose="020B0600070205080204" pitchFamily="34" charset="-128"/>
              </a:rPr>
              <a:t>ViT</a:t>
            </a:r>
            <a:r>
              <a:rPr kumimoji="1" lang="ja-JP" altLang="en-US" sz="3200">
                <a:latin typeface="MS PGothic" panose="020B0600070205080204" pitchFamily="34" charset="-128"/>
                <a:ea typeface="MS PGothic" panose="020B0600070205080204" pitchFamily="34" charset="-128"/>
              </a:rPr>
              <a:t>に入力することで特徴量の行列に変換する．</a:t>
            </a:r>
            <a:endParaRPr kumimoji="1" lang="en-US" altLang="ja-JP" sz="3200" dirty="0">
              <a:latin typeface="MS PGothic" panose="020B0600070205080204" pitchFamily="34" charset="-128"/>
              <a:ea typeface="MS PGothic" panose="020B0600070205080204" pitchFamily="34" charset="-128"/>
            </a:endParaRPr>
          </a:p>
          <a:p>
            <a:pPr marL="457200" indent="-457200" algn="just">
              <a:buFont typeface="Arial" panose="020B0604020202020204" pitchFamily="34" charset="0"/>
              <a:buChar char="•"/>
            </a:pPr>
            <a:r>
              <a:rPr kumimoji="1" lang="ja-JP" altLang="en-US" sz="3200">
                <a:latin typeface="MS PGothic" panose="020B0600070205080204" pitchFamily="34" charset="-128"/>
                <a:ea typeface="MS PGothic" panose="020B0600070205080204" pitchFamily="34" charset="-128"/>
              </a:rPr>
              <a:t>文章はサブワードに分割しサブワード毎に埋め込みベクトルにすることで行列に　変換する．</a:t>
            </a:r>
            <a:endParaRPr kumimoji="1" lang="en-US" altLang="ja-JP" sz="3200" dirty="0">
              <a:latin typeface="MS PGothic" panose="020B0600070205080204" pitchFamily="34" charset="-128"/>
              <a:ea typeface="MS PGothic" panose="020B0600070205080204" pitchFamily="34" charset="-128"/>
            </a:endParaRPr>
          </a:p>
          <a:p>
            <a:pPr marL="457200" indent="-457200" algn="just">
              <a:buFont typeface="Arial" panose="020B0604020202020204" pitchFamily="34" charset="0"/>
              <a:buChar char="•"/>
            </a:pPr>
            <a:r>
              <a:rPr kumimoji="1" lang="ja-JP" altLang="en-US" sz="3200">
                <a:latin typeface="MS PGothic" panose="020B0600070205080204" pitchFamily="34" charset="-128"/>
                <a:ea typeface="MS PGothic" panose="020B0600070205080204" pitchFamily="34" charset="-128"/>
              </a:rPr>
              <a:t>サブワードの順番を示す位置エンコードは学習する．</a:t>
            </a:r>
            <a:endParaRPr kumimoji="1" lang="en-US" altLang="ja-JP" sz="3200" dirty="0">
              <a:latin typeface="MS PGothic" panose="020B0600070205080204" pitchFamily="34" charset="-128"/>
              <a:ea typeface="MS PGothic" panose="020B0600070205080204" pitchFamily="34" charset="-128"/>
            </a:endParaRPr>
          </a:p>
          <a:p>
            <a:pPr marL="457200" indent="-457200" algn="just">
              <a:buFont typeface="Arial" panose="020B0604020202020204" pitchFamily="34" charset="0"/>
              <a:buChar char="•"/>
            </a:pPr>
            <a:r>
              <a:rPr kumimoji="1" lang="en-US" altLang="ja-JP" sz="3200" spc="-100" dirty="0">
                <a:latin typeface="MS PGothic" panose="020B0600070205080204" pitchFamily="34" charset="-128"/>
                <a:ea typeface="MS PGothic" panose="020B0600070205080204" pitchFamily="34" charset="-128"/>
              </a:rPr>
              <a:t>Cross-Attention</a:t>
            </a:r>
            <a:r>
              <a:rPr kumimoji="1" lang="ja-JP" altLang="en-US" sz="3200" spc="-100">
                <a:latin typeface="MS PGothic" panose="020B0600070205080204" pitchFamily="34" charset="-128"/>
                <a:ea typeface="MS PGothic" panose="020B0600070205080204" pitchFamily="34" charset="-128"/>
              </a:rPr>
              <a:t>を用いることで，離れた要素同士の関連性を考慮できると考えられる．</a:t>
            </a:r>
            <a:endParaRPr kumimoji="1" lang="en-US" altLang="ja-JP" sz="3200" spc="-100" dirty="0">
              <a:latin typeface="MS PGothic" panose="020B0600070205080204" pitchFamily="34" charset="-128"/>
              <a:ea typeface="MS PGothic" panose="020B0600070205080204" pitchFamily="34" charset="-128"/>
            </a:endParaRPr>
          </a:p>
        </p:txBody>
      </p:sp>
      <p:sp>
        <p:nvSpPr>
          <p:cNvPr id="1144" name="テキスト ボックス 1143">
            <a:extLst>
              <a:ext uri="{FF2B5EF4-FFF2-40B4-BE49-F238E27FC236}">
                <a16:creationId xmlns:a16="http://schemas.microsoft.com/office/drawing/2014/main" id="{C296B467-ED64-5A3F-B61D-C8AEB1829E37}"/>
              </a:ext>
            </a:extLst>
          </p:cNvPr>
          <p:cNvSpPr txBox="1"/>
          <p:nvPr/>
        </p:nvSpPr>
        <p:spPr>
          <a:xfrm>
            <a:off x="203200" y="41199730"/>
            <a:ext cx="14916944" cy="1200329"/>
          </a:xfrm>
          <a:prstGeom prst="rect">
            <a:avLst/>
          </a:prstGeom>
          <a:noFill/>
        </p:spPr>
        <p:txBody>
          <a:bodyPr wrap="square" rtlCol="0">
            <a:spAutoFit/>
          </a:bodyPr>
          <a:lstStyle/>
          <a:p>
            <a:r>
              <a:rPr kumimoji="1" lang="en-US" altLang="ja-JP" sz="2400" dirty="0">
                <a:latin typeface="MS PGothic" panose="020B0600070205080204" pitchFamily="34" charset="-128"/>
                <a:ea typeface="MS PGothic" panose="020B0600070205080204" pitchFamily="34" charset="-128"/>
              </a:rPr>
              <a:t>[1] K. Yoshida, et al., </a:t>
            </a:r>
            <a:r>
              <a:rPr kumimoji="1" lang="en-US" altLang="ja-JP" sz="2400" i="1" dirty="0">
                <a:latin typeface="MS PGothic" panose="020B0600070205080204" pitchFamily="34" charset="-128"/>
                <a:ea typeface="MS PGothic" panose="020B0600070205080204" pitchFamily="34" charset="-128"/>
              </a:rPr>
              <a:t>Proc. IEEE CVPR Language</a:t>
            </a:r>
            <a:r>
              <a:rPr kumimoji="1" lang="ja-JP" altLang="en-US" sz="2400" i="1" dirty="0">
                <a:latin typeface="MS PGothic" panose="020B0600070205080204" pitchFamily="34" charset="-128"/>
                <a:ea typeface="MS PGothic" panose="020B0600070205080204" pitchFamily="34" charset="-128"/>
              </a:rPr>
              <a:t> </a:t>
            </a:r>
            <a:r>
              <a:rPr kumimoji="1" lang="en-US" altLang="ja-JP" sz="2400" i="1" dirty="0">
                <a:latin typeface="MS PGothic" panose="020B0600070205080204" pitchFamily="34" charset="-128"/>
                <a:ea typeface="MS PGothic" panose="020B0600070205080204" pitchFamily="34" charset="-128"/>
              </a:rPr>
              <a:t>and Vision workshop</a:t>
            </a:r>
            <a:r>
              <a:rPr kumimoji="1" lang="en-US" altLang="ja-JP" sz="2400" dirty="0">
                <a:latin typeface="MS PGothic" panose="020B0600070205080204" pitchFamily="34" charset="-128"/>
                <a:ea typeface="MS PGothic" panose="020B0600070205080204" pitchFamily="34" charset="-128"/>
              </a:rPr>
              <a:t>, pp.1-4, Jun. 2018.</a:t>
            </a:r>
          </a:p>
          <a:p>
            <a:r>
              <a:rPr kumimoji="1" lang="en-US" altLang="ja-JP" sz="2400" dirty="0">
                <a:latin typeface="MS PGothic" panose="020B0600070205080204" pitchFamily="34" charset="-128"/>
                <a:ea typeface="MS PGothic" panose="020B0600070205080204" pitchFamily="34" charset="-128"/>
              </a:rPr>
              <a:t>[2] </a:t>
            </a:r>
            <a:r>
              <a:rPr lang="en" altLang="ja-JP" sz="2400" b="0" i="0" dirty="0">
                <a:solidFill>
                  <a:srgbClr val="111111"/>
                </a:solidFill>
                <a:effectLst/>
                <a:latin typeface="MS PGothic" panose="020B0600070205080204" pitchFamily="34" charset="-128"/>
                <a:ea typeface="MS PGothic" panose="020B0600070205080204" pitchFamily="34" charset="-128"/>
              </a:rPr>
              <a:t>R. </a:t>
            </a:r>
            <a:r>
              <a:rPr lang="en" altLang="ja-JP" sz="2400" b="0" i="0" dirty="0" err="1">
                <a:solidFill>
                  <a:srgbClr val="111111"/>
                </a:solidFill>
                <a:effectLst/>
                <a:latin typeface="MS PGothic" panose="020B0600070205080204" pitchFamily="34" charset="-128"/>
                <a:ea typeface="MS PGothic" panose="020B0600070205080204" pitchFamily="34" charset="-128"/>
              </a:rPr>
              <a:t>Yamatomi</a:t>
            </a:r>
            <a:r>
              <a:rPr lang="en" altLang="ja-JP" sz="2400" b="0" i="0" dirty="0">
                <a:solidFill>
                  <a:srgbClr val="111111"/>
                </a:solidFill>
                <a:effectLst/>
                <a:latin typeface="MS PGothic" panose="020B0600070205080204" pitchFamily="34" charset="-128"/>
                <a:ea typeface="MS PGothic" panose="020B0600070205080204" pitchFamily="34" charset="-128"/>
              </a:rPr>
              <a:t>, et al., </a:t>
            </a:r>
            <a:r>
              <a:rPr lang="en" altLang="ja-JP" sz="2400" b="0" i="1" dirty="0">
                <a:solidFill>
                  <a:srgbClr val="111111"/>
                </a:solidFill>
                <a:effectLst/>
                <a:latin typeface="MS PGothic" panose="020B0600070205080204" pitchFamily="34" charset="-128"/>
                <a:ea typeface="MS PGothic" panose="020B0600070205080204" pitchFamily="34" charset="-128"/>
              </a:rPr>
              <a:t>Proc. PRICAI</a:t>
            </a:r>
            <a:r>
              <a:rPr lang="en" altLang="ja-JP" sz="2400" b="0" i="0" dirty="0">
                <a:solidFill>
                  <a:srgbClr val="111111"/>
                </a:solidFill>
                <a:effectLst/>
                <a:latin typeface="MS PGothic" panose="020B0600070205080204" pitchFamily="34" charset="-128"/>
                <a:ea typeface="MS PGothic" panose="020B0600070205080204" pitchFamily="34" charset="-128"/>
              </a:rPr>
              <a:t>, pp.237-248, Nov. 2023.</a:t>
            </a:r>
          </a:p>
          <a:p>
            <a:r>
              <a:rPr kumimoji="1" lang="en-US" altLang="ja-JP" sz="2400" dirty="0">
                <a:latin typeface="MS PGothic" panose="020B0600070205080204" pitchFamily="34" charset="-128"/>
                <a:ea typeface="MS PGothic" panose="020B0600070205080204" pitchFamily="34" charset="-128"/>
              </a:rPr>
              <a:t>[3] </a:t>
            </a:r>
            <a:r>
              <a:rPr kumimoji="1" lang="en-US" altLang="ja-JP" sz="2400" dirty="0" err="1">
                <a:solidFill>
                  <a:srgbClr val="111111"/>
                </a:solidFill>
                <a:latin typeface="MS PGothic" panose="020B0600070205080204" pitchFamily="34" charset="-128"/>
                <a:ea typeface="MS PGothic" panose="020B0600070205080204" pitchFamily="34" charset="-128"/>
              </a:rPr>
              <a:t>Omoroki</a:t>
            </a:r>
            <a:r>
              <a:rPr kumimoji="1" lang="en-US" altLang="ja-JP" sz="2400" dirty="0">
                <a:solidFill>
                  <a:srgbClr val="111111"/>
                </a:solidFill>
                <a:latin typeface="MS PGothic" panose="020B0600070205080204" pitchFamily="34" charset="-128"/>
                <a:ea typeface="MS PGothic" panose="020B0600070205080204" pitchFamily="34" charset="-128"/>
              </a:rPr>
              <a:t> Inc., https://</a:t>
            </a:r>
            <a:r>
              <a:rPr kumimoji="1" lang="en-US" altLang="ja-JP" sz="2400" dirty="0" err="1">
                <a:solidFill>
                  <a:srgbClr val="111111"/>
                </a:solidFill>
                <a:latin typeface="MS PGothic" panose="020B0600070205080204" pitchFamily="34" charset="-128"/>
                <a:ea typeface="MS PGothic" panose="020B0600070205080204" pitchFamily="34" charset="-128"/>
              </a:rPr>
              <a:t>sp.bokete.jp</a:t>
            </a:r>
            <a:r>
              <a:rPr kumimoji="1" lang="en-US" altLang="ja-JP" sz="2400" dirty="0">
                <a:solidFill>
                  <a:srgbClr val="111111"/>
                </a:solidFill>
                <a:latin typeface="MS PGothic" panose="020B0600070205080204" pitchFamily="34" charset="-128"/>
                <a:ea typeface="MS PGothic" panose="020B0600070205080204" pitchFamily="34" charset="-128"/>
              </a:rPr>
              <a:t>/, </a:t>
            </a:r>
            <a:r>
              <a:rPr lang="en-US" altLang="ja-JP" sz="2400" b="0" i="0" dirty="0">
                <a:solidFill>
                  <a:srgbClr val="111111"/>
                </a:solidFill>
                <a:effectLst/>
                <a:latin typeface="MS PGothic" panose="020B0600070205080204" pitchFamily="34" charset="-128"/>
                <a:ea typeface="MS PGothic" panose="020B0600070205080204" pitchFamily="34" charset="-128"/>
              </a:rPr>
              <a:t>Last Access </a:t>
            </a:r>
            <a:r>
              <a:rPr kumimoji="1" lang="en-US" altLang="ja-JP" sz="2400" dirty="0">
                <a:solidFill>
                  <a:srgbClr val="111111"/>
                </a:solidFill>
                <a:latin typeface="MS PGothic" panose="020B0600070205080204" pitchFamily="34" charset="-128"/>
                <a:ea typeface="MS PGothic" panose="020B0600070205080204" pitchFamily="34" charset="-128"/>
              </a:rPr>
              <a:t>: 2024/2/28</a:t>
            </a:r>
            <a:endParaRPr lang="en-US" altLang="ja-JP" sz="2400" b="0" i="0" dirty="0">
              <a:solidFill>
                <a:srgbClr val="111111"/>
              </a:solidFill>
              <a:effectLst/>
              <a:latin typeface="MS PGothic" panose="020B0600070205080204" pitchFamily="34" charset="-128"/>
              <a:ea typeface="MS PGothic" panose="020B0600070205080204" pitchFamily="34" charset="-128"/>
            </a:endParaRPr>
          </a:p>
        </p:txBody>
      </p:sp>
      <p:sp>
        <p:nvSpPr>
          <p:cNvPr id="1145" name="テキスト ボックス 1144">
            <a:extLst>
              <a:ext uri="{FF2B5EF4-FFF2-40B4-BE49-F238E27FC236}">
                <a16:creationId xmlns:a16="http://schemas.microsoft.com/office/drawing/2014/main" id="{7F35CD3A-7617-931F-05A6-1F21B9D1CDDF}"/>
              </a:ext>
            </a:extLst>
          </p:cNvPr>
          <p:cNvSpPr txBox="1"/>
          <p:nvPr/>
        </p:nvSpPr>
        <p:spPr>
          <a:xfrm>
            <a:off x="15145419" y="41193838"/>
            <a:ext cx="14916944" cy="1200329"/>
          </a:xfrm>
          <a:prstGeom prst="rect">
            <a:avLst/>
          </a:prstGeom>
          <a:noFill/>
        </p:spPr>
        <p:txBody>
          <a:bodyPr wrap="square" rtlCol="0">
            <a:spAutoFit/>
          </a:bodyPr>
          <a:lstStyle/>
          <a:p>
            <a:r>
              <a:rPr lang="en-US" altLang="ja-JP" sz="2400" dirty="0">
                <a:solidFill>
                  <a:srgbClr val="111111"/>
                </a:solidFill>
                <a:latin typeface="MS PGothic" panose="020B0600070205080204" pitchFamily="34" charset="-128"/>
                <a:ea typeface="MS PGothic" panose="020B0600070205080204" pitchFamily="34" charset="-128"/>
              </a:rPr>
              <a:t>[4] V. Ashish, et al., </a:t>
            </a:r>
            <a:r>
              <a:rPr lang="en-US" altLang="ja-JP" sz="2400" i="1" dirty="0">
                <a:solidFill>
                  <a:srgbClr val="111111"/>
                </a:solidFill>
                <a:latin typeface="MS PGothic" panose="020B0600070205080204" pitchFamily="34" charset="-128"/>
                <a:ea typeface="MS PGothic" panose="020B0600070205080204" pitchFamily="34" charset="-128"/>
              </a:rPr>
              <a:t>Proc. </a:t>
            </a:r>
            <a:r>
              <a:rPr lang="en-US" altLang="ja-JP" sz="2400" i="1" dirty="0" err="1">
                <a:solidFill>
                  <a:srgbClr val="111111"/>
                </a:solidFill>
                <a:latin typeface="MS PGothic" panose="020B0600070205080204" pitchFamily="34" charset="-128"/>
                <a:ea typeface="MS PGothic" panose="020B0600070205080204" pitchFamily="34" charset="-128"/>
              </a:rPr>
              <a:t>NeurrIPS</a:t>
            </a:r>
            <a:r>
              <a:rPr lang="en-US" altLang="ja-JP" sz="2400" i="1" dirty="0">
                <a:solidFill>
                  <a:srgbClr val="111111"/>
                </a:solidFill>
                <a:latin typeface="MS PGothic" panose="020B0600070205080204" pitchFamily="34" charset="-128"/>
                <a:ea typeface="MS PGothic" panose="020B0600070205080204" pitchFamily="34" charset="-128"/>
              </a:rPr>
              <a:t> 31</a:t>
            </a:r>
            <a:r>
              <a:rPr lang="en-US" altLang="ja-JP" sz="2400" dirty="0">
                <a:solidFill>
                  <a:srgbClr val="111111"/>
                </a:solidFill>
                <a:latin typeface="MS PGothic" panose="020B0600070205080204" pitchFamily="34" charset="-128"/>
                <a:ea typeface="MS PGothic" panose="020B0600070205080204" pitchFamily="34" charset="-128"/>
              </a:rPr>
              <a:t>, pp.5998-6008, Dec. 2017.</a:t>
            </a:r>
          </a:p>
          <a:p>
            <a:r>
              <a:rPr lang="en-US" altLang="ja-JP" sz="2400" b="0" i="0" dirty="0">
                <a:solidFill>
                  <a:srgbClr val="111111"/>
                </a:solidFill>
                <a:effectLst/>
                <a:latin typeface="MS PGothic" panose="020B0600070205080204" pitchFamily="34" charset="-128"/>
                <a:ea typeface="MS PGothic" panose="020B0600070205080204" pitchFamily="34" charset="-128"/>
              </a:rPr>
              <a:t>[5] D. Alexey, et al., </a:t>
            </a:r>
            <a:r>
              <a:rPr lang="en-US" altLang="ja-JP" sz="2400" b="0" i="1" dirty="0" err="1">
                <a:solidFill>
                  <a:srgbClr val="111111"/>
                </a:solidFill>
                <a:effectLst/>
                <a:latin typeface="MS PGothic" panose="020B0600070205080204" pitchFamily="34" charset="-128"/>
                <a:ea typeface="MS PGothic" panose="020B0600070205080204" pitchFamily="34" charset="-128"/>
              </a:rPr>
              <a:t>arXiv</a:t>
            </a:r>
            <a:r>
              <a:rPr lang="en-US" altLang="ja-JP" sz="2400" b="0" i="1" dirty="0">
                <a:solidFill>
                  <a:srgbClr val="111111"/>
                </a:solidFill>
                <a:effectLst/>
                <a:latin typeface="MS PGothic" panose="020B0600070205080204" pitchFamily="34" charset="-128"/>
                <a:ea typeface="MS PGothic" panose="020B0600070205080204" pitchFamily="34" charset="-128"/>
              </a:rPr>
              <a:t> preprint arXiv:2010.11929</a:t>
            </a:r>
            <a:r>
              <a:rPr lang="en-US" altLang="ja-JP" sz="2400" b="0" i="0" dirty="0">
                <a:solidFill>
                  <a:srgbClr val="111111"/>
                </a:solidFill>
                <a:effectLst/>
                <a:latin typeface="MS PGothic" panose="020B0600070205080204" pitchFamily="34" charset="-128"/>
                <a:ea typeface="MS PGothic" panose="020B0600070205080204" pitchFamily="34" charset="-128"/>
              </a:rPr>
              <a:t>, Oct. 2020.</a:t>
            </a:r>
            <a:endParaRPr lang="en-US" altLang="ja-JP" sz="2400" dirty="0">
              <a:solidFill>
                <a:srgbClr val="111111"/>
              </a:solidFill>
              <a:latin typeface="MS PGothic" panose="020B0600070205080204" pitchFamily="34" charset="-128"/>
              <a:ea typeface="MS PGothic" panose="020B0600070205080204" pitchFamily="34" charset="-128"/>
            </a:endParaRPr>
          </a:p>
          <a:p>
            <a:r>
              <a:rPr lang="en-US" altLang="ja-JP" sz="2400" b="0" i="0" dirty="0">
                <a:solidFill>
                  <a:srgbClr val="111111"/>
                </a:solidFill>
                <a:effectLst/>
                <a:latin typeface="MS PGothic" panose="020B0600070205080204" pitchFamily="34" charset="-128"/>
                <a:ea typeface="MS PGothic" panose="020B0600070205080204" pitchFamily="34" charset="-128"/>
              </a:rPr>
              <a:t>[6] TensorFlow, https://</a:t>
            </a:r>
            <a:r>
              <a:rPr lang="en-US" altLang="ja-JP" sz="2400" b="0" i="0" dirty="0" err="1">
                <a:solidFill>
                  <a:srgbClr val="111111"/>
                </a:solidFill>
                <a:effectLst/>
                <a:latin typeface="MS PGothic" panose="020B0600070205080204" pitchFamily="34" charset="-128"/>
                <a:ea typeface="MS PGothic" panose="020B0600070205080204" pitchFamily="34" charset="-128"/>
              </a:rPr>
              <a:t>www.tensorflow.org</a:t>
            </a:r>
            <a:r>
              <a:rPr lang="en-US" altLang="ja-JP" sz="2400" b="0" i="0" dirty="0">
                <a:solidFill>
                  <a:srgbClr val="111111"/>
                </a:solidFill>
                <a:effectLst/>
                <a:latin typeface="MS PGothic" panose="020B0600070205080204" pitchFamily="34" charset="-128"/>
                <a:ea typeface="MS PGothic" panose="020B0600070205080204" pitchFamily="34" charset="-128"/>
              </a:rPr>
              <a:t>/text/tutorials/</a:t>
            </a:r>
            <a:r>
              <a:rPr lang="en-US" altLang="ja-JP" sz="2400" b="0" i="0" dirty="0" err="1">
                <a:solidFill>
                  <a:srgbClr val="111111"/>
                </a:solidFill>
                <a:effectLst/>
                <a:latin typeface="MS PGothic" panose="020B0600070205080204" pitchFamily="34" charset="-128"/>
                <a:ea typeface="MS PGothic" panose="020B0600070205080204" pitchFamily="34" charset="-128"/>
              </a:rPr>
              <a:t>image_captioning</a:t>
            </a:r>
            <a:r>
              <a:rPr lang="en-US" altLang="ja-JP" sz="2400" b="0" i="0" dirty="0">
                <a:solidFill>
                  <a:srgbClr val="111111"/>
                </a:solidFill>
                <a:effectLst/>
                <a:latin typeface="MS PGothic" panose="020B0600070205080204" pitchFamily="34" charset="-128"/>
                <a:ea typeface="MS PGothic" panose="020B0600070205080204" pitchFamily="34" charset="-128"/>
              </a:rPr>
              <a:t>, Last Access : 2024/2/28</a:t>
            </a:r>
          </a:p>
        </p:txBody>
      </p:sp>
      <p:pic>
        <p:nvPicPr>
          <p:cNvPr id="1146" name="図 1145" descr="建物, グループ, テーブル, フロント が含まれている画像&#10;&#10;自動的に生成された説明">
            <a:extLst>
              <a:ext uri="{FF2B5EF4-FFF2-40B4-BE49-F238E27FC236}">
                <a16:creationId xmlns:a16="http://schemas.microsoft.com/office/drawing/2014/main" id="{8A22829A-03BE-4CBB-00A7-A74616818B94}"/>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16033586" y="21108100"/>
            <a:ext cx="1773758" cy="1773758"/>
          </a:xfrm>
          <a:prstGeom prst="rect">
            <a:avLst/>
          </a:prstGeom>
        </p:spPr>
      </p:pic>
      <p:cxnSp>
        <p:nvCxnSpPr>
          <p:cNvPr id="1147" name="直線矢印コネクタ 1146">
            <a:extLst>
              <a:ext uri="{FF2B5EF4-FFF2-40B4-BE49-F238E27FC236}">
                <a16:creationId xmlns:a16="http://schemas.microsoft.com/office/drawing/2014/main" id="{4B2F5178-C447-4DF8-ED5B-34EA6027EC07}"/>
              </a:ext>
            </a:extLst>
          </p:cNvPr>
          <p:cNvCxnSpPr>
            <a:cxnSpLocks/>
            <a:stCxn id="1146" idx="3"/>
            <a:endCxn id="1149" idx="1"/>
          </p:cNvCxnSpPr>
          <p:nvPr/>
        </p:nvCxnSpPr>
        <p:spPr>
          <a:xfrm>
            <a:off x="17807344" y="21994979"/>
            <a:ext cx="64081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149" name="図 1148" descr="建物, グループ, テーブル, フロント が含まれている画像&#10;&#10;自動的に生成された説明">
            <a:extLst>
              <a:ext uri="{FF2B5EF4-FFF2-40B4-BE49-F238E27FC236}">
                <a16:creationId xmlns:a16="http://schemas.microsoft.com/office/drawing/2014/main" id="{33DDDCD7-6F8E-A296-2B30-C232ADF900D4}"/>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18448160" y="21108100"/>
            <a:ext cx="1773758" cy="1773758"/>
          </a:xfrm>
          <a:prstGeom prst="rect">
            <a:avLst/>
          </a:prstGeom>
        </p:spPr>
      </p:pic>
      <p:cxnSp>
        <p:nvCxnSpPr>
          <p:cNvPr id="1150" name="直線コネクタ 1149">
            <a:extLst>
              <a:ext uri="{FF2B5EF4-FFF2-40B4-BE49-F238E27FC236}">
                <a16:creationId xmlns:a16="http://schemas.microsoft.com/office/drawing/2014/main" id="{4441BDEB-8EBE-4475-3682-D7C1ACF9BECE}"/>
              </a:ext>
            </a:extLst>
          </p:cNvPr>
          <p:cNvCxnSpPr/>
          <p:nvPr/>
        </p:nvCxnSpPr>
        <p:spPr>
          <a:xfrm>
            <a:off x="18824207" y="21108100"/>
            <a:ext cx="0" cy="1773758"/>
          </a:xfrm>
          <a:prstGeom prst="line">
            <a:avLst/>
          </a:prstGeom>
          <a:ln w="38100">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1151" name="直線コネクタ 1150">
            <a:extLst>
              <a:ext uri="{FF2B5EF4-FFF2-40B4-BE49-F238E27FC236}">
                <a16:creationId xmlns:a16="http://schemas.microsoft.com/office/drawing/2014/main" id="{64564208-C03D-B2D2-AA5A-23A450F8CD3C}"/>
              </a:ext>
            </a:extLst>
          </p:cNvPr>
          <p:cNvCxnSpPr>
            <a:cxnSpLocks/>
            <a:stCxn id="1149" idx="0"/>
            <a:endCxn id="1149" idx="2"/>
          </p:cNvCxnSpPr>
          <p:nvPr/>
        </p:nvCxnSpPr>
        <p:spPr>
          <a:xfrm>
            <a:off x="19335039" y="21108100"/>
            <a:ext cx="0" cy="1773758"/>
          </a:xfrm>
          <a:prstGeom prst="line">
            <a:avLst/>
          </a:prstGeom>
          <a:ln w="38100">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1152" name="直線コネクタ 1151">
            <a:extLst>
              <a:ext uri="{FF2B5EF4-FFF2-40B4-BE49-F238E27FC236}">
                <a16:creationId xmlns:a16="http://schemas.microsoft.com/office/drawing/2014/main" id="{1E156E67-660B-07A8-090C-54E9EE6DE28B}"/>
              </a:ext>
            </a:extLst>
          </p:cNvPr>
          <p:cNvCxnSpPr>
            <a:cxnSpLocks/>
          </p:cNvCxnSpPr>
          <p:nvPr/>
        </p:nvCxnSpPr>
        <p:spPr>
          <a:xfrm>
            <a:off x="19827001" y="21108100"/>
            <a:ext cx="0" cy="1773758"/>
          </a:xfrm>
          <a:prstGeom prst="line">
            <a:avLst/>
          </a:prstGeom>
          <a:ln w="38100">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1153" name="直線コネクタ 1152">
            <a:extLst>
              <a:ext uri="{FF2B5EF4-FFF2-40B4-BE49-F238E27FC236}">
                <a16:creationId xmlns:a16="http://schemas.microsoft.com/office/drawing/2014/main" id="{635BB57E-D566-4919-7991-FC1600DE4B20}"/>
              </a:ext>
            </a:extLst>
          </p:cNvPr>
          <p:cNvCxnSpPr>
            <a:cxnSpLocks/>
            <a:stCxn id="1149" idx="1"/>
            <a:endCxn id="1149" idx="3"/>
          </p:cNvCxnSpPr>
          <p:nvPr/>
        </p:nvCxnSpPr>
        <p:spPr>
          <a:xfrm>
            <a:off x="18448160" y="21994979"/>
            <a:ext cx="1773758" cy="0"/>
          </a:xfrm>
          <a:prstGeom prst="line">
            <a:avLst/>
          </a:prstGeom>
          <a:ln w="38100">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1154" name="直線コネクタ 1153">
            <a:extLst>
              <a:ext uri="{FF2B5EF4-FFF2-40B4-BE49-F238E27FC236}">
                <a16:creationId xmlns:a16="http://schemas.microsoft.com/office/drawing/2014/main" id="{C8C2ED2C-A44F-49AC-00B3-1AE8F1FBD2BE}"/>
              </a:ext>
            </a:extLst>
          </p:cNvPr>
          <p:cNvCxnSpPr>
            <a:cxnSpLocks/>
          </p:cNvCxnSpPr>
          <p:nvPr/>
        </p:nvCxnSpPr>
        <p:spPr>
          <a:xfrm>
            <a:off x="18448160" y="22425335"/>
            <a:ext cx="1773758" cy="0"/>
          </a:xfrm>
          <a:prstGeom prst="line">
            <a:avLst/>
          </a:prstGeom>
          <a:ln w="38100">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1155" name="直線コネクタ 1154">
            <a:extLst>
              <a:ext uri="{FF2B5EF4-FFF2-40B4-BE49-F238E27FC236}">
                <a16:creationId xmlns:a16="http://schemas.microsoft.com/office/drawing/2014/main" id="{6B7DB3F9-6C31-6CC8-812D-934A1698D3CB}"/>
              </a:ext>
            </a:extLst>
          </p:cNvPr>
          <p:cNvCxnSpPr>
            <a:cxnSpLocks/>
          </p:cNvCxnSpPr>
          <p:nvPr/>
        </p:nvCxnSpPr>
        <p:spPr>
          <a:xfrm>
            <a:off x="18448160" y="21484147"/>
            <a:ext cx="1773758" cy="0"/>
          </a:xfrm>
          <a:prstGeom prst="line">
            <a:avLst/>
          </a:prstGeom>
          <a:ln w="38100">
            <a:solidFill>
              <a:schemeClr val="bg1"/>
            </a:solidFill>
            <a:tailEnd type="none"/>
          </a:ln>
        </p:spPr>
        <p:style>
          <a:lnRef idx="1">
            <a:schemeClr val="accent1"/>
          </a:lnRef>
          <a:fillRef idx="0">
            <a:schemeClr val="accent1"/>
          </a:fillRef>
          <a:effectRef idx="0">
            <a:schemeClr val="accent1"/>
          </a:effectRef>
          <a:fontRef idx="minor">
            <a:schemeClr val="tx1"/>
          </a:fontRef>
        </p:style>
      </p:cxnSp>
      <p:sp>
        <p:nvSpPr>
          <p:cNvPr id="1157" name="台形 1156">
            <a:extLst>
              <a:ext uri="{FF2B5EF4-FFF2-40B4-BE49-F238E27FC236}">
                <a16:creationId xmlns:a16="http://schemas.microsoft.com/office/drawing/2014/main" id="{1048639C-F0A5-8288-1B42-25D25318A54E}"/>
              </a:ext>
            </a:extLst>
          </p:cNvPr>
          <p:cNvSpPr/>
          <p:nvPr/>
        </p:nvSpPr>
        <p:spPr>
          <a:xfrm rot="5400000">
            <a:off x="20643124" y="21108102"/>
            <a:ext cx="1773758" cy="1773755"/>
          </a:xfrm>
          <a:prstGeom prst="trapezoid">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kumimoji="1" lang="en-US" altLang="ja-JP" sz="3200" dirty="0">
                <a:solidFill>
                  <a:schemeClr val="tx1"/>
                </a:solidFill>
                <a:latin typeface="MS PGothic" panose="020B0600070205080204" pitchFamily="34" charset="-128"/>
                <a:ea typeface="MS PGothic" panose="020B0600070205080204" pitchFamily="34" charset="-128"/>
              </a:rPr>
              <a:t>  </a:t>
            </a:r>
            <a:r>
              <a:rPr kumimoji="1" lang="en-US" altLang="ja-JP" sz="3200" dirty="0" err="1">
                <a:solidFill>
                  <a:schemeClr val="tx1"/>
                </a:solidFill>
                <a:latin typeface="MS PGothic" panose="020B0600070205080204" pitchFamily="34" charset="-128"/>
                <a:ea typeface="MS PGothic" panose="020B0600070205080204" pitchFamily="34" charset="-128"/>
              </a:rPr>
              <a:t>ViT</a:t>
            </a:r>
            <a:endParaRPr kumimoji="1" lang="ja-JP" altLang="en-US" sz="3200" dirty="0">
              <a:solidFill>
                <a:schemeClr val="tx1"/>
              </a:solidFill>
              <a:latin typeface="MS PGothic" panose="020B0600070205080204" pitchFamily="34" charset="-128"/>
              <a:ea typeface="MS PGothic" panose="020B0600070205080204" pitchFamily="34" charset="-128"/>
            </a:endParaRPr>
          </a:p>
        </p:txBody>
      </p:sp>
      <p:cxnSp>
        <p:nvCxnSpPr>
          <p:cNvPr id="1158" name="直線矢印コネクタ 1157">
            <a:extLst>
              <a:ext uri="{FF2B5EF4-FFF2-40B4-BE49-F238E27FC236}">
                <a16:creationId xmlns:a16="http://schemas.microsoft.com/office/drawing/2014/main" id="{37A1EAED-AE0D-2812-F08E-3BA92FDDD5D0}"/>
              </a:ext>
            </a:extLst>
          </p:cNvPr>
          <p:cNvCxnSpPr>
            <a:cxnSpLocks/>
            <a:stCxn id="1149" idx="3"/>
            <a:endCxn id="1157" idx="2"/>
          </p:cNvCxnSpPr>
          <p:nvPr/>
        </p:nvCxnSpPr>
        <p:spPr>
          <a:xfrm>
            <a:off x="20221918" y="21994979"/>
            <a:ext cx="421208" cy="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60" name="テキスト ボックス 1159">
                <a:extLst>
                  <a:ext uri="{FF2B5EF4-FFF2-40B4-BE49-F238E27FC236}">
                    <a16:creationId xmlns:a16="http://schemas.microsoft.com/office/drawing/2014/main" id="{7633771B-DF59-3776-3D88-6C5BF68559A2}"/>
                  </a:ext>
                </a:extLst>
              </p:cNvPr>
              <p:cNvSpPr txBox="1"/>
              <p:nvPr/>
            </p:nvSpPr>
            <p:spPr>
              <a:xfrm>
                <a:off x="16033586" y="23672827"/>
                <a:ext cx="2287696" cy="492443"/>
              </a:xfrm>
              <a:prstGeom prst="rect">
                <a:avLst/>
              </a:prstGeom>
              <a:noFill/>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sSub>
                        <m:sSubPr>
                          <m:ctrlPr>
                            <a:rPr kumimoji="1" lang="en-US" altLang="ja-JP" sz="3200" i="1" smtClean="0">
                              <a:latin typeface="Cambria Math" panose="02040503050406030204" pitchFamily="18" charset="0"/>
                            </a:rPr>
                          </m:ctrlPr>
                        </m:sSubPr>
                        <m:e>
                          <m:r>
                            <a:rPr kumimoji="1" lang="en-US" altLang="ja-JP" sz="3200" i="1">
                              <a:latin typeface="Cambria Math" panose="02040503050406030204" pitchFamily="18" charset="0"/>
                            </a:rPr>
                            <m:t>𝑡</m:t>
                          </m:r>
                        </m:e>
                        <m:sub>
                          <m:r>
                            <a:rPr kumimoji="1" lang="en-US" altLang="ja-JP" sz="3200" i="1">
                              <a:latin typeface="Cambria Math" panose="02040503050406030204" pitchFamily="18" charset="0"/>
                            </a:rPr>
                            <m:t>1</m:t>
                          </m:r>
                        </m:sub>
                      </m:sSub>
                      <m:r>
                        <a:rPr kumimoji="1" lang="en-US" altLang="ja-JP" sz="3200" b="0" i="1" smtClean="0">
                          <a:latin typeface="Cambria Math" panose="02040503050406030204" pitchFamily="18" charset="0"/>
                        </a:rPr>
                        <m:t>,</m:t>
                      </m:r>
                      <m:sSub>
                        <m:sSubPr>
                          <m:ctrlPr>
                            <a:rPr kumimoji="1" lang="en-US" altLang="ja-JP" sz="3200" i="1">
                              <a:latin typeface="Cambria Math" panose="02040503050406030204" pitchFamily="18" charset="0"/>
                            </a:rPr>
                          </m:ctrlPr>
                        </m:sSubPr>
                        <m:e>
                          <m:r>
                            <a:rPr kumimoji="1" lang="en-US" altLang="ja-JP" sz="3200" i="1">
                              <a:latin typeface="Cambria Math" panose="02040503050406030204" pitchFamily="18" charset="0"/>
                            </a:rPr>
                            <m:t>𝑡</m:t>
                          </m:r>
                        </m:e>
                        <m:sub>
                          <m:r>
                            <a:rPr kumimoji="1" lang="en-US" altLang="ja-JP" sz="3200" b="0" i="1" smtClean="0">
                              <a:latin typeface="Cambria Math" panose="02040503050406030204" pitchFamily="18" charset="0"/>
                            </a:rPr>
                            <m:t>2</m:t>
                          </m:r>
                        </m:sub>
                      </m:sSub>
                      <m:r>
                        <a:rPr kumimoji="1" lang="en-US" altLang="ja-JP" sz="3200" b="0" i="1" smtClean="0">
                          <a:latin typeface="Cambria Math" panose="02040503050406030204" pitchFamily="18" charset="0"/>
                        </a:rPr>
                        <m:t>,</m:t>
                      </m:r>
                      <m:sSub>
                        <m:sSubPr>
                          <m:ctrlPr>
                            <a:rPr kumimoji="1" lang="en-US" altLang="ja-JP" sz="3200" i="1">
                              <a:latin typeface="Cambria Math" panose="02040503050406030204" pitchFamily="18" charset="0"/>
                            </a:rPr>
                          </m:ctrlPr>
                        </m:sSubPr>
                        <m:e>
                          <m:r>
                            <a:rPr kumimoji="1" lang="en-US" altLang="ja-JP" sz="3200" i="1">
                              <a:latin typeface="Cambria Math" panose="02040503050406030204" pitchFamily="18" charset="0"/>
                            </a:rPr>
                            <m:t>𝑡</m:t>
                          </m:r>
                        </m:e>
                        <m:sub>
                          <m:r>
                            <a:rPr kumimoji="1" lang="en-US" altLang="ja-JP" sz="3200" b="0" i="1" smtClean="0">
                              <a:latin typeface="Cambria Math" panose="02040503050406030204" pitchFamily="18" charset="0"/>
                            </a:rPr>
                            <m:t>3</m:t>
                          </m:r>
                        </m:sub>
                      </m:sSub>
                      <m:r>
                        <a:rPr kumimoji="1" lang="en-US" altLang="ja-JP" sz="3200" b="0" i="1" smtClean="0">
                          <a:latin typeface="Cambria Math" panose="02040503050406030204" pitchFamily="18" charset="0"/>
                        </a:rPr>
                        <m:t>…</m:t>
                      </m:r>
                    </m:oMath>
                  </m:oMathPara>
                </a14:m>
                <a:endParaRPr kumimoji="1" lang="ja-JP" altLang="en-US" sz="3200" dirty="0"/>
              </a:p>
            </p:txBody>
          </p:sp>
        </mc:Choice>
        <mc:Fallback xmlns="">
          <p:sp>
            <p:nvSpPr>
              <p:cNvPr id="1160" name="テキスト ボックス 1159">
                <a:extLst>
                  <a:ext uri="{FF2B5EF4-FFF2-40B4-BE49-F238E27FC236}">
                    <a16:creationId xmlns:a16="http://schemas.microsoft.com/office/drawing/2014/main" id="{7633771B-DF59-3776-3D88-6C5BF68559A2}"/>
                  </a:ext>
                </a:extLst>
              </p:cNvPr>
              <p:cNvSpPr txBox="1">
                <a:spLocks noRot="1" noChangeAspect="1" noMove="1" noResize="1" noEditPoints="1" noAdjustHandles="1" noChangeArrowheads="1" noChangeShapeType="1" noTextEdit="1"/>
              </p:cNvSpPr>
              <p:nvPr/>
            </p:nvSpPr>
            <p:spPr>
              <a:xfrm>
                <a:off x="16033586" y="23672827"/>
                <a:ext cx="2287696" cy="492443"/>
              </a:xfrm>
              <a:prstGeom prst="rect">
                <a:avLst/>
              </a:prstGeom>
              <a:blipFill>
                <a:blip r:embed="rId18"/>
                <a:stretch>
                  <a:fillRect b="-17500"/>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1161" name="テキスト ボックス 1160">
                <a:extLst>
                  <a:ext uri="{FF2B5EF4-FFF2-40B4-BE49-F238E27FC236}">
                    <a16:creationId xmlns:a16="http://schemas.microsoft.com/office/drawing/2014/main" id="{73B887D7-630B-1DE8-9BB5-5DAD5B0229B2}"/>
                  </a:ext>
                </a:extLst>
              </p:cNvPr>
              <p:cNvSpPr txBox="1"/>
              <p:nvPr/>
            </p:nvSpPr>
            <p:spPr>
              <a:xfrm>
                <a:off x="22182588" y="20579809"/>
                <a:ext cx="3265814" cy="492443"/>
              </a:xfrm>
              <a:prstGeom prst="rect">
                <a:avLst/>
              </a:prstGeom>
              <a:noFill/>
            </p:spPr>
            <p:txBody>
              <a:bodyPr wrap="square" lIns="0" tIns="0" rIns="0" bIns="0" rtlCol="0">
                <a:spAutoFit/>
              </a:bodyPr>
              <a:lstStyle/>
              <a:p>
                <a:pPr algn="ctr"/>
                <a:r>
                  <a:rPr kumimoji="1" lang="en-US" altLang="ja-JP" sz="3200" dirty="0">
                    <a:latin typeface="MS PGothic" panose="020B0600070205080204" pitchFamily="34" charset="-128"/>
                    <a:ea typeface="MS PGothic" panose="020B0600070205080204" pitchFamily="34" charset="-128"/>
                  </a:rPr>
                  <a:t>Image Feature(</a:t>
                </a:r>
                <a14:m>
                  <m:oMath xmlns:m="http://schemas.openxmlformats.org/officeDocument/2006/math">
                    <m:r>
                      <a:rPr kumimoji="1" lang="en-US" altLang="ja-JP" sz="3200" b="1" spc="-100">
                        <a:latin typeface="Cambria Math" panose="02040503050406030204" pitchFamily="18" charset="0"/>
                        <a:ea typeface="MS PGothic" panose="020B0600070205080204" pitchFamily="34" charset="-128"/>
                      </a:rPr>
                      <m:t>𝐘</m:t>
                    </m:r>
                  </m:oMath>
                </a14:m>
                <a:r>
                  <a:rPr kumimoji="1" lang="en-US" altLang="ja-JP" sz="3200" dirty="0">
                    <a:latin typeface="MS PGothic" panose="020B0600070205080204" pitchFamily="34" charset="-128"/>
                    <a:ea typeface="MS PGothic" panose="020B0600070205080204" pitchFamily="34" charset="-128"/>
                  </a:rPr>
                  <a:t>)</a:t>
                </a:r>
                <a:endParaRPr kumimoji="1" lang="ja-JP" altLang="en-US" sz="3200" dirty="0">
                  <a:latin typeface="MS PGothic" panose="020B0600070205080204" pitchFamily="34" charset="-128"/>
                  <a:ea typeface="MS PGothic" panose="020B0600070205080204" pitchFamily="34" charset="-128"/>
                </a:endParaRPr>
              </a:p>
            </p:txBody>
          </p:sp>
        </mc:Choice>
        <mc:Fallback>
          <p:sp>
            <p:nvSpPr>
              <p:cNvPr id="1161" name="テキスト ボックス 1160">
                <a:extLst>
                  <a:ext uri="{FF2B5EF4-FFF2-40B4-BE49-F238E27FC236}">
                    <a16:creationId xmlns:a16="http://schemas.microsoft.com/office/drawing/2014/main" id="{73B887D7-630B-1DE8-9BB5-5DAD5B0229B2}"/>
                  </a:ext>
                </a:extLst>
              </p:cNvPr>
              <p:cNvSpPr txBox="1">
                <a:spLocks noRot="1" noChangeAspect="1" noMove="1" noResize="1" noEditPoints="1" noAdjustHandles="1" noChangeArrowheads="1" noChangeShapeType="1" noTextEdit="1"/>
              </p:cNvSpPr>
              <p:nvPr/>
            </p:nvSpPr>
            <p:spPr>
              <a:xfrm>
                <a:off x="22182588" y="20579809"/>
                <a:ext cx="3265814" cy="492443"/>
              </a:xfrm>
              <a:prstGeom prst="rect">
                <a:avLst/>
              </a:prstGeom>
              <a:blipFill>
                <a:blip r:embed="rId19"/>
                <a:stretch>
                  <a:fillRect l="-1931" t="-27500" r="-1544" b="-42500"/>
                </a:stretch>
              </a:blipFill>
            </p:spPr>
            <p:txBody>
              <a:bodyPr/>
              <a:lstStyle/>
              <a:p>
                <a:r>
                  <a:rPr lang="ja-JP" altLang="en-US">
                    <a:noFill/>
                  </a:rPr>
                  <a:t> </a:t>
                </a:r>
              </a:p>
            </p:txBody>
          </p:sp>
        </mc:Fallback>
      </mc:AlternateContent>
      <p:cxnSp>
        <p:nvCxnSpPr>
          <p:cNvPr id="1163" name="直線矢印コネクタ 1162">
            <a:extLst>
              <a:ext uri="{FF2B5EF4-FFF2-40B4-BE49-F238E27FC236}">
                <a16:creationId xmlns:a16="http://schemas.microsoft.com/office/drawing/2014/main" id="{8DB3115E-D3C7-BBF4-F652-3D0F428D0D76}"/>
              </a:ext>
            </a:extLst>
          </p:cNvPr>
          <p:cNvCxnSpPr>
            <a:cxnSpLocks/>
            <a:stCxn id="1160" idx="3"/>
          </p:cNvCxnSpPr>
          <p:nvPr/>
        </p:nvCxnSpPr>
        <p:spPr>
          <a:xfrm>
            <a:off x="18321282" y="23919049"/>
            <a:ext cx="143260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64" name="テキスト ボックス 1163">
            <a:extLst>
              <a:ext uri="{FF2B5EF4-FFF2-40B4-BE49-F238E27FC236}">
                <a16:creationId xmlns:a16="http://schemas.microsoft.com/office/drawing/2014/main" id="{02F39193-580F-5078-3DC8-8196FC9758C6}"/>
              </a:ext>
            </a:extLst>
          </p:cNvPr>
          <p:cNvSpPr txBox="1"/>
          <p:nvPr/>
        </p:nvSpPr>
        <p:spPr>
          <a:xfrm>
            <a:off x="19710515" y="24811209"/>
            <a:ext cx="1860492" cy="492443"/>
          </a:xfrm>
          <a:prstGeom prst="rect">
            <a:avLst/>
          </a:prstGeom>
          <a:noFill/>
        </p:spPr>
        <p:txBody>
          <a:bodyPr wrap="square" lIns="0" tIns="0" rIns="0" bIns="0" rtlCol="0">
            <a:spAutoFit/>
          </a:bodyPr>
          <a:lstStyle/>
          <a:p>
            <a:pPr algn="ctr"/>
            <a:r>
              <a:rPr kumimoji="1" lang="en-US" altLang="ja-JP" sz="3200" dirty="0">
                <a:latin typeface="MS PGothic" panose="020B0600070205080204" pitchFamily="34" charset="-128"/>
                <a:ea typeface="MS PGothic" panose="020B0600070205080204" pitchFamily="34" charset="-128"/>
              </a:rPr>
              <a:t>Embedding</a:t>
            </a:r>
            <a:endParaRPr kumimoji="1" lang="ja-JP" altLang="en-US" sz="3200" dirty="0">
              <a:latin typeface="MS PGothic" panose="020B0600070205080204" pitchFamily="34" charset="-128"/>
              <a:ea typeface="MS PGothic" panose="020B0600070205080204" pitchFamily="34" charset="-128"/>
            </a:endParaRPr>
          </a:p>
        </p:txBody>
      </p:sp>
      <p:cxnSp>
        <p:nvCxnSpPr>
          <p:cNvPr id="1166" name="直線矢印コネクタ 87">
            <a:extLst>
              <a:ext uri="{FF2B5EF4-FFF2-40B4-BE49-F238E27FC236}">
                <a16:creationId xmlns:a16="http://schemas.microsoft.com/office/drawing/2014/main" id="{024D052E-4EF3-29FD-BB26-D7CD5D1ABB5A}"/>
              </a:ext>
            </a:extLst>
          </p:cNvPr>
          <p:cNvCxnSpPr>
            <a:cxnSpLocks/>
            <a:stCxn id="33" idx="3"/>
          </p:cNvCxnSpPr>
          <p:nvPr/>
        </p:nvCxnSpPr>
        <p:spPr>
          <a:xfrm>
            <a:off x="24702368" y="21994486"/>
            <a:ext cx="626037" cy="1040293"/>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7" name="直線矢印コネクタ 1166">
            <a:extLst>
              <a:ext uri="{FF2B5EF4-FFF2-40B4-BE49-F238E27FC236}">
                <a16:creationId xmlns:a16="http://schemas.microsoft.com/office/drawing/2014/main" id="{81903D3E-D029-5394-67D1-5AEAFD02DE9F}"/>
              </a:ext>
            </a:extLst>
          </p:cNvPr>
          <p:cNvCxnSpPr>
            <a:cxnSpLocks/>
          </p:cNvCxnSpPr>
          <p:nvPr/>
        </p:nvCxnSpPr>
        <p:spPr>
          <a:xfrm flipV="1">
            <a:off x="21527639" y="23916375"/>
            <a:ext cx="2913890" cy="267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68" name="テキスト ボックス 1167">
                <a:extLst>
                  <a:ext uri="{FF2B5EF4-FFF2-40B4-BE49-F238E27FC236}">
                    <a16:creationId xmlns:a16="http://schemas.microsoft.com/office/drawing/2014/main" id="{D52DD402-0E59-ADF5-DF1D-234D6AA53AD4}"/>
                  </a:ext>
                </a:extLst>
              </p:cNvPr>
              <p:cNvSpPr txBox="1"/>
              <p:nvPr/>
            </p:nvSpPr>
            <p:spPr>
              <a:xfrm>
                <a:off x="22523057" y="23525746"/>
                <a:ext cx="811119" cy="738664"/>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kumimoji="1" lang="ja-JP" altLang="en-US" sz="4800" i="1" smtClean="0">
                          <a:latin typeface="Cambria Math" panose="02040503050406030204" pitchFamily="18" charset="0"/>
                          <a:ea typeface="Cambria Math" panose="02040503050406030204" pitchFamily="18" charset="0"/>
                        </a:rPr>
                        <m:t> </m:t>
                      </m:r>
                      <m:r>
                        <a:rPr kumimoji="1" lang="en-US" altLang="ja-JP" sz="4800" b="0" i="1" smtClean="0">
                          <a:latin typeface="Cambria Math" panose="02040503050406030204" pitchFamily="18" charset="0"/>
                          <a:ea typeface="Cambria Math" panose="02040503050406030204" pitchFamily="18" charset="0"/>
                        </a:rPr>
                        <m:t>⨁</m:t>
                      </m:r>
                    </m:oMath>
                  </m:oMathPara>
                </a14:m>
                <a:endParaRPr kumimoji="1" lang="ja-JP" altLang="en-US" sz="4800" dirty="0"/>
              </a:p>
            </p:txBody>
          </p:sp>
        </mc:Choice>
        <mc:Fallback xmlns="">
          <p:sp>
            <p:nvSpPr>
              <p:cNvPr id="1168" name="テキスト ボックス 1167">
                <a:extLst>
                  <a:ext uri="{FF2B5EF4-FFF2-40B4-BE49-F238E27FC236}">
                    <a16:creationId xmlns:a16="http://schemas.microsoft.com/office/drawing/2014/main" id="{D52DD402-0E59-ADF5-DF1D-234D6AA53AD4}"/>
                  </a:ext>
                </a:extLst>
              </p:cNvPr>
              <p:cNvSpPr txBox="1">
                <a:spLocks noRot="1" noChangeAspect="1" noMove="1" noResize="1" noEditPoints="1" noAdjustHandles="1" noChangeArrowheads="1" noChangeShapeType="1" noTextEdit="1"/>
              </p:cNvSpPr>
              <p:nvPr/>
            </p:nvSpPr>
            <p:spPr>
              <a:xfrm>
                <a:off x="22523057" y="23525746"/>
                <a:ext cx="811119" cy="738664"/>
              </a:xfrm>
              <a:prstGeom prst="rect">
                <a:avLst/>
              </a:prstGeom>
              <a:blipFill>
                <a:blip r:embed="rId20"/>
                <a:stretch>
                  <a:fillRect l="-36923" t="-6780" r="-12308" b="-37288"/>
                </a:stretch>
              </a:blipFill>
            </p:spPr>
            <p:txBody>
              <a:bodyPr/>
              <a:lstStyle/>
              <a:p>
                <a:r>
                  <a:rPr lang="ja-JP" altLang="en-US">
                    <a:noFill/>
                  </a:rPr>
                  <a:t> </a:t>
                </a:r>
              </a:p>
            </p:txBody>
          </p:sp>
        </mc:Fallback>
      </mc:AlternateContent>
      <p:cxnSp>
        <p:nvCxnSpPr>
          <p:cNvPr id="1169" name="直線矢印コネクタ 1168">
            <a:extLst>
              <a:ext uri="{FF2B5EF4-FFF2-40B4-BE49-F238E27FC236}">
                <a16:creationId xmlns:a16="http://schemas.microsoft.com/office/drawing/2014/main" id="{E8E9135C-3FC0-C457-E386-6D0AE79C0180}"/>
              </a:ext>
            </a:extLst>
          </p:cNvPr>
          <p:cNvCxnSpPr>
            <a:cxnSpLocks/>
            <a:stCxn id="1171" idx="0"/>
            <a:endCxn id="1168" idx="2"/>
          </p:cNvCxnSpPr>
          <p:nvPr/>
        </p:nvCxnSpPr>
        <p:spPr>
          <a:xfrm flipV="1">
            <a:off x="22928617" y="24264410"/>
            <a:ext cx="0" cy="46977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70" name="テキスト ボックス 1169">
            <a:extLst>
              <a:ext uri="{FF2B5EF4-FFF2-40B4-BE49-F238E27FC236}">
                <a16:creationId xmlns:a16="http://schemas.microsoft.com/office/drawing/2014/main" id="{9C193929-DB38-CB45-5873-301E7ACFF8F1}"/>
              </a:ext>
            </a:extLst>
          </p:cNvPr>
          <p:cNvSpPr txBox="1"/>
          <p:nvPr/>
        </p:nvSpPr>
        <p:spPr>
          <a:xfrm>
            <a:off x="21281111" y="25257992"/>
            <a:ext cx="3295005" cy="492443"/>
          </a:xfrm>
          <a:prstGeom prst="rect">
            <a:avLst/>
          </a:prstGeom>
          <a:noFill/>
        </p:spPr>
        <p:txBody>
          <a:bodyPr wrap="square" lIns="0" tIns="0" rIns="0" bIns="0" rtlCol="0">
            <a:spAutoFit/>
          </a:bodyPr>
          <a:lstStyle/>
          <a:p>
            <a:pPr algn="ctr"/>
            <a:r>
              <a:rPr kumimoji="1" lang="en-US" altLang="ja-JP" sz="3200" dirty="0">
                <a:latin typeface="MS PGothic" panose="020B0600070205080204" pitchFamily="34" charset="-128"/>
                <a:ea typeface="MS PGothic" panose="020B0600070205080204" pitchFamily="34" charset="-128"/>
              </a:rPr>
              <a:t>Position Encoding</a:t>
            </a:r>
            <a:endParaRPr kumimoji="1" lang="ja-JP" altLang="en-US" sz="3200" dirty="0">
              <a:latin typeface="MS PGothic" panose="020B0600070205080204" pitchFamily="34" charset="-128"/>
              <a:ea typeface="MS PGothic" panose="020B0600070205080204" pitchFamily="34" charset="-128"/>
            </a:endParaRPr>
          </a:p>
        </p:txBody>
      </p:sp>
      <p:pic>
        <p:nvPicPr>
          <p:cNvPr id="1171" name="Picture 4" descr="Generated by DALL·E">
            <a:extLst>
              <a:ext uri="{FF2B5EF4-FFF2-40B4-BE49-F238E27FC236}">
                <a16:creationId xmlns:a16="http://schemas.microsoft.com/office/drawing/2014/main" id="{71535987-A555-F280-967D-493E065927C6}"/>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2625140" y="24734186"/>
            <a:ext cx="606953" cy="606953"/>
          </a:xfrm>
          <a:prstGeom prst="rect">
            <a:avLst/>
          </a:prstGeom>
          <a:noFill/>
          <a:extLst>
            <a:ext uri="{909E8E84-426E-40DD-AFC4-6F175D3DCCD1}">
              <a14:hiddenFill xmlns:a14="http://schemas.microsoft.com/office/drawing/2010/main">
                <a:solidFill>
                  <a:srgbClr val="FFFFFF"/>
                </a:solidFill>
              </a14:hiddenFill>
            </a:ext>
          </a:extLst>
        </p:spPr>
      </p:pic>
      <p:cxnSp>
        <p:nvCxnSpPr>
          <p:cNvPr id="1173" name="直線矢印コネクタ 1172">
            <a:extLst>
              <a:ext uri="{FF2B5EF4-FFF2-40B4-BE49-F238E27FC236}">
                <a16:creationId xmlns:a16="http://schemas.microsoft.com/office/drawing/2014/main" id="{8B68D119-3A89-3D52-B573-1445BDE87439}"/>
              </a:ext>
            </a:extLst>
          </p:cNvPr>
          <p:cNvCxnSpPr>
            <a:cxnSpLocks/>
            <a:endCxn id="1184" idx="1"/>
          </p:cNvCxnSpPr>
          <p:nvPr/>
        </p:nvCxnSpPr>
        <p:spPr>
          <a:xfrm>
            <a:off x="26215281" y="23916375"/>
            <a:ext cx="640622"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74" name="テキスト ボックス 1173">
            <a:extLst>
              <a:ext uri="{FF2B5EF4-FFF2-40B4-BE49-F238E27FC236}">
                <a16:creationId xmlns:a16="http://schemas.microsoft.com/office/drawing/2014/main" id="{63BA74A3-C1E3-B90F-72F3-5B1E8D578222}"/>
              </a:ext>
            </a:extLst>
          </p:cNvPr>
          <p:cNvSpPr txBox="1"/>
          <p:nvPr/>
        </p:nvSpPr>
        <p:spPr>
          <a:xfrm>
            <a:off x="23870414" y="24810121"/>
            <a:ext cx="2933659" cy="492443"/>
          </a:xfrm>
          <a:prstGeom prst="rect">
            <a:avLst/>
          </a:prstGeom>
          <a:noFill/>
        </p:spPr>
        <p:txBody>
          <a:bodyPr wrap="square" lIns="0" tIns="0" rIns="0" bIns="0" rtlCol="0">
            <a:spAutoFit/>
          </a:bodyPr>
          <a:lstStyle/>
          <a:p>
            <a:pPr algn="ctr"/>
            <a:r>
              <a:rPr kumimoji="1" lang="en-US" altLang="ja-JP" sz="3200" dirty="0">
                <a:latin typeface="MS PGothic" panose="020B0600070205080204" pitchFamily="34" charset="-128"/>
                <a:ea typeface="MS PGothic" panose="020B0600070205080204" pitchFamily="34" charset="-128"/>
              </a:rPr>
              <a:t>Cross-Attention</a:t>
            </a:r>
            <a:endParaRPr kumimoji="1" lang="ja-JP" altLang="en-US" sz="3200" dirty="0">
              <a:latin typeface="MS PGothic" panose="020B0600070205080204" pitchFamily="34" charset="-128"/>
              <a:ea typeface="MS PGothic" panose="020B0600070205080204" pitchFamily="34" charset="-128"/>
            </a:endParaRPr>
          </a:p>
        </p:txBody>
      </p:sp>
      <p:cxnSp>
        <p:nvCxnSpPr>
          <p:cNvPr id="1175" name="直線矢印コネクタ 1174">
            <a:extLst>
              <a:ext uri="{FF2B5EF4-FFF2-40B4-BE49-F238E27FC236}">
                <a16:creationId xmlns:a16="http://schemas.microsoft.com/office/drawing/2014/main" id="{C081ECAE-29F7-EBED-8DD9-BB9333D3B8EC}"/>
              </a:ext>
            </a:extLst>
          </p:cNvPr>
          <p:cNvCxnSpPr>
            <a:cxnSpLocks/>
            <a:stCxn id="1157" idx="0"/>
            <a:endCxn id="33" idx="1"/>
          </p:cNvCxnSpPr>
          <p:nvPr/>
        </p:nvCxnSpPr>
        <p:spPr>
          <a:xfrm flipV="1">
            <a:off x="22416881" y="21994486"/>
            <a:ext cx="511731" cy="49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77" name="テキスト ボックス 1176">
            <a:extLst>
              <a:ext uri="{FF2B5EF4-FFF2-40B4-BE49-F238E27FC236}">
                <a16:creationId xmlns:a16="http://schemas.microsoft.com/office/drawing/2014/main" id="{A26DE7CF-CE22-4742-1657-9A10329EF0F0}"/>
              </a:ext>
            </a:extLst>
          </p:cNvPr>
          <p:cNvSpPr txBox="1"/>
          <p:nvPr/>
        </p:nvSpPr>
        <p:spPr>
          <a:xfrm>
            <a:off x="19486372" y="25727768"/>
            <a:ext cx="6884481" cy="584775"/>
          </a:xfrm>
          <a:prstGeom prst="rect">
            <a:avLst/>
          </a:prstGeom>
          <a:noFill/>
        </p:spPr>
        <p:txBody>
          <a:bodyPr wrap="square" rtlCol="0">
            <a:spAutoFit/>
          </a:bodyPr>
          <a:lstStyle/>
          <a:p>
            <a:pPr algn="ctr"/>
            <a:r>
              <a:rPr kumimoji="1" lang="ja-JP" altLang="en-US" sz="3200">
                <a:latin typeface="MS PGothic" panose="020B0600070205080204" pitchFamily="34" charset="-128"/>
                <a:ea typeface="MS PGothic" panose="020B0600070205080204" pitchFamily="34" charset="-128"/>
              </a:rPr>
              <a:t>図</a:t>
            </a:r>
            <a:r>
              <a:rPr kumimoji="1" lang="en-US" altLang="ja-JP" sz="3200" dirty="0">
                <a:latin typeface="MS PGothic" panose="020B0600070205080204" pitchFamily="34" charset="-128"/>
                <a:ea typeface="MS PGothic" panose="020B0600070205080204" pitchFamily="34" charset="-128"/>
              </a:rPr>
              <a:t>4</a:t>
            </a:r>
            <a:r>
              <a:rPr kumimoji="1" lang="ja-JP" altLang="en-US" sz="3200">
                <a:latin typeface="MS PGothic" panose="020B0600070205080204" pitchFamily="34" charset="-128"/>
                <a:ea typeface="MS PGothic" panose="020B0600070205080204" pitchFamily="34" charset="-128"/>
              </a:rPr>
              <a:t>　</a:t>
            </a:r>
            <a:r>
              <a:rPr kumimoji="1" lang="ja-JP" altLang="en-US" sz="3200" dirty="0">
                <a:latin typeface="MS PGothic" panose="020B0600070205080204" pitchFamily="34" charset="-128"/>
                <a:ea typeface="MS PGothic" panose="020B0600070205080204" pitchFamily="34" charset="-128"/>
              </a:rPr>
              <a:t>提案手法の構造</a:t>
            </a:r>
            <a:endParaRPr kumimoji="1" lang="en-US" altLang="ja-JP" sz="3200" dirty="0">
              <a:latin typeface="MS PGothic" panose="020B0600070205080204" pitchFamily="34" charset="-128"/>
              <a:ea typeface="MS PGothic" panose="020B0600070205080204" pitchFamily="34" charset="-128"/>
            </a:endParaRPr>
          </a:p>
        </p:txBody>
      </p:sp>
      <mc:AlternateContent xmlns:mc="http://schemas.openxmlformats.org/markup-compatibility/2006" xmlns:a14="http://schemas.microsoft.com/office/drawing/2010/main">
        <mc:Choice Requires="a14">
          <p:sp>
            <p:nvSpPr>
              <p:cNvPr id="1178" name="テキスト ボックス 1177">
                <a:extLst>
                  <a:ext uri="{FF2B5EF4-FFF2-40B4-BE49-F238E27FC236}">
                    <a16:creationId xmlns:a16="http://schemas.microsoft.com/office/drawing/2014/main" id="{319DACB7-A2D9-3CFF-081F-E930545CAF4F}"/>
                  </a:ext>
                </a:extLst>
              </p:cNvPr>
              <p:cNvSpPr txBox="1"/>
              <p:nvPr/>
            </p:nvSpPr>
            <p:spPr>
              <a:xfrm>
                <a:off x="25589249" y="22550133"/>
                <a:ext cx="628954" cy="492443"/>
              </a:xfrm>
              <a:prstGeom prst="rect">
                <a:avLst/>
              </a:prstGeom>
              <a:noFill/>
            </p:spPr>
            <p:txBody>
              <a:bodyPr wrap="none" lIns="0" tIns="0" rIns="0" bIns="0" rtlCol="0">
                <a:spAutoFit/>
              </a:bodyPr>
              <a:lstStyle/>
              <a:p>
                <a:pPr algn="ctr"/>
                <a14:m>
                  <m:oMathPara xmlns:m="http://schemas.openxmlformats.org/officeDocument/2006/math">
                    <m:oMathParaPr>
                      <m:jc m:val="center"/>
                    </m:oMathParaPr>
                    <m:oMath xmlns:m="http://schemas.openxmlformats.org/officeDocument/2006/math">
                      <m:r>
                        <a:rPr kumimoji="1" lang="en-US" altLang="ja-JP" sz="3200" b="0" i="1" smtClean="0">
                          <a:latin typeface="Cambria Math" panose="02040503050406030204" pitchFamily="18" charset="0"/>
                          <a:ea typeface="Cambria Math" panose="02040503050406030204" pitchFamily="18" charset="0"/>
                        </a:rPr>
                        <m:t>×</m:t>
                      </m:r>
                      <m:r>
                        <a:rPr kumimoji="1" lang="en-US" altLang="ja-JP" sz="3200" b="0" i="1" smtClean="0">
                          <a:latin typeface="Cambria Math" panose="02040503050406030204" pitchFamily="18" charset="0"/>
                          <a:ea typeface="Cambria Math" panose="02040503050406030204" pitchFamily="18" charset="0"/>
                        </a:rPr>
                        <m:t>𝑛</m:t>
                      </m:r>
                    </m:oMath>
                  </m:oMathPara>
                </a14:m>
                <a:endParaRPr kumimoji="1" lang="ja-JP" altLang="en-US" sz="3200" dirty="0"/>
              </a:p>
            </p:txBody>
          </p:sp>
        </mc:Choice>
        <mc:Fallback xmlns="">
          <p:sp>
            <p:nvSpPr>
              <p:cNvPr id="1178" name="テキスト ボックス 1177">
                <a:extLst>
                  <a:ext uri="{FF2B5EF4-FFF2-40B4-BE49-F238E27FC236}">
                    <a16:creationId xmlns:a16="http://schemas.microsoft.com/office/drawing/2014/main" id="{319DACB7-A2D9-3CFF-081F-E930545CAF4F}"/>
                  </a:ext>
                </a:extLst>
              </p:cNvPr>
              <p:cNvSpPr txBox="1">
                <a:spLocks noRot="1" noChangeAspect="1" noMove="1" noResize="1" noEditPoints="1" noAdjustHandles="1" noChangeArrowheads="1" noChangeShapeType="1" noTextEdit="1"/>
              </p:cNvSpPr>
              <p:nvPr/>
            </p:nvSpPr>
            <p:spPr>
              <a:xfrm>
                <a:off x="25589249" y="22550133"/>
                <a:ext cx="628954" cy="492443"/>
              </a:xfrm>
              <a:prstGeom prst="rect">
                <a:avLst/>
              </a:prstGeom>
              <a:blipFill>
                <a:blip r:embed="rId22"/>
                <a:stretch>
                  <a:fillRect l="-20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184" name="テキスト ボックス 1183">
                <a:extLst>
                  <a:ext uri="{FF2B5EF4-FFF2-40B4-BE49-F238E27FC236}">
                    <a16:creationId xmlns:a16="http://schemas.microsoft.com/office/drawing/2014/main" id="{F8E26B51-1FAE-E2AA-B2DB-2DD1F9CACE66}"/>
                  </a:ext>
                </a:extLst>
              </p:cNvPr>
              <p:cNvSpPr txBox="1"/>
              <p:nvPr/>
            </p:nvSpPr>
            <p:spPr>
              <a:xfrm>
                <a:off x="26855903" y="23670153"/>
                <a:ext cx="2465849" cy="492443"/>
              </a:xfrm>
              <a:prstGeom prst="rect">
                <a:avLst/>
              </a:prstGeom>
              <a:noFill/>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acc>
                        <m:accPr>
                          <m:chr m:val="̃"/>
                          <m:ctrlPr>
                            <a:rPr kumimoji="1" lang="ja-JP" altLang="en-US" sz="3200" i="1" smtClean="0">
                              <a:latin typeface="Cambria Math" panose="02040503050406030204" pitchFamily="18" charset="0"/>
                            </a:rPr>
                          </m:ctrlPr>
                        </m:accPr>
                        <m:e>
                          <m:sSub>
                            <m:sSubPr>
                              <m:ctrlPr>
                                <a:rPr kumimoji="1" lang="en-US" altLang="ja-JP" sz="3200" i="1">
                                  <a:latin typeface="Cambria Math" panose="02040503050406030204" pitchFamily="18" charset="0"/>
                                </a:rPr>
                              </m:ctrlPr>
                            </m:sSubPr>
                            <m:e>
                              <m:r>
                                <a:rPr kumimoji="1" lang="en-US" altLang="ja-JP" sz="3200" i="1">
                                  <a:latin typeface="Cambria Math" panose="02040503050406030204" pitchFamily="18" charset="0"/>
                                </a:rPr>
                                <m:t>𝑡</m:t>
                              </m:r>
                            </m:e>
                            <m:sub>
                              <m:r>
                                <a:rPr kumimoji="1" lang="en-US" altLang="ja-JP" sz="3200" i="1">
                                  <a:latin typeface="Cambria Math" panose="02040503050406030204" pitchFamily="18" charset="0"/>
                                </a:rPr>
                                <m:t>1</m:t>
                              </m:r>
                            </m:sub>
                          </m:sSub>
                        </m:e>
                      </m:acc>
                      <m:r>
                        <a:rPr kumimoji="1" lang="en-US" altLang="ja-JP" sz="3200" b="0" i="1" smtClean="0">
                          <a:latin typeface="Cambria Math" panose="02040503050406030204" pitchFamily="18" charset="0"/>
                        </a:rPr>
                        <m:t>,</m:t>
                      </m:r>
                      <m:acc>
                        <m:accPr>
                          <m:chr m:val="̃"/>
                          <m:ctrlPr>
                            <a:rPr kumimoji="1" lang="ja-JP" altLang="en-US" sz="3200" i="1">
                              <a:latin typeface="Cambria Math" panose="02040503050406030204" pitchFamily="18" charset="0"/>
                            </a:rPr>
                          </m:ctrlPr>
                        </m:accPr>
                        <m:e>
                          <m:sSub>
                            <m:sSubPr>
                              <m:ctrlPr>
                                <a:rPr kumimoji="1" lang="en-US" altLang="ja-JP" sz="3200" i="1">
                                  <a:latin typeface="Cambria Math" panose="02040503050406030204" pitchFamily="18" charset="0"/>
                                </a:rPr>
                              </m:ctrlPr>
                            </m:sSubPr>
                            <m:e>
                              <m:r>
                                <a:rPr kumimoji="1" lang="en-US" altLang="ja-JP" sz="3200" i="1">
                                  <a:latin typeface="Cambria Math" panose="02040503050406030204" pitchFamily="18" charset="0"/>
                                </a:rPr>
                                <m:t>𝑡</m:t>
                              </m:r>
                            </m:e>
                            <m:sub>
                              <m:r>
                                <a:rPr kumimoji="1" lang="en-US" altLang="ja-JP" sz="3200" b="0" i="1" smtClean="0">
                                  <a:latin typeface="Cambria Math" panose="02040503050406030204" pitchFamily="18" charset="0"/>
                                </a:rPr>
                                <m:t>2</m:t>
                              </m:r>
                            </m:sub>
                          </m:sSub>
                        </m:e>
                      </m:acc>
                      <m:r>
                        <a:rPr kumimoji="1" lang="en-US" altLang="ja-JP" sz="3200" b="0" i="1" smtClean="0">
                          <a:latin typeface="Cambria Math" panose="02040503050406030204" pitchFamily="18" charset="0"/>
                        </a:rPr>
                        <m:t>,</m:t>
                      </m:r>
                      <m:acc>
                        <m:accPr>
                          <m:chr m:val="̃"/>
                          <m:ctrlPr>
                            <a:rPr kumimoji="1" lang="ja-JP" altLang="en-US" sz="3200" i="1">
                              <a:latin typeface="Cambria Math" panose="02040503050406030204" pitchFamily="18" charset="0"/>
                            </a:rPr>
                          </m:ctrlPr>
                        </m:accPr>
                        <m:e>
                          <m:sSub>
                            <m:sSubPr>
                              <m:ctrlPr>
                                <a:rPr kumimoji="1" lang="en-US" altLang="ja-JP" sz="3200" i="1">
                                  <a:latin typeface="Cambria Math" panose="02040503050406030204" pitchFamily="18" charset="0"/>
                                </a:rPr>
                              </m:ctrlPr>
                            </m:sSubPr>
                            <m:e>
                              <m:r>
                                <a:rPr kumimoji="1" lang="en-US" altLang="ja-JP" sz="3200" i="1">
                                  <a:latin typeface="Cambria Math" panose="02040503050406030204" pitchFamily="18" charset="0"/>
                                </a:rPr>
                                <m:t>𝑡</m:t>
                              </m:r>
                            </m:e>
                            <m:sub>
                              <m:r>
                                <a:rPr kumimoji="1" lang="en-US" altLang="ja-JP" sz="3200" b="0" i="1" smtClean="0">
                                  <a:latin typeface="Cambria Math" panose="02040503050406030204" pitchFamily="18" charset="0"/>
                                </a:rPr>
                                <m:t>3</m:t>
                              </m:r>
                            </m:sub>
                          </m:sSub>
                        </m:e>
                      </m:acc>
                      <m:r>
                        <a:rPr kumimoji="1" lang="en-US" altLang="ja-JP" sz="3200" b="0" i="1" smtClean="0">
                          <a:latin typeface="Cambria Math" panose="02040503050406030204" pitchFamily="18" charset="0"/>
                        </a:rPr>
                        <m:t>…</m:t>
                      </m:r>
                    </m:oMath>
                  </m:oMathPara>
                </a14:m>
                <a:endParaRPr kumimoji="1" lang="ja-JP" altLang="en-US" sz="3200" dirty="0"/>
              </a:p>
            </p:txBody>
          </p:sp>
        </mc:Choice>
        <mc:Fallback xmlns="">
          <p:sp>
            <p:nvSpPr>
              <p:cNvPr id="1184" name="テキスト ボックス 1183">
                <a:extLst>
                  <a:ext uri="{FF2B5EF4-FFF2-40B4-BE49-F238E27FC236}">
                    <a16:creationId xmlns:a16="http://schemas.microsoft.com/office/drawing/2014/main" id="{F8E26B51-1FAE-E2AA-B2DB-2DD1F9CACE66}"/>
                  </a:ext>
                </a:extLst>
              </p:cNvPr>
              <p:cNvSpPr txBox="1">
                <a:spLocks noRot="1" noChangeAspect="1" noMove="1" noResize="1" noEditPoints="1" noAdjustHandles="1" noChangeArrowheads="1" noChangeShapeType="1" noTextEdit="1"/>
              </p:cNvSpPr>
              <p:nvPr/>
            </p:nvSpPr>
            <p:spPr>
              <a:xfrm>
                <a:off x="26855903" y="23670153"/>
                <a:ext cx="2465849" cy="492443"/>
              </a:xfrm>
              <a:prstGeom prst="rect">
                <a:avLst/>
              </a:prstGeom>
              <a:blipFill>
                <a:blip r:embed="rId23"/>
                <a:stretch>
                  <a:fillRect t="-12500" b="-15000"/>
                </a:stretch>
              </a:blipFill>
            </p:spPr>
            <p:txBody>
              <a:bodyPr/>
              <a:lstStyle/>
              <a:p>
                <a:r>
                  <a:rPr lang="ja-JP" altLang="en-US">
                    <a:noFill/>
                  </a:rPr>
                  <a:t> </a:t>
                </a:r>
              </a:p>
            </p:txBody>
          </p:sp>
        </mc:Fallback>
      </mc:AlternateContent>
      <p:pic>
        <p:nvPicPr>
          <p:cNvPr id="1188" name="図 1187" descr="建物, グループ, テーブル, フロント が含まれている画像&#10;&#10;自動的に生成された説明">
            <a:extLst>
              <a:ext uri="{FF2B5EF4-FFF2-40B4-BE49-F238E27FC236}">
                <a16:creationId xmlns:a16="http://schemas.microsoft.com/office/drawing/2014/main" id="{DC6C3158-387F-84EF-6123-1132C4470426}"/>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18469524" y="8836755"/>
            <a:ext cx="1773758" cy="1773758"/>
          </a:xfrm>
          <a:prstGeom prst="rect">
            <a:avLst/>
          </a:prstGeom>
        </p:spPr>
      </p:pic>
      <p:cxnSp>
        <p:nvCxnSpPr>
          <p:cNvPr id="1189" name="直線矢印コネクタ 1188">
            <a:extLst>
              <a:ext uri="{FF2B5EF4-FFF2-40B4-BE49-F238E27FC236}">
                <a16:creationId xmlns:a16="http://schemas.microsoft.com/office/drawing/2014/main" id="{7ADBA4C5-2605-23EB-DD76-DC4CECD243A3}"/>
              </a:ext>
            </a:extLst>
          </p:cNvPr>
          <p:cNvCxnSpPr>
            <a:cxnSpLocks/>
            <a:stCxn id="1188" idx="3"/>
            <a:endCxn id="1191" idx="1"/>
          </p:cNvCxnSpPr>
          <p:nvPr/>
        </p:nvCxnSpPr>
        <p:spPr>
          <a:xfrm>
            <a:off x="20243282" y="9723634"/>
            <a:ext cx="64081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191" name="図 1190" descr="建物, グループ, テーブル, フロント が含まれている画像&#10;&#10;自動的に生成された説明">
            <a:extLst>
              <a:ext uri="{FF2B5EF4-FFF2-40B4-BE49-F238E27FC236}">
                <a16:creationId xmlns:a16="http://schemas.microsoft.com/office/drawing/2014/main" id="{B738A283-4C81-920E-BDB8-23DE8B770CB4}"/>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20884098" y="8836755"/>
            <a:ext cx="1773758" cy="1773758"/>
          </a:xfrm>
          <a:prstGeom prst="rect">
            <a:avLst/>
          </a:prstGeom>
        </p:spPr>
      </p:pic>
      <p:cxnSp>
        <p:nvCxnSpPr>
          <p:cNvPr id="1192" name="直線コネクタ 1191">
            <a:extLst>
              <a:ext uri="{FF2B5EF4-FFF2-40B4-BE49-F238E27FC236}">
                <a16:creationId xmlns:a16="http://schemas.microsoft.com/office/drawing/2014/main" id="{F15F0E60-A1AE-95DF-6ED4-564F9555084F}"/>
              </a:ext>
            </a:extLst>
          </p:cNvPr>
          <p:cNvCxnSpPr/>
          <p:nvPr/>
        </p:nvCxnSpPr>
        <p:spPr>
          <a:xfrm>
            <a:off x="21260145" y="8836755"/>
            <a:ext cx="0" cy="1773758"/>
          </a:xfrm>
          <a:prstGeom prst="line">
            <a:avLst/>
          </a:prstGeom>
          <a:ln w="38100">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1193" name="直線コネクタ 1192">
            <a:extLst>
              <a:ext uri="{FF2B5EF4-FFF2-40B4-BE49-F238E27FC236}">
                <a16:creationId xmlns:a16="http://schemas.microsoft.com/office/drawing/2014/main" id="{F542DA58-5B0D-E468-B016-B5E4BEAD34C0}"/>
              </a:ext>
            </a:extLst>
          </p:cNvPr>
          <p:cNvCxnSpPr>
            <a:cxnSpLocks/>
            <a:stCxn id="1191" idx="0"/>
            <a:endCxn id="1191" idx="2"/>
          </p:cNvCxnSpPr>
          <p:nvPr/>
        </p:nvCxnSpPr>
        <p:spPr>
          <a:xfrm>
            <a:off x="21770977" y="8836755"/>
            <a:ext cx="0" cy="1773758"/>
          </a:xfrm>
          <a:prstGeom prst="line">
            <a:avLst/>
          </a:prstGeom>
          <a:ln w="38100">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1194" name="直線コネクタ 1193">
            <a:extLst>
              <a:ext uri="{FF2B5EF4-FFF2-40B4-BE49-F238E27FC236}">
                <a16:creationId xmlns:a16="http://schemas.microsoft.com/office/drawing/2014/main" id="{CCE0F306-291F-379F-2C7F-FE4E40D6DF9A}"/>
              </a:ext>
            </a:extLst>
          </p:cNvPr>
          <p:cNvCxnSpPr>
            <a:cxnSpLocks/>
          </p:cNvCxnSpPr>
          <p:nvPr/>
        </p:nvCxnSpPr>
        <p:spPr>
          <a:xfrm>
            <a:off x="22262939" y="8836755"/>
            <a:ext cx="0" cy="1773758"/>
          </a:xfrm>
          <a:prstGeom prst="line">
            <a:avLst/>
          </a:prstGeom>
          <a:ln w="38100">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1195" name="直線コネクタ 1194">
            <a:extLst>
              <a:ext uri="{FF2B5EF4-FFF2-40B4-BE49-F238E27FC236}">
                <a16:creationId xmlns:a16="http://schemas.microsoft.com/office/drawing/2014/main" id="{F74DE69F-4EA8-45E2-F3C5-10105F48C8E8}"/>
              </a:ext>
            </a:extLst>
          </p:cNvPr>
          <p:cNvCxnSpPr>
            <a:cxnSpLocks/>
            <a:stCxn id="1191" idx="1"/>
            <a:endCxn id="1191" idx="3"/>
          </p:cNvCxnSpPr>
          <p:nvPr/>
        </p:nvCxnSpPr>
        <p:spPr>
          <a:xfrm>
            <a:off x="20884098" y="9723634"/>
            <a:ext cx="1773758" cy="0"/>
          </a:xfrm>
          <a:prstGeom prst="line">
            <a:avLst/>
          </a:prstGeom>
          <a:ln w="38100">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1196" name="直線コネクタ 1195">
            <a:extLst>
              <a:ext uri="{FF2B5EF4-FFF2-40B4-BE49-F238E27FC236}">
                <a16:creationId xmlns:a16="http://schemas.microsoft.com/office/drawing/2014/main" id="{BB48984A-A1DD-14B9-B09F-0814F35583B1}"/>
              </a:ext>
            </a:extLst>
          </p:cNvPr>
          <p:cNvCxnSpPr>
            <a:cxnSpLocks/>
          </p:cNvCxnSpPr>
          <p:nvPr/>
        </p:nvCxnSpPr>
        <p:spPr>
          <a:xfrm>
            <a:off x="20884098" y="10153990"/>
            <a:ext cx="1773758" cy="0"/>
          </a:xfrm>
          <a:prstGeom prst="line">
            <a:avLst/>
          </a:prstGeom>
          <a:ln w="38100">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1197" name="直線コネクタ 1196">
            <a:extLst>
              <a:ext uri="{FF2B5EF4-FFF2-40B4-BE49-F238E27FC236}">
                <a16:creationId xmlns:a16="http://schemas.microsoft.com/office/drawing/2014/main" id="{C4AA2FB3-7C38-C70A-9CE6-5B6AA9FD5C27}"/>
              </a:ext>
            </a:extLst>
          </p:cNvPr>
          <p:cNvCxnSpPr>
            <a:cxnSpLocks/>
          </p:cNvCxnSpPr>
          <p:nvPr/>
        </p:nvCxnSpPr>
        <p:spPr>
          <a:xfrm>
            <a:off x="20884098" y="9212802"/>
            <a:ext cx="1773758" cy="0"/>
          </a:xfrm>
          <a:prstGeom prst="line">
            <a:avLst/>
          </a:prstGeom>
          <a:ln w="38100">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1199" name="直線矢印コネクタ 1198">
            <a:extLst>
              <a:ext uri="{FF2B5EF4-FFF2-40B4-BE49-F238E27FC236}">
                <a16:creationId xmlns:a16="http://schemas.microsoft.com/office/drawing/2014/main" id="{2F986C23-B1B8-DCBE-FA61-28B69868867B}"/>
              </a:ext>
            </a:extLst>
          </p:cNvPr>
          <p:cNvCxnSpPr>
            <a:cxnSpLocks/>
            <a:stCxn id="1191" idx="3"/>
            <a:endCxn id="1200" idx="1"/>
          </p:cNvCxnSpPr>
          <p:nvPr/>
        </p:nvCxnSpPr>
        <p:spPr>
          <a:xfrm>
            <a:off x="22657856" y="9723634"/>
            <a:ext cx="623134" cy="672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200" name="表 1199">
            <a:extLst>
              <a:ext uri="{FF2B5EF4-FFF2-40B4-BE49-F238E27FC236}">
                <a16:creationId xmlns:a16="http://schemas.microsoft.com/office/drawing/2014/main" id="{2866266C-0934-E27B-B6E2-9480C28D4C8F}"/>
              </a:ext>
            </a:extLst>
          </p:cNvPr>
          <p:cNvGraphicFramePr>
            <a:graphicFrameLocks noGrp="1"/>
          </p:cNvGraphicFramePr>
          <p:nvPr>
            <p:extLst>
              <p:ext uri="{D42A27DB-BD31-4B8C-83A1-F6EECF244321}">
                <p14:modId xmlns:p14="http://schemas.microsoft.com/office/powerpoint/2010/main" val="3339550818"/>
              </p:ext>
            </p:extLst>
          </p:nvPr>
        </p:nvGraphicFramePr>
        <p:xfrm>
          <a:off x="23280990" y="8849035"/>
          <a:ext cx="1773756" cy="1762640"/>
        </p:xfrm>
        <a:graphic>
          <a:graphicData uri="http://schemas.openxmlformats.org/drawingml/2006/table">
            <a:tbl>
              <a:tblPr firstRow="1" bandRow="1">
                <a:tableStyleId>{5C22544A-7EE6-4342-B048-85BDC9FD1C3A}</a:tableStyleId>
              </a:tblPr>
              <a:tblGrid>
                <a:gridCol w="1773756">
                  <a:extLst>
                    <a:ext uri="{9D8B030D-6E8A-4147-A177-3AD203B41FA5}">
                      <a16:colId xmlns:a16="http://schemas.microsoft.com/office/drawing/2014/main" val="1924354661"/>
                    </a:ext>
                  </a:extLst>
                </a:gridCol>
              </a:tblGrid>
              <a:tr h="220330">
                <a:tc>
                  <a:txBody>
                    <a:bodyPr/>
                    <a:lstStyle/>
                    <a:p>
                      <a:endParaRPr kumimoji="1" lang="ja-JP" altLang="en-US" sz="300"/>
                    </a:p>
                  </a:txBody>
                  <a:tcPr marL="158229" marR="158229" marT="79114" marB="791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20130726"/>
                  </a:ext>
                </a:extLst>
              </a:tr>
              <a:tr h="220330">
                <a:tc>
                  <a:txBody>
                    <a:bodyPr/>
                    <a:lstStyle/>
                    <a:p>
                      <a:endParaRPr kumimoji="1" lang="ja-JP" altLang="en-US" sz="300"/>
                    </a:p>
                  </a:txBody>
                  <a:tcPr marL="158229" marR="158229" marT="79114" marB="791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67199512"/>
                  </a:ext>
                </a:extLst>
              </a:tr>
              <a:tr h="220330">
                <a:tc>
                  <a:txBody>
                    <a:bodyPr/>
                    <a:lstStyle/>
                    <a:p>
                      <a:endParaRPr kumimoji="1" lang="ja-JP" altLang="en-US" sz="300"/>
                    </a:p>
                  </a:txBody>
                  <a:tcPr marL="158229" marR="158229" marT="79114" marB="791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00975036"/>
                  </a:ext>
                </a:extLst>
              </a:tr>
              <a:tr h="220330">
                <a:tc>
                  <a:txBody>
                    <a:bodyPr/>
                    <a:lstStyle/>
                    <a:p>
                      <a:endParaRPr kumimoji="1" lang="ja-JP" altLang="en-US" sz="300"/>
                    </a:p>
                  </a:txBody>
                  <a:tcPr marL="158229" marR="158229" marT="79114" marB="791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12976285"/>
                  </a:ext>
                </a:extLst>
              </a:tr>
              <a:tr h="220330">
                <a:tc>
                  <a:txBody>
                    <a:bodyPr/>
                    <a:lstStyle/>
                    <a:p>
                      <a:endParaRPr kumimoji="1" lang="ja-JP" altLang="en-US" sz="300"/>
                    </a:p>
                  </a:txBody>
                  <a:tcPr marL="158229" marR="158229" marT="79114" marB="791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60887995"/>
                  </a:ext>
                </a:extLst>
              </a:tr>
              <a:tr h="220330">
                <a:tc>
                  <a:txBody>
                    <a:bodyPr/>
                    <a:lstStyle/>
                    <a:p>
                      <a:endParaRPr kumimoji="1" lang="ja-JP" altLang="en-US" sz="300"/>
                    </a:p>
                  </a:txBody>
                  <a:tcPr marL="158229" marR="158229" marT="79114" marB="791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66261233"/>
                  </a:ext>
                </a:extLst>
              </a:tr>
              <a:tr h="220330">
                <a:tc>
                  <a:txBody>
                    <a:bodyPr/>
                    <a:lstStyle/>
                    <a:p>
                      <a:endParaRPr kumimoji="1" lang="ja-JP" altLang="en-US" sz="300"/>
                    </a:p>
                  </a:txBody>
                  <a:tcPr marL="158229" marR="158229" marT="79114" marB="791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389960"/>
                  </a:ext>
                </a:extLst>
              </a:tr>
              <a:tr h="220330">
                <a:tc>
                  <a:txBody>
                    <a:bodyPr/>
                    <a:lstStyle/>
                    <a:p>
                      <a:endParaRPr kumimoji="1" lang="ja-JP" altLang="en-US" sz="300"/>
                    </a:p>
                  </a:txBody>
                  <a:tcPr marL="158229" marR="158229" marT="79114" marB="791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53605409"/>
                  </a:ext>
                </a:extLst>
              </a:tr>
            </a:tbl>
          </a:graphicData>
        </a:graphic>
      </p:graphicFrame>
      <p:sp>
        <p:nvSpPr>
          <p:cNvPr id="1203" name="テキスト ボックス 1202">
            <a:extLst>
              <a:ext uri="{FF2B5EF4-FFF2-40B4-BE49-F238E27FC236}">
                <a16:creationId xmlns:a16="http://schemas.microsoft.com/office/drawing/2014/main" id="{6EAC8A57-636B-AA8C-DD92-0060507CCE07}"/>
              </a:ext>
            </a:extLst>
          </p:cNvPr>
          <p:cNvSpPr txBox="1"/>
          <p:nvPr/>
        </p:nvSpPr>
        <p:spPr>
          <a:xfrm>
            <a:off x="20884099" y="8221453"/>
            <a:ext cx="1773758" cy="584775"/>
          </a:xfrm>
          <a:prstGeom prst="rect">
            <a:avLst/>
          </a:prstGeom>
          <a:noFill/>
        </p:spPr>
        <p:txBody>
          <a:bodyPr wrap="square">
            <a:spAutoFit/>
          </a:bodyPr>
          <a:lstStyle/>
          <a:p>
            <a:pPr algn="ctr"/>
            <a:r>
              <a:rPr kumimoji="1" lang="ja-JP" altLang="en-US" sz="3200" spc="-100">
                <a:solidFill>
                  <a:schemeClr val="tx1"/>
                </a:solidFill>
                <a:latin typeface="MS PGothic" panose="020B0600070205080204" pitchFamily="34" charset="-128"/>
                <a:ea typeface="MS PGothic" panose="020B0600070205080204" pitchFamily="34" charset="-128"/>
              </a:rPr>
              <a:t>パッチ化</a:t>
            </a:r>
          </a:p>
        </p:txBody>
      </p:sp>
      <p:cxnSp>
        <p:nvCxnSpPr>
          <p:cNvPr id="1207" name="直線矢印コネクタ 1206">
            <a:extLst>
              <a:ext uri="{FF2B5EF4-FFF2-40B4-BE49-F238E27FC236}">
                <a16:creationId xmlns:a16="http://schemas.microsoft.com/office/drawing/2014/main" id="{BCBAE936-DAF2-1409-80BD-AB05294A14A9}"/>
              </a:ext>
            </a:extLst>
          </p:cNvPr>
          <p:cNvCxnSpPr>
            <a:cxnSpLocks/>
            <a:stCxn id="1200" idx="3"/>
            <a:endCxn id="26" idx="1"/>
          </p:cNvCxnSpPr>
          <p:nvPr/>
        </p:nvCxnSpPr>
        <p:spPr>
          <a:xfrm flipV="1">
            <a:off x="25054746" y="9726994"/>
            <a:ext cx="646526" cy="336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10" name="テキスト ボックス 1209">
            <a:extLst>
              <a:ext uri="{FF2B5EF4-FFF2-40B4-BE49-F238E27FC236}">
                <a16:creationId xmlns:a16="http://schemas.microsoft.com/office/drawing/2014/main" id="{CC3D38C3-FB7B-6656-AC7C-4C81FA029082}"/>
              </a:ext>
            </a:extLst>
          </p:cNvPr>
          <p:cNvSpPr txBox="1"/>
          <p:nvPr/>
        </p:nvSpPr>
        <p:spPr>
          <a:xfrm>
            <a:off x="25350662" y="8223557"/>
            <a:ext cx="2479462" cy="584775"/>
          </a:xfrm>
          <a:prstGeom prst="rect">
            <a:avLst/>
          </a:prstGeom>
          <a:noFill/>
        </p:spPr>
        <p:txBody>
          <a:bodyPr wrap="square">
            <a:spAutoFit/>
          </a:bodyPr>
          <a:lstStyle/>
          <a:p>
            <a:pPr algn="ctr"/>
            <a:r>
              <a:rPr kumimoji="1" lang="en-US" altLang="ja-JP" sz="3200" spc="-100" dirty="0">
                <a:solidFill>
                  <a:schemeClr val="tx1"/>
                </a:solidFill>
                <a:latin typeface="MS PGothic" panose="020B0600070205080204" pitchFamily="34" charset="-128"/>
                <a:ea typeface="MS PGothic" panose="020B0600070205080204" pitchFamily="34" charset="-128"/>
              </a:rPr>
              <a:t>Self-Attention</a:t>
            </a:r>
            <a:endParaRPr kumimoji="1" lang="ja-JP" altLang="en-US" sz="3200" spc="-100">
              <a:solidFill>
                <a:schemeClr val="tx1"/>
              </a:solidFill>
              <a:latin typeface="MS PGothic" panose="020B0600070205080204" pitchFamily="34" charset="-128"/>
              <a:ea typeface="MS PGothic" panose="020B0600070205080204" pitchFamily="34" charset="-128"/>
            </a:endParaRPr>
          </a:p>
        </p:txBody>
      </p:sp>
      <p:sp>
        <p:nvSpPr>
          <p:cNvPr id="1212" name="テキスト ボックス 1211">
            <a:extLst>
              <a:ext uri="{FF2B5EF4-FFF2-40B4-BE49-F238E27FC236}">
                <a16:creationId xmlns:a16="http://schemas.microsoft.com/office/drawing/2014/main" id="{325C0D72-A797-339D-8B80-FCDE2B47A0CD}"/>
              </a:ext>
            </a:extLst>
          </p:cNvPr>
          <p:cNvSpPr txBox="1"/>
          <p:nvPr/>
        </p:nvSpPr>
        <p:spPr>
          <a:xfrm>
            <a:off x="20186064" y="10646980"/>
            <a:ext cx="5701821" cy="584775"/>
          </a:xfrm>
          <a:prstGeom prst="rect">
            <a:avLst/>
          </a:prstGeom>
          <a:noFill/>
        </p:spPr>
        <p:txBody>
          <a:bodyPr wrap="square">
            <a:spAutoFit/>
          </a:bodyPr>
          <a:lstStyle/>
          <a:p>
            <a:pPr algn="ctr"/>
            <a:r>
              <a:rPr kumimoji="1" lang="ja-JP" altLang="en-US" sz="3200">
                <a:latin typeface="MS PGothic" panose="020B0600070205080204" pitchFamily="34" charset="-128"/>
                <a:ea typeface="MS PGothic" panose="020B0600070205080204" pitchFamily="34" charset="-128"/>
              </a:rPr>
              <a:t>図</a:t>
            </a:r>
            <a:r>
              <a:rPr kumimoji="1" lang="en-US" altLang="ja-JP" sz="3200" dirty="0">
                <a:latin typeface="MS PGothic" panose="020B0600070205080204" pitchFamily="34" charset="-128"/>
                <a:ea typeface="MS PGothic" panose="020B0600070205080204" pitchFamily="34" charset="-128"/>
              </a:rPr>
              <a:t>2 Vision-Transformer</a:t>
            </a:r>
            <a:r>
              <a:rPr kumimoji="1" lang="ja-JP" altLang="en-US" sz="3200">
                <a:latin typeface="MS PGothic" panose="020B0600070205080204" pitchFamily="34" charset="-128"/>
                <a:ea typeface="MS PGothic" panose="020B0600070205080204" pitchFamily="34" charset="-128"/>
              </a:rPr>
              <a:t>の構造</a:t>
            </a:r>
            <a:endParaRPr lang="ja-JP" altLang="en-US" sz="3200"/>
          </a:p>
        </p:txBody>
      </p:sp>
      <p:sp>
        <p:nvSpPr>
          <p:cNvPr id="1216" name="テキスト ボックス 1215">
            <a:extLst>
              <a:ext uri="{FF2B5EF4-FFF2-40B4-BE49-F238E27FC236}">
                <a16:creationId xmlns:a16="http://schemas.microsoft.com/office/drawing/2014/main" id="{E150F74C-A884-C925-691C-2E72527AB9AB}"/>
              </a:ext>
            </a:extLst>
          </p:cNvPr>
          <p:cNvSpPr txBox="1"/>
          <p:nvPr/>
        </p:nvSpPr>
        <p:spPr>
          <a:xfrm>
            <a:off x="23271036" y="8221453"/>
            <a:ext cx="1773758" cy="584775"/>
          </a:xfrm>
          <a:prstGeom prst="rect">
            <a:avLst/>
          </a:prstGeom>
          <a:noFill/>
        </p:spPr>
        <p:txBody>
          <a:bodyPr wrap="square">
            <a:spAutoFit/>
          </a:bodyPr>
          <a:lstStyle/>
          <a:p>
            <a:pPr algn="ctr"/>
            <a:r>
              <a:rPr kumimoji="1" lang="ja-JP" altLang="en-US" sz="3200" spc="-100">
                <a:latin typeface="MS PGothic" panose="020B0600070205080204" pitchFamily="34" charset="-128"/>
                <a:ea typeface="MS PGothic" panose="020B0600070205080204" pitchFamily="34" charset="-128"/>
              </a:rPr>
              <a:t>一次元化</a:t>
            </a:r>
            <a:endParaRPr kumimoji="1" lang="ja-JP" altLang="en-US" sz="3200" spc="-100">
              <a:solidFill>
                <a:schemeClr val="tx1"/>
              </a:solidFill>
              <a:latin typeface="MS PGothic" panose="020B0600070205080204" pitchFamily="34" charset="-128"/>
              <a:ea typeface="MS PGothic" panose="020B0600070205080204" pitchFamily="34" charset="-128"/>
            </a:endParaRPr>
          </a:p>
        </p:txBody>
      </p:sp>
      <p:sp>
        <p:nvSpPr>
          <p:cNvPr id="1217" name="テキスト ボックス 1216">
            <a:extLst>
              <a:ext uri="{FF2B5EF4-FFF2-40B4-BE49-F238E27FC236}">
                <a16:creationId xmlns:a16="http://schemas.microsoft.com/office/drawing/2014/main" id="{F2401227-51C0-BA79-9E5C-7E389A7EC297}"/>
              </a:ext>
            </a:extLst>
          </p:cNvPr>
          <p:cNvSpPr txBox="1"/>
          <p:nvPr/>
        </p:nvSpPr>
        <p:spPr>
          <a:xfrm>
            <a:off x="200710" y="27329426"/>
            <a:ext cx="14681200" cy="10926068"/>
          </a:xfrm>
          <a:prstGeom prst="rect">
            <a:avLst/>
          </a:prstGeom>
          <a:noFill/>
        </p:spPr>
        <p:txBody>
          <a:bodyPr wrap="square" rtlCol="0">
            <a:spAutoFit/>
          </a:bodyPr>
          <a:lstStyle/>
          <a:p>
            <a:pPr indent="457200" algn="just"/>
            <a:r>
              <a:rPr kumimoji="1" lang="ja-JP" altLang="en-US" sz="3200">
                <a:latin typeface="MS PGothic" panose="020B0600070205080204" pitchFamily="34" charset="-128"/>
                <a:ea typeface="MS PGothic" panose="020B0600070205080204" pitchFamily="34" charset="-128"/>
              </a:rPr>
              <a:t>本実験では，従来手法である</a:t>
            </a:r>
            <a:r>
              <a:rPr kumimoji="1" lang="en-US" altLang="ja-JP" sz="3200" dirty="0">
                <a:latin typeface="MS PGothic" panose="020B0600070205080204" pitchFamily="34" charset="-128"/>
                <a:ea typeface="MS PGothic" panose="020B0600070205080204" pitchFamily="34" charset="-128"/>
              </a:rPr>
              <a:t>NJM[1]</a:t>
            </a:r>
            <a:r>
              <a:rPr kumimoji="1" lang="ja-JP" altLang="en-US" sz="3200">
                <a:latin typeface="MS PGothic" panose="020B0600070205080204" pitchFamily="34" charset="-128"/>
                <a:ea typeface="MS PGothic" panose="020B0600070205080204" pitchFamily="34" charset="-128"/>
              </a:rPr>
              <a:t>，</a:t>
            </a:r>
            <a:r>
              <a:rPr kumimoji="1" lang="en-US" altLang="ja-JP" sz="3200" dirty="0">
                <a:latin typeface="MS PGothic" panose="020B0600070205080204" pitchFamily="34" charset="-128"/>
                <a:ea typeface="MS PGothic" panose="020B0600070205080204" pitchFamily="34" charset="-128"/>
              </a:rPr>
              <a:t>GUMI-AE[2]</a:t>
            </a:r>
            <a:r>
              <a:rPr kumimoji="1" lang="ja-JP" altLang="en-US" sz="3200">
                <a:latin typeface="MS PGothic" panose="020B0600070205080204" pitchFamily="34" charset="-128"/>
                <a:ea typeface="MS PGothic" panose="020B0600070205080204" pitchFamily="34" charset="-128"/>
              </a:rPr>
              <a:t>と提案手法を同条件で学習し，その結果を比較する．また，学習した大喜利生成</a:t>
            </a:r>
            <a:r>
              <a:rPr kumimoji="1" lang="en-US" altLang="ja-JP" sz="3200" dirty="0">
                <a:latin typeface="MS PGothic" panose="020B0600070205080204" pitchFamily="34" charset="-128"/>
                <a:ea typeface="MS PGothic" panose="020B0600070205080204" pitchFamily="34" charset="-128"/>
              </a:rPr>
              <a:t>AI</a:t>
            </a:r>
            <a:r>
              <a:rPr kumimoji="1" lang="ja-JP" altLang="en-US" sz="3200">
                <a:latin typeface="MS PGothic" panose="020B0600070205080204" pitchFamily="34" charset="-128"/>
                <a:ea typeface="MS PGothic" panose="020B0600070205080204" pitchFamily="34" charset="-128"/>
              </a:rPr>
              <a:t>に未知の画像を入力し生成される大喜利を比較する．</a:t>
            </a:r>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p:txBody>
      </p:sp>
      <mc:AlternateContent xmlns:mc="http://schemas.openxmlformats.org/markup-compatibility/2006" xmlns:a14="http://schemas.microsoft.com/office/drawing/2010/main">
        <mc:Choice Requires="a14">
          <p:graphicFrame>
            <p:nvGraphicFramePr>
              <p:cNvPr id="1218" name="表 1217">
                <a:extLst>
                  <a:ext uri="{FF2B5EF4-FFF2-40B4-BE49-F238E27FC236}">
                    <a16:creationId xmlns:a16="http://schemas.microsoft.com/office/drawing/2014/main" id="{82BB2D50-DE86-057B-78AE-7F0ACE4EFB03}"/>
                  </a:ext>
                </a:extLst>
              </p:cNvPr>
              <p:cNvGraphicFramePr>
                <a:graphicFrameLocks noGrp="1"/>
              </p:cNvGraphicFramePr>
              <p:nvPr>
                <p:extLst>
                  <p:ext uri="{D42A27DB-BD31-4B8C-83A1-F6EECF244321}">
                    <p14:modId xmlns:p14="http://schemas.microsoft.com/office/powerpoint/2010/main" val="651484682"/>
                  </p:ext>
                </p:extLst>
              </p:nvPr>
            </p:nvGraphicFramePr>
            <p:xfrm>
              <a:off x="230699" y="29452991"/>
              <a:ext cx="14914720" cy="3474720"/>
            </p:xfrm>
            <a:graphic>
              <a:graphicData uri="http://schemas.openxmlformats.org/drawingml/2006/table">
                <a:tbl>
                  <a:tblPr firstRow="1" bandRow="1">
                    <a:tableStyleId>{5C22544A-7EE6-4342-B048-85BDC9FD1C3A}</a:tableStyleId>
                  </a:tblPr>
                  <a:tblGrid>
                    <a:gridCol w="3712073">
                      <a:extLst>
                        <a:ext uri="{9D8B030D-6E8A-4147-A177-3AD203B41FA5}">
                          <a16:colId xmlns:a16="http://schemas.microsoft.com/office/drawing/2014/main" val="1302717659"/>
                        </a:ext>
                      </a:extLst>
                    </a:gridCol>
                    <a:gridCol w="3712073">
                      <a:extLst>
                        <a:ext uri="{9D8B030D-6E8A-4147-A177-3AD203B41FA5}">
                          <a16:colId xmlns:a16="http://schemas.microsoft.com/office/drawing/2014/main" val="1335503367"/>
                        </a:ext>
                      </a:extLst>
                    </a:gridCol>
                    <a:gridCol w="7490574">
                      <a:extLst>
                        <a:ext uri="{9D8B030D-6E8A-4147-A177-3AD203B41FA5}">
                          <a16:colId xmlns:a16="http://schemas.microsoft.com/office/drawing/2014/main" val="118972529"/>
                        </a:ext>
                      </a:extLst>
                    </a:gridCol>
                  </a:tblGrid>
                  <a:tr h="405772">
                    <a:tc rowSpan="2">
                      <a:txBody>
                        <a:bodyPr/>
                        <a:lstStyle/>
                        <a:p>
                          <a:pPr algn="ctr"/>
                          <a:r>
                            <a:rPr kumimoji="1" lang="ja-JP" altLang="en-US" sz="3200" b="0">
                              <a:solidFill>
                                <a:schemeClr val="tx1"/>
                              </a:solidFill>
                              <a:latin typeface="MS PGothic" panose="020B0600070205080204" pitchFamily="34" charset="-128"/>
                              <a:ea typeface="MS PGothic" panose="020B0600070205080204" pitchFamily="34" charset="-128"/>
                            </a:rPr>
                            <a:t>データ</a:t>
                          </a:r>
                          <a:r>
                            <a:rPr kumimoji="1" lang="en-US" altLang="ja-JP" sz="3200" b="0" dirty="0">
                              <a:solidFill>
                                <a:schemeClr val="tx1"/>
                              </a:solidFill>
                              <a:latin typeface="MS PGothic" panose="020B0600070205080204" pitchFamily="34" charset="-128"/>
                              <a:ea typeface="MS PGothic" panose="020B0600070205080204" pitchFamily="34" charset="-128"/>
                            </a:rPr>
                            <a:t>[3]</a:t>
                          </a:r>
                          <a:endParaRPr kumimoji="1" lang="ja-JP" altLang="en-US" sz="3200" b="0" dirty="0">
                            <a:solidFill>
                              <a:schemeClr val="tx1"/>
                            </a:solidFill>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tc>
                      <a:txBody>
                        <a:bodyPr/>
                        <a:lstStyle/>
                        <a:p>
                          <a:pPr algn="ctr"/>
                          <a:r>
                            <a:rPr kumimoji="1" lang="ja-JP" altLang="en-US" sz="3200" b="0" dirty="0">
                              <a:solidFill>
                                <a:schemeClr val="tx1"/>
                              </a:solidFill>
                              <a:latin typeface="MS PGothic" panose="020B0600070205080204" pitchFamily="34" charset="-128"/>
                              <a:ea typeface="MS PGothic" panose="020B0600070205080204" pitchFamily="34" charset="-128"/>
                            </a:rPr>
                            <a:t>画像</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tc>
                      <a:txBody>
                        <a:bodyPr/>
                        <a:lstStyle/>
                        <a:p>
                          <a:pPr algn="ctr"/>
                          <a:r>
                            <a:rPr kumimoji="1" lang="en-US" altLang="ja-JP" sz="3200" b="0" dirty="0">
                              <a:solidFill>
                                <a:schemeClr val="tx1"/>
                              </a:solidFill>
                              <a:latin typeface="MS PGothic" panose="020B0600070205080204" pitchFamily="34" charset="-128"/>
                              <a:ea typeface="MS PGothic" panose="020B0600070205080204" pitchFamily="34" charset="-128"/>
                            </a:rPr>
                            <a:t>74,027</a:t>
                          </a:r>
                          <a:r>
                            <a:rPr kumimoji="1" lang="ja-JP" altLang="en-US" sz="3200" b="0">
                              <a:solidFill>
                                <a:schemeClr val="tx1"/>
                              </a:solidFill>
                              <a:latin typeface="MS PGothic" panose="020B0600070205080204" pitchFamily="34" charset="-128"/>
                              <a:ea typeface="MS PGothic" panose="020B0600070205080204" pitchFamily="34" charset="-128"/>
                            </a:rPr>
                            <a:t>枚</a:t>
                          </a:r>
                          <a:r>
                            <a:rPr kumimoji="1" lang="en-US" altLang="ja-JP" sz="3200" b="0" dirty="0">
                              <a:solidFill>
                                <a:schemeClr val="tx1"/>
                              </a:solidFill>
                              <a:latin typeface="MS PGothic" panose="020B0600070205080204" pitchFamily="34" charset="-128"/>
                              <a:ea typeface="MS PGothic" panose="020B0600070205080204" pitchFamily="34" charset="-128"/>
                            </a:rPr>
                            <a:t>(train)</a:t>
                          </a:r>
                          <a:r>
                            <a:rPr kumimoji="1" lang="ja-JP" altLang="en-US" sz="3200" b="0">
                              <a:solidFill>
                                <a:schemeClr val="tx1"/>
                              </a:solidFill>
                              <a:latin typeface="MS PGothic" panose="020B0600070205080204" pitchFamily="34" charset="-128"/>
                              <a:ea typeface="MS PGothic" panose="020B0600070205080204" pitchFamily="34" charset="-128"/>
                            </a:rPr>
                            <a:t> </a:t>
                          </a:r>
                          <a:r>
                            <a:rPr kumimoji="1" lang="en-US" altLang="ja-JP" sz="3200" b="0" dirty="0">
                              <a:solidFill>
                                <a:schemeClr val="tx1"/>
                              </a:solidFill>
                              <a:latin typeface="MS PGothic" panose="020B0600070205080204" pitchFamily="34" charset="-128"/>
                              <a:ea typeface="MS PGothic" panose="020B0600070205080204" pitchFamily="34" charset="-128"/>
                            </a:rPr>
                            <a:t>/ 7,515</a:t>
                          </a:r>
                          <a:r>
                            <a:rPr kumimoji="1" lang="ja-JP" altLang="en-US" sz="3200" b="0">
                              <a:solidFill>
                                <a:schemeClr val="tx1"/>
                              </a:solidFill>
                              <a:latin typeface="MS PGothic" panose="020B0600070205080204" pitchFamily="34" charset="-128"/>
                              <a:ea typeface="MS PGothic" panose="020B0600070205080204" pitchFamily="34" charset="-128"/>
                            </a:rPr>
                            <a:t>枚</a:t>
                          </a:r>
                          <a:r>
                            <a:rPr kumimoji="1" lang="en-US" altLang="ja-JP" sz="3200" b="0" dirty="0">
                              <a:solidFill>
                                <a:schemeClr val="tx1"/>
                              </a:solidFill>
                              <a:latin typeface="MS PGothic" panose="020B0600070205080204" pitchFamily="34" charset="-128"/>
                              <a:ea typeface="MS PGothic" panose="020B0600070205080204" pitchFamily="34" charset="-128"/>
                            </a:rPr>
                            <a:t>(test)</a:t>
                          </a:r>
                          <a:endParaRPr kumimoji="1" lang="ja-JP" altLang="en-US" sz="3200" b="0" dirty="0">
                            <a:solidFill>
                              <a:schemeClr val="tx1"/>
                            </a:solidFill>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extLst>
                      <a:ext uri="{0D108BD9-81ED-4DB2-BD59-A6C34878D82A}">
                        <a16:rowId xmlns:a16="http://schemas.microsoft.com/office/drawing/2014/main" val="3361642135"/>
                      </a:ext>
                    </a:extLst>
                  </a:tr>
                  <a:tr h="405772">
                    <a:tc vMerge="1">
                      <a:txBody>
                        <a:bodyPr/>
                        <a:lstStyle/>
                        <a:p>
                          <a:pPr algn="ctr"/>
                          <a:endParaRPr kumimoji="1" lang="ja-JP" altLang="en-US" sz="4000" b="0" dirty="0">
                            <a:solidFill>
                              <a:schemeClr val="tx1"/>
                            </a:solidFill>
                            <a:latin typeface="MS PGothic" panose="020B0600070205080204" pitchFamily="34" charset="-128"/>
                            <a:ea typeface="MS PGothic" panose="020B0600070205080204" pitchFamily="34" charset="-128"/>
                          </a:endParaRPr>
                        </a:p>
                      </a:txBody>
                      <a:tcPr>
                        <a:solidFill>
                          <a:srgbClr val="E9EBF5"/>
                        </a:solidFill>
                      </a:tcPr>
                    </a:tc>
                    <a:tc>
                      <a:txBody>
                        <a:bodyPr/>
                        <a:lstStyle/>
                        <a:p>
                          <a:pPr algn="ctr"/>
                          <a:r>
                            <a:rPr kumimoji="1" lang="ja-JP" altLang="en-US" sz="3200" b="0" dirty="0">
                              <a:solidFill>
                                <a:schemeClr val="tx1"/>
                              </a:solidFill>
                              <a:latin typeface="MS PGothic" panose="020B0600070205080204" pitchFamily="34" charset="-128"/>
                              <a:ea typeface="MS PGothic" panose="020B0600070205080204" pitchFamily="34" charset="-128"/>
                            </a:rPr>
                            <a:t>大喜利</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tc>
                      <a:txBody>
                        <a:bodyPr/>
                        <a:lstStyle/>
                        <a:p>
                          <a:pPr algn="ctr"/>
                          <a:r>
                            <a:rPr kumimoji="1" lang="en-US" altLang="ja-JP" sz="3200" b="0" dirty="0">
                              <a:solidFill>
                                <a:schemeClr val="tx1"/>
                              </a:solidFill>
                              <a:latin typeface="MS PGothic" panose="020B0600070205080204" pitchFamily="34" charset="-128"/>
                              <a:ea typeface="MS PGothic" panose="020B0600070205080204" pitchFamily="34" charset="-128"/>
                            </a:rPr>
                            <a:t>849,043</a:t>
                          </a:r>
                          <a:r>
                            <a:rPr kumimoji="1" lang="ja-JP" altLang="en-US" sz="3200" b="0">
                              <a:solidFill>
                                <a:schemeClr val="tx1"/>
                              </a:solidFill>
                              <a:latin typeface="MS PGothic" panose="020B0600070205080204" pitchFamily="34" charset="-128"/>
                              <a:ea typeface="MS PGothic" panose="020B0600070205080204" pitchFamily="34" charset="-128"/>
                            </a:rPr>
                            <a:t>件</a:t>
                          </a:r>
                          <a:r>
                            <a:rPr kumimoji="1" lang="en-US" altLang="ja-JP" sz="3200" b="0" dirty="0">
                              <a:solidFill>
                                <a:schemeClr val="tx1"/>
                              </a:solidFill>
                              <a:latin typeface="MS PGothic" panose="020B0600070205080204" pitchFamily="34" charset="-128"/>
                              <a:ea typeface="MS PGothic" panose="020B0600070205080204" pitchFamily="34" charset="-128"/>
                            </a:rPr>
                            <a:t>(train) / 8,577</a:t>
                          </a:r>
                          <a:r>
                            <a:rPr kumimoji="1" lang="ja-JP" altLang="en-US" sz="3200" b="0">
                              <a:solidFill>
                                <a:schemeClr val="tx1"/>
                              </a:solidFill>
                              <a:latin typeface="MS PGothic" panose="020B0600070205080204" pitchFamily="34" charset="-128"/>
                              <a:ea typeface="MS PGothic" panose="020B0600070205080204" pitchFamily="34" charset="-128"/>
                            </a:rPr>
                            <a:t>件</a:t>
                          </a:r>
                          <a:r>
                            <a:rPr kumimoji="1" lang="en-US" altLang="ja-JP" sz="3200" b="0" dirty="0">
                              <a:solidFill>
                                <a:schemeClr val="tx1"/>
                              </a:solidFill>
                              <a:latin typeface="MS PGothic" panose="020B0600070205080204" pitchFamily="34" charset="-128"/>
                              <a:ea typeface="MS PGothic" panose="020B0600070205080204" pitchFamily="34" charset="-128"/>
                            </a:rPr>
                            <a:t>(test)</a:t>
                          </a:r>
                          <a:endParaRPr kumimoji="1" lang="ja-JP" altLang="en-US" sz="3200" b="0" dirty="0">
                            <a:solidFill>
                              <a:schemeClr val="tx1"/>
                            </a:solidFill>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extLst>
                      <a:ext uri="{0D108BD9-81ED-4DB2-BD59-A6C34878D82A}">
                        <a16:rowId xmlns:a16="http://schemas.microsoft.com/office/drawing/2014/main" val="138946860"/>
                      </a:ext>
                    </a:extLst>
                  </a:tr>
                  <a:tr h="405772">
                    <a:tc gridSpan="2">
                      <a:txBody>
                        <a:bodyPr/>
                        <a:lstStyle/>
                        <a:p>
                          <a:pPr algn="ctr"/>
                          <a:r>
                            <a:rPr kumimoji="1" lang="ja-JP" altLang="en-US" sz="3200" b="0" dirty="0">
                              <a:latin typeface="MS PGothic" panose="020B0600070205080204" pitchFamily="34" charset="-128"/>
                              <a:ea typeface="MS PGothic" panose="020B0600070205080204" pitchFamily="34" charset="-128"/>
                            </a:rPr>
                            <a:t>最適化手法</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hMerge="1">
                      <a:txBody>
                        <a:bodyPr/>
                        <a:lstStyle/>
                        <a:p>
                          <a:endParaRPr kumimoji="1" lang="ja-JP" altLang="en-US"/>
                        </a:p>
                      </a:txBody>
                      <a:tcPr/>
                    </a:tc>
                    <a:tc>
                      <a:txBody>
                        <a:bodyPr/>
                        <a:lstStyle/>
                        <a:p>
                          <a:pPr marL="0" indent="0" algn="ctr">
                            <a:buFont typeface="Arial" panose="020B0604020202020204" pitchFamily="34" charset="0"/>
                            <a:buNone/>
                          </a:pPr>
                          <a:r>
                            <a:rPr kumimoji="1" lang="en-US" altLang="ja-JP" sz="3200" b="0" dirty="0">
                              <a:latin typeface="MS PGothic" panose="020B0600070205080204" pitchFamily="34" charset="-128"/>
                              <a:ea typeface="MS PGothic" panose="020B0600070205080204" pitchFamily="34" charset="-128"/>
                            </a:rPr>
                            <a:t>Adam (</a:t>
                          </a:r>
                          <a14:m>
                            <m:oMath xmlns:m="http://schemas.openxmlformats.org/officeDocument/2006/math">
                              <m:r>
                                <a:rPr kumimoji="1" lang="en-US" altLang="ja-JP" sz="3200" b="0" i="1" smtClean="0">
                                  <a:latin typeface="Cambria Math" panose="02040503050406030204" pitchFamily="18" charset="0"/>
                                  <a:ea typeface="Cambria Math" panose="02040503050406030204" pitchFamily="18" charset="0"/>
                                </a:rPr>
                                <m:t>𝜂</m:t>
                              </m:r>
                              <m:r>
                                <a:rPr kumimoji="1" lang="en-US" altLang="ja-JP" sz="3200" b="0" i="1" smtClean="0">
                                  <a:latin typeface="Cambria Math" panose="02040503050406030204" pitchFamily="18" charset="0"/>
                                  <a:ea typeface="Cambria Math" panose="02040503050406030204" pitchFamily="18" charset="0"/>
                                </a:rPr>
                                <m:t>=0.0001</m:t>
                              </m:r>
                            </m:oMath>
                          </a14:m>
                          <a:r>
                            <a:rPr kumimoji="1" lang="en-US" altLang="ja-JP" sz="3200" b="0" dirty="0">
                              <a:latin typeface="MS PGothic" panose="020B0600070205080204" pitchFamily="34" charset="-128"/>
                              <a:ea typeface="MS PGothic" panose="020B0600070205080204" pitchFamily="34" charset="-128"/>
                            </a:rPr>
                            <a:t>)</a:t>
                          </a:r>
                          <a:endParaRPr kumimoji="1" lang="ja-JP" altLang="en-US" sz="3200" b="0" dirty="0">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1801116897"/>
                      </a:ext>
                    </a:extLst>
                  </a:tr>
                  <a:tr h="405772">
                    <a:tc gridSpan="2">
                      <a:txBody>
                        <a:bodyPr/>
                        <a:lstStyle/>
                        <a:p>
                          <a:pPr algn="ctr"/>
                          <a:r>
                            <a:rPr kumimoji="1" lang="ja-JP" altLang="en-US" sz="3200" b="0">
                              <a:latin typeface="MS PGothic" panose="020B0600070205080204" pitchFamily="34" charset="-128"/>
                              <a:ea typeface="MS PGothic" panose="020B0600070205080204" pitchFamily="34" charset="-128"/>
                            </a:rPr>
                            <a:t>ミニバッチサイズ</a:t>
                          </a:r>
                          <a:r>
                            <a:rPr kumimoji="1" lang="en-US" altLang="ja-JP" sz="3200" b="0" dirty="0">
                              <a:latin typeface="MS PGothic" panose="020B0600070205080204" pitchFamily="34" charset="-128"/>
                              <a:ea typeface="MS PGothic" panose="020B0600070205080204" pitchFamily="34" charset="-128"/>
                            </a:rPr>
                            <a:t> / </a:t>
                          </a:r>
                          <a:r>
                            <a:rPr kumimoji="1" lang="ja-JP" altLang="en-US" sz="3200" b="0">
                              <a:latin typeface="MS PGothic" panose="020B0600070205080204" pitchFamily="34" charset="-128"/>
                              <a:ea typeface="MS PGothic" panose="020B0600070205080204" pitchFamily="34" charset="-128"/>
                            </a:rPr>
                            <a:t>学習反復回数</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hMerge="1">
                      <a:txBody>
                        <a:bodyPr/>
                        <a:lstStyle/>
                        <a:p>
                          <a:endParaRPr kumimoji="1" lang="ja-JP" altLang="en-US"/>
                        </a:p>
                      </a:txBody>
                      <a:tcPr/>
                    </a:tc>
                    <a:tc>
                      <a:txBody>
                        <a:bodyPr/>
                        <a:lstStyle/>
                        <a:p>
                          <a:pPr marL="0" indent="0" algn="ctr">
                            <a:buFont typeface="Arial" panose="020B0604020202020204" pitchFamily="34" charset="0"/>
                            <a:buNone/>
                          </a:pPr>
                          <a:r>
                            <a:rPr kumimoji="1" lang="en" altLang="ja-JP" sz="3200" b="0" dirty="0">
                              <a:latin typeface="MS PGothic" panose="020B0600070205080204" pitchFamily="34" charset="-128"/>
                              <a:ea typeface="MS PGothic" panose="020B0600070205080204" pitchFamily="34" charset="-128"/>
                            </a:rPr>
                            <a:t>64 / 100</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3798152386"/>
                      </a:ext>
                    </a:extLst>
                  </a:tr>
                  <a:tr h="405772">
                    <a:tc gridSpan="2">
                      <a:txBody>
                        <a:bodyPr/>
                        <a:lstStyle/>
                        <a:p>
                          <a:pPr algn="ctr"/>
                          <a:r>
                            <a:rPr kumimoji="1" lang="ja-JP" altLang="en-US" sz="3200" b="0">
                              <a:latin typeface="MS PGothic" panose="020B0600070205080204" pitchFamily="34" charset="-128"/>
                              <a:ea typeface="MS PGothic" panose="020B0600070205080204" pitchFamily="34" charset="-128"/>
                            </a:rPr>
                            <a:t>特徴量次元数</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hMerge="1">
                      <a:txBody>
                        <a:bodyPr/>
                        <a:lstStyle/>
                        <a:p>
                          <a:endParaRPr kumimoji="1" lang="ja-JP" altLang="en-US"/>
                        </a:p>
                      </a:txBody>
                      <a:tcPr/>
                    </a:tc>
                    <a:tc>
                      <a:txBody>
                        <a:bodyPr/>
                        <a:lstStyle/>
                        <a:p>
                          <a:pPr marL="0" indent="0" algn="ctr">
                            <a:buFont typeface="Arial" panose="020B0604020202020204" pitchFamily="34" charset="0"/>
                            <a:buNone/>
                          </a:pPr>
                          <a:r>
                            <a:rPr kumimoji="1" lang="en" altLang="ja-JP" sz="3200" b="0" dirty="0">
                              <a:latin typeface="MS PGothic" panose="020B0600070205080204" pitchFamily="34" charset="-128"/>
                              <a:ea typeface="MS PGothic" panose="020B0600070205080204" pitchFamily="34" charset="-128"/>
                            </a:rPr>
                            <a:t>768</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2893383439"/>
                      </a:ext>
                    </a:extLst>
                  </a:tr>
                  <a:tr h="405772">
                    <a:tc gridSpan="2">
                      <a:txBody>
                        <a:bodyPr/>
                        <a:lstStyle/>
                        <a:p>
                          <a:pPr algn="ctr"/>
                          <a:r>
                            <a:rPr kumimoji="1" lang="en-US" altLang="ja-JP" sz="3200" b="0" dirty="0">
                              <a:latin typeface="MS PGothic" panose="020B0600070205080204" pitchFamily="34" charset="-128"/>
                              <a:ea typeface="MS PGothic" panose="020B0600070205080204" pitchFamily="34" charset="-128"/>
                            </a:rPr>
                            <a:t>Cross-Attention</a:t>
                          </a:r>
                          <a:r>
                            <a:rPr kumimoji="1" lang="ja-JP" altLang="en-US" sz="3200" b="0">
                              <a:latin typeface="MS PGothic" panose="020B0600070205080204" pitchFamily="34" charset="-128"/>
                              <a:ea typeface="MS PGothic" panose="020B0600070205080204" pitchFamily="34" charset="-128"/>
                            </a:rPr>
                            <a:t>層数</a:t>
                          </a:r>
                          <a:r>
                            <a:rPr kumimoji="1" lang="en-US" altLang="ja-JP" sz="3200" b="0" dirty="0">
                              <a:latin typeface="MS PGothic" panose="020B0600070205080204" pitchFamily="34" charset="-128"/>
                              <a:ea typeface="MS PGothic" panose="020B0600070205080204" pitchFamily="34" charset="-128"/>
                            </a:rPr>
                            <a:t> / Head</a:t>
                          </a:r>
                          <a:r>
                            <a:rPr kumimoji="1" lang="ja-JP" altLang="en-US" sz="3200" b="0">
                              <a:latin typeface="MS PGothic" panose="020B0600070205080204" pitchFamily="34" charset="-128"/>
                              <a:ea typeface="MS PGothic" panose="020B0600070205080204" pitchFamily="34" charset="-128"/>
                            </a:rPr>
                            <a:t>数</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hMerge="1">
                      <a:txBody>
                        <a:bodyPr/>
                        <a:lstStyle/>
                        <a:p>
                          <a:endParaRPr kumimoji="1" lang="ja-JP" altLang="en-US"/>
                        </a:p>
                      </a:txBody>
                      <a:tcPr/>
                    </a:tc>
                    <a:tc>
                      <a:txBody>
                        <a:bodyPr/>
                        <a:lstStyle/>
                        <a:p>
                          <a:pPr marL="0" indent="0" algn="ctr">
                            <a:buFont typeface="Arial" panose="020B0604020202020204" pitchFamily="34" charset="0"/>
                            <a:buNone/>
                          </a:pPr>
                          <a:r>
                            <a:rPr kumimoji="1" lang="en" altLang="ja-JP" sz="3200" b="0" dirty="0">
                              <a:latin typeface="MS PGothic" panose="020B0600070205080204" pitchFamily="34" charset="-128"/>
                              <a:ea typeface="MS PGothic" panose="020B0600070205080204" pitchFamily="34" charset="-128"/>
                            </a:rPr>
                            <a:t>4 / 4</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1512307595"/>
                      </a:ext>
                    </a:extLst>
                  </a:tr>
                </a:tbl>
              </a:graphicData>
            </a:graphic>
          </p:graphicFrame>
        </mc:Choice>
        <mc:Fallback xmlns="">
          <p:graphicFrame>
            <p:nvGraphicFramePr>
              <p:cNvPr id="1218" name="表 1217">
                <a:extLst>
                  <a:ext uri="{FF2B5EF4-FFF2-40B4-BE49-F238E27FC236}">
                    <a16:creationId xmlns:a16="http://schemas.microsoft.com/office/drawing/2014/main" id="{82BB2D50-DE86-057B-78AE-7F0ACE4EFB03}"/>
                  </a:ext>
                </a:extLst>
              </p:cNvPr>
              <p:cNvGraphicFramePr>
                <a:graphicFrameLocks noGrp="1"/>
              </p:cNvGraphicFramePr>
              <p:nvPr>
                <p:extLst>
                  <p:ext uri="{D42A27DB-BD31-4B8C-83A1-F6EECF244321}">
                    <p14:modId xmlns:p14="http://schemas.microsoft.com/office/powerpoint/2010/main" val="651484682"/>
                  </p:ext>
                </p:extLst>
              </p:nvPr>
            </p:nvGraphicFramePr>
            <p:xfrm>
              <a:off x="230699" y="29452991"/>
              <a:ext cx="14914720" cy="3474720"/>
            </p:xfrm>
            <a:graphic>
              <a:graphicData uri="http://schemas.openxmlformats.org/drawingml/2006/table">
                <a:tbl>
                  <a:tblPr firstRow="1" bandRow="1">
                    <a:tableStyleId>{5C22544A-7EE6-4342-B048-85BDC9FD1C3A}</a:tableStyleId>
                  </a:tblPr>
                  <a:tblGrid>
                    <a:gridCol w="3712073">
                      <a:extLst>
                        <a:ext uri="{9D8B030D-6E8A-4147-A177-3AD203B41FA5}">
                          <a16:colId xmlns:a16="http://schemas.microsoft.com/office/drawing/2014/main" val="1302717659"/>
                        </a:ext>
                      </a:extLst>
                    </a:gridCol>
                    <a:gridCol w="3712073">
                      <a:extLst>
                        <a:ext uri="{9D8B030D-6E8A-4147-A177-3AD203B41FA5}">
                          <a16:colId xmlns:a16="http://schemas.microsoft.com/office/drawing/2014/main" val="1335503367"/>
                        </a:ext>
                      </a:extLst>
                    </a:gridCol>
                    <a:gridCol w="7490574">
                      <a:extLst>
                        <a:ext uri="{9D8B030D-6E8A-4147-A177-3AD203B41FA5}">
                          <a16:colId xmlns:a16="http://schemas.microsoft.com/office/drawing/2014/main" val="118972529"/>
                        </a:ext>
                      </a:extLst>
                    </a:gridCol>
                  </a:tblGrid>
                  <a:tr h="579120">
                    <a:tc rowSpan="2">
                      <a:txBody>
                        <a:bodyPr/>
                        <a:lstStyle/>
                        <a:p>
                          <a:pPr algn="ctr"/>
                          <a:r>
                            <a:rPr kumimoji="1" lang="ja-JP" altLang="en-US" sz="3200" b="0">
                              <a:solidFill>
                                <a:schemeClr val="tx1"/>
                              </a:solidFill>
                              <a:latin typeface="MS PGothic" panose="020B0600070205080204" pitchFamily="34" charset="-128"/>
                              <a:ea typeface="MS PGothic" panose="020B0600070205080204" pitchFamily="34" charset="-128"/>
                            </a:rPr>
                            <a:t>データ</a:t>
                          </a:r>
                          <a:r>
                            <a:rPr kumimoji="1" lang="en-US" altLang="ja-JP" sz="3200" b="0" dirty="0">
                              <a:solidFill>
                                <a:schemeClr val="tx1"/>
                              </a:solidFill>
                              <a:latin typeface="MS PGothic" panose="020B0600070205080204" pitchFamily="34" charset="-128"/>
                              <a:ea typeface="MS PGothic" panose="020B0600070205080204" pitchFamily="34" charset="-128"/>
                            </a:rPr>
                            <a:t>[3]</a:t>
                          </a:r>
                          <a:endParaRPr kumimoji="1" lang="ja-JP" altLang="en-US" sz="3200" b="0" dirty="0">
                            <a:solidFill>
                              <a:schemeClr val="tx1"/>
                            </a:solidFill>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tc>
                      <a:txBody>
                        <a:bodyPr/>
                        <a:lstStyle/>
                        <a:p>
                          <a:pPr algn="ctr"/>
                          <a:r>
                            <a:rPr kumimoji="1" lang="ja-JP" altLang="en-US" sz="3200" b="0" dirty="0">
                              <a:solidFill>
                                <a:schemeClr val="tx1"/>
                              </a:solidFill>
                              <a:latin typeface="MS PGothic" panose="020B0600070205080204" pitchFamily="34" charset="-128"/>
                              <a:ea typeface="MS PGothic" panose="020B0600070205080204" pitchFamily="34" charset="-128"/>
                            </a:rPr>
                            <a:t>画像</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tc>
                      <a:txBody>
                        <a:bodyPr/>
                        <a:lstStyle/>
                        <a:p>
                          <a:pPr algn="ctr"/>
                          <a:r>
                            <a:rPr kumimoji="1" lang="en-US" altLang="ja-JP" sz="3200" b="0" dirty="0">
                              <a:solidFill>
                                <a:schemeClr val="tx1"/>
                              </a:solidFill>
                              <a:latin typeface="MS PGothic" panose="020B0600070205080204" pitchFamily="34" charset="-128"/>
                              <a:ea typeface="MS PGothic" panose="020B0600070205080204" pitchFamily="34" charset="-128"/>
                            </a:rPr>
                            <a:t>74,027</a:t>
                          </a:r>
                          <a:r>
                            <a:rPr kumimoji="1" lang="ja-JP" altLang="en-US" sz="3200" b="0">
                              <a:solidFill>
                                <a:schemeClr val="tx1"/>
                              </a:solidFill>
                              <a:latin typeface="MS PGothic" panose="020B0600070205080204" pitchFamily="34" charset="-128"/>
                              <a:ea typeface="MS PGothic" panose="020B0600070205080204" pitchFamily="34" charset="-128"/>
                            </a:rPr>
                            <a:t>枚</a:t>
                          </a:r>
                          <a:r>
                            <a:rPr kumimoji="1" lang="en-US" altLang="ja-JP" sz="3200" b="0" dirty="0">
                              <a:solidFill>
                                <a:schemeClr val="tx1"/>
                              </a:solidFill>
                              <a:latin typeface="MS PGothic" panose="020B0600070205080204" pitchFamily="34" charset="-128"/>
                              <a:ea typeface="MS PGothic" panose="020B0600070205080204" pitchFamily="34" charset="-128"/>
                            </a:rPr>
                            <a:t>(train)</a:t>
                          </a:r>
                          <a:r>
                            <a:rPr kumimoji="1" lang="ja-JP" altLang="en-US" sz="3200" b="0">
                              <a:solidFill>
                                <a:schemeClr val="tx1"/>
                              </a:solidFill>
                              <a:latin typeface="MS PGothic" panose="020B0600070205080204" pitchFamily="34" charset="-128"/>
                              <a:ea typeface="MS PGothic" panose="020B0600070205080204" pitchFamily="34" charset="-128"/>
                            </a:rPr>
                            <a:t> </a:t>
                          </a:r>
                          <a:r>
                            <a:rPr kumimoji="1" lang="en-US" altLang="ja-JP" sz="3200" b="0" dirty="0">
                              <a:solidFill>
                                <a:schemeClr val="tx1"/>
                              </a:solidFill>
                              <a:latin typeface="MS PGothic" panose="020B0600070205080204" pitchFamily="34" charset="-128"/>
                              <a:ea typeface="MS PGothic" panose="020B0600070205080204" pitchFamily="34" charset="-128"/>
                            </a:rPr>
                            <a:t>/ 7,515</a:t>
                          </a:r>
                          <a:r>
                            <a:rPr kumimoji="1" lang="ja-JP" altLang="en-US" sz="3200" b="0">
                              <a:solidFill>
                                <a:schemeClr val="tx1"/>
                              </a:solidFill>
                              <a:latin typeface="MS PGothic" panose="020B0600070205080204" pitchFamily="34" charset="-128"/>
                              <a:ea typeface="MS PGothic" panose="020B0600070205080204" pitchFamily="34" charset="-128"/>
                            </a:rPr>
                            <a:t>枚</a:t>
                          </a:r>
                          <a:r>
                            <a:rPr kumimoji="1" lang="en-US" altLang="ja-JP" sz="3200" b="0" dirty="0">
                              <a:solidFill>
                                <a:schemeClr val="tx1"/>
                              </a:solidFill>
                              <a:latin typeface="MS PGothic" panose="020B0600070205080204" pitchFamily="34" charset="-128"/>
                              <a:ea typeface="MS PGothic" panose="020B0600070205080204" pitchFamily="34" charset="-128"/>
                            </a:rPr>
                            <a:t>(test)</a:t>
                          </a:r>
                          <a:endParaRPr kumimoji="1" lang="ja-JP" altLang="en-US" sz="3200" b="0" dirty="0">
                            <a:solidFill>
                              <a:schemeClr val="tx1"/>
                            </a:solidFill>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extLst>
                      <a:ext uri="{0D108BD9-81ED-4DB2-BD59-A6C34878D82A}">
                        <a16:rowId xmlns:a16="http://schemas.microsoft.com/office/drawing/2014/main" val="3361642135"/>
                      </a:ext>
                    </a:extLst>
                  </a:tr>
                  <a:tr h="579120">
                    <a:tc vMerge="1">
                      <a:txBody>
                        <a:bodyPr/>
                        <a:lstStyle/>
                        <a:p>
                          <a:pPr algn="ctr"/>
                          <a:endParaRPr kumimoji="1" lang="ja-JP" altLang="en-US" sz="4000" b="0" dirty="0">
                            <a:solidFill>
                              <a:schemeClr val="tx1"/>
                            </a:solidFill>
                            <a:latin typeface="MS PGothic" panose="020B0600070205080204" pitchFamily="34" charset="-128"/>
                            <a:ea typeface="MS PGothic" panose="020B0600070205080204" pitchFamily="34" charset="-128"/>
                          </a:endParaRPr>
                        </a:p>
                      </a:txBody>
                      <a:tcPr>
                        <a:solidFill>
                          <a:srgbClr val="E9EBF5"/>
                        </a:solidFill>
                      </a:tcPr>
                    </a:tc>
                    <a:tc>
                      <a:txBody>
                        <a:bodyPr/>
                        <a:lstStyle/>
                        <a:p>
                          <a:pPr algn="ctr"/>
                          <a:r>
                            <a:rPr kumimoji="1" lang="ja-JP" altLang="en-US" sz="3200" b="0" dirty="0">
                              <a:solidFill>
                                <a:schemeClr val="tx1"/>
                              </a:solidFill>
                              <a:latin typeface="MS PGothic" panose="020B0600070205080204" pitchFamily="34" charset="-128"/>
                              <a:ea typeface="MS PGothic" panose="020B0600070205080204" pitchFamily="34" charset="-128"/>
                            </a:rPr>
                            <a:t>大喜利</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tc>
                      <a:txBody>
                        <a:bodyPr/>
                        <a:lstStyle/>
                        <a:p>
                          <a:pPr algn="ctr"/>
                          <a:r>
                            <a:rPr kumimoji="1" lang="en-US" altLang="ja-JP" sz="3200" b="0" dirty="0">
                              <a:solidFill>
                                <a:schemeClr val="tx1"/>
                              </a:solidFill>
                              <a:latin typeface="MS PGothic" panose="020B0600070205080204" pitchFamily="34" charset="-128"/>
                              <a:ea typeface="MS PGothic" panose="020B0600070205080204" pitchFamily="34" charset="-128"/>
                            </a:rPr>
                            <a:t>849,043</a:t>
                          </a:r>
                          <a:r>
                            <a:rPr kumimoji="1" lang="ja-JP" altLang="en-US" sz="3200" b="0">
                              <a:solidFill>
                                <a:schemeClr val="tx1"/>
                              </a:solidFill>
                              <a:latin typeface="MS PGothic" panose="020B0600070205080204" pitchFamily="34" charset="-128"/>
                              <a:ea typeface="MS PGothic" panose="020B0600070205080204" pitchFamily="34" charset="-128"/>
                            </a:rPr>
                            <a:t>件</a:t>
                          </a:r>
                          <a:r>
                            <a:rPr kumimoji="1" lang="en-US" altLang="ja-JP" sz="3200" b="0" dirty="0">
                              <a:solidFill>
                                <a:schemeClr val="tx1"/>
                              </a:solidFill>
                              <a:latin typeface="MS PGothic" panose="020B0600070205080204" pitchFamily="34" charset="-128"/>
                              <a:ea typeface="MS PGothic" panose="020B0600070205080204" pitchFamily="34" charset="-128"/>
                            </a:rPr>
                            <a:t>(train) / 8,577</a:t>
                          </a:r>
                          <a:r>
                            <a:rPr kumimoji="1" lang="ja-JP" altLang="en-US" sz="3200" b="0">
                              <a:solidFill>
                                <a:schemeClr val="tx1"/>
                              </a:solidFill>
                              <a:latin typeface="MS PGothic" panose="020B0600070205080204" pitchFamily="34" charset="-128"/>
                              <a:ea typeface="MS PGothic" panose="020B0600070205080204" pitchFamily="34" charset="-128"/>
                            </a:rPr>
                            <a:t>件</a:t>
                          </a:r>
                          <a:r>
                            <a:rPr kumimoji="1" lang="en-US" altLang="ja-JP" sz="3200" b="0" dirty="0">
                              <a:solidFill>
                                <a:schemeClr val="tx1"/>
                              </a:solidFill>
                              <a:latin typeface="MS PGothic" panose="020B0600070205080204" pitchFamily="34" charset="-128"/>
                              <a:ea typeface="MS PGothic" panose="020B0600070205080204" pitchFamily="34" charset="-128"/>
                            </a:rPr>
                            <a:t>(test)</a:t>
                          </a:r>
                          <a:endParaRPr kumimoji="1" lang="ja-JP" altLang="en-US" sz="3200" b="0" dirty="0">
                            <a:solidFill>
                              <a:schemeClr val="tx1"/>
                            </a:solidFill>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extLst>
                      <a:ext uri="{0D108BD9-81ED-4DB2-BD59-A6C34878D82A}">
                        <a16:rowId xmlns:a16="http://schemas.microsoft.com/office/drawing/2014/main" val="138946860"/>
                      </a:ext>
                    </a:extLst>
                  </a:tr>
                  <a:tr h="579120">
                    <a:tc gridSpan="2">
                      <a:txBody>
                        <a:bodyPr/>
                        <a:lstStyle/>
                        <a:p>
                          <a:pPr algn="ctr"/>
                          <a:r>
                            <a:rPr kumimoji="1" lang="ja-JP" altLang="en-US" sz="3200" b="0" dirty="0">
                              <a:latin typeface="MS PGothic" panose="020B0600070205080204" pitchFamily="34" charset="-128"/>
                              <a:ea typeface="MS PGothic" panose="020B0600070205080204" pitchFamily="34" charset="-128"/>
                            </a:rPr>
                            <a:t>最適化手法</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hMerge="1">
                      <a:txBody>
                        <a:bodyPr/>
                        <a:lstStyle/>
                        <a:p>
                          <a:endParaRPr kumimoji="1" lang="ja-JP" altLang="en-US"/>
                        </a:p>
                      </a:txBody>
                      <a:tcPr/>
                    </a:tc>
                    <a:tc>
                      <a:txBody>
                        <a:bodyPr/>
                        <a:lstStyle/>
                        <a:p>
                          <a:endParaRPr lang="ja-JP"/>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blipFill>
                          <a:blip r:embed="rId24"/>
                          <a:stretch>
                            <a:fillRect l="-99322" t="-210870" r="-169" b="-330435"/>
                          </a:stretch>
                        </a:blipFill>
                      </a:tcPr>
                    </a:tc>
                    <a:extLst>
                      <a:ext uri="{0D108BD9-81ED-4DB2-BD59-A6C34878D82A}">
                        <a16:rowId xmlns:a16="http://schemas.microsoft.com/office/drawing/2014/main" val="1801116897"/>
                      </a:ext>
                    </a:extLst>
                  </a:tr>
                  <a:tr h="579120">
                    <a:tc gridSpan="2">
                      <a:txBody>
                        <a:bodyPr/>
                        <a:lstStyle/>
                        <a:p>
                          <a:pPr algn="ctr"/>
                          <a:r>
                            <a:rPr kumimoji="1" lang="ja-JP" altLang="en-US" sz="3200" b="0">
                              <a:latin typeface="MS PGothic" panose="020B0600070205080204" pitchFamily="34" charset="-128"/>
                              <a:ea typeface="MS PGothic" panose="020B0600070205080204" pitchFamily="34" charset="-128"/>
                            </a:rPr>
                            <a:t>ミニバッチサイズ</a:t>
                          </a:r>
                          <a:r>
                            <a:rPr kumimoji="1" lang="en-US" altLang="ja-JP" sz="3200" b="0" dirty="0">
                              <a:latin typeface="MS PGothic" panose="020B0600070205080204" pitchFamily="34" charset="-128"/>
                              <a:ea typeface="MS PGothic" panose="020B0600070205080204" pitchFamily="34" charset="-128"/>
                            </a:rPr>
                            <a:t> / </a:t>
                          </a:r>
                          <a:r>
                            <a:rPr kumimoji="1" lang="ja-JP" altLang="en-US" sz="3200" b="0">
                              <a:latin typeface="MS PGothic" panose="020B0600070205080204" pitchFamily="34" charset="-128"/>
                              <a:ea typeface="MS PGothic" panose="020B0600070205080204" pitchFamily="34" charset="-128"/>
                            </a:rPr>
                            <a:t>学習反復回数</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hMerge="1">
                      <a:txBody>
                        <a:bodyPr/>
                        <a:lstStyle/>
                        <a:p>
                          <a:endParaRPr kumimoji="1" lang="ja-JP" altLang="en-US"/>
                        </a:p>
                      </a:txBody>
                      <a:tcPr/>
                    </a:tc>
                    <a:tc>
                      <a:txBody>
                        <a:bodyPr/>
                        <a:lstStyle/>
                        <a:p>
                          <a:pPr marL="0" indent="0" algn="ctr">
                            <a:buFont typeface="Arial" panose="020B0604020202020204" pitchFamily="34" charset="0"/>
                            <a:buNone/>
                          </a:pPr>
                          <a:r>
                            <a:rPr kumimoji="1" lang="en" altLang="ja-JP" sz="3200" b="0" dirty="0">
                              <a:latin typeface="MS PGothic" panose="020B0600070205080204" pitchFamily="34" charset="-128"/>
                              <a:ea typeface="MS PGothic" panose="020B0600070205080204" pitchFamily="34" charset="-128"/>
                            </a:rPr>
                            <a:t>64 / 100</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3798152386"/>
                      </a:ext>
                    </a:extLst>
                  </a:tr>
                  <a:tr h="579120">
                    <a:tc gridSpan="2">
                      <a:txBody>
                        <a:bodyPr/>
                        <a:lstStyle/>
                        <a:p>
                          <a:pPr algn="ctr"/>
                          <a:r>
                            <a:rPr kumimoji="1" lang="ja-JP" altLang="en-US" sz="3200" b="0">
                              <a:latin typeface="MS PGothic" panose="020B0600070205080204" pitchFamily="34" charset="-128"/>
                              <a:ea typeface="MS PGothic" panose="020B0600070205080204" pitchFamily="34" charset="-128"/>
                            </a:rPr>
                            <a:t>特徴量次元数</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hMerge="1">
                      <a:txBody>
                        <a:bodyPr/>
                        <a:lstStyle/>
                        <a:p>
                          <a:endParaRPr kumimoji="1" lang="ja-JP" altLang="en-US"/>
                        </a:p>
                      </a:txBody>
                      <a:tcPr/>
                    </a:tc>
                    <a:tc>
                      <a:txBody>
                        <a:bodyPr/>
                        <a:lstStyle/>
                        <a:p>
                          <a:pPr marL="0" indent="0" algn="ctr">
                            <a:buFont typeface="Arial" panose="020B0604020202020204" pitchFamily="34" charset="0"/>
                            <a:buNone/>
                          </a:pPr>
                          <a:r>
                            <a:rPr kumimoji="1" lang="en" altLang="ja-JP" sz="3200" b="0" dirty="0">
                              <a:latin typeface="MS PGothic" panose="020B0600070205080204" pitchFamily="34" charset="-128"/>
                              <a:ea typeface="MS PGothic" panose="020B0600070205080204" pitchFamily="34" charset="-128"/>
                            </a:rPr>
                            <a:t>768</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2893383439"/>
                      </a:ext>
                    </a:extLst>
                  </a:tr>
                  <a:tr h="579120">
                    <a:tc gridSpan="2">
                      <a:txBody>
                        <a:bodyPr/>
                        <a:lstStyle/>
                        <a:p>
                          <a:pPr algn="ctr"/>
                          <a:r>
                            <a:rPr kumimoji="1" lang="en-US" altLang="ja-JP" sz="3200" b="0" dirty="0">
                              <a:latin typeface="MS PGothic" panose="020B0600070205080204" pitchFamily="34" charset="-128"/>
                              <a:ea typeface="MS PGothic" panose="020B0600070205080204" pitchFamily="34" charset="-128"/>
                            </a:rPr>
                            <a:t>Cross-Attention</a:t>
                          </a:r>
                          <a:r>
                            <a:rPr kumimoji="1" lang="ja-JP" altLang="en-US" sz="3200" b="0">
                              <a:latin typeface="MS PGothic" panose="020B0600070205080204" pitchFamily="34" charset="-128"/>
                              <a:ea typeface="MS PGothic" panose="020B0600070205080204" pitchFamily="34" charset="-128"/>
                            </a:rPr>
                            <a:t>層数</a:t>
                          </a:r>
                          <a:r>
                            <a:rPr kumimoji="1" lang="en-US" altLang="ja-JP" sz="3200" b="0" dirty="0">
                              <a:latin typeface="MS PGothic" panose="020B0600070205080204" pitchFamily="34" charset="-128"/>
                              <a:ea typeface="MS PGothic" panose="020B0600070205080204" pitchFamily="34" charset="-128"/>
                            </a:rPr>
                            <a:t> / Head</a:t>
                          </a:r>
                          <a:r>
                            <a:rPr kumimoji="1" lang="ja-JP" altLang="en-US" sz="3200" b="0">
                              <a:latin typeface="MS PGothic" panose="020B0600070205080204" pitchFamily="34" charset="-128"/>
                              <a:ea typeface="MS PGothic" panose="020B0600070205080204" pitchFamily="34" charset="-128"/>
                            </a:rPr>
                            <a:t>数</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hMerge="1">
                      <a:txBody>
                        <a:bodyPr/>
                        <a:lstStyle/>
                        <a:p>
                          <a:endParaRPr kumimoji="1" lang="ja-JP" altLang="en-US"/>
                        </a:p>
                      </a:txBody>
                      <a:tcPr/>
                    </a:tc>
                    <a:tc>
                      <a:txBody>
                        <a:bodyPr/>
                        <a:lstStyle/>
                        <a:p>
                          <a:pPr marL="0" indent="0" algn="ctr">
                            <a:buFont typeface="Arial" panose="020B0604020202020204" pitchFamily="34" charset="0"/>
                            <a:buNone/>
                          </a:pPr>
                          <a:r>
                            <a:rPr kumimoji="1" lang="en" altLang="ja-JP" sz="3200" b="0" dirty="0">
                              <a:latin typeface="MS PGothic" panose="020B0600070205080204" pitchFamily="34" charset="-128"/>
                              <a:ea typeface="MS PGothic" panose="020B0600070205080204" pitchFamily="34" charset="-128"/>
                            </a:rPr>
                            <a:t>4 / 4</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1512307595"/>
                      </a:ext>
                    </a:extLst>
                  </a:tr>
                </a:tbl>
              </a:graphicData>
            </a:graphic>
          </p:graphicFrame>
        </mc:Fallback>
      </mc:AlternateContent>
      <p:sp>
        <p:nvSpPr>
          <p:cNvPr id="1219" name="テキスト ボックス 1218">
            <a:extLst>
              <a:ext uri="{FF2B5EF4-FFF2-40B4-BE49-F238E27FC236}">
                <a16:creationId xmlns:a16="http://schemas.microsoft.com/office/drawing/2014/main" id="{E8CA0E3F-E168-A3C8-40DE-8B06AB981F5D}"/>
              </a:ext>
            </a:extLst>
          </p:cNvPr>
          <p:cNvSpPr txBox="1"/>
          <p:nvPr/>
        </p:nvSpPr>
        <p:spPr>
          <a:xfrm>
            <a:off x="249830" y="28883073"/>
            <a:ext cx="14869520" cy="584775"/>
          </a:xfrm>
          <a:prstGeom prst="rect">
            <a:avLst/>
          </a:prstGeom>
          <a:noFill/>
        </p:spPr>
        <p:txBody>
          <a:bodyPr wrap="square" rtlCol="0">
            <a:spAutoFit/>
          </a:bodyPr>
          <a:lstStyle/>
          <a:p>
            <a:pPr algn="ctr"/>
            <a:r>
              <a:rPr kumimoji="1" lang="ja-JP" altLang="en-US" sz="3200">
                <a:latin typeface="MS PGothic" panose="020B0600070205080204" pitchFamily="34" charset="-128"/>
                <a:ea typeface="MS PGothic" panose="020B0600070205080204" pitchFamily="34" charset="-128"/>
              </a:rPr>
              <a:t>表</a:t>
            </a:r>
            <a:r>
              <a:rPr kumimoji="1" lang="en-US" altLang="ja-JP" sz="3200" dirty="0">
                <a:latin typeface="MS PGothic" panose="020B0600070205080204" pitchFamily="34" charset="-128"/>
                <a:ea typeface="MS PGothic" panose="020B0600070205080204" pitchFamily="34" charset="-128"/>
              </a:rPr>
              <a:t>2</a:t>
            </a:r>
            <a:r>
              <a:rPr kumimoji="1" lang="ja-JP" altLang="en-US" sz="3200">
                <a:latin typeface="MS PGothic" panose="020B0600070205080204" pitchFamily="34" charset="-128"/>
                <a:ea typeface="MS PGothic" panose="020B0600070205080204" pitchFamily="34" charset="-128"/>
              </a:rPr>
              <a:t>　</a:t>
            </a:r>
            <a:r>
              <a:rPr kumimoji="1" lang="ja-JP" altLang="en-US" sz="3200" dirty="0">
                <a:latin typeface="MS PGothic" panose="020B0600070205080204" pitchFamily="34" charset="-128"/>
                <a:ea typeface="MS PGothic" panose="020B0600070205080204" pitchFamily="34" charset="-128"/>
              </a:rPr>
              <a:t>実験条件</a:t>
            </a:r>
            <a:endParaRPr kumimoji="1" lang="en-US" altLang="ja-JP" sz="3200" dirty="0">
              <a:latin typeface="MS PGothic" panose="020B0600070205080204" pitchFamily="34" charset="-128"/>
              <a:ea typeface="MS PGothic" panose="020B0600070205080204" pitchFamily="34" charset="-128"/>
            </a:endParaRPr>
          </a:p>
        </p:txBody>
      </p:sp>
      <p:graphicFrame>
        <p:nvGraphicFramePr>
          <p:cNvPr id="1220" name="表 1219">
            <a:extLst>
              <a:ext uri="{FF2B5EF4-FFF2-40B4-BE49-F238E27FC236}">
                <a16:creationId xmlns:a16="http://schemas.microsoft.com/office/drawing/2014/main" id="{030767EE-293C-39AA-86D3-E61483453CCD}"/>
              </a:ext>
            </a:extLst>
          </p:cNvPr>
          <p:cNvGraphicFramePr>
            <a:graphicFrameLocks noGrp="1"/>
          </p:cNvGraphicFramePr>
          <p:nvPr>
            <p:extLst>
              <p:ext uri="{D42A27DB-BD31-4B8C-83A1-F6EECF244321}">
                <p14:modId xmlns:p14="http://schemas.microsoft.com/office/powerpoint/2010/main" val="2339919538"/>
              </p:ext>
            </p:extLst>
          </p:nvPr>
        </p:nvGraphicFramePr>
        <p:xfrm>
          <a:off x="231670" y="38856105"/>
          <a:ext cx="14909738" cy="2316480"/>
        </p:xfrm>
        <a:graphic>
          <a:graphicData uri="http://schemas.openxmlformats.org/drawingml/2006/table">
            <a:tbl>
              <a:tblPr firstRow="1" bandRow="1">
                <a:tableStyleId>{5C22544A-7EE6-4342-B048-85BDC9FD1C3A}</a:tableStyleId>
              </a:tblPr>
              <a:tblGrid>
                <a:gridCol w="7454869">
                  <a:extLst>
                    <a:ext uri="{9D8B030D-6E8A-4147-A177-3AD203B41FA5}">
                      <a16:colId xmlns:a16="http://schemas.microsoft.com/office/drawing/2014/main" val="1302717659"/>
                    </a:ext>
                  </a:extLst>
                </a:gridCol>
                <a:gridCol w="7454869">
                  <a:extLst>
                    <a:ext uri="{9D8B030D-6E8A-4147-A177-3AD203B41FA5}">
                      <a16:colId xmlns:a16="http://schemas.microsoft.com/office/drawing/2014/main" val="118972529"/>
                    </a:ext>
                  </a:extLst>
                </a:gridCol>
              </a:tblGrid>
              <a:tr h="569178">
                <a:tc>
                  <a:txBody>
                    <a:bodyPr/>
                    <a:lstStyle/>
                    <a:p>
                      <a:pPr algn="ctr"/>
                      <a:r>
                        <a:rPr kumimoji="1" lang="ja-JP" altLang="en-US" sz="3200" b="0" dirty="0">
                          <a:latin typeface="MS PGothic" panose="020B0600070205080204" pitchFamily="34" charset="-128"/>
                          <a:ea typeface="MS PGothic" panose="020B0600070205080204" pitchFamily="34" charset="-128"/>
                        </a:rPr>
                        <a:t>モデル</a:t>
                      </a:r>
                    </a:p>
                  </a:txBody>
                  <a:tcPr>
                    <a:solidFill>
                      <a:srgbClr val="0070C0"/>
                    </a:solidFill>
                  </a:tcPr>
                </a:tc>
                <a:tc>
                  <a:txBody>
                    <a:bodyPr/>
                    <a:lstStyle/>
                    <a:p>
                      <a:pPr algn="ctr"/>
                      <a:r>
                        <a:rPr kumimoji="1" lang="en-US" altLang="ja-JP" sz="3200" b="0" dirty="0">
                          <a:latin typeface="MS PGothic" panose="020B0600070205080204" pitchFamily="34" charset="-128"/>
                          <a:ea typeface="MS PGothic" panose="020B0600070205080204" pitchFamily="34" charset="-128"/>
                        </a:rPr>
                        <a:t>Perplexity</a:t>
                      </a:r>
                      <a:endParaRPr kumimoji="1" lang="ja-JP" altLang="en-US" sz="3200" b="0" dirty="0">
                        <a:latin typeface="MS PGothic" panose="020B0600070205080204" pitchFamily="34" charset="-128"/>
                        <a:ea typeface="MS PGothic" panose="020B0600070205080204" pitchFamily="34" charset="-128"/>
                      </a:endParaRPr>
                    </a:p>
                  </a:txBody>
                  <a:tcPr>
                    <a:solidFill>
                      <a:srgbClr val="0070C0"/>
                    </a:solidFill>
                  </a:tcPr>
                </a:tc>
                <a:extLst>
                  <a:ext uri="{0D108BD9-81ED-4DB2-BD59-A6C34878D82A}">
                    <a16:rowId xmlns:a16="http://schemas.microsoft.com/office/drawing/2014/main" val="3361642135"/>
                  </a:ext>
                </a:extLst>
              </a:tr>
              <a:tr h="405772">
                <a:tc>
                  <a:txBody>
                    <a:bodyPr/>
                    <a:lstStyle/>
                    <a:p>
                      <a:pPr algn="ctr"/>
                      <a:r>
                        <a:rPr kumimoji="1" lang="ja-JP" altLang="en-US" sz="3200" b="0">
                          <a:latin typeface="MS PGothic" panose="020B0600070205080204" pitchFamily="34" charset="-128"/>
                          <a:ea typeface="MS PGothic" panose="020B0600070205080204" pitchFamily="34" charset="-128"/>
                        </a:rPr>
                        <a:t>提案手法</a:t>
                      </a:r>
                    </a:p>
                  </a:txBody>
                  <a:tcPr/>
                </a:tc>
                <a:tc>
                  <a:txBody>
                    <a:bodyPr/>
                    <a:lstStyle/>
                    <a:p>
                      <a:pPr marL="0" indent="0" algn="ctr">
                        <a:buFont typeface="Arial" panose="020B0604020202020204" pitchFamily="34" charset="0"/>
                        <a:buNone/>
                      </a:pPr>
                      <a:r>
                        <a:rPr kumimoji="1" lang="en-US" altLang="ja-JP" sz="3200" b="0" dirty="0">
                          <a:latin typeface="MS PGothic" panose="020B0600070205080204" pitchFamily="34" charset="-128"/>
                          <a:ea typeface="MS PGothic" panose="020B0600070205080204" pitchFamily="34" charset="-128"/>
                        </a:rPr>
                        <a:t>40.564274</a:t>
                      </a:r>
                    </a:p>
                  </a:txBody>
                  <a:tcPr/>
                </a:tc>
                <a:extLst>
                  <a:ext uri="{0D108BD9-81ED-4DB2-BD59-A6C34878D82A}">
                    <a16:rowId xmlns:a16="http://schemas.microsoft.com/office/drawing/2014/main" val="1801116897"/>
                  </a:ext>
                </a:extLst>
              </a:tr>
              <a:tr h="405772">
                <a:tc>
                  <a:txBody>
                    <a:bodyPr/>
                    <a:lstStyle/>
                    <a:p>
                      <a:pPr algn="ctr"/>
                      <a:r>
                        <a:rPr kumimoji="1" lang="en-US" altLang="ja-JP" sz="3200" b="0" dirty="0">
                          <a:latin typeface="MS PGothic" panose="020B0600070205080204" pitchFamily="34" charset="-128"/>
                          <a:ea typeface="MS PGothic" panose="020B0600070205080204" pitchFamily="34" charset="-128"/>
                        </a:rPr>
                        <a:t>NJM</a:t>
                      </a:r>
                      <a:endParaRPr kumimoji="1" lang="ja-JP" altLang="en-US" sz="3200" b="0">
                        <a:latin typeface="MS PGothic" panose="020B0600070205080204" pitchFamily="34" charset="-128"/>
                        <a:ea typeface="MS PGothic" panose="020B0600070205080204" pitchFamily="34" charset="-128"/>
                      </a:endParaRPr>
                    </a:p>
                  </a:txBody>
                  <a:tcPr/>
                </a:tc>
                <a:tc>
                  <a:txBody>
                    <a:bodyPr/>
                    <a:lstStyle/>
                    <a:p>
                      <a:pPr marL="0" indent="0" algn="ctr">
                        <a:buFont typeface="Arial" panose="020B0604020202020204" pitchFamily="34" charset="0"/>
                        <a:buNone/>
                      </a:pPr>
                      <a:r>
                        <a:rPr kumimoji="1" lang="en" altLang="ja-JP" sz="3200" b="0" dirty="0">
                          <a:latin typeface="MS PGothic" panose="020B0600070205080204" pitchFamily="34" charset="-128"/>
                          <a:ea typeface="MS PGothic" panose="020B0600070205080204" pitchFamily="34" charset="-128"/>
                        </a:rPr>
                        <a:t>46.557705</a:t>
                      </a:r>
                    </a:p>
                  </a:txBody>
                  <a:tcPr/>
                </a:tc>
                <a:extLst>
                  <a:ext uri="{0D108BD9-81ED-4DB2-BD59-A6C34878D82A}">
                    <a16:rowId xmlns:a16="http://schemas.microsoft.com/office/drawing/2014/main" val="3798152386"/>
                  </a:ext>
                </a:extLst>
              </a:tr>
              <a:tr h="405772">
                <a:tc>
                  <a:txBody>
                    <a:bodyPr/>
                    <a:lstStyle/>
                    <a:p>
                      <a:pPr algn="ctr"/>
                      <a:r>
                        <a:rPr kumimoji="1" lang="en-US" altLang="ja-JP" sz="3200" b="0" dirty="0">
                          <a:latin typeface="MS PGothic" panose="020B0600070205080204" pitchFamily="34" charset="-128"/>
                          <a:ea typeface="MS PGothic" panose="020B0600070205080204" pitchFamily="34" charset="-128"/>
                        </a:rPr>
                        <a:t>GUMI-AE</a:t>
                      </a:r>
                      <a:endParaRPr kumimoji="1" lang="ja-JP" altLang="en-US" sz="3200" b="0">
                        <a:latin typeface="MS PGothic" panose="020B0600070205080204" pitchFamily="34" charset="-128"/>
                        <a:ea typeface="MS PGothic" panose="020B0600070205080204" pitchFamily="34" charset="-128"/>
                      </a:endParaRPr>
                    </a:p>
                  </a:txBody>
                  <a:tcPr/>
                </a:tc>
                <a:tc>
                  <a:txBody>
                    <a:bodyPr/>
                    <a:lstStyle/>
                    <a:p>
                      <a:pPr marL="0" indent="0" algn="ctr">
                        <a:buFont typeface="Arial" panose="020B0604020202020204" pitchFamily="34" charset="0"/>
                        <a:buNone/>
                      </a:pPr>
                      <a:r>
                        <a:rPr kumimoji="1" lang="en" altLang="ja-JP" sz="3200" b="0" dirty="0">
                          <a:latin typeface="MS PGothic" panose="020B0600070205080204" pitchFamily="34" charset="-128"/>
                          <a:ea typeface="MS PGothic" panose="020B0600070205080204" pitchFamily="34" charset="-128"/>
                        </a:rPr>
                        <a:t>47.633007</a:t>
                      </a:r>
                    </a:p>
                  </a:txBody>
                  <a:tcPr/>
                </a:tc>
                <a:extLst>
                  <a:ext uri="{0D108BD9-81ED-4DB2-BD59-A6C34878D82A}">
                    <a16:rowId xmlns:a16="http://schemas.microsoft.com/office/drawing/2014/main" val="2893383439"/>
                  </a:ext>
                </a:extLst>
              </a:tr>
            </a:tbl>
          </a:graphicData>
        </a:graphic>
      </p:graphicFrame>
      <p:sp>
        <p:nvSpPr>
          <p:cNvPr id="1221" name="テキスト ボックス 1220">
            <a:extLst>
              <a:ext uri="{FF2B5EF4-FFF2-40B4-BE49-F238E27FC236}">
                <a16:creationId xmlns:a16="http://schemas.microsoft.com/office/drawing/2014/main" id="{FE1E0AD3-C587-809F-1328-8915F8597AAB}"/>
              </a:ext>
            </a:extLst>
          </p:cNvPr>
          <p:cNvSpPr txBox="1"/>
          <p:nvPr/>
        </p:nvSpPr>
        <p:spPr>
          <a:xfrm>
            <a:off x="214457" y="38256296"/>
            <a:ext cx="14926951" cy="584775"/>
          </a:xfrm>
          <a:prstGeom prst="rect">
            <a:avLst/>
          </a:prstGeom>
          <a:noFill/>
        </p:spPr>
        <p:txBody>
          <a:bodyPr wrap="square" rtlCol="0">
            <a:spAutoFit/>
          </a:bodyPr>
          <a:lstStyle/>
          <a:p>
            <a:pPr algn="ctr"/>
            <a:r>
              <a:rPr kumimoji="1" lang="ja-JP" altLang="en-US" sz="3200">
                <a:latin typeface="MS PGothic" panose="020B0600070205080204" pitchFamily="34" charset="-128"/>
                <a:ea typeface="MS PGothic" panose="020B0600070205080204" pitchFamily="34" charset="-128"/>
              </a:rPr>
              <a:t>表</a:t>
            </a:r>
            <a:r>
              <a:rPr kumimoji="1" lang="en-US" altLang="ja-JP" sz="3200" dirty="0">
                <a:latin typeface="MS PGothic" panose="020B0600070205080204" pitchFamily="34" charset="-128"/>
                <a:ea typeface="MS PGothic" panose="020B0600070205080204" pitchFamily="34" charset="-128"/>
              </a:rPr>
              <a:t>3</a:t>
            </a:r>
            <a:r>
              <a:rPr kumimoji="1" lang="ja-JP" altLang="en-US" sz="3200">
                <a:latin typeface="MS PGothic" panose="020B0600070205080204" pitchFamily="34" charset="-128"/>
                <a:ea typeface="MS PGothic" panose="020B0600070205080204" pitchFamily="34" charset="-128"/>
              </a:rPr>
              <a:t>　</a:t>
            </a:r>
            <a:r>
              <a:rPr kumimoji="1" lang="ja-JP" altLang="en-US" sz="3200" dirty="0">
                <a:latin typeface="MS PGothic" panose="020B0600070205080204" pitchFamily="34" charset="-128"/>
                <a:ea typeface="MS PGothic" panose="020B0600070205080204" pitchFamily="34" charset="-128"/>
              </a:rPr>
              <a:t>テストデータに</a:t>
            </a:r>
            <a:r>
              <a:rPr kumimoji="1" lang="ja-JP" altLang="en-US" sz="3200">
                <a:latin typeface="MS PGothic" panose="020B0600070205080204" pitchFamily="34" charset="-128"/>
                <a:ea typeface="MS PGothic" panose="020B0600070205080204" pitchFamily="34" charset="-128"/>
              </a:rPr>
              <a:t>対する</a:t>
            </a:r>
            <a:r>
              <a:rPr kumimoji="1" lang="en-US" altLang="ja-JP" sz="3200" dirty="0">
                <a:latin typeface="MS PGothic" panose="020B0600070205080204" pitchFamily="34" charset="-128"/>
                <a:ea typeface="MS PGothic" panose="020B0600070205080204" pitchFamily="34" charset="-128"/>
              </a:rPr>
              <a:t>Perplexity</a:t>
            </a:r>
          </a:p>
        </p:txBody>
      </p:sp>
      <p:graphicFrame>
        <p:nvGraphicFramePr>
          <p:cNvPr id="1225" name="表 1224">
            <a:extLst>
              <a:ext uri="{FF2B5EF4-FFF2-40B4-BE49-F238E27FC236}">
                <a16:creationId xmlns:a16="http://schemas.microsoft.com/office/drawing/2014/main" id="{F35CDDA5-C2FA-3D97-DB1C-7B8566EABE4D}"/>
              </a:ext>
            </a:extLst>
          </p:cNvPr>
          <p:cNvGraphicFramePr>
            <a:graphicFrameLocks noGrp="1"/>
          </p:cNvGraphicFramePr>
          <p:nvPr>
            <p:extLst>
              <p:ext uri="{D42A27DB-BD31-4B8C-83A1-F6EECF244321}">
                <p14:modId xmlns:p14="http://schemas.microsoft.com/office/powerpoint/2010/main" val="406165893"/>
              </p:ext>
            </p:extLst>
          </p:nvPr>
        </p:nvGraphicFramePr>
        <p:xfrm>
          <a:off x="15188038" y="28030639"/>
          <a:ext cx="14847113" cy="9975072"/>
        </p:xfrm>
        <a:graphic>
          <a:graphicData uri="http://schemas.openxmlformats.org/drawingml/2006/table">
            <a:tbl>
              <a:tblPr firstRow="1" bandRow="1">
                <a:tableStyleId>{5C22544A-7EE6-4342-B048-85BDC9FD1C3A}</a:tableStyleId>
              </a:tblPr>
              <a:tblGrid>
                <a:gridCol w="3099962">
                  <a:extLst>
                    <a:ext uri="{9D8B030D-6E8A-4147-A177-3AD203B41FA5}">
                      <a16:colId xmlns:a16="http://schemas.microsoft.com/office/drawing/2014/main" val="1302717659"/>
                    </a:ext>
                  </a:extLst>
                </a:gridCol>
                <a:gridCol w="3186637">
                  <a:extLst>
                    <a:ext uri="{9D8B030D-6E8A-4147-A177-3AD203B41FA5}">
                      <a16:colId xmlns:a16="http://schemas.microsoft.com/office/drawing/2014/main" val="118972529"/>
                    </a:ext>
                  </a:extLst>
                </a:gridCol>
                <a:gridCol w="8560514">
                  <a:extLst>
                    <a:ext uri="{9D8B030D-6E8A-4147-A177-3AD203B41FA5}">
                      <a16:colId xmlns:a16="http://schemas.microsoft.com/office/drawing/2014/main" val="2229152924"/>
                    </a:ext>
                  </a:extLst>
                </a:gridCol>
              </a:tblGrid>
              <a:tr h="567444">
                <a:tc>
                  <a:txBody>
                    <a:bodyPr/>
                    <a:lstStyle/>
                    <a:p>
                      <a:pPr algn="ctr"/>
                      <a:r>
                        <a:rPr kumimoji="1" lang="ja-JP" altLang="en-US" sz="3200" b="0">
                          <a:latin typeface="MS PGothic" panose="020B0600070205080204" pitchFamily="34" charset="-128"/>
                          <a:ea typeface="MS PGothic" panose="020B0600070205080204" pitchFamily="34" charset="-128"/>
                        </a:rPr>
                        <a:t>入力画像</a:t>
                      </a:r>
                      <a:endParaRPr kumimoji="1" lang="ja-JP" altLang="en-US" sz="3200" b="0" dirty="0">
                        <a:latin typeface="MS PGothic" panose="020B0600070205080204" pitchFamily="34" charset="-128"/>
                        <a:ea typeface="MS PGothic" panose="020B0600070205080204" pitchFamily="34" charset="-128"/>
                      </a:endParaRPr>
                    </a:p>
                  </a:txBody>
                  <a:tcPr marT="25200" marB="25200">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0070C0"/>
                    </a:solidFill>
                  </a:tcPr>
                </a:tc>
                <a:tc gridSpan="2">
                  <a:txBody>
                    <a:bodyPr/>
                    <a:lstStyle/>
                    <a:p>
                      <a:pPr algn="ctr"/>
                      <a:r>
                        <a:rPr kumimoji="1" lang="ja-JP" altLang="en-US" sz="3200" b="0" dirty="0">
                          <a:latin typeface="MS PGothic" panose="020B0600070205080204" pitchFamily="34" charset="-128"/>
                          <a:ea typeface="MS PGothic" panose="020B0600070205080204" pitchFamily="34" charset="-128"/>
                        </a:rPr>
                        <a:t>大喜利</a:t>
                      </a:r>
                    </a:p>
                  </a:txBody>
                  <a:tcPr marT="25200" marB="25200">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0070C0"/>
                    </a:solidFill>
                  </a:tcPr>
                </a:tc>
                <a:tc hMerge="1">
                  <a:txBody>
                    <a:bodyPr/>
                    <a:lstStyle/>
                    <a:p>
                      <a:endParaRPr kumimoji="1" lang="ja-JP" altLang="en-US"/>
                    </a:p>
                  </a:txBody>
                  <a:tcPr/>
                </a:tc>
                <a:extLst>
                  <a:ext uri="{0D108BD9-81ED-4DB2-BD59-A6C34878D82A}">
                    <a16:rowId xmlns:a16="http://schemas.microsoft.com/office/drawing/2014/main" val="3361642135"/>
                  </a:ext>
                </a:extLst>
              </a:tr>
              <a:tr h="1045292">
                <a:tc rowSpan="3">
                  <a:txBody>
                    <a:bodyPr/>
                    <a:lstStyle/>
                    <a:p>
                      <a:pPr algn="ctr"/>
                      <a:endParaRPr kumimoji="1" lang="ja-JP" altLang="en-US" sz="3200" b="0">
                        <a:latin typeface="MS PGothic" panose="020B0600070205080204" pitchFamily="34" charset="-128"/>
                        <a:ea typeface="MS PGothic" panose="020B0600070205080204" pitchFamily="34" charset="-128"/>
                      </a:endParaRPr>
                    </a:p>
                  </a:txBody>
                  <a:tcPr marT="25200" marB="25200">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marL="0" indent="0" algn="ctr">
                        <a:buFont typeface="Arial" panose="020B0604020202020204" pitchFamily="34" charset="0"/>
                        <a:buNone/>
                      </a:pPr>
                      <a:r>
                        <a:rPr kumimoji="1" lang="en-US" altLang="ja-JP" sz="3200" b="0" dirty="0">
                          <a:latin typeface="MS PGothic" panose="020B0600070205080204" pitchFamily="34" charset="-128"/>
                          <a:ea typeface="MS PGothic" panose="020B0600070205080204" pitchFamily="34" charset="-128"/>
                        </a:rPr>
                        <a:t>NJM</a:t>
                      </a:r>
                      <a:endParaRPr kumimoji="1" lang="ja-JP" altLang="en-US" sz="3200" b="0" dirty="0">
                        <a:latin typeface="MS PGothic" panose="020B0600070205080204" pitchFamily="34" charset="-128"/>
                        <a:ea typeface="MS PGothic" panose="020B0600070205080204" pitchFamily="34" charset="-128"/>
                      </a:endParaRPr>
                    </a:p>
                  </a:txBody>
                  <a:tcPr marT="25200" marB="2520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marL="571500" indent="-571500" algn="l">
                        <a:buFont typeface="Arial" panose="020B0604020202020204" pitchFamily="34" charset="0"/>
                        <a:buChar char="•"/>
                      </a:pPr>
                      <a:r>
                        <a:rPr kumimoji="1" lang="ja-JP" altLang="en-US" sz="3200" b="0">
                          <a:latin typeface="MS PGothic" panose="020B0600070205080204" pitchFamily="34" charset="-128"/>
                          <a:ea typeface="MS PGothic" panose="020B0600070205080204" pitchFamily="34" charset="-128"/>
                        </a:rPr>
                        <a:t>この状態で</a:t>
                      </a:r>
                      <a:r>
                        <a:rPr kumimoji="1" lang="en-US" altLang="ja-JP" sz="3200" b="0" dirty="0">
                          <a:latin typeface="MS PGothic" panose="020B0600070205080204" pitchFamily="34" charset="-128"/>
                          <a:ea typeface="MS PGothic" panose="020B0600070205080204" pitchFamily="34" charset="-128"/>
                        </a:rPr>
                        <a:t>10</a:t>
                      </a:r>
                      <a:r>
                        <a:rPr kumimoji="1" lang="ja-JP" altLang="en-US" sz="3200" b="0">
                          <a:latin typeface="MS PGothic" panose="020B0600070205080204" pitchFamily="34" charset="-128"/>
                          <a:ea typeface="MS PGothic" panose="020B0600070205080204" pitchFamily="34" charset="-128"/>
                        </a:rPr>
                        <a:t>分経過した</a:t>
                      </a:r>
                      <a:endParaRPr kumimoji="1" lang="en-US" altLang="ja-JP" sz="3200" b="0" dirty="0">
                        <a:latin typeface="MS PGothic" panose="020B0600070205080204" pitchFamily="34" charset="-128"/>
                        <a:ea typeface="MS PGothic" panose="020B0600070205080204" pitchFamily="34" charset="-128"/>
                      </a:endParaRPr>
                    </a:p>
                    <a:p>
                      <a:pPr marL="571500" indent="-571500" algn="l">
                        <a:buFont typeface="Arial" panose="020B0604020202020204" pitchFamily="34" charset="0"/>
                        <a:buChar char="•"/>
                      </a:pPr>
                      <a:r>
                        <a:rPr kumimoji="1" lang="ja-JP" altLang="en-US" sz="3200" b="0">
                          <a:latin typeface="MS PGothic" panose="020B0600070205080204" pitchFamily="34" charset="-128"/>
                          <a:ea typeface="MS PGothic" panose="020B0600070205080204" pitchFamily="34" charset="-128"/>
                        </a:rPr>
                        <a:t>「お前の母ちゃんでーべそ！」</a:t>
                      </a:r>
                      <a:endParaRPr kumimoji="1" lang="ja-JP" altLang="en-US" sz="3200" b="0" dirty="0">
                        <a:latin typeface="MS PGothic" panose="020B0600070205080204" pitchFamily="34" charset="-128"/>
                        <a:ea typeface="MS PGothic" panose="020B0600070205080204" pitchFamily="34" charset="-128"/>
                      </a:endParaRPr>
                    </a:p>
                  </a:txBody>
                  <a:tcPr marT="25200" marB="25200">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1801116897"/>
                  </a:ext>
                </a:extLst>
              </a:tr>
              <a:tr h="1045292">
                <a:tc vMerge="1">
                  <a:txBody>
                    <a:bodyPr/>
                    <a:lstStyle/>
                    <a:p>
                      <a:endParaRPr kumimoji="1" lang="ja-JP" altLang="en-US"/>
                    </a:p>
                  </a:txBody>
                  <a:tcPr/>
                </a:tc>
                <a:tc>
                  <a:txBody>
                    <a:bodyPr/>
                    <a:lstStyle/>
                    <a:p>
                      <a:pPr marL="0" indent="0" algn="ctr">
                        <a:buFont typeface="Arial" panose="020B0604020202020204" pitchFamily="34" charset="0"/>
                        <a:buNone/>
                      </a:pPr>
                      <a:r>
                        <a:rPr kumimoji="1" lang="en-US" altLang="ja-JP" sz="3200" b="0" dirty="0">
                          <a:latin typeface="MS PGothic" panose="020B0600070205080204" pitchFamily="34" charset="-128"/>
                          <a:ea typeface="MS PGothic" panose="020B0600070205080204" pitchFamily="34" charset="-128"/>
                        </a:rPr>
                        <a:t>GUMI-AE</a:t>
                      </a:r>
                      <a:endParaRPr kumimoji="1" lang="ja-JP" altLang="en-US" sz="3200" b="0" dirty="0">
                        <a:latin typeface="MS PGothic" panose="020B0600070205080204" pitchFamily="34" charset="-128"/>
                        <a:ea typeface="MS PGothic" panose="020B0600070205080204" pitchFamily="34" charset="-128"/>
                      </a:endParaRPr>
                    </a:p>
                  </a:txBody>
                  <a:tcPr marT="25200" marB="2520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marL="571500" indent="-571500" algn="l">
                        <a:buFont typeface="Arial" panose="020B0604020202020204" pitchFamily="34" charset="0"/>
                        <a:buChar char="•"/>
                      </a:pPr>
                      <a:r>
                        <a:rPr kumimoji="1" lang="ja-JP" altLang="en-US" sz="3200" b="0">
                          <a:latin typeface="MS PGothic" panose="020B0600070205080204" pitchFamily="34" charset="-128"/>
                          <a:ea typeface="MS PGothic" panose="020B0600070205080204" pitchFamily="34" charset="-128"/>
                        </a:rPr>
                        <a:t>この顔にピンときたら</a:t>
                      </a:r>
                      <a:r>
                        <a:rPr kumimoji="1" lang="en-US" altLang="ja-JP" sz="3200" b="0" dirty="0">
                          <a:latin typeface="MS PGothic" panose="020B0600070205080204" pitchFamily="34" charset="-128"/>
                          <a:ea typeface="MS PGothic" panose="020B0600070205080204" pitchFamily="34" charset="-128"/>
                        </a:rPr>
                        <a:t>110</a:t>
                      </a:r>
                      <a:r>
                        <a:rPr kumimoji="1" lang="ja-JP" altLang="en-US" sz="3200" b="0">
                          <a:latin typeface="MS PGothic" panose="020B0600070205080204" pitchFamily="34" charset="-128"/>
                          <a:ea typeface="MS PGothic" panose="020B0600070205080204" pitchFamily="34" charset="-128"/>
                        </a:rPr>
                        <a:t>番</a:t>
                      </a:r>
                      <a:endParaRPr kumimoji="1" lang="en-US" altLang="ja-JP" sz="3200" b="0" dirty="0">
                        <a:latin typeface="MS PGothic" panose="020B0600070205080204" pitchFamily="34" charset="-128"/>
                        <a:ea typeface="MS PGothic" panose="020B0600070205080204" pitchFamily="34" charset="-128"/>
                      </a:endParaRPr>
                    </a:p>
                    <a:p>
                      <a:pPr marL="571500" indent="-571500" algn="l">
                        <a:buFont typeface="Arial" panose="020B0604020202020204" pitchFamily="34" charset="0"/>
                        <a:buChar char="•"/>
                      </a:pPr>
                      <a:r>
                        <a:rPr kumimoji="1" lang="ja-JP" altLang="en-US" sz="3200" b="0">
                          <a:latin typeface="MS PGothic" panose="020B0600070205080204" pitchFamily="34" charset="-128"/>
                          <a:ea typeface="MS PGothic" panose="020B0600070205080204" pitchFamily="34" charset="-128"/>
                        </a:rPr>
                        <a:t>もうそろそろ疲れたわ</a:t>
                      </a:r>
                      <a:endParaRPr kumimoji="1" lang="ja-JP" altLang="en-US" sz="3200" b="0" dirty="0">
                        <a:latin typeface="MS PGothic" panose="020B0600070205080204" pitchFamily="34" charset="-128"/>
                        <a:ea typeface="MS PGothic" panose="020B0600070205080204" pitchFamily="34" charset="-128"/>
                      </a:endParaRPr>
                    </a:p>
                  </a:txBody>
                  <a:tcPr marT="25200" marB="25200">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2771984664"/>
                  </a:ext>
                </a:extLst>
              </a:tr>
              <a:tr h="1045292">
                <a:tc vMerge="1">
                  <a:txBody>
                    <a:bodyPr/>
                    <a:lstStyle/>
                    <a:p>
                      <a:endParaRPr kumimoji="1" lang="ja-JP" altLang="en-US"/>
                    </a:p>
                  </a:txBody>
                  <a:tcPr/>
                </a:tc>
                <a:tc>
                  <a:txBody>
                    <a:bodyPr/>
                    <a:lstStyle/>
                    <a:p>
                      <a:pPr marL="0" indent="0" algn="ctr">
                        <a:buFont typeface="Arial" panose="020B0604020202020204" pitchFamily="34" charset="0"/>
                        <a:buNone/>
                      </a:pPr>
                      <a:r>
                        <a:rPr kumimoji="1" lang="ja-JP" altLang="en-US" sz="3200" b="0">
                          <a:latin typeface="MS PGothic" panose="020B0600070205080204" pitchFamily="34" charset="-128"/>
                          <a:ea typeface="MS PGothic" panose="020B0600070205080204" pitchFamily="34" charset="-128"/>
                        </a:rPr>
                        <a:t>提案手法</a:t>
                      </a:r>
                      <a:endParaRPr kumimoji="1" lang="ja-JP" altLang="en-US" sz="3200" b="0" dirty="0">
                        <a:latin typeface="MS PGothic" panose="020B0600070205080204" pitchFamily="34" charset="-128"/>
                        <a:ea typeface="MS PGothic" panose="020B0600070205080204" pitchFamily="34" charset="-128"/>
                      </a:endParaRPr>
                    </a:p>
                  </a:txBody>
                  <a:tcPr marT="25200" marB="2520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marL="571500" indent="-571500" algn="l">
                        <a:buFont typeface="Arial" panose="020B0604020202020204" pitchFamily="34" charset="0"/>
                        <a:buChar char="•"/>
                      </a:pPr>
                      <a:r>
                        <a:rPr kumimoji="1" lang="ja-JP" altLang="en-US" sz="3200" b="1">
                          <a:latin typeface="MS PGothic" panose="020B0600070205080204" pitchFamily="34" charset="-128"/>
                          <a:ea typeface="MS PGothic" panose="020B0600070205080204" pitchFamily="34" charset="-128"/>
                        </a:rPr>
                        <a:t>俺のマタタビはこの中だ</a:t>
                      </a:r>
                      <a:endParaRPr kumimoji="1" lang="en-US" altLang="ja-JP" sz="3200" b="1" dirty="0">
                        <a:latin typeface="MS PGothic" panose="020B0600070205080204" pitchFamily="34" charset="-128"/>
                        <a:ea typeface="MS PGothic" panose="020B0600070205080204" pitchFamily="34" charset="-128"/>
                      </a:endParaRPr>
                    </a:p>
                    <a:p>
                      <a:pPr marL="571500" indent="-571500" algn="l">
                        <a:buFont typeface="Arial" panose="020B0604020202020204" pitchFamily="34" charset="0"/>
                        <a:buChar char="•"/>
                      </a:pPr>
                      <a:r>
                        <a:rPr kumimoji="1" lang="ja-JP" altLang="en-US" sz="3200" b="0">
                          <a:latin typeface="MS PGothic" panose="020B0600070205080204" pitchFamily="34" charset="-128"/>
                          <a:ea typeface="MS PGothic" panose="020B0600070205080204" pitchFamily="34" charset="-128"/>
                        </a:rPr>
                        <a:t>お、こんなところにお宝が</a:t>
                      </a:r>
                      <a:r>
                        <a:rPr kumimoji="1" lang="en-US" altLang="ja-JP" sz="3200" b="0" dirty="0">
                          <a:latin typeface="MS PGothic" panose="020B0600070205080204" pitchFamily="34" charset="-128"/>
                          <a:ea typeface="MS PGothic" panose="020B0600070205080204" pitchFamily="34" charset="-128"/>
                        </a:rPr>
                        <a:t>…</a:t>
                      </a:r>
                      <a:endParaRPr kumimoji="1" lang="ja-JP" altLang="en-US" sz="3200" b="0" dirty="0">
                        <a:latin typeface="MS PGothic" panose="020B0600070205080204" pitchFamily="34" charset="-128"/>
                        <a:ea typeface="MS PGothic" panose="020B0600070205080204" pitchFamily="34" charset="-128"/>
                      </a:endParaRPr>
                    </a:p>
                  </a:txBody>
                  <a:tcPr marT="25200" marB="25200">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1205125791"/>
                  </a:ext>
                </a:extLst>
              </a:tr>
              <a:tr h="1045292">
                <a:tc rowSpan="3">
                  <a:txBody>
                    <a:bodyPr/>
                    <a:lstStyle/>
                    <a:p>
                      <a:pPr algn="ctr"/>
                      <a:endParaRPr kumimoji="1" lang="ja-JP" altLang="en-US" sz="3200" b="0">
                        <a:latin typeface="MS PGothic" panose="020B0600070205080204" pitchFamily="34" charset="-128"/>
                        <a:ea typeface="MS PGothic" panose="020B0600070205080204" pitchFamily="34" charset="-128"/>
                      </a:endParaRPr>
                    </a:p>
                  </a:txBody>
                  <a:tcPr marT="25200" marB="25200">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marL="0" indent="0" algn="ctr">
                        <a:buFont typeface="Arial" panose="020B0604020202020204" pitchFamily="34" charset="0"/>
                        <a:buNone/>
                      </a:pPr>
                      <a:r>
                        <a:rPr kumimoji="1" lang="en-US" altLang="ja-JP" sz="3200" b="0" dirty="0">
                          <a:latin typeface="MS PGothic" panose="020B0600070205080204" pitchFamily="34" charset="-128"/>
                          <a:ea typeface="MS PGothic" panose="020B0600070205080204" pitchFamily="34" charset="-128"/>
                        </a:rPr>
                        <a:t>NJM</a:t>
                      </a:r>
                      <a:endParaRPr kumimoji="1" lang="ja-JP" altLang="en-US" sz="3200" b="0" dirty="0">
                        <a:latin typeface="MS PGothic" panose="020B0600070205080204" pitchFamily="34" charset="-128"/>
                        <a:ea typeface="MS PGothic" panose="020B0600070205080204" pitchFamily="34" charset="-128"/>
                      </a:endParaRPr>
                    </a:p>
                  </a:txBody>
                  <a:tcPr marT="25200" marB="2520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marL="571500" indent="-571500" algn="l">
                        <a:buFont typeface="Arial" panose="020B0604020202020204" pitchFamily="34" charset="0"/>
                        <a:buChar char="•"/>
                      </a:pPr>
                      <a:r>
                        <a:rPr kumimoji="1" lang="en-US" altLang="ja-JP" sz="3200" b="0" dirty="0">
                          <a:latin typeface="MS PGothic" panose="020B0600070205080204" pitchFamily="34" charset="-128"/>
                          <a:ea typeface="MS PGothic" panose="020B0600070205080204" pitchFamily="34" charset="-128"/>
                        </a:rPr>
                        <a:t>(</a:t>
                      </a:r>
                      <a:r>
                        <a:rPr kumimoji="1" lang="ja-JP" altLang="en-US" sz="3200" b="0">
                          <a:latin typeface="MS PGothic" panose="020B0600070205080204" pitchFamily="34" charset="-128"/>
                          <a:ea typeface="MS PGothic" panose="020B0600070205080204" pitchFamily="34" charset="-128"/>
                        </a:rPr>
                        <a:t>この人、痴漢です</a:t>
                      </a:r>
                      <a:r>
                        <a:rPr kumimoji="1" lang="en-US" altLang="ja-JP" sz="3200" b="0" dirty="0">
                          <a:latin typeface="MS PGothic" panose="020B0600070205080204" pitchFamily="34" charset="-128"/>
                          <a:ea typeface="MS PGothic" panose="020B0600070205080204" pitchFamily="34" charset="-128"/>
                        </a:rPr>
                        <a:t>)</a:t>
                      </a:r>
                    </a:p>
                    <a:p>
                      <a:pPr marL="571500" indent="-571500" algn="l">
                        <a:buFont typeface="Arial" panose="020B0604020202020204" pitchFamily="34" charset="0"/>
                        <a:buChar char="•"/>
                      </a:pPr>
                      <a:r>
                        <a:rPr kumimoji="1" lang="ja-JP" altLang="en-US" sz="3200" b="0">
                          <a:latin typeface="MS PGothic" panose="020B0600070205080204" pitchFamily="34" charset="-128"/>
                          <a:ea typeface="MS PGothic" panose="020B0600070205080204" pitchFamily="34" charset="-128"/>
                        </a:rPr>
                        <a:t>「この後は、ぷっすま！！」</a:t>
                      </a:r>
                      <a:endParaRPr kumimoji="1" lang="ja-JP" altLang="en-US" sz="3200" b="0" dirty="0">
                        <a:latin typeface="MS PGothic" panose="020B0600070205080204" pitchFamily="34" charset="-128"/>
                        <a:ea typeface="MS PGothic" panose="020B0600070205080204" pitchFamily="34" charset="-128"/>
                      </a:endParaRPr>
                    </a:p>
                  </a:txBody>
                  <a:tcPr marT="25200" marB="25200">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2502933185"/>
                  </a:ext>
                </a:extLst>
              </a:tr>
              <a:tr h="1045292">
                <a:tc vMerge="1">
                  <a:txBody>
                    <a:bodyPr/>
                    <a:lstStyle/>
                    <a:p>
                      <a:endParaRPr kumimoji="1" lang="ja-JP" altLang="en-US"/>
                    </a:p>
                  </a:txBody>
                  <a:tcPr/>
                </a:tc>
                <a:tc>
                  <a:txBody>
                    <a:bodyPr/>
                    <a:lstStyle/>
                    <a:p>
                      <a:pPr marL="0" indent="0" algn="ctr">
                        <a:buFont typeface="Arial" panose="020B0604020202020204" pitchFamily="34" charset="0"/>
                        <a:buNone/>
                      </a:pPr>
                      <a:r>
                        <a:rPr kumimoji="1" lang="en-US" altLang="ja-JP" sz="3200" b="0" dirty="0">
                          <a:latin typeface="MS PGothic" panose="020B0600070205080204" pitchFamily="34" charset="-128"/>
                          <a:ea typeface="MS PGothic" panose="020B0600070205080204" pitchFamily="34" charset="-128"/>
                        </a:rPr>
                        <a:t>GUMI-AE</a:t>
                      </a:r>
                      <a:endParaRPr kumimoji="1" lang="ja-JP" altLang="en-US" sz="3200" b="0" dirty="0">
                        <a:latin typeface="MS PGothic" panose="020B0600070205080204" pitchFamily="34" charset="-128"/>
                        <a:ea typeface="MS PGothic" panose="020B0600070205080204" pitchFamily="34" charset="-128"/>
                      </a:endParaRPr>
                    </a:p>
                  </a:txBody>
                  <a:tcPr marT="25200" marB="2520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marL="571500" indent="-571500" algn="l">
                        <a:buFont typeface="Arial" panose="020B0604020202020204" pitchFamily="34" charset="0"/>
                        <a:buChar char="•"/>
                      </a:pPr>
                      <a:r>
                        <a:rPr kumimoji="1" lang="ja-JP" altLang="en-US" sz="3200" b="0">
                          <a:latin typeface="MS PGothic" panose="020B0600070205080204" pitchFamily="34" charset="-128"/>
                          <a:ea typeface="MS PGothic" panose="020B0600070205080204" pitchFamily="34" charset="-128"/>
                        </a:rPr>
                        <a:t>「今でしょ」の精霊</a:t>
                      </a:r>
                      <a:endParaRPr kumimoji="1" lang="en-US" altLang="ja-JP" sz="3200" b="0" dirty="0">
                        <a:latin typeface="MS PGothic" panose="020B0600070205080204" pitchFamily="34" charset="-128"/>
                        <a:ea typeface="MS PGothic" panose="020B0600070205080204" pitchFamily="34" charset="-128"/>
                      </a:endParaRPr>
                    </a:p>
                    <a:p>
                      <a:pPr marL="571500" indent="-571500" algn="l">
                        <a:buFont typeface="Arial" panose="020B0604020202020204" pitchFamily="34" charset="0"/>
                        <a:buChar char="•"/>
                      </a:pPr>
                      <a:r>
                        <a:rPr kumimoji="1" lang="ja-JP" altLang="en-US" sz="3200" b="0">
                          <a:latin typeface="MS PGothic" panose="020B0600070205080204" pitchFamily="34" charset="-128"/>
                          <a:ea typeface="MS PGothic" panose="020B0600070205080204" pitchFamily="34" charset="-128"/>
                        </a:rPr>
                        <a:t>「お前も蝋人形にしてやろうか！！」</a:t>
                      </a:r>
                      <a:endParaRPr kumimoji="1" lang="ja-JP" altLang="en-US" sz="3200" b="0" dirty="0">
                        <a:latin typeface="MS PGothic" panose="020B0600070205080204" pitchFamily="34" charset="-128"/>
                        <a:ea typeface="MS PGothic" panose="020B0600070205080204" pitchFamily="34" charset="-128"/>
                      </a:endParaRPr>
                    </a:p>
                  </a:txBody>
                  <a:tcPr marT="25200" marB="25200">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2538114739"/>
                  </a:ext>
                </a:extLst>
              </a:tr>
              <a:tr h="1045292">
                <a:tc vMerge="1">
                  <a:txBody>
                    <a:bodyPr/>
                    <a:lstStyle/>
                    <a:p>
                      <a:endParaRPr kumimoji="1" lang="ja-JP" altLang="en-US"/>
                    </a:p>
                  </a:txBody>
                  <a:tcPr/>
                </a:tc>
                <a:tc>
                  <a:txBody>
                    <a:bodyPr/>
                    <a:lstStyle/>
                    <a:p>
                      <a:pPr marL="0" indent="0" algn="ctr">
                        <a:buFont typeface="Arial" panose="020B0604020202020204" pitchFamily="34" charset="0"/>
                        <a:buNone/>
                      </a:pPr>
                      <a:r>
                        <a:rPr kumimoji="1" lang="ja-JP" altLang="en-US" sz="3200" b="0">
                          <a:latin typeface="MS PGothic" panose="020B0600070205080204" pitchFamily="34" charset="-128"/>
                          <a:ea typeface="MS PGothic" panose="020B0600070205080204" pitchFamily="34" charset="-128"/>
                        </a:rPr>
                        <a:t>提案手法</a:t>
                      </a:r>
                      <a:endParaRPr kumimoji="1" lang="ja-JP" altLang="en-US" sz="3200" b="0" dirty="0">
                        <a:latin typeface="MS PGothic" panose="020B0600070205080204" pitchFamily="34" charset="-128"/>
                        <a:ea typeface="MS PGothic" panose="020B0600070205080204" pitchFamily="34" charset="-128"/>
                      </a:endParaRPr>
                    </a:p>
                  </a:txBody>
                  <a:tcPr marT="25200" marB="2520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marL="571500" indent="-571500" algn="l">
                        <a:buFont typeface="Arial" panose="020B0604020202020204" pitchFamily="34" charset="0"/>
                        <a:buChar char="•"/>
                      </a:pPr>
                      <a:r>
                        <a:rPr kumimoji="1" lang="ja-JP" altLang="en-US" sz="3200" b="1">
                          <a:latin typeface="MS PGothic" panose="020B0600070205080204" pitchFamily="34" charset="-128"/>
                          <a:ea typeface="MS PGothic" panose="020B0600070205080204" pitchFamily="34" charset="-128"/>
                        </a:rPr>
                        <a:t>あっちむいてほい</a:t>
                      </a:r>
                      <a:endParaRPr kumimoji="1" lang="en-US" altLang="ja-JP" sz="3200" b="1" dirty="0">
                        <a:latin typeface="MS PGothic" panose="020B0600070205080204" pitchFamily="34" charset="-128"/>
                        <a:ea typeface="MS PGothic" panose="020B0600070205080204" pitchFamily="34" charset="-128"/>
                      </a:endParaRPr>
                    </a:p>
                    <a:p>
                      <a:pPr marL="571500" indent="-571500" algn="l">
                        <a:buFont typeface="Arial" panose="020B0604020202020204" pitchFamily="34" charset="0"/>
                        <a:buChar char="•"/>
                      </a:pPr>
                      <a:r>
                        <a:rPr kumimoji="1" lang="ja-JP" altLang="en-US" sz="3200" b="1">
                          <a:latin typeface="MS PGothic" panose="020B0600070205080204" pitchFamily="34" charset="-128"/>
                          <a:ea typeface="MS PGothic" panose="020B0600070205080204" pitchFamily="34" charset="-128"/>
                        </a:rPr>
                        <a:t>「ここ！マダガスカルっ！！」</a:t>
                      </a:r>
                      <a:endParaRPr kumimoji="1" lang="ja-JP" altLang="en-US" sz="3200" b="1" dirty="0">
                        <a:latin typeface="MS PGothic" panose="020B0600070205080204" pitchFamily="34" charset="-128"/>
                        <a:ea typeface="MS PGothic" panose="020B0600070205080204" pitchFamily="34" charset="-128"/>
                      </a:endParaRPr>
                    </a:p>
                  </a:txBody>
                  <a:tcPr marT="25200" marB="25200">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2892306223"/>
                  </a:ext>
                </a:extLst>
              </a:tr>
              <a:tr h="1045292">
                <a:tc rowSpan="3">
                  <a:txBody>
                    <a:bodyPr/>
                    <a:lstStyle/>
                    <a:p>
                      <a:pPr algn="ctr"/>
                      <a:endParaRPr kumimoji="1" lang="ja-JP" altLang="en-US" sz="3200" b="0">
                        <a:latin typeface="MS PGothic" panose="020B0600070205080204" pitchFamily="34" charset="-128"/>
                        <a:ea typeface="MS PGothic" panose="020B0600070205080204" pitchFamily="34" charset="-128"/>
                      </a:endParaRPr>
                    </a:p>
                  </a:txBody>
                  <a:tcPr marT="25200" marB="25200">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marL="0" indent="0" algn="ctr">
                        <a:buFont typeface="Arial" panose="020B0604020202020204" pitchFamily="34" charset="0"/>
                        <a:buNone/>
                      </a:pPr>
                      <a:r>
                        <a:rPr kumimoji="1" lang="en-US" altLang="ja-JP" sz="3200" b="0" dirty="0">
                          <a:latin typeface="MS PGothic" panose="020B0600070205080204" pitchFamily="34" charset="-128"/>
                          <a:ea typeface="MS PGothic" panose="020B0600070205080204" pitchFamily="34" charset="-128"/>
                        </a:rPr>
                        <a:t>NJM</a:t>
                      </a:r>
                      <a:endParaRPr kumimoji="1" lang="ja-JP" altLang="en-US" sz="3200" b="0" dirty="0">
                        <a:latin typeface="MS PGothic" panose="020B0600070205080204" pitchFamily="34" charset="-128"/>
                        <a:ea typeface="MS PGothic" panose="020B0600070205080204" pitchFamily="34" charset="-128"/>
                      </a:endParaRPr>
                    </a:p>
                  </a:txBody>
                  <a:tcPr marT="25200" marB="2520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marL="571500" indent="-571500" algn="l">
                        <a:buFont typeface="Arial" panose="020B0604020202020204" pitchFamily="34" charset="0"/>
                        <a:buChar char="•"/>
                      </a:pPr>
                      <a:r>
                        <a:rPr kumimoji="1" lang="ja-JP" altLang="en-US" sz="3200" b="0">
                          <a:latin typeface="MS PGothic" panose="020B0600070205080204" pitchFamily="34" charset="-128"/>
                          <a:ea typeface="MS PGothic" panose="020B0600070205080204" pitchFamily="34" charset="-128"/>
                        </a:rPr>
                        <a:t>「お前の席ねぇから」</a:t>
                      </a:r>
                      <a:endParaRPr kumimoji="1" lang="en-US" altLang="ja-JP" sz="3200" b="0" dirty="0">
                        <a:latin typeface="MS PGothic" panose="020B0600070205080204" pitchFamily="34" charset="-128"/>
                        <a:ea typeface="MS PGothic" panose="020B0600070205080204" pitchFamily="34" charset="-128"/>
                      </a:endParaRPr>
                    </a:p>
                    <a:p>
                      <a:pPr marL="571500" indent="-571500" algn="l">
                        <a:buFont typeface="Arial" panose="020B0604020202020204" pitchFamily="34" charset="0"/>
                        <a:buChar char="•"/>
                      </a:pPr>
                      <a:r>
                        <a:rPr kumimoji="1" lang="ja-JP" altLang="en-US" sz="3200" b="0">
                          <a:latin typeface="MS PGothic" panose="020B0600070205080204" pitchFamily="34" charset="-128"/>
                          <a:ea typeface="MS PGothic" panose="020B0600070205080204" pitchFamily="34" charset="-128"/>
                        </a:rPr>
                        <a:t>「え！？この人が私の父さん？！」</a:t>
                      </a:r>
                      <a:endParaRPr kumimoji="1" lang="ja-JP" altLang="en-US" sz="3200" b="0" dirty="0">
                        <a:latin typeface="MS PGothic" panose="020B0600070205080204" pitchFamily="34" charset="-128"/>
                        <a:ea typeface="MS PGothic" panose="020B0600070205080204" pitchFamily="34" charset="-128"/>
                      </a:endParaRPr>
                    </a:p>
                  </a:txBody>
                  <a:tcPr marT="25200" marB="25200">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338461129"/>
                  </a:ext>
                </a:extLst>
              </a:tr>
              <a:tr h="1045292">
                <a:tc vMerge="1">
                  <a:txBody>
                    <a:bodyPr/>
                    <a:lstStyle/>
                    <a:p>
                      <a:endParaRPr kumimoji="1" lang="ja-JP" altLang="en-US"/>
                    </a:p>
                  </a:txBody>
                  <a:tcPr/>
                </a:tc>
                <a:tc>
                  <a:txBody>
                    <a:bodyPr/>
                    <a:lstStyle/>
                    <a:p>
                      <a:pPr marL="0" indent="0" algn="ctr">
                        <a:buFont typeface="Arial" panose="020B0604020202020204" pitchFamily="34" charset="0"/>
                        <a:buNone/>
                      </a:pPr>
                      <a:r>
                        <a:rPr kumimoji="1" lang="en-US" altLang="ja-JP" sz="3200" b="0" dirty="0">
                          <a:latin typeface="MS PGothic" panose="020B0600070205080204" pitchFamily="34" charset="-128"/>
                          <a:ea typeface="MS PGothic" panose="020B0600070205080204" pitchFamily="34" charset="-128"/>
                        </a:rPr>
                        <a:t>GUMI-AE</a:t>
                      </a:r>
                      <a:endParaRPr kumimoji="1" lang="ja-JP" altLang="en-US" sz="3200" b="0" dirty="0">
                        <a:latin typeface="MS PGothic" panose="020B0600070205080204" pitchFamily="34" charset="-128"/>
                        <a:ea typeface="MS PGothic" panose="020B0600070205080204" pitchFamily="34" charset="-128"/>
                      </a:endParaRPr>
                    </a:p>
                  </a:txBody>
                  <a:tcPr marT="25200" marB="2520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marL="571500" indent="-571500" algn="l">
                        <a:buFont typeface="Arial" panose="020B0604020202020204" pitchFamily="34" charset="0"/>
                        <a:buChar char="•"/>
                      </a:pPr>
                      <a:r>
                        <a:rPr kumimoji="1" lang="ja-JP" altLang="en-US" sz="3200" b="0">
                          <a:latin typeface="MS PGothic" panose="020B0600070205080204" pitchFamily="34" charset="-128"/>
                          <a:ea typeface="MS PGothic" panose="020B0600070205080204" pitchFamily="34" charset="-128"/>
                        </a:rPr>
                        <a:t>この後、車に轢かれた</a:t>
                      </a:r>
                      <a:endParaRPr kumimoji="1" lang="en-US" altLang="ja-JP" sz="3200" b="0" dirty="0">
                        <a:latin typeface="MS PGothic" panose="020B0600070205080204" pitchFamily="34" charset="-128"/>
                        <a:ea typeface="MS PGothic" panose="020B0600070205080204" pitchFamily="34" charset="-128"/>
                      </a:endParaRPr>
                    </a:p>
                    <a:p>
                      <a:pPr marL="571500" indent="-571500" algn="l">
                        <a:buFont typeface="Arial" panose="020B0604020202020204" pitchFamily="34" charset="0"/>
                        <a:buChar char="•"/>
                      </a:pPr>
                      <a:r>
                        <a:rPr kumimoji="1" lang="ja-JP" altLang="en-US" sz="3200" b="0">
                          <a:latin typeface="MS PGothic" panose="020B0600070205080204" pitchFamily="34" charset="-128"/>
                          <a:ea typeface="MS PGothic" panose="020B0600070205080204" pitchFamily="34" charset="-128"/>
                        </a:rPr>
                        <a:t>この人が新しいお父さん？</a:t>
                      </a:r>
                      <a:endParaRPr kumimoji="1" lang="ja-JP" altLang="en-US" sz="3200" b="0" dirty="0">
                        <a:latin typeface="MS PGothic" panose="020B0600070205080204" pitchFamily="34" charset="-128"/>
                        <a:ea typeface="MS PGothic" panose="020B0600070205080204" pitchFamily="34" charset="-128"/>
                      </a:endParaRPr>
                    </a:p>
                  </a:txBody>
                  <a:tcPr marT="25200" marB="25200">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3389838361"/>
                  </a:ext>
                </a:extLst>
              </a:tr>
              <a:tr h="1045292">
                <a:tc vMerge="1">
                  <a:txBody>
                    <a:bodyPr/>
                    <a:lstStyle/>
                    <a:p>
                      <a:endParaRPr kumimoji="1" lang="ja-JP" altLang="en-US"/>
                    </a:p>
                  </a:txBody>
                  <a:tcPr/>
                </a:tc>
                <a:tc>
                  <a:txBody>
                    <a:bodyPr/>
                    <a:lstStyle/>
                    <a:p>
                      <a:pPr marL="0" indent="0" algn="ctr">
                        <a:buFont typeface="Arial" panose="020B0604020202020204" pitchFamily="34" charset="0"/>
                        <a:buNone/>
                      </a:pPr>
                      <a:r>
                        <a:rPr kumimoji="1" lang="ja-JP" altLang="en-US" sz="3200" b="0">
                          <a:latin typeface="MS PGothic" panose="020B0600070205080204" pitchFamily="34" charset="-128"/>
                          <a:ea typeface="MS PGothic" panose="020B0600070205080204" pitchFamily="34" charset="-128"/>
                        </a:rPr>
                        <a:t>提案手法</a:t>
                      </a:r>
                      <a:endParaRPr kumimoji="1" lang="ja-JP" altLang="en-US" sz="3200" b="0" dirty="0">
                        <a:latin typeface="MS PGothic" panose="020B0600070205080204" pitchFamily="34" charset="-128"/>
                        <a:ea typeface="MS PGothic" panose="020B0600070205080204" pitchFamily="34" charset="-128"/>
                      </a:endParaRPr>
                    </a:p>
                  </a:txBody>
                  <a:tcPr marT="25200" marB="25200"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marL="571500" indent="-571500" algn="l">
                        <a:buFont typeface="Arial" panose="020B0604020202020204" pitchFamily="34" charset="0"/>
                        <a:buChar char="•"/>
                      </a:pPr>
                      <a:r>
                        <a:rPr kumimoji="1" lang="ja-JP" altLang="en-US" sz="3200" b="0">
                          <a:latin typeface="MS PGothic" panose="020B0600070205080204" pitchFamily="34" charset="-128"/>
                          <a:ea typeface="MS PGothic" panose="020B0600070205080204" pitchFamily="34" charset="-128"/>
                        </a:rPr>
                        <a:t>はじめてのおつかい</a:t>
                      </a:r>
                      <a:r>
                        <a:rPr kumimoji="1" lang="en-US" altLang="ja-JP" sz="3200" b="0" dirty="0">
                          <a:latin typeface="MS PGothic" panose="020B0600070205080204" pitchFamily="34" charset="-128"/>
                          <a:ea typeface="MS PGothic" panose="020B0600070205080204" pitchFamily="34" charset="-128"/>
                        </a:rPr>
                        <a:t>〜</a:t>
                      </a:r>
                      <a:r>
                        <a:rPr kumimoji="1" lang="ja-JP" altLang="en-US" sz="3200" b="0">
                          <a:latin typeface="MS PGothic" panose="020B0600070205080204" pitchFamily="34" charset="-128"/>
                          <a:ea typeface="MS PGothic" panose="020B0600070205080204" pitchFamily="34" charset="-128"/>
                        </a:rPr>
                        <a:t>？</a:t>
                      </a:r>
                      <a:endParaRPr kumimoji="1" lang="en-US" altLang="ja-JP" sz="3200" b="0" dirty="0">
                        <a:latin typeface="MS PGothic" panose="020B0600070205080204" pitchFamily="34" charset="-128"/>
                        <a:ea typeface="MS PGothic" panose="020B0600070205080204" pitchFamily="34" charset="-128"/>
                      </a:endParaRPr>
                    </a:p>
                    <a:p>
                      <a:pPr marL="571500" indent="-571500" algn="l">
                        <a:buFont typeface="Arial" panose="020B0604020202020204" pitchFamily="34" charset="0"/>
                        <a:buChar char="•"/>
                      </a:pPr>
                      <a:r>
                        <a:rPr kumimoji="1" lang="ja-JP" altLang="en-US" sz="3200" b="1">
                          <a:latin typeface="MS PGothic" panose="020B0600070205080204" pitchFamily="34" charset="-128"/>
                          <a:ea typeface="MS PGothic" panose="020B0600070205080204" pitchFamily="34" charset="-128"/>
                        </a:rPr>
                        <a:t>はじめての絶叫マシン</a:t>
                      </a:r>
                      <a:endParaRPr kumimoji="1" lang="ja-JP" altLang="en-US" sz="3200" b="1" dirty="0">
                        <a:latin typeface="MS PGothic" panose="020B0600070205080204" pitchFamily="34" charset="-128"/>
                        <a:ea typeface="MS PGothic" panose="020B0600070205080204" pitchFamily="34" charset="-128"/>
                      </a:endParaRPr>
                    </a:p>
                  </a:txBody>
                  <a:tcPr marT="25200" marB="25200">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3475250430"/>
                  </a:ext>
                </a:extLst>
              </a:tr>
            </a:tbl>
          </a:graphicData>
        </a:graphic>
      </p:graphicFrame>
      <p:pic>
        <p:nvPicPr>
          <p:cNvPr id="1227" name="図 1226">
            <a:extLst>
              <a:ext uri="{FF2B5EF4-FFF2-40B4-BE49-F238E27FC236}">
                <a16:creationId xmlns:a16="http://schemas.microsoft.com/office/drawing/2014/main" id="{F2D69864-2CE3-C2B8-0358-B3347D029F49}"/>
              </a:ext>
            </a:extLst>
          </p:cNvPr>
          <p:cNvPicPr>
            <a:picLocks/>
          </p:cNvPicPr>
          <p:nvPr/>
        </p:nvPicPr>
        <p:blipFill>
          <a:blip r:embed="rId25"/>
          <a:stretch>
            <a:fillRect/>
          </a:stretch>
        </p:blipFill>
        <p:spPr>
          <a:xfrm>
            <a:off x="15280295" y="28725431"/>
            <a:ext cx="2923509" cy="2923509"/>
          </a:xfrm>
          <a:prstGeom prst="rect">
            <a:avLst/>
          </a:prstGeom>
        </p:spPr>
      </p:pic>
      <p:pic>
        <p:nvPicPr>
          <p:cNvPr id="1229" name="図 1228">
            <a:extLst>
              <a:ext uri="{FF2B5EF4-FFF2-40B4-BE49-F238E27FC236}">
                <a16:creationId xmlns:a16="http://schemas.microsoft.com/office/drawing/2014/main" id="{67ED6B61-1FDB-5760-BFD3-85478C5A8589}"/>
              </a:ext>
            </a:extLst>
          </p:cNvPr>
          <p:cNvPicPr>
            <a:picLocks/>
          </p:cNvPicPr>
          <p:nvPr/>
        </p:nvPicPr>
        <p:blipFill>
          <a:blip r:embed="rId26"/>
          <a:stretch>
            <a:fillRect/>
          </a:stretch>
        </p:blipFill>
        <p:spPr>
          <a:xfrm>
            <a:off x="15280291" y="31839915"/>
            <a:ext cx="2923509" cy="2923509"/>
          </a:xfrm>
          <a:prstGeom prst="rect">
            <a:avLst/>
          </a:prstGeom>
        </p:spPr>
      </p:pic>
      <p:pic>
        <p:nvPicPr>
          <p:cNvPr id="1230" name="図 1229">
            <a:extLst>
              <a:ext uri="{FF2B5EF4-FFF2-40B4-BE49-F238E27FC236}">
                <a16:creationId xmlns:a16="http://schemas.microsoft.com/office/drawing/2014/main" id="{9B859CAF-B137-24A3-4CDE-1110EF62CE86}"/>
              </a:ext>
            </a:extLst>
          </p:cNvPr>
          <p:cNvPicPr>
            <a:picLocks/>
          </p:cNvPicPr>
          <p:nvPr/>
        </p:nvPicPr>
        <p:blipFill>
          <a:blip r:embed="rId27"/>
          <a:stretch>
            <a:fillRect/>
          </a:stretch>
        </p:blipFill>
        <p:spPr>
          <a:xfrm>
            <a:off x="15280291" y="35006236"/>
            <a:ext cx="2923509" cy="2923509"/>
          </a:xfrm>
          <a:prstGeom prst="rect">
            <a:avLst/>
          </a:prstGeom>
        </p:spPr>
      </p:pic>
      <p:sp>
        <p:nvSpPr>
          <p:cNvPr id="1232" name="テキスト ボックス 1231">
            <a:extLst>
              <a:ext uri="{FF2B5EF4-FFF2-40B4-BE49-F238E27FC236}">
                <a16:creationId xmlns:a16="http://schemas.microsoft.com/office/drawing/2014/main" id="{F0AB0250-FF61-8F76-11AD-05749CB274D1}"/>
              </a:ext>
            </a:extLst>
          </p:cNvPr>
          <p:cNvSpPr txBox="1"/>
          <p:nvPr/>
        </p:nvSpPr>
        <p:spPr>
          <a:xfrm>
            <a:off x="15190380" y="27397842"/>
            <a:ext cx="14869520" cy="584775"/>
          </a:xfrm>
          <a:prstGeom prst="rect">
            <a:avLst/>
          </a:prstGeom>
          <a:noFill/>
        </p:spPr>
        <p:txBody>
          <a:bodyPr wrap="square" rtlCol="0">
            <a:spAutoFit/>
          </a:bodyPr>
          <a:lstStyle/>
          <a:p>
            <a:pPr algn="ctr"/>
            <a:r>
              <a:rPr kumimoji="1" lang="ja-JP" altLang="en-US" sz="3200">
                <a:latin typeface="MS PGothic" panose="020B0600070205080204" pitchFamily="34" charset="-128"/>
                <a:ea typeface="MS PGothic" panose="020B0600070205080204" pitchFamily="34" charset="-128"/>
              </a:rPr>
              <a:t>表</a:t>
            </a:r>
            <a:r>
              <a:rPr kumimoji="1" lang="en-US" altLang="ja-JP" sz="3200" dirty="0">
                <a:latin typeface="MS PGothic" panose="020B0600070205080204" pitchFamily="34" charset="-128"/>
                <a:ea typeface="MS PGothic" panose="020B0600070205080204" pitchFamily="34" charset="-128"/>
              </a:rPr>
              <a:t>4</a:t>
            </a:r>
            <a:r>
              <a:rPr kumimoji="1" lang="ja-JP" altLang="en-US" sz="3200">
                <a:latin typeface="MS PGothic" panose="020B0600070205080204" pitchFamily="34" charset="-128"/>
                <a:ea typeface="MS PGothic" panose="020B0600070205080204" pitchFamily="34" charset="-128"/>
              </a:rPr>
              <a:t>　学習した</a:t>
            </a:r>
            <a:r>
              <a:rPr kumimoji="1" lang="en-US" altLang="ja-JP" sz="3200" dirty="0">
                <a:latin typeface="MS PGothic" panose="020B0600070205080204" pitchFamily="34" charset="-128"/>
                <a:ea typeface="MS PGothic" panose="020B0600070205080204" pitchFamily="34" charset="-128"/>
              </a:rPr>
              <a:t>AI</a:t>
            </a:r>
            <a:r>
              <a:rPr kumimoji="1" lang="ja-JP" altLang="en-US" sz="3200">
                <a:latin typeface="MS PGothic" panose="020B0600070205080204" pitchFamily="34" charset="-128"/>
                <a:ea typeface="MS PGothic" panose="020B0600070205080204" pitchFamily="34" charset="-128"/>
              </a:rPr>
              <a:t>が生成した大喜利</a:t>
            </a:r>
            <a:endParaRPr kumimoji="1" lang="en-US" altLang="ja-JP" sz="3200" dirty="0">
              <a:latin typeface="MS PGothic" panose="020B0600070205080204" pitchFamily="34" charset="-128"/>
              <a:ea typeface="MS PGothic" panose="020B0600070205080204" pitchFamily="34" charset="-128"/>
            </a:endParaRPr>
          </a:p>
        </p:txBody>
      </p:sp>
      <p:sp>
        <p:nvSpPr>
          <p:cNvPr id="7" name="テキスト ボックス 6">
            <a:extLst>
              <a:ext uri="{FF2B5EF4-FFF2-40B4-BE49-F238E27FC236}">
                <a16:creationId xmlns:a16="http://schemas.microsoft.com/office/drawing/2014/main" id="{EF69FE03-4AFD-3E0C-82CC-FD64841DA576}"/>
              </a:ext>
            </a:extLst>
          </p:cNvPr>
          <p:cNvSpPr txBox="1"/>
          <p:nvPr/>
        </p:nvSpPr>
        <p:spPr>
          <a:xfrm>
            <a:off x="15295467" y="38014888"/>
            <a:ext cx="14681200" cy="3046988"/>
          </a:xfrm>
          <a:prstGeom prst="rect">
            <a:avLst/>
          </a:prstGeom>
          <a:noFill/>
        </p:spPr>
        <p:txBody>
          <a:bodyPr wrap="square" rtlCol="0">
            <a:spAutoFit/>
          </a:bodyPr>
          <a:lstStyle/>
          <a:p>
            <a:pPr algn="just"/>
            <a:r>
              <a:rPr kumimoji="1" lang="ja-JP" altLang="en-US" sz="3200">
                <a:latin typeface="MS PGothic" panose="020B0600070205080204" pitchFamily="34" charset="-128"/>
                <a:ea typeface="MS PGothic" panose="020B0600070205080204" pitchFamily="34" charset="-128"/>
              </a:rPr>
              <a:t>まとめ</a:t>
            </a:r>
            <a:endParaRPr kumimoji="1" lang="en-US" altLang="ja-JP" sz="3200" dirty="0">
              <a:latin typeface="MS PGothic" panose="020B0600070205080204" pitchFamily="34" charset="-128"/>
              <a:ea typeface="MS PGothic" panose="020B0600070205080204" pitchFamily="34" charset="-128"/>
            </a:endParaRPr>
          </a:p>
          <a:p>
            <a:pPr marL="457200" indent="-457200" algn="just">
              <a:buFont typeface="Arial" panose="020B0604020202020204" pitchFamily="34" charset="0"/>
              <a:buChar char="•"/>
            </a:pPr>
            <a:r>
              <a:rPr kumimoji="1" lang="ja-JP" altLang="en-US" sz="3200">
                <a:latin typeface="MS PGothic" panose="020B0600070205080204" pitchFamily="34" charset="-128"/>
                <a:ea typeface="MS PGothic" panose="020B0600070205080204" pitchFamily="34" charset="-128"/>
              </a:rPr>
              <a:t>従来手法と比べ</a:t>
            </a:r>
            <a:r>
              <a:rPr kumimoji="1" lang="en-US" altLang="ja-JP" sz="3200" dirty="0">
                <a:latin typeface="MS PGothic" panose="020B0600070205080204" pitchFamily="34" charset="-128"/>
                <a:ea typeface="MS PGothic" panose="020B0600070205080204" pitchFamily="34" charset="-128"/>
              </a:rPr>
              <a:t>Loss</a:t>
            </a:r>
            <a:r>
              <a:rPr kumimoji="1" lang="ja-JP" altLang="en-US" sz="3200">
                <a:latin typeface="MS PGothic" panose="020B0600070205080204" pitchFamily="34" charset="-128"/>
                <a:ea typeface="MS PGothic" panose="020B0600070205080204" pitchFamily="34" charset="-128"/>
              </a:rPr>
              <a:t>，</a:t>
            </a:r>
            <a:r>
              <a:rPr kumimoji="1" lang="en-US" altLang="ja-JP" sz="3200" dirty="0">
                <a:latin typeface="MS PGothic" panose="020B0600070205080204" pitchFamily="34" charset="-128"/>
                <a:ea typeface="MS PGothic" panose="020B0600070205080204" pitchFamily="34" charset="-128"/>
              </a:rPr>
              <a:t>Accuracy</a:t>
            </a:r>
            <a:r>
              <a:rPr kumimoji="1" lang="ja-JP" altLang="en-US" sz="3200">
                <a:latin typeface="MS PGothic" panose="020B0600070205080204" pitchFamily="34" charset="-128"/>
                <a:ea typeface="MS PGothic" panose="020B0600070205080204" pitchFamily="34" charset="-128"/>
              </a:rPr>
              <a:t>，</a:t>
            </a:r>
            <a:r>
              <a:rPr kumimoji="1" lang="en-US" altLang="ja-JP" sz="3200" dirty="0">
                <a:latin typeface="MS PGothic" panose="020B0600070205080204" pitchFamily="34" charset="-128"/>
                <a:ea typeface="MS PGothic" panose="020B0600070205080204" pitchFamily="34" charset="-128"/>
              </a:rPr>
              <a:t>Perplexity</a:t>
            </a:r>
            <a:r>
              <a:rPr kumimoji="1" lang="ja-JP" altLang="en-US" sz="3200">
                <a:latin typeface="MS PGothic" panose="020B0600070205080204" pitchFamily="34" charset="-128"/>
                <a:ea typeface="MS PGothic" panose="020B0600070205080204" pitchFamily="34" charset="-128"/>
              </a:rPr>
              <a:t>が改善した．</a:t>
            </a:r>
            <a:endParaRPr kumimoji="1" lang="en-US" altLang="ja-JP" sz="3200" dirty="0">
              <a:latin typeface="MS PGothic" panose="020B0600070205080204" pitchFamily="34" charset="-128"/>
              <a:ea typeface="MS PGothic" panose="020B0600070205080204" pitchFamily="34" charset="-128"/>
            </a:endParaRPr>
          </a:p>
          <a:p>
            <a:pPr algn="just"/>
            <a:r>
              <a:rPr kumimoji="1" lang="ja-JP" altLang="en-US" sz="3200">
                <a:latin typeface="MS PGothic" panose="020B0600070205080204" pitchFamily="34" charset="-128"/>
                <a:ea typeface="MS PGothic" panose="020B0600070205080204" pitchFamily="34" charset="-128"/>
              </a:rPr>
              <a:t>→</a:t>
            </a:r>
            <a:r>
              <a:rPr kumimoji="1" lang="en-US" altLang="ja-JP" sz="3200" dirty="0">
                <a:latin typeface="MS PGothic" panose="020B0600070205080204" pitchFamily="34" charset="-128"/>
                <a:ea typeface="MS PGothic" panose="020B0600070205080204" pitchFamily="34" charset="-128"/>
              </a:rPr>
              <a:t> Transformer</a:t>
            </a:r>
            <a:r>
              <a:rPr kumimoji="1" lang="ja-JP" altLang="en-US" sz="3200">
                <a:latin typeface="MS PGothic" panose="020B0600070205080204" pitchFamily="34" charset="-128"/>
                <a:ea typeface="MS PGothic" panose="020B0600070205080204" pitchFamily="34" charset="-128"/>
              </a:rPr>
              <a:t>構造では残差接続が可能であり，これにより勾配消失問題を軽減した．</a:t>
            </a:r>
            <a:endParaRPr kumimoji="1" lang="en-US" altLang="ja-JP" sz="3200" dirty="0">
              <a:latin typeface="MS PGothic" panose="020B0600070205080204" pitchFamily="34" charset="-128"/>
              <a:ea typeface="MS PGothic" panose="020B0600070205080204" pitchFamily="34" charset="-128"/>
            </a:endParaRPr>
          </a:p>
          <a:p>
            <a:pPr marL="457200" indent="-457200" algn="just">
              <a:buFont typeface="Arial" panose="020B0604020202020204" pitchFamily="34" charset="0"/>
              <a:buChar char="•"/>
            </a:pPr>
            <a:r>
              <a:rPr kumimoji="1" lang="ja-JP" altLang="en-US" sz="3200">
                <a:latin typeface="MS PGothic" panose="020B0600070205080204" pitchFamily="34" charset="-128"/>
                <a:ea typeface="MS PGothic" panose="020B0600070205080204" pitchFamily="34" charset="-128"/>
              </a:rPr>
              <a:t>従来手法と比較し，画像の特徴を捉えた大喜利が生成された．</a:t>
            </a:r>
            <a:endParaRPr kumimoji="1" lang="en-US" altLang="ja-JP" sz="3200" dirty="0">
              <a:latin typeface="MS PGothic" panose="020B0600070205080204" pitchFamily="34" charset="-128"/>
              <a:ea typeface="MS PGothic" panose="020B0600070205080204" pitchFamily="34" charset="-128"/>
            </a:endParaRPr>
          </a:p>
          <a:p>
            <a:pPr algn="just"/>
            <a:r>
              <a:rPr kumimoji="1" lang="ja-JP" altLang="en-US" sz="3200">
                <a:latin typeface="MS PGothic" panose="020B0600070205080204" pitchFamily="34" charset="-128"/>
                <a:ea typeface="MS PGothic" panose="020B0600070205080204" pitchFamily="34" charset="-128"/>
              </a:rPr>
              <a:t>→</a:t>
            </a:r>
            <a:r>
              <a:rPr kumimoji="1" lang="en-US" altLang="ja-JP" sz="3200" dirty="0">
                <a:latin typeface="MS PGothic" panose="020B0600070205080204" pitchFamily="34" charset="-128"/>
                <a:ea typeface="MS PGothic" panose="020B0600070205080204" pitchFamily="34" charset="-128"/>
              </a:rPr>
              <a:t> Attention</a:t>
            </a:r>
            <a:r>
              <a:rPr kumimoji="1" lang="ja-JP" altLang="en-US" sz="3200">
                <a:latin typeface="MS PGothic" panose="020B0600070205080204" pitchFamily="34" charset="-128"/>
                <a:ea typeface="MS PGothic" panose="020B0600070205080204" pitchFamily="34" charset="-128"/>
              </a:rPr>
              <a:t>機構により，適切に画像と文章の特徴量を混合した．</a:t>
            </a:r>
            <a:endParaRPr kumimoji="1" lang="en-US" altLang="ja-JP" sz="3200" dirty="0">
              <a:latin typeface="MS PGothic" panose="020B0600070205080204" pitchFamily="34" charset="-128"/>
              <a:ea typeface="MS PGothic" panose="020B0600070205080204" pitchFamily="34" charset="-128"/>
            </a:endParaRPr>
          </a:p>
          <a:p>
            <a:pPr marL="457200" indent="-457200" algn="just">
              <a:buFont typeface="Arial" panose="020B0604020202020204" pitchFamily="34" charset="0"/>
              <a:buChar char="•"/>
            </a:pPr>
            <a:r>
              <a:rPr kumimoji="1" lang="ja-JP" altLang="en-US" sz="3200">
                <a:latin typeface="MS PGothic" panose="020B0600070205080204" pitchFamily="34" charset="-128"/>
                <a:ea typeface="MS PGothic" panose="020B0600070205080204" pitchFamily="34" charset="-128"/>
              </a:rPr>
              <a:t>アンケートによる大喜利の面白さの評価．大喜利が面白いか判断する</a:t>
            </a:r>
            <a:r>
              <a:rPr kumimoji="1" lang="en-US" altLang="ja-JP" sz="3200" dirty="0">
                <a:latin typeface="MS PGothic" panose="020B0600070205080204" pitchFamily="34" charset="-128"/>
                <a:ea typeface="MS PGothic" panose="020B0600070205080204" pitchFamily="34" charset="-128"/>
              </a:rPr>
              <a:t>AI</a:t>
            </a:r>
            <a:r>
              <a:rPr kumimoji="1" lang="ja-JP" altLang="en-US" sz="3200">
                <a:latin typeface="MS PGothic" panose="020B0600070205080204" pitchFamily="34" charset="-128"/>
                <a:ea typeface="MS PGothic" panose="020B0600070205080204" pitchFamily="34" charset="-128"/>
              </a:rPr>
              <a:t>の実現．</a:t>
            </a:r>
            <a:endParaRPr kumimoji="1" lang="en-US" altLang="ja-JP" sz="3200" dirty="0">
              <a:latin typeface="MS PGothic" panose="020B0600070205080204" pitchFamily="34" charset="-128"/>
              <a:ea typeface="MS PGothic" panose="020B0600070205080204" pitchFamily="34" charset="-128"/>
            </a:endParaRPr>
          </a:p>
        </p:txBody>
      </p:sp>
      <p:pic>
        <p:nvPicPr>
          <p:cNvPr id="10" name="Picture 2">
            <a:extLst>
              <a:ext uri="{FF2B5EF4-FFF2-40B4-BE49-F238E27FC236}">
                <a16:creationId xmlns:a16="http://schemas.microsoft.com/office/drawing/2014/main" id="{8ACF8BFD-E94A-A61E-5707-D8F685A0C9FA}"/>
              </a:ext>
            </a:extLst>
          </p:cNvPr>
          <p:cNvPicPr>
            <a:picLocks noChangeAspect="1" noChangeArrowheads="1"/>
          </p:cNvPicPr>
          <p:nvPr/>
        </p:nvPicPr>
        <p:blipFill rotWithShape="1">
          <a:blip r:embed="rId28">
            <a:extLst>
              <a:ext uri="{28A0092B-C50C-407E-A947-70E740481C1C}">
                <a14:useLocalDpi xmlns:a14="http://schemas.microsoft.com/office/drawing/2010/main" val="0"/>
              </a:ext>
            </a:extLst>
          </a:blip>
          <a:srcRect b="49684"/>
          <a:stretch/>
        </p:blipFill>
        <p:spPr bwMode="auto">
          <a:xfrm>
            <a:off x="677399" y="33014412"/>
            <a:ext cx="13968546" cy="4671931"/>
          </a:xfrm>
          <a:prstGeom prst="rect">
            <a:avLst/>
          </a:prstGeom>
          <a:noFill/>
          <a:extLst>
            <a:ext uri="{909E8E84-426E-40DD-AFC4-6F175D3DCCD1}">
              <a14:hiddenFill xmlns:a14="http://schemas.microsoft.com/office/drawing/2010/main">
                <a:solidFill>
                  <a:srgbClr val="FFFFFF"/>
                </a:solidFill>
              </a14:hiddenFill>
            </a:ext>
          </a:extLst>
        </p:spPr>
      </p:pic>
      <p:sp>
        <p:nvSpPr>
          <p:cNvPr id="13" name="テキスト ボックス 12">
            <a:extLst>
              <a:ext uri="{FF2B5EF4-FFF2-40B4-BE49-F238E27FC236}">
                <a16:creationId xmlns:a16="http://schemas.microsoft.com/office/drawing/2014/main" id="{6DC0F59D-D858-3051-1A1D-3C0F3426708B}"/>
              </a:ext>
            </a:extLst>
          </p:cNvPr>
          <p:cNvSpPr txBox="1"/>
          <p:nvPr/>
        </p:nvSpPr>
        <p:spPr>
          <a:xfrm>
            <a:off x="235812" y="37773044"/>
            <a:ext cx="14926951" cy="584775"/>
          </a:xfrm>
          <a:prstGeom prst="rect">
            <a:avLst/>
          </a:prstGeom>
          <a:noFill/>
        </p:spPr>
        <p:txBody>
          <a:bodyPr wrap="square" rtlCol="0">
            <a:spAutoFit/>
          </a:bodyPr>
          <a:lstStyle/>
          <a:p>
            <a:pPr algn="ctr"/>
            <a:r>
              <a:rPr kumimoji="1" lang="ja-JP" altLang="en-US" sz="3200">
                <a:latin typeface="MS PGothic" panose="020B0600070205080204" pitchFamily="34" charset="-128"/>
                <a:ea typeface="MS PGothic" panose="020B0600070205080204" pitchFamily="34" charset="-128"/>
              </a:rPr>
              <a:t>図</a:t>
            </a:r>
            <a:r>
              <a:rPr kumimoji="1" lang="en-US" altLang="ja-JP" sz="3200" dirty="0">
                <a:latin typeface="MS PGothic" panose="020B0600070205080204" pitchFamily="34" charset="-128"/>
                <a:ea typeface="MS PGothic" panose="020B0600070205080204" pitchFamily="34" charset="-128"/>
              </a:rPr>
              <a:t>5</a:t>
            </a:r>
            <a:r>
              <a:rPr kumimoji="1" lang="ja-JP" altLang="en-US" sz="3200">
                <a:latin typeface="MS PGothic" panose="020B0600070205080204" pitchFamily="34" charset="-128"/>
                <a:ea typeface="MS PGothic" panose="020B0600070205080204" pitchFamily="34" charset="-128"/>
              </a:rPr>
              <a:t>　学習損失</a:t>
            </a:r>
            <a:r>
              <a:rPr kumimoji="1" lang="en-US" altLang="ja-JP" sz="3200" dirty="0">
                <a:latin typeface="MS PGothic" panose="020B0600070205080204" pitchFamily="34" charset="-128"/>
                <a:ea typeface="MS PGothic" panose="020B0600070205080204" pitchFamily="34" charset="-128"/>
              </a:rPr>
              <a:t> / </a:t>
            </a:r>
            <a:r>
              <a:rPr kumimoji="1" lang="ja-JP" altLang="en-US" sz="3200">
                <a:latin typeface="MS PGothic" panose="020B0600070205080204" pitchFamily="34" charset="-128"/>
                <a:ea typeface="MS PGothic" panose="020B0600070205080204" pitchFamily="34" charset="-128"/>
              </a:rPr>
              <a:t>学習精度</a:t>
            </a:r>
            <a:endParaRPr kumimoji="1" lang="en-US" altLang="ja-JP" sz="3200" dirty="0">
              <a:latin typeface="MS PGothic" panose="020B0600070205080204" pitchFamily="34" charset="-128"/>
              <a:ea typeface="MS PGothic" panose="020B0600070205080204" pitchFamily="34" charset="-128"/>
            </a:endParaRPr>
          </a:p>
        </p:txBody>
      </p:sp>
      <p:sp>
        <p:nvSpPr>
          <p:cNvPr id="14" name="正方形/長方形 13">
            <a:extLst>
              <a:ext uri="{FF2B5EF4-FFF2-40B4-BE49-F238E27FC236}">
                <a16:creationId xmlns:a16="http://schemas.microsoft.com/office/drawing/2014/main" id="{8757E4D9-5D73-34BD-E3FB-CD833067AD95}"/>
              </a:ext>
            </a:extLst>
          </p:cNvPr>
          <p:cNvSpPr/>
          <p:nvPr/>
        </p:nvSpPr>
        <p:spPr>
          <a:xfrm>
            <a:off x="2964861" y="19235024"/>
            <a:ext cx="5450455" cy="2165098"/>
          </a:xfrm>
          <a:prstGeom prst="rect">
            <a:avLst/>
          </a:prstGeom>
          <a:solidFill>
            <a:srgbClr val="FF8AD8"/>
          </a:solidFill>
          <a:ln w="38100">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3200">
              <a:solidFill>
                <a:schemeClr val="tx1"/>
              </a:solidFill>
              <a:latin typeface="MS PGothic" panose="020B0600070205080204" pitchFamily="34" charset="-128"/>
              <a:ea typeface="MS PGothic" panose="020B0600070205080204" pitchFamily="34" charset="-128"/>
            </a:endParaRPr>
          </a:p>
        </p:txBody>
      </p:sp>
      <p:sp>
        <p:nvSpPr>
          <p:cNvPr id="15" name="正方形/長方形 14">
            <a:extLst>
              <a:ext uri="{FF2B5EF4-FFF2-40B4-BE49-F238E27FC236}">
                <a16:creationId xmlns:a16="http://schemas.microsoft.com/office/drawing/2014/main" id="{BABD2553-1B97-D7F1-6614-2D1AAFAF76C4}"/>
              </a:ext>
            </a:extLst>
          </p:cNvPr>
          <p:cNvSpPr/>
          <p:nvPr/>
        </p:nvSpPr>
        <p:spPr>
          <a:xfrm>
            <a:off x="2964861" y="21535830"/>
            <a:ext cx="5450456" cy="2239062"/>
          </a:xfrm>
          <a:prstGeom prst="rect">
            <a:avLst/>
          </a:prstGeom>
          <a:solidFill>
            <a:srgbClr val="FF7E79"/>
          </a:solidFill>
          <a:ln w="38100">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3200">
              <a:solidFill>
                <a:schemeClr val="tx1"/>
              </a:solidFill>
              <a:latin typeface="MS PGothic" panose="020B0600070205080204" pitchFamily="34" charset="-128"/>
              <a:ea typeface="MS PGothic" panose="020B0600070205080204" pitchFamily="34" charset="-128"/>
            </a:endParaRPr>
          </a:p>
        </p:txBody>
      </p:sp>
      <p:sp>
        <p:nvSpPr>
          <p:cNvPr id="1031" name="テキスト ボックス 1030">
            <a:extLst>
              <a:ext uri="{FF2B5EF4-FFF2-40B4-BE49-F238E27FC236}">
                <a16:creationId xmlns:a16="http://schemas.microsoft.com/office/drawing/2014/main" id="{B74ACE81-6AAD-BAF3-4149-DD95AFE3FB78}"/>
              </a:ext>
            </a:extLst>
          </p:cNvPr>
          <p:cNvSpPr txBox="1"/>
          <p:nvPr/>
        </p:nvSpPr>
        <p:spPr>
          <a:xfrm>
            <a:off x="4499111" y="23480929"/>
            <a:ext cx="2357204" cy="584775"/>
          </a:xfrm>
          <a:prstGeom prst="rect">
            <a:avLst/>
          </a:prstGeom>
          <a:solidFill>
            <a:schemeClr val="bg1"/>
          </a:solidFill>
        </p:spPr>
        <p:txBody>
          <a:bodyPr wrap="square">
            <a:spAutoFit/>
          </a:bodyPr>
          <a:lstStyle/>
          <a:p>
            <a:pPr algn="ctr"/>
            <a:r>
              <a:rPr kumimoji="1" lang="en-US" altLang="ja-JP" sz="3200" spc="-100" dirty="0">
                <a:solidFill>
                  <a:schemeClr val="tx1"/>
                </a:solidFill>
                <a:latin typeface="MS PGothic" panose="020B0600070205080204" pitchFamily="34" charset="-128"/>
                <a:ea typeface="MS PGothic" panose="020B0600070205080204" pitchFamily="34" charset="-128"/>
              </a:rPr>
              <a:t>GUMI-AE[2]</a:t>
            </a:r>
            <a:endParaRPr kumimoji="1" lang="ja-JP" altLang="en-US" sz="3200" spc="-100">
              <a:solidFill>
                <a:schemeClr val="tx1"/>
              </a:solidFill>
              <a:latin typeface="MS PGothic" panose="020B0600070205080204" pitchFamily="34" charset="-128"/>
              <a:ea typeface="MS PGothic" panose="020B0600070205080204" pitchFamily="34" charset="-128"/>
            </a:endParaRPr>
          </a:p>
        </p:txBody>
      </p:sp>
      <p:sp>
        <p:nvSpPr>
          <p:cNvPr id="19" name="テキスト ボックス 18">
            <a:extLst>
              <a:ext uri="{FF2B5EF4-FFF2-40B4-BE49-F238E27FC236}">
                <a16:creationId xmlns:a16="http://schemas.microsoft.com/office/drawing/2014/main" id="{D8E47F54-DCCF-D660-4430-C4884763CFC9}"/>
              </a:ext>
            </a:extLst>
          </p:cNvPr>
          <p:cNvSpPr txBox="1"/>
          <p:nvPr/>
        </p:nvSpPr>
        <p:spPr>
          <a:xfrm>
            <a:off x="4946342" y="18941254"/>
            <a:ext cx="1487492" cy="584775"/>
          </a:xfrm>
          <a:prstGeom prst="rect">
            <a:avLst/>
          </a:prstGeom>
          <a:solidFill>
            <a:schemeClr val="bg1"/>
          </a:solidFill>
        </p:spPr>
        <p:txBody>
          <a:bodyPr wrap="square">
            <a:spAutoFit/>
          </a:bodyPr>
          <a:lstStyle/>
          <a:p>
            <a:pPr algn="ctr"/>
            <a:r>
              <a:rPr kumimoji="1" lang="en-US" altLang="ja-JP" sz="3200" spc="-100" dirty="0">
                <a:solidFill>
                  <a:schemeClr val="tx1"/>
                </a:solidFill>
                <a:latin typeface="MS PGothic" panose="020B0600070205080204" pitchFamily="34" charset="-128"/>
                <a:ea typeface="MS PGothic" panose="020B0600070205080204" pitchFamily="34" charset="-128"/>
              </a:rPr>
              <a:t>NJM[1]</a:t>
            </a:r>
            <a:endParaRPr kumimoji="1" lang="ja-JP" altLang="en-US" sz="3200" spc="-100">
              <a:solidFill>
                <a:schemeClr val="tx1"/>
              </a:solidFill>
              <a:latin typeface="MS PGothic" panose="020B0600070205080204" pitchFamily="34" charset="-128"/>
              <a:ea typeface="MS PGothic" panose="020B0600070205080204" pitchFamily="34" charset="-128"/>
            </a:endParaRPr>
          </a:p>
        </p:txBody>
      </p:sp>
      <p:pic>
        <p:nvPicPr>
          <p:cNvPr id="27" name="図 26" descr="建物, グループ, テーブル, フロント が含まれている画像&#10;&#10;自動的に生成された説明">
            <a:extLst>
              <a:ext uri="{FF2B5EF4-FFF2-40B4-BE49-F238E27FC236}">
                <a16:creationId xmlns:a16="http://schemas.microsoft.com/office/drawing/2014/main" id="{61CEA0A3-4D05-43FE-5BCF-B0601C9CF356}"/>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499425" y="20771696"/>
            <a:ext cx="1773758" cy="1773758"/>
          </a:xfrm>
          <a:prstGeom prst="rect">
            <a:avLst/>
          </a:prstGeom>
        </p:spPr>
      </p:pic>
      <p:sp>
        <p:nvSpPr>
          <p:cNvPr id="28" name="台形 27">
            <a:extLst>
              <a:ext uri="{FF2B5EF4-FFF2-40B4-BE49-F238E27FC236}">
                <a16:creationId xmlns:a16="http://schemas.microsoft.com/office/drawing/2014/main" id="{FE2314E9-49A9-EA46-51F5-32CF8030B87E}"/>
              </a:ext>
            </a:extLst>
          </p:cNvPr>
          <p:cNvSpPr/>
          <p:nvPr/>
        </p:nvSpPr>
        <p:spPr>
          <a:xfrm rot="5400000">
            <a:off x="4890878" y="19270372"/>
            <a:ext cx="1773758" cy="2357204"/>
          </a:xfrm>
          <a:prstGeom prst="trapezoid">
            <a:avLst>
              <a:gd name="adj" fmla="val 17189"/>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vert270" lIns="0" tIns="0" rIns="0" bIns="0" rtlCol="0" anchor="ctr">
            <a:noAutofit/>
          </a:bodyPr>
          <a:lstStyle/>
          <a:p>
            <a:pPr algn="ctr"/>
            <a:r>
              <a:rPr kumimoji="1" lang="ja-JP" altLang="en-US" sz="2800" spc="-150">
                <a:solidFill>
                  <a:schemeClr val="tx1"/>
                </a:solidFill>
                <a:latin typeface="MS PGothic" panose="020B0600070205080204" pitchFamily="34" charset="-128"/>
                <a:ea typeface="MS PGothic" panose="020B0600070205080204" pitchFamily="34" charset="-128"/>
              </a:rPr>
              <a:t>事前学習済み</a:t>
            </a:r>
            <a:endParaRPr kumimoji="1" lang="en-US" altLang="ja-JP" sz="2800" spc="-150" dirty="0">
              <a:solidFill>
                <a:schemeClr val="tx1"/>
              </a:solidFill>
              <a:latin typeface="MS PGothic" panose="020B0600070205080204" pitchFamily="34" charset="-128"/>
              <a:ea typeface="MS PGothic" panose="020B0600070205080204" pitchFamily="34" charset="-128"/>
            </a:endParaRPr>
          </a:p>
          <a:p>
            <a:pPr algn="ctr"/>
            <a:r>
              <a:rPr kumimoji="1" lang="en-US" altLang="ja-JP" sz="2800" spc="-100" dirty="0">
                <a:solidFill>
                  <a:schemeClr val="tx1"/>
                </a:solidFill>
                <a:latin typeface="MS PGothic" panose="020B0600070205080204" pitchFamily="34" charset="-128"/>
                <a:ea typeface="MS PGothic" panose="020B0600070205080204" pitchFamily="34" charset="-128"/>
              </a:rPr>
              <a:t>ResNet152</a:t>
            </a:r>
            <a:endParaRPr kumimoji="1" lang="ja-JP" altLang="en-US" sz="2800" spc="-100">
              <a:solidFill>
                <a:schemeClr val="tx1"/>
              </a:solidFill>
              <a:latin typeface="MS PGothic" panose="020B0600070205080204" pitchFamily="34" charset="-128"/>
              <a:ea typeface="MS PGothic" panose="020B0600070205080204" pitchFamily="34" charset="-128"/>
            </a:endParaRPr>
          </a:p>
        </p:txBody>
      </p:sp>
      <p:cxnSp>
        <p:nvCxnSpPr>
          <p:cNvPr id="32" name="直線矢印コネクタ 31">
            <a:extLst>
              <a:ext uri="{FF2B5EF4-FFF2-40B4-BE49-F238E27FC236}">
                <a16:creationId xmlns:a16="http://schemas.microsoft.com/office/drawing/2014/main" id="{5D767126-3307-7EF9-964E-43E658CD6E49}"/>
              </a:ext>
            </a:extLst>
          </p:cNvPr>
          <p:cNvCxnSpPr>
            <a:cxnSpLocks/>
            <a:stCxn id="27" idx="3"/>
            <a:endCxn id="28" idx="2"/>
          </p:cNvCxnSpPr>
          <p:nvPr/>
        </p:nvCxnSpPr>
        <p:spPr>
          <a:xfrm flipV="1">
            <a:off x="2273183" y="20448974"/>
            <a:ext cx="2325972" cy="1209601"/>
          </a:xfrm>
          <a:prstGeom prst="bentConnector3">
            <a:avLst>
              <a:gd name="adj1" fmla="val 2012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線矢印コネクタ 31">
            <a:extLst>
              <a:ext uri="{FF2B5EF4-FFF2-40B4-BE49-F238E27FC236}">
                <a16:creationId xmlns:a16="http://schemas.microsoft.com/office/drawing/2014/main" id="{A754E92D-C5DD-1F60-BBA3-C0DDF2AC48AF}"/>
              </a:ext>
            </a:extLst>
          </p:cNvPr>
          <p:cNvCxnSpPr>
            <a:cxnSpLocks/>
            <a:stCxn id="27" idx="3"/>
            <a:endCxn id="29" idx="2"/>
          </p:cNvCxnSpPr>
          <p:nvPr/>
        </p:nvCxnSpPr>
        <p:spPr>
          <a:xfrm>
            <a:off x="2273183" y="21658575"/>
            <a:ext cx="924430" cy="1036312"/>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台形 28">
            <a:extLst>
              <a:ext uri="{FF2B5EF4-FFF2-40B4-BE49-F238E27FC236}">
                <a16:creationId xmlns:a16="http://schemas.microsoft.com/office/drawing/2014/main" id="{36E8BF9F-7305-4433-1FD1-8DC2DCAD13B1}"/>
              </a:ext>
            </a:extLst>
          </p:cNvPr>
          <p:cNvSpPr/>
          <p:nvPr/>
        </p:nvSpPr>
        <p:spPr>
          <a:xfrm rot="5400000">
            <a:off x="3396339" y="21609282"/>
            <a:ext cx="1773758" cy="2171210"/>
          </a:xfrm>
          <a:prstGeom prst="trapezoid">
            <a:avLst>
              <a:gd name="adj" fmla="val 17189"/>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vert270" rIns="0" rtlCol="0" anchor="ctr">
            <a:noAutofit/>
          </a:bodyPr>
          <a:lstStyle/>
          <a:p>
            <a:pPr algn="ctr"/>
            <a:r>
              <a:rPr kumimoji="1" lang="ja-JP" altLang="en-US" sz="3200" spc="-100">
                <a:solidFill>
                  <a:schemeClr val="tx1"/>
                </a:solidFill>
                <a:latin typeface="MS PGothic" panose="020B0600070205080204" pitchFamily="34" charset="-128"/>
                <a:ea typeface="MS PGothic" panose="020B0600070205080204" pitchFamily="34" charset="-128"/>
              </a:rPr>
              <a:t>エンコーダ</a:t>
            </a:r>
            <a:endParaRPr kumimoji="1" lang="en-US" altLang="ja-JP" sz="3200" spc="-100" dirty="0">
              <a:solidFill>
                <a:schemeClr val="tx1"/>
              </a:solidFill>
              <a:latin typeface="MS PGothic" panose="020B0600070205080204" pitchFamily="34" charset="-128"/>
              <a:ea typeface="MS PGothic" panose="020B0600070205080204" pitchFamily="34" charset="-128"/>
            </a:endParaRPr>
          </a:p>
        </p:txBody>
      </p:sp>
      <p:sp>
        <p:nvSpPr>
          <p:cNvPr id="30" name="台形 29">
            <a:extLst>
              <a:ext uri="{FF2B5EF4-FFF2-40B4-BE49-F238E27FC236}">
                <a16:creationId xmlns:a16="http://schemas.microsoft.com/office/drawing/2014/main" id="{7A7AEC3B-0BCA-9294-A237-F001170C007E}"/>
              </a:ext>
            </a:extLst>
          </p:cNvPr>
          <p:cNvSpPr/>
          <p:nvPr/>
        </p:nvSpPr>
        <p:spPr>
          <a:xfrm rot="16200000" flipH="1">
            <a:off x="6196750" y="21609282"/>
            <a:ext cx="1773758" cy="2171210"/>
          </a:xfrm>
          <a:prstGeom prst="trapezoid">
            <a:avLst>
              <a:gd name="adj" fmla="val 17189"/>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vert" rIns="0" rtlCol="0" anchor="ctr">
            <a:noAutofit/>
          </a:bodyPr>
          <a:lstStyle/>
          <a:p>
            <a:pPr algn="ctr"/>
            <a:r>
              <a:rPr kumimoji="1" lang="ja-JP" altLang="en-US" sz="3200" spc="-100">
                <a:solidFill>
                  <a:schemeClr val="tx1"/>
                </a:solidFill>
                <a:latin typeface="MS PGothic" panose="020B0600070205080204" pitchFamily="34" charset="-128"/>
                <a:ea typeface="MS PGothic" panose="020B0600070205080204" pitchFamily="34" charset="-128"/>
              </a:rPr>
              <a:t>デコーダ</a:t>
            </a:r>
            <a:endParaRPr kumimoji="1" lang="en-US" altLang="ja-JP" sz="3200" spc="-100" dirty="0">
              <a:solidFill>
                <a:schemeClr val="tx1"/>
              </a:solidFill>
              <a:latin typeface="MS PGothic" panose="020B0600070205080204" pitchFamily="34" charset="-128"/>
              <a:ea typeface="MS PGothic" panose="020B0600070205080204" pitchFamily="34" charset="-128"/>
            </a:endParaRPr>
          </a:p>
        </p:txBody>
      </p:sp>
      <p:cxnSp>
        <p:nvCxnSpPr>
          <p:cNvPr id="40" name="直線矢印コネクタ 31">
            <a:extLst>
              <a:ext uri="{FF2B5EF4-FFF2-40B4-BE49-F238E27FC236}">
                <a16:creationId xmlns:a16="http://schemas.microsoft.com/office/drawing/2014/main" id="{96360048-ECE3-26AB-1128-83FB25FFF526}"/>
              </a:ext>
            </a:extLst>
          </p:cNvPr>
          <p:cNvCxnSpPr>
            <a:cxnSpLocks/>
            <a:stCxn id="29" idx="0"/>
            <a:endCxn id="30" idx="0"/>
          </p:cNvCxnSpPr>
          <p:nvPr/>
        </p:nvCxnSpPr>
        <p:spPr>
          <a:xfrm>
            <a:off x="5368823" y="22694887"/>
            <a:ext cx="629201" cy="0"/>
          </a:xfrm>
          <a:prstGeom prst="straightConnector1">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63" name="直線矢印コネクタ 31">
            <a:extLst>
              <a:ext uri="{FF2B5EF4-FFF2-40B4-BE49-F238E27FC236}">
                <a16:creationId xmlns:a16="http://schemas.microsoft.com/office/drawing/2014/main" id="{A410C8DB-A43E-D100-3F0A-7E881CD18CA7}"/>
              </a:ext>
            </a:extLst>
          </p:cNvPr>
          <p:cNvCxnSpPr>
            <a:cxnSpLocks/>
            <a:stCxn id="28" idx="0"/>
            <a:endCxn id="58" idx="1"/>
          </p:cNvCxnSpPr>
          <p:nvPr/>
        </p:nvCxnSpPr>
        <p:spPr>
          <a:xfrm>
            <a:off x="6956359" y="20448974"/>
            <a:ext cx="2475865" cy="1209601"/>
          </a:xfrm>
          <a:prstGeom prst="bentConnector3">
            <a:avLst>
              <a:gd name="adj1" fmla="val 8513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線矢印コネクタ 31">
            <a:extLst>
              <a:ext uri="{FF2B5EF4-FFF2-40B4-BE49-F238E27FC236}">
                <a16:creationId xmlns:a16="http://schemas.microsoft.com/office/drawing/2014/main" id="{B48FF74B-F4DC-7140-CB46-C5E5155418B3}"/>
              </a:ext>
            </a:extLst>
          </p:cNvPr>
          <p:cNvCxnSpPr>
            <a:cxnSpLocks/>
            <a:stCxn id="29" idx="0"/>
            <a:endCxn id="58" idx="1"/>
          </p:cNvCxnSpPr>
          <p:nvPr/>
        </p:nvCxnSpPr>
        <p:spPr>
          <a:xfrm flipV="1">
            <a:off x="5368823" y="21658575"/>
            <a:ext cx="4063401" cy="1036312"/>
          </a:xfrm>
          <a:prstGeom prst="bentConnector3">
            <a:avLst>
              <a:gd name="adj1" fmla="val 6794"/>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1" name="テキスト ボックス 40">
                <a:extLst>
                  <a:ext uri="{FF2B5EF4-FFF2-40B4-BE49-F238E27FC236}">
                    <a16:creationId xmlns:a16="http://schemas.microsoft.com/office/drawing/2014/main" id="{7B2EDDA9-55A0-37E1-9BC1-D5D32F5A13B6}"/>
                  </a:ext>
                </a:extLst>
              </p:cNvPr>
              <p:cNvSpPr txBox="1"/>
              <p:nvPr/>
            </p:nvSpPr>
            <p:spPr>
              <a:xfrm>
                <a:off x="12652332" y="22914484"/>
                <a:ext cx="43903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3200" i="1" smtClean="0">
                              <a:latin typeface="Cambria Math" panose="02040503050406030204" pitchFamily="18" charset="0"/>
                            </a:rPr>
                          </m:ctrlPr>
                        </m:sSubPr>
                        <m:e>
                          <m:r>
                            <a:rPr kumimoji="1" lang="en-US" altLang="ja-JP" sz="3200" i="1">
                              <a:latin typeface="Cambria Math" panose="02040503050406030204" pitchFamily="18" charset="0"/>
                            </a:rPr>
                            <m:t>𝑡</m:t>
                          </m:r>
                        </m:e>
                        <m:sub>
                          <m:r>
                            <a:rPr kumimoji="1" lang="en-US" altLang="ja-JP" sz="3200" b="0" i="1" smtClean="0">
                              <a:latin typeface="Cambria Math" panose="02040503050406030204" pitchFamily="18" charset="0"/>
                            </a:rPr>
                            <m:t>2</m:t>
                          </m:r>
                        </m:sub>
                      </m:sSub>
                    </m:oMath>
                  </m:oMathPara>
                </a14:m>
                <a:endParaRPr kumimoji="1" lang="ja-JP" altLang="en-US" sz="3200"/>
              </a:p>
            </p:txBody>
          </p:sp>
        </mc:Choice>
        <mc:Fallback xmlns="">
          <p:sp>
            <p:nvSpPr>
              <p:cNvPr id="41" name="テキスト ボックス 40">
                <a:extLst>
                  <a:ext uri="{FF2B5EF4-FFF2-40B4-BE49-F238E27FC236}">
                    <a16:creationId xmlns:a16="http://schemas.microsoft.com/office/drawing/2014/main" id="{7B2EDDA9-55A0-37E1-9BC1-D5D32F5A13B6}"/>
                  </a:ext>
                </a:extLst>
              </p:cNvPr>
              <p:cNvSpPr txBox="1">
                <a:spLocks noRot="1" noChangeAspect="1" noMove="1" noResize="1" noEditPoints="1" noAdjustHandles="1" noChangeArrowheads="1" noChangeShapeType="1" noTextEdit="1"/>
              </p:cNvSpPr>
              <p:nvPr/>
            </p:nvSpPr>
            <p:spPr>
              <a:xfrm>
                <a:off x="12652332" y="22914484"/>
                <a:ext cx="439030" cy="492443"/>
              </a:xfrm>
              <a:prstGeom prst="rect">
                <a:avLst/>
              </a:prstGeom>
              <a:blipFill>
                <a:blip r:embed="rId29"/>
                <a:stretch>
                  <a:fillRect l="-16667" r="-2778" b="-12500"/>
                </a:stretch>
              </a:blipFill>
            </p:spPr>
            <p:txBody>
              <a:bodyPr/>
              <a:lstStyle/>
              <a:p>
                <a:r>
                  <a:rPr lang="ja-JP" altLang="en-US">
                    <a:noFill/>
                  </a:rPr>
                  <a:t> </a:t>
                </a:r>
              </a:p>
            </p:txBody>
          </p:sp>
        </mc:Fallback>
      </mc:AlternateContent>
      <p:sp>
        <p:nvSpPr>
          <p:cNvPr id="45" name="テキスト ボックス 44">
            <a:extLst>
              <a:ext uri="{FF2B5EF4-FFF2-40B4-BE49-F238E27FC236}">
                <a16:creationId xmlns:a16="http://schemas.microsoft.com/office/drawing/2014/main" id="{D4346DC0-54BF-8C31-F4DE-25D8F1CFA93E}"/>
              </a:ext>
            </a:extLst>
          </p:cNvPr>
          <p:cNvSpPr txBox="1"/>
          <p:nvPr/>
        </p:nvSpPr>
        <p:spPr>
          <a:xfrm>
            <a:off x="15369439" y="11174188"/>
            <a:ext cx="10518446" cy="2554545"/>
          </a:xfrm>
          <a:prstGeom prst="rect">
            <a:avLst/>
          </a:prstGeom>
          <a:noFill/>
        </p:spPr>
        <p:txBody>
          <a:bodyPr wrap="square" rtlCol="0">
            <a:spAutoFit/>
          </a:bodyPr>
          <a:lstStyle/>
          <a:p>
            <a:pPr indent="-457200" algn="just"/>
            <a:r>
              <a:rPr kumimoji="1" lang="en-US" altLang="ja-JP" sz="3200" dirty="0">
                <a:latin typeface="MS PGothic" panose="020B0600070205080204" pitchFamily="34" charset="-128"/>
                <a:ea typeface="MS PGothic" panose="020B0600070205080204" pitchFamily="34" charset="-128"/>
              </a:rPr>
              <a:t>Cross-Attention[4]</a:t>
            </a:r>
          </a:p>
          <a:p>
            <a:pPr indent="-457200" algn="just">
              <a:buFont typeface="Arial" panose="020B0604020202020204" pitchFamily="34" charset="0"/>
              <a:buChar char="•"/>
            </a:pPr>
            <a:r>
              <a:rPr kumimoji="1" lang="ja-JP" altLang="en-US" sz="3200">
                <a:latin typeface="MS PGothic" panose="020B0600070205080204" pitchFamily="34" charset="-128"/>
                <a:ea typeface="MS PGothic" panose="020B0600070205080204" pitchFamily="34" charset="-128"/>
              </a:rPr>
              <a:t>エンコーダとデコーダの特徴量の各要素の関連性を考慮するよう</a:t>
            </a:r>
            <a:r>
              <a:rPr kumimoji="1" lang="en-US" altLang="ja-JP" sz="3200" dirty="0">
                <a:latin typeface="MS PGothic" panose="020B0600070205080204" pitchFamily="34" charset="-128"/>
                <a:ea typeface="MS PGothic" panose="020B0600070205080204" pitchFamily="34" charset="-128"/>
              </a:rPr>
              <a:t>Self-Attention</a:t>
            </a:r>
            <a:r>
              <a:rPr kumimoji="1" lang="ja-JP" altLang="en-US" sz="3200">
                <a:latin typeface="MS PGothic" panose="020B0600070205080204" pitchFamily="34" charset="-128"/>
                <a:ea typeface="MS PGothic" panose="020B0600070205080204" pitchFamily="34" charset="-128"/>
              </a:rPr>
              <a:t>を応用した機構．</a:t>
            </a:r>
            <a:endParaRPr kumimoji="1" lang="en-US" altLang="ja-JP" sz="3200" dirty="0">
              <a:latin typeface="MS PGothic" panose="020B0600070205080204" pitchFamily="34" charset="-128"/>
              <a:ea typeface="MS PGothic" panose="020B0600070205080204" pitchFamily="34" charset="-128"/>
            </a:endParaRPr>
          </a:p>
          <a:p>
            <a:pPr indent="-457200" algn="just">
              <a:buFont typeface="Arial" panose="020B0604020202020204" pitchFamily="34" charset="0"/>
              <a:buChar char="•"/>
            </a:pPr>
            <a:r>
              <a:rPr kumimoji="1" lang="ja-JP" altLang="en-US" sz="3200">
                <a:latin typeface="MS PGothic" panose="020B0600070205080204" pitchFamily="34" charset="-128"/>
                <a:ea typeface="MS PGothic" panose="020B0600070205080204" pitchFamily="34" charset="-128"/>
              </a:rPr>
              <a:t>画像キャプション生成モデル等のマルチモーダルモデルで使用される</a:t>
            </a:r>
            <a:r>
              <a:rPr kumimoji="1" lang="en-US" altLang="ja-JP" sz="3200" dirty="0">
                <a:latin typeface="MS PGothic" panose="020B0600070205080204" pitchFamily="34" charset="-128"/>
                <a:ea typeface="MS PGothic" panose="020B0600070205080204" pitchFamily="34" charset="-128"/>
              </a:rPr>
              <a:t>[6]</a:t>
            </a:r>
            <a:r>
              <a:rPr kumimoji="1" lang="ja-JP" altLang="en-US" sz="3200">
                <a:latin typeface="MS PGothic" panose="020B0600070205080204" pitchFamily="34" charset="-128"/>
                <a:ea typeface="MS PGothic" panose="020B0600070205080204" pitchFamily="34" charset="-128"/>
              </a:rPr>
              <a:t>．</a:t>
            </a:r>
            <a:endParaRPr kumimoji="1" lang="en-US" altLang="ja-JP" sz="3200" dirty="0">
              <a:latin typeface="MS PGothic" panose="020B0600070205080204" pitchFamily="34" charset="-128"/>
              <a:ea typeface="MS PGothic" panose="020B0600070205080204" pitchFamily="34" charset="-128"/>
            </a:endParaRPr>
          </a:p>
        </p:txBody>
      </p:sp>
      <p:graphicFrame>
        <p:nvGraphicFramePr>
          <p:cNvPr id="26" name="表 25">
            <a:extLst>
              <a:ext uri="{FF2B5EF4-FFF2-40B4-BE49-F238E27FC236}">
                <a16:creationId xmlns:a16="http://schemas.microsoft.com/office/drawing/2014/main" id="{A57C82DC-5BAE-0B74-28AC-0849AACD9B7E}"/>
              </a:ext>
            </a:extLst>
          </p:cNvPr>
          <p:cNvGraphicFramePr>
            <a:graphicFrameLocks noGrp="1"/>
          </p:cNvGraphicFramePr>
          <p:nvPr>
            <p:extLst>
              <p:ext uri="{D42A27DB-BD31-4B8C-83A1-F6EECF244321}">
                <p14:modId xmlns:p14="http://schemas.microsoft.com/office/powerpoint/2010/main" val="2182814662"/>
              </p:ext>
            </p:extLst>
          </p:nvPr>
        </p:nvGraphicFramePr>
        <p:xfrm>
          <a:off x="25701272" y="8845674"/>
          <a:ext cx="1773756" cy="1762640"/>
        </p:xfrm>
        <a:graphic>
          <a:graphicData uri="http://schemas.openxmlformats.org/drawingml/2006/table">
            <a:tbl>
              <a:tblPr firstRow="1" bandRow="1">
                <a:tableStyleId>{5C22544A-7EE6-4342-B048-85BDC9FD1C3A}</a:tableStyleId>
              </a:tblPr>
              <a:tblGrid>
                <a:gridCol w="1773756">
                  <a:extLst>
                    <a:ext uri="{9D8B030D-6E8A-4147-A177-3AD203B41FA5}">
                      <a16:colId xmlns:a16="http://schemas.microsoft.com/office/drawing/2014/main" val="1924354661"/>
                    </a:ext>
                  </a:extLst>
                </a:gridCol>
              </a:tblGrid>
              <a:tr h="220330">
                <a:tc>
                  <a:txBody>
                    <a:bodyPr/>
                    <a:lstStyle/>
                    <a:p>
                      <a:endParaRPr kumimoji="1" lang="ja-JP" altLang="en-US" sz="300"/>
                    </a:p>
                  </a:txBody>
                  <a:tcPr marL="158229" marR="158229" marT="79114" marB="791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1520130726"/>
                  </a:ext>
                </a:extLst>
              </a:tr>
              <a:tr h="220330">
                <a:tc>
                  <a:txBody>
                    <a:bodyPr/>
                    <a:lstStyle/>
                    <a:p>
                      <a:endParaRPr kumimoji="1" lang="ja-JP" altLang="en-US" sz="300"/>
                    </a:p>
                  </a:txBody>
                  <a:tcPr marL="158229" marR="158229" marT="79114" marB="791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3667199512"/>
                  </a:ext>
                </a:extLst>
              </a:tr>
              <a:tr h="220330">
                <a:tc>
                  <a:txBody>
                    <a:bodyPr/>
                    <a:lstStyle/>
                    <a:p>
                      <a:endParaRPr kumimoji="1" lang="ja-JP" altLang="en-US" sz="300"/>
                    </a:p>
                  </a:txBody>
                  <a:tcPr marL="158229" marR="158229" marT="79114" marB="791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2800975036"/>
                  </a:ext>
                </a:extLst>
              </a:tr>
              <a:tr h="220330">
                <a:tc>
                  <a:txBody>
                    <a:bodyPr/>
                    <a:lstStyle/>
                    <a:p>
                      <a:endParaRPr kumimoji="1" lang="ja-JP" altLang="en-US" sz="300"/>
                    </a:p>
                  </a:txBody>
                  <a:tcPr marL="158229" marR="158229" marT="79114" marB="791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2312976285"/>
                  </a:ext>
                </a:extLst>
              </a:tr>
              <a:tr h="220330">
                <a:tc>
                  <a:txBody>
                    <a:bodyPr/>
                    <a:lstStyle/>
                    <a:p>
                      <a:endParaRPr kumimoji="1" lang="ja-JP" altLang="en-US" sz="300"/>
                    </a:p>
                  </a:txBody>
                  <a:tcPr marL="158229" marR="158229" marT="79114" marB="791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760887995"/>
                  </a:ext>
                </a:extLst>
              </a:tr>
              <a:tr h="220330">
                <a:tc>
                  <a:txBody>
                    <a:bodyPr/>
                    <a:lstStyle/>
                    <a:p>
                      <a:endParaRPr kumimoji="1" lang="ja-JP" altLang="en-US" sz="300"/>
                    </a:p>
                  </a:txBody>
                  <a:tcPr marL="158229" marR="158229" marT="79114" marB="791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1766261233"/>
                  </a:ext>
                </a:extLst>
              </a:tr>
              <a:tr h="220330">
                <a:tc>
                  <a:txBody>
                    <a:bodyPr/>
                    <a:lstStyle/>
                    <a:p>
                      <a:endParaRPr kumimoji="1" lang="ja-JP" altLang="en-US" sz="300"/>
                    </a:p>
                  </a:txBody>
                  <a:tcPr marL="158229" marR="158229" marT="79114" marB="791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12389960"/>
                  </a:ext>
                </a:extLst>
              </a:tr>
              <a:tr h="220330">
                <a:tc>
                  <a:txBody>
                    <a:bodyPr/>
                    <a:lstStyle/>
                    <a:p>
                      <a:endParaRPr kumimoji="1" lang="ja-JP" altLang="en-US" sz="300"/>
                    </a:p>
                  </a:txBody>
                  <a:tcPr marL="158229" marR="158229" marT="79114" marB="791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3153605409"/>
                  </a:ext>
                </a:extLst>
              </a:tr>
            </a:tbl>
          </a:graphicData>
        </a:graphic>
      </p:graphicFrame>
      <p:graphicFrame>
        <p:nvGraphicFramePr>
          <p:cNvPr id="33" name="表 32">
            <a:extLst>
              <a:ext uri="{FF2B5EF4-FFF2-40B4-BE49-F238E27FC236}">
                <a16:creationId xmlns:a16="http://schemas.microsoft.com/office/drawing/2014/main" id="{CF96D052-1390-66B3-7EA7-CF3B52920C00}"/>
              </a:ext>
            </a:extLst>
          </p:cNvPr>
          <p:cNvGraphicFramePr>
            <a:graphicFrameLocks noGrp="1"/>
          </p:cNvGraphicFramePr>
          <p:nvPr>
            <p:extLst>
              <p:ext uri="{D42A27DB-BD31-4B8C-83A1-F6EECF244321}">
                <p14:modId xmlns:p14="http://schemas.microsoft.com/office/powerpoint/2010/main" val="4277601106"/>
              </p:ext>
            </p:extLst>
          </p:nvPr>
        </p:nvGraphicFramePr>
        <p:xfrm>
          <a:off x="22928612" y="21113166"/>
          <a:ext cx="1773756" cy="1762640"/>
        </p:xfrm>
        <a:graphic>
          <a:graphicData uri="http://schemas.openxmlformats.org/drawingml/2006/table">
            <a:tbl>
              <a:tblPr firstRow="1" bandRow="1">
                <a:tableStyleId>{5C22544A-7EE6-4342-B048-85BDC9FD1C3A}</a:tableStyleId>
              </a:tblPr>
              <a:tblGrid>
                <a:gridCol w="1773756">
                  <a:extLst>
                    <a:ext uri="{9D8B030D-6E8A-4147-A177-3AD203B41FA5}">
                      <a16:colId xmlns:a16="http://schemas.microsoft.com/office/drawing/2014/main" val="1924354661"/>
                    </a:ext>
                  </a:extLst>
                </a:gridCol>
              </a:tblGrid>
              <a:tr h="220330">
                <a:tc>
                  <a:txBody>
                    <a:bodyPr/>
                    <a:lstStyle/>
                    <a:p>
                      <a:endParaRPr kumimoji="1" lang="ja-JP" altLang="en-US" sz="300"/>
                    </a:p>
                  </a:txBody>
                  <a:tcPr marL="158229" marR="158229" marT="79114" marB="791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1520130726"/>
                  </a:ext>
                </a:extLst>
              </a:tr>
              <a:tr h="220330">
                <a:tc>
                  <a:txBody>
                    <a:bodyPr/>
                    <a:lstStyle/>
                    <a:p>
                      <a:endParaRPr kumimoji="1" lang="ja-JP" altLang="en-US" sz="300"/>
                    </a:p>
                  </a:txBody>
                  <a:tcPr marL="158229" marR="158229" marT="79114" marB="791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3667199512"/>
                  </a:ext>
                </a:extLst>
              </a:tr>
              <a:tr h="220330">
                <a:tc>
                  <a:txBody>
                    <a:bodyPr/>
                    <a:lstStyle/>
                    <a:p>
                      <a:endParaRPr kumimoji="1" lang="ja-JP" altLang="en-US" sz="300"/>
                    </a:p>
                  </a:txBody>
                  <a:tcPr marL="158229" marR="158229" marT="79114" marB="791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2800975036"/>
                  </a:ext>
                </a:extLst>
              </a:tr>
              <a:tr h="220330">
                <a:tc>
                  <a:txBody>
                    <a:bodyPr/>
                    <a:lstStyle/>
                    <a:p>
                      <a:endParaRPr kumimoji="1" lang="ja-JP" altLang="en-US" sz="300"/>
                    </a:p>
                  </a:txBody>
                  <a:tcPr marL="158229" marR="158229" marT="79114" marB="791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2312976285"/>
                  </a:ext>
                </a:extLst>
              </a:tr>
              <a:tr h="220330">
                <a:tc>
                  <a:txBody>
                    <a:bodyPr/>
                    <a:lstStyle/>
                    <a:p>
                      <a:endParaRPr kumimoji="1" lang="ja-JP" altLang="en-US" sz="300"/>
                    </a:p>
                  </a:txBody>
                  <a:tcPr marL="158229" marR="158229" marT="79114" marB="791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760887995"/>
                  </a:ext>
                </a:extLst>
              </a:tr>
              <a:tr h="220330">
                <a:tc>
                  <a:txBody>
                    <a:bodyPr/>
                    <a:lstStyle/>
                    <a:p>
                      <a:endParaRPr kumimoji="1" lang="ja-JP" altLang="en-US" sz="300"/>
                    </a:p>
                  </a:txBody>
                  <a:tcPr marL="158229" marR="158229" marT="79114" marB="791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1766261233"/>
                  </a:ext>
                </a:extLst>
              </a:tr>
              <a:tr h="220330">
                <a:tc>
                  <a:txBody>
                    <a:bodyPr/>
                    <a:lstStyle/>
                    <a:p>
                      <a:endParaRPr kumimoji="1" lang="ja-JP" altLang="en-US" sz="300"/>
                    </a:p>
                  </a:txBody>
                  <a:tcPr marL="158229" marR="158229" marT="79114" marB="791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12389960"/>
                  </a:ext>
                </a:extLst>
              </a:tr>
              <a:tr h="220330">
                <a:tc>
                  <a:txBody>
                    <a:bodyPr/>
                    <a:lstStyle/>
                    <a:p>
                      <a:endParaRPr kumimoji="1" lang="ja-JP" altLang="en-US" sz="300"/>
                    </a:p>
                  </a:txBody>
                  <a:tcPr marL="158229" marR="158229" marT="79114" marB="791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3153605409"/>
                  </a:ext>
                </a:extLst>
              </a:tr>
            </a:tbl>
          </a:graphicData>
        </a:graphic>
      </p:graphicFrame>
      <p:graphicFrame>
        <p:nvGraphicFramePr>
          <p:cNvPr id="37" name="表 36">
            <a:extLst>
              <a:ext uri="{FF2B5EF4-FFF2-40B4-BE49-F238E27FC236}">
                <a16:creationId xmlns:a16="http://schemas.microsoft.com/office/drawing/2014/main" id="{F896EB08-8A66-A44D-E270-80C57632DD0E}"/>
              </a:ext>
            </a:extLst>
          </p:cNvPr>
          <p:cNvGraphicFramePr>
            <a:graphicFrameLocks noGrp="1"/>
          </p:cNvGraphicFramePr>
          <p:nvPr>
            <p:extLst>
              <p:ext uri="{D42A27DB-BD31-4B8C-83A1-F6EECF244321}">
                <p14:modId xmlns:p14="http://schemas.microsoft.com/office/powerpoint/2010/main" val="1547650194"/>
              </p:ext>
            </p:extLst>
          </p:nvPr>
        </p:nvGraphicFramePr>
        <p:xfrm>
          <a:off x="19761100" y="23044507"/>
          <a:ext cx="1773756" cy="1762640"/>
        </p:xfrm>
        <a:graphic>
          <a:graphicData uri="http://schemas.openxmlformats.org/drawingml/2006/table">
            <a:tbl>
              <a:tblPr firstRow="1" bandRow="1">
                <a:tableStyleId>{5C22544A-7EE6-4342-B048-85BDC9FD1C3A}</a:tableStyleId>
              </a:tblPr>
              <a:tblGrid>
                <a:gridCol w="1773756">
                  <a:extLst>
                    <a:ext uri="{9D8B030D-6E8A-4147-A177-3AD203B41FA5}">
                      <a16:colId xmlns:a16="http://schemas.microsoft.com/office/drawing/2014/main" val="1924354661"/>
                    </a:ext>
                  </a:extLst>
                </a:gridCol>
              </a:tblGrid>
              <a:tr h="220330">
                <a:tc>
                  <a:txBody>
                    <a:bodyPr/>
                    <a:lstStyle/>
                    <a:p>
                      <a:endParaRPr kumimoji="1" lang="ja-JP" altLang="en-US" sz="300"/>
                    </a:p>
                  </a:txBody>
                  <a:tcPr marL="158229" marR="158229" marT="79114" marB="791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1520130726"/>
                  </a:ext>
                </a:extLst>
              </a:tr>
              <a:tr h="220330">
                <a:tc>
                  <a:txBody>
                    <a:bodyPr/>
                    <a:lstStyle/>
                    <a:p>
                      <a:endParaRPr kumimoji="1" lang="ja-JP" altLang="en-US" sz="300"/>
                    </a:p>
                  </a:txBody>
                  <a:tcPr marL="158229" marR="158229" marT="79114" marB="791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3667199512"/>
                  </a:ext>
                </a:extLst>
              </a:tr>
              <a:tr h="220330">
                <a:tc>
                  <a:txBody>
                    <a:bodyPr/>
                    <a:lstStyle/>
                    <a:p>
                      <a:endParaRPr kumimoji="1" lang="ja-JP" altLang="en-US" sz="300"/>
                    </a:p>
                  </a:txBody>
                  <a:tcPr marL="158229" marR="158229" marT="79114" marB="791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2800975036"/>
                  </a:ext>
                </a:extLst>
              </a:tr>
              <a:tr h="220330">
                <a:tc>
                  <a:txBody>
                    <a:bodyPr/>
                    <a:lstStyle/>
                    <a:p>
                      <a:endParaRPr kumimoji="1" lang="ja-JP" altLang="en-US" sz="300"/>
                    </a:p>
                  </a:txBody>
                  <a:tcPr marL="158229" marR="158229" marT="79114" marB="791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2312976285"/>
                  </a:ext>
                </a:extLst>
              </a:tr>
              <a:tr h="220330">
                <a:tc>
                  <a:txBody>
                    <a:bodyPr/>
                    <a:lstStyle/>
                    <a:p>
                      <a:endParaRPr kumimoji="1" lang="ja-JP" altLang="en-US" sz="300"/>
                    </a:p>
                  </a:txBody>
                  <a:tcPr marL="158229" marR="158229" marT="79114" marB="791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760887995"/>
                  </a:ext>
                </a:extLst>
              </a:tr>
              <a:tr h="220330">
                <a:tc>
                  <a:txBody>
                    <a:bodyPr/>
                    <a:lstStyle/>
                    <a:p>
                      <a:endParaRPr kumimoji="1" lang="ja-JP" altLang="en-US" sz="300"/>
                    </a:p>
                  </a:txBody>
                  <a:tcPr marL="158229" marR="158229" marT="79114" marB="791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1766261233"/>
                  </a:ext>
                </a:extLst>
              </a:tr>
              <a:tr h="220330">
                <a:tc>
                  <a:txBody>
                    <a:bodyPr/>
                    <a:lstStyle/>
                    <a:p>
                      <a:endParaRPr kumimoji="1" lang="ja-JP" altLang="en-US" sz="300"/>
                    </a:p>
                  </a:txBody>
                  <a:tcPr marL="158229" marR="158229" marT="79114" marB="791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12389960"/>
                  </a:ext>
                </a:extLst>
              </a:tr>
              <a:tr h="220330">
                <a:tc>
                  <a:txBody>
                    <a:bodyPr/>
                    <a:lstStyle/>
                    <a:p>
                      <a:endParaRPr kumimoji="1" lang="ja-JP" altLang="en-US" sz="300"/>
                    </a:p>
                  </a:txBody>
                  <a:tcPr marL="158229" marR="158229" marT="79114" marB="791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3153605409"/>
                  </a:ext>
                </a:extLst>
              </a:tr>
            </a:tbl>
          </a:graphicData>
        </a:graphic>
      </p:graphicFrame>
      <p:graphicFrame>
        <p:nvGraphicFramePr>
          <p:cNvPr id="38" name="表 37">
            <a:extLst>
              <a:ext uri="{FF2B5EF4-FFF2-40B4-BE49-F238E27FC236}">
                <a16:creationId xmlns:a16="http://schemas.microsoft.com/office/drawing/2014/main" id="{0B806401-FB22-34EF-5882-0B894D61F1C6}"/>
              </a:ext>
            </a:extLst>
          </p:cNvPr>
          <p:cNvGraphicFramePr>
            <a:graphicFrameLocks noGrp="1"/>
          </p:cNvGraphicFramePr>
          <p:nvPr>
            <p:extLst>
              <p:ext uri="{D42A27DB-BD31-4B8C-83A1-F6EECF244321}">
                <p14:modId xmlns:p14="http://schemas.microsoft.com/office/powerpoint/2010/main" val="3590269926"/>
              </p:ext>
            </p:extLst>
          </p:nvPr>
        </p:nvGraphicFramePr>
        <p:xfrm>
          <a:off x="24450365" y="23044379"/>
          <a:ext cx="1773756" cy="1762640"/>
        </p:xfrm>
        <a:graphic>
          <a:graphicData uri="http://schemas.openxmlformats.org/drawingml/2006/table">
            <a:tbl>
              <a:tblPr firstRow="1" bandRow="1">
                <a:tableStyleId>{5C22544A-7EE6-4342-B048-85BDC9FD1C3A}</a:tableStyleId>
              </a:tblPr>
              <a:tblGrid>
                <a:gridCol w="1773756">
                  <a:extLst>
                    <a:ext uri="{9D8B030D-6E8A-4147-A177-3AD203B41FA5}">
                      <a16:colId xmlns:a16="http://schemas.microsoft.com/office/drawing/2014/main" val="1924354661"/>
                    </a:ext>
                  </a:extLst>
                </a:gridCol>
              </a:tblGrid>
              <a:tr h="220330">
                <a:tc>
                  <a:txBody>
                    <a:bodyPr/>
                    <a:lstStyle/>
                    <a:p>
                      <a:endParaRPr kumimoji="1" lang="ja-JP" altLang="en-US" sz="300"/>
                    </a:p>
                  </a:txBody>
                  <a:tcPr marL="158229" marR="158229" marT="79114" marB="791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1520130726"/>
                  </a:ext>
                </a:extLst>
              </a:tr>
              <a:tr h="220330">
                <a:tc>
                  <a:txBody>
                    <a:bodyPr/>
                    <a:lstStyle/>
                    <a:p>
                      <a:endParaRPr kumimoji="1" lang="ja-JP" altLang="en-US" sz="300"/>
                    </a:p>
                  </a:txBody>
                  <a:tcPr marL="158229" marR="158229" marT="79114" marB="791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3667199512"/>
                  </a:ext>
                </a:extLst>
              </a:tr>
              <a:tr h="220330">
                <a:tc>
                  <a:txBody>
                    <a:bodyPr/>
                    <a:lstStyle/>
                    <a:p>
                      <a:endParaRPr kumimoji="1" lang="ja-JP" altLang="en-US" sz="300"/>
                    </a:p>
                  </a:txBody>
                  <a:tcPr marL="158229" marR="158229" marT="79114" marB="791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2800975036"/>
                  </a:ext>
                </a:extLst>
              </a:tr>
              <a:tr h="220330">
                <a:tc>
                  <a:txBody>
                    <a:bodyPr/>
                    <a:lstStyle/>
                    <a:p>
                      <a:endParaRPr kumimoji="1" lang="ja-JP" altLang="en-US" sz="300"/>
                    </a:p>
                  </a:txBody>
                  <a:tcPr marL="158229" marR="158229" marT="79114" marB="791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2312976285"/>
                  </a:ext>
                </a:extLst>
              </a:tr>
              <a:tr h="220330">
                <a:tc>
                  <a:txBody>
                    <a:bodyPr/>
                    <a:lstStyle/>
                    <a:p>
                      <a:endParaRPr kumimoji="1" lang="ja-JP" altLang="en-US" sz="300"/>
                    </a:p>
                  </a:txBody>
                  <a:tcPr marL="158229" marR="158229" marT="79114" marB="791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760887995"/>
                  </a:ext>
                </a:extLst>
              </a:tr>
              <a:tr h="220330">
                <a:tc>
                  <a:txBody>
                    <a:bodyPr/>
                    <a:lstStyle/>
                    <a:p>
                      <a:endParaRPr kumimoji="1" lang="ja-JP" altLang="en-US" sz="300"/>
                    </a:p>
                  </a:txBody>
                  <a:tcPr marL="158229" marR="158229" marT="79114" marB="791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1766261233"/>
                  </a:ext>
                </a:extLst>
              </a:tr>
              <a:tr h="220330">
                <a:tc>
                  <a:txBody>
                    <a:bodyPr/>
                    <a:lstStyle/>
                    <a:p>
                      <a:endParaRPr kumimoji="1" lang="ja-JP" altLang="en-US" sz="300"/>
                    </a:p>
                  </a:txBody>
                  <a:tcPr marL="158229" marR="158229" marT="79114" marB="791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12389960"/>
                  </a:ext>
                </a:extLst>
              </a:tr>
              <a:tr h="220330">
                <a:tc>
                  <a:txBody>
                    <a:bodyPr/>
                    <a:lstStyle/>
                    <a:p>
                      <a:endParaRPr kumimoji="1" lang="ja-JP" altLang="en-US" sz="300"/>
                    </a:p>
                  </a:txBody>
                  <a:tcPr marL="158229" marR="158229" marT="79114" marB="791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3153605409"/>
                  </a:ext>
                </a:extLst>
              </a:tr>
            </a:tbl>
          </a:graphicData>
        </a:graphic>
      </p:graphicFrame>
      <p:sp>
        <p:nvSpPr>
          <p:cNvPr id="16" name="字幕 2">
            <a:extLst>
              <a:ext uri="{FF2B5EF4-FFF2-40B4-BE49-F238E27FC236}">
                <a16:creationId xmlns:a16="http://schemas.microsoft.com/office/drawing/2014/main" id="{E72E6917-5849-76D2-FA3D-A0FFC727CB4D}"/>
              </a:ext>
            </a:extLst>
          </p:cNvPr>
          <p:cNvSpPr txBox="1">
            <a:spLocks/>
          </p:cNvSpPr>
          <p:nvPr/>
        </p:nvSpPr>
        <p:spPr>
          <a:xfrm>
            <a:off x="0" y="3301"/>
            <a:ext cx="3170629" cy="673479"/>
          </a:xfrm>
          <a:prstGeom prst="rect">
            <a:avLst/>
          </a:prstGeom>
        </p:spPr>
        <p:txBody>
          <a:bodyPr vert="horz" lIns="91440" tIns="45720" rIns="91440" bIns="45720" rtlCol="0" anchor="ctr" anchorCtr="1">
            <a:normAutofit fontScale="92500" lnSpcReduction="10000"/>
          </a:bodyPr>
          <a:lstStyle>
            <a:lvl1pPr marL="0" indent="0" algn="ctr" defTabSz="3024012" rtl="0" eaLnBrk="1" latinLnBrk="0" hangingPunct="1">
              <a:lnSpc>
                <a:spcPct val="90000"/>
              </a:lnSpc>
              <a:spcBef>
                <a:spcPts val="3307"/>
              </a:spcBef>
              <a:buFont typeface="Arial" panose="020B0604020202020204" pitchFamily="34" charset="0"/>
              <a:buNone/>
              <a:defRPr kumimoji="1" sz="4800" kern="1200">
                <a:solidFill>
                  <a:schemeClr val="bg1"/>
                </a:solidFill>
                <a:latin typeface="MS PGothic" panose="020B0600070205080204" pitchFamily="34" charset="-128"/>
                <a:ea typeface="MS PGothic" panose="020B0600070205080204" pitchFamily="34" charset="-128"/>
                <a:cs typeface="+mn-cs"/>
              </a:defRPr>
            </a:lvl1pPr>
            <a:lvl2pPr marL="1512006" indent="0" algn="ctr" defTabSz="3024012" rtl="0" eaLnBrk="1" latinLnBrk="0" hangingPunct="1">
              <a:lnSpc>
                <a:spcPct val="90000"/>
              </a:lnSpc>
              <a:spcBef>
                <a:spcPts val="1654"/>
              </a:spcBef>
              <a:buFont typeface="Arial" panose="020B0604020202020204" pitchFamily="34" charset="0"/>
              <a:buNone/>
              <a:defRPr kumimoji="1" sz="6614" kern="1200">
                <a:solidFill>
                  <a:schemeClr val="tx1"/>
                </a:solidFill>
                <a:latin typeface="MS PGothic" panose="020B0600070205080204" pitchFamily="34" charset="-128"/>
                <a:ea typeface="MS PGothic" panose="020B0600070205080204" pitchFamily="34" charset="-128"/>
                <a:cs typeface="+mn-cs"/>
              </a:defRPr>
            </a:lvl2pPr>
            <a:lvl3pPr marL="3024012" indent="0" algn="ctr" defTabSz="3024012" rtl="0" eaLnBrk="1" latinLnBrk="0" hangingPunct="1">
              <a:lnSpc>
                <a:spcPct val="90000"/>
              </a:lnSpc>
              <a:spcBef>
                <a:spcPts val="1654"/>
              </a:spcBef>
              <a:buFont typeface="Arial" panose="020B0604020202020204" pitchFamily="34" charset="0"/>
              <a:buNone/>
              <a:defRPr kumimoji="1" sz="5953" kern="1200">
                <a:solidFill>
                  <a:schemeClr val="tx1"/>
                </a:solidFill>
                <a:latin typeface="MS PGothic" panose="020B0600070205080204" pitchFamily="34" charset="-128"/>
                <a:ea typeface="MS PGothic" panose="020B0600070205080204" pitchFamily="34" charset="-128"/>
                <a:cs typeface="+mn-cs"/>
              </a:defRPr>
            </a:lvl3pPr>
            <a:lvl4pPr marL="4536018" indent="0" algn="ctr" defTabSz="3024012" rtl="0" eaLnBrk="1" latinLnBrk="0" hangingPunct="1">
              <a:lnSpc>
                <a:spcPct val="90000"/>
              </a:lnSpc>
              <a:spcBef>
                <a:spcPts val="1654"/>
              </a:spcBef>
              <a:buFont typeface="Arial" panose="020B0604020202020204" pitchFamily="34" charset="0"/>
              <a:buNone/>
              <a:defRPr kumimoji="1" sz="5291" kern="1200">
                <a:solidFill>
                  <a:schemeClr val="tx1"/>
                </a:solidFill>
                <a:latin typeface="MS PGothic" panose="020B0600070205080204" pitchFamily="34" charset="-128"/>
                <a:ea typeface="MS PGothic" panose="020B0600070205080204" pitchFamily="34" charset="-128"/>
                <a:cs typeface="+mn-cs"/>
              </a:defRPr>
            </a:lvl4pPr>
            <a:lvl5pPr marL="6048024" indent="0" algn="ctr" defTabSz="3024012" rtl="0" eaLnBrk="1" latinLnBrk="0" hangingPunct="1">
              <a:lnSpc>
                <a:spcPct val="90000"/>
              </a:lnSpc>
              <a:spcBef>
                <a:spcPts val="1654"/>
              </a:spcBef>
              <a:buFont typeface="Arial" panose="020B0604020202020204" pitchFamily="34" charset="0"/>
              <a:buNone/>
              <a:defRPr kumimoji="1" sz="5291" kern="1200">
                <a:solidFill>
                  <a:schemeClr val="tx1"/>
                </a:solidFill>
                <a:latin typeface="MS PGothic" panose="020B0600070205080204" pitchFamily="34" charset="-128"/>
                <a:ea typeface="MS PGothic" panose="020B0600070205080204" pitchFamily="34" charset="-128"/>
                <a:cs typeface="+mn-cs"/>
              </a:defRPr>
            </a:lvl5pPr>
            <a:lvl6pPr marL="7560031" indent="0" algn="ctr" defTabSz="3024012" rtl="0" eaLnBrk="1" latinLnBrk="0" hangingPunct="1">
              <a:lnSpc>
                <a:spcPct val="90000"/>
              </a:lnSpc>
              <a:spcBef>
                <a:spcPts val="1654"/>
              </a:spcBef>
              <a:buFont typeface="Arial" panose="020B0604020202020204" pitchFamily="34" charset="0"/>
              <a:buNone/>
              <a:defRPr kumimoji="1" sz="5291" kern="1200">
                <a:solidFill>
                  <a:schemeClr val="tx1"/>
                </a:solidFill>
                <a:latin typeface="+mn-lt"/>
                <a:ea typeface="+mn-ea"/>
                <a:cs typeface="+mn-cs"/>
              </a:defRPr>
            </a:lvl6pPr>
            <a:lvl7pPr marL="9072037" indent="0" algn="ctr" defTabSz="3024012" rtl="0" eaLnBrk="1" latinLnBrk="0" hangingPunct="1">
              <a:lnSpc>
                <a:spcPct val="90000"/>
              </a:lnSpc>
              <a:spcBef>
                <a:spcPts val="1654"/>
              </a:spcBef>
              <a:buFont typeface="Arial" panose="020B0604020202020204" pitchFamily="34" charset="0"/>
              <a:buNone/>
              <a:defRPr kumimoji="1" sz="5291" kern="1200">
                <a:solidFill>
                  <a:schemeClr val="tx1"/>
                </a:solidFill>
                <a:latin typeface="+mn-lt"/>
                <a:ea typeface="+mn-ea"/>
                <a:cs typeface="+mn-cs"/>
              </a:defRPr>
            </a:lvl7pPr>
            <a:lvl8pPr marL="10584043" indent="0" algn="ctr" defTabSz="3024012" rtl="0" eaLnBrk="1" latinLnBrk="0" hangingPunct="1">
              <a:lnSpc>
                <a:spcPct val="90000"/>
              </a:lnSpc>
              <a:spcBef>
                <a:spcPts val="1654"/>
              </a:spcBef>
              <a:buFont typeface="Arial" panose="020B0604020202020204" pitchFamily="34" charset="0"/>
              <a:buNone/>
              <a:defRPr kumimoji="1" sz="5291" kern="1200">
                <a:solidFill>
                  <a:schemeClr val="tx1"/>
                </a:solidFill>
                <a:latin typeface="+mn-lt"/>
                <a:ea typeface="+mn-ea"/>
                <a:cs typeface="+mn-cs"/>
              </a:defRPr>
            </a:lvl8pPr>
            <a:lvl9pPr marL="12096049" indent="0" algn="ctr" defTabSz="3024012" rtl="0" eaLnBrk="1" latinLnBrk="0" hangingPunct="1">
              <a:lnSpc>
                <a:spcPct val="90000"/>
              </a:lnSpc>
              <a:spcBef>
                <a:spcPts val="1654"/>
              </a:spcBef>
              <a:buFont typeface="Arial" panose="020B0604020202020204" pitchFamily="34" charset="0"/>
              <a:buNone/>
              <a:defRPr kumimoji="1" sz="5291" kern="1200">
                <a:solidFill>
                  <a:schemeClr val="tx1"/>
                </a:solidFill>
                <a:latin typeface="+mn-lt"/>
                <a:ea typeface="+mn-ea"/>
                <a:cs typeface="+mn-cs"/>
              </a:defRPr>
            </a:lvl9pPr>
          </a:lstStyle>
          <a:p>
            <a:r>
              <a:rPr lang="en" altLang="ja-JP" b="0" i="0" dirty="0">
                <a:effectLst/>
              </a:rPr>
              <a:t>ISS-SP-033</a:t>
            </a:r>
            <a:endParaRPr lang="ja-JP" altLang="en-US"/>
          </a:p>
        </p:txBody>
      </p:sp>
    </p:spTree>
    <p:extLst>
      <p:ext uri="{BB962C8B-B14F-4D97-AF65-F5344CB8AC3E}">
        <p14:creationId xmlns:p14="http://schemas.microsoft.com/office/powerpoint/2010/main" val="2857198610"/>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70C0"/>
        </a:solidFill>
        <a:ln>
          <a:noFill/>
        </a:ln>
      </a:spPr>
      <a:bodyPr rtlCol="0" anchor="ctr"/>
      <a:lstStyle>
        <a:defPPr algn="ctr">
          <a:defRPr kumimoji="1" sz="4800" smtClean="0">
            <a:latin typeface="MS PGothic" panose="020B0600070205080204" pitchFamily="34" charset="-128"/>
            <a:ea typeface="MS PGothic" panose="020B0600070205080204" pitchFamily="34" charset="-128"/>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13029</TotalTime>
  <Words>3955</Words>
  <Application>Microsoft Macintosh PowerPoint</Application>
  <PresentationFormat>ユーザー設定</PresentationFormat>
  <Paragraphs>618</Paragraphs>
  <Slides>3</Slides>
  <Notes>0</Notes>
  <HiddenSlides>2</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3</vt:i4>
      </vt:variant>
    </vt:vector>
  </HeadingPairs>
  <TitlesOfParts>
    <vt:vector size="9" baseType="lpstr">
      <vt:lpstr>MS PGothic</vt:lpstr>
      <vt:lpstr>MS PGothic</vt:lpstr>
      <vt:lpstr>Arial</vt:lpstr>
      <vt:lpstr>Cambria Math</vt:lpstr>
      <vt:lpstr>Times New Roman</vt:lpstr>
      <vt:lpstr>Office テーマ</vt:lpstr>
      <vt:lpstr>Transformerを用いた大喜利の生成に関する研究</vt:lpstr>
      <vt:lpstr>Transformerを用いた大喜利の生成に関する研究</vt:lpstr>
      <vt:lpstr>Transformerを用いた大喜利の生成に関する研究</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山富龍</dc:creator>
  <cp:lastModifiedBy>山富龍</cp:lastModifiedBy>
  <cp:revision>204</cp:revision>
  <cp:lastPrinted>2024-03-01T05:34:17Z</cp:lastPrinted>
  <dcterms:created xsi:type="dcterms:W3CDTF">2022-05-23T00:31:20Z</dcterms:created>
  <dcterms:modified xsi:type="dcterms:W3CDTF">2024-03-04T08:38:24Z</dcterms:modified>
</cp:coreProperties>
</file>