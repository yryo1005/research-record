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0240288" cy="42479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184" autoAdjust="0"/>
    <p:restoredTop sz="94660"/>
  </p:normalViewPr>
  <p:slideViewPr>
    <p:cSldViewPr snapToGrid="0">
      <p:cViewPr>
        <p:scale>
          <a:sx n="90" d="100"/>
          <a:sy n="90" d="100"/>
        </p:scale>
        <p:origin x="-3800" y="-114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268022" y="6952156"/>
            <a:ext cx="25704245" cy="14789303"/>
          </a:xfrm>
        </p:spPr>
        <p:txBody>
          <a:bodyPr anchor="b"/>
          <a:lstStyle>
            <a:lvl1pPr algn="ctr">
              <a:defRPr sz="19843"/>
            </a:lvl1pPr>
          </a:lstStyle>
          <a:p>
            <a:r>
              <a:rPr lang="ja-JP" altLang="en-US"/>
              <a:t>マスター タイトルの書式設定</a:t>
            </a:r>
            <a:endParaRPr lang="en-US" dirty="0"/>
          </a:p>
        </p:txBody>
      </p:sp>
      <p:sp>
        <p:nvSpPr>
          <p:cNvPr id="3" name="Subtitle 2"/>
          <p:cNvSpPr>
            <a:spLocks noGrp="1"/>
          </p:cNvSpPr>
          <p:nvPr>
            <p:ph type="subTitle" idx="1"/>
          </p:nvPr>
        </p:nvSpPr>
        <p:spPr>
          <a:xfrm>
            <a:off x="3780036" y="22311791"/>
            <a:ext cx="22680216" cy="10256143"/>
          </a:xfrm>
        </p:spPr>
        <p:txBody>
          <a:bodyPr/>
          <a:lstStyle>
            <a:lvl1pPr marL="0" indent="0" algn="ctr">
              <a:buNone/>
              <a:defRPr sz="7937"/>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133944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50937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063272" y="10590491"/>
            <a:ext cx="26082248" cy="17670461"/>
          </a:xfrm>
        </p:spPr>
        <p:txBody>
          <a:bodyPr anchor="b"/>
          <a:lstStyle>
            <a:lvl1pPr>
              <a:defRPr sz="19843"/>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063272" y="28428121"/>
            <a:ext cx="26082248" cy="9292478"/>
          </a:xfrm>
        </p:spPr>
        <p:txBody>
          <a:bodyPr/>
          <a:lstStyle>
            <a:lvl1pPr marL="0" indent="0">
              <a:buNone/>
              <a:defRPr sz="7937">
                <a:solidFill>
                  <a:schemeClr val="tx1"/>
                </a:solidFill>
              </a:defRPr>
            </a:lvl1pPr>
            <a:lvl2pPr marL="1512006" indent="0">
              <a:buNone/>
              <a:defRPr sz="6614">
                <a:solidFill>
                  <a:schemeClr val="tx1">
                    <a:tint val="75000"/>
                  </a:schemeClr>
                </a:solidFill>
              </a:defRPr>
            </a:lvl2pPr>
            <a:lvl3pPr marL="3024012" indent="0">
              <a:buNone/>
              <a:defRPr sz="5953">
                <a:solidFill>
                  <a:schemeClr val="tx1">
                    <a:tint val="75000"/>
                  </a:schemeClr>
                </a:solidFill>
              </a:defRPr>
            </a:lvl3pPr>
            <a:lvl4pPr marL="4536018" indent="0">
              <a:buNone/>
              <a:defRPr sz="5291">
                <a:solidFill>
                  <a:schemeClr val="tx1">
                    <a:tint val="75000"/>
                  </a:schemeClr>
                </a:solidFill>
              </a:defRPr>
            </a:lvl4pPr>
            <a:lvl5pPr marL="6048024" indent="0">
              <a:buNone/>
              <a:defRPr sz="5291">
                <a:solidFill>
                  <a:schemeClr val="tx1">
                    <a:tint val="75000"/>
                  </a:schemeClr>
                </a:solidFill>
              </a:defRPr>
            </a:lvl5pPr>
            <a:lvl6pPr marL="7560031" indent="0">
              <a:buNone/>
              <a:defRPr sz="5291">
                <a:solidFill>
                  <a:schemeClr val="tx1">
                    <a:tint val="75000"/>
                  </a:schemeClr>
                </a:solidFill>
              </a:defRPr>
            </a:lvl6pPr>
            <a:lvl7pPr marL="9072037" indent="0">
              <a:buNone/>
              <a:defRPr sz="5291">
                <a:solidFill>
                  <a:schemeClr val="tx1">
                    <a:tint val="75000"/>
                  </a:schemeClr>
                </a:solidFill>
              </a:defRPr>
            </a:lvl7pPr>
            <a:lvl8pPr marL="10584043" indent="0">
              <a:buNone/>
              <a:defRPr sz="5291">
                <a:solidFill>
                  <a:schemeClr val="tx1">
                    <a:tint val="75000"/>
                  </a:schemeClr>
                </a:solidFill>
              </a:defRPr>
            </a:lvl8pPr>
            <a:lvl9pPr marL="12096049" indent="0">
              <a:buNone/>
              <a:defRPr sz="5291">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594936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079020" y="11308310"/>
            <a:ext cx="12852122" cy="2695311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15309146" y="11308310"/>
            <a:ext cx="12852122" cy="2695311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244507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082959" y="2261671"/>
            <a:ext cx="26082248" cy="821082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82962" y="10413482"/>
            <a:ext cx="12793057" cy="5103486"/>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ja-JP" altLang="en-US"/>
              <a:t>マスター テキストの書式設定</a:t>
            </a:r>
          </a:p>
        </p:txBody>
      </p:sp>
      <p:sp>
        <p:nvSpPr>
          <p:cNvPr id="4" name="Content Placeholder 3"/>
          <p:cNvSpPr>
            <a:spLocks noGrp="1"/>
          </p:cNvSpPr>
          <p:nvPr>
            <p:ph sz="half" idx="2"/>
          </p:nvPr>
        </p:nvSpPr>
        <p:spPr>
          <a:xfrm>
            <a:off x="2082962" y="15516968"/>
            <a:ext cx="12793057" cy="228231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15309148" y="10413482"/>
            <a:ext cx="12856061" cy="5103486"/>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ja-JP" altLang="en-US"/>
              <a:t>マスター テキストの書式設定</a:t>
            </a:r>
          </a:p>
        </p:txBody>
      </p:sp>
      <p:sp>
        <p:nvSpPr>
          <p:cNvPr id="6" name="Content Placeholder 5"/>
          <p:cNvSpPr>
            <a:spLocks noGrp="1"/>
          </p:cNvSpPr>
          <p:nvPr>
            <p:ph sz="quarter" idx="4"/>
          </p:nvPr>
        </p:nvSpPr>
        <p:spPr>
          <a:xfrm>
            <a:off x="15309148" y="15516968"/>
            <a:ext cx="12856061" cy="228231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384748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47891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320070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082959" y="2831994"/>
            <a:ext cx="9753280" cy="9911980"/>
          </a:xfrm>
        </p:spPr>
        <p:txBody>
          <a:bodyPr anchor="b"/>
          <a:lstStyle>
            <a:lvl1pPr>
              <a:defRPr sz="10583"/>
            </a:lvl1pPr>
          </a:lstStyle>
          <a:p>
            <a:r>
              <a:rPr lang="ja-JP" altLang="en-US"/>
              <a:t>マスター タイトルの書式設定</a:t>
            </a:r>
            <a:endParaRPr lang="en-US" dirty="0"/>
          </a:p>
        </p:txBody>
      </p:sp>
      <p:sp>
        <p:nvSpPr>
          <p:cNvPr id="3" name="Content Placeholder 2"/>
          <p:cNvSpPr>
            <a:spLocks noGrp="1"/>
          </p:cNvSpPr>
          <p:nvPr>
            <p:ph idx="1"/>
          </p:nvPr>
        </p:nvSpPr>
        <p:spPr>
          <a:xfrm>
            <a:off x="12856061" y="6116330"/>
            <a:ext cx="15309146" cy="30188272"/>
          </a:xfrm>
        </p:spPr>
        <p:txBody>
          <a:bodyPr/>
          <a:lstStyle>
            <a:lvl1pPr>
              <a:defRPr sz="10583"/>
            </a:lvl1pPr>
            <a:lvl2pPr>
              <a:defRPr sz="9260"/>
            </a:lvl2pPr>
            <a:lvl3pPr>
              <a:defRPr sz="7937"/>
            </a:lvl3pPr>
            <a:lvl4pPr>
              <a:defRPr sz="6614"/>
            </a:lvl4pPr>
            <a:lvl5pPr>
              <a:defRPr sz="6614"/>
            </a:lvl5pPr>
            <a:lvl6pPr>
              <a:defRPr sz="6614"/>
            </a:lvl6pPr>
            <a:lvl7pPr>
              <a:defRPr sz="6614"/>
            </a:lvl7pPr>
            <a:lvl8pPr>
              <a:defRPr sz="6614"/>
            </a:lvl8pPr>
            <a:lvl9pPr>
              <a:defRPr sz="661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082959" y="12743974"/>
            <a:ext cx="9753280" cy="23609788"/>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100200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082959" y="2831994"/>
            <a:ext cx="9753280" cy="9911980"/>
          </a:xfrm>
        </p:spPr>
        <p:txBody>
          <a:bodyPr anchor="b"/>
          <a:lstStyle>
            <a:lvl1pPr>
              <a:defRPr sz="10583"/>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2856061" y="6116330"/>
            <a:ext cx="15309146" cy="30188272"/>
          </a:xfrm>
        </p:spPr>
        <p:txBody>
          <a:bodyPr anchor="t"/>
          <a:lstStyle>
            <a:lvl1pPr marL="0" indent="0">
              <a:buNone/>
              <a:defRPr sz="10583"/>
            </a:lvl1pPr>
            <a:lvl2pPr marL="1512006" indent="0">
              <a:buNone/>
              <a:defRPr sz="9260"/>
            </a:lvl2pPr>
            <a:lvl3pPr marL="3024012" indent="0">
              <a:buNone/>
              <a:defRPr sz="7937"/>
            </a:lvl3pPr>
            <a:lvl4pPr marL="4536018" indent="0">
              <a:buNone/>
              <a:defRPr sz="6614"/>
            </a:lvl4pPr>
            <a:lvl5pPr marL="6048024" indent="0">
              <a:buNone/>
              <a:defRPr sz="6614"/>
            </a:lvl5pPr>
            <a:lvl6pPr marL="7560031" indent="0">
              <a:buNone/>
              <a:defRPr sz="6614"/>
            </a:lvl6pPr>
            <a:lvl7pPr marL="9072037" indent="0">
              <a:buNone/>
              <a:defRPr sz="6614"/>
            </a:lvl7pPr>
            <a:lvl8pPr marL="10584043" indent="0">
              <a:buNone/>
              <a:defRPr sz="6614"/>
            </a:lvl8pPr>
            <a:lvl9pPr marL="12096049" indent="0">
              <a:buNone/>
              <a:defRPr sz="6614"/>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082959" y="12743974"/>
            <a:ext cx="9753280" cy="23609788"/>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22436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343286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40708" y="2261662"/>
            <a:ext cx="6520562" cy="3599976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079021" y="2261662"/>
            <a:ext cx="19183683" cy="3599976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432569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61671"/>
            <a:ext cx="26082248" cy="821082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79020" y="11308310"/>
            <a:ext cx="26082248" cy="2695311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079020" y="39372595"/>
            <a:ext cx="6804065" cy="2261662"/>
          </a:xfrm>
          <a:prstGeom prst="rect">
            <a:avLst/>
          </a:prstGeom>
        </p:spPr>
        <p:txBody>
          <a:bodyPr vert="horz" lIns="91440" tIns="45720" rIns="91440" bIns="45720" rtlCol="0" anchor="ctr"/>
          <a:lstStyle>
            <a:lvl1pPr algn="l">
              <a:defRPr sz="3969">
                <a:solidFill>
                  <a:schemeClr val="tx1">
                    <a:tint val="75000"/>
                  </a:schemeClr>
                </a:solidFill>
              </a:defRPr>
            </a:lvl1pPr>
          </a:lstStyle>
          <a:p>
            <a:fld id="{FC3D127C-1B49-4030-A14A-47C3343079FD}" type="datetimeFigureOut">
              <a:rPr kumimoji="1" lang="ja-JP" altLang="en-US" smtClean="0"/>
              <a:t>2022/6/14</a:t>
            </a:fld>
            <a:endParaRPr kumimoji="1" lang="ja-JP" altLang="en-US"/>
          </a:p>
        </p:txBody>
      </p:sp>
      <p:sp>
        <p:nvSpPr>
          <p:cNvPr id="5" name="Footer Placeholder 4"/>
          <p:cNvSpPr>
            <a:spLocks noGrp="1"/>
          </p:cNvSpPr>
          <p:nvPr>
            <p:ph type="ftr" sz="quarter" idx="3"/>
          </p:nvPr>
        </p:nvSpPr>
        <p:spPr>
          <a:xfrm>
            <a:off x="10017096" y="39372595"/>
            <a:ext cx="10206097" cy="2261662"/>
          </a:xfrm>
          <a:prstGeom prst="rect">
            <a:avLst/>
          </a:prstGeom>
        </p:spPr>
        <p:txBody>
          <a:bodyPr vert="horz" lIns="91440" tIns="45720" rIns="91440" bIns="45720" rtlCol="0" anchor="ctr"/>
          <a:lstStyle>
            <a:lvl1pPr algn="ctr">
              <a:defRPr sz="3969">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21357203" y="39372595"/>
            <a:ext cx="6804065" cy="2261662"/>
          </a:xfrm>
          <a:prstGeom prst="rect">
            <a:avLst/>
          </a:prstGeom>
        </p:spPr>
        <p:txBody>
          <a:bodyPr vert="horz" lIns="91440" tIns="45720" rIns="91440" bIns="45720" rtlCol="0" anchor="ctr"/>
          <a:lstStyle>
            <a:lvl1pPr algn="r">
              <a:defRPr sz="3969">
                <a:solidFill>
                  <a:schemeClr val="tx1">
                    <a:tint val="75000"/>
                  </a:schemeClr>
                </a:solidFill>
              </a:defRPr>
            </a:lvl1p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42873718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4012" rtl="0" eaLnBrk="1" latinLnBrk="0" hangingPunct="1">
        <a:lnSpc>
          <a:spcPct val="90000"/>
        </a:lnSpc>
        <a:spcBef>
          <a:spcPct val="0"/>
        </a:spcBef>
        <a:buNone/>
        <a:defRPr kumimoji="1" sz="14551" kern="1200">
          <a:solidFill>
            <a:schemeClr val="tx1"/>
          </a:solidFill>
          <a:latin typeface="+mj-lt"/>
          <a:ea typeface="+mj-ea"/>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kumimoji="1" sz="9260" kern="1200">
          <a:solidFill>
            <a:schemeClr val="tx1"/>
          </a:solidFill>
          <a:latin typeface="+mn-lt"/>
          <a:ea typeface="+mn-ea"/>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kumimoji="1" sz="7937" kern="1200">
          <a:solidFill>
            <a:schemeClr val="tx1"/>
          </a:solidFill>
          <a:latin typeface="+mn-lt"/>
          <a:ea typeface="+mn-ea"/>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kumimoji="1" sz="6614" kern="1200">
          <a:solidFill>
            <a:schemeClr val="tx1"/>
          </a:solidFill>
          <a:latin typeface="+mn-lt"/>
          <a:ea typeface="+mn-ea"/>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9pPr>
    </p:bodyStyle>
    <p:otherStyle>
      <a:defPPr>
        <a:defRPr lang="en-US"/>
      </a:defPPr>
      <a:lvl1pPr marL="0" algn="l" defTabSz="3024012" rtl="0" eaLnBrk="1" latinLnBrk="0" hangingPunct="1">
        <a:defRPr kumimoji="1" sz="5953" kern="1200">
          <a:solidFill>
            <a:schemeClr val="tx1"/>
          </a:solidFill>
          <a:latin typeface="+mn-lt"/>
          <a:ea typeface="+mn-ea"/>
          <a:cs typeface="+mn-cs"/>
        </a:defRPr>
      </a:lvl1pPr>
      <a:lvl2pPr marL="1512006" algn="l" defTabSz="3024012" rtl="0" eaLnBrk="1" latinLnBrk="0" hangingPunct="1">
        <a:defRPr kumimoji="1" sz="5953" kern="1200">
          <a:solidFill>
            <a:schemeClr val="tx1"/>
          </a:solidFill>
          <a:latin typeface="+mn-lt"/>
          <a:ea typeface="+mn-ea"/>
          <a:cs typeface="+mn-cs"/>
        </a:defRPr>
      </a:lvl2pPr>
      <a:lvl3pPr marL="3024012" algn="l" defTabSz="3024012" rtl="0" eaLnBrk="1" latinLnBrk="0" hangingPunct="1">
        <a:defRPr kumimoji="1" sz="5953" kern="1200">
          <a:solidFill>
            <a:schemeClr val="tx1"/>
          </a:solidFill>
          <a:latin typeface="+mn-lt"/>
          <a:ea typeface="+mn-ea"/>
          <a:cs typeface="+mn-cs"/>
        </a:defRPr>
      </a:lvl3pPr>
      <a:lvl4pPr marL="4536018" algn="l" defTabSz="3024012" rtl="0" eaLnBrk="1" latinLnBrk="0" hangingPunct="1">
        <a:defRPr kumimoji="1" sz="5953" kern="1200">
          <a:solidFill>
            <a:schemeClr val="tx1"/>
          </a:solidFill>
          <a:latin typeface="+mn-lt"/>
          <a:ea typeface="+mn-ea"/>
          <a:cs typeface="+mn-cs"/>
        </a:defRPr>
      </a:lvl4pPr>
      <a:lvl5pPr marL="6048024" algn="l" defTabSz="3024012" rtl="0" eaLnBrk="1" latinLnBrk="0" hangingPunct="1">
        <a:defRPr kumimoji="1" sz="5953" kern="1200">
          <a:solidFill>
            <a:schemeClr val="tx1"/>
          </a:solidFill>
          <a:latin typeface="+mn-lt"/>
          <a:ea typeface="+mn-ea"/>
          <a:cs typeface="+mn-cs"/>
        </a:defRPr>
      </a:lvl5pPr>
      <a:lvl6pPr marL="7560031" algn="l" defTabSz="3024012" rtl="0" eaLnBrk="1" latinLnBrk="0" hangingPunct="1">
        <a:defRPr kumimoji="1" sz="5953" kern="1200">
          <a:solidFill>
            <a:schemeClr val="tx1"/>
          </a:solidFill>
          <a:latin typeface="+mn-lt"/>
          <a:ea typeface="+mn-ea"/>
          <a:cs typeface="+mn-cs"/>
        </a:defRPr>
      </a:lvl6pPr>
      <a:lvl7pPr marL="9072037" algn="l" defTabSz="3024012" rtl="0" eaLnBrk="1" latinLnBrk="0" hangingPunct="1">
        <a:defRPr kumimoji="1" sz="5953" kern="1200">
          <a:solidFill>
            <a:schemeClr val="tx1"/>
          </a:solidFill>
          <a:latin typeface="+mn-lt"/>
          <a:ea typeface="+mn-ea"/>
          <a:cs typeface="+mn-cs"/>
        </a:defRPr>
      </a:lvl7pPr>
      <a:lvl8pPr marL="10584043" algn="l" defTabSz="3024012" rtl="0" eaLnBrk="1" latinLnBrk="0" hangingPunct="1">
        <a:defRPr kumimoji="1" sz="5953" kern="1200">
          <a:solidFill>
            <a:schemeClr val="tx1"/>
          </a:solidFill>
          <a:latin typeface="+mn-lt"/>
          <a:ea typeface="+mn-ea"/>
          <a:cs typeface="+mn-cs"/>
        </a:defRPr>
      </a:lvl8pPr>
      <a:lvl9pPr marL="12096049" algn="l" defTabSz="3024012" rtl="0" eaLnBrk="1" latinLnBrk="0" hangingPunct="1">
        <a:defRPr kumimoji="1"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7.png"/><Relationship Id="rId39" Type="http://schemas.openxmlformats.org/officeDocument/2006/relationships/image" Target="../media/image17.png"/><Relationship Id="rId3" Type="http://schemas.openxmlformats.org/officeDocument/2006/relationships/image" Target="../media/image2.png"/><Relationship Id="rId34" Type="http://schemas.openxmlformats.org/officeDocument/2006/relationships/image" Target="../media/image12.png"/><Relationship Id="rId42" Type="http://schemas.openxmlformats.org/officeDocument/2006/relationships/image" Target="../media/image20.png"/><Relationship Id="rId47" Type="http://schemas.openxmlformats.org/officeDocument/2006/relationships/image" Target="../media/image28.png"/><Relationship Id="rId7" Type="http://schemas.openxmlformats.org/officeDocument/2006/relationships/image" Target="../media/image6.png"/><Relationship Id="rId25" Type="http://schemas.openxmlformats.org/officeDocument/2006/relationships/image" Target="../media/image24.png"/><Relationship Id="rId33" Type="http://schemas.openxmlformats.org/officeDocument/2006/relationships/image" Target="../media/image11.png"/><Relationship Id="rId38" Type="http://schemas.openxmlformats.org/officeDocument/2006/relationships/image" Target="../media/image16.png"/><Relationship Id="rId46" Type="http://schemas.openxmlformats.org/officeDocument/2006/relationships/image" Target="../media/image27.png"/><Relationship Id="rId2" Type="http://schemas.openxmlformats.org/officeDocument/2006/relationships/image" Target="../media/image1.png"/><Relationship Id="rId29" Type="http://schemas.openxmlformats.org/officeDocument/2006/relationships/image" Target="../media/image10.png"/><Relationship Id="rId41"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5.png"/><Relationship Id="rId32" Type="http://schemas.openxmlformats.org/officeDocument/2006/relationships/image" Target="../media/image100.png"/><Relationship Id="rId37" Type="http://schemas.openxmlformats.org/officeDocument/2006/relationships/image" Target="../media/image15.png"/><Relationship Id="rId40" Type="http://schemas.openxmlformats.org/officeDocument/2006/relationships/image" Target="../media/image18.png"/><Relationship Id="rId45" Type="http://schemas.openxmlformats.org/officeDocument/2006/relationships/image" Target="../media/image26.png"/><Relationship Id="rId5" Type="http://schemas.openxmlformats.org/officeDocument/2006/relationships/image" Target="../media/image4.png"/><Relationship Id="rId28" Type="http://schemas.openxmlformats.org/officeDocument/2006/relationships/image" Target="../media/image9.png"/><Relationship Id="rId36" Type="http://schemas.openxmlformats.org/officeDocument/2006/relationships/image" Target="../media/image14.png"/><Relationship Id="rId49" Type="http://schemas.openxmlformats.org/officeDocument/2006/relationships/image" Target="../media/image23.png"/><Relationship Id="rId31" Type="http://schemas.openxmlformats.org/officeDocument/2006/relationships/image" Target="../media/image90.png"/><Relationship Id="rId44" Type="http://schemas.openxmlformats.org/officeDocument/2006/relationships/image" Target="../media/image25.png"/><Relationship Id="rId4" Type="http://schemas.openxmlformats.org/officeDocument/2006/relationships/image" Target="../media/image3.png"/><Relationship Id="rId27" Type="http://schemas.openxmlformats.org/officeDocument/2006/relationships/image" Target="../media/image8.png"/><Relationship Id="rId30" Type="http://schemas.openxmlformats.org/officeDocument/2006/relationships/image" Target="../media/image29.png"/><Relationship Id="rId35" Type="http://schemas.openxmlformats.org/officeDocument/2006/relationships/image" Target="../media/image13.png"/><Relationship Id="rId43" Type="http://schemas.openxmlformats.org/officeDocument/2006/relationships/image" Target="../media/image21.png"/><Relationship Id="rId48"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721280"/>
            <a:ext cx="29775151" cy="1404928"/>
          </a:xfrm>
          <a:prstGeom prst="roundRect">
            <a:avLst>
              <a:gd name="adj" fmla="val 3149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2529739"/>
            <a:ext cx="14760000" cy="2468981"/>
            <a:chOff x="232570" y="2529739"/>
            <a:chExt cx="14760000" cy="2468981"/>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4"/>
              <a:ext cx="14760000" cy="207062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06888" y="2529739"/>
              <a:ext cx="1870552" cy="907464"/>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目的</a:t>
              </a:r>
            </a:p>
          </p:txBody>
        </p:sp>
        <p:sp>
          <p:nvSpPr>
            <p:cNvPr id="19" name="テキスト ボックス 18">
              <a:extLst>
                <a:ext uri="{FF2B5EF4-FFF2-40B4-BE49-F238E27FC236}">
                  <a16:creationId xmlns:a16="http://schemas.microsoft.com/office/drawing/2014/main" id="{D0E84396-B3D1-68B4-B7EE-53F0443586F2}"/>
                </a:ext>
              </a:extLst>
            </p:cNvPr>
            <p:cNvSpPr txBox="1"/>
            <p:nvPr/>
          </p:nvSpPr>
          <p:spPr>
            <a:xfrm>
              <a:off x="506888" y="3541039"/>
              <a:ext cx="14214952" cy="1200329"/>
            </a:xfrm>
            <a:prstGeom prst="rect">
              <a:avLst/>
            </a:prstGeom>
            <a:noFill/>
          </p:spPr>
          <p:txBody>
            <a:bodyPr wrap="square">
              <a:spAutoFit/>
            </a:bodyPr>
            <a:lstStyle/>
            <a:p>
              <a:pPr marL="571500" indent="-571500">
                <a:buFont typeface="Arial" panose="020B0604020202020204" pitchFamily="34" charset="0"/>
                <a:buChar char="•"/>
              </a:pPr>
              <a:r>
                <a:rPr lang="en-US" altLang="ja-JP" sz="3600" dirty="0">
                  <a:latin typeface="UD デジタル 教科書体 NK-R" panose="02020400000000000000" pitchFamily="18" charset="-128"/>
                  <a:ea typeface="UD デジタル 教科書体 NK-R" panose="02020400000000000000" pitchFamily="18" charset="-128"/>
                </a:rPr>
                <a:t>OASIS</a:t>
              </a:r>
              <a:r>
                <a:rPr lang="ja-JP" altLang="en-US" sz="3600" dirty="0">
                  <a:latin typeface="UD デジタル 教科書体 NK-R" panose="02020400000000000000" pitchFamily="18" charset="-128"/>
                  <a:ea typeface="UD デジタル 教科書体 NK-R" panose="02020400000000000000" pitchFamily="18" charset="-128"/>
                </a:rPr>
                <a:t>法にネステロフの加速勾配を導入</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学習が高速化したことを計算機実験にて示す</a:t>
              </a: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506888" y="3538405"/>
              <a:ext cx="14214952" cy="1200329"/>
            </a:xfrm>
            <a:prstGeom prst="rect">
              <a:avLst/>
            </a:prstGeom>
            <a:noFill/>
          </p:spPr>
          <p:txBody>
            <a:bodyPr wrap="square">
              <a:spAutoFit/>
            </a:bodyPr>
            <a:lstStyle/>
            <a:p>
              <a:pPr marL="571500" indent="-571500">
                <a:buFont typeface="Arial" panose="020B0604020202020204" pitchFamily="34" charset="0"/>
                <a:buChar char="•"/>
              </a:pPr>
              <a:r>
                <a:rPr lang="en-US" altLang="ja-JP" sz="3600" dirty="0">
                  <a:latin typeface="UD デジタル 教科書体 NK-R" panose="02020400000000000000" pitchFamily="18" charset="-128"/>
                  <a:ea typeface="UD デジタル 教科書体 NK-R" panose="02020400000000000000" pitchFamily="18" charset="-128"/>
                </a:rPr>
                <a:t>OASIS</a:t>
              </a:r>
              <a:r>
                <a:rPr lang="ja-JP" altLang="en-US" sz="3600" dirty="0">
                  <a:latin typeface="UD デジタル 教科書体 NK-R" panose="02020400000000000000" pitchFamily="18" charset="-128"/>
                  <a:ea typeface="UD デジタル 教科書体 NK-R" panose="02020400000000000000" pitchFamily="18" charset="-128"/>
                </a:rPr>
                <a:t>法にネステロフの加速勾配を導入し学習を高速化</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学習が高速化したことを計算機実験にて示す</a:t>
              </a:r>
            </a:p>
          </p:txBody>
        </p:sp>
      </p:grpSp>
      <p:grpSp>
        <p:nvGrpSpPr>
          <p:cNvPr id="27" name="グループ化 26">
            <a:extLst>
              <a:ext uri="{FF2B5EF4-FFF2-40B4-BE49-F238E27FC236}">
                <a16:creationId xmlns:a16="http://schemas.microsoft.com/office/drawing/2014/main" id="{3B80611E-47EF-31F0-0268-3CEE63380F43}"/>
              </a:ext>
            </a:extLst>
          </p:cNvPr>
          <p:cNvGrpSpPr/>
          <p:nvPr/>
        </p:nvGrpSpPr>
        <p:grpSpPr>
          <a:xfrm>
            <a:off x="232568" y="5177977"/>
            <a:ext cx="14760000" cy="8294810"/>
            <a:chOff x="232568" y="5177977"/>
            <a:chExt cx="14760000" cy="8294810"/>
          </a:xfrm>
        </p:grpSpPr>
        <p:sp>
          <p:nvSpPr>
            <p:cNvPr id="15" name="四角形: 角を丸くする 14">
              <a:extLst>
                <a:ext uri="{FF2B5EF4-FFF2-40B4-BE49-F238E27FC236}">
                  <a16:creationId xmlns:a16="http://schemas.microsoft.com/office/drawing/2014/main" id="{1B37052B-BEE9-AE65-9197-D0BF1C1811BE}"/>
                </a:ext>
              </a:extLst>
            </p:cNvPr>
            <p:cNvSpPr/>
            <p:nvPr/>
          </p:nvSpPr>
          <p:spPr>
            <a:xfrm>
              <a:off x="232568" y="5607881"/>
              <a:ext cx="14760000" cy="7864906"/>
            </a:xfrm>
            <a:prstGeom prst="roundRect">
              <a:avLst>
                <a:gd name="adj" fmla="val 707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21" name="四角形: 角を丸くする 20">
              <a:extLst>
                <a:ext uri="{FF2B5EF4-FFF2-40B4-BE49-F238E27FC236}">
                  <a16:creationId xmlns:a16="http://schemas.microsoft.com/office/drawing/2014/main" id="{8456C201-ED51-3A93-8372-0D50DEF1922D}"/>
                </a:ext>
              </a:extLst>
            </p:cNvPr>
            <p:cNvSpPr/>
            <p:nvPr/>
          </p:nvSpPr>
          <p:spPr>
            <a:xfrm>
              <a:off x="506888" y="5177977"/>
              <a:ext cx="9673432" cy="989529"/>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ニューラルネットワークの学習</a:t>
              </a:r>
            </a:p>
          </p:txBody>
        </p:sp>
        <mc:AlternateContent xmlns:mc="http://schemas.openxmlformats.org/markup-compatibility/2006">
          <mc:Choice xmlns:a14="http://schemas.microsoft.com/office/drawing/2010/main" Requires="a14">
            <p:sp>
              <p:nvSpPr>
                <p:cNvPr id="22" name="テキスト ボックス 21">
                  <a:extLst>
                    <a:ext uri="{FF2B5EF4-FFF2-40B4-BE49-F238E27FC236}">
                      <a16:creationId xmlns:a16="http://schemas.microsoft.com/office/drawing/2014/main" id="{7130C017-A576-37AF-5F60-103CCFAA2CBD}"/>
                    </a:ext>
                  </a:extLst>
                </p:cNvPr>
                <p:cNvSpPr txBox="1"/>
                <p:nvPr/>
              </p:nvSpPr>
              <p:spPr>
                <a:xfrm>
                  <a:off x="506888" y="6399631"/>
                  <a:ext cx="14214952" cy="7073155"/>
                </a:xfrm>
                <a:prstGeom prst="rect">
                  <a:avLst/>
                </a:prstGeom>
                <a:noFill/>
              </p:spPr>
              <p:txBody>
                <a:bodyPr wrap="square">
                  <a:spAutoFit/>
                </a:bodyPr>
                <a:lstStyle/>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誤差関数</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rPr>
                            </m:ctrlPr>
                          </m:eqArrPr>
                          <m:e>
                            <m:r>
                              <a:rPr lang="en-ZA" altLang="ja-JP" sz="3600" b="0" i="1" smtClean="0">
                                <a:latin typeface="Cambria Math" panose="02040503050406030204" pitchFamily="18" charset="0"/>
                              </a:rPr>
                              <m:t>𝐸</m:t>
                            </m:r>
                            <m:d>
                              <m:dPr>
                                <m:ctrlPr>
                                  <a:rPr lang="en-ZA" altLang="ja-JP" sz="3600" b="0" i="1" smtClean="0">
                                    <a:latin typeface="Cambria Math" panose="02040503050406030204" pitchFamily="18" charset="0"/>
                                  </a:rPr>
                                </m:ctrlPr>
                              </m:dPr>
                              <m:e>
                                <m:r>
                                  <a:rPr lang="en-ZA" altLang="ja-JP" sz="3600" b="1" i="0" smtClean="0">
                                    <a:latin typeface="Cambria Math" panose="02040503050406030204" pitchFamily="18" charset="0"/>
                                  </a:rPr>
                                  <m:t>𝐰</m:t>
                                </m:r>
                              </m:e>
                            </m:d>
                            <m:r>
                              <a:rPr lang="en-ZA" altLang="ja-JP" sz="3600" b="0" i="1" smtClean="0">
                                <a:latin typeface="Cambria Math" panose="02040503050406030204" pitchFamily="18" charset="0"/>
                              </a:rPr>
                              <m:t>= </m:t>
                            </m:r>
                            <m:f>
                              <m:fPr>
                                <m:ctrlPr>
                                  <a:rPr lang="en-ZA" altLang="ja-JP" sz="3600" b="0" i="1" smtClean="0">
                                    <a:latin typeface="Cambria Math" panose="02040503050406030204" pitchFamily="18" charset="0"/>
                                  </a:rPr>
                                </m:ctrlPr>
                              </m:fPr>
                              <m:num>
                                <m:r>
                                  <a:rPr lang="en-ZA" altLang="ja-JP" sz="3600" b="0" i="1" smtClean="0">
                                    <a:latin typeface="Cambria Math" panose="02040503050406030204" pitchFamily="18" charset="0"/>
                                  </a:rPr>
                                  <m:t>1</m:t>
                                </m:r>
                              </m:num>
                              <m:den>
                                <m:d>
                                  <m:dPr>
                                    <m:begChr m:val="|"/>
                                    <m:endChr m:val="|"/>
                                    <m:ctrlPr>
                                      <a:rPr lang="en-ZA" altLang="ja-JP" sz="3600" b="0" i="1" smtClean="0">
                                        <a:latin typeface="Cambria Math" panose="02040503050406030204" pitchFamily="18" charset="0"/>
                                      </a:rPr>
                                    </m:ctrlPr>
                                  </m:dPr>
                                  <m:e>
                                    <m:sSub>
                                      <m:sSubPr>
                                        <m:ctrlPr>
                                          <a:rPr lang="en-ZA" altLang="ja-JP" sz="3600" b="0" i="1" smtClean="0">
                                            <a:latin typeface="Cambria Math" panose="02040503050406030204" pitchFamily="18" charset="0"/>
                                          </a:rPr>
                                        </m:ctrlPr>
                                      </m:sSubPr>
                                      <m:e>
                                        <m:r>
                                          <a:rPr lang="en-ZA" altLang="ja-JP" sz="3600" b="0" i="1" smtClean="0">
                                            <a:latin typeface="Cambria Math" panose="02040503050406030204" pitchFamily="18" charset="0"/>
                                          </a:rPr>
                                          <m:t>𝑇</m:t>
                                        </m:r>
                                      </m:e>
                                      <m:sub>
                                        <m:r>
                                          <a:rPr lang="en-ZA" altLang="ja-JP" sz="3600" b="0" i="1" smtClean="0">
                                            <a:latin typeface="Cambria Math" panose="02040503050406030204" pitchFamily="18" charset="0"/>
                                          </a:rPr>
                                          <m:t>𝑟</m:t>
                                        </m:r>
                                      </m:sub>
                                    </m:sSub>
                                  </m:e>
                                </m:d>
                              </m:den>
                            </m:f>
                            <m:nary>
                              <m:naryPr>
                                <m:chr m:val="∑"/>
                                <m:supHide m:val="on"/>
                                <m:ctrlPr>
                                  <a:rPr lang="en-ZA" altLang="ja-JP" sz="3600" b="0" i="1" smtClean="0">
                                    <a:latin typeface="Cambria Math" panose="02040503050406030204" pitchFamily="18" charset="0"/>
                                  </a:rPr>
                                </m:ctrlPr>
                              </m:naryPr>
                              <m:sub>
                                <m:r>
                                  <m:rPr>
                                    <m:brk m:alnAt="7"/>
                                  </m:rPr>
                                  <a:rPr lang="en-ZA" altLang="ja-JP" sz="3600" b="0" i="1" smtClean="0">
                                    <a:latin typeface="Cambria Math" panose="02040503050406030204" pitchFamily="18" charset="0"/>
                                  </a:rPr>
                                  <m:t>𝑝</m:t>
                                </m:r>
                                <m:r>
                                  <a:rPr lang="en-ZA" altLang="ja-JP" sz="3600" b="0" i="1" smtClean="0">
                                    <a:latin typeface="Cambria Math" panose="02040503050406030204" pitchFamily="18" charset="0"/>
                                  </a:rPr>
                                  <m:t> ∈ </m:t>
                                </m:r>
                                <m:sSub>
                                  <m:sSubPr>
                                    <m:ctrlPr>
                                      <a:rPr lang="en-ZA" altLang="ja-JP" sz="3600" b="0" i="1" smtClean="0">
                                        <a:latin typeface="Cambria Math" panose="02040503050406030204" pitchFamily="18" charset="0"/>
                                        <a:ea typeface="Cambria Math" panose="02040503050406030204" pitchFamily="18" charset="0"/>
                                      </a:rPr>
                                    </m:ctrlPr>
                                  </m:sSubPr>
                                  <m:e>
                                    <m:r>
                                      <a:rPr lang="en-ZA" altLang="ja-JP" sz="3600" b="0" i="1" smtClean="0">
                                        <a:latin typeface="Cambria Math" panose="02040503050406030204" pitchFamily="18" charset="0"/>
                                        <a:ea typeface="Cambria Math" panose="02040503050406030204" pitchFamily="18" charset="0"/>
                                      </a:rPr>
                                      <m:t>𝑇</m:t>
                                    </m:r>
                                  </m:e>
                                  <m:sub>
                                    <m:r>
                                      <a:rPr lang="en-ZA" altLang="ja-JP" sz="3600" b="0" i="1" smtClean="0">
                                        <a:latin typeface="Cambria Math" panose="02040503050406030204" pitchFamily="18" charset="0"/>
                                        <a:ea typeface="Cambria Math" panose="02040503050406030204" pitchFamily="18" charset="0"/>
                                      </a:rPr>
                                      <m:t>𝑟</m:t>
                                    </m:r>
                                  </m:sub>
                                </m:sSub>
                              </m:sub>
                              <m:sup/>
                              <m:e>
                                <m:sSub>
                                  <m:sSubPr>
                                    <m:ctrlPr>
                                      <a:rPr lang="en-ZA" altLang="ja-JP" sz="3600" b="0" i="1" smtClean="0">
                                        <a:latin typeface="Cambria Math" panose="02040503050406030204" pitchFamily="18" charset="0"/>
                                      </a:rPr>
                                    </m:ctrlPr>
                                  </m:sSubPr>
                                  <m:e>
                                    <m:r>
                                      <a:rPr lang="en-ZA" altLang="ja-JP" sz="3600" b="0" i="1" smtClean="0">
                                        <a:latin typeface="Cambria Math" panose="02040503050406030204" pitchFamily="18" charset="0"/>
                                      </a:rPr>
                                      <m:t>𝐸</m:t>
                                    </m:r>
                                  </m:e>
                                  <m:sub>
                                    <m:r>
                                      <a:rPr lang="en-ZA" altLang="ja-JP" sz="3600" b="0" i="1" smtClean="0">
                                        <a:latin typeface="Cambria Math" panose="02040503050406030204" pitchFamily="18" charset="0"/>
                                      </a:rPr>
                                      <m:t>𝑝</m:t>
                                    </m:r>
                                  </m:sub>
                                </m:sSub>
                                <m:r>
                                  <a:rPr lang="en-ZA" altLang="ja-JP" sz="3600" b="0" i="1" smtClean="0">
                                    <a:latin typeface="Cambria Math" panose="02040503050406030204" pitchFamily="18" charset="0"/>
                                  </a:rPr>
                                  <m:t>(</m:t>
                                </m:r>
                                <m:r>
                                  <a:rPr lang="en-ZA" altLang="ja-JP" sz="3600" b="1" i="0" smtClean="0">
                                    <a:latin typeface="Cambria Math" panose="02040503050406030204" pitchFamily="18" charset="0"/>
                                  </a:rPr>
                                  <m:t>𝐰</m:t>
                                </m:r>
                                <m:r>
                                  <a:rPr lang="en-ZA" altLang="ja-JP" sz="3600" b="0" i="1" smtClean="0">
                                    <a:latin typeface="Cambria Math" panose="02040503050406030204" pitchFamily="18" charset="0"/>
                                  </a:rPr>
                                  <m:t>)</m:t>
                                </m:r>
                              </m:e>
                            </m:nary>
                            <m:r>
                              <a:rPr lang="en-US" altLang="ja-JP" sz="3600" b="0" i="1" smtClean="0">
                                <a:latin typeface="Cambria Math" panose="02040503050406030204" pitchFamily="18" charset="0"/>
                              </a:rPr>
                              <m:t>#(1)</m:t>
                            </m:r>
                          </m:e>
                        </m:eqArr>
                      </m:oMath>
                    </m:oMathPara>
                  </a14:m>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ZA" altLang="ja-JP" sz="3600" b="1" i="0" smtClean="0">
                          <a:latin typeface="Cambria Math" panose="02040503050406030204" pitchFamily="18" charset="0"/>
                        </a:rPr>
                        <m:t>𝐰</m:t>
                      </m:r>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ニューラルネットワークのパラメータ</a:t>
                  </a:r>
                  <a:r>
                    <a:rPr lang="en-US" altLang="ja-JP"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sSub>
                        <m:sSubPr>
                          <m:ctrlPr>
                            <a:rPr lang="en-ZA" altLang="ja-JP" sz="3600" i="1">
                              <a:latin typeface="Cambria Math" panose="02040503050406030204" pitchFamily="18" charset="0"/>
                            </a:rPr>
                          </m:ctrlPr>
                        </m:sSubPr>
                        <m:e>
                          <m:r>
                            <a:rPr lang="en-ZA" altLang="ja-JP" sz="3600" i="1">
                              <a:latin typeface="Cambria Math" panose="02040503050406030204" pitchFamily="18" charset="0"/>
                            </a:rPr>
                            <m:t>𝑇</m:t>
                          </m:r>
                        </m:e>
                        <m:sub>
                          <m:r>
                            <a:rPr lang="en-ZA" altLang="ja-JP" sz="3600" i="1">
                              <a:latin typeface="Cambria Math" panose="02040503050406030204" pitchFamily="18" charset="0"/>
                            </a:rPr>
                            <m:t>𝑟</m:t>
                          </m:r>
                        </m:sub>
                      </m:sSub>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学習データ</a:t>
                  </a:r>
                  <a:r>
                    <a:rPr lang="en-US" altLang="ja-JP" sz="3600" dirty="0">
                      <a:latin typeface="UD デジタル 教科書体 NK-R" panose="02020400000000000000" pitchFamily="18" charset="-128"/>
                      <a:ea typeface="UD デジタル 教科書体 NK-R" panose="02020400000000000000" pitchFamily="18" charset="-128"/>
                    </a:rPr>
                    <a:t>, </a:t>
                  </a:r>
                </a:p>
                <a:p>
                  <a:r>
                    <a:rPr lang="en-US" altLang="ja-JP"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d>
                        <m:dPr>
                          <m:begChr m:val="|"/>
                          <m:endChr m:val="|"/>
                          <m:ctrlPr>
                            <a:rPr lang="en-ZA" altLang="ja-JP" sz="3600" b="0" i="1" smtClean="0">
                              <a:latin typeface="Cambria Math" panose="02040503050406030204" pitchFamily="18" charset="0"/>
                            </a:rPr>
                          </m:ctrlPr>
                        </m:dPr>
                        <m:e>
                          <m:sSub>
                            <m:sSubPr>
                              <m:ctrlPr>
                                <a:rPr lang="en-ZA" altLang="ja-JP" sz="3600" b="0" i="1" smtClean="0">
                                  <a:latin typeface="Cambria Math" panose="02040503050406030204" pitchFamily="18" charset="0"/>
                                </a:rPr>
                              </m:ctrlPr>
                            </m:sSubPr>
                            <m:e>
                              <m:r>
                                <a:rPr lang="en-ZA" altLang="ja-JP" sz="3600" b="0" i="1" smtClean="0">
                                  <a:latin typeface="Cambria Math" panose="02040503050406030204" pitchFamily="18" charset="0"/>
                                </a:rPr>
                                <m:t>𝑇</m:t>
                              </m:r>
                            </m:e>
                            <m:sub>
                              <m:r>
                                <a:rPr lang="en-ZA" altLang="ja-JP" sz="3600" b="0" i="1" smtClean="0">
                                  <a:latin typeface="Cambria Math" panose="02040503050406030204" pitchFamily="18" charset="0"/>
                                </a:rPr>
                                <m:t>𝑟</m:t>
                              </m:r>
                            </m:sub>
                          </m:sSub>
                        </m:e>
                      </m:d>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学習データ数</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ja-JP" altLang="en-US"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パラメータの更新式</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kumimoji="1" lang="en-US" altLang="ja-JP" sz="3600" b="0" i="1" smtClean="0">
                                <a:latin typeface="Cambria Math" panose="02040503050406030204" pitchFamily="18" charset="0"/>
                              </a:rPr>
                            </m:ctrlPr>
                          </m:eqArrPr>
                          <m:e>
                            <m:eqArr>
                              <m:eqArrPr>
                                <m:ctrlPr>
                                  <a:rPr kumimoji="1" lang="en-ZA" altLang="ja-JP" sz="3600" b="0" i="1" smtClean="0">
                                    <a:latin typeface="Cambria Math" panose="02040503050406030204" pitchFamily="18" charset="0"/>
                                  </a:rPr>
                                </m:ctrlPr>
                              </m:eqArrPr>
                              <m:e>
                                <m:sSub>
                                  <m:sSubPr>
                                    <m:ctrlPr>
                                      <a:rPr kumimoji="1" lang="en-US" altLang="ja-JP" sz="3600" i="1" smtClean="0">
                                        <a:latin typeface="Cambria Math" panose="02040503050406030204" pitchFamily="18" charset="0"/>
                                      </a:rPr>
                                    </m:ctrlPr>
                                  </m:sSubPr>
                                  <m:e>
                                    <m:r>
                                      <a:rPr kumimoji="1" lang="en-US" altLang="ja-JP" sz="3600" b="1" i="0" smtClean="0">
                                        <a:latin typeface="Cambria Math" panose="02040503050406030204" pitchFamily="18" charset="0"/>
                                      </a:rPr>
                                      <m:t>𝐰</m:t>
                                    </m:r>
                                  </m:e>
                                  <m:sub>
                                    <m:r>
                                      <a:rPr kumimoji="1" lang="en-US" altLang="ja-JP" sz="3600" b="0" i="1" smtClean="0">
                                        <a:latin typeface="Cambria Math" panose="02040503050406030204" pitchFamily="18" charset="0"/>
                                      </a:rPr>
                                      <m:t>𝑘</m:t>
                                    </m:r>
                                    <m:r>
                                      <a:rPr kumimoji="1" lang="en-US" altLang="ja-JP" sz="3600" b="0" i="1" smtClean="0">
                                        <a:latin typeface="Cambria Math" panose="02040503050406030204" pitchFamily="18" charset="0"/>
                                      </a:rPr>
                                      <m:t>+1</m:t>
                                    </m:r>
                                  </m:sub>
                                </m:sSub>
                                <m:r>
                                  <a:rPr kumimoji="1" lang="en-ZA" altLang="ja-JP" sz="3600" b="0" i="1" smtClean="0">
                                    <a:latin typeface="Cambria Math" panose="02040503050406030204" pitchFamily="18" charset="0"/>
                                  </a:rPr>
                                  <m:t>= </m:t>
                                </m:r>
                                <m:sSub>
                                  <m:sSubPr>
                                    <m:ctrlPr>
                                      <a:rPr kumimoji="1" lang="en-ZA" altLang="ja-JP" sz="3600" b="0" i="1" smtClean="0">
                                        <a:latin typeface="Cambria Math" panose="02040503050406030204" pitchFamily="18" charset="0"/>
                                      </a:rPr>
                                    </m:ctrlPr>
                                  </m:sSubPr>
                                  <m:e>
                                    <m:r>
                                      <a:rPr kumimoji="1" lang="en-ZA" altLang="ja-JP" sz="3600" b="1" i="0" smtClean="0">
                                        <a:latin typeface="Cambria Math" panose="02040503050406030204" pitchFamily="18" charset="0"/>
                                      </a:rPr>
                                      <m:t>𝐰</m:t>
                                    </m:r>
                                  </m:e>
                                  <m:sub>
                                    <m:r>
                                      <a:rPr kumimoji="1" lang="en-ZA" altLang="ja-JP" sz="3600" b="0" i="1" smtClean="0">
                                        <a:latin typeface="Cambria Math" panose="02040503050406030204" pitchFamily="18" charset="0"/>
                                      </a:rPr>
                                      <m:t>𝑘</m:t>
                                    </m:r>
                                  </m:sub>
                                </m:sSub>
                                <m:r>
                                  <a:rPr kumimoji="1" lang="en-ZA" altLang="ja-JP" sz="3600" b="0" i="1" smtClean="0">
                                    <a:latin typeface="Cambria Math" panose="02040503050406030204" pitchFamily="18" charset="0"/>
                                  </a:rPr>
                                  <m:t>+ </m:t>
                                </m:r>
                                <m:sSub>
                                  <m:sSubPr>
                                    <m:ctrlPr>
                                      <a:rPr kumimoji="1" lang="en-ZA" altLang="ja-JP" sz="3600" b="0" i="1" smtClean="0">
                                        <a:latin typeface="Cambria Math" panose="02040503050406030204" pitchFamily="18" charset="0"/>
                                      </a:rPr>
                                    </m:ctrlPr>
                                  </m:sSubPr>
                                  <m:e>
                                    <m:r>
                                      <a:rPr kumimoji="1" lang="en-ZA" altLang="ja-JP" sz="3600" b="1" i="0" smtClean="0">
                                        <a:latin typeface="Cambria Math" panose="02040503050406030204" pitchFamily="18" charset="0"/>
                                      </a:rPr>
                                      <m:t>𝐯</m:t>
                                    </m:r>
                                  </m:e>
                                  <m:sub>
                                    <m:r>
                                      <a:rPr kumimoji="1" lang="en-ZA" altLang="ja-JP" sz="3600" b="0" i="1" smtClean="0">
                                        <a:latin typeface="Cambria Math" panose="02040503050406030204" pitchFamily="18" charset="0"/>
                                      </a:rPr>
                                      <m:t>𝑘</m:t>
                                    </m:r>
                                    <m:r>
                                      <a:rPr lang="en-US" altLang="ja-JP" sz="3600" i="1">
                                        <a:latin typeface="Cambria Math" panose="02040503050406030204" pitchFamily="18" charset="0"/>
                                      </a:rPr>
                                      <m:t>+1</m:t>
                                    </m:r>
                                  </m:sub>
                                </m:sSub>
                                <m:r>
                                  <a:rPr kumimoji="1" lang="en-ZA" altLang="ja-JP" sz="3600" b="0" i="1" smtClean="0">
                                    <a:latin typeface="Cambria Math" panose="02040503050406030204" pitchFamily="18" charset="0"/>
                                  </a:rPr>
                                  <m:t>#</m:t>
                                </m:r>
                              </m:e>
                            </m:eqArr>
                            <m:r>
                              <a:rPr kumimoji="1" lang="en-ZA" altLang="ja-JP" sz="3600" b="0" i="1" smtClean="0">
                                <a:latin typeface="Cambria Math" panose="02040503050406030204" pitchFamily="18" charset="0"/>
                              </a:rPr>
                              <m:t>#</m:t>
                            </m:r>
                            <m:r>
                              <a:rPr kumimoji="1" lang="en-US" altLang="ja-JP" sz="3600" b="0" i="1" smtClean="0">
                                <a:latin typeface="Cambria Math" panose="02040503050406030204" pitchFamily="18" charset="0"/>
                              </a:rPr>
                              <m:t>#</m:t>
                            </m:r>
                            <m:r>
                              <a:rPr kumimoji="1" lang="en-US" altLang="ja-JP" sz="3600" b="0" i="1" smtClean="0">
                                <a:latin typeface="Cambria Math" panose="02040503050406030204" pitchFamily="18" charset="0"/>
                              </a:rPr>
                              <m:t>#(2)</m:t>
                            </m:r>
                          </m:e>
                        </m:eqArr>
                      </m:oMath>
                    </m:oMathPara>
                  </a14:m>
                  <a:endParaRPr kumimoji="1" lang="en-US" altLang="ja-JP" sz="3600" b="0" dirty="0">
                    <a:latin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sSub>
                        <m:sSubPr>
                          <m:ctrlPr>
                            <a:rPr kumimoji="1" lang="en-ZA" altLang="ja-JP" sz="3600" b="0" i="1" smtClean="0">
                              <a:latin typeface="Cambria Math" panose="02040503050406030204" pitchFamily="18" charset="0"/>
                            </a:rPr>
                          </m:ctrlPr>
                        </m:sSubPr>
                        <m:e>
                          <m:r>
                            <a:rPr kumimoji="1" lang="en-ZA" altLang="ja-JP" sz="3600" b="1" i="0" smtClean="0">
                              <a:latin typeface="Cambria Math" panose="02040503050406030204" pitchFamily="18" charset="0"/>
                            </a:rPr>
                            <m:t>𝐯</m:t>
                          </m:r>
                        </m:e>
                        <m:sub>
                          <m:r>
                            <a:rPr kumimoji="1" lang="en-ZA" altLang="ja-JP" sz="3600" b="0" i="1" smtClean="0">
                              <a:latin typeface="Cambria Math" panose="02040503050406030204" pitchFamily="18" charset="0"/>
                            </a:rPr>
                            <m:t>𝑘</m:t>
                          </m:r>
                          <m:r>
                            <a:rPr lang="en-US" altLang="ja-JP" sz="3600" i="1">
                              <a:latin typeface="Cambria Math" panose="02040503050406030204" pitchFamily="18" charset="0"/>
                            </a:rPr>
                            <m:t>+1</m:t>
                          </m:r>
                        </m:sub>
                      </m:sSub>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Ex)</a:t>
                  </a:r>
                  <a:r>
                    <a:rPr lang="ja-JP" altLang="en-US" sz="3600" dirty="0">
                      <a:latin typeface="UD デジタル 教科書体 NK-R" panose="02020400000000000000" pitchFamily="18" charset="-128"/>
                      <a:ea typeface="UD デジタル 教科書体 NK-R" panose="02020400000000000000" pitchFamily="18" charset="-128"/>
                    </a:rPr>
                    <a:t> 最急降下法（</a:t>
                  </a:r>
                  <a:r>
                    <a:rPr lang="en-US" altLang="ja-JP" sz="3600" dirty="0">
                      <a:latin typeface="UD デジタル 教科書体 NK-R" panose="02020400000000000000" pitchFamily="18" charset="-128"/>
                      <a:ea typeface="UD デジタル 教科書体 NK-R" panose="02020400000000000000" pitchFamily="18" charset="-128"/>
                    </a:rPr>
                    <a:t>Gradient Descent, GD</a:t>
                  </a:r>
                  <a:r>
                    <a:rPr lang="ja-JP" altLang="en-US" sz="3600" dirty="0">
                      <a:latin typeface="UD デジタル 教科書体 NK-R" panose="02020400000000000000" pitchFamily="18" charset="-128"/>
                      <a:ea typeface="UD デジタル 教科書体 NK-R" panose="02020400000000000000" pitchFamily="18" charset="-128"/>
                    </a:rPr>
                    <a:t>）の更新ベクトル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rPr>
                            </m:ctrlPr>
                          </m:eqArrPr>
                          <m:e>
                            <m:sSub>
                              <m:sSubPr>
                                <m:ctrlPr>
                                  <a:rPr lang="en-US" altLang="ja-JP" sz="3600" i="1" smtClean="0">
                                    <a:latin typeface="Cambria Math" panose="02040503050406030204" pitchFamily="18" charset="0"/>
                                  </a:rPr>
                                </m:ctrlPr>
                              </m:sSubPr>
                              <m:e>
                                <m:r>
                                  <a:rPr lang="en-US" altLang="ja-JP" sz="3600" b="1" i="0" smtClean="0">
                                    <a:latin typeface="Cambria Math" panose="02040503050406030204" pitchFamily="18" charset="0"/>
                                  </a:rPr>
                                  <m:t>𝐯</m:t>
                                </m:r>
                              </m:e>
                              <m:sub>
                                <m:r>
                                  <a:rPr lang="en-US" altLang="ja-JP" sz="3600" b="0" i="1" smtClean="0">
                                    <a:latin typeface="Cambria Math" panose="02040503050406030204" pitchFamily="18" charset="0"/>
                                  </a:rPr>
                                  <m:t>𝑘</m:t>
                                </m:r>
                                <m:r>
                                  <a:rPr lang="en-US" altLang="ja-JP" sz="3600" i="1">
                                    <a:latin typeface="Cambria Math" panose="02040503050406030204" pitchFamily="18" charset="0"/>
                                  </a:rPr>
                                  <m:t>+1</m:t>
                                </m:r>
                              </m:sub>
                            </m:sSub>
                            <m:r>
                              <a:rPr lang="en-ZA" altLang="ja-JP" sz="3600" b="0" i="1" smtClean="0">
                                <a:latin typeface="Cambria Math" panose="02040503050406030204" pitchFamily="18" charset="0"/>
                              </a:rPr>
                              <m:t>=−</m:t>
                            </m:r>
                            <m:r>
                              <a:rPr lang="ja-JP" altLang="en-ZA" sz="3600" b="0" i="1" smtClean="0">
                                <a:latin typeface="Cambria Math" panose="02040503050406030204" pitchFamily="18" charset="0"/>
                              </a:rPr>
                              <m:t>𝛼</m:t>
                            </m:r>
                            <m:r>
                              <m:rPr>
                                <m:sty m:val="p"/>
                              </m:rPr>
                              <a:rPr lang="ja-JP" altLang="en-US" sz="3600" i="1" smtClean="0">
                                <a:latin typeface="Cambria Math" panose="02040503050406030204" pitchFamily="18" charset="0"/>
                              </a:rPr>
                              <m:t>∇</m:t>
                            </m:r>
                            <m:r>
                              <a:rPr lang="en-ZA" altLang="ja-JP" sz="3600" b="0" i="1" smtClean="0">
                                <a:latin typeface="Cambria Math" panose="02040503050406030204" pitchFamily="18" charset="0"/>
                              </a:rPr>
                              <m:t>𝐸</m:t>
                            </m:r>
                            <m:d>
                              <m:dPr>
                                <m:ctrlPr>
                                  <a:rPr lang="en-ZA" altLang="ja-JP" sz="3600" b="0" i="1" smtClean="0">
                                    <a:latin typeface="Cambria Math" panose="02040503050406030204" pitchFamily="18" charset="0"/>
                                  </a:rPr>
                                </m:ctrlPr>
                              </m:dPr>
                              <m:e>
                                <m:sSub>
                                  <m:sSubPr>
                                    <m:ctrlPr>
                                      <a:rPr lang="en-ZA" altLang="ja-JP" sz="3600" b="0" i="1" smtClean="0">
                                        <a:latin typeface="Cambria Math" panose="02040503050406030204" pitchFamily="18" charset="0"/>
                                      </a:rPr>
                                    </m:ctrlPr>
                                  </m:sSubPr>
                                  <m:e>
                                    <m:r>
                                      <a:rPr lang="en-ZA" altLang="ja-JP" sz="3600" b="1" i="0" smtClean="0">
                                        <a:latin typeface="Cambria Math" panose="02040503050406030204" pitchFamily="18" charset="0"/>
                                      </a:rPr>
                                      <m:t>𝐰</m:t>
                                    </m:r>
                                  </m:e>
                                  <m:sub>
                                    <m:r>
                                      <a:rPr lang="en-ZA" altLang="ja-JP" sz="3600" b="0" i="1" smtClean="0">
                                        <a:latin typeface="Cambria Math" panose="02040503050406030204" pitchFamily="18" charset="0"/>
                                      </a:rPr>
                                      <m:t>𝑘</m:t>
                                    </m:r>
                                  </m:sub>
                                </m:sSub>
                              </m:e>
                            </m:d>
                            <m:r>
                              <a:rPr lang="en-ZA" altLang="ja-JP" sz="3600" b="0" i="1" smtClean="0">
                                <a:latin typeface="Cambria Math" panose="02040503050406030204" pitchFamily="18" charset="0"/>
                              </a:rPr>
                              <m:t>#</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#(3)</m:t>
                            </m:r>
                          </m:e>
                        </m:eqArr>
                      </m:oMath>
                    </m:oMathPara>
                  </a14:m>
                  <a:endParaRPr lang="en-US" altLang="ja-JP" sz="3600" b="0" dirty="0">
                    <a:latin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m:rPr>
                          <m:sty m:val="p"/>
                        </m:rPr>
                        <a:rPr lang="ja-JP" altLang="en-US" sz="3600" i="1" smtClean="0">
                          <a:latin typeface="Cambria Math" panose="02040503050406030204" pitchFamily="18" charset="0"/>
                        </a:rPr>
                        <m:t>∇</m:t>
                      </m:r>
                      <m:r>
                        <a:rPr lang="en-ZA" altLang="ja-JP" sz="3600" b="0" i="1" smtClean="0">
                          <a:latin typeface="Cambria Math" panose="02040503050406030204" pitchFamily="18" charset="0"/>
                        </a:rPr>
                        <m:t>𝐸</m:t>
                      </m:r>
                      <m:d>
                        <m:dPr>
                          <m:ctrlPr>
                            <a:rPr lang="en-ZA" altLang="ja-JP" sz="3600" b="0" i="1" smtClean="0">
                              <a:latin typeface="Cambria Math" panose="02040503050406030204" pitchFamily="18" charset="0"/>
                            </a:rPr>
                          </m:ctrlPr>
                        </m:dPr>
                        <m:e>
                          <m:sSub>
                            <m:sSubPr>
                              <m:ctrlPr>
                                <a:rPr lang="en-ZA" altLang="ja-JP" sz="3600" b="0" i="1" smtClean="0">
                                  <a:latin typeface="Cambria Math" panose="02040503050406030204" pitchFamily="18" charset="0"/>
                                </a:rPr>
                              </m:ctrlPr>
                            </m:sSubPr>
                            <m:e>
                              <m:r>
                                <a:rPr lang="en-ZA" altLang="ja-JP" sz="3600" b="1" i="0" smtClean="0">
                                  <a:latin typeface="Cambria Math" panose="02040503050406030204" pitchFamily="18" charset="0"/>
                                </a:rPr>
                                <m:t>𝐰</m:t>
                              </m:r>
                            </m:e>
                            <m:sub>
                              <m:r>
                                <a:rPr lang="en-ZA" altLang="ja-JP" sz="3600" b="0" i="1" smtClean="0">
                                  <a:latin typeface="Cambria Math" panose="02040503050406030204" pitchFamily="18" charset="0"/>
                                </a:rPr>
                                <m:t>𝑘</m:t>
                              </m:r>
                            </m:sub>
                          </m:sSub>
                        </m:e>
                      </m:d>
                      <m:r>
                        <a:rPr lang="en-ZA" altLang="ja-JP" sz="3600" b="0" i="1" smtClean="0">
                          <a:latin typeface="Cambria Math" panose="02040503050406030204" pitchFamily="18" charset="0"/>
                        </a:rPr>
                        <m:t> </m:t>
                      </m:r>
                    </m:oMath>
                  </a14:m>
                  <a:r>
                    <a:rPr lang="ja-JP" altLang="en-US" sz="3600" dirty="0">
                      <a:latin typeface="UD デジタル 教科書体 NK-R" panose="02020400000000000000" pitchFamily="18" charset="-128"/>
                      <a:ea typeface="UD デジタル 教科書体 NK-R" panose="02020400000000000000" pitchFamily="18" charset="-128"/>
                    </a:rPr>
                    <a:t>： 勾配</a:t>
                  </a:r>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𝛼 </a:t>
                  </a:r>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学習率</a:t>
                  </a:r>
                </a:p>
              </p:txBody>
            </p:sp>
          </mc:Choice>
          <mc:Fallback>
            <p:sp>
              <p:nvSpPr>
                <p:cNvPr id="22" name="テキスト ボックス 21">
                  <a:extLst>
                    <a:ext uri="{FF2B5EF4-FFF2-40B4-BE49-F238E27FC236}">
                      <a16:creationId xmlns:a16="http://schemas.microsoft.com/office/drawing/2014/main" id="{7130C017-A576-37AF-5F60-103CCFAA2CBD}"/>
                    </a:ext>
                  </a:extLst>
                </p:cNvPr>
                <p:cNvSpPr txBox="1">
                  <a:spLocks noRot="1" noChangeAspect="1" noMove="1" noResize="1" noEditPoints="1" noAdjustHandles="1" noChangeArrowheads="1" noChangeShapeType="1" noTextEdit="1"/>
                </p:cNvSpPr>
                <p:nvPr/>
              </p:nvSpPr>
              <p:spPr>
                <a:xfrm>
                  <a:off x="506888" y="6399631"/>
                  <a:ext cx="14214952" cy="7073155"/>
                </a:xfrm>
                <a:prstGeom prst="rect">
                  <a:avLst/>
                </a:prstGeom>
                <a:blipFill>
                  <a:blip r:embed="rId2"/>
                  <a:stretch>
                    <a:fillRect l="-1249" t="-20108" r="-892" b="-2334"/>
                  </a:stretch>
                </a:blipFill>
              </p:spPr>
              <p:txBody>
                <a:bodyPr/>
                <a:lstStyle/>
                <a:p>
                  <a:r>
                    <a:rPr lang="ja-JP" altLang="en-US">
                      <a:noFill/>
                    </a:rPr>
                    <a:t> </a:t>
                  </a:r>
                </a:p>
              </p:txBody>
            </p:sp>
          </mc:Fallback>
        </mc:AlternateContent>
      </p:grpSp>
      <p:grpSp>
        <p:nvGrpSpPr>
          <p:cNvPr id="28" name="グループ化 27">
            <a:extLst>
              <a:ext uri="{FF2B5EF4-FFF2-40B4-BE49-F238E27FC236}">
                <a16:creationId xmlns:a16="http://schemas.microsoft.com/office/drawing/2014/main" id="{F87861C1-0C99-1717-711E-12132D206667}"/>
              </a:ext>
            </a:extLst>
          </p:cNvPr>
          <p:cNvGrpSpPr/>
          <p:nvPr/>
        </p:nvGrpSpPr>
        <p:grpSpPr>
          <a:xfrm>
            <a:off x="860332" y="353705"/>
            <a:ext cx="28519621" cy="1873679"/>
            <a:chOff x="860332" y="353705"/>
            <a:chExt cx="28519621" cy="1873679"/>
          </a:xfrm>
        </p:grpSpPr>
        <p:grpSp>
          <p:nvGrpSpPr>
            <p:cNvPr id="8" name="グループ化 7">
              <a:extLst>
                <a:ext uri="{FF2B5EF4-FFF2-40B4-BE49-F238E27FC236}">
                  <a16:creationId xmlns:a16="http://schemas.microsoft.com/office/drawing/2014/main" id="{D217D156-E69B-2BDF-A462-41E6CA149116}"/>
                </a:ext>
              </a:extLst>
            </p:cNvPr>
            <p:cNvGrpSpPr/>
            <p:nvPr/>
          </p:nvGrpSpPr>
          <p:grpSpPr>
            <a:xfrm>
              <a:off x="946944" y="35370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en-US" altLang="ja-JP" sz="4800" dirty="0">
                    <a:latin typeface="UD デジタル 教科書体 NK-R" panose="02020400000000000000" pitchFamily="18" charset="-128"/>
                    <a:ea typeface="UD デジタル 教科書体 NK-R" panose="02020400000000000000" pitchFamily="18" charset="-128"/>
                  </a:rPr>
                  <a:t>2</a:t>
                </a:r>
                <a:r>
                  <a:rPr kumimoji="1" lang="ja-JP" altLang="en-US" sz="4800" dirty="0">
                    <a:latin typeface="UD デジタル 教科書体 NK-R" panose="02020400000000000000" pitchFamily="18" charset="-128"/>
                    <a:ea typeface="UD デジタル 教科書体 NK-R" panose="02020400000000000000" pitchFamily="18" charset="-128"/>
                  </a:rPr>
                  <a:t>次情報を用いた二重適応縮約型学習アルゴリズムにおけるネステロフの加速勾配の効果に関する研究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cxnSp>
          <p:nvCxnSpPr>
            <p:cNvPr id="26" name="直線コネクタ 25">
              <a:extLst>
                <a:ext uri="{FF2B5EF4-FFF2-40B4-BE49-F238E27FC236}">
                  <a16:creationId xmlns:a16="http://schemas.microsoft.com/office/drawing/2014/main" id="{385AD9CF-B811-3DA0-D6B9-519BE9FF2F17}"/>
                </a:ext>
              </a:extLst>
            </p:cNvPr>
            <p:cNvCxnSpPr/>
            <p:nvPr/>
          </p:nvCxnSpPr>
          <p:spPr>
            <a:xfrm>
              <a:off x="860332" y="2227384"/>
              <a:ext cx="28519621" cy="0"/>
            </a:xfrm>
            <a:prstGeom prst="line">
              <a:avLst/>
            </a:prstGeom>
            <a:ln w="762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127" name="グループ化 126">
            <a:extLst>
              <a:ext uri="{FF2B5EF4-FFF2-40B4-BE49-F238E27FC236}">
                <a16:creationId xmlns:a16="http://schemas.microsoft.com/office/drawing/2014/main" id="{9732F6C6-A03C-A3C9-569A-BB68675C79B1}"/>
              </a:ext>
            </a:extLst>
          </p:cNvPr>
          <p:cNvGrpSpPr/>
          <p:nvPr/>
        </p:nvGrpSpPr>
        <p:grpSpPr>
          <a:xfrm>
            <a:off x="232568" y="13704911"/>
            <a:ext cx="14760000" cy="16859720"/>
            <a:chOff x="232568" y="13704911"/>
            <a:chExt cx="14760000" cy="16859720"/>
          </a:xfrm>
        </p:grpSpPr>
        <p:grpSp>
          <p:nvGrpSpPr>
            <p:cNvPr id="29" name="グループ化 28">
              <a:extLst>
                <a:ext uri="{FF2B5EF4-FFF2-40B4-BE49-F238E27FC236}">
                  <a16:creationId xmlns:a16="http://schemas.microsoft.com/office/drawing/2014/main" id="{CE582D28-B8C7-184A-8907-3F8DB7980B3A}"/>
                </a:ext>
              </a:extLst>
            </p:cNvPr>
            <p:cNvGrpSpPr/>
            <p:nvPr/>
          </p:nvGrpSpPr>
          <p:grpSpPr>
            <a:xfrm>
              <a:off x="232568" y="13704911"/>
              <a:ext cx="14760000" cy="16859720"/>
              <a:chOff x="232568" y="5177977"/>
              <a:chExt cx="14760000" cy="1685972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232568" y="5607881"/>
                <a:ext cx="14760000" cy="16429816"/>
              </a:xfrm>
              <a:prstGeom prst="roundRect">
                <a:avLst>
                  <a:gd name="adj" fmla="val 4392"/>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8" y="5177977"/>
                <a:ext cx="4135450" cy="989529"/>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従来手法</a:t>
                </a:r>
                <a:r>
                  <a:rPr kumimoji="1" lang="en-US" altLang="ja-JP" sz="6000" dirty="0">
                    <a:solidFill>
                      <a:schemeClr val="tx1"/>
                    </a:solidFill>
                    <a:latin typeface="UD デジタル 教科書体 NK-R" panose="02020400000000000000" pitchFamily="18" charset="-128"/>
                    <a:ea typeface="UD デジタル 教科書体 NK-R" panose="02020400000000000000" pitchFamily="18" charset="-128"/>
                  </a:rPr>
                  <a:t>Ⅰ</a:t>
                </a:r>
                <a:endPar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mc:Choice xmlns:a14="http://schemas.microsoft.com/office/drawing/2010/main"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506888" y="6399631"/>
                    <a:ext cx="14214952" cy="15440509"/>
                  </a:xfrm>
                  <a:prstGeom prst="rect">
                    <a:avLst/>
                  </a:prstGeom>
                  <a:noFill/>
                </p:spPr>
                <p:txBody>
                  <a:bodyPr wrap="square">
                    <a:spAutoFit/>
                  </a:bodyPr>
                  <a:lstStyle/>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ニュートン法の更新ベクトル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indent="457200"/>
                    <a:r>
                      <a:rPr lang="ja-JP" altLang="en-US" sz="3600" dirty="0">
                        <a:latin typeface="UD デジタル 教科書体 NK-R" panose="02020400000000000000" pitchFamily="18" charset="-128"/>
                        <a:ea typeface="UD デジタル 教科書体 NK-R" panose="02020400000000000000" pitchFamily="18" charset="-128"/>
                      </a:rPr>
                      <a:t>ニュートン法は二次近似手法の基となる学習アルゴリズム</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rPr>
                              </m:ctrlPr>
                            </m:eqArrPr>
                            <m:e>
                              <m:sSub>
                                <m:sSubPr>
                                  <m:ctrlPr>
                                    <a:rPr lang="en-US" altLang="ja-JP" sz="3600" i="1">
                                      <a:latin typeface="Cambria Math" panose="02040503050406030204" pitchFamily="18" charset="0"/>
                                    </a:rPr>
                                  </m:ctrlPr>
                                </m:sSubPr>
                                <m:e>
                                  <m:r>
                                    <a:rPr lang="en-US" altLang="ja-JP" sz="3600" b="1">
                                      <a:latin typeface="Cambria Math" panose="02040503050406030204" pitchFamily="18" charset="0"/>
                                    </a:rPr>
                                    <m:t>𝐯</m:t>
                                  </m:r>
                                </m:e>
                                <m:sub>
                                  <m:r>
                                    <a:rPr lang="en-US" altLang="ja-JP" sz="3600" i="1">
                                      <a:latin typeface="Cambria Math" panose="02040503050406030204" pitchFamily="18" charset="0"/>
                                    </a:rPr>
                                    <m:t>𝑘</m:t>
                                  </m:r>
                                  <m:r>
                                    <a:rPr lang="en-US" altLang="ja-JP" sz="3600" i="1">
                                      <a:latin typeface="Cambria Math" panose="02040503050406030204" pitchFamily="18" charset="0"/>
                                    </a:rPr>
                                    <m:t>+1</m:t>
                                  </m:r>
                                </m:sub>
                              </m:sSub>
                              <m:r>
                                <a:rPr lang="en-ZA" altLang="ja-JP" sz="3600" i="1">
                                  <a:latin typeface="Cambria Math" panose="02040503050406030204" pitchFamily="18" charset="0"/>
                                </a:rPr>
                                <m:t>=−</m:t>
                              </m:r>
                              <m:r>
                                <a:rPr lang="ja-JP" altLang="en-ZA" sz="3600" i="1">
                                  <a:latin typeface="Cambria Math" panose="02040503050406030204" pitchFamily="18" charset="0"/>
                                </a:rPr>
                                <m:t>𝛼</m:t>
                              </m:r>
                              <m:sSup>
                                <m:sSupPr>
                                  <m:ctrlPr>
                                    <a:rPr lang="en-US" altLang="ja-JP" sz="3600" i="1" smtClean="0">
                                      <a:solidFill>
                                        <a:srgbClr val="FF0000"/>
                                      </a:solidFill>
                                      <a:latin typeface="Cambria Math" panose="02040503050406030204" pitchFamily="18" charset="0"/>
                                    </a:rPr>
                                  </m:ctrlPr>
                                </m:sSupPr>
                                <m:e>
                                  <m:sSup>
                                    <m:sSupPr>
                                      <m:ctrlPr>
                                        <a:rPr lang="en-US" altLang="ja-JP" sz="3600" i="1">
                                          <a:solidFill>
                                            <a:srgbClr val="FF0000"/>
                                          </a:solidFill>
                                          <a:latin typeface="Cambria Math" panose="02040503050406030204" pitchFamily="18" charset="0"/>
                                        </a:rPr>
                                      </m:ctrlPr>
                                    </m:sSupPr>
                                    <m:e>
                                      <m:r>
                                        <m:rPr>
                                          <m:sty m:val="p"/>
                                        </m:rPr>
                                        <a:rPr lang="ja-JP" altLang="en-US" sz="3600" i="1">
                                          <a:solidFill>
                                            <a:srgbClr val="FF0000"/>
                                          </a:solidFill>
                                          <a:latin typeface="Cambria Math" panose="02040503050406030204" pitchFamily="18" charset="0"/>
                                        </a:rPr>
                                        <m:t>∇</m:t>
                                      </m:r>
                                    </m:e>
                                    <m:sup>
                                      <m:r>
                                        <a:rPr lang="en-US" altLang="ja-JP" sz="3600" i="1">
                                          <a:solidFill>
                                            <a:srgbClr val="FF0000"/>
                                          </a:solidFill>
                                          <a:latin typeface="Cambria Math" panose="02040503050406030204" pitchFamily="18" charset="0"/>
                                        </a:rPr>
                                        <m:t>2</m:t>
                                      </m:r>
                                    </m:sup>
                                  </m:sSup>
                                  <m:r>
                                    <a:rPr lang="en-ZA" altLang="ja-JP" sz="3600" i="1">
                                      <a:solidFill>
                                        <a:srgbClr val="FF0000"/>
                                      </a:solidFill>
                                      <a:latin typeface="Cambria Math" panose="02040503050406030204" pitchFamily="18" charset="0"/>
                                    </a:rPr>
                                    <m:t>𝐸</m:t>
                                  </m:r>
                                  <m:d>
                                    <m:dPr>
                                      <m:ctrlPr>
                                        <a:rPr lang="en-ZA" altLang="ja-JP" sz="3600" i="1">
                                          <a:solidFill>
                                            <a:srgbClr val="FF0000"/>
                                          </a:solidFill>
                                          <a:latin typeface="Cambria Math" panose="02040503050406030204" pitchFamily="18" charset="0"/>
                                        </a:rPr>
                                      </m:ctrlPr>
                                    </m:dPr>
                                    <m:e>
                                      <m:sSub>
                                        <m:sSubPr>
                                          <m:ctrlPr>
                                            <a:rPr lang="en-ZA" altLang="ja-JP" sz="3600" i="1">
                                              <a:solidFill>
                                                <a:srgbClr val="FF0000"/>
                                              </a:solidFill>
                                              <a:latin typeface="Cambria Math" panose="02040503050406030204" pitchFamily="18" charset="0"/>
                                            </a:rPr>
                                          </m:ctrlPr>
                                        </m:sSubPr>
                                        <m:e>
                                          <m:r>
                                            <a:rPr lang="en-ZA" altLang="ja-JP" sz="3600" b="1">
                                              <a:solidFill>
                                                <a:srgbClr val="FF0000"/>
                                              </a:solidFill>
                                              <a:latin typeface="Cambria Math" panose="02040503050406030204" pitchFamily="18" charset="0"/>
                                            </a:rPr>
                                            <m:t>𝐰</m:t>
                                          </m:r>
                                        </m:e>
                                        <m:sub>
                                          <m:r>
                                            <a:rPr lang="en-ZA" altLang="ja-JP" sz="3600" i="1">
                                              <a:solidFill>
                                                <a:srgbClr val="FF0000"/>
                                              </a:solidFill>
                                              <a:latin typeface="Cambria Math" panose="02040503050406030204" pitchFamily="18" charset="0"/>
                                            </a:rPr>
                                            <m:t>𝑘</m:t>
                                          </m:r>
                                        </m:sub>
                                      </m:sSub>
                                    </m:e>
                                  </m:d>
                                </m:e>
                                <m:sup>
                                  <m:r>
                                    <a:rPr lang="en-US" altLang="ja-JP" sz="3600" b="0" i="1" smtClean="0">
                                      <a:solidFill>
                                        <a:srgbClr val="FF0000"/>
                                      </a:solidFill>
                                      <a:latin typeface="Cambria Math" panose="02040503050406030204" pitchFamily="18" charset="0"/>
                                    </a:rPr>
                                    <m:t>−1</m:t>
                                  </m:r>
                                </m:sup>
                              </m:sSup>
                              <m:r>
                                <m:rPr>
                                  <m:sty m:val="p"/>
                                </m:rPr>
                                <a:rPr lang="ja-JP" altLang="en-US" sz="3600" i="1">
                                  <a:latin typeface="Cambria Math" panose="02040503050406030204" pitchFamily="18" charset="0"/>
                                </a:rPr>
                                <m:t>∇</m:t>
                              </m:r>
                              <m:r>
                                <a:rPr lang="en-ZA" altLang="ja-JP" sz="3600" i="1">
                                  <a:latin typeface="Cambria Math" panose="02040503050406030204" pitchFamily="18" charset="0"/>
                                </a:rPr>
                                <m:t>𝐸</m:t>
                              </m:r>
                              <m:d>
                                <m:dPr>
                                  <m:ctrlPr>
                                    <a:rPr lang="en-ZA" altLang="ja-JP" sz="3600" i="1">
                                      <a:latin typeface="Cambria Math" panose="02040503050406030204" pitchFamily="18" charset="0"/>
                                    </a:rPr>
                                  </m:ctrlPr>
                                </m:dPr>
                                <m:e>
                                  <m:sSub>
                                    <m:sSubPr>
                                      <m:ctrlPr>
                                        <a:rPr lang="en-ZA" altLang="ja-JP" sz="3600" i="1">
                                          <a:latin typeface="Cambria Math" panose="02040503050406030204" pitchFamily="18" charset="0"/>
                                        </a:rPr>
                                      </m:ctrlPr>
                                    </m:sSubPr>
                                    <m:e>
                                      <m:r>
                                        <a:rPr lang="en-ZA" altLang="ja-JP" sz="3600" b="1">
                                          <a:latin typeface="Cambria Math" panose="02040503050406030204" pitchFamily="18" charset="0"/>
                                        </a:rPr>
                                        <m:t>𝐰</m:t>
                                      </m:r>
                                    </m:e>
                                    <m:sub>
                                      <m:r>
                                        <a:rPr lang="en-ZA" altLang="ja-JP" sz="3600" i="1">
                                          <a:latin typeface="Cambria Math" panose="02040503050406030204" pitchFamily="18" charset="0"/>
                                        </a:rPr>
                                        <m:t>𝑘</m:t>
                                      </m:r>
                                    </m:sub>
                                  </m:sSub>
                                </m:e>
                              </m:d>
                              <m:r>
                                <a:rPr lang="en-ZA" altLang="ja-JP" sz="3600" i="1">
                                  <a:latin typeface="Cambria Math" panose="02040503050406030204" pitchFamily="18" charset="0"/>
                                </a:rPr>
                                <m:t>#</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#(4)</m:t>
                              </m:r>
                            </m:e>
                          </m:eqArr>
                        </m:oMath>
                      </m:oMathPara>
                    </a14:m>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sSup>
                          <m:sSupPr>
                            <m:ctrlPr>
                              <a:rPr lang="en-US" altLang="ja-JP" sz="3600" i="1" smtClean="0">
                                <a:solidFill>
                                  <a:srgbClr val="FF0000"/>
                                </a:solidFill>
                                <a:latin typeface="Cambria Math" panose="02040503050406030204" pitchFamily="18" charset="0"/>
                              </a:rPr>
                            </m:ctrlPr>
                          </m:sSupPr>
                          <m:e>
                            <m:r>
                              <m:rPr>
                                <m:sty m:val="p"/>
                              </m:rPr>
                              <a:rPr lang="ja-JP" altLang="en-US" sz="3600" i="1">
                                <a:solidFill>
                                  <a:srgbClr val="FF0000"/>
                                </a:solidFill>
                                <a:latin typeface="Cambria Math" panose="02040503050406030204" pitchFamily="18" charset="0"/>
                              </a:rPr>
                              <m:t>∇</m:t>
                            </m:r>
                          </m:e>
                          <m:sup>
                            <m:r>
                              <a:rPr lang="en-US" altLang="ja-JP" sz="3600" i="1">
                                <a:solidFill>
                                  <a:srgbClr val="FF0000"/>
                                </a:solidFill>
                                <a:latin typeface="Cambria Math" panose="02040503050406030204" pitchFamily="18" charset="0"/>
                              </a:rPr>
                              <m:t>2</m:t>
                            </m:r>
                          </m:sup>
                        </m:sSup>
                        <m:r>
                          <a:rPr lang="en-ZA" altLang="ja-JP" sz="3600" i="1">
                            <a:solidFill>
                              <a:srgbClr val="FF0000"/>
                            </a:solidFill>
                            <a:latin typeface="Cambria Math" panose="02040503050406030204" pitchFamily="18" charset="0"/>
                          </a:rPr>
                          <m:t>𝐸</m:t>
                        </m:r>
                        <m:d>
                          <m:dPr>
                            <m:ctrlPr>
                              <a:rPr lang="en-ZA" altLang="ja-JP" sz="3600" i="1">
                                <a:solidFill>
                                  <a:srgbClr val="FF0000"/>
                                </a:solidFill>
                                <a:latin typeface="Cambria Math" panose="02040503050406030204" pitchFamily="18" charset="0"/>
                              </a:rPr>
                            </m:ctrlPr>
                          </m:dPr>
                          <m:e>
                            <m:sSub>
                              <m:sSubPr>
                                <m:ctrlPr>
                                  <a:rPr lang="en-ZA" altLang="ja-JP" sz="3600" i="1">
                                    <a:solidFill>
                                      <a:srgbClr val="FF0000"/>
                                    </a:solidFill>
                                    <a:latin typeface="Cambria Math" panose="02040503050406030204" pitchFamily="18" charset="0"/>
                                  </a:rPr>
                                </m:ctrlPr>
                              </m:sSubPr>
                              <m:e>
                                <m:r>
                                  <a:rPr lang="en-ZA" altLang="ja-JP" sz="3600" b="1">
                                    <a:solidFill>
                                      <a:srgbClr val="FF0000"/>
                                    </a:solidFill>
                                    <a:latin typeface="Cambria Math" panose="02040503050406030204" pitchFamily="18" charset="0"/>
                                  </a:rPr>
                                  <m:t>𝐰</m:t>
                                </m:r>
                              </m:e>
                              <m:sub>
                                <m:r>
                                  <a:rPr lang="en-ZA" altLang="ja-JP" sz="3600" i="1">
                                    <a:solidFill>
                                      <a:srgbClr val="FF0000"/>
                                    </a:solidFill>
                                    <a:latin typeface="Cambria Math" panose="02040503050406030204" pitchFamily="18" charset="0"/>
                                  </a:rPr>
                                  <m:t>𝑘</m:t>
                                </m:r>
                              </m:sub>
                            </m:sSub>
                          </m:e>
                        </m:d>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ヘッセ行列</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algn="ctr"/>
                    <a:r>
                      <a:rPr lang="ja-JP" altLang="en-US" sz="3600" dirty="0">
                        <a:latin typeface="UD デジタル 教科書体 NK-R" panose="02020400000000000000" pitchFamily="18" charset="-128"/>
                        <a:ea typeface="UD デジタル 教科書体 NK-R" panose="02020400000000000000" pitchFamily="18" charset="-128"/>
                      </a:rPr>
                      <a:t>ニュートン法はヘッセ行列の逆行列の計算コストが高い</a:t>
                    </a:r>
                    <a:endParaRPr lang="en-US" altLang="ja-JP" sz="3600" dirty="0">
                      <a:latin typeface="UD デジタル 教科書体 NK-R" panose="02020400000000000000" pitchFamily="18" charset="-128"/>
                      <a:ea typeface="UD デジタル 教科書体 NK-R" panose="02020400000000000000" pitchFamily="18" charset="-128"/>
                    </a:endParaRPr>
                  </a:p>
                  <a:p>
                    <a:pPr algn="ctr"/>
                    <a:r>
                      <a:rPr lang="ja-JP" altLang="en-US" sz="3600" dirty="0">
                        <a:latin typeface="UD デジタル 教科書体 NK-R" panose="02020400000000000000" pitchFamily="18" charset="-128"/>
                        <a:ea typeface="UD デジタル 教科書体 NK-R" panose="02020400000000000000" pitchFamily="18" charset="-128"/>
                      </a:rPr>
                      <a:t>↓</a:t>
                    </a:r>
                    <a:endParaRPr lang="en-US" altLang="ja-JP" sz="3600" dirty="0">
                      <a:latin typeface="UD デジタル 教科書体 NK-R" panose="02020400000000000000" pitchFamily="18" charset="-128"/>
                      <a:ea typeface="UD デジタル 教科書体 NK-R" panose="02020400000000000000" pitchFamily="18" charset="-128"/>
                    </a:endParaRPr>
                  </a:p>
                  <a:p>
                    <a:pPr algn="ctr"/>
                    <a:r>
                      <a:rPr lang="ja-JP" altLang="en-US" sz="3600" dirty="0">
                        <a:latin typeface="UD デジタル 教科書体 NK-R" panose="02020400000000000000" pitchFamily="18" charset="-128"/>
                        <a:ea typeface="UD デジタル 教科書体 NK-R" panose="02020400000000000000" pitchFamily="18" charset="-128"/>
                      </a:rPr>
                      <a:t>ヘッセ行列を対角行列に近似し計算コストを削減（</a:t>
                    </a:r>
                    <a:r>
                      <a:rPr lang="en-US" altLang="ja-JP" sz="3600" dirty="0">
                        <a:latin typeface="UD デジタル 教科書体 NK-R" panose="02020400000000000000" pitchFamily="18" charset="-128"/>
                        <a:ea typeface="UD デジタル 教科書体 NK-R" panose="02020400000000000000" pitchFamily="18" charset="-128"/>
                      </a:rPr>
                      <a:t>HdN</a:t>
                    </a:r>
                    <a:r>
                      <a:rPr lang="ja-JP" altLang="en-US" sz="3600" dirty="0">
                        <a:latin typeface="UD デジタル 教科書体 NK-R" panose="02020400000000000000" pitchFamily="18" charset="-128"/>
                        <a:ea typeface="UD デジタル 教科書体 NK-R" panose="02020400000000000000" pitchFamily="18" charset="-128"/>
                      </a:rPr>
                      <a:t>・</a:t>
                    </a:r>
                    <a:r>
                      <a:rPr lang="en-US" altLang="ja-JP" sz="3600" dirty="0">
                        <a:latin typeface="UD デジタル 教科書体 NK-R" panose="02020400000000000000" pitchFamily="18" charset="-128"/>
                        <a:ea typeface="UD デジタル 教科書体 NK-R" panose="02020400000000000000" pitchFamily="18" charset="-128"/>
                      </a:rPr>
                      <a:t>OASIS</a:t>
                    </a:r>
                    <a:r>
                      <a:rPr lang="ja-JP" altLang="en-US" sz="3600" dirty="0">
                        <a:latin typeface="UD デジタル 教科書体 NK-R" panose="02020400000000000000" pitchFamily="18" charset="-128"/>
                        <a:ea typeface="UD デジタル 教科書体 NK-R" panose="02020400000000000000" pitchFamily="18" charset="-128"/>
                      </a:rPr>
                      <a:t>）</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ja-JP" altLang="en-US"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en-US" altLang="ja-JP" sz="3600" dirty="0">
                        <a:latin typeface="UD デジタル 教科書体 NK-R" panose="02020400000000000000" pitchFamily="18" charset="-128"/>
                        <a:ea typeface="UD デジタル 教科書体 NK-R" panose="02020400000000000000" pitchFamily="18" charset="-128"/>
                      </a:rPr>
                      <a:t>HdN[1],</a:t>
                    </a:r>
                    <a:r>
                      <a:rPr lang="ja-JP" altLang="en-US" sz="3600" dirty="0">
                        <a:latin typeface="UD デジタル 教科書体 NK-R" panose="02020400000000000000" pitchFamily="18" charset="-128"/>
                        <a:ea typeface="UD デジタル 教科書体 NK-R" panose="02020400000000000000" pitchFamily="18" charset="-128"/>
                      </a:rPr>
                      <a:t> </a:t>
                    </a:r>
                    <a:r>
                      <a:rPr lang="en-US" altLang="ja-JP" sz="3600" dirty="0">
                        <a:latin typeface="UD デジタル 教科書体 NK-R" panose="02020400000000000000" pitchFamily="18" charset="-128"/>
                        <a:ea typeface="UD デジタル 教科書体 NK-R" panose="02020400000000000000" pitchFamily="18" charset="-128"/>
                      </a:rPr>
                      <a:t>OASIS[2]</a:t>
                    </a:r>
                  </a:p>
                  <a:p>
                    <a:pPr indent="457200"/>
                    <a:r>
                      <a:rPr lang="en-US" altLang="ja-JP" sz="3600" kern="1100" dirty="0">
                        <a:latin typeface="UD デジタル 教科書体 NK-R" panose="02020400000000000000" pitchFamily="18" charset="-128"/>
                        <a:ea typeface="UD デジタル 教科書体 NK-R" panose="02020400000000000000" pitchFamily="18" charset="-128"/>
                      </a:rPr>
                      <a:t>HdN, OASIS</a:t>
                    </a:r>
                    <a:r>
                      <a:rPr lang="ja-JP" altLang="en-US" sz="3600" kern="1100" dirty="0">
                        <a:latin typeface="UD デジタル 教科書体 NK-R" panose="02020400000000000000" pitchFamily="18" charset="-128"/>
                        <a:ea typeface="UD デジタル 教科書体 NK-R" panose="02020400000000000000" pitchFamily="18" charset="-128"/>
                      </a:rPr>
                      <a:t>はどちらもニュートン法のヘッセ行列を対角行列に置き換えた学習アルゴリズム。</a:t>
                    </a:r>
                    <a:r>
                      <a:rPr lang="ja-JP" altLang="en-US" sz="3600" kern="1100" dirty="0">
                        <a:solidFill>
                          <a:srgbClr val="00B0F0"/>
                        </a:solidFill>
                        <a:latin typeface="UD デジタル 教科書体 NK-R" panose="02020400000000000000" pitchFamily="18" charset="-128"/>
                        <a:ea typeface="UD デジタル 教科書体 NK-R" panose="02020400000000000000" pitchFamily="18" charset="-128"/>
                      </a:rPr>
                      <a:t>対角</a:t>
                    </a:r>
                    <a:r>
                      <a:rPr lang="ja-JP" altLang="en-US" sz="3600" kern="1100">
                        <a:solidFill>
                          <a:srgbClr val="00B0F0"/>
                        </a:solidFill>
                        <a:latin typeface="UD デジタル 教科書体 NK-R" panose="02020400000000000000" pitchFamily="18" charset="-128"/>
                        <a:ea typeface="UD デジタル 教科書体 NK-R" panose="02020400000000000000" pitchFamily="18" charset="-128"/>
                      </a:rPr>
                      <a:t>行列の求め方が</a:t>
                    </a:r>
                    <a:r>
                      <a:rPr lang="ja-JP" altLang="en-US" sz="3600" kern="1100" dirty="0">
                        <a:solidFill>
                          <a:srgbClr val="00B0F0"/>
                        </a:solidFill>
                        <a:latin typeface="UD デジタル 教科書体 NK-R" panose="02020400000000000000" pitchFamily="18" charset="-128"/>
                        <a:ea typeface="UD デジタル 教科書体 NK-R" panose="02020400000000000000" pitchFamily="18" charset="-128"/>
                      </a:rPr>
                      <a:t>異なる</a:t>
                    </a:r>
                    <a:endParaRPr lang="en-US" altLang="ja-JP" sz="3600" kern="1100" dirty="0">
                      <a:solidFill>
                        <a:srgbClr val="00B0F0"/>
                      </a:solidFill>
                      <a:latin typeface="UD デジタル 教科書体 NK-R" panose="02020400000000000000" pitchFamily="18" charset="-128"/>
                      <a:ea typeface="UD デジタル 教科書体 NK-R" panose="02020400000000000000" pitchFamily="18" charset="-128"/>
                    </a:endParaRPr>
                  </a:p>
                  <a:p>
                    <a:pPr marL="1028700" lvl="1"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HdN, OASIS</a:t>
                    </a:r>
                    <a:r>
                      <a:rPr lang="ja-JP" altLang="en-US" sz="3600" dirty="0">
                        <a:latin typeface="UD デジタル 教科書体 NK-R" panose="02020400000000000000" pitchFamily="18" charset="-128"/>
                        <a:ea typeface="UD デジタル 教科書体 NK-R" panose="02020400000000000000" pitchFamily="18" charset="-128"/>
                      </a:rPr>
                      <a:t>の</a:t>
                    </a:r>
                    <a:r>
                      <a:rPr lang="ja-JP" altLang="en-US" sz="3600">
                        <a:latin typeface="UD デジタル 教科書体 NK-R" panose="02020400000000000000" pitchFamily="18" charset="-128"/>
                        <a:ea typeface="UD デジタル 教科書体 NK-R" panose="02020400000000000000" pitchFamily="18" charset="-128"/>
                      </a:rPr>
                      <a:t>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solidFill>
                                    <a:schemeClr val="tx1"/>
                                  </a:solidFill>
                                  <a:latin typeface="Cambria Math" panose="02040503050406030204" pitchFamily="18" charset="0"/>
                                </a:rPr>
                              </m:ctrlPr>
                            </m:eqArrPr>
                            <m:e>
                              <m:sSub>
                                <m:sSubPr>
                                  <m:ctrlPr>
                                    <a:rPr lang="en-US" altLang="ja-JP" sz="3600" i="1" smtClean="0">
                                      <a:solidFill>
                                        <a:schemeClr val="tx1"/>
                                      </a:solidFill>
                                      <a:latin typeface="Cambria Math" panose="02040503050406030204" pitchFamily="18" charset="0"/>
                                    </a:rPr>
                                  </m:ctrlPr>
                                </m:sSubPr>
                                <m:e>
                                  <m:r>
                                    <a:rPr lang="en-US" altLang="ja-JP" sz="3600" b="1">
                                      <a:solidFill>
                                        <a:schemeClr val="tx1"/>
                                      </a:solidFill>
                                      <a:latin typeface="Cambria Math" panose="02040503050406030204" pitchFamily="18" charset="0"/>
                                    </a:rPr>
                                    <m:t>𝐯</m:t>
                                  </m:r>
                                </m:e>
                                <m:sub>
                                  <m:r>
                                    <a:rPr lang="en-US" altLang="ja-JP" sz="3600" i="1">
                                      <a:solidFill>
                                        <a:schemeClr val="tx1"/>
                                      </a:solidFill>
                                      <a:latin typeface="Cambria Math" panose="02040503050406030204" pitchFamily="18" charset="0"/>
                                    </a:rPr>
                                    <m:t>𝑘</m:t>
                                  </m:r>
                                  <m:r>
                                    <a:rPr lang="en-US" altLang="ja-JP" sz="3600" i="1">
                                      <a:solidFill>
                                        <a:schemeClr val="tx1"/>
                                      </a:solidFill>
                                      <a:latin typeface="Cambria Math" panose="02040503050406030204" pitchFamily="18" charset="0"/>
                                    </a:rPr>
                                    <m:t>+1</m:t>
                                  </m:r>
                                </m:sub>
                              </m:sSub>
                              <m:r>
                                <a:rPr lang="en-ZA" altLang="ja-JP" sz="3600" i="1">
                                  <a:solidFill>
                                    <a:schemeClr val="tx1"/>
                                  </a:solidFill>
                                  <a:latin typeface="Cambria Math" panose="02040503050406030204" pitchFamily="18" charset="0"/>
                                </a:rPr>
                                <m:t>=−</m:t>
                              </m:r>
                              <m:r>
                                <a:rPr lang="ja-JP" altLang="en-ZA" sz="3600" i="1">
                                  <a:solidFill>
                                    <a:schemeClr val="tx1"/>
                                  </a:solidFill>
                                  <a:latin typeface="Cambria Math" panose="02040503050406030204" pitchFamily="18" charset="0"/>
                                </a:rPr>
                                <m:t>𝛼</m:t>
                              </m:r>
                              <m:r>
                                <m:rPr>
                                  <m:sty m:val="p"/>
                                </m:rPr>
                                <a:rPr lang="ja-JP" altLang="en-US" sz="3600" i="1">
                                  <a:solidFill>
                                    <a:schemeClr val="tx1"/>
                                  </a:solidFill>
                                  <a:latin typeface="Cambria Math" panose="02040503050406030204" pitchFamily="18" charset="0"/>
                                </a:rPr>
                                <m:t>∇</m:t>
                              </m:r>
                              <m:r>
                                <a:rPr lang="en-ZA" altLang="ja-JP" sz="3600" i="1">
                                  <a:solidFill>
                                    <a:schemeClr val="tx1"/>
                                  </a:solidFill>
                                  <a:latin typeface="Cambria Math" panose="02040503050406030204" pitchFamily="18" charset="0"/>
                                </a:rPr>
                                <m:t>𝐸</m:t>
                              </m:r>
                              <m:d>
                                <m:dPr>
                                  <m:ctrlPr>
                                    <a:rPr lang="en-ZA" altLang="ja-JP" sz="3600" i="1">
                                      <a:solidFill>
                                        <a:schemeClr val="tx1"/>
                                      </a:solidFill>
                                      <a:latin typeface="Cambria Math" panose="02040503050406030204" pitchFamily="18" charset="0"/>
                                    </a:rPr>
                                  </m:ctrlPr>
                                </m:dPr>
                                <m:e>
                                  <m:sSub>
                                    <m:sSubPr>
                                      <m:ctrlPr>
                                        <a:rPr lang="en-ZA" altLang="ja-JP" sz="3600" i="1">
                                          <a:solidFill>
                                            <a:schemeClr val="tx1"/>
                                          </a:solidFill>
                                          <a:latin typeface="Cambria Math" panose="02040503050406030204" pitchFamily="18" charset="0"/>
                                        </a:rPr>
                                      </m:ctrlPr>
                                    </m:sSubPr>
                                    <m:e>
                                      <m:r>
                                        <a:rPr lang="en-ZA" altLang="ja-JP" sz="3600" b="1">
                                          <a:solidFill>
                                            <a:schemeClr val="tx1"/>
                                          </a:solidFill>
                                          <a:latin typeface="Cambria Math" panose="02040503050406030204" pitchFamily="18" charset="0"/>
                                        </a:rPr>
                                        <m:t>𝐰</m:t>
                                      </m:r>
                                    </m:e>
                                    <m:sub>
                                      <m:r>
                                        <a:rPr lang="en-ZA" altLang="ja-JP" sz="3600" i="1">
                                          <a:solidFill>
                                            <a:schemeClr val="tx1"/>
                                          </a:solidFill>
                                          <a:latin typeface="Cambria Math" panose="02040503050406030204" pitchFamily="18" charset="0"/>
                                        </a:rPr>
                                        <m:t>𝑘</m:t>
                                      </m:r>
                                    </m:sub>
                                  </m:sSub>
                                </m:e>
                              </m:d>
                              <m:r>
                                <a:rPr lang="en-US" altLang="ja-JP" sz="3600" i="1">
                                  <a:latin typeface="Cambria Math" panose="02040503050406030204" pitchFamily="18" charset="0"/>
                                  <a:ea typeface="Cambria Math" panose="02040503050406030204" pitchFamily="18" charset="0"/>
                                </a:rPr>
                                <m:t>⊘</m:t>
                              </m:r>
                              <m:sSub>
                                <m:sSubPr>
                                  <m:ctrlPr>
                                    <a:rPr lang="en-US" altLang="ja-JP" sz="3600" i="1" smtClean="0">
                                      <a:solidFill>
                                        <a:srgbClr val="FF0000"/>
                                      </a:solidFill>
                                      <a:latin typeface="Cambria Math" panose="02040503050406030204" pitchFamily="18" charset="0"/>
                                      <a:ea typeface="Cambria Math" panose="02040503050406030204" pitchFamily="18" charset="0"/>
                                    </a:rPr>
                                  </m:ctrlPr>
                                </m:sSubPr>
                                <m:e>
                                  <m:r>
                                    <a:rPr lang="en-US" altLang="ja-JP" sz="3600" b="1">
                                      <a:solidFill>
                                        <a:srgbClr val="FF0000"/>
                                      </a:solidFill>
                                      <a:latin typeface="Cambria Math" panose="02040503050406030204" pitchFamily="18" charset="0"/>
                                      <a:ea typeface="Cambria Math" panose="02040503050406030204" pitchFamily="18" charset="0"/>
                                    </a:rPr>
                                    <m:t>𝐡</m:t>
                                  </m:r>
                                </m:e>
                                <m:sub>
                                  <m:r>
                                    <a:rPr lang="en-US" altLang="ja-JP" sz="3600" i="1">
                                      <a:solidFill>
                                        <a:srgbClr val="FF0000"/>
                                      </a:solidFill>
                                      <a:latin typeface="Cambria Math" panose="02040503050406030204" pitchFamily="18" charset="0"/>
                                      <a:ea typeface="Cambria Math" panose="02040503050406030204" pitchFamily="18" charset="0"/>
                                    </a:rPr>
                                    <m:t>𝑘</m:t>
                                  </m:r>
                                </m:sub>
                              </m:sSub>
                              <m:r>
                                <a:rPr lang="en-US" altLang="ja-JP" sz="3600" b="0" i="1" smtClean="0">
                                  <a:solidFill>
                                    <a:schemeClr val="tx1"/>
                                  </a:solidFill>
                                  <a:latin typeface="Cambria Math" panose="02040503050406030204" pitchFamily="18" charset="0"/>
                                  <a:ea typeface="Cambria Math" panose="02040503050406030204" pitchFamily="18" charset="0"/>
                                </a:rPr>
                                <m:t>##</m:t>
                              </m:r>
                              <m:r>
                                <a:rPr lang="en-US" altLang="ja-JP" sz="3600" b="0" i="1" smtClean="0">
                                  <a:solidFill>
                                    <a:schemeClr val="tx1"/>
                                  </a:solidFill>
                                  <a:latin typeface="Cambria Math" panose="02040503050406030204" pitchFamily="18" charset="0"/>
                                  <a:ea typeface="Cambria Math" panose="02040503050406030204" pitchFamily="18" charset="0"/>
                                </a:rPr>
                                <m:t>#(5)</m:t>
                              </m:r>
                            </m:e>
                          </m:eqArr>
                        </m:oMath>
                      </m:oMathPara>
                    </a14:m>
                    <a:endParaRPr lang="en-US" altLang="ja-JP" sz="3600" kern="1100" dirty="0">
                      <a:latin typeface="UD デジタル 教科書体 NK-R" panose="02020400000000000000" pitchFamily="18" charset="-128"/>
                      <a:ea typeface="UD デジタル 教科書体 NK-R" panose="02020400000000000000" pitchFamily="18" charset="-128"/>
                    </a:endParaRPr>
                  </a:p>
                  <a:p>
                    <a:pPr lvl="1"/>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sSub>
                          <m:sSubPr>
                            <m:ctrlPr>
                              <a:rPr lang="en-US" altLang="ja-JP" sz="3600" i="1" smtClean="0">
                                <a:solidFill>
                                  <a:srgbClr val="FF0000"/>
                                </a:solidFill>
                                <a:latin typeface="Cambria Math" panose="02040503050406030204" pitchFamily="18" charset="0"/>
                                <a:ea typeface="Cambria Math" panose="02040503050406030204" pitchFamily="18" charset="0"/>
                              </a:rPr>
                            </m:ctrlPr>
                          </m:sSubPr>
                          <m:e>
                            <m:r>
                              <a:rPr lang="en-US" altLang="ja-JP" sz="3600" b="1">
                                <a:solidFill>
                                  <a:srgbClr val="FF0000"/>
                                </a:solidFill>
                                <a:latin typeface="Cambria Math" panose="02040503050406030204" pitchFamily="18" charset="0"/>
                                <a:ea typeface="Cambria Math" panose="02040503050406030204" pitchFamily="18" charset="0"/>
                              </a:rPr>
                              <m:t>𝐡</m:t>
                            </m:r>
                          </m:e>
                          <m:sub>
                            <m:r>
                              <a:rPr lang="en-US" altLang="ja-JP" sz="3600" i="1">
                                <a:solidFill>
                                  <a:srgbClr val="FF0000"/>
                                </a:solidFill>
                                <a:latin typeface="Cambria Math" panose="02040503050406030204" pitchFamily="18" charset="0"/>
                                <a:ea typeface="Cambria Math" panose="02040503050406030204" pitchFamily="18" charset="0"/>
                              </a:rPr>
                              <m:t>𝑘</m:t>
                            </m:r>
                          </m:sub>
                        </m:sSub>
                      </m:oMath>
                    </a14:m>
                    <a:r>
                      <a:rPr lang="en-US" altLang="ja-JP" sz="3600" dirty="0">
                        <a:solidFill>
                          <a:srgbClr val="FF0000"/>
                        </a:solidFill>
                        <a:latin typeface="UD デジタル 教科書体 NK-R" panose="02020400000000000000" pitchFamily="18" charset="-128"/>
                        <a:ea typeface="UD デジタル 教科書体 NK-R" panose="02020400000000000000" pitchFamily="18" charset="-128"/>
                      </a:rPr>
                      <a:t> </a:t>
                    </a:r>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対角</a:t>
                    </a:r>
                    <a:r>
                      <a:rPr lang="ja-JP" altLang="en-US" sz="3600">
                        <a:latin typeface="UD デジタル 教科書体 NK-R" panose="02020400000000000000" pitchFamily="18" charset="-128"/>
                        <a:ea typeface="UD デジタル 教科書体 NK-R" panose="02020400000000000000" pitchFamily="18" charset="-128"/>
                      </a:rPr>
                      <a:t>ヘッセ行列</a:t>
                    </a:r>
                    <a:r>
                      <a:rPr lang="en-US" altLang="ja-JP"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3600" i="1">
                            <a:latin typeface="Cambria Math" panose="02040503050406030204" pitchFamily="18" charset="0"/>
                            <a:ea typeface="Cambria Math" panose="02040503050406030204" pitchFamily="18" charset="0"/>
                          </a:rPr>
                          <m:t>⊘</m:t>
                        </m:r>
                      </m:oMath>
                    </a14:m>
                    <a:r>
                      <a:rPr lang="en-US" altLang="ja-JP" sz="3600" kern="1100" dirty="0">
                        <a:latin typeface="UD デジタル 教科書体 NK-R" panose="02020400000000000000" pitchFamily="18" charset="-128"/>
                        <a:ea typeface="UD デジタル 教科書体 NK-R" panose="02020400000000000000" pitchFamily="18" charset="-128"/>
                      </a:rPr>
                      <a:t> : </a:t>
                    </a:r>
                    <a:r>
                      <a:rPr lang="ja-JP" altLang="en-US" sz="3600" kern="1100">
                        <a:latin typeface="UD デジタル 教科書体 NK-R" panose="02020400000000000000" pitchFamily="18" charset="-128"/>
                        <a:ea typeface="UD デジタル 教科書体 NK-R" panose="02020400000000000000" pitchFamily="18" charset="-128"/>
                      </a:rPr>
                      <a:t>アダマール除算</a:t>
                    </a:r>
                    <a:endParaRPr lang="en-US" altLang="ja-JP" sz="3600" kern="1100" dirty="0">
                      <a:latin typeface="UD デジタル 教科書体 NK-R" panose="02020400000000000000" pitchFamily="18" charset="-128"/>
                      <a:ea typeface="UD デジタル 教科書体 NK-R" panose="02020400000000000000" pitchFamily="18" charset="-128"/>
                    </a:endParaRPr>
                  </a:p>
                  <a:p>
                    <a:pPr indent="457200"/>
                    <a:endParaRPr lang="en-US" altLang="ja-JP" sz="2000" kern="1100" dirty="0">
                      <a:latin typeface="UD デジタル 教科書体 NK-R" panose="02020400000000000000" pitchFamily="18" charset="-128"/>
                      <a:ea typeface="UD デジタル 教科書体 NK-R" panose="02020400000000000000" pitchFamily="18" charset="-128"/>
                    </a:endParaRPr>
                  </a:p>
                  <a:p>
                    <a:pPr marL="1028700" lvl="1"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Hutchinson</a:t>
                    </a:r>
                    <a:r>
                      <a:rPr lang="ja-JP" altLang="en-US" sz="3600" dirty="0">
                        <a:latin typeface="UD デジタル 教科書体 NK-R" panose="02020400000000000000" pitchFamily="18" charset="-128"/>
                        <a:ea typeface="UD デジタル 教科書体 NK-R" panose="02020400000000000000" pitchFamily="18" charset="-128"/>
                      </a:rPr>
                      <a:t>手法を用いたヘッセ行列の対角近似</a:t>
                    </a:r>
                    <a:r>
                      <a:rPr lang="en-US" altLang="ja-JP" sz="3600" dirty="0">
                        <a:latin typeface="UD デジタル 教科書体 NK-R" panose="02020400000000000000" pitchFamily="18" charset="-128"/>
                        <a:ea typeface="UD デジタル 教科書体 NK-R" panose="02020400000000000000" pitchFamily="18" charset="-128"/>
                      </a:rPr>
                      <a:t>(HdN)</a:t>
                    </a:r>
                  </a:p>
                  <a:p>
                    <a:pPr lvl="1" indent="457200"/>
                    <a:r>
                      <a:rPr lang="en-US" altLang="ja-JP" sz="3600" spc="-180" dirty="0">
                        <a:latin typeface="UD デジタル 教科書体 NK-R" panose="02020400000000000000" pitchFamily="18" charset="-128"/>
                        <a:ea typeface="UD デジタル 教科書体 NK-R" panose="02020400000000000000" pitchFamily="18" charset="-128"/>
                      </a:rPr>
                      <a:t>Hutchinson</a:t>
                    </a:r>
                    <a:r>
                      <a:rPr lang="ja-JP" altLang="en-US" sz="3600" spc="-180" dirty="0">
                        <a:latin typeface="UD デジタル 教科書体 NK-R" panose="02020400000000000000" pitchFamily="18" charset="-128"/>
                        <a:ea typeface="UD デジタル 教科書体 NK-R" panose="02020400000000000000" pitchFamily="18" charset="-128"/>
                      </a:rPr>
                      <a:t>手法のヘッシアンノイズを</a:t>
                    </a:r>
                    <a:r>
                      <a:rPr lang="ja-JP" altLang="en-US" sz="3600" spc="-180" dirty="0">
                        <a:solidFill>
                          <a:srgbClr val="00B0F0"/>
                        </a:solidFill>
                        <a:latin typeface="UD デジタル 教科書体 NK-R" panose="02020400000000000000" pitchFamily="18" charset="-128"/>
                        <a:ea typeface="UD デジタル 教科書体 NK-R" panose="02020400000000000000" pitchFamily="18" charset="-128"/>
                      </a:rPr>
                      <a:t>複数のサンプルの平均</a:t>
                    </a:r>
                    <a:r>
                      <a:rPr lang="ja-JP" altLang="en-US" sz="3600" spc="-180" dirty="0">
                        <a:latin typeface="UD デジタル 教科書体 NK-R" panose="02020400000000000000" pitchFamily="18" charset="-128"/>
                        <a:ea typeface="UD デジタル 教科書体 NK-R" panose="02020400000000000000" pitchFamily="18" charset="-128"/>
                      </a:rPr>
                      <a:t>を求め削減</a:t>
                    </a:r>
                    <a:endParaRPr lang="en-US" altLang="ja-JP" sz="3600" spc="-18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ea typeface="Cambria Math" panose="02040503050406030204" pitchFamily="18" charset="0"/>
                                </a:rPr>
                              </m:ctrlPr>
                            </m:eqArrPr>
                            <m:e>
                              <m:sSub>
                                <m:sSubPr>
                                  <m:ctrlPr>
                                    <a:rPr lang="en-US" altLang="ja-JP" sz="3600" i="1">
                                      <a:latin typeface="Cambria Math" panose="02040503050406030204" pitchFamily="18" charset="0"/>
                                      <a:ea typeface="Cambria Math" panose="02040503050406030204" pitchFamily="18" charset="0"/>
                                    </a:rPr>
                                  </m:ctrlPr>
                                </m:sSubPr>
                                <m:e>
                                  <m:r>
                                    <a:rPr lang="en-US" altLang="ja-JP" sz="3600" b="1">
                                      <a:latin typeface="Cambria Math" panose="02040503050406030204" pitchFamily="18" charset="0"/>
                                      <a:ea typeface="Cambria Math" panose="02040503050406030204" pitchFamily="18" charset="0"/>
                                    </a:rPr>
                                    <m:t>𝐡</m:t>
                                  </m:r>
                                </m:e>
                                <m:sub>
                                  <m:r>
                                    <a:rPr lang="en-US" altLang="ja-JP" sz="3600" i="1">
                                      <a:latin typeface="Cambria Math" panose="02040503050406030204" pitchFamily="18" charset="0"/>
                                      <a:ea typeface="Cambria Math" panose="02040503050406030204" pitchFamily="18" charset="0"/>
                                    </a:rPr>
                                    <m:t>𝑘</m:t>
                                  </m:r>
                                </m:sub>
                              </m:sSub>
                              <m:r>
                                <a:rPr lang="en-US" altLang="ja-JP" sz="3600" i="1">
                                  <a:latin typeface="Cambria Math" panose="02040503050406030204" pitchFamily="18" charset="0"/>
                                </a:rPr>
                                <m:t>=</m:t>
                              </m:r>
                              <m:r>
                                <a:rPr lang="en-US" altLang="ja-JP" sz="3600" b="0" i="1" smtClean="0">
                                  <a:latin typeface="Cambria Math" panose="02040503050406030204" pitchFamily="18" charset="0"/>
                                </a:rPr>
                                <m:t> </m:t>
                              </m:r>
                              <m:f>
                                <m:fPr>
                                  <m:ctrlPr>
                                    <a:rPr lang="en-US" altLang="ja-JP" sz="3600" b="0" i="1" smtClean="0">
                                      <a:latin typeface="Cambria Math" panose="02040503050406030204" pitchFamily="18" charset="0"/>
                                    </a:rPr>
                                  </m:ctrlPr>
                                </m:fPr>
                                <m:num>
                                  <m:r>
                                    <a:rPr lang="en-US" altLang="ja-JP" sz="3600" b="0" i="1" smtClean="0">
                                      <a:latin typeface="Cambria Math" panose="02040503050406030204" pitchFamily="18" charset="0"/>
                                    </a:rPr>
                                    <m:t>1</m:t>
                                  </m:r>
                                </m:num>
                                <m:den>
                                  <m:r>
                                    <a:rPr lang="en-US" altLang="ja-JP" sz="3600" b="0" i="1" smtClean="0">
                                      <a:latin typeface="Cambria Math" panose="02040503050406030204" pitchFamily="18" charset="0"/>
                                    </a:rPr>
                                    <m:t>𝑠</m:t>
                                  </m:r>
                                </m:den>
                              </m:f>
                              <m:nary>
                                <m:naryPr>
                                  <m:chr m:val="∑"/>
                                  <m:limLoc m:val="subSup"/>
                                  <m:ctrlPr>
                                    <a:rPr lang="en-US" altLang="ja-JP" sz="3600" b="0" i="1" smtClean="0">
                                      <a:latin typeface="Cambria Math" panose="02040503050406030204" pitchFamily="18" charset="0"/>
                                    </a:rPr>
                                  </m:ctrlPr>
                                </m:naryPr>
                                <m:sub>
                                  <m:r>
                                    <m:rPr>
                                      <m:brk m:alnAt="25"/>
                                    </m:rPr>
                                    <a:rPr lang="en-US" altLang="ja-JP" sz="3600" b="0" i="1" smtClean="0">
                                      <a:latin typeface="Cambria Math" panose="02040503050406030204" pitchFamily="18" charset="0"/>
                                    </a:rPr>
                                    <m:t>𝑙</m:t>
                                  </m:r>
                                </m:sub>
                                <m:sup>
                                  <m:r>
                                    <a:rPr lang="en-US" altLang="ja-JP" sz="3600" b="0" i="1" smtClean="0">
                                      <a:latin typeface="Cambria Math" panose="02040503050406030204" pitchFamily="18" charset="0"/>
                                    </a:rPr>
                                    <m:t>𝑠</m:t>
                                  </m:r>
                                </m:sup>
                                <m:e>
                                  <m:sSub>
                                    <m:sSubPr>
                                      <m:ctrlPr>
                                        <a:rPr lang="en-US" altLang="ja-JP" sz="3600" b="0" i="1" smtClean="0">
                                          <a:latin typeface="Cambria Math" panose="02040503050406030204" pitchFamily="18" charset="0"/>
                                        </a:rPr>
                                      </m:ctrlPr>
                                    </m:sSubPr>
                                    <m:e>
                                      <m:r>
                                        <a:rPr lang="en-US" altLang="ja-JP" sz="3600" b="1" i="0" smtClean="0">
                                          <a:latin typeface="Cambria Math" panose="02040503050406030204" pitchFamily="18" charset="0"/>
                                        </a:rPr>
                                        <m:t>𝐳</m:t>
                                      </m:r>
                                    </m:e>
                                    <m:sub>
                                      <m:r>
                                        <a:rPr lang="en-US" altLang="ja-JP" sz="3600" b="0" i="1" smtClean="0">
                                          <a:latin typeface="Cambria Math" panose="02040503050406030204" pitchFamily="18" charset="0"/>
                                        </a:rPr>
                                        <m:t>𝑙</m:t>
                                      </m:r>
                                    </m:sub>
                                  </m:sSub>
                                  <m:r>
                                    <a:rPr lang="en-US" altLang="ja-JP" sz="3600" b="0" i="1" smtClean="0">
                                      <a:latin typeface="Cambria Math" panose="02040503050406030204" pitchFamily="18" charset="0"/>
                                    </a:rPr>
                                    <m:t> </m:t>
                                  </m:r>
                                  <m:r>
                                    <a:rPr lang="en-US" altLang="ja-JP" sz="3600" b="0" i="1" smtClean="0">
                                      <a:latin typeface="Cambria Math" panose="02040503050406030204" pitchFamily="18" charset="0"/>
                                      <a:ea typeface="Cambria Math" panose="02040503050406030204" pitchFamily="18" charset="0"/>
                                    </a:rPr>
                                    <m:t>⨂</m:t>
                                  </m:r>
                                  <m:r>
                                    <a:rPr lang="en-US" altLang="ja-JP" sz="3600" b="0" i="1" smtClean="0">
                                      <a:latin typeface="Cambria Math" panose="02040503050406030204" pitchFamily="18" charset="0"/>
                                    </a:rPr>
                                    <m:t> </m:t>
                                  </m:r>
                                  <m:f>
                                    <m:fPr>
                                      <m:ctrlPr>
                                        <a:rPr lang="en-US" altLang="ja-JP" sz="3600" b="0" i="1" smtClean="0">
                                          <a:latin typeface="Cambria Math" panose="02040503050406030204" pitchFamily="18" charset="0"/>
                                        </a:rPr>
                                      </m:ctrlPr>
                                    </m:fPr>
                                    <m:num>
                                      <m:r>
                                        <a:rPr lang="ja-JP" altLang="en-US" sz="3600" i="1">
                                          <a:latin typeface="Cambria Math" panose="02040503050406030204" pitchFamily="18" charset="0"/>
                                        </a:rPr>
                                        <m:t>𝜕</m:t>
                                      </m:r>
                                      <m:sSup>
                                        <m:sSupPr>
                                          <m:ctrlPr>
                                            <a:rPr lang="en-US" altLang="ja-JP" sz="3600" i="1" smtClean="0">
                                              <a:latin typeface="Cambria Math" panose="02040503050406030204" pitchFamily="18" charset="0"/>
                                            </a:rPr>
                                          </m:ctrlPr>
                                        </m:sSupPr>
                                        <m:e>
                                          <m:r>
                                            <a:rPr lang="en-US" altLang="ja-JP" sz="3600" b="0" i="1" smtClean="0">
                                              <a:latin typeface="Cambria Math" panose="02040503050406030204" pitchFamily="18" charset="0"/>
                                            </a:rPr>
                                            <m:t>(</m:t>
                                          </m:r>
                                          <m:r>
                                            <m:rPr>
                                              <m:sty m:val="p"/>
                                            </m:rPr>
                                            <a:rPr lang="ja-JP" altLang="en-US" sz="3600" i="1">
                                              <a:latin typeface="Cambria Math" panose="02040503050406030204" pitchFamily="18" charset="0"/>
                                            </a:rPr>
                                            <m:t>∇</m:t>
                                          </m:r>
                                          <m:r>
                                            <a:rPr lang="en-ZA" altLang="ja-JP" sz="3600" i="1">
                                              <a:latin typeface="Cambria Math" panose="02040503050406030204" pitchFamily="18" charset="0"/>
                                            </a:rPr>
                                            <m:t>𝐸</m:t>
                                          </m:r>
                                          <m:d>
                                            <m:dPr>
                                              <m:ctrlPr>
                                                <a:rPr lang="en-ZA" altLang="ja-JP" sz="3600" i="1">
                                                  <a:latin typeface="Cambria Math" panose="02040503050406030204" pitchFamily="18" charset="0"/>
                                                </a:rPr>
                                              </m:ctrlPr>
                                            </m:dPr>
                                            <m:e>
                                              <m:sSub>
                                                <m:sSubPr>
                                                  <m:ctrlPr>
                                                    <a:rPr lang="en-ZA" altLang="ja-JP" sz="3600" i="1">
                                                      <a:latin typeface="Cambria Math" panose="02040503050406030204" pitchFamily="18" charset="0"/>
                                                    </a:rPr>
                                                  </m:ctrlPr>
                                                </m:sSubPr>
                                                <m:e>
                                                  <m:r>
                                                    <a:rPr lang="en-ZA" altLang="ja-JP" sz="3600" b="1">
                                                      <a:latin typeface="Cambria Math" panose="02040503050406030204" pitchFamily="18" charset="0"/>
                                                    </a:rPr>
                                                    <m:t>𝐰</m:t>
                                                  </m:r>
                                                </m:e>
                                                <m:sub>
                                                  <m:r>
                                                    <a:rPr lang="en-ZA" altLang="ja-JP" sz="3600" i="1">
                                                      <a:latin typeface="Cambria Math" panose="02040503050406030204" pitchFamily="18" charset="0"/>
                                                    </a:rPr>
                                                    <m:t>𝑘</m:t>
                                                  </m:r>
                                                </m:sub>
                                              </m:sSub>
                                            </m:e>
                                          </m:d>
                                          <m:r>
                                            <a:rPr lang="en-US" altLang="ja-JP" sz="3600" b="0" i="1" smtClean="0">
                                              <a:latin typeface="Cambria Math" panose="02040503050406030204" pitchFamily="18" charset="0"/>
                                            </a:rPr>
                                            <m:t>)</m:t>
                                          </m:r>
                                        </m:e>
                                        <m:sup>
                                          <m:r>
                                            <a:rPr lang="en-US" altLang="ja-JP" sz="3600" b="0" i="1" smtClean="0">
                                              <a:latin typeface="Cambria Math" panose="02040503050406030204" pitchFamily="18" charset="0"/>
                                            </a:rPr>
                                            <m:t>𝑇</m:t>
                                          </m:r>
                                        </m:sup>
                                      </m:sSup>
                                      <m:sSub>
                                        <m:sSubPr>
                                          <m:ctrlPr>
                                            <a:rPr lang="en-US" altLang="ja-JP" sz="3600" i="1" smtClean="0">
                                              <a:latin typeface="Cambria Math" panose="02040503050406030204" pitchFamily="18" charset="0"/>
                                            </a:rPr>
                                          </m:ctrlPr>
                                        </m:sSubPr>
                                        <m:e>
                                          <m:r>
                                            <a:rPr lang="en-US" altLang="ja-JP" sz="3600" b="1" i="0" smtClean="0">
                                              <a:latin typeface="Cambria Math" panose="02040503050406030204" pitchFamily="18" charset="0"/>
                                            </a:rPr>
                                            <m:t>𝐳</m:t>
                                          </m:r>
                                        </m:e>
                                        <m:sub>
                                          <m:r>
                                            <a:rPr lang="en-US" altLang="ja-JP" sz="3600" b="0" i="1" smtClean="0">
                                              <a:latin typeface="Cambria Math" panose="02040503050406030204" pitchFamily="18" charset="0"/>
                                            </a:rPr>
                                            <m:t>𝑙</m:t>
                                          </m:r>
                                        </m:sub>
                                      </m:sSub>
                                    </m:num>
                                    <m:den>
                                      <m:r>
                                        <a:rPr lang="ja-JP" altLang="en-US" sz="3600" i="1">
                                          <a:latin typeface="Cambria Math" panose="02040503050406030204" pitchFamily="18" charset="0"/>
                                        </a:rPr>
                                        <m:t>𝜕</m:t>
                                      </m:r>
                                      <m:r>
                                        <a:rPr lang="en-US" altLang="ja-JP" sz="3600" b="1" i="0" smtClean="0">
                                          <a:latin typeface="Cambria Math" panose="02040503050406030204" pitchFamily="18" charset="0"/>
                                        </a:rPr>
                                        <m:t>𝐰</m:t>
                                      </m:r>
                                    </m:den>
                                  </m:f>
                                </m:e>
                              </m:nary>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#(6)</m:t>
                              </m:r>
                            </m:e>
                          </m:eqArr>
                        </m:oMath>
                      </m:oMathPara>
                    </a14:m>
                    <a:endParaRPr lang="en-US" altLang="ja-JP" sz="3600" b="0" dirty="0">
                      <a:latin typeface="UD デジタル 教科書体 NK-R" panose="02020400000000000000" pitchFamily="18" charset="-128"/>
                    </a:endParaRPr>
                  </a:p>
                  <a:p>
                    <a:pPr lvl="1"/>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3600" i="1">
                            <a:latin typeface="Cambria Math" panose="02040503050406030204" pitchFamily="18" charset="0"/>
                          </a:rPr>
                          <m:t>𝑠</m:t>
                        </m:r>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近似サンプル数</a:t>
                    </a:r>
                    <a:r>
                      <a:rPr lang="en-US" altLang="ja-JP"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3600" i="1">
                            <a:latin typeface="Cambria Math" panose="02040503050406030204" pitchFamily="18" charset="0"/>
                            <a:ea typeface="Cambria Math" panose="02040503050406030204" pitchFamily="18" charset="0"/>
                          </a:rPr>
                          <m:t>⨂</m:t>
                        </m:r>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アダマール乗算</a:t>
                    </a:r>
                    <a:r>
                      <a:rPr lang="en-US" altLang="ja-JP" sz="3600" dirty="0">
                        <a:latin typeface="UD デジタル 教科書体 NK-R" panose="02020400000000000000" pitchFamily="18" charset="-128"/>
                        <a:ea typeface="UD デジタル 教科書体 NK-R" panose="02020400000000000000" pitchFamily="18" charset="-128"/>
                      </a:rPr>
                      <a:t>, </a:t>
                    </a:r>
                  </a:p>
                  <a:p>
                    <a:pPr lvl="1"/>
                    <a:r>
                      <a:rPr lang="en-US" altLang="ja-JP" sz="3600" dirty="0">
                        <a:solidFill>
                          <a:schemeClr val="bg1"/>
                        </a:solidFill>
                        <a:latin typeface="UD デジタル 教科書体 NK-R" panose="02020400000000000000" pitchFamily="18" charset="-128"/>
                        <a:ea typeface="UD デジタル 教科書体 NK-R" panose="02020400000000000000" pitchFamily="18" charset="-128"/>
                      </a:rPr>
                      <a:t>※</a:t>
                    </a:r>
                    <a:r>
                      <a:rPr lang="ja-JP" altLang="en-US" sz="3600" dirty="0">
                        <a:solidFill>
                          <a:schemeClr val="bg1"/>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3600" b="1" i="0" smtClean="0">
                            <a:latin typeface="Cambria Math" panose="02040503050406030204" pitchFamily="18" charset="0"/>
                          </a:rPr>
                          <m:t>𝐳</m:t>
                        </m:r>
                      </m:oMath>
                    </a14:m>
                    <a:r>
                      <a:rPr lang="en-US" altLang="ja-JP" sz="3600" dirty="0">
                        <a:latin typeface="UD デジタル 教科書体 NK-R" panose="02020400000000000000" pitchFamily="18" charset="-128"/>
                        <a:ea typeface="UD デジタル 教科書体 NK-R" panose="02020400000000000000" pitchFamily="18" charset="-128"/>
                      </a:rPr>
                      <a:t> : -1</a:t>
                    </a:r>
                    <a:r>
                      <a:rPr lang="ja-JP" altLang="en-US" sz="3600" dirty="0">
                        <a:latin typeface="UD デジタル 教科書体 NK-R" panose="02020400000000000000" pitchFamily="18" charset="-128"/>
                        <a:ea typeface="UD デジタル 教科書体 NK-R" panose="02020400000000000000" pitchFamily="18" charset="-128"/>
                      </a:rPr>
                      <a:t>と</a:t>
                    </a:r>
                    <a:r>
                      <a:rPr lang="en-US" altLang="ja-JP" sz="3600" dirty="0">
                        <a:latin typeface="UD デジタル 教科書体 NK-R" panose="02020400000000000000" pitchFamily="18" charset="-128"/>
                        <a:ea typeface="UD デジタル 教科書体 NK-R" panose="02020400000000000000" pitchFamily="18" charset="-128"/>
                      </a:rPr>
                      <a:t>1</a:t>
                    </a:r>
                    <a:r>
                      <a:rPr lang="ja-JP" altLang="en-US" sz="3600" dirty="0">
                        <a:latin typeface="UD デジタル 教科書体 NK-R" panose="02020400000000000000" pitchFamily="18" charset="-128"/>
                        <a:ea typeface="UD デジタル 教科書体 NK-R" panose="02020400000000000000" pitchFamily="18" charset="-128"/>
                      </a:rPr>
                      <a:t>でできたランダムに生成されるベクトル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lvl="1"/>
                    <a:r>
                      <a:rPr lang="en-US" altLang="ja-JP" sz="2000" dirty="0">
                        <a:latin typeface="UD デジタル 教科書体 NK-R" panose="02020400000000000000" pitchFamily="18" charset="-128"/>
                        <a:ea typeface="UD デジタル 教科書体 NK-R" panose="02020400000000000000" pitchFamily="18" charset="-128"/>
                      </a:rPr>
                      <a:t> </a:t>
                    </a:r>
                    <a:endParaRPr lang="en-US" altLang="ja-JP" sz="3600" b="0" dirty="0">
                      <a:latin typeface="UD デジタル 教科書体 NK-R" panose="02020400000000000000" pitchFamily="18" charset="-128"/>
                    </a:endParaRPr>
                  </a:p>
                  <a:p>
                    <a:pPr marL="1028700" lvl="1"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Hutchinson</a:t>
                    </a:r>
                    <a:r>
                      <a:rPr lang="ja-JP" altLang="en-US" sz="3600" dirty="0">
                        <a:latin typeface="UD デジタル 教科書体 NK-R" panose="02020400000000000000" pitchFamily="18" charset="-128"/>
                        <a:ea typeface="UD デジタル 教科書体 NK-R" panose="02020400000000000000" pitchFamily="18" charset="-128"/>
                      </a:rPr>
                      <a:t>手法を用いたヘッセ行列の対角近似</a:t>
                    </a:r>
                    <a:r>
                      <a:rPr lang="en-US" altLang="ja-JP" sz="3600" dirty="0">
                        <a:latin typeface="UD デジタル 教科書体 NK-R" panose="02020400000000000000" pitchFamily="18" charset="-128"/>
                        <a:ea typeface="UD デジタル 教科書体 NK-R" panose="02020400000000000000" pitchFamily="18" charset="-128"/>
                      </a:rPr>
                      <a:t>(OASIS)</a:t>
                    </a:r>
                  </a:p>
                  <a:p>
                    <a:pPr lvl="1" indent="457200"/>
                    <a:r>
                      <a:rPr lang="en-US" altLang="ja-JP" sz="3600" dirty="0">
                        <a:latin typeface="UD デジタル 教科書体 NK-R" panose="02020400000000000000" pitchFamily="18" charset="-128"/>
                        <a:ea typeface="UD デジタル 教科書体 NK-R" panose="02020400000000000000" pitchFamily="18" charset="-128"/>
                      </a:rPr>
                      <a:t>Hutchinson</a:t>
                    </a:r>
                    <a:r>
                      <a:rPr lang="ja-JP" altLang="en-US" sz="3600" dirty="0">
                        <a:latin typeface="UD デジタル 教科書体 NK-R" panose="02020400000000000000" pitchFamily="18" charset="-128"/>
                        <a:ea typeface="UD デジタル 教科書体 NK-R" panose="02020400000000000000" pitchFamily="18" charset="-128"/>
                      </a:rPr>
                      <a:t>手法のヘッシアンノイズを</a:t>
                    </a:r>
                    <a:r>
                      <a:rPr lang="ja-JP" altLang="en-US" sz="3600" dirty="0">
                        <a:solidFill>
                          <a:srgbClr val="00B0F0"/>
                        </a:solidFill>
                        <a:latin typeface="UD デジタル 教科書体 NK-R" panose="02020400000000000000" pitchFamily="18" charset="-128"/>
                        <a:ea typeface="UD デジタル 教科書体 NK-R" panose="02020400000000000000" pitchFamily="18" charset="-128"/>
                      </a:rPr>
                      <a:t>指数平滑移動平均</a:t>
                    </a:r>
                    <a:r>
                      <a:rPr lang="ja-JP" altLang="en-US" sz="3600" dirty="0">
                        <a:latin typeface="UD デジタル 教科書体 NK-R" panose="02020400000000000000" pitchFamily="18" charset="-128"/>
                        <a:ea typeface="UD デジタル 教科書体 NK-R" panose="02020400000000000000" pitchFamily="18" charset="-128"/>
                      </a:rPr>
                      <a:t>で削減</a:t>
                    </a:r>
                    <a:endParaRPr lang="en-US" altLang="ja-JP" sz="3600" dirty="0">
                      <a:latin typeface="UD デジタル 教科書体 NK-R" panose="02020400000000000000" pitchFamily="18" charset="-128"/>
                      <a:ea typeface="UD デジタル 教科書体 NK-R" panose="02020400000000000000" pitchFamily="18" charset="-128"/>
                    </a:endParaRPr>
                  </a:p>
                  <a:p>
                    <a:pPr lvl="1" indent="457200"/>
                    <a:r>
                      <a:rPr lang="ja-JP" altLang="en-US" sz="3600" dirty="0">
                        <a:latin typeface="UD デジタル 教科書体 NK-R" panose="02020400000000000000" pitchFamily="18" charset="-128"/>
                        <a:ea typeface="UD デジタル 教科書体 NK-R" panose="02020400000000000000" pitchFamily="18" charset="-128"/>
                      </a:rPr>
                      <a:t>→ </a:t>
                    </a:r>
                    <a:r>
                      <a:rPr lang="en-US" altLang="ja-JP" sz="3600" dirty="0">
                        <a:latin typeface="UD デジタル 教科書体 NK-R" panose="02020400000000000000" pitchFamily="18" charset="-128"/>
                        <a:ea typeface="UD デジタル 教科書体 NK-R" panose="02020400000000000000" pitchFamily="18" charset="-128"/>
                      </a:rPr>
                      <a:t>HdN</a:t>
                    </a:r>
                    <a:r>
                      <a:rPr lang="ja-JP" altLang="en-US" sz="3600" dirty="0">
                        <a:latin typeface="UD デジタル 教科書体 NK-R" panose="02020400000000000000" pitchFamily="18" charset="-128"/>
                        <a:ea typeface="UD デジタル 教科書体 NK-R" panose="02020400000000000000" pitchFamily="18" charset="-128"/>
                      </a:rPr>
                      <a:t>法と比べ計算コストが低い</a:t>
                    </a:r>
                    <a:endParaRPr lang="en-US" altLang="ja-JP" sz="3600" dirty="0">
                      <a:latin typeface="UD デジタル 教科書体 NK-R" panose="02020400000000000000" pitchFamily="18" charset="-128"/>
                      <a:ea typeface="UD デジタル 教科書体 NK-R" panose="02020400000000000000" pitchFamily="18" charset="-128"/>
                    </a:endParaRPr>
                  </a:p>
                  <a:p>
                    <a:pPr indent="457200"/>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ea typeface="Cambria Math" panose="02040503050406030204" pitchFamily="18" charset="0"/>
                                </a:rPr>
                              </m:ctrlPr>
                            </m:eqArrPr>
                            <m:e>
                              <m:sSub>
                                <m:sSubPr>
                                  <m:ctrlPr>
                                    <a:rPr lang="en-US" altLang="ja-JP" sz="3600" i="1" smtClean="0">
                                      <a:latin typeface="Cambria Math" panose="02040503050406030204" pitchFamily="18" charset="0"/>
                                      <a:ea typeface="Cambria Math" panose="02040503050406030204" pitchFamily="18" charset="0"/>
                                    </a:rPr>
                                  </m:ctrlPr>
                                </m:sSubPr>
                                <m:e>
                                  <m:r>
                                    <a:rPr lang="en-US" altLang="ja-JP" sz="3600" b="1">
                                      <a:latin typeface="Cambria Math" panose="02040503050406030204" pitchFamily="18" charset="0"/>
                                      <a:ea typeface="Cambria Math" panose="02040503050406030204" pitchFamily="18" charset="0"/>
                                    </a:rPr>
                                    <m:t>𝐡</m:t>
                                  </m:r>
                                </m:e>
                                <m:sub>
                                  <m:r>
                                    <a:rPr lang="en-US" altLang="ja-JP" sz="3600" i="1">
                                      <a:latin typeface="Cambria Math" panose="02040503050406030204" pitchFamily="18" charset="0"/>
                                      <a:ea typeface="Cambria Math" panose="02040503050406030204" pitchFamily="18" charset="0"/>
                                    </a:rPr>
                                    <m:t>𝑘</m:t>
                                  </m:r>
                                </m:sub>
                              </m:sSub>
                              <m:r>
                                <a:rPr lang="en-US" altLang="ja-JP" sz="3600" b="0" i="1" smtClean="0">
                                  <a:latin typeface="Cambria Math" panose="02040503050406030204" pitchFamily="18" charset="0"/>
                                  <a:ea typeface="Cambria Math" panose="02040503050406030204" pitchFamily="18" charset="0"/>
                                </a:rPr>
                                <m:t>= </m:t>
                              </m:r>
                              <m:r>
                                <a:rPr lang="ja-JP" altLang="en-US" sz="3600" b="0" i="1" smtClean="0">
                                  <a:latin typeface="Cambria Math" panose="02040503050406030204" pitchFamily="18" charset="0"/>
                                  <a:ea typeface="Cambria Math" panose="02040503050406030204" pitchFamily="18" charset="0"/>
                                </a:rPr>
                                <m:t>𝛽</m:t>
                              </m:r>
                              <m:sSub>
                                <m:sSubPr>
                                  <m:ctrlPr>
                                    <a:rPr lang="en-US" altLang="ja-JP" sz="3600" i="1">
                                      <a:latin typeface="Cambria Math" panose="02040503050406030204" pitchFamily="18" charset="0"/>
                                      <a:ea typeface="Cambria Math" panose="02040503050406030204" pitchFamily="18" charset="0"/>
                                    </a:rPr>
                                  </m:ctrlPr>
                                </m:sSubPr>
                                <m:e>
                                  <m:r>
                                    <a:rPr lang="en-US" altLang="ja-JP" sz="3600" b="1">
                                      <a:latin typeface="Cambria Math" panose="02040503050406030204" pitchFamily="18" charset="0"/>
                                      <a:ea typeface="Cambria Math" panose="02040503050406030204" pitchFamily="18" charset="0"/>
                                    </a:rPr>
                                    <m:t>𝐡</m:t>
                                  </m:r>
                                </m:e>
                                <m:sub>
                                  <m:r>
                                    <a:rPr lang="en-US" altLang="ja-JP" sz="3600" i="1">
                                      <a:latin typeface="Cambria Math" panose="02040503050406030204" pitchFamily="18" charset="0"/>
                                      <a:ea typeface="Cambria Math" panose="02040503050406030204" pitchFamily="18" charset="0"/>
                                    </a:rPr>
                                    <m:t>𝑘</m:t>
                                  </m:r>
                                  <m:r>
                                    <a:rPr lang="en-US" altLang="ja-JP" sz="3600" b="0" i="1" smtClean="0">
                                      <a:latin typeface="Cambria Math" panose="02040503050406030204" pitchFamily="18" charset="0"/>
                                      <a:ea typeface="Cambria Math" panose="02040503050406030204" pitchFamily="18" charset="0"/>
                                    </a:rPr>
                                    <m:t>−1</m:t>
                                  </m:r>
                                </m:sub>
                              </m:sSub>
                              <m:r>
                                <a:rPr lang="en-US" altLang="ja-JP" sz="3600" b="0" i="1" smtClean="0">
                                  <a:latin typeface="Cambria Math" panose="02040503050406030204" pitchFamily="18" charset="0"/>
                                  <a:ea typeface="Cambria Math" panose="02040503050406030204" pitchFamily="18" charset="0"/>
                                </a:rPr>
                                <m:t>+</m:t>
                              </m:r>
                              <m:d>
                                <m:dPr>
                                  <m:ctrlPr>
                                    <a:rPr lang="en-US" altLang="ja-JP" sz="3600" b="0" i="1" smtClean="0">
                                      <a:latin typeface="Cambria Math" panose="02040503050406030204" pitchFamily="18" charset="0"/>
                                      <a:ea typeface="Cambria Math" panose="02040503050406030204" pitchFamily="18" charset="0"/>
                                    </a:rPr>
                                  </m:ctrlPr>
                                </m:dPr>
                                <m:e>
                                  <m:r>
                                    <a:rPr lang="en-US" altLang="ja-JP" sz="3600" b="0" i="1" smtClean="0">
                                      <a:latin typeface="Cambria Math" panose="02040503050406030204" pitchFamily="18" charset="0"/>
                                      <a:ea typeface="Cambria Math" panose="02040503050406030204" pitchFamily="18" charset="0"/>
                                    </a:rPr>
                                    <m:t>1 − </m:t>
                                  </m:r>
                                  <m:r>
                                    <a:rPr lang="ja-JP" altLang="en-US" sz="3600" b="0" i="1" smtClean="0">
                                      <a:latin typeface="Cambria Math" panose="02040503050406030204" pitchFamily="18" charset="0"/>
                                      <a:ea typeface="Cambria Math" panose="02040503050406030204" pitchFamily="18" charset="0"/>
                                    </a:rPr>
                                    <m:t>𝛽</m:t>
                                  </m:r>
                                </m:e>
                              </m:d>
                              <m:d>
                                <m:dPr>
                                  <m:ctrlPr>
                                    <a:rPr lang="en-US" altLang="ja-JP" sz="3600" b="0" i="1" smtClean="0">
                                      <a:latin typeface="Cambria Math" panose="02040503050406030204" pitchFamily="18" charset="0"/>
                                      <a:ea typeface="Cambria Math" panose="02040503050406030204" pitchFamily="18" charset="0"/>
                                    </a:rPr>
                                  </m:ctrlPr>
                                </m:dPr>
                                <m:e>
                                  <m:sSub>
                                    <m:sSubPr>
                                      <m:ctrlPr>
                                        <a:rPr lang="en-US" altLang="ja-JP" sz="3600" i="1">
                                          <a:latin typeface="Cambria Math" panose="02040503050406030204" pitchFamily="18" charset="0"/>
                                        </a:rPr>
                                      </m:ctrlPr>
                                    </m:sSubPr>
                                    <m:e>
                                      <m:r>
                                        <a:rPr lang="en-US" altLang="ja-JP" sz="3600" b="1">
                                          <a:latin typeface="Cambria Math" panose="02040503050406030204" pitchFamily="18" charset="0"/>
                                        </a:rPr>
                                        <m:t>𝐳</m:t>
                                      </m:r>
                                    </m:e>
                                    <m:sub>
                                      <m:r>
                                        <a:rPr lang="en-US" altLang="ja-JP" sz="3600" i="1">
                                          <a:latin typeface="Cambria Math" panose="02040503050406030204" pitchFamily="18" charset="0"/>
                                        </a:rPr>
                                        <m:t>𝑙</m:t>
                                      </m:r>
                                    </m:sub>
                                  </m:sSub>
                                  <m:r>
                                    <a:rPr lang="en-US" altLang="ja-JP" sz="3600" i="1">
                                      <a:latin typeface="Cambria Math" panose="02040503050406030204" pitchFamily="18" charset="0"/>
                                      <a:ea typeface="Cambria Math" panose="02040503050406030204" pitchFamily="18" charset="0"/>
                                    </a:rPr>
                                    <m:t>⨂</m:t>
                                  </m:r>
                                  <m:f>
                                    <m:fPr>
                                      <m:ctrlPr>
                                        <a:rPr lang="en-US" altLang="ja-JP" sz="3600" i="1">
                                          <a:latin typeface="Cambria Math" panose="02040503050406030204" pitchFamily="18" charset="0"/>
                                        </a:rPr>
                                      </m:ctrlPr>
                                    </m:fPr>
                                    <m:num>
                                      <m:r>
                                        <a:rPr lang="ja-JP" altLang="en-US" sz="3600" i="1">
                                          <a:latin typeface="Cambria Math" panose="02040503050406030204" pitchFamily="18" charset="0"/>
                                        </a:rPr>
                                        <m:t>𝜕</m:t>
                                      </m:r>
                                      <m:sSup>
                                        <m:sSupPr>
                                          <m:ctrlPr>
                                            <a:rPr lang="en-US" altLang="ja-JP" sz="3600" i="1">
                                              <a:latin typeface="Cambria Math" panose="02040503050406030204" pitchFamily="18" charset="0"/>
                                            </a:rPr>
                                          </m:ctrlPr>
                                        </m:sSupPr>
                                        <m:e>
                                          <m:d>
                                            <m:dPr>
                                              <m:ctrlPr>
                                                <a:rPr lang="en-US" altLang="ja-JP" sz="3600" i="1">
                                                  <a:latin typeface="Cambria Math" panose="02040503050406030204" pitchFamily="18" charset="0"/>
                                                </a:rPr>
                                              </m:ctrlPr>
                                            </m:dPr>
                                            <m:e>
                                              <m:r>
                                                <m:rPr>
                                                  <m:sty m:val="p"/>
                                                </m:rPr>
                                                <a:rPr lang="ja-JP" altLang="en-US" sz="3600" i="0">
                                                  <a:latin typeface="Cambria Math" panose="02040503050406030204" pitchFamily="18" charset="0"/>
                                                </a:rPr>
                                                <m:t>∇</m:t>
                                              </m:r>
                                              <m:r>
                                                <a:rPr lang="en-ZA" altLang="ja-JP" sz="3600" i="1">
                                                  <a:latin typeface="Cambria Math" panose="02040503050406030204" pitchFamily="18" charset="0"/>
                                                </a:rPr>
                                                <m:t>𝐸</m:t>
                                              </m:r>
                                              <m:d>
                                                <m:dPr>
                                                  <m:ctrlPr>
                                                    <a:rPr lang="en-ZA" altLang="ja-JP" sz="3600" i="1">
                                                      <a:latin typeface="Cambria Math" panose="02040503050406030204" pitchFamily="18" charset="0"/>
                                                    </a:rPr>
                                                  </m:ctrlPr>
                                                </m:dPr>
                                                <m:e>
                                                  <m:sSub>
                                                    <m:sSubPr>
                                                      <m:ctrlPr>
                                                        <a:rPr lang="en-ZA" altLang="ja-JP" sz="3600" i="1">
                                                          <a:latin typeface="Cambria Math" panose="02040503050406030204" pitchFamily="18" charset="0"/>
                                                        </a:rPr>
                                                      </m:ctrlPr>
                                                    </m:sSubPr>
                                                    <m:e>
                                                      <m:r>
                                                        <a:rPr lang="en-ZA" altLang="ja-JP" sz="3600" b="1">
                                                          <a:latin typeface="Cambria Math" panose="02040503050406030204" pitchFamily="18" charset="0"/>
                                                        </a:rPr>
                                                        <m:t>𝐰</m:t>
                                                      </m:r>
                                                    </m:e>
                                                    <m:sub>
                                                      <m:r>
                                                        <a:rPr lang="en-ZA" altLang="ja-JP" sz="3600" i="1">
                                                          <a:latin typeface="Cambria Math" panose="02040503050406030204" pitchFamily="18" charset="0"/>
                                                        </a:rPr>
                                                        <m:t>𝑘</m:t>
                                                      </m:r>
                                                    </m:sub>
                                                  </m:sSub>
                                                </m:e>
                                              </m:d>
                                            </m:e>
                                          </m:d>
                                        </m:e>
                                        <m:sup>
                                          <m:r>
                                            <a:rPr lang="en-US" altLang="ja-JP" sz="3600" i="1">
                                              <a:latin typeface="Cambria Math" panose="02040503050406030204" pitchFamily="18" charset="0"/>
                                            </a:rPr>
                                            <m:t>𝑇</m:t>
                                          </m:r>
                                        </m:sup>
                                      </m:sSup>
                                      <m:sSub>
                                        <m:sSubPr>
                                          <m:ctrlPr>
                                            <a:rPr lang="en-US" altLang="ja-JP" sz="3600" i="1">
                                              <a:latin typeface="Cambria Math" panose="02040503050406030204" pitchFamily="18" charset="0"/>
                                            </a:rPr>
                                          </m:ctrlPr>
                                        </m:sSubPr>
                                        <m:e>
                                          <m:r>
                                            <a:rPr lang="en-US" altLang="ja-JP" sz="3600" b="1">
                                              <a:latin typeface="Cambria Math" panose="02040503050406030204" pitchFamily="18" charset="0"/>
                                            </a:rPr>
                                            <m:t>𝐳</m:t>
                                          </m:r>
                                        </m:e>
                                        <m:sub>
                                          <m:r>
                                            <a:rPr lang="en-US" altLang="ja-JP" sz="3600" i="1">
                                              <a:latin typeface="Cambria Math" panose="02040503050406030204" pitchFamily="18" charset="0"/>
                                            </a:rPr>
                                            <m:t>𝑙</m:t>
                                          </m:r>
                                        </m:sub>
                                      </m:sSub>
                                    </m:num>
                                    <m:den>
                                      <m:r>
                                        <a:rPr lang="ja-JP" altLang="en-US" sz="3600" i="1">
                                          <a:latin typeface="Cambria Math" panose="02040503050406030204" pitchFamily="18" charset="0"/>
                                        </a:rPr>
                                        <m:t>𝜕</m:t>
                                      </m:r>
                                      <m:r>
                                        <a:rPr lang="en-US" altLang="ja-JP" sz="3600" b="1">
                                          <a:latin typeface="Cambria Math" panose="02040503050406030204" pitchFamily="18" charset="0"/>
                                        </a:rPr>
                                        <m:t>𝐰</m:t>
                                      </m:r>
                                    </m:den>
                                  </m:f>
                                </m:e>
                              </m:d>
                              <m:r>
                                <a:rPr lang="en-US" altLang="ja-JP" sz="3600" b="0" i="1" smtClean="0">
                                  <a:latin typeface="Cambria Math" panose="02040503050406030204" pitchFamily="18" charset="0"/>
                                  <a:ea typeface="Cambria Math" panose="02040503050406030204" pitchFamily="18" charset="0"/>
                                </a:rPr>
                                <m:t>##</m:t>
                              </m:r>
                              <m:r>
                                <a:rPr lang="en-US" altLang="ja-JP" sz="3600" b="0" i="1" smtClean="0">
                                  <a:latin typeface="Cambria Math" panose="02040503050406030204" pitchFamily="18" charset="0"/>
                                  <a:ea typeface="Cambria Math" panose="02040503050406030204" pitchFamily="18" charset="0"/>
                                </a:rPr>
                                <m:t>#(7)</m:t>
                              </m:r>
                            </m:e>
                          </m:eqArr>
                        </m:oMath>
                      </m:oMathPara>
                    </a14:m>
                    <a:endParaRPr lang="en-US" altLang="ja-JP" sz="3600" b="0" dirty="0">
                      <a:latin typeface="UD デジタル 教科書体 NK-R" panose="02020400000000000000" pitchFamily="18" charset="-128"/>
                      <a:ea typeface="Cambria Math" panose="02040503050406030204" pitchFamily="18" charset="0"/>
                    </a:endParaRPr>
                  </a:p>
                  <a:p>
                    <a:pPr indent="457200"/>
                    <a:r>
                      <a:rPr lang="en-US" altLang="ja-JP" sz="3600" dirty="0">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r>
                          <a:rPr lang="ja-JP" altLang="en-US" sz="3600" b="0" i="1" smtClean="0">
                            <a:latin typeface="Cambria Math" panose="02040503050406030204" pitchFamily="18" charset="0"/>
                            <a:ea typeface="Cambria Math" panose="02040503050406030204" pitchFamily="18" charset="0"/>
                          </a:rPr>
                          <m:t>𝛽</m:t>
                        </m:r>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平滑化係数</a:t>
                    </a:r>
                    <a:endParaRPr lang="en-US" altLang="ja-JP" sz="3600" dirty="0">
                      <a:latin typeface="UD デジタル 教科書体 NK-R" panose="02020400000000000000" pitchFamily="18" charset="-128"/>
                      <a:ea typeface="UD デジタル 教科書体 NK-R" panose="02020400000000000000" pitchFamily="18" charset="-128"/>
                    </a:endParaRPr>
                  </a:p>
                </p:txBody>
              </p:sp>
            </mc:Choice>
            <mc:Fallback>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506888" y="6399631"/>
                    <a:ext cx="14214952" cy="15440509"/>
                  </a:xfrm>
                  <a:prstGeom prst="rect">
                    <a:avLst/>
                  </a:prstGeom>
                  <a:blipFill>
                    <a:blip r:embed="rId4"/>
                    <a:stretch>
                      <a:fillRect l="-1249" t="-658" r="-892" b="-247"/>
                    </a:stretch>
                  </a:blipFill>
                </p:spPr>
                <p:txBody>
                  <a:bodyPr/>
                  <a:lstStyle/>
                  <a:p>
                    <a:r>
                      <a:rPr lang="ja-JP" altLang="en-US">
                        <a:noFill/>
                      </a:rPr>
                      <a:t> </a:t>
                    </a:r>
                  </a:p>
                </p:txBody>
              </p:sp>
            </mc:Fallback>
          </mc:AlternateContent>
        </p:grpSp>
        <p:sp>
          <p:nvSpPr>
            <p:cNvPr id="33" name="四角形: 角を丸くする 32">
              <a:extLst>
                <a:ext uri="{FF2B5EF4-FFF2-40B4-BE49-F238E27FC236}">
                  <a16:creationId xmlns:a16="http://schemas.microsoft.com/office/drawing/2014/main" id="{917E17F6-148A-51B4-3C1A-D23C8A35C5B7}"/>
                </a:ext>
              </a:extLst>
            </p:cNvPr>
            <p:cNvSpPr/>
            <p:nvPr/>
          </p:nvSpPr>
          <p:spPr>
            <a:xfrm>
              <a:off x="1219200" y="17322018"/>
              <a:ext cx="12707815" cy="1941342"/>
            </a:xfrm>
            <a:prstGeom prst="roundRect">
              <a:avLst/>
            </a:prstGeom>
            <a:noFill/>
            <a:ln w="762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2529739"/>
            <a:ext cx="14760000" cy="13661301"/>
            <a:chOff x="232568" y="5177977"/>
            <a:chExt cx="14760000" cy="13661301"/>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81"/>
              <a:ext cx="14760000" cy="13231397"/>
            </a:xfrm>
            <a:prstGeom prst="roundRect">
              <a:avLst>
                <a:gd name="adj" fmla="val 350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177977"/>
              <a:ext cx="4135450" cy="989529"/>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従来手法</a:t>
              </a:r>
              <a:r>
                <a:rPr kumimoji="1" lang="en-US" altLang="ja-JP" sz="6000" dirty="0">
                  <a:solidFill>
                    <a:schemeClr val="tx1"/>
                  </a:solidFill>
                  <a:latin typeface="UD デジタル 教科書体 NK-R" panose="02020400000000000000" pitchFamily="18" charset="-128"/>
                  <a:ea typeface="UD デジタル 教科書体 NK-R" panose="02020400000000000000" pitchFamily="18" charset="-128"/>
                </a:rPr>
                <a:t>Ⅱ</a:t>
              </a:r>
              <a:endPar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mc:Choice xmlns:a14="http://schemas.microsoft.com/office/drawing/2010/main"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506888" y="6399631"/>
                  <a:ext cx="14214952" cy="5940088"/>
                </a:xfrm>
                <a:prstGeom prst="rect">
                  <a:avLst/>
                </a:prstGeom>
                <a:noFill/>
              </p:spPr>
              <p:txBody>
                <a:bodyPr wrap="square">
                  <a:spAutoFit/>
                </a:bodyPr>
                <a:lstStyle/>
                <a:p>
                  <a:pPr marL="571500" indent="-571500">
                    <a:buFont typeface="Arial" panose="020B0604020202020204" pitchFamily="34" charset="0"/>
                    <a:buChar char="•"/>
                  </a:pPr>
                  <a:r>
                    <a:rPr lang="ja-JP" altLang="en-US" sz="3600" dirty="0">
                      <a:latin typeface="UD デジタル 教科書体 NK-R" panose="02020400000000000000" pitchFamily="18" charset="-128"/>
                      <a:ea typeface="UD デジタル 教科書体 NK-R" panose="02020400000000000000" pitchFamily="18" charset="-128"/>
                    </a:rPr>
                    <a:t>モーメント法（</a:t>
                  </a:r>
                  <a:r>
                    <a:rPr lang="en-US" altLang="ja-JP" sz="3600" dirty="0">
                      <a:latin typeface="UD デジタル 教科書体 NK-R" panose="02020400000000000000" pitchFamily="18" charset="-128"/>
                      <a:ea typeface="UD デジタル 教科書体 NK-R" panose="02020400000000000000" pitchFamily="18" charset="-128"/>
                    </a:rPr>
                    <a:t>Classical Momentum, CM</a:t>
                  </a:r>
                  <a:r>
                    <a:rPr lang="ja-JP" altLang="en-US" sz="3600" dirty="0">
                      <a:latin typeface="UD デジタル 教科書体 NK-R" panose="02020400000000000000" pitchFamily="18" charset="-128"/>
                      <a:ea typeface="UD デジタル 教科書体 NK-R" panose="02020400000000000000" pitchFamily="18" charset="-128"/>
                    </a:rPr>
                    <a:t>）</a:t>
                  </a:r>
                  <a:endParaRPr lang="en-US" altLang="ja-JP" sz="3600" dirty="0">
                    <a:latin typeface="UD デジタル 教科書体 NK-R" panose="02020400000000000000" pitchFamily="18" charset="-128"/>
                    <a:ea typeface="UD デジタル 教科書体 NK-R" panose="02020400000000000000" pitchFamily="18" charset="-128"/>
                  </a:endParaRPr>
                </a:p>
                <a:p>
                  <a:pPr indent="457200"/>
                  <a:r>
                    <a:rPr lang="en-US" altLang="ja-JP" sz="3600" dirty="0">
                      <a:latin typeface="UD デジタル 教科書体 NK-R" panose="02020400000000000000" pitchFamily="18" charset="-128"/>
                      <a:ea typeface="UD デジタル 教科書体 NK-R" panose="02020400000000000000" pitchFamily="18" charset="-128"/>
                    </a:rPr>
                    <a:t>GD</a:t>
                  </a:r>
                  <a:r>
                    <a:rPr lang="ja-JP" altLang="en-US" sz="3600" dirty="0">
                      <a:latin typeface="UD デジタル 教科書体 NK-R" panose="02020400000000000000" pitchFamily="18" charset="-128"/>
                      <a:ea typeface="UD デジタル 教科書体 NK-R" panose="02020400000000000000" pitchFamily="18" charset="-128"/>
                    </a:rPr>
                    <a:t>に慣性項を追加し、学習を高速化した学習アルゴリズム</a:t>
                  </a:r>
                  <a:endParaRPr lang="en-US" altLang="ja-JP" sz="3600" dirty="0">
                    <a:latin typeface="UD デジタル 教科書体 NK-R" panose="02020400000000000000" pitchFamily="18" charset="-128"/>
                    <a:ea typeface="UD デジタル 教科書体 NK-R" panose="02020400000000000000" pitchFamily="18" charset="-128"/>
                  </a:endParaRPr>
                </a:p>
                <a:p>
                  <a:pPr marL="1028700" lvl="1" indent="-571500">
                    <a:buFont typeface="Wingdings" panose="05000000000000000000" pitchFamily="2" charset="2"/>
                    <a:buChar char="u"/>
                  </a:pPr>
                  <a:r>
                    <a:rPr lang="ja-JP" altLang="en-US" sz="3600" dirty="0">
                      <a:latin typeface="UD デジタル 教科書体 NK-R" panose="02020400000000000000" pitchFamily="18" charset="-128"/>
                      <a:ea typeface="UD デジタル 教科書体 NK-R" panose="02020400000000000000" pitchFamily="18" charset="-128"/>
                    </a:rPr>
                    <a:t>モーメント法の更新ベクトル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ea typeface="UD デジタル 教科書体 NK-R" panose="02020400000000000000" pitchFamily="18" charset="-128"/>
                              </a:rPr>
                            </m:ctrlPr>
                          </m:eqArrPr>
                          <m:e>
                            <m:sSub>
                              <m:sSubPr>
                                <m:ctrlPr>
                                  <a:rPr lang="en-US" altLang="ja-JP" sz="3600" i="1" smtClean="0">
                                    <a:latin typeface="Cambria Math" panose="02040503050406030204" pitchFamily="18" charset="0"/>
                                    <a:ea typeface="UD デジタル 教科書体 NK-R" panose="02020400000000000000" pitchFamily="18" charset="-128"/>
                                  </a:rPr>
                                </m:ctrlPr>
                              </m:sSubPr>
                              <m:e>
                                <m:r>
                                  <a:rPr lang="en-US" altLang="ja-JP" sz="3600" b="1" i="0" smtClean="0">
                                    <a:latin typeface="Cambria Math" panose="02040503050406030204" pitchFamily="18" charset="0"/>
                                    <a:ea typeface="UD デジタル 教科書体 NK-R" panose="02020400000000000000" pitchFamily="18" charset="-128"/>
                                  </a:rPr>
                                  <m:t>𝐯</m:t>
                                </m:r>
                              </m:e>
                              <m:sub>
                                <m:r>
                                  <a:rPr lang="en-US" altLang="ja-JP" sz="3600" b="0" i="1" smtClean="0">
                                    <a:latin typeface="Cambria Math" panose="02040503050406030204" pitchFamily="18" charset="0"/>
                                    <a:ea typeface="UD デジタル 教科書体 NK-R" panose="02020400000000000000" pitchFamily="18" charset="-128"/>
                                  </a:rPr>
                                  <m:t>𝑘</m:t>
                                </m:r>
                                <m:r>
                                  <a:rPr lang="en-US" altLang="ja-JP" sz="3600" b="0" i="1" smtClean="0">
                                    <a:latin typeface="Cambria Math" panose="02040503050406030204" pitchFamily="18" charset="0"/>
                                    <a:ea typeface="UD デジタル 教科書体 NK-R" panose="02020400000000000000" pitchFamily="18" charset="-128"/>
                                  </a:rPr>
                                  <m:t>+1</m:t>
                                </m:r>
                              </m:sub>
                            </m:sSub>
                            <m:r>
                              <a:rPr lang="en-US" altLang="ja-JP" sz="3600" b="0" i="1" smtClean="0">
                                <a:latin typeface="Cambria Math" panose="02040503050406030204" pitchFamily="18" charset="0"/>
                                <a:ea typeface="UD デジタル 教科書体 NK-R" panose="02020400000000000000" pitchFamily="18" charset="-128"/>
                              </a:rPr>
                              <m:t>= </m:t>
                            </m:r>
                            <m:r>
                              <a:rPr lang="ja-JP" altLang="en-US" sz="3600" b="0" i="1" smtClean="0">
                                <a:solidFill>
                                  <a:srgbClr val="00B0F0"/>
                                </a:solidFill>
                                <a:latin typeface="Cambria Math" panose="02040503050406030204" pitchFamily="18" charset="0"/>
                                <a:ea typeface="UD デジタル 教科書体 NK-R" panose="02020400000000000000" pitchFamily="18" charset="-128"/>
                              </a:rPr>
                              <m:t>𝜇</m:t>
                            </m:r>
                            <m:sSub>
                              <m:sSubPr>
                                <m:ctrlPr>
                                  <a:rPr lang="en-US" altLang="ja-JP" sz="3600" b="0" i="1" smtClean="0">
                                    <a:solidFill>
                                      <a:srgbClr val="00B0F0"/>
                                    </a:solidFill>
                                    <a:latin typeface="Cambria Math" panose="02040503050406030204" pitchFamily="18" charset="0"/>
                                    <a:ea typeface="UD デジタル 教科書体 NK-R" panose="02020400000000000000" pitchFamily="18" charset="-128"/>
                                  </a:rPr>
                                </m:ctrlPr>
                              </m:sSubPr>
                              <m:e>
                                <m:r>
                                  <a:rPr lang="en-US" altLang="ja-JP" sz="3600" b="1" i="0" smtClean="0">
                                    <a:solidFill>
                                      <a:srgbClr val="00B0F0"/>
                                    </a:solidFill>
                                    <a:latin typeface="Cambria Math" panose="02040503050406030204" pitchFamily="18" charset="0"/>
                                    <a:ea typeface="UD デジタル 教科書体 NK-R" panose="02020400000000000000" pitchFamily="18" charset="-128"/>
                                  </a:rPr>
                                  <m:t>𝐯</m:t>
                                </m:r>
                              </m:e>
                              <m:sub>
                                <m:r>
                                  <a:rPr lang="en-US" altLang="ja-JP" sz="3600" b="0" i="1" smtClean="0">
                                    <a:solidFill>
                                      <a:srgbClr val="00B0F0"/>
                                    </a:solidFill>
                                    <a:latin typeface="Cambria Math" panose="02040503050406030204" pitchFamily="18" charset="0"/>
                                    <a:ea typeface="UD デジタル 教科書体 NK-R" panose="02020400000000000000" pitchFamily="18" charset="-128"/>
                                  </a:rPr>
                                  <m:t>𝑘</m:t>
                                </m:r>
                              </m:sub>
                            </m:sSub>
                            <m:r>
                              <a:rPr lang="en-US" altLang="ja-JP" sz="3600" b="0" i="1" smtClean="0">
                                <a:latin typeface="Cambria Math" panose="02040503050406030204" pitchFamily="18" charset="0"/>
                                <a:ea typeface="UD デジタル 教科書体 NK-R" panose="02020400000000000000" pitchFamily="18" charset="-128"/>
                              </a:rPr>
                              <m:t> − </m:t>
                            </m:r>
                            <m:r>
                              <a:rPr lang="ja-JP" altLang="en-US" sz="3600" b="0" i="1" smtClean="0">
                                <a:latin typeface="Cambria Math" panose="02040503050406030204" pitchFamily="18" charset="0"/>
                                <a:ea typeface="UD デジタル 教科書体 NK-R" panose="02020400000000000000" pitchFamily="18" charset="-128"/>
                              </a:rPr>
                              <m:t>𝛼</m:t>
                            </m:r>
                            <m:r>
                              <m:rPr>
                                <m:sty m:val="p"/>
                              </m:rPr>
                              <a:rPr lang="ja-JP" altLang="en-US" sz="3600" i="1">
                                <a:latin typeface="Cambria Math" panose="02040503050406030204" pitchFamily="18" charset="0"/>
                              </a:rPr>
                              <m:t>∇</m:t>
                            </m:r>
                            <m:r>
                              <a:rPr lang="en-ZA" altLang="ja-JP" sz="3600" i="1">
                                <a:latin typeface="Cambria Math" panose="02040503050406030204" pitchFamily="18" charset="0"/>
                              </a:rPr>
                              <m:t>𝐸</m:t>
                            </m:r>
                            <m:d>
                              <m:dPr>
                                <m:ctrlPr>
                                  <a:rPr lang="en-ZA" altLang="ja-JP" sz="3600" i="1">
                                    <a:latin typeface="Cambria Math" panose="02040503050406030204" pitchFamily="18" charset="0"/>
                                  </a:rPr>
                                </m:ctrlPr>
                              </m:dPr>
                              <m:e>
                                <m:sSub>
                                  <m:sSubPr>
                                    <m:ctrlPr>
                                      <a:rPr lang="en-ZA" altLang="ja-JP" sz="3600" i="1">
                                        <a:latin typeface="Cambria Math" panose="02040503050406030204" pitchFamily="18" charset="0"/>
                                      </a:rPr>
                                    </m:ctrlPr>
                                  </m:sSubPr>
                                  <m:e>
                                    <m:r>
                                      <a:rPr lang="en-ZA" altLang="ja-JP" sz="3600" b="1">
                                        <a:latin typeface="Cambria Math" panose="02040503050406030204" pitchFamily="18" charset="0"/>
                                      </a:rPr>
                                      <m:t>𝐰</m:t>
                                    </m:r>
                                  </m:e>
                                  <m:sub>
                                    <m:r>
                                      <a:rPr lang="en-ZA" altLang="ja-JP" sz="3600" i="1">
                                        <a:latin typeface="Cambria Math" panose="02040503050406030204" pitchFamily="18" charset="0"/>
                                      </a:rPr>
                                      <m:t>𝑘</m:t>
                                    </m:r>
                                  </m:sub>
                                </m:sSub>
                              </m:e>
                            </m:d>
                            <m:r>
                              <a:rPr lang="en-ZA" altLang="ja-JP" sz="3600" i="1">
                                <a:latin typeface="Cambria Math" panose="02040503050406030204" pitchFamily="18" charset="0"/>
                              </a:rPr>
                              <m:t>#</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#(8)</m:t>
                            </m:r>
                          </m:e>
                        </m:eqArr>
                      </m:oMath>
                    </m:oMathPara>
                  </a14:m>
                  <a:endParaRPr lang="en-US" altLang="ja-JP" sz="3600" b="0" dirty="0">
                    <a:latin typeface="UD デジタル 教科書体 NK-R" panose="02020400000000000000" pitchFamily="18" charset="-128"/>
                  </a:endParaRPr>
                </a:p>
                <a:p>
                  <a:pPr lvl="1"/>
                  <a:r>
                    <a:rPr lang="en-US" altLang="ja-JP"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sz="3600" b="0" i="1" smtClean="0">
                          <a:latin typeface="Cambria Math" panose="02040503050406030204" pitchFamily="18" charset="0"/>
                          <a:ea typeface="UD デジタル 教科書体 NK-R" panose="02020400000000000000" pitchFamily="18" charset="-128"/>
                        </a:rPr>
                        <m:t>𝜇</m:t>
                      </m:r>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モーメント係数</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ja-JP" altLang="en-US"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en-US" altLang="ja-JP" sz="3600" dirty="0" err="1">
                      <a:latin typeface="UD デジタル 教科書体 NK-R" panose="02020400000000000000" pitchFamily="18" charset="-128"/>
                      <a:ea typeface="UD デジタル 教科書体 NK-R" panose="02020400000000000000" pitchFamily="18" charset="-128"/>
                    </a:rPr>
                    <a:t>Nesterov’s</a:t>
                  </a:r>
                  <a:r>
                    <a:rPr lang="en-US" altLang="ja-JP" sz="3600" dirty="0">
                      <a:latin typeface="UD デジタル 教科書体 NK-R" panose="02020400000000000000" pitchFamily="18" charset="-128"/>
                      <a:ea typeface="UD デジタル 教科書体 NK-R" panose="02020400000000000000" pitchFamily="18" charset="-128"/>
                    </a:rPr>
                    <a:t> Accelerated Gradient descent method(NAG)[3]</a:t>
                  </a:r>
                </a:p>
                <a:p>
                  <a:pPr indent="457200"/>
                  <a:r>
                    <a:rPr lang="ja-JP" altLang="en-US" sz="3600" dirty="0">
                      <a:latin typeface="UD デジタル 教科書体 NK-R" panose="02020400000000000000" pitchFamily="18" charset="-128"/>
                      <a:ea typeface="UD デジタル 教科書体 NK-R" panose="02020400000000000000" pitchFamily="18" charset="-128"/>
                    </a:rPr>
                    <a:t>モーメント法にネステロフの加速勾配を導入した学習アルゴリズム</a:t>
                  </a:r>
                  <a:endParaRPr lang="en-US" altLang="ja-JP" sz="3600" dirty="0">
                    <a:latin typeface="UD デジタル 教科書体 NK-R" panose="02020400000000000000" pitchFamily="18" charset="-128"/>
                    <a:ea typeface="UD デジタル 教科書体 NK-R" panose="02020400000000000000" pitchFamily="18" charset="-128"/>
                  </a:endParaRPr>
                </a:p>
                <a:p>
                  <a:pPr marL="1028700" lvl="1"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NAG</a:t>
                  </a:r>
                  <a:r>
                    <a:rPr lang="ja-JP" altLang="en-US" sz="3600" dirty="0">
                      <a:latin typeface="UD デジタル 教科書体 NK-R" panose="02020400000000000000" pitchFamily="18" charset="-128"/>
                      <a:ea typeface="UD デジタル 教科書体 NK-R" panose="02020400000000000000" pitchFamily="18" charset="-128"/>
                    </a:rPr>
                    <a:t>の更新ベクトル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ea typeface="UD デジタル 教科書体 NK-R" panose="02020400000000000000" pitchFamily="18" charset="-128"/>
                              </a:rPr>
                            </m:ctrlPr>
                          </m:eqArrPr>
                          <m:e>
                            <m:r>
                              <a:rPr lang="en-US" altLang="ja-JP" sz="3600" b="0" i="1" smtClean="0">
                                <a:latin typeface="Cambria Math" panose="02040503050406030204" pitchFamily="18" charset="0"/>
                                <a:ea typeface="UD デジタル 教科書体 NK-R" panose="02020400000000000000" pitchFamily="18" charset="-128"/>
                              </a:rPr>
                              <m:t> </m:t>
                            </m:r>
                            <m:sSub>
                              <m:sSubPr>
                                <m:ctrlPr>
                                  <a:rPr lang="en-US" altLang="ja-JP" sz="3600" i="1" smtClean="0">
                                    <a:latin typeface="Cambria Math" panose="02040503050406030204" pitchFamily="18" charset="0"/>
                                    <a:ea typeface="UD デジタル 教科書体 NK-R" panose="02020400000000000000" pitchFamily="18" charset="-128"/>
                                  </a:rPr>
                                </m:ctrlPr>
                              </m:sSubPr>
                              <m:e>
                                <m:r>
                                  <a:rPr lang="en-US" altLang="ja-JP" sz="3600" b="1" i="0" smtClean="0">
                                    <a:latin typeface="Cambria Math" panose="02040503050406030204" pitchFamily="18" charset="0"/>
                                    <a:ea typeface="UD デジタル 教科書体 NK-R" panose="02020400000000000000" pitchFamily="18" charset="-128"/>
                                  </a:rPr>
                                  <m:t>𝐯</m:t>
                                </m:r>
                              </m:e>
                              <m:sub>
                                <m:r>
                                  <a:rPr lang="en-US" altLang="ja-JP" sz="3600" b="0" i="1" smtClean="0">
                                    <a:latin typeface="Cambria Math" panose="02040503050406030204" pitchFamily="18" charset="0"/>
                                    <a:ea typeface="UD デジタル 教科書体 NK-R" panose="02020400000000000000" pitchFamily="18" charset="-128"/>
                                  </a:rPr>
                                  <m:t>𝑘</m:t>
                                </m:r>
                                <m:r>
                                  <a:rPr lang="en-US" altLang="ja-JP" sz="3600" b="0" i="1" smtClean="0">
                                    <a:latin typeface="Cambria Math" panose="02040503050406030204" pitchFamily="18" charset="0"/>
                                    <a:ea typeface="UD デジタル 教科書体 NK-R" panose="02020400000000000000" pitchFamily="18" charset="-128"/>
                                  </a:rPr>
                                  <m:t>+1</m:t>
                                </m:r>
                              </m:sub>
                            </m:sSub>
                            <m:r>
                              <a:rPr lang="en-US" altLang="ja-JP" sz="3600" b="0" i="1" smtClean="0">
                                <a:latin typeface="Cambria Math" panose="02040503050406030204" pitchFamily="18" charset="0"/>
                                <a:ea typeface="UD デジタル 教科書体 NK-R" panose="02020400000000000000" pitchFamily="18" charset="-128"/>
                              </a:rPr>
                              <m:t>= </m:t>
                            </m:r>
                            <m:r>
                              <a:rPr lang="ja-JP" altLang="en-US" sz="3600" b="0" i="1" smtClean="0">
                                <a:solidFill>
                                  <a:srgbClr val="00B0F0"/>
                                </a:solidFill>
                                <a:latin typeface="Cambria Math" panose="02040503050406030204" pitchFamily="18" charset="0"/>
                                <a:ea typeface="UD デジタル 教科書体 NK-R" panose="02020400000000000000" pitchFamily="18" charset="-128"/>
                              </a:rPr>
                              <m:t>𝜇</m:t>
                            </m:r>
                            <m:sSub>
                              <m:sSubPr>
                                <m:ctrlPr>
                                  <a:rPr lang="en-US" altLang="ja-JP" sz="3600" b="0" i="1" smtClean="0">
                                    <a:solidFill>
                                      <a:srgbClr val="00B0F0"/>
                                    </a:solidFill>
                                    <a:latin typeface="Cambria Math" panose="02040503050406030204" pitchFamily="18" charset="0"/>
                                    <a:ea typeface="UD デジタル 教科書体 NK-R" panose="02020400000000000000" pitchFamily="18" charset="-128"/>
                                  </a:rPr>
                                </m:ctrlPr>
                              </m:sSubPr>
                              <m:e>
                                <m:r>
                                  <a:rPr lang="en-US" altLang="ja-JP" sz="3600" b="1" i="0" smtClean="0">
                                    <a:solidFill>
                                      <a:srgbClr val="00B0F0"/>
                                    </a:solidFill>
                                    <a:latin typeface="Cambria Math" panose="02040503050406030204" pitchFamily="18" charset="0"/>
                                    <a:ea typeface="UD デジタル 教科書体 NK-R" panose="02020400000000000000" pitchFamily="18" charset="-128"/>
                                  </a:rPr>
                                  <m:t>𝐯</m:t>
                                </m:r>
                              </m:e>
                              <m:sub>
                                <m:r>
                                  <a:rPr lang="en-US" altLang="ja-JP" sz="3600" b="0" i="1" smtClean="0">
                                    <a:solidFill>
                                      <a:srgbClr val="00B0F0"/>
                                    </a:solidFill>
                                    <a:latin typeface="Cambria Math" panose="02040503050406030204" pitchFamily="18" charset="0"/>
                                    <a:ea typeface="UD デジタル 教科書体 NK-R" panose="02020400000000000000" pitchFamily="18" charset="-128"/>
                                  </a:rPr>
                                  <m:t>𝑘</m:t>
                                </m:r>
                              </m:sub>
                            </m:sSub>
                            <m:r>
                              <a:rPr lang="en-US" altLang="ja-JP" sz="3600" b="0" i="1" smtClean="0">
                                <a:solidFill>
                                  <a:srgbClr val="00B0F0"/>
                                </a:solidFill>
                                <a:latin typeface="Cambria Math" panose="02040503050406030204" pitchFamily="18" charset="0"/>
                                <a:ea typeface="UD デジタル 教科書体 NK-R" panose="02020400000000000000" pitchFamily="18" charset="-128"/>
                              </a:rPr>
                              <m:t> </m:t>
                            </m:r>
                            <m:r>
                              <a:rPr lang="en-US" altLang="ja-JP" sz="3600" b="0" i="1" smtClean="0">
                                <a:latin typeface="Cambria Math" panose="02040503050406030204" pitchFamily="18" charset="0"/>
                                <a:ea typeface="UD デジタル 教科書体 NK-R" panose="02020400000000000000" pitchFamily="18" charset="-128"/>
                              </a:rPr>
                              <m:t>− </m:t>
                            </m:r>
                            <m:r>
                              <a:rPr lang="ja-JP" altLang="en-US" sz="3600" b="0" i="1" smtClean="0">
                                <a:latin typeface="Cambria Math" panose="02040503050406030204" pitchFamily="18" charset="0"/>
                                <a:ea typeface="UD デジタル 教科書体 NK-R" panose="02020400000000000000" pitchFamily="18" charset="-128"/>
                              </a:rPr>
                              <m:t>𝛼</m:t>
                            </m:r>
                            <m:r>
                              <m:rPr>
                                <m:sty m:val="p"/>
                              </m:rPr>
                              <a:rPr lang="ja-JP" altLang="en-US" sz="3600" i="1" smtClean="0">
                                <a:solidFill>
                                  <a:srgbClr val="00B050"/>
                                </a:solidFill>
                                <a:latin typeface="Cambria Math" panose="02040503050406030204" pitchFamily="18" charset="0"/>
                              </a:rPr>
                              <m:t>∇</m:t>
                            </m:r>
                            <m:r>
                              <a:rPr lang="en-ZA" altLang="ja-JP" sz="3600" i="1">
                                <a:solidFill>
                                  <a:srgbClr val="00B050"/>
                                </a:solidFill>
                                <a:latin typeface="Cambria Math" panose="02040503050406030204" pitchFamily="18" charset="0"/>
                              </a:rPr>
                              <m:t>𝐸</m:t>
                            </m:r>
                            <m:d>
                              <m:dPr>
                                <m:ctrlPr>
                                  <a:rPr lang="en-ZA" altLang="ja-JP" sz="3600" i="1">
                                    <a:solidFill>
                                      <a:srgbClr val="00B050"/>
                                    </a:solidFill>
                                    <a:latin typeface="Cambria Math" panose="02040503050406030204" pitchFamily="18" charset="0"/>
                                  </a:rPr>
                                </m:ctrlPr>
                              </m:dPr>
                              <m:e>
                                <m:sSub>
                                  <m:sSubPr>
                                    <m:ctrlPr>
                                      <a:rPr lang="en-ZA" altLang="ja-JP" sz="3600" i="1">
                                        <a:solidFill>
                                          <a:srgbClr val="00B050"/>
                                        </a:solidFill>
                                        <a:latin typeface="Cambria Math" panose="02040503050406030204" pitchFamily="18" charset="0"/>
                                      </a:rPr>
                                    </m:ctrlPr>
                                  </m:sSubPr>
                                  <m:e>
                                    <m:r>
                                      <a:rPr lang="en-ZA" altLang="ja-JP" sz="3600" b="1">
                                        <a:solidFill>
                                          <a:srgbClr val="00B050"/>
                                        </a:solidFill>
                                        <a:latin typeface="Cambria Math" panose="02040503050406030204" pitchFamily="18" charset="0"/>
                                      </a:rPr>
                                      <m:t>𝐰</m:t>
                                    </m:r>
                                  </m:e>
                                  <m:sub>
                                    <m:r>
                                      <a:rPr lang="en-ZA" altLang="ja-JP" sz="3600" i="1">
                                        <a:solidFill>
                                          <a:srgbClr val="00B050"/>
                                        </a:solidFill>
                                        <a:latin typeface="Cambria Math" panose="02040503050406030204" pitchFamily="18" charset="0"/>
                                      </a:rPr>
                                      <m:t>𝑘</m:t>
                                    </m:r>
                                  </m:sub>
                                </m:sSub>
                                <m:r>
                                  <a:rPr lang="en-US" altLang="ja-JP" sz="3600" b="0" i="1" smtClean="0">
                                    <a:solidFill>
                                      <a:srgbClr val="00B050"/>
                                    </a:solidFill>
                                    <a:latin typeface="Cambria Math" panose="02040503050406030204" pitchFamily="18" charset="0"/>
                                  </a:rPr>
                                  <m:t>+</m:t>
                                </m:r>
                                <m:r>
                                  <a:rPr lang="ja-JP" altLang="en-US" sz="3600" i="1">
                                    <a:solidFill>
                                      <a:srgbClr val="00B050"/>
                                    </a:solidFill>
                                    <a:latin typeface="Cambria Math" panose="02040503050406030204" pitchFamily="18" charset="0"/>
                                    <a:ea typeface="UD デジタル 教科書体 NK-R" panose="02020400000000000000" pitchFamily="18" charset="-128"/>
                                  </a:rPr>
                                  <m:t>𝜇</m:t>
                                </m:r>
                                <m:sSub>
                                  <m:sSubPr>
                                    <m:ctrlPr>
                                      <a:rPr lang="en-US" altLang="ja-JP" sz="3600" i="1">
                                        <a:solidFill>
                                          <a:srgbClr val="00B050"/>
                                        </a:solidFill>
                                        <a:latin typeface="Cambria Math" panose="02040503050406030204" pitchFamily="18" charset="0"/>
                                        <a:ea typeface="UD デジタル 教科書体 NK-R" panose="02020400000000000000" pitchFamily="18" charset="-128"/>
                                      </a:rPr>
                                    </m:ctrlPr>
                                  </m:sSubPr>
                                  <m:e>
                                    <m:r>
                                      <a:rPr lang="en-US" altLang="ja-JP" sz="3600" b="1">
                                        <a:solidFill>
                                          <a:srgbClr val="00B050"/>
                                        </a:solidFill>
                                        <a:latin typeface="Cambria Math" panose="02040503050406030204" pitchFamily="18" charset="0"/>
                                        <a:ea typeface="UD デジタル 教科書体 NK-R" panose="02020400000000000000" pitchFamily="18" charset="-128"/>
                                      </a:rPr>
                                      <m:t>𝐯</m:t>
                                    </m:r>
                                  </m:e>
                                  <m:sub>
                                    <m:r>
                                      <a:rPr lang="en-US" altLang="ja-JP" sz="3600" i="1">
                                        <a:solidFill>
                                          <a:srgbClr val="00B050"/>
                                        </a:solidFill>
                                        <a:latin typeface="Cambria Math" panose="02040503050406030204" pitchFamily="18" charset="0"/>
                                        <a:ea typeface="UD デジタル 教科書体 NK-R" panose="02020400000000000000" pitchFamily="18" charset="-128"/>
                                      </a:rPr>
                                      <m:t>𝑘</m:t>
                                    </m:r>
                                  </m:sub>
                                </m:sSub>
                              </m:e>
                            </m:d>
                            <m:r>
                              <a:rPr lang="en-ZA" altLang="ja-JP" sz="3600" i="1">
                                <a:latin typeface="Cambria Math" panose="02040503050406030204" pitchFamily="18" charset="0"/>
                              </a:rPr>
                              <m:t>#</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#(9)</m:t>
                            </m:r>
                          </m:e>
                        </m:eqArr>
                      </m:oMath>
                    </m:oMathPara>
                  </a14:m>
                  <a:endParaRPr lang="en-US" altLang="ja-JP" sz="3600" b="0" dirty="0">
                    <a:latin typeface="UD デジタル 教科書体 NK-R" panose="02020400000000000000" pitchFamily="18" charset="-128"/>
                  </a:endParaRPr>
                </a:p>
                <a:p>
                  <a:pPr lvl="1"/>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m:rPr>
                          <m:sty m:val="p"/>
                        </m:rPr>
                        <a:rPr lang="ja-JP" altLang="en-US" sz="3600" i="1" smtClean="0">
                          <a:latin typeface="Cambria Math" panose="02040503050406030204" pitchFamily="18" charset="0"/>
                        </a:rPr>
                        <m:t>∇</m:t>
                      </m:r>
                      <m:r>
                        <a:rPr lang="en-ZA" altLang="ja-JP" sz="3600" i="1">
                          <a:latin typeface="Cambria Math" panose="02040503050406030204" pitchFamily="18" charset="0"/>
                        </a:rPr>
                        <m:t>𝐸</m:t>
                      </m:r>
                      <m:d>
                        <m:dPr>
                          <m:ctrlPr>
                            <a:rPr lang="en-ZA" altLang="ja-JP" sz="3600" i="1">
                              <a:latin typeface="Cambria Math" panose="02040503050406030204" pitchFamily="18" charset="0"/>
                            </a:rPr>
                          </m:ctrlPr>
                        </m:dPr>
                        <m:e>
                          <m:sSub>
                            <m:sSubPr>
                              <m:ctrlPr>
                                <a:rPr lang="en-ZA" altLang="ja-JP" sz="3600" i="1">
                                  <a:latin typeface="Cambria Math" panose="02040503050406030204" pitchFamily="18" charset="0"/>
                                </a:rPr>
                              </m:ctrlPr>
                            </m:sSubPr>
                            <m:e>
                              <m:r>
                                <a:rPr lang="en-ZA" altLang="ja-JP" sz="3600" b="1">
                                  <a:latin typeface="Cambria Math" panose="02040503050406030204" pitchFamily="18" charset="0"/>
                                </a:rPr>
                                <m:t>𝐰</m:t>
                              </m:r>
                            </m:e>
                            <m:sub>
                              <m:r>
                                <a:rPr lang="en-ZA" altLang="ja-JP" sz="3600" i="1">
                                  <a:latin typeface="Cambria Math" panose="02040503050406030204" pitchFamily="18" charset="0"/>
                                </a:rPr>
                                <m:t>𝑘</m:t>
                              </m:r>
                            </m:sub>
                          </m:sSub>
                          <m:r>
                            <a:rPr lang="en-US" altLang="ja-JP" sz="3600" b="0" i="1" smtClean="0">
                              <a:latin typeface="Cambria Math" panose="02040503050406030204" pitchFamily="18" charset="0"/>
                            </a:rPr>
                            <m:t>+</m:t>
                          </m:r>
                          <m:r>
                            <a:rPr lang="ja-JP" altLang="en-US" sz="3600" i="1">
                              <a:latin typeface="Cambria Math" panose="02040503050406030204" pitchFamily="18" charset="0"/>
                              <a:ea typeface="UD デジタル 教科書体 NK-R" panose="02020400000000000000" pitchFamily="18" charset="-128"/>
                            </a:rPr>
                            <m:t>𝜇</m:t>
                          </m:r>
                          <m:sSub>
                            <m:sSubPr>
                              <m:ctrlPr>
                                <a:rPr lang="en-US" altLang="ja-JP" sz="3600" i="1">
                                  <a:latin typeface="Cambria Math" panose="02040503050406030204" pitchFamily="18" charset="0"/>
                                  <a:ea typeface="UD デジタル 教科書体 NK-R" panose="02020400000000000000" pitchFamily="18" charset="-128"/>
                                </a:rPr>
                              </m:ctrlPr>
                            </m:sSubPr>
                            <m:e>
                              <m:r>
                                <a:rPr lang="en-US" altLang="ja-JP" sz="3600" b="1">
                                  <a:latin typeface="Cambria Math" panose="02040503050406030204" pitchFamily="18" charset="0"/>
                                  <a:ea typeface="UD デジタル 教科書体 NK-R" panose="02020400000000000000" pitchFamily="18" charset="-128"/>
                                </a:rPr>
                                <m:t>𝐯</m:t>
                              </m:r>
                            </m:e>
                            <m:sub>
                              <m:r>
                                <a:rPr lang="en-US" altLang="ja-JP" sz="3600" i="1">
                                  <a:latin typeface="Cambria Math" panose="02040503050406030204" pitchFamily="18" charset="0"/>
                                  <a:ea typeface="UD デジタル 教科書体 NK-R" panose="02020400000000000000" pitchFamily="18" charset="-128"/>
                                </a:rPr>
                                <m:t>𝑘</m:t>
                              </m:r>
                            </m:sub>
                          </m:sSub>
                        </m:e>
                      </m:d>
                    </m:oMath>
                  </a14:m>
                  <a:r>
                    <a:rPr lang="en-US" altLang="ja-JP" sz="3600" dirty="0">
                      <a:latin typeface="UD デジタル 教科書体 NK-R" panose="02020400000000000000" pitchFamily="18" charset="-128"/>
                      <a:ea typeface="UD デジタル 教科書体 NK-R" panose="02020400000000000000" pitchFamily="18" charset="-128"/>
                    </a:rPr>
                    <a:t> : </a:t>
                  </a:r>
                  <a:r>
                    <a:rPr lang="ja-JP" altLang="en-US" sz="3600" dirty="0">
                      <a:latin typeface="UD デジタル 教科書体 NK-R" panose="02020400000000000000" pitchFamily="18" charset="-128"/>
                      <a:ea typeface="UD デジタル 教科書体 NK-R" panose="02020400000000000000" pitchFamily="18" charset="-128"/>
                    </a:rPr>
                    <a:t>ネステロフの加速勾配</a:t>
                  </a:r>
                  <a:endParaRPr lang="en-US" altLang="ja-JP" sz="3600" dirty="0">
                    <a:latin typeface="UD デジタル 教科書体 NK-R" panose="02020400000000000000" pitchFamily="18" charset="-128"/>
                    <a:ea typeface="UD デジタル 教科書体 NK-R" panose="02020400000000000000" pitchFamily="18" charset="-128"/>
                  </a:endParaRPr>
                </a:p>
              </p:txBody>
            </p:sp>
          </mc:Choice>
          <mc:Fallback>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506888" y="6399631"/>
                  <a:ext cx="14214952" cy="5940088"/>
                </a:xfrm>
                <a:prstGeom prst="rect">
                  <a:avLst/>
                </a:prstGeom>
                <a:blipFill>
                  <a:blip r:embed="rId5"/>
                  <a:stretch>
                    <a:fillRect l="-1161" t="-1493" r="-982" b="-2772"/>
                  </a:stretch>
                </a:blipFill>
              </p:spPr>
              <p:txBody>
                <a:bodyPr/>
                <a:lstStyle/>
                <a:p>
                  <a:r>
                    <a:rPr lang="ja-JP" altLang="en-US">
                      <a:noFill/>
                    </a:rPr>
                    <a:t> </a:t>
                  </a:r>
                </a:p>
              </p:txBody>
            </p:sp>
          </mc:Fallback>
        </mc:AlternateContent>
      </p:grpSp>
      <p:sp>
        <p:nvSpPr>
          <p:cNvPr id="119" name="テキスト ボックス 118">
            <a:extLst>
              <a:ext uri="{FF2B5EF4-FFF2-40B4-BE49-F238E27FC236}">
                <a16:creationId xmlns:a16="http://schemas.microsoft.com/office/drawing/2014/main" id="{B8FAB315-C36F-ACC5-A79C-A6B92A260E31}"/>
              </a:ext>
            </a:extLst>
          </p:cNvPr>
          <p:cNvSpPr txBox="1"/>
          <p:nvPr/>
        </p:nvSpPr>
        <p:spPr>
          <a:xfrm>
            <a:off x="15972134" y="14990714"/>
            <a:ext cx="3629864" cy="1200329"/>
          </a:xfrm>
          <a:prstGeom prst="rect">
            <a:avLst/>
          </a:prstGeom>
          <a:noFill/>
        </p:spPr>
        <p:txBody>
          <a:bodyPr wrap="square">
            <a:spAutoFit/>
          </a:bodyPr>
          <a:lstStyle/>
          <a:p>
            <a:r>
              <a:rPr lang="ja-JP" altLang="en-US" sz="3600" dirty="0">
                <a:latin typeface="UD デジタル 教科書体 NK-R" panose="02020400000000000000" pitchFamily="18" charset="-128"/>
                <a:ea typeface="UD デジタル 教科書体 NK-R" panose="02020400000000000000" pitchFamily="18" charset="-128"/>
              </a:rPr>
              <a:t>図</a:t>
            </a:r>
            <a:r>
              <a:rPr lang="en-US" altLang="ja-JP" sz="3600" dirty="0">
                <a:latin typeface="UD デジタル 教科書体 NK-R" panose="02020400000000000000" pitchFamily="18" charset="-128"/>
                <a:ea typeface="UD デジタル 教科書体 NK-R" panose="02020400000000000000" pitchFamily="18" charset="-128"/>
              </a:rPr>
              <a:t>1 GD</a:t>
            </a:r>
            <a:r>
              <a:rPr lang="ja-JP" altLang="en-US" sz="3600" dirty="0">
                <a:latin typeface="UD デジタル 教科書体 NK-R" panose="02020400000000000000" pitchFamily="18" charset="-128"/>
                <a:ea typeface="UD デジタル 教科書体 NK-R" panose="02020400000000000000" pitchFamily="18" charset="-128"/>
              </a:rPr>
              <a:t>の最適化</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イメージ</a:t>
            </a:r>
          </a:p>
        </p:txBody>
      </p:sp>
      <p:sp>
        <p:nvSpPr>
          <p:cNvPr id="120" name="テキスト ボックス 119">
            <a:extLst>
              <a:ext uri="{FF2B5EF4-FFF2-40B4-BE49-F238E27FC236}">
                <a16:creationId xmlns:a16="http://schemas.microsoft.com/office/drawing/2014/main" id="{B81E83FD-286F-78F7-6701-DD1DCBDD8846}"/>
              </a:ext>
            </a:extLst>
          </p:cNvPr>
          <p:cNvSpPr txBox="1"/>
          <p:nvPr/>
        </p:nvSpPr>
        <p:spPr>
          <a:xfrm>
            <a:off x="15972134" y="14991763"/>
            <a:ext cx="3629864" cy="1200329"/>
          </a:xfrm>
          <a:prstGeom prst="rect">
            <a:avLst/>
          </a:prstGeom>
          <a:noFill/>
        </p:spPr>
        <p:txBody>
          <a:bodyPr wrap="square">
            <a:spAutoFit/>
          </a:bodyPr>
          <a:lstStyle/>
          <a:p>
            <a:r>
              <a:rPr lang="ja-JP" altLang="en-US" sz="3600" dirty="0">
                <a:latin typeface="UD デジタル 教科書体 NK-R" panose="02020400000000000000" pitchFamily="18" charset="-128"/>
                <a:ea typeface="UD デジタル 教科書体 NK-R" panose="02020400000000000000" pitchFamily="18" charset="-128"/>
              </a:rPr>
              <a:t>図</a:t>
            </a:r>
            <a:r>
              <a:rPr lang="en-US" altLang="ja-JP" sz="3600" dirty="0">
                <a:latin typeface="UD デジタル 教科書体 NK-R" panose="02020400000000000000" pitchFamily="18" charset="-128"/>
                <a:ea typeface="UD デジタル 教科書体 NK-R" panose="02020400000000000000" pitchFamily="18" charset="-128"/>
              </a:rPr>
              <a:t>1 GD</a:t>
            </a:r>
            <a:r>
              <a:rPr lang="ja-JP" altLang="en-US" sz="3600" dirty="0">
                <a:latin typeface="UD デジタル 教科書体 NK-R" panose="02020400000000000000" pitchFamily="18" charset="-128"/>
                <a:ea typeface="UD デジタル 教科書体 NK-R" panose="02020400000000000000" pitchFamily="18" charset="-128"/>
              </a:rPr>
              <a:t>の最適化</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イメージ</a:t>
            </a:r>
          </a:p>
        </p:txBody>
      </p:sp>
      <p:sp>
        <p:nvSpPr>
          <p:cNvPr id="121" name="テキスト ボックス 120">
            <a:extLst>
              <a:ext uri="{FF2B5EF4-FFF2-40B4-BE49-F238E27FC236}">
                <a16:creationId xmlns:a16="http://schemas.microsoft.com/office/drawing/2014/main" id="{DE4D5F89-8B12-644B-3DC7-A58D3C689649}"/>
              </a:ext>
            </a:extLst>
          </p:cNvPr>
          <p:cNvSpPr txBox="1"/>
          <p:nvPr/>
        </p:nvSpPr>
        <p:spPr>
          <a:xfrm>
            <a:off x="20807129" y="14990713"/>
            <a:ext cx="3629864" cy="1200329"/>
          </a:xfrm>
          <a:prstGeom prst="rect">
            <a:avLst/>
          </a:prstGeom>
          <a:noFill/>
        </p:spPr>
        <p:txBody>
          <a:bodyPr wrap="square">
            <a:spAutoFit/>
          </a:bodyPr>
          <a:lstStyle/>
          <a:p>
            <a:r>
              <a:rPr lang="ja-JP" altLang="en-US" sz="3600" dirty="0">
                <a:latin typeface="UD デジタル 教科書体 NK-R" panose="02020400000000000000" pitchFamily="18" charset="-128"/>
                <a:ea typeface="UD デジタル 教科書体 NK-R" panose="02020400000000000000" pitchFamily="18" charset="-128"/>
              </a:rPr>
              <a:t>図２</a:t>
            </a:r>
            <a:r>
              <a:rPr lang="en-US" altLang="ja-JP" sz="3600" dirty="0">
                <a:latin typeface="UD デジタル 教科書体 NK-R" panose="02020400000000000000" pitchFamily="18" charset="-128"/>
                <a:ea typeface="UD デジタル 教科書体 NK-R" panose="02020400000000000000" pitchFamily="18" charset="-128"/>
              </a:rPr>
              <a:t> CM</a:t>
            </a:r>
            <a:r>
              <a:rPr lang="ja-JP" altLang="en-US" sz="3600" dirty="0">
                <a:latin typeface="UD デジタル 教科書体 NK-R" panose="02020400000000000000" pitchFamily="18" charset="-128"/>
                <a:ea typeface="UD デジタル 教科書体 NK-R" panose="02020400000000000000" pitchFamily="18" charset="-128"/>
              </a:rPr>
              <a:t>の最適化</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イメージ</a:t>
            </a:r>
          </a:p>
        </p:txBody>
      </p:sp>
      <p:sp>
        <p:nvSpPr>
          <p:cNvPr id="122" name="テキスト ボックス 121">
            <a:extLst>
              <a:ext uri="{FF2B5EF4-FFF2-40B4-BE49-F238E27FC236}">
                <a16:creationId xmlns:a16="http://schemas.microsoft.com/office/drawing/2014/main" id="{FCE78440-C597-9C39-7FB4-9B7A5903CCFA}"/>
              </a:ext>
            </a:extLst>
          </p:cNvPr>
          <p:cNvSpPr txBox="1"/>
          <p:nvPr/>
        </p:nvSpPr>
        <p:spPr>
          <a:xfrm>
            <a:off x="25454249" y="14956214"/>
            <a:ext cx="4005616" cy="1200329"/>
          </a:xfrm>
          <a:prstGeom prst="rect">
            <a:avLst/>
          </a:prstGeom>
          <a:noFill/>
        </p:spPr>
        <p:txBody>
          <a:bodyPr wrap="square">
            <a:spAutoFit/>
          </a:bodyPr>
          <a:lstStyle/>
          <a:p>
            <a:r>
              <a:rPr lang="ja-JP" altLang="en-US" sz="3600" dirty="0">
                <a:latin typeface="UD デジタル 教科書体 NK-R" panose="02020400000000000000" pitchFamily="18" charset="-128"/>
                <a:ea typeface="UD デジタル 教科書体 NK-R" panose="02020400000000000000" pitchFamily="18" charset="-128"/>
              </a:rPr>
              <a:t>図３</a:t>
            </a:r>
            <a:r>
              <a:rPr lang="en-US" altLang="ja-JP" sz="3600" dirty="0">
                <a:latin typeface="UD デジタル 教科書体 NK-R" panose="02020400000000000000" pitchFamily="18" charset="-128"/>
                <a:ea typeface="UD デジタル 教科書体 NK-R" panose="02020400000000000000" pitchFamily="18" charset="-128"/>
              </a:rPr>
              <a:t> NAG</a:t>
            </a:r>
            <a:r>
              <a:rPr lang="ja-JP" altLang="en-US" sz="3600" dirty="0">
                <a:latin typeface="UD デジタル 教科書体 NK-R" panose="02020400000000000000" pitchFamily="18" charset="-128"/>
                <a:ea typeface="UD デジタル 教科書体 NK-R" panose="02020400000000000000" pitchFamily="18" charset="-128"/>
              </a:rPr>
              <a:t>の最適化</a:t>
            </a:r>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3600" dirty="0">
                <a:latin typeface="UD デジタル 教科書体 NK-R" panose="02020400000000000000" pitchFamily="18" charset="-128"/>
                <a:ea typeface="UD デジタル 教科書体 NK-R" panose="02020400000000000000" pitchFamily="18" charset="-128"/>
              </a:rPr>
              <a:t>      </a:t>
            </a:r>
            <a:r>
              <a:rPr lang="ja-JP" altLang="en-US" sz="3600" dirty="0">
                <a:latin typeface="UD デジタル 教科書体 NK-R" panose="02020400000000000000" pitchFamily="18" charset="-128"/>
                <a:ea typeface="UD デジタル 教科書体 NK-R" panose="02020400000000000000" pitchFamily="18" charset="-128"/>
              </a:rPr>
              <a:t>イメージ</a:t>
            </a:r>
          </a:p>
        </p:txBody>
      </p:sp>
      <p:grpSp>
        <p:nvGrpSpPr>
          <p:cNvPr id="123" name="グループ化 122">
            <a:extLst>
              <a:ext uri="{FF2B5EF4-FFF2-40B4-BE49-F238E27FC236}">
                <a16:creationId xmlns:a16="http://schemas.microsoft.com/office/drawing/2014/main" id="{88B6538D-C6E1-BE6C-AA37-AA9CE1123FC6}"/>
              </a:ext>
            </a:extLst>
          </p:cNvPr>
          <p:cNvGrpSpPr/>
          <p:nvPr/>
        </p:nvGrpSpPr>
        <p:grpSpPr>
          <a:xfrm>
            <a:off x="15242061" y="16346556"/>
            <a:ext cx="14760000" cy="14218075"/>
            <a:chOff x="232568" y="5089732"/>
            <a:chExt cx="14760000" cy="16947965"/>
          </a:xfrm>
        </p:grpSpPr>
        <p:sp>
          <p:nvSpPr>
            <p:cNvPr id="124" name="四角形: 角を丸くする 123">
              <a:extLst>
                <a:ext uri="{FF2B5EF4-FFF2-40B4-BE49-F238E27FC236}">
                  <a16:creationId xmlns:a16="http://schemas.microsoft.com/office/drawing/2014/main" id="{523F79D0-FE1C-E630-4899-975945BE5A64}"/>
                </a:ext>
              </a:extLst>
            </p:cNvPr>
            <p:cNvSpPr/>
            <p:nvPr/>
          </p:nvSpPr>
          <p:spPr>
            <a:xfrm>
              <a:off x="232568" y="5607881"/>
              <a:ext cx="14760000" cy="16429816"/>
            </a:xfrm>
            <a:prstGeom prst="roundRect">
              <a:avLst>
                <a:gd name="adj" fmla="val 2844"/>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125" name="四角形: 角を丸くする 124">
              <a:extLst>
                <a:ext uri="{FF2B5EF4-FFF2-40B4-BE49-F238E27FC236}">
                  <a16:creationId xmlns:a16="http://schemas.microsoft.com/office/drawing/2014/main" id="{B7CA8636-23A0-D89F-9C3F-0995CF8B2EFA}"/>
                </a:ext>
              </a:extLst>
            </p:cNvPr>
            <p:cNvSpPr/>
            <p:nvPr/>
          </p:nvSpPr>
          <p:spPr>
            <a:xfrm>
              <a:off x="506888" y="5089732"/>
              <a:ext cx="9296364" cy="1099092"/>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提案手法</a:t>
              </a:r>
              <a:r>
                <a:rPr kumimoji="1" lang="en-US" altLang="ja-JP" sz="6000" dirty="0">
                  <a:solidFill>
                    <a:schemeClr val="tx1"/>
                  </a:solidFill>
                  <a:latin typeface="UD デジタル 教科書体 NK-R" panose="02020400000000000000" pitchFamily="18" charset="-128"/>
                  <a:ea typeface="UD デジタル 教科書体 NK-R" panose="02020400000000000000" pitchFamily="18" charset="-128"/>
                </a:rPr>
                <a:t> : OASIS + NAG</a:t>
              </a:r>
              <a:endPar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mc:Choice xmlns:a14="http://schemas.microsoft.com/office/drawing/2010/main" Requires="a14">
            <p:sp>
              <p:nvSpPr>
                <p:cNvPr id="126" name="テキスト ボックス 125">
                  <a:extLst>
                    <a:ext uri="{FF2B5EF4-FFF2-40B4-BE49-F238E27FC236}">
                      <a16:creationId xmlns:a16="http://schemas.microsoft.com/office/drawing/2014/main" id="{0A3092C8-B78C-6EA2-6587-9AAA3047E77F}"/>
                    </a:ext>
                  </a:extLst>
                </p:cNvPr>
                <p:cNvSpPr txBox="1"/>
                <p:nvPr/>
              </p:nvSpPr>
              <p:spPr>
                <a:xfrm>
                  <a:off x="506888" y="6399631"/>
                  <a:ext cx="14214952" cy="6984825"/>
                </a:xfrm>
                <a:prstGeom prst="rect">
                  <a:avLst/>
                </a:prstGeom>
                <a:noFill/>
              </p:spPr>
              <p:txBody>
                <a:bodyPr wrap="square">
                  <a:spAutoFit/>
                </a:bodyPr>
                <a:lstStyle/>
                <a:p>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endParaRPr lang="en-US" altLang="ja-JP" sz="3600" dirty="0">
                    <a:latin typeface="UD デジタル 教科書体 NK-R" panose="02020400000000000000" pitchFamily="18" charset="-128"/>
                    <a:ea typeface="UD デジタル 教科書体 NK-R" panose="02020400000000000000" pitchFamily="18" charset="-128"/>
                  </a:endParaRPr>
                </a:p>
                <a:p>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Hutchinson</a:t>
                  </a:r>
                  <a:r>
                    <a:rPr lang="ja-JP" altLang="en-US" sz="3600" dirty="0">
                      <a:latin typeface="UD デジタル 教科書体 NK-R" panose="02020400000000000000" pitchFamily="18" charset="-128"/>
                      <a:ea typeface="UD デジタル 教科書体 NK-R" panose="02020400000000000000" pitchFamily="18" charset="-128"/>
                    </a:rPr>
                    <a:t>手法を用いたヘッセ行列の対角近似</a:t>
                  </a:r>
                  <a:r>
                    <a:rPr lang="en-US" altLang="ja-JP" sz="3600" dirty="0">
                      <a:latin typeface="UD デジタル 教科書体 NK-R" panose="02020400000000000000" pitchFamily="18" charset="-128"/>
                      <a:ea typeface="UD デジタル 教科書体 NK-R" panose="02020400000000000000" pitchFamily="18" charset="-128"/>
                    </a:rPr>
                    <a:t>(OASIS+NAG)</a:t>
                  </a:r>
                </a:p>
                <a:p>
                  <a:pPr/>
                  <a14:m>
                    <m:oMathPara xmlns:m="http://schemas.openxmlformats.org/officeDocument/2006/math">
                      <m:oMathParaPr>
                        <m:jc m:val="centerGroup"/>
                      </m:oMathParaPr>
                      <m:oMath xmlns:m="http://schemas.openxmlformats.org/officeDocument/2006/math">
                        <m:eqArr>
                          <m:eqArrPr>
                            <m:ctrlPr>
                              <a:rPr lang="en-US" altLang="ja-JP" sz="3600" b="0" i="1" smtClean="0">
                                <a:latin typeface="Cambria Math" panose="02040503050406030204" pitchFamily="18" charset="0"/>
                                <a:ea typeface="Cambria Math" panose="02040503050406030204" pitchFamily="18" charset="0"/>
                              </a:rPr>
                            </m:ctrlPr>
                          </m:eqArrPr>
                          <m:e>
                            <m:sSub>
                              <m:sSubPr>
                                <m:ctrlPr>
                                  <a:rPr lang="en-US" altLang="ja-JP" sz="3600" i="1" smtClean="0">
                                    <a:solidFill>
                                      <a:srgbClr val="FF0000"/>
                                    </a:solidFill>
                                    <a:latin typeface="Cambria Math" panose="02040503050406030204" pitchFamily="18" charset="0"/>
                                    <a:ea typeface="Cambria Math" panose="02040503050406030204" pitchFamily="18" charset="0"/>
                                  </a:rPr>
                                </m:ctrlPr>
                              </m:sSubPr>
                              <m:e>
                                <m:r>
                                  <a:rPr lang="en-US" altLang="ja-JP" sz="3600" b="1">
                                    <a:solidFill>
                                      <a:srgbClr val="FF0000"/>
                                    </a:solidFill>
                                    <a:latin typeface="Cambria Math" panose="02040503050406030204" pitchFamily="18" charset="0"/>
                                    <a:ea typeface="Cambria Math" panose="02040503050406030204" pitchFamily="18" charset="0"/>
                                  </a:rPr>
                                  <m:t>𝐡</m:t>
                                </m:r>
                              </m:e>
                              <m:sub>
                                <m:r>
                                  <a:rPr lang="en-US" altLang="ja-JP" sz="3600" i="1">
                                    <a:solidFill>
                                      <a:srgbClr val="FF0000"/>
                                    </a:solidFill>
                                    <a:latin typeface="Cambria Math" panose="02040503050406030204" pitchFamily="18" charset="0"/>
                                    <a:ea typeface="Cambria Math" panose="02040503050406030204" pitchFamily="18" charset="0"/>
                                  </a:rPr>
                                  <m:t>𝑘</m:t>
                                </m:r>
                              </m:sub>
                            </m:sSub>
                            <m:r>
                              <a:rPr lang="en-US" altLang="ja-JP" sz="3600" b="0" i="1" smtClean="0">
                                <a:latin typeface="Cambria Math" panose="02040503050406030204" pitchFamily="18" charset="0"/>
                                <a:ea typeface="Cambria Math" panose="02040503050406030204" pitchFamily="18" charset="0"/>
                              </a:rPr>
                              <m:t>= </m:t>
                            </m:r>
                            <m:r>
                              <a:rPr lang="ja-JP" altLang="en-US" sz="3600" b="0" i="1" smtClean="0">
                                <a:latin typeface="Cambria Math" panose="02040503050406030204" pitchFamily="18" charset="0"/>
                                <a:ea typeface="Cambria Math" panose="02040503050406030204" pitchFamily="18" charset="0"/>
                              </a:rPr>
                              <m:t>𝛽</m:t>
                            </m:r>
                            <m:sSub>
                              <m:sSubPr>
                                <m:ctrlPr>
                                  <a:rPr lang="en-US" altLang="ja-JP" sz="3600" i="1">
                                    <a:latin typeface="Cambria Math" panose="02040503050406030204" pitchFamily="18" charset="0"/>
                                    <a:ea typeface="Cambria Math" panose="02040503050406030204" pitchFamily="18" charset="0"/>
                                  </a:rPr>
                                </m:ctrlPr>
                              </m:sSubPr>
                              <m:e>
                                <m:r>
                                  <a:rPr lang="en-US" altLang="ja-JP" sz="3600" b="1">
                                    <a:latin typeface="Cambria Math" panose="02040503050406030204" pitchFamily="18" charset="0"/>
                                    <a:ea typeface="Cambria Math" panose="02040503050406030204" pitchFamily="18" charset="0"/>
                                  </a:rPr>
                                  <m:t>𝐡</m:t>
                                </m:r>
                              </m:e>
                              <m:sub>
                                <m:r>
                                  <a:rPr lang="en-US" altLang="ja-JP" sz="3600" i="1">
                                    <a:latin typeface="Cambria Math" panose="02040503050406030204" pitchFamily="18" charset="0"/>
                                    <a:ea typeface="Cambria Math" panose="02040503050406030204" pitchFamily="18" charset="0"/>
                                  </a:rPr>
                                  <m:t>𝑘</m:t>
                                </m:r>
                                <m:r>
                                  <a:rPr lang="en-US" altLang="ja-JP" sz="3600" b="0" i="1" smtClean="0">
                                    <a:latin typeface="Cambria Math" panose="02040503050406030204" pitchFamily="18" charset="0"/>
                                    <a:ea typeface="Cambria Math" panose="02040503050406030204" pitchFamily="18" charset="0"/>
                                  </a:rPr>
                                  <m:t>−1</m:t>
                                </m:r>
                              </m:sub>
                            </m:sSub>
                            <m:r>
                              <a:rPr lang="en-US" altLang="ja-JP" sz="3600" b="0" i="1" smtClean="0">
                                <a:latin typeface="Cambria Math" panose="02040503050406030204" pitchFamily="18" charset="0"/>
                                <a:ea typeface="Cambria Math" panose="02040503050406030204" pitchFamily="18" charset="0"/>
                              </a:rPr>
                              <m:t>+</m:t>
                            </m:r>
                            <m:d>
                              <m:dPr>
                                <m:ctrlPr>
                                  <a:rPr lang="en-US" altLang="ja-JP" sz="3600" b="0" i="1" smtClean="0">
                                    <a:latin typeface="Cambria Math" panose="02040503050406030204" pitchFamily="18" charset="0"/>
                                    <a:ea typeface="Cambria Math" panose="02040503050406030204" pitchFamily="18" charset="0"/>
                                  </a:rPr>
                                </m:ctrlPr>
                              </m:dPr>
                              <m:e>
                                <m:r>
                                  <a:rPr lang="en-US" altLang="ja-JP" sz="3600" b="0" i="1" smtClean="0">
                                    <a:latin typeface="Cambria Math" panose="02040503050406030204" pitchFamily="18" charset="0"/>
                                    <a:ea typeface="Cambria Math" panose="02040503050406030204" pitchFamily="18" charset="0"/>
                                  </a:rPr>
                                  <m:t>1 − </m:t>
                                </m:r>
                                <m:r>
                                  <a:rPr lang="ja-JP" altLang="en-US" sz="3600" b="0" i="1" smtClean="0">
                                    <a:latin typeface="Cambria Math" panose="02040503050406030204" pitchFamily="18" charset="0"/>
                                    <a:ea typeface="Cambria Math" panose="02040503050406030204" pitchFamily="18" charset="0"/>
                                  </a:rPr>
                                  <m:t>𝛽</m:t>
                                </m:r>
                              </m:e>
                            </m:d>
                            <m:d>
                              <m:dPr>
                                <m:ctrlPr>
                                  <a:rPr lang="en-US" altLang="ja-JP" sz="3600" b="0" i="1" smtClean="0">
                                    <a:latin typeface="Cambria Math" panose="02040503050406030204" pitchFamily="18" charset="0"/>
                                    <a:ea typeface="Cambria Math" panose="02040503050406030204" pitchFamily="18" charset="0"/>
                                  </a:rPr>
                                </m:ctrlPr>
                              </m:dPr>
                              <m:e>
                                <m:sSub>
                                  <m:sSubPr>
                                    <m:ctrlPr>
                                      <a:rPr lang="en-US" altLang="ja-JP" sz="3600" i="1">
                                        <a:latin typeface="Cambria Math" panose="02040503050406030204" pitchFamily="18" charset="0"/>
                                      </a:rPr>
                                    </m:ctrlPr>
                                  </m:sSubPr>
                                  <m:e>
                                    <m:r>
                                      <a:rPr lang="en-US" altLang="ja-JP" sz="3600" b="1">
                                        <a:latin typeface="Cambria Math" panose="02040503050406030204" pitchFamily="18" charset="0"/>
                                      </a:rPr>
                                      <m:t>𝐳</m:t>
                                    </m:r>
                                  </m:e>
                                  <m:sub>
                                    <m:r>
                                      <a:rPr lang="en-US" altLang="ja-JP" sz="3600" i="1">
                                        <a:latin typeface="Cambria Math" panose="02040503050406030204" pitchFamily="18" charset="0"/>
                                      </a:rPr>
                                      <m:t>𝑙</m:t>
                                    </m:r>
                                  </m:sub>
                                </m:sSub>
                                <m:r>
                                  <a:rPr lang="en-US" altLang="ja-JP" sz="3600" i="1">
                                    <a:latin typeface="Cambria Math" panose="02040503050406030204" pitchFamily="18" charset="0"/>
                                    <a:ea typeface="Cambria Math" panose="02040503050406030204" pitchFamily="18" charset="0"/>
                                  </a:rPr>
                                  <m:t>⨂</m:t>
                                </m:r>
                                <m:f>
                                  <m:fPr>
                                    <m:ctrlPr>
                                      <a:rPr lang="en-US" altLang="ja-JP" sz="3600" i="1">
                                        <a:latin typeface="Cambria Math" panose="02040503050406030204" pitchFamily="18" charset="0"/>
                                      </a:rPr>
                                    </m:ctrlPr>
                                  </m:fPr>
                                  <m:num>
                                    <m:r>
                                      <a:rPr lang="ja-JP" altLang="en-US" sz="3600" i="1">
                                        <a:latin typeface="Cambria Math" panose="02040503050406030204" pitchFamily="18" charset="0"/>
                                      </a:rPr>
                                      <m:t>𝜕</m:t>
                                    </m:r>
                                    <m:sSup>
                                      <m:sSupPr>
                                        <m:ctrlPr>
                                          <a:rPr lang="en-US" altLang="ja-JP" sz="3600" i="1">
                                            <a:latin typeface="Cambria Math" panose="02040503050406030204" pitchFamily="18" charset="0"/>
                                          </a:rPr>
                                        </m:ctrlPr>
                                      </m:sSupPr>
                                      <m:e>
                                        <m:d>
                                          <m:dPr>
                                            <m:ctrlPr>
                                              <a:rPr lang="en-US" altLang="ja-JP" sz="3600" i="1">
                                                <a:latin typeface="Cambria Math" panose="02040503050406030204" pitchFamily="18" charset="0"/>
                                              </a:rPr>
                                            </m:ctrlPr>
                                          </m:dPr>
                                          <m:e>
                                            <m:r>
                                              <m:rPr>
                                                <m:sty m:val="p"/>
                                              </m:rPr>
                                              <a:rPr lang="ja-JP" altLang="en-US" sz="3600" i="0" smtClean="0">
                                                <a:solidFill>
                                                  <a:srgbClr val="00B050"/>
                                                </a:solidFill>
                                                <a:latin typeface="Cambria Math" panose="02040503050406030204" pitchFamily="18" charset="0"/>
                                              </a:rPr>
                                              <m:t>∇</m:t>
                                            </m:r>
                                            <m:r>
                                              <a:rPr lang="en-ZA" altLang="ja-JP" sz="3600" i="1">
                                                <a:solidFill>
                                                  <a:srgbClr val="00B050"/>
                                                </a:solidFill>
                                                <a:latin typeface="Cambria Math" panose="02040503050406030204" pitchFamily="18" charset="0"/>
                                              </a:rPr>
                                              <m:t>𝐸</m:t>
                                            </m:r>
                                            <m:d>
                                              <m:dPr>
                                                <m:ctrlPr>
                                                  <a:rPr lang="en-ZA" altLang="ja-JP" sz="3600" i="1">
                                                    <a:solidFill>
                                                      <a:srgbClr val="00B050"/>
                                                    </a:solidFill>
                                                    <a:latin typeface="Cambria Math" panose="02040503050406030204" pitchFamily="18" charset="0"/>
                                                  </a:rPr>
                                                </m:ctrlPr>
                                              </m:dPr>
                                              <m:e>
                                                <m:sSub>
                                                  <m:sSubPr>
                                                    <m:ctrlPr>
                                                      <a:rPr lang="en-ZA" altLang="ja-JP" sz="3600" i="1">
                                                        <a:solidFill>
                                                          <a:srgbClr val="00B050"/>
                                                        </a:solidFill>
                                                        <a:latin typeface="Cambria Math" panose="02040503050406030204" pitchFamily="18" charset="0"/>
                                                      </a:rPr>
                                                    </m:ctrlPr>
                                                  </m:sSubPr>
                                                  <m:e>
                                                    <m:r>
                                                      <a:rPr lang="en-ZA" altLang="ja-JP" sz="3600" b="1">
                                                        <a:solidFill>
                                                          <a:srgbClr val="00B050"/>
                                                        </a:solidFill>
                                                        <a:latin typeface="Cambria Math" panose="02040503050406030204" pitchFamily="18" charset="0"/>
                                                      </a:rPr>
                                                      <m:t>𝐰</m:t>
                                                    </m:r>
                                                  </m:e>
                                                  <m:sub>
                                                    <m:r>
                                                      <a:rPr lang="en-ZA" altLang="ja-JP" sz="3600" i="1">
                                                        <a:solidFill>
                                                          <a:srgbClr val="00B050"/>
                                                        </a:solidFill>
                                                        <a:latin typeface="Cambria Math" panose="02040503050406030204" pitchFamily="18" charset="0"/>
                                                      </a:rPr>
                                                      <m:t>𝑘</m:t>
                                                    </m:r>
                                                  </m:sub>
                                                </m:sSub>
                                                <m:r>
                                                  <a:rPr lang="en-US" altLang="ja-JP" sz="3600" b="0" i="1" smtClean="0">
                                                    <a:solidFill>
                                                      <a:srgbClr val="00B050"/>
                                                    </a:solidFill>
                                                    <a:latin typeface="Cambria Math" panose="02040503050406030204" pitchFamily="18" charset="0"/>
                                                  </a:rPr>
                                                  <m:t>+</m:t>
                                                </m:r>
                                                <m:r>
                                                  <a:rPr lang="ja-JP" altLang="en-US" sz="3600" i="1">
                                                    <a:solidFill>
                                                      <a:srgbClr val="00B050"/>
                                                    </a:solidFill>
                                                    <a:latin typeface="Cambria Math" panose="02040503050406030204" pitchFamily="18" charset="0"/>
                                                    <a:ea typeface="UD デジタル 教科書体 NK-R" panose="02020400000000000000" pitchFamily="18" charset="-128"/>
                                                  </a:rPr>
                                                  <m:t>𝜇</m:t>
                                                </m:r>
                                                <m:sSub>
                                                  <m:sSubPr>
                                                    <m:ctrlPr>
                                                      <a:rPr lang="en-US" altLang="ja-JP" sz="3600" i="1">
                                                        <a:solidFill>
                                                          <a:srgbClr val="00B050"/>
                                                        </a:solidFill>
                                                        <a:latin typeface="Cambria Math" panose="02040503050406030204" pitchFamily="18" charset="0"/>
                                                        <a:ea typeface="UD デジタル 教科書体 NK-R" panose="02020400000000000000" pitchFamily="18" charset="-128"/>
                                                      </a:rPr>
                                                    </m:ctrlPr>
                                                  </m:sSubPr>
                                                  <m:e>
                                                    <m:r>
                                                      <a:rPr lang="en-US" altLang="ja-JP" sz="3600" b="1">
                                                        <a:solidFill>
                                                          <a:srgbClr val="00B050"/>
                                                        </a:solidFill>
                                                        <a:latin typeface="Cambria Math" panose="02040503050406030204" pitchFamily="18" charset="0"/>
                                                        <a:ea typeface="UD デジタル 教科書体 NK-R" panose="02020400000000000000" pitchFamily="18" charset="-128"/>
                                                      </a:rPr>
                                                      <m:t>𝐯</m:t>
                                                    </m:r>
                                                  </m:e>
                                                  <m:sub>
                                                    <m:r>
                                                      <a:rPr lang="en-US" altLang="ja-JP" sz="3600" i="1">
                                                        <a:solidFill>
                                                          <a:srgbClr val="00B050"/>
                                                        </a:solidFill>
                                                        <a:latin typeface="Cambria Math" panose="02040503050406030204" pitchFamily="18" charset="0"/>
                                                        <a:ea typeface="UD デジタル 教科書体 NK-R" panose="02020400000000000000" pitchFamily="18" charset="-128"/>
                                                      </a:rPr>
                                                      <m:t>𝑘</m:t>
                                                    </m:r>
                                                  </m:sub>
                                                </m:sSub>
                                              </m:e>
                                            </m:d>
                                          </m:e>
                                        </m:d>
                                      </m:e>
                                      <m:sup>
                                        <m:r>
                                          <a:rPr lang="en-US" altLang="ja-JP" sz="3600" i="1">
                                            <a:latin typeface="Cambria Math" panose="02040503050406030204" pitchFamily="18" charset="0"/>
                                          </a:rPr>
                                          <m:t>𝑇</m:t>
                                        </m:r>
                                      </m:sup>
                                    </m:sSup>
                                    <m:sSub>
                                      <m:sSubPr>
                                        <m:ctrlPr>
                                          <a:rPr lang="en-US" altLang="ja-JP" sz="3600" i="1">
                                            <a:latin typeface="Cambria Math" panose="02040503050406030204" pitchFamily="18" charset="0"/>
                                          </a:rPr>
                                        </m:ctrlPr>
                                      </m:sSubPr>
                                      <m:e>
                                        <m:r>
                                          <a:rPr lang="en-US" altLang="ja-JP" sz="3600" b="1">
                                            <a:latin typeface="Cambria Math" panose="02040503050406030204" pitchFamily="18" charset="0"/>
                                          </a:rPr>
                                          <m:t>𝐳</m:t>
                                        </m:r>
                                      </m:e>
                                      <m:sub>
                                        <m:r>
                                          <a:rPr lang="en-US" altLang="ja-JP" sz="3600" i="1">
                                            <a:latin typeface="Cambria Math" panose="02040503050406030204" pitchFamily="18" charset="0"/>
                                          </a:rPr>
                                          <m:t>𝑙</m:t>
                                        </m:r>
                                      </m:sub>
                                    </m:sSub>
                                  </m:num>
                                  <m:den>
                                    <m:r>
                                      <a:rPr lang="ja-JP" altLang="en-US" sz="3600" i="1">
                                        <a:latin typeface="Cambria Math" panose="02040503050406030204" pitchFamily="18" charset="0"/>
                                      </a:rPr>
                                      <m:t>𝜕</m:t>
                                    </m:r>
                                    <m:r>
                                      <a:rPr lang="en-US" altLang="ja-JP" sz="3600" b="1">
                                        <a:latin typeface="Cambria Math" panose="02040503050406030204" pitchFamily="18" charset="0"/>
                                      </a:rPr>
                                      <m:t>𝐰</m:t>
                                    </m:r>
                                  </m:den>
                                </m:f>
                              </m:e>
                            </m:d>
                            <m:r>
                              <a:rPr lang="en-US" altLang="ja-JP" sz="3600" b="0" i="1">
                                <a:latin typeface="Cambria Math" panose="02040503050406030204" pitchFamily="18" charset="0"/>
                              </a:rPr>
                              <m:t>#</m:t>
                            </m:r>
                            <m:r>
                              <a:rPr lang="en-US" altLang="ja-JP" sz="3600" b="0" i="1" smtClean="0">
                                <a:latin typeface="Cambria Math" panose="02040503050406030204" pitchFamily="18" charset="0"/>
                              </a:rPr>
                              <m:t>#(10)</m:t>
                            </m:r>
                          </m:e>
                        </m:eqArr>
                      </m:oMath>
                    </m:oMathPara>
                  </a14:m>
                  <a:endParaRPr lang="en-US" altLang="ja-JP" sz="3600" dirty="0">
                    <a:latin typeface="UD デジタル 教科書体 NK-R" panose="02020400000000000000" pitchFamily="18" charset="-128"/>
                    <a:ea typeface="UD デジタル 教科書体 NK-R" panose="02020400000000000000" pitchFamily="18" charset="-128"/>
                  </a:endParaRPr>
                </a:p>
                <a:p>
                  <a:r>
                    <a:rPr lang="en-US" altLang="ja-JP"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OASIS</a:t>
                  </a:r>
                  <a:r>
                    <a:rPr lang="ja-JP" altLang="en-US" sz="3600" dirty="0">
                      <a:latin typeface="UD デジタル 教科書体 NK-R" panose="02020400000000000000" pitchFamily="18" charset="-128"/>
                      <a:ea typeface="UD デジタル 教科書体 NK-R" panose="02020400000000000000" pitchFamily="18" charset="-128"/>
                    </a:rPr>
                    <a:t> </a:t>
                  </a:r>
                  <a:r>
                    <a:rPr lang="en-US" altLang="ja-JP" sz="3600" dirty="0">
                      <a:latin typeface="UD デジタル 教科書体 NK-R" panose="02020400000000000000" pitchFamily="18" charset="-128"/>
                      <a:ea typeface="UD デジタル 教科書体 NK-R" panose="02020400000000000000" pitchFamily="18" charset="-128"/>
                    </a:rPr>
                    <a:t>+</a:t>
                  </a:r>
                  <a:r>
                    <a:rPr lang="ja-JP" altLang="en-US" sz="3600" dirty="0">
                      <a:latin typeface="UD デジタル 教科書体 NK-R" panose="02020400000000000000" pitchFamily="18" charset="-128"/>
                      <a:ea typeface="UD デジタル 教科書体 NK-R" panose="02020400000000000000" pitchFamily="18" charset="-128"/>
                    </a:rPr>
                    <a:t> </a:t>
                  </a:r>
                  <a:r>
                    <a:rPr lang="en-US" altLang="ja-JP" sz="3600" dirty="0">
                      <a:latin typeface="UD デジタル 教科書体 NK-R" panose="02020400000000000000" pitchFamily="18" charset="-128"/>
                      <a:ea typeface="UD デジタル 教科書体 NK-R" panose="02020400000000000000" pitchFamily="18" charset="-128"/>
                    </a:rPr>
                    <a:t>NAG</a:t>
                  </a:r>
                  <a:r>
                    <a:rPr lang="ja-JP" altLang="en-US" sz="3600" dirty="0">
                      <a:latin typeface="UD デジタル 教科書体 NK-R" panose="02020400000000000000" pitchFamily="18" charset="-128"/>
                      <a:ea typeface="UD デジタル 教科書体 NK-R" panose="02020400000000000000" pitchFamily="18" charset="-128"/>
                    </a:rPr>
                    <a:t>の更新ベクトル</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ZA" altLang="ja-JP" sz="3600" i="1">
                                <a:latin typeface="Cambria Math" panose="02040503050406030204" pitchFamily="18" charset="0"/>
                              </a:rPr>
                            </m:ctrlPr>
                          </m:eqArrPr>
                          <m:e>
                            <m:sSub>
                              <m:sSubPr>
                                <m:ctrlPr>
                                  <a:rPr lang="en-US" altLang="ja-JP" sz="3600" i="1" smtClean="0">
                                    <a:latin typeface="Cambria Math" panose="02040503050406030204" pitchFamily="18" charset="0"/>
                                  </a:rPr>
                                </m:ctrlPr>
                              </m:sSubPr>
                              <m:e>
                                <m:r>
                                  <a:rPr lang="en-US" altLang="ja-JP" sz="3600" b="1">
                                    <a:latin typeface="Cambria Math" panose="02040503050406030204" pitchFamily="18" charset="0"/>
                                  </a:rPr>
                                  <m:t>𝐯</m:t>
                                </m:r>
                              </m:e>
                              <m:sub>
                                <m:r>
                                  <a:rPr lang="en-US" altLang="ja-JP" sz="3600" i="1">
                                    <a:latin typeface="Cambria Math" panose="02040503050406030204" pitchFamily="18" charset="0"/>
                                  </a:rPr>
                                  <m:t>𝑘</m:t>
                                </m:r>
                                <m:r>
                                  <a:rPr lang="en-US" altLang="ja-JP" sz="3600" i="1">
                                    <a:latin typeface="Cambria Math" panose="02040503050406030204" pitchFamily="18" charset="0"/>
                                  </a:rPr>
                                  <m:t>+1</m:t>
                                </m:r>
                              </m:sub>
                            </m:sSub>
                            <m:r>
                              <a:rPr lang="en-ZA" altLang="ja-JP" sz="3600" i="1">
                                <a:latin typeface="Cambria Math" panose="02040503050406030204" pitchFamily="18" charset="0"/>
                              </a:rPr>
                              <m:t>=</m:t>
                            </m:r>
                            <m:r>
                              <a:rPr lang="ja-JP" altLang="en-US" sz="3600" i="1">
                                <a:latin typeface="Cambria Math" panose="02040503050406030204" pitchFamily="18" charset="0"/>
                                <a:ea typeface="UD デジタル 教科書体 NK-R" panose="02020400000000000000" pitchFamily="18" charset="-128"/>
                              </a:rPr>
                              <m:t>𝜇</m:t>
                            </m:r>
                            <m:sSub>
                              <m:sSubPr>
                                <m:ctrlPr>
                                  <a:rPr lang="en-US" altLang="ja-JP" sz="3600" i="1">
                                    <a:latin typeface="Cambria Math" panose="02040503050406030204" pitchFamily="18" charset="0"/>
                                    <a:ea typeface="UD デジタル 教科書体 NK-R" panose="02020400000000000000" pitchFamily="18" charset="-128"/>
                                  </a:rPr>
                                </m:ctrlPr>
                              </m:sSubPr>
                              <m:e>
                                <m:r>
                                  <a:rPr lang="en-US" altLang="ja-JP" sz="3600" b="1">
                                    <a:latin typeface="Cambria Math" panose="02040503050406030204" pitchFamily="18" charset="0"/>
                                    <a:ea typeface="UD デジタル 教科書体 NK-R" panose="02020400000000000000" pitchFamily="18" charset="-128"/>
                                  </a:rPr>
                                  <m:t>𝐯</m:t>
                                </m:r>
                              </m:e>
                              <m:sub>
                                <m:r>
                                  <a:rPr lang="en-US" altLang="ja-JP" sz="3600" i="1">
                                    <a:latin typeface="Cambria Math" panose="02040503050406030204" pitchFamily="18" charset="0"/>
                                    <a:ea typeface="UD デジタル 教科書体 NK-R" panose="02020400000000000000" pitchFamily="18" charset="-128"/>
                                  </a:rPr>
                                  <m:t>𝑘</m:t>
                                </m:r>
                              </m:sub>
                            </m:sSub>
                            <m:r>
                              <a:rPr lang="en-ZA" altLang="ja-JP" sz="3600" i="1">
                                <a:latin typeface="Cambria Math" panose="02040503050406030204" pitchFamily="18" charset="0"/>
                              </a:rPr>
                              <m:t>−</m:t>
                            </m:r>
                            <m:r>
                              <a:rPr lang="ja-JP" altLang="en-ZA" sz="3600" i="1">
                                <a:latin typeface="Cambria Math" panose="02040503050406030204" pitchFamily="18" charset="0"/>
                              </a:rPr>
                              <m:t>𝛼</m:t>
                            </m:r>
                            <m:r>
                              <m:rPr>
                                <m:sty m:val="p"/>
                              </m:rPr>
                              <a:rPr lang="ja-JP" altLang="en-US" sz="3600">
                                <a:solidFill>
                                  <a:srgbClr val="00B050"/>
                                </a:solidFill>
                                <a:latin typeface="Cambria Math" panose="02040503050406030204" pitchFamily="18" charset="0"/>
                              </a:rPr>
                              <m:t>∇</m:t>
                            </m:r>
                            <m:r>
                              <a:rPr lang="en-ZA" altLang="ja-JP" sz="3600" i="1">
                                <a:solidFill>
                                  <a:srgbClr val="00B050"/>
                                </a:solidFill>
                                <a:latin typeface="Cambria Math" panose="02040503050406030204" pitchFamily="18" charset="0"/>
                              </a:rPr>
                              <m:t>𝐸</m:t>
                            </m:r>
                            <m:d>
                              <m:dPr>
                                <m:ctrlPr>
                                  <a:rPr lang="en-ZA" altLang="ja-JP" sz="3600" i="1">
                                    <a:solidFill>
                                      <a:srgbClr val="00B050"/>
                                    </a:solidFill>
                                    <a:latin typeface="Cambria Math" panose="02040503050406030204" pitchFamily="18" charset="0"/>
                                  </a:rPr>
                                </m:ctrlPr>
                              </m:dPr>
                              <m:e>
                                <m:sSub>
                                  <m:sSubPr>
                                    <m:ctrlPr>
                                      <a:rPr lang="en-ZA" altLang="ja-JP" sz="3600" i="1">
                                        <a:solidFill>
                                          <a:srgbClr val="00B050"/>
                                        </a:solidFill>
                                        <a:latin typeface="Cambria Math" panose="02040503050406030204" pitchFamily="18" charset="0"/>
                                      </a:rPr>
                                    </m:ctrlPr>
                                  </m:sSubPr>
                                  <m:e>
                                    <m:r>
                                      <a:rPr lang="en-ZA" altLang="ja-JP" sz="3600" b="1">
                                        <a:solidFill>
                                          <a:srgbClr val="00B050"/>
                                        </a:solidFill>
                                        <a:latin typeface="Cambria Math" panose="02040503050406030204" pitchFamily="18" charset="0"/>
                                      </a:rPr>
                                      <m:t>𝐰</m:t>
                                    </m:r>
                                  </m:e>
                                  <m:sub>
                                    <m:r>
                                      <a:rPr lang="en-ZA" altLang="ja-JP" sz="3600" i="1">
                                        <a:solidFill>
                                          <a:srgbClr val="00B050"/>
                                        </a:solidFill>
                                        <a:latin typeface="Cambria Math" panose="02040503050406030204" pitchFamily="18" charset="0"/>
                                      </a:rPr>
                                      <m:t>𝑘</m:t>
                                    </m:r>
                                  </m:sub>
                                </m:sSub>
                                <m:r>
                                  <a:rPr lang="en-US" altLang="ja-JP" sz="3600" i="1">
                                    <a:solidFill>
                                      <a:srgbClr val="00B050"/>
                                    </a:solidFill>
                                    <a:latin typeface="Cambria Math" panose="02040503050406030204" pitchFamily="18" charset="0"/>
                                  </a:rPr>
                                  <m:t>+</m:t>
                                </m:r>
                                <m:r>
                                  <a:rPr lang="ja-JP" altLang="en-US" sz="3600" i="1">
                                    <a:solidFill>
                                      <a:srgbClr val="00B050"/>
                                    </a:solidFill>
                                    <a:latin typeface="Cambria Math" panose="02040503050406030204" pitchFamily="18" charset="0"/>
                                    <a:ea typeface="UD デジタル 教科書体 NK-R" panose="02020400000000000000" pitchFamily="18" charset="-128"/>
                                  </a:rPr>
                                  <m:t>𝜇</m:t>
                                </m:r>
                                <m:sSub>
                                  <m:sSubPr>
                                    <m:ctrlPr>
                                      <a:rPr lang="en-US" altLang="ja-JP" sz="3600" i="1">
                                        <a:solidFill>
                                          <a:srgbClr val="00B050"/>
                                        </a:solidFill>
                                        <a:latin typeface="Cambria Math" panose="02040503050406030204" pitchFamily="18" charset="0"/>
                                        <a:ea typeface="UD デジタル 教科書体 NK-R" panose="02020400000000000000" pitchFamily="18" charset="-128"/>
                                      </a:rPr>
                                    </m:ctrlPr>
                                  </m:sSubPr>
                                  <m:e>
                                    <m:r>
                                      <a:rPr lang="en-US" altLang="ja-JP" sz="3600" b="1">
                                        <a:solidFill>
                                          <a:srgbClr val="00B050"/>
                                        </a:solidFill>
                                        <a:latin typeface="Cambria Math" panose="02040503050406030204" pitchFamily="18" charset="0"/>
                                        <a:ea typeface="UD デジタル 教科書体 NK-R" panose="02020400000000000000" pitchFamily="18" charset="-128"/>
                                      </a:rPr>
                                      <m:t>𝐯</m:t>
                                    </m:r>
                                  </m:e>
                                  <m:sub>
                                    <m:r>
                                      <a:rPr lang="en-US" altLang="ja-JP" sz="3600" i="1">
                                        <a:solidFill>
                                          <a:srgbClr val="00B050"/>
                                        </a:solidFill>
                                        <a:latin typeface="Cambria Math" panose="02040503050406030204" pitchFamily="18" charset="0"/>
                                        <a:ea typeface="UD デジタル 教科書体 NK-R" panose="02020400000000000000" pitchFamily="18" charset="-128"/>
                                      </a:rPr>
                                      <m:t>𝑘</m:t>
                                    </m:r>
                                  </m:sub>
                                </m:sSub>
                              </m:e>
                            </m:d>
                            <m:r>
                              <a:rPr lang="en-US" altLang="ja-JP" sz="3600" i="1">
                                <a:latin typeface="Cambria Math" panose="02040503050406030204" pitchFamily="18" charset="0"/>
                                <a:ea typeface="Cambria Math" panose="02040503050406030204" pitchFamily="18" charset="0"/>
                              </a:rPr>
                              <m:t>⊘</m:t>
                            </m:r>
                            <m:sSub>
                              <m:sSubPr>
                                <m:ctrlPr>
                                  <a:rPr lang="en-US" altLang="ja-JP" sz="3600" i="1">
                                    <a:solidFill>
                                      <a:srgbClr val="FF0000"/>
                                    </a:solidFill>
                                    <a:latin typeface="Cambria Math" panose="02040503050406030204" pitchFamily="18" charset="0"/>
                                    <a:ea typeface="Cambria Math" panose="02040503050406030204" pitchFamily="18" charset="0"/>
                                  </a:rPr>
                                </m:ctrlPr>
                              </m:sSubPr>
                              <m:e>
                                <m:r>
                                  <a:rPr lang="en-US" altLang="ja-JP" sz="3600" b="1">
                                    <a:solidFill>
                                      <a:srgbClr val="FF0000"/>
                                    </a:solidFill>
                                    <a:latin typeface="Cambria Math" panose="02040503050406030204" pitchFamily="18" charset="0"/>
                                    <a:ea typeface="Cambria Math" panose="02040503050406030204" pitchFamily="18" charset="0"/>
                                  </a:rPr>
                                  <m:t>𝐡</m:t>
                                </m:r>
                              </m:e>
                              <m:sub>
                                <m:r>
                                  <a:rPr lang="en-US" altLang="ja-JP" sz="3600" i="1">
                                    <a:solidFill>
                                      <a:srgbClr val="FF0000"/>
                                    </a:solidFill>
                                    <a:latin typeface="Cambria Math" panose="02040503050406030204" pitchFamily="18" charset="0"/>
                                    <a:ea typeface="Cambria Math" panose="02040503050406030204" pitchFamily="18" charset="0"/>
                                  </a:rPr>
                                  <m:t>𝑘</m:t>
                                </m:r>
                              </m:sub>
                            </m:sSub>
                            <m:r>
                              <a:rPr lang="en-ZA" altLang="ja-JP" sz="3600" i="1">
                                <a:latin typeface="Cambria Math" panose="02040503050406030204" pitchFamily="18" charset="0"/>
                              </a:rPr>
                              <m:t>#</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#(11)</m:t>
                            </m:r>
                          </m:e>
                        </m:eqArr>
                      </m:oMath>
                    </m:oMathPara>
                  </a14:m>
                  <a:endParaRPr lang="en-US" altLang="ja-JP" sz="3600" b="0" dirty="0">
                    <a:latin typeface="UD デジタル 教科書体 NK-R" panose="02020400000000000000" pitchFamily="18" charset="-128"/>
                  </a:endParaRPr>
                </a:p>
                <a:p>
                  <a:r>
                    <a:rPr lang="en-US" altLang="ja-JP" sz="2000" dirty="0">
                      <a:latin typeface="UD デジタル 教科書体 NK-R" panose="02020400000000000000" pitchFamily="18" charset="-128"/>
                      <a:ea typeface="UD デジタル 教科書体 NK-R" panose="02020400000000000000" pitchFamily="18" charset="-128"/>
                    </a:rPr>
                    <a:t> </a:t>
                  </a:r>
                  <a:endParaRPr lang="en-US" altLang="ja-JP" sz="3600" dirty="0">
                    <a:latin typeface="UD デジタル 教科書体 NK-R" panose="02020400000000000000" pitchFamily="18" charset="-128"/>
                    <a:ea typeface="UD デジタル 教科書体 NK-R" panose="02020400000000000000" pitchFamily="18" charset="-128"/>
                  </a:endParaRPr>
                </a:p>
                <a:p>
                  <a:pPr marL="571500" indent="-571500">
                    <a:buFont typeface="Wingdings" panose="05000000000000000000" pitchFamily="2" charset="2"/>
                    <a:buChar char="u"/>
                  </a:pPr>
                  <a:r>
                    <a:rPr lang="en-US" altLang="ja-JP" sz="3600" dirty="0">
                      <a:latin typeface="UD デジタル 教科書体 NK-R" panose="02020400000000000000" pitchFamily="18" charset="-128"/>
                      <a:ea typeface="UD デジタル 教科書体 NK-R" panose="02020400000000000000" pitchFamily="18" charset="-128"/>
                    </a:rPr>
                    <a:t>OASIS + NAG</a:t>
                  </a:r>
                  <a:r>
                    <a:rPr lang="ja-JP" altLang="en-US" sz="3600" dirty="0">
                      <a:latin typeface="UD デジタル 教科書体 NK-R" panose="02020400000000000000" pitchFamily="18" charset="-128"/>
                      <a:ea typeface="UD デジタル 教科書体 NK-R" panose="02020400000000000000" pitchFamily="18" charset="-128"/>
                    </a:rPr>
                    <a:t>のアルゴリズム</a:t>
                  </a:r>
                  <a:endParaRPr lang="en-US" altLang="ja-JP" sz="3600" dirty="0">
                    <a:latin typeface="UD デジタル 教科書体 NK-R" panose="02020400000000000000" pitchFamily="18" charset="-128"/>
                    <a:ea typeface="UD デジタル 教科書体 NK-R" panose="02020400000000000000" pitchFamily="18" charset="-128"/>
                  </a:endParaRPr>
                </a:p>
              </p:txBody>
            </p:sp>
          </mc:Choice>
          <mc:Fallback>
            <p:sp>
              <p:nvSpPr>
                <p:cNvPr id="126" name="テキスト ボックス 125">
                  <a:extLst>
                    <a:ext uri="{FF2B5EF4-FFF2-40B4-BE49-F238E27FC236}">
                      <a16:creationId xmlns:a16="http://schemas.microsoft.com/office/drawing/2014/main" id="{0A3092C8-B78C-6EA2-6587-9AAA3047E77F}"/>
                    </a:ext>
                  </a:extLst>
                </p:cNvPr>
                <p:cNvSpPr txBox="1">
                  <a:spLocks noRot="1" noChangeAspect="1" noMove="1" noResize="1" noEditPoints="1" noAdjustHandles="1" noChangeArrowheads="1" noChangeShapeType="1" noTextEdit="1"/>
                </p:cNvSpPr>
                <p:nvPr/>
              </p:nvSpPr>
              <p:spPr>
                <a:xfrm>
                  <a:off x="506888" y="6399631"/>
                  <a:ext cx="14214952" cy="6984825"/>
                </a:xfrm>
                <a:prstGeom prst="rect">
                  <a:avLst/>
                </a:prstGeom>
                <a:blipFill>
                  <a:blip r:embed="rId6"/>
                  <a:stretch>
                    <a:fillRect l="-1161" r="-982" b="-2592"/>
                  </a:stretch>
                </a:blipFill>
              </p:spPr>
              <p:txBody>
                <a:bodyPr/>
                <a:lstStyle/>
                <a:p>
                  <a:r>
                    <a:rPr lang="ja-JP" altLang="en-US">
                      <a:noFill/>
                    </a:rPr>
                    <a:t> </a:t>
                  </a:r>
                </a:p>
              </p:txBody>
            </p:sp>
          </mc:Fallback>
        </mc:AlternateContent>
      </p:grpSp>
      <p:grpSp>
        <p:nvGrpSpPr>
          <p:cNvPr id="131" name="グループ化 130">
            <a:extLst>
              <a:ext uri="{FF2B5EF4-FFF2-40B4-BE49-F238E27FC236}">
                <a16:creationId xmlns:a16="http://schemas.microsoft.com/office/drawing/2014/main" id="{55D73A45-2D92-52D6-BBB9-3747BAD4FF43}"/>
              </a:ext>
            </a:extLst>
          </p:cNvPr>
          <p:cNvGrpSpPr/>
          <p:nvPr/>
        </p:nvGrpSpPr>
        <p:grpSpPr>
          <a:xfrm>
            <a:off x="16391856" y="17520026"/>
            <a:ext cx="12460409" cy="1298604"/>
            <a:chOff x="15630351" y="17770616"/>
            <a:chExt cx="12460409" cy="1298604"/>
          </a:xfrm>
        </p:grpSpPr>
        <p:sp>
          <p:nvSpPr>
            <p:cNvPr id="128" name="四角形: 角を丸くする 127">
              <a:extLst>
                <a:ext uri="{FF2B5EF4-FFF2-40B4-BE49-F238E27FC236}">
                  <a16:creationId xmlns:a16="http://schemas.microsoft.com/office/drawing/2014/main" id="{CFFD7AE5-410A-D5D4-1A55-0EDCD920BAEA}"/>
                </a:ext>
              </a:extLst>
            </p:cNvPr>
            <p:cNvSpPr/>
            <p:nvPr/>
          </p:nvSpPr>
          <p:spPr>
            <a:xfrm>
              <a:off x="15630351" y="17770616"/>
              <a:ext cx="5176778" cy="1220026"/>
            </a:xfrm>
            <a:prstGeom prst="roundRect">
              <a:avLst/>
            </a:prstGeom>
            <a:noFill/>
            <a:ln w="762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5400" dirty="0">
                  <a:solidFill>
                    <a:schemeClr val="tx1"/>
                  </a:solidFill>
                  <a:latin typeface="UD デジタル 教科書体 NK-R" panose="02020400000000000000" pitchFamily="18" charset="-128"/>
                  <a:ea typeface="UD デジタル 教科書体 NK-R" panose="02020400000000000000" pitchFamily="18" charset="-128"/>
                </a:rPr>
                <a:t>OASIS</a:t>
              </a:r>
              <a:endParaRPr kumimoji="1" lang="ja-JP" altLang="en-US" sz="54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29" name="四角形: 角を丸くする 128">
              <a:extLst>
                <a:ext uri="{FF2B5EF4-FFF2-40B4-BE49-F238E27FC236}">
                  <a16:creationId xmlns:a16="http://schemas.microsoft.com/office/drawing/2014/main" id="{2A680C5E-586A-2D92-A7DF-400494D96784}"/>
                </a:ext>
              </a:extLst>
            </p:cNvPr>
            <p:cNvSpPr/>
            <p:nvPr/>
          </p:nvSpPr>
          <p:spPr>
            <a:xfrm>
              <a:off x="22913982" y="17770616"/>
              <a:ext cx="5176778" cy="1220026"/>
            </a:xfrm>
            <a:prstGeom prst="roundRect">
              <a:avLst/>
            </a:prstGeom>
            <a:noFill/>
            <a:ln w="76200">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5400" dirty="0">
                  <a:solidFill>
                    <a:schemeClr val="tx1"/>
                  </a:solidFill>
                  <a:latin typeface="UD デジタル 教科書体 NK-R" panose="02020400000000000000" pitchFamily="18" charset="-128"/>
                  <a:ea typeface="UD デジタル 教科書体 NK-R" panose="02020400000000000000" pitchFamily="18" charset="-128"/>
                </a:rPr>
                <a:t>NAG</a:t>
              </a:r>
              <a:endParaRPr kumimoji="1" lang="ja-JP" altLang="en-US" sz="54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30" name="加算記号 129">
              <a:extLst>
                <a:ext uri="{FF2B5EF4-FFF2-40B4-BE49-F238E27FC236}">
                  <a16:creationId xmlns:a16="http://schemas.microsoft.com/office/drawing/2014/main" id="{168E6901-1B8C-1050-8F6D-4593458CA21C}"/>
                </a:ext>
              </a:extLst>
            </p:cNvPr>
            <p:cNvSpPr/>
            <p:nvPr/>
          </p:nvSpPr>
          <p:spPr>
            <a:xfrm>
              <a:off x="21213346" y="17770616"/>
              <a:ext cx="1298604" cy="1298604"/>
            </a:xfrm>
            <a:prstGeom prst="mathPlus">
              <a:avLst>
                <a:gd name="adj1" fmla="val 1282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37" name="グループ化 136">
            <a:extLst>
              <a:ext uri="{FF2B5EF4-FFF2-40B4-BE49-F238E27FC236}">
                <a16:creationId xmlns:a16="http://schemas.microsoft.com/office/drawing/2014/main" id="{EECCACFA-D07B-59EA-EE29-026DB5A3192F}"/>
              </a:ext>
            </a:extLst>
          </p:cNvPr>
          <p:cNvGrpSpPr/>
          <p:nvPr/>
        </p:nvGrpSpPr>
        <p:grpSpPr>
          <a:xfrm>
            <a:off x="15453625" y="23379772"/>
            <a:ext cx="14336872" cy="7061865"/>
            <a:chOff x="15453625" y="23379772"/>
            <a:chExt cx="14336872" cy="7061865"/>
          </a:xfrm>
        </p:grpSpPr>
        <p:grpSp>
          <p:nvGrpSpPr>
            <p:cNvPr id="134" name="グループ化 133">
              <a:extLst>
                <a:ext uri="{FF2B5EF4-FFF2-40B4-BE49-F238E27FC236}">
                  <a16:creationId xmlns:a16="http://schemas.microsoft.com/office/drawing/2014/main" id="{37570C66-2B0A-CA58-00B9-973F06C25FCD}"/>
                </a:ext>
              </a:extLst>
            </p:cNvPr>
            <p:cNvGrpSpPr/>
            <p:nvPr/>
          </p:nvGrpSpPr>
          <p:grpSpPr>
            <a:xfrm>
              <a:off x="15453625" y="23379772"/>
              <a:ext cx="14336872" cy="7061865"/>
              <a:chOff x="15465898" y="23379772"/>
              <a:chExt cx="14336872" cy="7061865"/>
            </a:xfrm>
          </p:grpSpPr>
          <p:sp>
            <p:nvSpPr>
              <p:cNvPr id="132" name="四角形: 角を丸くする 131">
                <a:extLst>
                  <a:ext uri="{FF2B5EF4-FFF2-40B4-BE49-F238E27FC236}">
                    <a16:creationId xmlns:a16="http://schemas.microsoft.com/office/drawing/2014/main" id="{62447F0A-72A1-9F09-D32D-D8E2CE03DDAE}"/>
                  </a:ext>
                </a:extLst>
              </p:cNvPr>
              <p:cNvSpPr/>
              <p:nvPr/>
            </p:nvSpPr>
            <p:spPr>
              <a:xfrm>
                <a:off x="15465898" y="23379772"/>
                <a:ext cx="14336872" cy="7061865"/>
              </a:xfrm>
              <a:prstGeom prst="roundRect">
                <a:avLst>
                  <a:gd name="adj" fmla="val 483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mc:AlternateContent xmlns:mc="http://schemas.openxmlformats.org/markup-compatibility/2006">
            <mc:Choice xmlns:a14="http://schemas.microsoft.com/office/drawing/2010/main" Requires="a14">
              <p:sp>
                <p:nvSpPr>
                  <p:cNvPr id="133" name="テキスト ボックス 132">
                    <a:extLst>
                      <a:ext uri="{FF2B5EF4-FFF2-40B4-BE49-F238E27FC236}">
                        <a16:creationId xmlns:a16="http://schemas.microsoft.com/office/drawing/2014/main" id="{408346FA-CE56-7F0A-51ED-3CE90863EAB4}"/>
                      </a:ext>
                    </a:extLst>
                  </p:cNvPr>
                  <p:cNvSpPr txBox="1"/>
                  <p:nvPr/>
                </p:nvSpPr>
                <p:spPr>
                  <a:xfrm>
                    <a:off x="15736619" y="23645175"/>
                    <a:ext cx="13795429" cy="6398611"/>
                  </a:xfrm>
                  <a:prstGeom prst="rect">
                    <a:avLst/>
                  </a:prstGeom>
                  <a:noFill/>
                </p:spPr>
                <p:txBody>
                  <a:bodyPr wrap="square">
                    <a:spAutoFit/>
                  </a:bodyPr>
                  <a:lstStyle/>
                  <a:p>
                    <a:r>
                      <a:rPr lang="en-US" altLang="ja-JP" sz="3600" b="1" dirty="0">
                        <a:solidFill>
                          <a:schemeClr val="tx1"/>
                        </a:solidFill>
                        <a:latin typeface="BIZ UDP明朝 Medium" panose="02020500000000000000" pitchFamily="18" charset="-128"/>
                        <a:ea typeface="BIZ UDP明朝 Medium" panose="02020500000000000000" pitchFamily="18" charset="-128"/>
                      </a:rPr>
                      <a:t>Input</a:t>
                    </a:r>
                    <a:r>
                      <a:rPr lang="en-US" altLang="ja-JP" sz="3600" b="1"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b="1" dirty="0">
                        <a:solidFill>
                          <a:schemeClr val="tx1"/>
                        </a:solidFill>
                        <a:latin typeface="UD デジタル 教科書体 NK-R" panose="02020400000000000000" pitchFamily="18" charset="-128"/>
                        <a:ea typeface="UD デジタル 教科書体 NK-R" panose="02020400000000000000" pitchFamily="18" charset="-128"/>
                      </a:rPr>
                      <a:t>𝐰 </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パラメータ</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ZA" sz="3600" i="1" smtClean="0">
                            <a:solidFill>
                              <a:schemeClr val="tx1"/>
                            </a:solidFill>
                            <a:latin typeface="Cambria Math" panose="02040503050406030204" pitchFamily="18" charset="0"/>
                          </a:rPr>
                          <m:t>𝛼</m:t>
                        </m:r>
                      </m:oMath>
                    </a14:m>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 </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学習率</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sz="3600" i="1">
                            <a:solidFill>
                              <a:schemeClr val="tx1"/>
                            </a:solidFill>
                            <a:latin typeface="Cambria Math" panose="02040503050406030204" pitchFamily="18" charset="0"/>
                            <a:ea typeface="UD デジタル 教科書体 NK-R" panose="02020400000000000000" pitchFamily="18" charset="-128"/>
                          </a:rPr>
                          <m:t>𝜇</m:t>
                        </m:r>
                      </m:oMath>
                    </a14:m>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 </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モーメント係数</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US" sz="3600" i="1">
                            <a:solidFill>
                              <a:schemeClr val="tx1"/>
                            </a:solidFill>
                            <a:latin typeface="Cambria Math" panose="02040503050406030204" pitchFamily="18" charset="0"/>
                            <a:ea typeface="Cambria Math" panose="02040503050406030204" pitchFamily="18" charset="0"/>
                          </a:rPr>
                          <m:t>𝛽</m:t>
                        </m:r>
                      </m:oMath>
                    </a14:m>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 </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dirty="0">
                        <a:solidFill>
                          <a:schemeClr val="tx1"/>
                        </a:solidFill>
                        <a:latin typeface="UD デジタル 教科書体 NK-R" panose="02020400000000000000" pitchFamily="18" charset="-128"/>
                        <a:ea typeface="UD デジタル 教科書体 NK-R" panose="02020400000000000000" pitchFamily="18" charset="-128"/>
                      </a:rPr>
                      <a:t>平滑化係数</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a:t>
                    </a:r>
                    <a:r>
                      <a:rPr lang="en-US" altLang="ja-JP" sz="3600" dirty="0">
                        <a:solidFill>
                          <a:schemeClr val="tx1"/>
                        </a:solidFill>
                      </a:rPr>
                      <a:t> </a:t>
                    </a:r>
                    <a14:m>
                      <m:oMath xmlns:m="http://schemas.openxmlformats.org/officeDocument/2006/math">
                        <m:r>
                          <a:rPr lang="en-US" altLang="ja-JP" sz="3600" i="1">
                            <a:solidFill>
                              <a:schemeClr val="tx1"/>
                            </a:solidFill>
                            <a:latin typeface="Cambria Math" panose="02040503050406030204" pitchFamily="18" charset="0"/>
                          </a:rPr>
                          <m:t>𝑠</m:t>
                        </m:r>
                      </m:oMath>
                    </a14:m>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 </a:t>
                    </a:r>
                    <a:r>
                      <a:rPr lang="ja-JP" altLang="en-US" sz="3600">
                        <a:solidFill>
                          <a:schemeClr val="tx1"/>
                        </a:solidFill>
                        <a:latin typeface="UD デジタル 教科書体 NK-R" panose="02020400000000000000" pitchFamily="18" charset="-128"/>
                        <a:ea typeface="UD デジタル 教科書体 NK-R" panose="02020400000000000000" pitchFamily="18" charset="-128"/>
                      </a:rPr>
                      <a:t>近似サンプル数</a:t>
                    </a:r>
                    <a:endParaRPr lang="en-US" altLang="ja-JP" sz="3600" dirty="0">
                      <a:latin typeface="UD デジタル 教科書体 NK-R" panose="02020400000000000000" pitchFamily="18" charset="-128"/>
                      <a:ea typeface="UD デジタル 教科書体 NK-R" panose="02020400000000000000" pitchFamily="18" charset="-128"/>
                    </a:endParaRPr>
                  </a:p>
                  <a:p>
                    <a:pPr/>
                    <a14:m>
                      <m:oMathPara xmlns:m="http://schemas.openxmlformats.org/officeDocument/2006/math">
                        <m:oMathParaPr>
                          <m:jc m:val="left"/>
                        </m:oMathParaPr>
                        <m:oMath xmlns:m="http://schemas.openxmlformats.org/officeDocument/2006/math">
                          <m:sSub>
                            <m:sSubPr>
                              <m:ctrlPr>
                                <a:rPr lang="en-US" altLang="ja-JP" sz="3600" i="1" smtClean="0">
                                  <a:solidFill>
                                    <a:schemeClr val="tx1"/>
                                  </a:solidFill>
                                  <a:latin typeface="Cambria Math" panose="02040503050406030204" pitchFamily="18" charset="0"/>
                                  <a:ea typeface="Cambria Math" panose="02040503050406030204" pitchFamily="18" charset="0"/>
                                </a:rPr>
                              </m:ctrlPr>
                            </m:sSubPr>
                            <m:e>
                              <m:r>
                                <a:rPr lang="en-US" altLang="ja-JP" sz="3600" b="1">
                                  <a:solidFill>
                                    <a:schemeClr val="tx1"/>
                                  </a:solidFill>
                                  <a:latin typeface="Cambria Math" panose="02040503050406030204" pitchFamily="18" charset="0"/>
                                  <a:ea typeface="Cambria Math" panose="02040503050406030204" pitchFamily="18" charset="0"/>
                                </a:rPr>
                                <m:t>𝐡</m:t>
                              </m:r>
                            </m:e>
                            <m:sub>
                              <m:r>
                                <a:rPr lang="en-US" altLang="ja-JP" sz="3600" b="0" i="1" smtClean="0">
                                  <a:solidFill>
                                    <a:schemeClr val="tx1"/>
                                  </a:solidFill>
                                  <a:latin typeface="Cambria Math" panose="02040503050406030204" pitchFamily="18" charset="0"/>
                                  <a:ea typeface="Cambria Math" panose="02040503050406030204" pitchFamily="18" charset="0"/>
                                </a:rPr>
                                <m:t>0</m:t>
                              </m:r>
                            </m:sub>
                          </m:sSub>
                          <m:r>
                            <a:rPr lang="en-US" altLang="ja-JP" sz="3600" i="1">
                              <a:solidFill>
                                <a:schemeClr val="tx1"/>
                              </a:solidFill>
                              <a:latin typeface="Cambria Math" panose="02040503050406030204" pitchFamily="18" charset="0"/>
                            </a:rPr>
                            <m:t>=</m:t>
                          </m:r>
                          <m:r>
                            <a:rPr lang="en-US" altLang="ja-JP" sz="3600" b="0" i="1" smtClean="0">
                              <a:solidFill>
                                <a:schemeClr val="tx1"/>
                              </a:solidFill>
                              <a:latin typeface="Cambria Math" panose="02040503050406030204" pitchFamily="18" charset="0"/>
                            </a:rPr>
                            <m:t> </m:t>
                          </m:r>
                          <m:f>
                            <m:fPr>
                              <m:ctrlPr>
                                <a:rPr lang="en-US" altLang="ja-JP" sz="3600" b="0" i="1" smtClean="0">
                                  <a:solidFill>
                                    <a:schemeClr val="tx1"/>
                                  </a:solidFill>
                                  <a:latin typeface="Cambria Math" panose="02040503050406030204" pitchFamily="18" charset="0"/>
                                </a:rPr>
                              </m:ctrlPr>
                            </m:fPr>
                            <m:num>
                              <m:r>
                                <a:rPr lang="en-US" altLang="ja-JP" sz="3600" b="0" i="1" smtClean="0">
                                  <a:solidFill>
                                    <a:schemeClr val="tx1"/>
                                  </a:solidFill>
                                  <a:latin typeface="Cambria Math" panose="02040503050406030204" pitchFamily="18" charset="0"/>
                                </a:rPr>
                                <m:t>1</m:t>
                              </m:r>
                            </m:num>
                            <m:den>
                              <m:r>
                                <a:rPr lang="en-US" altLang="ja-JP" sz="3600" b="0" i="1" smtClean="0">
                                  <a:solidFill>
                                    <a:schemeClr val="tx1"/>
                                  </a:solidFill>
                                  <a:latin typeface="Cambria Math" panose="02040503050406030204" pitchFamily="18" charset="0"/>
                                </a:rPr>
                                <m:t>𝑠</m:t>
                              </m:r>
                            </m:den>
                          </m:f>
                          <m:nary>
                            <m:naryPr>
                              <m:chr m:val="∑"/>
                              <m:limLoc m:val="subSup"/>
                              <m:ctrlPr>
                                <a:rPr lang="en-US" altLang="ja-JP" sz="3600" b="0" i="1" smtClean="0">
                                  <a:solidFill>
                                    <a:schemeClr val="tx1"/>
                                  </a:solidFill>
                                  <a:latin typeface="Cambria Math" panose="02040503050406030204" pitchFamily="18" charset="0"/>
                                </a:rPr>
                              </m:ctrlPr>
                            </m:naryPr>
                            <m:sub>
                              <m:r>
                                <m:rPr>
                                  <m:brk m:alnAt="25"/>
                                </m:rPr>
                                <a:rPr lang="en-US" altLang="ja-JP" sz="3600" b="0" i="1" smtClean="0">
                                  <a:solidFill>
                                    <a:schemeClr val="tx1"/>
                                  </a:solidFill>
                                  <a:latin typeface="Cambria Math" panose="02040503050406030204" pitchFamily="18" charset="0"/>
                                </a:rPr>
                                <m:t>𝑙</m:t>
                              </m:r>
                            </m:sub>
                            <m:sup>
                              <m:r>
                                <a:rPr lang="en-US" altLang="ja-JP" sz="3600" b="0" i="1" smtClean="0">
                                  <a:solidFill>
                                    <a:schemeClr val="tx1"/>
                                  </a:solidFill>
                                  <a:latin typeface="Cambria Math" panose="02040503050406030204" pitchFamily="18" charset="0"/>
                                </a:rPr>
                                <m:t>𝑠</m:t>
                              </m:r>
                            </m:sup>
                            <m:e>
                              <m:sSub>
                                <m:sSubPr>
                                  <m:ctrlPr>
                                    <a:rPr lang="en-US" altLang="ja-JP" sz="3600" b="0" i="1" smtClean="0">
                                      <a:solidFill>
                                        <a:schemeClr val="tx1"/>
                                      </a:solidFill>
                                      <a:latin typeface="Cambria Math" panose="02040503050406030204" pitchFamily="18" charset="0"/>
                                    </a:rPr>
                                  </m:ctrlPr>
                                </m:sSubPr>
                                <m:e>
                                  <m:r>
                                    <a:rPr lang="en-US" altLang="ja-JP" sz="3600" b="1" i="0" smtClean="0">
                                      <a:solidFill>
                                        <a:schemeClr val="tx1"/>
                                      </a:solidFill>
                                      <a:latin typeface="Cambria Math" panose="02040503050406030204" pitchFamily="18" charset="0"/>
                                    </a:rPr>
                                    <m:t>𝐳</m:t>
                                  </m:r>
                                </m:e>
                                <m:sub>
                                  <m:r>
                                    <a:rPr lang="en-US" altLang="ja-JP" sz="3600" b="0" i="1" smtClean="0">
                                      <a:solidFill>
                                        <a:schemeClr val="tx1"/>
                                      </a:solidFill>
                                      <a:latin typeface="Cambria Math" panose="02040503050406030204" pitchFamily="18" charset="0"/>
                                    </a:rPr>
                                    <m:t>𝑙</m:t>
                                  </m:r>
                                </m:sub>
                              </m:sSub>
                              <m:r>
                                <a:rPr lang="en-US" altLang="ja-JP" sz="3600" b="0" i="1" smtClean="0">
                                  <a:solidFill>
                                    <a:schemeClr val="tx1"/>
                                  </a:solidFill>
                                  <a:latin typeface="Cambria Math" panose="02040503050406030204" pitchFamily="18" charset="0"/>
                                </a:rPr>
                                <m:t> </m:t>
                              </m:r>
                              <m:r>
                                <a:rPr lang="en-US" altLang="ja-JP" sz="3600" b="0" i="1" smtClean="0">
                                  <a:solidFill>
                                    <a:schemeClr val="tx1"/>
                                  </a:solidFill>
                                  <a:latin typeface="Cambria Math" panose="02040503050406030204" pitchFamily="18" charset="0"/>
                                  <a:ea typeface="Cambria Math" panose="02040503050406030204" pitchFamily="18" charset="0"/>
                                </a:rPr>
                                <m:t>⨂</m:t>
                              </m:r>
                              <m:r>
                                <a:rPr lang="en-US" altLang="ja-JP" sz="3600" b="0" i="1" smtClean="0">
                                  <a:solidFill>
                                    <a:schemeClr val="tx1"/>
                                  </a:solidFill>
                                  <a:latin typeface="Cambria Math" panose="02040503050406030204" pitchFamily="18" charset="0"/>
                                </a:rPr>
                                <m:t> </m:t>
                              </m:r>
                              <m:f>
                                <m:fPr>
                                  <m:ctrlPr>
                                    <a:rPr lang="en-US" altLang="ja-JP" sz="3600" b="0" i="1" smtClean="0">
                                      <a:solidFill>
                                        <a:schemeClr val="tx1"/>
                                      </a:solidFill>
                                      <a:latin typeface="Cambria Math" panose="02040503050406030204" pitchFamily="18" charset="0"/>
                                    </a:rPr>
                                  </m:ctrlPr>
                                </m:fPr>
                                <m:num>
                                  <m:r>
                                    <a:rPr lang="ja-JP" altLang="en-US" sz="3600" i="1">
                                      <a:solidFill>
                                        <a:schemeClr val="tx1"/>
                                      </a:solidFill>
                                      <a:latin typeface="Cambria Math" panose="02040503050406030204" pitchFamily="18" charset="0"/>
                                    </a:rPr>
                                    <m:t>𝜕</m:t>
                                  </m:r>
                                  <m:sSup>
                                    <m:sSupPr>
                                      <m:ctrlPr>
                                        <a:rPr lang="en-US" altLang="ja-JP" sz="3600" i="1" smtClean="0">
                                          <a:solidFill>
                                            <a:schemeClr val="tx1"/>
                                          </a:solidFill>
                                          <a:latin typeface="Cambria Math" panose="02040503050406030204" pitchFamily="18" charset="0"/>
                                        </a:rPr>
                                      </m:ctrlPr>
                                    </m:sSupPr>
                                    <m:e>
                                      <m:r>
                                        <a:rPr lang="en-US" altLang="ja-JP" sz="3600" b="0" i="1" smtClean="0">
                                          <a:solidFill>
                                            <a:schemeClr val="tx1"/>
                                          </a:solidFill>
                                          <a:latin typeface="Cambria Math" panose="02040503050406030204" pitchFamily="18" charset="0"/>
                                        </a:rPr>
                                        <m:t>(</m:t>
                                      </m:r>
                                      <m:r>
                                        <m:rPr>
                                          <m:sty m:val="p"/>
                                        </m:rPr>
                                        <a:rPr lang="ja-JP" altLang="en-US" sz="3600">
                                          <a:solidFill>
                                            <a:schemeClr val="tx1"/>
                                          </a:solidFill>
                                          <a:latin typeface="Cambria Math" panose="02040503050406030204" pitchFamily="18" charset="0"/>
                                        </a:rPr>
                                        <m:t>∇</m:t>
                                      </m:r>
                                      <m:r>
                                        <a:rPr lang="en-ZA" altLang="ja-JP" sz="3600" i="1">
                                          <a:solidFill>
                                            <a:schemeClr val="tx1"/>
                                          </a:solidFill>
                                          <a:latin typeface="Cambria Math" panose="02040503050406030204" pitchFamily="18" charset="0"/>
                                        </a:rPr>
                                        <m:t>𝐸</m:t>
                                      </m:r>
                                      <m:d>
                                        <m:dPr>
                                          <m:ctrlPr>
                                            <a:rPr lang="en-ZA" altLang="ja-JP" sz="3600" i="1">
                                              <a:solidFill>
                                                <a:schemeClr val="tx1"/>
                                              </a:solidFill>
                                              <a:latin typeface="Cambria Math" panose="02040503050406030204" pitchFamily="18" charset="0"/>
                                            </a:rPr>
                                          </m:ctrlPr>
                                        </m:dPr>
                                        <m:e>
                                          <m:sSub>
                                            <m:sSubPr>
                                              <m:ctrlPr>
                                                <a:rPr lang="en-ZA" altLang="ja-JP" sz="3600" i="1">
                                                  <a:solidFill>
                                                    <a:schemeClr val="tx1"/>
                                                  </a:solidFill>
                                                  <a:latin typeface="Cambria Math" panose="02040503050406030204" pitchFamily="18" charset="0"/>
                                                </a:rPr>
                                              </m:ctrlPr>
                                            </m:sSubPr>
                                            <m:e>
                                              <m:r>
                                                <a:rPr lang="en-ZA" altLang="ja-JP" sz="3600" b="1">
                                                  <a:solidFill>
                                                    <a:schemeClr val="tx1"/>
                                                  </a:solidFill>
                                                  <a:latin typeface="Cambria Math" panose="02040503050406030204" pitchFamily="18" charset="0"/>
                                                </a:rPr>
                                                <m:t>𝐰</m:t>
                                              </m:r>
                                            </m:e>
                                            <m:sub>
                                              <m:r>
                                                <a:rPr lang="en-US" altLang="ja-JP" sz="3600" b="0" i="1" smtClean="0">
                                                  <a:solidFill>
                                                    <a:schemeClr val="tx1"/>
                                                  </a:solidFill>
                                                  <a:latin typeface="Cambria Math" panose="02040503050406030204" pitchFamily="18" charset="0"/>
                                                </a:rPr>
                                                <m:t>0</m:t>
                                              </m:r>
                                            </m:sub>
                                          </m:sSub>
                                        </m:e>
                                      </m:d>
                                      <m:r>
                                        <a:rPr lang="en-US" altLang="ja-JP" sz="3600" b="0" i="1" smtClean="0">
                                          <a:solidFill>
                                            <a:schemeClr val="tx1"/>
                                          </a:solidFill>
                                          <a:latin typeface="Cambria Math" panose="02040503050406030204" pitchFamily="18" charset="0"/>
                                        </a:rPr>
                                        <m:t>)</m:t>
                                      </m:r>
                                    </m:e>
                                    <m:sup>
                                      <m:r>
                                        <a:rPr lang="en-US" altLang="ja-JP" sz="3600" b="0" i="1" smtClean="0">
                                          <a:solidFill>
                                            <a:schemeClr val="tx1"/>
                                          </a:solidFill>
                                          <a:latin typeface="Cambria Math" panose="02040503050406030204" pitchFamily="18" charset="0"/>
                                        </a:rPr>
                                        <m:t>𝑇</m:t>
                                      </m:r>
                                    </m:sup>
                                  </m:sSup>
                                  <m:sSub>
                                    <m:sSubPr>
                                      <m:ctrlPr>
                                        <a:rPr lang="en-US" altLang="ja-JP" sz="3600" i="1" smtClean="0">
                                          <a:solidFill>
                                            <a:schemeClr val="tx1"/>
                                          </a:solidFill>
                                          <a:latin typeface="Cambria Math" panose="02040503050406030204" pitchFamily="18" charset="0"/>
                                        </a:rPr>
                                      </m:ctrlPr>
                                    </m:sSubPr>
                                    <m:e>
                                      <m:r>
                                        <a:rPr lang="en-US" altLang="ja-JP" sz="3600" b="1" i="0" smtClean="0">
                                          <a:solidFill>
                                            <a:schemeClr val="tx1"/>
                                          </a:solidFill>
                                          <a:latin typeface="Cambria Math" panose="02040503050406030204" pitchFamily="18" charset="0"/>
                                        </a:rPr>
                                        <m:t>𝐳</m:t>
                                      </m:r>
                                    </m:e>
                                    <m:sub>
                                      <m:r>
                                        <a:rPr lang="en-US" altLang="ja-JP" sz="3600" b="0" i="1" smtClean="0">
                                          <a:solidFill>
                                            <a:schemeClr val="tx1"/>
                                          </a:solidFill>
                                          <a:latin typeface="Cambria Math" panose="02040503050406030204" pitchFamily="18" charset="0"/>
                                        </a:rPr>
                                        <m:t>𝑙</m:t>
                                      </m:r>
                                    </m:sub>
                                  </m:sSub>
                                </m:num>
                                <m:den>
                                  <m:r>
                                    <a:rPr lang="ja-JP" altLang="en-US" sz="3600" i="1">
                                      <a:solidFill>
                                        <a:schemeClr val="tx1"/>
                                      </a:solidFill>
                                      <a:latin typeface="Cambria Math" panose="02040503050406030204" pitchFamily="18" charset="0"/>
                                    </a:rPr>
                                    <m:t>𝜕</m:t>
                                  </m:r>
                                  <m:r>
                                    <a:rPr lang="en-US" altLang="ja-JP" sz="3600" b="1" i="0" smtClean="0">
                                      <a:solidFill>
                                        <a:schemeClr val="tx1"/>
                                      </a:solidFill>
                                      <a:latin typeface="Cambria Math" panose="02040503050406030204" pitchFamily="18" charset="0"/>
                                    </a:rPr>
                                    <m:t>𝐰</m:t>
                                  </m:r>
                                </m:den>
                              </m:f>
                            </m:e>
                          </m:nary>
                        </m:oMath>
                      </m:oMathPara>
                    </a14:m>
                    <a:endParaRPr lang="en-US" altLang="ja-JP" sz="3600" b="0" dirty="0">
                      <a:solidFill>
                        <a:schemeClr val="tx1"/>
                      </a:solidFill>
                      <a:latin typeface="UD デジタル 教科書体 NK-R" panose="02020400000000000000" pitchFamily="18" charset="-128"/>
                    </a:endParaRPr>
                  </a:p>
                  <a:p>
                    <a:pPr/>
                    <a14:m>
                      <m:oMathPara xmlns:m="http://schemas.openxmlformats.org/officeDocument/2006/math">
                        <m:oMathParaPr>
                          <m:jc m:val="left"/>
                        </m:oMathParaPr>
                        <m:oMath xmlns:m="http://schemas.openxmlformats.org/officeDocument/2006/math">
                          <m:sSub>
                            <m:sSubPr>
                              <m:ctrlPr>
                                <a:rPr lang="en-US" altLang="ja-JP" sz="3600" i="1" smtClean="0">
                                  <a:solidFill>
                                    <a:schemeClr val="tx1"/>
                                  </a:solidFill>
                                  <a:latin typeface="Cambria Math" panose="02040503050406030204" pitchFamily="18" charset="0"/>
                                </a:rPr>
                              </m:ctrlPr>
                            </m:sSubPr>
                            <m:e>
                              <m:r>
                                <a:rPr lang="en-US" altLang="ja-JP" sz="3600" b="1" i="0" smtClean="0">
                                  <a:solidFill>
                                    <a:schemeClr val="tx1"/>
                                  </a:solidFill>
                                  <a:latin typeface="Cambria Math" panose="02040503050406030204" pitchFamily="18" charset="0"/>
                                </a:rPr>
                                <m:t>𝐰</m:t>
                              </m:r>
                            </m:e>
                            <m:sub>
                              <m:r>
                                <a:rPr lang="en-US" altLang="ja-JP" sz="3600" i="1">
                                  <a:solidFill>
                                    <a:schemeClr val="tx1"/>
                                  </a:solidFill>
                                  <a:latin typeface="Cambria Math" panose="02040503050406030204" pitchFamily="18" charset="0"/>
                                </a:rPr>
                                <m:t>1</m:t>
                              </m:r>
                            </m:sub>
                          </m:sSub>
                          <m:r>
                            <a:rPr lang="en-ZA" altLang="ja-JP" sz="3600" i="1">
                              <a:solidFill>
                                <a:schemeClr val="tx1"/>
                              </a:solidFill>
                              <a:latin typeface="Cambria Math" panose="02040503050406030204" pitchFamily="18" charset="0"/>
                            </a:rPr>
                            <m:t>=</m:t>
                          </m:r>
                          <m:sSub>
                            <m:sSubPr>
                              <m:ctrlPr>
                                <a:rPr lang="en-US" altLang="ja-JP" sz="3600" i="1">
                                  <a:solidFill>
                                    <a:schemeClr val="tx1"/>
                                  </a:solidFill>
                                  <a:latin typeface="Cambria Math" panose="02040503050406030204" pitchFamily="18" charset="0"/>
                                </a:rPr>
                              </m:ctrlPr>
                            </m:sSubPr>
                            <m:e>
                              <m:r>
                                <a:rPr lang="en-US" altLang="ja-JP" sz="3600" b="1">
                                  <a:solidFill>
                                    <a:schemeClr val="tx1"/>
                                  </a:solidFill>
                                  <a:latin typeface="Cambria Math" panose="02040503050406030204" pitchFamily="18" charset="0"/>
                                </a:rPr>
                                <m:t>𝐰</m:t>
                              </m:r>
                            </m:e>
                            <m:sub>
                              <m:r>
                                <a:rPr lang="en-US" altLang="ja-JP" sz="3600" b="0" i="1" smtClean="0">
                                  <a:solidFill>
                                    <a:schemeClr val="tx1"/>
                                  </a:solidFill>
                                  <a:latin typeface="Cambria Math" panose="02040503050406030204" pitchFamily="18" charset="0"/>
                                </a:rPr>
                                <m:t>0</m:t>
                              </m:r>
                            </m:sub>
                          </m:sSub>
                          <m:r>
                            <a:rPr lang="en-ZA" altLang="ja-JP" sz="3600" i="1">
                              <a:solidFill>
                                <a:schemeClr val="tx1"/>
                              </a:solidFill>
                              <a:latin typeface="Cambria Math" panose="02040503050406030204" pitchFamily="18" charset="0"/>
                            </a:rPr>
                            <m:t>−</m:t>
                          </m:r>
                          <m:r>
                            <a:rPr lang="ja-JP" altLang="en-ZA" sz="3600" i="1">
                              <a:solidFill>
                                <a:schemeClr val="tx1"/>
                              </a:solidFill>
                              <a:latin typeface="Cambria Math" panose="02040503050406030204" pitchFamily="18" charset="0"/>
                            </a:rPr>
                            <m:t>𝛼</m:t>
                          </m:r>
                          <m:r>
                            <m:rPr>
                              <m:sty m:val="p"/>
                            </m:rPr>
                            <a:rPr lang="ja-JP" altLang="en-US" sz="3600">
                              <a:solidFill>
                                <a:schemeClr val="tx1"/>
                              </a:solidFill>
                              <a:latin typeface="Cambria Math" panose="02040503050406030204" pitchFamily="18" charset="0"/>
                            </a:rPr>
                            <m:t>∇</m:t>
                          </m:r>
                          <m:r>
                            <a:rPr lang="en-ZA" altLang="ja-JP" sz="3600" i="1">
                              <a:solidFill>
                                <a:schemeClr val="tx1"/>
                              </a:solidFill>
                              <a:latin typeface="Cambria Math" panose="02040503050406030204" pitchFamily="18" charset="0"/>
                            </a:rPr>
                            <m:t>𝐸</m:t>
                          </m:r>
                          <m:d>
                            <m:dPr>
                              <m:ctrlPr>
                                <a:rPr lang="en-ZA" altLang="ja-JP" sz="3600" i="1">
                                  <a:solidFill>
                                    <a:schemeClr val="tx1"/>
                                  </a:solidFill>
                                  <a:latin typeface="Cambria Math" panose="02040503050406030204" pitchFamily="18" charset="0"/>
                                </a:rPr>
                              </m:ctrlPr>
                            </m:dPr>
                            <m:e>
                              <m:sSub>
                                <m:sSubPr>
                                  <m:ctrlPr>
                                    <a:rPr lang="en-ZA" altLang="ja-JP" sz="3600" i="1">
                                      <a:solidFill>
                                        <a:schemeClr val="tx1"/>
                                      </a:solidFill>
                                      <a:latin typeface="Cambria Math" panose="02040503050406030204" pitchFamily="18" charset="0"/>
                                    </a:rPr>
                                  </m:ctrlPr>
                                </m:sSubPr>
                                <m:e>
                                  <m:r>
                                    <a:rPr lang="en-ZA" altLang="ja-JP" sz="3600" b="1">
                                      <a:solidFill>
                                        <a:schemeClr val="tx1"/>
                                      </a:solidFill>
                                      <a:latin typeface="Cambria Math" panose="02040503050406030204" pitchFamily="18" charset="0"/>
                                    </a:rPr>
                                    <m:t>𝐰</m:t>
                                  </m:r>
                                </m:e>
                                <m:sub>
                                  <m:r>
                                    <a:rPr lang="en-US" altLang="ja-JP" sz="3600" b="0" i="1" smtClean="0">
                                      <a:solidFill>
                                        <a:schemeClr val="tx1"/>
                                      </a:solidFill>
                                      <a:latin typeface="Cambria Math" panose="02040503050406030204" pitchFamily="18" charset="0"/>
                                    </a:rPr>
                                    <m:t>0</m:t>
                                  </m:r>
                                </m:sub>
                              </m:sSub>
                            </m:e>
                          </m:d>
                          <m:r>
                            <a:rPr lang="en-US" altLang="ja-JP" sz="3600" i="1">
                              <a:solidFill>
                                <a:schemeClr val="tx1"/>
                              </a:solidFill>
                              <a:latin typeface="Cambria Math" panose="02040503050406030204" pitchFamily="18" charset="0"/>
                              <a:ea typeface="Cambria Math" panose="02040503050406030204" pitchFamily="18" charset="0"/>
                            </a:rPr>
                            <m:t>⊘</m:t>
                          </m:r>
                          <m:sSub>
                            <m:sSubPr>
                              <m:ctrlPr>
                                <a:rPr lang="en-US" altLang="ja-JP" sz="3600" i="1">
                                  <a:solidFill>
                                    <a:schemeClr val="tx1"/>
                                  </a:solidFill>
                                  <a:latin typeface="Cambria Math" panose="02040503050406030204" pitchFamily="18" charset="0"/>
                                  <a:ea typeface="Cambria Math" panose="02040503050406030204" pitchFamily="18" charset="0"/>
                                </a:rPr>
                              </m:ctrlPr>
                            </m:sSubPr>
                            <m:e>
                              <m:r>
                                <a:rPr lang="en-US" altLang="ja-JP" sz="3600" b="1">
                                  <a:solidFill>
                                    <a:schemeClr val="tx1"/>
                                  </a:solidFill>
                                  <a:latin typeface="Cambria Math" panose="02040503050406030204" pitchFamily="18" charset="0"/>
                                  <a:ea typeface="Cambria Math" panose="02040503050406030204" pitchFamily="18" charset="0"/>
                                </a:rPr>
                                <m:t>𝐡</m:t>
                              </m:r>
                            </m:e>
                            <m:sub>
                              <m:r>
                                <a:rPr lang="en-US" altLang="ja-JP" sz="3600" b="0" i="1" smtClean="0">
                                  <a:solidFill>
                                    <a:schemeClr val="tx1"/>
                                  </a:solidFill>
                                  <a:latin typeface="Cambria Math" panose="02040503050406030204" pitchFamily="18" charset="0"/>
                                  <a:ea typeface="Cambria Math" panose="02040503050406030204" pitchFamily="18" charset="0"/>
                                </a:rPr>
                                <m:t>0</m:t>
                              </m:r>
                            </m:sub>
                          </m:sSub>
                        </m:oMath>
                      </m:oMathPara>
                    </a14:m>
                    <a:endParaRPr lang="en-US" altLang="ja-JP" sz="3600" dirty="0">
                      <a:solidFill>
                        <a:schemeClr val="tx1"/>
                      </a:solidFill>
                      <a:latin typeface="UD デジタル 教科書体 NK-R" panose="02020400000000000000" pitchFamily="18" charset="-128"/>
                    </a:endParaRPr>
                  </a:p>
                  <a:p>
                    <a:r>
                      <a:rPr lang="en-US" altLang="ja-JP" sz="3600" b="1" dirty="0">
                        <a:solidFill>
                          <a:schemeClr val="tx1"/>
                        </a:solidFill>
                        <a:latin typeface="BIZ UDP明朝 Medium" panose="02020500000000000000" pitchFamily="18" charset="-128"/>
                        <a:ea typeface="BIZ UDP明朝 Medium" panose="02020500000000000000" pitchFamily="18" charset="-128"/>
                      </a:rPr>
                      <a:t>For</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2, 3, …, k</a:t>
                    </a:r>
                  </a:p>
                  <a:p>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en-US" altLang="ja-JP" sz="3600" dirty="0">
                        <a:solidFill>
                          <a:schemeClr val="tx1"/>
                        </a:solidFill>
                        <a:ea typeface="Cambria Math" panose="02040503050406030204" pitchFamily="18" charset="0"/>
                      </a:rPr>
                      <a:t> </a:t>
                    </a:r>
                    <a14:m>
                      <m:oMath xmlns:m="http://schemas.openxmlformats.org/officeDocument/2006/math">
                        <m:sSub>
                          <m:sSubPr>
                            <m:ctrlPr>
                              <a:rPr lang="en-US" altLang="ja-JP" sz="3600" i="1" smtClean="0">
                                <a:solidFill>
                                  <a:schemeClr val="tx1"/>
                                </a:solidFill>
                                <a:latin typeface="Cambria Math" panose="02040503050406030204" pitchFamily="18" charset="0"/>
                                <a:ea typeface="Cambria Math" panose="02040503050406030204" pitchFamily="18" charset="0"/>
                              </a:rPr>
                            </m:ctrlPr>
                          </m:sSubPr>
                          <m:e>
                            <m:r>
                              <a:rPr lang="en-US" altLang="ja-JP" sz="3600" b="1">
                                <a:solidFill>
                                  <a:schemeClr val="tx1"/>
                                </a:solidFill>
                                <a:latin typeface="Cambria Math" panose="02040503050406030204" pitchFamily="18" charset="0"/>
                                <a:ea typeface="Cambria Math" panose="02040503050406030204" pitchFamily="18" charset="0"/>
                              </a:rPr>
                              <m:t>𝐡</m:t>
                            </m:r>
                          </m:e>
                          <m:sub>
                            <m:r>
                              <a:rPr lang="en-US" altLang="ja-JP" sz="3600" i="1">
                                <a:solidFill>
                                  <a:schemeClr val="tx1"/>
                                </a:solidFill>
                                <a:latin typeface="Cambria Math" panose="02040503050406030204" pitchFamily="18" charset="0"/>
                                <a:ea typeface="Cambria Math" panose="02040503050406030204" pitchFamily="18" charset="0"/>
                              </a:rPr>
                              <m:t>𝑘</m:t>
                            </m:r>
                          </m:sub>
                        </m:sSub>
                        <m:r>
                          <a:rPr lang="en-US" altLang="ja-JP" sz="3600" b="0" i="1" smtClean="0">
                            <a:solidFill>
                              <a:schemeClr val="tx1"/>
                            </a:solidFill>
                            <a:latin typeface="Cambria Math" panose="02040503050406030204" pitchFamily="18" charset="0"/>
                            <a:ea typeface="Cambria Math" panose="02040503050406030204" pitchFamily="18" charset="0"/>
                          </a:rPr>
                          <m:t>= </m:t>
                        </m:r>
                        <m:r>
                          <a:rPr lang="ja-JP" altLang="en-US" sz="3600" b="0" i="1" smtClean="0">
                            <a:solidFill>
                              <a:schemeClr val="tx1"/>
                            </a:solidFill>
                            <a:latin typeface="Cambria Math" panose="02040503050406030204" pitchFamily="18" charset="0"/>
                            <a:ea typeface="Cambria Math" panose="02040503050406030204" pitchFamily="18" charset="0"/>
                          </a:rPr>
                          <m:t>𝛽</m:t>
                        </m:r>
                        <m:sSub>
                          <m:sSubPr>
                            <m:ctrlPr>
                              <a:rPr lang="en-US" altLang="ja-JP" sz="3600" i="1">
                                <a:solidFill>
                                  <a:schemeClr val="tx1"/>
                                </a:solidFill>
                                <a:latin typeface="Cambria Math" panose="02040503050406030204" pitchFamily="18" charset="0"/>
                                <a:ea typeface="Cambria Math" panose="02040503050406030204" pitchFamily="18" charset="0"/>
                              </a:rPr>
                            </m:ctrlPr>
                          </m:sSubPr>
                          <m:e>
                            <m:r>
                              <a:rPr lang="en-US" altLang="ja-JP" sz="3600" b="1">
                                <a:solidFill>
                                  <a:schemeClr val="tx1"/>
                                </a:solidFill>
                                <a:latin typeface="Cambria Math" panose="02040503050406030204" pitchFamily="18" charset="0"/>
                                <a:ea typeface="Cambria Math" panose="02040503050406030204" pitchFamily="18" charset="0"/>
                              </a:rPr>
                              <m:t>𝐡</m:t>
                            </m:r>
                          </m:e>
                          <m:sub>
                            <m:r>
                              <a:rPr lang="en-US" altLang="ja-JP" sz="3600" i="1">
                                <a:solidFill>
                                  <a:schemeClr val="tx1"/>
                                </a:solidFill>
                                <a:latin typeface="Cambria Math" panose="02040503050406030204" pitchFamily="18" charset="0"/>
                                <a:ea typeface="Cambria Math" panose="02040503050406030204" pitchFamily="18" charset="0"/>
                              </a:rPr>
                              <m:t>𝑘</m:t>
                            </m:r>
                            <m:r>
                              <a:rPr lang="en-US" altLang="ja-JP" sz="3600" b="0" i="1" smtClean="0">
                                <a:solidFill>
                                  <a:schemeClr val="tx1"/>
                                </a:solidFill>
                                <a:latin typeface="Cambria Math" panose="02040503050406030204" pitchFamily="18" charset="0"/>
                                <a:ea typeface="Cambria Math" panose="02040503050406030204" pitchFamily="18" charset="0"/>
                              </a:rPr>
                              <m:t>−1</m:t>
                            </m:r>
                          </m:sub>
                        </m:sSub>
                        <m:r>
                          <a:rPr lang="en-US" altLang="ja-JP" sz="3600" b="0" i="1" smtClean="0">
                            <a:solidFill>
                              <a:schemeClr val="tx1"/>
                            </a:solidFill>
                            <a:latin typeface="Cambria Math" panose="02040503050406030204" pitchFamily="18" charset="0"/>
                            <a:ea typeface="Cambria Math" panose="02040503050406030204" pitchFamily="18" charset="0"/>
                          </a:rPr>
                          <m:t>+</m:t>
                        </m:r>
                        <m:d>
                          <m:dPr>
                            <m:ctrlPr>
                              <a:rPr lang="en-US" altLang="ja-JP" sz="3600" b="0" i="1" smtClean="0">
                                <a:solidFill>
                                  <a:schemeClr val="tx1"/>
                                </a:solidFill>
                                <a:latin typeface="Cambria Math" panose="02040503050406030204" pitchFamily="18" charset="0"/>
                                <a:ea typeface="Cambria Math" panose="02040503050406030204" pitchFamily="18" charset="0"/>
                              </a:rPr>
                            </m:ctrlPr>
                          </m:dPr>
                          <m:e>
                            <m:r>
                              <a:rPr lang="en-US" altLang="ja-JP" sz="3600" b="0" i="1" smtClean="0">
                                <a:solidFill>
                                  <a:schemeClr val="tx1"/>
                                </a:solidFill>
                                <a:latin typeface="Cambria Math" panose="02040503050406030204" pitchFamily="18" charset="0"/>
                                <a:ea typeface="Cambria Math" panose="02040503050406030204" pitchFamily="18" charset="0"/>
                              </a:rPr>
                              <m:t>1 − </m:t>
                            </m:r>
                            <m:r>
                              <a:rPr lang="ja-JP" altLang="en-US" sz="3600" b="0" i="1" smtClean="0">
                                <a:solidFill>
                                  <a:schemeClr val="tx1"/>
                                </a:solidFill>
                                <a:latin typeface="Cambria Math" panose="02040503050406030204" pitchFamily="18" charset="0"/>
                                <a:ea typeface="Cambria Math" panose="02040503050406030204" pitchFamily="18" charset="0"/>
                              </a:rPr>
                              <m:t>𝛽</m:t>
                            </m:r>
                          </m:e>
                        </m:d>
                        <m:d>
                          <m:dPr>
                            <m:ctrlPr>
                              <a:rPr lang="en-US" altLang="ja-JP" sz="3600" b="0" i="1" smtClean="0">
                                <a:solidFill>
                                  <a:schemeClr val="tx1"/>
                                </a:solidFill>
                                <a:latin typeface="Cambria Math" panose="02040503050406030204" pitchFamily="18" charset="0"/>
                                <a:ea typeface="Cambria Math" panose="02040503050406030204" pitchFamily="18" charset="0"/>
                              </a:rPr>
                            </m:ctrlPr>
                          </m:dPr>
                          <m:e>
                            <m:sSub>
                              <m:sSubPr>
                                <m:ctrlPr>
                                  <a:rPr lang="en-US" altLang="ja-JP" sz="3600" i="1">
                                    <a:solidFill>
                                      <a:schemeClr val="tx1"/>
                                    </a:solidFill>
                                    <a:latin typeface="Cambria Math" panose="02040503050406030204" pitchFamily="18" charset="0"/>
                                  </a:rPr>
                                </m:ctrlPr>
                              </m:sSubPr>
                              <m:e>
                                <m:r>
                                  <a:rPr lang="en-US" altLang="ja-JP" sz="3600" b="1">
                                    <a:solidFill>
                                      <a:schemeClr val="tx1"/>
                                    </a:solidFill>
                                    <a:latin typeface="Cambria Math" panose="02040503050406030204" pitchFamily="18" charset="0"/>
                                  </a:rPr>
                                  <m:t>𝐳</m:t>
                                </m:r>
                              </m:e>
                              <m:sub>
                                <m:r>
                                  <a:rPr lang="en-US" altLang="ja-JP" sz="3600" i="1">
                                    <a:solidFill>
                                      <a:schemeClr val="tx1"/>
                                    </a:solidFill>
                                    <a:latin typeface="Cambria Math" panose="02040503050406030204" pitchFamily="18" charset="0"/>
                                  </a:rPr>
                                  <m:t>𝑙</m:t>
                                </m:r>
                              </m:sub>
                            </m:sSub>
                            <m:r>
                              <a:rPr lang="en-US" altLang="ja-JP" sz="3600" i="1">
                                <a:solidFill>
                                  <a:schemeClr val="tx1"/>
                                </a:solidFill>
                                <a:latin typeface="Cambria Math" panose="02040503050406030204" pitchFamily="18" charset="0"/>
                                <a:ea typeface="Cambria Math" panose="02040503050406030204" pitchFamily="18" charset="0"/>
                              </a:rPr>
                              <m:t>⨂</m:t>
                            </m:r>
                            <m:f>
                              <m:fPr>
                                <m:ctrlPr>
                                  <a:rPr lang="en-US" altLang="ja-JP" sz="3600" i="1">
                                    <a:solidFill>
                                      <a:schemeClr val="tx1"/>
                                    </a:solidFill>
                                    <a:latin typeface="Cambria Math" panose="02040503050406030204" pitchFamily="18" charset="0"/>
                                  </a:rPr>
                                </m:ctrlPr>
                              </m:fPr>
                              <m:num>
                                <m:r>
                                  <a:rPr lang="ja-JP" altLang="en-US" sz="3600" i="1">
                                    <a:solidFill>
                                      <a:schemeClr val="tx1"/>
                                    </a:solidFill>
                                    <a:latin typeface="Cambria Math" panose="02040503050406030204" pitchFamily="18" charset="0"/>
                                  </a:rPr>
                                  <m:t>𝜕</m:t>
                                </m:r>
                                <m:sSup>
                                  <m:sSupPr>
                                    <m:ctrlPr>
                                      <a:rPr lang="en-US" altLang="ja-JP" sz="3600" i="1">
                                        <a:solidFill>
                                          <a:schemeClr val="tx1"/>
                                        </a:solidFill>
                                        <a:latin typeface="Cambria Math" panose="02040503050406030204" pitchFamily="18" charset="0"/>
                                      </a:rPr>
                                    </m:ctrlPr>
                                  </m:sSupPr>
                                  <m:e>
                                    <m:d>
                                      <m:dPr>
                                        <m:ctrlPr>
                                          <a:rPr lang="en-US" altLang="ja-JP" sz="3600" i="1">
                                            <a:solidFill>
                                              <a:schemeClr val="tx1"/>
                                            </a:solidFill>
                                            <a:latin typeface="Cambria Math" panose="02040503050406030204" pitchFamily="18" charset="0"/>
                                          </a:rPr>
                                        </m:ctrlPr>
                                      </m:dPr>
                                      <m:e>
                                        <m:r>
                                          <m:rPr>
                                            <m:sty m:val="p"/>
                                          </m:rPr>
                                          <a:rPr lang="ja-JP" altLang="en-US" sz="3600">
                                            <a:solidFill>
                                              <a:schemeClr val="tx1"/>
                                            </a:solidFill>
                                            <a:latin typeface="Cambria Math" panose="02040503050406030204" pitchFamily="18" charset="0"/>
                                          </a:rPr>
                                          <m:t>∇</m:t>
                                        </m:r>
                                        <m:r>
                                          <a:rPr lang="en-ZA" altLang="ja-JP" sz="3600" i="1">
                                            <a:solidFill>
                                              <a:schemeClr val="tx1"/>
                                            </a:solidFill>
                                            <a:latin typeface="Cambria Math" panose="02040503050406030204" pitchFamily="18" charset="0"/>
                                          </a:rPr>
                                          <m:t>𝐸</m:t>
                                        </m:r>
                                        <m:d>
                                          <m:dPr>
                                            <m:ctrlPr>
                                              <a:rPr lang="en-ZA" altLang="ja-JP" sz="3600" i="1">
                                                <a:solidFill>
                                                  <a:schemeClr val="tx1"/>
                                                </a:solidFill>
                                                <a:latin typeface="Cambria Math" panose="02040503050406030204" pitchFamily="18" charset="0"/>
                                              </a:rPr>
                                            </m:ctrlPr>
                                          </m:dPr>
                                          <m:e>
                                            <m:sSub>
                                              <m:sSubPr>
                                                <m:ctrlPr>
                                                  <a:rPr lang="en-ZA" altLang="ja-JP" sz="3600" i="1">
                                                    <a:solidFill>
                                                      <a:schemeClr val="tx1"/>
                                                    </a:solidFill>
                                                    <a:latin typeface="Cambria Math" panose="02040503050406030204" pitchFamily="18" charset="0"/>
                                                  </a:rPr>
                                                </m:ctrlPr>
                                              </m:sSubPr>
                                              <m:e>
                                                <m:r>
                                                  <a:rPr lang="en-ZA" altLang="ja-JP" sz="3600" b="1">
                                                    <a:solidFill>
                                                      <a:schemeClr val="tx1"/>
                                                    </a:solidFill>
                                                    <a:latin typeface="Cambria Math" panose="02040503050406030204" pitchFamily="18" charset="0"/>
                                                  </a:rPr>
                                                  <m:t>𝐰</m:t>
                                                </m:r>
                                              </m:e>
                                              <m:sub>
                                                <m:r>
                                                  <a:rPr lang="en-ZA" altLang="ja-JP" sz="3600" i="1">
                                                    <a:solidFill>
                                                      <a:schemeClr val="tx1"/>
                                                    </a:solidFill>
                                                    <a:latin typeface="Cambria Math" panose="02040503050406030204" pitchFamily="18" charset="0"/>
                                                  </a:rPr>
                                                  <m:t>𝑘</m:t>
                                                </m:r>
                                              </m:sub>
                                            </m:sSub>
                                            <m:r>
                                              <a:rPr lang="en-US" altLang="ja-JP" sz="3600" i="1">
                                                <a:solidFill>
                                                  <a:schemeClr val="tx1"/>
                                                </a:solidFill>
                                                <a:latin typeface="Cambria Math" panose="02040503050406030204" pitchFamily="18" charset="0"/>
                                              </a:rPr>
                                              <m:t>+</m:t>
                                            </m:r>
                                            <m:r>
                                              <a:rPr lang="ja-JP" altLang="en-US" sz="3600" i="1">
                                                <a:solidFill>
                                                  <a:schemeClr val="tx1"/>
                                                </a:solidFill>
                                                <a:latin typeface="Cambria Math" panose="02040503050406030204" pitchFamily="18" charset="0"/>
                                                <a:ea typeface="UD デジタル 教科書体 NK-R" panose="02020400000000000000" pitchFamily="18" charset="-128"/>
                                              </a:rPr>
                                              <m:t>𝜇</m:t>
                                            </m:r>
                                            <m:sSub>
                                              <m:sSubPr>
                                                <m:ctrlPr>
                                                  <a:rPr lang="en-US" altLang="ja-JP" sz="3600" i="1">
                                                    <a:solidFill>
                                                      <a:schemeClr val="tx1"/>
                                                    </a:solidFill>
                                                    <a:latin typeface="Cambria Math" panose="02040503050406030204" pitchFamily="18" charset="0"/>
                                                    <a:ea typeface="UD デジタル 教科書体 NK-R" panose="02020400000000000000" pitchFamily="18" charset="-128"/>
                                                  </a:rPr>
                                                </m:ctrlPr>
                                              </m:sSubPr>
                                              <m:e>
                                                <m:r>
                                                  <a:rPr lang="en-US" altLang="ja-JP" sz="3600" b="1">
                                                    <a:solidFill>
                                                      <a:schemeClr val="tx1"/>
                                                    </a:solidFill>
                                                    <a:latin typeface="Cambria Math" panose="02040503050406030204" pitchFamily="18" charset="0"/>
                                                    <a:ea typeface="UD デジタル 教科書体 NK-R" panose="02020400000000000000" pitchFamily="18" charset="-128"/>
                                                  </a:rPr>
                                                  <m:t>𝐯</m:t>
                                                </m:r>
                                              </m:e>
                                              <m:sub>
                                                <m:r>
                                                  <a:rPr lang="en-US" altLang="ja-JP" sz="3600" i="1">
                                                    <a:solidFill>
                                                      <a:schemeClr val="tx1"/>
                                                    </a:solidFill>
                                                    <a:latin typeface="Cambria Math" panose="02040503050406030204" pitchFamily="18" charset="0"/>
                                                    <a:ea typeface="UD デジタル 教科書体 NK-R" panose="02020400000000000000" pitchFamily="18" charset="-128"/>
                                                  </a:rPr>
                                                  <m:t>𝑘</m:t>
                                                </m:r>
                                              </m:sub>
                                            </m:sSub>
                                          </m:e>
                                        </m:d>
                                      </m:e>
                                    </m:d>
                                  </m:e>
                                  <m:sup>
                                    <m:r>
                                      <a:rPr lang="en-US" altLang="ja-JP" sz="3600" i="1">
                                        <a:solidFill>
                                          <a:schemeClr val="tx1"/>
                                        </a:solidFill>
                                        <a:latin typeface="Cambria Math" panose="02040503050406030204" pitchFamily="18" charset="0"/>
                                      </a:rPr>
                                      <m:t>𝑇</m:t>
                                    </m:r>
                                  </m:sup>
                                </m:sSup>
                                <m:sSub>
                                  <m:sSubPr>
                                    <m:ctrlPr>
                                      <a:rPr lang="en-US" altLang="ja-JP" sz="3600" i="1">
                                        <a:solidFill>
                                          <a:schemeClr val="tx1"/>
                                        </a:solidFill>
                                        <a:latin typeface="Cambria Math" panose="02040503050406030204" pitchFamily="18" charset="0"/>
                                      </a:rPr>
                                    </m:ctrlPr>
                                  </m:sSubPr>
                                  <m:e>
                                    <m:r>
                                      <a:rPr lang="en-US" altLang="ja-JP" sz="3600" b="1">
                                        <a:solidFill>
                                          <a:schemeClr val="tx1"/>
                                        </a:solidFill>
                                        <a:latin typeface="Cambria Math" panose="02040503050406030204" pitchFamily="18" charset="0"/>
                                      </a:rPr>
                                      <m:t>𝐳</m:t>
                                    </m:r>
                                  </m:e>
                                  <m:sub>
                                    <m:r>
                                      <a:rPr lang="en-US" altLang="ja-JP" sz="3600" i="1">
                                        <a:solidFill>
                                          <a:schemeClr val="tx1"/>
                                        </a:solidFill>
                                        <a:latin typeface="Cambria Math" panose="02040503050406030204" pitchFamily="18" charset="0"/>
                                      </a:rPr>
                                      <m:t>𝑙</m:t>
                                    </m:r>
                                  </m:sub>
                                </m:sSub>
                              </m:num>
                              <m:den>
                                <m:r>
                                  <a:rPr lang="ja-JP" altLang="en-US" sz="3600" i="1">
                                    <a:solidFill>
                                      <a:schemeClr val="tx1"/>
                                    </a:solidFill>
                                    <a:latin typeface="Cambria Math" panose="02040503050406030204" pitchFamily="18" charset="0"/>
                                  </a:rPr>
                                  <m:t>𝜕</m:t>
                                </m:r>
                                <m:r>
                                  <a:rPr lang="en-US" altLang="ja-JP" sz="3600" b="1">
                                    <a:solidFill>
                                      <a:schemeClr val="tx1"/>
                                    </a:solidFill>
                                    <a:latin typeface="Cambria Math" panose="02040503050406030204" pitchFamily="18" charset="0"/>
                                  </a:rPr>
                                  <m:t>𝐰</m:t>
                                </m:r>
                              </m:den>
                            </m:f>
                          </m:e>
                        </m:d>
                      </m:oMath>
                    </a14:m>
                    <a:endParaRPr lang="en-US" altLang="ja-JP" sz="3600" dirty="0">
                      <a:solidFill>
                        <a:schemeClr val="tx1"/>
                      </a:solidFill>
                      <a:latin typeface="UD デジタル 教科書体 NK-R" panose="02020400000000000000" pitchFamily="18" charset="-128"/>
                      <a:ea typeface="UD デジタル 教科書体 NK-R" panose="02020400000000000000" pitchFamily="18" charset="-128"/>
                    </a:endParaRPr>
                  </a:p>
                  <a:p>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en-US" altLang="ja-JP" sz="3600" dirty="0">
                        <a:solidFill>
                          <a:schemeClr val="tx1"/>
                        </a:solidFill>
                      </a:rPr>
                      <a:t> </a:t>
                    </a:r>
                    <a14:m>
                      <m:oMath xmlns:m="http://schemas.openxmlformats.org/officeDocument/2006/math">
                        <m:sSub>
                          <m:sSubPr>
                            <m:ctrlPr>
                              <a:rPr lang="en-US" altLang="ja-JP" sz="3600" i="1" smtClean="0">
                                <a:solidFill>
                                  <a:schemeClr val="tx1"/>
                                </a:solidFill>
                                <a:latin typeface="Cambria Math" panose="02040503050406030204" pitchFamily="18" charset="0"/>
                              </a:rPr>
                            </m:ctrlPr>
                          </m:sSubPr>
                          <m:e>
                            <m:r>
                              <a:rPr lang="en-US" altLang="ja-JP" sz="3600" b="1" i="0" smtClean="0">
                                <a:solidFill>
                                  <a:schemeClr val="tx1"/>
                                </a:solidFill>
                                <a:latin typeface="Cambria Math" panose="02040503050406030204" pitchFamily="18" charset="0"/>
                              </a:rPr>
                              <m:t>𝐰</m:t>
                            </m:r>
                          </m:e>
                          <m:sub>
                            <m:r>
                              <a:rPr lang="en-US" altLang="ja-JP" sz="3600" b="0" i="1" smtClean="0">
                                <a:solidFill>
                                  <a:schemeClr val="tx1"/>
                                </a:solidFill>
                                <a:latin typeface="Cambria Math" panose="02040503050406030204" pitchFamily="18" charset="0"/>
                              </a:rPr>
                              <m:t>𝑘</m:t>
                            </m:r>
                            <m:r>
                              <a:rPr lang="en-US" altLang="ja-JP" sz="3600" b="0" i="1" smtClean="0">
                                <a:solidFill>
                                  <a:schemeClr val="tx1"/>
                                </a:solidFill>
                                <a:latin typeface="Cambria Math" panose="02040503050406030204" pitchFamily="18" charset="0"/>
                              </a:rPr>
                              <m:t>+1</m:t>
                            </m:r>
                          </m:sub>
                        </m:sSub>
                        <m:r>
                          <a:rPr lang="en-ZA" altLang="ja-JP" sz="3600" i="1">
                            <a:solidFill>
                              <a:schemeClr val="tx1"/>
                            </a:solidFill>
                            <a:latin typeface="Cambria Math" panose="02040503050406030204" pitchFamily="18" charset="0"/>
                          </a:rPr>
                          <m:t>=</m:t>
                        </m:r>
                        <m:sSub>
                          <m:sSubPr>
                            <m:ctrlPr>
                              <a:rPr lang="en-US" altLang="ja-JP" sz="3600" i="1">
                                <a:solidFill>
                                  <a:schemeClr val="tx1"/>
                                </a:solidFill>
                                <a:latin typeface="Cambria Math" panose="02040503050406030204" pitchFamily="18" charset="0"/>
                              </a:rPr>
                            </m:ctrlPr>
                          </m:sSubPr>
                          <m:e>
                            <m:r>
                              <a:rPr lang="en-US" altLang="ja-JP" sz="3600" b="1">
                                <a:solidFill>
                                  <a:schemeClr val="tx1"/>
                                </a:solidFill>
                                <a:latin typeface="Cambria Math" panose="02040503050406030204" pitchFamily="18" charset="0"/>
                              </a:rPr>
                              <m:t>𝐰</m:t>
                            </m:r>
                          </m:e>
                          <m:sub>
                            <m:r>
                              <a:rPr lang="en-US" altLang="ja-JP" sz="3600" b="0" i="1" smtClean="0">
                                <a:solidFill>
                                  <a:schemeClr val="tx1"/>
                                </a:solidFill>
                                <a:latin typeface="Cambria Math" panose="02040503050406030204" pitchFamily="18" charset="0"/>
                              </a:rPr>
                              <m:t>𝑘</m:t>
                            </m:r>
                          </m:sub>
                        </m:sSub>
                        <m:r>
                          <a:rPr lang="en-US" altLang="ja-JP" sz="3600" b="0" i="1" smtClean="0">
                            <a:solidFill>
                              <a:schemeClr val="tx1"/>
                            </a:solidFill>
                            <a:latin typeface="Cambria Math" panose="02040503050406030204" pitchFamily="18" charset="0"/>
                          </a:rPr>
                          <m:t>+ </m:t>
                        </m:r>
                        <m:r>
                          <a:rPr lang="ja-JP" altLang="en-US" sz="3600" i="1">
                            <a:solidFill>
                              <a:schemeClr val="tx1"/>
                            </a:solidFill>
                            <a:latin typeface="Cambria Math" panose="02040503050406030204" pitchFamily="18" charset="0"/>
                            <a:ea typeface="UD デジタル 教科書体 NK-R" panose="02020400000000000000" pitchFamily="18" charset="-128"/>
                          </a:rPr>
                          <m:t>𝜇</m:t>
                        </m:r>
                        <m:sSub>
                          <m:sSubPr>
                            <m:ctrlPr>
                              <a:rPr lang="en-US" altLang="ja-JP" sz="3600" i="1">
                                <a:solidFill>
                                  <a:schemeClr val="tx1"/>
                                </a:solidFill>
                                <a:latin typeface="Cambria Math" panose="02040503050406030204" pitchFamily="18" charset="0"/>
                                <a:ea typeface="UD デジタル 教科書体 NK-R" panose="02020400000000000000" pitchFamily="18" charset="-128"/>
                              </a:rPr>
                            </m:ctrlPr>
                          </m:sSubPr>
                          <m:e>
                            <m:r>
                              <a:rPr lang="en-US" altLang="ja-JP" sz="3600" b="1">
                                <a:solidFill>
                                  <a:schemeClr val="tx1"/>
                                </a:solidFill>
                                <a:latin typeface="Cambria Math" panose="02040503050406030204" pitchFamily="18" charset="0"/>
                                <a:ea typeface="UD デジタル 教科書体 NK-R" panose="02020400000000000000" pitchFamily="18" charset="-128"/>
                              </a:rPr>
                              <m:t>𝐯</m:t>
                            </m:r>
                          </m:e>
                          <m:sub>
                            <m:r>
                              <a:rPr lang="en-US" altLang="ja-JP" sz="3600" i="1">
                                <a:solidFill>
                                  <a:schemeClr val="tx1"/>
                                </a:solidFill>
                                <a:latin typeface="Cambria Math" panose="02040503050406030204" pitchFamily="18" charset="0"/>
                                <a:ea typeface="UD デジタル 教科書体 NK-R" panose="02020400000000000000" pitchFamily="18" charset="-128"/>
                              </a:rPr>
                              <m:t>𝑘</m:t>
                            </m:r>
                          </m:sub>
                        </m:sSub>
                        <m:r>
                          <a:rPr lang="en-ZA" altLang="ja-JP" sz="3600" i="1">
                            <a:solidFill>
                              <a:schemeClr val="tx1"/>
                            </a:solidFill>
                            <a:latin typeface="Cambria Math" panose="02040503050406030204" pitchFamily="18" charset="0"/>
                          </a:rPr>
                          <m:t>−</m:t>
                        </m:r>
                        <m:r>
                          <a:rPr lang="ja-JP" altLang="en-ZA" sz="3600" i="1">
                            <a:solidFill>
                              <a:schemeClr val="tx1"/>
                            </a:solidFill>
                            <a:latin typeface="Cambria Math" panose="02040503050406030204" pitchFamily="18" charset="0"/>
                          </a:rPr>
                          <m:t>𝛼</m:t>
                        </m:r>
                        <m:r>
                          <m:rPr>
                            <m:sty m:val="p"/>
                          </m:rPr>
                          <a:rPr lang="ja-JP" altLang="en-US" sz="3600">
                            <a:solidFill>
                              <a:schemeClr val="tx1"/>
                            </a:solidFill>
                            <a:latin typeface="Cambria Math" panose="02040503050406030204" pitchFamily="18" charset="0"/>
                          </a:rPr>
                          <m:t>∇</m:t>
                        </m:r>
                        <m:r>
                          <a:rPr lang="en-ZA" altLang="ja-JP" sz="3600" i="1">
                            <a:solidFill>
                              <a:schemeClr val="tx1"/>
                            </a:solidFill>
                            <a:latin typeface="Cambria Math" panose="02040503050406030204" pitchFamily="18" charset="0"/>
                          </a:rPr>
                          <m:t>𝐸</m:t>
                        </m:r>
                        <m:d>
                          <m:dPr>
                            <m:ctrlPr>
                              <a:rPr lang="en-ZA" altLang="ja-JP" sz="3600" i="1">
                                <a:solidFill>
                                  <a:schemeClr val="tx1"/>
                                </a:solidFill>
                                <a:latin typeface="Cambria Math" panose="02040503050406030204" pitchFamily="18" charset="0"/>
                              </a:rPr>
                            </m:ctrlPr>
                          </m:dPr>
                          <m:e>
                            <m:sSub>
                              <m:sSubPr>
                                <m:ctrlPr>
                                  <a:rPr lang="en-ZA" altLang="ja-JP" sz="3600" i="1">
                                    <a:solidFill>
                                      <a:schemeClr val="tx1"/>
                                    </a:solidFill>
                                    <a:latin typeface="Cambria Math" panose="02040503050406030204" pitchFamily="18" charset="0"/>
                                  </a:rPr>
                                </m:ctrlPr>
                              </m:sSubPr>
                              <m:e>
                                <m:r>
                                  <a:rPr lang="en-ZA" altLang="ja-JP" sz="3600" b="1">
                                    <a:solidFill>
                                      <a:schemeClr val="tx1"/>
                                    </a:solidFill>
                                    <a:latin typeface="Cambria Math" panose="02040503050406030204" pitchFamily="18" charset="0"/>
                                  </a:rPr>
                                  <m:t>𝐰</m:t>
                                </m:r>
                              </m:e>
                              <m:sub>
                                <m:r>
                                  <a:rPr lang="en-ZA" altLang="ja-JP" sz="3600" i="1">
                                    <a:solidFill>
                                      <a:schemeClr val="tx1"/>
                                    </a:solidFill>
                                    <a:latin typeface="Cambria Math" panose="02040503050406030204" pitchFamily="18" charset="0"/>
                                  </a:rPr>
                                  <m:t>𝑘</m:t>
                                </m:r>
                              </m:sub>
                            </m:sSub>
                            <m:r>
                              <a:rPr lang="en-US" altLang="ja-JP" sz="3600" i="1">
                                <a:solidFill>
                                  <a:schemeClr val="tx1"/>
                                </a:solidFill>
                                <a:latin typeface="Cambria Math" panose="02040503050406030204" pitchFamily="18" charset="0"/>
                              </a:rPr>
                              <m:t>+</m:t>
                            </m:r>
                            <m:r>
                              <a:rPr lang="ja-JP" altLang="en-US" sz="3600" i="1">
                                <a:solidFill>
                                  <a:schemeClr val="tx1"/>
                                </a:solidFill>
                                <a:latin typeface="Cambria Math" panose="02040503050406030204" pitchFamily="18" charset="0"/>
                                <a:ea typeface="UD デジタル 教科書体 NK-R" panose="02020400000000000000" pitchFamily="18" charset="-128"/>
                              </a:rPr>
                              <m:t>𝜇</m:t>
                            </m:r>
                            <m:sSub>
                              <m:sSubPr>
                                <m:ctrlPr>
                                  <a:rPr lang="en-US" altLang="ja-JP" sz="3600" i="1">
                                    <a:solidFill>
                                      <a:schemeClr val="tx1"/>
                                    </a:solidFill>
                                    <a:latin typeface="Cambria Math" panose="02040503050406030204" pitchFamily="18" charset="0"/>
                                    <a:ea typeface="UD デジタル 教科書体 NK-R" panose="02020400000000000000" pitchFamily="18" charset="-128"/>
                                  </a:rPr>
                                </m:ctrlPr>
                              </m:sSubPr>
                              <m:e>
                                <m:r>
                                  <a:rPr lang="en-US" altLang="ja-JP" sz="3600" b="1">
                                    <a:solidFill>
                                      <a:schemeClr val="tx1"/>
                                    </a:solidFill>
                                    <a:latin typeface="Cambria Math" panose="02040503050406030204" pitchFamily="18" charset="0"/>
                                    <a:ea typeface="UD デジタル 教科書体 NK-R" panose="02020400000000000000" pitchFamily="18" charset="-128"/>
                                  </a:rPr>
                                  <m:t>𝐯</m:t>
                                </m:r>
                              </m:e>
                              <m:sub>
                                <m:r>
                                  <a:rPr lang="en-US" altLang="ja-JP" sz="3600" i="1">
                                    <a:solidFill>
                                      <a:schemeClr val="tx1"/>
                                    </a:solidFill>
                                    <a:latin typeface="Cambria Math" panose="02040503050406030204" pitchFamily="18" charset="0"/>
                                    <a:ea typeface="UD デジタル 教科書体 NK-R" panose="02020400000000000000" pitchFamily="18" charset="-128"/>
                                  </a:rPr>
                                  <m:t>𝑘</m:t>
                                </m:r>
                              </m:sub>
                            </m:sSub>
                          </m:e>
                        </m:d>
                        <m:r>
                          <a:rPr lang="en-US" altLang="ja-JP" sz="3600" i="1">
                            <a:solidFill>
                              <a:schemeClr val="tx1"/>
                            </a:solidFill>
                            <a:latin typeface="Cambria Math" panose="02040503050406030204" pitchFamily="18" charset="0"/>
                            <a:ea typeface="Cambria Math" panose="02040503050406030204" pitchFamily="18" charset="0"/>
                          </a:rPr>
                          <m:t>⊘</m:t>
                        </m:r>
                        <m:sSub>
                          <m:sSubPr>
                            <m:ctrlPr>
                              <a:rPr lang="en-US" altLang="ja-JP" sz="3600" i="1">
                                <a:solidFill>
                                  <a:schemeClr val="tx1"/>
                                </a:solidFill>
                                <a:latin typeface="Cambria Math" panose="02040503050406030204" pitchFamily="18" charset="0"/>
                                <a:ea typeface="Cambria Math" panose="02040503050406030204" pitchFamily="18" charset="0"/>
                              </a:rPr>
                            </m:ctrlPr>
                          </m:sSubPr>
                          <m:e>
                            <m:r>
                              <a:rPr lang="en-US" altLang="ja-JP" sz="3600" b="1">
                                <a:solidFill>
                                  <a:schemeClr val="tx1"/>
                                </a:solidFill>
                                <a:latin typeface="Cambria Math" panose="02040503050406030204" pitchFamily="18" charset="0"/>
                                <a:ea typeface="Cambria Math" panose="02040503050406030204" pitchFamily="18" charset="0"/>
                              </a:rPr>
                              <m:t>𝐡</m:t>
                            </m:r>
                          </m:e>
                          <m:sub>
                            <m:r>
                              <a:rPr lang="en-US" altLang="ja-JP" sz="3600" i="1">
                                <a:solidFill>
                                  <a:schemeClr val="tx1"/>
                                </a:solidFill>
                                <a:latin typeface="Cambria Math" panose="02040503050406030204" pitchFamily="18" charset="0"/>
                                <a:ea typeface="Cambria Math" panose="02040503050406030204" pitchFamily="18" charset="0"/>
                              </a:rPr>
                              <m:t>𝑘</m:t>
                            </m:r>
                          </m:sub>
                        </m:sSub>
                      </m:oMath>
                    </a14:m>
                    <a:endParaRPr lang="en-US" altLang="ja-JP" sz="3600" dirty="0">
                      <a:solidFill>
                        <a:schemeClr val="tx1"/>
                      </a:solidFill>
                      <a:latin typeface="UD デジタル 教科書体 NK-R" panose="02020400000000000000" pitchFamily="18" charset="-128"/>
                      <a:ea typeface="UD デジタル 教科書体 NK-R" panose="02020400000000000000" pitchFamily="18" charset="-128"/>
                    </a:endParaRPr>
                  </a:p>
                  <a:p>
                    <a:r>
                      <a:rPr lang="en-US" altLang="ja-JP" sz="3600" b="1" dirty="0">
                        <a:solidFill>
                          <a:schemeClr val="tx1"/>
                        </a:solidFill>
                        <a:latin typeface="BIZ UDP明朝 Medium" panose="02020500000000000000" pitchFamily="18" charset="-128"/>
                        <a:ea typeface="BIZ UDP明朝 Medium" panose="02020500000000000000" pitchFamily="18" charset="-128"/>
                      </a:rPr>
                      <a:t>End For</a:t>
                    </a:r>
                  </a:p>
                  <a:p>
                    <a:r>
                      <a:rPr lang="en-US" altLang="ja-JP" sz="3600" b="1" dirty="0">
                        <a:solidFill>
                          <a:schemeClr val="tx1"/>
                        </a:solidFill>
                        <a:latin typeface="BIZ UDP明朝 Medium" panose="02020500000000000000" pitchFamily="18" charset="-128"/>
                        <a:ea typeface="BIZ UDP明朝 Medium" panose="02020500000000000000" pitchFamily="18" charset="-128"/>
                      </a:rPr>
                      <a:t>Return</a:t>
                    </a:r>
                    <a:r>
                      <a:rPr lang="en-US" altLang="ja-JP" sz="3600" dirty="0">
                        <a:solidFill>
                          <a:schemeClr val="tx1"/>
                        </a:solidFill>
                        <a:latin typeface="UD デジタル 教科書体 NK-R" panose="02020400000000000000" pitchFamily="18" charset="-128"/>
                        <a:ea typeface="UD デジタル 教科書体 NK-R" panose="02020400000000000000" pitchFamily="18" charset="-128"/>
                      </a:rPr>
                      <a:t> </a:t>
                    </a:r>
                    <a:r>
                      <a:rPr lang="ja-JP" altLang="en-US" sz="3600" b="1" dirty="0">
                        <a:solidFill>
                          <a:schemeClr val="tx1"/>
                        </a:solidFill>
                        <a:latin typeface="UD デジタル 教科書体 NK-R" panose="02020400000000000000" pitchFamily="18" charset="-128"/>
                        <a:ea typeface="UD デジタル 教科書体 NK-R" panose="02020400000000000000" pitchFamily="18" charset="-128"/>
                      </a:rPr>
                      <a:t>𝐰</a:t>
                    </a:r>
                    <a:endParaRPr lang="en-US" altLang="ja-JP" sz="3600" dirty="0">
                      <a:solidFill>
                        <a:schemeClr val="tx1"/>
                      </a:solidFill>
                      <a:latin typeface="UD デジタル 教科書体 NK-R" panose="02020400000000000000" pitchFamily="18" charset="-128"/>
                      <a:ea typeface="UD デジタル 教科書体 NK-R" panose="02020400000000000000" pitchFamily="18" charset="-128"/>
                    </a:endParaRPr>
                  </a:p>
                </p:txBody>
              </p:sp>
            </mc:Choice>
            <mc:Fallback>
              <p:sp>
                <p:nvSpPr>
                  <p:cNvPr id="133" name="テキスト ボックス 132">
                    <a:extLst>
                      <a:ext uri="{FF2B5EF4-FFF2-40B4-BE49-F238E27FC236}">
                        <a16:creationId xmlns:a16="http://schemas.microsoft.com/office/drawing/2014/main" id="{408346FA-CE56-7F0A-51ED-3CE90863EAB4}"/>
                      </a:ext>
                    </a:extLst>
                  </p:cNvPr>
                  <p:cNvSpPr txBox="1">
                    <a:spLocks noRot="1" noChangeAspect="1" noMove="1" noResize="1" noEditPoints="1" noAdjustHandles="1" noChangeArrowheads="1" noChangeShapeType="1" noTextEdit="1"/>
                  </p:cNvSpPr>
                  <p:nvPr/>
                </p:nvSpPr>
                <p:spPr>
                  <a:xfrm>
                    <a:off x="15736619" y="23645175"/>
                    <a:ext cx="13795429" cy="6398611"/>
                  </a:xfrm>
                  <a:prstGeom prst="rect">
                    <a:avLst/>
                  </a:prstGeom>
                  <a:blipFill>
                    <a:blip r:embed="rId7"/>
                    <a:stretch>
                      <a:fillRect l="-1287" t="-12673" r="-1011" b="-2772"/>
                    </a:stretch>
                  </a:blipFill>
                </p:spPr>
                <p:txBody>
                  <a:bodyPr/>
                  <a:lstStyle/>
                  <a:p>
                    <a:r>
                      <a:rPr lang="ja-JP" altLang="en-US">
                        <a:noFill/>
                      </a:rPr>
                      <a:t> </a:t>
                    </a:r>
                  </a:p>
                </p:txBody>
              </p:sp>
            </mc:Fallback>
          </mc:AlternateContent>
        </p:grpSp>
        <p:cxnSp>
          <p:nvCxnSpPr>
            <p:cNvPr id="135" name="直線コネクタ 134">
              <a:extLst>
                <a:ext uri="{FF2B5EF4-FFF2-40B4-BE49-F238E27FC236}">
                  <a16:creationId xmlns:a16="http://schemas.microsoft.com/office/drawing/2014/main" id="{4F8828AC-5539-ADC4-6040-66B903D3C80C}"/>
                </a:ext>
              </a:extLst>
            </p:cNvPr>
            <p:cNvCxnSpPr>
              <a:cxnSpLocks/>
            </p:cNvCxnSpPr>
            <p:nvPr/>
          </p:nvCxnSpPr>
          <p:spPr>
            <a:xfrm>
              <a:off x="16171765" y="27157680"/>
              <a:ext cx="0" cy="164817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9" name="グループ化 138">
            <a:extLst>
              <a:ext uri="{FF2B5EF4-FFF2-40B4-BE49-F238E27FC236}">
                <a16:creationId xmlns:a16="http://schemas.microsoft.com/office/drawing/2014/main" id="{EAA3971A-EE87-504D-EDCA-8B8571B614DB}"/>
              </a:ext>
            </a:extLst>
          </p:cNvPr>
          <p:cNvGrpSpPr/>
          <p:nvPr/>
        </p:nvGrpSpPr>
        <p:grpSpPr>
          <a:xfrm>
            <a:off x="232568" y="30872956"/>
            <a:ext cx="29775151" cy="9494621"/>
            <a:chOff x="232568" y="30872956"/>
            <a:chExt cx="29775151" cy="9494621"/>
          </a:xfrm>
        </p:grpSpPr>
        <p:sp>
          <p:nvSpPr>
            <p:cNvPr id="12" name="四角形: 角を丸くする 11">
              <a:extLst>
                <a:ext uri="{FF2B5EF4-FFF2-40B4-BE49-F238E27FC236}">
                  <a16:creationId xmlns:a16="http://schemas.microsoft.com/office/drawing/2014/main" id="{73307C85-3CEE-5DCB-665B-AC4E13B1A6AC}"/>
                </a:ext>
              </a:extLst>
            </p:cNvPr>
            <p:cNvSpPr/>
            <p:nvPr/>
          </p:nvSpPr>
          <p:spPr>
            <a:xfrm>
              <a:off x="232568" y="31226659"/>
              <a:ext cx="29775151" cy="9140918"/>
            </a:xfrm>
            <a:prstGeom prst="roundRect">
              <a:avLst>
                <a:gd name="adj" fmla="val 6732"/>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38" name="四角形: 角を丸くする 137">
              <a:extLst>
                <a:ext uri="{FF2B5EF4-FFF2-40B4-BE49-F238E27FC236}">
                  <a16:creationId xmlns:a16="http://schemas.microsoft.com/office/drawing/2014/main" id="{3BEDBD46-C7CF-B11E-BB97-5C72919A6960}"/>
                </a:ext>
              </a:extLst>
            </p:cNvPr>
            <p:cNvSpPr/>
            <p:nvPr/>
          </p:nvSpPr>
          <p:spPr>
            <a:xfrm>
              <a:off x="506888" y="30872956"/>
              <a:ext cx="1870552" cy="907464"/>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6000" dirty="0">
                  <a:solidFill>
                    <a:schemeClr val="tx1"/>
                  </a:solidFill>
                  <a:latin typeface="UD デジタル 教科書体 NK-R" panose="02020400000000000000" pitchFamily="18" charset="-128"/>
                  <a:ea typeface="UD デジタル 教科書体 NK-R" panose="02020400000000000000" pitchFamily="18" charset="-128"/>
                </a:rPr>
                <a:t>実験</a:t>
              </a:r>
            </a:p>
          </p:txBody>
        </p:sp>
      </p:grpSp>
      <p:cxnSp>
        <p:nvCxnSpPr>
          <p:cNvPr id="142" name="直線コネクタ 141">
            <a:extLst>
              <a:ext uri="{FF2B5EF4-FFF2-40B4-BE49-F238E27FC236}">
                <a16:creationId xmlns:a16="http://schemas.microsoft.com/office/drawing/2014/main" id="{F5F861B3-B004-2F37-8161-4E6A50B5F055}"/>
              </a:ext>
            </a:extLst>
          </p:cNvPr>
          <p:cNvCxnSpPr>
            <a:cxnSpLocks/>
          </p:cNvCxnSpPr>
          <p:nvPr/>
        </p:nvCxnSpPr>
        <p:spPr>
          <a:xfrm>
            <a:off x="11641713" y="31610398"/>
            <a:ext cx="0" cy="8248064"/>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45" name="グループ化 144">
            <a:extLst>
              <a:ext uri="{FF2B5EF4-FFF2-40B4-BE49-F238E27FC236}">
                <a16:creationId xmlns:a16="http://schemas.microsoft.com/office/drawing/2014/main" id="{D34756AB-A13B-C964-2A53-8CADD4FFBFE2}"/>
              </a:ext>
            </a:extLst>
          </p:cNvPr>
          <p:cNvGrpSpPr/>
          <p:nvPr/>
        </p:nvGrpSpPr>
        <p:grpSpPr>
          <a:xfrm>
            <a:off x="294526" y="31826627"/>
            <a:ext cx="11024387" cy="7909858"/>
            <a:chOff x="294526" y="31826627"/>
            <a:chExt cx="11024387" cy="7909858"/>
          </a:xfrm>
        </p:grpSpPr>
        <mc:AlternateContent xmlns:mc="http://schemas.openxmlformats.org/markup-compatibility/2006" xmlns:a14="http://schemas.microsoft.com/office/drawing/2010/main">
          <mc:Choice Requires="a14">
            <p:sp>
              <p:nvSpPr>
                <p:cNvPr id="144" name="テキスト ボックス 143">
                  <a:extLst>
                    <a:ext uri="{FF2B5EF4-FFF2-40B4-BE49-F238E27FC236}">
                      <a16:creationId xmlns:a16="http://schemas.microsoft.com/office/drawing/2014/main" id="{AA1A22DA-D279-3A07-335B-7EA7958F52CB}"/>
                    </a:ext>
                  </a:extLst>
                </p:cNvPr>
                <p:cNvSpPr txBox="1"/>
                <p:nvPr/>
              </p:nvSpPr>
              <p:spPr>
                <a:xfrm>
                  <a:off x="701663" y="31826627"/>
                  <a:ext cx="10470956" cy="7909858"/>
                </a:xfrm>
                <a:prstGeom prst="rect">
                  <a:avLst/>
                </a:prstGeom>
                <a:noFill/>
              </p:spPr>
              <p:txBody>
                <a:bodyPr wrap="square">
                  <a:spAutoFit/>
                </a:bodyPr>
                <a:lstStyle/>
                <a:p>
                  <a:r>
                    <a:rPr lang="ja-JP" altLang="en-US" sz="4000" dirty="0">
                      <a:latin typeface="UD デジタル 教科書体 NK-R" panose="02020400000000000000" pitchFamily="18" charset="-128"/>
                      <a:ea typeface="UD デジタル 教科書体 NK-R" panose="02020400000000000000" pitchFamily="18" charset="-128"/>
                    </a:rPr>
                    <a:t>実験</a:t>
                  </a:r>
                  <a:r>
                    <a:rPr lang="en-US" altLang="ja-JP" sz="4000" dirty="0">
                      <a:latin typeface="UD デジタル 教科書体 NK-R" panose="02020400000000000000" pitchFamily="18" charset="-128"/>
                      <a:ea typeface="UD デジタル 教科書体 NK-R" panose="02020400000000000000" pitchFamily="18" charset="-128"/>
                    </a:rPr>
                    <a:t>Ⅰ : Iris</a:t>
                  </a:r>
                  <a:r>
                    <a:rPr lang="ja-JP" altLang="en-US" sz="4000" dirty="0">
                      <a:latin typeface="UD デジタル 教科書体 NK-R" panose="02020400000000000000" pitchFamily="18" charset="-128"/>
                      <a:ea typeface="UD デジタル 教科書体 NK-R" panose="02020400000000000000" pitchFamily="18" charset="-128"/>
                    </a:rPr>
                    <a:t>の分類問題</a:t>
                  </a:r>
                  <a:endParaRPr lang="en-US" altLang="ja-JP" sz="40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r>
                    <a:rPr lang="en-US" altLang="ja-JP" sz="3200" dirty="0">
                      <a:latin typeface="UD デジタル 教科書体 NK-R" panose="02020400000000000000" pitchFamily="18" charset="-128"/>
                      <a:ea typeface="UD デジタル 教科書体 NK-R" panose="02020400000000000000" pitchFamily="18" charset="-128"/>
                    </a:rPr>
                    <a:t>Epoch : 100, Batch Size : 120</a:t>
                  </a:r>
                </a:p>
                <a:p>
                  <a:r>
                    <a:rPr lang="en-US" altLang="ja-JP" sz="3200" dirty="0">
                      <a:latin typeface="UD デジタル 教科書体 NK-R" panose="02020400000000000000" pitchFamily="18" charset="-128"/>
                      <a:ea typeface="UD デジタル 教科書体 NK-R" panose="02020400000000000000" pitchFamily="18" charset="-128"/>
                    </a:rPr>
                    <a:t>[Hyper Parameter]</a:t>
                  </a:r>
                </a:p>
                <a:p>
                  <a:r>
                    <a:rPr lang="en-US" altLang="ja-JP" sz="3200" dirty="0">
                      <a:latin typeface="UD デジタル 教科書体 NK-R" panose="02020400000000000000" pitchFamily="18" charset="-128"/>
                      <a:ea typeface="UD デジタル 教科書体 NK-R" panose="02020400000000000000" pitchFamily="18" charset="-128"/>
                    </a:rPr>
                    <a:t>OASIS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0.1</a:t>
                  </a:r>
                </a:p>
                <a:p>
                  <a:r>
                    <a:rPr lang="en-US" altLang="ja-JP" sz="3200" dirty="0" err="1">
                      <a:latin typeface="UD デジタル 教科書体 NK-R" panose="02020400000000000000" pitchFamily="18" charset="-128"/>
                      <a:ea typeface="UD デジタル 教科書体 NK-R" panose="02020400000000000000" pitchFamily="18" charset="-128"/>
                    </a:rPr>
                    <a:t>OASIS+Momentum</a:t>
                  </a:r>
                  <a:r>
                    <a:rPr lang="en-US" altLang="ja-JP" sz="32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0.1, </a:t>
                  </a:r>
                  <a14:m>
                    <m:oMath xmlns:m="http://schemas.openxmlformats.org/officeDocument/2006/math">
                      <m:r>
                        <a:rPr lang="ja-JP" altLang="en-US" sz="3200" i="1">
                          <a:latin typeface="Cambria Math" panose="02040503050406030204" pitchFamily="18" charset="0"/>
                          <a:ea typeface="UD デジタル 教科書体 NK-R" panose="02020400000000000000" pitchFamily="18" charset="-128"/>
                        </a:rPr>
                        <m:t>𝜇</m:t>
                      </m:r>
                    </m:oMath>
                  </a14:m>
                  <a:r>
                    <a:rPr lang="en-US" altLang="ja-JP" sz="3200" dirty="0">
                      <a:latin typeface="UD デジタル 教科書体 NK-R" panose="02020400000000000000" pitchFamily="18" charset="-128"/>
                      <a:ea typeface="UD デジタル 教科書体 NK-R" panose="02020400000000000000" pitchFamily="18" charset="-128"/>
                    </a:rPr>
                    <a:t> : 0.8</a:t>
                  </a:r>
                </a:p>
                <a:p>
                  <a:r>
                    <a:rPr lang="en-US" altLang="ja-JP" sz="3200" dirty="0">
                      <a:latin typeface="UD デジタル 教科書体 NK-R" panose="02020400000000000000" pitchFamily="18" charset="-128"/>
                      <a:ea typeface="UD デジタル 教科書体 NK-R" panose="02020400000000000000" pitchFamily="18" charset="-128"/>
                    </a:rPr>
                    <a:t>OASIS+NAG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0.1, </a:t>
                  </a:r>
                  <a14:m>
                    <m:oMath xmlns:m="http://schemas.openxmlformats.org/officeDocument/2006/math">
                      <m:r>
                        <a:rPr lang="ja-JP" altLang="en-US" sz="3200" i="1">
                          <a:latin typeface="Cambria Math" panose="02040503050406030204" pitchFamily="18" charset="0"/>
                          <a:ea typeface="UD デジタル 教科書体 NK-R" panose="02020400000000000000" pitchFamily="18" charset="-128"/>
                        </a:rPr>
                        <m:t>𝜇</m:t>
                      </m:r>
                    </m:oMath>
                  </a14:m>
                  <a:r>
                    <a:rPr lang="en-US" altLang="ja-JP" sz="3200" dirty="0">
                      <a:latin typeface="UD デジタル 教科書体 NK-R" panose="02020400000000000000" pitchFamily="18" charset="-128"/>
                      <a:ea typeface="UD デジタル 教科書体 NK-R" panose="02020400000000000000" pitchFamily="18" charset="-128"/>
                    </a:rPr>
                    <a:t> , 0.8, </a:t>
                  </a:r>
                  <a14:m>
                    <m:oMath xmlns:m="http://schemas.openxmlformats.org/officeDocument/2006/math">
                      <m:r>
                        <a:rPr lang="ja-JP" altLang="en-US" sz="3200" i="1">
                          <a:latin typeface="Cambria Math" panose="02040503050406030204" pitchFamily="18" charset="0"/>
                          <a:ea typeface="Cambria Math" panose="02040503050406030204" pitchFamily="18" charset="0"/>
                        </a:rPr>
                        <m:t>𝛽</m:t>
                      </m:r>
                    </m:oMath>
                  </a14:m>
                  <a:r>
                    <a:rPr lang="en-US" altLang="ja-JP" sz="3200" dirty="0">
                      <a:latin typeface="UD デジタル 教科書体 NK-R" panose="02020400000000000000" pitchFamily="18" charset="-128"/>
                      <a:ea typeface="UD デジタル 教科書体 NK-R" panose="02020400000000000000" pitchFamily="18" charset="-128"/>
                    </a:rPr>
                    <a:t> : 0.99</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000" dirty="0">
                      <a:latin typeface="UD デジタル 教科書体 NK-R" panose="02020400000000000000" pitchFamily="18" charset="-128"/>
                      <a:ea typeface="UD デジタル 教科書体 NK-R" panose="02020400000000000000" pitchFamily="18" charset="-128"/>
                    </a:rPr>
                    <a:t>　</a:t>
                  </a:r>
                  <a:endParaRPr lang="en-US" altLang="ja-JP" sz="3200" dirty="0">
                    <a:latin typeface="UD デジタル 教科書体 NK-R" panose="02020400000000000000" pitchFamily="18" charset="-128"/>
                    <a:ea typeface="UD デジタル 教科書体 NK-R" panose="02020400000000000000" pitchFamily="18" charset="-128"/>
                  </a:endParaRPr>
                </a:p>
                <a:p>
                  <a:r>
                    <a:rPr lang="ja-JP" altLang="en-US" sz="3200" dirty="0">
                      <a:latin typeface="UD デジタル 教科書体 NK-R" panose="02020400000000000000" pitchFamily="18" charset="-128"/>
                      <a:ea typeface="UD デジタル 教科書体 NK-R" panose="02020400000000000000" pitchFamily="18" charset="-128"/>
                    </a:rPr>
                    <a:t>ネステロフの加速勾配による学習</a:t>
                  </a:r>
                  <a:r>
                    <a:rPr lang="ja-JP" altLang="en-US" sz="3200">
                      <a:latin typeface="UD デジタル 教科書体 NK-R" panose="02020400000000000000" pitchFamily="18" charset="-128"/>
                      <a:ea typeface="UD デジタル 教科書体 NK-R" panose="02020400000000000000" pitchFamily="18" charset="-128"/>
                    </a:rPr>
                    <a:t>の高速化を確認</a:t>
                  </a:r>
                  <a:endParaRPr lang="en-US" altLang="ja-JP" sz="32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144" name="テキスト ボックス 143">
                  <a:extLst>
                    <a:ext uri="{FF2B5EF4-FFF2-40B4-BE49-F238E27FC236}">
                      <a16:creationId xmlns:a16="http://schemas.microsoft.com/office/drawing/2014/main" id="{AA1A22DA-D279-3A07-335B-7EA7958F52CB}"/>
                    </a:ext>
                  </a:extLst>
                </p:cNvPr>
                <p:cNvSpPr txBox="1">
                  <a:spLocks noRot="1" noChangeAspect="1" noMove="1" noResize="1" noEditPoints="1" noAdjustHandles="1" noChangeArrowheads="1" noChangeShapeType="1" noTextEdit="1"/>
                </p:cNvSpPr>
                <p:nvPr/>
              </p:nvSpPr>
              <p:spPr>
                <a:xfrm>
                  <a:off x="701663" y="31826627"/>
                  <a:ext cx="10470956" cy="7909858"/>
                </a:xfrm>
                <a:prstGeom prst="rect">
                  <a:avLst/>
                </a:prstGeom>
                <a:blipFill>
                  <a:blip r:embed="rId25"/>
                  <a:stretch>
                    <a:fillRect l="-2061" t="-1445" b="-1445"/>
                  </a:stretch>
                </a:blipFill>
              </p:spPr>
              <p:txBody>
                <a:bodyPr/>
                <a:lstStyle/>
                <a:p>
                  <a:r>
                    <a:rPr lang="ja-JP" altLang="en-US">
                      <a:noFill/>
                    </a:rPr>
                    <a:t> </a:t>
                  </a:r>
                </a:p>
              </p:txBody>
            </p:sp>
          </mc:Fallback>
        </mc:AlternateContent>
        <p:pic>
          <p:nvPicPr>
            <p:cNvPr id="140" name="Picture 2">
              <a:extLst>
                <a:ext uri="{FF2B5EF4-FFF2-40B4-BE49-F238E27FC236}">
                  <a16:creationId xmlns:a16="http://schemas.microsoft.com/office/drawing/2014/main" id="{E2D68A46-6190-2CE7-A70B-3201ACC477A7}"/>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94526" y="32317499"/>
              <a:ext cx="5530879" cy="4148159"/>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4">
              <a:extLst>
                <a:ext uri="{FF2B5EF4-FFF2-40B4-BE49-F238E27FC236}">
                  <a16:creationId xmlns:a16="http://schemas.microsoft.com/office/drawing/2014/main" id="{2404DE5D-71DE-D736-DD89-D7E52AA9392B}"/>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25405" y="32317499"/>
              <a:ext cx="5493508" cy="4148159"/>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6" name="直線コネクタ 145">
            <a:extLst>
              <a:ext uri="{FF2B5EF4-FFF2-40B4-BE49-F238E27FC236}">
                <a16:creationId xmlns:a16="http://schemas.microsoft.com/office/drawing/2014/main" id="{916B1AA0-0AD0-8D1E-51EE-DDE3BFD1F9C1}"/>
              </a:ext>
            </a:extLst>
          </p:cNvPr>
          <p:cNvCxnSpPr>
            <a:cxnSpLocks/>
          </p:cNvCxnSpPr>
          <p:nvPr/>
        </p:nvCxnSpPr>
        <p:spPr>
          <a:xfrm flipH="1">
            <a:off x="12010256" y="36120110"/>
            <a:ext cx="17376845" cy="0"/>
          </a:xfrm>
          <a:prstGeom prst="line">
            <a:avLst/>
          </a:prstGeom>
          <a:ln w="76200">
            <a:solidFill>
              <a:schemeClr val="tx1"/>
            </a:solidFill>
            <a:prstDash val="sysDot"/>
          </a:ln>
        </p:spPr>
        <p:style>
          <a:lnRef idx="1">
            <a:schemeClr val="accent1"/>
          </a:lnRef>
          <a:fillRef idx="0">
            <a:schemeClr val="accent1"/>
          </a:fillRef>
          <a:effectRef idx="0">
            <a:schemeClr val="accent1"/>
          </a:effectRef>
          <a:fontRef idx="minor">
            <a:schemeClr val="tx1"/>
          </a:fontRef>
        </p:style>
      </p:cxnSp>
      <p:pic>
        <p:nvPicPr>
          <p:cNvPr id="148" name="Picture 2">
            <a:extLst>
              <a:ext uri="{FF2B5EF4-FFF2-40B4-BE49-F238E27FC236}">
                <a16:creationId xmlns:a16="http://schemas.microsoft.com/office/drawing/2014/main" id="{72AF189F-B547-02C7-CAFE-9CC88DB8295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24524824" y="31541633"/>
            <a:ext cx="5348885" cy="4038954"/>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4">
            <a:extLst>
              <a:ext uri="{FF2B5EF4-FFF2-40B4-BE49-F238E27FC236}">
                <a16:creationId xmlns:a16="http://schemas.microsoft.com/office/drawing/2014/main" id="{CD6C009F-6DAD-A66F-0640-3F765791937A}"/>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8860930" y="31564641"/>
            <a:ext cx="5664239" cy="40389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50" name="テキスト ボックス 149">
                <a:extLst>
                  <a:ext uri="{FF2B5EF4-FFF2-40B4-BE49-F238E27FC236}">
                    <a16:creationId xmlns:a16="http://schemas.microsoft.com/office/drawing/2014/main" id="{F4C61C18-FF55-A754-48AD-36B1FEA5D78E}"/>
                  </a:ext>
                </a:extLst>
              </p:cNvPr>
              <p:cNvSpPr txBox="1"/>
              <p:nvPr/>
            </p:nvSpPr>
            <p:spPr>
              <a:xfrm>
                <a:off x="11922296" y="31648199"/>
                <a:ext cx="10470956" cy="4462760"/>
              </a:xfrm>
              <a:prstGeom prst="rect">
                <a:avLst/>
              </a:prstGeom>
              <a:noFill/>
            </p:spPr>
            <p:txBody>
              <a:bodyPr wrap="square">
                <a:spAutoFit/>
              </a:bodyPr>
              <a:lstStyle/>
              <a:p>
                <a:r>
                  <a:rPr lang="ja-JP" altLang="en-US" sz="4000" dirty="0">
                    <a:latin typeface="UD デジタル 教科書体 NK-R" panose="02020400000000000000" pitchFamily="18" charset="-128"/>
                    <a:ea typeface="UD デジタル 教科書体 NK-R" panose="02020400000000000000" pitchFamily="18" charset="-128"/>
                  </a:rPr>
                  <a:t>実験</a:t>
                </a:r>
                <a:r>
                  <a:rPr lang="en-US" altLang="ja-JP" sz="4000" dirty="0">
                    <a:latin typeface="UD デジタル 教科書体 NK-R" panose="02020400000000000000" pitchFamily="18" charset="-128"/>
                    <a:ea typeface="UD デジタル 教科書体 NK-R" panose="02020400000000000000" pitchFamily="18" charset="-128"/>
                  </a:rPr>
                  <a:t>Ⅱ : MNIST</a:t>
                </a:r>
                <a:r>
                  <a:rPr lang="ja-JP" altLang="en-US" sz="4000" dirty="0">
                    <a:latin typeface="UD デジタル 教科書体 NK-R" panose="02020400000000000000" pitchFamily="18" charset="-128"/>
                    <a:ea typeface="UD デジタル 教科書体 NK-R" panose="02020400000000000000" pitchFamily="18" charset="-128"/>
                  </a:rPr>
                  <a:t>の分類問題</a:t>
                </a:r>
                <a:endParaRPr lang="en-US" altLang="ja-JP" sz="4000" dirty="0">
                  <a:latin typeface="UD デジタル 教科書体 NK-R" panose="02020400000000000000" pitchFamily="18" charset="-128"/>
                  <a:ea typeface="UD デジタル 教科書体 NK-R" panose="02020400000000000000" pitchFamily="18" charset="-128"/>
                </a:endParaRPr>
              </a:p>
              <a:p>
                <a:r>
                  <a:rPr lang="en-US" altLang="ja-JP" sz="3200" dirty="0">
                    <a:latin typeface="UD デジタル 教科書体 NK-R" panose="02020400000000000000" pitchFamily="18" charset="-128"/>
                    <a:ea typeface="UD デジタル 教科書体 NK-R" panose="02020400000000000000" pitchFamily="18" charset="-128"/>
                  </a:rPr>
                  <a:t>Epoch : 50, Batch Size : 1024</a:t>
                </a:r>
              </a:p>
              <a:p>
                <a:r>
                  <a:rPr lang="en-US" altLang="ja-JP" sz="3200" dirty="0">
                    <a:latin typeface="UD デジタル 教科書体 NK-R" panose="02020400000000000000" pitchFamily="18" charset="-128"/>
                    <a:ea typeface="UD デジタル 教科書体 NK-R" panose="02020400000000000000" pitchFamily="18" charset="-128"/>
                  </a:rPr>
                  <a:t>[Hyper Parameter]</a:t>
                </a:r>
              </a:p>
              <a:p>
                <a:r>
                  <a:rPr lang="en-US" altLang="ja-JP" sz="3200" dirty="0">
                    <a:latin typeface="UD デジタル 教科書体 NK-R" panose="02020400000000000000" pitchFamily="18" charset="-128"/>
                    <a:ea typeface="UD デジタル 教科書体 NK-R" panose="02020400000000000000" pitchFamily="18" charset="-128"/>
                  </a:rPr>
                  <a:t>Adam[4]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0.001</a:t>
                </a:r>
              </a:p>
              <a:p>
                <a:r>
                  <a:rPr lang="en-US" altLang="ja-JP" sz="3200" dirty="0">
                    <a:latin typeface="UD デジタル 教科書体 NK-R" panose="02020400000000000000" pitchFamily="18" charset="-128"/>
                    <a:ea typeface="UD デジタル 教科書体 NK-R" panose="02020400000000000000" pitchFamily="18" charset="-128"/>
                  </a:rPr>
                  <a:t>HdN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0.1, </a:t>
                </a:r>
                <a14:m>
                  <m:oMath xmlns:m="http://schemas.openxmlformats.org/officeDocument/2006/math">
                    <m:r>
                      <a:rPr lang="en-US" altLang="ja-JP" sz="3200" i="1">
                        <a:latin typeface="Cambria Math" panose="02040503050406030204" pitchFamily="18" charset="0"/>
                      </a:rPr>
                      <m:t>𝑠</m:t>
                    </m:r>
                  </m:oMath>
                </a14:m>
                <a:r>
                  <a:rPr lang="ja-JP" altLang="en-US" sz="3200" dirty="0">
                    <a:latin typeface="UD デジタル 教科書体 NK-R" panose="02020400000000000000" pitchFamily="18" charset="-128"/>
                    <a:ea typeface="UD デジタル 教科書体 NK-R" panose="02020400000000000000" pitchFamily="18" charset="-128"/>
                  </a:rPr>
                  <a:t> </a:t>
                </a:r>
                <a:r>
                  <a:rPr lang="en-US" altLang="ja-JP" sz="3200" dirty="0">
                    <a:latin typeface="UD デジタル 教科書体 NK-R" panose="02020400000000000000" pitchFamily="18" charset="-128"/>
                    <a:ea typeface="UD デジタル 教科書体 NK-R" panose="02020400000000000000" pitchFamily="18" charset="-128"/>
                  </a:rPr>
                  <a:t>: 3</a:t>
                </a:r>
              </a:p>
              <a:p>
                <a:r>
                  <a:rPr lang="en-US" altLang="ja-JP" sz="3200" dirty="0">
                    <a:latin typeface="UD デジタル 教科書体 NK-R" panose="02020400000000000000" pitchFamily="18" charset="-128"/>
                    <a:ea typeface="UD デジタル 教科書体 NK-R" panose="02020400000000000000" pitchFamily="18" charset="-128"/>
                  </a:rPr>
                  <a:t>OASIS </a:t>
                </a:r>
                <a14:m>
                  <m:oMath xmlns:m="http://schemas.openxmlformats.org/officeDocument/2006/math">
                    <m:r>
                      <a:rPr lang="ja-JP" altLang="en-ZA" sz="3200" i="1" smtClean="0">
                        <a:latin typeface="Cambria Math" panose="02040503050406030204" pitchFamily="18" charset="0"/>
                      </a:rPr>
                      <m:t>𝛼</m:t>
                    </m:r>
                  </m:oMath>
                </a14:m>
                <a:r>
                  <a:rPr lang="en-US" altLang="ja-JP" sz="3200" dirty="0">
                    <a:latin typeface="UD デジタル 教科書体 NK-R" panose="02020400000000000000" pitchFamily="18" charset="-128"/>
                    <a:ea typeface="UD デジタル 教科書体 NK-R" panose="02020400000000000000" pitchFamily="18" charset="-128"/>
                  </a:rPr>
                  <a:t> : 0.1</a:t>
                </a:r>
              </a:p>
              <a:p>
                <a:r>
                  <a:rPr lang="en-US" altLang="ja-JP" sz="3200" spc="-100" dirty="0">
                    <a:latin typeface="UD デジタル 教科書体 NK-R" panose="02020400000000000000" pitchFamily="18" charset="-128"/>
                    <a:ea typeface="UD デジタル 教科書体 NK-R" panose="02020400000000000000" pitchFamily="18" charset="-128"/>
                  </a:rPr>
                  <a:t>OASIS + NAG </a:t>
                </a:r>
                <a14:m>
                  <m:oMath xmlns:m="http://schemas.openxmlformats.org/officeDocument/2006/math">
                    <m:r>
                      <a:rPr lang="ja-JP" altLang="en-ZA" sz="3200" i="1" spc="-100" smtClean="0">
                        <a:latin typeface="Cambria Math" panose="02040503050406030204" pitchFamily="18" charset="0"/>
                      </a:rPr>
                      <m:t>𝛼</m:t>
                    </m:r>
                  </m:oMath>
                </a14:m>
                <a:r>
                  <a:rPr lang="en-US" altLang="ja-JP" sz="3200" spc="-100" dirty="0">
                    <a:latin typeface="UD デジタル 教科書体 NK-R" panose="02020400000000000000" pitchFamily="18" charset="-128"/>
                    <a:ea typeface="UD デジタル 教科書体 NK-R" panose="02020400000000000000" pitchFamily="18" charset="-128"/>
                  </a:rPr>
                  <a:t> : 0.1, </a:t>
                </a:r>
                <a14:m>
                  <m:oMath xmlns:m="http://schemas.openxmlformats.org/officeDocument/2006/math">
                    <m:r>
                      <a:rPr lang="ja-JP" altLang="en-US" sz="3200" i="1" spc="-100">
                        <a:latin typeface="Cambria Math" panose="02040503050406030204" pitchFamily="18" charset="0"/>
                        <a:ea typeface="UD デジタル 教科書体 NK-R" panose="02020400000000000000" pitchFamily="18" charset="-128"/>
                      </a:rPr>
                      <m:t>𝜇</m:t>
                    </m:r>
                  </m:oMath>
                </a14:m>
                <a:r>
                  <a:rPr lang="en-US" altLang="ja-JP" sz="3200" spc="-100" dirty="0">
                    <a:latin typeface="UD デジタル 教科書体 NK-R" panose="02020400000000000000" pitchFamily="18" charset="-128"/>
                    <a:ea typeface="UD デジタル 教科書体 NK-R" panose="02020400000000000000" pitchFamily="18" charset="-128"/>
                  </a:rPr>
                  <a:t> , 0.99, </a:t>
                </a:r>
                <a14:m>
                  <m:oMath xmlns:m="http://schemas.openxmlformats.org/officeDocument/2006/math">
                    <m:r>
                      <a:rPr lang="ja-JP" altLang="en-US" sz="3200" i="1" spc="-100">
                        <a:latin typeface="Cambria Math" panose="02040503050406030204" pitchFamily="18" charset="0"/>
                        <a:ea typeface="Cambria Math" panose="02040503050406030204" pitchFamily="18" charset="0"/>
                      </a:rPr>
                      <m:t>𝛽</m:t>
                    </m:r>
                  </m:oMath>
                </a14:m>
                <a:r>
                  <a:rPr lang="en-US" altLang="ja-JP" sz="3200" spc="-100" dirty="0">
                    <a:latin typeface="UD デジタル 教科書体 NK-R" panose="02020400000000000000" pitchFamily="18" charset="-128"/>
                    <a:ea typeface="UD デジタル 教科書体 NK-R" panose="02020400000000000000" pitchFamily="18" charset="-128"/>
                  </a:rPr>
                  <a:t> : 0.99</a:t>
                </a:r>
              </a:p>
              <a:p>
                <a:endParaRPr lang="en-US" altLang="ja-JP" sz="2000" spc="-100" dirty="0">
                  <a:latin typeface="UD デジタル 教科書体 NK-R" panose="02020400000000000000" pitchFamily="18" charset="-128"/>
                  <a:ea typeface="UD デジタル 教科書体 NK-R" panose="02020400000000000000" pitchFamily="18" charset="-128"/>
                </a:endParaRPr>
              </a:p>
              <a:p>
                <a:r>
                  <a:rPr lang="ja-JP" altLang="en-US" sz="3200" spc="-100" dirty="0">
                    <a:latin typeface="UD デジタル 教科書体 NK-R" panose="02020400000000000000" pitchFamily="18" charset="-128"/>
                    <a:ea typeface="UD デジタル 教科書体 NK-R" panose="02020400000000000000" pitchFamily="18" charset="-128"/>
                  </a:rPr>
                  <a:t>提案手法が従来手法と比べ低い損失を</a:t>
                </a:r>
                <a:r>
                  <a:rPr lang="ja-JP" altLang="en-US" sz="3200" spc="-100">
                    <a:latin typeface="UD デジタル 教科書体 NK-R" panose="02020400000000000000" pitchFamily="18" charset="-128"/>
                    <a:ea typeface="UD デジタル 教科書体 NK-R" panose="02020400000000000000" pitchFamily="18" charset="-128"/>
                  </a:rPr>
                  <a:t>得ている</a:t>
                </a:r>
                <a:endParaRPr lang="en-US" altLang="ja-JP" sz="3200" spc="-1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150" name="テキスト ボックス 149">
                <a:extLst>
                  <a:ext uri="{FF2B5EF4-FFF2-40B4-BE49-F238E27FC236}">
                    <a16:creationId xmlns:a16="http://schemas.microsoft.com/office/drawing/2014/main" id="{F4C61C18-FF55-A754-48AD-36B1FEA5D78E}"/>
                  </a:ext>
                </a:extLst>
              </p:cNvPr>
              <p:cNvSpPr txBox="1">
                <a:spLocks noRot="1" noChangeAspect="1" noMove="1" noResize="1" noEditPoints="1" noAdjustHandles="1" noChangeArrowheads="1" noChangeShapeType="1" noTextEdit="1"/>
              </p:cNvSpPr>
              <p:nvPr/>
            </p:nvSpPr>
            <p:spPr>
              <a:xfrm>
                <a:off x="11922296" y="31648199"/>
                <a:ext cx="10470956" cy="4462760"/>
              </a:xfrm>
              <a:prstGeom prst="rect">
                <a:avLst/>
              </a:prstGeom>
              <a:blipFill>
                <a:blip r:embed="rId30"/>
                <a:stretch>
                  <a:fillRect l="-2058" t="-2557" b="-3409"/>
                </a:stretch>
              </a:blipFill>
            </p:spPr>
            <p:txBody>
              <a:bodyPr/>
              <a:lstStyle/>
              <a:p>
                <a:r>
                  <a:rPr lang="ja-JP" altLang="en-US">
                    <a:noFill/>
                  </a:rPr>
                  <a:t> </a:t>
                </a:r>
              </a:p>
            </p:txBody>
          </p:sp>
        </mc:Fallback>
      </mc:AlternateContent>
      <p:sp>
        <p:nvSpPr>
          <p:cNvPr id="151" name="テキスト ボックス 150">
            <a:extLst>
              <a:ext uri="{FF2B5EF4-FFF2-40B4-BE49-F238E27FC236}">
                <a16:creationId xmlns:a16="http://schemas.microsoft.com/office/drawing/2014/main" id="{709C1FD8-6FD1-B024-9F99-B90989E4F601}"/>
              </a:ext>
            </a:extLst>
          </p:cNvPr>
          <p:cNvSpPr txBox="1"/>
          <p:nvPr/>
        </p:nvSpPr>
        <p:spPr>
          <a:xfrm>
            <a:off x="11963364" y="36388859"/>
            <a:ext cx="10429170" cy="3293209"/>
          </a:xfrm>
          <a:prstGeom prst="rect">
            <a:avLst/>
          </a:prstGeom>
          <a:noFill/>
        </p:spPr>
        <p:txBody>
          <a:bodyPr wrap="square">
            <a:spAutoFit/>
          </a:bodyPr>
          <a:lstStyle/>
          <a:p>
            <a:r>
              <a:rPr lang="ja-JP" altLang="en-US" sz="4000" spc="-100" dirty="0">
                <a:latin typeface="UD デジタル 教科書体 NK-R" panose="02020400000000000000" pitchFamily="18" charset="-128"/>
                <a:ea typeface="UD デジタル 教科書体 NK-R" panose="02020400000000000000" pitchFamily="18" charset="-128"/>
              </a:rPr>
              <a:t>実験</a:t>
            </a:r>
            <a:r>
              <a:rPr lang="en-US" altLang="ja-JP" sz="4000" spc="-100" dirty="0">
                <a:latin typeface="UD デジタル 教科書体 NK-R" panose="02020400000000000000" pitchFamily="18" charset="-128"/>
                <a:ea typeface="UD デジタル 教科書体 NK-R" panose="02020400000000000000" pitchFamily="18" charset="-128"/>
              </a:rPr>
              <a:t>Ⅲ : MNIST</a:t>
            </a:r>
            <a:r>
              <a:rPr lang="ja-JP" altLang="en-US" sz="4000" spc="-100" dirty="0">
                <a:latin typeface="UD デジタル 教科書体 NK-R" panose="02020400000000000000" pitchFamily="18" charset="-128"/>
                <a:ea typeface="UD デジタル 教科書体 NK-R" panose="02020400000000000000" pitchFamily="18" charset="-128"/>
              </a:rPr>
              <a:t>の</a:t>
            </a:r>
            <a:r>
              <a:rPr lang="ja-JP" altLang="en-US" sz="4000" spc="-100">
                <a:latin typeface="UD デジタル 教科書体 NK-R" panose="02020400000000000000" pitchFamily="18" charset="-128"/>
                <a:ea typeface="UD デジタル 教科書体 NK-R" panose="02020400000000000000" pitchFamily="18" charset="-128"/>
              </a:rPr>
              <a:t>分類問題</a:t>
            </a:r>
            <a:endParaRPr lang="en-US" altLang="ja-JP" sz="4000" spc="-100" dirty="0">
              <a:latin typeface="UD デジタル 教科書体 NK-R" panose="02020400000000000000" pitchFamily="18" charset="-128"/>
              <a:ea typeface="UD デジタル 教科書体 NK-R" panose="02020400000000000000" pitchFamily="18" charset="-128"/>
            </a:endParaRPr>
          </a:p>
          <a:p>
            <a:r>
              <a:rPr lang="ja-JP" altLang="en-US" sz="4000" spc="-100">
                <a:latin typeface="UD デジタル 教科書体 NK-R" panose="02020400000000000000" pitchFamily="18" charset="-128"/>
                <a:ea typeface="UD デジタル 教科書体 NK-R" panose="02020400000000000000" pitchFamily="18" charset="-128"/>
              </a:rPr>
              <a:t>（</a:t>
            </a:r>
            <a:r>
              <a:rPr lang="ja-JP" altLang="en-US" sz="4000" spc="-100" dirty="0">
                <a:latin typeface="UD デジタル 教科書体 NK-R" panose="02020400000000000000" pitchFamily="18" charset="-128"/>
                <a:ea typeface="UD デジタル 教科書体 NK-R" panose="02020400000000000000" pitchFamily="18" charset="-128"/>
              </a:rPr>
              <a:t>バッチサイズ比較）</a:t>
            </a:r>
          </a:p>
          <a:p>
            <a:r>
              <a:rPr lang="ja-JP" altLang="en-US" sz="3200" dirty="0">
                <a:latin typeface="UD デジタル 教科書体 NK-R" panose="02020400000000000000" pitchFamily="18" charset="-128"/>
                <a:ea typeface="UD デジタル 教科書体 NK-R" panose="02020400000000000000" pitchFamily="18" charset="-128"/>
              </a:rPr>
              <a:t>ハイパーパラメータは実験</a:t>
            </a:r>
            <a:r>
              <a:rPr lang="en-US" altLang="ja-JP" sz="3200" dirty="0">
                <a:latin typeface="UD デジタル 教科書体 NK-R" panose="02020400000000000000" pitchFamily="18" charset="-128"/>
                <a:ea typeface="UD デジタル 教科書体 NK-R" panose="02020400000000000000" pitchFamily="18" charset="-128"/>
              </a:rPr>
              <a:t>Ⅱ</a:t>
            </a:r>
            <a:r>
              <a:rPr lang="ja-JP" altLang="en-US" sz="3200" dirty="0">
                <a:latin typeface="UD デジタル 教科書体 NK-R" panose="02020400000000000000" pitchFamily="18" charset="-128"/>
                <a:ea typeface="UD デジタル 教科書体 NK-R" panose="02020400000000000000" pitchFamily="18" charset="-128"/>
              </a:rPr>
              <a:t>と同様</a:t>
            </a:r>
            <a:endParaRPr lang="en-US" altLang="ja-JP" sz="3200" dirty="0">
              <a:latin typeface="UD デジタル 教科書体 NK-R" panose="02020400000000000000" pitchFamily="18" charset="-128"/>
              <a:ea typeface="UD デジタル 教科書体 NK-R" panose="02020400000000000000" pitchFamily="18" charset="-128"/>
            </a:endParaRPr>
          </a:p>
          <a:p>
            <a:endParaRPr lang="en-US" altLang="ja-JP" sz="3200" dirty="0">
              <a:latin typeface="UD デジタル 教科書体 NK-R" panose="02020400000000000000" pitchFamily="18" charset="-128"/>
              <a:ea typeface="UD デジタル 教科書体 NK-R" panose="02020400000000000000" pitchFamily="18" charset="-128"/>
            </a:endParaRPr>
          </a:p>
          <a:p>
            <a:r>
              <a:rPr lang="ja-JP" altLang="en-US" sz="3200">
                <a:latin typeface="UD デジタル 教科書体 NK-R" panose="02020400000000000000" pitchFamily="18" charset="-128"/>
                <a:ea typeface="UD デジタル 教科書体 NK-R" panose="02020400000000000000" pitchFamily="18" charset="-128"/>
              </a:rPr>
              <a:t>提案手法がいかなるバッチサイズでも、</a:t>
            </a:r>
            <a:endParaRPr lang="en-US" altLang="ja-JP" sz="3200" dirty="0">
              <a:latin typeface="UD デジタル 教科書体 NK-R" panose="02020400000000000000" pitchFamily="18" charset="-128"/>
              <a:ea typeface="UD デジタル 教科書体 NK-R" panose="02020400000000000000" pitchFamily="18" charset="-128"/>
            </a:endParaRPr>
          </a:p>
          <a:p>
            <a:r>
              <a:rPr lang="en-US" altLang="ja-JP" sz="3200" dirty="0">
                <a:latin typeface="UD デジタル 教科書体 NK-R" panose="02020400000000000000" pitchFamily="18" charset="-128"/>
                <a:ea typeface="UD デジタル 教科書体 NK-R" panose="02020400000000000000" pitchFamily="18" charset="-128"/>
              </a:rPr>
              <a:t>Adam</a:t>
            </a:r>
            <a:r>
              <a:rPr lang="ja-JP" altLang="en-US" sz="3200">
                <a:latin typeface="UD デジタル 教科書体 NK-R" panose="02020400000000000000" pitchFamily="18" charset="-128"/>
                <a:ea typeface="UD デジタル 教科書体 NK-R" panose="02020400000000000000" pitchFamily="18" charset="-128"/>
              </a:rPr>
              <a:t>より高いスコアを得ることを確認</a:t>
            </a:r>
            <a:endParaRPr lang="en-US" altLang="ja-JP" sz="3200" dirty="0">
              <a:latin typeface="UD デジタル 教科書体 NK-R" panose="02020400000000000000" pitchFamily="18" charset="-128"/>
              <a:ea typeface="UD デジタル 教科書体 NK-R" panose="02020400000000000000" pitchFamily="18" charset="-128"/>
            </a:endParaRPr>
          </a:p>
        </p:txBody>
      </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506888" y="40949302"/>
            <a:ext cx="14522270" cy="954107"/>
          </a:xfrm>
          <a:prstGeom prst="rect">
            <a:avLst/>
          </a:prstGeom>
          <a:noFill/>
        </p:spPr>
        <p:txBody>
          <a:bodyPr wrap="square">
            <a:spAutoFit/>
          </a:bodyPr>
          <a:lstStyle/>
          <a:p>
            <a:r>
              <a:rPr lang="en-US" altLang="ja-JP" sz="2800" dirty="0">
                <a:latin typeface="UD デジタル 教科書体 NK-R" panose="02020400000000000000" pitchFamily="18" charset="-128"/>
                <a:ea typeface="UD デジタル 教科書体 NK-R" panose="02020400000000000000" pitchFamily="18" charset="-128"/>
              </a:rPr>
              <a:t>[1] </a:t>
            </a:r>
            <a:r>
              <a:rPr lang="ja-JP" altLang="en-US" sz="2800" dirty="0">
                <a:latin typeface="UD デジタル 教科書体 NK-R" panose="02020400000000000000" pitchFamily="18" charset="-128"/>
                <a:ea typeface="UD デジタル 教科書体 NK-R" panose="02020400000000000000" pitchFamily="18" charset="-128"/>
              </a:rPr>
              <a:t>山富 龍</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dirty="0">
                <a:latin typeface="UD デジタル 教科書体 NK-R" panose="02020400000000000000" pitchFamily="18" charset="-128"/>
                <a:ea typeface="UD デジタル 教科書体 NK-R" panose="02020400000000000000" pitchFamily="18" charset="-128"/>
              </a:rPr>
              <a:t>他</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dirty="0">
                <a:latin typeface="UD デジタル 教科書体 NK-R" panose="02020400000000000000" pitchFamily="18" charset="-128"/>
                <a:ea typeface="UD デジタル 教科書体 NK-R" panose="02020400000000000000" pitchFamily="18" charset="-128"/>
              </a:rPr>
              <a:t>信学技報</a:t>
            </a:r>
            <a:r>
              <a:rPr lang="en-US" altLang="ja-JP" sz="2800" dirty="0">
                <a:latin typeface="UD デジタル 教科書体 NK-R" panose="02020400000000000000" pitchFamily="18" charset="-128"/>
                <a:ea typeface="UD デジタル 教科書体 NK-R" panose="02020400000000000000" pitchFamily="18" charset="-128"/>
              </a:rPr>
              <a:t>, Vol.121, No.335, NLP2021-89, pp. 67–70 (2022).</a:t>
            </a:r>
          </a:p>
          <a:p>
            <a:r>
              <a:rPr lang="en-US" altLang="ja-JP" sz="2800" dirty="0">
                <a:latin typeface="UD デジタル 教科書体 NK-R" panose="02020400000000000000" pitchFamily="18" charset="-128"/>
                <a:ea typeface="UD デジタル 教科書体 NK-R" panose="02020400000000000000" pitchFamily="18" charset="-128"/>
              </a:rPr>
              <a:t>[2] M. </a:t>
            </a:r>
            <a:r>
              <a:rPr lang="en-US" altLang="ja-JP" sz="2800" dirty="0" err="1">
                <a:latin typeface="UD デジタル 教科書体 NK-R" panose="02020400000000000000" pitchFamily="18" charset="-128"/>
                <a:ea typeface="UD デジタル 教科書体 NK-R" panose="02020400000000000000" pitchFamily="18" charset="-128"/>
              </a:rPr>
              <a:t>Jahani</a:t>
            </a:r>
            <a:r>
              <a:rPr lang="en-US" altLang="ja-JP" sz="2800" dirty="0">
                <a:latin typeface="UD デジタル 教科書体 NK-R" panose="02020400000000000000" pitchFamily="18" charset="-128"/>
                <a:ea typeface="UD デジタル 教科書体 NK-R" panose="02020400000000000000" pitchFamily="18" charset="-128"/>
              </a:rPr>
              <a:t>, et al., </a:t>
            </a:r>
            <a:r>
              <a:rPr lang="en-US" altLang="ja-JP" sz="2800" dirty="0" err="1">
                <a:latin typeface="UD デジタル 教科書体 NK-R" panose="02020400000000000000" pitchFamily="18" charset="-128"/>
                <a:ea typeface="UD デジタル 教科書体 NK-R" panose="02020400000000000000" pitchFamily="18" charset="-128"/>
              </a:rPr>
              <a:t>arXiv</a:t>
            </a:r>
            <a:r>
              <a:rPr lang="en-US" altLang="ja-JP" sz="2800" dirty="0">
                <a:latin typeface="UD デジタル 教科書体 NK-R" panose="02020400000000000000" pitchFamily="18" charset="-128"/>
                <a:ea typeface="UD デジタル 教科書体 NK-R" panose="02020400000000000000" pitchFamily="18" charset="-128"/>
              </a:rPr>
              <a:t> preprint </a:t>
            </a:r>
            <a:r>
              <a:rPr lang="en-US" altLang="ja-JP" sz="2800" dirty="0" err="1">
                <a:latin typeface="UD デジタル 教科書体 NK-R" panose="02020400000000000000" pitchFamily="18" charset="-128"/>
                <a:ea typeface="UD デジタル 教科書体 NK-R" panose="02020400000000000000" pitchFamily="18" charset="-128"/>
              </a:rPr>
              <a:t>arXiv</a:t>
            </a:r>
            <a:r>
              <a:rPr lang="en-US" altLang="ja-JP" sz="2800" dirty="0">
                <a:latin typeface="UD デジタル 教科書体 NK-R" panose="02020400000000000000" pitchFamily="18" charset="-128"/>
                <a:ea typeface="UD デジタル 教科書体 NK-R" panose="02020400000000000000" pitchFamily="18" charset="-128"/>
              </a:rPr>
              <a:t> : 2109. 05198 (2021)</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53625" y="40931545"/>
            <a:ext cx="14522270" cy="954107"/>
          </a:xfrm>
          <a:prstGeom prst="rect">
            <a:avLst/>
          </a:prstGeom>
          <a:noFill/>
        </p:spPr>
        <p:txBody>
          <a:bodyPr wrap="square">
            <a:spAutoFit/>
          </a:bodyPr>
          <a:lstStyle/>
          <a:p>
            <a:r>
              <a:rPr lang="en-US" altLang="ja-JP" sz="2800" dirty="0">
                <a:latin typeface="UD デジタル 教科書体 NK-R" panose="02020400000000000000" pitchFamily="18" charset="-128"/>
                <a:ea typeface="UD デジタル 教科書体 NK-R" panose="02020400000000000000" pitchFamily="18" charset="-128"/>
              </a:rPr>
              <a:t>[3] Y. E. </a:t>
            </a:r>
            <a:r>
              <a:rPr lang="en-US" altLang="ja-JP" sz="2800" dirty="0" err="1">
                <a:latin typeface="UD デジタル 教科書体 NK-R" panose="02020400000000000000" pitchFamily="18" charset="-128"/>
                <a:ea typeface="UD デジタル 教科書体 NK-R" panose="02020400000000000000" pitchFamily="18" charset="-128"/>
              </a:rPr>
              <a:t>Nesterov</a:t>
            </a:r>
            <a:r>
              <a:rPr lang="en-US" altLang="ja-JP" sz="2800" dirty="0">
                <a:latin typeface="UD デジタル 教科書体 NK-R" panose="02020400000000000000" pitchFamily="18" charset="-128"/>
                <a:ea typeface="UD デジタル 教科書体 NK-R" panose="02020400000000000000" pitchFamily="18" charset="-128"/>
              </a:rPr>
              <a:t>, Kluwer Boston (2004).</a:t>
            </a:r>
          </a:p>
          <a:p>
            <a:r>
              <a:rPr lang="en-US" altLang="ja-JP" sz="2800" dirty="0">
                <a:latin typeface="UD デジタル 教科書体 NK-R" panose="02020400000000000000" pitchFamily="18" charset="-128"/>
                <a:ea typeface="UD デジタル 教科書体 NK-R" panose="02020400000000000000" pitchFamily="18" charset="-128"/>
              </a:rPr>
              <a:t>[4] D. P. </a:t>
            </a:r>
            <a:r>
              <a:rPr lang="en-US" altLang="ja-JP" sz="2800" dirty="0" err="1">
                <a:latin typeface="UD デジタル 教科書体 NK-R" panose="02020400000000000000" pitchFamily="18" charset="-128"/>
                <a:ea typeface="UD デジタル 教科書体 NK-R" panose="02020400000000000000" pitchFamily="18" charset="-128"/>
              </a:rPr>
              <a:t>Kingma</a:t>
            </a:r>
            <a:r>
              <a:rPr lang="en-US" altLang="ja-JP" sz="2800" dirty="0">
                <a:latin typeface="UD デジタル 教科書体 NK-R" panose="02020400000000000000" pitchFamily="18" charset="-128"/>
                <a:ea typeface="UD デジタル 教科書体 NK-R" panose="02020400000000000000" pitchFamily="18" charset="-128"/>
              </a:rPr>
              <a:t>, et al., Proc. ICLR, pp. 1-13 (2015).</a:t>
            </a:r>
          </a:p>
        </p:txBody>
      </p:sp>
      <p:graphicFrame>
        <p:nvGraphicFramePr>
          <p:cNvPr id="116" name="表 4">
            <a:extLst>
              <a:ext uri="{FF2B5EF4-FFF2-40B4-BE49-F238E27FC236}">
                <a16:creationId xmlns:a16="http://schemas.microsoft.com/office/drawing/2014/main" id="{CAEE36B9-9BD5-D428-8B30-695947B5D094}"/>
              </a:ext>
            </a:extLst>
          </p:cNvPr>
          <p:cNvGraphicFramePr>
            <a:graphicFrameLocks noGrp="1"/>
          </p:cNvGraphicFramePr>
          <p:nvPr>
            <p:extLst>
              <p:ext uri="{D42A27DB-BD31-4B8C-83A1-F6EECF244321}">
                <p14:modId xmlns:p14="http://schemas.microsoft.com/office/powerpoint/2010/main" val="2645295723"/>
              </p:ext>
            </p:extLst>
          </p:nvPr>
        </p:nvGraphicFramePr>
        <p:xfrm>
          <a:off x="18914884" y="36353205"/>
          <a:ext cx="10801076" cy="3383280"/>
        </p:xfrm>
        <a:graphic>
          <a:graphicData uri="http://schemas.openxmlformats.org/drawingml/2006/table">
            <a:tbl>
              <a:tblPr firstRow="1" bandRow="1">
                <a:tableStyleId>{EB344D84-9AFB-497E-A393-DC336BA19D2E}</a:tableStyleId>
              </a:tblPr>
              <a:tblGrid>
                <a:gridCol w="1865184">
                  <a:extLst>
                    <a:ext uri="{9D8B030D-6E8A-4147-A177-3AD203B41FA5}">
                      <a16:colId xmlns:a16="http://schemas.microsoft.com/office/drawing/2014/main" val="3844717227"/>
                    </a:ext>
                  </a:extLst>
                </a:gridCol>
                <a:gridCol w="2233973">
                  <a:extLst>
                    <a:ext uri="{9D8B030D-6E8A-4147-A177-3AD203B41FA5}">
                      <a16:colId xmlns:a16="http://schemas.microsoft.com/office/drawing/2014/main" val="2426172323"/>
                    </a:ext>
                  </a:extLst>
                </a:gridCol>
                <a:gridCol w="2233973">
                  <a:extLst>
                    <a:ext uri="{9D8B030D-6E8A-4147-A177-3AD203B41FA5}">
                      <a16:colId xmlns:a16="http://schemas.microsoft.com/office/drawing/2014/main" val="3821538216"/>
                    </a:ext>
                  </a:extLst>
                </a:gridCol>
                <a:gridCol w="2233973">
                  <a:extLst>
                    <a:ext uri="{9D8B030D-6E8A-4147-A177-3AD203B41FA5}">
                      <a16:colId xmlns:a16="http://schemas.microsoft.com/office/drawing/2014/main" val="1327852711"/>
                    </a:ext>
                  </a:extLst>
                </a:gridCol>
                <a:gridCol w="2233973">
                  <a:extLst>
                    <a:ext uri="{9D8B030D-6E8A-4147-A177-3AD203B41FA5}">
                      <a16:colId xmlns:a16="http://schemas.microsoft.com/office/drawing/2014/main" val="1573366612"/>
                    </a:ext>
                  </a:extLst>
                </a:gridCol>
              </a:tblGrid>
              <a:tr h="370840">
                <a:tc rowSpan="2">
                  <a:txBody>
                    <a:bodyPr/>
                    <a:lstStyle/>
                    <a:p>
                      <a:pPr algn="ctr"/>
                      <a:r>
                        <a:rPr kumimoji="1" lang="en-US" altLang="ja-JP" sz="3200" dirty="0"/>
                        <a:t>Batch Size</a:t>
                      </a:r>
                      <a:endParaRPr kumimoji="1" lang="ja-JP" altLang="en-US" sz="3200" dirty="0"/>
                    </a:p>
                  </a:txBody>
                  <a:tcPr anchor="ctr"/>
                </a:tc>
                <a:tc gridSpan="2">
                  <a:txBody>
                    <a:bodyPr/>
                    <a:lstStyle/>
                    <a:p>
                      <a:pPr algn="ctr"/>
                      <a:r>
                        <a:rPr kumimoji="1" lang="en-US" altLang="ja-JP" sz="3200" dirty="0"/>
                        <a:t>Adam</a:t>
                      </a:r>
                      <a:endParaRPr kumimoji="1" lang="ja-JP" altLang="en-US" sz="3200" dirty="0"/>
                    </a:p>
                  </a:txBody>
                  <a:tcPr anchor="ctr"/>
                </a:tc>
                <a:tc hMerge="1">
                  <a:txBody>
                    <a:bodyPr/>
                    <a:lstStyle/>
                    <a:p>
                      <a:endParaRPr kumimoji="1" lang="ja-JP" altLang="en-US" dirty="0"/>
                    </a:p>
                  </a:txBody>
                  <a:tcPr/>
                </a:tc>
                <a:tc gridSpan="2">
                  <a:txBody>
                    <a:bodyPr/>
                    <a:lstStyle/>
                    <a:p>
                      <a:pPr algn="ctr"/>
                      <a:r>
                        <a:rPr kumimoji="1" lang="en-US" altLang="ja-JP" sz="3200" dirty="0"/>
                        <a:t>OASIS+NAG</a:t>
                      </a:r>
                      <a:endParaRPr kumimoji="1" lang="ja-JP" altLang="en-US" sz="3200" dirty="0"/>
                    </a:p>
                  </a:txBody>
                  <a:tcPr anchor="ctr"/>
                </a:tc>
                <a:tc hMerge="1">
                  <a:txBody>
                    <a:bodyPr/>
                    <a:lstStyle/>
                    <a:p>
                      <a:endParaRPr kumimoji="1" lang="ja-JP" altLang="en-US" dirty="0"/>
                    </a:p>
                  </a:txBody>
                  <a:tcPr/>
                </a:tc>
                <a:extLst>
                  <a:ext uri="{0D108BD9-81ED-4DB2-BD59-A6C34878D82A}">
                    <a16:rowId xmlns:a16="http://schemas.microsoft.com/office/drawing/2014/main" val="4143241240"/>
                  </a:ext>
                </a:extLst>
              </a:tr>
              <a:tr h="370840">
                <a:tc vMerge="1">
                  <a:txBody>
                    <a:bodyPr/>
                    <a:lstStyle/>
                    <a:p>
                      <a:endParaRPr kumimoji="1" lang="ja-JP" altLang="en-US" dirty="0"/>
                    </a:p>
                  </a:txBody>
                  <a:tcPr/>
                </a:tc>
                <a:tc>
                  <a:txBody>
                    <a:bodyPr/>
                    <a:lstStyle/>
                    <a:p>
                      <a:pPr algn="ctr"/>
                      <a:r>
                        <a:rPr kumimoji="1" lang="en-US" altLang="ja-JP" sz="3200" dirty="0"/>
                        <a:t>Train Loss</a:t>
                      </a:r>
                      <a:endParaRPr kumimoji="1" lang="ja-JP" altLang="en-US" sz="3200" dirty="0"/>
                    </a:p>
                  </a:txBody>
                  <a:tcPr anchor="ctr"/>
                </a:tc>
                <a:tc>
                  <a:txBody>
                    <a:bodyPr/>
                    <a:lstStyle/>
                    <a:p>
                      <a:pPr algn="ctr"/>
                      <a:r>
                        <a:rPr kumimoji="1" lang="en-US" altLang="ja-JP" sz="3200" dirty="0"/>
                        <a:t>Test Accuracy</a:t>
                      </a:r>
                      <a:endParaRPr kumimoji="1" lang="ja-JP" altLang="en-US" sz="3200" dirty="0"/>
                    </a:p>
                  </a:txBody>
                  <a:tcPr anchor="ctr"/>
                </a:tc>
                <a:tc>
                  <a:txBody>
                    <a:bodyPr/>
                    <a:lstStyle/>
                    <a:p>
                      <a:pPr algn="ctr"/>
                      <a:r>
                        <a:rPr kumimoji="1" lang="en-US" altLang="ja-JP" sz="3200" dirty="0"/>
                        <a:t>Train Loss</a:t>
                      </a:r>
                      <a:endParaRPr kumimoji="1" lang="ja-JP" altLang="en-US" sz="3200" dirty="0"/>
                    </a:p>
                  </a:txBody>
                  <a:tcPr anchor="ctr"/>
                </a:tc>
                <a:tc>
                  <a:txBody>
                    <a:bodyPr/>
                    <a:lstStyle/>
                    <a:p>
                      <a:pPr algn="ctr"/>
                      <a:r>
                        <a:rPr kumimoji="1" lang="en-US" altLang="ja-JP" sz="3200" dirty="0"/>
                        <a:t>Test Accuracy</a:t>
                      </a:r>
                      <a:endParaRPr kumimoji="1" lang="ja-JP" altLang="en-US" sz="3200" dirty="0"/>
                    </a:p>
                  </a:txBody>
                  <a:tcPr anchor="ctr"/>
                </a:tc>
                <a:extLst>
                  <a:ext uri="{0D108BD9-81ED-4DB2-BD59-A6C34878D82A}">
                    <a16:rowId xmlns:a16="http://schemas.microsoft.com/office/drawing/2014/main" val="2861292221"/>
                  </a:ext>
                </a:extLst>
              </a:tr>
              <a:tr h="370840">
                <a:tc>
                  <a:txBody>
                    <a:bodyPr/>
                    <a:lstStyle/>
                    <a:p>
                      <a:pPr algn="ctr"/>
                      <a:r>
                        <a:rPr kumimoji="1" lang="en-US" altLang="ja-JP" sz="3200" dirty="0"/>
                        <a:t>512</a:t>
                      </a:r>
                      <a:endParaRPr kumimoji="1" lang="ja-JP" altLang="en-US" sz="3200" dirty="0"/>
                    </a:p>
                  </a:txBody>
                  <a:tcPr anchor="ctr"/>
                </a:tc>
                <a:tc>
                  <a:txBody>
                    <a:bodyPr/>
                    <a:lstStyle/>
                    <a:p>
                      <a:pPr algn="ctr"/>
                      <a:r>
                        <a:rPr kumimoji="1" lang="en-US" altLang="ja-JP" sz="3200" dirty="0"/>
                        <a:t>0.827/0.767</a:t>
                      </a:r>
                      <a:endParaRPr kumimoji="1" lang="ja-JP" altLang="en-US" sz="3200" dirty="0"/>
                    </a:p>
                  </a:txBody>
                  <a:tcPr anchor="ctr"/>
                </a:tc>
                <a:tc>
                  <a:txBody>
                    <a:bodyPr/>
                    <a:lstStyle/>
                    <a:p>
                      <a:pPr algn="ctr"/>
                      <a:r>
                        <a:rPr kumimoji="1" lang="en-US" altLang="ja-JP" sz="3200" dirty="0"/>
                        <a:t>0.75/0.77</a:t>
                      </a:r>
                      <a:endParaRPr kumimoji="1" lang="ja-JP" altLang="en-US" sz="3200"/>
                    </a:p>
                  </a:txBody>
                  <a:tcPr anchor="ctr"/>
                </a:tc>
                <a:tc>
                  <a:txBody>
                    <a:bodyPr/>
                    <a:lstStyle/>
                    <a:p>
                      <a:pPr algn="ctr"/>
                      <a:r>
                        <a:rPr kumimoji="1" lang="en-US" altLang="ja-JP" sz="3200" dirty="0"/>
                        <a:t>0.391/0.367</a:t>
                      </a:r>
                      <a:endParaRPr kumimoji="1" lang="ja-JP" altLang="en-US" sz="3200"/>
                    </a:p>
                  </a:txBody>
                  <a:tcPr anchor="ctr"/>
                </a:tc>
                <a:tc>
                  <a:txBody>
                    <a:bodyPr/>
                    <a:lstStyle/>
                    <a:p>
                      <a:pPr algn="ctr"/>
                      <a:r>
                        <a:rPr kumimoji="1" lang="en-US" altLang="ja-JP" sz="3200" dirty="0"/>
                        <a:t>0.883/0.89</a:t>
                      </a:r>
                      <a:endParaRPr kumimoji="1" lang="ja-JP" altLang="en-US" sz="3200"/>
                    </a:p>
                  </a:txBody>
                  <a:tcPr anchor="ctr"/>
                </a:tc>
                <a:extLst>
                  <a:ext uri="{0D108BD9-81ED-4DB2-BD59-A6C34878D82A}">
                    <a16:rowId xmlns:a16="http://schemas.microsoft.com/office/drawing/2014/main" val="1959009440"/>
                  </a:ext>
                </a:extLst>
              </a:tr>
              <a:tr h="370840">
                <a:tc>
                  <a:txBody>
                    <a:bodyPr/>
                    <a:lstStyle/>
                    <a:p>
                      <a:pPr algn="ctr"/>
                      <a:r>
                        <a:rPr kumimoji="1" lang="en-US" altLang="ja-JP" sz="3200" dirty="0"/>
                        <a:t>1024</a:t>
                      </a:r>
                      <a:endParaRPr kumimoji="1" lang="ja-JP" altLang="en-US" sz="3200" dirty="0"/>
                    </a:p>
                  </a:txBody>
                  <a:tcPr anchor="ctr"/>
                </a:tc>
                <a:tc>
                  <a:txBody>
                    <a:bodyPr/>
                    <a:lstStyle/>
                    <a:p>
                      <a:pPr algn="ctr"/>
                      <a:r>
                        <a:rPr kumimoji="1" lang="en-US" altLang="ja-JP" sz="3200" dirty="0"/>
                        <a:t>0.71/0.654</a:t>
                      </a:r>
                      <a:endParaRPr kumimoji="1" lang="ja-JP" altLang="en-US" sz="3200"/>
                    </a:p>
                  </a:txBody>
                  <a:tcPr anchor="ctr"/>
                </a:tc>
                <a:tc>
                  <a:txBody>
                    <a:bodyPr/>
                    <a:lstStyle/>
                    <a:p>
                      <a:pPr algn="ctr"/>
                      <a:r>
                        <a:rPr kumimoji="1" lang="en-US" altLang="ja-JP" sz="3200" dirty="0"/>
                        <a:t>0.792/0.80</a:t>
                      </a:r>
                      <a:endParaRPr kumimoji="1" lang="ja-JP" altLang="en-US" sz="3200"/>
                    </a:p>
                  </a:txBody>
                  <a:tcPr anchor="ctr"/>
                </a:tc>
                <a:tc>
                  <a:txBody>
                    <a:bodyPr/>
                    <a:lstStyle/>
                    <a:p>
                      <a:pPr algn="ctr"/>
                      <a:r>
                        <a:rPr kumimoji="1" lang="en-US" altLang="ja-JP" sz="3200" dirty="0"/>
                        <a:t>0.429/0.415</a:t>
                      </a:r>
                      <a:endParaRPr kumimoji="1" lang="ja-JP" altLang="en-US" sz="3200"/>
                    </a:p>
                  </a:txBody>
                  <a:tcPr anchor="ctr"/>
                </a:tc>
                <a:tc>
                  <a:txBody>
                    <a:bodyPr/>
                    <a:lstStyle/>
                    <a:p>
                      <a:pPr algn="ctr"/>
                      <a:r>
                        <a:rPr kumimoji="1" lang="en-US" altLang="ja-JP" sz="3200" dirty="0"/>
                        <a:t>0.868/0.876</a:t>
                      </a:r>
                      <a:endParaRPr kumimoji="1" lang="ja-JP" altLang="en-US" sz="3200"/>
                    </a:p>
                  </a:txBody>
                  <a:tcPr anchor="ctr"/>
                </a:tc>
                <a:extLst>
                  <a:ext uri="{0D108BD9-81ED-4DB2-BD59-A6C34878D82A}">
                    <a16:rowId xmlns:a16="http://schemas.microsoft.com/office/drawing/2014/main" val="3707964197"/>
                  </a:ext>
                </a:extLst>
              </a:tr>
              <a:tr h="370840">
                <a:tc>
                  <a:txBody>
                    <a:bodyPr/>
                    <a:lstStyle/>
                    <a:p>
                      <a:pPr algn="ctr"/>
                      <a:r>
                        <a:rPr kumimoji="1" lang="en-US" altLang="ja-JP" sz="3200" dirty="0"/>
                        <a:t>2048</a:t>
                      </a:r>
                      <a:endParaRPr kumimoji="1" lang="ja-JP" altLang="en-US" sz="3200" dirty="0"/>
                    </a:p>
                  </a:txBody>
                  <a:tcPr anchor="ctr"/>
                </a:tc>
                <a:tc>
                  <a:txBody>
                    <a:bodyPr/>
                    <a:lstStyle/>
                    <a:p>
                      <a:pPr algn="ctr"/>
                      <a:r>
                        <a:rPr kumimoji="1" lang="en-US" altLang="ja-JP" sz="3200" dirty="0"/>
                        <a:t>0.698/0.667</a:t>
                      </a:r>
                      <a:endParaRPr kumimoji="1" lang="ja-JP" altLang="en-US" sz="3200"/>
                    </a:p>
                  </a:txBody>
                  <a:tcPr anchor="ctr"/>
                </a:tc>
                <a:tc>
                  <a:txBody>
                    <a:bodyPr/>
                    <a:lstStyle/>
                    <a:p>
                      <a:pPr algn="ctr"/>
                      <a:r>
                        <a:rPr kumimoji="1" lang="en-US" altLang="ja-JP" sz="3200" dirty="0">
                          <a:solidFill>
                            <a:srgbClr val="FF0000"/>
                          </a:solidFill>
                        </a:rPr>
                        <a:t>0.794/0.812</a:t>
                      </a:r>
                      <a:endParaRPr kumimoji="1" lang="ja-JP" altLang="en-US" sz="3200">
                        <a:solidFill>
                          <a:srgbClr val="FF0000"/>
                        </a:solidFill>
                      </a:endParaRPr>
                    </a:p>
                  </a:txBody>
                  <a:tcPr anchor="ctr"/>
                </a:tc>
                <a:tc>
                  <a:txBody>
                    <a:bodyPr/>
                    <a:lstStyle/>
                    <a:p>
                      <a:pPr algn="ctr"/>
                      <a:r>
                        <a:rPr kumimoji="1" lang="en-US" altLang="ja-JP" sz="3200" dirty="0"/>
                        <a:t>0.486/0.48</a:t>
                      </a:r>
                      <a:endParaRPr kumimoji="1" lang="ja-JP" altLang="en-US" sz="3200"/>
                    </a:p>
                  </a:txBody>
                  <a:tcPr anchor="ctr"/>
                </a:tc>
                <a:tc>
                  <a:txBody>
                    <a:bodyPr/>
                    <a:lstStyle/>
                    <a:p>
                      <a:pPr algn="ctr"/>
                      <a:r>
                        <a:rPr kumimoji="1" lang="en-US" altLang="ja-JP" sz="3200" dirty="0">
                          <a:solidFill>
                            <a:srgbClr val="FF0000"/>
                          </a:solidFill>
                        </a:rPr>
                        <a:t>0.851/0.86</a:t>
                      </a:r>
                      <a:endParaRPr kumimoji="1" lang="ja-JP" altLang="en-US" sz="3200" dirty="0">
                        <a:solidFill>
                          <a:srgbClr val="FF0000"/>
                        </a:solidFill>
                      </a:endParaRPr>
                    </a:p>
                  </a:txBody>
                  <a:tcPr anchor="ctr"/>
                </a:tc>
                <a:extLst>
                  <a:ext uri="{0D108BD9-81ED-4DB2-BD59-A6C34878D82A}">
                    <a16:rowId xmlns:a16="http://schemas.microsoft.com/office/drawing/2014/main" val="1673063984"/>
                  </a:ext>
                </a:extLst>
              </a:tr>
            </a:tbl>
          </a:graphicData>
        </a:graphic>
      </p:graphicFrame>
      <p:grpSp>
        <p:nvGrpSpPr>
          <p:cNvPr id="40" name="グループ化 39">
            <a:extLst>
              <a:ext uri="{FF2B5EF4-FFF2-40B4-BE49-F238E27FC236}">
                <a16:creationId xmlns:a16="http://schemas.microsoft.com/office/drawing/2014/main" id="{D4FFF33E-874A-FECF-1F33-6CBB76E81716}"/>
              </a:ext>
            </a:extLst>
          </p:cNvPr>
          <p:cNvGrpSpPr/>
          <p:nvPr/>
        </p:nvGrpSpPr>
        <p:grpSpPr>
          <a:xfrm>
            <a:off x="15512790" y="10145887"/>
            <a:ext cx="4548553" cy="4548553"/>
            <a:chOff x="15512790" y="10145887"/>
            <a:chExt cx="4548553" cy="4548553"/>
          </a:xfrm>
        </p:grpSpPr>
        <p:sp>
          <p:nvSpPr>
            <p:cNvPr id="136" name="正方形/長方形 135">
              <a:extLst>
                <a:ext uri="{FF2B5EF4-FFF2-40B4-BE49-F238E27FC236}">
                  <a16:creationId xmlns:a16="http://schemas.microsoft.com/office/drawing/2014/main" id="{8D5A557A-F526-EE8A-5A94-154A79794D9C}"/>
                </a:ext>
              </a:extLst>
            </p:cNvPr>
            <p:cNvSpPr/>
            <p:nvPr/>
          </p:nvSpPr>
          <p:spPr>
            <a:xfrm>
              <a:off x="15512790" y="10145887"/>
              <a:ext cx="4548553" cy="4548553"/>
            </a:xfrm>
            <a:prstGeom prst="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3" name="直線矢印コネクタ 2">
              <a:extLst>
                <a:ext uri="{FF2B5EF4-FFF2-40B4-BE49-F238E27FC236}">
                  <a16:creationId xmlns:a16="http://schemas.microsoft.com/office/drawing/2014/main" id="{BE67D0C5-3B3C-D131-C68E-48954FE6B585}"/>
                </a:ext>
              </a:extLst>
            </p:cNvPr>
            <p:cNvCxnSpPr>
              <a:cxnSpLocks/>
            </p:cNvCxnSpPr>
            <p:nvPr/>
          </p:nvCxnSpPr>
          <p:spPr>
            <a:xfrm flipV="1">
              <a:off x="16540413" y="12760003"/>
              <a:ext cx="254588" cy="856177"/>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正方形/長方形 13">
                  <a:extLst>
                    <a:ext uri="{FF2B5EF4-FFF2-40B4-BE49-F238E27FC236}">
                      <a16:creationId xmlns:a16="http://schemas.microsoft.com/office/drawing/2014/main" id="{2016713F-8542-0DF7-F147-382FD087BAD5}"/>
                    </a:ext>
                  </a:extLst>
                </p:cNvPr>
                <p:cNvSpPr/>
                <p:nvPr/>
              </p:nvSpPr>
              <p:spPr>
                <a:xfrm>
                  <a:off x="16745157" y="12969317"/>
                  <a:ext cx="2311210"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ja-JP" altLang="en-US" sz="3200" i="1" smtClean="0">
                            <a:latin typeface="Cambria Math" panose="02040503050406030204" pitchFamily="18" charset="0"/>
                            <a:ea typeface="UD デジタル 教科書体 NK-R" panose="02020400000000000000" pitchFamily="18" charset="-128"/>
                          </a:rPr>
                          <m:t>𝛼</m:t>
                        </m:r>
                        <m:r>
                          <m:rPr>
                            <m:sty m:val="p"/>
                          </m:rPr>
                          <a:rPr lang="ja-JP" altLang="en-US" sz="3200" i="1">
                            <a:latin typeface="Cambria Math" panose="02040503050406030204" pitchFamily="18" charset="0"/>
                          </a:rPr>
                          <m:t>∇</m:t>
                        </m:r>
                        <m:r>
                          <a:rPr lang="en-ZA" altLang="ja-JP" sz="3200" i="1">
                            <a:latin typeface="Cambria Math" panose="02040503050406030204" pitchFamily="18" charset="0"/>
                          </a:rPr>
                          <m:t>𝐸</m:t>
                        </m:r>
                        <m:d>
                          <m:dPr>
                            <m:ctrlPr>
                              <a:rPr lang="en-ZA" altLang="ja-JP" sz="3200" i="1">
                                <a:latin typeface="Cambria Math" panose="02040503050406030204" pitchFamily="18" charset="0"/>
                              </a:rPr>
                            </m:ctrlPr>
                          </m:dPr>
                          <m:e>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e>
                        </m:d>
                      </m:oMath>
                    </m:oMathPara>
                  </a14:m>
                  <a:endParaRPr lang="ja-JP" altLang="en-US" sz="3200"/>
                </a:p>
              </p:txBody>
            </p:sp>
          </mc:Choice>
          <mc:Fallback xmlns="">
            <p:sp>
              <p:nvSpPr>
                <p:cNvPr id="14" name="正方形/長方形 13">
                  <a:extLst>
                    <a:ext uri="{FF2B5EF4-FFF2-40B4-BE49-F238E27FC236}">
                      <a16:creationId xmlns:a16="http://schemas.microsoft.com/office/drawing/2014/main" id="{2016713F-8542-0DF7-F147-382FD087BAD5}"/>
                    </a:ext>
                  </a:extLst>
                </p:cNvPr>
                <p:cNvSpPr>
                  <a:spLocks noRot="1" noChangeAspect="1" noMove="1" noResize="1" noEditPoints="1" noAdjustHandles="1" noChangeArrowheads="1" noChangeShapeType="1" noTextEdit="1"/>
                </p:cNvSpPr>
                <p:nvPr/>
              </p:nvSpPr>
              <p:spPr>
                <a:xfrm>
                  <a:off x="16745157" y="12969317"/>
                  <a:ext cx="2311210" cy="584775"/>
                </a:xfrm>
                <a:prstGeom prst="rect">
                  <a:avLst/>
                </a:prstGeom>
                <a:blipFill>
                  <a:blip r:embed="rId31"/>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7" name="正方形/長方形 146">
                  <a:extLst>
                    <a:ext uri="{FF2B5EF4-FFF2-40B4-BE49-F238E27FC236}">
                      <a16:creationId xmlns:a16="http://schemas.microsoft.com/office/drawing/2014/main" id="{9770EC91-BFB9-C9F1-92AC-C1755321C4CD}"/>
                    </a:ext>
                  </a:extLst>
                </p:cNvPr>
                <p:cNvSpPr/>
                <p:nvPr/>
              </p:nvSpPr>
              <p:spPr>
                <a:xfrm>
                  <a:off x="16187008" y="13551563"/>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i="1">
                                <a:latin typeface="Cambria Math" panose="02040503050406030204" pitchFamily="18" charset="0"/>
                              </a:rPr>
                              <m:t>−1</m:t>
                            </m:r>
                          </m:sub>
                        </m:sSub>
                      </m:oMath>
                    </m:oMathPara>
                  </a14:m>
                  <a:endParaRPr lang="ja-JP" altLang="en-US" sz="3200"/>
                </a:p>
              </p:txBody>
            </p:sp>
          </mc:Choice>
          <mc:Fallback xmlns="">
            <p:sp>
              <p:nvSpPr>
                <p:cNvPr id="147" name="正方形/長方形 146">
                  <a:extLst>
                    <a:ext uri="{FF2B5EF4-FFF2-40B4-BE49-F238E27FC236}">
                      <a16:creationId xmlns:a16="http://schemas.microsoft.com/office/drawing/2014/main" id="{9770EC91-BFB9-C9F1-92AC-C1755321C4CD}"/>
                    </a:ext>
                  </a:extLst>
                </p:cNvPr>
                <p:cNvSpPr>
                  <a:spLocks noRot="1" noChangeAspect="1" noMove="1" noResize="1" noEditPoints="1" noAdjustHandles="1" noChangeArrowheads="1" noChangeShapeType="1" noTextEdit="1"/>
                </p:cNvSpPr>
                <p:nvPr/>
              </p:nvSpPr>
              <p:spPr>
                <a:xfrm>
                  <a:off x="16187008" y="13551563"/>
                  <a:ext cx="1193532" cy="584775"/>
                </a:xfrm>
                <a:prstGeom prst="rect">
                  <a:avLst/>
                </a:prstGeom>
                <a:blipFill>
                  <a:blip r:embed="rId32"/>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2" name="正方形/長方形 151">
                  <a:extLst>
                    <a:ext uri="{FF2B5EF4-FFF2-40B4-BE49-F238E27FC236}">
                      <a16:creationId xmlns:a16="http://schemas.microsoft.com/office/drawing/2014/main" id="{7A1A5139-20E4-668C-7D71-D5794E1BB528}"/>
                    </a:ext>
                  </a:extLst>
                </p:cNvPr>
                <p:cNvSpPr/>
                <p:nvPr/>
              </p:nvSpPr>
              <p:spPr>
                <a:xfrm>
                  <a:off x="17288330" y="11579245"/>
                  <a:ext cx="192007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ja-JP" altLang="en-US" sz="3200" i="1" smtClean="0">
                            <a:latin typeface="Cambria Math" panose="02040503050406030204" pitchFamily="18" charset="0"/>
                            <a:ea typeface="UD デジタル 教科書体 NK-R" panose="02020400000000000000" pitchFamily="18" charset="-128"/>
                          </a:rPr>
                          <m:t>𝛼</m:t>
                        </m:r>
                        <m:r>
                          <m:rPr>
                            <m:sty m:val="p"/>
                          </m:rPr>
                          <a:rPr lang="ja-JP" altLang="en-US" sz="3200" i="1">
                            <a:latin typeface="Cambria Math" panose="02040503050406030204" pitchFamily="18" charset="0"/>
                          </a:rPr>
                          <m:t>∇</m:t>
                        </m:r>
                        <m:r>
                          <a:rPr lang="en-ZA" altLang="ja-JP" sz="3200" i="1">
                            <a:latin typeface="Cambria Math" panose="02040503050406030204" pitchFamily="18" charset="0"/>
                          </a:rPr>
                          <m:t>𝐸</m:t>
                        </m:r>
                        <m:d>
                          <m:dPr>
                            <m:ctrlPr>
                              <a:rPr lang="en-ZA" altLang="ja-JP" sz="3200" i="1">
                                <a:latin typeface="Cambria Math" panose="02040503050406030204" pitchFamily="18" charset="0"/>
                              </a:rPr>
                            </m:ctrlPr>
                          </m:dPr>
                          <m:e>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sub>
                            </m:sSub>
                          </m:e>
                        </m:d>
                      </m:oMath>
                    </m:oMathPara>
                  </a14:m>
                  <a:endParaRPr lang="ja-JP" altLang="en-US" sz="3200"/>
                </a:p>
              </p:txBody>
            </p:sp>
          </mc:Choice>
          <mc:Fallback xmlns="">
            <p:sp>
              <p:nvSpPr>
                <p:cNvPr id="152" name="正方形/長方形 151">
                  <a:extLst>
                    <a:ext uri="{FF2B5EF4-FFF2-40B4-BE49-F238E27FC236}">
                      <a16:creationId xmlns:a16="http://schemas.microsoft.com/office/drawing/2014/main" id="{7A1A5139-20E4-668C-7D71-D5794E1BB528}"/>
                    </a:ext>
                  </a:extLst>
                </p:cNvPr>
                <p:cNvSpPr>
                  <a:spLocks noRot="1" noChangeAspect="1" noMove="1" noResize="1" noEditPoints="1" noAdjustHandles="1" noChangeArrowheads="1" noChangeShapeType="1" noTextEdit="1"/>
                </p:cNvSpPr>
                <p:nvPr/>
              </p:nvSpPr>
              <p:spPr>
                <a:xfrm>
                  <a:off x="17288330" y="11579245"/>
                  <a:ext cx="1920076" cy="584775"/>
                </a:xfrm>
                <a:prstGeom prst="rect">
                  <a:avLst/>
                </a:prstGeom>
                <a:blipFill>
                  <a:blip r:embed="rId33"/>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3" name="正方形/長方形 152">
                  <a:extLst>
                    <a:ext uri="{FF2B5EF4-FFF2-40B4-BE49-F238E27FC236}">
                      <a16:creationId xmlns:a16="http://schemas.microsoft.com/office/drawing/2014/main" id="{F35A2804-289C-CDC2-8AE4-33A9C3B955B3}"/>
                    </a:ext>
                  </a:extLst>
                </p:cNvPr>
                <p:cNvSpPr/>
                <p:nvPr/>
              </p:nvSpPr>
              <p:spPr>
                <a:xfrm>
                  <a:off x="16530414" y="12141721"/>
                  <a:ext cx="80239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sub>
                        </m:sSub>
                      </m:oMath>
                    </m:oMathPara>
                  </a14:m>
                  <a:endParaRPr lang="ja-JP" altLang="en-US" sz="3200"/>
                </a:p>
              </p:txBody>
            </p:sp>
          </mc:Choice>
          <mc:Fallback xmlns="">
            <p:sp>
              <p:nvSpPr>
                <p:cNvPr id="153" name="正方形/長方形 152">
                  <a:extLst>
                    <a:ext uri="{FF2B5EF4-FFF2-40B4-BE49-F238E27FC236}">
                      <a16:creationId xmlns:a16="http://schemas.microsoft.com/office/drawing/2014/main" id="{F35A2804-289C-CDC2-8AE4-33A9C3B955B3}"/>
                    </a:ext>
                  </a:extLst>
                </p:cNvPr>
                <p:cNvSpPr>
                  <a:spLocks noRot="1" noChangeAspect="1" noMove="1" noResize="1" noEditPoints="1" noAdjustHandles="1" noChangeArrowheads="1" noChangeShapeType="1" noTextEdit="1"/>
                </p:cNvSpPr>
                <p:nvPr/>
              </p:nvSpPr>
              <p:spPr>
                <a:xfrm>
                  <a:off x="16530414" y="12141721"/>
                  <a:ext cx="802399" cy="584775"/>
                </a:xfrm>
                <a:prstGeom prst="rect">
                  <a:avLst/>
                </a:prstGeom>
                <a:blipFill>
                  <a:blip r:embed="rId34"/>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6" name="正方形/長方形 155">
                  <a:extLst>
                    <a:ext uri="{FF2B5EF4-FFF2-40B4-BE49-F238E27FC236}">
                      <a16:creationId xmlns:a16="http://schemas.microsoft.com/office/drawing/2014/main" id="{96CA3877-3F4B-71FF-23B4-8AB075A0A432}"/>
                    </a:ext>
                  </a:extLst>
                </p:cNvPr>
                <p:cNvSpPr/>
                <p:nvPr/>
              </p:nvSpPr>
              <p:spPr>
                <a:xfrm>
                  <a:off x="16947751" y="10732962"/>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oMath>
                    </m:oMathPara>
                  </a14:m>
                  <a:endParaRPr lang="ja-JP" altLang="en-US" sz="3200"/>
                </a:p>
              </p:txBody>
            </p:sp>
          </mc:Choice>
          <mc:Fallback xmlns="">
            <p:sp>
              <p:nvSpPr>
                <p:cNvPr id="156" name="正方形/長方形 155">
                  <a:extLst>
                    <a:ext uri="{FF2B5EF4-FFF2-40B4-BE49-F238E27FC236}">
                      <a16:creationId xmlns:a16="http://schemas.microsoft.com/office/drawing/2014/main" id="{96CA3877-3F4B-71FF-23B4-8AB075A0A432}"/>
                    </a:ext>
                  </a:extLst>
                </p:cNvPr>
                <p:cNvSpPr>
                  <a:spLocks noRot="1" noChangeAspect="1" noMove="1" noResize="1" noEditPoints="1" noAdjustHandles="1" noChangeArrowheads="1" noChangeShapeType="1" noTextEdit="1"/>
                </p:cNvSpPr>
                <p:nvPr/>
              </p:nvSpPr>
              <p:spPr>
                <a:xfrm>
                  <a:off x="16947751" y="10732962"/>
                  <a:ext cx="1193532" cy="584775"/>
                </a:xfrm>
                <a:prstGeom prst="rect">
                  <a:avLst/>
                </a:prstGeom>
                <a:blipFill>
                  <a:blip r:embed="rId35"/>
                  <a:stretch>
                    <a:fillRect b="-6383"/>
                  </a:stretch>
                </a:blipFill>
              </p:spPr>
              <p:txBody>
                <a:bodyPr/>
                <a:lstStyle/>
                <a:p>
                  <a:r>
                    <a:rPr lang="ja-JP" altLang="en-US">
                      <a:noFill/>
                    </a:rPr>
                    <a:t> </a:t>
                  </a:r>
                </a:p>
              </p:txBody>
            </p:sp>
          </mc:Fallback>
        </mc:AlternateContent>
        <p:cxnSp>
          <p:nvCxnSpPr>
            <p:cNvPr id="166" name="直線矢印コネクタ 165">
              <a:extLst>
                <a:ext uri="{FF2B5EF4-FFF2-40B4-BE49-F238E27FC236}">
                  <a16:creationId xmlns:a16="http://schemas.microsoft.com/office/drawing/2014/main" id="{2692F473-2A3D-8951-C068-9032B23C68A4}"/>
                </a:ext>
              </a:extLst>
            </p:cNvPr>
            <p:cNvCxnSpPr>
              <a:cxnSpLocks/>
            </p:cNvCxnSpPr>
            <p:nvPr/>
          </p:nvCxnSpPr>
          <p:spPr>
            <a:xfrm flipV="1">
              <a:off x="16997985" y="11379118"/>
              <a:ext cx="481039" cy="834207"/>
            </a:xfrm>
            <a:prstGeom prst="straightConnector1">
              <a:avLst/>
            </a:prstGeom>
            <a:ln w="762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grpSp>
      <p:grpSp>
        <p:nvGrpSpPr>
          <p:cNvPr id="48" name="グループ化 47">
            <a:extLst>
              <a:ext uri="{FF2B5EF4-FFF2-40B4-BE49-F238E27FC236}">
                <a16:creationId xmlns:a16="http://schemas.microsoft.com/office/drawing/2014/main" id="{B4978807-BF84-3C06-D51E-441F75603ADD}"/>
              </a:ext>
            </a:extLst>
          </p:cNvPr>
          <p:cNvGrpSpPr/>
          <p:nvPr/>
        </p:nvGrpSpPr>
        <p:grpSpPr>
          <a:xfrm>
            <a:off x="20347783" y="10151348"/>
            <a:ext cx="4548553" cy="4548553"/>
            <a:chOff x="20347783" y="10151348"/>
            <a:chExt cx="4548553" cy="4548553"/>
          </a:xfrm>
        </p:grpSpPr>
        <p:sp>
          <p:nvSpPr>
            <p:cNvPr id="176" name="正方形/長方形 175">
              <a:extLst>
                <a:ext uri="{FF2B5EF4-FFF2-40B4-BE49-F238E27FC236}">
                  <a16:creationId xmlns:a16="http://schemas.microsoft.com/office/drawing/2014/main" id="{5C84CE58-B7BD-E925-52F3-C80735DC3D04}"/>
                </a:ext>
              </a:extLst>
            </p:cNvPr>
            <p:cNvSpPr/>
            <p:nvPr/>
          </p:nvSpPr>
          <p:spPr>
            <a:xfrm>
              <a:off x="20347783" y="10151348"/>
              <a:ext cx="4548553" cy="4548553"/>
            </a:xfrm>
            <a:prstGeom prst="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77" name="直線矢印コネクタ 176">
              <a:extLst>
                <a:ext uri="{FF2B5EF4-FFF2-40B4-BE49-F238E27FC236}">
                  <a16:creationId xmlns:a16="http://schemas.microsoft.com/office/drawing/2014/main" id="{3BDB475D-1730-6DFB-86FA-5D43AD7ADEE6}"/>
                </a:ext>
              </a:extLst>
            </p:cNvPr>
            <p:cNvCxnSpPr>
              <a:cxnSpLocks/>
            </p:cNvCxnSpPr>
            <p:nvPr/>
          </p:nvCxnSpPr>
          <p:spPr>
            <a:xfrm flipV="1">
              <a:off x="21345992" y="12943790"/>
              <a:ext cx="407338" cy="1094387"/>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78" name="正方形/長方形 177">
                  <a:extLst>
                    <a:ext uri="{FF2B5EF4-FFF2-40B4-BE49-F238E27FC236}">
                      <a16:creationId xmlns:a16="http://schemas.microsoft.com/office/drawing/2014/main" id="{5AA61B50-29A2-667F-37BA-AB9F56D165FB}"/>
                    </a:ext>
                  </a:extLst>
                </p:cNvPr>
                <p:cNvSpPr/>
                <p:nvPr/>
              </p:nvSpPr>
              <p:spPr>
                <a:xfrm>
                  <a:off x="21698620" y="13429287"/>
                  <a:ext cx="68582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US" altLang="ja-JP" sz="3200" b="1" i="0" smtClean="0">
                                <a:latin typeface="Cambria Math" panose="02040503050406030204" pitchFamily="18" charset="0"/>
                              </a:rPr>
                              <m:t>𝐯</m:t>
                            </m:r>
                          </m:e>
                          <m:sub>
                            <m:r>
                              <a:rPr lang="en-ZA" altLang="ja-JP" sz="3200" i="1">
                                <a:latin typeface="Cambria Math" panose="02040503050406030204" pitchFamily="18" charset="0"/>
                              </a:rPr>
                              <m:t>𝑘</m:t>
                            </m:r>
                          </m:sub>
                        </m:sSub>
                      </m:oMath>
                    </m:oMathPara>
                  </a14:m>
                  <a:endParaRPr lang="ja-JP" altLang="en-US" sz="3200"/>
                </a:p>
              </p:txBody>
            </p:sp>
          </mc:Choice>
          <mc:Fallback>
            <p:sp>
              <p:nvSpPr>
                <p:cNvPr id="178" name="正方形/長方形 177">
                  <a:extLst>
                    <a:ext uri="{FF2B5EF4-FFF2-40B4-BE49-F238E27FC236}">
                      <a16:creationId xmlns:a16="http://schemas.microsoft.com/office/drawing/2014/main" id="{5AA61B50-29A2-667F-37BA-AB9F56D165FB}"/>
                    </a:ext>
                  </a:extLst>
                </p:cNvPr>
                <p:cNvSpPr>
                  <a:spLocks noRot="1" noChangeAspect="1" noMove="1" noResize="1" noEditPoints="1" noAdjustHandles="1" noChangeArrowheads="1" noChangeShapeType="1" noTextEdit="1"/>
                </p:cNvSpPr>
                <p:nvPr/>
              </p:nvSpPr>
              <p:spPr>
                <a:xfrm>
                  <a:off x="21698620" y="13429287"/>
                  <a:ext cx="685829" cy="584775"/>
                </a:xfrm>
                <a:prstGeom prst="rect">
                  <a:avLst/>
                </a:prstGeom>
                <a:blipFill>
                  <a:blip r:embed="rId36"/>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9" name="正方形/長方形 178">
                  <a:extLst>
                    <a:ext uri="{FF2B5EF4-FFF2-40B4-BE49-F238E27FC236}">
                      <a16:creationId xmlns:a16="http://schemas.microsoft.com/office/drawing/2014/main" id="{569C7A7A-9885-E233-9C30-D17330B6E836}"/>
                    </a:ext>
                  </a:extLst>
                </p:cNvPr>
                <p:cNvSpPr/>
                <p:nvPr/>
              </p:nvSpPr>
              <p:spPr>
                <a:xfrm>
                  <a:off x="20992587" y="13973560"/>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i="1">
                                <a:latin typeface="Cambria Math" panose="02040503050406030204" pitchFamily="18" charset="0"/>
                              </a:rPr>
                              <m:t>−1</m:t>
                            </m:r>
                          </m:sub>
                        </m:sSub>
                      </m:oMath>
                    </m:oMathPara>
                  </a14:m>
                  <a:endParaRPr lang="ja-JP" altLang="en-US" sz="3200"/>
                </a:p>
              </p:txBody>
            </p:sp>
          </mc:Choice>
          <mc:Fallback xmlns="">
            <p:sp>
              <p:nvSpPr>
                <p:cNvPr id="179" name="正方形/長方形 178">
                  <a:extLst>
                    <a:ext uri="{FF2B5EF4-FFF2-40B4-BE49-F238E27FC236}">
                      <a16:creationId xmlns:a16="http://schemas.microsoft.com/office/drawing/2014/main" id="{569C7A7A-9885-E233-9C30-D17330B6E836}"/>
                    </a:ext>
                  </a:extLst>
                </p:cNvPr>
                <p:cNvSpPr>
                  <a:spLocks noRot="1" noChangeAspect="1" noMove="1" noResize="1" noEditPoints="1" noAdjustHandles="1" noChangeArrowheads="1" noChangeShapeType="1" noTextEdit="1"/>
                </p:cNvSpPr>
                <p:nvPr/>
              </p:nvSpPr>
              <p:spPr>
                <a:xfrm>
                  <a:off x="20992587" y="13973560"/>
                  <a:ext cx="1193532" cy="584775"/>
                </a:xfrm>
                <a:prstGeom prst="rect">
                  <a:avLst/>
                </a:prstGeom>
                <a:blipFill>
                  <a:blip r:embed="rId37"/>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0" name="正方形/長方形 179">
                  <a:extLst>
                    <a:ext uri="{FF2B5EF4-FFF2-40B4-BE49-F238E27FC236}">
                      <a16:creationId xmlns:a16="http://schemas.microsoft.com/office/drawing/2014/main" id="{02AED39D-A01A-1667-417D-17D64AF363B3}"/>
                    </a:ext>
                  </a:extLst>
                </p:cNvPr>
                <p:cNvSpPr/>
                <p:nvPr/>
              </p:nvSpPr>
              <p:spPr>
                <a:xfrm>
                  <a:off x="20733011" y="10859304"/>
                  <a:ext cx="1920076"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ja-JP" altLang="en-US" sz="3200" i="1" smtClean="0">
                            <a:latin typeface="Cambria Math" panose="02040503050406030204" pitchFamily="18" charset="0"/>
                            <a:ea typeface="UD デジタル 教科書体 NK-R" panose="02020400000000000000" pitchFamily="18" charset="-128"/>
                          </a:rPr>
                          <m:t>𝛼</m:t>
                        </m:r>
                        <m:r>
                          <m:rPr>
                            <m:sty m:val="p"/>
                          </m:rPr>
                          <a:rPr lang="ja-JP" altLang="en-US" sz="3200" i="1">
                            <a:latin typeface="Cambria Math" panose="02040503050406030204" pitchFamily="18" charset="0"/>
                          </a:rPr>
                          <m:t>∇</m:t>
                        </m:r>
                        <m:r>
                          <a:rPr lang="en-ZA" altLang="ja-JP" sz="3200" i="1">
                            <a:latin typeface="Cambria Math" panose="02040503050406030204" pitchFamily="18" charset="0"/>
                          </a:rPr>
                          <m:t>𝐸</m:t>
                        </m:r>
                        <m:d>
                          <m:dPr>
                            <m:ctrlPr>
                              <a:rPr lang="en-ZA" altLang="ja-JP" sz="3200" i="1">
                                <a:latin typeface="Cambria Math" panose="02040503050406030204" pitchFamily="18" charset="0"/>
                              </a:rPr>
                            </m:ctrlPr>
                          </m:dPr>
                          <m:e>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sub>
                            </m:sSub>
                          </m:e>
                        </m:d>
                      </m:oMath>
                    </m:oMathPara>
                  </a14:m>
                  <a:endParaRPr lang="ja-JP" altLang="en-US" sz="3200"/>
                </a:p>
              </p:txBody>
            </p:sp>
          </mc:Choice>
          <mc:Fallback xmlns="">
            <p:sp>
              <p:nvSpPr>
                <p:cNvPr id="180" name="正方形/長方形 179">
                  <a:extLst>
                    <a:ext uri="{FF2B5EF4-FFF2-40B4-BE49-F238E27FC236}">
                      <a16:creationId xmlns:a16="http://schemas.microsoft.com/office/drawing/2014/main" id="{02AED39D-A01A-1667-417D-17D64AF363B3}"/>
                    </a:ext>
                  </a:extLst>
                </p:cNvPr>
                <p:cNvSpPr>
                  <a:spLocks noRot="1" noChangeAspect="1" noMove="1" noResize="1" noEditPoints="1" noAdjustHandles="1" noChangeArrowheads="1" noChangeShapeType="1" noTextEdit="1"/>
                </p:cNvSpPr>
                <p:nvPr/>
              </p:nvSpPr>
              <p:spPr>
                <a:xfrm>
                  <a:off x="20733011" y="10859304"/>
                  <a:ext cx="1920076" cy="584775"/>
                </a:xfrm>
                <a:prstGeom prst="rect">
                  <a:avLst/>
                </a:prstGeom>
                <a:blipFill>
                  <a:blip r:embed="rId38"/>
                  <a:stretch>
                    <a:fillRect b="-85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1" name="正方形/長方形 180">
                  <a:extLst>
                    <a:ext uri="{FF2B5EF4-FFF2-40B4-BE49-F238E27FC236}">
                      <a16:creationId xmlns:a16="http://schemas.microsoft.com/office/drawing/2014/main" id="{BECD8077-030F-36C3-E9BE-2BDE1A73ADD1}"/>
                    </a:ext>
                  </a:extLst>
                </p:cNvPr>
                <p:cNvSpPr/>
                <p:nvPr/>
              </p:nvSpPr>
              <p:spPr>
                <a:xfrm>
                  <a:off x="21455543" y="12332703"/>
                  <a:ext cx="80239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sub>
                        </m:sSub>
                      </m:oMath>
                    </m:oMathPara>
                  </a14:m>
                  <a:endParaRPr lang="ja-JP" altLang="en-US" sz="3200"/>
                </a:p>
              </p:txBody>
            </p:sp>
          </mc:Choice>
          <mc:Fallback xmlns="">
            <p:sp>
              <p:nvSpPr>
                <p:cNvPr id="181" name="正方形/長方形 180">
                  <a:extLst>
                    <a:ext uri="{FF2B5EF4-FFF2-40B4-BE49-F238E27FC236}">
                      <a16:creationId xmlns:a16="http://schemas.microsoft.com/office/drawing/2014/main" id="{BECD8077-030F-36C3-E9BE-2BDE1A73ADD1}"/>
                    </a:ext>
                  </a:extLst>
                </p:cNvPr>
                <p:cNvSpPr>
                  <a:spLocks noRot="1" noChangeAspect="1" noMove="1" noResize="1" noEditPoints="1" noAdjustHandles="1" noChangeArrowheads="1" noChangeShapeType="1" noTextEdit="1"/>
                </p:cNvSpPr>
                <p:nvPr/>
              </p:nvSpPr>
              <p:spPr>
                <a:xfrm>
                  <a:off x="21455543" y="12332703"/>
                  <a:ext cx="802399" cy="584775"/>
                </a:xfrm>
                <a:prstGeom prst="rect">
                  <a:avLst/>
                </a:prstGeom>
                <a:blipFill>
                  <a:blip r:embed="rId39"/>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2" name="正方形/長方形 181">
                  <a:extLst>
                    <a:ext uri="{FF2B5EF4-FFF2-40B4-BE49-F238E27FC236}">
                      <a16:creationId xmlns:a16="http://schemas.microsoft.com/office/drawing/2014/main" id="{222B1316-E7E1-9C3A-BA0D-CF2E2CD8C021}"/>
                    </a:ext>
                  </a:extLst>
                </p:cNvPr>
                <p:cNvSpPr/>
                <p:nvPr/>
              </p:nvSpPr>
              <p:spPr>
                <a:xfrm>
                  <a:off x="23124950" y="10606807"/>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oMath>
                    </m:oMathPara>
                  </a14:m>
                  <a:endParaRPr lang="ja-JP" altLang="en-US" sz="3200"/>
                </a:p>
              </p:txBody>
            </p:sp>
          </mc:Choice>
          <mc:Fallback xmlns="">
            <p:sp>
              <p:nvSpPr>
                <p:cNvPr id="182" name="正方形/長方形 181">
                  <a:extLst>
                    <a:ext uri="{FF2B5EF4-FFF2-40B4-BE49-F238E27FC236}">
                      <a16:creationId xmlns:a16="http://schemas.microsoft.com/office/drawing/2014/main" id="{222B1316-E7E1-9C3A-BA0D-CF2E2CD8C021}"/>
                    </a:ext>
                  </a:extLst>
                </p:cNvPr>
                <p:cNvSpPr>
                  <a:spLocks noRot="1" noChangeAspect="1" noMove="1" noResize="1" noEditPoints="1" noAdjustHandles="1" noChangeArrowheads="1" noChangeShapeType="1" noTextEdit="1"/>
                </p:cNvSpPr>
                <p:nvPr/>
              </p:nvSpPr>
              <p:spPr>
                <a:xfrm>
                  <a:off x="23124950" y="10606807"/>
                  <a:ext cx="1193532" cy="584775"/>
                </a:xfrm>
                <a:prstGeom prst="rect">
                  <a:avLst/>
                </a:prstGeom>
                <a:blipFill>
                  <a:blip r:embed="rId40"/>
                  <a:stretch>
                    <a:fillRect b="-6383"/>
                  </a:stretch>
                </a:blipFill>
              </p:spPr>
              <p:txBody>
                <a:bodyPr/>
                <a:lstStyle/>
                <a:p>
                  <a:r>
                    <a:rPr lang="ja-JP" altLang="en-US">
                      <a:noFill/>
                    </a:rPr>
                    <a:t> </a:t>
                  </a:r>
                </a:p>
              </p:txBody>
            </p:sp>
          </mc:Fallback>
        </mc:AlternateContent>
        <p:cxnSp>
          <p:nvCxnSpPr>
            <p:cNvPr id="183" name="直線矢印コネクタ 182">
              <a:extLst>
                <a:ext uri="{FF2B5EF4-FFF2-40B4-BE49-F238E27FC236}">
                  <a16:creationId xmlns:a16="http://schemas.microsoft.com/office/drawing/2014/main" id="{0BDB30C6-9934-64A7-D9B8-C695B7F53B2E}"/>
                </a:ext>
              </a:extLst>
            </p:cNvPr>
            <p:cNvCxnSpPr>
              <a:cxnSpLocks/>
            </p:cNvCxnSpPr>
            <p:nvPr/>
          </p:nvCxnSpPr>
          <p:spPr>
            <a:xfrm flipV="1">
              <a:off x="22286871" y="11043197"/>
              <a:ext cx="818096" cy="545580"/>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4" name="直線矢印コネクタ 183">
              <a:extLst>
                <a:ext uri="{FF2B5EF4-FFF2-40B4-BE49-F238E27FC236}">
                  <a16:creationId xmlns:a16="http://schemas.microsoft.com/office/drawing/2014/main" id="{063C0EB9-1E96-8566-CD62-B8F5F5293741}"/>
                </a:ext>
              </a:extLst>
            </p:cNvPr>
            <p:cNvCxnSpPr>
              <a:cxnSpLocks/>
            </p:cNvCxnSpPr>
            <p:nvPr/>
          </p:nvCxnSpPr>
          <p:spPr>
            <a:xfrm flipV="1">
              <a:off x="21934799" y="11568166"/>
              <a:ext cx="352072" cy="851863"/>
            </a:xfrm>
            <a:prstGeom prst="straightConnector1">
              <a:avLst/>
            </a:prstGeom>
            <a:ln w="76200">
              <a:solidFill>
                <a:srgbClr val="00B0F0"/>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5" name="正方形/長方形 184">
                  <a:extLst>
                    <a:ext uri="{FF2B5EF4-FFF2-40B4-BE49-F238E27FC236}">
                      <a16:creationId xmlns:a16="http://schemas.microsoft.com/office/drawing/2014/main" id="{2D2D9291-48E0-75B9-F61E-F0808B95C8C7}"/>
                    </a:ext>
                  </a:extLst>
                </p:cNvPr>
                <p:cNvSpPr/>
                <p:nvPr/>
              </p:nvSpPr>
              <p:spPr>
                <a:xfrm>
                  <a:off x="20815094" y="11663145"/>
                  <a:ext cx="91024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solidFill>
                                  <a:schemeClr val="tx1"/>
                                </a:solidFill>
                                <a:latin typeface="Cambria Math" panose="02040503050406030204" pitchFamily="18" charset="0"/>
                              </a:rPr>
                            </m:ctrlPr>
                          </m:sSubPr>
                          <m:e>
                            <m:r>
                              <a:rPr lang="ja-JP" altLang="en-US" sz="3200" i="1">
                                <a:solidFill>
                                  <a:schemeClr val="tx1"/>
                                </a:solidFill>
                                <a:latin typeface="Cambria Math" panose="02040503050406030204" pitchFamily="18" charset="0"/>
                                <a:ea typeface="UD デジタル 教科書体 NK-R" panose="02020400000000000000" pitchFamily="18" charset="-128"/>
                              </a:rPr>
                              <m:t>𝜇</m:t>
                            </m:r>
                            <m:r>
                              <a:rPr lang="en-US" altLang="ja-JP" sz="3200" b="1" i="0" smtClean="0">
                                <a:solidFill>
                                  <a:schemeClr val="tx1"/>
                                </a:solidFill>
                                <a:latin typeface="Cambria Math" panose="02040503050406030204" pitchFamily="18" charset="0"/>
                              </a:rPr>
                              <m:t>𝐯</m:t>
                            </m:r>
                          </m:e>
                          <m:sub>
                            <m:r>
                              <a:rPr lang="en-ZA" altLang="ja-JP" sz="3200" i="1">
                                <a:solidFill>
                                  <a:schemeClr val="tx1"/>
                                </a:solidFill>
                                <a:latin typeface="Cambria Math" panose="02040503050406030204" pitchFamily="18" charset="0"/>
                              </a:rPr>
                              <m:t>𝑘</m:t>
                            </m:r>
                          </m:sub>
                        </m:sSub>
                      </m:oMath>
                    </m:oMathPara>
                  </a14:m>
                  <a:endParaRPr lang="ja-JP" altLang="en-US" sz="3200">
                    <a:solidFill>
                      <a:schemeClr val="tx1"/>
                    </a:solidFill>
                  </a:endParaRPr>
                </a:p>
              </p:txBody>
            </p:sp>
          </mc:Choice>
          <mc:Fallback>
            <p:sp>
              <p:nvSpPr>
                <p:cNvPr id="185" name="正方形/長方形 184">
                  <a:extLst>
                    <a:ext uri="{FF2B5EF4-FFF2-40B4-BE49-F238E27FC236}">
                      <a16:creationId xmlns:a16="http://schemas.microsoft.com/office/drawing/2014/main" id="{2D2D9291-48E0-75B9-F61E-F0808B95C8C7}"/>
                    </a:ext>
                  </a:extLst>
                </p:cNvPr>
                <p:cNvSpPr>
                  <a:spLocks noRot="1" noChangeAspect="1" noMove="1" noResize="1" noEditPoints="1" noAdjustHandles="1" noChangeArrowheads="1" noChangeShapeType="1" noTextEdit="1"/>
                </p:cNvSpPr>
                <p:nvPr/>
              </p:nvSpPr>
              <p:spPr>
                <a:xfrm>
                  <a:off x="20815094" y="11663145"/>
                  <a:ext cx="910249" cy="584775"/>
                </a:xfrm>
                <a:prstGeom prst="rect">
                  <a:avLst/>
                </a:prstGeom>
                <a:blipFill>
                  <a:blip r:embed="rId41"/>
                  <a:stretch>
                    <a:fillRect b="-8511"/>
                  </a:stretch>
                </a:blipFill>
              </p:spPr>
              <p:txBody>
                <a:bodyPr/>
                <a:lstStyle/>
                <a:p>
                  <a:r>
                    <a:rPr lang="ja-JP" altLang="en-US">
                      <a:noFill/>
                    </a:rPr>
                    <a:t> </a:t>
                  </a:r>
                </a:p>
              </p:txBody>
            </p:sp>
          </mc:Fallback>
        </mc:AlternateContent>
        <p:cxnSp>
          <p:nvCxnSpPr>
            <p:cNvPr id="186" name="直線矢印コネクタ 185">
              <a:extLst>
                <a:ext uri="{FF2B5EF4-FFF2-40B4-BE49-F238E27FC236}">
                  <a16:creationId xmlns:a16="http://schemas.microsoft.com/office/drawing/2014/main" id="{350A6560-2D3D-69CD-F8D8-892A53EBCCD9}"/>
                </a:ext>
              </a:extLst>
            </p:cNvPr>
            <p:cNvCxnSpPr>
              <a:cxnSpLocks/>
            </p:cNvCxnSpPr>
            <p:nvPr/>
          </p:nvCxnSpPr>
          <p:spPr>
            <a:xfrm flipV="1">
              <a:off x="21974851" y="11087810"/>
              <a:ext cx="1171858" cy="1325313"/>
            </a:xfrm>
            <a:prstGeom prst="straightConnector1">
              <a:avLst/>
            </a:prstGeom>
            <a:ln w="762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87" name="正方形/長方形 186">
                  <a:extLst>
                    <a:ext uri="{FF2B5EF4-FFF2-40B4-BE49-F238E27FC236}">
                      <a16:creationId xmlns:a16="http://schemas.microsoft.com/office/drawing/2014/main" id="{ED759DFD-CB5B-27BF-17FC-A9156BB382EE}"/>
                    </a:ext>
                  </a:extLst>
                </p:cNvPr>
                <p:cNvSpPr/>
                <p:nvPr/>
              </p:nvSpPr>
              <p:spPr>
                <a:xfrm>
                  <a:off x="22538225" y="11645297"/>
                  <a:ext cx="107696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US" altLang="ja-JP" sz="3200" b="1" i="0" smtClean="0">
                                <a:latin typeface="Cambria Math" panose="02040503050406030204" pitchFamily="18" charset="0"/>
                              </a:rPr>
                              <m:t>𝐯</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oMath>
                    </m:oMathPara>
                  </a14:m>
                  <a:endParaRPr lang="ja-JP" altLang="en-US" sz="3200"/>
                </a:p>
              </p:txBody>
            </p:sp>
          </mc:Choice>
          <mc:Fallback>
            <p:sp>
              <p:nvSpPr>
                <p:cNvPr id="187" name="正方形/長方形 186">
                  <a:extLst>
                    <a:ext uri="{FF2B5EF4-FFF2-40B4-BE49-F238E27FC236}">
                      <a16:creationId xmlns:a16="http://schemas.microsoft.com/office/drawing/2014/main" id="{ED759DFD-CB5B-27BF-17FC-A9156BB382EE}"/>
                    </a:ext>
                  </a:extLst>
                </p:cNvPr>
                <p:cNvSpPr>
                  <a:spLocks noRot="1" noChangeAspect="1" noMove="1" noResize="1" noEditPoints="1" noAdjustHandles="1" noChangeArrowheads="1" noChangeShapeType="1" noTextEdit="1"/>
                </p:cNvSpPr>
                <p:nvPr/>
              </p:nvSpPr>
              <p:spPr>
                <a:xfrm>
                  <a:off x="22538225" y="11645297"/>
                  <a:ext cx="1076961" cy="584775"/>
                </a:xfrm>
                <a:prstGeom prst="rect">
                  <a:avLst/>
                </a:prstGeom>
                <a:blipFill>
                  <a:blip r:embed="rId42"/>
                  <a:stretch>
                    <a:fillRect b="-8511"/>
                  </a:stretch>
                </a:blipFill>
              </p:spPr>
              <p:txBody>
                <a:bodyPr/>
                <a:lstStyle/>
                <a:p>
                  <a:r>
                    <a:rPr lang="ja-JP" altLang="en-US">
                      <a:noFill/>
                    </a:rPr>
                    <a:t> </a:t>
                  </a:r>
                </a:p>
              </p:txBody>
            </p:sp>
          </mc:Fallback>
        </mc:AlternateContent>
      </p:grpSp>
      <p:grpSp>
        <p:nvGrpSpPr>
          <p:cNvPr id="188" name="グループ化 187">
            <a:extLst>
              <a:ext uri="{FF2B5EF4-FFF2-40B4-BE49-F238E27FC236}">
                <a16:creationId xmlns:a16="http://schemas.microsoft.com/office/drawing/2014/main" id="{5F79267C-E01D-7DBC-CCCC-92ED4522D4D8}"/>
              </a:ext>
            </a:extLst>
          </p:cNvPr>
          <p:cNvGrpSpPr/>
          <p:nvPr/>
        </p:nvGrpSpPr>
        <p:grpSpPr>
          <a:xfrm>
            <a:off x="25123085" y="10156136"/>
            <a:ext cx="4592875" cy="4548553"/>
            <a:chOff x="20303461" y="10151348"/>
            <a:chExt cx="4592875" cy="4548553"/>
          </a:xfrm>
        </p:grpSpPr>
        <p:sp>
          <p:nvSpPr>
            <p:cNvPr id="189" name="正方形/長方形 188">
              <a:extLst>
                <a:ext uri="{FF2B5EF4-FFF2-40B4-BE49-F238E27FC236}">
                  <a16:creationId xmlns:a16="http://schemas.microsoft.com/office/drawing/2014/main" id="{CD47C78D-ED8A-3FCF-A9F0-346ED81712FE}"/>
                </a:ext>
              </a:extLst>
            </p:cNvPr>
            <p:cNvSpPr/>
            <p:nvPr/>
          </p:nvSpPr>
          <p:spPr>
            <a:xfrm>
              <a:off x="20347783" y="10151348"/>
              <a:ext cx="4548553" cy="4548553"/>
            </a:xfrm>
            <a:prstGeom prst="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cxnSp>
          <p:nvCxnSpPr>
            <p:cNvPr id="190" name="直線矢印コネクタ 189">
              <a:extLst>
                <a:ext uri="{FF2B5EF4-FFF2-40B4-BE49-F238E27FC236}">
                  <a16:creationId xmlns:a16="http://schemas.microsoft.com/office/drawing/2014/main" id="{2A09BC48-74E5-4B12-78B4-C85078EF77CE}"/>
                </a:ext>
              </a:extLst>
            </p:cNvPr>
            <p:cNvCxnSpPr>
              <a:cxnSpLocks/>
            </p:cNvCxnSpPr>
            <p:nvPr/>
          </p:nvCxnSpPr>
          <p:spPr>
            <a:xfrm flipV="1">
              <a:off x="21345992" y="12943790"/>
              <a:ext cx="407338" cy="1094387"/>
            </a:xfrm>
            <a:prstGeom prst="straightConnector1">
              <a:avLst/>
            </a:prstGeom>
            <a:ln w="762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1" name="正方形/長方形 190">
                  <a:extLst>
                    <a:ext uri="{FF2B5EF4-FFF2-40B4-BE49-F238E27FC236}">
                      <a16:creationId xmlns:a16="http://schemas.microsoft.com/office/drawing/2014/main" id="{0983B35F-97E2-343D-3E9C-731DCEADB75A}"/>
                    </a:ext>
                  </a:extLst>
                </p:cNvPr>
                <p:cNvSpPr/>
                <p:nvPr/>
              </p:nvSpPr>
              <p:spPr>
                <a:xfrm>
                  <a:off x="21698620" y="13429287"/>
                  <a:ext cx="68582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US" altLang="ja-JP" sz="3200" b="1" i="0" smtClean="0">
                                <a:latin typeface="Cambria Math" panose="02040503050406030204" pitchFamily="18" charset="0"/>
                              </a:rPr>
                              <m:t>𝐯</m:t>
                            </m:r>
                          </m:e>
                          <m:sub>
                            <m:r>
                              <a:rPr lang="en-ZA" altLang="ja-JP" sz="3200" i="1">
                                <a:latin typeface="Cambria Math" panose="02040503050406030204" pitchFamily="18" charset="0"/>
                              </a:rPr>
                              <m:t>𝑘</m:t>
                            </m:r>
                          </m:sub>
                        </m:sSub>
                      </m:oMath>
                    </m:oMathPara>
                  </a14:m>
                  <a:endParaRPr lang="ja-JP" altLang="en-US" sz="3200"/>
                </a:p>
              </p:txBody>
            </p:sp>
          </mc:Choice>
          <mc:Fallback>
            <p:sp>
              <p:nvSpPr>
                <p:cNvPr id="191" name="正方形/長方形 190">
                  <a:extLst>
                    <a:ext uri="{FF2B5EF4-FFF2-40B4-BE49-F238E27FC236}">
                      <a16:creationId xmlns:a16="http://schemas.microsoft.com/office/drawing/2014/main" id="{0983B35F-97E2-343D-3E9C-731DCEADB75A}"/>
                    </a:ext>
                  </a:extLst>
                </p:cNvPr>
                <p:cNvSpPr>
                  <a:spLocks noRot="1" noChangeAspect="1" noMove="1" noResize="1" noEditPoints="1" noAdjustHandles="1" noChangeArrowheads="1" noChangeShapeType="1" noTextEdit="1"/>
                </p:cNvSpPr>
                <p:nvPr/>
              </p:nvSpPr>
              <p:spPr>
                <a:xfrm>
                  <a:off x="21698620" y="13429287"/>
                  <a:ext cx="685829" cy="584775"/>
                </a:xfrm>
                <a:prstGeom prst="rect">
                  <a:avLst/>
                </a:prstGeom>
                <a:blipFill>
                  <a:blip r:embed="rId43"/>
                  <a:stretch>
                    <a:fillRect b="-85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2" name="正方形/長方形 191">
                  <a:extLst>
                    <a:ext uri="{FF2B5EF4-FFF2-40B4-BE49-F238E27FC236}">
                      <a16:creationId xmlns:a16="http://schemas.microsoft.com/office/drawing/2014/main" id="{24D5BB82-F40B-2FAC-8ED8-67630F2FEBD9}"/>
                    </a:ext>
                  </a:extLst>
                </p:cNvPr>
                <p:cNvSpPr/>
                <p:nvPr/>
              </p:nvSpPr>
              <p:spPr>
                <a:xfrm>
                  <a:off x="20992587" y="13973560"/>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i="1">
                                <a:latin typeface="Cambria Math" panose="02040503050406030204" pitchFamily="18" charset="0"/>
                              </a:rPr>
                              <m:t>−1</m:t>
                            </m:r>
                          </m:sub>
                        </m:sSub>
                      </m:oMath>
                    </m:oMathPara>
                  </a14:m>
                  <a:endParaRPr lang="ja-JP" altLang="en-US" sz="3200"/>
                </a:p>
              </p:txBody>
            </p:sp>
          </mc:Choice>
          <mc:Fallback xmlns="">
            <p:sp>
              <p:nvSpPr>
                <p:cNvPr id="192" name="正方形/長方形 191">
                  <a:extLst>
                    <a:ext uri="{FF2B5EF4-FFF2-40B4-BE49-F238E27FC236}">
                      <a16:creationId xmlns:a16="http://schemas.microsoft.com/office/drawing/2014/main" id="{24D5BB82-F40B-2FAC-8ED8-67630F2FEBD9}"/>
                    </a:ext>
                  </a:extLst>
                </p:cNvPr>
                <p:cNvSpPr>
                  <a:spLocks noRot="1" noChangeAspect="1" noMove="1" noResize="1" noEditPoints="1" noAdjustHandles="1" noChangeArrowheads="1" noChangeShapeType="1" noTextEdit="1"/>
                </p:cNvSpPr>
                <p:nvPr/>
              </p:nvSpPr>
              <p:spPr>
                <a:xfrm>
                  <a:off x="20992587" y="13973560"/>
                  <a:ext cx="1193532" cy="584775"/>
                </a:xfrm>
                <a:prstGeom prst="rect">
                  <a:avLst/>
                </a:prstGeom>
                <a:blipFill>
                  <a:blip r:embed="rId44"/>
                  <a:stretch>
                    <a:fillRect b="-85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3" name="正方形/長方形 192">
                  <a:extLst>
                    <a:ext uri="{FF2B5EF4-FFF2-40B4-BE49-F238E27FC236}">
                      <a16:creationId xmlns:a16="http://schemas.microsoft.com/office/drawing/2014/main" id="{6ACCAF18-C9A4-632A-E451-1C45270A79C0}"/>
                    </a:ext>
                  </a:extLst>
                </p:cNvPr>
                <p:cNvSpPr/>
                <p:nvPr/>
              </p:nvSpPr>
              <p:spPr>
                <a:xfrm>
                  <a:off x="20303461" y="10725358"/>
                  <a:ext cx="269272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ja-JP" altLang="en-US" sz="2800" i="1" smtClean="0">
                            <a:solidFill>
                              <a:schemeClr val="tx1"/>
                            </a:solidFill>
                            <a:latin typeface="Cambria Math" panose="02040503050406030204" pitchFamily="18" charset="0"/>
                            <a:ea typeface="UD デジタル 教科書体 NK-R" panose="02020400000000000000" pitchFamily="18" charset="-128"/>
                          </a:rPr>
                          <m:t>𝛼</m:t>
                        </m:r>
                        <m:r>
                          <m:rPr>
                            <m:sty m:val="p"/>
                          </m:rPr>
                          <a:rPr lang="ja-JP" altLang="en-US" sz="2800" i="1">
                            <a:solidFill>
                              <a:schemeClr val="tx1"/>
                            </a:solidFill>
                            <a:latin typeface="Cambria Math" panose="02040503050406030204" pitchFamily="18" charset="0"/>
                          </a:rPr>
                          <m:t>∇</m:t>
                        </m:r>
                        <m:r>
                          <a:rPr lang="en-ZA" altLang="ja-JP" sz="2800" i="1">
                            <a:solidFill>
                              <a:schemeClr val="tx1"/>
                            </a:solidFill>
                            <a:latin typeface="Cambria Math" panose="02040503050406030204" pitchFamily="18" charset="0"/>
                          </a:rPr>
                          <m:t>𝐸</m:t>
                        </m:r>
                        <m:d>
                          <m:dPr>
                            <m:ctrlPr>
                              <a:rPr lang="en-ZA" altLang="ja-JP" sz="2800" i="1">
                                <a:solidFill>
                                  <a:schemeClr val="tx1"/>
                                </a:solidFill>
                                <a:latin typeface="Cambria Math" panose="02040503050406030204" pitchFamily="18" charset="0"/>
                              </a:rPr>
                            </m:ctrlPr>
                          </m:dPr>
                          <m:e>
                            <m:sSub>
                              <m:sSubPr>
                                <m:ctrlPr>
                                  <a:rPr lang="en-ZA" altLang="ja-JP" sz="2800" i="1">
                                    <a:solidFill>
                                      <a:schemeClr val="tx1"/>
                                    </a:solidFill>
                                    <a:latin typeface="Cambria Math" panose="02040503050406030204" pitchFamily="18" charset="0"/>
                                  </a:rPr>
                                </m:ctrlPr>
                              </m:sSubPr>
                              <m:e>
                                <m:r>
                                  <a:rPr lang="en-ZA" altLang="ja-JP" sz="2800" b="1">
                                    <a:solidFill>
                                      <a:schemeClr val="tx1"/>
                                    </a:solidFill>
                                    <a:latin typeface="Cambria Math" panose="02040503050406030204" pitchFamily="18" charset="0"/>
                                  </a:rPr>
                                  <m:t>𝐰</m:t>
                                </m:r>
                              </m:e>
                              <m:sub>
                                <m:r>
                                  <a:rPr lang="en-ZA" altLang="ja-JP" sz="2800" i="1">
                                    <a:solidFill>
                                      <a:schemeClr val="tx1"/>
                                    </a:solidFill>
                                    <a:latin typeface="Cambria Math" panose="02040503050406030204" pitchFamily="18" charset="0"/>
                                  </a:rPr>
                                  <m:t>𝑘</m:t>
                                </m:r>
                              </m:sub>
                            </m:sSub>
                            <m:r>
                              <a:rPr lang="en-US" altLang="ja-JP" sz="2800" i="1">
                                <a:solidFill>
                                  <a:schemeClr val="tx1"/>
                                </a:solidFill>
                                <a:latin typeface="Cambria Math" panose="02040503050406030204" pitchFamily="18" charset="0"/>
                              </a:rPr>
                              <m:t>+</m:t>
                            </m:r>
                            <m:r>
                              <a:rPr lang="ja-JP" altLang="en-US" sz="2800" i="1">
                                <a:solidFill>
                                  <a:schemeClr val="tx1"/>
                                </a:solidFill>
                                <a:latin typeface="Cambria Math" panose="02040503050406030204" pitchFamily="18" charset="0"/>
                                <a:ea typeface="UD デジタル 教科書体 NK-R" panose="02020400000000000000" pitchFamily="18" charset="-128"/>
                              </a:rPr>
                              <m:t>𝜇</m:t>
                            </m:r>
                            <m:sSub>
                              <m:sSubPr>
                                <m:ctrlPr>
                                  <a:rPr lang="en-US" altLang="ja-JP" sz="2800" i="1">
                                    <a:solidFill>
                                      <a:schemeClr val="tx1"/>
                                    </a:solidFill>
                                    <a:latin typeface="Cambria Math" panose="02040503050406030204" pitchFamily="18" charset="0"/>
                                    <a:ea typeface="UD デジタル 教科書体 NK-R" panose="02020400000000000000" pitchFamily="18" charset="-128"/>
                                  </a:rPr>
                                </m:ctrlPr>
                              </m:sSubPr>
                              <m:e>
                                <m:r>
                                  <a:rPr lang="en-US" altLang="ja-JP" sz="2800" b="1">
                                    <a:solidFill>
                                      <a:schemeClr val="tx1"/>
                                    </a:solidFill>
                                    <a:latin typeface="Cambria Math" panose="02040503050406030204" pitchFamily="18" charset="0"/>
                                    <a:ea typeface="UD デジタル 教科書体 NK-R" panose="02020400000000000000" pitchFamily="18" charset="-128"/>
                                  </a:rPr>
                                  <m:t>𝐯</m:t>
                                </m:r>
                              </m:e>
                              <m:sub>
                                <m:r>
                                  <a:rPr lang="en-US" altLang="ja-JP" sz="2800" i="1">
                                    <a:solidFill>
                                      <a:schemeClr val="tx1"/>
                                    </a:solidFill>
                                    <a:latin typeface="Cambria Math" panose="02040503050406030204" pitchFamily="18" charset="0"/>
                                    <a:ea typeface="UD デジタル 教科書体 NK-R" panose="02020400000000000000" pitchFamily="18" charset="-128"/>
                                  </a:rPr>
                                  <m:t>𝑘</m:t>
                                </m:r>
                              </m:sub>
                            </m:sSub>
                          </m:e>
                        </m:d>
                      </m:oMath>
                    </m:oMathPara>
                  </a14:m>
                  <a:endParaRPr lang="ja-JP" altLang="en-US" sz="2800">
                    <a:solidFill>
                      <a:schemeClr val="tx1"/>
                    </a:solidFill>
                  </a:endParaRPr>
                </a:p>
              </p:txBody>
            </p:sp>
          </mc:Choice>
          <mc:Fallback xmlns="">
            <p:sp>
              <p:nvSpPr>
                <p:cNvPr id="193" name="正方形/長方形 192">
                  <a:extLst>
                    <a:ext uri="{FF2B5EF4-FFF2-40B4-BE49-F238E27FC236}">
                      <a16:creationId xmlns:a16="http://schemas.microsoft.com/office/drawing/2014/main" id="{6ACCAF18-C9A4-632A-E451-1C45270A79C0}"/>
                    </a:ext>
                  </a:extLst>
                </p:cNvPr>
                <p:cNvSpPr>
                  <a:spLocks noRot="1" noChangeAspect="1" noMove="1" noResize="1" noEditPoints="1" noAdjustHandles="1" noChangeArrowheads="1" noChangeShapeType="1" noTextEdit="1"/>
                </p:cNvSpPr>
                <p:nvPr/>
              </p:nvSpPr>
              <p:spPr>
                <a:xfrm>
                  <a:off x="20303461" y="10725358"/>
                  <a:ext cx="2692724" cy="523220"/>
                </a:xfrm>
                <a:prstGeom prst="rect">
                  <a:avLst/>
                </a:prstGeom>
                <a:blipFill>
                  <a:blip r:embed="rId45"/>
                  <a:stretch>
                    <a:fillRect b="-465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4" name="正方形/長方形 193">
                  <a:extLst>
                    <a:ext uri="{FF2B5EF4-FFF2-40B4-BE49-F238E27FC236}">
                      <a16:creationId xmlns:a16="http://schemas.microsoft.com/office/drawing/2014/main" id="{0333BE71-94DF-7136-B9A7-000632A7391C}"/>
                    </a:ext>
                  </a:extLst>
                </p:cNvPr>
                <p:cNvSpPr/>
                <p:nvPr/>
              </p:nvSpPr>
              <p:spPr>
                <a:xfrm>
                  <a:off x="21455543" y="12332703"/>
                  <a:ext cx="80239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sub>
                        </m:sSub>
                      </m:oMath>
                    </m:oMathPara>
                  </a14:m>
                  <a:endParaRPr lang="ja-JP" altLang="en-US" sz="3200"/>
                </a:p>
              </p:txBody>
            </p:sp>
          </mc:Choice>
          <mc:Fallback xmlns="">
            <p:sp>
              <p:nvSpPr>
                <p:cNvPr id="194" name="正方形/長方形 193">
                  <a:extLst>
                    <a:ext uri="{FF2B5EF4-FFF2-40B4-BE49-F238E27FC236}">
                      <a16:creationId xmlns:a16="http://schemas.microsoft.com/office/drawing/2014/main" id="{0333BE71-94DF-7136-B9A7-000632A7391C}"/>
                    </a:ext>
                  </a:extLst>
                </p:cNvPr>
                <p:cNvSpPr>
                  <a:spLocks noRot="1" noChangeAspect="1" noMove="1" noResize="1" noEditPoints="1" noAdjustHandles="1" noChangeArrowheads="1" noChangeShapeType="1" noTextEdit="1"/>
                </p:cNvSpPr>
                <p:nvPr/>
              </p:nvSpPr>
              <p:spPr>
                <a:xfrm>
                  <a:off x="21455543" y="12332703"/>
                  <a:ext cx="802399" cy="584775"/>
                </a:xfrm>
                <a:prstGeom prst="rect">
                  <a:avLst/>
                </a:prstGeom>
                <a:blipFill>
                  <a:blip r:embed="rId46"/>
                  <a:stretch>
                    <a:fillRect b="-638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5" name="正方形/長方形 194">
                  <a:extLst>
                    <a:ext uri="{FF2B5EF4-FFF2-40B4-BE49-F238E27FC236}">
                      <a16:creationId xmlns:a16="http://schemas.microsoft.com/office/drawing/2014/main" id="{0D0126CF-CB47-639E-E211-CE6FF013B122}"/>
                    </a:ext>
                  </a:extLst>
                </p:cNvPr>
                <p:cNvSpPr/>
                <p:nvPr/>
              </p:nvSpPr>
              <p:spPr>
                <a:xfrm>
                  <a:off x="23170460" y="10394728"/>
                  <a:ext cx="11935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ZA" altLang="ja-JP" sz="3200" b="1">
                                <a:latin typeface="Cambria Math" panose="02040503050406030204" pitchFamily="18" charset="0"/>
                              </a:rPr>
                              <m:t>𝐰</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oMath>
                    </m:oMathPara>
                  </a14:m>
                  <a:endParaRPr lang="ja-JP" altLang="en-US" sz="3200"/>
                </a:p>
              </p:txBody>
            </p:sp>
          </mc:Choice>
          <mc:Fallback xmlns="">
            <p:sp>
              <p:nvSpPr>
                <p:cNvPr id="195" name="正方形/長方形 194">
                  <a:extLst>
                    <a:ext uri="{FF2B5EF4-FFF2-40B4-BE49-F238E27FC236}">
                      <a16:creationId xmlns:a16="http://schemas.microsoft.com/office/drawing/2014/main" id="{0D0126CF-CB47-639E-E211-CE6FF013B122}"/>
                    </a:ext>
                  </a:extLst>
                </p:cNvPr>
                <p:cNvSpPr>
                  <a:spLocks noRot="1" noChangeAspect="1" noMove="1" noResize="1" noEditPoints="1" noAdjustHandles="1" noChangeArrowheads="1" noChangeShapeType="1" noTextEdit="1"/>
                </p:cNvSpPr>
                <p:nvPr/>
              </p:nvSpPr>
              <p:spPr>
                <a:xfrm>
                  <a:off x="23170460" y="10394728"/>
                  <a:ext cx="1193532" cy="584775"/>
                </a:xfrm>
                <a:prstGeom prst="rect">
                  <a:avLst/>
                </a:prstGeom>
                <a:blipFill>
                  <a:blip r:embed="rId47"/>
                  <a:stretch>
                    <a:fillRect b="-8511"/>
                  </a:stretch>
                </a:blipFill>
              </p:spPr>
              <p:txBody>
                <a:bodyPr/>
                <a:lstStyle/>
                <a:p>
                  <a:r>
                    <a:rPr lang="ja-JP" altLang="en-US">
                      <a:noFill/>
                    </a:rPr>
                    <a:t> </a:t>
                  </a:r>
                </a:p>
              </p:txBody>
            </p:sp>
          </mc:Fallback>
        </mc:AlternateContent>
        <p:cxnSp>
          <p:nvCxnSpPr>
            <p:cNvPr id="196" name="直線矢印コネクタ 195">
              <a:extLst>
                <a:ext uri="{FF2B5EF4-FFF2-40B4-BE49-F238E27FC236}">
                  <a16:creationId xmlns:a16="http://schemas.microsoft.com/office/drawing/2014/main" id="{443F13C2-F27E-6A18-BFA0-BA31C474D1DD}"/>
                </a:ext>
              </a:extLst>
            </p:cNvPr>
            <p:cNvCxnSpPr>
              <a:cxnSpLocks/>
            </p:cNvCxnSpPr>
            <p:nvPr/>
          </p:nvCxnSpPr>
          <p:spPr>
            <a:xfrm flipV="1">
              <a:off x="22286871" y="10867878"/>
              <a:ext cx="937183" cy="720899"/>
            </a:xfrm>
            <a:prstGeom prst="straightConnector1">
              <a:avLst/>
            </a:prstGeom>
            <a:ln w="7620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97" name="直線矢印コネクタ 196">
              <a:extLst>
                <a:ext uri="{FF2B5EF4-FFF2-40B4-BE49-F238E27FC236}">
                  <a16:creationId xmlns:a16="http://schemas.microsoft.com/office/drawing/2014/main" id="{3B2E4DEE-8826-D420-F805-2B382E2D0A8D}"/>
                </a:ext>
              </a:extLst>
            </p:cNvPr>
            <p:cNvCxnSpPr>
              <a:cxnSpLocks/>
            </p:cNvCxnSpPr>
            <p:nvPr/>
          </p:nvCxnSpPr>
          <p:spPr>
            <a:xfrm flipV="1">
              <a:off x="21934799" y="11568166"/>
              <a:ext cx="352072" cy="851863"/>
            </a:xfrm>
            <a:prstGeom prst="straightConnector1">
              <a:avLst/>
            </a:prstGeom>
            <a:ln w="76200">
              <a:solidFill>
                <a:srgbClr val="00B0F0"/>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98" name="正方形/長方形 197">
                  <a:extLst>
                    <a:ext uri="{FF2B5EF4-FFF2-40B4-BE49-F238E27FC236}">
                      <a16:creationId xmlns:a16="http://schemas.microsoft.com/office/drawing/2014/main" id="{E7C45897-853A-0C92-60B7-9C6805C8C9B2}"/>
                    </a:ext>
                  </a:extLst>
                </p:cNvPr>
                <p:cNvSpPr/>
                <p:nvPr/>
              </p:nvSpPr>
              <p:spPr>
                <a:xfrm>
                  <a:off x="20817811" y="11585008"/>
                  <a:ext cx="910249"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solidFill>
                                  <a:schemeClr val="tx1"/>
                                </a:solidFill>
                                <a:latin typeface="Cambria Math" panose="02040503050406030204" pitchFamily="18" charset="0"/>
                              </a:rPr>
                            </m:ctrlPr>
                          </m:sSubPr>
                          <m:e>
                            <m:r>
                              <a:rPr lang="ja-JP" altLang="en-US" sz="3200" i="1">
                                <a:solidFill>
                                  <a:schemeClr val="tx1"/>
                                </a:solidFill>
                                <a:latin typeface="Cambria Math" panose="02040503050406030204" pitchFamily="18" charset="0"/>
                                <a:ea typeface="UD デジタル 教科書体 NK-R" panose="02020400000000000000" pitchFamily="18" charset="-128"/>
                              </a:rPr>
                              <m:t>𝜇</m:t>
                            </m:r>
                            <m:r>
                              <a:rPr lang="en-US" altLang="ja-JP" sz="3200" b="1" i="0" smtClean="0">
                                <a:solidFill>
                                  <a:schemeClr val="tx1"/>
                                </a:solidFill>
                                <a:latin typeface="Cambria Math" panose="02040503050406030204" pitchFamily="18" charset="0"/>
                              </a:rPr>
                              <m:t>𝐯</m:t>
                            </m:r>
                          </m:e>
                          <m:sub>
                            <m:r>
                              <a:rPr lang="en-ZA" altLang="ja-JP" sz="3200" i="1">
                                <a:solidFill>
                                  <a:schemeClr val="tx1"/>
                                </a:solidFill>
                                <a:latin typeface="Cambria Math" panose="02040503050406030204" pitchFamily="18" charset="0"/>
                              </a:rPr>
                              <m:t>𝑘</m:t>
                            </m:r>
                          </m:sub>
                        </m:sSub>
                      </m:oMath>
                    </m:oMathPara>
                  </a14:m>
                  <a:endParaRPr lang="ja-JP" altLang="en-US" sz="3200">
                    <a:solidFill>
                      <a:schemeClr val="tx1"/>
                    </a:solidFill>
                  </a:endParaRPr>
                </a:p>
              </p:txBody>
            </p:sp>
          </mc:Choice>
          <mc:Fallback>
            <p:sp>
              <p:nvSpPr>
                <p:cNvPr id="198" name="正方形/長方形 197">
                  <a:extLst>
                    <a:ext uri="{FF2B5EF4-FFF2-40B4-BE49-F238E27FC236}">
                      <a16:creationId xmlns:a16="http://schemas.microsoft.com/office/drawing/2014/main" id="{E7C45897-853A-0C92-60B7-9C6805C8C9B2}"/>
                    </a:ext>
                  </a:extLst>
                </p:cNvPr>
                <p:cNvSpPr>
                  <a:spLocks noRot="1" noChangeAspect="1" noMove="1" noResize="1" noEditPoints="1" noAdjustHandles="1" noChangeArrowheads="1" noChangeShapeType="1" noTextEdit="1"/>
                </p:cNvSpPr>
                <p:nvPr/>
              </p:nvSpPr>
              <p:spPr>
                <a:xfrm>
                  <a:off x="20817811" y="11585008"/>
                  <a:ext cx="910249" cy="584775"/>
                </a:xfrm>
                <a:prstGeom prst="rect">
                  <a:avLst/>
                </a:prstGeom>
                <a:blipFill>
                  <a:blip r:embed="rId48"/>
                  <a:stretch>
                    <a:fillRect b="-8511"/>
                  </a:stretch>
                </a:blipFill>
              </p:spPr>
              <p:txBody>
                <a:bodyPr/>
                <a:lstStyle/>
                <a:p>
                  <a:r>
                    <a:rPr lang="ja-JP" altLang="en-US">
                      <a:noFill/>
                    </a:rPr>
                    <a:t> </a:t>
                  </a:r>
                </a:p>
              </p:txBody>
            </p:sp>
          </mc:Fallback>
        </mc:AlternateContent>
        <p:cxnSp>
          <p:nvCxnSpPr>
            <p:cNvPr id="199" name="直線矢印コネクタ 198">
              <a:extLst>
                <a:ext uri="{FF2B5EF4-FFF2-40B4-BE49-F238E27FC236}">
                  <a16:creationId xmlns:a16="http://schemas.microsoft.com/office/drawing/2014/main" id="{6ABE1915-35A5-28C3-E9E6-61FA327ABC8F}"/>
                </a:ext>
              </a:extLst>
            </p:cNvPr>
            <p:cNvCxnSpPr>
              <a:cxnSpLocks/>
            </p:cNvCxnSpPr>
            <p:nvPr/>
          </p:nvCxnSpPr>
          <p:spPr>
            <a:xfrm flipV="1">
              <a:off x="21974851" y="10919443"/>
              <a:ext cx="1272153" cy="1500586"/>
            </a:xfrm>
            <a:prstGeom prst="straightConnector1">
              <a:avLst/>
            </a:prstGeom>
            <a:ln w="762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00" name="正方形/長方形 199">
                  <a:extLst>
                    <a:ext uri="{FF2B5EF4-FFF2-40B4-BE49-F238E27FC236}">
                      <a16:creationId xmlns:a16="http://schemas.microsoft.com/office/drawing/2014/main" id="{8CE1E796-8AE2-8C3E-3A98-40F1A56D462C}"/>
                    </a:ext>
                  </a:extLst>
                </p:cNvPr>
                <p:cNvSpPr/>
                <p:nvPr/>
              </p:nvSpPr>
              <p:spPr>
                <a:xfrm>
                  <a:off x="22538225" y="11645297"/>
                  <a:ext cx="1076961"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ZA" altLang="ja-JP" sz="3200" i="1" smtClean="0">
                                <a:latin typeface="Cambria Math" panose="02040503050406030204" pitchFamily="18" charset="0"/>
                              </a:rPr>
                            </m:ctrlPr>
                          </m:sSubPr>
                          <m:e>
                            <m:r>
                              <a:rPr lang="en-US" altLang="ja-JP" sz="3200" b="1" i="0" smtClean="0">
                                <a:latin typeface="Cambria Math" panose="02040503050406030204" pitchFamily="18" charset="0"/>
                              </a:rPr>
                              <m:t>𝐯</m:t>
                            </m:r>
                          </m:e>
                          <m:sub>
                            <m:r>
                              <a:rPr lang="en-ZA" altLang="ja-JP" sz="3200" i="1">
                                <a:latin typeface="Cambria Math" panose="02040503050406030204" pitchFamily="18" charset="0"/>
                              </a:rPr>
                              <m:t>𝑘</m:t>
                            </m:r>
                            <m:r>
                              <a:rPr lang="en-US" altLang="ja-JP" sz="3200" b="0" i="1" smtClean="0">
                                <a:latin typeface="Cambria Math" panose="02040503050406030204" pitchFamily="18" charset="0"/>
                              </a:rPr>
                              <m:t>+1</m:t>
                            </m:r>
                          </m:sub>
                        </m:sSub>
                      </m:oMath>
                    </m:oMathPara>
                  </a14:m>
                  <a:endParaRPr lang="ja-JP" altLang="en-US" sz="3200"/>
                </a:p>
              </p:txBody>
            </p:sp>
          </mc:Choice>
          <mc:Fallback>
            <p:sp>
              <p:nvSpPr>
                <p:cNvPr id="200" name="正方形/長方形 199">
                  <a:extLst>
                    <a:ext uri="{FF2B5EF4-FFF2-40B4-BE49-F238E27FC236}">
                      <a16:creationId xmlns:a16="http://schemas.microsoft.com/office/drawing/2014/main" id="{8CE1E796-8AE2-8C3E-3A98-40F1A56D462C}"/>
                    </a:ext>
                  </a:extLst>
                </p:cNvPr>
                <p:cNvSpPr>
                  <a:spLocks noRot="1" noChangeAspect="1" noMove="1" noResize="1" noEditPoints="1" noAdjustHandles="1" noChangeArrowheads="1" noChangeShapeType="1" noTextEdit="1"/>
                </p:cNvSpPr>
                <p:nvPr/>
              </p:nvSpPr>
              <p:spPr>
                <a:xfrm>
                  <a:off x="22538225" y="11645297"/>
                  <a:ext cx="1076961" cy="584775"/>
                </a:xfrm>
                <a:prstGeom prst="rect">
                  <a:avLst/>
                </a:prstGeom>
                <a:blipFill>
                  <a:blip r:embed="rId49"/>
                  <a:stretch>
                    <a:fillRect b="-6383"/>
                  </a:stretch>
                </a:blipFill>
              </p:spPr>
              <p:txBody>
                <a:bodyPr/>
                <a:lstStyle/>
                <a:p>
                  <a:r>
                    <a:rPr lang="ja-JP" altLang="en-US">
                      <a:noFill/>
                    </a:rPr>
                    <a:t> </a:t>
                  </a:r>
                </a:p>
              </p:txBody>
            </p:sp>
          </mc:Fallback>
        </mc:AlternateContent>
      </p:grpSp>
      <p:sp>
        <p:nvSpPr>
          <p:cNvPr id="2" name="正方形/長方形 1">
            <a:extLst>
              <a:ext uri="{FF2B5EF4-FFF2-40B4-BE49-F238E27FC236}">
                <a16:creationId xmlns:a16="http://schemas.microsoft.com/office/drawing/2014/main" id="{97D65D59-D989-8B5D-BF98-B465C7D78789}"/>
              </a:ext>
            </a:extLst>
          </p:cNvPr>
          <p:cNvSpPr/>
          <p:nvPr/>
        </p:nvSpPr>
        <p:spPr>
          <a:xfrm>
            <a:off x="26006257" y="39769137"/>
            <a:ext cx="3578224" cy="461665"/>
          </a:xfrm>
          <a:prstGeom prst="rect">
            <a:avLst/>
          </a:prstGeom>
        </p:spPr>
        <p:txBody>
          <a:bodyPr wrap="none">
            <a:spAutoFit/>
          </a:bodyPr>
          <a:lstStyle/>
          <a:p>
            <a:r>
              <a:rPr lang="en-US" altLang="ja-JP" sz="2400" dirty="0">
                <a:latin typeface="UD デジタル 教科書体 NK-R" panose="02020400000000000000" pitchFamily="18" charset="-128"/>
                <a:ea typeface="UD デジタル 教科書体 NK-R" panose="02020400000000000000" pitchFamily="18" charset="-128"/>
              </a:rPr>
              <a:t>5times Average / Best</a:t>
            </a:r>
            <a:endParaRPr lang="ja-JP" altLang="en-US" sz="2400"/>
          </a:p>
        </p:txBody>
      </p:sp>
    </p:spTree>
    <p:extLst>
      <p:ext uri="{BB962C8B-B14F-4D97-AF65-F5344CB8AC3E}">
        <p14:creationId xmlns:p14="http://schemas.microsoft.com/office/powerpoint/2010/main" val="388833544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2254</TotalTime>
  <Words>867</Words>
  <Application>Microsoft Macintosh PowerPoint</Application>
  <PresentationFormat>ユーザー設定</PresentationFormat>
  <Paragraphs>172</Paragraphs>
  <Slides>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vt:i4>
      </vt:variant>
    </vt:vector>
  </HeadingPairs>
  <TitlesOfParts>
    <vt:vector size="9" baseType="lpstr">
      <vt:lpstr>BIZ UDP明朝 Medium</vt:lpstr>
      <vt:lpstr>UD デジタル 教科書体 NK-R</vt:lpstr>
      <vt:lpstr>Arial</vt:lpstr>
      <vt:lpstr>Calibri</vt:lpstr>
      <vt:lpstr>Calibri Light</vt:lpstr>
      <vt:lpstr>Cambria Math</vt:lpstr>
      <vt:lpstr>Wingdings</vt:lpstr>
      <vt:lpstr>Office テーマ</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山富龍</dc:creator>
  <cp:lastModifiedBy>山富龍</cp:lastModifiedBy>
  <cp:revision>39</cp:revision>
  <dcterms:created xsi:type="dcterms:W3CDTF">2022-05-23T00:31:20Z</dcterms:created>
  <dcterms:modified xsi:type="dcterms:W3CDTF">2022-06-13T23:50:50Z</dcterms:modified>
</cp:coreProperties>
</file>