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30240288" cy="424799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56" autoAdjust="0"/>
    <p:restoredTop sz="94660"/>
  </p:normalViewPr>
  <p:slideViewPr>
    <p:cSldViewPr snapToGrid="0">
      <p:cViewPr>
        <p:scale>
          <a:sx n="42" d="100"/>
          <a:sy n="42" d="100"/>
        </p:scale>
        <p:origin x="960" y="-5296"/>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2268022" y="6952156"/>
            <a:ext cx="25704245" cy="14789303"/>
          </a:xfrm>
        </p:spPr>
        <p:txBody>
          <a:bodyPr anchor="b"/>
          <a:lstStyle>
            <a:lvl1pPr algn="ctr">
              <a:defRPr sz="19843"/>
            </a:lvl1pPr>
          </a:lstStyle>
          <a:p>
            <a:r>
              <a:rPr lang="ja-JP" altLang="en-US"/>
              <a:t>マスター タイトルの書式設定</a:t>
            </a:r>
            <a:endParaRPr lang="en-US" dirty="0"/>
          </a:p>
        </p:txBody>
      </p:sp>
      <p:sp>
        <p:nvSpPr>
          <p:cNvPr id="3" name="Subtitle 2"/>
          <p:cNvSpPr>
            <a:spLocks noGrp="1"/>
          </p:cNvSpPr>
          <p:nvPr>
            <p:ph type="subTitle" idx="1"/>
          </p:nvPr>
        </p:nvSpPr>
        <p:spPr>
          <a:xfrm>
            <a:off x="3780036" y="22311791"/>
            <a:ext cx="22680216" cy="10256143"/>
          </a:xfrm>
        </p:spPr>
        <p:txBody>
          <a:bodyPr/>
          <a:lstStyle>
            <a:lvl1pPr marL="0" indent="0" algn="ctr">
              <a:buNone/>
              <a:defRPr sz="7937"/>
            </a:lvl1pPr>
            <a:lvl2pPr marL="1512006" indent="0" algn="ctr">
              <a:buNone/>
              <a:defRPr sz="6614"/>
            </a:lvl2pPr>
            <a:lvl3pPr marL="3024012" indent="0" algn="ctr">
              <a:buNone/>
              <a:defRPr sz="5953"/>
            </a:lvl3pPr>
            <a:lvl4pPr marL="4536018" indent="0" algn="ctr">
              <a:buNone/>
              <a:defRPr sz="5291"/>
            </a:lvl4pPr>
            <a:lvl5pPr marL="6048024" indent="0" algn="ctr">
              <a:buNone/>
              <a:defRPr sz="5291"/>
            </a:lvl5pPr>
            <a:lvl6pPr marL="7560031" indent="0" algn="ctr">
              <a:buNone/>
              <a:defRPr sz="5291"/>
            </a:lvl6pPr>
            <a:lvl7pPr marL="9072037" indent="0" algn="ctr">
              <a:buNone/>
              <a:defRPr sz="5291"/>
            </a:lvl7pPr>
            <a:lvl8pPr marL="10584043" indent="0" algn="ctr">
              <a:buNone/>
              <a:defRPr sz="5291"/>
            </a:lvl8pPr>
            <a:lvl9pPr marL="12096049" indent="0" algn="ctr">
              <a:buNone/>
              <a:defRPr sz="5291"/>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2133944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2509373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2063272" y="10590491"/>
            <a:ext cx="26082248" cy="17670461"/>
          </a:xfrm>
        </p:spPr>
        <p:txBody>
          <a:bodyPr anchor="b"/>
          <a:lstStyle>
            <a:lvl1pPr>
              <a:defRPr sz="19843"/>
            </a:lvl1pPr>
          </a:lstStyle>
          <a:p>
            <a:r>
              <a:rPr lang="ja-JP" altLang="en-US"/>
              <a:t>マスター タイトルの書式設定</a:t>
            </a:r>
            <a:endParaRPr lang="en-US" dirty="0"/>
          </a:p>
        </p:txBody>
      </p:sp>
      <p:sp>
        <p:nvSpPr>
          <p:cNvPr id="3" name="Text Placeholder 2"/>
          <p:cNvSpPr>
            <a:spLocks noGrp="1"/>
          </p:cNvSpPr>
          <p:nvPr>
            <p:ph type="body" idx="1"/>
          </p:nvPr>
        </p:nvSpPr>
        <p:spPr>
          <a:xfrm>
            <a:off x="2063272" y="28428121"/>
            <a:ext cx="26082248" cy="9292478"/>
          </a:xfrm>
        </p:spPr>
        <p:txBody>
          <a:bodyPr/>
          <a:lstStyle>
            <a:lvl1pPr marL="0" indent="0">
              <a:buNone/>
              <a:defRPr sz="7937">
                <a:solidFill>
                  <a:schemeClr val="tx1"/>
                </a:solidFill>
              </a:defRPr>
            </a:lvl1pPr>
            <a:lvl2pPr marL="1512006" indent="0">
              <a:buNone/>
              <a:defRPr sz="6614">
                <a:solidFill>
                  <a:schemeClr val="tx1">
                    <a:tint val="75000"/>
                  </a:schemeClr>
                </a:solidFill>
              </a:defRPr>
            </a:lvl2pPr>
            <a:lvl3pPr marL="3024012" indent="0">
              <a:buNone/>
              <a:defRPr sz="5953">
                <a:solidFill>
                  <a:schemeClr val="tx1">
                    <a:tint val="75000"/>
                  </a:schemeClr>
                </a:solidFill>
              </a:defRPr>
            </a:lvl3pPr>
            <a:lvl4pPr marL="4536018" indent="0">
              <a:buNone/>
              <a:defRPr sz="5291">
                <a:solidFill>
                  <a:schemeClr val="tx1">
                    <a:tint val="75000"/>
                  </a:schemeClr>
                </a:solidFill>
              </a:defRPr>
            </a:lvl4pPr>
            <a:lvl5pPr marL="6048024" indent="0">
              <a:buNone/>
              <a:defRPr sz="5291">
                <a:solidFill>
                  <a:schemeClr val="tx1">
                    <a:tint val="75000"/>
                  </a:schemeClr>
                </a:solidFill>
              </a:defRPr>
            </a:lvl5pPr>
            <a:lvl6pPr marL="7560031" indent="0">
              <a:buNone/>
              <a:defRPr sz="5291">
                <a:solidFill>
                  <a:schemeClr val="tx1">
                    <a:tint val="75000"/>
                  </a:schemeClr>
                </a:solidFill>
              </a:defRPr>
            </a:lvl6pPr>
            <a:lvl7pPr marL="9072037" indent="0">
              <a:buNone/>
              <a:defRPr sz="5291">
                <a:solidFill>
                  <a:schemeClr val="tx1">
                    <a:tint val="75000"/>
                  </a:schemeClr>
                </a:solidFill>
              </a:defRPr>
            </a:lvl7pPr>
            <a:lvl8pPr marL="10584043" indent="0">
              <a:buNone/>
              <a:defRPr sz="5291">
                <a:solidFill>
                  <a:schemeClr val="tx1">
                    <a:tint val="75000"/>
                  </a:schemeClr>
                </a:solidFill>
              </a:defRPr>
            </a:lvl8pPr>
            <a:lvl9pPr marL="12096049" indent="0">
              <a:buNone/>
              <a:defRPr sz="5291">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594936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2079020" y="11308310"/>
            <a:ext cx="12852122" cy="2695311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15309146" y="11308310"/>
            <a:ext cx="12852122" cy="2695311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1244507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2082959" y="2261671"/>
            <a:ext cx="26082248" cy="8210820"/>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2082962" y="10413482"/>
            <a:ext cx="12793057" cy="5103486"/>
          </a:xfrm>
        </p:spPr>
        <p:txBody>
          <a:bodyPr anchor="b"/>
          <a:lstStyle>
            <a:lvl1pPr marL="0" indent="0">
              <a:buNone/>
              <a:defRPr sz="7937" b="1"/>
            </a:lvl1pPr>
            <a:lvl2pPr marL="1512006" indent="0">
              <a:buNone/>
              <a:defRPr sz="6614" b="1"/>
            </a:lvl2pPr>
            <a:lvl3pPr marL="3024012" indent="0">
              <a:buNone/>
              <a:defRPr sz="5953" b="1"/>
            </a:lvl3pPr>
            <a:lvl4pPr marL="4536018" indent="0">
              <a:buNone/>
              <a:defRPr sz="5291" b="1"/>
            </a:lvl4pPr>
            <a:lvl5pPr marL="6048024" indent="0">
              <a:buNone/>
              <a:defRPr sz="5291" b="1"/>
            </a:lvl5pPr>
            <a:lvl6pPr marL="7560031" indent="0">
              <a:buNone/>
              <a:defRPr sz="5291" b="1"/>
            </a:lvl6pPr>
            <a:lvl7pPr marL="9072037" indent="0">
              <a:buNone/>
              <a:defRPr sz="5291" b="1"/>
            </a:lvl7pPr>
            <a:lvl8pPr marL="10584043" indent="0">
              <a:buNone/>
              <a:defRPr sz="5291" b="1"/>
            </a:lvl8pPr>
            <a:lvl9pPr marL="12096049" indent="0">
              <a:buNone/>
              <a:defRPr sz="5291" b="1"/>
            </a:lvl9pPr>
          </a:lstStyle>
          <a:p>
            <a:pPr lvl="0"/>
            <a:r>
              <a:rPr lang="ja-JP" altLang="en-US"/>
              <a:t>マスター テキストの書式設定</a:t>
            </a:r>
          </a:p>
        </p:txBody>
      </p:sp>
      <p:sp>
        <p:nvSpPr>
          <p:cNvPr id="4" name="Content Placeholder 3"/>
          <p:cNvSpPr>
            <a:spLocks noGrp="1"/>
          </p:cNvSpPr>
          <p:nvPr>
            <p:ph sz="half" idx="2"/>
          </p:nvPr>
        </p:nvSpPr>
        <p:spPr>
          <a:xfrm>
            <a:off x="2082962" y="15516968"/>
            <a:ext cx="12793057" cy="228231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15309148" y="10413482"/>
            <a:ext cx="12856061" cy="5103486"/>
          </a:xfrm>
        </p:spPr>
        <p:txBody>
          <a:bodyPr anchor="b"/>
          <a:lstStyle>
            <a:lvl1pPr marL="0" indent="0">
              <a:buNone/>
              <a:defRPr sz="7937" b="1"/>
            </a:lvl1pPr>
            <a:lvl2pPr marL="1512006" indent="0">
              <a:buNone/>
              <a:defRPr sz="6614" b="1"/>
            </a:lvl2pPr>
            <a:lvl3pPr marL="3024012" indent="0">
              <a:buNone/>
              <a:defRPr sz="5953" b="1"/>
            </a:lvl3pPr>
            <a:lvl4pPr marL="4536018" indent="0">
              <a:buNone/>
              <a:defRPr sz="5291" b="1"/>
            </a:lvl4pPr>
            <a:lvl5pPr marL="6048024" indent="0">
              <a:buNone/>
              <a:defRPr sz="5291" b="1"/>
            </a:lvl5pPr>
            <a:lvl6pPr marL="7560031" indent="0">
              <a:buNone/>
              <a:defRPr sz="5291" b="1"/>
            </a:lvl6pPr>
            <a:lvl7pPr marL="9072037" indent="0">
              <a:buNone/>
              <a:defRPr sz="5291" b="1"/>
            </a:lvl7pPr>
            <a:lvl8pPr marL="10584043" indent="0">
              <a:buNone/>
              <a:defRPr sz="5291" b="1"/>
            </a:lvl8pPr>
            <a:lvl9pPr marL="12096049" indent="0">
              <a:buNone/>
              <a:defRPr sz="5291" b="1"/>
            </a:lvl9pPr>
          </a:lstStyle>
          <a:p>
            <a:pPr lvl="0"/>
            <a:r>
              <a:rPr lang="ja-JP" altLang="en-US"/>
              <a:t>マスター テキストの書式設定</a:t>
            </a:r>
          </a:p>
        </p:txBody>
      </p:sp>
      <p:sp>
        <p:nvSpPr>
          <p:cNvPr id="6" name="Content Placeholder 5"/>
          <p:cNvSpPr>
            <a:spLocks noGrp="1"/>
          </p:cNvSpPr>
          <p:nvPr>
            <p:ph sz="quarter" idx="4"/>
          </p:nvPr>
        </p:nvSpPr>
        <p:spPr>
          <a:xfrm>
            <a:off x="15309148" y="15516968"/>
            <a:ext cx="12856061" cy="2282312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3384748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2478913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2320070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2082959" y="2831994"/>
            <a:ext cx="9753280" cy="9911980"/>
          </a:xfrm>
        </p:spPr>
        <p:txBody>
          <a:bodyPr anchor="b"/>
          <a:lstStyle>
            <a:lvl1pPr>
              <a:defRPr sz="10583"/>
            </a:lvl1pPr>
          </a:lstStyle>
          <a:p>
            <a:r>
              <a:rPr lang="ja-JP" altLang="en-US"/>
              <a:t>マスター タイトルの書式設定</a:t>
            </a:r>
            <a:endParaRPr lang="en-US" dirty="0"/>
          </a:p>
        </p:txBody>
      </p:sp>
      <p:sp>
        <p:nvSpPr>
          <p:cNvPr id="3" name="Content Placeholder 2"/>
          <p:cNvSpPr>
            <a:spLocks noGrp="1"/>
          </p:cNvSpPr>
          <p:nvPr>
            <p:ph idx="1"/>
          </p:nvPr>
        </p:nvSpPr>
        <p:spPr>
          <a:xfrm>
            <a:off x="12856061" y="6116330"/>
            <a:ext cx="15309146" cy="30188272"/>
          </a:xfrm>
        </p:spPr>
        <p:txBody>
          <a:bodyPr/>
          <a:lstStyle>
            <a:lvl1pPr>
              <a:defRPr sz="10583"/>
            </a:lvl1pPr>
            <a:lvl2pPr>
              <a:defRPr sz="9260"/>
            </a:lvl2pPr>
            <a:lvl3pPr>
              <a:defRPr sz="7937"/>
            </a:lvl3pPr>
            <a:lvl4pPr>
              <a:defRPr sz="6614"/>
            </a:lvl4pPr>
            <a:lvl5pPr>
              <a:defRPr sz="6614"/>
            </a:lvl5pPr>
            <a:lvl6pPr>
              <a:defRPr sz="6614"/>
            </a:lvl6pPr>
            <a:lvl7pPr>
              <a:defRPr sz="6614"/>
            </a:lvl7pPr>
            <a:lvl8pPr>
              <a:defRPr sz="6614"/>
            </a:lvl8pPr>
            <a:lvl9pPr>
              <a:defRPr sz="6614"/>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2082959" y="12743974"/>
            <a:ext cx="9753280" cy="23609788"/>
          </a:xfrm>
        </p:spPr>
        <p:txBody>
          <a:bodyPr/>
          <a:lstStyle>
            <a:lvl1pPr marL="0" indent="0">
              <a:buNone/>
              <a:defRPr sz="5291"/>
            </a:lvl1pPr>
            <a:lvl2pPr marL="1512006" indent="0">
              <a:buNone/>
              <a:defRPr sz="4630"/>
            </a:lvl2pPr>
            <a:lvl3pPr marL="3024012" indent="0">
              <a:buNone/>
              <a:defRPr sz="3969"/>
            </a:lvl3pPr>
            <a:lvl4pPr marL="4536018" indent="0">
              <a:buNone/>
              <a:defRPr sz="3307"/>
            </a:lvl4pPr>
            <a:lvl5pPr marL="6048024" indent="0">
              <a:buNone/>
              <a:defRPr sz="3307"/>
            </a:lvl5pPr>
            <a:lvl6pPr marL="7560031" indent="0">
              <a:buNone/>
              <a:defRPr sz="3307"/>
            </a:lvl6pPr>
            <a:lvl7pPr marL="9072037" indent="0">
              <a:buNone/>
              <a:defRPr sz="3307"/>
            </a:lvl7pPr>
            <a:lvl8pPr marL="10584043" indent="0">
              <a:buNone/>
              <a:defRPr sz="3307"/>
            </a:lvl8pPr>
            <a:lvl9pPr marL="12096049" indent="0">
              <a:buNone/>
              <a:defRPr sz="3307"/>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3100200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2082959" y="2831994"/>
            <a:ext cx="9753280" cy="9911980"/>
          </a:xfrm>
        </p:spPr>
        <p:txBody>
          <a:bodyPr anchor="b"/>
          <a:lstStyle>
            <a:lvl1pPr>
              <a:defRPr sz="10583"/>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12856061" y="6116330"/>
            <a:ext cx="15309146" cy="30188272"/>
          </a:xfrm>
        </p:spPr>
        <p:txBody>
          <a:bodyPr anchor="t"/>
          <a:lstStyle>
            <a:lvl1pPr marL="0" indent="0">
              <a:buNone/>
              <a:defRPr sz="10583"/>
            </a:lvl1pPr>
            <a:lvl2pPr marL="1512006" indent="0">
              <a:buNone/>
              <a:defRPr sz="9260"/>
            </a:lvl2pPr>
            <a:lvl3pPr marL="3024012" indent="0">
              <a:buNone/>
              <a:defRPr sz="7937"/>
            </a:lvl3pPr>
            <a:lvl4pPr marL="4536018" indent="0">
              <a:buNone/>
              <a:defRPr sz="6614"/>
            </a:lvl4pPr>
            <a:lvl5pPr marL="6048024" indent="0">
              <a:buNone/>
              <a:defRPr sz="6614"/>
            </a:lvl5pPr>
            <a:lvl6pPr marL="7560031" indent="0">
              <a:buNone/>
              <a:defRPr sz="6614"/>
            </a:lvl6pPr>
            <a:lvl7pPr marL="9072037" indent="0">
              <a:buNone/>
              <a:defRPr sz="6614"/>
            </a:lvl7pPr>
            <a:lvl8pPr marL="10584043" indent="0">
              <a:buNone/>
              <a:defRPr sz="6614"/>
            </a:lvl8pPr>
            <a:lvl9pPr marL="12096049" indent="0">
              <a:buNone/>
              <a:defRPr sz="6614"/>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2082959" y="12743974"/>
            <a:ext cx="9753280" cy="23609788"/>
          </a:xfrm>
        </p:spPr>
        <p:txBody>
          <a:bodyPr/>
          <a:lstStyle>
            <a:lvl1pPr marL="0" indent="0">
              <a:buNone/>
              <a:defRPr sz="5291"/>
            </a:lvl1pPr>
            <a:lvl2pPr marL="1512006" indent="0">
              <a:buNone/>
              <a:defRPr sz="4630"/>
            </a:lvl2pPr>
            <a:lvl3pPr marL="3024012" indent="0">
              <a:buNone/>
              <a:defRPr sz="3969"/>
            </a:lvl3pPr>
            <a:lvl4pPr marL="4536018" indent="0">
              <a:buNone/>
              <a:defRPr sz="3307"/>
            </a:lvl4pPr>
            <a:lvl5pPr marL="6048024" indent="0">
              <a:buNone/>
              <a:defRPr sz="3307"/>
            </a:lvl5pPr>
            <a:lvl6pPr marL="7560031" indent="0">
              <a:buNone/>
              <a:defRPr sz="3307"/>
            </a:lvl6pPr>
            <a:lvl7pPr marL="9072037" indent="0">
              <a:buNone/>
              <a:defRPr sz="3307"/>
            </a:lvl7pPr>
            <a:lvl8pPr marL="10584043" indent="0">
              <a:buNone/>
              <a:defRPr sz="3307"/>
            </a:lvl8pPr>
            <a:lvl9pPr marL="12096049" indent="0">
              <a:buNone/>
              <a:defRPr sz="3307"/>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1224366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3343286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40708" y="2261662"/>
            <a:ext cx="6520562" cy="35999763"/>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2079021" y="2261662"/>
            <a:ext cx="19183683" cy="35999763"/>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FC3D127C-1B49-4030-A14A-47C3343079FD}" type="datetimeFigureOut">
              <a:rPr kumimoji="1" lang="ja-JP" altLang="en-US" smtClean="0"/>
              <a:t>2023/6/7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1432569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9020" y="2261671"/>
            <a:ext cx="26082248" cy="821082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079020" y="11308310"/>
            <a:ext cx="26082248" cy="26953115"/>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079020" y="39372595"/>
            <a:ext cx="6804065" cy="2261662"/>
          </a:xfrm>
          <a:prstGeom prst="rect">
            <a:avLst/>
          </a:prstGeom>
        </p:spPr>
        <p:txBody>
          <a:bodyPr vert="horz" lIns="91440" tIns="45720" rIns="91440" bIns="45720" rtlCol="0" anchor="ctr"/>
          <a:lstStyle>
            <a:lvl1pPr algn="l">
              <a:defRPr sz="3969">
                <a:solidFill>
                  <a:schemeClr val="tx1">
                    <a:tint val="75000"/>
                  </a:schemeClr>
                </a:solidFill>
              </a:defRPr>
            </a:lvl1pPr>
          </a:lstStyle>
          <a:p>
            <a:fld id="{FC3D127C-1B49-4030-A14A-47C3343079FD}" type="datetimeFigureOut">
              <a:rPr kumimoji="1" lang="ja-JP" altLang="en-US" smtClean="0"/>
              <a:t>2023/6/7</a:t>
            </a:fld>
            <a:endParaRPr kumimoji="1" lang="ja-JP" altLang="en-US"/>
          </a:p>
        </p:txBody>
      </p:sp>
      <p:sp>
        <p:nvSpPr>
          <p:cNvPr id="5" name="Footer Placeholder 4"/>
          <p:cNvSpPr>
            <a:spLocks noGrp="1"/>
          </p:cNvSpPr>
          <p:nvPr>
            <p:ph type="ftr" sz="quarter" idx="3"/>
          </p:nvPr>
        </p:nvSpPr>
        <p:spPr>
          <a:xfrm>
            <a:off x="10017096" y="39372595"/>
            <a:ext cx="10206097" cy="2261662"/>
          </a:xfrm>
          <a:prstGeom prst="rect">
            <a:avLst/>
          </a:prstGeom>
        </p:spPr>
        <p:txBody>
          <a:bodyPr vert="horz" lIns="91440" tIns="45720" rIns="91440" bIns="45720" rtlCol="0" anchor="ctr"/>
          <a:lstStyle>
            <a:lvl1pPr algn="ctr">
              <a:defRPr sz="3969">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21357203" y="39372595"/>
            <a:ext cx="6804065" cy="2261662"/>
          </a:xfrm>
          <a:prstGeom prst="rect">
            <a:avLst/>
          </a:prstGeom>
        </p:spPr>
        <p:txBody>
          <a:bodyPr vert="horz" lIns="91440" tIns="45720" rIns="91440" bIns="45720" rtlCol="0" anchor="ctr"/>
          <a:lstStyle>
            <a:lvl1pPr algn="r">
              <a:defRPr sz="3969">
                <a:solidFill>
                  <a:schemeClr val="tx1">
                    <a:tint val="75000"/>
                  </a:schemeClr>
                </a:solidFill>
              </a:defRPr>
            </a:lvl1pPr>
          </a:lstStyle>
          <a:p>
            <a:fld id="{A62A1443-9936-4EEC-9B0E-CF8A37092E09}" type="slidenum">
              <a:rPr kumimoji="1" lang="ja-JP" altLang="en-US" smtClean="0"/>
              <a:t>‹#›</a:t>
            </a:fld>
            <a:endParaRPr kumimoji="1" lang="ja-JP" altLang="en-US"/>
          </a:p>
        </p:txBody>
      </p:sp>
    </p:spTree>
    <p:extLst>
      <p:ext uri="{BB962C8B-B14F-4D97-AF65-F5344CB8AC3E}">
        <p14:creationId xmlns:p14="http://schemas.microsoft.com/office/powerpoint/2010/main" val="42873718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024012" rtl="0" eaLnBrk="1" latinLnBrk="0" hangingPunct="1">
        <a:lnSpc>
          <a:spcPct val="90000"/>
        </a:lnSpc>
        <a:spcBef>
          <a:spcPct val="0"/>
        </a:spcBef>
        <a:buNone/>
        <a:defRPr kumimoji="1" sz="14551" kern="1200">
          <a:solidFill>
            <a:schemeClr val="tx1"/>
          </a:solidFill>
          <a:latin typeface="+mj-lt"/>
          <a:ea typeface="+mj-ea"/>
          <a:cs typeface="+mj-cs"/>
        </a:defRPr>
      </a:lvl1pPr>
    </p:titleStyle>
    <p:bodyStyle>
      <a:lvl1pPr marL="756003" indent="-756003" algn="l" defTabSz="3024012" rtl="0" eaLnBrk="1" latinLnBrk="0" hangingPunct="1">
        <a:lnSpc>
          <a:spcPct val="90000"/>
        </a:lnSpc>
        <a:spcBef>
          <a:spcPts val="3307"/>
        </a:spcBef>
        <a:buFont typeface="Arial" panose="020B0604020202020204" pitchFamily="34" charset="0"/>
        <a:buChar char="•"/>
        <a:defRPr kumimoji="1" sz="9260" kern="1200">
          <a:solidFill>
            <a:schemeClr val="tx1"/>
          </a:solidFill>
          <a:latin typeface="+mn-lt"/>
          <a:ea typeface="+mn-ea"/>
          <a:cs typeface="+mn-cs"/>
        </a:defRPr>
      </a:lvl1pPr>
      <a:lvl2pPr marL="2268009" indent="-756003" algn="l" defTabSz="3024012" rtl="0" eaLnBrk="1" latinLnBrk="0" hangingPunct="1">
        <a:lnSpc>
          <a:spcPct val="90000"/>
        </a:lnSpc>
        <a:spcBef>
          <a:spcPts val="1654"/>
        </a:spcBef>
        <a:buFont typeface="Arial" panose="020B0604020202020204" pitchFamily="34" charset="0"/>
        <a:buChar char="•"/>
        <a:defRPr kumimoji="1" sz="7937" kern="1200">
          <a:solidFill>
            <a:schemeClr val="tx1"/>
          </a:solidFill>
          <a:latin typeface="+mn-lt"/>
          <a:ea typeface="+mn-ea"/>
          <a:cs typeface="+mn-cs"/>
        </a:defRPr>
      </a:lvl2pPr>
      <a:lvl3pPr marL="3780015" indent="-756003" algn="l" defTabSz="3024012" rtl="0" eaLnBrk="1" latinLnBrk="0" hangingPunct="1">
        <a:lnSpc>
          <a:spcPct val="90000"/>
        </a:lnSpc>
        <a:spcBef>
          <a:spcPts val="1654"/>
        </a:spcBef>
        <a:buFont typeface="Arial" panose="020B0604020202020204" pitchFamily="34" charset="0"/>
        <a:buChar char="•"/>
        <a:defRPr kumimoji="1" sz="6614" kern="1200">
          <a:solidFill>
            <a:schemeClr val="tx1"/>
          </a:solidFill>
          <a:latin typeface="+mn-lt"/>
          <a:ea typeface="+mn-ea"/>
          <a:cs typeface="+mn-cs"/>
        </a:defRPr>
      </a:lvl3pPr>
      <a:lvl4pPr marL="5292021"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4pPr>
      <a:lvl5pPr marL="6804028"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5pPr>
      <a:lvl6pPr marL="8316034"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6pPr>
      <a:lvl7pPr marL="9828040"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7pPr>
      <a:lvl8pPr marL="11340046"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8pPr>
      <a:lvl9pPr marL="12852052" indent="-756003" algn="l" defTabSz="3024012" rtl="0" eaLnBrk="1" latinLnBrk="0" hangingPunct="1">
        <a:lnSpc>
          <a:spcPct val="90000"/>
        </a:lnSpc>
        <a:spcBef>
          <a:spcPts val="1654"/>
        </a:spcBef>
        <a:buFont typeface="Arial" panose="020B0604020202020204" pitchFamily="34" charset="0"/>
        <a:buChar char="•"/>
        <a:defRPr kumimoji="1" sz="5953" kern="1200">
          <a:solidFill>
            <a:schemeClr val="tx1"/>
          </a:solidFill>
          <a:latin typeface="+mn-lt"/>
          <a:ea typeface="+mn-ea"/>
          <a:cs typeface="+mn-cs"/>
        </a:defRPr>
      </a:lvl9pPr>
    </p:bodyStyle>
    <p:otherStyle>
      <a:defPPr>
        <a:defRPr lang="en-US"/>
      </a:defPPr>
      <a:lvl1pPr marL="0" algn="l" defTabSz="3024012" rtl="0" eaLnBrk="1" latinLnBrk="0" hangingPunct="1">
        <a:defRPr kumimoji="1" sz="5953" kern="1200">
          <a:solidFill>
            <a:schemeClr val="tx1"/>
          </a:solidFill>
          <a:latin typeface="+mn-lt"/>
          <a:ea typeface="+mn-ea"/>
          <a:cs typeface="+mn-cs"/>
        </a:defRPr>
      </a:lvl1pPr>
      <a:lvl2pPr marL="1512006" algn="l" defTabSz="3024012" rtl="0" eaLnBrk="1" latinLnBrk="0" hangingPunct="1">
        <a:defRPr kumimoji="1" sz="5953" kern="1200">
          <a:solidFill>
            <a:schemeClr val="tx1"/>
          </a:solidFill>
          <a:latin typeface="+mn-lt"/>
          <a:ea typeface="+mn-ea"/>
          <a:cs typeface="+mn-cs"/>
        </a:defRPr>
      </a:lvl2pPr>
      <a:lvl3pPr marL="3024012" algn="l" defTabSz="3024012" rtl="0" eaLnBrk="1" latinLnBrk="0" hangingPunct="1">
        <a:defRPr kumimoji="1" sz="5953" kern="1200">
          <a:solidFill>
            <a:schemeClr val="tx1"/>
          </a:solidFill>
          <a:latin typeface="+mn-lt"/>
          <a:ea typeface="+mn-ea"/>
          <a:cs typeface="+mn-cs"/>
        </a:defRPr>
      </a:lvl3pPr>
      <a:lvl4pPr marL="4536018" algn="l" defTabSz="3024012" rtl="0" eaLnBrk="1" latinLnBrk="0" hangingPunct="1">
        <a:defRPr kumimoji="1" sz="5953" kern="1200">
          <a:solidFill>
            <a:schemeClr val="tx1"/>
          </a:solidFill>
          <a:latin typeface="+mn-lt"/>
          <a:ea typeface="+mn-ea"/>
          <a:cs typeface="+mn-cs"/>
        </a:defRPr>
      </a:lvl4pPr>
      <a:lvl5pPr marL="6048024" algn="l" defTabSz="3024012" rtl="0" eaLnBrk="1" latinLnBrk="0" hangingPunct="1">
        <a:defRPr kumimoji="1" sz="5953" kern="1200">
          <a:solidFill>
            <a:schemeClr val="tx1"/>
          </a:solidFill>
          <a:latin typeface="+mn-lt"/>
          <a:ea typeface="+mn-ea"/>
          <a:cs typeface="+mn-cs"/>
        </a:defRPr>
      </a:lvl5pPr>
      <a:lvl6pPr marL="7560031" algn="l" defTabSz="3024012" rtl="0" eaLnBrk="1" latinLnBrk="0" hangingPunct="1">
        <a:defRPr kumimoji="1" sz="5953" kern="1200">
          <a:solidFill>
            <a:schemeClr val="tx1"/>
          </a:solidFill>
          <a:latin typeface="+mn-lt"/>
          <a:ea typeface="+mn-ea"/>
          <a:cs typeface="+mn-cs"/>
        </a:defRPr>
      </a:lvl6pPr>
      <a:lvl7pPr marL="9072037" algn="l" defTabSz="3024012" rtl="0" eaLnBrk="1" latinLnBrk="0" hangingPunct="1">
        <a:defRPr kumimoji="1" sz="5953" kern="1200">
          <a:solidFill>
            <a:schemeClr val="tx1"/>
          </a:solidFill>
          <a:latin typeface="+mn-lt"/>
          <a:ea typeface="+mn-ea"/>
          <a:cs typeface="+mn-cs"/>
        </a:defRPr>
      </a:lvl7pPr>
      <a:lvl8pPr marL="10584043" algn="l" defTabSz="3024012" rtl="0" eaLnBrk="1" latinLnBrk="0" hangingPunct="1">
        <a:defRPr kumimoji="1" sz="5953" kern="1200">
          <a:solidFill>
            <a:schemeClr val="tx1"/>
          </a:solidFill>
          <a:latin typeface="+mn-lt"/>
          <a:ea typeface="+mn-ea"/>
          <a:cs typeface="+mn-cs"/>
        </a:defRPr>
      </a:lvl8pPr>
      <a:lvl9pPr marL="12096049" algn="l" defTabSz="3024012" rtl="0" eaLnBrk="1" latinLnBrk="0" hangingPunct="1">
        <a:defRPr kumimoji="1" sz="595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png"/><Relationship Id="rId50" Type="http://schemas.openxmlformats.org/officeDocument/2006/relationships/image" Target="../media/image48.png"/><Relationship Id="rId55" Type="http://schemas.openxmlformats.org/officeDocument/2006/relationships/image" Target="../media/image53.png"/><Relationship Id="rId7" Type="http://schemas.openxmlformats.org/officeDocument/2006/relationships/image" Target="../media/image5.png"/><Relationship Id="rId16" Type="http://schemas.openxmlformats.org/officeDocument/2006/relationships/image" Target="../media/image14.png"/><Relationship Id="rId29" Type="http://schemas.openxmlformats.org/officeDocument/2006/relationships/image" Target="../media/image27.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png"/><Relationship Id="rId40" Type="http://schemas.openxmlformats.org/officeDocument/2006/relationships/image" Target="../media/image38.png"/><Relationship Id="rId45" Type="http://schemas.openxmlformats.org/officeDocument/2006/relationships/image" Target="../media/image43.png"/><Relationship Id="rId53" Type="http://schemas.openxmlformats.org/officeDocument/2006/relationships/image" Target="../media/image51.png"/><Relationship Id="rId5" Type="http://schemas.openxmlformats.org/officeDocument/2006/relationships/image" Target="../media/image3.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4" Type="http://schemas.openxmlformats.org/officeDocument/2006/relationships/image" Target="../media/image42.png"/><Relationship Id="rId52" Type="http://schemas.openxmlformats.org/officeDocument/2006/relationships/image" Target="../media/image50.png"/><Relationship Id="rId4" Type="http://schemas.openxmlformats.org/officeDocument/2006/relationships/image" Target="../media/image1.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43" Type="http://schemas.openxmlformats.org/officeDocument/2006/relationships/image" Target="../media/image41.png"/><Relationship Id="rId48" Type="http://schemas.openxmlformats.org/officeDocument/2006/relationships/image" Target="../media/image46.png"/><Relationship Id="rId56" Type="http://schemas.openxmlformats.org/officeDocument/2006/relationships/image" Target="../media/image54.png"/><Relationship Id="rId8" Type="http://schemas.openxmlformats.org/officeDocument/2006/relationships/image" Target="../media/image6.png"/><Relationship Id="rId51" Type="http://schemas.openxmlformats.org/officeDocument/2006/relationships/image" Target="../media/image49.png"/><Relationship Id="rId3" Type="http://schemas.openxmlformats.org/officeDocument/2006/relationships/image" Target="../media/image2.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png"/><Relationship Id="rId46" Type="http://schemas.openxmlformats.org/officeDocument/2006/relationships/image" Target="../media/image44.png"/><Relationship Id="rId20" Type="http://schemas.openxmlformats.org/officeDocument/2006/relationships/image" Target="../media/image18.png"/><Relationship Id="rId41" Type="http://schemas.openxmlformats.org/officeDocument/2006/relationships/image" Target="../media/image39.png"/><Relationship Id="rId54"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4.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49" Type="http://schemas.openxmlformats.org/officeDocument/2006/relationships/image" Target="../media/image47.png"/><Relationship Id="rId57" Type="http://schemas.openxmlformats.org/officeDocument/2006/relationships/image" Target="../media/image55.png"/></Relationships>
</file>

<file path=ppt/slides/_rels/slide2.xml.rels><?xml version="1.0" encoding="UTF-8" standalone="yes"?>
<Relationships xmlns="http://schemas.openxmlformats.org/package/2006/relationships"><Relationship Id="rId13" Type="http://schemas.openxmlformats.org/officeDocument/2006/relationships/image" Target="../media/image58.png"/><Relationship Id="rId18" Type="http://schemas.openxmlformats.org/officeDocument/2006/relationships/image" Target="../media/image21.png"/><Relationship Id="rId26" Type="http://schemas.openxmlformats.org/officeDocument/2006/relationships/image" Target="../media/image66.png"/><Relationship Id="rId39" Type="http://schemas.openxmlformats.org/officeDocument/2006/relationships/image" Target="../media/image75.png"/><Relationship Id="rId21" Type="http://schemas.openxmlformats.org/officeDocument/2006/relationships/image" Target="../media/image24.png"/><Relationship Id="rId34" Type="http://schemas.openxmlformats.org/officeDocument/2006/relationships/image" Target="../media/image72.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20.png"/><Relationship Id="rId25" Type="http://schemas.openxmlformats.org/officeDocument/2006/relationships/image" Target="../media/image65.png"/><Relationship Id="rId33" Type="http://schemas.openxmlformats.org/officeDocument/2006/relationships/image" Target="../media/image71.png"/><Relationship Id="rId38" Type="http://schemas.openxmlformats.org/officeDocument/2006/relationships/image" Target="../media/image74.png"/><Relationship Id="rId16" Type="http://schemas.openxmlformats.org/officeDocument/2006/relationships/image" Target="../media/image60.png"/><Relationship Id="rId20" Type="http://schemas.openxmlformats.org/officeDocument/2006/relationships/image" Target="../media/image62.png"/><Relationship Id="rId29" Type="http://schemas.openxmlformats.org/officeDocument/2006/relationships/image" Target="../media/image53.png"/><Relationship Id="rId41" Type="http://schemas.openxmlformats.org/officeDocument/2006/relationships/image" Target="../media/image77.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7.png"/><Relationship Id="rId32" Type="http://schemas.openxmlformats.org/officeDocument/2006/relationships/image" Target="../media/image70.png"/><Relationship Id="rId37" Type="http://schemas.openxmlformats.org/officeDocument/2006/relationships/image" Target="../media/image55.png"/><Relationship Id="rId40" Type="http://schemas.openxmlformats.org/officeDocument/2006/relationships/image" Target="../media/image76.png"/><Relationship Id="rId5" Type="http://schemas.openxmlformats.org/officeDocument/2006/relationships/image" Target="../media/image57.png"/><Relationship Id="rId15" Type="http://schemas.openxmlformats.org/officeDocument/2006/relationships/image" Target="../media/image18.png"/><Relationship Id="rId23" Type="http://schemas.openxmlformats.org/officeDocument/2006/relationships/image" Target="../media/image64.png"/><Relationship Id="rId28" Type="http://schemas.openxmlformats.org/officeDocument/2006/relationships/image" Target="../media/image31.png"/><Relationship Id="rId36" Type="http://schemas.openxmlformats.org/officeDocument/2006/relationships/image" Target="../media/image54.png"/><Relationship Id="rId10" Type="http://schemas.openxmlformats.org/officeDocument/2006/relationships/image" Target="../media/image8.png"/><Relationship Id="rId19" Type="http://schemas.openxmlformats.org/officeDocument/2006/relationships/image" Target="../media/image61.png"/><Relationship Id="rId31" Type="http://schemas.openxmlformats.org/officeDocument/2006/relationships/image" Target="../media/image69.png"/><Relationship Id="rId4" Type="http://schemas.openxmlformats.org/officeDocument/2006/relationships/image" Target="../media/image56.png"/><Relationship Id="rId9" Type="http://schemas.openxmlformats.org/officeDocument/2006/relationships/image" Target="../media/image7.png"/><Relationship Id="rId14" Type="http://schemas.openxmlformats.org/officeDocument/2006/relationships/image" Target="../media/image59.png"/><Relationship Id="rId22" Type="http://schemas.openxmlformats.org/officeDocument/2006/relationships/image" Target="../media/image63.png"/><Relationship Id="rId27" Type="http://schemas.openxmlformats.org/officeDocument/2006/relationships/image" Target="../media/image67.png"/><Relationship Id="rId30" Type="http://schemas.openxmlformats.org/officeDocument/2006/relationships/image" Target="../media/image68.png"/><Relationship Id="rId35" Type="http://schemas.openxmlformats.org/officeDocument/2006/relationships/image" Target="../media/image73.png"/><Relationship Id="rId8" Type="http://schemas.openxmlformats.org/officeDocument/2006/relationships/image" Target="../media/image6.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890.png"/><Relationship Id="rId26" Type="http://schemas.openxmlformats.org/officeDocument/2006/relationships/image" Target="../media/image12.png"/><Relationship Id="rId39" Type="http://schemas.openxmlformats.org/officeDocument/2006/relationships/image" Target="../media/image7.png"/><Relationship Id="rId21" Type="http://schemas.openxmlformats.org/officeDocument/2006/relationships/image" Target="../media/image92.png"/><Relationship Id="rId34" Type="http://schemas.openxmlformats.org/officeDocument/2006/relationships/image" Target="../media/image27.png"/><Relationship Id="rId42" Type="http://schemas.openxmlformats.org/officeDocument/2006/relationships/image" Target="../media/image100.png"/><Relationship Id="rId7" Type="http://schemas.openxmlformats.org/officeDocument/2006/relationships/image" Target="../media/image80.png"/><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96.png"/><Relationship Id="rId41"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84.png"/><Relationship Id="rId24" Type="http://schemas.openxmlformats.org/officeDocument/2006/relationships/image" Target="../media/image94.png"/><Relationship Id="rId32" Type="http://schemas.openxmlformats.org/officeDocument/2006/relationships/image" Target="../media/image98.png"/><Relationship Id="rId37" Type="http://schemas.openxmlformats.org/officeDocument/2006/relationships/image" Target="../media/image31.png"/><Relationship Id="rId40" Type="http://schemas.openxmlformats.org/officeDocument/2006/relationships/image" Target="../media/image8.png"/><Relationship Id="rId5" Type="http://schemas.openxmlformats.org/officeDocument/2006/relationships/image" Target="../media/image79.png"/><Relationship Id="rId15" Type="http://schemas.openxmlformats.org/officeDocument/2006/relationships/image" Target="../media/image87.png"/><Relationship Id="rId23" Type="http://schemas.openxmlformats.org/officeDocument/2006/relationships/image" Target="../media/image53.png"/><Relationship Id="rId28" Type="http://schemas.openxmlformats.org/officeDocument/2006/relationships/image" Target="../media/image14.png"/><Relationship Id="rId36" Type="http://schemas.openxmlformats.org/officeDocument/2006/relationships/image" Target="../media/image67.png"/><Relationship Id="rId10" Type="http://schemas.openxmlformats.org/officeDocument/2006/relationships/image" Target="../media/image83.png"/><Relationship Id="rId19" Type="http://schemas.openxmlformats.org/officeDocument/2006/relationships/image" Target="../media/image90.png"/><Relationship Id="rId31" Type="http://schemas.openxmlformats.org/officeDocument/2006/relationships/image" Target="../media/image97.png"/><Relationship Id="rId44" Type="http://schemas.openxmlformats.org/officeDocument/2006/relationships/image" Target="../media/image102.png"/><Relationship Id="rId4" Type="http://schemas.openxmlformats.org/officeDocument/2006/relationships/image" Target="../media/image78.png"/><Relationship Id="rId9" Type="http://schemas.openxmlformats.org/officeDocument/2006/relationships/image" Target="../media/image82.png"/><Relationship Id="rId14" Type="http://schemas.openxmlformats.org/officeDocument/2006/relationships/image" Target="../media/image62.png"/><Relationship Id="rId22" Type="http://schemas.openxmlformats.org/officeDocument/2006/relationships/image" Target="../media/image93.png"/><Relationship Id="rId27" Type="http://schemas.openxmlformats.org/officeDocument/2006/relationships/image" Target="../media/image95.png"/><Relationship Id="rId30" Type="http://schemas.openxmlformats.org/officeDocument/2006/relationships/image" Target="../media/image54.png"/><Relationship Id="rId35" Type="http://schemas.openxmlformats.org/officeDocument/2006/relationships/image" Target="../media/image77.png"/><Relationship Id="rId43" Type="http://schemas.openxmlformats.org/officeDocument/2006/relationships/image" Target="../media/image101.png"/><Relationship Id="rId8" Type="http://schemas.openxmlformats.org/officeDocument/2006/relationships/image" Target="../media/image81.png"/><Relationship Id="rId3" Type="http://schemas.openxmlformats.org/officeDocument/2006/relationships/image" Target="../media/image2.png"/><Relationship Id="rId12" Type="http://schemas.openxmlformats.org/officeDocument/2006/relationships/image" Target="../media/image85.png"/><Relationship Id="rId17" Type="http://schemas.openxmlformats.org/officeDocument/2006/relationships/image" Target="../media/image89.png"/><Relationship Id="rId25" Type="http://schemas.openxmlformats.org/officeDocument/2006/relationships/image" Target="../media/image940.png"/><Relationship Id="rId33" Type="http://schemas.openxmlformats.org/officeDocument/2006/relationships/image" Target="../media/image99.png"/><Relationship Id="rId38" Type="http://schemas.openxmlformats.org/officeDocument/2006/relationships/image" Target="../media/image6.png"/></Relationships>
</file>

<file path=ppt/slides/_rels/slide4.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890.png"/><Relationship Id="rId26" Type="http://schemas.openxmlformats.org/officeDocument/2006/relationships/image" Target="../media/image12.png"/><Relationship Id="rId39" Type="http://schemas.openxmlformats.org/officeDocument/2006/relationships/image" Target="../media/image7.png"/><Relationship Id="rId21" Type="http://schemas.openxmlformats.org/officeDocument/2006/relationships/image" Target="../media/image92.png"/><Relationship Id="rId34" Type="http://schemas.openxmlformats.org/officeDocument/2006/relationships/image" Target="../media/image27.png"/><Relationship Id="rId42" Type="http://schemas.openxmlformats.org/officeDocument/2006/relationships/image" Target="../media/image54.png"/><Relationship Id="rId7" Type="http://schemas.openxmlformats.org/officeDocument/2006/relationships/image" Target="../media/image80.png"/><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96.png"/><Relationship Id="rId41"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84.png"/><Relationship Id="rId24" Type="http://schemas.openxmlformats.org/officeDocument/2006/relationships/image" Target="../media/image104.png"/><Relationship Id="rId37" Type="http://schemas.openxmlformats.org/officeDocument/2006/relationships/image" Target="../media/image31.png"/><Relationship Id="rId40" Type="http://schemas.openxmlformats.org/officeDocument/2006/relationships/image" Target="../media/image8.png"/><Relationship Id="rId45" Type="http://schemas.openxmlformats.org/officeDocument/2006/relationships/image" Target="../media/image101.png"/><Relationship Id="rId5" Type="http://schemas.openxmlformats.org/officeDocument/2006/relationships/image" Target="../media/image103.png"/><Relationship Id="rId15" Type="http://schemas.openxmlformats.org/officeDocument/2006/relationships/image" Target="../media/image87.png"/><Relationship Id="rId23" Type="http://schemas.openxmlformats.org/officeDocument/2006/relationships/image" Target="../media/image53.png"/><Relationship Id="rId28" Type="http://schemas.openxmlformats.org/officeDocument/2006/relationships/image" Target="../media/image14.png"/><Relationship Id="rId36" Type="http://schemas.openxmlformats.org/officeDocument/2006/relationships/image" Target="../media/image67.png"/><Relationship Id="rId10" Type="http://schemas.openxmlformats.org/officeDocument/2006/relationships/image" Target="../media/image83.png"/><Relationship Id="rId19" Type="http://schemas.openxmlformats.org/officeDocument/2006/relationships/image" Target="../media/image90.png"/><Relationship Id="rId31" Type="http://schemas.openxmlformats.org/officeDocument/2006/relationships/image" Target="../media/image105.png"/><Relationship Id="rId44" Type="http://schemas.openxmlformats.org/officeDocument/2006/relationships/image" Target="../media/image102.png"/><Relationship Id="rId4" Type="http://schemas.openxmlformats.org/officeDocument/2006/relationships/image" Target="../media/image78.png"/><Relationship Id="rId9" Type="http://schemas.openxmlformats.org/officeDocument/2006/relationships/image" Target="../media/image82.png"/><Relationship Id="rId14" Type="http://schemas.openxmlformats.org/officeDocument/2006/relationships/image" Target="../media/image62.png"/><Relationship Id="rId22" Type="http://schemas.openxmlformats.org/officeDocument/2006/relationships/image" Target="../media/image93.png"/><Relationship Id="rId27" Type="http://schemas.openxmlformats.org/officeDocument/2006/relationships/image" Target="../media/image95.png"/><Relationship Id="rId30" Type="http://schemas.openxmlformats.org/officeDocument/2006/relationships/image" Target="../media/image97.png"/><Relationship Id="rId35" Type="http://schemas.openxmlformats.org/officeDocument/2006/relationships/image" Target="../media/image77.png"/><Relationship Id="rId43" Type="http://schemas.openxmlformats.org/officeDocument/2006/relationships/image" Target="../media/image100.png"/><Relationship Id="rId8" Type="http://schemas.openxmlformats.org/officeDocument/2006/relationships/image" Target="../media/image81.png"/><Relationship Id="rId3" Type="http://schemas.openxmlformats.org/officeDocument/2006/relationships/image" Target="../media/image2.png"/><Relationship Id="rId12" Type="http://schemas.openxmlformats.org/officeDocument/2006/relationships/image" Target="../media/image85.png"/><Relationship Id="rId17" Type="http://schemas.openxmlformats.org/officeDocument/2006/relationships/image" Target="../media/image89.png"/><Relationship Id="rId25" Type="http://schemas.openxmlformats.org/officeDocument/2006/relationships/image" Target="../media/image940.png"/><Relationship Id="rId38" Type="http://schemas.openxmlformats.org/officeDocument/2006/relationships/image" Target="../media/image6.png"/></Relationships>
</file>

<file path=ppt/slides/_rels/slide5.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890.png"/><Relationship Id="rId26" Type="http://schemas.openxmlformats.org/officeDocument/2006/relationships/image" Target="../media/image12.png"/><Relationship Id="rId39" Type="http://schemas.openxmlformats.org/officeDocument/2006/relationships/image" Target="../media/image105.png"/><Relationship Id="rId21" Type="http://schemas.openxmlformats.org/officeDocument/2006/relationships/image" Target="../media/image92.png"/><Relationship Id="rId34" Type="http://schemas.openxmlformats.org/officeDocument/2006/relationships/image" Target="../media/image100.png"/><Relationship Id="rId42" Type="http://schemas.openxmlformats.org/officeDocument/2006/relationships/image" Target="../media/image67.png"/><Relationship Id="rId7" Type="http://schemas.openxmlformats.org/officeDocument/2006/relationships/image" Target="../media/image80.png"/><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96.png"/><Relationship Id="rId41" Type="http://schemas.openxmlformats.org/officeDocument/2006/relationships/image" Target="../media/image77.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84.png"/><Relationship Id="rId24" Type="http://schemas.openxmlformats.org/officeDocument/2006/relationships/image" Target="../media/image104.png"/><Relationship Id="rId32" Type="http://schemas.openxmlformats.org/officeDocument/2006/relationships/image" Target="../media/image8.png"/><Relationship Id="rId37" Type="http://schemas.openxmlformats.org/officeDocument/2006/relationships/image" Target="../media/image107.png"/><Relationship Id="rId40" Type="http://schemas.openxmlformats.org/officeDocument/2006/relationships/image" Target="../media/image27.png"/><Relationship Id="rId5" Type="http://schemas.openxmlformats.org/officeDocument/2006/relationships/image" Target="../media/image106.png"/><Relationship Id="rId15" Type="http://schemas.openxmlformats.org/officeDocument/2006/relationships/image" Target="../media/image87.png"/><Relationship Id="rId23" Type="http://schemas.openxmlformats.org/officeDocument/2006/relationships/image" Target="../media/image53.png"/><Relationship Id="rId28" Type="http://schemas.openxmlformats.org/officeDocument/2006/relationships/image" Target="../media/image14.png"/><Relationship Id="rId36" Type="http://schemas.openxmlformats.org/officeDocument/2006/relationships/image" Target="../media/image54.png"/><Relationship Id="rId10" Type="http://schemas.openxmlformats.org/officeDocument/2006/relationships/image" Target="../media/image83.png"/><Relationship Id="rId19" Type="http://schemas.openxmlformats.org/officeDocument/2006/relationships/image" Target="../media/image90.png"/><Relationship Id="rId31" Type="http://schemas.openxmlformats.org/officeDocument/2006/relationships/image" Target="../media/image7.png"/><Relationship Id="rId44" Type="http://schemas.openxmlformats.org/officeDocument/2006/relationships/image" Target="../media/image101.png"/><Relationship Id="rId4" Type="http://schemas.openxmlformats.org/officeDocument/2006/relationships/image" Target="../media/image78.png"/><Relationship Id="rId9" Type="http://schemas.openxmlformats.org/officeDocument/2006/relationships/image" Target="../media/image82.png"/><Relationship Id="rId14" Type="http://schemas.openxmlformats.org/officeDocument/2006/relationships/image" Target="../media/image62.png"/><Relationship Id="rId22" Type="http://schemas.openxmlformats.org/officeDocument/2006/relationships/image" Target="../media/image93.png"/><Relationship Id="rId27" Type="http://schemas.openxmlformats.org/officeDocument/2006/relationships/image" Target="../media/image95.png"/><Relationship Id="rId30" Type="http://schemas.openxmlformats.org/officeDocument/2006/relationships/image" Target="../media/image6.png"/><Relationship Id="rId35" Type="http://schemas.openxmlformats.org/officeDocument/2006/relationships/image" Target="../media/image102.png"/><Relationship Id="rId43" Type="http://schemas.openxmlformats.org/officeDocument/2006/relationships/image" Target="../media/image31.png"/><Relationship Id="rId8" Type="http://schemas.openxmlformats.org/officeDocument/2006/relationships/image" Target="../media/image81.png"/><Relationship Id="rId3" Type="http://schemas.openxmlformats.org/officeDocument/2006/relationships/image" Target="../media/image2.png"/><Relationship Id="rId12" Type="http://schemas.openxmlformats.org/officeDocument/2006/relationships/image" Target="../media/image85.png"/><Relationship Id="rId17" Type="http://schemas.openxmlformats.org/officeDocument/2006/relationships/image" Target="../media/image89.png"/><Relationship Id="rId25" Type="http://schemas.openxmlformats.org/officeDocument/2006/relationships/image" Target="../media/image940.png"/><Relationship Id="rId33" Type="http://schemas.openxmlformats.org/officeDocument/2006/relationships/image" Target="../media/image9.png"/><Relationship Id="rId38" Type="http://schemas.openxmlformats.org/officeDocument/2006/relationships/image" Target="../media/image97.png"/></Relationships>
</file>

<file path=ppt/slides/_rels/slide6.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890.png"/><Relationship Id="rId26" Type="http://schemas.openxmlformats.org/officeDocument/2006/relationships/image" Target="../media/image12.png"/><Relationship Id="rId39" Type="http://schemas.openxmlformats.org/officeDocument/2006/relationships/image" Target="../media/image77.png"/><Relationship Id="rId21" Type="http://schemas.openxmlformats.org/officeDocument/2006/relationships/image" Target="../media/image92.png"/><Relationship Id="rId34" Type="http://schemas.openxmlformats.org/officeDocument/2006/relationships/image" Target="../media/image101.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89.png"/><Relationship Id="rId25" Type="http://schemas.openxmlformats.org/officeDocument/2006/relationships/image" Target="../media/image940.png"/><Relationship Id="rId33" Type="http://schemas.openxmlformats.org/officeDocument/2006/relationships/image" Target="../media/image107.png"/><Relationship Id="rId38" Type="http://schemas.openxmlformats.org/officeDocument/2006/relationships/image" Target="../media/image27.png"/><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96.png"/><Relationship Id="rId41"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84.png"/><Relationship Id="rId24" Type="http://schemas.openxmlformats.org/officeDocument/2006/relationships/image" Target="../media/image104.png"/><Relationship Id="rId32" Type="http://schemas.openxmlformats.org/officeDocument/2006/relationships/image" Target="../media/image54.png"/><Relationship Id="rId37" Type="http://schemas.openxmlformats.org/officeDocument/2006/relationships/image" Target="../media/image105.png"/><Relationship Id="rId40" Type="http://schemas.openxmlformats.org/officeDocument/2006/relationships/image" Target="../media/image67.png"/><Relationship Id="rId5" Type="http://schemas.openxmlformats.org/officeDocument/2006/relationships/image" Target="../media/image108.png"/><Relationship Id="rId15" Type="http://schemas.openxmlformats.org/officeDocument/2006/relationships/image" Target="../media/image87.png"/><Relationship Id="rId23" Type="http://schemas.openxmlformats.org/officeDocument/2006/relationships/image" Target="../media/image53.png"/><Relationship Id="rId28" Type="http://schemas.openxmlformats.org/officeDocument/2006/relationships/image" Target="../media/image14.png"/><Relationship Id="rId36" Type="http://schemas.openxmlformats.org/officeDocument/2006/relationships/image" Target="../media/image97.png"/><Relationship Id="rId10" Type="http://schemas.openxmlformats.org/officeDocument/2006/relationships/image" Target="../media/image83.png"/><Relationship Id="rId19" Type="http://schemas.openxmlformats.org/officeDocument/2006/relationships/image" Target="../media/image90.png"/><Relationship Id="rId31" Type="http://schemas.openxmlformats.org/officeDocument/2006/relationships/image" Target="../media/image109.png"/><Relationship Id="rId4" Type="http://schemas.openxmlformats.org/officeDocument/2006/relationships/image" Target="../media/image78.png"/><Relationship Id="rId9" Type="http://schemas.openxmlformats.org/officeDocument/2006/relationships/image" Target="../media/image82.png"/><Relationship Id="rId14" Type="http://schemas.openxmlformats.org/officeDocument/2006/relationships/image" Target="../media/image62.png"/><Relationship Id="rId22" Type="http://schemas.openxmlformats.org/officeDocument/2006/relationships/image" Target="../media/image93.png"/><Relationship Id="rId27" Type="http://schemas.openxmlformats.org/officeDocument/2006/relationships/image" Target="../media/image95.png"/><Relationship Id="rId30" Type="http://schemas.openxmlformats.org/officeDocument/2006/relationships/image" Target="../media/image100.png"/><Relationship Id="rId35" Type="http://schemas.openxmlformats.org/officeDocument/2006/relationships/image" Target="../media/image110.png"/><Relationship Id="rId8" Type="http://schemas.openxmlformats.org/officeDocument/2006/relationships/image" Target="../media/image8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890.png"/><Relationship Id="rId26" Type="http://schemas.openxmlformats.org/officeDocument/2006/relationships/image" Target="../media/image12.png"/><Relationship Id="rId39" Type="http://schemas.openxmlformats.org/officeDocument/2006/relationships/image" Target="../media/image77.png"/><Relationship Id="rId21" Type="http://schemas.openxmlformats.org/officeDocument/2006/relationships/image" Target="../media/image92.png"/><Relationship Id="rId34" Type="http://schemas.openxmlformats.org/officeDocument/2006/relationships/image" Target="../media/image101.png"/><Relationship Id="rId42" Type="http://schemas.openxmlformats.org/officeDocument/2006/relationships/image" Target="../media/image113.png"/><Relationship Id="rId7" Type="http://schemas.openxmlformats.org/officeDocument/2006/relationships/image" Target="../media/image80.png"/><Relationship Id="rId2" Type="http://schemas.openxmlformats.org/officeDocument/2006/relationships/image" Target="../media/image111.png"/><Relationship Id="rId16" Type="http://schemas.openxmlformats.org/officeDocument/2006/relationships/image" Target="../media/image88.png"/><Relationship Id="rId20" Type="http://schemas.openxmlformats.org/officeDocument/2006/relationships/image" Target="../media/image91.png"/><Relationship Id="rId29" Type="http://schemas.openxmlformats.org/officeDocument/2006/relationships/image" Target="../media/image96.png"/><Relationship Id="rId41"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84.png"/><Relationship Id="rId24" Type="http://schemas.openxmlformats.org/officeDocument/2006/relationships/image" Target="../media/image104.png"/><Relationship Id="rId32" Type="http://schemas.openxmlformats.org/officeDocument/2006/relationships/image" Target="../media/image54.png"/><Relationship Id="rId37" Type="http://schemas.openxmlformats.org/officeDocument/2006/relationships/image" Target="../media/image105.png"/><Relationship Id="rId40" Type="http://schemas.openxmlformats.org/officeDocument/2006/relationships/image" Target="../media/image67.png"/><Relationship Id="rId5" Type="http://schemas.openxmlformats.org/officeDocument/2006/relationships/image" Target="../media/image112.png"/><Relationship Id="rId15" Type="http://schemas.openxmlformats.org/officeDocument/2006/relationships/image" Target="../media/image87.png"/><Relationship Id="rId23" Type="http://schemas.openxmlformats.org/officeDocument/2006/relationships/image" Target="../media/image53.png"/><Relationship Id="rId28" Type="http://schemas.openxmlformats.org/officeDocument/2006/relationships/image" Target="../media/image14.png"/><Relationship Id="rId36" Type="http://schemas.openxmlformats.org/officeDocument/2006/relationships/image" Target="../media/image97.png"/><Relationship Id="rId10" Type="http://schemas.openxmlformats.org/officeDocument/2006/relationships/image" Target="../media/image83.png"/><Relationship Id="rId19" Type="http://schemas.openxmlformats.org/officeDocument/2006/relationships/image" Target="../media/image90.png"/><Relationship Id="rId31" Type="http://schemas.openxmlformats.org/officeDocument/2006/relationships/image" Target="../media/image109.png"/><Relationship Id="rId44" Type="http://schemas.openxmlformats.org/officeDocument/2006/relationships/image" Target="../media/image115.png"/><Relationship Id="rId4" Type="http://schemas.openxmlformats.org/officeDocument/2006/relationships/image" Target="../media/image78.png"/><Relationship Id="rId9" Type="http://schemas.openxmlformats.org/officeDocument/2006/relationships/image" Target="../media/image82.png"/><Relationship Id="rId14" Type="http://schemas.openxmlformats.org/officeDocument/2006/relationships/image" Target="../media/image62.png"/><Relationship Id="rId22" Type="http://schemas.openxmlformats.org/officeDocument/2006/relationships/image" Target="../media/image93.png"/><Relationship Id="rId27" Type="http://schemas.openxmlformats.org/officeDocument/2006/relationships/image" Target="../media/image95.png"/><Relationship Id="rId30" Type="http://schemas.openxmlformats.org/officeDocument/2006/relationships/image" Target="../media/image100.png"/><Relationship Id="rId43" Type="http://schemas.openxmlformats.org/officeDocument/2006/relationships/image" Target="../media/image114.png"/><Relationship Id="rId8" Type="http://schemas.openxmlformats.org/officeDocument/2006/relationships/image" Target="../media/image81.png"/><Relationship Id="rId12" Type="http://schemas.openxmlformats.org/officeDocument/2006/relationships/image" Target="../media/image85.png"/><Relationship Id="rId17" Type="http://schemas.openxmlformats.org/officeDocument/2006/relationships/image" Target="../media/image89.png"/><Relationship Id="rId25" Type="http://schemas.openxmlformats.org/officeDocument/2006/relationships/image" Target="../media/image940.png"/><Relationship Id="rId33" Type="http://schemas.openxmlformats.org/officeDocument/2006/relationships/image" Target="../media/image107.png"/><Relationship Id="rId38"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77C00F1B-B54B-9ADE-40B5-5B2FEA05E6A5}"/>
              </a:ext>
            </a:extLst>
          </p:cNvPr>
          <p:cNvSpPr/>
          <p:nvPr/>
        </p:nvSpPr>
        <p:spPr>
          <a:xfrm>
            <a:off x="232568" y="40523872"/>
            <a:ext cx="29775151" cy="1768016"/>
          </a:xfrm>
          <a:prstGeom prst="roundRect">
            <a:avLst>
              <a:gd name="adj" fmla="val 1856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grpSp>
        <p:nvGrpSpPr>
          <p:cNvPr id="23" name="グループ化 22">
            <a:extLst>
              <a:ext uri="{FF2B5EF4-FFF2-40B4-BE49-F238E27FC236}">
                <a16:creationId xmlns:a16="http://schemas.microsoft.com/office/drawing/2014/main" id="{30CE2818-1843-6F2A-80B7-05612BF68763}"/>
              </a:ext>
            </a:extLst>
          </p:cNvPr>
          <p:cNvGrpSpPr/>
          <p:nvPr/>
        </p:nvGrpSpPr>
        <p:grpSpPr>
          <a:xfrm>
            <a:off x="232570" y="2395271"/>
            <a:ext cx="14760000" cy="4055173"/>
            <a:chOff x="232570" y="2529741"/>
            <a:chExt cx="14760000" cy="4055173"/>
          </a:xfrm>
        </p:grpSpPr>
        <p:sp>
          <p:nvSpPr>
            <p:cNvPr id="10" name="四角形: 角を丸くする 9">
              <a:extLst>
                <a:ext uri="{FF2B5EF4-FFF2-40B4-BE49-F238E27FC236}">
                  <a16:creationId xmlns:a16="http://schemas.microsoft.com/office/drawing/2014/main" id="{27C6F926-3906-9907-52EE-E1D4D4E5F520}"/>
                </a:ext>
              </a:extLst>
            </p:cNvPr>
            <p:cNvSpPr/>
            <p:nvPr/>
          </p:nvSpPr>
          <p:spPr>
            <a:xfrm>
              <a:off x="232570" y="2928093"/>
              <a:ext cx="14760000" cy="3656821"/>
            </a:xfrm>
            <a:prstGeom prst="roundRect">
              <a:avLst>
                <a:gd name="adj" fmla="val 6375"/>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latin typeface="UD デジタル 教科書体 NK-R" panose="02020400000000000000" pitchFamily="18" charset="-128"/>
                  <a:ea typeface="UD デジタル 教科書体 NK-R" panose="02020400000000000000" pitchFamily="18" charset="-128"/>
                </a:rPr>
                <a:t>目的</a:t>
              </a:r>
            </a:p>
          </p:txBody>
        </p:sp>
        <p:sp>
          <p:nvSpPr>
            <p:cNvPr id="18" name="四角形: 角を丸くする 17">
              <a:extLst>
                <a:ext uri="{FF2B5EF4-FFF2-40B4-BE49-F238E27FC236}">
                  <a16:creationId xmlns:a16="http://schemas.microsoft.com/office/drawing/2014/main" id="{83F891FC-763A-95C7-C6BF-CC832CB33667}"/>
                </a:ext>
              </a:extLst>
            </p:cNvPr>
            <p:cNvSpPr/>
            <p:nvPr/>
          </p:nvSpPr>
          <p:spPr>
            <a:xfrm>
              <a:off x="528326" y="2529741"/>
              <a:ext cx="3159050" cy="797855"/>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背景・目的</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18" name="テキスト ボックス 117">
              <a:extLst>
                <a:ext uri="{FF2B5EF4-FFF2-40B4-BE49-F238E27FC236}">
                  <a16:creationId xmlns:a16="http://schemas.microsoft.com/office/drawing/2014/main" id="{72956B3B-BA4D-7529-D417-26D2225646DE}"/>
                </a:ext>
              </a:extLst>
            </p:cNvPr>
            <p:cNvSpPr txBox="1"/>
            <p:nvPr/>
          </p:nvSpPr>
          <p:spPr>
            <a:xfrm>
              <a:off x="506888" y="3468067"/>
              <a:ext cx="14214952" cy="3108543"/>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背景</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近年</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の研究が盛んに行われている</a:t>
              </a:r>
              <a:r>
                <a:rPr lang="en-US" altLang="ja-JP" sz="2800" dirty="0">
                  <a:latin typeface="UD デジタル 教科書体 NK-R" panose="02020400000000000000" pitchFamily="18" charset="-128"/>
                  <a:ea typeface="UD デジタル 教科書体 NK-R" panose="02020400000000000000" pitchFamily="18" charset="-128"/>
                </a:rPr>
                <a:t>[1, 2]</a:t>
              </a:r>
              <a:r>
                <a:rPr lang="ja-JP" altLang="en-US" sz="2800">
                  <a:latin typeface="UD デジタル 教科書体 NK-R" panose="02020400000000000000" pitchFamily="18" charset="-128"/>
                  <a:ea typeface="UD デジタル 教科書体 NK-R" panose="02020400000000000000" pitchFamily="18" charset="-128"/>
                </a:rPr>
                <a:t>．</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画像キャプションモデル</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の画像の特徴抽出機として，　</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のエンコーダを</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用いる方法が提案された</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において， </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の最適な構造に言及はない．</a:t>
              </a:r>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目的</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spc="-100">
                  <a:latin typeface="UD デジタル 教科書体 NK-R" panose="02020400000000000000" pitchFamily="18" charset="-128"/>
                  <a:ea typeface="UD デジタル 教科書体 NK-R" panose="02020400000000000000" pitchFamily="18" charset="-128"/>
                </a:rPr>
                <a:t>大喜利生成</a:t>
              </a:r>
              <a:r>
                <a:rPr lang="en-US" altLang="ja-JP" sz="2800" spc="-100" dirty="0">
                  <a:latin typeface="UD デジタル 教科書体 NK-R" panose="02020400000000000000" pitchFamily="18" charset="-128"/>
                  <a:ea typeface="UD デジタル 教科書体 NK-R" panose="02020400000000000000" pitchFamily="18" charset="-128"/>
                </a:rPr>
                <a:t>AI</a:t>
              </a:r>
              <a:r>
                <a:rPr lang="ja-JP" altLang="en-US" sz="2800" spc="-100">
                  <a:latin typeface="UD デジタル 教科書体 NK-R" panose="02020400000000000000" pitchFamily="18" charset="-128"/>
                  <a:ea typeface="UD デジタル 教科書体 NK-R" panose="02020400000000000000" pitchFamily="18" charset="-128"/>
                </a:rPr>
                <a:t>の画像の特徴抽出機として適した</a:t>
              </a:r>
              <a:r>
                <a:rPr lang="en-US" altLang="ja-JP" sz="2800" spc="-100" dirty="0" err="1">
                  <a:latin typeface="UD デジタル 教科書体 NK-R" panose="02020400000000000000" pitchFamily="18" charset="-128"/>
                  <a:ea typeface="UD デジタル 教科書体 NK-R" panose="02020400000000000000" pitchFamily="18" charset="-128"/>
                </a:rPr>
                <a:t>AutoEncoder</a:t>
              </a:r>
              <a:r>
                <a:rPr lang="ja-JP" altLang="en-US" sz="2800" spc="-100">
                  <a:latin typeface="UD デジタル 教科書体 NK-R" panose="02020400000000000000" pitchFamily="18" charset="-128"/>
                  <a:ea typeface="UD デジタル 教科書体 NK-R" panose="02020400000000000000" pitchFamily="18" charset="-128"/>
                </a:rPr>
                <a:t>の構造を模索する</a:t>
              </a:r>
              <a:endParaRPr lang="ja-JP" altLang="en-US" sz="2800" spc="-100" dirty="0">
                <a:latin typeface="UD デジタル 教科書体 NK-R" panose="02020400000000000000" pitchFamily="18" charset="-128"/>
                <a:ea typeface="UD デジタル 教科書体 NK-R" panose="02020400000000000000" pitchFamily="18" charset="-128"/>
              </a:endParaRPr>
            </a:p>
          </p:txBody>
        </p:sp>
      </p:grpSp>
      <p:grpSp>
        <p:nvGrpSpPr>
          <p:cNvPr id="28" name="グループ化 27">
            <a:extLst>
              <a:ext uri="{FF2B5EF4-FFF2-40B4-BE49-F238E27FC236}">
                <a16:creationId xmlns:a16="http://schemas.microsoft.com/office/drawing/2014/main" id="{F87861C1-0C99-1717-711E-12132D206667}"/>
              </a:ext>
            </a:extLst>
          </p:cNvPr>
          <p:cNvGrpSpPr/>
          <p:nvPr/>
        </p:nvGrpSpPr>
        <p:grpSpPr>
          <a:xfrm>
            <a:off x="860332" y="353705"/>
            <a:ext cx="28519621" cy="1873679"/>
            <a:chOff x="860332" y="353705"/>
            <a:chExt cx="28519621" cy="1873679"/>
          </a:xfrm>
        </p:grpSpPr>
        <p:grpSp>
          <p:nvGrpSpPr>
            <p:cNvPr id="8" name="グループ化 7">
              <a:extLst>
                <a:ext uri="{FF2B5EF4-FFF2-40B4-BE49-F238E27FC236}">
                  <a16:creationId xmlns:a16="http://schemas.microsoft.com/office/drawing/2014/main" id="{D217D156-E69B-2BDF-A462-41E6CA149116}"/>
                </a:ext>
              </a:extLst>
            </p:cNvPr>
            <p:cNvGrpSpPr/>
            <p:nvPr/>
          </p:nvGrpSpPr>
          <p:grpSpPr>
            <a:xfrm>
              <a:off x="946944" y="353705"/>
              <a:ext cx="28346400" cy="1683875"/>
              <a:chOff x="946944" y="353705"/>
              <a:chExt cx="28346400" cy="1683875"/>
            </a:xfrm>
          </p:grpSpPr>
          <p:sp>
            <p:nvSpPr>
              <p:cNvPr id="6" name="テキスト ボックス 5">
                <a:extLst>
                  <a:ext uri="{FF2B5EF4-FFF2-40B4-BE49-F238E27FC236}">
                    <a16:creationId xmlns:a16="http://schemas.microsoft.com/office/drawing/2014/main" id="{D0F93D02-78A6-D657-0BA1-CF2B85B44883}"/>
                  </a:ext>
                </a:extLst>
              </p:cNvPr>
              <p:cNvSpPr txBox="1"/>
              <p:nvPr/>
            </p:nvSpPr>
            <p:spPr>
              <a:xfrm>
                <a:off x="946944" y="353705"/>
                <a:ext cx="28346400" cy="830997"/>
              </a:xfrm>
              <a:prstGeom prst="rect">
                <a:avLst/>
              </a:prstGeom>
              <a:noFill/>
            </p:spPr>
            <p:txBody>
              <a:bodyPr wrap="square">
                <a:spAutoFit/>
              </a:bodyPr>
              <a:lstStyle/>
              <a:p>
                <a:pPr algn="ctr"/>
                <a:r>
                  <a:rPr kumimoji="1" lang="ja-JP" altLang="en-US" sz="4800">
                    <a:latin typeface="UD デジタル 教科書体 NK-R" panose="02020400000000000000" pitchFamily="18" charset="-128"/>
                    <a:ea typeface="UD デジタル 教科書体 NK-R" panose="02020400000000000000" pitchFamily="18" charset="-128"/>
                  </a:rPr>
                  <a:t>大喜利生成</a:t>
                </a:r>
                <a:r>
                  <a:rPr kumimoji="1" lang="en-US" altLang="ja-JP" sz="4800" dirty="0">
                    <a:latin typeface="UD デジタル 教科書体 NK-R" panose="02020400000000000000" pitchFamily="18" charset="-128"/>
                    <a:ea typeface="UD デジタル 教科書体 NK-R" panose="02020400000000000000" pitchFamily="18" charset="-128"/>
                  </a:rPr>
                  <a:t>AI</a:t>
                </a:r>
                <a:r>
                  <a:rPr kumimoji="1" lang="ja-JP" altLang="en-US" sz="4800">
                    <a:latin typeface="UD デジタル 教科書体 NK-R" panose="02020400000000000000" pitchFamily="18" charset="-128"/>
                    <a:ea typeface="UD デジタル 教科書体 NK-R" panose="02020400000000000000" pitchFamily="18" charset="-128"/>
                  </a:rPr>
                  <a:t>に適した</a:t>
                </a:r>
                <a:r>
                  <a:rPr kumimoji="1" lang="en-US" altLang="ja-JP" sz="4800" dirty="0" err="1">
                    <a:latin typeface="UD デジタル 教科書体 NK-R" panose="02020400000000000000" pitchFamily="18" charset="-128"/>
                    <a:ea typeface="UD デジタル 教科書体 NK-R" panose="02020400000000000000" pitchFamily="18" charset="-128"/>
                  </a:rPr>
                  <a:t>AutoEncoder</a:t>
                </a:r>
                <a:r>
                  <a:rPr kumimoji="1" lang="ja-JP" altLang="en-US" sz="4800">
                    <a:latin typeface="UD デジタル 教科書体 NK-R" panose="02020400000000000000" pitchFamily="18" charset="-128"/>
                    <a:ea typeface="UD デジタル 教科書体 NK-R" panose="02020400000000000000" pitchFamily="18" charset="-128"/>
                  </a:rPr>
                  <a:t>に関する研究</a:t>
                </a:r>
                <a:endParaRPr lang="ja-JP" altLang="en-US" sz="48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078920E-DE64-22FA-4A80-4CD39FAE4327}"/>
                      </a:ext>
                    </a:extLst>
                  </p:cNvPr>
                  <p:cNvSpPr txBox="1"/>
                  <p:nvPr/>
                </p:nvSpPr>
                <p:spPr>
                  <a:xfrm>
                    <a:off x="946944" y="1193246"/>
                    <a:ext cx="28346400" cy="844334"/>
                  </a:xfrm>
                  <a:prstGeom prst="rect">
                    <a:avLst/>
                  </a:prstGeom>
                  <a:noFill/>
                </p:spPr>
                <p:txBody>
                  <a:bodyPr wrap="square">
                    <a:spAutoFit/>
                  </a:bodyPr>
                  <a:lstStyle/>
                  <a:p>
                    <a:pPr algn="ctr"/>
                    <a:r>
                      <a:rPr kumimoji="1" lang="ja-JP" altLang="en-US" sz="4800" dirty="0">
                        <a:latin typeface="UD デジタル 教科書体 NK-R" panose="02020400000000000000" pitchFamily="18" charset="-128"/>
                        <a:ea typeface="UD デジタル 教科書体 NK-R" panose="02020400000000000000" pitchFamily="18" charset="-128"/>
                      </a:rPr>
                      <a:t>〇山富 龍</a:t>
                    </a:r>
                    <a14:m>
                      <m:oMath xmlns:m="http://schemas.openxmlformats.org/officeDocument/2006/math">
                        <m:sSup>
                          <m:sSupPr>
                            <m:ctrlPr>
                              <a:rPr kumimoji="1" lang="en-US" altLang="ja-JP" sz="4800" i="1" dirty="0" smtClean="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b="0" i="1" dirty="0" smtClean="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マハブービ シェヘラザード</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二宮 洋</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湘南工科大学</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p>
                </p:txBody>
              </p:sp>
            </mc:Choice>
            <mc:Fallback xmlns="">
              <p:sp>
                <p:nvSpPr>
                  <p:cNvPr id="7" name="テキスト ボックス 6">
                    <a:extLst>
                      <a:ext uri="{FF2B5EF4-FFF2-40B4-BE49-F238E27FC236}">
                        <a16:creationId xmlns:a16="http://schemas.microsoft.com/office/drawing/2014/main" id="{9078920E-DE64-22FA-4A80-4CD39FAE4327}"/>
                      </a:ext>
                    </a:extLst>
                  </p:cNvPr>
                  <p:cNvSpPr txBox="1">
                    <a:spLocks noRot="1" noChangeAspect="1" noMove="1" noResize="1" noEditPoints="1" noAdjustHandles="1" noChangeArrowheads="1" noChangeShapeType="1" noTextEdit="1"/>
                  </p:cNvSpPr>
                  <p:nvPr/>
                </p:nvSpPr>
                <p:spPr>
                  <a:xfrm>
                    <a:off x="946944" y="1193246"/>
                    <a:ext cx="28346400" cy="844334"/>
                  </a:xfrm>
                  <a:prstGeom prst="rect">
                    <a:avLst/>
                  </a:prstGeom>
                  <a:blipFill>
                    <a:blip r:embed="rId3"/>
                    <a:stretch>
                      <a:fillRect t="-15217" b="-37681"/>
                    </a:stretch>
                  </a:blipFill>
                </p:spPr>
                <p:txBody>
                  <a:bodyPr/>
                  <a:lstStyle/>
                  <a:p>
                    <a:r>
                      <a:rPr lang="ja-JP" altLang="en-US">
                        <a:noFill/>
                      </a:rPr>
                      <a:t> </a:t>
                    </a:r>
                  </a:p>
                </p:txBody>
              </p:sp>
            </mc:Fallback>
          </mc:AlternateContent>
        </p:grpSp>
        <p:cxnSp>
          <p:nvCxnSpPr>
            <p:cNvPr id="26" name="直線コネクタ 25">
              <a:extLst>
                <a:ext uri="{FF2B5EF4-FFF2-40B4-BE49-F238E27FC236}">
                  <a16:creationId xmlns:a16="http://schemas.microsoft.com/office/drawing/2014/main" id="{385AD9CF-B811-3DA0-D6B9-519BE9FF2F17}"/>
                </a:ext>
              </a:extLst>
            </p:cNvPr>
            <p:cNvCxnSpPr/>
            <p:nvPr/>
          </p:nvCxnSpPr>
          <p:spPr>
            <a:xfrm>
              <a:off x="860332" y="2227384"/>
              <a:ext cx="28519621" cy="0"/>
            </a:xfrm>
            <a:prstGeom prst="line">
              <a:avLst/>
            </a:prstGeom>
            <a:ln w="762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9" name="グループ化 28">
            <a:extLst>
              <a:ext uri="{FF2B5EF4-FFF2-40B4-BE49-F238E27FC236}">
                <a16:creationId xmlns:a16="http://schemas.microsoft.com/office/drawing/2014/main" id="{CE582D28-B8C7-184A-8907-3F8DB7980B3A}"/>
              </a:ext>
            </a:extLst>
          </p:cNvPr>
          <p:cNvGrpSpPr/>
          <p:nvPr/>
        </p:nvGrpSpPr>
        <p:grpSpPr>
          <a:xfrm>
            <a:off x="212937" y="6731591"/>
            <a:ext cx="14760000" cy="33587938"/>
            <a:chOff x="191499" y="4380114"/>
            <a:chExt cx="14760000" cy="33587938"/>
          </a:xfrm>
        </p:grpSpPr>
        <p:sp>
          <p:nvSpPr>
            <p:cNvPr id="30" name="四角形: 角を丸くする 29">
              <a:extLst>
                <a:ext uri="{FF2B5EF4-FFF2-40B4-BE49-F238E27FC236}">
                  <a16:creationId xmlns:a16="http://schemas.microsoft.com/office/drawing/2014/main" id="{3337E6AE-FD4C-7BA6-9BB0-42A2F8FA8691}"/>
                </a:ext>
              </a:extLst>
            </p:cNvPr>
            <p:cNvSpPr/>
            <p:nvPr/>
          </p:nvSpPr>
          <p:spPr>
            <a:xfrm>
              <a:off x="191499" y="4755865"/>
              <a:ext cx="14760000" cy="33212187"/>
            </a:xfrm>
            <a:prstGeom prst="roundRect">
              <a:avLst>
                <a:gd name="adj" fmla="val 245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31" name="四角形: 角を丸くする 30">
              <a:extLst>
                <a:ext uri="{FF2B5EF4-FFF2-40B4-BE49-F238E27FC236}">
                  <a16:creationId xmlns:a16="http://schemas.microsoft.com/office/drawing/2014/main" id="{946408B4-3F6B-5E5B-91E5-DE0AC41DEBB8}"/>
                </a:ext>
              </a:extLst>
            </p:cNvPr>
            <p:cNvSpPr/>
            <p:nvPr/>
          </p:nvSpPr>
          <p:spPr>
            <a:xfrm>
              <a:off x="506889" y="4380114"/>
              <a:ext cx="2824474" cy="768330"/>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関連研究</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7D06BDE7-BADC-0589-E24F-85B1071B5196}"/>
                    </a:ext>
                  </a:extLst>
                </p:cNvPr>
                <p:cNvSpPr txBox="1"/>
                <p:nvPr/>
              </p:nvSpPr>
              <p:spPr>
                <a:xfrm>
                  <a:off x="318218" y="5375836"/>
                  <a:ext cx="14403622" cy="29679343"/>
                </a:xfrm>
                <a:prstGeom prst="rect">
                  <a:avLst/>
                </a:prstGeom>
                <a:noFill/>
              </p:spPr>
              <p:txBody>
                <a:bodyPr wrap="square">
                  <a:spAutoFit/>
                </a:bodyPr>
                <a:lstStyle/>
                <a:p>
                  <a:r>
                    <a:rPr lang="ja-JP" altLang="en-US" sz="3200">
                      <a:latin typeface="UD Digi Kyokasho NK-R" panose="02020400000000000000" pitchFamily="18" charset="-128"/>
                      <a:ea typeface="UD Digi Kyokasho NK-R" panose="02020400000000000000" pitchFamily="18" charset="-128"/>
                    </a:rPr>
                    <a:t>画像キャプションモデル</a:t>
                  </a:r>
                  <a:r>
                    <a:rPr lang="en-US" altLang="ja-JP" sz="3200" dirty="0">
                      <a:latin typeface="UD Digi Kyokasho NK-R" panose="02020400000000000000" pitchFamily="18" charset="-128"/>
                      <a:ea typeface="UD Digi Kyokasho NK-R" panose="02020400000000000000" pitchFamily="18" charset="-128"/>
                    </a:rPr>
                    <a:t>[3]</a:t>
                  </a:r>
                </a:p>
                <a:p>
                  <a:pPr lvl="1"/>
                  <a:r>
                    <a:rPr lang="ja-JP" altLang="en-US" sz="2800">
                      <a:latin typeface="UD Digi Kyokasho NK-R" panose="02020400000000000000" pitchFamily="18" charset="-128"/>
                      <a:ea typeface="UD Digi Kyokasho NK-R" panose="02020400000000000000" pitchFamily="18" charset="-128"/>
                    </a:rPr>
                    <a:t>画像に対し文章を生成するモデル</a:t>
                  </a:r>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画像</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𝑤</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文章の</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番目の単語</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𝑟</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時点の内部状態</a:t>
                  </a:r>
                  <a:endParaRPr kumimoji="1" lang="en-US" altLang="ja-JP" sz="2800" dirty="0">
                    <a:latin typeface="UD Digi Kyokasho NK-R" panose="02020400000000000000" pitchFamily="18" charset="-128"/>
                    <a:ea typeface="UD Digi Kyokasho NK-R" panose="02020400000000000000" pitchFamily="18" charset="-128"/>
                  </a:endParaRPr>
                </a:p>
                <a:p>
                  <a:endParaRPr kumimoji="1" lang="en-US" altLang="ja-JP" sz="2800" dirty="0">
                    <a:latin typeface="UD Digi Kyokasho NK-R" panose="02020400000000000000" pitchFamily="18" charset="-128"/>
                    <a:ea typeface="UD Digi Kyokasho NK-R" panose="02020400000000000000" pitchFamily="18" charset="-128"/>
                  </a:endParaRPr>
                </a:p>
                <a:p>
                  <a:r>
                    <a:rPr kumimoji="1" lang="en-US" altLang="ja-JP" sz="3200" dirty="0" err="1">
                      <a:latin typeface="UD Digi Kyokasho NK-R" panose="02020400000000000000" pitchFamily="18" charset="-128"/>
                      <a:ea typeface="UD Digi Kyokasho NK-R" panose="02020400000000000000" pitchFamily="18" charset="-128"/>
                    </a:rPr>
                    <a:t>AutoEncoder</a:t>
                  </a:r>
                  <a:r>
                    <a:rPr kumimoji="1" lang="en-US" altLang="ja-JP" sz="3200" dirty="0">
                      <a:latin typeface="UD Digi Kyokasho NK-R" panose="02020400000000000000" pitchFamily="18" charset="-128"/>
                      <a:ea typeface="UD Digi Kyokasho NK-R" panose="02020400000000000000" pitchFamily="18" charset="-128"/>
                    </a:rPr>
                    <a:t>[4]</a:t>
                  </a:r>
                </a:p>
                <a:p>
                  <a:pPr lvl="1"/>
                  <a:r>
                    <a:rPr kumimoji="1" lang="ja-JP" altLang="en-US" sz="2800">
                      <a:latin typeface="UD Digi Kyokasho NK-R" panose="02020400000000000000" pitchFamily="18" charset="-128"/>
                      <a:ea typeface="UD Digi Kyokasho NK-R" panose="02020400000000000000" pitchFamily="18" charset="-128"/>
                    </a:rPr>
                    <a:t>データの特徴抽出， 次元圧縮が可能なモデル</a:t>
                  </a:r>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a:latin typeface="UD Digi Kyokasho NK-R" panose="02020400000000000000" pitchFamily="18" charset="-128"/>
                      <a:ea typeface="UD Digi Kyokasho NK-R" panose="02020400000000000000" pitchFamily="18" charset="-128"/>
                    </a:rPr>
                    <a:t>入力されたデータを復元するように学習する</a:t>
                  </a:r>
                  <a:endParaRPr kumimoji="1" lang="en-US" altLang="ja-JP" sz="2800" dirty="0">
                    <a:latin typeface="UD Digi Kyokasho NK-R" panose="02020400000000000000" pitchFamily="18" charset="-128"/>
                    <a:ea typeface="UD Digi Kyokasho NK-R" panose="02020400000000000000" pitchFamily="18" charset="-128"/>
                  </a:endParaRPr>
                </a:p>
                <a:p>
                  <a:endParaRPr kumimoji="1" lang="ja-JP" altLang="en-US"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pPr/>
                  <a14:m>
                    <m:oMathPara xmlns:m="http://schemas.openxmlformats.org/officeDocument/2006/math">
                      <m:oMathParaPr>
                        <m:jc m:val="centerGroup"/>
                      </m:oMathParaPr>
                      <m:oMath xmlns:m="http://schemas.openxmlformats.org/officeDocument/2006/math">
                        <m:eqArr>
                          <m:eqArrPr>
                            <m:ctrlPr>
                              <a:rPr lang="en-US" altLang="ja-JP" sz="2800" b="0" i="1" smtClean="0">
                                <a:latin typeface="Cambria Math" panose="02040503050406030204" pitchFamily="18" charset="0"/>
                                <a:ea typeface="UD Digi Kyokasho NK-R" panose="02020400000000000000" pitchFamily="18" charset="-128"/>
                              </a:rPr>
                            </m:ctrlPr>
                          </m:eqArrPr>
                          <m:e>
                            <m:func>
                              <m:funcPr>
                                <m:ctrlPr>
                                  <a:rPr lang="en-US" altLang="ja-JP" sz="2800" b="0" i="1" smtClean="0">
                                    <a:latin typeface="Cambria Math" panose="02040503050406030204" pitchFamily="18" charset="0"/>
                                    <a:ea typeface="UD Digi Kyokasho NK-R" panose="02020400000000000000" pitchFamily="18" charset="-128"/>
                                  </a:rPr>
                                </m:ctrlPr>
                              </m:funcPr>
                              <m:fName>
                                <m:limLow>
                                  <m:limLowPr>
                                    <m:ctrlPr>
                                      <a:rPr lang="en-US" altLang="ja-JP" sz="2800" b="0" i="1" smtClean="0">
                                        <a:latin typeface="Cambria Math" panose="02040503050406030204" pitchFamily="18" charset="0"/>
                                        <a:ea typeface="UD Digi Kyokasho NK-R" panose="02020400000000000000" pitchFamily="18" charset="-128"/>
                                      </a:rPr>
                                    </m:ctrlPr>
                                  </m:limLowPr>
                                  <m:e>
                                    <m:r>
                                      <m:rPr>
                                        <m:sty m:val="p"/>
                                      </m:rPr>
                                      <a:rPr lang="en-US" altLang="ja-JP" sz="2800" b="0" i="0" smtClean="0">
                                        <a:latin typeface="Cambria Math" panose="02040503050406030204" pitchFamily="18" charset="0"/>
                                        <a:ea typeface="UD Digi Kyokasho NK-R" panose="02020400000000000000" pitchFamily="18" charset="-128"/>
                                      </a:rPr>
                                      <m:t>min</m:t>
                                    </m:r>
                                  </m:e>
                                  <m:lim>
                                    <m:sSub>
                                      <m:sSubPr>
                                        <m:ctrlPr>
                                          <a:rPr lang="en-US" altLang="ja-JP" sz="2800" b="0" i="1" smtClean="0">
                                            <a:latin typeface="Cambria Math" panose="02040503050406030204" pitchFamily="18" charset="0"/>
                                            <a:ea typeface="UD Digi Kyokasho NK-R" panose="02020400000000000000" pitchFamily="18" charset="-128"/>
                                          </a:rPr>
                                        </m:ctrlPr>
                                      </m:sSubPr>
                                      <m:e>
                                        <m:r>
                                          <a:rPr lang="en-US" altLang="ja-JP" sz="2800" b="1" i="0" smtClean="0">
                                            <a:latin typeface="Cambria Math" panose="02040503050406030204" pitchFamily="18" charset="0"/>
                                            <a:ea typeface="UD Digi Kyokasho NK-R" panose="02020400000000000000" pitchFamily="18" charset="-128"/>
                                          </a:rPr>
                                          <m:t>𝐰</m:t>
                                        </m:r>
                                      </m:e>
                                      <m:sub>
                                        <m:r>
                                          <a:rPr lang="en-US" altLang="ja-JP" sz="2800" b="0" i="1" smtClean="0">
                                            <a:latin typeface="Cambria Math" panose="02040503050406030204" pitchFamily="18" charset="0"/>
                                            <a:ea typeface="UD Digi Kyokasho NK-R" panose="02020400000000000000" pitchFamily="18" charset="-128"/>
                                          </a:rPr>
                                          <m:t>𝑒</m:t>
                                        </m:r>
                                      </m:sub>
                                    </m:sSub>
                                    <m:r>
                                      <a:rPr lang="en-US" altLang="ja-JP" sz="2800" b="0" i="1" smtClean="0">
                                        <a:latin typeface="Cambria Math" panose="02040503050406030204" pitchFamily="18" charset="0"/>
                                        <a:ea typeface="UD Digi Kyokasho NK-R" panose="02020400000000000000" pitchFamily="18" charset="-128"/>
                                      </a:rPr>
                                      <m:t>,</m:t>
                                    </m:r>
                                    <m:sSub>
                                      <m:sSubPr>
                                        <m:ctrlPr>
                                          <a:rPr lang="en-US" altLang="ja-JP" sz="2800" b="0" i="1" smtClean="0">
                                            <a:latin typeface="Cambria Math" panose="02040503050406030204" pitchFamily="18" charset="0"/>
                                            <a:ea typeface="UD Digi Kyokasho NK-R" panose="02020400000000000000" pitchFamily="18" charset="-128"/>
                                          </a:rPr>
                                        </m:ctrlPr>
                                      </m:sSubPr>
                                      <m:e>
                                        <m:r>
                                          <a:rPr lang="en-US" altLang="ja-JP" sz="2800" b="1" i="0" smtClean="0">
                                            <a:latin typeface="Cambria Math" panose="02040503050406030204" pitchFamily="18" charset="0"/>
                                            <a:ea typeface="UD Digi Kyokasho NK-R" panose="02020400000000000000" pitchFamily="18" charset="-128"/>
                                          </a:rPr>
                                          <m:t>𝐰</m:t>
                                        </m:r>
                                      </m:e>
                                      <m:sub>
                                        <m:r>
                                          <a:rPr lang="en-US" altLang="ja-JP" sz="2800" b="0" i="1" smtClean="0">
                                            <a:latin typeface="Cambria Math" panose="02040503050406030204" pitchFamily="18" charset="0"/>
                                            <a:ea typeface="UD Digi Kyokasho NK-R" panose="02020400000000000000" pitchFamily="18" charset="-128"/>
                                          </a:rPr>
                                          <m:t>𝑑</m:t>
                                        </m:r>
                                      </m:sub>
                                    </m:sSub>
                                  </m:lim>
                                </m:limLow>
                              </m:fName>
                              <m:e>
                                <m:sSub>
                                  <m:sSubPr>
                                    <m:ctrlPr>
                                      <a:rPr lang="en-US" altLang="ja-JP" sz="2800" b="0" i="1" smtClean="0">
                                        <a:latin typeface="Cambria Math" panose="02040503050406030204" pitchFamily="18" charset="0"/>
                                        <a:ea typeface="UD Digi Kyokasho NK-R" panose="02020400000000000000" pitchFamily="18" charset="-128"/>
                                      </a:rPr>
                                    </m:ctrlPr>
                                  </m:sSubPr>
                                  <m:e>
                                    <m:r>
                                      <a:rPr lang="en-US" altLang="ja-JP" sz="2800" b="0" i="1" smtClean="0">
                                        <a:latin typeface="Cambria Math" panose="02040503050406030204" pitchFamily="18" charset="0"/>
                                        <a:ea typeface="UD Digi Kyokasho NK-R" panose="02020400000000000000" pitchFamily="18" charset="-128"/>
                                      </a:rPr>
                                      <m:t>𝐸</m:t>
                                    </m:r>
                                  </m:e>
                                  <m:sub>
                                    <m:r>
                                      <a:rPr lang="en-US" altLang="ja-JP" sz="2800" b="0" i="1" smtClean="0">
                                        <a:latin typeface="Cambria Math" panose="02040503050406030204" pitchFamily="18" charset="0"/>
                                        <a:ea typeface="UD Digi Kyokasho NK-R" panose="02020400000000000000" pitchFamily="18" charset="-128"/>
                                      </a:rPr>
                                      <m:t>𝑀𝑆𝐸</m:t>
                                    </m:r>
                                  </m:sub>
                                </m:sSub>
                              </m:e>
                            </m:func>
                            <m:r>
                              <a:rPr lang="en-US" altLang="ja-JP" sz="2800" b="0" i="1" smtClean="0">
                                <a:latin typeface="Cambria Math" panose="02040503050406030204" pitchFamily="18" charset="0"/>
                                <a:ea typeface="UD Digi Kyokasho NK-R" panose="02020400000000000000" pitchFamily="18" charset="-128"/>
                              </a:rPr>
                              <m:t>=</m:t>
                            </m:r>
                            <m:f>
                              <m:fPr>
                                <m:ctrlPr>
                                  <a:rPr lang="en-US" altLang="ja-JP" sz="2800" i="1" smtClean="0">
                                    <a:latin typeface="Cambria Math" panose="02040503050406030204" pitchFamily="18" charset="0"/>
                                    <a:ea typeface="UD Digi Kyokasho NK-R" panose="02020400000000000000" pitchFamily="18" charset="-128"/>
                                  </a:rPr>
                                </m:ctrlPr>
                              </m:fPr>
                              <m:num>
                                <m:r>
                                  <a:rPr lang="en-US" altLang="ja-JP" sz="2800" b="0" i="1" smtClean="0">
                                    <a:latin typeface="Cambria Math" panose="02040503050406030204" pitchFamily="18" charset="0"/>
                                    <a:ea typeface="UD Digi Kyokasho NK-R" panose="02020400000000000000" pitchFamily="18" charset="-128"/>
                                  </a:rPr>
                                  <m:t>1</m:t>
                                </m:r>
                              </m:num>
                              <m:den>
                                <m:r>
                                  <a:rPr lang="en-US" altLang="ja-JP" sz="2800" b="0" i="1" smtClean="0">
                                    <a:latin typeface="Cambria Math" panose="02040503050406030204" pitchFamily="18" charset="0"/>
                                    <a:ea typeface="UD Digi Kyokasho NK-R" panose="02020400000000000000" pitchFamily="18" charset="-128"/>
                                  </a:rPr>
                                  <m:t>2</m:t>
                                </m:r>
                              </m:den>
                            </m:f>
                            <m:sSup>
                              <m:sSupPr>
                                <m:ctrlPr>
                                  <a:rPr lang="en-US" altLang="ja-JP" sz="2800" i="1" smtClean="0">
                                    <a:latin typeface="Cambria Math" panose="02040503050406030204" pitchFamily="18" charset="0"/>
                                    <a:ea typeface="UD Digi Kyokasho NK-R" panose="02020400000000000000" pitchFamily="18" charset="-128"/>
                                  </a:rPr>
                                </m:ctrlPr>
                              </m:sSupPr>
                              <m:e>
                                <m:r>
                                  <a:rPr lang="en-US" altLang="ja-JP" sz="2800" b="0" i="1" smtClean="0">
                                    <a:latin typeface="Cambria Math" panose="02040503050406030204" pitchFamily="18" charset="0"/>
                                    <a:ea typeface="UD Digi Kyokasho NK-R" panose="02020400000000000000" pitchFamily="18" charset="-128"/>
                                  </a:rPr>
                                  <m:t>(</m:t>
                                </m:r>
                                <m:r>
                                  <a:rPr kumimoji="1" lang="en-US" altLang="ja-JP" sz="2800" b="1">
                                    <a:latin typeface="Cambria Math" panose="02040503050406030204" pitchFamily="18" charset="0"/>
                                  </a:rPr>
                                  <m:t>𝐈</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𝑑𝑒𝑐</m:t>
                                </m:r>
                                <m:r>
                                  <m:rPr>
                                    <m:nor/>
                                  </m:rPr>
                                  <a:rPr kumimoji="1" lang="en-US" altLang="ja-JP" sz="2800" b="0" i="1" smtClean="0">
                                    <a:latin typeface="Cambria Math" panose="02040503050406030204" pitchFamily="18" charset="0"/>
                                  </a:rPr>
                                  <m:t>oder</m:t>
                                </m:r>
                                <m:r>
                                  <m:rPr>
                                    <m:nor/>
                                  </m:rPr>
                                  <a:rPr kumimoji="1" lang="en-US" altLang="ja-JP" sz="2800" b="0" smtClean="0">
                                    <a:latin typeface="Cambria Math" panose="02040503050406030204" pitchFamily="18" charset="0"/>
                                  </a:rPr>
                                  <m:t>(</m:t>
                                </m:r>
                                <m:r>
                                  <m:rPr>
                                    <m:nor/>
                                  </m:rPr>
                                  <a:rPr kumimoji="1" lang="en-US" altLang="ja-JP" sz="2800" b="0" i="1" smtClean="0">
                                    <a:latin typeface="Cambria Math" panose="02040503050406030204" pitchFamily="18" charset="0"/>
                                  </a:rPr>
                                  <m:t>encoder</m:t>
                                </m:r>
                                <m:r>
                                  <m:rPr>
                                    <m:nor/>
                                  </m:rPr>
                                  <a:rPr kumimoji="1" lang="en-US" altLang="ja-JP" sz="2800" b="0" smtClean="0">
                                    <a:latin typeface="Cambria Math" panose="02040503050406030204" pitchFamily="18" charset="0"/>
                                  </a:rPr>
                                  <m:t>(</m:t>
                                </m:r>
                                <m:r>
                                  <a:rPr kumimoji="1" lang="en-US" altLang="ja-JP" sz="2800" b="1">
                                    <a:latin typeface="Cambria Math" panose="02040503050406030204" pitchFamily="18" charset="0"/>
                                  </a:rPr>
                                  <m:t>𝐈</m:t>
                                </m:r>
                                <m:r>
                                  <m:rPr>
                                    <m:nor/>
                                  </m:rPr>
                                  <a:rPr kumimoji="1" lang="en-US" altLang="ja-JP" sz="2800" b="0" smtClean="0">
                                    <a:latin typeface="Cambria Math" panose="02040503050406030204" pitchFamily="18" charset="0"/>
                                  </a:rPr>
                                  <m:t>))</m:t>
                                </m:r>
                                <m:r>
                                  <m:rPr>
                                    <m:nor/>
                                  </m:rPr>
                                  <a:rPr kumimoji="1" lang="ja-JP" altLang="en-US" sz="2800" dirty="0"/>
                                  <m:t> </m:t>
                                </m:r>
                                <m:r>
                                  <a:rPr lang="en-US" altLang="ja-JP" sz="2800" b="0" i="1" smtClean="0">
                                    <a:latin typeface="Cambria Math" panose="02040503050406030204" pitchFamily="18" charset="0"/>
                                    <a:ea typeface="UD Digi Kyokasho NK-R" panose="02020400000000000000" pitchFamily="18" charset="-128"/>
                                  </a:rPr>
                                  <m:t>)</m:t>
                                </m:r>
                              </m:e>
                              <m:sup>
                                <m:r>
                                  <a:rPr lang="en-US" altLang="ja-JP" sz="2800" b="0" i="1" smtClean="0">
                                    <a:latin typeface="Cambria Math" panose="02040503050406030204" pitchFamily="18" charset="0"/>
                                    <a:ea typeface="UD Digi Kyokasho NK-R" panose="02020400000000000000" pitchFamily="18" charset="-128"/>
                                  </a:rPr>
                                  <m:t>2</m:t>
                                </m:r>
                              </m:sup>
                            </m:sSup>
                            <m:r>
                              <a:rPr lang="en-US" altLang="ja-JP" sz="2800" i="1" smtClean="0">
                                <a:latin typeface="Cambria Math" panose="02040503050406030204" pitchFamily="18" charset="0"/>
                                <a:ea typeface="UD Digi Kyokasho NK-R" panose="02020400000000000000" pitchFamily="18" charset="-128"/>
                              </a:rPr>
                              <m:t>#</m:t>
                            </m:r>
                            <m:d>
                              <m:dPr>
                                <m:ctrlPr>
                                  <a:rPr lang="en-US" altLang="ja-JP" sz="2800" b="0" i="1" smtClean="0">
                                    <a:latin typeface="Cambria Math" panose="02040503050406030204" pitchFamily="18" charset="0"/>
                                    <a:ea typeface="UD Digi Kyokasho NK-R" panose="02020400000000000000" pitchFamily="18" charset="-128"/>
                                  </a:rPr>
                                </m:ctrlPr>
                              </m:dPr>
                              <m:e>
                                <m:r>
                                  <a:rPr lang="en-US" altLang="ja-JP" sz="2800" b="0" i="1" smtClean="0">
                                    <a:latin typeface="Cambria Math" panose="02040503050406030204" pitchFamily="18" charset="0"/>
                                    <a:ea typeface="UD Digi Kyokasho NK-R" panose="02020400000000000000" pitchFamily="18" charset="-128"/>
                                  </a:rPr>
                                  <m:t>1</m:t>
                                </m:r>
                              </m:e>
                            </m:d>
                          </m:e>
                        </m:eqArr>
                      </m:oMath>
                    </m:oMathPara>
                  </a14:m>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入力</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a:latin typeface="Cambria Math" panose="02040503050406030204" pitchFamily="18" charset="0"/>
                        </a:rPr>
                        <m:t>𝑧</m:t>
                      </m:r>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特徴量</a:t>
                  </a:r>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lang="en-US" altLang="ja-JP" sz="2800" i="1">
                              <a:latin typeface="Cambria Math" panose="02040503050406030204" pitchFamily="18" charset="0"/>
                              <a:ea typeface="UD Digi Kyokasho NK-R" panose="02020400000000000000" pitchFamily="18" charset="-128"/>
                            </a:rPr>
                          </m:ctrlPr>
                        </m:sSubPr>
                        <m:e>
                          <m:r>
                            <a:rPr lang="en-US" altLang="ja-JP" sz="2800" b="1">
                              <a:latin typeface="Cambria Math" panose="02040503050406030204" pitchFamily="18" charset="0"/>
                              <a:ea typeface="UD Digi Kyokasho NK-R" panose="02020400000000000000" pitchFamily="18" charset="-128"/>
                            </a:rPr>
                            <m:t>𝐰</m:t>
                          </m:r>
                        </m:e>
                        <m:sub>
                          <m:r>
                            <a:rPr lang="en-US" altLang="ja-JP" sz="2800" i="1">
                              <a:latin typeface="Cambria Math" panose="02040503050406030204" pitchFamily="18" charset="0"/>
                              <a:ea typeface="UD Digi Kyokasho NK-R" panose="02020400000000000000" pitchFamily="18" charset="-128"/>
                            </a:rPr>
                            <m:t>𝑒</m:t>
                          </m:r>
                        </m:sub>
                      </m:sSub>
                      <m:r>
                        <a:rPr lang="en-US" altLang="ja-JP" sz="2800" i="1">
                          <a:latin typeface="Cambria Math" panose="02040503050406030204" pitchFamily="18" charset="0"/>
                          <a:ea typeface="UD Digi Kyokasho NK-R" panose="02020400000000000000" pitchFamily="18" charset="-128"/>
                        </a:rPr>
                        <m:t>,</m:t>
                      </m:r>
                      <m:sSub>
                        <m:sSubPr>
                          <m:ctrlPr>
                            <a:rPr lang="en-US" altLang="ja-JP" sz="2800" i="1">
                              <a:latin typeface="Cambria Math" panose="02040503050406030204" pitchFamily="18" charset="0"/>
                              <a:ea typeface="UD Digi Kyokasho NK-R" panose="02020400000000000000" pitchFamily="18" charset="-128"/>
                            </a:rPr>
                          </m:ctrlPr>
                        </m:sSubPr>
                        <m:e>
                          <m:r>
                            <a:rPr lang="en-US" altLang="ja-JP" sz="2800" b="1">
                              <a:latin typeface="Cambria Math" panose="02040503050406030204" pitchFamily="18" charset="0"/>
                              <a:ea typeface="UD Digi Kyokasho NK-R" panose="02020400000000000000" pitchFamily="18" charset="-128"/>
                            </a:rPr>
                            <m:t>𝐰</m:t>
                          </m:r>
                        </m:e>
                        <m:sub>
                          <m:r>
                            <a:rPr lang="en-US" altLang="ja-JP" sz="2800" i="1">
                              <a:latin typeface="Cambria Math" panose="02040503050406030204" pitchFamily="18" charset="0"/>
                              <a:ea typeface="UD Digi Kyokasho NK-R" panose="02020400000000000000" pitchFamily="18" charset="-128"/>
                            </a:rPr>
                            <m:t>𝑑</m:t>
                          </m:r>
                        </m:sub>
                      </m:sSub>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エンコーダとデコーダのパラメータ</a:t>
                  </a:r>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r>
                    <a:rPr lang="ja-JP" altLang="en-US" sz="3200">
                      <a:latin typeface="UD Digi Kyokasho NK-R" panose="02020400000000000000" pitchFamily="18" charset="-128"/>
                      <a:ea typeface="UD Digi Kyokasho NK-R" panose="02020400000000000000" pitchFamily="18" charset="-128"/>
                    </a:rPr>
                    <a:t>大喜利生成</a:t>
                  </a:r>
                  <a:r>
                    <a:rPr lang="en-US" altLang="ja-JP" sz="3200" dirty="0">
                      <a:latin typeface="UD Digi Kyokasho NK-R" panose="02020400000000000000" pitchFamily="18" charset="-128"/>
                      <a:ea typeface="UD Digi Kyokasho NK-R" panose="02020400000000000000" pitchFamily="18" charset="-128"/>
                    </a:rPr>
                    <a:t>AI</a:t>
                  </a:r>
                  <a:r>
                    <a:rPr lang="ja-JP" altLang="en-US" sz="3200">
                      <a:latin typeface="UD Digi Kyokasho NK-R" panose="02020400000000000000" pitchFamily="18" charset="-128"/>
                      <a:ea typeface="UD Digi Kyokasho NK-R" panose="02020400000000000000" pitchFamily="18" charset="-128"/>
                    </a:rPr>
                    <a:t>に関する研究</a:t>
                  </a:r>
                  <a:endParaRPr lang="en-US" altLang="ja-JP" sz="3200" dirty="0">
                    <a:latin typeface="UD Digi Kyokasho NK-R" panose="02020400000000000000" pitchFamily="18" charset="-128"/>
                    <a:ea typeface="UD Digi Kyokasho NK-R" panose="02020400000000000000" pitchFamily="18" charset="-128"/>
                  </a:endParaRPr>
                </a:p>
                <a:p>
                  <a:pPr lvl="1"/>
                  <a:r>
                    <a:rPr lang="en-US" altLang="ja-JP" sz="3200" dirty="0">
                      <a:latin typeface="UD Digi Kyokasho NK-R" panose="02020400000000000000" pitchFamily="18" charset="-128"/>
                      <a:ea typeface="UD Digi Kyokasho NK-R" panose="02020400000000000000" pitchFamily="18" charset="-128"/>
                    </a:rPr>
                    <a:t>1. Neural Joking Machine : Generating Humorous Caption[1]</a:t>
                  </a:r>
                </a:p>
                <a:p>
                  <a:pPr marL="914400" lvl="1" indent="-457200">
                    <a:buFont typeface="Arial" panose="020B0604020202020204" pitchFamily="34" charset="0"/>
                    <a:buChar char="•"/>
                  </a:pPr>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marL="1371600" lvl="2"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大喜利⇔画像のデータセットを</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サイトをスクレイピングし作成</a:t>
                  </a:r>
                  <a:endParaRPr lang="en-US" altLang="ja-JP" sz="2800" dirty="0">
                    <a:latin typeface="UD Digi Kyokasho NK-R" panose="02020400000000000000" pitchFamily="18" charset="-128"/>
                    <a:ea typeface="UD Digi Kyokasho NK-R" panose="02020400000000000000" pitchFamily="18" charset="-128"/>
                  </a:endParaRPr>
                </a:p>
                <a:p>
                  <a:pPr marL="1371600" lvl="2"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画像の特徴抽出器として事前学習済みの</a:t>
                  </a:r>
                  <a:r>
                    <a:rPr lang="en-US" altLang="ja-JP" sz="2800" dirty="0">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を使用</a:t>
                  </a:r>
                  <a:endParaRPr lang="en-US" altLang="ja-JP" sz="2800" dirty="0">
                    <a:latin typeface="UD Digi Kyokasho NK-R" panose="02020400000000000000" pitchFamily="18" charset="-128"/>
                    <a:ea typeface="UD Digi Kyokasho NK-R" panose="02020400000000000000" pitchFamily="18" charset="-128"/>
                  </a:endParaRPr>
                </a:p>
                <a:p>
                  <a:pPr marL="1371600" lvl="2"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一部の画像に対し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不適な単語を含む大喜利が生成される</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事前学習済み</a:t>
                  </a:r>
                  <a:r>
                    <a:rPr lang="en-US" altLang="ja-JP" sz="2800" dirty="0">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が</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特有のアニメ・マンガ画像に対し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特徴抽出できていない可能性がある</a:t>
                  </a:r>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3200" dirty="0">
                      <a:latin typeface="UD Digi Kyokasho NK-R" panose="02020400000000000000" pitchFamily="18" charset="-128"/>
                      <a:ea typeface="UD Digi Kyokasho NK-R" panose="02020400000000000000" pitchFamily="18" charset="-128"/>
                    </a:rPr>
                    <a:t>2. </a:t>
                  </a:r>
                  <a:r>
                    <a:rPr lang="en-US" altLang="ja-JP" sz="3200" dirty="0" err="1">
                      <a:latin typeface="UD Digi Kyokasho NK-R" panose="02020400000000000000" pitchFamily="18" charset="-128"/>
                      <a:ea typeface="UD Digi Kyokasho NK-R" panose="02020400000000000000" pitchFamily="18" charset="-128"/>
                    </a:rPr>
                    <a:t>AutoEncoder</a:t>
                  </a:r>
                  <a:r>
                    <a:rPr lang="ja-JP" altLang="en-US" sz="3200">
                      <a:latin typeface="UD Digi Kyokasho NK-R" panose="02020400000000000000" pitchFamily="18" charset="-128"/>
                      <a:ea typeface="UD Digi Kyokasho NK-R" panose="02020400000000000000" pitchFamily="18" charset="-128"/>
                    </a:rPr>
                    <a:t>と</a:t>
                  </a:r>
                  <a:r>
                    <a:rPr lang="en-US" altLang="ja-JP" sz="3200" dirty="0">
                      <a:latin typeface="UD Digi Kyokasho NK-R" panose="02020400000000000000" pitchFamily="18" charset="-128"/>
                      <a:ea typeface="UD Digi Kyokasho NK-R" panose="02020400000000000000" pitchFamily="18" charset="-128"/>
                    </a:rPr>
                    <a:t>Pix2Seq</a:t>
                  </a:r>
                  <a:r>
                    <a:rPr lang="ja-JP" altLang="en-US" sz="3200">
                      <a:latin typeface="UD Digi Kyokasho NK-R" panose="02020400000000000000" pitchFamily="18" charset="-128"/>
                      <a:ea typeface="UD Digi Kyokasho NK-R" panose="02020400000000000000" pitchFamily="18" charset="-128"/>
                    </a:rPr>
                    <a:t>を用いた大喜利生成</a:t>
                  </a:r>
                  <a:r>
                    <a:rPr lang="en-US" altLang="ja-JP" sz="3200" dirty="0">
                      <a:latin typeface="UD Digi Kyokasho NK-R" panose="02020400000000000000" pitchFamily="18" charset="-128"/>
                      <a:ea typeface="UD Digi Kyokasho NK-R" panose="02020400000000000000" pitchFamily="18" charset="-128"/>
                    </a:rPr>
                    <a:t>AI</a:t>
                  </a:r>
                  <a:r>
                    <a:rPr lang="ja-JP" altLang="en-US" sz="3200">
                      <a:latin typeface="UD Digi Kyokasho NK-R" panose="02020400000000000000" pitchFamily="18" charset="-128"/>
                      <a:ea typeface="UD Digi Kyokasho NK-R" panose="02020400000000000000" pitchFamily="18" charset="-128"/>
                    </a:rPr>
                    <a:t>の実装に関する研究</a:t>
                  </a:r>
                  <a:r>
                    <a:rPr lang="en-US" altLang="ja-JP" sz="3200" dirty="0">
                      <a:latin typeface="UD Digi Kyokasho NK-R" panose="02020400000000000000" pitchFamily="18" charset="-128"/>
                      <a:ea typeface="UD Digi Kyokasho NK-R" panose="02020400000000000000" pitchFamily="18" charset="-128"/>
                    </a:rPr>
                    <a:t>[2]</a:t>
                  </a:r>
                </a:p>
                <a:p>
                  <a:pPr marL="1371600" lvl="2" indent="-457200">
                    <a:buFont typeface="Arial" panose="020B0604020202020204" pitchFamily="34" charset="0"/>
                    <a:buChar char="•"/>
                  </a:pPr>
                  <a:r>
                    <a:rPr lang="en-US" altLang="ja-JP" sz="2800" dirty="0">
                      <a:latin typeface="UD Digi Kyokasho NK-R" panose="02020400000000000000" pitchFamily="18" charset="-128"/>
                      <a:ea typeface="UD Digi Kyokasho NK-R" panose="02020400000000000000" pitchFamily="18" charset="-128"/>
                    </a:rPr>
                    <a:t>[1]</a:t>
                  </a:r>
                  <a:r>
                    <a:rPr lang="ja-JP" altLang="en-US" sz="2800">
                      <a:latin typeface="UD Digi Kyokasho NK-R" panose="02020400000000000000" pitchFamily="18" charset="-128"/>
                      <a:ea typeface="UD Digi Kyokasho NK-R" panose="02020400000000000000" pitchFamily="18" charset="-128"/>
                    </a:rPr>
                    <a:t>の問題を解決するため</a:t>
                  </a:r>
                  <a:r>
                    <a:rPr lang="en-US" altLang="ja-JP" sz="2800" dirty="0">
                      <a:latin typeface="UD Digi Kyokasho NK-R" panose="02020400000000000000" pitchFamily="18" charset="-128"/>
                      <a:ea typeface="UD Digi Kyokasho NK-R" panose="02020400000000000000" pitchFamily="18" charset="-128"/>
                    </a:rPr>
                    <a:t>,</a:t>
                  </a:r>
                  <a:r>
                    <a:rPr lang="ja-JP" altLang="en-US" sz="2800">
                      <a:latin typeface="UD Digi Kyokasho NK-R" panose="02020400000000000000" pitchFamily="18" charset="-128"/>
                      <a:ea typeface="UD Digi Kyokasho NK-R" panose="02020400000000000000" pitchFamily="18" charset="-128"/>
                    </a:rPr>
                    <a:t>画像の特徴抽出機の改良を試みる</a:t>
                  </a:r>
                  <a:endParaRPr lang="en-US" altLang="ja-JP" sz="2800" dirty="0">
                    <a:latin typeface="UD Digi Kyokasho NK-R" panose="02020400000000000000" pitchFamily="18" charset="-128"/>
                    <a:ea typeface="UD Digi Kyokasho NK-R" panose="02020400000000000000" pitchFamily="18" charset="-128"/>
                  </a:endParaRPr>
                </a:p>
                <a:p>
                  <a:pPr marL="1371600" lvl="2"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事前に</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の画像で学習した</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のエンコーダを</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　　　　　　　　　　　　　　　　　画像の特徴抽出器とする</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新たな学習モデルを提案</a:t>
                  </a:r>
                  <a:endParaRPr lang="en-US" altLang="ja-JP" sz="2800" dirty="0">
                    <a:latin typeface="UD Digi Kyokasho NK-R" panose="02020400000000000000" pitchFamily="18" charset="-128"/>
                    <a:ea typeface="UD Digi Kyokasho NK-R" panose="02020400000000000000" pitchFamily="18" charset="-128"/>
                  </a:endParaRPr>
                </a:p>
                <a:p>
                  <a:pPr marL="1371600" lvl="2" indent="-457200">
                    <a:buFont typeface="Arial" panose="020B0604020202020204" pitchFamily="34" charset="0"/>
                    <a:buChar char="•"/>
                  </a:pPr>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r>
                    <a:rPr lang="ja-JP" altLang="en-US" sz="2800">
                      <a:latin typeface="UD Digi Kyokasho NK-R" panose="02020400000000000000" pitchFamily="18" charset="-128"/>
                      <a:ea typeface="UD Digi Kyokasho NK-R" panose="02020400000000000000" pitchFamily="18" charset="-128"/>
                    </a:rPr>
                    <a:t>大喜利⇔画像データセット</a:t>
                  </a:r>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画像</a:t>
                  </a:r>
                  <a:r>
                    <a:rPr lang="en-US" altLang="ja-JP" sz="2800" dirty="0">
                      <a:latin typeface="UD Digi Kyokasho NK-R" panose="02020400000000000000" pitchFamily="18" charset="-128"/>
                      <a:ea typeface="UD Digi Kyokasho NK-R" panose="02020400000000000000" pitchFamily="18" charset="-128"/>
                    </a:rPr>
                    <a:t> : 88,102</a:t>
                  </a:r>
                  <a:r>
                    <a:rPr lang="ja-JP" altLang="en-US" sz="2800">
                      <a:latin typeface="UD Digi Kyokasho NK-R" panose="02020400000000000000" pitchFamily="18" charset="-128"/>
                      <a:ea typeface="UD Digi Kyokasho NK-R" panose="02020400000000000000" pitchFamily="18" charset="-128"/>
                    </a:rPr>
                    <a:t>枚</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a:t>
                  </a:r>
                  <a:r>
                    <a:rPr lang="en-US" altLang="ja-JP" sz="2800" dirty="0">
                      <a:latin typeface="UD Digi Kyokasho NK-R" panose="02020400000000000000" pitchFamily="18" charset="-128"/>
                      <a:ea typeface="UD Digi Kyokasho NK-R" panose="02020400000000000000" pitchFamily="18" charset="-128"/>
                    </a:rPr>
                    <a:t> : 759,501</a:t>
                  </a:r>
                  <a:r>
                    <a:rPr lang="ja-JP" altLang="en-US" sz="2800">
                      <a:latin typeface="UD Digi Kyokasho NK-R" panose="02020400000000000000" pitchFamily="18" charset="-128"/>
                      <a:ea typeface="UD Digi Kyokasho NK-R" panose="02020400000000000000" pitchFamily="18" charset="-128"/>
                    </a:rPr>
                    <a:t>文章</a:t>
                  </a:r>
                  <a:r>
                    <a:rPr lang="en-US" altLang="ja-JP" sz="2800" dirty="0">
                      <a:latin typeface="UD Digi Kyokasho NK-R" panose="02020400000000000000" pitchFamily="18" charset="-128"/>
                      <a:ea typeface="UD Digi Kyokasho NK-R" panose="02020400000000000000" pitchFamily="18" charset="-128"/>
                    </a:rPr>
                    <a:t>)[5]</a:t>
                  </a:r>
                </a:p>
              </p:txBody>
            </p:sp>
          </mc:Choice>
          <mc:Fallback xmlns="">
            <p:sp>
              <p:nvSpPr>
                <p:cNvPr id="32" name="テキスト ボックス 31">
                  <a:extLst>
                    <a:ext uri="{FF2B5EF4-FFF2-40B4-BE49-F238E27FC236}">
                      <a16:creationId xmlns:a16="http://schemas.microsoft.com/office/drawing/2014/main" id="{7D06BDE7-BADC-0589-E24F-85B1071B5196}"/>
                    </a:ext>
                  </a:extLst>
                </p:cNvPr>
                <p:cNvSpPr txBox="1">
                  <a:spLocks noRot="1" noChangeAspect="1" noMove="1" noResize="1" noEditPoints="1" noAdjustHandles="1" noChangeArrowheads="1" noChangeShapeType="1" noTextEdit="1"/>
                </p:cNvSpPr>
                <p:nvPr/>
              </p:nvSpPr>
              <p:spPr>
                <a:xfrm>
                  <a:off x="318218" y="5375836"/>
                  <a:ext cx="14403622" cy="29679343"/>
                </a:xfrm>
                <a:prstGeom prst="rect">
                  <a:avLst/>
                </a:prstGeom>
                <a:blipFill>
                  <a:blip r:embed="rId4"/>
                  <a:stretch>
                    <a:fillRect l="-1056" t="-257" r="-880"/>
                  </a:stretch>
                </a:blipFill>
              </p:spPr>
              <p:txBody>
                <a:bodyPr/>
                <a:lstStyle/>
                <a:p>
                  <a:r>
                    <a:rPr lang="ja-JP" altLang="en-US">
                      <a:noFill/>
                    </a:rPr>
                    <a:t> </a:t>
                  </a:r>
                </a:p>
              </p:txBody>
            </p:sp>
          </mc:Fallback>
        </mc:AlternateContent>
      </p:grpSp>
      <p:grpSp>
        <p:nvGrpSpPr>
          <p:cNvPr id="34" name="グループ化 33">
            <a:extLst>
              <a:ext uri="{FF2B5EF4-FFF2-40B4-BE49-F238E27FC236}">
                <a16:creationId xmlns:a16="http://schemas.microsoft.com/office/drawing/2014/main" id="{C7FB90F9-473B-DBE3-6A8B-8777B7E770FE}"/>
              </a:ext>
            </a:extLst>
          </p:cNvPr>
          <p:cNvGrpSpPr/>
          <p:nvPr/>
        </p:nvGrpSpPr>
        <p:grpSpPr>
          <a:xfrm>
            <a:off x="15242062" y="2465608"/>
            <a:ext cx="14760000" cy="37853922"/>
            <a:chOff x="232568" y="5248316"/>
            <a:chExt cx="14760000" cy="37853922"/>
          </a:xfrm>
        </p:grpSpPr>
        <p:sp>
          <p:nvSpPr>
            <p:cNvPr id="35" name="四角形: 角を丸くする 34">
              <a:extLst>
                <a:ext uri="{FF2B5EF4-FFF2-40B4-BE49-F238E27FC236}">
                  <a16:creationId xmlns:a16="http://schemas.microsoft.com/office/drawing/2014/main" id="{47EECEA1-1146-F75F-B958-C642FAF77E57}"/>
                </a:ext>
              </a:extLst>
            </p:cNvPr>
            <p:cNvSpPr/>
            <p:nvPr/>
          </p:nvSpPr>
          <p:spPr>
            <a:xfrm>
              <a:off x="232568" y="5607880"/>
              <a:ext cx="14760000" cy="37494358"/>
            </a:xfrm>
            <a:prstGeom prst="roundRect">
              <a:avLst>
                <a:gd name="adj" fmla="val 1854"/>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36" name="四角形: 角を丸くする 35">
              <a:extLst>
                <a:ext uri="{FF2B5EF4-FFF2-40B4-BE49-F238E27FC236}">
                  <a16:creationId xmlns:a16="http://schemas.microsoft.com/office/drawing/2014/main" id="{7F035820-E432-DA19-702C-74373820AD4B}"/>
                </a:ext>
              </a:extLst>
            </p:cNvPr>
            <p:cNvSpPr/>
            <p:nvPr/>
          </p:nvSpPr>
          <p:spPr>
            <a:xfrm>
              <a:off x="506888" y="5248316"/>
              <a:ext cx="1528972" cy="797856"/>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実験</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3CBE4EA-6A45-2DF9-9C9B-750731A73354}"/>
                    </a:ext>
                  </a:extLst>
                </p:cNvPr>
                <p:cNvSpPr txBox="1"/>
                <p:nvPr/>
              </p:nvSpPr>
              <p:spPr>
                <a:xfrm>
                  <a:off x="506888" y="6188617"/>
                  <a:ext cx="14381884" cy="31474001"/>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実験目的</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で使用されている</a:t>
                  </a:r>
                  <a:r>
                    <a:rPr lang="en-US" altLang="ja-JP" sz="2800" dirty="0">
                      <a:latin typeface="UD デジタル 教科書体 NK-R" panose="02020400000000000000" pitchFamily="18" charset="-128"/>
                      <a:ea typeface="UD デジタル 教科書体 NK-R" panose="02020400000000000000" pitchFamily="18" charset="-128"/>
                    </a:rPr>
                    <a:t>ResNet152</a:t>
                  </a:r>
                  <a:r>
                    <a:rPr lang="ja-JP" altLang="en-US" sz="2800">
                      <a:latin typeface="UD デジタル 教科書体 NK-R" panose="02020400000000000000" pitchFamily="18" charset="-128"/>
                      <a:ea typeface="UD デジタル 教科書体 NK-R" panose="02020400000000000000" pitchFamily="18" charset="-128"/>
                    </a:rPr>
                    <a:t>のパラメータ数</a:t>
                  </a:r>
                  <a:r>
                    <a:rPr lang="en-US" altLang="ja-JP" sz="2800" dirty="0">
                      <a:latin typeface="UD デジタル 教科書体 NK-R" panose="02020400000000000000" pitchFamily="18" charset="-128"/>
                      <a:ea typeface="UD デジタル 教科書体 NK-R" panose="02020400000000000000" pitchFamily="18" charset="-128"/>
                    </a:rPr>
                    <a:t>58,370,944</a:t>
                  </a:r>
                  <a:r>
                    <a:rPr lang="ja-JP" altLang="en-US" sz="2800">
                      <a:latin typeface="UD デジタル 教科書体 NK-R" panose="02020400000000000000" pitchFamily="18" charset="-128"/>
                      <a:ea typeface="UD デジタル 教科書体 NK-R" panose="02020400000000000000" pitchFamily="18" charset="-128"/>
                    </a:rPr>
                    <a:t>より</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パラメータ数が少なく， 高性能な</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のエンコーダを模索</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 : </a:t>
                  </a:r>
                  <a:r>
                    <a:rPr lang="ja-JP" altLang="en-US" sz="2800">
                      <a:latin typeface="UD デジタル 教科書体 NK-R" panose="02020400000000000000" pitchFamily="18" charset="-128"/>
                      <a:ea typeface="UD デジタル 教科書体 NK-R" panose="02020400000000000000" pitchFamily="18" charset="-128"/>
                    </a:rPr>
                    <a:t>畳み込み層の数を変更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 </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特徴量次元数</a:t>
                  </a:r>
                  <a:r>
                    <a:rPr lang="en-US" altLang="ja-JP" sz="2800" dirty="0">
                      <a:latin typeface="UD デジタル 教科書体 NK-R" panose="02020400000000000000" pitchFamily="18" charset="-128"/>
                      <a:ea typeface="UD デジタル 教科書体 NK-R" panose="02020400000000000000" pitchFamily="18" charset="-128"/>
                    </a:rPr>
                    <a:t> : 2048</a:t>
                  </a: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p>
                <a:p>
                  <a:pPr lvl="1"/>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𝐿</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何層目か</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結果　検証誤差を比較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 : </a:t>
                  </a:r>
                  <a:r>
                    <a:rPr lang="ja-JP" altLang="en-US" sz="2800">
                      <a:latin typeface="UD デジタル 教科書体 NK-R" panose="02020400000000000000" pitchFamily="18" charset="-128"/>
                      <a:ea typeface="UD デジタル 教科書体 NK-R" panose="02020400000000000000" pitchFamily="18" charset="-128"/>
                    </a:rPr>
                    <a:t>特徴量の次元数を変更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畳み込み層の数</a:t>
                  </a:r>
                  <a:r>
                    <a:rPr lang="en-US" altLang="ja-JP" sz="2800" dirty="0">
                      <a:latin typeface="UD デジタル 教科書体 NK-R" panose="02020400000000000000" pitchFamily="18" charset="-128"/>
                      <a:ea typeface="UD デジタル 教科書体 NK-R" panose="02020400000000000000" pitchFamily="18" charset="-128"/>
                    </a:rPr>
                    <a:t> : 5</a:t>
                  </a:r>
                  <a:r>
                    <a:rPr lang="ja-JP" altLang="en-US" sz="2800">
                      <a:latin typeface="UD デジタル 教科書体 NK-R" panose="02020400000000000000" pitchFamily="18" charset="-128"/>
                      <a:ea typeface="UD デジタル 教科書体 NK-R" panose="02020400000000000000" pitchFamily="18" charset="-128"/>
                    </a:rPr>
                    <a:t>層</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p>
                <a:p>
                  <a:pPr lvl="1"/>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𝐿</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何層目か</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結果</a:t>
                  </a:r>
                  <a:r>
                    <a:rPr lang="en-US" altLang="ja-JP" sz="2800" dirty="0">
                      <a:latin typeface="UD デジタル 教科書体 NK-R" panose="02020400000000000000" pitchFamily="18" charset="-128"/>
                      <a:ea typeface="UD デジタル 教科書体 NK-R" panose="02020400000000000000" pitchFamily="18" charset="-128"/>
                    </a:rPr>
                    <a:t>(ⅰ)</a:t>
                  </a:r>
                  <a:r>
                    <a:rPr lang="ja-JP" altLang="en-US" sz="2800">
                      <a:latin typeface="UD デジタル 教科書体 NK-R" panose="02020400000000000000" pitchFamily="18" charset="-128"/>
                      <a:ea typeface="UD デジタル 教科書体 NK-R" panose="02020400000000000000" pitchFamily="18" charset="-128"/>
                    </a:rPr>
                    <a:t>　検証誤差</a:t>
                  </a:r>
                  <a:r>
                    <a:rPr lang="en-US" altLang="ja-JP" sz="2800" dirty="0">
                      <a:latin typeface="UD デジタル 教科書体 NK-R" panose="02020400000000000000" pitchFamily="18" charset="-128"/>
                      <a:ea typeface="UD デジタル 教科書体 NK-R" panose="02020400000000000000" pitchFamily="18" charset="-128"/>
                    </a:rPr>
                    <a:t>, FID</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err="1">
                      <a:latin typeface="UD デジタル 教科書体 NK-R" panose="02020400000000000000" pitchFamily="18" charset="-128"/>
                      <a:ea typeface="UD デジタル 教科書体 NK-R" panose="02020400000000000000" pitchFamily="18" charset="-128"/>
                    </a:rPr>
                    <a:t>Frechet</a:t>
                  </a:r>
                  <a:r>
                    <a:rPr lang="en-US" altLang="ja-JP" sz="2800" dirty="0">
                      <a:latin typeface="UD デジタル 教科書体 NK-R" panose="02020400000000000000" pitchFamily="18" charset="-128"/>
                      <a:ea typeface="UD デジタル 教科書体 NK-R" panose="02020400000000000000" pitchFamily="18" charset="-128"/>
                    </a:rPr>
                    <a:t> Inception Distance(FID)</a:t>
                  </a:r>
                </a:p>
                <a:p>
                  <a:pPr lvl="2"/>
                  <a:r>
                    <a:rPr lang="ja-JP" altLang="en-US" sz="2800">
                      <a:latin typeface="UD デジタル 教科書体 NK-R" panose="02020400000000000000" pitchFamily="18" charset="-128"/>
                      <a:ea typeface="UD デジタル 教科書体 NK-R" panose="02020400000000000000" pitchFamily="18" charset="-128"/>
                    </a:rPr>
                    <a:t>画像群</a:t>
                  </a:r>
                  <a:r>
                    <a:rPr lang="en-US" altLang="ja-JP" sz="2800" dirty="0">
                      <a:latin typeface="UD デジタル 教科書体 NK-R" panose="02020400000000000000" pitchFamily="18" charset="-128"/>
                      <a:ea typeface="UD デジタル 教科書体 NK-R" panose="02020400000000000000" pitchFamily="18" charset="-128"/>
                    </a:rPr>
                    <a:t>A</a:t>
                  </a:r>
                  <a:r>
                    <a:rPr lang="ja-JP" altLang="en-US" sz="2800">
                      <a:latin typeface="UD デジタル 教科書体 NK-R" panose="02020400000000000000" pitchFamily="18" charset="-128"/>
                      <a:ea typeface="UD デジタル 教科書体 NK-R" panose="02020400000000000000" pitchFamily="18" charset="-128"/>
                    </a:rPr>
                    <a:t>と画像群</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の分布がどれほど近いか測る指標</a:t>
                  </a:r>
                  <a:r>
                    <a:rPr lang="en-US" altLang="ja-JP" sz="2800" dirty="0">
                      <a:latin typeface="UD デジタル 教科書体 NK-R" panose="02020400000000000000" pitchFamily="18" charset="-128"/>
                      <a:ea typeface="UD デジタル 教科書体 NK-R" panose="02020400000000000000" pitchFamily="18" charset="-128"/>
                    </a:rPr>
                    <a:t>. 0</a:t>
                  </a:r>
                  <a:r>
                    <a:rPr lang="ja-JP" altLang="en-US" sz="2800">
                      <a:latin typeface="UD デジタル 教科書体 NK-R" panose="02020400000000000000" pitchFamily="18" charset="-128"/>
                      <a:ea typeface="UD デジタル 教科書体 NK-R" panose="02020400000000000000" pitchFamily="18" charset="-128"/>
                    </a:rPr>
                    <a:t>に近い方が良い</a:t>
                  </a:r>
                  <a:endParaRPr lang="en-US" altLang="ja-JP" sz="2800" dirty="0">
                    <a:latin typeface="UD デジタル 教科書体 NK-R" panose="02020400000000000000" pitchFamily="18" charset="-128"/>
                    <a:ea typeface="UD デジタル 教科書体 NK-R" panose="02020400000000000000" pitchFamily="18" charset="-128"/>
                  </a:endParaRPr>
                </a:p>
                <a:p>
                  <a:pPr lvl="2" algn="ctr"/>
                  <a14:m>
                    <m:oMath xmlns:m="http://schemas.openxmlformats.org/officeDocument/2006/math">
                      <m:sSub>
                        <m:sSubPr>
                          <m:ctrlPr>
                            <a:rPr lang="en-US" altLang="ja-JP" sz="2800" i="1" smtClean="0">
                              <a:latin typeface="Cambria Math" panose="02040503050406030204" pitchFamily="18" charset="0"/>
                              <a:ea typeface="UD デジタル 教科書体 NK-R" panose="02020400000000000000" pitchFamily="18" charset="-128"/>
                            </a:rPr>
                          </m:ctrlPr>
                        </m:sSubPr>
                        <m:e>
                          <m:r>
                            <a:rPr lang="en-US" altLang="ja-JP" sz="2800" b="1" i="0" smtClean="0">
                              <a:latin typeface="Cambria Math" panose="02040503050406030204" pitchFamily="18" charset="0"/>
                              <a:ea typeface="UD デジタル 教科書体 NK-R" panose="02020400000000000000" pitchFamily="18" charset="-128"/>
                            </a:rPr>
                            <m:t>𝐕</m:t>
                          </m:r>
                        </m:e>
                        <m:sub>
                          <m:r>
                            <a:rPr lang="en-US" altLang="ja-JP" sz="2800" b="0" i="1" smtClean="0">
                              <a:latin typeface="Cambria Math" panose="02040503050406030204" pitchFamily="18" charset="0"/>
                              <a:ea typeface="UD デジタル 教科書体 NK-R" panose="02020400000000000000" pitchFamily="18" charset="-128"/>
                            </a:rPr>
                            <m:t>𝐴</m:t>
                          </m:r>
                        </m:sub>
                      </m:sSub>
                      <m:r>
                        <a:rPr lang="en-US" altLang="ja-JP" sz="2800" b="0" i="1" smtClean="0">
                          <a:latin typeface="Cambria Math" panose="02040503050406030204" pitchFamily="18" charset="0"/>
                          <a:ea typeface="UD デジタル 教科書体 NK-R" panose="02020400000000000000" pitchFamily="18" charset="-128"/>
                        </a:rPr>
                        <m:t>=</m:t>
                      </m:r>
                      <m:r>
                        <a:rPr lang="en-US" altLang="ja-JP" sz="2800" b="0" i="1" smtClean="0">
                          <a:latin typeface="Cambria Math" panose="02040503050406030204" pitchFamily="18" charset="0"/>
                          <a:ea typeface="UD デジタル 教科書体 NK-R" panose="02020400000000000000" pitchFamily="18" charset="-128"/>
                        </a:rPr>
                        <m:t>𝐼𝑛𝑐𝑒𝑝𝑡𝑖𝑜𝑛</m:t>
                      </m:r>
                      <m:r>
                        <a:rPr lang="en-US" altLang="ja-JP" sz="2800" b="0" i="1" smtClean="0">
                          <a:latin typeface="Cambria Math" panose="02040503050406030204" pitchFamily="18" charset="0"/>
                          <a:ea typeface="UD デジタル 教科書体 NK-R" panose="02020400000000000000" pitchFamily="18" charset="-128"/>
                        </a:rPr>
                        <m:t>(</m:t>
                      </m:r>
                      <m:r>
                        <a:rPr lang="en-US" altLang="ja-JP" sz="2800" b="1" i="0" smtClean="0">
                          <a:latin typeface="Cambria Math" panose="02040503050406030204" pitchFamily="18" charset="0"/>
                          <a:ea typeface="UD デジタル 教科書体 NK-R" panose="02020400000000000000" pitchFamily="18" charset="-128"/>
                        </a:rPr>
                        <m:t>𝐀</m:t>
                      </m:r>
                      <m:r>
                        <a:rPr lang="en-US" altLang="ja-JP" sz="2800" b="0" i="1" smtClean="0">
                          <a:latin typeface="Cambria Math" panose="02040503050406030204" pitchFamily="18" charset="0"/>
                          <a:ea typeface="UD デジタル 教科書体 NK-R" panose="02020400000000000000" pitchFamily="18" charset="-128"/>
                        </a:rPr>
                        <m:t>)</m:t>
                      </m:r>
                    </m:oMath>
                  </a14:m>
                  <a:r>
                    <a:rPr lang="en-US" altLang="ja-JP" sz="2800" dirty="0">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sSub>
                        <m:sSubPr>
                          <m:ctrlPr>
                            <a:rPr lang="en-US" altLang="ja-JP" sz="2800" i="1" smtClean="0">
                              <a:latin typeface="Cambria Math" panose="02040503050406030204" pitchFamily="18" charset="0"/>
                              <a:ea typeface="UD デジタル 教科書体 NK-R" panose="02020400000000000000" pitchFamily="18" charset="-128"/>
                            </a:rPr>
                          </m:ctrlPr>
                        </m:sSubPr>
                        <m:e>
                          <m:r>
                            <a:rPr lang="en-US" altLang="ja-JP" sz="2800" b="1" i="0" smtClean="0">
                              <a:latin typeface="Cambria Math" panose="02040503050406030204" pitchFamily="18" charset="0"/>
                              <a:ea typeface="UD デジタル 教科書体 NK-R" panose="02020400000000000000" pitchFamily="18" charset="-128"/>
                            </a:rPr>
                            <m:t>𝐕</m:t>
                          </m:r>
                        </m:e>
                        <m:sub>
                          <m:r>
                            <a:rPr lang="en-US" altLang="ja-JP" sz="2800" b="0" i="1" smtClean="0">
                              <a:latin typeface="Cambria Math" panose="02040503050406030204" pitchFamily="18" charset="0"/>
                              <a:ea typeface="UD デジタル 教科書体 NK-R" panose="02020400000000000000" pitchFamily="18" charset="-128"/>
                            </a:rPr>
                            <m:t>𝐵</m:t>
                          </m:r>
                        </m:sub>
                      </m:sSub>
                      <m:r>
                        <a:rPr lang="en-US" altLang="ja-JP" sz="2800" b="0" i="1" smtClean="0">
                          <a:latin typeface="Cambria Math" panose="02040503050406030204" pitchFamily="18" charset="0"/>
                          <a:ea typeface="UD デジタル 教科書体 NK-R" panose="02020400000000000000" pitchFamily="18" charset="-128"/>
                        </a:rPr>
                        <m:t>=</m:t>
                      </m:r>
                      <m:r>
                        <a:rPr lang="en-US" altLang="ja-JP" sz="2800" b="0" i="1" smtClean="0">
                          <a:latin typeface="Cambria Math" panose="02040503050406030204" pitchFamily="18" charset="0"/>
                          <a:ea typeface="UD デジタル 教科書体 NK-R" panose="02020400000000000000" pitchFamily="18" charset="-128"/>
                        </a:rPr>
                        <m:t>𝐼𝑛𝑐𝑒𝑝𝑡𝑖𝑜𝑛</m:t>
                      </m:r>
                      <m:r>
                        <a:rPr lang="en-US" altLang="ja-JP" sz="2800" b="0" i="1" smtClean="0">
                          <a:latin typeface="Cambria Math" panose="02040503050406030204" pitchFamily="18" charset="0"/>
                          <a:ea typeface="UD デジタル 教科書体 NK-R" panose="02020400000000000000" pitchFamily="18" charset="-128"/>
                        </a:rPr>
                        <m:t>(</m:t>
                      </m:r>
                      <m:r>
                        <a:rPr lang="en-US" altLang="ja-JP" sz="2800" b="1" i="0" smtClean="0">
                          <a:latin typeface="Cambria Math" panose="02040503050406030204" pitchFamily="18" charset="0"/>
                          <a:ea typeface="UD デジタル 教科書体 NK-R" panose="02020400000000000000" pitchFamily="18" charset="-128"/>
                        </a:rPr>
                        <m:t>𝐁</m:t>
                      </m:r>
                      <m:r>
                        <a:rPr lang="en-US" altLang="ja-JP" sz="2800" b="0" i="1" smtClean="0">
                          <a:latin typeface="Cambria Math" panose="02040503050406030204" pitchFamily="18" charset="0"/>
                          <a:ea typeface="UD デジタル 教科書体 NK-R" panose="02020400000000000000" pitchFamily="18" charset="-128"/>
                        </a:rPr>
                        <m:t>)</m:t>
                      </m:r>
                    </m:oMath>
                  </a14:m>
                  <a:endParaRPr lang="en-US" altLang="ja-JP" sz="2800" dirty="0">
                    <a:latin typeface="UD デジタル 教科書体 NK-R" panose="02020400000000000000" pitchFamily="18" charset="-128"/>
                    <a:ea typeface="UD デジタル 教科書体 NK-R" panose="02020400000000000000" pitchFamily="18" charset="-128"/>
                  </a:endParaRPr>
                </a:p>
                <a:p>
                  <a:pPr lvl="2" algn="ctr"/>
                  <a14:m>
                    <m:oMath xmlns:m="http://schemas.openxmlformats.org/officeDocument/2006/math">
                      <m:sSub>
                        <m:sSubPr>
                          <m:ctrlPr>
                            <a:rPr lang="en-US" altLang="ja-JP" sz="2800" i="1" smtClean="0">
                              <a:latin typeface="Cambria Math" panose="02040503050406030204" pitchFamily="18" charset="0"/>
                              <a:ea typeface="UD デジタル 教科書体 NK-R" panose="02020400000000000000" pitchFamily="18" charset="-128"/>
                            </a:rPr>
                          </m:ctrlPr>
                        </m:sSubPr>
                        <m:e>
                          <m:r>
                            <a:rPr lang="en-US" altLang="ja-JP" sz="2800" b="1" i="0" smtClean="0">
                              <a:latin typeface="Cambria Math" panose="02040503050406030204" pitchFamily="18" charset="0"/>
                              <a:ea typeface="UD デジタル 教科書体 NK-R" panose="02020400000000000000" pitchFamily="18" charset="-128"/>
                            </a:rPr>
                            <m:t>𝐦</m:t>
                          </m:r>
                        </m:e>
                        <m:sub>
                          <m:r>
                            <a:rPr lang="en-US" altLang="ja-JP" sz="2800" b="0" i="1" smtClean="0">
                              <a:latin typeface="Cambria Math" panose="02040503050406030204" pitchFamily="18" charset="0"/>
                              <a:ea typeface="UD デジタル 教科書体 NK-R" panose="02020400000000000000" pitchFamily="18" charset="-128"/>
                            </a:rPr>
                            <m:t>𝐴</m:t>
                          </m:r>
                        </m:sub>
                      </m:sSub>
                      <m:r>
                        <a:rPr lang="en-US" altLang="ja-JP" sz="2800" b="0" i="1" smtClean="0">
                          <a:latin typeface="Cambria Math" panose="02040503050406030204" pitchFamily="18" charset="0"/>
                          <a:ea typeface="UD デジタル 教科書体 NK-R" panose="02020400000000000000" pitchFamily="18" charset="-128"/>
                        </a:rPr>
                        <m:t>=</m:t>
                      </m:r>
                      <m:f>
                        <m:fPr>
                          <m:ctrlPr>
                            <a:rPr lang="en-US" altLang="ja-JP" sz="2800" b="0" i="1" smtClean="0">
                              <a:latin typeface="Cambria Math" panose="02040503050406030204" pitchFamily="18" charset="0"/>
                              <a:ea typeface="UD デジタル 教科書体 NK-R" panose="02020400000000000000" pitchFamily="18" charset="-128"/>
                            </a:rPr>
                          </m:ctrlPr>
                        </m:fPr>
                        <m:num>
                          <m:r>
                            <a:rPr lang="en-US" altLang="ja-JP" sz="2800" b="0" i="1" smtClean="0">
                              <a:latin typeface="Cambria Math" panose="02040503050406030204" pitchFamily="18" charset="0"/>
                              <a:ea typeface="UD デジタル 教科書体 NK-R" panose="02020400000000000000" pitchFamily="18" charset="-128"/>
                            </a:rPr>
                            <m:t>1</m:t>
                          </m:r>
                        </m:num>
                        <m:den>
                          <m:d>
                            <m:dPr>
                              <m:begChr m:val="|"/>
                              <m:endChr m:val="|"/>
                              <m:ctrlPr>
                                <a:rPr lang="en-US" altLang="ja-JP" sz="2800" b="0" i="1" smtClean="0">
                                  <a:latin typeface="Cambria Math" panose="02040503050406030204" pitchFamily="18" charset="0"/>
                                  <a:ea typeface="UD デジタル 教科書体 NK-R" panose="02020400000000000000" pitchFamily="18" charset="-128"/>
                                </a:rPr>
                              </m:ctrlPr>
                            </m:dPr>
                            <m:e>
                              <m:r>
                                <a:rPr lang="en-US" altLang="ja-JP" sz="2800" b="1" i="0" smtClean="0">
                                  <a:latin typeface="Cambria Math" panose="02040503050406030204" pitchFamily="18" charset="0"/>
                                  <a:ea typeface="UD デジタル 教科書体 NK-R" panose="02020400000000000000" pitchFamily="18" charset="-128"/>
                                </a:rPr>
                                <m:t>𝐀</m:t>
                              </m:r>
                            </m:e>
                          </m:d>
                        </m:den>
                      </m:f>
                      <m:r>
                        <a:rPr lang="en-US" altLang="ja-JP" sz="2800" i="1">
                          <a:latin typeface="Cambria Math" panose="02040503050406030204" pitchFamily="18" charset="0"/>
                          <a:ea typeface="UD デジタル 教科書体 NK-R" panose="02020400000000000000" pitchFamily="18" charset="-128"/>
                        </a:rPr>
                        <m:t>𝑣</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oMath>
                  </a14:m>
                  <a:r>
                    <a:rPr lang="en-US" altLang="ja-JP" sz="2800" dirty="0">
                      <a:latin typeface="UD デジタル 教科書体 NK-R" panose="02020400000000000000" pitchFamily="18" charset="-128"/>
                      <a:ea typeface="UD デジタル 教科書体 NK-R" panose="02020400000000000000" pitchFamily="18" charset="-128"/>
                    </a:rPr>
                    <a:t>,</a:t>
                  </a:r>
                  <a14:m>
                    <m:oMath xmlns:m="http://schemas.openxmlformats.org/officeDocument/2006/math">
                      <m:sSub>
                        <m:sSubPr>
                          <m:ctrlPr>
                            <a:rPr lang="en-US" altLang="ja-JP" sz="2800" i="1" smtClean="0">
                              <a:latin typeface="Cambria Math" panose="02040503050406030204" pitchFamily="18" charset="0"/>
                              <a:ea typeface="UD デジタル 教科書体 NK-R" panose="02020400000000000000" pitchFamily="18" charset="-128"/>
                            </a:rPr>
                          </m:ctrlPr>
                        </m:sSubPr>
                        <m:e>
                          <m:r>
                            <a:rPr lang="en-US" altLang="ja-JP" sz="2800" b="1" i="0" smtClean="0">
                              <a:latin typeface="Cambria Math" panose="02040503050406030204" pitchFamily="18" charset="0"/>
                              <a:ea typeface="UD デジタル 教科書体 NK-R" panose="02020400000000000000" pitchFamily="18" charset="-128"/>
                            </a:rPr>
                            <m:t>𝐦</m:t>
                          </m:r>
                        </m:e>
                        <m:sub>
                          <m:r>
                            <a:rPr lang="en-US" altLang="ja-JP" sz="2800" b="0" i="1" smtClean="0">
                              <a:latin typeface="Cambria Math" panose="02040503050406030204" pitchFamily="18" charset="0"/>
                              <a:ea typeface="UD デジタル 教科書体 NK-R" panose="02020400000000000000" pitchFamily="18" charset="-128"/>
                            </a:rPr>
                            <m:t>𝐵</m:t>
                          </m:r>
                        </m:sub>
                      </m:sSub>
                      <m:r>
                        <a:rPr lang="en-US" altLang="ja-JP" sz="2800" b="0" i="1" smtClean="0">
                          <a:latin typeface="Cambria Math" panose="02040503050406030204" pitchFamily="18" charset="0"/>
                          <a:ea typeface="UD デジタル 教科書体 NK-R" panose="02020400000000000000" pitchFamily="18" charset="-128"/>
                        </a:rPr>
                        <m:t>=</m:t>
                      </m:r>
                      <m:f>
                        <m:fPr>
                          <m:ctrlPr>
                            <a:rPr lang="en-US" altLang="ja-JP" sz="2800" b="0" i="1" smtClean="0">
                              <a:latin typeface="Cambria Math" panose="02040503050406030204" pitchFamily="18" charset="0"/>
                              <a:ea typeface="UD デジタル 教科書体 NK-R" panose="02020400000000000000" pitchFamily="18" charset="-128"/>
                            </a:rPr>
                          </m:ctrlPr>
                        </m:fPr>
                        <m:num>
                          <m:r>
                            <a:rPr lang="en-US" altLang="ja-JP" sz="2800" b="0" i="1" smtClean="0">
                              <a:latin typeface="Cambria Math" panose="02040503050406030204" pitchFamily="18" charset="0"/>
                              <a:ea typeface="UD デジタル 教科書体 NK-R" panose="02020400000000000000" pitchFamily="18" charset="-128"/>
                            </a:rPr>
                            <m:t>1</m:t>
                          </m:r>
                        </m:num>
                        <m:den>
                          <m:d>
                            <m:dPr>
                              <m:begChr m:val="|"/>
                              <m:endChr m:val="|"/>
                              <m:ctrlPr>
                                <a:rPr lang="en-US" altLang="ja-JP" sz="2800" b="0" i="1" smtClean="0">
                                  <a:latin typeface="Cambria Math" panose="02040503050406030204" pitchFamily="18" charset="0"/>
                                  <a:ea typeface="UD デジタル 教科書体 NK-R" panose="02020400000000000000" pitchFamily="18" charset="-128"/>
                                </a:rPr>
                              </m:ctrlPr>
                            </m:dPr>
                            <m:e>
                              <m:r>
                                <a:rPr lang="en-US" altLang="ja-JP" sz="2800" b="1" i="0" smtClean="0">
                                  <a:latin typeface="Cambria Math" panose="02040503050406030204" pitchFamily="18" charset="0"/>
                                  <a:ea typeface="UD デジタル 教科書体 NK-R" panose="02020400000000000000" pitchFamily="18" charset="-128"/>
                                </a:rPr>
                                <m:t>𝐁</m:t>
                              </m:r>
                            </m:e>
                          </m:d>
                        </m:den>
                      </m:f>
                      <m:r>
                        <a:rPr lang="en-US" altLang="ja-JP" sz="2800" i="1">
                          <a:latin typeface="Cambria Math" panose="02040503050406030204" pitchFamily="18" charset="0"/>
                          <a:ea typeface="UD デジタル 教科書体 NK-R" panose="02020400000000000000" pitchFamily="18" charset="-128"/>
                        </a:rPr>
                        <m:t>𝑣</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b="0" i="1" smtClean="0">
                              <a:latin typeface="Cambria Math" panose="02040503050406030204" pitchFamily="18" charset="0"/>
                              <a:ea typeface="UD デジタル 教科書体 NK-R" panose="02020400000000000000" pitchFamily="18" charset="-128"/>
                            </a:rPr>
                            <m:t>𝐵</m:t>
                          </m:r>
                        </m:sub>
                      </m:sSub>
                    </m:oMath>
                  </a14:m>
                  <a:endParaRPr lang="en-US" altLang="ja-JP" sz="2800" dirty="0">
                    <a:latin typeface="UD デジタル 教科書体 NK-R" panose="02020400000000000000" pitchFamily="18" charset="-128"/>
                    <a:ea typeface="UD デジタル 教科書体 NK-R" panose="02020400000000000000" pitchFamily="18" charset="-128"/>
                  </a:endParaRPr>
                </a:p>
                <a:p>
                  <a:pPr lvl="2" algn="ctr"/>
                  <a14:m>
                    <m:oMath xmlns:m="http://schemas.openxmlformats.org/officeDocument/2006/math">
                      <m:sSub>
                        <m:sSubPr>
                          <m:ctrlPr>
                            <a:rPr lang="en-US" altLang="ja-JP" sz="2800" i="1" smtClean="0">
                              <a:latin typeface="Cambria Math" panose="02040503050406030204" pitchFamily="18" charset="0"/>
                              <a:ea typeface="UD デジタル 教科書体 NK-R" panose="02020400000000000000" pitchFamily="18" charset="-128"/>
                            </a:rPr>
                          </m:ctrlPr>
                        </m:sSubPr>
                        <m:e>
                          <m:r>
                            <a:rPr lang="el-GR" altLang="ja-JP" sz="2800" b="1" i="0" smtClean="0">
                              <a:latin typeface="Cambria Math" panose="02040503050406030204" pitchFamily="18" charset="0"/>
                              <a:ea typeface="Cambria Math" panose="02040503050406030204" pitchFamily="18" charset="0"/>
                            </a:rPr>
                            <m:t>𝚺</m:t>
                          </m:r>
                        </m:e>
                        <m:sub>
                          <m:r>
                            <a:rPr lang="en-US" altLang="ja-JP" sz="2800" b="0" i="1" smtClean="0">
                              <a:latin typeface="Cambria Math" panose="02040503050406030204" pitchFamily="18" charset="0"/>
                              <a:ea typeface="UD デジタル 教科書体 NK-R" panose="02020400000000000000" pitchFamily="18" charset="-128"/>
                            </a:rPr>
                            <m:t>𝐴</m:t>
                          </m:r>
                        </m:sub>
                      </m:sSub>
                      <m:r>
                        <a:rPr lang="en-US" altLang="ja-JP" sz="2800" b="0" i="1" smtClean="0">
                          <a:latin typeface="Cambria Math" panose="02040503050406030204" pitchFamily="18" charset="0"/>
                          <a:ea typeface="UD デジタル 教科書体 NK-R" panose="02020400000000000000" pitchFamily="18" charset="-128"/>
                        </a:rPr>
                        <m:t>=</m:t>
                      </m:r>
                      <m:f>
                        <m:fPr>
                          <m:ctrlPr>
                            <a:rPr lang="en-US" altLang="ja-JP" sz="2800" b="0" i="1" smtClean="0">
                              <a:latin typeface="Cambria Math" panose="02040503050406030204" pitchFamily="18" charset="0"/>
                              <a:ea typeface="UD デジタル 教科書体 NK-R" panose="02020400000000000000" pitchFamily="18" charset="-128"/>
                            </a:rPr>
                          </m:ctrlPr>
                        </m:fPr>
                        <m:num>
                          <m:r>
                            <a:rPr lang="en-US" altLang="ja-JP" sz="2800" b="0" i="1" smtClean="0">
                              <a:latin typeface="Cambria Math" panose="02040503050406030204" pitchFamily="18" charset="0"/>
                              <a:ea typeface="UD デジタル 教科書体 NK-R" panose="02020400000000000000" pitchFamily="18" charset="-128"/>
                            </a:rPr>
                            <m:t>1</m:t>
                          </m:r>
                        </m:num>
                        <m:den>
                          <m:r>
                            <a:rPr lang="en-US" altLang="ja-JP" sz="2800" b="0" i="1" smtClean="0">
                              <a:latin typeface="Cambria Math" panose="02040503050406030204" pitchFamily="18" charset="0"/>
                              <a:ea typeface="UD デジタル 教科書体 NK-R" panose="02020400000000000000" pitchFamily="18" charset="-128"/>
                            </a:rPr>
                            <m:t>2048</m:t>
                          </m:r>
                        </m:den>
                      </m:f>
                      <m:sSubSup>
                        <m:sSubSupPr>
                          <m:ctrlPr>
                            <a:rPr lang="en-US" altLang="ja-JP" sz="2800" b="0" i="1" smtClean="0">
                              <a:latin typeface="Cambria Math" panose="02040503050406030204" pitchFamily="18" charset="0"/>
                              <a:ea typeface="UD デジタル 教科書体 NK-R" panose="02020400000000000000" pitchFamily="18" charset="-128"/>
                            </a:rPr>
                          </m:ctrlPr>
                        </m:sSubSupPr>
                        <m:e>
                          <m:r>
                            <a:rPr lang="en-US" altLang="ja-JP" sz="2800" b="1" i="0" smtClean="0">
                              <a:latin typeface="Cambria Math" panose="02040503050406030204" pitchFamily="18" charset="0"/>
                              <a:ea typeface="UD デジタル 教科書体 NK-R" panose="02020400000000000000" pitchFamily="18" charset="-128"/>
                            </a:rPr>
                            <m:t>𝐕</m:t>
                          </m:r>
                        </m:e>
                        <m:sub>
                          <m:r>
                            <a:rPr lang="en-US" altLang="ja-JP" sz="2800" b="0" i="1" smtClean="0">
                              <a:latin typeface="Cambria Math" panose="02040503050406030204" pitchFamily="18" charset="0"/>
                              <a:ea typeface="UD デジタル 教科書体 NK-R" panose="02020400000000000000" pitchFamily="18" charset="-128"/>
                            </a:rPr>
                            <m:t>𝐴</m:t>
                          </m:r>
                        </m:sub>
                        <m:sup>
                          <m:r>
                            <a:rPr lang="en-US" altLang="ja-JP" sz="2800" b="0" i="1" smtClean="0">
                              <a:latin typeface="Cambria Math" panose="02040503050406030204" pitchFamily="18" charset="0"/>
                              <a:ea typeface="UD デジタル 教科書体 NK-R" panose="02020400000000000000" pitchFamily="18" charset="-128"/>
                            </a:rPr>
                            <m:t>𝑇</m:t>
                          </m:r>
                        </m:sup>
                      </m:sSubSup>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oMath>
                  </a14:m>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b="0" i="1" smtClean="0">
                              <a:latin typeface="Cambria Math" panose="02040503050406030204" pitchFamily="18" charset="0"/>
                              <a:ea typeface="Cambria Math" panose="02040503050406030204" pitchFamily="18" charset="0"/>
                            </a:rPr>
                            <m:t>𝐵</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r>
                            <a:rPr lang="en-US" altLang="ja-JP" sz="2800" i="1">
                              <a:latin typeface="Cambria Math" panose="02040503050406030204" pitchFamily="18" charset="0"/>
                              <a:ea typeface="UD デジタル 教科書体 NK-R" panose="02020400000000000000" pitchFamily="18" charset="-128"/>
                            </a:rPr>
                            <m:t>2048</m:t>
                          </m:r>
                        </m:den>
                      </m:f>
                      <m:sSubSup>
                        <m:sSubSupPr>
                          <m:ctrlPr>
                            <a:rPr lang="en-US" altLang="ja-JP" sz="2800" i="1">
                              <a:latin typeface="Cambria Math" panose="02040503050406030204" pitchFamily="18" charset="0"/>
                              <a:ea typeface="UD デジタル 教科書体 NK-R" panose="02020400000000000000" pitchFamily="18" charset="-128"/>
                            </a:rPr>
                          </m:ctrlPr>
                        </m:sSubSup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b="0" i="1" smtClean="0">
                              <a:latin typeface="Cambria Math" panose="02040503050406030204" pitchFamily="18" charset="0"/>
                              <a:ea typeface="UD デジタル 教科書体 NK-R" panose="02020400000000000000" pitchFamily="18" charset="-128"/>
                            </a:rPr>
                            <m:t>𝐵</m:t>
                          </m:r>
                        </m:sub>
                        <m:sup>
                          <m:r>
                            <a:rPr lang="en-US" altLang="ja-JP" sz="2800" i="1">
                              <a:latin typeface="Cambria Math" panose="02040503050406030204" pitchFamily="18" charset="0"/>
                              <a:ea typeface="UD デジタル 教科書体 NK-R" panose="02020400000000000000" pitchFamily="18" charset="-128"/>
                            </a:rPr>
                            <m:t>𝑇</m:t>
                          </m:r>
                        </m:sup>
                      </m:sSubSup>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b="0" i="1" smtClean="0">
                              <a:latin typeface="Cambria Math" panose="02040503050406030204" pitchFamily="18" charset="0"/>
                              <a:ea typeface="UD デジタル 教科書体 NK-R" panose="02020400000000000000" pitchFamily="18" charset="-128"/>
                            </a:rPr>
                            <m:t>𝐵</m:t>
                          </m:r>
                        </m:sub>
                      </m:sSub>
                    </m:oMath>
                  </a14:m>
                  <a:endParaRPr lang="en-US" altLang="ja-JP" sz="2800" dirty="0">
                    <a:latin typeface="UD デジタル 教科書体 NK-R" panose="02020400000000000000" pitchFamily="18" charset="-128"/>
                    <a:ea typeface="UD デジタル 教科書体 NK-R" panose="02020400000000000000" pitchFamily="18" charset="-128"/>
                  </a:endParaRPr>
                </a:p>
                <a:p>
                  <a:pPr lvl="2" algn="ct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𝐹𝐼𝐷</m:t>
                      </m:r>
                      <m:r>
                        <a:rPr lang="en-US" altLang="ja-JP" sz="2800" b="0" i="1" smtClean="0">
                          <a:latin typeface="Cambria Math" panose="02040503050406030204" pitchFamily="18" charset="0"/>
                          <a:ea typeface="UD デジタル 教科書体 NK-R" panose="02020400000000000000" pitchFamily="18" charset="-128"/>
                        </a:rPr>
                        <m:t>=</m:t>
                      </m:r>
                      <m:sSubSup>
                        <m:sSubSupPr>
                          <m:ctrlPr>
                            <a:rPr lang="en-US" altLang="ja-JP" sz="2800" b="0" i="1" smtClean="0">
                              <a:latin typeface="Cambria Math" panose="02040503050406030204" pitchFamily="18" charset="0"/>
                              <a:ea typeface="UD デジタル 教科書体 NK-R" panose="02020400000000000000" pitchFamily="18" charset="-128"/>
                            </a:rPr>
                          </m:ctrlPr>
                        </m:sSubSupPr>
                        <m:e>
                          <m:d>
                            <m:dPr>
                              <m:begChr m:val="‖"/>
                              <m:endChr m:val="‖"/>
                              <m:ctrlPr>
                                <a:rPr lang="en-US" altLang="ja-JP" sz="2800" b="0" i="1" smtClean="0">
                                  <a:latin typeface="Cambria Math" panose="02040503050406030204" pitchFamily="18" charset="0"/>
                                  <a:ea typeface="UD デジタル 教科書体 NK-R" panose="02020400000000000000" pitchFamily="18" charset="-128"/>
                                </a:rPr>
                              </m:ctrlPr>
                            </m:dP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b="0" i="1" smtClean="0">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b="0" i="1" smtClean="0">
                                      <a:latin typeface="Cambria Math" panose="02040503050406030204" pitchFamily="18" charset="0"/>
                                      <a:ea typeface="UD デジタル 教科書体 NK-R" panose="02020400000000000000" pitchFamily="18" charset="-128"/>
                                    </a:rPr>
                                    <m:t>𝐵</m:t>
                                  </m:r>
                                </m:sub>
                              </m:sSub>
                            </m:e>
                          </m:d>
                        </m:e>
                        <m:sub>
                          <m:r>
                            <a:rPr lang="en-US" altLang="ja-JP" sz="2800" b="0" i="1" smtClean="0">
                              <a:latin typeface="Cambria Math" panose="02040503050406030204" pitchFamily="18" charset="0"/>
                              <a:ea typeface="UD デジタル 教科書体 NK-R" panose="02020400000000000000" pitchFamily="18" charset="-128"/>
                            </a:rPr>
                            <m:t>2</m:t>
                          </m:r>
                        </m:sub>
                        <m:sup>
                          <m:r>
                            <a:rPr lang="en-US" altLang="ja-JP" sz="2800" b="0" i="1" smtClean="0">
                              <a:latin typeface="Cambria Math" panose="02040503050406030204" pitchFamily="18" charset="0"/>
                              <a:ea typeface="UD デジタル 教科書体 NK-R" panose="02020400000000000000" pitchFamily="18" charset="-128"/>
                            </a:rPr>
                            <m:t>2</m:t>
                          </m:r>
                        </m:sup>
                      </m:sSubSup>
                      <m:r>
                        <a:rPr lang="en-US" altLang="ja-JP" sz="2800" b="0" i="1" smtClean="0">
                          <a:latin typeface="Cambria Math" panose="02040503050406030204" pitchFamily="18" charset="0"/>
                          <a:ea typeface="UD デジタル 教科書体 NK-R" panose="02020400000000000000" pitchFamily="18" charset="-128"/>
                        </a:rPr>
                        <m:t>+</m:t>
                      </m:r>
                      <m:r>
                        <a:rPr lang="en-US" altLang="ja-JP" sz="2800" b="0" i="1" smtClean="0">
                          <a:latin typeface="Cambria Math" panose="02040503050406030204" pitchFamily="18" charset="0"/>
                          <a:ea typeface="UD デジタル 教科書体 NK-R" panose="02020400000000000000" pitchFamily="18" charset="-128"/>
                        </a:rPr>
                        <m:t>𝑇𝑟</m:t>
                      </m:r>
                      <m:r>
                        <a:rPr lang="en-US" altLang="ja-JP" sz="2800" b="0" i="1" smtClean="0">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b="0" i="1" smtClean="0">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b="0" i="1" smtClean="0">
                              <a:latin typeface="Cambria Math" panose="02040503050406030204" pitchFamily="18" charset="0"/>
                              <a:ea typeface="UD デジタル 教科書体 NK-R" panose="02020400000000000000" pitchFamily="18" charset="-128"/>
                            </a:rPr>
                            <m:t>𝐵</m:t>
                          </m:r>
                        </m:sub>
                      </m:sSub>
                      <m:r>
                        <a:rPr lang="en-US" altLang="ja-JP" sz="2800" b="0" i="1" smtClean="0">
                          <a:latin typeface="Cambria Math" panose="02040503050406030204" pitchFamily="18" charset="0"/>
                          <a:ea typeface="UD デジタル 教科書体 NK-R" panose="02020400000000000000" pitchFamily="18" charset="-128"/>
                        </a:rPr>
                        <m:t>−2</m:t>
                      </m:r>
                      <m:rad>
                        <m:radPr>
                          <m:degHide m:val="on"/>
                          <m:ctrlPr>
                            <a:rPr lang="en-US" altLang="ja-JP" sz="2800" b="0" i="1" smtClean="0">
                              <a:latin typeface="Cambria Math" panose="02040503050406030204" pitchFamily="18" charset="0"/>
                              <a:ea typeface="UD デジタル 教科書体 NK-R" panose="02020400000000000000" pitchFamily="18" charset="-128"/>
                            </a:rPr>
                          </m:ctrlPr>
                        </m:radPr>
                        <m:deg/>
                        <m:e>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b="0" i="1" smtClean="0">
                                  <a:latin typeface="Cambria Math" panose="02040503050406030204" pitchFamily="18" charset="0"/>
                                  <a:ea typeface="UD デジタル 教科書体 NK-R" panose="02020400000000000000" pitchFamily="18" charset="-128"/>
                                </a:rPr>
                                <m:t>𝐵</m:t>
                              </m:r>
                            </m:sub>
                          </m:sSub>
                        </m:e>
                      </m:rad>
                      <m:r>
                        <a:rPr lang="en-US" altLang="ja-JP" sz="2800" b="0" i="1" smtClean="0">
                          <a:latin typeface="Cambria Math" panose="02040503050406030204" pitchFamily="18" charset="0"/>
                          <a:ea typeface="UD デジタル 教科書体 NK-R" panose="02020400000000000000" pitchFamily="18" charset="-128"/>
                        </a:rPr>
                        <m:t>)</m:t>
                      </m:r>
                    </m:oMath>
                  </a14:m>
                  <a:r>
                    <a:rPr lang="en-US" altLang="ja-JP" sz="2800" dirty="0">
                      <a:latin typeface="UD デジタル 教科書体 NK-R" panose="02020400000000000000" pitchFamily="18" charset="-128"/>
                      <a:ea typeface="UD デジタル 教科書体 NK-R" panose="02020400000000000000" pitchFamily="18" charset="-128"/>
                    </a:rPr>
                    <a:t> </a:t>
                  </a:r>
                </a:p>
                <a:p>
                  <a:pPr lvl="2"/>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b="1" i="0" smtClean="0">
                          <a:latin typeface="Cambria Math" panose="02040503050406030204" pitchFamily="18" charset="0"/>
                          <a:ea typeface="UD デジタル 教科書体 NK-R" panose="02020400000000000000" pitchFamily="18" charset="-128"/>
                        </a:rPr>
                        <m:t>𝐀</m:t>
                      </m:r>
                    </m:oMath>
                  </a14:m>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b="1" i="0" smtClean="0">
                          <a:latin typeface="Cambria Math" panose="02040503050406030204" pitchFamily="18" charset="0"/>
                          <a:ea typeface="UD デジタル 教科書体 NK-R" panose="02020400000000000000" pitchFamily="18" charset="-128"/>
                        </a:rPr>
                        <m:t>𝐁</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分布を調べたい画像群</a:t>
                  </a:r>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𝑣</m:t>
                      </m:r>
                      <m:r>
                        <a:rPr lang="en-US" altLang="ja-JP" sz="2800" i="1">
                          <a:latin typeface="Cambria Math" panose="02040503050406030204" pitchFamily="18" charset="0"/>
                          <a:ea typeface="Cambria Math" panose="02040503050406030204" pitchFamily="18" charset="0"/>
                        </a:rPr>
                        <m:t>∈</m:t>
                      </m:r>
                      <m:sSup>
                        <m:sSupPr>
                          <m:ctrlPr>
                            <a:rPr lang="en-US" altLang="ja-JP" sz="2800" i="1">
                              <a:latin typeface="Cambria Math" panose="02040503050406030204" pitchFamily="18" charset="0"/>
                              <a:ea typeface="Cambria Math" panose="02040503050406030204" pitchFamily="18" charset="0"/>
                            </a:rPr>
                          </m:ctrlPr>
                        </m:sSupPr>
                        <m:e>
                          <m:r>
                            <a:rPr lang="en-US" altLang="ja-JP" sz="2800" i="1">
                              <a:latin typeface="Cambria Math" panose="02040503050406030204" pitchFamily="18" charset="0"/>
                              <a:ea typeface="Cambria Math" panose="02040503050406030204" pitchFamily="18" charset="0"/>
                            </a:rPr>
                            <m:t>ℝ</m:t>
                          </m:r>
                        </m:e>
                        <m:sup>
                          <m:r>
                            <a:rPr lang="en-US" altLang="ja-JP" sz="2800" i="1">
                              <a:latin typeface="Cambria Math" panose="02040503050406030204" pitchFamily="18" charset="0"/>
                              <a:ea typeface="Cambria Math" panose="02040503050406030204" pitchFamily="18" charset="0"/>
                            </a:rPr>
                            <m:t>1×</m:t>
                          </m:r>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𝐀</m:t>
                              </m:r>
                            </m:e>
                          </m:d>
                        </m:sup>
                      </m:sSup>
                    </m:oMath>
                  </a14:m>
                  <a:r>
                    <a:rPr lang="en-US" altLang="ja-JP" sz="2800" dirty="0">
                      <a:latin typeface="UD デジタル 教科書体 NK-R" panose="02020400000000000000" pitchFamily="18" charset="-128"/>
                      <a:ea typeface="UD デジタル 教科書体 NK-R" panose="02020400000000000000" pitchFamily="18" charset="-128"/>
                    </a:rPr>
                    <a:t> : 1</a:t>
                  </a:r>
                  <a:r>
                    <a:rPr lang="ja-JP" altLang="en-US" sz="2800">
                      <a:latin typeface="UD デジタル 教科書体 NK-R" panose="02020400000000000000" pitchFamily="18" charset="-128"/>
                      <a:ea typeface="UD デジタル 教科書体 NK-R" panose="02020400000000000000" pitchFamily="18" charset="-128"/>
                    </a:rPr>
                    <a:t>ベクトル</a:t>
                  </a:r>
                  <a:r>
                    <a:rPr lang="en-US" altLang="ja-JP" sz="2800" dirty="0">
                      <a:latin typeface="UD デジタル 教科書体 NK-R" panose="02020400000000000000" pitchFamily="18" charset="-128"/>
                      <a:ea typeface="UD デジタル 教科書体 NK-R" panose="02020400000000000000" pitchFamily="18" charset="-128"/>
                    </a:rPr>
                    <a:t>,</a:t>
                  </a:r>
                </a:p>
                <a:p>
                  <a:pPr lvl="2"/>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b="0" i="1" smtClean="0">
                          <a:latin typeface="Cambria Math" panose="02040503050406030204" pitchFamily="18" charset="0"/>
                          <a:ea typeface="UD デジタル 教科書体 NK-R" panose="02020400000000000000" pitchFamily="18" charset="-128"/>
                        </a:rPr>
                        <m:t>(</m:t>
                      </m:r>
                      <m:r>
                        <a:rPr lang="en-US" altLang="ja-JP" sz="2800" b="1" i="0" smtClean="0">
                          <a:latin typeface="Cambria Math" panose="02040503050406030204" pitchFamily="18" charset="0"/>
                          <a:ea typeface="UD デジタル 教科書体 NK-R" panose="02020400000000000000" pitchFamily="18" charset="-128"/>
                        </a:rPr>
                        <m:t>𝐗</m:t>
                      </m:r>
                      <m:r>
                        <a:rPr lang="en-US" altLang="ja-JP" sz="2800" b="0" i="1" smtClean="0">
                          <a:latin typeface="Cambria Math" panose="02040503050406030204" pitchFamily="18" charset="0"/>
                          <a:ea typeface="UD デジタル 教科書体 NK-R" panose="02020400000000000000" pitchFamily="18" charset="-128"/>
                        </a:rPr>
                        <m:t>)</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学習済み</a:t>
                  </a:r>
                  <a:r>
                    <a:rPr lang="en-US" altLang="ja-JP" sz="2800" dirty="0">
                      <a:latin typeface="UD デジタル 教科書体 NK-R" panose="02020400000000000000" pitchFamily="18" charset="-128"/>
                      <a:ea typeface="UD デジタル 教科書体 NK-R" panose="02020400000000000000" pitchFamily="18" charset="-128"/>
                    </a:rPr>
                    <a:t>Inception-v3</a:t>
                  </a:r>
                  <a:r>
                    <a:rPr lang="ja-JP" altLang="en-US" sz="2800">
                      <a:latin typeface="UD デジタル 教科書体 NK-R" panose="02020400000000000000" pitchFamily="18" charset="-128"/>
                      <a:ea typeface="UD デジタル 教科書体 NK-R" panose="02020400000000000000" pitchFamily="18" charset="-128"/>
                    </a:rPr>
                    <a:t>に</a:t>
                  </a:r>
                  <a14:m>
                    <m:oMath xmlns:m="http://schemas.openxmlformats.org/officeDocument/2006/math">
                      <m:r>
                        <a:rPr lang="en-US" altLang="ja-JP" sz="2800" b="1">
                          <a:latin typeface="Cambria Math" panose="02040503050406030204" pitchFamily="18" charset="0"/>
                          <a:ea typeface="UD デジタル 教科書体 NK-R" panose="02020400000000000000" pitchFamily="18" charset="-128"/>
                        </a:rPr>
                        <m:t>𝐗</m:t>
                      </m:r>
                    </m:oMath>
                  </a14:m>
                  <a:r>
                    <a:rPr lang="ja-JP" altLang="en-US" sz="2800">
                      <a:latin typeface="UD デジタル 教科書体 NK-R" panose="02020400000000000000" pitchFamily="18" charset="-128"/>
                      <a:ea typeface="UD デジタル 教科書体 NK-R" panose="02020400000000000000" pitchFamily="18" charset="-128"/>
                    </a:rPr>
                    <a:t>を入力した際の出力</a:t>
                  </a:r>
                  <a:r>
                    <a:rPr lang="en-US" altLang="ja-JP" sz="2800" dirty="0">
                      <a:latin typeface="UD デジタル 教科書体 NK-R" panose="02020400000000000000" pitchFamily="18" charset="-128"/>
                      <a:ea typeface="UD デジタル 教科書体 NK-R" panose="02020400000000000000" pitchFamily="18" charset="-128"/>
                    </a:rPr>
                    <a:t>, </a:t>
                  </a: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結果</a:t>
                  </a:r>
                  <a:r>
                    <a:rPr lang="en-US" altLang="ja-JP" sz="2800" dirty="0">
                      <a:latin typeface="UD デジタル 教科書体 NK-R" panose="02020400000000000000" pitchFamily="18" charset="-128"/>
                      <a:ea typeface="UD デジタル 教科書体 NK-R" panose="02020400000000000000" pitchFamily="18" charset="-128"/>
                    </a:rPr>
                    <a:t>(ⅱ)</a:t>
                  </a:r>
                  <a:r>
                    <a:rPr lang="ja-JP" altLang="en-US" sz="2800">
                      <a:latin typeface="UD デジタル 教科書体 NK-R" panose="02020400000000000000" pitchFamily="18" charset="-128"/>
                      <a:ea typeface="UD デジタル 教科書体 NK-R" panose="02020400000000000000" pitchFamily="18" charset="-128"/>
                    </a:rPr>
                    <a:t>　再構成</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spc="-200" dirty="0">
                    <a:latin typeface="UD デジタル 教科書体 NK-R" panose="02020400000000000000" pitchFamily="18" charset="-128"/>
                    <a:ea typeface="UD デジタル 教科書体 NK-R" panose="02020400000000000000" pitchFamily="18" charset="-128"/>
                  </a:endParaRPr>
                </a:p>
                <a:p>
                  <a:pPr lvl="1"/>
                  <a:endParaRPr lang="ja-JP" altLang="en-US" sz="2800" spc="-20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 :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を学習</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つの条件で大喜利生成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en-US" altLang="ja-JP" sz="2800" spc="-100" dirty="0">
                      <a:latin typeface="UD デジタル 教科書体 NK-R" panose="02020400000000000000" pitchFamily="18" charset="-128"/>
                      <a:ea typeface="UD デジタル 教科書体 NK-R" panose="02020400000000000000" pitchFamily="18" charset="-128"/>
                    </a:rPr>
                    <a:t>[1]</a:t>
                  </a:r>
                  <a:r>
                    <a:rPr lang="ja-JP" altLang="en-US" sz="2800" spc="-100">
                      <a:latin typeface="UD デジタル 教科書体 NK-R" panose="02020400000000000000" pitchFamily="18" charset="-128"/>
                      <a:ea typeface="UD デジタル 教科書体 NK-R" panose="02020400000000000000" pitchFamily="18" charset="-128"/>
                    </a:rPr>
                    <a:t>と同様に画像の特徴抽出機として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事前学習済み</a:t>
                  </a:r>
                  <a:r>
                    <a:rPr lang="en-US" altLang="ja-JP" sz="2800" spc="-100" dirty="0">
                      <a:latin typeface="UD デジタル 教科書体 NK-R" panose="02020400000000000000" pitchFamily="18" charset="-128"/>
                      <a:ea typeface="UD デジタル 教科書体 NK-R" panose="02020400000000000000" pitchFamily="18" charset="-128"/>
                    </a:rPr>
                    <a:t>ResNet152</a:t>
                  </a:r>
                  <a:r>
                    <a:rPr lang="ja-JP" altLang="en-US" sz="2800" spc="-100">
                      <a:latin typeface="UD デジタル 教科書体 NK-R" panose="02020400000000000000" pitchFamily="18" charset="-128"/>
                      <a:ea typeface="UD デジタル 教科書体 NK-R" panose="02020400000000000000" pitchFamily="18" charset="-128"/>
                    </a:rPr>
                    <a:t>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512</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2048</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spc="-100">
                      <a:latin typeface="UD デジタル 教科書体 NK-R" panose="02020400000000000000" pitchFamily="18" charset="-128"/>
                      <a:ea typeface="UD デジタル 教科書体 NK-R" panose="02020400000000000000" pitchFamily="18" charset="-128"/>
                    </a:rPr>
                    <a:t>実験条件</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en-US" altLang="ja-JP" sz="2800" spc="-100" dirty="0">
                      <a:latin typeface="UD デジタル 教科書体 NK-R" panose="02020400000000000000" pitchFamily="18" charset="-128"/>
                      <a:ea typeface="UD デジタル 教科書体 NK-R" panose="02020400000000000000" pitchFamily="18" charset="-128"/>
                    </a:rPr>
                    <a:t>LSTM</a:t>
                  </a:r>
                  <a:r>
                    <a:rPr lang="ja-JP" altLang="en-US" sz="2800" spc="-100">
                      <a:latin typeface="UD デジタル 教科書体 NK-R" panose="02020400000000000000" pitchFamily="18" charset="-128"/>
                      <a:ea typeface="UD デジタル 教科書体 NK-R" panose="02020400000000000000" pitchFamily="18" charset="-128"/>
                    </a:rPr>
                    <a:t>ユニット数</a:t>
                  </a:r>
                  <a:r>
                    <a:rPr lang="en-US" altLang="ja-JP" sz="2800" spc="-100" dirty="0">
                      <a:latin typeface="UD デジタル 教科書体 NK-R" panose="02020400000000000000" pitchFamily="18" charset="-128"/>
                      <a:ea typeface="UD デジタル 教科書体 NK-R" panose="02020400000000000000" pitchFamily="18" charset="-128"/>
                    </a:rPr>
                    <a:t> : 512, </a:t>
                  </a:r>
                  <a:r>
                    <a:rPr lang="ja-JP" altLang="en-US" sz="2800" spc="-100">
                      <a:latin typeface="UD デジタル 教科書体 NK-R" panose="02020400000000000000" pitchFamily="18" charset="-128"/>
                      <a:ea typeface="UD デジタル 教科書体 NK-R" panose="02020400000000000000" pitchFamily="18" charset="-128"/>
                    </a:rPr>
                    <a:t>バッチサイズ</a:t>
                  </a:r>
                  <a:r>
                    <a:rPr lang="en-US" altLang="ja-JP" sz="2800" spc="-100" dirty="0">
                      <a:latin typeface="UD デジタル 教科書体 NK-R" panose="02020400000000000000" pitchFamily="18" charset="-128"/>
                      <a:ea typeface="UD デジタル 教科書体 NK-R" panose="02020400000000000000" pitchFamily="18" charset="-128"/>
                    </a:rPr>
                    <a:t> : 1024, </a:t>
                  </a:r>
                  <a:r>
                    <a:rPr lang="ja-JP" altLang="en-US" sz="2800" spc="-100">
                      <a:latin typeface="UD デジタル 教科書体 NK-R" panose="02020400000000000000" pitchFamily="18" charset="-128"/>
                      <a:ea typeface="UD デジタル 教科書体 NK-R" panose="02020400000000000000" pitchFamily="18" charset="-128"/>
                    </a:rPr>
                    <a:t>エポック</a:t>
                  </a:r>
                  <a:r>
                    <a:rPr lang="en-US" altLang="ja-JP" sz="2800" spc="-1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交差エントロピー</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endParaRPr lang="en-US" altLang="ja-JP" sz="2800" spc="-1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en-US" altLang="ja-JP" sz="2800" dirty="0">
                      <a:latin typeface="UD デジタル 教科書体 NK-R" panose="02020400000000000000" pitchFamily="18" charset="-128"/>
                      <a:ea typeface="UD デジタル 教科書体 NK-R" panose="02020400000000000000" pitchFamily="18" charset="-128"/>
                    </a:rPr>
                    <a:t>(a) </a:t>
                  </a:r>
                  <a:r>
                    <a:rPr lang="ja-JP" altLang="en-US" sz="2800">
                      <a:latin typeface="UD デジタル 教科書体 NK-R" panose="02020400000000000000" pitchFamily="18" charset="-128"/>
                      <a:ea typeface="UD デジタル 教科書体 NK-R" panose="02020400000000000000" pitchFamily="18" charset="-128"/>
                    </a:rPr>
                    <a:t>学習損失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　　　　　　　　　　　　　　　　　　</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学習精度</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0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学習した大喜利生成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が生成した大喜利</a:t>
                  </a:r>
                  <a:endParaRPr lang="en-US" altLang="ja-JP" sz="2800" dirty="0">
                    <a:latin typeface="UD デジタル 教科書体 NK-R" panose="02020400000000000000" pitchFamily="18" charset="-128"/>
                    <a:ea typeface="UD デジタル 教科書体 NK-R" panose="02020400000000000000" pitchFamily="18" charset="-128"/>
                  </a:endParaRPr>
                </a:p>
              </p:txBody>
            </p:sp>
          </mc:Choice>
          <mc:Fallback xmlns="">
            <p:sp>
              <p:nvSpPr>
                <p:cNvPr id="37" name="テキスト ボックス 36">
                  <a:extLst>
                    <a:ext uri="{FF2B5EF4-FFF2-40B4-BE49-F238E27FC236}">
                      <a16:creationId xmlns:a16="http://schemas.microsoft.com/office/drawing/2014/main" id="{33CBE4EA-6A45-2DF9-9C9B-750731A73354}"/>
                    </a:ext>
                  </a:extLst>
                </p:cNvPr>
                <p:cNvSpPr txBox="1">
                  <a:spLocks noRot="1" noChangeAspect="1" noMove="1" noResize="1" noEditPoints="1" noAdjustHandles="1" noChangeArrowheads="1" noChangeShapeType="1" noTextEdit="1"/>
                </p:cNvSpPr>
                <p:nvPr/>
              </p:nvSpPr>
              <p:spPr>
                <a:xfrm>
                  <a:off x="506888" y="6188617"/>
                  <a:ext cx="14381884" cy="31474001"/>
                </a:xfrm>
                <a:prstGeom prst="rect">
                  <a:avLst/>
                </a:prstGeom>
                <a:blipFill>
                  <a:blip r:embed="rId5"/>
                  <a:stretch>
                    <a:fillRect l="-882" t="-202"/>
                  </a:stretch>
                </a:blipFill>
              </p:spPr>
              <p:txBody>
                <a:bodyPr/>
                <a:lstStyle/>
                <a:p>
                  <a:r>
                    <a:rPr lang="ja-JP" altLang="en-US">
                      <a:noFill/>
                    </a:rPr>
                    <a:t> </a:t>
                  </a:r>
                </a:p>
              </p:txBody>
            </p:sp>
          </mc:Fallback>
        </mc:AlternateContent>
      </p:grpSp>
      <p:sp>
        <p:nvSpPr>
          <p:cNvPr id="154" name="テキスト ボックス 153">
            <a:extLst>
              <a:ext uri="{FF2B5EF4-FFF2-40B4-BE49-F238E27FC236}">
                <a16:creationId xmlns:a16="http://schemas.microsoft.com/office/drawing/2014/main" id="{D885AE38-02FE-BABF-B73B-FD10DBD6E9F0}"/>
              </a:ext>
            </a:extLst>
          </p:cNvPr>
          <p:cNvSpPr txBox="1"/>
          <p:nvPr/>
        </p:nvSpPr>
        <p:spPr>
          <a:xfrm>
            <a:off x="478313" y="40720311"/>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[1] </a:t>
            </a:r>
            <a:r>
              <a:rPr lang="ja-JP" altLang="en-US" sz="2800">
                <a:latin typeface="UD Digi Kyokasho NK-R" panose="02020400000000000000" pitchFamily="18" charset="-128"/>
                <a:ea typeface="UD Digi Kyokasho NK-R" panose="02020400000000000000" pitchFamily="18" charset="-128"/>
              </a:rPr>
              <a:t>美濃口 宗尊</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他</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精密工学会誌</a:t>
            </a:r>
            <a:r>
              <a:rPr lang="en-US" altLang="ja-JP" sz="2800" dirty="0">
                <a:latin typeface="UD Digi Kyokasho NK-R" panose="02020400000000000000" pitchFamily="18" charset="-128"/>
                <a:ea typeface="UD Digi Kyokasho NK-R" panose="02020400000000000000" pitchFamily="18" charset="-128"/>
              </a:rPr>
              <a:t>, vol.85, no.12, pp.1151-1156 (2019).</a:t>
            </a:r>
          </a:p>
          <a:p>
            <a:r>
              <a:rPr lang="en-US" altLang="ja-JP" sz="2800" dirty="0">
                <a:latin typeface="UD Digi Kyokasho NK-R" panose="02020400000000000000" pitchFamily="18" charset="-128"/>
                <a:ea typeface="UD Digi Kyokasho NK-R" panose="02020400000000000000" pitchFamily="18" charset="-128"/>
              </a:rPr>
              <a:t>[2] </a:t>
            </a:r>
            <a:r>
              <a:rPr lang="ja-JP" altLang="en-US" sz="2800">
                <a:latin typeface="UD Digi Kyokasho NK-R" panose="02020400000000000000" pitchFamily="18" charset="-128"/>
                <a:ea typeface="UD Digi Kyokasho NK-R" panose="02020400000000000000" pitchFamily="18" charset="-128"/>
              </a:rPr>
              <a:t>山富 龍, 他, IEICE 信学技報 CCS 研究会, CCS2022-73,</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pp.59-62(2023).</a:t>
            </a:r>
            <a:endParaRPr lang="en-US" altLang="ja-JP" sz="2800" dirty="0">
              <a:latin typeface="UD Digi Kyokasho NK-R" panose="02020400000000000000" pitchFamily="18" charset="-128"/>
              <a:ea typeface="UD Digi Kyokasho NK-R" panose="02020400000000000000" pitchFamily="18" charset="-128"/>
            </a:endParaRPr>
          </a:p>
          <a:p>
            <a:r>
              <a:rPr lang="en-US" altLang="ja-JP" sz="2800" dirty="0">
                <a:latin typeface="UD デジタル 教科書体 NK-R" panose="02020400000000000000" pitchFamily="18" charset="-128"/>
                <a:ea typeface="UD デジタル 教科書体 NK-R" panose="02020400000000000000" pitchFamily="18" charset="-128"/>
              </a:rPr>
              <a:t>[3] </a:t>
            </a:r>
            <a:r>
              <a:rPr lang="en-US" altLang="ja-JP" sz="2800" dirty="0" err="1">
                <a:latin typeface="UD デジタル 教科書体 NK-R" panose="02020400000000000000" pitchFamily="18" charset="-128"/>
                <a:ea typeface="UD デジタル 教科書体 NK-R" panose="02020400000000000000" pitchFamily="18" charset="-128"/>
              </a:rPr>
              <a:t>Vinyals</a:t>
            </a:r>
            <a:r>
              <a:rPr lang="en-US" altLang="ja-JP" sz="2800" dirty="0">
                <a:latin typeface="UD デジタル 教科書体 NK-R" panose="02020400000000000000" pitchFamily="18" charset="-128"/>
                <a:ea typeface="UD デジタル 教科書体 NK-R" panose="02020400000000000000" pitchFamily="18" charset="-128"/>
              </a:rPr>
              <a:t>, O., et al., Proc. IEEE CVPR, pp. 3156-3164 (2015).</a:t>
            </a:r>
          </a:p>
        </p:txBody>
      </p:sp>
      <p:sp>
        <p:nvSpPr>
          <p:cNvPr id="155" name="テキスト ボックス 154">
            <a:extLst>
              <a:ext uri="{FF2B5EF4-FFF2-40B4-BE49-F238E27FC236}">
                <a16:creationId xmlns:a16="http://schemas.microsoft.com/office/drawing/2014/main" id="{EFC3748E-A701-D3A4-4FB9-8E56588245BE}"/>
              </a:ext>
            </a:extLst>
          </p:cNvPr>
          <p:cNvSpPr txBox="1"/>
          <p:nvPr/>
        </p:nvSpPr>
        <p:spPr>
          <a:xfrm>
            <a:off x="15425050" y="40702554"/>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[4] G. E. Hinton, et al., Science, vol.313, no.5786, pp.504-507(2006).</a:t>
            </a:r>
          </a:p>
          <a:p>
            <a:r>
              <a:rPr lang="en-US" altLang="ja-JP" sz="2800" dirty="0">
                <a:latin typeface="UD Digi Kyokasho NK-R" panose="02020400000000000000" pitchFamily="18" charset="-128"/>
                <a:ea typeface="UD Digi Kyokasho NK-R" panose="02020400000000000000" pitchFamily="18" charset="-128"/>
              </a:rPr>
              <a:t>[5] </a:t>
            </a:r>
            <a:r>
              <a:rPr lang="ja-JP" altLang="en-US" sz="2800">
                <a:latin typeface="UD Digi Kyokasho NK-R" panose="02020400000000000000" pitchFamily="18" charset="-128"/>
                <a:ea typeface="UD Digi Kyokasho NK-R" panose="02020400000000000000" pitchFamily="18" charset="-128"/>
              </a:rPr>
              <a:t>株式会社オモロキ</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 https://</a:t>
            </a:r>
            <a:r>
              <a:rPr lang="en-US" altLang="ja-JP" sz="2800" dirty="0" err="1">
                <a:latin typeface="UD Digi Kyokasho NK-R" panose="02020400000000000000" pitchFamily="18" charset="-128"/>
                <a:ea typeface="UD Digi Kyokasho NK-R" panose="02020400000000000000" pitchFamily="18" charset="-128"/>
              </a:rPr>
              <a:t>bokete.jp</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最終アクセス</a:t>
            </a:r>
            <a:r>
              <a:rPr lang="en-US" altLang="ja-JP" sz="2800" dirty="0">
                <a:latin typeface="UD Digi Kyokasho NK-R" panose="02020400000000000000" pitchFamily="18" charset="-128"/>
                <a:ea typeface="UD Digi Kyokasho NK-R" panose="02020400000000000000" pitchFamily="18" charset="-128"/>
              </a:rPr>
              <a:t> : 2023/5/31)</a:t>
            </a:r>
          </a:p>
          <a:p>
            <a:r>
              <a:rPr lang="en-US" altLang="ja-JP" sz="2800" dirty="0">
                <a:latin typeface="UD Digi Kyokasho NK-R" panose="02020400000000000000" pitchFamily="18" charset="-128"/>
                <a:ea typeface="UD Digi Kyokasho NK-R" panose="02020400000000000000" pitchFamily="18" charset="-128"/>
              </a:rPr>
              <a:t>[6]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Heusel</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 Martin, et al.,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NeuralIPS</a:t>
            </a:r>
            <a:r>
              <a:rPr lang="en" altLang="ja-JP" sz="2800" dirty="0">
                <a:solidFill>
                  <a:srgbClr val="222222"/>
                </a:solidFill>
                <a:latin typeface="UD Digi Kyokasho NK-R" panose="02020400000000000000" pitchFamily="18" charset="-128"/>
                <a:ea typeface="UD Digi Kyokasho NK-R" panose="02020400000000000000" pitchFamily="18" charset="-128"/>
              </a:rPr>
              <a:t>, </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30 (2017).</a:t>
            </a:r>
            <a:endParaRPr lang="en-US" altLang="ja-JP" sz="2800" dirty="0">
              <a:latin typeface="UD Digi Kyokasho NK-R" panose="02020400000000000000" pitchFamily="18" charset="-128"/>
              <a:ea typeface="UD Digi Kyokasho NK-R" panose="02020400000000000000" pitchFamily="18" charset="-128"/>
            </a:endParaRPr>
          </a:p>
        </p:txBody>
      </p:sp>
      <p:graphicFrame>
        <p:nvGraphicFramePr>
          <p:cNvPr id="255" name="表 255">
            <a:extLst>
              <a:ext uri="{FF2B5EF4-FFF2-40B4-BE49-F238E27FC236}">
                <a16:creationId xmlns:a16="http://schemas.microsoft.com/office/drawing/2014/main" id="{238C88B2-E0D1-950A-16DC-AD9A1C46C3F1}"/>
              </a:ext>
            </a:extLst>
          </p:cNvPr>
          <p:cNvGraphicFramePr>
            <a:graphicFrameLocks noGrp="1"/>
          </p:cNvGraphicFramePr>
          <p:nvPr>
            <p:extLst>
              <p:ext uri="{D42A27DB-BD31-4B8C-83A1-F6EECF244321}">
                <p14:modId xmlns:p14="http://schemas.microsoft.com/office/powerpoint/2010/main" val="1321322507"/>
              </p:ext>
            </p:extLst>
          </p:nvPr>
        </p:nvGraphicFramePr>
        <p:xfrm>
          <a:off x="15343492" y="8182551"/>
          <a:ext cx="14557140" cy="155448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p>
                  </a:txBody>
                  <a:tcP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49,265,280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58,703,488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0.0094/0.0096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0.0109/0.0111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bl>
          </a:graphicData>
        </a:graphic>
      </p:graphicFrame>
      <p:graphicFrame>
        <p:nvGraphicFramePr>
          <p:cNvPr id="259" name="表 255">
            <a:extLst>
              <a:ext uri="{FF2B5EF4-FFF2-40B4-BE49-F238E27FC236}">
                <a16:creationId xmlns:a16="http://schemas.microsoft.com/office/drawing/2014/main" id="{075542DE-9B92-8E05-FA82-9740125B2813}"/>
              </a:ext>
            </a:extLst>
          </p:cNvPr>
          <p:cNvGraphicFramePr>
            <a:graphicFrameLocks noGrp="1"/>
          </p:cNvGraphicFramePr>
          <p:nvPr>
            <p:extLst>
              <p:ext uri="{D42A27DB-BD31-4B8C-83A1-F6EECF244321}">
                <p14:modId xmlns:p14="http://schemas.microsoft.com/office/powerpoint/2010/main" val="2722000830"/>
              </p:ext>
            </p:extLst>
          </p:nvPr>
        </p:nvGraphicFramePr>
        <p:xfrm>
          <a:off x="15343492" y="13321998"/>
          <a:ext cx="14557140" cy="207264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特徴量の次元数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1024</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14,659,712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23,048,832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0.0111/0.0111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0.0086/0.0086</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r h="370840">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FID</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108.30/109.38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73.03/74.37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61.76/62.87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extLst>
                  <a:ext uri="{0D108BD9-81ED-4DB2-BD59-A6C34878D82A}">
                    <a16:rowId xmlns:a16="http://schemas.microsoft.com/office/drawing/2014/main" val="2145768203"/>
                  </a:ext>
                </a:extLst>
              </a:tr>
            </a:tbl>
          </a:graphicData>
        </a:graphic>
      </p:graphicFrame>
      <p:graphicFrame>
        <p:nvGraphicFramePr>
          <p:cNvPr id="267" name="表 255">
            <a:extLst>
              <a:ext uri="{FF2B5EF4-FFF2-40B4-BE49-F238E27FC236}">
                <a16:creationId xmlns:a16="http://schemas.microsoft.com/office/drawing/2014/main" id="{565D17F5-8264-F2F6-1E6D-B898C818B676}"/>
              </a:ext>
            </a:extLst>
          </p:cNvPr>
          <p:cNvGraphicFramePr>
            <a:graphicFrameLocks noGrp="1"/>
          </p:cNvGraphicFramePr>
          <p:nvPr>
            <p:extLst>
              <p:ext uri="{D42A27DB-BD31-4B8C-83A1-F6EECF244321}">
                <p14:modId xmlns:p14="http://schemas.microsoft.com/office/powerpoint/2010/main" val="502347837"/>
              </p:ext>
            </p:extLst>
          </p:nvPr>
        </p:nvGraphicFramePr>
        <p:xfrm>
          <a:off x="15329206" y="20162335"/>
          <a:ext cx="14557140" cy="4427067"/>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6564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p>
                  </a:txBody>
                  <a:tcPr/>
                </a:tc>
                <a:tc gridSpan="3">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再構成画像</a:t>
                      </a:r>
                    </a:p>
                  </a:txBody>
                  <a:tcPr/>
                </a:tc>
                <a:tc hMerge="1">
                  <a:txBody>
                    <a:bodyPr/>
                    <a:lstStyle/>
                    <a:p>
                      <a:pPr algn="ctr"/>
                      <a:endParaRPr kumimoji="1" lang="ja-JP" altLang="en-US" sz="3600" spc="-100" baseline="0">
                        <a:latin typeface="UD Digi Kyokasho NK-R" panose="02020400000000000000" pitchFamily="18" charset="-128"/>
                        <a:ea typeface="UD Digi Kyokasho NK-R" panose="02020400000000000000" pitchFamily="18" charset="-128"/>
                      </a:endParaRPr>
                    </a:p>
                  </a:txBody>
                  <a:tcPr/>
                </a:tc>
                <a:tc hMerge="1">
                  <a:txBody>
                    <a:bodyPr/>
                    <a:lstStyle/>
                    <a:p>
                      <a:pPr algn="ctr"/>
                      <a:endParaRPr kumimoji="1" lang="ja-JP" altLang="en-US" sz="36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3271151497"/>
                  </a:ext>
                </a:extLst>
              </a:tr>
              <a:tr h="587829">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1024</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182798">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bl>
          </a:graphicData>
        </a:graphic>
      </p:graphicFrame>
      <p:pic>
        <p:nvPicPr>
          <p:cNvPr id="3" name="図 2" descr="グラフ, 折れ線グラフ&#10;&#10;自動的に生成された説明">
            <a:extLst>
              <a:ext uri="{FF2B5EF4-FFF2-40B4-BE49-F238E27FC236}">
                <a16:creationId xmlns:a16="http://schemas.microsoft.com/office/drawing/2014/main" id="{14732F4C-5879-229A-1C40-60D234D0B3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900824" y="28184279"/>
            <a:ext cx="11442475" cy="5016652"/>
          </a:xfrm>
          <a:prstGeom prst="rect">
            <a:avLst/>
          </a:prstGeom>
        </p:spPr>
      </p:pic>
      <p:graphicFrame>
        <p:nvGraphicFramePr>
          <p:cNvPr id="4" name="表 255">
            <a:extLst>
              <a:ext uri="{FF2B5EF4-FFF2-40B4-BE49-F238E27FC236}">
                <a16:creationId xmlns:a16="http://schemas.microsoft.com/office/drawing/2014/main" id="{ED82D327-A8A9-DFD6-9FF7-08FA73F91AD0}"/>
              </a:ext>
            </a:extLst>
          </p:cNvPr>
          <p:cNvGraphicFramePr>
            <a:graphicFrameLocks noGrp="1"/>
          </p:cNvGraphicFramePr>
          <p:nvPr>
            <p:extLst>
              <p:ext uri="{D42A27DB-BD31-4B8C-83A1-F6EECF244321}">
                <p14:modId xmlns:p14="http://schemas.microsoft.com/office/powerpoint/2010/main" val="1171517650"/>
              </p:ext>
            </p:extLst>
          </p:nvPr>
        </p:nvGraphicFramePr>
        <p:xfrm>
          <a:off x="15343492" y="34403524"/>
          <a:ext cx="14557141" cy="289082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63206">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775872">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やべっ寝過ごした</a:t>
                      </a:r>
                    </a:p>
                  </a:txBody>
                  <a:tcPr anchor="ctr"/>
                </a:tc>
                <a:extLst>
                  <a:ext uri="{0D108BD9-81ED-4DB2-BD59-A6C34878D82A}">
                    <a16:rowId xmlns:a16="http://schemas.microsoft.com/office/drawing/2014/main" val="2587712661"/>
                  </a:ext>
                </a:extLst>
              </a:tr>
              <a:tr h="775871">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背後に</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背後霊</a:t>
                      </a:r>
                      <a:r>
                        <a:rPr kumimoji="1" lang="ja-JP" altLang="en-US" sz="2800" spc="-100" baseline="0">
                          <a:latin typeface="UD Digi Kyokasho NK-R" panose="02020400000000000000" pitchFamily="18" charset="-128"/>
                          <a:ea typeface="UD Digi Kyokasho NK-R" panose="02020400000000000000" pitchFamily="18" charset="-128"/>
                        </a:rPr>
                        <a:t>がいる</a:t>
                      </a:r>
                    </a:p>
                  </a:txBody>
                  <a:tcPr anchor="ctr"/>
                </a:tc>
                <a:extLst>
                  <a:ext uri="{0D108BD9-81ED-4DB2-BD59-A6C34878D82A}">
                    <a16:rowId xmlns:a16="http://schemas.microsoft.com/office/drawing/2014/main" val="686941759"/>
                  </a:ext>
                </a:extLst>
              </a:tr>
              <a:tr h="775872">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第一印象から決めてました</a:t>
                      </a:r>
                    </a:p>
                  </a:txBody>
                  <a:tcPr anchor="ctr"/>
                </a:tc>
                <a:extLst>
                  <a:ext uri="{0D108BD9-81ED-4DB2-BD59-A6C34878D82A}">
                    <a16:rowId xmlns:a16="http://schemas.microsoft.com/office/drawing/2014/main" val="1783522377"/>
                  </a:ext>
                </a:extLst>
              </a:tr>
            </a:tbl>
          </a:graphicData>
        </a:graphic>
      </p:graphicFrame>
      <p:graphicFrame>
        <p:nvGraphicFramePr>
          <p:cNvPr id="74" name="表 74">
            <a:extLst>
              <a:ext uri="{FF2B5EF4-FFF2-40B4-BE49-F238E27FC236}">
                <a16:creationId xmlns:a16="http://schemas.microsoft.com/office/drawing/2014/main" id="{18E2C4D5-BB3D-391A-5F24-4A280ADA4C50}"/>
              </a:ext>
            </a:extLst>
          </p:cNvPr>
          <p:cNvGraphicFramePr>
            <a:graphicFrameLocks noGrp="1"/>
          </p:cNvGraphicFramePr>
          <p:nvPr>
            <p:extLst>
              <p:ext uri="{D42A27DB-BD31-4B8C-83A1-F6EECF244321}">
                <p14:modId xmlns:p14="http://schemas.microsoft.com/office/powerpoint/2010/main" val="4188001969"/>
              </p:ext>
            </p:extLst>
          </p:nvPr>
        </p:nvGraphicFramePr>
        <p:xfrm>
          <a:off x="474687" y="36668007"/>
          <a:ext cx="14271298" cy="3546691"/>
        </p:xfrm>
        <a:graphic>
          <a:graphicData uri="http://schemas.openxmlformats.org/drawingml/2006/table">
            <a:tbl>
              <a:tblPr firstRow="1" bandRow="1">
                <a:tableStyleId>{7DF18680-E054-41AD-8BC1-D1AEF772440D}</a:tableStyleId>
              </a:tblPr>
              <a:tblGrid>
                <a:gridCol w="7135649">
                  <a:extLst>
                    <a:ext uri="{9D8B030D-6E8A-4147-A177-3AD203B41FA5}">
                      <a16:colId xmlns:a16="http://schemas.microsoft.com/office/drawing/2014/main" val="1696693587"/>
                    </a:ext>
                  </a:extLst>
                </a:gridCol>
                <a:gridCol w="7135649">
                  <a:extLst>
                    <a:ext uri="{9D8B030D-6E8A-4147-A177-3AD203B41FA5}">
                      <a16:colId xmlns:a16="http://schemas.microsoft.com/office/drawing/2014/main" val="693706453"/>
                    </a:ext>
                  </a:extLst>
                </a:gridCol>
              </a:tblGrid>
              <a:tr h="2019643">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1958493544"/>
                  </a:ext>
                </a:extLst>
              </a:tr>
              <a:tr h="1518849">
                <a:tc>
                  <a:txBody>
                    <a:bodyPr/>
                    <a:lstStyle/>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宿題制度を廃止にする</a:t>
                      </a:r>
                      <a:endParaRPr lang="en-US" altLang="ja-JP" sz="2800" dirty="0">
                        <a:latin typeface="UD Digi Kyokasho NK-R" panose="02020400000000000000" pitchFamily="18" charset="-128"/>
                        <a:ea typeface="UD Digi Kyokasho NK-R" panose="02020400000000000000" pitchFamily="18" charset="-128"/>
                      </a:endParaRPr>
                    </a:p>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首相がキムタク</a:t>
                      </a:r>
                      <a:endParaRPr lang="en-US" altLang="ja-JP" sz="2800" dirty="0">
                        <a:latin typeface="UD Digi Kyokasho NK-R" panose="02020400000000000000" pitchFamily="18" charset="-128"/>
                        <a:ea typeface="UD Digi Kyokasho NK-R" panose="02020400000000000000" pitchFamily="18" charset="-128"/>
                      </a:endParaRPr>
                    </a:p>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全体的にシュッとしてる</a:t>
                      </a:r>
                      <a:endParaRPr lang="en-US" altLang="ja-JP" sz="2800" dirty="0">
                        <a:latin typeface="UD Digi Kyokasho NK-R" panose="02020400000000000000" pitchFamily="18" charset="-128"/>
                        <a:ea typeface="UD Digi Kyokasho NK-R" panose="02020400000000000000" pitchFamily="18" charset="-128"/>
                      </a:endParaRPr>
                    </a:p>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しゃべってる時たまに白目を剥く</a:t>
                      </a:r>
                      <a:endParaRPr lang="en-US" altLang="ja-JP" sz="2800" dirty="0">
                        <a:latin typeface="UD Digi Kyokasho NK-R" panose="02020400000000000000" pitchFamily="18" charset="-128"/>
                        <a:ea typeface="UD Digi Kyokasho NK-R" panose="02020400000000000000" pitchFamily="18" charset="-128"/>
                      </a:endParaRPr>
                    </a:p>
                  </a:txBody>
                  <a:tcPr/>
                </a:tc>
                <a:tc>
                  <a:txBody>
                    <a:bodyPr/>
                    <a:lstStyle/>
                    <a:p>
                      <a:pPr marL="285750" indent="-285750">
                        <a:lnSpc>
                          <a:spcPts val="2760"/>
                        </a:lnSpc>
                        <a:buFont typeface="Arial" panose="020B0604020202020204" pitchFamily="34" charset="0"/>
                        <a:buChar char="•"/>
                      </a:pPr>
                      <a:r>
                        <a:rPr lang="ja-JP" altLang="en-US" sz="2800" spc="-100" baseline="0">
                          <a:latin typeface="UD Digi Kyokasho NK-R" panose="02020400000000000000" pitchFamily="18" charset="-128"/>
                          <a:ea typeface="UD Digi Kyokasho NK-R" panose="02020400000000000000" pitchFamily="18" charset="-128"/>
                        </a:rPr>
                        <a:t>背後霊とｼﾝｸﾛ</a:t>
                      </a:r>
                      <a:endParaRPr lang="en-US" altLang="ja-JP" sz="2800" spc="-100" baseline="0" dirty="0">
                        <a:latin typeface="UD Digi Kyokasho NK-R" panose="02020400000000000000" pitchFamily="18" charset="-128"/>
                        <a:ea typeface="UD Digi Kyokasho NK-R" panose="02020400000000000000" pitchFamily="18" charset="-128"/>
                      </a:endParaRPr>
                    </a:p>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spc="-100" baseline="0">
                          <a:latin typeface="UD Digi Kyokasho NK-R" panose="02020400000000000000" pitchFamily="18" charset="-128"/>
                          <a:ea typeface="UD Digi Kyokasho NK-R" panose="02020400000000000000" pitchFamily="18" charset="-128"/>
                        </a:rPr>
                        <a:t>交信中</a:t>
                      </a:r>
                      <a:endParaRPr lang="en-US" altLang="ja-JP" sz="2800" spc="-100" baseline="0" dirty="0">
                        <a:latin typeface="UD Digi Kyokasho NK-R" panose="02020400000000000000" pitchFamily="18" charset="-128"/>
                        <a:ea typeface="UD Digi Kyokasho NK-R" panose="02020400000000000000" pitchFamily="18" charset="-128"/>
                      </a:endParaRPr>
                    </a:p>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spc="-100" baseline="0">
                          <a:latin typeface="UD Digi Kyokasho NK-R" panose="02020400000000000000" pitchFamily="18" charset="-128"/>
                          <a:ea typeface="UD Digi Kyokasho NK-R" panose="02020400000000000000" pitchFamily="18" charset="-128"/>
                        </a:rPr>
                        <a:t>この匂い</a:t>
                      </a:r>
                      <a:r>
                        <a:rPr lang="en-US" altLang="ja-JP" sz="2800" spc="-100" baseline="0" dirty="0">
                          <a:latin typeface="UD Digi Kyokasho NK-R" panose="02020400000000000000" pitchFamily="18" charset="-128"/>
                          <a:ea typeface="UD Digi Kyokasho NK-R" panose="02020400000000000000" pitchFamily="18" charset="-128"/>
                        </a:rPr>
                        <a:t>…</a:t>
                      </a:r>
                      <a:r>
                        <a:rPr lang="ja-JP" altLang="en-US" sz="2800" spc="-100" baseline="0">
                          <a:latin typeface="UD Digi Kyokasho NK-R" panose="02020400000000000000" pitchFamily="18" charset="-128"/>
                          <a:ea typeface="UD Digi Kyokasho NK-R" panose="02020400000000000000" pitchFamily="18" charset="-128"/>
                        </a:rPr>
                        <a:t>もしかしてシチュー！？</a:t>
                      </a:r>
                      <a:endParaRPr lang="en-US" altLang="ja-JP" sz="2800" spc="-100" baseline="0" dirty="0">
                        <a:latin typeface="UD Digi Kyokasho NK-R" panose="02020400000000000000" pitchFamily="18" charset="-128"/>
                        <a:ea typeface="UD Digi Kyokasho NK-R" panose="02020400000000000000" pitchFamily="18" charset="-128"/>
                      </a:endParaRPr>
                    </a:p>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spc="-100" baseline="0">
                          <a:latin typeface="UD Digi Kyokasho NK-R" panose="02020400000000000000" pitchFamily="18" charset="-128"/>
                          <a:ea typeface="UD Digi Kyokasho NK-R" panose="02020400000000000000" pitchFamily="18" charset="-128"/>
                        </a:rPr>
                        <a:t>どちらかが生き別れた兄ちゃんらしいんだけど</a:t>
                      </a:r>
                    </a:p>
                  </a:txBody>
                  <a:tcPr/>
                </a:tc>
                <a:extLst>
                  <a:ext uri="{0D108BD9-81ED-4DB2-BD59-A6C34878D82A}">
                    <a16:rowId xmlns:a16="http://schemas.microsoft.com/office/drawing/2014/main" val="311803853"/>
                  </a:ext>
                </a:extLst>
              </a:tr>
            </a:tbl>
          </a:graphicData>
        </a:graphic>
      </p:graphicFrame>
      <p:pic>
        <p:nvPicPr>
          <p:cNvPr id="2" name="図 1">
            <a:extLst>
              <a:ext uri="{FF2B5EF4-FFF2-40B4-BE49-F238E27FC236}">
                <a16:creationId xmlns:a16="http://schemas.microsoft.com/office/drawing/2014/main" id="{06058ED4-A738-C34C-527E-9C7E9A1D5B16}"/>
              </a:ext>
            </a:extLst>
          </p:cNvPr>
          <p:cNvPicPr>
            <a:picLocks noChangeAspect="1"/>
          </p:cNvPicPr>
          <p:nvPr/>
        </p:nvPicPr>
        <p:blipFill>
          <a:blip r:embed="rId7"/>
          <a:stretch>
            <a:fillRect/>
          </a:stretch>
        </p:blipFill>
        <p:spPr>
          <a:xfrm>
            <a:off x="16004098" y="35024887"/>
            <a:ext cx="2254355" cy="2254355"/>
          </a:xfrm>
          <a:prstGeom prst="rect">
            <a:avLst/>
          </a:prstGeom>
        </p:spPr>
      </p:pic>
      <p:pic>
        <p:nvPicPr>
          <p:cNvPr id="27" name="図 26">
            <a:extLst>
              <a:ext uri="{FF2B5EF4-FFF2-40B4-BE49-F238E27FC236}">
                <a16:creationId xmlns:a16="http://schemas.microsoft.com/office/drawing/2014/main" id="{3ACB756E-77C4-D8B9-BB66-C80A7DB45412}"/>
              </a:ext>
            </a:extLst>
          </p:cNvPr>
          <p:cNvPicPr>
            <a:picLocks noChangeAspect="1"/>
          </p:cNvPicPr>
          <p:nvPr/>
        </p:nvPicPr>
        <p:blipFill>
          <a:blip r:embed="rId8"/>
          <a:stretch>
            <a:fillRect/>
          </a:stretch>
        </p:blipFill>
        <p:spPr>
          <a:xfrm>
            <a:off x="15585712" y="21504461"/>
            <a:ext cx="3083999" cy="3083999"/>
          </a:xfrm>
          <a:prstGeom prst="rect">
            <a:avLst/>
          </a:prstGeom>
        </p:spPr>
      </p:pic>
      <p:pic>
        <p:nvPicPr>
          <p:cNvPr id="33" name="図 32">
            <a:extLst>
              <a:ext uri="{FF2B5EF4-FFF2-40B4-BE49-F238E27FC236}">
                <a16:creationId xmlns:a16="http://schemas.microsoft.com/office/drawing/2014/main" id="{405A57DB-25AF-5828-979F-ACF81963688E}"/>
              </a:ext>
            </a:extLst>
          </p:cNvPr>
          <p:cNvPicPr>
            <a:picLocks noChangeAspect="1"/>
          </p:cNvPicPr>
          <p:nvPr/>
        </p:nvPicPr>
        <p:blipFill>
          <a:blip r:embed="rId9"/>
          <a:stretch>
            <a:fillRect/>
          </a:stretch>
        </p:blipFill>
        <p:spPr>
          <a:xfrm>
            <a:off x="19253466" y="21502229"/>
            <a:ext cx="3083998" cy="3083998"/>
          </a:xfrm>
          <a:prstGeom prst="rect">
            <a:avLst/>
          </a:prstGeom>
        </p:spPr>
      </p:pic>
      <p:pic>
        <p:nvPicPr>
          <p:cNvPr id="40" name="図 39">
            <a:extLst>
              <a:ext uri="{FF2B5EF4-FFF2-40B4-BE49-F238E27FC236}">
                <a16:creationId xmlns:a16="http://schemas.microsoft.com/office/drawing/2014/main" id="{0644C89B-29B5-841C-C504-EA62B1958AB4}"/>
              </a:ext>
            </a:extLst>
          </p:cNvPr>
          <p:cNvPicPr>
            <a:picLocks noChangeAspect="1"/>
          </p:cNvPicPr>
          <p:nvPr/>
        </p:nvPicPr>
        <p:blipFill>
          <a:blip r:embed="rId10"/>
          <a:stretch>
            <a:fillRect/>
          </a:stretch>
        </p:blipFill>
        <p:spPr>
          <a:xfrm>
            <a:off x="22924119" y="21494328"/>
            <a:ext cx="3083998" cy="3083998"/>
          </a:xfrm>
          <a:prstGeom prst="rect">
            <a:avLst/>
          </a:prstGeom>
        </p:spPr>
      </p:pic>
      <p:pic>
        <p:nvPicPr>
          <p:cNvPr id="48" name="図 47">
            <a:extLst>
              <a:ext uri="{FF2B5EF4-FFF2-40B4-BE49-F238E27FC236}">
                <a16:creationId xmlns:a16="http://schemas.microsoft.com/office/drawing/2014/main" id="{C2635F94-DED3-A817-9ACB-2C2A35959766}"/>
              </a:ext>
            </a:extLst>
          </p:cNvPr>
          <p:cNvPicPr>
            <a:picLocks noChangeAspect="1"/>
          </p:cNvPicPr>
          <p:nvPr/>
        </p:nvPicPr>
        <p:blipFill>
          <a:blip r:embed="rId11"/>
          <a:stretch>
            <a:fillRect/>
          </a:stretch>
        </p:blipFill>
        <p:spPr>
          <a:xfrm>
            <a:off x="26510039" y="21501412"/>
            <a:ext cx="3083998" cy="3083998"/>
          </a:xfrm>
          <a:prstGeom prst="rect">
            <a:avLst/>
          </a:prstGeom>
        </p:spPr>
      </p:pic>
      <p:grpSp>
        <p:nvGrpSpPr>
          <p:cNvPr id="163" name="グループ化 162">
            <a:extLst>
              <a:ext uri="{FF2B5EF4-FFF2-40B4-BE49-F238E27FC236}">
                <a16:creationId xmlns:a16="http://schemas.microsoft.com/office/drawing/2014/main" id="{2A77C832-F566-9D56-1FDC-46CB395BD21C}"/>
              </a:ext>
            </a:extLst>
          </p:cNvPr>
          <p:cNvGrpSpPr/>
          <p:nvPr/>
        </p:nvGrpSpPr>
        <p:grpSpPr>
          <a:xfrm>
            <a:off x="1545856" y="16438419"/>
            <a:ext cx="1496736" cy="1496736"/>
            <a:chOff x="1545856" y="16973525"/>
            <a:chExt cx="1496736" cy="1496736"/>
          </a:xfrm>
        </p:grpSpPr>
        <p:pic>
          <p:nvPicPr>
            <p:cNvPr id="140" name="図 139" descr="帽子を被っている女性&#10;&#10;自動的に生成された説明">
              <a:extLst>
                <a:ext uri="{FF2B5EF4-FFF2-40B4-BE49-F238E27FC236}">
                  <a16:creationId xmlns:a16="http://schemas.microsoft.com/office/drawing/2014/main" id="{4A938967-BE03-F8BC-99CD-62C8730CE98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141" name="テキスト ボックス 140">
                  <a:extLst>
                    <a:ext uri="{FF2B5EF4-FFF2-40B4-BE49-F238E27FC236}">
                      <a16:creationId xmlns:a16="http://schemas.microsoft.com/office/drawing/2014/main" id="{1E582F31-4D14-1D9A-2170-88F0F2A33F7C}"/>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141" name="テキスト ボックス 140">
                  <a:extLst>
                    <a:ext uri="{FF2B5EF4-FFF2-40B4-BE49-F238E27FC236}">
                      <a16:creationId xmlns:a16="http://schemas.microsoft.com/office/drawing/2014/main" id="{1E582F31-4D14-1D9A-2170-88F0F2A33F7C}"/>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13"/>
                  <a:stretch>
                    <a:fillRect b="-5714"/>
                  </a:stretch>
                </a:blipFill>
              </p:spPr>
              <p:txBody>
                <a:bodyPr/>
                <a:lstStyle/>
                <a:p>
                  <a:r>
                    <a:rPr lang="ja-JP" altLang="en-US">
                      <a:noFill/>
                    </a:rPr>
                    <a:t> </a:t>
                  </a:r>
                </a:p>
              </p:txBody>
            </p:sp>
          </mc:Fallback>
        </mc:AlternateContent>
      </p:grpSp>
      <p:cxnSp>
        <p:nvCxnSpPr>
          <p:cNvPr id="144" name="直線矢印コネクタ 143">
            <a:extLst>
              <a:ext uri="{FF2B5EF4-FFF2-40B4-BE49-F238E27FC236}">
                <a16:creationId xmlns:a16="http://schemas.microsoft.com/office/drawing/2014/main" id="{9419C135-882D-3164-33CC-377752AA7420}"/>
              </a:ext>
            </a:extLst>
          </p:cNvPr>
          <p:cNvCxnSpPr>
            <a:cxnSpLocks/>
            <a:stCxn id="140" idx="3"/>
            <a:endCxn id="146" idx="2"/>
          </p:cNvCxnSpPr>
          <p:nvPr/>
        </p:nvCxnSpPr>
        <p:spPr>
          <a:xfrm flipV="1">
            <a:off x="3042592" y="17180319"/>
            <a:ext cx="1853074"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45" name="グループ化 144">
            <a:extLst>
              <a:ext uri="{FF2B5EF4-FFF2-40B4-BE49-F238E27FC236}">
                <a16:creationId xmlns:a16="http://schemas.microsoft.com/office/drawing/2014/main" id="{E3293039-CB61-3CD9-D436-F25873887D8D}"/>
              </a:ext>
            </a:extLst>
          </p:cNvPr>
          <p:cNvGrpSpPr/>
          <p:nvPr/>
        </p:nvGrpSpPr>
        <p:grpSpPr>
          <a:xfrm>
            <a:off x="4895666" y="16619043"/>
            <a:ext cx="1431984" cy="1122552"/>
            <a:chOff x="5794565" y="9611968"/>
            <a:chExt cx="1431984" cy="1122552"/>
          </a:xfrm>
        </p:grpSpPr>
        <p:sp>
          <p:nvSpPr>
            <p:cNvPr id="146" name="台形 145">
              <a:extLst>
                <a:ext uri="{FF2B5EF4-FFF2-40B4-BE49-F238E27FC236}">
                  <a16:creationId xmlns:a16="http://schemas.microsoft.com/office/drawing/2014/main" id="{5683D162-9A0F-1331-B4C0-E54C54F93ACA}"/>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47" name="テキスト ボックス 146">
                  <a:extLst>
                    <a:ext uri="{FF2B5EF4-FFF2-40B4-BE49-F238E27FC236}">
                      <a16:creationId xmlns:a16="http://schemas.microsoft.com/office/drawing/2014/main" id="{97D574B9-67DC-EDAC-F0C8-8B27C1426FF3}"/>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147" name="テキスト ボックス 146">
                  <a:extLst>
                    <a:ext uri="{FF2B5EF4-FFF2-40B4-BE49-F238E27FC236}">
                      <a16:creationId xmlns:a16="http://schemas.microsoft.com/office/drawing/2014/main" id="{97D574B9-67DC-EDAC-F0C8-8B27C1426FF3}"/>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14"/>
                  <a:stretch>
                    <a:fillRect l="-6364" r="-5455" b="-571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148" name="テキスト ボックス 147">
                <a:extLst>
                  <a:ext uri="{FF2B5EF4-FFF2-40B4-BE49-F238E27FC236}">
                    <a16:creationId xmlns:a16="http://schemas.microsoft.com/office/drawing/2014/main" id="{36646854-8309-CA7E-A2E8-BF3CF0956811}"/>
                  </a:ext>
                </a:extLst>
              </p:cNvPr>
              <p:cNvSpPr txBox="1"/>
              <p:nvPr/>
            </p:nvSpPr>
            <p:spPr>
              <a:xfrm>
                <a:off x="7854200" y="16954781"/>
                <a:ext cx="2610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i="1" smtClean="0">
                          <a:latin typeface="Cambria Math" panose="02040503050406030204" pitchFamily="18" charset="0"/>
                        </a:rPr>
                        <m:t>𝑧</m:t>
                      </m:r>
                    </m:oMath>
                  </m:oMathPara>
                </a14:m>
                <a:endParaRPr kumimoji="1" lang="ja-JP" altLang="en-US" sz="2800" dirty="0"/>
              </a:p>
            </p:txBody>
          </p:sp>
        </mc:Choice>
        <mc:Fallback xmlns="">
          <p:sp>
            <p:nvSpPr>
              <p:cNvPr id="148" name="テキスト ボックス 147">
                <a:extLst>
                  <a:ext uri="{FF2B5EF4-FFF2-40B4-BE49-F238E27FC236}">
                    <a16:creationId xmlns:a16="http://schemas.microsoft.com/office/drawing/2014/main" id="{36646854-8309-CA7E-A2E8-BF3CF0956811}"/>
                  </a:ext>
                </a:extLst>
              </p:cNvPr>
              <p:cNvSpPr txBox="1">
                <a:spLocks noRot="1" noChangeAspect="1" noMove="1" noResize="1" noEditPoints="1" noAdjustHandles="1" noChangeArrowheads="1" noChangeShapeType="1" noTextEdit="1"/>
              </p:cNvSpPr>
              <p:nvPr/>
            </p:nvSpPr>
            <p:spPr>
              <a:xfrm>
                <a:off x="7854200" y="16954781"/>
                <a:ext cx="261034" cy="430887"/>
              </a:xfrm>
              <a:prstGeom prst="rect">
                <a:avLst/>
              </a:prstGeom>
              <a:blipFill>
                <a:blip r:embed="rId15"/>
                <a:stretch>
                  <a:fillRect l="-19048" r="-14286"/>
                </a:stretch>
              </a:blipFill>
            </p:spPr>
            <p:txBody>
              <a:bodyPr/>
              <a:lstStyle/>
              <a:p>
                <a:r>
                  <a:rPr lang="ja-JP" altLang="en-US">
                    <a:noFill/>
                  </a:rPr>
                  <a:t> </a:t>
                </a:r>
              </a:p>
            </p:txBody>
          </p:sp>
        </mc:Fallback>
      </mc:AlternateContent>
      <p:cxnSp>
        <p:nvCxnSpPr>
          <p:cNvPr id="149" name="直線矢印コネクタ 148">
            <a:extLst>
              <a:ext uri="{FF2B5EF4-FFF2-40B4-BE49-F238E27FC236}">
                <a16:creationId xmlns:a16="http://schemas.microsoft.com/office/drawing/2014/main" id="{8BDEE2B4-5100-E757-EE33-1A1C8EEE57D1}"/>
              </a:ext>
            </a:extLst>
          </p:cNvPr>
          <p:cNvCxnSpPr>
            <a:cxnSpLocks/>
            <a:stCxn id="147" idx="3"/>
            <a:endCxn id="148" idx="1"/>
          </p:cNvCxnSpPr>
          <p:nvPr/>
        </p:nvCxnSpPr>
        <p:spPr>
          <a:xfrm flipV="1">
            <a:off x="6316764" y="17170225"/>
            <a:ext cx="1537436" cy="75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52" name="グループ化 151">
            <a:extLst>
              <a:ext uri="{FF2B5EF4-FFF2-40B4-BE49-F238E27FC236}">
                <a16:creationId xmlns:a16="http://schemas.microsoft.com/office/drawing/2014/main" id="{C8D1911A-25A4-25BD-383C-D564F02640C8}"/>
              </a:ext>
            </a:extLst>
          </p:cNvPr>
          <p:cNvGrpSpPr/>
          <p:nvPr/>
        </p:nvGrpSpPr>
        <p:grpSpPr>
          <a:xfrm>
            <a:off x="9500859" y="16619043"/>
            <a:ext cx="1431984" cy="1122552"/>
            <a:chOff x="5794565" y="9611968"/>
            <a:chExt cx="1431984" cy="1122552"/>
          </a:xfrm>
        </p:grpSpPr>
        <p:sp>
          <p:nvSpPr>
            <p:cNvPr id="153" name="台形 152">
              <a:extLst>
                <a:ext uri="{FF2B5EF4-FFF2-40B4-BE49-F238E27FC236}">
                  <a16:creationId xmlns:a16="http://schemas.microsoft.com/office/drawing/2014/main" id="{96D0D795-90A1-ACC0-85A4-BCD7DD18270C}"/>
                </a:ext>
              </a:extLst>
            </p:cNvPr>
            <p:cNvSpPr/>
            <p:nvPr/>
          </p:nvSpPr>
          <p:spPr>
            <a:xfrm rot="162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56" name="テキスト ボックス 155">
                  <a:extLst>
                    <a:ext uri="{FF2B5EF4-FFF2-40B4-BE49-F238E27FC236}">
                      <a16:creationId xmlns:a16="http://schemas.microsoft.com/office/drawing/2014/main" id="{4BB572AF-5C60-DB62-3625-279563EB0F9A}"/>
                    </a:ext>
                  </a:extLst>
                </p:cNvPr>
                <p:cNvSpPr txBox="1"/>
                <p:nvPr/>
              </p:nvSpPr>
              <p:spPr>
                <a:xfrm>
                  <a:off x="5827591" y="9955261"/>
                  <a:ext cx="13896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𝑑𝑒𝑐𝑜𝑑𝑒𝑟</m:t>
                        </m:r>
                      </m:oMath>
                    </m:oMathPara>
                  </a14:m>
                  <a:endParaRPr kumimoji="1" lang="ja-JP" altLang="en-US" sz="2800" dirty="0"/>
                </a:p>
              </p:txBody>
            </p:sp>
          </mc:Choice>
          <mc:Fallback xmlns="">
            <p:sp>
              <p:nvSpPr>
                <p:cNvPr id="156" name="テキスト ボックス 155">
                  <a:extLst>
                    <a:ext uri="{FF2B5EF4-FFF2-40B4-BE49-F238E27FC236}">
                      <a16:creationId xmlns:a16="http://schemas.microsoft.com/office/drawing/2014/main" id="{4BB572AF-5C60-DB62-3625-279563EB0F9A}"/>
                    </a:ext>
                  </a:extLst>
                </p:cNvPr>
                <p:cNvSpPr txBox="1">
                  <a:spLocks noRot="1" noChangeAspect="1" noMove="1" noResize="1" noEditPoints="1" noAdjustHandles="1" noChangeArrowheads="1" noChangeShapeType="1" noTextEdit="1"/>
                </p:cNvSpPr>
                <p:nvPr/>
              </p:nvSpPr>
              <p:spPr>
                <a:xfrm>
                  <a:off x="5827591" y="9955261"/>
                  <a:ext cx="1389676" cy="430887"/>
                </a:xfrm>
                <a:prstGeom prst="rect">
                  <a:avLst/>
                </a:prstGeom>
                <a:blipFill>
                  <a:blip r:embed="rId16"/>
                  <a:stretch>
                    <a:fillRect l="-5405" r="-4505" b="-5714"/>
                  </a:stretch>
                </a:blipFill>
              </p:spPr>
              <p:txBody>
                <a:bodyPr/>
                <a:lstStyle/>
                <a:p>
                  <a:r>
                    <a:rPr lang="ja-JP" altLang="en-US">
                      <a:noFill/>
                    </a:rPr>
                    <a:t> </a:t>
                  </a:r>
                </a:p>
              </p:txBody>
            </p:sp>
          </mc:Fallback>
        </mc:AlternateContent>
      </p:grpSp>
      <p:cxnSp>
        <p:nvCxnSpPr>
          <p:cNvPr id="159" name="直線矢印コネクタ 158">
            <a:extLst>
              <a:ext uri="{FF2B5EF4-FFF2-40B4-BE49-F238E27FC236}">
                <a16:creationId xmlns:a16="http://schemas.microsoft.com/office/drawing/2014/main" id="{AA37CFC5-9C1A-1AD8-8E61-58F147351625}"/>
              </a:ext>
            </a:extLst>
          </p:cNvPr>
          <p:cNvCxnSpPr>
            <a:cxnSpLocks/>
            <a:stCxn id="148" idx="3"/>
            <a:endCxn id="153" idx="0"/>
          </p:cNvCxnSpPr>
          <p:nvPr/>
        </p:nvCxnSpPr>
        <p:spPr>
          <a:xfrm>
            <a:off x="8115234" y="17170225"/>
            <a:ext cx="1385625" cy="100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64" name="グループ化 163">
            <a:extLst>
              <a:ext uri="{FF2B5EF4-FFF2-40B4-BE49-F238E27FC236}">
                <a16:creationId xmlns:a16="http://schemas.microsoft.com/office/drawing/2014/main" id="{02A71AB6-6988-B1AD-1D07-EEE7A0C2ECCB}"/>
              </a:ext>
            </a:extLst>
          </p:cNvPr>
          <p:cNvGrpSpPr/>
          <p:nvPr/>
        </p:nvGrpSpPr>
        <p:grpSpPr>
          <a:xfrm>
            <a:off x="12792225" y="16429411"/>
            <a:ext cx="1496736" cy="1496736"/>
            <a:chOff x="1545856" y="16973525"/>
            <a:chExt cx="1496736" cy="1496736"/>
          </a:xfrm>
        </p:grpSpPr>
        <p:pic>
          <p:nvPicPr>
            <p:cNvPr id="166" name="図 165" descr="帽子を被っている女性&#10;&#10;自動的に生成された説明">
              <a:extLst>
                <a:ext uri="{FF2B5EF4-FFF2-40B4-BE49-F238E27FC236}">
                  <a16:creationId xmlns:a16="http://schemas.microsoft.com/office/drawing/2014/main" id="{1AD72BE5-A8D3-F80A-218B-89B9983A567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168" name="テキスト ボックス 167">
                  <a:extLst>
                    <a:ext uri="{FF2B5EF4-FFF2-40B4-BE49-F238E27FC236}">
                      <a16:creationId xmlns:a16="http://schemas.microsoft.com/office/drawing/2014/main" id="{1EB601CA-CE69-4A46-B060-563AC3F00560}"/>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rPr>
                            </m:ctrlPr>
                          </m:sSupPr>
                          <m:e>
                            <m:r>
                              <a:rPr kumimoji="1" lang="en-US" altLang="ja-JP" sz="2800" b="1">
                                <a:latin typeface="Cambria Math" panose="02040503050406030204" pitchFamily="18" charset="0"/>
                              </a:rPr>
                              <m:t>𝐈</m:t>
                            </m:r>
                          </m:e>
                          <m:sup>
                            <m:r>
                              <a:rPr kumimoji="1" lang="en-US" altLang="ja-JP" sz="2800" b="0" i="0" smtClean="0">
                                <a:latin typeface="Cambria Math" panose="02040503050406030204" pitchFamily="18" charset="0"/>
                              </a:rPr>
                              <m:t>′</m:t>
                            </m:r>
                          </m:sup>
                        </m:sSup>
                      </m:oMath>
                    </m:oMathPara>
                  </a14:m>
                  <a:endParaRPr kumimoji="1" lang="ja-JP" altLang="en-US" sz="2800" dirty="0"/>
                </a:p>
              </p:txBody>
            </p:sp>
          </mc:Choice>
          <mc:Fallback xmlns="">
            <p:sp>
              <p:nvSpPr>
                <p:cNvPr id="168" name="テキスト ボックス 167">
                  <a:extLst>
                    <a:ext uri="{FF2B5EF4-FFF2-40B4-BE49-F238E27FC236}">
                      <a16:creationId xmlns:a16="http://schemas.microsoft.com/office/drawing/2014/main" id="{1EB601CA-CE69-4A46-B060-563AC3F00560}"/>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17"/>
                  <a:stretch>
                    <a:fillRect b="-5714"/>
                  </a:stretch>
                </a:blipFill>
              </p:spPr>
              <p:txBody>
                <a:bodyPr/>
                <a:lstStyle/>
                <a:p>
                  <a:r>
                    <a:rPr lang="ja-JP" altLang="en-US">
                      <a:noFill/>
                    </a:rPr>
                    <a:t> </a:t>
                  </a:r>
                </a:p>
              </p:txBody>
            </p:sp>
          </mc:Fallback>
        </mc:AlternateContent>
      </p:grpSp>
      <p:cxnSp>
        <p:nvCxnSpPr>
          <p:cNvPr id="170" name="直線矢印コネクタ 169">
            <a:extLst>
              <a:ext uri="{FF2B5EF4-FFF2-40B4-BE49-F238E27FC236}">
                <a16:creationId xmlns:a16="http://schemas.microsoft.com/office/drawing/2014/main" id="{C474C29B-D84F-EC2C-5EA6-245FAD82497A}"/>
              </a:ext>
            </a:extLst>
          </p:cNvPr>
          <p:cNvCxnSpPr>
            <a:cxnSpLocks/>
            <a:stCxn id="156" idx="3"/>
            <a:endCxn id="166" idx="1"/>
          </p:cNvCxnSpPr>
          <p:nvPr/>
        </p:nvCxnSpPr>
        <p:spPr>
          <a:xfrm flipV="1">
            <a:off x="10923561" y="17177779"/>
            <a:ext cx="186866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4" name="図 213" descr="帽子を被っている女性&#10;&#10;自動的に生成された説明">
            <a:extLst>
              <a:ext uri="{FF2B5EF4-FFF2-40B4-BE49-F238E27FC236}">
                <a16:creationId xmlns:a16="http://schemas.microsoft.com/office/drawing/2014/main" id="{AC82285A-96DB-9690-7F15-C9A038C14AC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21881" y="9772278"/>
            <a:ext cx="1496736" cy="1496736"/>
          </a:xfrm>
          <a:prstGeom prst="rect">
            <a:avLst/>
          </a:prstGeom>
        </p:spPr>
      </p:pic>
      <mc:AlternateContent xmlns:mc="http://schemas.openxmlformats.org/markup-compatibility/2006" xmlns:a14="http://schemas.microsoft.com/office/drawing/2010/main">
        <mc:Choice Requires="a14">
          <p:sp>
            <p:nvSpPr>
              <p:cNvPr id="216" name="テキスト ボックス 215">
                <a:extLst>
                  <a:ext uri="{FF2B5EF4-FFF2-40B4-BE49-F238E27FC236}">
                    <a16:creationId xmlns:a16="http://schemas.microsoft.com/office/drawing/2014/main" id="{E9786A7F-47F9-B8F1-4898-1CF3772FB67A}"/>
                  </a:ext>
                </a:extLst>
              </p:cNvPr>
              <p:cNvSpPr txBox="1"/>
              <p:nvPr/>
            </p:nvSpPr>
            <p:spPr>
              <a:xfrm>
                <a:off x="2036003" y="9062159"/>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16" name="テキスト ボックス 215">
                <a:extLst>
                  <a:ext uri="{FF2B5EF4-FFF2-40B4-BE49-F238E27FC236}">
                    <a16:creationId xmlns:a16="http://schemas.microsoft.com/office/drawing/2014/main" id="{E9786A7F-47F9-B8F1-4898-1CF3772FB67A}"/>
                  </a:ext>
                </a:extLst>
              </p:cNvPr>
              <p:cNvSpPr txBox="1">
                <a:spLocks noRot="1" noChangeAspect="1" noMove="1" noResize="1" noEditPoints="1" noAdjustHandles="1" noChangeArrowheads="1" noChangeShapeType="1" noTextEdit="1"/>
              </p:cNvSpPr>
              <p:nvPr/>
            </p:nvSpPr>
            <p:spPr>
              <a:xfrm>
                <a:off x="2036003" y="9062159"/>
                <a:ext cx="471668" cy="430887"/>
              </a:xfrm>
              <a:prstGeom prst="rect">
                <a:avLst/>
              </a:prstGeom>
              <a:blipFill>
                <a:blip r:embed="rId18"/>
                <a:stretch>
                  <a:fillRect l="-10526" r="-2632"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7" name="テキスト ボックス 216">
                <a:extLst>
                  <a:ext uri="{FF2B5EF4-FFF2-40B4-BE49-F238E27FC236}">
                    <a16:creationId xmlns:a16="http://schemas.microsoft.com/office/drawing/2014/main" id="{89F9CC42-0EFF-4861-65DA-AA213DBC97A8}"/>
                  </a:ext>
                </a:extLst>
              </p:cNvPr>
              <p:cNvSpPr txBox="1"/>
              <p:nvPr/>
            </p:nvSpPr>
            <p:spPr>
              <a:xfrm>
                <a:off x="1988951" y="10296194"/>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17" name="テキスト ボックス 216">
                <a:extLst>
                  <a:ext uri="{FF2B5EF4-FFF2-40B4-BE49-F238E27FC236}">
                    <a16:creationId xmlns:a16="http://schemas.microsoft.com/office/drawing/2014/main" id="{89F9CC42-0EFF-4861-65DA-AA213DBC97A8}"/>
                  </a:ext>
                </a:extLst>
              </p:cNvPr>
              <p:cNvSpPr txBox="1">
                <a:spLocks noRot="1" noChangeAspect="1" noMove="1" noResize="1" noEditPoints="1" noAdjustHandles="1" noChangeArrowheads="1" noChangeShapeType="1" noTextEdit="1"/>
              </p:cNvSpPr>
              <p:nvPr/>
            </p:nvSpPr>
            <p:spPr>
              <a:xfrm>
                <a:off x="1988951" y="10296194"/>
                <a:ext cx="492507" cy="430887"/>
              </a:xfrm>
              <a:prstGeom prst="rect">
                <a:avLst/>
              </a:prstGeom>
              <a:blipFill>
                <a:blip r:embed="rId19"/>
                <a:stretch>
                  <a:fillRect b="-5714"/>
                </a:stretch>
              </a:blipFill>
            </p:spPr>
            <p:txBody>
              <a:bodyPr/>
              <a:lstStyle/>
              <a:p>
                <a:r>
                  <a:rPr lang="ja-JP" altLang="en-US">
                    <a:noFill/>
                  </a:rPr>
                  <a:t> </a:t>
                </a:r>
              </a:p>
            </p:txBody>
          </p:sp>
        </mc:Fallback>
      </mc:AlternateContent>
      <p:cxnSp>
        <p:nvCxnSpPr>
          <p:cNvPr id="223" name="直線矢印コネクタ 222">
            <a:extLst>
              <a:ext uri="{FF2B5EF4-FFF2-40B4-BE49-F238E27FC236}">
                <a16:creationId xmlns:a16="http://schemas.microsoft.com/office/drawing/2014/main" id="{EB5A462D-A80D-CC6A-B4A4-915FD8588001}"/>
              </a:ext>
            </a:extLst>
          </p:cNvPr>
          <p:cNvCxnSpPr>
            <a:cxnSpLocks/>
            <a:stCxn id="216" idx="3"/>
            <a:endCxn id="245" idx="1"/>
          </p:cNvCxnSpPr>
          <p:nvPr/>
        </p:nvCxnSpPr>
        <p:spPr>
          <a:xfrm>
            <a:off x="2507671" y="9277603"/>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線矢印コネクタ 223">
            <a:extLst>
              <a:ext uri="{FF2B5EF4-FFF2-40B4-BE49-F238E27FC236}">
                <a16:creationId xmlns:a16="http://schemas.microsoft.com/office/drawing/2014/main" id="{9FF679CD-793E-7077-AD1C-3BCC7951EF16}"/>
              </a:ext>
            </a:extLst>
          </p:cNvPr>
          <p:cNvCxnSpPr>
            <a:cxnSpLocks/>
            <a:stCxn id="245" idx="3"/>
            <a:endCxn id="270" idx="1"/>
          </p:cNvCxnSpPr>
          <p:nvPr/>
        </p:nvCxnSpPr>
        <p:spPr>
          <a:xfrm flipV="1">
            <a:off x="5613881" y="9273593"/>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19">
            <a:extLst>
              <a:ext uri="{FF2B5EF4-FFF2-40B4-BE49-F238E27FC236}">
                <a16:creationId xmlns:a16="http://schemas.microsoft.com/office/drawing/2014/main" id="{A4BA8391-F00F-15FB-2F52-C17A87D640BF}"/>
              </a:ext>
            </a:extLst>
          </p:cNvPr>
          <p:cNvCxnSpPr>
            <a:cxnSpLocks/>
            <a:stCxn id="270" idx="3"/>
            <a:endCxn id="273" idx="1"/>
          </p:cNvCxnSpPr>
          <p:nvPr/>
        </p:nvCxnSpPr>
        <p:spPr>
          <a:xfrm>
            <a:off x="8956217" y="9273593"/>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線矢印コネクタ 225">
            <a:extLst>
              <a:ext uri="{FF2B5EF4-FFF2-40B4-BE49-F238E27FC236}">
                <a16:creationId xmlns:a16="http://schemas.microsoft.com/office/drawing/2014/main" id="{B0244165-A331-B5E2-2D99-05A754DC6D77}"/>
              </a:ext>
            </a:extLst>
          </p:cNvPr>
          <p:cNvCxnSpPr>
            <a:cxnSpLocks/>
            <a:stCxn id="273" idx="3"/>
            <a:endCxn id="228" idx="1"/>
          </p:cNvCxnSpPr>
          <p:nvPr/>
        </p:nvCxnSpPr>
        <p:spPr>
          <a:xfrm>
            <a:off x="12052610" y="9894627"/>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8" name="テキスト ボックス 227">
                <a:extLst>
                  <a:ext uri="{FF2B5EF4-FFF2-40B4-BE49-F238E27FC236}">
                    <a16:creationId xmlns:a16="http://schemas.microsoft.com/office/drawing/2014/main" id="{BE9AD327-F7D0-ED72-F40D-84FF6D3695E3}"/>
                  </a:ext>
                </a:extLst>
              </p:cNvPr>
              <p:cNvSpPr txBox="1"/>
              <p:nvPr/>
            </p:nvSpPr>
            <p:spPr>
              <a:xfrm>
                <a:off x="12909280" y="9693690"/>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28" name="テキスト ボックス 227">
                <a:extLst>
                  <a:ext uri="{FF2B5EF4-FFF2-40B4-BE49-F238E27FC236}">
                    <a16:creationId xmlns:a16="http://schemas.microsoft.com/office/drawing/2014/main" id="{BE9AD327-F7D0-ED72-F40D-84FF6D3695E3}"/>
                  </a:ext>
                </a:extLst>
              </p:cNvPr>
              <p:cNvSpPr txBox="1">
                <a:spLocks noRot="1" noChangeAspect="1" noMove="1" noResize="1" noEditPoints="1" noAdjustHandles="1" noChangeArrowheads="1" noChangeShapeType="1" noTextEdit="1"/>
              </p:cNvSpPr>
              <p:nvPr/>
            </p:nvSpPr>
            <p:spPr>
              <a:xfrm>
                <a:off x="12909280" y="9693690"/>
                <a:ext cx="814710" cy="430887"/>
              </a:xfrm>
              <a:prstGeom prst="rect">
                <a:avLst/>
              </a:prstGeom>
              <a:blipFill>
                <a:blip r:embed="rId20"/>
                <a:stretch>
                  <a:fillRect l="-4615" r="-3077" b="-11429"/>
                </a:stretch>
              </a:blipFill>
            </p:spPr>
            <p:txBody>
              <a:bodyPr/>
              <a:lstStyle/>
              <a:p>
                <a:r>
                  <a:rPr lang="ja-JP" altLang="en-US">
                    <a:noFill/>
                  </a:rPr>
                  <a:t> </a:t>
                </a:r>
              </a:p>
            </p:txBody>
          </p:sp>
        </mc:Fallback>
      </mc:AlternateContent>
      <p:grpSp>
        <p:nvGrpSpPr>
          <p:cNvPr id="240" name="グループ化 239">
            <a:extLst>
              <a:ext uri="{FF2B5EF4-FFF2-40B4-BE49-F238E27FC236}">
                <a16:creationId xmlns:a16="http://schemas.microsoft.com/office/drawing/2014/main" id="{A054153A-7DE4-618A-3D41-DE53B06C7CCD}"/>
              </a:ext>
            </a:extLst>
          </p:cNvPr>
          <p:cNvGrpSpPr/>
          <p:nvPr/>
        </p:nvGrpSpPr>
        <p:grpSpPr>
          <a:xfrm>
            <a:off x="3670881" y="8920039"/>
            <a:ext cx="1943000" cy="719356"/>
            <a:chOff x="3749692" y="11369202"/>
            <a:chExt cx="1943000" cy="719356"/>
          </a:xfrm>
        </p:grpSpPr>
        <p:sp>
          <p:nvSpPr>
            <p:cNvPr id="245" name="正方形/長方形 244">
              <a:extLst>
                <a:ext uri="{FF2B5EF4-FFF2-40B4-BE49-F238E27FC236}">
                  <a16:creationId xmlns:a16="http://schemas.microsoft.com/office/drawing/2014/main" id="{3D593E03-A2D3-15AB-90BC-6AEE4C3C1647}"/>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46" name="テキスト ボックス 245">
                  <a:extLst>
                    <a:ext uri="{FF2B5EF4-FFF2-40B4-BE49-F238E27FC236}">
                      <a16:creationId xmlns:a16="http://schemas.microsoft.com/office/drawing/2014/main" id="{86E9DCFB-3953-82A5-AD51-D92E907C7CA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46" name="テキスト ボックス 245">
                  <a:extLst>
                    <a:ext uri="{FF2B5EF4-FFF2-40B4-BE49-F238E27FC236}">
                      <a16:creationId xmlns:a16="http://schemas.microsoft.com/office/drawing/2014/main" id="{86E9DCFB-3953-82A5-AD51-D92E907C7CA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21"/>
                  <a:stretch>
                    <a:fillRect l="-6000" t="-2857" r="-6000" b="-31429"/>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47" name="テキスト ボックス 246">
                <a:extLst>
                  <a:ext uri="{FF2B5EF4-FFF2-40B4-BE49-F238E27FC236}">
                    <a16:creationId xmlns:a16="http://schemas.microsoft.com/office/drawing/2014/main" id="{973B32A8-3E14-E7A8-84C7-48191CB33DA7}"/>
                  </a:ext>
                </a:extLst>
              </p:cNvPr>
              <p:cNvSpPr txBox="1"/>
              <p:nvPr/>
            </p:nvSpPr>
            <p:spPr>
              <a:xfrm>
                <a:off x="8086668" y="8442079"/>
                <a:ext cx="3511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47" name="テキスト ボックス 246">
                <a:extLst>
                  <a:ext uri="{FF2B5EF4-FFF2-40B4-BE49-F238E27FC236}">
                    <a16:creationId xmlns:a16="http://schemas.microsoft.com/office/drawing/2014/main" id="{973B32A8-3E14-E7A8-84C7-48191CB33DA7}"/>
                  </a:ext>
                </a:extLst>
              </p:cNvPr>
              <p:cNvSpPr txBox="1">
                <a:spLocks noRot="1" noChangeAspect="1" noMove="1" noResize="1" noEditPoints="1" noAdjustHandles="1" noChangeArrowheads="1" noChangeShapeType="1" noTextEdit="1"/>
              </p:cNvSpPr>
              <p:nvPr/>
            </p:nvSpPr>
            <p:spPr>
              <a:xfrm>
                <a:off x="8086668" y="8442079"/>
                <a:ext cx="351185" cy="430887"/>
              </a:xfrm>
              <a:prstGeom prst="rect">
                <a:avLst/>
              </a:prstGeom>
              <a:blipFill>
                <a:blip r:embed="rId22"/>
                <a:stretch>
                  <a:fillRect l="-10345" r="-3448" b="-11429"/>
                </a:stretch>
              </a:blipFill>
            </p:spPr>
            <p:txBody>
              <a:bodyPr/>
              <a:lstStyle/>
              <a:p>
                <a:r>
                  <a:rPr lang="ja-JP" altLang="en-US">
                    <a:noFill/>
                  </a:rPr>
                  <a:t> </a:t>
                </a:r>
              </a:p>
            </p:txBody>
          </p:sp>
        </mc:Fallback>
      </mc:AlternateContent>
      <p:cxnSp>
        <p:nvCxnSpPr>
          <p:cNvPr id="248" name="直線矢印コネクタ 247">
            <a:extLst>
              <a:ext uri="{FF2B5EF4-FFF2-40B4-BE49-F238E27FC236}">
                <a16:creationId xmlns:a16="http://schemas.microsoft.com/office/drawing/2014/main" id="{02FE7BE1-F83F-1E1F-D74D-A29BD0761BDB}"/>
              </a:ext>
            </a:extLst>
          </p:cNvPr>
          <p:cNvCxnSpPr>
            <a:cxnSpLocks/>
            <a:endCxn id="270" idx="0"/>
          </p:cNvCxnSpPr>
          <p:nvPr/>
        </p:nvCxnSpPr>
        <p:spPr>
          <a:xfrm>
            <a:off x="7984717" y="8404055"/>
            <a:ext cx="0" cy="50986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27AA0A93-5A38-32FF-42C1-ED2393F43D09}"/>
              </a:ext>
            </a:extLst>
          </p:cNvPr>
          <p:cNvCxnSpPr>
            <a:cxnSpLocks/>
            <a:stCxn id="214" idx="3"/>
            <a:endCxn id="256" idx="2"/>
          </p:cNvCxnSpPr>
          <p:nvPr/>
        </p:nvCxnSpPr>
        <p:spPr>
          <a:xfrm flipV="1">
            <a:off x="3018617" y="10514178"/>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直線矢印コネクタ 22">
            <a:extLst>
              <a:ext uri="{FF2B5EF4-FFF2-40B4-BE49-F238E27FC236}">
                <a16:creationId xmlns:a16="http://schemas.microsoft.com/office/drawing/2014/main" id="{4A573549-C2AA-98F8-59E3-1055973CBB60}"/>
              </a:ext>
            </a:extLst>
          </p:cNvPr>
          <p:cNvCxnSpPr>
            <a:cxnSpLocks/>
            <a:stCxn id="256" idx="0"/>
            <a:endCxn id="273" idx="1"/>
          </p:cNvCxnSpPr>
          <p:nvPr/>
        </p:nvCxnSpPr>
        <p:spPr>
          <a:xfrm flipV="1">
            <a:off x="6983616" y="9894627"/>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4" name="グループ化 253">
            <a:extLst>
              <a:ext uri="{FF2B5EF4-FFF2-40B4-BE49-F238E27FC236}">
                <a16:creationId xmlns:a16="http://schemas.microsoft.com/office/drawing/2014/main" id="{80A45BF1-1759-352C-F29F-FAA0D6CC85E1}"/>
              </a:ext>
            </a:extLst>
          </p:cNvPr>
          <p:cNvGrpSpPr/>
          <p:nvPr/>
        </p:nvGrpSpPr>
        <p:grpSpPr>
          <a:xfrm>
            <a:off x="5551632" y="9952902"/>
            <a:ext cx="1431984" cy="1122552"/>
            <a:chOff x="5794565" y="9611968"/>
            <a:chExt cx="1431984" cy="1122552"/>
          </a:xfrm>
        </p:grpSpPr>
        <p:sp>
          <p:nvSpPr>
            <p:cNvPr id="256" name="台形 255">
              <a:extLst>
                <a:ext uri="{FF2B5EF4-FFF2-40B4-BE49-F238E27FC236}">
                  <a16:creationId xmlns:a16="http://schemas.microsoft.com/office/drawing/2014/main" id="{9F94FCAC-3C49-7535-4605-BE8FEDC9A663}"/>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62" name="テキスト ボックス 261">
                  <a:extLst>
                    <a:ext uri="{FF2B5EF4-FFF2-40B4-BE49-F238E27FC236}">
                      <a16:creationId xmlns:a16="http://schemas.microsoft.com/office/drawing/2014/main" id="{DF67C357-CCE4-4C6F-CA9A-AE9F5A8A624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62" name="テキスト ボックス 261">
                  <a:extLst>
                    <a:ext uri="{FF2B5EF4-FFF2-40B4-BE49-F238E27FC236}">
                      <a16:creationId xmlns:a16="http://schemas.microsoft.com/office/drawing/2014/main" id="{DF67C357-CCE4-4C6F-CA9A-AE9F5A8A624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3"/>
                  <a:stretch>
                    <a:fillRect l="-6306" r="-4505" b="-8571"/>
                  </a:stretch>
                </a:blipFill>
              </p:spPr>
              <p:txBody>
                <a:bodyPr/>
                <a:lstStyle/>
                <a:p>
                  <a:r>
                    <a:rPr lang="ja-JP" altLang="en-US">
                      <a:noFill/>
                    </a:rPr>
                    <a:t> </a:t>
                  </a:r>
                </a:p>
              </p:txBody>
            </p:sp>
          </mc:Fallback>
        </mc:AlternateContent>
      </p:grpSp>
      <p:grpSp>
        <p:nvGrpSpPr>
          <p:cNvPr id="269" name="グループ化 268">
            <a:extLst>
              <a:ext uri="{FF2B5EF4-FFF2-40B4-BE49-F238E27FC236}">
                <a16:creationId xmlns:a16="http://schemas.microsoft.com/office/drawing/2014/main" id="{E602F14E-591B-3D60-161F-7DC215F96608}"/>
              </a:ext>
            </a:extLst>
          </p:cNvPr>
          <p:cNvGrpSpPr/>
          <p:nvPr/>
        </p:nvGrpSpPr>
        <p:grpSpPr>
          <a:xfrm>
            <a:off x="7013217" y="8913915"/>
            <a:ext cx="1943000" cy="719356"/>
            <a:chOff x="3749692" y="11369202"/>
            <a:chExt cx="1943000" cy="719356"/>
          </a:xfrm>
        </p:grpSpPr>
        <p:sp>
          <p:nvSpPr>
            <p:cNvPr id="270" name="正方形/長方形 269">
              <a:extLst>
                <a:ext uri="{FF2B5EF4-FFF2-40B4-BE49-F238E27FC236}">
                  <a16:creationId xmlns:a16="http://schemas.microsoft.com/office/drawing/2014/main" id="{A7E4DF10-563E-BEB9-68A1-A17CB31EC791}"/>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1" name="テキスト ボックス 270">
                  <a:extLst>
                    <a:ext uri="{FF2B5EF4-FFF2-40B4-BE49-F238E27FC236}">
                      <a16:creationId xmlns:a16="http://schemas.microsoft.com/office/drawing/2014/main" id="{F730D54A-F977-45DB-D319-702796AFEEC6}"/>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71" name="テキスト ボックス 270">
                  <a:extLst>
                    <a:ext uri="{FF2B5EF4-FFF2-40B4-BE49-F238E27FC236}">
                      <a16:creationId xmlns:a16="http://schemas.microsoft.com/office/drawing/2014/main" id="{F730D54A-F977-45DB-D319-702796AFEEC6}"/>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4"/>
                  <a:stretch>
                    <a:fillRect b="-5882"/>
                  </a:stretch>
                </a:blipFill>
              </p:spPr>
              <p:txBody>
                <a:bodyPr/>
                <a:lstStyle/>
                <a:p>
                  <a:r>
                    <a:rPr lang="ja-JP" altLang="en-US">
                      <a:noFill/>
                    </a:rPr>
                    <a:t> </a:t>
                  </a:r>
                </a:p>
              </p:txBody>
            </p:sp>
          </mc:Fallback>
        </mc:AlternateContent>
      </p:grpSp>
      <p:grpSp>
        <p:nvGrpSpPr>
          <p:cNvPr id="272" name="グループ化 271">
            <a:extLst>
              <a:ext uri="{FF2B5EF4-FFF2-40B4-BE49-F238E27FC236}">
                <a16:creationId xmlns:a16="http://schemas.microsoft.com/office/drawing/2014/main" id="{075AF110-7F10-C9A1-A124-0088DDABFAAD}"/>
              </a:ext>
            </a:extLst>
          </p:cNvPr>
          <p:cNvGrpSpPr/>
          <p:nvPr/>
        </p:nvGrpSpPr>
        <p:grpSpPr>
          <a:xfrm>
            <a:off x="10109610" y="9534949"/>
            <a:ext cx="1943000" cy="719356"/>
            <a:chOff x="3749692" y="11369202"/>
            <a:chExt cx="1943000" cy="719356"/>
          </a:xfrm>
        </p:grpSpPr>
        <p:sp>
          <p:nvSpPr>
            <p:cNvPr id="273" name="正方形/長方形 272">
              <a:extLst>
                <a:ext uri="{FF2B5EF4-FFF2-40B4-BE49-F238E27FC236}">
                  <a16:creationId xmlns:a16="http://schemas.microsoft.com/office/drawing/2014/main" id="{B0C78290-2687-F702-7E5B-DA11CB35E48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4" name="テキスト ボックス 273">
                  <a:extLst>
                    <a:ext uri="{FF2B5EF4-FFF2-40B4-BE49-F238E27FC236}">
                      <a16:creationId xmlns:a16="http://schemas.microsoft.com/office/drawing/2014/main" id="{CB8AAA5B-7BAA-5FE0-DA14-9E1B3199832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274" name="テキスト ボックス 273">
                  <a:extLst>
                    <a:ext uri="{FF2B5EF4-FFF2-40B4-BE49-F238E27FC236}">
                      <a16:creationId xmlns:a16="http://schemas.microsoft.com/office/drawing/2014/main" id="{CB8AAA5B-7BAA-5FE0-DA14-9E1B31998329}"/>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5"/>
                  <a:stretch>
                    <a:fillRect b="-8571"/>
                  </a:stretch>
                </a:blipFill>
              </p:spPr>
              <p:txBody>
                <a:bodyPr/>
                <a:lstStyle/>
                <a:p>
                  <a:r>
                    <a:rPr lang="ja-JP" altLang="en-US">
                      <a:noFill/>
                    </a:rPr>
                    <a:t> </a:t>
                  </a:r>
                </a:p>
              </p:txBody>
            </p:sp>
          </mc:Fallback>
        </mc:AlternateContent>
      </p:grpSp>
      <p:cxnSp>
        <p:nvCxnSpPr>
          <p:cNvPr id="275" name="直線矢印コネクタ 135">
            <a:extLst>
              <a:ext uri="{FF2B5EF4-FFF2-40B4-BE49-F238E27FC236}">
                <a16:creationId xmlns:a16="http://schemas.microsoft.com/office/drawing/2014/main" id="{1442AD5E-ECC8-2EF6-E36D-352CFD75AB83}"/>
              </a:ext>
            </a:extLst>
          </p:cNvPr>
          <p:cNvCxnSpPr>
            <a:cxnSpLocks/>
            <a:stCxn id="228" idx="2"/>
            <a:endCxn id="277" idx="0"/>
          </p:cNvCxnSpPr>
          <p:nvPr/>
        </p:nvCxnSpPr>
        <p:spPr>
          <a:xfrm rot="5400000">
            <a:off x="6937002" y="5625990"/>
            <a:ext cx="1881046" cy="10878220"/>
          </a:xfrm>
          <a:prstGeom prst="bentConnector3">
            <a:avLst>
              <a:gd name="adj1" fmla="val 69943"/>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76" name="図 275" descr="帽子を被っている女性&#10;&#10;自動的に生成された説明">
            <a:extLst>
              <a:ext uri="{FF2B5EF4-FFF2-40B4-BE49-F238E27FC236}">
                <a16:creationId xmlns:a16="http://schemas.microsoft.com/office/drawing/2014/main" id="{7D919012-BCD9-E78F-078E-853C48FE2B2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16938" y="12715742"/>
            <a:ext cx="1496736" cy="1496736"/>
          </a:xfrm>
          <a:prstGeom prst="rect">
            <a:avLst/>
          </a:prstGeom>
        </p:spPr>
      </p:pic>
      <mc:AlternateContent xmlns:mc="http://schemas.openxmlformats.org/markup-compatibility/2006" xmlns:a14="http://schemas.microsoft.com/office/drawing/2010/main">
        <mc:Choice Requires="a14">
          <p:sp>
            <p:nvSpPr>
              <p:cNvPr id="277" name="テキスト ボックス 276">
                <a:extLst>
                  <a:ext uri="{FF2B5EF4-FFF2-40B4-BE49-F238E27FC236}">
                    <a16:creationId xmlns:a16="http://schemas.microsoft.com/office/drawing/2014/main" id="{185E924C-D473-7E31-2791-6C6A6D47B0B5}"/>
                  </a:ext>
                </a:extLst>
              </p:cNvPr>
              <p:cNvSpPr txBox="1"/>
              <p:nvPr/>
            </p:nvSpPr>
            <p:spPr>
              <a:xfrm>
                <a:off x="2031060" y="12005623"/>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77" name="テキスト ボックス 276">
                <a:extLst>
                  <a:ext uri="{FF2B5EF4-FFF2-40B4-BE49-F238E27FC236}">
                    <a16:creationId xmlns:a16="http://schemas.microsoft.com/office/drawing/2014/main" id="{185E924C-D473-7E31-2791-6C6A6D47B0B5}"/>
                  </a:ext>
                </a:extLst>
              </p:cNvPr>
              <p:cNvSpPr txBox="1">
                <a:spLocks noRot="1" noChangeAspect="1" noMove="1" noResize="1" noEditPoints="1" noAdjustHandles="1" noChangeArrowheads="1" noChangeShapeType="1" noTextEdit="1"/>
              </p:cNvSpPr>
              <p:nvPr/>
            </p:nvSpPr>
            <p:spPr>
              <a:xfrm>
                <a:off x="2031060" y="12005623"/>
                <a:ext cx="814710" cy="430887"/>
              </a:xfrm>
              <a:prstGeom prst="rect">
                <a:avLst/>
              </a:prstGeom>
              <a:blipFill>
                <a:blip r:embed="rId26"/>
                <a:stretch>
                  <a:fillRect l="-4545" r="-3030" b="-1428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8" name="テキスト ボックス 277">
                <a:extLst>
                  <a:ext uri="{FF2B5EF4-FFF2-40B4-BE49-F238E27FC236}">
                    <a16:creationId xmlns:a16="http://schemas.microsoft.com/office/drawing/2014/main" id="{FA734656-A05F-5B8A-2837-1B844524488D}"/>
                  </a:ext>
                </a:extLst>
              </p:cNvPr>
              <p:cNvSpPr txBox="1"/>
              <p:nvPr/>
            </p:nvSpPr>
            <p:spPr>
              <a:xfrm>
                <a:off x="1984008" y="13239658"/>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i="0" smtClean="0">
                          <a:latin typeface="Cambria Math" panose="02040503050406030204" pitchFamily="18" charset="0"/>
                        </a:rPr>
                        <m:t>𝐈</m:t>
                      </m:r>
                    </m:oMath>
                  </m:oMathPara>
                </a14:m>
                <a:endParaRPr kumimoji="1" lang="ja-JP" altLang="en-US" sz="2800" b="1" dirty="0"/>
              </a:p>
            </p:txBody>
          </p:sp>
        </mc:Choice>
        <mc:Fallback xmlns="">
          <p:sp>
            <p:nvSpPr>
              <p:cNvPr id="278" name="テキスト ボックス 277">
                <a:extLst>
                  <a:ext uri="{FF2B5EF4-FFF2-40B4-BE49-F238E27FC236}">
                    <a16:creationId xmlns:a16="http://schemas.microsoft.com/office/drawing/2014/main" id="{FA734656-A05F-5B8A-2837-1B844524488D}"/>
                  </a:ext>
                </a:extLst>
              </p:cNvPr>
              <p:cNvSpPr txBox="1">
                <a:spLocks noRot="1" noChangeAspect="1" noMove="1" noResize="1" noEditPoints="1" noAdjustHandles="1" noChangeArrowheads="1" noChangeShapeType="1" noTextEdit="1"/>
              </p:cNvSpPr>
              <p:nvPr/>
            </p:nvSpPr>
            <p:spPr>
              <a:xfrm>
                <a:off x="1984008" y="13239658"/>
                <a:ext cx="492507" cy="430887"/>
              </a:xfrm>
              <a:prstGeom prst="rect">
                <a:avLst/>
              </a:prstGeom>
              <a:blipFill>
                <a:blip r:embed="rId27"/>
                <a:stretch>
                  <a:fillRect b="-5714"/>
                </a:stretch>
              </a:blipFill>
            </p:spPr>
            <p:txBody>
              <a:bodyPr/>
              <a:lstStyle/>
              <a:p>
                <a:r>
                  <a:rPr lang="ja-JP" altLang="en-US">
                    <a:noFill/>
                  </a:rPr>
                  <a:t> </a:t>
                </a:r>
              </a:p>
            </p:txBody>
          </p:sp>
        </mc:Fallback>
      </mc:AlternateContent>
      <p:cxnSp>
        <p:nvCxnSpPr>
          <p:cNvPr id="279" name="直線矢印コネクタ 278">
            <a:extLst>
              <a:ext uri="{FF2B5EF4-FFF2-40B4-BE49-F238E27FC236}">
                <a16:creationId xmlns:a16="http://schemas.microsoft.com/office/drawing/2014/main" id="{4FA4FB80-7B2C-D4FA-1E26-D032CC28C889}"/>
              </a:ext>
            </a:extLst>
          </p:cNvPr>
          <p:cNvCxnSpPr>
            <a:cxnSpLocks/>
            <a:stCxn id="277" idx="3"/>
            <a:endCxn id="285" idx="1"/>
          </p:cNvCxnSpPr>
          <p:nvPr/>
        </p:nvCxnSpPr>
        <p:spPr>
          <a:xfrm>
            <a:off x="2845770" y="12221067"/>
            <a:ext cx="820168"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E638358B-477C-ED4B-4360-CF9629AA8759}"/>
              </a:ext>
            </a:extLst>
          </p:cNvPr>
          <p:cNvCxnSpPr>
            <a:cxnSpLocks/>
            <a:stCxn id="285" idx="3"/>
            <a:endCxn id="296" idx="1"/>
          </p:cNvCxnSpPr>
          <p:nvPr/>
        </p:nvCxnSpPr>
        <p:spPr>
          <a:xfrm flipV="1">
            <a:off x="5608938" y="12217057"/>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19">
            <a:extLst>
              <a:ext uri="{FF2B5EF4-FFF2-40B4-BE49-F238E27FC236}">
                <a16:creationId xmlns:a16="http://schemas.microsoft.com/office/drawing/2014/main" id="{CE0C6582-A421-C5E2-13D1-0A458F975858}"/>
              </a:ext>
            </a:extLst>
          </p:cNvPr>
          <p:cNvCxnSpPr>
            <a:cxnSpLocks/>
            <a:stCxn id="296" idx="3"/>
            <a:endCxn id="299" idx="1"/>
          </p:cNvCxnSpPr>
          <p:nvPr/>
        </p:nvCxnSpPr>
        <p:spPr>
          <a:xfrm>
            <a:off x="8951274" y="12217057"/>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直線矢印コネクタ 281">
            <a:extLst>
              <a:ext uri="{FF2B5EF4-FFF2-40B4-BE49-F238E27FC236}">
                <a16:creationId xmlns:a16="http://schemas.microsoft.com/office/drawing/2014/main" id="{A2295E78-CDC7-7445-F865-DEFA6D7DC947}"/>
              </a:ext>
            </a:extLst>
          </p:cNvPr>
          <p:cNvCxnSpPr>
            <a:cxnSpLocks/>
            <a:stCxn id="299" idx="3"/>
            <a:endCxn id="283" idx="1"/>
          </p:cNvCxnSpPr>
          <p:nvPr/>
        </p:nvCxnSpPr>
        <p:spPr>
          <a:xfrm>
            <a:off x="12047667" y="12838091"/>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3" name="テキスト ボックス 282">
                <a:extLst>
                  <a:ext uri="{FF2B5EF4-FFF2-40B4-BE49-F238E27FC236}">
                    <a16:creationId xmlns:a16="http://schemas.microsoft.com/office/drawing/2014/main" id="{BB3662A6-1EBB-E2D8-7AE1-E157E0C26BF0}"/>
                  </a:ext>
                </a:extLst>
              </p:cNvPr>
              <p:cNvSpPr txBox="1"/>
              <p:nvPr/>
            </p:nvSpPr>
            <p:spPr>
              <a:xfrm>
                <a:off x="12904337" y="12637154"/>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+2</m:t>
                          </m:r>
                        </m:sub>
                      </m:sSub>
                    </m:oMath>
                  </m:oMathPara>
                </a14:m>
                <a:endParaRPr kumimoji="1" lang="ja-JP" altLang="en-US" sz="2800" dirty="0"/>
              </a:p>
            </p:txBody>
          </p:sp>
        </mc:Choice>
        <mc:Fallback xmlns="">
          <p:sp>
            <p:nvSpPr>
              <p:cNvPr id="283" name="テキスト ボックス 282">
                <a:extLst>
                  <a:ext uri="{FF2B5EF4-FFF2-40B4-BE49-F238E27FC236}">
                    <a16:creationId xmlns:a16="http://schemas.microsoft.com/office/drawing/2014/main" id="{BB3662A6-1EBB-E2D8-7AE1-E157E0C26BF0}"/>
                  </a:ext>
                </a:extLst>
              </p:cNvPr>
              <p:cNvSpPr txBox="1">
                <a:spLocks noRot="1" noChangeAspect="1" noMove="1" noResize="1" noEditPoints="1" noAdjustHandles="1" noChangeArrowheads="1" noChangeShapeType="1" noTextEdit="1"/>
              </p:cNvSpPr>
              <p:nvPr/>
            </p:nvSpPr>
            <p:spPr>
              <a:xfrm>
                <a:off x="12904337" y="12637154"/>
                <a:ext cx="814710" cy="430887"/>
              </a:xfrm>
              <a:prstGeom prst="rect">
                <a:avLst/>
              </a:prstGeom>
              <a:blipFill>
                <a:blip r:embed="rId28"/>
                <a:stretch>
                  <a:fillRect l="-6250" r="-4688" b="-11429"/>
                </a:stretch>
              </a:blipFill>
            </p:spPr>
            <p:txBody>
              <a:bodyPr/>
              <a:lstStyle/>
              <a:p>
                <a:r>
                  <a:rPr lang="ja-JP" altLang="en-US">
                    <a:noFill/>
                  </a:rPr>
                  <a:t> </a:t>
                </a:r>
              </a:p>
            </p:txBody>
          </p:sp>
        </mc:Fallback>
      </mc:AlternateContent>
      <p:grpSp>
        <p:nvGrpSpPr>
          <p:cNvPr id="284" name="グループ化 283">
            <a:extLst>
              <a:ext uri="{FF2B5EF4-FFF2-40B4-BE49-F238E27FC236}">
                <a16:creationId xmlns:a16="http://schemas.microsoft.com/office/drawing/2014/main" id="{9C34ABBF-0103-7F3F-36C5-5CB61B776E74}"/>
              </a:ext>
            </a:extLst>
          </p:cNvPr>
          <p:cNvGrpSpPr/>
          <p:nvPr/>
        </p:nvGrpSpPr>
        <p:grpSpPr>
          <a:xfrm>
            <a:off x="3665938" y="11863503"/>
            <a:ext cx="1943000" cy="719356"/>
            <a:chOff x="3749692" y="11369202"/>
            <a:chExt cx="1943000" cy="719356"/>
          </a:xfrm>
        </p:grpSpPr>
        <p:sp>
          <p:nvSpPr>
            <p:cNvPr id="285" name="正方形/長方形 284">
              <a:extLst>
                <a:ext uri="{FF2B5EF4-FFF2-40B4-BE49-F238E27FC236}">
                  <a16:creationId xmlns:a16="http://schemas.microsoft.com/office/drawing/2014/main" id="{27EC2E1D-2732-BAC4-6A6D-281A796D48C3}"/>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86" name="テキスト ボックス 285">
                  <a:extLst>
                    <a:ext uri="{FF2B5EF4-FFF2-40B4-BE49-F238E27FC236}">
                      <a16:creationId xmlns:a16="http://schemas.microsoft.com/office/drawing/2014/main" id="{A1964DD9-3996-2BA3-8021-AA9FD0AD5D6D}"/>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86" name="テキスト ボックス 285">
                  <a:extLst>
                    <a:ext uri="{FF2B5EF4-FFF2-40B4-BE49-F238E27FC236}">
                      <a16:creationId xmlns:a16="http://schemas.microsoft.com/office/drawing/2014/main" id="{A1964DD9-3996-2BA3-8021-AA9FD0AD5D6D}"/>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29"/>
                  <a:stretch>
                    <a:fillRect l="-5960" t="-2857" r="-5960" b="-31429"/>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87" name="テキスト ボックス 286">
                <a:extLst>
                  <a:ext uri="{FF2B5EF4-FFF2-40B4-BE49-F238E27FC236}">
                    <a16:creationId xmlns:a16="http://schemas.microsoft.com/office/drawing/2014/main" id="{01855A5E-DE71-BB22-36A4-138ADFE4FEBD}"/>
                  </a:ext>
                </a:extLst>
              </p:cNvPr>
              <p:cNvSpPr txBox="1"/>
              <p:nvPr/>
            </p:nvSpPr>
            <p:spPr>
              <a:xfrm>
                <a:off x="8081725" y="11385543"/>
                <a:ext cx="6942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87" name="テキスト ボックス 286">
                <a:extLst>
                  <a:ext uri="{FF2B5EF4-FFF2-40B4-BE49-F238E27FC236}">
                    <a16:creationId xmlns:a16="http://schemas.microsoft.com/office/drawing/2014/main" id="{01855A5E-DE71-BB22-36A4-138ADFE4FEBD}"/>
                  </a:ext>
                </a:extLst>
              </p:cNvPr>
              <p:cNvSpPr txBox="1">
                <a:spLocks noRot="1" noChangeAspect="1" noMove="1" noResize="1" noEditPoints="1" noAdjustHandles="1" noChangeArrowheads="1" noChangeShapeType="1" noTextEdit="1"/>
              </p:cNvSpPr>
              <p:nvPr/>
            </p:nvSpPr>
            <p:spPr>
              <a:xfrm>
                <a:off x="8081725" y="11385543"/>
                <a:ext cx="694229" cy="430887"/>
              </a:xfrm>
              <a:prstGeom prst="rect">
                <a:avLst/>
              </a:prstGeom>
              <a:blipFill>
                <a:blip r:embed="rId30"/>
                <a:stretch>
                  <a:fillRect l="-5357" r="-3571" b="-14286"/>
                </a:stretch>
              </a:blipFill>
            </p:spPr>
            <p:txBody>
              <a:bodyPr/>
              <a:lstStyle/>
              <a:p>
                <a:r>
                  <a:rPr lang="ja-JP" altLang="en-US">
                    <a:noFill/>
                  </a:rPr>
                  <a:t> </a:t>
                </a:r>
              </a:p>
            </p:txBody>
          </p:sp>
        </mc:Fallback>
      </mc:AlternateContent>
      <p:cxnSp>
        <p:nvCxnSpPr>
          <p:cNvPr id="288" name="直線矢印コネクタ 287">
            <a:extLst>
              <a:ext uri="{FF2B5EF4-FFF2-40B4-BE49-F238E27FC236}">
                <a16:creationId xmlns:a16="http://schemas.microsoft.com/office/drawing/2014/main" id="{2502D6C6-DBE8-343F-2691-09B277B83FD7}"/>
              </a:ext>
            </a:extLst>
          </p:cNvPr>
          <p:cNvCxnSpPr>
            <a:cxnSpLocks/>
            <a:stCxn id="270" idx="2"/>
            <a:endCxn id="296" idx="0"/>
          </p:cNvCxnSpPr>
          <p:nvPr/>
        </p:nvCxnSpPr>
        <p:spPr>
          <a:xfrm flipH="1">
            <a:off x="7979774" y="9633271"/>
            <a:ext cx="4943" cy="222410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0" name="直線矢印コネクタ 289">
            <a:extLst>
              <a:ext uri="{FF2B5EF4-FFF2-40B4-BE49-F238E27FC236}">
                <a16:creationId xmlns:a16="http://schemas.microsoft.com/office/drawing/2014/main" id="{7FEE215C-2EB2-4303-7B09-0AD03F2968FB}"/>
              </a:ext>
            </a:extLst>
          </p:cNvPr>
          <p:cNvCxnSpPr>
            <a:cxnSpLocks/>
            <a:stCxn id="276" idx="3"/>
            <a:endCxn id="293" idx="2"/>
          </p:cNvCxnSpPr>
          <p:nvPr/>
        </p:nvCxnSpPr>
        <p:spPr>
          <a:xfrm flipV="1">
            <a:off x="3013674" y="13457642"/>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線矢印コネクタ 22">
            <a:extLst>
              <a:ext uri="{FF2B5EF4-FFF2-40B4-BE49-F238E27FC236}">
                <a16:creationId xmlns:a16="http://schemas.microsoft.com/office/drawing/2014/main" id="{97AE75E7-60DA-0E37-4526-AF103F1D9083}"/>
              </a:ext>
            </a:extLst>
          </p:cNvPr>
          <p:cNvCxnSpPr>
            <a:cxnSpLocks/>
            <a:stCxn id="293" idx="0"/>
            <a:endCxn id="299" idx="1"/>
          </p:cNvCxnSpPr>
          <p:nvPr/>
        </p:nvCxnSpPr>
        <p:spPr>
          <a:xfrm flipV="1">
            <a:off x="6978673" y="12838091"/>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2" name="グループ化 291">
            <a:extLst>
              <a:ext uri="{FF2B5EF4-FFF2-40B4-BE49-F238E27FC236}">
                <a16:creationId xmlns:a16="http://schemas.microsoft.com/office/drawing/2014/main" id="{A3E80203-2F17-F70D-09E9-3A1EED2A87E4}"/>
              </a:ext>
            </a:extLst>
          </p:cNvPr>
          <p:cNvGrpSpPr/>
          <p:nvPr/>
        </p:nvGrpSpPr>
        <p:grpSpPr>
          <a:xfrm>
            <a:off x="5546689" y="12896366"/>
            <a:ext cx="1431984" cy="1122552"/>
            <a:chOff x="5794565" y="9611968"/>
            <a:chExt cx="1431984" cy="1122552"/>
          </a:xfrm>
        </p:grpSpPr>
        <p:sp>
          <p:nvSpPr>
            <p:cNvPr id="293" name="台形 292">
              <a:extLst>
                <a:ext uri="{FF2B5EF4-FFF2-40B4-BE49-F238E27FC236}">
                  <a16:creationId xmlns:a16="http://schemas.microsoft.com/office/drawing/2014/main" id="{B091EEA4-AB85-3AE7-8C1A-54E94199C420}"/>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4" name="テキスト ボックス 293">
                  <a:extLst>
                    <a:ext uri="{FF2B5EF4-FFF2-40B4-BE49-F238E27FC236}">
                      <a16:creationId xmlns:a16="http://schemas.microsoft.com/office/drawing/2014/main" id="{58F80D79-ED15-165A-100C-A1A6A666F595}"/>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94" name="テキスト ボックス 293">
                  <a:extLst>
                    <a:ext uri="{FF2B5EF4-FFF2-40B4-BE49-F238E27FC236}">
                      <a16:creationId xmlns:a16="http://schemas.microsoft.com/office/drawing/2014/main" id="{58F80D79-ED15-165A-100C-A1A6A666F595}"/>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31"/>
                  <a:stretch>
                    <a:fillRect l="-6364" r="-5455" b="-5714"/>
                  </a:stretch>
                </a:blipFill>
              </p:spPr>
              <p:txBody>
                <a:bodyPr/>
                <a:lstStyle/>
                <a:p>
                  <a:r>
                    <a:rPr lang="ja-JP" altLang="en-US">
                      <a:noFill/>
                    </a:rPr>
                    <a:t> </a:t>
                  </a:r>
                </a:p>
              </p:txBody>
            </p:sp>
          </mc:Fallback>
        </mc:AlternateContent>
      </p:grpSp>
      <p:grpSp>
        <p:nvGrpSpPr>
          <p:cNvPr id="295" name="グループ化 294">
            <a:extLst>
              <a:ext uri="{FF2B5EF4-FFF2-40B4-BE49-F238E27FC236}">
                <a16:creationId xmlns:a16="http://schemas.microsoft.com/office/drawing/2014/main" id="{397F1010-BEED-3815-94C9-7AF896AE9D6F}"/>
              </a:ext>
            </a:extLst>
          </p:cNvPr>
          <p:cNvGrpSpPr/>
          <p:nvPr/>
        </p:nvGrpSpPr>
        <p:grpSpPr>
          <a:xfrm>
            <a:off x="7008274" y="11857379"/>
            <a:ext cx="1943000" cy="719356"/>
            <a:chOff x="3749692" y="11369202"/>
            <a:chExt cx="1943000" cy="719356"/>
          </a:xfrm>
        </p:grpSpPr>
        <p:sp>
          <p:nvSpPr>
            <p:cNvPr id="296" name="正方形/長方形 295">
              <a:extLst>
                <a:ext uri="{FF2B5EF4-FFF2-40B4-BE49-F238E27FC236}">
                  <a16:creationId xmlns:a16="http://schemas.microsoft.com/office/drawing/2014/main" id="{25C8505A-7B66-65A3-DBE2-F7B307A92800}"/>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7" name="テキスト ボックス 296">
                  <a:extLst>
                    <a:ext uri="{FF2B5EF4-FFF2-40B4-BE49-F238E27FC236}">
                      <a16:creationId xmlns:a16="http://schemas.microsoft.com/office/drawing/2014/main" id="{93D74842-23A3-2736-F957-263CAB46B80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97" name="テキスト ボックス 296">
                  <a:extLst>
                    <a:ext uri="{FF2B5EF4-FFF2-40B4-BE49-F238E27FC236}">
                      <a16:creationId xmlns:a16="http://schemas.microsoft.com/office/drawing/2014/main" id="{93D74842-23A3-2736-F957-263CAB46B80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32"/>
                  <a:stretch>
                    <a:fillRect b="-5714"/>
                  </a:stretch>
                </a:blipFill>
              </p:spPr>
              <p:txBody>
                <a:bodyPr/>
                <a:lstStyle/>
                <a:p>
                  <a:r>
                    <a:rPr lang="ja-JP" altLang="en-US">
                      <a:noFill/>
                    </a:rPr>
                    <a:t> </a:t>
                  </a:r>
                </a:p>
              </p:txBody>
            </p:sp>
          </mc:Fallback>
        </mc:AlternateContent>
      </p:grpSp>
      <p:grpSp>
        <p:nvGrpSpPr>
          <p:cNvPr id="298" name="グループ化 297">
            <a:extLst>
              <a:ext uri="{FF2B5EF4-FFF2-40B4-BE49-F238E27FC236}">
                <a16:creationId xmlns:a16="http://schemas.microsoft.com/office/drawing/2014/main" id="{9E89BA2D-D6D2-593D-B1EF-B741896D6A05}"/>
              </a:ext>
            </a:extLst>
          </p:cNvPr>
          <p:cNvGrpSpPr/>
          <p:nvPr/>
        </p:nvGrpSpPr>
        <p:grpSpPr>
          <a:xfrm>
            <a:off x="10104667" y="12478413"/>
            <a:ext cx="1943000" cy="719356"/>
            <a:chOff x="3749692" y="11369202"/>
            <a:chExt cx="1943000" cy="719356"/>
          </a:xfrm>
        </p:grpSpPr>
        <p:sp>
          <p:nvSpPr>
            <p:cNvPr id="299" name="正方形/長方形 298">
              <a:extLst>
                <a:ext uri="{FF2B5EF4-FFF2-40B4-BE49-F238E27FC236}">
                  <a16:creationId xmlns:a16="http://schemas.microsoft.com/office/drawing/2014/main" id="{879CE573-44C1-B764-878B-F3A54F5C74C6}"/>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00" name="テキスト ボックス 299">
                  <a:extLst>
                    <a:ext uri="{FF2B5EF4-FFF2-40B4-BE49-F238E27FC236}">
                      <a16:creationId xmlns:a16="http://schemas.microsoft.com/office/drawing/2014/main" id="{7440FC71-87C8-A4C2-1E2D-FC670DDB0E47}"/>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300" name="テキスト ボックス 299">
                  <a:extLst>
                    <a:ext uri="{FF2B5EF4-FFF2-40B4-BE49-F238E27FC236}">
                      <a16:creationId xmlns:a16="http://schemas.microsoft.com/office/drawing/2014/main" id="{7440FC71-87C8-A4C2-1E2D-FC670DDB0E47}"/>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33"/>
                  <a:stretch>
                    <a:fillRect b="-8571"/>
                  </a:stretch>
                </a:blipFill>
              </p:spPr>
              <p:txBody>
                <a:bodyPr/>
                <a:lstStyle/>
                <a:p>
                  <a:r>
                    <a:rPr lang="ja-JP" altLang="en-US">
                      <a:noFill/>
                    </a:rPr>
                    <a:t> </a:t>
                  </a:r>
                </a:p>
              </p:txBody>
            </p:sp>
          </mc:Fallback>
        </mc:AlternateContent>
      </p:grpSp>
      <p:cxnSp>
        <p:nvCxnSpPr>
          <p:cNvPr id="301" name="直線矢印コネクタ 300">
            <a:extLst>
              <a:ext uri="{FF2B5EF4-FFF2-40B4-BE49-F238E27FC236}">
                <a16:creationId xmlns:a16="http://schemas.microsoft.com/office/drawing/2014/main" id="{86FEAC7B-8D99-59A9-EDFA-226FFC4EB47B}"/>
              </a:ext>
            </a:extLst>
          </p:cNvPr>
          <p:cNvCxnSpPr>
            <a:cxnSpLocks/>
            <a:stCxn id="296" idx="2"/>
          </p:cNvCxnSpPr>
          <p:nvPr/>
        </p:nvCxnSpPr>
        <p:spPr>
          <a:xfrm>
            <a:off x="7979774" y="12576735"/>
            <a:ext cx="0" cy="163574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05" name="図 304" descr="帽子を被っている女性&#10;&#10;自動的に生成された説明">
            <a:extLst>
              <a:ext uri="{FF2B5EF4-FFF2-40B4-BE49-F238E27FC236}">
                <a16:creationId xmlns:a16="http://schemas.microsoft.com/office/drawing/2014/main" id="{347C8A7C-074E-6800-10B5-12994F89A94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10811" y="21522281"/>
            <a:ext cx="1496736" cy="1496736"/>
          </a:xfrm>
          <a:prstGeom prst="rect">
            <a:avLst/>
          </a:prstGeom>
        </p:spPr>
      </p:pic>
      <mc:AlternateContent xmlns:mc="http://schemas.openxmlformats.org/markup-compatibility/2006" xmlns:a14="http://schemas.microsoft.com/office/drawing/2010/main">
        <mc:Choice Requires="a14">
          <p:sp>
            <p:nvSpPr>
              <p:cNvPr id="306" name="テキスト ボックス 305">
                <a:extLst>
                  <a:ext uri="{FF2B5EF4-FFF2-40B4-BE49-F238E27FC236}">
                    <a16:creationId xmlns:a16="http://schemas.microsoft.com/office/drawing/2014/main" id="{4B1FBCC6-D1EB-6E98-9C0C-373BE13DA02A}"/>
                  </a:ext>
                </a:extLst>
              </p:cNvPr>
              <p:cNvSpPr txBox="1"/>
              <p:nvPr/>
            </p:nvSpPr>
            <p:spPr>
              <a:xfrm>
                <a:off x="2048597" y="20580455"/>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306" name="テキスト ボックス 305">
                <a:extLst>
                  <a:ext uri="{FF2B5EF4-FFF2-40B4-BE49-F238E27FC236}">
                    <a16:creationId xmlns:a16="http://schemas.microsoft.com/office/drawing/2014/main" id="{4B1FBCC6-D1EB-6E98-9C0C-373BE13DA02A}"/>
                  </a:ext>
                </a:extLst>
              </p:cNvPr>
              <p:cNvSpPr txBox="1">
                <a:spLocks noRot="1" noChangeAspect="1" noMove="1" noResize="1" noEditPoints="1" noAdjustHandles="1" noChangeArrowheads="1" noChangeShapeType="1" noTextEdit="1"/>
              </p:cNvSpPr>
              <p:nvPr/>
            </p:nvSpPr>
            <p:spPr>
              <a:xfrm>
                <a:off x="2048597" y="20580455"/>
                <a:ext cx="471668" cy="430887"/>
              </a:xfrm>
              <a:prstGeom prst="rect">
                <a:avLst/>
              </a:prstGeom>
              <a:blipFill>
                <a:blip r:embed="rId18"/>
                <a:stretch>
                  <a:fillRect l="-10526" r="-2632"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7" name="テキスト ボックス 306">
                <a:extLst>
                  <a:ext uri="{FF2B5EF4-FFF2-40B4-BE49-F238E27FC236}">
                    <a16:creationId xmlns:a16="http://schemas.microsoft.com/office/drawing/2014/main" id="{FFF62F73-1CFF-99FD-D403-736AF80CC0E4}"/>
                  </a:ext>
                </a:extLst>
              </p:cNvPr>
              <p:cNvSpPr txBox="1"/>
              <p:nvPr/>
            </p:nvSpPr>
            <p:spPr>
              <a:xfrm>
                <a:off x="1993368" y="2206309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307" name="テキスト ボックス 306">
                <a:extLst>
                  <a:ext uri="{FF2B5EF4-FFF2-40B4-BE49-F238E27FC236}">
                    <a16:creationId xmlns:a16="http://schemas.microsoft.com/office/drawing/2014/main" id="{FFF62F73-1CFF-99FD-D403-736AF80CC0E4}"/>
                  </a:ext>
                </a:extLst>
              </p:cNvPr>
              <p:cNvSpPr txBox="1">
                <a:spLocks noRot="1" noChangeAspect="1" noMove="1" noResize="1" noEditPoints="1" noAdjustHandles="1" noChangeArrowheads="1" noChangeShapeType="1" noTextEdit="1"/>
              </p:cNvSpPr>
              <p:nvPr/>
            </p:nvSpPr>
            <p:spPr>
              <a:xfrm>
                <a:off x="1993368" y="22063092"/>
                <a:ext cx="492507" cy="430887"/>
              </a:xfrm>
              <a:prstGeom prst="rect">
                <a:avLst/>
              </a:prstGeom>
              <a:blipFill>
                <a:blip r:embed="rId34"/>
                <a:stretch>
                  <a:fillRect b="-5714"/>
                </a:stretch>
              </a:blipFill>
            </p:spPr>
            <p:txBody>
              <a:bodyPr/>
              <a:lstStyle/>
              <a:p>
                <a:r>
                  <a:rPr lang="ja-JP" altLang="en-US">
                    <a:noFill/>
                  </a:rPr>
                  <a:t> </a:t>
                </a:r>
              </a:p>
            </p:txBody>
          </p:sp>
        </mc:Fallback>
      </mc:AlternateContent>
      <p:cxnSp>
        <p:nvCxnSpPr>
          <p:cNvPr id="308" name="直線矢印コネクタ 307">
            <a:extLst>
              <a:ext uri="{FF2B5EF4-FFF2-40B4-BE49-F238E27FC236}">
                <a16:creationId xmlns:a16="http://schemas.microsoft.com/office/drawing/2014/main" id="{17ADE05F-8AFD-E780-0AB5-2C0913488B58}"/>
              </a:ext>
            </a:extLst>
          </p:cNvPr>
          <p:cNvCxnSpPr>
            <a:cxnSpLocks/>
            <a:stCxn id="306" idx="3"/>
            <a:endCxn id="314" idx="1"/>
          </p:cNvCxnSpPr>
          <p:nvPr/>
        </p:nvCxnSpPr>
        <p:spPr>
          <a:xfrm>
            <a:off x="2520265" y="20795899"/>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9" name="直線矢印コネクタ 308">
            <a:extLst>
              <a:ext uri="{FF2B5EF4-FFF2-40B4-BE49-F238E27FC236}">
                <a16:creationId xmlns:a16="http://schemas.microsoft.com/office/drawing/2014/main" id="{96B5AF85-7D77-698C-2D91-01A67AAEAE21}"/>
              </a:ext>
            </a:extLst>
          </p:cNvPr>
          <p:cNvCxnSpPr>
            <a:cxnSpLocks/>
            <a:stCxn id="314" idx="3"/>
            <a:endCxn id="323" idx="1"/>
          </p:cNvCxnSpPr>
          <p:nvPr/>
        </p:nvCxnSpPr>
        <p:spPr>
          <a:xfrm flipV="1">
            <a:off x="5626475" y="20791889"/>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0" name="直線矢印コネクタ 19">
            <a:extLst>
              <a:ext uri="{FF2B5EF4-FFF2-40B4-BE49-F238E27FC236}">
                <a16:creationId xmlns:a16="http://schemas.microsoft.com/office/drawing/2014/main" id="{D95FA83F-98E2-C084-BB0F-ED1B378AE0BE}"/>
              </a:ext>
            </a:extLst>
          </p:cNvPr>
          <p:cNvCxnSpPr>
            <a:cxnSpLocks/>
            <a:stCxn id="323" idx="3"/>
            <a:endCxn id="326" idx="1"/>
          </p:cNvCxnSpPr>
          <p:nvPr/>
        </p:nvCxnSpPr>
        <p:spPr>
          <a:xfrm>
            <a:off x="8968811" y="20791889"/>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1" name="直線矢印コネクタ 310">
            <a:extLst>
              <a:ext uri="{FF2B5EF4-FFF2-40B4-BE49-F238E27FC236}">
                <a16:creationId xmlns:a16="http://schemas.microsoft.com/office/drawing/2014/main" id="{4E50CA6E-A831-BA13-1EAC-B81848FAC284}"/>
              </a:ext>
            </a:extLst>
          </p:cNvPr>
          <p:cNvCxnSpPr>
            <a:cxnSpLocks/>
            <a:stCxn id="326" idx="3"/>
            <a:endCxn id="312" idx="1"/>
          </p:cNvCxnSpPr>
          <p:nvPr/>
        </p:nvCxnSpPr>
        <p:spPr>
          <a:xfrm>
            <a:off x="12065204" y="21412923"/>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2" name="テキスト ボックス 311">
                <a:extLst>
                  <a:ext uri="{FF2B5EF4-FFF2-40B4-BE49-F238E27FC236}">
                    <a16:creationId xmlns:a16="http://schemas.microsoft.com/office/drawing/2014/main" id="{C35B842F-5A8A-AA03-A02F-1F8D16488AFB}"/>
                  </a:ext>
                </a:extLst>
              </p:cNvPr>
              <p:cNvSpPr txBox="1"/>
              <p:nvPr/>
            </p:nvSpPr>
            <p:spPr>
              <a:xfrm>
                <a:off x="12921874" y="21211986"/>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312" name="テキスト ボックス 311">
                <a:extLst>
                  <a:ext uri="{FF2B5EF4-FFF2-40B4-BE49-F238E27FC236}">
                    <a16:creationId xmlns:a16="http://schemas.microsoft.com/office/drawing/2014/main" id="{C35B842F-5A8A-AA03-A02F-1F8D16488AFB}"/>
                  </a:ext>
                </a:extLst>
              </p:cNvPr>
              <p:cNvSpPr txBox="1">
                <a:spLocks noRot="1" noChangeAspect="1" noMove="1" noResize="1" noEditPoints="1" noAdjustHandles="1" noChangeArrowheads="1" noChangeShapeType="1" noTextEdit="1"/>
              </p:cNvSpPr>
              <p:nvPr/>
            </p:nvSpPr>
            <p:spPr>
              <a:xfrm>
                <a:off x="12921874" y="21211986"/>
                <a:ext cx="814710" cy="430887"/>
              </a:xfrm>
              <a:prstGeom prst="rect">
                <a:avLst/>
              </a:prstGeom>
              <a:blipFill>
                <a:blip r:embed="rId20"/>
                <a:stretch>
                  <a:fillRect l="-4615" r="-3077" b="-11429"/>
                </a:stretch>
              </a:blipFill>
            </p:spPr>
            <p:txBody>
              <a:bodyPr/>
              <a:lstStyle/>
              <a:p>
                <a:r>
                  <a:rPr lang="ja-JP" altLang="en-US">
                    <a:noFill/>
                  </a:rPr>
                  <a:t> </a:t>
                </a:r>
              </a:p>
            </p:txBody>
          </p:sp>
        </mc:Fallback>
      </mc:AlternateContent>
      <p:grpSp>
        <p:nvGrpSpPr>
          <p:cNvPr id="313" name="グループ化 312">
            <a:extLst>
              <a:ext uri="{FF2B5EF4-FFF2-40B4-BE49-F238E27FC236}">
                <a16:creationId xmlns:a16="http://schemas.microsoft.com/office/drawing/2014/main" id="{64C19658-DE99-B0D4-EDD9-8258254C1633}"/>
              </a:ext>
            </a:extLst>
          </p:cNvPr>
          <p:cNvGrpSpPr/>
          <p:nvPr/>
        </p:nvGrpSpPr>
        <p:grpSpPr>
          <a:xfrm>
            <a:off x="3683475" y="20438335"/>
            <a:ext cx="1943000" cy="719356"/>
            <a:chOff x="3749692" y="11369202"/>
            <a:chExt cx="1943000" cy="719356"/>
          </a:xfrm>
        </p:grpSpPr>
        <p:sp>
          <p:nvSpPr>
            <p:cNvPr id="314" name="正方形/長方形 313">
              <a:extLst>
                <a:ext uri="{FF2B5EF4-FFF2-40B4-BE49-F238E27FC236}">
                  <a16:creationId xmlns:a16="http://schemas.microsoft.com/office/drawing/2014/main" id="{353E4285-F30A-3031-28A1-AF20C8AB976C}"/>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15" name="テキスト ボックス 314">
                  <a:extLst>
                    <a:ext uri="{FF2B5EF4-FFF2-40B4-BE49-F238E27FC236}">
                      <a16:creationId xmlns:a16="http://schemas.microsoft.com/office/drawing/2014/main" id="{D774CA3E-96F4-04C3-4E2A-0BFEA923AC7F}"/>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315" name="テキスト ボックス 314">
                  <a:extLst>
                    <a:ext uri="{FF2B5EF4-FFF2-40B4-BE49-F238E27FC236}">
                      <a16:creationId xmlns:a16="http://schemas.microsoft.com/office/drawing/2014/main" id="{D774CA3E-96F4-04C3-4E2A-0BFEA923AC7F}"/>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35"/>
                  <a:stretch>
                    <a:fillRect l="-6000" r="-6000" b="-31429"/>
                  </a:stretch>
                </a:blipFill>
              </p:spPr>
              <p:txBody>
                <a:bodyPr/>
                <a:lstStyle/>
                <a:p>
                  <a:r>
                    <a:rPr lang="ja-JP" altLang="en-US">
                      <a:noFill/>
                    </a:rPr>
                    <a:t> </a:t>
                  </a:r>
                </a:p>
              </p:txBody>
            </p:sp>
          </mc:Fallback>
        </mc:AlternateContent>
      </p:grpSp>
      <p:sp>
        <p:nvSpPr>
          <p:cNvPr id="316" name="正方形/長方形 315">
            <a:extLst>
              <a:ext uri="{FF2B5EF4-FFF2-40B4-BE49-F238E27FC236}">
                <a16:creationId xmlns:a16="http://schemas.microsoft.com/office/drawing/2014/main" id="{C16F75B1-E279-B61E-234C-D678C78DC4B9}"/>
              </a:ext>
            </a:extLst>
          </p:cNvPr>
          <p:cNvSpPr/>
          <p:nvPr/>
        </p:nvSpPr>
        <p:spPr>
          <a:xfrm>
            <a:off x="4956673" y="21275701"/>
            <a:ext cx="2246936" cy="1989896"/>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cxnSp>
        <p:nvCxnSpPr>
          <p:cNvPr id="317" name="直線矢印コネクタ 316">
            <a:extLst>
              <a:ext uri="{FF2B5EF4-FFF2-40B4-BE49-F238E27FC236}">
                <a16:creationId xmlns:a16="http://schemas.microsoft.com/office/drawing/2014/main" id="{716A2B3D-6BF8-3A0A-D209-7E573176B501}"/>
              </a:ext>
            </a:extLst>
          </p:cNvPr>
          <p:cNvCxnSpPr>
            <a:cxnSpLocks/>
            <a:stCxn id="305" idx="3"/>
            <a:endCxn id="320" idx="2"/>
          </p:cNvCxnSpPr>
          <p:nvPr/>
        </p:nvCxnSpPr>
        <p:spPr>
          <a:xfrm>
            <a:off x="3007547" y="22270649"/>
            <a:ext cx="2185537" cy="78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8" name="直線矢印コネクタ 22">
            <a:extLst>
              <a:ext uri="{FF2B5EF4-FFF2-40B4-BE49-F238E27FC236}">
                <a16:creationId xmlns:a16="http://schemas.microsoft.com/office/drawing/2014/main" id="{62FE2D4E-0919-BF30-3693-90FD912D6371}"/>
              </a:ext>
            </a:extLst>
          </p:cNvPr>
          <p:cNvCxnSpPr>
            <a:cxnSpLocks/>
            <a:stCxn id="320" idx="0"/>
            <a:endCxn id="326" idx="1"/>
          </p:cNvCxnSpPr>
          <p:nvPr/>
        </p:nvCxnSpPr>
        <p:spPr>
          <a:xfrm flipV="1">
            <a:off x="6976456" y="21412923"/>
            <a:ext cx="3145748" cy="865614"/>
          </a:xfrm>
          <a:prstGeom prst="bentConnector3">
            <a:avLst>
              <a:gd name="adj1" fmla="val 8201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19" name="グループ化 318">
            <a:extLst>
              <a:ext uri="{FF2B5EF4-FFF2-40B4-BE49-F238E27FC236}">
                <a16:creationId xmlns:a16="http://schemas.microsoft.com/office/drawing/2014/main" id="{C02DA6BF-583B-2BA8-A7A5-F8227CF9CB2E}"/>
              </a:ext>
            </a:extLst>
          </p:cNvPr>
          <p:cNvGrpSpPr/>
          <p:nvPr/>
        </p:nvGrpSpPr>
        <p:grpSpPr>
          <a:xfrm>
            <a:off x="5193084" y="21471199"/>
            <a:ext cx="1783372" cy="1614676"/>
            <a:chOff x="5917977" y="9611969"/>
            <a:chExt cx="1308572" cy="1122552"/>
          </a:xfrm>
        </p:grpSpPr>
        <p:sp>
          <p:nvSpPr>
            <p:cNvPr id="320" name="台形 319">
              <a:extLst>
                <a:ext uri="{FF2B5EF4-FFF2-40B4-BE49-F238E27FC236}">
                  <a16:creationId xmlns:a16="http://schemas.microsoft.com/office/drawing/2014/main" id="{084D5D73-462A-D401-4C0E-8E83DB16B166}"/>
                </a:ext>
              </a:extLst>
            </p:cNvPr>
            <p:cNvSpPr/>
            <p:nvPr/>
          </p:nvSpPr>
          <p:spPr>
            <a:xfrm rot="5400000">
              <a:off x="6010987" y="9518959"/>
              <a:ext cx="1122552" cy="1308572"/>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21" name="テキスト ボックス 320">
                  <a:extLst>
                    <a:ext uri="{FF2B5EF4-FFF2-40B4-BE49-F238E27FC236}">
                      <a16:creationId xmlns:a16="http://schemas.microsoft.com/office/drawing/2014/main" id="{776B1CC0-55DE-8762-7FBB-B779E26D0FCC}"/>
                    </a:ext>
                  </a:extLst>
                </p:cNvPr>
                <p:cNvSpPr txBox="1"/>
                <p:nvPr/>
              </p:nvSpPr>
              <p:spPr>
                <a:xfrm>
                  <a:off x="5926471" y="10023464"/>
                  <a:ext cx="1291911" cy="2995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𝑅𝑒𝑠𝑁𝑒𝑡</m:t>
                        </m:r>
                        <m:r>
                          <a:rPr kumimoji="1" lang="en-US" altLang="ja-JP" sz="2800" b="0" i="1" smtClean="0">
                            <a:latin typeface="Cambria Math" panose="02040503050406030204" pitchFamily="18" charset="0"/>
                          </a:rPr>
                          <m:t>152</m:t>
                        </m:r>
                      </m:oMath>
                    </m:oMathPara>
                  </a14:m>
                  <a:endParaRPr kumimoji="1" lang="ja-JP" altLang="en-US" sz="2800" dirty="0"/>
                </a:p>
              </p:txBody>
            </p:sp>
          </mc:Choice>
          <mc:Fallback xmlns="">
            <p:sp>
              <p:nvSpPr>
                <p:cNvPr id="321" name="テキスト ボックス 320">
                  <a:extLst>
                    <a:ext uri="{FF2B5EF4-FFF2-40B4-BE49-F238E27FC236}">
                      <a16:creationId xmlns:a16="http://schemas.microsoft.com/office/drawing/2014/main" id="{776B1CC0-55DE-8762-7FBB-B779E26D0FCC}"/>
                    </a:ext>
                  </a:extLst>
                </p:cNvPr>
                <p:cNvSpPr txBox="1">
                  <a:spLocks noRot="1" noChangeAspect="1" noMove="1" noResize="1" noEditPoints="1" noAdjustHandles="1" noChangeArrowheads="1" noChangeShapeType="1" noTextEdit="1"/>
                </p:cNvSpPr>
                <p:nvPr/>
              </p:nvSpPr>
              <p:spPr>
                <a:xfrm>
                  <a:off x="5926471" y="10023464"/>
                  <a:ext cx="1291911" cy="299560"/>
                </a:xfrm>
                <a:prstGeom prst="rect">
                  <a:avLst/>
                </a:prstGeom>
                <a:blipFill>
                  <a:blip r:embed="rId36"/>
                  <a:stretch>
                    <a:fillRect l="-6429" r="-6429" b="-5714"/>
                  </a:stretch>
                </a:blipFill>
              </p:spPr>
              <p:txBody>
                <a:bodyPr/>
                <a:lstStyle/>
                <a:p>
                  <a:r>
                    <a:rPr lang="ja-JP" altLang="en-US">
                      <a:noFill/>
                    </a:rPr>
                    <a:t> </a:t>
                  </a:r>
                </a:p>
              </p:txBody>
            </p:sp>
          </mc:Fallback>
        </mc:AlternateContent>
      </p:grpSp>
      <p:grpSp>
        <p:nvGrpSpPr>
          <p:cNvPr id="322" name="グループ化 321">
            <a:extLst>
              <a:ext uri="{FF2B5EF4-FFF2-40B4-BE49-F238E27FC236}">
                <a16:creationId xmlns:a16="http://schemas.microsoft.com/office/drawing/2014/main" id="{AB5A8A89-D823-9779-997F-757D0E07D2C5}"/>
              </a:ext>
            </a:extLst>
          </p:cNvPr>
          <p:cNvGrpSpPr/>
          <p:nvPr/>
        </p:nvGrpSpPr>
        <p:grpSpPr>
          <a:xfrm>
            <a:off x="7025811" y="20432211"/>
            <a:ext cx="1943000" cy="719356"/>
            <a:chOff x="3749692" y="11369202"/>
            <a:chExt cx="1943000" cy="719356"/>
          </a:xfrm>
        </p:grpSpPr>
        <p:sp>
          <p:nvSpPr>
            <p:cNvPr id="323" name="正方形/長方形 322">
              <a:extLst>
                <a:ext uri="{FF2B5EF4-FFF2-40B4-BE49-F238E27FC236}">
                  <a16:creationId xmlns:a16="http://schemas.microsoft.com/office/drawing/2014/main" id="{54511A1A-6870-6898-9844-27CD6CE56D7F}"/>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24" name="テキスト ボックス 323">
                  <a:extLst>
                    <a:ext uri="{FF2B5EF4-FFF2-40B4-BE49-F238E27FC236}">
                      <a16:creationId xmlns:a16="http://schemas.microsoft.com/office/drawing/2014/main" id="{0A64FB88-DD18-3132-3A74-9754F45A2965}"/>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324" name="テキスト ボックス 323">
                  <a:extLst>
                    <a:ext uri="{FF2B5EF4-FFF2-40B4-BE49-F238E27FC236}">
                      <a16:creationId xmlns:a16="http://schemas.microsoft.com/office/drawing/2014/main" id="{0A64FB88-DD18-3132-3A74-9754F45A2965}"/>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37"/>
                  <a:stretch>
                    <a:fillRect b="-5714"/>
                  </a:stretch>
                </a:blipFill>
              </p:spPr>
              <p:txBody>
                <a:bodyPr/>
                <a:lstStyle/>
                <a:p>
                  <a:r>
                    <a:rPr lang="ja-JP" altLang="en-US">
                      <a:noFill/>
                    </a:rPr>
                    <a:t> </a:t>
                  </a:r>
                </a:p>
              </p:txBody>
            </p:sp>
          </mc:Fallback>
        </mc:AlternateContent>
      </p:grpSp>
      <p:grpSp>
        <p:nvGrpSpPr>
          <p:cNvPr id="325" name="グループ化 324">
            <a:extLst>
              <a:ext uri="{FF2B5EF4-FFF2-40B4-BE49-F238E27FC236}">
                <a16:creationId xmlns:a16="http://schemas.microsoft.com/office/drawing/2014/main" id="{40577655-4412-0D27-B764-262627E542AD}"/>
              </a:ext>
            </a:extLst>
          </p:cNvPr>
          <p:cNvGrpSpPr/>
          <p:nvPr/>
        </p:nvGrpSpPr>
        <p:grpSpPr>
          <a:xfrm>
            <a:off x="10122204" y="21053245"/>
            <a:ext cx="1943000" cy="719356"/>
            <a:chOff x="3749692" y="11369202"/>
            <a:chExt cx="1943000" cy="719356"/>
          </a:xfrm>
        </p:grpSpPr>
        <p:sp>
          <p:nvSpPr>
            <p:cNvPr id="326" name="正方形/長方形 325">
              <a:extLst>
                <a:ext uri="{FF2B5EF4-FFF2-40B4-BE49-F238E27FC236}">
                  <a16:creationId xmlns:a16="http://schemas.microsoft.com/office/drawing/2014/main" id="{262AEDE7-75D9-78F7-0A89-B400655293E1}"/>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27" name="テキスト ボックス 326">
                  <a:extLst>
                    <a:ext uri="{FF2B5EF4-FFF2-40B4-BE49-F238E27FC236}">
                      <a16:creationId xmlns:a16="http://schemas.microsoft.com/office/drawing/2014/main" id="{B23CF03E-38FA-478F-E8DB-41F5D108166A}"/>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327" name="テキスト ボックス 326">
                  <a:extLst>
                    <a:ext uri="{FF2B5EF4-FFF2-40B4-BE49-F238E27FC236}">
                      <a16:creationId xmlns:a16="http://schemas.microsoft.com/office/drawing/2014/main" id="{B23CF03E-38FA-478F-E8DB-41F5D108166A}"/>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38"/>
                  <a:stretch>
                    <a:fillRect b="-2778"/>
                  </a:stretch>
                </a:blipFill>
              </p:spPr>
              <p:txBody>
                <a:bodyPr/>
                <a:lstStyle/>
                <a:p>
                  <a:r>
                    <a:rPr lang="ja-JP" altLang="en-US">
                      <a:noFill/>
                    </a:rPr>
                    <a:t> </a:t>
                  </a:r>
                </a:p>
              </p:txBody>
            </p:sp>
          </mc:Fallback>
        </mc:AlternateContent>
      </p:grpSp>
      <p:sp>
        <p:nvSpPr>
          <p:cNvPr id="349" name="四角形: 角を丸くする 29">
            <a:extLst>
              <a:ext uri="{FF2B5EF4-FFF2-40B4-BE49-F238E27FC236}">
                <a16:creationId xmlns:a16="http://schemas.microsoft.com/office/drawing/2014/main" id="{7F559CC1-19DA-3E66-78CC-241015614F3E}"/>
              </a:ext>
            </a:extLst>
          </p:cNvPr>
          <p:cNvSpPr/>
          <p:nvPr/>
        </p:nvSpPr>
        <p:spPr>
          <a:xfrm>
            <a:off x="946943" y="28071792"/>
            <a:ext cx="13822015" cy="1956019"/>
          </a:xfrm>
          <a:prstGeom prst="roundRect">
            <a:avLst>
              <a:gd name="adj" fmla="val 2456"/>
            </a:avLst>
          </a:prstGeom>
          <a:solidFill>
            <a:schemeClr val="bg1"/>
          </a:solidFill>
          <a:ln w="762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grpSp>
        <p:nvGrpSpPr>
          <p:cNvPr id="351" name="グループ化 350">
            <a:extLst>
              <a:ext uri="{FF2B5EF4-FFF2-40B4-BE49-F238E27FC236}">
                <a16:creationId xmlns:a16="http://schemas.microsoft.com/office/drawing/2014/main" id="{67068A85-84E6-DD22-8637-491353DE2428}"/>
              </a:ext>
            </a:extLst>
          </p:cNvPr>
          <p:cNvGrpSpPr/>
          <p:nvPr/>
        </p:nvGrpSpPr>
        <p:grpSpPr>
          <a:xfrm>
            <a:off x="1548758" y="28455007"/>
            <a:ext cx="1496736" cy="1496736"/>
            <a:chOff x="1545856" y="16973525"/>
            <a:chExt cx="1496736" cy="1496736"/>
          </a:xfrm>
        </p:grpSpPr>
        <p:pic>
          <p:nvPicPr>
            <p:cNvPr id="352" name="図 351" descr="帽子を被っている女性&#10;&#10;自動的に生成された説明">
              <a:extLst>
                <a:ext uri="{FF2B5EF4-FFF2-40B4-BE49-F238E27FC236}">
                  <a16:creationId xmlns:a16="http://schemas.microsoft.com/office/drawing/2014/main" id="{2B6C0F55-9FEB-3B96-6E7A-16C912762AAC}"/>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353" name="テキスト ボックス 352">
                  <a:extLst>
                    <a:ext uri="{FF2B5EF4-FFF2-40B4-BE49-F238E27FC236}">
                      <a16:creationId xmlns:a16="http://schemas.microsoft.com/office/drawing/2014/main" id="{3DE821ED-F356-E318-6FF9-3267076B5EAF}"/>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353" name="テキスト ボックス 352">
                  <a:extLst>
                    <a:ext uri="{FF2B5EF4-FFF2-40B4-BE49-F238E27FC236}">
                      <a16:creationId xmlns:a16="http://schemas.microsoft.com/office/drawing/2014/main" id="{3DE821ED-F356-E318-6FF9-3267076B5EAF}"/>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39"/>
                  <a:stretch>
                    <a:fillRect b="-5714"/>
                  </a:stretch>
                </a:blipFill>
              </p:spPr>
              <p:txBody>
                <a:bodyPr/>
                <a:lstStyle/>
                <a:p>
                  <a:r>
                    <a:rPr lang="ja-JP" altLang="en-US">
                      <a:noFill/>
                    </a:rPr>
                    <a:t> </a:t>
                  </a:r>
                </a:p>
              </p:txBody>
            </p:sp>
          </mc:Fallback>
        </mc:AlternateContent>
      </p:grpSp>
      <p:cxnSp>
        <p:nvCxnSpPr>
          <p:cNvPr id="354" name="直線矢印コネクタ 353">
            <a:extLst>
              <a:ext uri="{FF2B5EF4-FFF2-40B4-BE49-F238E27FC236}">
                <a16:creationId xmlns:a16="http://schemas.microsoft.com/office/drawing/2014/main" id="{7A612C23-B8CA-738A-56FA-EC9EF9EBD4FE}"/>
              </a:ext>
            </a:extLst>
          </p:cNvPr>
          <p:cNvCxnSpPr>
            <a:cxnSpLocks/>
            <a:stCxn id="352" idx="3"/>
            <a:endCxn id="356" idx="2"/>
          </p:cNvCxnSpPr>
          <p:nvPr/>
        </p:nvCxnSpPr>
        <p:spPr>
          <a:xfrm flipV="1">
            <a:off x="3045494" y="29196907"/>
            <a:ext cx="1853074"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55" name="グループ化 354">
            <a:extLst>
              <a:ext uri="{FF2B5EF4-FFF2-40B4-BE49-F238E27FC236}">
                <a16:creationId xmlns:a16="http://schemas.microsoft.com/office/drawing/2014/main" id="{721932A3-EAE0-5F76-502D-E3BEC1237CA3}"/>
              </a:ext>
            </a:extLst>
          </p:cNvPr>
          <p:cNvGrpSpPr/>
          <p:nvPr/>
        </p:nvGrpSpPr>
        <p:grpSpPr>
          <a:xfrm>
            <a:off x="4898568" y="28635631"/>
            <a:ext cx="1431984" cy="1122552"/>
            <a:chOff x="5794565" y="9611968"/>
            <a:chExt cx="1431984" cy="1122552"/>
          </a:xfrm>
        </p:grpSpPr>
        <p:sp>
          <p:nvSpPr>
            <p:cNvPr id="356" name="台形 355">
              <a:extLst>
                <a:ext uri="{FF2B5EF4-FFF2-40B4-BE49-F238E27FC236}">
                  <a16:creationId xmlns:a16="http://schemas.microsoft.com/office/drawing/2014/main" id="{9C9B0DE8-B813-DE7F-1277-68643B5FC123}"/>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57" name="テキスト ボックス 356">
                  <a:extLst>
                    <a:ext uri="{FF2B5EF4-FFF2-40B4-BE49-F238E27FC236}">
                      <a16:creationId xmlns:a16="http://schemas.microsoft.com/office/drawing/2014/main" id="{35AAFA1F-37CC-F1A2-3B24-64A4AE28E1DC}"/>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357" name="テキスト ボックス 356">
                  <a:extLst>
                    <a:ext uri="{FF2B5EF4-FFF2-40B4-BE49-F238E27FC236}">
                      <a16:creationId xmlns:a16="http://schemas.microsoft.com/office/drawing/2014/main" id="{35AAFA1F-37CC-F1A2-3B24-64A4AE28E1DC}"/>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40"/>
                  <a:stretch>
                    <a:fillRect l="-6364" r="-5455" b="-571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358" name="テキスト ボックス 357">
                <a:extLst>
                  <a:ext uri="{FF2B5EF4-FFF2-40B4-BE49-F238E27FC236}">
                    <a16:creationId xmlns:a16="http://schemas.microsoft.com/office/drawing/2014/main" id="{29606662-F3FB-ECC7-70E3-1CD9288A5E7C}"/>
                  </a:ext>
                </a:extLst>
              </p:cNvPr>
              <p:cNvSpPr txBox="1"/>
              <p:nvPr/>
            </p:nvSpPr>
            <p:spPr>
              <a:xfrm>
                <a:off x="7857102" y="28971369"/>
                <a:ext cx="2610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i="1" smtClean="0">
                          <a:latin typeface="Cambria Math" panose="02040503050406030204" pitchFamily="18" charset="0"/>
                        </a:rPr>
                        <m:t>𝑧</m:t>
                      </m:r>
                    </m:oMath>
                  </m:oMathPara>
                </a14:m>
                <a:endParaRPr kumimoji="1" lang="ja-JP" altLang="en-US" sz="2800" dirty="0"/>
              </a:p>
            </p:txBody>
          </p:sp>
        </mc:Choice>
        <mc:Fallback xmlns="">
          <p:sp>
            <p:nvSpPr>
              <p:cNvPr id="358" name="テキスト ボックス 357">
                <a:extLst>
                  <a:ext uri="{FF2B5EF4-FFF2-40B4-BE49-F238E27FC236}">
                    <a16:creationId xmlns:a16="http://schemas.microsoft.com/office/drawing/2014/main" id="{29606662-F3FB-ECC7-70E3-1CD9288A5E7C}"/>
                  </a:ext>
                </a:extLst>
              </p:cNvPr>
              <p:cNvSpPr txBox="1">
                <a:spLocks noRot="1" noChangeAspect="1" noMove="1" noResize="1" noEditPoints="1" noAdjustHandles="1" noChangeArrowheads="1" noChangeShapeType="1" noTextEdit="1"/>
              </p:cNvSpPr>
              <p:nvPr/>
            </p:nvSpPr>
            <p:spPr>
              <a:xfrm>
                <a:off x="7857102" y="28971369"/>
                <a:ext cx="261034" cy="430887"/>
              </a:xfrm>
              <a:prstGeom prst="rect">
                <a:avLst/>
              </a:prstGeom>
              <a:blipFill>
                <a:blip r:embed="rId41"/>
                <a:stretch>
                  <a:fillRect l="-13636" r="-13636"/>
                </a:stretch>
              </a:blipFill>
            </p:spPr>
            <p:txBody>
              <a:bodyPr/>
              <a:lstStyle/>
              <a:p>
                <a:r>
                  <a:rPr lang="ja-JP" altLang="en-US">
                    <a:noFill/>
                  </a:rPr>
                  <a:t> </a:t>
                </a:r>
              </a:p>
            </p:txBody>
          </p:sp>
        </mc:Fallback>
      </mc:AlternateContent>
      <p:cxnSp>
        <p:nvCxnSpPr>
          <p:cNvPr id="359" name="直線矢印コネクタ 358">
            <a:extLst>
              <a:ext uri="{FF2B5EF4-FFF2-40B4-BE49-F238E27FC236}">
                <a16:creationId xmlns:a16="http://schemas.microsoft.com/office/drawing/2014/main" id="{92544129-B62C-7DC1-D75B-DAAA53A87246}"/>
              </a:ext>
            </a:extLst>
          </p:cNvPr>
          <p:cNvCxnSpPr>
            <a:cxnSpLocks/>
            <a:stCxn id="357" idx="3"/>
            <a:endCxn id="358" idx="1"/>
          </p:cNvCxnSpPr>
          <p:nvPr/>
        </p:nvCxnSpPr>
        <p:spPr>
          <a:xfrm flipV="1">
            <a:off x="6319666" y="29186813"/>
            <a:ext cx="1537436" cy="75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60" name="グループ化 359">
            <a:extLst>
              <a:ext uri="{FF2B5EF4-FFF2-40B4-BE49-F238E27FC236}">
                <a16:creationId xmlns:a16="http://schemas.microsoft.com/office/drawing/2014/main" id="{E04639A4-2B4C-6218-0DBF-5978DC44C118}"/>
              </a:ext>
            </a:extLst>
          </p:cNvPr>
          <p:cNvGrpSpPr/>
          <p:nvPr/>
        </p:nvGrpSpPr>
        <p:grpSpPr>
          <a:xfrm>
            <a:off x="9503761" y="28635631"/>
            <a:ext cx="1431984" cy="1122552"/>
            <a:chOff x="5794565" y="9611968"/>
            <a:chExt cx="1431984" cy="1122552"/>
          </a:xfrm>
        </p:grpSpPr>
        <p:sp>
          <p:nvSpPr>
            <p:cNvPr id="361" name="台形 360">
              <a:extLst>
                <a:ext uri="{FF2B5EF4-FFF2-40B4-BE49-F238E27FC236}">
                  <a16:creationId xmlns:a16="http://schemas.microsoft.com/office/drawing/2014/main" id="{FBA4EB09-47B1-7729-2B16-DD2B5B88F87B}"/>
                </a:ext>
              </a:extLst>
            </p:cNvPr>
            <p:cNvSpPr/>
            <p:nvPr/>
          </p:nvSpPr>
          <p:spPr>
            <a:xfrm rot="162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62" name="テキスト ボックス 361">
                  <a:extLst>
                    <a:ext uri="{FF2B5EF4-FFF2-40B4-BE49-F238E27FC236}">
                      <a16:creationId xmlns:a16="http://schemas.microsoft.com/office/drawing/2014/main" id="{5989CD7E-A79B-39DF-B150-EB38E42E6FFA}"/>
                    </a:ext>
                  </a:extLst>
                </p:cNvPr>
                <p:cNvSpPr txBox="1"/>
                <p:nvPr/>
              </p:nvSpPr>
              <p:spPr>
                <a:xfrm>
                  <a:off x="5827591" y="9955261"/>
                  <a:ext cx="13896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𝑑𝑒𝑐𝑜𝑑𝑒𝑟</m:t>
                        </m:r>
                      </m:oMath>
                    </m:oMathPara>
                  </a14:m>
                  <a:endParaRPr kumimoji="1" lang="ja-JP" altLang="en-US" sz="2800" dirty="0"/>
                </a:p>
              </p:txBody>
            </p:sp>
          </mc:Choice>
          <mc:Fallback xmlns="">
            <p:sp>
              <p:nvSpPr>
                <p:cNvPr id="362" name="テキスト ボックス 361">
                  <a:extLst>
                    <a:ext uri="{FF2B5EF4-FFF2-40B4-BE49-F238E27FC236}">
                      <a16:creationId xmlns:a16="http://schemas.microsoft.com/office/drawing/2014/main" id="{5989CD7E-A79B-39DF-B150-EB38E42E6FFA}"/>
                    </a:ext>
                  </a:extLst>
                </p:cNvPr>
                <p:cNvSpPr txBox="1">
                  <a:spLocks noRot="1" noChangeAspect="1" noMove="1" noResize="1" noEditPoints="1" noAdjustHandles="1" noChangeArrowheads="1" noChangeShapeType="1" noTextEdit="1"/>
                </p:cNvSpPr>
                <p:nvPr/>
              </p:nvSpPr>
              <p:spPr>
                <a:xfrm>
                  <a:off x="5827591" y="9955261"/>
                  <a:ext cx="1389676" cy="430887"/>
                </a:xfrm>
                <a:prstGeom prst="rect">
                  <a:avLst/>
                </a:prstGeom>
                <a:blipFill>
                  <a:blip r:embed="rId42"/>
                  <a:stretch>
                    <a:fillRect l="-5405" r="-5405" b="-5714"/>
                  </a:stretch>
                </a:blipFill>
              </p:spPr>
              <p:txBody>
                <a:bodyPr/>
                <a:lstStyle/>
                <a:p>
                  <a:r>
                    <a:rPr lang="ja-JP" altLang="en-US">
                      <a:noFill/>
                    </a:rPr>
                    <a:t> </a:t>
                  </a:r>
                </a:p>
              </p:txBody>
            </p:sp>
          </mc:Fallback>
        </mc:AlternateContent>
      </p:grpSp>
      <p:cxnSp>
        <p:nvCxnSpPr>
          <p:cNvPr id="363" name="直線矢印コネクタ 362">
            <a:extLst>
              <a:ext uri="{FF2B5EF4-FFF2-40B4-BE49-F238E27FC236}">
                <a16:creationId xmlns:a16="http://schemas.microsoft.com/office/drawing/2014/main" id="{A0C410E7-E6FB-32FA-5674-105BA0187780}"/>
              </a:ext>
            </a:extLst>
          </p:cNvPr>
          <p:cNvCxnSpPr>
            <a:cxnSpLocks/>
            <a:stCxn id="358" idx="3"/>
            <a:endCxn id="361" idx="0"/>
          </p:cNvCxnSpPr>
          <p:nvPr/>
        </p:nvCxnSpPr>
        <p:spPr>
          <a:xfrm>
            <a:off x="8118136" y="29186813"/>
            <a:ext cx="1385625" cy="100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64" name="グループ化 363">
            <a:extLst>
              <a:ext uri="{FF2B5EF4-FFF2-40B4-BE49-F238E27FC236}">
                <a16:creationId xmlns:a16="http://schemas.microsoft.com/office/drawing/2014/main" id="{DEB9F2C5-8550-44A2-F42C-6BD37115830C}"/>
              </a:ext>
            </a:extLst>
          </p:cNvPr>
          <p:cNvGrpSpPr/>
          <p:nvPr/>
        </p:nvGrpSpPr>
        <p:grpSpPr>
          <a:xfrm>
            <a:off x="12795127" y="28445999"/>
            <a:ext cx="1496736" cy="1496736"/>
            <a:chOff x="1545856" y="16973525"/>
            <a:chExt cx="1496736" cy="1496736"/>
          </a:xfrm>
        </p:grpSpPr>
        <p:pic>
          <p:nvPicPr>
            <p:cNvPr id="365" name="図 364" descr="帽子を被っている女性&#10;&#10;自動的に生成された説明">
              <a:extLst>
                <a:ext uri="{FF2B5EF4-FFF2-40B4-BE49-F238E27FC236}">
                  <a16:creationId xmlns:a16="http://schemas.microsoft.com/office/drawing/2014/main" id="{964220D5-5471-19F9-B356-AB0D997BC99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366" name="テキスト ボックス 365">
                  <a:extLst>
                    <a:ext uri="{FF2B5EF4-FFF2-40B4-BE49-F238E27FC236}">
                      <a16:creationId xmlns:a16="http://schemas.microsoft.com/office/drawing/2014/main" id="{F8F578F1-770C-ED35-EBE6-F97284F24DC3}"/>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rPr>
                            </m:ctrlPr>
                          </m:sSupPr>
                          <m:e>
                            <m:r>
                              <a:rPr kumimoji="1" lang="en-US" altLang="ja-JP" sz="2800" b="1">
                                <a:latin typeface="Cambria Math" panose="02040503050406030204" pitchFamily="18" charset="0"/>
                              </a:rPr>
                              <m:t>𝐈</m:t>
                            </m:r>
                          </m:e>
                          <m:sup>
                            <m:r>
                              <a:rPr kumimoji="1" lang="en-US" altLang="ja-JP" sz="2800" b="0" i="0" smtClean="0">
                                <a:latin typeface="Cambria Math" panose="02040503050406030204" pitchFamily="18" charset="0"/>
                              </a:rPr>
                              <m:t>′</m:t>
                            </m:r>
                          </m:sup>
                        </m:sSup>
                      </m:oMath>
                    </m:oMathPara>
                  </a14:m>
                  <a:endParaRPr kumimoji="1" lang="ja-JP" altLang="en-US" sz="2800" dirty="0"/>
                </a:p>
              </p:txBody>
            </p:sp>
          </mc:Choice>
          <mc:Fallback xmlns="">
            <p:sp>
              <p:nvSpPr>
                <p:cNvPr id="366" name="テキスト ボックス 365">
                  <a:extLst>
                    <a:ext uri="{FF2B5EF4-FFF2-40B4-BE49-F238E27FC236}">
                      <a16:creationId xmlns:a16="http://schemas.microsoft.com/office/drawing/2014/main" id="{F8F578F1-770C-ED35-EBE6-F97284F24DC3}"/>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43"/>
                  <a:stretch>
                    <a:fillRect b="-2778"/>
                  </a:stretch>
                </a:blipFill>
              </p:spPr>
              <p:txBody>
                <a:bodyPr/>
                <a:lstStyle/>
                <a:p>
                  <a:r>
                    <a:rPr lang="ja-JP" altLang="en-US">
                      <a:noFill/>
                    </a:rPr>
                    <a:t> </a:t>
                  </a:r>
                </a:p>
              </p:txBody>
            </p:sp>
          </mc:Fallback>
        </mc:AlternateContent>
      </p:grpSp>
      <p:cxnSp>
        <p:nvCxnSpPr>
          <p:cNvPr id="367" name="直線矢印コネクタ 366">
            <a:extLst>
              <a:ext uri="{FF2B5EF4-FFF2-40B4-BE49-F238E27FC236}">
                <a16:creationId xmlns:a16="http://schemas.microsoft.com/office/drawing/2014/main" id="{4769A436-8CFE-A62C-821E-FABD43EE27EF}"/>
              </a:ext>
            </a:extLst>
          </p:cNvPr>
          <p:cNvCxnSpPr>
            <a:cxnSpLocks/>
            <a:stCxn id="362" idx="3"/>
            <a:endCxn id="365" idx="1"/>
          </p:cNvCxnSpPr>
          <p:nvPr/>
        </p:nvCxnSpPr>
        <p:spPr>
          <a:xfrm flipV="1">
            <a:off x="10926463" y="29194367"/>
            <a:ext cx="186866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8" name="四角形: 角を丸くする 30">
                <a:extLst>
                  <a:ext uri="{FF2B5EF4-FFF2-40B4-BE49-F238E27FC236}">
                    <a16:creationId xmlns:a16="http://schemas.microsoft.com/office/drawing/2014/main" id="{ADA08051-F8DA-BCC8-A9A7-315069158E36}"/>
                  </a:ext>
                </a:extLst>
              </p:cNvPr>
              <p:cNvSpPr/>
              <p:nvPr/>
            </p:nvSpPr>
            <p:spPr>
              <a:xfrm>
                <a:off x="1135165" y="27798548"/>
                <a:ext cx="11067871" cy="574916"/>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𝑠𝑡𝑒𝑝</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 1:</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𝑡𝑟𝑎𝑖𝑛</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 </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𝐴𝑢𝑡𝑜𝐸𝑛𝑐𝑜𝑑𝑒𝑟</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 </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𝑤𝑖𝑡h</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 </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𝑏𝑜𝑘𝑒𝑡𝑒</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 </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𝑖𝑚𝑎𝑔𝑒𝑠</m:t>
                      </m:r>
                    </m:oMath>
                  </m:oMathPara>
                </a14:m>
                <a:endParaRPr kumimoji="1" lang="ja-JP" altLang="en-US" sz="4000" dirty="0">
                  <a:solidFill>
                    <a:schemeClr val="tx1"/>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368" name="四角形: 角を丸くする 30">
                <a:extLst>
                  <a:ext uri="{FF2B5EF4-FFF2-40B4-BE49-F238E27FC236}">
                    <a16:creationId xmlns:a16="http://schemas.microsoft.com/office/drawing/2014/main" id="{ADA08051-F8DA-BCC8-A9A7-315069158E36}"/>
                  </a:ext>
                </a:extLst>
              </p:cNvPr>
              <p:cNvSpPr>
                <a:spLocks noRot="1" noChangeAspect="1" noMove="1" noResize="1" noEditPoints="1" noAdjustHandles="1" noChangeArrowheads="1" noChangeShapeType="1" noTextEdit="1"/>
              </p:cNvSpPr>
              <p:nvPr/>
            </p:nvSpPr>
            <p:spPr>
              <a:xfrm>
                <a:off x="1135165" y="27798548"/>
                <a:ext cx="11067871" cy="574916"/>
              </a:xfrm>
              <a:prstGeom prst="roundRect">
                <a:avLst/>
              </a:prstGeom>
              <a:blipFill>
                <a:blip r:embed="rId44"/>
                <a:stretch>
                  <a:fillRect t="-3774" b="-30189"/>
                </a:stretch>
              </a:blipFill>
              <a:ln w="76200">
                <a:solidFill>
                  <a:schemeClr val="tx1"/>
                </a:solidFill>
              </a:ln>
            </p:spPr>
            <p:txBody>
              <a:bodyPr/>
              <a:lstStyle/>
              <a:p>
                <a:r>
                  <a:rPr lang="ja-JP" altLang="en-US">
                    <a:noFill/>
                  </a:rPr>
                  <a:t> </a:t>
                </a:r>
              </a:p>
            </p:txBody>
          </p:sp>
        </mc:Fallback>
      </mc:AlternateContent>
      <p:sp>
        <p:nvSpPr>
          <p:cNvPr id="371" name="四角形: 角を丸くする 29">
            <a:extLst>
              <a:ext uri="{FF2B5EF4-FFF2-40B4-BE49-F238E27FC236}">
                <a16:creationId xmlns:a16="http://schemas.microsoft.com/office/drawing/2014/main" id="{3148322E-F67E-B83D-DB5B-669B04A91251}"/>
              </a:ext>
            </a:extLst>
          </p:cNvPr>
          <p:cNvSpPr/>
          <p:nvPr/>
        </p:nvSpPr>
        <p:spPr>
          <a:xfrm>
            <a:off x="860332" y="30426688"/>
            <a:ext cx="13822015" cy="4931984"/>
          </a:xfrm>
          <a:prstGeom prst="roundRect">
            <a:avLst>
              <a:gd name="adj" fmla="val 2456"/>
            </a:avLst>
          </a:prstGeom>
          <a:solidFill>
            <a:schemeClr val="bg1"/>
          </a:solidFill>
          <a:ln w="762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372" name="四角形: 角を丸くする 30">
                <a:extLst>
                  <a:ext uri="{FF2B5EF4-FFF2-40B4-BE49-F238E27FC236}">
                    <a16:creationId xmlns:a16="http://schemas.microsoft.com/office/drawing/2014/main" id="{BC5A6F3C-BA98-7645-4BD3-9D91AABD0F66}"/>
                  </a:ext>
                </a:extLst>
              </p:cNvPr>
              <p:cNvSpPr/>
              <p:nvPr/>
            </p:nvSpPr>
            <p:spPr>
              <a:xfrm>
                <a:off x="1048555" y="30153444"/>
                <a:ext cx="7915314" cy="574916"/>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𝑠𝑡𝑒𝑝</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 2:</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𝑡𝑟𝑎𝑖𝑛</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 </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𝑖𝑚𝑎𝑔𝑒</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 </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𝑐𝑎𝑝𝑡𝑖𝑜𝑛</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 </m:t>
                      </m:r>
                      <m:r>
                        <a:rPr kumimoji="1" lang="en-US" altLang="ja-JP" sz="4000" b="0" i="1" smtClean="0">
                          <a:solidFill>
                            <a:schemeClr val="tx1"/>
                          </a:solidFill>
                          <a:latin typeface="Cambria Math" panose="02040503050406030204" pitchFamily="18" charset="0"/>
                          <a:ea typeface="UD デジタル 教科書体 NK-R" panose="02020400000000000000" pitchFamily="18" charset="-128"/>
                        </a:rPr>
                        <m:t>𝑚𝑜𝑑𝑒𝑙</m:t>
                      </m:r>
                    </m:oMath>
                  </m:oMathPara>
                </a14:m>
                <a:endParaRPr kumimoji="1" lang="ja-JP" altLang="en-US" sz="4000" dirty="0">
                  <a:solidFill>
                    <a:schemeClr val="tx1"/>
                  </a:solidFill>
                  <a:latin typeface="UD デジタル 教科書体 NK-R" panose="02020400000000000000" pitchFamily="18" charset="-128"/>
                  <a:ea typeface="UD デジタル 教科書体 NK-R" panose="02020400000000000000" pitchFamily="18" charset="-128"/>
                </a:endParaRPr>
              </a:p>
            </p:txBody>
          </p:sp>
        </mc:Choice>
        <mc:Fallback xmlns="">
          <p:sp>
            <p:nvSpPr>
              <p:cNvPr id="372" name="四角形: 角を丸くする 30">
                <a:extLst>
                  <a:ext uri="{FF2B5EF4-FFF2-40B4-BE49-F238E27FC236}">
                    <a16:creationId xmlns:a16="http://schemas.microsoft.com/office/drawing/2014/main" id="{BC5A6F3C-BA98-7645-4BD3-9D91AABD0F66}"/>
                  </a:ext>
                </a:extLst>
              </p:cNvPr>
              <p:cNvSpPr>
                <a:spLocks noRot="1" noChangeAspect="1" noMove="1" noResize="1" noEditPoints="1" noAdjustHandles="1" noChangeArrowheads="1" noChangeShapeType="1" noTextEdit="1"/>
              </p:cNvSpPr>
              <p:nvPr/>
            </p:nvSpPr>
            <p:spPr>
              <a:xfrm>
                <a:off x="1048555" y="30153444"/>
                <a:ext cx="7915314" cy="574916"/>
              </a:xfrm>
              <a:prstGeom prst="roundRect">
                <a:avLst/>
              </a:prstGeom>
              <a:blipFill>
                <a:blip r:embed="rId45"/>
                <a:stretch>
                  <a:fillRect l="-476" t="-5660" r="-317" b="-28302"/>
                </a:stretch>
              </a:blipFill>
              <a:ln w="76200">
                <a:solidFill>
                  <a:schemeClr val="tx1"/>
                </a:solidFill>
              </a:ln>
            </p:spPr>
            <p:txBody>
              <a:bodyPr/>
              <a:lstStyle/>
              <a:p>
                <a:r>
                  <a:rPr lang="ja-JP" altLang="en-US">
                    <a:noFill/>
                  </a:rPr>
                  <a:t> </a:t>
                </a:r>
              </a:p>
            </p:txBody>
          </p:sp>
        </mc:Fallback>
      </mc:AlternateContent>
      <p:sp>
        <p:nvSpPr>
          <p:cNvPr id="390" name="正方形/長方形 389">
            <a:extLst>
              <a:ext uri="{FF2B5EF4-FFF2-40B4-BE49-F238E27FC236}">
                <a16:creationId xmlns:a16="http://schemas.microsoft.com/office/drawing/2014/main" id="{B9563929-B394-B316-933B-B030BFDA4F91}"/>
              </a:ext>
            </a:extLst>
          </p:cNvPr>
          <p:cNvSpPr/>
          <p:nvPr/>
        </p:nvSpPr>
        <p:spPr>
          <a:xfrm>
            <a:off x="4018054" y="30889539"/>
            <a:ext cx="7236099" cy="208099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5" name="正方形/長方形 414">
            <a:extLst>
              <a:ext uri="{FF2B5EF4-FFF2-40B4-BE49-F238E27FC236}">
                <a16:creationId xmlns:a16="http://schemas.microsoft.com/office/drawing/2014/main" id="{D2E736F9-5811-A754-2B9F-9DAA0CADBA36}"/>
              </a:ext>
            </a:extLst>
          </p:cNvPr>
          <p:cNvSpPr/>
          <p:nvPr/>
        </p:nvSpPr>
        <p:spPr>
          <a:xfrm>
            <a:off x="4684362" y="31398005"/>
            <a:ext cx="1799520" cy="13184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p:cxnSp>
        <p:nvCxnSpPr>
          <p:cNvPr id="376" name="直線矢印コネクタ 375">
            <a:extLst>
              <a:ext uri="{FF2B5EF4-FFF2-40B4-BE49-F238E27FC236}">
                <a16:creationId xmlns:a16="http://schemas.microsoft.com/office/drawing/2014/main" id="{6393679E-345F-9FF9-C9F4-48CE05120FF8}"/>
              </a:ext>
            </a:extLst>
          </p:cNvPr>
          <p:cNvCxnSpPr>
            <a:cxnSpLocks/>
            <a:stCxn id="408" idx="3"/>
            <a:endCxn id="378" idx="2"/>
          </p:cNvCxnSpPr>
          <p:nvPr/>
        </p:nvCxnSpPr>
        <p:spPr>
          <a:xfrm flipV="1">
            <a:off x="3037014" y="32046729"/>
            <a:ext cx="1857448" cy="1669068"/>
          </a:xfrm>
          <a:prstGeom prst="bentConnector3">
            <a:avLst>
              <a:gd name="adj1" fmla="val 68934"/>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77" name="グループ化 376">
            <a:extLst>
              <a:ext uri="{FF2B5EF4-FFF2-40B4-BE49-F238E27FC236}">
                <a16:creationId xmlns:a16="http://schemas.microsoft.com/office/drawing/2014/main" id="{420CC3C2-85D3-AAE9-886D-74F0024FA2FC}"/>
              </a:ext>
            </a:extLst>
          </p:cNvPr>
          <p:cNvGrpSpPr/>
          <p:nvPr/>
        </p:nvGrpSpPr>
        <p:grpSpPr>
          <a:xfrm>
            <a:off x="4894462" y="31485453"/>
            <a:ext cx="1431984" cy="1122552"/>
            <a:chOff x="5794565" y="9611968"/>
            <a:chExt cx="1431984" cy="1122552"/>
          </a:xfrm>
        </p:grpSpPr>
        <p:sp>
          <p:nvSpPr>
            <p:cNvPr id="378" name="台形 377">
              <a:extLst>
                <a:ext uri="{FF2B5EF4-FFF2-40B4-BE49-F238E27FC236}">
                  <a16:creationId xmlns:a16="http://schemas.microsoft.com/office/drawing/2014/main" id="{B0DCC97D-36A3-4B7F-A839-B2BEFC9224DE}"/>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79" name="テキスト ボックス 378">
                  <a:extLst>
                    <a:ext uri="{FF2B5EF4-FFF2-40B4-BE49-F238E27FC236}">
                      <a16:creationId xmlns:a16="http://schemas.microsoft.com/office/drawing/2014/main" id="{75453E1D-E7AD-AEB0-160F-4645D522136C}"/>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379" name="テキスト ボックス 378">
                  <a:extLst>
                    <a:ext uri="{FF2B5EF4-FFF2-40B4-BE49-F238E27FC236}">
                      <a16:creationId xmlns:a16="http://schemas.microsoft.com/office/drawing/2014/main" id="{75453E1D-E7AD-AEB0-160F-4645D522136C}"/>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14"/>
                  <a:stretch>
                    <a:fillRect l="-5405" r="-5405" b="-571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380" name="テキスト ボックス 379">
                <a:extLst>
                  <a:ext uri="{FF2B5EF4-FFF2-40B4-BE49-F238E27FC236}">
                    <a16:creationId xmlns:a16="http://schemas.microsoft.com/office/drawing/2014/main" id="{AAE1D74B-A1D2-E32B-8146-A47FD6372E37}"/>
                  </a:ext>
                </a:extLst>
              </p:cNvPr>
              <p:cNvSpPr txBox="1"/>
              <p:nvPr/>
            </p:nvSpPr>
            <p:spPr>
              <a:xfrm>
                <a:off x="7852996" y="31821191"/>
                <a:ext cx="2610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i="1" smtClean="0">
                          <a:latin typeface="Cambria Math" panose="02040503050406030204" pitchFamily="18" charset="0"/>
                        </a:rPr>
                        <m:t>𝑧</m:t>
                      </m:r>
                    </m:oMath>
                  </m:oMathPara>
                </a14:m>
                <a:endParaRPr kumimoji="1" lang="ja-JP" altLang="en-US" sz="2800" dirty="0"/>
              </a:p>
            </p:txBody>
          </p:sp>
        </mc:Choice>
        <mc:Fallback xmlns="">
          <p:sp>
            <p:nvSpPr>
              <p:cNvPr id="380" name="テキスト ボックス 379">
                <a:extLst>
                  <a:ext uri="{FF2B5EF4-FFF2-40B4-BE49-F238E27FC236}">
                    <a16:creationId xmlns:a16="http://schemas.microsoft.com/office/drawing/2014/main" id="{AAE1D74B-A1D2-E32B-8146-A47FD6372E37}"/>
                  </a:ext>
                </a:extLst>
              </p:cNvPr>
              <p:cNvSpPr txBox="1">
                <a:spLocks noRot="1" noChangeAspect="1" noMove="1" noResize="1" noEditPoints="1" noAdjustHandles="1" noChangeArrowheads="1" noChangeShapeType="1" noTextEdit="1"/>
              </p:cNvSpPr>
              <p:nvPr/>
            </p:nvSpPr>
            <p:spPr>
              <a:xfrm>
                <a:off x="7852996" y="31821191"/>
                <a:ext cx="261034" cy="430887"/>
              </a:xfrm>
              <a:prstGeom prst="rect">
                <a:avLst/>
              </a:prstGeom>
              <a:blipFill>
                <a:blip r:embed="rId46"/>
                <a:stretch>
                  <a:fillRect l="-19048" r="-14286"/>
                </a:stretch>
              </a:blipFill>
            </p:spPr>
            <p:txBody>
              <a:bodyPr/>
              <a:lstStyle/>
              <a:p>
                <a:r>
                  <a:rPr lang="ja-JP" altLang="en-US">
                    <a:noFill/>
                  </a:rPr>
                  <a:t> </a:t>
                </a:r>
              </a:p>
            </p:txBody>
          </p:sp>
        </mc:Fallback>
      </mc:AlternateContent>
      <p:cxnSp>
        <p:nvCxnSpPr>
          <p:cNvPr id="381" name="直線矢印コネクタ 380">
            <a:extLst>
              <a:ext uri="{FF2B5EF4-FFF2-40B4-BE49-F238E27FC236}">
                <a16:creationId xmlns:a16="http://schemas.microsoft.com/office/drawing/2014/main" id="{FEC62A1F-71D3-6544-90EA-B2B8DAABAD9A}"/>
              </a:ext>
            </a:extLst>
          </p:cNvPr>
          <p:cNvCxnSpPr>
            <a:cxnSpLocks/>
            <a:stCxn id="379" idx="3"/>
            <a:endCxn id="380" idx="1"/>
          </p:cNvCxnSpPr>
          <p:nvPr/>
        </p:nvCxnSpPr>
        <p:spPr>
          <a:xfrm flipV="1">
            <a:off x="6315560" y="32036635"/>
            <a:ext cx="1537436" cy="75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82" name="グループ化 381">
            <a:extLst>
              <a:ext uri="{FF2B5EF4-FFF2-40B4-BE49-F238E27FC236}">
                <a16:creationId xmlns:a16="http://schemas.microsoft.com/office/drawing/2014/main" id="{E8ED4D2D-2942-BAF7-FD46-F89D6928FD47}"/>
              </a:ext>
            </a:extLst>
          </p:cNvPr>
          <p:cNvGrpSpPr/>
          <p:nvPr/>
        </p:nvGrpSpPr>
        <p:grpSpPr>
          <a:xfrm>
            <a:off x="9499655" y="31485453"/>
            <a:ext cx="1431984" cy="1122552"/>
            <a:chOff x="5794565" y="9611968"/>
            <a:chExt cx="1431984" cy="1122552"/>
          </a:xfrm>
        </p:grpSpPr>
        <p:sp>
          <p:nvSpPr>
            <p:cNvPr id="383" name="台形 382">
              <a:extLst>
                <a:ext uri="{FF2B5EF4-FFF2-40B4-BE49-F238E27FC236}">
                  <a16:creationId xmlns:a16="http://schemas.microsoft.com/office/drawing/2014/main" id="{0C2B8928-5E95-C96B-A686-9BF350B9B200}"/>
                </a:ext>
              </a:extLst>
            </p:cNvPr>
            <p:cNvSpPr/>
            <p:nvPr/>
          </p:nvSpPr>
          <p:spPr>
            <a:xfrm rot="162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84" name="テキスト ボックス 383">
                  <a:extLst>
                    <a:ext uri="{FF2B5EF4-FFF2-40B4-BE49-F238E27FC236}">
                      <a16:creationId xmlns:a16="http://schemas.microsoft.com/office/drawing/2014/main" id="{34179666-26DB-E889-4991-79BEBC16082C}"/>
                    </a:ext>
                  </a:extLst>
                </p:cNvPr>
                <p:cNvSpPr txBox="1"/>
                <p:nvPr/>
              </p:nvSpPr>
              <p:spPr>
                <a:xfrm>
                  <a:off x="5827591" y="9955261"/>
                  <a:ext cx="13896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𝑑𝑒𝑐𝑜𝑑𝑒𝑟</m:t>
                        </m:r>
                      </m:oMath>
                    </m:oMathPara>
                  </a14:m>
                  <a:endParaRPr kumimoji="1" lang="ja-JP" altLang="en-US" sz="2800" dirty="0"/>
                </a:p>
              </p:txBody>
            </p:sp>
          </mc:Choice>
          <mc:Fallback xmlns="">
            <p:sp>
              <p:nvSpPr>
                <p:cNvPr id="384" name="テキスト ボックス 383">
                  <a:extLst>
                    <a:ext uri="{FF2B5EF4-FFF2-40B4-BE49-F238E27FC236}">
                      <a16:creationId xmlns:a16="http://schemas.microsoft.com/office/drawing/2014/main" id="{34179666-26DB-E889-4991-79BEBC16082C}"/>
                    </a:ext>
                  </a:extLst>
                </p:cNvPr>
                <p:cNvSpPr txBox="1">
                  <a:spLocks noRot="1" noChangeAspect="1" noMove="1" noResize="1" noEditPoints="1" noAdjustHandles="1" noChangeArrowheads="1" noChangeShapeType="1" noTextEdit="1"/>
                </p:cNvSpPr>
                <p:nvPr/>
              </p:nvSpPr>
              <p:spPr>
                <a:xfrm>
                  <a:off x="5827591" y="9955261"/>
                  <a:ext cx="1389676" cy="430887"/>
                </a:xfrm>
                <a:prstGeom prst="rect">
                  <a:avLst/>
                </a:prstGeom>
                <a:blipFill>
                  <a:blip r:embed="rId47"/>
                  <a:stretch>
                    <a:fillRect l="-5405" r="-4505" b="-5714"/>
                  </a:stretch>
                </a:blipFill>
              </p:spPr>
              <p:txBody>
                <a:bodyPr/>
                <a:lstStyle/>
                <a:p>
                  <a:r>
                    <a:rPr lang="ja-JP" altLang="en-US">
                      <a:noFill/>
                    </a:rPr>
                    <a:t> </a:t>
                  </a:r>
                </a:p>
              </p:txBody>
            </p:sp>
          </mc:Fallback>
        </mc:AlternateContent>
      </p:grpSp>
      <p:cxnSp>
        <p:nvCxnSpPr>
          <p:cNvPr id="385" name="直線矢印コネクタ 384">
            <a:extLst>
              <a:ext uri="{FF2B5EF4-FFF2-40B4-BE49-F238E27FC236}">
                <a16:creationId xmlns:a16="http://schemas.microsoft.com/office/drawing/2014/main" id="{C970942E-9BF6-246F-5B05-53ED8465247D}"/>
              </a:ext>
            </a:extLst>
          </p:cNvPr>
          <p:cNvCxnSpPr>
            <a:cxnSpLocks/>
            <a:stCxn id="380" idx="3"/>
            <a:endCxn id="405" idx="1"/>
          </p:cNvCxnSpPr>
          <p:nvPr/>
        </p:nvCxnSpPr>
        <p:spPr>
          <a:xfrm>
            <a:off x="8114030" y="32036635"/>
            <a:ext cx="2003231" cy="2278956"/>
          </a:xfrm>
          <a:prstGeom prst="bentConnector3">
            <a:avLst>
              <a:gd name="adj1" fmla="val 58193"/>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1" name="テキスト ボックス 390">
                <a:extLst>
                  <a:ext uri="{FF2B5EF4-FFF2-40B4-BE49-F238E27FC236}">
                    <a16:creationId xmlns:a16="http://schemas.microsoft.com/office/drawing/2014/main" id="{0F839BFC-E428-3AE4-783C-5190D25854EE}"/>
                  </a:ext>
                </a:extLst>
              </p:cNvPr>
              <p:cNvSpPr txBox="1"/>
              <p:nvPr/>
            </p:nvSpPr>
            <p:spPr>
              <a:xfrm>
                <a:off x="2026117" y="34657543"/>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391" name="テキスト ボックス 390">
                <a:extLst>
                  <a:ext uri="{FF2B5EF4-FFF2-40B4-BE49-F238E27FC236}">
                    <a16:creationId xmlns:a16="http://schemas.microsoft.com/office/drawing/2014/main" id="{0F839BFC-E428-3AE4-783C-5190D25854EE}"/>
                  </a:ext>
                </a:extLst>
              </p:cNvPr>
              <p:cNvSpPr txBox="1">
                <a:spLocks noRot="1" noChangeAspect="1" noMove="1" noResize="1" noEditPoints="1" noAdjustHandles="1" noChangeArrowheads="1" noChangeShapeType="1" noTextEdit="1"/>
              </p:cNvSpPr>
              <p:nvPr/>
            </p:nvSpPr>
            <p:spPr>
              <a:xfrm>
                <a:off x="2026117" y="34657543"/>
                <a:ext cx="471668" cy="430887"/>
              </a:xfrm>
              <a:prstGeom prst="rect">
                <a:avLst/>
              </a:prstGeom>
              <a:blipFill>
                <a:blip r:embed="rId48"/>
                <a:stretch>
                  <a:fillRect l="-7895" r="-2632" b="-11429"/>
                </a:stretch>
              </a:blipFill>
            </p:spPr>
            <p:txBody>
              <a:bodyPr/>
              <a:lstStyle/>
              <a:p>
                <a:r>
                  <a:rPr lang="ja-JP" altLang="en-US">
                    <a:noFill/>
                  </a:rPr>
                  <a:t> </a:t>
                </a:r>
              </a:p>
            </p:txBody>
          </p:sp>
        </mc:Fallback>
      </mc:AlternateContent>
      <p:cxnSp>
        <p:nvCxnSpPr>
          <p:cNvPr id="392" name="直線矢印コネクタ 391">
            <a:extLst>
              <a:ext uri="{FF2B5EF4-FFF2-40B4-BE49-F238E27FC236}">
                <a16:creationId xmlns:a16="http://schemas.microsoft.com/office/drawing/2014/main" id="{62BBFC5E-4EC8-86BE-5623-6C3FF17DC8E0}"/>
              </a:ext>
            </a:extLst>
          </p:cNvPr>
          <p:cNvCxnSpPr>
            <a:cxnSpLocks/>
            <a:stCxn id="391" idx="3"/>
            <a:endCxn id="398" idx="1"/>
          </p:cNvCxnSpPr>
          <p:nvPr/>
        </p:nvCxnSpPr>
        <p:spPr>
          <a:xfrm>
            <a:off x="2497785" y="34872987"/>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3" name="直線矢印コネクタ 392">
            <a:extLst>
              <a:ext uri="{FF2B5EF4-FFF2-40B4-BE49-F238E27FC236}">
                <a16:creationId xmlns:a16="http://schemas.microsoft.com/office/drawing/2014/main" id="{9C138AE1-4056-A098-D858-327037ED9237}"/>
              </a:ext>
            </a:extLst>
          </p:cNvPr>
          <p:cNvCxnSpPr>
            <a:cxnSpLocks/>
            <a:stCxn id="398" idx="3"/>
            <a:endCxn id="401" idx="1"/>
          </p:cNvCxnSpPr>
          <p:nvPr/>
        </p:nvCxnSpPr>
        <p:spPr>
          <a:xfrm flipV="1">
            <a:off x="5603995" y="34868977"/>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4" name="直線矢印コネクタ 19">
            <a:extLst>
              <a:ext uri="{FF2B5EF4-FFF2-40B4-BE49-F238E27FC236}">
                <a16:creationId xmlns:a16="http://schemas.microsoft.com/office/drawing/2014/main" id="{41B09257-7118-6864-C470-E698AC7C4B6E}"/>
              </a:ext>
            </a:extLst>
          </p:cNvPr>
          <p:cNvCxnSpPr>
            <a:cxnSpLocks/>
            <a:stCxn id="401" idx="3"/>
            <a:endCxn id="404" idx="1"/>
          </p:cNvCxnSpPr>
          <p:nvPr/>
        </p:nvCxnSpPr>
        <p:spPr>
          <a:xfrm flipV="1">
            <a:off x="8946331" y="34317704"/>
            <a:ext cx="1153393" cy="551273"/>
          </a:xfrm>
          <a:prstGeom prst="bentConnector3">
            <a:avLst>
              <a:gd name="adj1" fmla="val 2967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5" name="直線矢印コネクタ 394">
            <a:extLst>
              <a:ext uri="{FF2B5EF4-FFF2-40B4-BE49-F238E27FC236}">
                <a16:creationId xmlns:a16="http://schemas.microsoft.com/office/drawing/2014/main" id="{6E771AAF-2695-59DD-85C2-3FBE785F2B86}"/>
              </a:ext>
            </a:extLst>
          </p:cNvPr>
          <p:cNvCxnSpPr>
            <a:cxnSpLocks/>
            <a:stCxn id="404" idx="3"/>
            <a:endCxn id="396" idx="1"/>
          </p:cNvCxnSpPr>
          <p:nvPr/>
        </p:nvCxnSpPr>
        <p:spPr>
          <a:xfrm>
            <a:off x="12042724" y="34317704"/>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6" name="テキスト ボックス 395">
                <a:extLst>
                  <a:ext uri="{FF2B5EF4-FFF2-40B4-BE49-F238E27FC236}">
                    <a16:creationId xmlns:a16="http://schemas.microsoft.com/office/drawing/2014/main" id="{53448DF5-4C26-4B01-10F2-E179A757CF59}"/>
                  </a:ext>
                </a:extLst>
              </p:cNvPr>
              <p:cNvSpPr txBox="1"/>
              <p:nvPr/>
            </p:nvSpPr>
            <p:spPr>
              <a:xfrm>
                <a:off x="12899394" y="34116767"/>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396" name="テキスト ボックス 395">
                <a:extLst>
                  <a:ext uri="{FF2B5EF4-FFF2-40B4-BE49-F238E27FC236}">
                    <a16:creationId xmlns:a16="http://schemas.microsoft.com/office/drawing/2014/main" id="{53448DF5-4C26-4B01-10F2-E179A757CF59}"/>
                  </a:ext>
                </a:extLst>
              </p:cNvPr>
              <p:cNvSpPr txBox="1">
                <a:spLocks noRot="1" noChangeAspect="1" noMove="1" noResize="1" noEditPoints="1" noAdjustHandles="1" noChangeArrowheads="1" noChangeShapeType="1" noTextEdit="1"/>
              </p:cNvSpPr>
              <p:nvPr/>
            </p:nvSpPr>
            <p:spPr>
              <a:xfrm>
                <a:off x="12899394" y="34116767"/>
                <a:ext cx="814710" cy="430887"/>
              </a:xfrm>
              <a:prstGeom prst="rect">
                <a:avLst/>
              </a:prstGeom>
              <a:blipFill>
                <a:blip r:embed="rId49"/>
                <a:stretch>
                  <a:fillRect l="-4615" r="-3077" b="-11429"/>
                </a:stretch>
              </a:blipFill>
            </p:spPr>
            <p:txBody>
              <a:bodyPr/>
              <a:lstStyle/>
              <a:p>
                <a:r>
                  <a:rPr lang="ja-JP" altLang="en-US">
                    <a:noFill/>
                  </a:rPr>
                  <a:t> </a:t>
                </a:r>
              </a:p>
            </p:txBody>
          </p:sp>
        </mc:Fallback>
      </mc:AlternateContent>
      <p:grpSp>
        <p:nvGrpSpPr>
          <p:cNvPr id="397" name="グループ化 396">
            <a:extLst>
              <a:ext uri="{FF2B5EF4-FFF2-40B4-BE49-F238E27FC236}">
                <a16:creationId xmlns:a16="http://schemas.microsoft.com/office/drawing/2014/main" id="{0FF4CAC2-CC19-658B-2707-7E6992ACAA3A}"/>
              </a:ext>
            </a:extLst>
          </p:cNvPr>
          <p:cNvGrpSpPr/>
          <p:nvPr/>
        </p:nvGrpSpPr>
        <p:grpSpPr>
          <a:xfrm>
            <a:off x="3660995" y="34515423"/>
            <a:ext cx="1943000" cy="719356"/>
            <a:chOff x="3749692" y="11369202"/>
            <a:chExt cx="1943000" cy="719356"/>
          </a:xfrm>
        </p:grpSpPr>
        <p:sp>
          <p:nvSpPr>
            <p:cNvPr id="398" name="正方形/長方形 397">
              <a:extLst>
                <a:ext uri="{FF2B5EF4-FFF2-40B4-BE49-F238E27FC236}">
                  <a16:creationId xmlns:a16="http://schemas.microsoft.com/office/drawing/2014/main" id="{D8ADB7A9-4F4F-03E5-B0A5-07CC0154EFA5}"/>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99" name="テキスト ボックス 398">
                  <a:extLst>
                    <a:ext uri="{FF2B5EF4-FFF2-40B4-BE49-F238E27FC236}">
                      <a16:creationId xmlns:a16="http://schemas.microsoft.com/office/drawing/2014/main" id="{E2939617-39A2-A2A0-B192-C020D1AF330E}"/>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399" name="テキスト ボックス 398">
                  <a:extLst>
                    <a:ext uri="{FF2B5EF4-FFF2-40B4-BE49-F238E27FC236}">
                      <a16:creationId xmlns:a16="http://schemas.microsoft.com/office/drawing/2014/main" id="{E2939617-39A2-A2A0-B192-C020D1AF330E}"/>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50"/>
                  <a:stretch>
                    <a:fillRect l="-6000" r="-6000" b="-34286"/>
                  </a:stretch>
                </a:blipFill>
              </p:spPr>
              <p:txBody>
                <a:bodyPr/>
                <a:lstStyle/>
                <a:p>
                  <a:r>
                    <a:rPr lang="ja-JP" altLang="en-US">
                      <a:noFill/>
                    </a:rPr>
                    <a:t> </a:t>
                  </a:r>
                </a:p>
              </p:txBody>
            </p:sp>
          </mc:Fallback>
        </mc:AlternateContent>
      </p:grpSp>
      <p:grpSp>
        <p:nvGrpSpPr>
          <p:cNvPr id="400" name="グループ化 399">
            <a:extLst>
              <a:ext uri="{FF2B5EF4-FFF2-40B4-BE49-F238E27FC236}">
                <a16:creationId xmlns:a16="http://schemas.microsoft.com/office/drawing/2014/main" id="{E55AD687-DEC1-5035-9268-0F6C44B05C6D}"/>
              </a:ext>
            </a:extLst>
          </p:cNvPr>
          <p:cNvGrpSpPr/>
          <p:nvPr/>
        </p:nvGrpSpPr>
        <p:grpSpPr>
          <a:xfrm>
            <a:off x="7003331" y="34509299"/>
            <a:ext cx="1943000" cy="719356"/>
            <a:chOff x="3749692" y="11369202"/>
            <a:chExt cx="1943000" cy="719356"/>
          </a:xfrm>
        </p:grpSpPr>
        <p:sp>
          <p:nvSpPr>
            <p:cNvPr id="401" name="正方形/長方形 400">
              <a:extLst>
                <a:ext uri="{FF2B5EF4-FFF2-40B4-BE49-F238E27FC236}">
                  <a16:creationId xmlns:a16="http://schemas.microsoft.com/office/drawing/2014/main" id="{21094857-DC57-3297-9E94-EE1BCA2E23DB}"/>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02" name="テキスト ボックス 401">
                  <a:extLst>
                    <a:ext uri="{FF2B5EF4-FFF2-40B4-BE49-F238E27FC236}">
                      <a16:creationId xmlns:a16="http://schemas.microsoft.com/office/drawing/2014/main" id="{BE6C90CA-9522-7F0C-C706-099FE6CC0D26}"/>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402" name="テキスト ボックス 401">
                  <a:extLst>
                    <a:ext uri="{FF2B5EF4-FFF2-40B4-BE49-F238E27FC236}">
                      <a16:creationId xmlns:a16="http://schemas.microsoft.com/office/drawing/2014/main" id="{BE6C90CA-9522-7F0C-C706-099FE6CC0D26}"/>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51"/>
                  <a:stretch>
                    <a:fillRect b="-5714"/>
                  </a:stretch>
                </a:blipFill>
              </p:spPr>
              <p:txBody>
                <a:bodyPr/>
                <a:lstStyle/>
                <a:p>
                  <a:r>
                    <a:rPr lang="ja-JP" altLang="en-US">
                      <a:noFill/>
                    </a:rPr>
                    <a:t> </a:t>
                  </a:r>
                </a:p>
              </p:txBody>
            </p:sp>
          </mc:Fallback>
        </mc:AlternateContent>
      </p:grpSp>
      <p:grpSp>
        <p:nvGrpSpPr>
          <p:cNvPr id="403" name="グループ化 402">
            <a:extLst>
              <a:ext uri="{FF2B5EF4-FFF2-40B4-BE49-F238E27FC236}">
                <a16:creationId xmlns:a16="http://schemas.microsoft.com/office/drawing/2014/main" id="{7CA4921C-AEAA-8AC6-A32F-52693D175DE6}"/>
              </a:ext>
            </a:extLst>
          </p:cNvPr>
          <p:cNvGrpSpPr/>
          <p:nvPr/>
        </p:nvGrpSpPr>
        <p:grpSpPr>
          <a:xfrm>
            <a:off x="10099724" y="33958026"/>
            <a:ext cx="1943000" cy="719356"/>
            <a:chOff x="3749692" y="11369202"/>
            <a:chExt cx="1943000" cy="719356"/>
          </a:xfrm>
        </p:grpSpPr>
        <p:sp>
          <p:nvSpPr>
            <p:cNvPr id="404" name="正方形/長方形 403">
              <a:extLst>
                <a:ext uri="{FF2B5EF4-FFF2-40B4-BE49-F238E27FC236}">
                  <a16:creationId xmlns:a16="http://schemas.microsoft.com/office/drawing/2014/main" id="{0B187C72-FA33-E752-3279-793EB23D8704}"/>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05" name="テキスト ボックス 404">
                  <a:extLst>
                    <a:ext uri="{FF2B5EF4-FFF2-40B4-BE49-F238E27FC236}">
                      <a16:creationId xmlns:a16="http://schemas.microsoft.com/office/drawing/2014/main" id="{9A88BC3F-E9E6-5567-73FC-03FAEDFAEF9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405" name="テキスト ボックス 404">
                  <a:extLst>
                    <a:ext uri="{FF2B5EF4-FFF2-40B4-BE49-F238E27FC236}">
                      <a16:creationId xmlns:a16="http://schemas.microsoft.com/office/drawing/2014/main" id="{9A88BC3F-E9E6-5567-73FC-03FAEDFAEF99}"/>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52"/>
                  <a:stretch>
                    <a:fillRect b="-5714"/>
                  </a:stretch>
                </a:blipFill>
              </p:spPr>
              <p:txBody>
                <a:bodyPr/>
                <a:lstStyle/>
                <a:p>
                  <a:r>
                    <a:rPr lang="ja-JP" altLang="en-US">
                      <a:noFill/>
                    </a:rPr>
                    <a:t> </a:t>
                  </a:r>
                </a:p>
              </p:txBody>
            </p:sp>
          </mc:Fallback>
        </mc:AlternateContent>
      </p:grpSp>
      <p:pic>
        <p:nvPicPr>
          <p:cNvPr id="408" name="図 407" descr="帽子を被っている女性&#10;&#10;自動的に生成された説明">
            <a:extLst>
              <a:ext uri="{FF2B5EF4-FFF2-40B4-BE49-F238E27FC236}">
                <a16:creationId xmlns:a16="http://schemas.microsoft.com/office/drawing/2014/main" id="{34A140C5-3FE3-B90D-C0D5-551F34A7ECCD}"/>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40278" y="32967429"/>
            <a:ext cx="1496736" cy="1496736"/>
          </a:xfrm>
          <a:prstGeom prst="rect">
            <a:avLst/>
          </a:prstGeom>
        </p:spPr>
      </p:pic>
      <mc:AlternateContent xmlns:mc="http://schemas.openxmlformats.org/markup-compatibility/2006" xmlns:a14="http://schemas.microsoft.com/office/drawing/2010/main">
        <mc:Choice Requires="a14">
          <p:sp>
            <p:nvSpPr>
              <p:cNvPr id="409" name="テキスト ボックス 408">
                <a:extLst>
                  <a:ext uri="{FF2B5EF4-FFF2-40B4-BE49-F238E27FC236}">
                    <a16:creationId xmlns:a16="http://schemas.microsoft.com/office/drawing/2014/main" id="{F58654C7-C7AE-4C68-E4F7-79B5593F40FD}"/>
                  </a:ext>
                </a:extLst>
              </p:cNvPr>
              <p:cNvSpPr txBox="1"/>
              <p:nvPr/>
            </p:nvSpPr>
            <p:spPr>
              <a:xfrm>
                <a:off x="2007348" y="33491346"/>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409" name="テキスト ボックス 408">
                <a:extLst>
                  <a:ext uri="{FF2B5EF4-FFF2-40B4-BE49-F238E27FC236}">
                    <a16:creationId xmlns:a16="http://schemas.microsoft.com/office/drawing/2014/main" id="{F58654C7-C7AE-4C68-E4F7-79B5593F40FD}"/>
                  </a:ext>
                </a:extLst>
              </p:cNvPr>
              <p:cNvSpPr txBox="1">
                <a:spLocks noRot="1" noChangeAspect="1" noMove="1" noResize="1" noEditPoints="1" noAdjustHandles="1" noChangeArrowheads="1" noChangeShapeType="1" noTextEdit="1"/>
              </p:cNvSpPr>
              <p:nvPr/>
            </p:nvSpPr>
            <p:spPr>
              <a:xfrm>
                <a:off x="2007348" y="33491346"/>
                <a:ext cx="492507" cy="430887"/>
              </a:xfrm>
              <a:prstGeom prst="rect">
                <a:avLst/>
              </a:prstGeom>
              <a:blipFill>
                <a:blip r:embed="rId53"/>
                <a:stretch>
                  <a:fillRect b="-285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17" name="テキスト ボックス 416">
                <a:extLst>
                  <a:ext uri="{FF2B5EF4-FFF2-40B4-BE49-F238E27FC236}">
                    <a16:creationId xmlns:a16="http://schemas.microsoft.com/office/drawing/2014/main" id="{C68B271D-85EF-834E-E44B-D2169D7DAA1B}"/>
                  </a:ext>
                </a:extLst>
              </p:cNvPr>
              <p:cNvSpPr txBox="1"/>
              <p:nvPr/>
            </p:nvSpPr>
            <p:spPr>
              <a:xfrm>
                <a:off x="5251166" y="30864102"/>
                <a:ext cx="4580602" cy="53463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solidFill>
                            <a:schemeClr val="tx1"/>
                          </a:solidFill>
                          <a:latin typeface="Cambria Math" panose="02040503050406030204" pitchFamily="18" charset="0"/>
                          <a:ea typeface="UD デジタル 教科書体 NK-R" panose="02020400000000000000" pitchFamily="18" charset="-128"/>
                        </a:rPr>
                        <m:t>𝑝𝑟𝑒</m:t>
                      </m:r>
                      <m:r>
                        <a:rPr kumimoji="1" lang="en-US" altLang="ja-JP" sz="2800" b="0" i="1" smtClean="0">
                          <a:solidFill>
                            <a:schemeClr val="tx1"/>
                          </a:solidFill>
                          <a:latin typeface="Cambria Math" panose="02040503050406030204" pitchFamily="18" charset="0"/>
                          <a:ea typeface="UD デジタル 教科書体 NK-R" panose="02020400000000000000" pitchFamily="18" charset="-128"/>
                        </a:rPr>
                        <m:t>−</m:t>
                      </m:r>
                      <m:r>
                        <a:rPr kumimoji="1" lang="en-US" altLang="ja-JP" sz="2800" b="0" i="1" smtClean="0">
                          <a:solidFill>
                            <a:schemeClr val="tx1"/>
                          </a:solidFill>
                          <a:latin typeface="Cambria Math" panose="02040503050406030204" pitchFamily="18" charset="0"/>
                          <a:ea typeface="UD デジタル 教科書体 NK-R" panose="02020400000000000000" pitchFamily="18" charset="-128"/>
                        </a:rPr>
                        <m:t>𝑡𝑟𝑎𝑖𝑛𝑒𝑑</m:t>
                      </m:r>
                      <m:r>
                        <a:rPr kumimoji="1" lang="en-US" altLang="ja-JP" sz="2800" b="0" i="1" smtClean="0">
                          <a:solidFill>
                            <a:schemeClr val="tx1"/>
                          </a:solidFill>
                          <a:latin typeface="Cambria Math" panose="02040503050406030204" pitchFamily="18" charset="0"/>
                          <a:ea typeface="UD デジタル 教科書体 NK-R" panose="02020400000000000000" pitchFamily="18" charset="-128"/>
                        </a:rPr>
                        <m:t> </m:t>
                      </m:r>
                      <m:r>
                        <a:rPr kumimoji="1" lang="en-US" altLang="ja-JP" sz="2800" b="0" i="1" smtClean="0">
                          <a:solidFill>
                            <a:schemeClr val="tx1"/>
                          </a:solidFill>
                          <a:latin typeface="Cambria Math" panose="02040503050406030204" pitchFamily="18" charset="0"/>
                          <a:ea typeface="UD デジタル 教科書体 NK-R" panose="02020400000000000000" pitchFamily="18" charset="-128"/>
                        </a:rPr>
                        <m:t>𝐴𝑢𝑡𝑜𝐸𝑛𝑐𝑜𝑑𝑒𝑟</m:t>
                      </m:r>
                    </m:oMath>
                  </m:oMathPara>
                </a14:m>
                <a:endParaRPr lang="ja-JP" altLang="en-US" sz="2800"/>
              </a:p>
            </p:txBody>
          </p:sp>
        </mc:Choice>
        <mc:Fallback xmlns="">
          <p:sp>
            <p:nvSpPr>
              <p:cNvPr id="417" name="テキスト ボックス 416">
                <a:extLst>
                  <a:ext uri="{FF2B5EF4-FFF2-40B4-BE49-F238E27FC236}">
                    <a16:creationId xmlns:a16="http://schemas.microsoft.com/office/drawing/2014/main" id="{C68B271D-85EF-834E-E44B-D2169D7DAA1B}"/>
                  </a:ext>
                </a:extLst>
              </p:cNvPr>
              <p:cNvSpPr txBox="1">
                <a:spLocks noRot="1" noChangeAspect="1" noMove="1" noResize="1" noEditPoints="1" noAdjustHandles="1" noChangeArrowheads="1" noChangeShapeType="1" noTextEdit="1"/>
              </p:cNvSpPr>
              <p:nvPr/>
            </p:nvSpPr>
            <p:spPr>
              <a:xfrm>
                <a:off x="5251166" y="30864102"/>
                <a:ext cx="4580602" cy="534635"/>
              </a:xfrm>
              <a:prstGeom prst="rect">
                <a:avLst/>
              </a:prstGeom>
              <a:blipFill>
                <a:blip r:embed="rId54"/>
                <a:stretch>
                  <a:fillRect l="-552" r="-276" b="-18605"/>
                </a:stretch>
              </a:blipFill>
            </p:spPr>
            <p:txBody>
              <a:bodyPr/>
              <a:lstStyle/>
              <a:p>
                <a:r>
                  <a:rPr lang="ja-JP" altLang="en-US">
                    <a:noFill/>
                  </a:rPr>
                  <a:t> </a:t>
                </a:r>
              </a:p>
            </p:txBody>
          </p:sp>
        </mc:Fallback>
      </mc:AlternateContent>
      <p:sp>
        <p:nvSpPr>
          <p:cNvPr id="419" name="テキスト ボックス 418">
            <a:extLst>
              <a:ext uri="{FF2B5EF4-FFF2-40B4-BE49-F238E27FC236}">
                <a16:creationId xmlns:a16="http://schemas.microsoft.com/office/drawing/2014/main" id="{0F5BE3FB-C6EC-599F-75BF-494BD8D27C8D}"/>
              </a:ext>
            </a:extLst>
          </p:cNvPr>
          <p:cNvSpPr txBox="1"/>
          <p:nvPr/>
        </p:nvSpPr>
        <p:spPr>
          <a:xfrm>
            <a:off x="23896320" y="9733172"/>
            <a:ext cx="6001946" cy="523220"/>
          </a:xfrm>
          <a:prstGeom prst="rect">
            <a:avLst/>
          </a:prstGeom>
          <a:noFill/>
        </p:spPr>
        <p:txBody>
          <a:bodyPr wrap="square">
            <a:spAutoFit/>
          </a:bodyPr>
          <a:lstStyle/>
          <a:p>
            <a:pPr algn="ctr"/>
            <a:r>
              <a:rPr lang="ja-JP" altLang="en-US" sz="2800">
                <a:latin typeface="UD デジタル 教科書体 NK-R" panose="02020400000000000000" pitchFamily="18" charset="-128"/>
                <a:ea typeface="UD デジタル 教科書体 NK-R" panose="02020400000000000000" pitchFamily="18" charset="-128"/>
              </a:rPr>
              <a:t>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回変更した</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ベスト値</a:t>
            </a:r>
            <a:r>
              <a:rPr lang="en-US" altLang="ja-JP" sz="2800" dirty="0">
                <a:latin typeface="UD デジタル 教科書体 NK-R" panose="02020400000000000000" pitchFamily="18" charset="-128"/>
                <a:ea typeface="UD デジタル 教科書体 NK-R" panose="02020400000000000000" pitchFamily="18" charset="-128"/>
              </a:rPr>
              <a:t>/</a:t>
            </a:r>
            <a:r>
              <a:rPr lang="ja-JP" altLang="en-US" sz="2800">
                <a:latin typeface="UD デジタル 教科書体 NK-R" panose="02020400000000000000" pitchFamily="18" charset="-128"/>
                <a:ea typeface="UD デジタル 教科書体 NK-R" panose="02020400000000000000" pitchFamily="18" charset="-128"/>
              </a:rPr>
              <a:t>平均</a:t>
            </a:r>
            <a:endParaRPr lang="en-US" altLang="ja-JP" sz="2800" dirty="0">
              <a:latin typeface="UD デジタル 教科書体 NK-R" panose="02020400000000000000" pitchFamily="18" charset="-128"/>
              <a:ea typeface="UD デジタル 教科書体 NK-R" panose="02020400000000000000" pitchFamily="18" charset="-128"/>
            </a:endParaRPr>
          </a:p>
        </p:txBody>
      </p:sp>
      <p:sp>
        <p:nvSpPr>
          <p:cNvPr id="420" name="テキスト ボックス 419">
            <a:extLst>
              <a:ext uri="{FF2B5EF4-FFF2-40B4-BE49-F238E27FC236}">
                <a16:creationId xmlns:a16="http://schemas.microsoft.com/office/drawing/2014/main" id="{2DFBAEB6-F326-F69C-A302-B6B82BCA4683}"/>
              </a:ext>
            </a:extLst>
          </p:cNvPr>
          <p:cNvSpPr txBox="1"/>
          <p:nvPr/>
        </p:nvSpPr>
        <p:spPr>
          <a:xfrm>
            <a:off x="23902652" y="15394638"/>
            <a:ext cx="6001946" cy="523220"/>
          </a:xfrm>
          <a:prstGeom prst="rect">
            <a:avLst/>
          </a:prstGeom>
          <a:noFill/>
        </p:spPr>
        <p:txBody>
          <a:bodyPr wrap="square">
            <a:spAutoFit/>
          </a:bodyPr>
          <a:lstStyle/>
          <a:p>
            <a:pPr algn="ctr"/>
            <a:r>
              <a:rPr lang="ja-JP" altLang="en-US" sz="2800">
                <a:latin typeface="UD デジタル 教科書体 NK-R" panose="02020400000000000000" pitchFamily="18" charset="-128"/>
                <a:ea typeface="UD デジタル 教科書体 NK-R" panose="02020400000000000000" pitchFamily="18" charset="-128"/>
              </a:rPr>
              <a:t>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回変更した</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ベスト値</a:t>
            </a:r>
            <a:r>
              <a:rPr lang="en-US" altLang="ja-JP" sz="2800" dirty="0">
                <a:latin typeface="UD デジタル 教科書体 NK-R" panose="02020400000000000000" pitchFamily="18" charset="-128"/>
                <a:ea typeface="UD デジタル 教科書体 NK-R" panose="02020400000000000000" pitchFamily="18" charset="-128"/>
              </a:rPr>
              <a:t>/</a:t>
            </a:r>
            <a:r>
              <a:rPr lang="ja-JP" altLang="en-US" sz="2800">
                <a:latin typeface="UD デジタル 教科書体 NK-R" panose="02020400000000000000" pitchFamily="18" charset="-128"/>
                <a:ea typeface="UD デジタル 教科書体 NK-R" panose="02020400000000000000" pitchFamily="18" charset="-128"/>
              </a:rPr>
              <a:t>平均</a:t>
            </a:r>
            <a:endParaRPr lang="en-US" altLang="ja-JP" sz="2800" dirty="0">
              <a:latin typeface="UD デジタル 教科書体 NK-R" panose="02020400000000000000" pitchFamily="18" charset="-128"/>
              <a:ea typeface="UD デジタル 教科書体 NK-R" panose="02020400000000000000" pitchFamily="18" charset="-128"/>
            </a:endParaRPr>
          </a:p>
        </p:txBody>
      </p:sp>
      <p:graphicFrame>
        <p:nvGraphicFramePr>
          <p:cNvPr id="421" name="表 255">
            <a:extLst>
              <a:ext uri="{FF2B5EF4-FFF2-40B4-BE49-F238E27FC236}">
                <a16:creationId xmlns:a16="http://schemas.microsoft.com/office/drawing/2014/main" id="{9E9B6337-A505-26AE-A8FC-9981C77C4405}"/>
              </a:ext>
            </a:extLst>
          </p:cNvPr>
          <p:cNvGraphicFramePr>
            <a:graphicFrameLocks noGrp="1"/>
          </p:cNvGraphicFramePr>
          <p:nvPr>
            <p:extLst>
              <p:ext uri="{D42A27DB-BD31-4B8C-83A1-F6EECF244321}">
                <p14:modId xmlns:p14="http://schemas.microsoft.com/office/powerpoint/2010/main" val="3610589407"/>
              </p:ext>
            </p:extLst>
          </p:nvPr>
        </p:nvGraphicFramePr>
        <p:xfrm>
          <a:off x="15329206" y="37297662"/>
          <a:ext cx="14557141" cy="289082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63206">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775872">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これが私のスタンド</a:t>
                      </a:r>
                    </a:p>
                  </a:txBody>
                  <a:tcPr anchor="ctr"/>
                </a:tc>
                <a:extLst>
                  <a:ext uri="{0D108BD9-81ED-4DB2-BD59-A6C34878D82A}">
                    <a16:rowId xmlns:a16="http://schemas.microsoft.com/office/drawing/2014/main" val="2587712661"/>
                  </a:ext>
                </a:extLst>
              </a:tr>
              <a:tr h="775871">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おれのボケに対する評価</a:t>
                      </a:r>
                    </a:p>
                  </a:txBody>
                  <a:tcPr anchor="ctr"/>
                </a:tc>
                <a:extLst>
                  <a:ext uri="{0D108BD9-81ED-4DB2-BD59-A6C34878D82A}">
                    <a16:rowId xmlns:a16="http://schemas.microsoft.com/office/drawing/2014/main" val="686941759"/>
                  </a:ext>
                </a:extLst>
              </a:tr>
              <a:tr h="775872">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このとおり忙しいんだから早く</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宿題</a:t>
                      </a:r>
                      <a:r>
                        <a:rPr kumimoji="1" lang="ja-JP" altLang="en-US" sz="2800" spc="-100" baseline="0">
                          <a:latin typeface="UD Digi Kyokasho NK-R" panose="02020400000000000000" pitchFamily="18" charset="-128"/>
                          <a:ea typeface="UD Digi Kyokasho NK-R" panose="02020400000000000000" pitchFamily="18" charset="-128"/>
                        </a:rPr>
                        <a:t>を</a:t>
                      </a:r>
                    </a:p>
                  </a:txBody>
                  <a:tcPr anchor="ctr"/>
                </a:tc>
                <a:extLst>
                  <a:ext uri="{0D108BD9-81ED-4DB2-BD59-A6C34878D82A}">
                    <a16:rowId xmlns:a16="http://schemas.microsoft.com/office/drawing/2014/main" val="1783522377"/>
                  </a:ext>
                </a:extLst>
              </a:tr>
            </a:tbl>
          </a:graphicData>
        </a:graphic>
      </p:graphicFrame>
      <p:pic>
        <p:nvPicPr>
          <p:cNvPr id="19" name="図 18">
            <a:extLst>
              <a:ext uri="{FF2B5EF4-FFF2-40B4-BE49-F238E27FC236}">
                <a16:creationId xmlns:a16="http://schemas.microsoft.com/office/drawing/2014/main" id="{C0BDE784-B10D-2778-AC98-505AD98FC1C5}"/>
              </a:ext>
            </a:extLst>
          </p:cNvPr>
          <p:cNvPicPr>
            <a:picLocks noChangeAspect="1"/>
          </p:cNvPicPr>
          <p:nvPr/>
        </p:nvPicPr>
        <p:blipFill>
          <a:blip r:embed="rId55"/>
          <a:stretch>
            <a:fillRect/>
          </a:stretch>
        </p:blipFill>
        <p:spPr>
          <a:xfrm>
            <a:off x="16004098" y="37916622"/>
            <a:ext cx="2254355" cy="2254355"/>
          </a:xfrm>
          <a:prstGeom prst="rect">
            <a:avLst/>
          </a:prstGeom>
        </p:spPr>
      </p:pic>
      <p:cxnSp>
        <p:nvCxnSpPr>
          <p:cNvPr id="425" name="直線コネクタ 424">
            <a:extLst>
              <a:ext uri="{FF2B5EF4-FFF2-40B4-BE49-F238E27FC236}">
                <a16:creationId xmlns:a16="http://schemas.microsoft.com/office/drawing/2014/main" id="{A8C545B9-12A6-3FDE-995D-347D62BDEBD0}"/>
              </a:ext>
            </a:extLst>
          </p:cNvPr>
          <p:cNvCxnSpPr/>
          <p:nvPr/>
        </p:nvCxnSpPr>
        <p:spPr>
          <a:xfrm flipV="1">
            <a:off x="15398156" y="24685902"/>
            <a:ext cx="14461296" cy="7084"/>
          </a:xfrm>
          <a:prstGeom prst="line">
            <a:avLst/>
          </a:prstGeom>
          <a:ln w="57150">
            <a:solidFill>
              <a:srgbClr val="FF0000"/>
            </a:solidFill>
            <a:prstDash val="dash"/>
          </a:ln>
        </p:spPr>
        <p:style>
          <a:lnRef idx="1">
            <a:schemeClr val="accent1"/>
          </a:lnRef>
          <a:fillRef idx="0">
            <a:schemeClr val="accent1"/>
          </a:fillRef>
          <a:effectRef idx="0">
            <a:schemeClr val="accent1"/>
          </a:effectRef>
          <a:fontRef idx="minor">
            <a:schemeClr val="tx1"/>
          </a:fontRef>
        </p:style>
      </p:cxnSp>
      <p:pic>
        <p:nvPicPr>
          <p:cNvPr id="426" name="図 425">
            <a:extLst>
              <a:ext uri="{FF2B5EF4-FFF2-40B4-BE49-F238E27FC236}">
                <a16:creationId xmlns:a16="http://schemas.microsoft.com/office/drawing/2014/main" id="{60EC265E-D940-51FB-DB9B-A63C6BFAC48A}"/>
              </a:ext>
            </a:extLst>
          </p:cNvPr>
          <p:cNvPicPr>
            <a:picLocks noChangeAspect="1"/>
          </p:cNvPicPr>
          <p:nvPr/>
        </p:nvPicPr>
        <p:blipFill>
          <a:blip r:embed="rId56"/>
          <a:stretch>
            <a:fillRect/>
          </a:stretch>
        </p:blipFill>
        <p:spPr>
          <a:xfrm>
            <a:off x="2970693" y="36664446"/>
            <a:ext cx="2035519" cy="2035519"/>
          </a:xfrm>
          <a:prstGeom prst="rect">
            <a:avLst/>
          </a:prstGeom>
        </p:spPr>
      </p:pic>
      <p:pic>
        <p:nvPicPr>
          <p:cNvPr id="427" name="図 426">
            <a:extLst>
              <a:ext uri="{FF2B5EF4-FFF2-40B4-BE49-F238E27FC236}">
                <a16:creationId xmlns:a16="http://schemas.microsoft.com/office/drawing/2014/main" id="{89D19C86-1225-DA3E-9DDC-4E97C5AA06BC}"/>
              </a:ext>
            </a:extLst>
          </p:cNvPr>
          <p:cNvPicPr>
            <a:picLocks noChangeAspect="1"/>
          </p:cNvPicPr>
          <p:nvPr/>
        </p:nvPicPr>
        <p:blipFill>
          <a:blip r:embed="rId57"/>
          <a:stretch>
            <a:fillRect/>
          </a:stretch>
        </p:blipFill>
        <p:spPr>
          <a:xfrm>
            <a:off x="10118088" y="36650252"/>
            <a:ext cx="2035520" cy="2035520"/>
          </a:xfrm>
          <a:prstGeom prst="rect">
            <a:avLst/>
          </a:prstGeom>
        </p:spPr>
      </p:pic>
    </p:spTree>
    <p:extLst>
      <p:ext uri="{BB962C8B-B14F-4D97-AF65-F5344CB8AC3E}">
        <p14:creationId xmlns:p14="http://schemas.microsoft.com/office/powerpoint/2010/main" val="3888335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77C00F1B-B54B-9ADE-40B5-5B2FEA05E6A5}"/>
              </a:ext>
            </a:extLst>
          </p:cNvPr>
          <p:cNvSpPr/>
          <p:nvPr/>
        </p:nvSpPr>
        <p:spPr>
          <a:xfrm>
            <a:off x="232568" y="40523872"/>
            <a:ext cx="29775151" cy="1768016"/>
          </a:xfrm>
          <a:prstGeom prst="roundRect">
            <a:avLst>
              <a:gd name="adj" fmla="val 1856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grpSp>
        <p:nvGrpSpPr>
          <p:cNvPr id="23" name="グループ化 22">
            <a:extLst>
              <a:ext uri="{FF2B5EF4-FFF2-40B4-BE49-F238E27FC236}">
                <a16:creationId xmlns:a16="http://schemas.microsoft.com/office/drawing/2014/main" id="{30CE2818-1843-6F2A-80B7-05612BF68763}"/>
              </a:ext>
            </a:extLst>
          </p:cNvPr>
          <p:cNvGrpSpPr/>
          <p:nvPr/>
        </p:nvGrpSpPr>
        <p:grpSpPr>
          <a:xfrm>
            <a:off x="232570" y="2395271"/>
            <a:ext cx="14760000" cy="4055173"/>
            <a:chOff x="232570" y="2529741"/>
            <a:chExt cx="14760000" cy="4055173"/>
          </a:xfrm>
        </p:grpSpPr>
        <p:sp>
          <p:nvSpPr>
            <p:cNvPr id="10" name="四角形: 角を丸くする 9">
              <a:extLst>
                <a:ext uri="{FF2B5EF4-FFF2-40B4-BE49-F238E27FC236}">
                  <a16:creationId xmlns:a16="http://schemas.microsoft.com/office/drawing/2014/main" id="{27C6F926-3906-9907-52EE-E1D4D4E5F520}"/>
                </a:ext>
              </a:extLst>
            </p:cNvPr>
            <p:cNvSpPr/>
            <p:nvPr/>
          </p:nvSpPr>
          <p:spPr>
            <a:xfrm>
              <a:off x="232570" y="2928093"/>
              <a:ext cx="14760000" cy="3656821"/>
            </a:xfrm>
            <a:prstGeom prst="roundRect">
              <a:avLst>
                <a:gd name="adj" fmla="val 6375"/>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latin typeface="UD デジタル 教科書体 NK-R" panose="02020400000000000000" pitchFamily="18" charset="-128"/>
                  <a:ea typeface="UD デジタル 教科書体 NK-R" panose="02020400000000000000" pitchFamily="18" charset="-128"/>
                </a:rPr>
                <a:t>目的</a:t>
              </a:r>
            </a:p>
          </p:txBody>
        </p:sp>
        <p:sp>
          <p:nvSpPr>
            <p:cNvPr id="18" name="四角形: 角を丸くする 17">
              <a:extLst>
                <a:ext uri="{FF2B5EF4-FFF2-40B4-BE49-F238E27FC236}">
                  <a16:creationId xmlns:a16="http://schemas.microsoft.com/office/drawing/2014/main" id="{83F891FC-763A-95C7-C6BF-CC832CB33667}"/>
                </a:ext>
              </a:extLst>
            </p:cNvPr>
            <p:cNvSpPr/>
            <p:nvPr/>
          </p:nvSpPr>
          <p:spPr>
            <a:xfrm>
              <a:off x="528326" y="2529741"/>
              <a:ext cx="3159050" cy="797855"/>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背景・目的</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18" name="テキスト ボックス 117">
              <a:extLst>
                <a:ext uri="{FF2B5EF4-FFF2-40B4-BE49-F238E27FC236}">
                  <a16:creationId xmlns:a16="http://schemas.microsoft.com/office/drawing/2014/main" id="{72956B3B-BA4D-7529-D417-26D2225646DE}"/>
                </a:ext>
              </a:extLst>
            </p:cNvPr>
            <p:cNvSpPr txBox="1"/>
            <p:nvPr/>
          </p:nvSpPr>
          <p:spPr>
            <a:xfrm>
              <a:off x="506888" y="3468067"/>
              <a:ext cx="14214952" cy="3108543"/>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背景</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近年</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の研究が盛んに行われている</a:t>
              </a:r>
              <a:r>
                <a:rPr lang="en-US" altLang="ja-JP" sz="2800" dirty="0">
                  <a:latin typeface="UD デジタル 教科書体 NK-R" panose="02020400000000000000" pitchFamily="18" charset="-128"/>
                  <a:ea typeface="UD デジタル 教科書体 NK-R" panose="02020400000000000000" pitchFamily="18" charset="-128"/>
                </a:rPr>
                <a:t>[1, 2]</a:t>
              </a:r>
              <a:r>
                <a:rPr lang="ja-JP" altLang="en-US" sz="2800">
                  <a:latin typeface="UD デジタル 教科書体 NK-R" panose="02020400000000000000" pitchFamily="18" charset="-128"/>
                  <a:ea typeface="UD デジタル 教科書体 NK-R" panose="02020400000000000000" pitchFamily="18" charset="-128"/>
                </a:rPr>
                <a:t>．</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画像キャプションモデル</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の画像の特徴抽出機として，　</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のエンコーダを</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用いる方法が提案された</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において， </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の最適な構造に言及はない．</a:t>
              </a:r>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目的</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spc="-100">
                  <a:latin typeface="UD デジタル 教科書体 NK-R" panose="02020400000000000000" pitchFamily="18" charset="-128"/>
                  <a:ea typeface="UD デジタル 教科書体 NK-R" panose="02020400000000000000" pitchFamily="18" charset="-128"/>
                </a:rPr>
                <a:t>大喜利生成</a:t>
              </a:r>
              <a:r>
                <a:rPr lang="en-US" altLang="ja-JP" sz="2800" spc="-100" dirty="0">
                  <a:latin typeface="UD デジタル 教科書体 NK-R" panose="02020400000000000000" pitchFamily="18" charset="-128"/>
                  <a:ea typeface="UD デジタル 教科書体 NK-R" panose="02020400000000000000" pitchFamily="18" charset="-128"/>
                </a:rPr>
                <a:t>AI</a:t>
              </a:r>
              <a:r>
                <a:rPr lang="ja-JP" altLang="en-US" sz="2800" spc="-100">
                  <a:latin typeface="UD デジタル 教科書体 NK-R" panose="02020400000000000000" pitchFamily="18" charset="-128"/>
                  <a:ea typeface="UD デジタル 教科書体 NK-R" panose="02020400000000000000" pitchFamily="18" charset="-128"/>
                </a:rPr>
                <a:t>の画像の特徴抽出機として適した</a:t>
              </a:r>
              <a:r>
                <a:rPr lang="en-US" altLang="ja-JP" sz="2800" spc="-100" dirty="0" err="1">
                  <a:latin typeface="UD デジタル 教科書体 NK-R" panose="02020400000000000000" pitchFamily="18" charset="-128"/>
                  <a:ea typeface="UD デジタル 教科書体 NK-R" panose="02020400000000000000" pitchFamily="18" charset="-128"/>
                </a:rPr>
                <a:t>AutoEncoder</a:t>
              </a:r>
              <a:r>
                <a:rPr lang="ja-JP" altLang="en-US" sz="2800" spc="-100">
                  <a:latin typeface="UD デジタル 教科書体 NK-R" panose="02020400000000000000" pitchFamily="18" charset="-128"/>
                  <a:ea typeface="UD デジタル 教科書体 NK-R" panose="02020400000000000000" pitchFamily="18" charset="-128"/>
                </a:rPr>
                <a:t>の構造を模索する</a:t>
              </a:r>
              <a:endParaRPr lang="ja-JP" altLang="en-US" sz="2800" spc="-100" dirty="0">
                <a:latin typeface="UD デジタル 教科書体 NK-R" panose="02020400000000000000" pitchFamily="18" charset="-128"/>
                <a:ea typeface="UD デジタル 教科書体 NK-R" panose="02020400000000000000" pitchFamily="18" charset="-128"/>
              </a:endParaRPr>
            </a:p>
          </p:txBody>
        </p:sp>
      </p:grpSp>
      <p:grpSp>
        <p:nvGrpSpPr>
          <p:cNvPr id="28" name="グループ化 27">
            <a:extLst>
              <a:ext uri="{FF2B5EF4-FFF2-40B4-BE49-F238E27FC236}">
                <a16:creationId xmlns:a16="http://schemas.microsoft.com/office/drawing/2014/main" id="{F87861C1-0C99-1717-711E-12132D206667}"/>
              </a:ext>
            </a:extLst>
          </p:cNvPr>
          <p:cNvGrpSpPr/>
          <p:nvPr/>
        </p:nvGrpSpPr>
        <p:grpSpPr>
          <a:xfrm>
            <a:off x="860332" y="353705"/>
            <a:ext cx="28519621" cy="1873679"/>
            <a:chOff x="860332" y="353705"/>
            <a:chExt cx="28519621" cy="1873679"/>
          </a:xfrm>
        </p:grpSpPr>
        <p:grpSp>
          <p:nvGrpSpPr>
            <p:cNvPr id="8" name="グループ化 7">
              <a:extLst>
                <a:ext uri="{FF2B5EF4-FFF2-40B4-BE49-F238E27FC236}">
                  <a16:creationId xmlns:a16="http://schemas.microsoft.com/office/drawing/2014/main" id="{D217D156-E69B-2BDF-A462-41E6CA149116}"/>
                </a:ext>
              </a:extLst>
            </p:cNvPr>
            <p:cNvGrpSpPr/>
            <p:nvPr/>
          </p:nvGrpSpPr>
          <p:grpSpPr>
            <a:xfrm>
              <a:off x="946944" y="353705"/>
              <a:ext cx="28346400" cy="1683875"/>
              <a:chOff x="946944" y="353705"/>
              <a:chExt cx="28346400" cy="1683875"/>
            </a:xfrm>
          </p:grpSpPr>
          <p:sp>
            <p:nvSpPr>
              <p:cNvPr id="6" name="テキスト ボックス 5">
                <a:extLst>
                  <a:ext uri="{FF2B5EF4-FFF2-40B4-BE49-F238E27FC236}">
                    <a16:creationId xmlns:a16="http://schemas.microsoft.com/office/drawing/2014/main" id="{D0F93D02-78A6-D657-0BA1-CF2B85B44883}"/>
                  </a:ext>
                </a:extLst>
              </p:cNvPr>
              <p:cNvSpPr txBox="1"/>
              <p:nvPr/>
            </p:nvSpPr>
            <p:spPr>
              <a:xfrm>
                <a:off x="946944" y="353705"/>
                <a:ext cx="28346400" cy="830997"/>
              </a:xfrm>
              <a:prstGeom prst="rect">
                <a:avLst/>
              </a:prstGeom>
              <a:noFill/>
            </p:spPr>
            <p:txBody>
              <a:bodyPr wrap="square">
                <a:spAutoFit/>
              </a:bodyPr>
              <a:lstStyle/>
              <a:p>
                <a:pPr algn="ctr"/>
                <a:r>
                  <a:rPr kumimoji="1" lang="ja-JP" altLang="en-US" sz="4800">
                    <a:latin typeface="UD デジタル 教科書体 NK-R" panose="02020400000000000000" pitchFamily="18" charset="-128"/>
                    <a:ea typeface="UD デジタル 教科書体 NK-R" panose="02020400000000000000" pitchFamily="18" charset="-128"/>
                  </a:rPr>
                  <a:t>大喜利生成</a:t>
                </a:r>
                <a:r>
                  <a:rPr kumimoji="1" lang="en-US" altLang="ja-JP" sz="4800" dirty="0">
                    <a:latin typeface="UD デジタル 教科書体 NK-R" panose="02020400000000000000" pitchFamily="18" charset="-128"/>
                    <a:ea typeface="UD デジタル 教科書体 NK-R" panose="02020400000000000000" pitchFamily="18" charset="-128"/>
                  </a:rPr>
                  <a:t>AI</a:t>
                </a:r>
                <a:r>
                  <a:rPr kumimoji="1" lang="ja-JP" altLang="en-US" sz="4800">
                    <a:latin typeface="UD デジタル 教科書体 NK-R" panose="02020400000000000000" pitchFamily="18" charset="-128"/>
                    <a:ea typeface="UD デジタル 教科書体 NK-R" panose="02020400000000000000" pitchFamily="18" charset="-128"/>
                  </a:rPr>
                  <a:t>に適した</a:t>
                </a:r>
                <a:r>
                  <a:rPr kumimoji="1" lang="en-US" altLang="ja-JP" sz="4800" dirty="0" err="1">
                    <a:latin typeface="UD デジタル 教科書体 NK-R" panose="02020400000000000000" pitchFamily="18" charset="-128"/>
                    <a:ea typeface="UD デジタル 教科書体 NK-R" panose="02020400000000000000" pitchFamily="18" charset="-128"/>
                  </a:rPr>
                  <a:t>AutoEncoder</a:t>
                </a:r>
                <a:r>
                  <a:rPr kumimoji="1" lang="ja-JP" altLang="en-US" sz="4800">
                    <a:latin typeface="UD デジタル 教科書体 NK-R" panose="02020400000000000000" pitchFamily="18" charset="-128"/>
                    <a:ea typeface="UD デジタル 教科書体 NK-R" panose="02020400000000000000" pitchFamily="18" charset="-128"/>
                  </a:rPr>
                  <a:t>に関する研究</a:t>
                </a:r>
                <a:endParaRPr lang="ja-JP" altLang="en-US" sz="48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078920E-DE64-22FA-4A80-4CD39FAE4327}"/>
                      </a:ext>
                    </a:extLst>
                  </p:cNvPr>
                  <p:cNvSpPr txBox="1"/>
                  <p:nvPr/>
                </p:nvSpPr>
                <p:spPr>
                  <a:xfrm>
                    <a:off x="946944" y="1193246"/>
                    <a:ext cx="28346400" cy="844334"/>
                  </a:xfrm>
                  <a:prstGeom prst="rect">
                    <a:avLst/>
                  </a:prstGeom>
                  <a:noFill/>
                </p:spPr>
                <p:txBody>
                  <a:bodyPr wrap="square">
                    <a:spAutoFit/>
                  </a:bodyPr>
                  <a:lstStyle/>
                  <a:p>
                    <a:pPr algn="ctr"/>
                    <a:r>
                      <a:rPr kumimoji="1" lang="ja-JP" altLang="en-US" sz="4800" dirty="0">
                        <a:latin typeface="UD デジタル 教科書体 NK-R" panose="02020400000000000000" pitchFamily="18" charset="-128"/>
                        <a:ea typeface="UD デジタル 教科書体 NK-R" panose="02020400000000000000" pitchFamily="18" charset="-128"/>
                      </a:rPr>
                      <a:t>〇山富 龍</a:t>
                    </a:r>
                    <a14:m>
                      <m:oMath xmlns:m="http://schemas.openxmlformats.org/officeDocument/2006/math">
                        <m:sSup>
                          <m:sSupPr>
                            <m:ctrlPr>
                              <a:rPr kumimoji="1" lang="en-US" altLang="ja-JP" sz="4800" i="1" dirty="0" smtClean="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b="0" i="1" dirty="0" smtClean="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マハブービ シェヘラザード</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二宮 洋</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湘南工科大学</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p>
                </p:txBody>
              </p:sp>
            </mc:Choice>
            <mc:Fallback xmlns="">
              <p:sp>
                <p:nvSpPr>
                  <p:cNvPr id="7" name="テキスト ボックス 6">
                    <a:extLst>
                      <a:ext uri="{FF2B5EF4-FFF2-40B4-BE49-F238E27FC236}">
                        <a16:creationId xmlns:a16="http://schemas.microsoft.com/office/drawing/2014/main" id="{9078920E-DE64-22FA-4A80-4CD39FAE4327}"/>
                      </a:ext>
                    </a:extLst>
                  </p:cNvPr>
                  <p:cNvSpPr txBox="1">
                    <a:spLocks noRot="1" noChangeAspect="1" noMove="1" noResize="1" noEditPoints="1" noAdjustHandles="1" noChangeArrowheads="1" noChangeShapeType="1" noTextEdit="1"/>
                  </p:cNvSpPr>
                  <p:nvPr/>
                </p:nvSpPr>
                <p:spPr>
                  <a:xfrm>
                    <a:off x="946944" y="1193246"/>
                    <a:ext cx="28346400" cy="844334"/>
                  </a:xfrm>
                  <a:prstGeom prst="rect">
                    <a:avLst/>
                  </a:prstGeom>
                  <a:blipFill>
                    <a:blip r:embed="rId3"/>
                    <a:stretch>
                      <a:fillRect t="-15217" b="-37681"/>
                    </a:stretch>
                  </a:blipFill>
                </p:spPr>
                <p:txBody>
                  <a:bodyPr/>
                  <a:lstStyle/>
                  <a:p>
                    <a:r>
                      <a:rPr lang="ja-JP" altLang="en-US">
                        <a:noFill/>
                      </a:rPr>
                      <a:t> </a:t>
                    </a:r>
                  </a:p>
                </p:txBody>
              </p:sp>
            </mc:Fallback>
          </mc:AlternateContent>
        </p:grpSp>
        <p:cxnSp>
          <p:nvCxnSpPr>
            <p:cNvPr id="26" name="直線コネクタ 25">
              <a:extLst>
                <a:ext uri="{FF2B5EF4-FFF2-40B4-BE49-F238E27FC236}">
                  <a16:creationId xmlns:a16="http://schemas.microsoft.com/office/drawing/2014/main" id="{385AD9CF-B811-3DA0-D6B9-519BE9FF2F17}"/>
                </a:ext>
              </a:extLst>
            </p:cNvPr>
            <p:cNvCxnSpPr/>
            <p:nvPr/>
          </p:nvCxnSpPr>
          <p:spPr>
            <a:xfrm>
              <a:off x="860332" y="2227384"/>
              <a:ext cx="28519621" cy="0"/>
            </a:xfrm>
            <a:prstGeom prst="line">
              <a:avLst/>
            </a:prstGeom>
            <a:ln w="762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grpSp>
        <p:nvGrpSpPr>
          <p:cNvPr id="29" name="グループ化 28">
            <a:extLst>
              <a:ext uri="{FF2B5EF4-FFF2-40B4-BE49-F238E27FC236}">
                <a16:creationId xmlns:a16="http://schemas.microsoft.com/office/drawing/2014/main" id="{CE582D28-B8C7-184A-8907-3F8DB7980B3A}"/>
              </a:ext>
            </a:extLst>
          </p:cNvPr>
          <p:cNvGrpSpPr/>
          <p:nvPr/>
        </p:nvGrpSpPr>
        <p:grpSpPr>
          <a:xfrm>
            <a:off x="212937" y="6731591"/>
            <a:ext cx="14760000" cy="10674011"/>
            <a:chOff x="191499" y="4380114"/>
            <a:chExt cx="14760000" cy="10674011"/>
          </a:xfrm>
        </p:grpSpPr>
        <p:sp>
          <p:nvSpPr>
            <p:cNvPr id="30" name="四角形: 角を丸くする 29">
              <a:extLst>
                <a:ext uri="{FF2B5EF4-FFF2-40B4-BE49-F238E27FC236}">
                  <a16:creationId xmlns:a16="http://schemas.microsoft.com/office/drawing/2014/main" id="{3337E6AE-FD4C-7BA6-9BB0-42A2F8FA8691}"/>
                </a:ext>
              </a:extLst>
            </p:cNvPr>
            <p:cNvSpPr/>
            <p:nvPr/>
          </p:nvSpPr>
          <p:spPr>
            <a:xfrm>
              <a:off x="191499" y="4755866"/>
              <a:ext cx="14760000" cy="10298259"/>
            </a:xfrm>
            <a:prstGeom prst="roundRect">
              <a:avLst>
                <a:gd name="adj" fmla="val 245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31" name="四角形: 角を丸くする 30">
              <a:extLst>
                <a:ext uri="{FF2B5EF4-FFF2-40B4-BE49-F238E27FC236}">
                  <a16:creationId xmlns:a16="http://schemas.microsoft.com/office/drawing/2014/main" id="{946408B4-3F6B-5E5B-91E5-DE0AC41DEBB8}"/>
                </a:ext>
              </a:extLst>
            </p:cNvPr>
            <p:cNvSpPr/>
            <p:nvPr/>
          </p:nvSpPr>
          <p:spPr>
            <a:xfrm>
              <a:off x="506889" y="4380114"/>
              <a:ext cx="7158348" cy="768330"/>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画像キャプションモデル</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[3]</a:t>
              </a:r>
            </a:p>
          </p:txBody>
        </p: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7D06BDE7-BADC-0589-E24F-85B1071B5196}"/>
                    </a:ext>
                  </a:extLst>
                </p:cNvPr>
                <p:cNvSpPr txBox="1"/>
                <p:nvPr/>
              </p:nvSpPr>
              <p:spPr>
                <a:xfrm>
                  <a:off x="318217" y="5375836"/>
                  <a:ext cx="14633281" cy="9571851"/>
                </a:xfrm>
                <a:prstGeom prst="rect">
                  <a:avLst/>
                </a:prstGeom>
                <a:noFill/>
              </p:spPr>
              <p:txBody>
                <a:bodyPr wrap="square">
                  <a:spAutoFit/>
                </a:bodyPr>
                <a:lstStyle/>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画像</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𝑤</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文章の</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番目の単語</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𝑟</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時点の内部状態</a:t>
                  </a:r>
                  <a:endParaRPr kumimoji="1" lang="en-US" altLang="ja-JP" sz="2800" dirty="0">
                    <a:latin typeface="UD Digi Kyokasho NK-R" panose="02020400000000000000" pitchFamily="18" charset="-128"/>
                    <a:ea typeface="UD Digi Kyokasho NK-R" panose="02020400000000000000" pitchFamily="18" charset="-128"/>
                  </a:endParaRPr>
                </a:p>
                <a:p>
                  <a:pPr lvl="1"/>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spc="-100">
                      <a:solidFill>
                        <a:srgbClr val="FF0000"/>
                      </a:solidFill>
                      <a:latin typeface="UD Digi Kyokasho NK-R" panose="02020400000000000000" pitchFamily="18" charset="-128"/>
                      <a:ea typeface="UD Digi Kyokasho NK-R" panose="02020400000000000000" pitchFamily="18" charset="-128"/>
                    </a:rPr>
                    <a:t>画像のエンコーダ</a:t>
                  </a:r>
                  <a:r>
                    <a:rPr kumimoji="1" lang="ja-JP" altLang="en-US" sz="2800" spc="-100">
                      <a:latin typeface="UD Digi Kyokasho NK-R" panose="02020400000000000000" pitchFamily="18" charset="-128"/>
                      <a:ea typeface="UD Digi Kyokasho NK-R" panose="02020400000000000000" pitchFamily="18" charset="-128"/>
                    </a:rPr>
                    <a:t>として，以下の理由で事前学習済みの画像認識モデルが使用されるのが一般的</a:t>
                  </a:r>
                  <a:endParaRPr kumimoji="1" lang="en-US" altLang="ja-JP" sz="2800" spc="-1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画像のエンコーダと文章生成を同時に学習するのは計算コストが高い</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文章の単語数によって画像のエンコーダの画像ごとの学習機会に差が生じる</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en-US" altLang="ja-JP" sz="2800" dirty="0">
                      <a:latin typeface="UD Digi Kyokasho NK-R" panose="02020400000000000000" pitchFamily="18" charset="-128"/>
                      <a:ea typeface="UD Digi Kyokasho NK-R" panose="02020400000000000000" pitchFamily="18" charset="-128"/>
                    </a:rPr>
                    <a:t>ImageNet</a:t>
                  </a:r>
                  <a:r>
                    <a:rPr kumimoji="1" lang="ja-JP" altLang="en-US" sz="2800">
                      <a:latin typeface="UD Digi Kyokasho NK-R" panose="02020400000000000000" pitchFamily="18" charset="-128"/>
                      <a:ea typeface="UD Digi Kyokasho NK-R" panose="02020400000000000000" pitchFamily="18" charset="-128"/>
                    </a:rPr>
                    <a:t>のような大規模なデータで学習しており，　　　　　　　　　　　　　　　　　　　　　　　　　　　　　幅広い画像に対応できることが期待できる</a:t>
                  </a:r>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a:latin typeface="UD Digi Kyokasho NK-R" panose="02020400000000000000" pitchFamily="18" charset="-128"/>
                      <a:ea typeface="UD Digi Kyokasho NK-R" panose="02020400000000000000" pitchFamily="18" charset="-128"/>
                    </a:rPr>
                    <a:t>ただし</a:t>
                  </a:r>
                  <a:r>
                    <a:rPr kumimoji="1" lang="en-US" altLang="ja-JP" sz="2800" dirty="0">
                      <a:latin typeface="UD Digi Kyokasho NK-R" panose="02020400000000000000" pitchFamily="18" charset="-128"/>
                      <a:ea typeface="UD Digi Kyokasho NK-R" panose="02020400000000000000" pitchFamily="18" charset="-128"/>
                    </a:rPr>
                    <a:t>, </a:t>
                  </a:r>
                  <a:r>
                    <a:rPr kumimoji="1" lang="ja-JP" altLang="en-US" sz="2800">
                      <a:latin typeface="UD Digi Kyokasho NK-R" panose="02020400000000000000" pitchFamily="18" charset="-128"/>
                      <a:ea typeface="UD Digi Kyokasho NK-R" panose="02020400000000000000" pitchFamily="18" charset="-128"/>
                    </a:rPr>
                    <a:t>事前学習済みモデルの再学習には画像に対する</a:t>
                  </a:r>
                  <a:r>
                    <a:rPr kumimoji="1" lang="ja-JP" altLang="en-US" sz="2800">
                      <a:solidFill>
                        <a:srgbClr val="00B0F0"/>
                      </a:solidFill>
                      <a:latin typeface="UD Digi Kyokasho NK-R" panose="02020400000000000000" pitchFamily="18" charset="-128"/>
                      <a:ea typeface="UD Digi Kyokasho NK-R" panose="02020400000000000000" pitchFamily="18" charset="-128"/>
                    </a:rPr>
                    <a:t>アノテーションが必要</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a:p>
                  <a:pPr lvl="1"/>
                  <a:r>
                    <a:rPr kumimoji="1" lang="ja-JP" altLang="en-US" sz="2800">
                      <a:latin typeface="UD Digi Kyokasho NK-R" panose="02020400000000000000" pitchFamily="18" charset="-128"/>
                      <a:ea typeface="UD Digi Kyokasho NK-R" panose="02020400000000000000" pitchFamily="18" charset="-128"/>
                    </a:rPr>
                    <a:t>また</a:t>
                  </a:r>
                  <a:r>
                    <a:rPr kumimoji="1" lang="en-US" altLang="ja-JP" sz="2800" dirty="0">
                      <a:latin typeface="UD Digi Kyokasho NK-R" panose="02020400000000000000" pitchFamily="18" charset="-128"/>
                      <a:ea typeface="UD Digi Kyokasho NK-R" panose="02020400000000000000" pitchFamily="18" charset="-128"/>
                    </a:rPr>
                    <a:t>, </a:t>
                  </a: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ja-JP" altLang="en-US" sz="2800">
                      <a:solidFill>
                        <a:srgbClr val="00B0F0"/>
                      </a:solidFill>
                      <a:latin typeface="UD Digi Kyokasho NK-R" panose="02020400000000000000" pitchFamily="18" charset="-128"/>
                      <a:ea typeface="UD Digi Kyokasho NK-R" panose="02020400000000000000" pitchFamily="18" charset="-128"/>
                    </a:rPr>
                    <a:t>パラメータ数が膨大</a:t>
                  </a:r>
                  <a:r>
                    <a:rPr kumimoji="1" lang="ja-JP" altLang="en-US" sz="2800">
                      <a:latin typeface="UD Digi Kyokasho NK-R" panose="02020400000000000000" pitchFamily="18" charset="-128"/>
                      <a:ea typeface="UD Digi Kyokasho NK-R" panose="02020400000000000000" pitchFamily="18" charset="-128"/>
                    </a:rPr>
                    <a:t>かつ</a:t>
                  </a:r>
                  <a:r>
                    <a:rPr kumimoji="1" lang="en-US" altLang="ja-JP" sz="2800" dirty="0">
                      <a:latin typeface="UD Digi Kyokasho NK-R" panose="02020400000000000000" pitchFamily="18" charset="-128"/>
                      <a:ea typeface="UD Digi Kyokasho NK-R" panose="02020400000000000000" pitchFamily="18" charset="-128"/>
                    </a:rPr>
                    <a:t>, </a:t>
                  </a:r>
                  <a:r>
                    <a:rPr kumimoji="1" lang="ja-JP" altLang="en-US" sz="2800">
                      <a:latin typeface="UD Digi Kyokasho NK-R" panose="02020400000000000000" pitchFamily="18" charset="-128"/>
                      <a:ea typeface="UD Digi Kyokasho NK-R" panose="02020400000000000000" pitchFamily="18" charset="-128"/>
                    </a:rPr>
                    <a:t>任意に</a:t>
                  </a:r>
                  <a:r>
                    <a:rPr kumimoji="1" lang="ja-JP" altLang="en-US" sz="2800">
                      <a:solidFill>
                        <a:srgbClr val="00B0F0"/>
                      </a:solidFill>
                      <a:latin typeface="UD Digi Kyokasho NK-R" panose="02020400000000000000" pitchFamily="18" charset="-128"/>
                      <a:ea typeface="UD Digi Kyokasho NK-R" panose="02020400000000000000" pitchFamily="18" charset="-128"/>
                    </a:rPr>
                    <a:t>構造を変更できない</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p:txBody>
            </p:sp>
          </mc:Choice>
          <mc:Fallback xmlns="">
            <p:sp>
              <p:nvSpPr>
                <p:cNvPr id="32" name="テキスト ボックス 31">
                  <a:extLst>
                    <a:ext uri="{FF2B5EF4-FFF2-40B4-BE49-F238E27FC236}">
                      <a16:creationId xmlns:a16="http://schemas.microsoft.com/office/drawing/2014/main" id="{7D06BDE7-BADC-0589-E24F-85B1071B5196}"/>
                    </a:ext>
                  </a:extLst>
                </p:cNvPr>
                <p:cNvSpPr txBox="1">
                  <a:spLocks noRot="1" noChangeAspect="1" noMove="1" noResize="1" noEditPoints="1" noAdjustHandles="1" noChangeArrowheads="1" noChangeShapeType="1" noTextEdit="1"/>
                </p:cNvSpPr>
                <p:nvPr/>
              </p:nvSpPr>
              <p:spPr>
                <a:xfrm>
                  <a:off x="318217" y="5375836"/>
                  <a:ext cx="14633281" cy="9571851"/>
                </a:xfrm>
                <a:prstGeom prst="rect">
                  <a:avLst/>
                </a:prstGeom>
                <a:blipFill>
                  <a:blip r:embed="rId4"/>
                  <a:stretch>
                    <a:fillRect b="-795"/>
                  </a:stretch>
                </a:blipFill>
              </p:spPr>
              <p:txBody>
                <a:bodyPr/>
                <a:lstStyle/>
                <a:p>
                  <a:r>
                    <a:rPr lang="ja-JP" altLang="en-US">
                      <a:noFill/>
                    </a:rPr>
                    <a:t> </a:t>
                  </a:r>
                </a:p>
              </p:txBody>
            </p:sp>
          </mc:Fallback>
        </mc:AlternateContent>
      </p:grpSp>
      <p:grpSp>
        <p:nvGrpSpPr>
          <p:cNvPr id="34" name="グループ化 33">
            <a:extLst>
              <a:ext uri="{FF2B5EF4-FFF2-40B4-BE49-F238E27FC236}">
                <a16:creationId xmlns:a16="http://schemas.microsoft.com/office/drawing/2014/main" id="{C7FB90F9-473B-DBE3-6A8B-8777B7E770FE}"/>
              </a:ext>
            </a:extLst>
          </p:cNvPr>
          <p:cNvGrpSpPr/>
          <p:nvPr/>
        </p:nvGrpSpPr>
        <p:grpSpPr>
          <a:xfrm>
            <a:off x="15242062" y="2465608"/>
            <a:ext cx="14773486" cy="37853922"/>
            <a:chOff x="232568" y="5248316"/>
            <a:chExt cx="14773486" cy="37853922"/>
          </a:xfrm>
        </p:grpSpPr>
        <p:sp>
          <p:nvSpPr>
            <p:cNvPr id="35" name="四角形: 角を丸くする 34">
              <a:extLst>
                <a:ext uri="{FF2B5EF4-FFF2-40B4-BE49-F238E27FC236}">
                  <a16:creationId xmlns:a16="http://schemas.microsoft.com/office/drawing/2014/main" id="{47EECEA1-1146-F75F-B958-C642FAF77E57}"/>
                </a:ext>
              </a:extLst>
            </p:cNvPr>
            <p:cNvSpPr/>
            <p:nvPr/>
          </p:nvSpPr>
          <p:spPr>
            <a:xfrm>
              <a:off x="232568" y="5607880"/>
              <a:ext cx="14760000" cy="37494358"/>
            </a:xfrm>
            <a:prstGeom prst="roundRect">
              <a:avLst>
                <a:gd name="adj" fmla="val 1854"/>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36" name="四角形: 角を丸くする 35">
              <a:extLst>
                <a:ext uri="{FF2B5EF4-FFF2-40B4-BE49-F238E27FC236}">
                  <a16:creationId xmlns:a16="http://schemas.microsoft.com/office/drawing/2014/main" id="{7F035820-E432-DA19-702C-74373820AD4B}"/>
                </a:ext>
              </a:extLst>
            </p:cNvPr>
            <p:cNvSpPr/>
            <p:nvPr/>
          </p:nvSpPr>
          <p:spPr>
            <a:xfrm>
              <a:off x="506888" y="5248316"/>
              <a:ext cx="1528972" cy="797856"/>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実験</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3CBE4EA-6A45-2DF9-9C9B-750731A73354}"/>
                    </a:ext>
                  </a:extLst>
                </p:cNvPr>
                <p:cNvSpPr txBox="1"/>
                <p:nvPr/>
              </p:nvSpPr>
              <p:spPr>
                <a:xfrm>
                  <a:off x="506888" y="6188617"/>
                  <a:ext cx="14499166" cy="31865839"/>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実験目的</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で使用されている</a:t>
                  </a:r>
                  <a:r>
                    <a:rPr lang="en-US" altLang="ja-JP" sz="2800" dirty="0">
                      <a:latin typeface="UD デジタル 教科書体 NK-R" panose="02020400000000000000" pitchFamily="18" charset="-128"/>
                      <a:ea typeface="UD デジタル 教科書体 NK-R" panose="02020400000000000000" pitchFamily="18" charset="-128"/>
                    </a:rPr>
                    <a:t>ResNet152</a:t>
                  </a:r>
                  <a:r>
                    <a:rPr lang="ja-JP" altLang="en-US" sz="2800">
                      <a:latin typeface="UD デジタル 教科書体 NK-R" panose="02020400000000000000" pitchFamily="18" charset="-128"/>
                      <a:ea typeface="UD デジタル 教科書体 NK-R" panose="02020400000000000000" pitchFamily="18" charset="-128"/>
                    </a:rPr>
                    <a:t>のパラメータ数</a:t>
                  </a:r>
                  <a:r>
                    <a:rPr lang="en-US" altLang="ja-JP" sz="2800" dirty="0">
                      <a:latin typeface="UD デジタル 教科書体 NK-R" panose="02020400000000000000" pitchFamily="18" charset="-128"/>
                      <a:ea typeface="UD デジタル 教科書体 NK-R" panose="02020400000000000000" pitchFamily="18" charset="-128"/>
                    </a:rPr>
                    <a:t>58,370,944</a:t>
                  </a:r>
                  <a:r>
                    <a:rPr lang="ja-JP" altLang="en-US" sz="2800">
                      <a:latin typeface="UD デジタル 教科書体 NK-R" panose="02020400000000000000" pitchFamily="18" charset="-128"/>
                      <a:ea typeface="UD デジタル 教科書体 NK-R" panose="02020400000000000000" pitchFamily="18" charset="-128"/>
                    </a:rPr>
                    <a:t>よりパラメータ数が少なく，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高性能な</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のエンコーダを模索</a:t>
                  </a:r>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 : </a:t>
                  </a:r>
                  <a:r>
                    <a:rPr lang="ja-JP" altLang="en-US" sz="2800">
                      <a:latin typeface="UD デジタル 教科書体 NK-R" panose="02020400000000000000" pitchFamily="18" charset="-128"/>
                      <a:ea typeface="UD デジタル 教科書体 NK-R" panose="02020400000000000000" pitchFamily="18" charset="-128"/>
                    </a:rPr>
                    <a:t>畳み込み層の数を変更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 </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特徴量次元数</a:t>
                  </a:r>
                  <a:r>
                    <a:rPr lang="en-US" altLang="ja-JP" sz="2800" dirty="0">
                      <a:latin typeface="UD デジタル 教科書体 NK-R" panose="02020400000000000000" pitchFamily="18" charset="-128"/>
                      <a:ea typeface="UD デジタル 教科書体 NK-R" panose="02020400000000000000" pitchFamily="18" charset="-128"/>
                    </a:rPr>
                    <a:t> : 2048</a:t>
                  </a: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p>
                <a:p>
                  <a:pPr lvl="1"/>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𝐿</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何層目か</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結果　検証誤差を比較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 : </a:t>
                  </a:r>
                  <a:r>
                    <a:rPr lang="ja-JP" altLang="en-US" sz="2800">
                      <a:latin typeface="UD デジタル 教科書体 NK-R" panose="02020400000000000000" pitchFamily="18" charset="-128"/>
                      <a:ea typeface="UD デジタル 教科書体 NK-R" panose="02020400000000000000" pitchFamily="18" charset="-128"/>
                    </a:rPr>
                    <a:t>特徴量の次元数を変更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畳み込み層の数</a:t>
                  </a:r>
                  <a:r>
                    <a:rPr lang="en-US" altLang="ja-JP" sz="2800" dirty="0">
                      <a:latin typeface="UD デジタル 教科書体 NK-R" panose="02020400000000000000" pitchFamily="18" charset="-128"/>
                      <a:ea typeface="UD デジタル 教科書体 NK-R" panose="02020400000000000000" pitchFamily="18" charset="-128"/>
                    </a:rPr>
                    <a:t> : 5</a:t>
                  </a:r>
                  <a:r>
                    <a:rPr lang="ja-JP" altLang="en-US" sz="2800">
                      <a:latin typeface="UD デジタル 教科書体 NK-R" panose="02020400000000000000" pitchFamily="18" charset="-128"/>
                      <a:ea typeface="UD デジタル 教科書体 NK-R" panose="02020400000000000000" pitchFamily="18" charset="-128"/>
                    </a:rPr>
                    <a:t>層</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結果</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検証誤差・</a:t>
                  </a:r>
                  <a:r>
                    <a:rPr lang="en-US" altLang="ja-JP" sz="2800" dirty="0">
                      <a:latin typeface="UD デジタル 教科書体 NK-R" panose="02020400000000000000" pitchFamily="18" charset="-128"/>
                      <a:ea typeface="UD デジタル 教科書体 NK-R" panose="02020400000000000000" pitchFamily="18" charset="-128"/>
                    </a:rPr>
                    <a:t> FID</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err="1">
                      <a:latin typeface="UD デジタル 教科書体 NK-R" panose="02020400000000000000" pitchFamily="18" charset="-128"/>
                      <a:ea typeface="UD デジタル 教科書体 NK-R" panose="02020400000000000000" pitchFamily="18" charset="-128"/>
                    </a:rPr>
                    <a:t>Frechet</a:t>
                  </a:r>
                  <a:r>
                    <a:rPr lang="en-US" altLang="ja-JP" sz="2800" dirty="0">
                      <a:latin typeface="UD デジタル 教科書体 NK-R" panose="02020400000000000000" pitchFamily="18" charset="-128"/>
                      <a:ea typeface="UD デジタル 教科書体 NK-R" panose="02020400000000000000" pitchFamily="18" charset="-128"/>
                    </a:rPr>
                    <a:t> Inception Distance(FID)[6]</a:t>
                  </a:r>
                </a:p>
                <a:p>
                  <a:pPr lvl="2"/>
                  <a:r>
                    <a:rPr lang="ja-JP" altLang="en-US" sz="2800">
                      <a:latin typeface="UD デジタル 教科書体 NK-R" panose="02020400000000000000" pitchFamily="18" charset="-128"/>
                      <a:ea typeface="UD デジタル 教科書体 NK-R" panose="02020400000000000000" pitchFamily="18" charset="-128"/>
                    </a:rPr>
                    <a:t>画像群</a:t>
                  </a:r>
                  <a:r>
                    <a:rPr lang="en-US" altLang="ja-JP" sz="2800" dirty="0">
                      <a:latin typeface="UD デジタル 教科書体 NK-R" panose="02020400000000000000" pitchFamily="18" charset="-128"/>
                      <a:ea typeface="UD デジタル 教科書体 NK-R" panose="02020400000000000000" pitchFamily="18" charset="-128"/>
                    </a:rPr>
                    <a:t>A</a:t>
                  </a:r>
                  <a:r>
                    <a:rPr lang="ja-JP" altLang="en-US" sz="2800">
                      <a:latin typeface="UD デジタル 教科書体 NK-R" panose="02020400000000000000" pitchFamily="18" charset="-128"/>
                      <a:ea typeface="UD デジタル 教科書体 NK-R" panose="02020400000000000000" pitchFamily="18" charset="-128"/>
                    </a:rPr>
                    <a:t>と画像群</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の分布がどれほど近いか測る指標</a:t>
                  </a:r>
                  <a:r>
                    <a:rPr lang="en-US" altLang="ja-JP" sz="2800" dirty="0">
                      <a:latin typeface="UD デジタル 教科書体 NK-R" panose="02020400000000000000" pitchFamily="18" charset="-128"/>
                      <a:ea typeface="UD デジタル 教科書体 NK-R" panose="02020400000000000000" pitchFamily="18" charset="-128"/>
                    </a:rPr>
                    <a:t>. 0</a:t>
                  </a:r>
                  <a:r>
                    <a:rPr lang="ja-JP" altLang="en-US" sz="2800">
                      <a:latin typeface="UD デジタル 教科書体 NK-R" panose="02020400000000000000" pitchFamily="18" charset="-128"/>
                      <a:ea typeface="UD デジタル 教科書体 NK-R" panose="02020400000000000000" pitchFamily="18" charset="-128"/>
                    </a:rPr>
                    <a:t>に近ければ近いほど分布は近い</a:t>
                  </a:r>
                  <a:endParaRPr lang="en-US" altLang="ja-JP" sz="2800" dirty="0">
                    <a:latin typeface="UD デジタル 教科書体 NK-R" panose="02020400000000000000" pitchFamily="18" charset="-128"/>
                    <a:ea typeface="UD デジタル 教科書体 NK-R" panose="02020400000000000000" pitchFamily="18" charset="-128"/>
                  </a:endParaRPr>
                </a:p>
                <a:p>
                  <a:pPr lvl="2"/>
                  <a14:m>
                    <m:oMathPara xmlns:m="http://schemas.openxmlformats.org/officeDocument/2006/math">
                      <m:oMathParaPr>
                        <m:jc m:val="centerGroup"/>
                      </m:oMathParaPr>
                      <m:oMath xmlns:m="http://schemas.openxmlformats.org/officeDocument/2006/math">
                        <m:eqArr>
                          <m:eqArrPr>
                            <m:ctrlPr>
                              <a:rPr lang="en-US" altLang="ja-JP" sz="2800" i="1">
                                <a:latin typeface="Cambria Math" panose="02040503050406030204" pitchFamily="18" charset="0"/>
                                <a:ea typeface="UD Digi Kyokasho NK-R" panose="02020400000000000000" pitchFamily="18" charset="-128"/>
                              </a:rPr>
                            </m:ctrlPr>
                          </m:eqArrPr>
                          <m:e>
                            <m:m>
                              <m:mPr>
                                <m:mcs>
                                  <m:mc>
                                    <m:mcPr>
                                      <m:count m:val="1"/>
                                      <m:mcJc m:val="center"/>
                                    </m:mcPr>
                                  </m:mc>
                                </m:mcs>
                                <m:ctrlPr>
                                  <a:rPr lang="en-US" altLang="ja-JP" sz="2800" i="1">
                                    <a:latin typeface="Cambria Math" panose="02040503050406030204" pitchFamily="18" charset="0"/>
                                    <a:ea typeface="UD Digi Kyokasho NK-R" panose="02020400000000000000" pitchFamily="18" charset="-128"/>
                                  </a:rPr>
                                </m:ctrlPr>
                              </m:mPr>
                              <m:m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i="1">
                                      <a:latin typeface="Cambria Math" panose="02040503050406030204" pitchFamily="18" charset="0"/>
                                      <a:ea typeface="UD デジタル 教科書体 NK-R" panose="02020400000000000000" pitchFamily="18" charset="-128"/>
                                    </a:rPr>
                                    <m:t>(</m:t>
                                  </m:r>
                                  <m:r>
                                    <a:rPr lang="en-US" altLang="ja-JP" sz="2800" b="1">
                                      <a:latin typeface="Cambria Math" panose="02040503050406030204" pitchFamily="18" charset="0"/>
                                      <a:ea typeface="UD デジタル 教科書体 NK-R" panose="02020400000000000000" pitchFamily="18" charset="-128"/>
                                    </a:rPr>
                                    <m:t>𝐀</m:t>
                                  </m:r>
                                  <m:r>
                                    <a:rPr lang="en-US" altLang="ja-JP" sz="2800" i="1">
                                      <a:latin typeface="Cambria Math" panose="02040503050406030204" pitchFamily="18" charset="0"/>
                                      <a:ea typeface="UD デジタル 教科書体 NK-R" panose="02020400000000000000" pitchFamily="18" charset="-128"/>
                                    </a:rPr>
                                    <m:t>)</m:t>
                                  </m:r>
                                  <m:r>
                                    <m:rPr>
                                      <m:nor/>
                                    </m:rPr>
                                    <a:rPr lang="en-US" altLang="ja-JP" sz="2800" dirty="0">
                                      <a:latin typeface="UD デジタル 教科書体 NK-R" panose="02020400000000000000" pitchFamily="18" charset="-128"/>
                                      <a:ea typeface="UD デジタル 教科書体 NK-R" panose="02020400000000000000" pitchFamily="18" charset="-128"/>
                                    </a:rPr>
                                    <m:t>,</m:t>
                                  </m:r>
                                  <m:r>
                                    <m:rPr>
                                      <m:nor/>
                                    </m:rPr>
                                    <a:rPr lang="en-US" altLang="ja-JP" sz="2800" b="0" i="0" dirty="0" smtClean="0">
                                      <a:latin typeface="UD デジタル 教科書体 NK-R" panose="02020400000000000000" pitchFamily="18" charset="-128"/>
                                      <a:ea typeface="UD デジタル 教科書体 NK-R" panose="02020400000000000000" pitchFamily="18" charset="-128"/>
                                    </a:rPr>
                                    <m:t>   </m:t>
                                  </m:r>
                                  <m:r>
                                    <m:rPr>
                                      <m:nor/>
                                    </m:rPr>
                                    <a:rPr lang="en-US" altLang="ja-JP" sz="2800" dirty="0">
                                      <a:latin typeface="UD デジタル 教科書体 NK-R" panose="02020400000000000000" pitchFamily="18" charset="-128"/>
                                      <a:ea typeface="UD デジタル 教科書体 NK-R" panose="02020400000000000000" pitchFamily="18" charset="-128"/>
                                    </a:rPr>
                                    <m:t>	</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Sub>
                                  <m:r>
                                    <a:rPr lang="en-US" altLang="ja-JP" sz="2800" i="1">
                                      <a:latin typeface="Cambria Math" panose="02040503050406030204" pitchFamily="18" charset="0"/>
                                      <a:ea typeface="UD デジタル 教科書体 NK-R" panose="02020400000000000000" pitchFamily="18" charset="-128"/>
                                    </a:rPr>
                                    <m:t>=</m:t>
                                  </m:r>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i="1">
                                      <a:latin typeface="Cambria Math" panose="02040503050406030204" pitchFamily="18" charset="0"/>
                                      <a:ea typeface="UD デジタル 教科書体 NK-R" panose="02020400000000000000" pitchFamily="18" charset="-128"/>
                                    </a:rPr>
                                    <m:t>(</m:t>
                                  </m:r>
                                  <m:r>
                                    <a:rPr lang="en-US" altLang="ja-JP" sz="2800" b="1">
                                      <a:latin typeface="Cambria Math" panose="02040503050406030204" pitchFamily="18" charset="0"/>
                                      <a:ea typeface="UD デジタル 教科書体 NK-R" panose="02020400000000000000" pitchFamily="18" charset="-128"/>
                                    </a:rPr>
                                    <m:t>𝐁</m:t>
                                  </m:r>
                                  <m:r>
                                    <a:rPr lang="en-US" altLang="ja-JP" sz="2800" i="1">
                                      <a:latin typeface="Cambria Math" panose="02040503050406030204" pitchFamily="18" charset="0"/>
                                      <a:ea typeface="UD デジタル 教科書体 NK-R" panose="02020400000000000000" pitchFamily="18" charset="-128"/>
                                    </a:rPr>
                                    <m:t>)</m:t>
                                  </m:r>
                                  <m:r>
                                    <m:rPr>
                                      <m:nor/>
                                    </m:rPr>
                                    <a:rPr lang="en-US" altLang="ja-JP" sz="2800" dirty="0">
                                      <a:latin typeface="UD デジタル 教科書体 NK-R" panose="02020400000000000000" pitchFamily="18" charset="-128"/>
                                      <a:ea typeface="UD デジタル 教科書体 NK-R" panose="02020400000000000000" pitchFamily="18" charset="-128"/>
                                    </a:rPr>
                                    <m:t> </m:t>
                                  </m:r>
                                </m:e>
                              </m:mr>
                              <m:m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𝐀</m:t>
                                          </m:r>
                                        </m:e>
                                      </m:d>
                                    </m:den>
                                  </m:f>
                                  <m:r>
                                    <a:rPr lang="en-US" altLang="ja-JP" sz="2800" i="1">
                                      <a:latin typeface="Cambria Math" panose="02040503050406030204" pitchFamily="18" charset="0"/>
                                      <a:ea typeface="UD デジタル 教科書体 NK-R" panose="02020400000000000000" pitchFamily="18" charset="-128"/>
                                    </a:rPr>
                                    <m:t>𝑣</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r>
                                    <m:rPr>
                                      <m:nor/>
                                    </m:rPr>
                                    <a:rPr lang="en-US" altLang="ja-JP" sz="2800" dirty="0">
                                      <a:latin typeface="UD デジタル 教科書体 NK-R" panose="02020400000000000000" pitchFamily="18" charset="-128"/>
                                      <a:ea typeface="UD デジタル 教科書体 NK-R" panose="02020400000000000000" pitchFamily="18" charset="-128"/>
                                    </a:rPr>
                                    <m:t>,</m:t>
                                  </m:r>
                                  <m:r>
                                    <m:rPr>
                                      <m:nor/>
                                    </m:rPr>
                                    <a:rPr lang="en-US" altLang="ja-JP" sz="2800" b="0" i="0" dirty="0" smtClean="0">
                                      <a:latin typeface="UD デジタル 教科書体 NK-R" panose="02020400000000000000" pitchFamily="18" charset="-128"/>
                                      <a:ea typeface="UD デジタル 教科書体 NK-R" panose="02020400000000000000" pitchFamily="18" charset="-128"/>
                                    </a:rPr>
                                    <m:t>   </m:t>
                                  </m:r>
                                  <m:r>
                                    <m:rPr>
                                      <m:nor/>
                                    </m:rPr>
                                    <a:rPr lang="en-US" altLang="ja-JP" sz="2800" dirty="0">
                                      <a:latin typeface="UD デジタル 教科書体 NK-R" panose="02020400000000000000" pitchFamily="18" charset="-128"/>
                                      <a:ea typeface="UD デジタル 教科書体 NK-R" panose="02020400000000000000" pitchFamily="18" charset="-128"/>
                                    </a:rPr>
                                    <m:t>	</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𝐵</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𝐁</m:t>
                                          </m:r>
                                        </m:e>
                                      </m:d>
                                    </m:den>
                                  </m:f>
                                  <m:r>
                                    <a:rPr lang="en-US" altLang="ja-JP" sz="2800" i="1">
                                      <a:latin typeface="Cambria Math" panose="02040503050406030204" pitchFamily="18" charset="0"/>
                                      <a:ea typeface="UD デジタル 教科書体 NK-R" panose="02020400000000000000" pitchFamily="18" charset="-128"/>
                                    </a:rPr>
                                    <m:t>𝑣</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Sub>
                                </m:e>
                              </m:mr>
                              <m:mr>
                                <m:e>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r>
                                        <a:rPr lang="en-US" altLang="ja-JP" sz="2800" i="1">
                                          <a:latin typeface="Cambria Math" panose="02040503050406030204" pitchFamily="18" charset="0"/>
                                          <a:ea typeface="UD デジタル 教科書体 NK-R" panose="02020400000000000000" pitchFamily="18" charset="-128"/>
                                        </a:rPr>
                                        <m:t>2048</m:t>
                                      </m:r>
                                    </m:den>
                                  </m:f>
                                  <m:sSubSup>
                                    <m:sSubSupPr>
                                      <m:ctrlPr>
                                        <a:rPr lang="en-US" altLang="ja-JP" sz="2800" i="1">
                                          <a:latin typeface="Cambria Math" panose="02040503050406030204" pitchFamily="18" charset="0"/>
                                          <a:ea typeface="UD デジタル 教科書体 NK-R" panose="02020400000000000000" pitchFamily="18" charset="-128"/>
                                        </a:rPr>
                                      </m:ctrlPr>
                                    </m:sSubSup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up>
                                      <m:r>
                                        <a:rPr lang="en-US" altLang="ja-JP" sz="2800" i="1">
                                          <a:latin typeface="Cambria Math" panose="02040503050406030204" pitchFamily="18" charset="0"/>
                                          <a:ea typeface="UD デジタル 教科書体 NK-R" panose="02020400000000000000" pitchFamily="18" charset="-128"/>
                                        </a:rPr>
                                        <m:t>𝑇</m:t>
                                      </m:r>
                                    </m:sup>
                                  </m:sSubSup>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r>
                                    <m:rPr>
                                      <m:nor/>
                                    </m:rPr>
                                    <a:rPr lang="en-US" altLang="ja-JP" sz="2800" dirty="0">
                                      <a:latin typeface="UD デジタル 教科書体 NK-R" panose="02020400000000000000" pitchFamily="18" charset="-128"/>
                                      <a:ea typeface="UD デジタル 教科書体 NK-R" panose="02020400000000000000" pitchFamily="18" charset="-128"/>
                                    </a:rPr>
                                    <m:t>,	</m:t>
                                  </m:r>
                                  <m:r>
                                    <m:rPr>
                                      <m:nor/>
                                    </m:rPr>
                                    <a:rPr lang="en-US" altLang="ja-JP" sz="2800" b="0" i="0" dirty="0" smtClean="0">
                                      <a:latin typeface="UD デジタル 教科書体 NK-R" panose="02020400000000000000" pitchFamily="18" charset="-128"/>
                                      <a:ea typeface="UD デジタル 教科書体 NK-R" panose="02020400000000000000" pitchFamily="18" charset="-128"/>
                                    </a:rPr>
                                    <m:t>   </m:t>
                                  </m:r>
                                  <m:r>
                                    <m:rPr>
                                      <m:nor/>
                                    </m:rPr>
                                    <a:rPr lang="en-US" altLang="ja-JP" sz="2800" dirty="0">
                                      <a:latin typeface="UD デジタル 教科書体 NK-R" panose="02020400000000000000" pitchFamily="18" charset="-128"/>
                                      <a:ea typeface="UD デジタル 教科書体 NK-R" panose="02020400000000000000" pitchFamily="18" charset="-128"/>
                                    </a:rPr>
                                    <m:t> </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Cambria Math" panose="02040503050406030204" pitchFamily="18" charset="0"/>
                                        </a:rPr>
                                        <m:t>𝐵</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r>
                                        <a:rPr lang="en-US" altLang="ja-JP" sz="2800" i="1">
                                          <a:latin typeface="Cambria Math" panose="02040503050406030204" pitchFamily="18" charset="0"/>
                                          <a:ea typeface="UD デジタル 教科書体 NK-R" panose="02020400000000000000" pitchFamily="18" charset="-128"/>
                                        </a:rPr>
                                        <m:t>2048</m:t>
                                      </m:r>
                                    </m:den>
                                  </m:f>
                                  <m:sSubSup>
                                    <m:sSubSupPr>
                                      <m:ctrlPr>
                                        <a:rPr lang="en-US" altLang="ja-JP" sz="2800" i="1">
                                          <a:latin typeface="Cambria Math" panose="02040503050406030204" pitchFamily="18" charset="0"/>
                                          <a:ea typeface="UD デジタル 教科書体 NK-R" panose="02020400000000000000" pitchFamily="18" charset="-128"/>
                                        </a:rPr>
                                      </m:ctrlPr>
                                    </m:sSubSup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up>
                                      <m:r>
                                        <a:rPr lang="en-US" altLang="ja-JP" sz="2800" i="1">
                                          <a:latin typeface="Cambria Math" panose="02040503050406030204" pitchFamily="18" charset="0"/>
                                          <a:ea typeface="UD デジタル 教科書体 NK-R" panose="02020400000000000000" pitchFamily="18" charset="-128"/>
                                        </a:rPr>
                                        <m:t>𝑇</m:t>
                                      </m:r>
                                    </m:sup>
                                  </m:sSubSup>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Sub>
                                  <m:r>
                                    <m:rPr>
                                      <m:nor/>
                                    </m:rPr>
                                    <a:rPr lang="en-US" altLang="ja-JP" sz="2800" dirty="0">
                                      <a:latin typeface="UD デジタル 教科書体 NK-R" panose="02020400000000000000" pitchFamily="18" charset="-128"/>
                                      <a:ea typeface="UD デジタル 教科書体 NK-R" panose="02020400000000000000" pitchFamily="18" charset="-128"/>
                                    </a:rPr>
                                    <m:t> </m:t>
                                  </m:r>
                                </m:e>
                              </m:mr>
                              <m:mr>
                                <m:e>
                                  <m:r>
                                    <a:rPr lang="en-US" altLang="ja-JP" sz="2800" i="1">
                                      <a:latin typeface="Cambria Math" panose="02040503050406030204" pitchFamily="18" charset="0"/>
                                      <a:ea typeface="UD デジタル 教科書体 NK-R" panose="02020400000000000000" pitchFamily="18" charset="-128"/>
                                    </a:rPr>
                                    <m:t>𝐹𝐼𝐷</m:t>
                                  </m:r>
                                  <m:r>
                                    <a:rPr lang="en-US" altLang="ja-JP" sz="2800" i="1">
                                      <a:latin typeface="Cambria Math" panose="02040503050406030204" pitchFamily="18" charset="0"/>
                                      <a:ea typeface="UD デジタル 教科書体 NK-R" panose="02020400000000000000" pitchFamily="18" charset="-128"/>
                                    </a:rPr>
                                    <m:t>=</m:t>
                                  </m:r>
                                  <m:sSubSup>
                                    <m:sSubSupPr>
                                      <m:ctrlPr>
                                        <a:rPr lang="en-US" altLang="ja-JP" sz="2800" i="1">
                                          <a:latin typeface="Cambria Math" panose="02040503050406030204" pitchFamily="18" charset="0"/>
                                          <a:ea typeface="UD デジタル 教科書体 NK-R" panose="02020400000000000000" pitchFamily="18" charset="-128"/>
                                        </a:rPr>
                                      </m:ctrlPr>
                                    </m:sSubSupPr>
                                    <m:e>
                                      <m:d>
                                        <m:dPr>
                                          <m:begChr m:val="‖"/>
                                          <m:endChr m:val="‖"/>
                                          <m:ctrlPr>
                                            <a:rPr lang="en-US" altLang="ja-JP" sz="2800" i="1">
                                              <a:latin typeface="Cambria Math" panose="02040503050406030204" pitchFamily="18" charset="0"/>
                                              <a:ea typeface="UD デジタル 教科書体 NK-R" panose="02020400000000000000" pitchFamily="18" charset="-128"/>
                                            </a:rPr>
                                          </m:ctrlPr>
                                        </m:dP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𝐵</m:t>
                                              </m:r>
                                            </m:sub>
                                          </m:sSub>
                                        </m:e>
                                      </m:d>
                                    </m:e>
                                    <m:sub>
                                      <m:r>
                                        <a:rPr lang="en-US" altLang="ja-JP" sz="2800" i="1">
                                          <a:latin typeface="Cambria Math" panose="02040503050406030204" pitchFamily="18" charset="0"/>
                                          <a:ea typeface="UD デジタル 教科書体 NK-R" panose="02020400000000000000" pitchFamily="18" charset="-128"/>
                                        </a:rPr>
                                        <m:t>2</m:t>
                                      </m:r>
                                    </m:sub>
                                    <m:sup>
                                      <m:r>
                                        <a:rPr lang="en-US" altLang="ja-JP" sz="2800" i="1">
                                          <a:latin typeface="Cambria Math" panose="02040503050406030204" pitchFamily="18" charset="0"/>
                                          <a:ea typeface="UD デジタル 教科書体 NK-R" panose="02020400000000000000" pitchFamily="18" charset="-128"/>
                                        </a:rPr>
                                        <m:t>2</m:t>
                                      </m:r>
                                    </m:sup>
                                  </m:sSubSup>
                                  <m:r>
                                    <a:rPr lang="en-US" altLang="ja-JP" sz="2800" i="1">
                                      <a:latin typeface="Cambria Math" panose="02040503050406030204" pitchFamily="18" charset="0"/>
                                      <a:ea typeface="UD デジタル 教科書体 NK-R" panose="02020400000000000000" pitchFamily="18" charset="-128"/>
                                    </a:rPr>
                                    <m:t>+</m:t>
                                  </m:r>
                                  <m:r>
                                    <a:rPr lang="en-US" altLang="ja-JP" sz="2800" i="1">
                                      <a:latin typeface="Cambria Math" panose="02040503050406030204" pitchFamily="18" charset="0"/>
                                      <a:ea typeface="UD デジタル 教科書体 NK-R" panose="02020400000000000000" pitchFamily="18" charset="-128"/>
                                    </a:rPr>
                                    <m:t>𝑇𝑟</m:t>
                                  </m:r>
                                  <m:r>
                                    <a:rPr lang="en-US" altLang="ja-JP" sz="2800" i="1">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𝐵</m:t>
                                      </m:r>
                                    </m:sub>
                                  </m:sSub>
                                  <m:r>
                                    <a:rPr lang="en-US" altLang="ja-JP" sz="2800" i="1">
                                      <a:latin typeface="Cambria Math" panose="02040503050406030204" pitchFamily="18" charset="0"/>
                                      <a:ea typeface="UD デジタル 教科書体 NK-R" panose="02020400000000000000" pitchFamily="18" charset="-128"/>
                                    </a:rPr>
                                    <m:t>−2</m:t>
                                  </m:r>
                                  <m:rad>
                                    <m:radPr>
                                      <m:degHide m:val="on"/>
                                      <m:ctrlPr>
                                        <a:rPr lang="en-US" altLang="ja-JP" sz="2800" i="1">
                                          <a:latin typeface="Cambria Math" panose="02040503050406030204" pitchFamily="18" charset="0"/>
                                          <a:ea typeface="UD デジタル 教科書体 NK-R" panose="02020400000000000000" pitchFamily="18" charset="-128"/>
                                        </a:rPr>
                                      </m:ctrlPr>
                                    </m:radPr>
                                    <m:deg/>
                                    <m:e>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𝐵</m:t>
                                          </m:r>
                                        </m:sub>
                                      </m:sSub>
                                    </m:e>
                                  </m:rad>
                                  <m:r>
                                    <a:rPr lang="en-US" altLang="ja-JP" sz="2800" i="1">
                                      <a:latin typeface="Cambria Math" panose="02040503050406030204" pitchFamily="18" charset="0"/>
                                      <a:ea typeface="UD デジタル 教科書体 NK-R" panose="02020400000000000000" pitchFamily="18" charset="-128"/>
                                    </a:rPr>
                                    <m:t>)</m:t>
                                  </m:r>
                                  <m:r>
                                    <m:rPr>
                                      <m:nor/>
                                    </m:rPr>
                                    <a:rPr lang="en-US" altLang="ja-JP" sz="2800" dirty="0">
                                      <a:latin typeface="UD デジタル 教科書体 NK-R" panose="02020400000000000000" pitchFamily="18" charset="-128"/>
                                      <a:ea typeface="UD デジタル 教科書体 NK-R" panose="02020400000000000000" pitchFamily="18" charset="-128"/>
                                    </a:rPr>
                                    <m:t>  </m:t>
                                  </m:r>
                                </m:e>
                              </m:mr>
                            </m:m>
                          </m:e>
                        </m:eqArr>
                      </m:oMath>
                    </m:oMathPara>
                  </a14:m>
                  <a:endParaRPr lang="en-US" altLang="ja-JP" sz="2800" dirty="0">
                    <a:latin typeface="UD デジタル 教科書体 NK-R" panose="02020400000000000000" pitchFamily="18" charset="-128"/>
                    <a:ea typeface="UD デジタル 教科書体 NK-R" panose="02020400000000000000" pitchFamily="18" charset="-128"/>
                  </a:endParaRPr>
                </a:p>
                <a:p>
                  <a:pPr lvl="2"/>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b="1" i="0" smtClean="0">
                          <a:latin typeface="Cambria Math" panose="02040503050406030204" pitchFamily="18" charset="0"/>
                          <a:ea typeface="UD デジタル 教科書体 NK-R" panose="02020400000000000000" pitchFamily="18" charset="-128"/>
                        </a:rPr>
                        <m:t>𝐀</m:t>
                      </m:r>
                    </m:oMath>
                  </a14:m>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b="1" i="0" smtClean="0">
                          <a:latin typeface="Cambria Math" panose="02040503050406030204" pitchFamily="18" charset="0"/>
                          <a:ea typeface="UD デジタル 教科書体 NK-R" panose="02020400000000000000" pitchFamily="18" charset="-128"/>
                        </a:rPr>
                        <m:t>𝐁</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分布を調べたい画像群</a:t>
                  </a:r>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𝑣</m:t>
                      </m:r>
                      <m:r>
                        <a:rPr lang="en-US" altLang="ja-JP" sz="2800" i="1">
                          <a:latin typeface="Cambria Math" panose="02040503050406030204" pitchFamily="18" charset="0"/>
                          <a:ea typeface="Cambria Math" panose="02040503050406030204" pitchFamily="18" charset="0"/>
                        </a:rPr>
                        <m:t>∈</m:t>
                      </m:r>
                      <m:sSup>
                        <m:sSupPr>
                          <m:ctrlPr>
                            <a:rPr lang="en-US" altLang="ja-JP" sz="2800" i="1">
                              <a:latin typeface="Cambria Math" panose="02040503050406030204" pitchFamily="18" charset="0"/>
                              <a:ea typeface="Cambria Math" panose="02040503050406030204" pitchFamily="18" charset="0"/>
                            </a:rPr>
                          </m:ctrlPr>
                        </m:sSupPr>
                        <m:e>
                          <m:r>
                            <a:rPr lang="en-US" altLang="ja-JP" sz="2800" i="1">
                              <a:latin typeface="Cambria Math" panose="02040503050406030204" pitchFamily="18" charset="0"/>
                              <a:ea typeface="Cambria Math" panose="02040503050406030204" pitchFamily="18" charset="0"/>
                            </a:rPr>
                            <m:t>ℝ</m:t>
                          </m:r>
                        </m:e>
                        <m:sup>
                          <m:r>
                            <a:rPr lang="en-US" altLang="ja-JP" sz="2800" i="1">
                              <a:latin typeface="Cambria Math" panose="02040503050406030204" pitchFamily="18" charset="0"/>
                              <a:ea typeface="Cambria Math" panose="02040503050406030204" pitchFamily="18" charset="0"/>
                            </a:rPr>
                            <m:t>1×</m:t>
                          </m:r>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𝐀</m:t>
                              </m:r>
                            </m:e>
                          </m:d>
                        </m:sup>
                      </m:sSup>
                    </m:oMath>
                  </a14:m>
                  <a:r>
                    <a:rPr lang="en-US" altLang="ja-JP" sz="2800" dirty="0">
                      <a:latin typeface="UD デジタル 教科書体 NK-R" panose="02020400000000000000" pitchFamily="18" charset="-128"/>
                      <a:ea typeface="UD デジタル 教科書体 NK-R" panose="02020400000000000000" pitchFamily="18" charset="-128"/>
                    </a:rPr>
                    <a:t> : 1</a:t>
                  </a:r>
                  <a:r>
                    <a:rPr lang="ja-JP" altLang="en-US" sz="2800">
                      <a:latin typeface="UD デジタル 教科書体 NK-R" panose="02020400000000000000" pitchFamily="18" charset="-128"/>
                      <a:ea typeface="UD デジタル 教科書体 NK-R" panose="02020400000000000000" pitchFamily="18" charset="-128"/>
                    </a:rPr>
                    <a:t>ベクトル</a:t>
                  </a:r>
                  <a:r>
                    <a:rPr lang="en-US" altLang="ja-JP" sz="2800" dirty="0">
                      <a:latin typeface="UD デジタル 教科書体 NK-R" panose="02020400000000000000" pitchFamily="18" charset="-128"/>
                      <a:ea typeface="UD デジタル 教科書体 NK-R" panose="02020400000000000000" pitchFamily="18" charset="-128"/>
                    </a:rPr>
                    <a:t>,</a:t>
                  </a:r>
                </a:p>
                <a:p>
                  <a:pPr lvl="2"/>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b="0" i="1" smtClean="0">
                          <a:latin typeface="Cambria Math" panose="02040503050406030204" pitchFamily="18" charset="0"/>
                          <a:ea typeface="UD デジタル 教科書体 NK-R" panose="02020400000000000000" pitchFamily="18" charset="-128"/>
                        </a:rPr>
                        <m:t>(</m:t>
                      </m:r>
                      <m:r>
                        <a:rPr lang="en-US" altLang="ja-JP" sz="2800" b="1" i="0" smtClean="0">
                          <a:latin typeface="Cambria Math" panose="02040503050406030204" pitchFamily="18" charset="0"/>
                          <a:ea typeface="UD デジタル 教科書体 NK-R" panose="02020400000000000000" pitchFamily="18" charset="-128"/>
                        </a:rPr>
                        <m:t>𝐗</m:t>
                      </m:r>
                      <m:r>
                        <a:rPr lang="en-US" altLang="ja-JP" sz="2800" b="0" i="1" smtClean="0">
                          <a:latin typeface="Cambria Math" panose="02040503050406030204" pitchFamily="18" charset="0"/>
                          <a:ea typeface="UD デジタル 教科書体 NK-R" panose="02020400000000000000" pitchFamily="18" charset="-128"/>
                        </a:rPr>
                        <m:t>)</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学習済み</a:t>
                  </a:r>
                  <a:r>
                    <a:rPr lang="en-US" altLang="ja-JP" sz="2800" dirty="0">
                      <a:latin typeface="UD デジタル 教科書体 NK-R" panose="02020400000000000000" pitchFamily="18" charset="-128"/>
                      <a:ea typeface="UD デジタル 教科書体 NK-R" panose="02020400000000000000" pitchFamily="18" charset="-128"/>
                    </a:rPr>
                    <a:t>Inception-v3</a:t>
                  </a:r>
                  <a:r>
                    <a:rPr lang="ja-JP" altLang="en-US" sz="2800">
                      <a:latin typeface="UD デジタル 教科書体 NK-R" panose="02020400000000000000" pitchFamily="18" charset="-128"/>
                      <a:ea typeface="UD デジタル 教科書体 NK-R" panose="02020400000000000000" pitchFamily="18" charset="-128"/>
                    </a:rPr>
                    <a:t>に</a:t>
                  </a:r>
                  <a14:m>
                    <m:oMath xmlns:m="http://schemas.openxmlformats.org/officeDocument/2006/math">
                      <m:r>
                        <a:rPr lang="en-US" altLang="ja-JP" sz="2800" b="1">
                          <a:latin typeface="Cambria Math" panose="02040503050406030204" pitchFamily="18" charset="0"/>
                          <a:ea typeface="UD デジタル 教科書体 NK-R" panose="02020400000000000000" pitchFamily="18" charset="-128"/>
                        </a:rPr>
                        <m:t>𝐗</m:t>
                      </m:r>
                    </m:oMath>
                  </a14:m>
                  <a:r>
                    <a:rPr lang="ja-JP" altLang="en-US" sz="2800">
                      <a:latin typeface="UD デジタル 教科書体 NK-R" panose="02020400000000000000" pitchFamily="18" charset="-128"/>
                      <a:ea typeface="UD デジタル 教科書体 NK-R" panose="02020400000000000000" pitchFamily="18" charset="-128"/>
                    </a:rPr>
                    <a:t>を入力した際の出力</a:t>
                  </a:r>
                  <a:r>
                    <a:rPr lang="en-US" altLang="ja-JP" sz="2800" dirty="0">
                      <a:latin typeface="UD デジタル 教科書体 NK-R" panose="02020400000000000000" pitchFamily="18" charset="-128"/>
                      <a:ea typeface="UD デジタル 教科書体 NK-R" panose="02020400000000000000" pitchFamily="18" charset="-128"/>
                    </a:rPr>
                    <a:t>, </a:t>
                  </a: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　再構成画像</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spc="-200" dirty="0">
                    <a:latin typeface="UD デジタル 教科書体 NK-R" panose="02020400000000000000" pitchFamily="18" charset="-128"/>
                    <a:ea typeface="UD デジタル 教科書体 NK-R" panose="02020400000000000000" pitchFamily="18" charset="-128"/>
                  </a:endParaRPr>
                </a:p>
                <a:p>
                  <a:pPr lvl="1"/>
                  <a:endParaRPr lang="ja-JP" altLang="en-US" sz="2800" spc="-20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 :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を学習</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つの条件で大喜利生成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en-US" altLang="ja-JP" sz="2800" spc="-100" dirty="0">
                      <a:latin typeface="UD デジタル 教科書体 NK-R" panose="02020400000000000000" pitchFamily="18" charset="-128"/>
                      <a:ea typeface="UD デジタル 教科書体 NK-R" panose="02020400000000000000" pitchFamily="18" charset="-128"/>
                    </a:rPr>
                    <a:t>[1]</a:t>
                  </a:r>
                  <a:r>
                    <a:rPr lang="ja-JP" altLang="en-US" sz="2800" spc="-100">
                      <a:latin typeface="UD デジタル 教科書体 NK-R" panose="02020400000000000000" pitchFamily="18" charset="-128"/>
                      <a:ea typeface="UD デジタル 教科書体 NK-R" panose="02020400000000000000" pitchFamily="18" charset="-128"/>
                    </a:rPr>
                    <a:t>と同様に画像の特徴抽出機として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事前学習済み</a:t>
                  </a:r>
                  <a:r>
                    <a:rPr lang="en-US" altLang="ja-JP" sz="2800" spc="-100" dirty="0">
                      <a:latin typeface="UD デジタル 教科書体 NK-R" panose="02020400000000000000" pitchFamily="18" charset="-128"/>
                      <a:ea typeface="UD デジタル 教科書体 NK-R" panose="02020400000000000000" pitchFamily="18" charset="-128"/>
                    </a:rPr>
                    <a:t>ResNet152</a:t>
                  </a:r>
                  <a:r>
                    <a:rPr lang="ja-JP" altLang="en-US" sz="2800" spc="-100">
                      <a:latin typeface="UD デジタル 教科書体 NK-R" panose="02020400000000000000" pitchFamily="18" charset="-128"/>
                      <a:ea typeface="UD デジタル 教科書体 NK-R" panose="02020400000000000000" pitchFamily="18" charset="-128"/>
                    </a:rPr>
                    <a:t>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512</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2048</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spc="-100">
                      <a:latin typeface="UD デジタル 教科書体 NK-R" panose="02020400000000000000" pitchFamily="18" charset="-128"/>
                      <a:ea typeface="UD デジタル 教科書体 NK-R" panose="02020400000000000000" pitchFamily="18" charset="-128"/>
                    </a:rPr>
                    <a:t>実験条件</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en-US" altLang="ja-JP" sz="2800" spc="-100" dirty="0">
                      <a:latin typeface="UD デジタル 教科書体 NK-R" panose="02020400000000000000" pitchFamily="18" charset="-128"/>
                      <a:ea typeface="UD デジタル 教科書体 NK-R" panose="02020400000000000000" pitchFamily="18" charset="-128"/>
                    </a:rPr>
                    <a:t>LSTM</a:t>
                  </a:r>
                  <a:r>
                    <a:rPr lang="ja-JP" altLang="en-US" sz="2800" spc="-100">
                      <a:latin typeface="UD デジタル 教科書体 NK-R" panose="02020400000000000000" pitchFamily="18" charset="-128"/>
                      <a:ea typeface="UD デジタル 教科書体 NK-R" panose="02020400000000000000" pitchFamily="18" charset="-128"/>
                    </a:rPr>
                    <a:t>ユニット数</a:t>
                  </a:r>
                  <a:r>
                    <a:rPr lang="en-US" altLang="ja-JP" sz="2800" spc="-100" dirty="0">
                      <a:latin typeface="UD デジタル 教科書体 NK-R" panose="02020400000000000000" pitchFamily="18" charset="-128"/>
                      <a:ea typeface="UD デジタル 教科書体 NK-R" panose="02020400000000000000" pitchFamily="18" charset="-128"/>
                    </a:rPr>
                    <a:t> : 512, </a:t>
                  </a:r>
                  <a:r>
                    <a:rPr lang="ja-JP" altLang="en-US" sz="2800" spc="-100">
                      <a:latin typeface="UD デジタル 教科書体 NK-R" panose="02020400000000000000" pitchFamily="18" charset="-128"/>
                      <a:ea typeface="UD デジタル 教科書体 NK-R" panose="02020400000000000000" pitchFamily="18" charset="-128"/>
                    </a:rPr>
                    <a:t>バッチサイズ</a:t>
                  </a:r>
                  <a:r>
                    <a:rPr lang="en-US" altLang="ja-JP" sz="2800" spc="-100" dirty="0">
                      <a:latin typeface="UD デジタル 教科書体 NK-R" panose="02020400000000000000" pitchFamily="18" charset="-128"/>
                      <a:ea typeface="UD デジタル 教科書体 NK-R" panose="02020400000000000000" pitchFamily="18" charset="-128"/>
                    </a:rPr>
                    <a:t> : 1024, </a:t>
                  </a:r>
                  <a:r>
                    <a:rPr lang="ja-JP" altLang="en-US" sz="2800" spc="-100">
                      <a:latin typeface="UD デジタル 教科書体 NK-R" panose="02020400000000000000" pitchFamily="18" charset="-128"/>
                      <a:ea typeface="UD デジタル 教科書体 NK-R" panose="02020400000000000000" pitchFamily="18" charset="-128"/>
                    </a:rPr>
                    <a:t>エポック</a:t>
                  </a:r>
                  <a:r>
                    <a:rPr lang="en-US" altLang="ja-JP" sz="2800" spc="-1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交差エントロピー</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endParaRPr lang="en-US" altLang="ja-JP" sz="2800" spc="-1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en-US" altLang="ja-JP" sz="2800" dirty="0">
                      <a:latin typeface="UD デジタル 教科書体 NK-R" panose="02020400000000000000" pitchFamily="18" charset="-128"/>
                      <a:ea typeface="UD デジタル 教科書体 NK-R" panose="02020400000000000000" pitchFamily="18" charset="-128"/>
                    </a:rPr>
                    <a:t>(a) </a:t>
                  </a:r>
                  <a:r>
                    <a:rPr lang="ja-JP" altLang="en-US" sz="2800">
                      <a:latin typeface="UD デジタル 教科書体 NK-R" panose="02020400000000000000" pitchFamily="18" charset="-128"/>
                      <a:ea typeface="UD デジタル 教科書体 NK-R" panose="02020400000000000000" pitchFamily="18" charset="-128"/>
                    </a:rPr>
                    <a:t>学習損失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　　　　　　　　　　　　　　　　　　</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学習精度</a:t>
                  </a:r>
                  <a:endParaRPr lang="en-US" altLang="ja-JP" sz="2000" dirty="0">
                    <a:latin typeface="UD デジタル 教科書体 NK-R" panose="02020400000000000000" pitchFamily="18" charset="-128"/>
                    <a:ea typeface="UD デジタル 教科書体 NK-R" panose="02020400000000000000" pitchFamily="18" charset="-128"/>
                  </a:endParaRPr>
                </a:p>
                <a:p>
                  <a:pPr algn="ctr"/>
                  <a:endParaRPr lang="en-US" altLang="ja-JP" sz="20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　学習した大喜利生成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が生成した大喜利</a:t>
                  </a:r>
                  <a:endParaRPr lang="en-US" altLang="ja-JP" sz="2800" dirty="0">
                    <a:latin typeface="UD デジタル 教科書体 NK-R" panose="02020400000000000000" pitchFamily="18" charset="-128"/>
                    <a:ea typeface="UD デジタル 教科書体 NK-R" panose="02020400000000000000" pitchFamily="18" charset="-128"/>
                  </a:endParaRPr>
                </a:p>
              </p:txBody>
            </p:sp>
          </mc:Choice>
          <mc:Fallback xmlns="">
            <p:sp>
              <p:nvSpPr>
                <p:cNvPr id="37" name="テキスト ボックス 36">
                  <a:extLst>
                    <a:ext uri="{FF2B5EF4-FFF2-40B4-BE49-F238E27FC236}">
                      <a16:creationId xmlns:a16="http://schemas.microsoft.com/office/drawing/2014/main" id="{33CBE4EA-6A45-2DF9-9C9B-750731A73354}"/>
                    </a:ext>
                  </a:extLst>
                </p:cNvPr>
                <p:cNvSpPr txBox="1">
                  <a:spLocks noRot="1" noChangeAspect="1" noMove="1" noResize="1" noEditPoints="1" noAdjustHandles="1" noChangeArrowheads="1" noChangeShapeType="1" noTextEdit="1"/>
                </p:cNvSpPr>
                <p:nvPr/>
              </p:nvSpPr>
              <p:spPr>
                <a:xfrm>
                  <a:off x="506888" y="6188617"/>
                  <a:ext cx="14499166" cy="31865839"/>
                </a:xfrm>
                <a:prstGeom prst="rect">
                  <a:avLst/>
                </a:prstGeom>
                <a:blipFill>
                  <a:blip r:embed="rId5"/>
                  <a:stretch>
                    <a:fillRect l="-875" t="-199"/>
                  </a:stretch>
                </a:blipFill>
              </p:spPr>
              <p:txBody>
                <a:bodyPr/>
                <a:lstStyle/>
                <a:p>
                  <a:r>
                    <a:rPr lang="ja-JP" altLang="en-US">
                      <a:noFill/>
                    </a:rPr>
                    <a:t> </a:t>
                  </a:r>
                </a:p>
              </p:txBody>
            </p:sp>
          </mc:Fallback>
        </mc:AlternateContent>
      </p:grpSp>
      <p:sp>
        <p:nvSpPr>
          <p:cNvPr id="154" name="テキスト ボックス 153">
            <a:extLst>
              <a:ext uri="{FF2B5EF4-FFF2-40B4-BE49-F238E27FC236}">
                <a16:creationId xmlns:a16="http://schemas.microsoft.com/office/drawing/2014/main" id="{D885AE38-02FE-BABF-B73B-FD10DBD6E9F0}"/>
              </a:ext>
            </a:extLst>
          </p:cNvPr>
          <p:cNvSpPr txBox="1"/>
          <p:nvPr/>
        </p:nvSpPr>
        <p:spPr>
          <a:xfrm>
            <a:off x="478313" y="40720311"/>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[1] </a:t>
            </a:r>
            <a:r>
              <a:rPr lang="ja-JP" altLang="en-US" sz="2800">
                <a:latin typeface="UD Digi Kyokasho NK-R" panose="02020400000000000000" pitchFamily="18" charset="-128"/>
                <a:ea typeface="UD Digi Kyokasho NK-R" panose="02020400000000000000" pitchFamily="18" charset="-128"/>
              </a:rPr>
              <a:t>美濃口 宗尊</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他</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精密工学会誌</a:t>
            </a:r>
            <a:r>
              <a:rPr lang="en-US" altLang="ja-JP" sz="2800" dirty="0">
                <a:latin typeface="UD Digi Kyokasho NK-R" panose="02020400000000000000" pitchFamily="18" charset="-128"/>
                <a:ea typeface="UD Digi Kyokasho NK-R" panose="02020400000000000000" pitchFamily="18" charset="-128"/>
              </a:rPr>
              <a:t>, vol.85, no.12, pp.1151-1156 (2019).</a:t>
            </a:r>
          </a:p>
          <a:p>
            <a:r>
              <a:rPr lang="en-US" altLang="ja-JP" sz="2800" dirty="0">
                <a:latin typeface="UD Digi Kyokasho NK-R" panose="02020400000000000000" pitchFamily="18" charset="-128"/>
                <a:ea typeface="UD Digi Kyokasho NK-R" panose="02020400000000000000" pitchFamily="18" charset="-128"/>
              </a:rPr>
              <a:t>[2] </a:t>
            </a:r>
            <a:r>
              <a:rPr lang="ja-JP" altLang="en-US" sz="2800">
                <a:latin typeface="UD Digi Kyokasho NK-R" panose="02020400000000000000" pitchFamily="18" charset="-128"/>
                <a:ea typeface="UD Digi Kyokasho NK-R" panose="02020400000000000000" pitchFamily="18" charset="-128"/>
              </a:rPr>
              <a:t>山富 龍, 他, IEICE 信学技報 CCS 研究会, CCS2022-73,</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pp.59-62(2023).</a:t>
            </a:r>
            <a:endParaRPr lang="en-US" altLang="ja-JP" sz="2800" dirty="0">
              <a:latin typeface="UD Digi Kyokasho NK-R" panose="02020400000000000000" pitchFamily="18" charset="-128"/>
              <a:ea typeface="UD Digi Kyokasho NK-R" panose="02020400000000000000" pitchFamily="18" charset="-128"/>
            </a:endParaRPr>
          </a:p>
          <a:p>
            <a:r>
              <a:rPr lang="en-US" altLang="ja-JP" sz="2800" dirty="0">
                <a:latin typeface="UD デジタル 教科書体 NK-R" panose="02020400000000000000" pitchFamily="18" charset="-128"/>
                <a:ea typeface="UD デジタル 教科書体 NK-R" panose="02020400000000000000" pitchFamily="18" charset="-128"/>
              </a:rPr>
              <a:t>[3] </a:t>
            </a:r>
            <a:r>
              <a:rPr lang="en-US" altLang="ja-JP" sz="2800" dirty="0" err="1">
                <a:latin typeface="UD デジタル 教科書体 NK-R" panose="02020400000000000000" pitchFamily="18" charset="-128"/>
                <a:ea typeface="UD デジタル 教科書体 NK-R" panose="02020400000000000000" pitchFamily="18" charset="-128"/>
              </a:rPr>
              <a:t>Vinyals</a:t>
            </a:r>
            <a:r>
              <a:rPr lang="en-US" altLang="ja-JP" sz="2800" dirty="0">
                <a:latin typeface="UD デジタル 教科書体 NK-R" panose="02020400000000000000" pitchFamily="18" charset="-128"/>
                <a:ea typeface="UD デジタル 教科書体 NK-R" panose="02020400000000000000" pitchFamily="18" charset="-128"/>
              </a:rPr>
              <a:t>, O., et al., Proc. IEEE CVPR, pp. 3156-3164 (2015).</a:t>
            </a:r>
          </a:p>
        </p:txBody>
      </p:sp>
      <p:sp>
        <p:nvSpPr>
          <p:cNvPr id="155" name="テキスト ボックス 154">
            <a:extLst>
              <a:ext uri="{FF2B5EF4-FFF2-40B4-BE49-F238E27FC236}">
                <a16:creationId xmlns:a16="http://schemas.microsoft.com/office/drawing/2014/main" id="{EFC3748E-A701-D3A4-4FB9-8E56588245BE}"/>
              </a:ext>
            </a:extLst>
          </p:cNvPr>
          <p:cNvSpPr txBox="1"/>
          <p:nvPr/>
        </p:nvSpPr>
        <p:spPr>
          <a:xfrm>
            <a:off x="15425050" y="40702554"/>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[4] G. E. Hinton, et al., Science, vol.313, no.5786, pp.504-507(2006).</a:t>
            </a:r>
          </a:p>
          <a:p>
            <a:r>
              <a:rPr lang="en-US" altLang="ja-JP" sz="2800" dirty="0">
                <a:latin typeface="UD Digi Kyokasho NK-R" panose="02020400000000000000" pitchFamily="18" charset="-128"/>
                <a:ea typeface="UD Digi Kyokasho NK-R" panose="02020400000000000000" pitchFamily="18" charset="-128"/>
              </a:rPr>
              <a:t>[5] </a:t>
            </a:r>
            <a:r>
              <a:rPr lang="ja-JP" altLang="en-US" sz="2800">
                <a:latin typeface="UD Digi Kyokasho NK-R" panose="02020400000000000000" pitchFamily="18" charset="-128"/>
                <a:ea typeface="UD Digi Kyokasho NK-R" panose="02020400000000000000" pitchFamily="18" charset="-128"/>
              </a:rPr>
              <a:t>株式会社オモロキ</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 https://</a:t>
            </a:r>
            <a:r>
              <a:rPr lang="en-US" altLang="ja-JP" sz="2800" dirty="0" err="1">
                <a:latin typeface="UD Digi Kyokasho NK-R" panose="02020400000000000000" pitchFamily="18" charset="-128"/>
                <a:ea typeface="UD Digi Kyokasho NK-R" panose="02020400000000000000" pitchFamily="18" charset="-128"/>
              </a:rPr>
              <a:t>bokete.jp</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最終アクセス</a:t>
            </a:r>
            <a:r>
              <a:rPr lang="en-US" altLang="ja-JP" sz="2800" dirty="0">
                <a:latin typeface="UD Digi Kyokasho NK-R" panose="02020400000000000000" pitchFamily="18" charset="-128"/>
                <a:ea typeface="UD Digi Kyokasho NK-R" panose="02020400000000000000" pitchFamily="18" charset="-128"/>
              </a:rPr>
              <a:t> : 2023/5/31)</a:t>
            </a:r>
          </a:p>
          <a:p>
            <a:r>
              <a:rPr lang="en-US" altLang="ja-JP" sz="2800" dirty="0">
                <a:latin typeface="UD Digi Kyokasho NK-R" panose="02020400000000000000" pitchFamily="18" charset="-128"/>
                <a:ea typeface="UD Digi Kyokasho NK-R" panose="02020400000000000000" pitchFamily="18" charset="-128"/>
              </a:rPr>
              <a:t>[6]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Heusel</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 Martin, et al.,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NeurIPS</a:t>
            </a:r>
            <a:r>
              <a:rPr lang="en" altLang="ja-JP" sz="2800" dirty="0">
                <a:solidFill>
                  <a:srgbClr val="222222"/>
                </a:solidFill>
                <a:latin typeface="UD Digi Kyokasho NK-R" panose="02020400000000000000" pitchFamily="18" charset="-128"/>
                <a:ea typeface="UD Digi Kyokasho NK-R" panose="02020400000000000000" pitchFamily="18" charset="-128"/>
              </a:rPr>
              <a:t>, </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30 (2017).</a:t>
            </a:r>
            <a:endParaRPr lang="en-US" altLang="ja-JP" sz="2800" dirty="0">
              <a:latin typeface="UD Digi Kyokasho NK-R" panose="02020400000000000000" pitchFamily="18" charset="-128"/>
              <a:ea typeface="UD Digi Kyokasho NK-R" panose="02020400000000000000" pitchFamily="18" charset="-128"/>
            </a:endParaRPr>
          </a:p>
        </p:txBody>
      </p:sp>
      <p:graphicFrame>
        <p:nvGraphicFramePr>
          <p:cNvPr id="255" name="表 255">
            <a:extLst>
              <a:ext uri="{FF2B5EF4-FFF2-40B4-BE49-F238E27FC236}">
                <a16:creationId xmlns:a16="http://schemas.microsoft.com/office/drawing/2014/main" id="{238C88B2-E0D1-950A-16DC-AD9A1C46C3F1}"/>
              </a:ext>
            </a:extLst>
          </p:cNvPr>
          <p:cNvGraphicFramePr>
            <a:graphicFrameLocks noGrp="1"/>
          </p:cNvGraphicFramePr>
          <p:nvPr>
            <p:extLst>
              <p:ext uri="{D42A27DB-BD31-4B8C-83A1-F6EECF244321}">
                <p14:modId xmlns:p14="http://schemas.microsoft.com/office/powerpoint/2010/main" val="1556748142"/>
              </p:ext>
            </p:extLst>
          </p:nvPr>
        </p:nvGraphicFramePr>
        <p:xfrm>
          <a:off x="15343492" y="7764541"/>
          <a:ext cx="14557140" cy="155448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p>
                  </a:txBody>
                  <a:tcP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49,265,280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58,703,488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0.0094/0.0096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0.0109/0.0111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bl>
          </a:graphicData>
        </a:graphic>
      </p:graphicFrame>
      <p:graphicFrame>
        <p:nvGraphicFramePr>
          <p:cNvPr id="259" name="表 255">
            <a:extLst>
              <a:ext uri="{FF2B5EF4-FFF2-40B4-BE49-F238E27FC236}">
                <a16:creationId xmlns:a16="http://schemas.microsoft.com/office/drawing/2014/main" id="{075542DE-9B92-8E05-FA82-9740125B2813}"/>
              </a:ext>
            </a:extLst>
          </p:cNvPr>
          <p:cNvGraphicFramePr>
            <a:graphicFrameLocks noGrp="1"/>
          </p:cNvGraphicFramePr>
          <p:nvPr>
            <p:extLst>
              <p:ext uri="{D42A27DB-BD31-4B8C-83A1-F6EECF244321}">
                <p14:modId xmlns:p14="http://schemas.microsoft.com/office/powerpoint/2010/main" val="877656597"/>
              </p:ext>
            </p:extLst>
          </p:nvPr>
        </p:nvGraphicFramePr>
        <p:xfrm>
          <a:off x="15343492" y="12459854"/>
          <a:ext cx="14557140" cy="207264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特徴量の次元数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1024</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14,659,712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23,048,832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0.0111/0.0111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0.0086/0.0086</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r h="370840">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FID</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108.30/109.38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73.03/74.37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61.76/62.87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extLst>
                  <a:ext uri="{0D108BD9-81ED-4DB2-BD59-A6C34878D82A}">
                    <a16:rowId xmlns:a16="http://schemas.microsoft.com/office/drawing/2014/main" val="2145768203"/>
                  </a:ext>
                </a:extLst>
              </a:tr>
            </a:tbl>
          </a:graphicData>
        </a:graphic>
      </p:graphicFrame>
      <p:graphicFrame>
        <p:nvGraphicFramePr>
          <p:cNvPr id="267" name="表 255">
            <a:extLst>
              <a:ext uri="{FF2B5EF4-FFF2-40B4-BE49-F238E27FC236}">
                <a16:creationId xmlns:a16="http://schemas.microsoft.com/office/drawing/2014/main" id="{565D17F5-8264-F2F6-1E6D-B898C818B676}"/>
              </a:ext>
            </a:extLst>
          </p:cNvPr>
          <p:cNvGraphicFramePr>
            <a:graphicFrameLocks noGrp="1"/>
          </p:cNvGraphicFramePr>
          <p:nvPr>
            <p:extLst>
              <p:ext uri="{D42A27DB-BD31-4B8C-83A1-F6EECF244321}">
                <p14:modId xmlns:p14="http://schemas.microsoft.com/office/powerpoint/2010/main" val="993658554"/>
              </p:ext>
            </p:extLst>
          </p:nvPr>
        </p:nvGraphicFramePr>
        <p:xfrm>
          <a:off x="15329206" y="20002144"/>
          <a:ext cx="14557140" cy="4427067"/>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6564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p>
                  </a:txBody>
                  <a:tcPr/>
                </a:tc>
                <a:tc gridSpan="3">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再構成画像</a:t>
                      </a:r>
                    </a:p>
                  </a:txBody>
                  <a:tcPr/>
                </a:tc>
                <a:tc hMerge="1">
                  <a:txBody>
                    <a:bodyPr/>
                    <a:lstStyle/>
                    <a:p>
                      <a:pPr algn="ctr"/>
                      <a:endParaRPr kumimoji="1" lang="ja-JP" altLang="en-US" sz="3600" spc="-100" baseline="0">
                        <a:latin typeface="UD Digi Kyokasho NK-R" panose="02020400000000000000" pitchFamily="18" charset="-128"/>
                        <a:ea typeface="UD Digi Kyokasho NK-R" panose="02020400000000000000" pitchFamily="18" charset="-128"/>
                      </a:endParaRPr>
                    </a:p>
                  </a:txBody>
                  <a:tcPr/>
                </a:tc>
                <a:tc hMerge="1">
                  <a:txBody>
                    <a:bodyPr/>
                    <a:lstStyle/>
                    <a:p>
                      <a:pPr algn="ctr"/>
                      <a:endParaRPr kumimoji="1" lang="ja-JP" altLang="en-US" sz="36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3271151497"/>
                  </a:ext>
                </a:extLst>
              </a:tr>
              <a:tr h="587829">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1024</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182798">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bl>
          </a:graphicData>
        </a:graphic>
      </p:graphicFrame>
      <p:pic>
        <p:nvPicPr>
          <p:cNvPr id="3" name="図 2" descr="グラフ, 折れ線グラフ&#10;&#10;自動的に生成された説明">
            <a:extLst>
              <a:ext uri="{FF2B5EF4-FFF2-40B4-BE49-F238E27FC236}">
                <a16:creationId xmlns:a16="http://schemas.microsoft.com/office/drawing/2014/main" id="{14732F4C-5879-229A-1C40-60D234D0B32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913806" y="28085101"/>
            <a:ext cx="11704318" cy="5131450"/>
          </a:xfrm>
          <a:prstGeom prst="rect">
            <a:avLst/>
          </a:prstGeom>
        </p:spPr>
      </p:pic>
      <p:graphicFrame>
        <p:nvGraphicFramePr>
          <p:cNvPr id="4" name="表 255">
            <a:extLst>
              <a:ext uri="{FF2B5EF4-FFF2-40B4-BE49-F238E27FC236}">
                <a16:creationId xmlns:a16="http://schemas.microsoft.com/office/drawing/2014/main" id="{ED82D327-A8A9-DFD6-9FF7-08FA73F91AD0}"/>
              </a:ext>
            </a:extLst>
          </p:cNvPr>
          <p:cNvGraphicFramePr>
            <a:graphicFrameLocks noGrp="1"/>
          </p:cNvGraphicFramePr>
          <p:nvPr>
            <p:extLst>
              <p:ext uri="{D42A27DB-BD31-4B8C-83A1-F6EECF244321}">
                <p14:modId xmlns:p14="http://schemas.microsoft.com/office/powerpoint/2010/main" val="755280307"/>
              </p:ext>
            </p:extLst>
          </p:nvPr>
        </p:nvGraphicFramePr>
        <p:xfrm>
          <a:off x="15343492" y="34429514"/>
          <a:ext cx="14557141" cy="289082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63206">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775872">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やべっ寝過ごした</a:t>
                      </a:r>
                    </a:p>
                  </a:txBody>
                  <a:tcPr anchor="ctr"/>
                </a:tc>
                <a:extLst>
                  <a:ext uri="{0D108BD9-81ED-4DB2-BD59-A6C34878D82A}">
                    <a16:rowId xmlns:a16="http://schemas.microsoft.com/office/drawing/2014/main" val="2587712661"/>
                  </a:ext>
                </a:extLst>
              </a:tr>
              <a:tr h="775871">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背後に</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背後霊</a:t>
                      </a:r>
                      <a:r>
                        <a:rPr kumimoji="1" lang="ja-JP" altLang="en-US" sz="2800" spc="-100" baseline="0">
                          <a:latin typeface="UD Digi Kyokasho NK-R" panose="02020400000000000000" pitchFamily="18" charset="-128"/>
                          <a:ea typeface="UD Digi Kyokasho NK-R" panose="02020400000000000000" pitchFamily="18" charset="-128"/>
                        </a:rPr>
                        <a:t>がいる</a:t>
                      </a:r>
                    </a:p>
                  </a:txBody>
                  <a:tcPr anchor="ctr"/>
                </a:tc>
                <a:extLst>
                  <a:ext uri="{0D108BD9-81ED-4DB2-BD59-A6C34878D82A}">
                    <a16:rowId xmlns:a16="http://schemas.microsoft.com/office/drawing/2014/main" val="686941759"/>
                  </a:ext>
                </a:extLst>
              </a:tr>
              <a:tr h="775872">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第一印象から決めてました</a:t>
                      </a:r>
                    </a:p>
                  </a:txBody>
                  <a:tcPr anchor="ctr"/>
                </a:tc>
                <a:extLst>
                  <a:ext uri="{0D108BD9-81ED-4DB2-BD59-A6C34878D82A}">
                    <a16:rowId xmlns:a16="http://schemas.microsoft.com/office/drawing/2014/main" val="1783522377"/>
                  </a:ext>
                </a:extLst>
              </a:tr>
            </a:tbl>
          </a:graphicData>
        </a:graphic>
      </p:graphicFrame>
      <p:pic>
        <p:nvPicPr>
          <p:cNvPr id="2" name="図 1">
            <a:extLst>
              <a:ext uri="{FF2B5EF4-FFF2-40B4-BE49-F238E27FC236}">
                <a16:creationId xmlns:a16="http://schemas.microsoft.com/office/drawing/2014/main" id="{06058ED4-A738-C34C-527E-9C7E9A1D5B16}"/>
              </a:ext>
            </a:extLst>
          </p:cNvPr>
          <p:cNvPicPr>
            <a:picLocks noChangeAspect="1"/>
          </p:cNvPicPr>
          <p:nvPr/>
        </p:nvPicPr>
        <p:blipFill>
          <a:blip r:embed="rId7"/>
          <a:stretch>
            <a:fillRect/>
          </a:stretch>
        </p:blipFill>
        <p:spPr>
          <a:xfrm>
            <a:off x="16004098" y="35024887"/>
            <a:ext cx="2254355" cy="2254355"/>
          </a:xfrm>
          <a:prstGeom prst="rect">
            <a:avLst/>
          </a:prstGeom>
        </p:spPr>
      </p:pic>
      <p:pic>
        <p:nvPicPr>
          <p:cNvPr id="27" name="図 26">
            <a:extLst>
              <a:ext uri="{FF2B5EF4-FFF2-40B4-BE49-F238E27FC236}">
                <a16:creationId xmlns:a16="http://schemas.microsoft.com/office/drawing/2014/main" id="{3ACB756E-77C4-D8B9-BB66-C80A7DB45412}"/>
              </a:ext>
            </a:extLst>
          </p:cNvPr>
          <p:cNvPicPr>
            <a:picLocks noChangeAspect="1"/>
          </p:cNvPicPr>
          <p:nvPr/>
        </p:nvPicPr>
        <p:blipFill>
          <a:blip r:embed="rId8"/>
          <a:stretch>
            <a:fillRect/>
          </a:stretch>
        </p:blipFill>
        <p:spPr>
          <a:xfrm>
            <a:off x="15585712" y="21344270"/>
            <a:ext cx="3083999" cy="3083999"/>
          </a:xfrm>
          <a:prstGeom prst="rect">
            <a:avLst/>
          </a:prstGeom>
        </p:spPr>
      </p:pic>
      <p:pic>
        <p:nvPicPr>
          <p:cNvPr id="33" name="図 32">
            <a:extLst>
              <a:ext uri="{FF2B5EF4-FFF2-40B4-BE49-F238E27FC236}">
                <a16:creationId xmlns:a16="http://schemas.microsoft.com/office/drawing/2014/main" id="{405A57DB-25AF-5828-979F-ACF81963688E}"/>
              </a:ext>
            </a:extLst>
          </p:cNvPr>
          <p:cNvPicPr>
            <a:picLocks noChangeAspect="1"/>
          </p:cNvPicPr>
          <p:nvPr/>
        </p:nvPicPr>
        <p:blipFill>
          <a:blip r:embed="rId9"/>
          <a:stretch>
            <a:fillRect/>
          </a:stretch>
        </p:blipFill>
        <p:spPr>
          <a:xfrm>
            <a:off x="19253466" y="21342038"/>
            <a:ext cx="3083998" cy="3083998"/>
          </a:xfrm>
          <a:prstGeom prst="rect">
            <a:avLst/>
          </a:prstGeom>
        </p:spPr>
      </p:pic>
      <p:pic>
        <p:nvPicPr>
          <p:cNvPr id="40" name="図 39">
            <a:extLst>
              <a:ext uri="{FF2B5EF4-FFF2-40B4-BE49-F238E27FC236}">
                <a16:creationId xmlns:a16="http://schemas.microsoft.com/office/drawing/2014/main" id="{0644C89B-29B5-841C-C504-EA62B1958AB4}"/>
              </a:ext>
            </a:extLst>
          </p:cNvPr>
          <p:cNvPicPr>
            <a:picLocks noChangeAspect="1"/>
          </p:cNvPicPr>
          <p:nvPr/>
        </p:nvPicPr>
        <p:blipFill>
          <a:blip r:embed="rId10"/>
          <a:stretch>
            <a:fillRect/>
          </a:stretch>
        </p:blipFill>
        <p:spPr>
          <a:xfrm>
            <a:off x="22924119" y="21334137"/>
            <a:ext cx="3083998" cy="3083998"/>
          </a:xfrm>
          <a:prstGeom prst="rect">
            <a:avLst/>
          </a:prstGeom>
        </p:spPr>
      </p:pic>
      <p:pic>
        <p:nvPicPr>
          <p:cNvPr id="48" name="図 47">
            <a:extLst>
              <a:ext uri="{FF2B5EF4-FFF2-40B4-BE49-F238E27FC236}">
                <a16:creationId xmlns:a16="http://schemas.microsoft.com/office/drawing/2014/main" id="{C2635F94-DED3-A817-9ACB-2C2A35959766}"/>
              </a:ext>
            </a:extLst>
          </p:cNvPr>
          <p:cNvPicPr>
            <a:picLocks noChangeAspect="1"/>
          </p:cNvPicPr>
          <p:nvPr/>
        </p:nvPicPr>
        <p:blipFill>
          <a:blip r:embed="rId11"/>
          <a:stretch>
            <a:fillRect/>
          </a:stretch>
        </p:blipFill>
        <p:spPr>
          <a:xfrm>
            <a:off x="26510039" y="21341221"/>
            <a:ext cx="3083998" cy="3083998"/>
          </a:xfrm>
          <a:prstGeom prst="rect">
            <a:avLst/>
          </a:prstGeom>
        </p:spPr>
      </p:pic>
      <p:pic>
        <p:nvPicPr>
          <p:cNvPr id="214" name="図 213" descr="帽子を被っている女性&#10;&#10;自動的に生成された説明">
            <a:extLst>
              <a:ext uri="{FF2B5EF4-FFF2-40B4-BE49-F238E27FC236}">
                <a16:creationId xmlns:a16="http://schemas.microsoft.com/office/drawing/2014/main" id="{AC82285A-96DB-9690-7F15-C9A038C14AC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21881" y="8657853"/>
            <a:ext cx="1496736" cy="1496736"/>
          </a:xfrm>
          <a:prstGeom prst="rect">
            <a:avLst/>
          </a:prstGeom>
        </p:spPr>
      </p:pic>
      <mc:AlternateContent xmlns:mc="http://schemas.openxmlformats.org/markup-compatibility/2006" xmlns:a14="http://schemas.microsoft.com/office/drawing/2010/main">
        <mc:Choice Requires="a14">
          <p:sp>
            <p:nvSpPr>
              <p:cNvPr id="216" name="テキスト ボックス 215">
                <a:extLst>
                  <a:ext uri="{FF2B5EF4-FFF2-40B4-BE49-F238E27FC236}">
                    <a16:creationId xmlns:a16="http://schemas.microsoft.com/office/drawing/2014/main" id="{E9786A7F-47F9-B8F1-4898-1CF3772FB67A}"/>
                  </a:ext>
                </a:extLst>
              </p:cNvPr>
              <p:cNvSpPr txBox="1"/>
              <p:nvPr/>
            </p:nvSpPr>
            <p:spPr>
              <a:xfrm>
                <a:off x="2036003" y="7947734"/>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16" name="テキスト ボックス 215">
                <a:extLst>
                  <a:ext uri="{FF2B5EF4-FFF2-40B4-BE49-F238E27FC236}">
                    <a16:creationId xmlns:a16="http://schemas.microsoft.com/office/drawing/2014/main" id="{E9786A7F-47F9-B8F1-4898-1CF3772FB67A}"/>
                  </a:ext>
                </a:extLst>
              </p:cNvPr>
              <p:cNvSpPr txBox="1">
                <a:spLocks noRot="1" noChangeAspect="1" noMove="1" noResize="1" noEditPoints="1" noAdjustHandles="1" noChangeArrowheads="1" noChangeShapeType="1" noTextEdit="1"/>
              </p:cNvSpPr>
              <p:nvPr/>
            </p:nvSpPr>
            <p:spPr>
              <a:xfrm>
                <a:off x="2036003" y="7947734"/>
                <a:ext cx="471668" cy="430887"/>
              </a:xfrm>
              <a:prstGeom prst="rect">
                <a:avLst/>
              </a:prstGeom>
              <a:blipFill>
                <a:blip r:embed="rId13"/>
                <a:stretch>
                  <a:fillRect l="-10526" r="-2632"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7" name="テキスト ボックス 216">
                <a:extLst>
                  <a:ext uri="{FF2B5EF4-FFF2-40B4-BE49-F238E27FC236}">
                    <a16:creationId xmlns:a16="http://schemas.microsoft.com/office/drawing/2014/main" id="{89F9CC42-0EFF-4861-65DA-AA213DBC97A8}"/>
                  </a:ext>
                </a:extLst>
              </p:cNvPr>
              <p:cNvSpPr txBox="1"/>
              <p:nvPr/>
            </p:nvSpPr>
            <p:spPr>
              <a:xfrm>
                <a:off x="1988951" y="918176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17" name="テキスト ボックス 216">
                <a:extLst>
                  <a:ext uri="{FF2B5EF4-FFF2-40B4-BE49-F238E27FC236}">
                    <a16:creationId xmlns:a16="http://schemas.microsoft.com/office/drawing/2014/main" id="{89F9CC42-0EFF-4861-65DA-AA213DBC97A8}"/>
                  </a:ext>
                </a:extLst>
              </p:cNvPr>
              <p:cNvSpPr txBox="1">
                <a:spLocks noRot="1" noChangeAspect="1" noMove="1" noResize="1" noEditPoints="1" noAdjustHandles="1" noChangeArrowheads="1" noChangeShapeType="1" noTextEdit="1"/>
              </p:cNvSpPr>
              <p:nvPr/>
            </p:nvSpPr>
            <p:spPr>
              <a:xfrm>
                <a:off x="1988951" y="9181769"/>
                <a:ext cx="492507" cy="430887"/>
              </a:xfrm>
              <a:prstGeom prst="rect">
                <a:avLst/>
              </a:prstGeom>
              <a:blipFill>
                <a:blip r:embed="rId14"/>
                <a:stretch>
                  <a:fillRect b="-5714"/>
                </a:stretch>
              </a:blipFill>
            </p:spPr>
            <p:txBody>
              <a:bodyPr/>
              <a:lstStyle/>
              <a:p>
                <a:r>
                  <a:rPr lang="ja-JP" altLang="en-US">
                    <a:noFill/>
                  </a:rPr>
                  <a:t> </a:t>
                </a:r>
              </a:p>
            </p:txBody>
          </p:sp>
        </mc:Fallback>
      </mc:AlternateContent>
      <p:cxnSp>
        <p:nvCxnSpPr>
          <p:cNvPr id="223" name="直線矢印コネクタ 222">
            <a:extLst>
              <a:ext uri="{FF2B5EF4-FFF2-40B4-BE49-F238E27FC236}">
                <a16:creationId xmlns:a16="http://schemas.microsoft.com/office/drawing/2014/main" id="{EB5A462D-A80D-CC6A-B4A4-915FD8588001}"/>
              </a:ext>
            </a:extLst>
          </p:cNvPr>
          <p:cNvCxnSpPr>
            <a:cxnSpLocks/>
            <a:stCxn id="216" idx="3"/>
            <a:endCxn id="245" idx="1"/>
          </p:cNvCxnSpPr>
          <p:nvPr/>
        </p:nvCxnSpPr>
        <p:spPr>
          <a:xfrm>
            <a:off x="2507671" y="8163178"/>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線矢印コネクタ 223">
            <a:extLst>
              <a:ext uri="{FF2B5EF4-FFF2-40B4-BE49-F238E27FC236}">
                <a16:creationId xmlns:a16="http://schemas.microsoft.com/office/drawing/2014/main" id="{9FF679CD-793E-7077-AD1C-3BCC7951EF16}"/>
              </a:ext>
            </a:extLst>
          </p:cNvPr>
          <p:cNvCxnSpPr>
            <a:cxnSpLocks/>
            <a:stCxn id="245" idx="3"/>
            <a:endCxn id="270" idx="1"/>
          </p:cNvCxnSpPr>
          <p:nvPr/>
        </p:nvCxnSpPr>
        <p:spPr>
          <a:xfrm flipV="1">
            <a:off x="5613881" y="8159168"/>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19">
            <a:extLst>
              <a:ext uri="{FF2B5EF4-FFF2-40B4-BE49-F238E27FC236}">
                <a16:creationId xmlns:a16="http://schemas.microsoft.com/office/drawing/2014/main" id="{A4BA8391-F00F-15FB-2F52-C17A87D640BF}"/>
              </a:ext>
            </a:extLst>
          </p:cNvPr>
          <p:cNvCxnSpPr>
            <a:cxnSpLocks/>
            <a:stCxn id="270" idx="3"/>
            <a:endCxn id="273" idx="1"/>
          </p:cNvCxnSpPr>
          <p:nvPr/>
        </p:nvCxnSpPr>
        <p:spPr>
          <a:xfrm>
            <a:off x="8956217" y="8159168"/>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線矢印コネクタ 225">
            <a:extLst>
              <a:ext uri="{FF2B5EF4-FFF2-40B4-BE49-F238E27FC236}">
                <a16:creationId xmlns:a16="http://schemas.microsoft.com/office/drawing/2014/main" id="{B0244165-A331-B5E2-2D99-05A754DC6D77}"/>
              </a:ext>
            </a:extLst>
          </p:cNvPr>
          <p:cNvCxnSpPr>
            <a:cxnSpLocks/>
            <a:stCxn id="273" idx="3"/>
            <a:endCxn id="228" idx="1"/>
          </p:cNvCxnSpPr>
          <p:nvPr/>
        </p:nvCxnSpPr>
        <p:spPr>
          <a:xfrm>
            <a:off x="12052610" y="8780202"/>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8" name="テキスト ボックス 227">
                <a:extLst>
                  <a:ext uri="{FF2B5EF4-FFF2-40B4-BE49-F238E27FC236}">
                    <a16:creationId xmlns:a16="http://schemas.microsoft.com/office/drawing/2014/main" id="{BE9AD327-F7D0-ED72-F40D-84FF6D3695E3}"/>
                  </a:ext>
                </a:extLst>
              </p:cNvPr>
              <p:cNvSpPr txBox="1"/>
              <p:nvPr/>
            </p:nvSpPr>
            <p:spPr>
              <a:xfrm>
                <a:off x="12909280" y="8579265"/>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28" name="テキスト ボックス 227">
                <a:extLst>
                  <a:ext uri="{FF2B5EF4-FFF2-40B4-BE49-F238E27FC236}">
                    <a16:creationId xmlns:a16="http://schemas.microsoft.com/office/drawing/2014/main" id="{BE9AD327-F7D0-ED72-F40D-84FF6D3695E3}"/>
                  </a:ext>
                </a:extLst>
              </p:cNvPr>
              <p:cNvSpPr txBox="1">
                <a:spLocks noRot="1" noChangeAspect="1" noMove="1" noResize="1" noEditPoints="1" noAdjustHandles="1" noChangeArrowheads="1" noChangeShapeType="1" noTextEdit="1"/>
              </p:cNvSpPr>
              <p:nvPr/>
            </p:nvSpPr>
            <p:spPr>
              <a:xfrm>
                <a:off x="12909280" y="8579265"/>
                <a:ext cx="814710" cy="430887"/>
              </a:xfrm>
              <a:prstGeom prst="rect">
                <a:avLst/>
              </a:prstGeom>
              <a:blipFill>
                <a:blip r:embed="rId15"/>
                <a:stretch>
                  <a:fillRect l="-4615" r="-3077" b="-11429"/>
                </a:stretch>
              </a:blipFill>
            </p:spPr>
            <p:txBody>
              <a:bodyPr/>
              <a:lstStyle/>
              <a:p>
                <a:r>
                  <a:rPr lang="ja-JP" altLang="en-US">
                    <a:noFill/>
                  </a:rPr>
                  <a:t> </a:t>
                </a:r>
              </a:p>
            </p:txBody>
          </p:sp>
        </mc:Fallback>
      </mc:AlternateContent>
      <p:grpSp>
        <p:nvGrpSpPr>
          <p:cNvPr id="240" name="グループ化 239">
            <a:extLst>
              <a:ext uri="{FF2B5EF4-FFF2-40B4-BE49-F238E27FC236}">
                <a16:creationId xmlns:a16="http://schemas.microsoft.com/office/drawing/2014/main" id="{A054153A-7DE4-618A-3D41-DE53B06C7CCD}"/>
              </a:ext>
            </a:extLst>
          </p:cNvPr>
          <p:cNvGrpSpPr/>
          <p:nvPr/>
        </p:nvGrpSpPr>
        <p:grpSpPr>
          <a:xfrm>
            <a:off x="3670881" y="7805614"/>
            <a:ext cx="1943000" cy="719356"/>
            <a:chOff x="3749692" y="11369202"/>
            <a:chExt cx="1943000" cy="719356"/>
          </a:xfrm>
        </p:grpSpPr>
        <p:sp>
          <p:nvSpPr>
            <p:cNvPr id="245" name="正方形/長方形 244">
              <a:extLst>
                <a:ext uri="{FF2B5EF4-FFF2-40B4-BE49-F238E27FC236}">
                  <a16:creationId xmlns:a16="http://schemas.microsoft.com/office/drawing/2014/main" id="{3D593E03-A2D3-15AB-90BC-6AEE4C3C1647}"/>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46" name="テキスト ボックス 245">
                  <a:extLst>
                    <a:ext uri="{FF2B5EF4-FFF2-40B4-BE49-F238E27FC236}">
                      <a16:creationId xmlns:a16="http://schemas.microsoft.com/office/drawing/2014/main" id="{86E9DCFB-3953-82A5-AD51-D92E907C7CA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46" name="テキスト ボックス 245">
                  <a:extLst>
                    <a:ext uri="{FF2B5EF4-FFF2-40B4-BE49-F238E27FC236}">
                      <a16:creationId xmlns:a16="http://schemas.microsoft.com/office/drawing/2014/main" id="{86E9DCFB-3953-82A5-AD51-D92E907C7CA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6"/>
                  <a:stretch>
                    <a:fillRect l="-6000" t="-2857" r="-6000" b="-34286"/>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47" name="テキスト ボックス 246">
                <a:extLst>
                  <a:ext uri="{FF2B5EF4-FFF2-40B4-BE49-F238E27FC236}">
                    <a16:creationId xmlns:a16="http://schemas.microsoft.com/office/drawing/2014/main" id="{973B32A8-3E14-E7A8-84C7-48191CB33DA7}"/>
                  </a:ext>
                </a:extLst>
              </p:cNvPr>
              <p:cNvSpPr txBox="1"/>
              <p:nvPr/>
            </p:nvSpPr>
            <p:spPr>
              <a:xfrm>
                <a:off x="8086668" y="7327654"/>
                <a:ext cx="3511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47" name="テキスト ボックス 246">
                <a:extLst>
                  <a:ext uri="{FF2B5EF4-FFF2-40B4-BE49-F238E27FC236}">
                    <a16:creationId xmlns:a16="http://schemas.microsoft.com/office/drawing/2014/main" id="{973B32A8-3E14-E7A8-84C7-48191CB33DA7}"/>
                  </a:ext>
                </a:extLst>
              </p:cNvPr>
              <p:cNvSpPr txBox="1">
                <a:spLocks noRot="1" noChangeAspect="1" noMove="1" noResize="1" noEditPoints="1" noAdjustHandles="1" noChangeArrowheads="1" noChangeShapeType="1" noTextEdit="1"/>
              </p:cNvSpPr>
              <p:nvPr/>
            </p:nvSpPr>
            <p:spPr>
              <a:xfrm>
                <a:off x="8086668" y="7327654"/>
                <a:ext cx="351185" cy="430887"/>
              </a:xfrm>
              <a:prstGeom prst="rect">
                <a:avLst/>
              </a:prstGeom>
              <a:blipFill>
                <a:blip r:embed="rId17"/>
                <a:stretch>
                  <a:fillRect l="-10345" r="-3448" b="-8333"/>
                </a:stretch>
              </a:blipFill>
            </p:spPr>
            <p:txBody>
              <a:bodyPr/>
              <a:lstStyle/>
              <a:p>
                <a:r>
                  <a:rPr lang="ja-JP" altLang="en-US">
                    <a:noFill/>
                  </a:rPr>
                  <a:t> </a:t>
                </a:r>
              </a:p>
            </p:txBody>
          </p:sp>
        </mc:Fallback>
      </mc:AlternateContent>
      <p:sp>
        <p:nvSpPr>
          <p:cNvPr id="5" name="正方形/長方形 4">
            <a:extLst>
              <a:ext uri="{FF2B5EF4-FFF2-40B4-BE49-F238E27FC236}">
                <a16:creationId xmlns:a16="http://schemas.microsoft.com/office/drawing/2014/main" id="{5BCF1E3A-E4D3-E485-FF19-DB5B16DAF899}"/>
              </a:ext>
            </a:extLst>
          </p:cNvPr>
          <p:cNvSpPr/>
          <p:nvPr/>
        </p:nvSpPr>
        <p:spPr>
          <a:xfrm>
            <a:off x="5341076" y="11637941"/>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EAC9EC35-19CC-9271-9E5C-5203A561D264}"/>
              </a:ext>
            </a:extLst>
          </p:cNvPr>
          <p:cNvSpPr/>
          <p:nvPr/>
        </p:nvSpPr>
        <p:spPr>
          <a:xfrm>
            <a:off x="5352644" y="8734309"/>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8" name="直線矢印コネクタ 247">
            <a:extLst>
              <a:ext uri="{FF2B5EF4-FFF2-40B4-BE49-F238E27FC236}">
                <a16:creationId xmlns:a16="http://schemas.microsoft.com/office/drawing/2014/main" id="{02FE7BE1-F83F-1E1F-D74D-A29BD0761BDB}"/>
              </a:ext>
            </a:extLst>
          </p:cNvPr>
          <p:cNvCxnSpPr>
            <a:cxnSpLocks/>
            <a:endCxn id="270" idx="0"/>
          </p:cNvCxnSpPr>
          <p:nvPr/>
        </p:nvCxnSpPr>
        <p:spPr>
          <a:xfrm>
            <a:off x="7984717" y="7289630"/>
            <a:ext cx="0" cy="50986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27AA0A93-5A38-32FF-42C1-ED2393F43D09}"/>
              </a:ext>
            </a:extLst>
          </p:cNvPr>
          <p:cNvCxnSpPr>
            <a:cxnSpLocks/>
            <a:stCxn id="214" idx="3"/>
            <a:endCxn id="256" idx="2"/>
          </p:cNvCxnSpPr>
          <p:nvPr/>
        </p:nvCxnSpPr>
        <p:spPr>
          <a:xfrm flipV="1">
            <a:off x="3018617" y="9399753"/>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直線矢印コネクタ 22">
            <a:extLst>
              <a:ext uri="{FF2B5EF4-FFF2-40B4-BE49-F238E27FC236}">
                <a16:creationId xmlns:a16="http://schemas.microsoft.com/office/drawing/2014/main" id="{4A573549-C2AA-98F8-59E3-1055973CBB60}"/>
              </a:ext>
            </a:extLst>
          </p:cNvPr>
          <p:cNvCxnSpPr>
            <a:cxnSpLocks/>
            <a:stCxn id="256" idx="0"/>
            <a:endCxn id="273" idx="1"/>
          </p:cNvCxnSpPr>
          <p:nvPr/>
        </p:nvCxnSpPr>
        <p:spPr>
          <a:xfrm flipV="1">
            <a:off x="6983616" y="8780202"/>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4" name="グループ化 253">
            <a:extLst>
              <a:ext uri="{FF2B5EF4-FFF2-40B4-BE49-F238E27FC236}">
                <a16:creationId xmlns:a16="http://schemas.microsoft.com/office/drawing/2014/main" id="{80A45BF1-1759-352C-F29F-FAA0D6CC85E1}"/>
              </a:ext>
            </a:extLst>
          </p:cNvPr>
          <p:cNvGrpSpPr/>
          <p:nvPr/>
        </p:nvGrpSpPr>
        <p:grpSpPr>
          <a:xfrm>
            <a:off x="5551632" y="8838477"/>
            <a:ext cx="1431984" cy="1122552"/>
            <a:chOff x="5794565" y="9611968"/>
            <a:chExt cx="1431984" cy="1122552"/>
          </a:xfrm>
        </p:grpSpPr>
        <p:sp>
          <p:nvSpPr>
            <p:cNvPr id="256" name="台形 255">
              <a:extLst>
                <a:ext uri="{FF2B5EF4-FFF2-40B4-BE49-F238E27FC236}">
                  <a16:creationId xmlns:a16="http://schemas.microsoft.com/office/drawing/2014/main" id="{9F94FCAC-3C49-7535-4605-BE8FEDC9A663}"/>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62" name="テキスト ボックス 261">
                  <a:extLst>
                    <a:ext uri="{FF2B5EF4-FFF2-40B4-BE49-F238E27FC236}">
                      <a16:creationId xmlns:a16="http://schemas.microsoft.com/office/drawing/2014/main" id="{DF67C357-CCE4-4C6F-CA9A-AE9F5A8A624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62" name="テキスト ボックス 261">
                  <a:extLst>
                    <a:ext uri="{FF2B5EF4-FFF2-40B4-BE49-F238E27FC236}">
                      <a16:creationId xmlns:a16="http://schemas.microsoft.com/office/drawing/2014/main" id="{DF67C357-CCE4-4C6F-CA9A-AE9F5A8A624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18"/>
                  <a:stretch>
                    <a:fillRect l="-6306" r="-4505" b="-8571"/>
                  </a:stretch>
                </a:blipFill>
              </p:spPr>
              <p:txBody>
                <a:bodyPr/>
                <a:lstStyle/>
                <a:p>
                  <a:r>
                    <a:rPr lang="ja-JP" altLang="en-US">
                      <a:noFill/>
                    </a:rPr>
                    <a:t> </a:t>
                  </a:r>
                </a:p>
              </p:txBody>
            </p:sp>
          </mc:Fallback>
        </mc:AlternateContent>
      </p:grpSp>
      <p:grpSp>
        <p:nvGrpSpPr>
          <p:cNvPr id="269" name="グループ化 268">
            <a:extLst>
              <a:ext uri="{FF2B5EF4-FFF2-40B4-BE49-F238E27FC236}">
                <a16:creationId xmlns:a16="http://schemas.microsoft.com/office/drawing/2014/main" id="{E602F14E-591B-3D60-161F-7DC215F96608}"/>
              </a:ext>
            </a:extLst>
          </p:cNvPr>
          <p:cNvGrpSpPr/>
          <p:nvPr/>
        </p:nvGrpSpPr>
        <p:grpSpPr>
          <a:xfrm>
            <a:off x="7013217" y="7799490"/>
            <a:ext cx="1943000" cy="719356"/>
            <a:chOff x="3749692" y="11369202"/>
            <a:chExt cx="1943000" cy="719356"/>
          </a:xfrm>
        </p:grpSpPr>
        <p:sp>
          <p:nvSpPr>
            <p:cNvPr id="270" name="正方形/長方形 269">
              <a:extLst>
                <a:ext uri="{FF2B5EF4-FFF2-40B4-BE49-F238E27FC236}">
                  <a16:creationId xmlns:a16="http://schemas.microsoft.com/office/drawing/2014/main" id="{A7E4DF10-563E-BEB9-68A1-A17CB31EC791}"/>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1" name="テキスト ボックス 270">
                  <a:extLst>
                    <a:ext uri="{FF2B5EF4-FFF2-40B4-BE49-F238E27FC236}">
                      <a16:creationId xmlns:a16="http://schemas.microsoft.com/office/drawing/2014/main" id="{F730D54A-F977-45DB-D319-702796AFEEC6}"/>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71" name="テキスト ボックス 270">
                  <a:extLst>
                    <a:ext uri="{FF2B5EF4-FFF2-40B4-BE49-F238E27FC236}">
                      <a16:creationId xmlns:a16="http://schemas.microsoft.com/office/drawing/2014/main" id="{F730D54A-F977-45DB-D319-702796AFEEC6}"/>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9"/>
                  <a:stretch>
                    <a:fillRect b="-2857"/>
                  </a:stretch>
                </a:blipFill>
              </p:spPr>
              <p:txBody>
                <a:bodyPr/>
                <a:lstStyle/>
                <a:p>
                  <a:r>
                    <a:rPr lang="ja-JP" altLang="en-US">
                      <a:noFill/>
                    </a:rPr>
                    <a:t> </a:t>
                  </a:r>
                </a:p>
              </p:txBody>
            </p:sp>
          </mc:Fallback>
        </mc:AlternateContent>
      </p:grpSp>
      <p:grpSp>
        <p:nvGrpSpPr>
          <p:cNvPr id="272" name="グループ化 271">
            <a:extLst>
              <a:ext uri="{FF2B5EF4-FFF2-40B4-BE49-F238E27FC236}">
                <a16:creationId xmlns:a16="http://schemas.microsoft.com/office/drawing/2014/main" id="{075AF110-7F10-C9A1-A124-0088DDABFAAD}"/>
              </a:ext>
            </a:extLst>
          </p:cNvPr>
          <p:cNvGrpSpPr/>
          <p:nvPr/>
        </p:nvGrpSpPr>
        <p:grpSpPr>
          <a:xfrm>
            <a:off x="10109610" y="8420524"/>
            <a:ext cx="1943000" cy="719356"/>
            <a:chOff x="3749692" y="11369202"/>
            <a:chExt cx="1943000" cy="719356"/>
          </a:xfrm>
        </p:grpSpPr>
        <p:sp>
          <p:nvSpPr>
            <p:cNvPr id="273" name="正方形/長方形 272">
              <a:extLst>
                <a:ext uri="{FF2B5EF4-FFF2-40B4-BE49-F238E27FC236}">
                  <a16:creationId xmlns:a16="http://schemas.microsoft.com/office/drawing/2014/main" id="{B0C78290-2687-F702-7E5B-DA11CB35E48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4" name="テキスト ボックス 273">
                  <a:extLst>
                    <a:ext uri="{FF2B5EF4-FFF2-40B4-BE49-F238E27FC236}">
                      <a16:creationId xmlns:a16="http://schemas.microsoft.com/office/drawing/2014/main" id="{CB8AAA5B-7BAA-5FE0-DA14-9E1B3199832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274" name="テキスト ボックス 273">
                  <a:extLst>
                    <a:ext uri="{FF2B5EF4-FFF2-40B4-BE49-F238E27FC236}">
                      <a16:creationId xmlns:a16="http://schemas.microsoft.com/office/drawing/2014/main" id="{CB8AAA5B-7BAA-5FE0-DA14-9E1B31998329}"/>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0"/>
                  <a:stretch>
                    <a:fillRect b="-8824"/>
                  </a:stretch>
                </a:blipFill>
              </p:spPr>
              <p:txBody>
                <a:bodyPr/>
                <a:lstStyle/>
                <a:p>
                  <a:r>
                    <a:rPr lang="ja-JP" altLang="en-US">
                      <a:noFill/>
                    </a:rPr>
                    <a:t> </a:t>
                  </a:r>
                </a:p>
              </p:txBody>
            </p:sp>
          </mc:Fallback>
        </mc:AlternateContent>
      </p:grpSp>
      <p:cxnSp>
        <p:nvCxnSpPr>
          <p:cNvPr id="275" name="直線矢印コネクタ 135">
            <a:extLst>
              <a:ext uri="{FF2B5EF4-FFF2-40B4-BE49-F238E27FC236}">
                <a16:creationId xmlns:a16="http://schemas.microsoft.com/office/drawing/2014/main" id="{1442AD5E-ECC8-2EF6-E36D-352CFD75AB83}"/>
              </a:ext>
            </a:extLst>
          </p:cNvPr>
          <p:cNvCxnSpPr>
            <a:cxnSpLocks/>
            <a:stCxn id="228" idx="2"/>
            <a:endCxn id="277" idx="0"/>
          </p:cNvCxnSpPr>
          <p:nvPr/>
        </p:nvCxnSpPr>
        <p:spPr>
          <a:xfrm rot="5400000">
            <a:off x="6937002" y="4511565"/>
            <a:ext cx="1881046" cy="10878220"/>
          </a:xfrm>
          <a:prstGeom prst="bentConnector3">
            <a:avLst>
              <a:gd name="adj1" fmla="val 69943"/>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76" name="図 275" descr="帽子を被っている女性&#10;&#10;自動的に生成された説明">
            <a:extLst>
              <a:ext uri="{FF2B5EF4-FFF2-40B4-BE49-F238E27FC236}">
                <a16:creationId xmlns:a16="http://schemas.microsoft.com/office/drawing/2014/main" id="{7D919012-BCD9-E78F-078E-853C48FE2B2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16938" y="11601317"/>
            <a:ext cx="1496736" cy="1496736"/>
          </a:xfrm>
          <a:prstGeom prst="rect">
            <a:avLst/>
          </a:prstGeom>
        </p:spPr>
      </p:pic>
      <mc:AlternateContent xmlns:mc="http://schemas.openxmlformats.org/markup-compatibility/2006" xmlns:a14="http://schemas.microsoft.com/office/drawing/2010/main">
        <mc:Choice Requires="a14">
          <p:sp>
            <p:nvSpPr>
              <p:cNvPr id="277" name="テキスト ボックス 276">
                <a:extLst>
                  <a:ext uri="{FF2B5EF4-FFF2-40B4-BE49-F238E27FC236}">
                    <a16:creationId xmlns:a16="http://schemas.microsoft.com/office/drawing/2014/main" id="{185E924C-D473-7E31-2791-6C6A6D47B0B5}"/>
                  </a:ext>
                </a:extLst>
              </p:cNvPr>
              <p:cNvSpPr txBox="1"/>
              <p:nvPr/>
            </p:nvSpPr>
            <p:spPr>
              <a:xfrm>
                <a:off x="2031060" y="10891198"/>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77" name="テキスト ボックス 276">
                <a:extLst>
                  <a:ext uri="{FF2B5EF4-FFF2-40B4-BE49-F238E27FC236}">
                    <a16:creationId xmlns:a16="http://schemas.microsoft.com/office/drawing/2014/main" id="{185E924C-D473-7E31-2791-6C6A6D47B0B5}"/>
                  </a:ext>
                </a:extLst>
              </p:cNvPr>
              <p:cNvSpPr txBox="1">
                <a:spLocks noRot="1" noChangeAspect="1" noMove="1" noResize="1" noEditPoints="1" noAdjustHandles="1" noChangeArrowheads="1" noChangeShapeType="1" noTextEdit="1"/>
              </p:cNvSpPr>
              <p:nvPr/>
            </p:nvSpPr>
            <p:spPr>
              <a:xfrm>
                <a:off x="2031060" y="10891198"/>
                <a:ext cx="814710" cy="430887"/>
              </a:xfrm>
              <a:prstGeom prst="rect">
                <a:avLst/>
              </a:prstGeom>
              <a:blipFill>
                <a:blip r:embed="rId21"/>
                <a:stretch>
                  <a:fillRect l="-4545" r="-3030" b="-1428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8" name="テキスト ボックス 277">
                <a:extLst>
                  <a:ext uri="{FF2B5EF4-FFF2-40B4-BE49-F238E27FC236}">
                    <a16:creationId xmlns:a16="http://schemas.microsoft.com/office/drawing/2014/main" id="{FA734656-A05F-5B8A-2837-1B844524488D}"/>
                  </a:ext>
                </a:extLst>
              </p:cNvPr>
              <p:cNvSpPr txBox="1"/>
              <p:nvPr/>
            </p:nvSpPr>
            <p:spPr>
              <a:xfrm>
                <a:off x="1984008" y="12125233"/>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i="0" smtClean="0">
                          <a:latin typeface="Cambria Math" panose="02040503050406030204" pitchFamily="18" charset="0"/>
                        </a:rPr>
                        <m:t>𝐈</m:t>
                      </m:r>
                    </m:oMath>
                  </m:oMathPara>
                </a14:m>
                <a:endParaRPr kumimoji="1" lang="ja-JP" altLang="en-US" sz="2800" b="1" dirty="0"/>
              </a:p>
            </p:txBody>
          </p:sp>
        </mc:Choice>
        <mc:Fallback xmlns="">
          <p:sp>
            <p:nvSpPr>
              <p:cNvPr id="278" name="テキスト ボックス 277">
                <a:extLst>
                  <a:ext uri="{FF2B5EF4-FFF2-40B4-BE49-F238E27FC236}">
                    <a16:creationId xmlns:a16="http://schemas.microsoft.com/office/drawing/2014/main" id="{FA734656-A05F-5B8A-2837-1B844524488D}"/>
                  </a:ext>
                </a:extLst>
              </p:cNvPr>
              <p:cNvSpPr txBox="1">
                <a:spLocks noRot="1" noChangeAspect="1" noMove="1" noResize="1" noEditPoints="1" noAdjustHandles="1" noChangeArrowheads="1" noChangeShapeType="1" noTextEdit="1"/>
              </p:cNvSpPr>
              <p:nvPr/>
            </p:nvSpPr>
            <p:spPr>
              <a:xfrm>
                <a:off x="1984008" y="12125233"/>
                <a:ext cx="492507" cy="430887"/>
              </a:xfrm>
              <a:prstGeom prst="rect">
                <a:avLst/>
              </a:prstGeom>
              <a:blipFill>
                <a:blip r:embed="rId22"/>
                <a:stretch>
                  <a:fillRect b="-5714"/>
                </a:stretch>
              </a:blipFill>
            </p:spPr>
            <p:txBody>
              <a:bodyPr/>
              <a:lstStyle/>
              <a:p>
                <a:r>
                  <a:rPr lang="ja-JP" altLang="en-US">
                    <a:noFill/>
                  </a:rPr>
                  <a:t> </a:t>
                </a:r>
              </a:p>
            </p:txBody>
          </p:sp>
        </mc:Fallback>
      </mc:AlternateContent>
      <p:cxnSp>
        <p:nvCxnSpPr>
          <p:cNvPr id="279" name="直線矢印コネクタ 278">
            <a:extLst>
              <a:ext uri="{FF2B5EF4-FFF2-40B4-BE49-F238E27FC236}">
                <a16:creationId xmlns:a16="http://schemas.microsoft.com/office/drawing/2014/main" id="{4FA4FB80-7B2C-D4FA-1E26-D032CC28C889}"/>
              </a:ext>
            </a:extLst>
          </p:cNvPr>
          <p:cNvCxnSpPr>
            <a:cxnSpLocks/>
            <a:stCxn id="277" idx="3"/>
            <a:endCxn id="285" idx="1"/>
          </p:cNvCxnSpPr>
          <p:nvPr/>
        </p:nvCxnSpPr>
        <p:spPr>
          <a:xfrm>
            <a:off x="2845770" y="11106642"/>
            <a:ext cx="820168"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E638358B-477C-ED4B-4360-CF9629AA8759}"/>
              </a:ext>
            </a:extLst>
          </p:cNvPr>
          <p:cNvCxnSpPr>
            <a:cxnSpLocks/>
            <a:stCxn id="285" idx="3"/>
            <a:endCxn id="296" idx="1"/>
          </p:cNvCxnSpPr>
          <p:nvPr/>
        </p:nvCxnSpPr>
        <p:spPr>
          <a:xfrm flipV="1">
            <a:off x="5608938" y="11102632"/>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19">
            <a:extLst>
              <a:ext uri="{FF2B5EF4-FFF2-40B4-BE49-F238E27FC236}">
                <a16:creationId xmlns:a16="http://schemas.microsoft.com/office/drawing/2014/main" id="{CE0C6582-A421-C5E2-13D1-0A458F975858}"/>
              </a:ext>
            </a:extLst>
          </p:cNvPr>
          <p:cNvCxnSpPr>
            <a:cxnSpLocks/>
            <a:stCxn id="296" idx="3"/>
            <a:endCxn id="299" idx="1"/>
          </p:cNvCxnSpPr>
          <p:nvPr/>
        </p:nvCxnSpPr>
        <p:spPr>
          <a:xfrm>
            <a:off x="8951274" y="11102632"/>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直線矢印コネクタ 281">
            <a:extLst>
              <a:ext uri="{FF2B5EF4-FFF2-40B4-BE49-F238E27FC236}">
                <a16:creationId xmlns:a16="http://schemas.microsoft.com/office/drawing/2014/main" id="{A2295E78-CDC7-7445-F865-DEFA6D7DC947}"/>
              </a:ext>
            </a:extLst>
          </p:cNvPr>
          <p:cNvCxnSpPr>
            <a:cxnSpLocks/>
            <a:stCxn id="299" idx="3"/>
            <a:endCxn id="283" idx="1"/>
          </p:cNvCxnSpPr>
          <p:nvPr/>
        </p:nvCxnSpPr>
        <p:spPr>
          <a:xfrm>
            <a:off x="12047667" y="11723666"/>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3" name="テキスト ボックス 282">
                <a:extLst>
                  <a:ext uri="{FF2B5EF4-FFF2-40B4-BE49-F238E27FC236}">
                    <a16:creationId xmlns:a16="http://schemas.microsoft.com/office/drawing/2014/main" id="{BB3662A6-1EBB-E2D8-7AE1-E157E0C26BF0}"/>
                  </a:ext>
                </a:extLst>
              </p:cNvPr>
              <p:cNvSpPr txBox="1"/>
              <p:nvPr/>
            </p:nvSpPr>
            <p:spPr>
              <a:xfrm>
                <a:off x="12904337" y="11522729"/>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+2</m:t>
                          </m:r>
                        </m:sub>
                      </m:sSub>
                    </m:oMath>
                  </m:oMathPara>
                </a14:m>
                <a:endParaRPr kumimoji="1" lang="ja-JP" altLang="en-US" sz="2800" dirty="0"/>
              </a:p>
            </p:txBody>
          </p:sp>
        </mc:Choice>
        <mc:Fallback xmlns="">
          <p:sp>
            <p:nvSpPr>
              <p:cNvPr id="283" name="テキスト ボックス 282">
                <a:extLst>
                  <a:ext uri="{FF2B5EF4-FFF2-40B4-BE49-F238E27FC236}">
                    <a16:creationId xmlns:a16="http://schemas.microsoft.com/office/drawing/2014/main" id="{BB3662A6-1EBB-E2D8-7AE1-E157E0C26BF0}"/>
                  </a:ext>
                </a:extLst>
              </p:cNvPr>
              <p:cNvSpPr txBox="1">
                <a:spLocks noRot="1" noChangeAspect="1" noMove="1" noResize="1" noEditPoints="1" noAdjustHandles="1" noChangeArrowheads="1" noChangeShapeType="1" noTextEdit="1"/>
              </p:cNvSpPr>
              <p:nvPr/>
            </p:nvSpPr>
            <p:spPr>
              <a:xfrm>
                <a:off x="12904337" y="11522729"/>
                <a:ext cx="814710" cy="430887"/>
              </a:xfrm>
              <a:prstGeom prst="rect">
                <a:avLst/>
              </a:prstGeom>
              <a:blipFill>
                <a:blip r:embed="rId23"/>
                <a:stretch>
                  <a:fillRect l="-6250" r="-4688" b="-11429"/>
                </a:stretch>
              </a:blipFill>
            </p:spPr>
            <p:txBody>
              <a:bodyPr/>
              <a:lstStyle/>
              <a:p>
                <a:r>
                  <a:rPr lang="ja-JP" altLang="en-US">
                    <a:noFill/>
                  </a:rPr>
                  <a:t> </a:t>
                </a:r>
              </a:p>
            </p:txBody>
          </p:sp>
        </mc:Fallback>
      </mc:AlternateContent>
      <p:grpSp>
        <p:nvGrpSpPr>
          <p:cNvPr id="284" name="グループ化 283">
            <a:extLst>
              <a:ext uri="{FF2B5EF4-FFF2-40B4-BE49-F238E27FC236}">
                <a16:creationId xmlns:a16="http://schemas.microsoft.com/office/drawing/2014/main" id="{9C34ABBF-0103-7F3F-36C5-5CB61B776E74}"/>
              </a:ext>
            </a:extLst>
          </p:cNvPr>
          <p:cNvGrpSpPr/>
          <p:nvPr/>
        </p:nvGrpSpPr>
        <p:grpSpPr>
          <a:xfrm>
            <a:off x="3665938" y="10749078"/>
            <a:ext cx="1943000" cy="719356"/>
            <a:chOff x="3749692" y="11369202"/>
            <a:chExt cx="1943000" cy="719356"/>
          </a:xfrm>
        </p:grpSpPr>
        <p:sp>
          <p:nvSpPr>
            <p:cNvPr id="285" name="正方形/長方形 284">
              <a:extLst>
                <a:ext uri="{FF2B5EF4-FFF2-40B4-BE49-F238E27FC236}">
                  <a16:creationId xmlns:a16="http://schemas.microsoft.com/office/drawing/2014/main" id="{27EC2E1D-2732-BAC4-6A6D-281A796D48C3}"/>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86" name="テキスト ボックス 285">
                  <a:extLst>
                    <a:ext uri="{FF2B5EF4-FFF2-40B4-BE49-F238E27FC236}">
                      <a16:creationId xmlns:a16="http://schemas.microsoft.com/office/drawing/2014/main" id="{A1964DD9-3996-2BA3-8021-AA9FD0AD5D6D}"/>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86" name="テキスト ボックス 285">
                  <a:extLst>
                    <a:ext uri="{FF2B5EF4-FFF2-40B4-BE49-F238E27FC236}">
                      <a16:creationId xmlns:a16="http://schemas.microsoft.com/office/drawing/2014/main" id="{A1964DD9-3996-2BA3-8021-AA9FD0AD5D6D}"/>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24"/>
                  <a:stretch>
                    <a:fillRect l="-5960" t="-2857" r="-5960" b="-31429"/>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87" name="テキスト ボックス 286">
                <a:extLst>
                  <a:ext uri="{FF2B5EF4-FFF2-40B4-BE49-F238E27FC236}">
                    <a16:creationId xmlns:a16="http://schemas.microsoft.com/office/drawing/2014/main" id="{01855A5E-DE71-BB22-36A4-138ADFE4FEBD}"/>
                  </a:ext>
                </a:extLst>
              </p:cNvPr>
              <p:cNvSpPr txBox="1"/>
              <p:nvPr/>
            </p:nvSpPr>
            <p:spPr>
              <a:xfrm>
                <a:off x="8081725" y="10271118"/>
                <a:ext cx="6942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87" name="テキスト ボックス 286">
                <a:extLst>
                  <a:ext uri="{FF2B5EF4-FFF2-40B4-BE49-F238E27FC236}">
                    <a16:creationId xmlns:a16="http://schemas.microsoft.com/office/drawing/2014/main" id="{01855A5E-DE71-BB22-36A4-138ADFE4FEBD}"/>
                  </a:ext>
                </a:extLst>
              </p:cNvPr>
              <p:cNvSpPr txBox="1">
                <a:spLocks noRot="1" noChangeAspect="1" noMove="1" noResize="1" noEditPoints="1" noAdjustHandles="1" noChangeArrowheads="1" noChangeShapeType="1" noTextEdit="1"/>
              </p:cNvSpPr>
              <p:nvPr/>
            </p:nvSpPr>
            <p:spPr>
              <a:xfrm>
                <a:off x="8081725" y="10271118"/>
                <a:ext cx="694229" cy="430887"/>
              </a:xfrm>
              <a:prstGeom prst="rect">
                <a:avLst/>
              </a:prstGeom>
              <a:blipFill>
                <a:blip r:embed="rId25"/>
                <a:stretch>
                  <a:fillRect l="-5357" r="-3571" b="-14286"/>
                </a:stretch>
              </a:blipFill>
            </p:spPr>
            <p:txBody>
              <a:bodyPr/>
              <a:lstStyle/>
              <a:p>
                <a:r>
                  <a:rPr lang="ja-JP" altLang="en-US">
                    <a:noFill/>
                  </a:rPr>
                  <a:t> </a:t>
                </a:r>
              </a:p>
            </p:txBody>
          </p:sp>
        </mc:Fallback>
      </mc:AlternateContent>
      <p:cxnSp>
        <p:nvCxnSpPr>
          <p:cNvPr id="288" name="直線矢印コネクタ 287">
            <a:extLst>
              <a:ext uri="{FF2B5EF4-FFF2-40B4-BE49-F238E27FC236}">
                <a16:creationId xmlns:a16="http://schemas.microsoft.com/office/drawing/2014/main" id="{2502D6C6-DBE8-343F-2691-09B277B83FD7}"/>
              </a:ext>
            </a:extLst>
          </p:cNvPr>
          <p:cNvCxnSpPr>
            <a:cxnSpLocks/>
            <a:stCxn id="270" idx="2"/>
            <a:endCxn id="296" idx="0"/>
          </p:cNvCxnSpPr>
          <p:nvPr/>
        </p:nvCxnSpPr>
        <p:spPr>
          <a:xfrm flipH="1">
            <a:off x="7979774" y="8518846"/>
            <a:ext cx="4943" cy="222410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0" name="直線矢印コネクタ 289">
            <a:extLst>
              <a:ext uri="{FF2B5EF4-FFF2-40B4-BE49-F238E27FC236}">
                <a16:creationId xmlns:a16="http://schemas.microsoft.com/office/drawing/2014/main" id="{7FEE215C-2EB2-4303-7B09-0AD03F2968FB}"/>
              </a:ext>
            </a:extLst>
          </p:cNvPr>
          <p:cNvCxnSpPr>
            <a:cxnSpLocks/>
            <a:stCxn id="276" idx="3"/>
            <a:endCxn id="293" idx="2"/>
          </p:cNvCxnSpPr>
          <p:nvPr/>
        </p:nvCxnSpPr>
        <p:spPr>
          <a:xfrm flipV="1">
            <a:off x="3013674" y="12343217"/>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線矢印コネクタ 22">
            <a:extLst>
              <a:ext uri="{FF2B5EF4-FFF2-40B4-BE49-F238E27FC236}">
                <a16:creationId xmlns:a16="http://schemas.microsoft.com/office/drawing/2014/main" id="{97AE75E7-60DA-0E37-4526-AF103F1D9083}"/>
              </a:ext>
            </a:extLst>
          </p:cNvPr>
          <p:cNvCxnSpPr>
            <a:cxnSpLocks/>
            <a:stCxn id="293" idx="0"/>
            <a:endCxn id="299" idx="1"/>
          </p:cNvCxnSpPr>
          <p:nvPr/>
        </p:nvCxnSpPr>
        <p:spPr>
          <a:xfrm flipV="1">
            <a:off x="6978673" y="11723666"/>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2" name="グループ化 291">
            <a:extLst>
              <a:ext uri="{FF2B5EF4-FFF2-40B4-BE49-F238E27FC236}">
                <a16:creationId xmlns:a16="http://schemas.microsoft.com/office/drawing/2014/main" id="{A3E80203-2F17-F70D-09E9-3A1EED2A87E4}"/>
              </a:ext>
            </a:extLst>
          </p:cNvPr>
          <p:cNvGrpSpPr/>
          <p:nvPr/>
        </p:nvGrpSpPr>
        <p:grpSpPr>
          <a:xfrm>
            <a:off x="5546689" y="11781941"/>
            <a:ext cx="1431984" cy="1122552"/>
            <a:chOff x="5794565" y="9611968"/>
            <a:chExt cx="1431984" cy="1122552"/>
          </a:xfrm>
        </p:grpSpPr>
        <p:sp>
          <p:nvSpPr>
            <p:cNvPr id="293" name="台形 292">
              <a:extLst>
                <a:ext uri="{FF2B5EF4-FFF2-40B4-BE49-F238E27FC236}">
                  <a16:creationId xmlns:a16="http://schemas.microsoft.com/office/drawing/2014/main" id="{B091EEA4-AB85-3AE7-8C1A-54E94199C420}"/>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4" name="テキスト ボックス 293">
                  <a:extLst>
                    <a:ext uri="{FF2B5EF4-FFF2-40B4-BE49-F238E27FC236}">
                      <a16:creationId xmlns:a16="http://schemas.microsoft.com/office/drawing/2014/main" id="{58F80D79-ED15-165A-100C-A1A6A666F595}"/>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94" name="テキスト ボックス 293">
                  <a:extLst>
                    <a:ext uri="{FF2B5EF4-FFF2-40B4-BE49-F238E27FC236}">
                      <a16:creationId xmlns:a16="http://schemas.microsoft.com/office/drawing/2014/main" id="{58F80D79-ED15-165A-100C-A1A6A666F595}"/>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6"/>
                  <a:stretch>
                    <a:fillRect l="-6364" r="-5455" b="-8571"/>
                  </a:stretch>
                </a:blipFill>
              </p:spPr>
              <p:txBody>
                <a:bodyPr/>
                <a:lstStyle/>
                <a:p>
                  <a:r>
                    <a:rPr lang="ja-JP" altLang="en-US">
                      <a:noFill/>
                    </a:rPr>
                    <a:t> </a:t>
                  </a:r>
                </a:p>
              </p:txBody>
            </p:sp>
          </mc:Fallback>
        </mc:AlternateContent>
      </p:grpSp>
      <p:grpSp>
        <p:nvGrpSpPr>
          <p:cNvPr id="295" name="グループ化 294">
            <a:extLst>
              <a:ext uri="{FF2B5EF4-FFF2-40B4-BE49-F238E27FC236}">
                <a16:creationId xmlns:a16="http://schemas.microsoft.com/office/drawing/2014/main" id="{397F1010-BEED-3815-94C9-7AF896AE9D6F}"/>
              </a:ext>
            </a:extLst>
          </p:cNvPr>
          <p:cNvGrpSpPr/>
          <p:nvPr/>
        </p:nvGrpSpPr>
        <p:grpSpPr>
          <a:xfrm>
            <a:off x="7008274" y="10742954"/>
            <a:ext cx="1943000" cy="719356"/>
            <a:chOff x="3749692" y="11369202"/>
            <a:chExt cx="1943000" cy="719356"/>
          </a:xfrm>
        </p:grpSpPr>
        <p:sp>
          <p:nvSpPr>
            <p:cNvPr id="296" name="正方形/長方形 295">
              <a:extLst>
                <a:ext uri="{FF2B5EF4-FFF2-40B4-BE49-F238E27FC236}">
                  <a16:creationId xmlns:a16="http://schemas.microsoft.com/office/drawing/2014/main" id="{25C8505A-7B66-65A3-DBE2-F7B307A92800}"/>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7" name="テキスト ボックス 296">
                  <a:extLst>
                    <a:ext uri="{FF2B5EF4-FFF2-40B4-BE49-F238E27FC236}">
                      <a16:creationId xmlns:a16="http://schemas.microsoft.com/office/drawing/2014/main" id="{93D74842-23A3-2736-F957-263CAB46B80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97" name="テキスト ボックス 296">
                  <a:extLst>
                    <a:ext uri="{FF2B5EF4-FFF2-40B4-BE49-F238E27FC236}">
                      <a16:creationId xmlns:a16="http://schemas.microsoft.com/office/drawing/2014/main" id="{93D74842-23A3-2736-F957-263CAB46B80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7"/>
                  <a:stretch>
                    <a:fillRect b="-5882"/>
                  </a:stretch>
                </a:blipFill>
              </p:spPr>
              <p:txBody>
                <a:bodyPr/>
                <a:lstStyle/>
                <a:p>
                  <a:r>
                    <a:rPr lang="ja-JP" altLang="en-US">
                      <a:noFill/>
                    </a:rPr>
                    <a:t> </a:t>
                  </a:r>
                </a:p>
              </p:txBody>
            </p:sp>
          </mc:Fallback>
        </mc:AlternateContent>
      </p:grpSp>
      <p:grpSp>
        <p:nvGrpSpPr>
          <p:cNvPr id="298" name="グループ化 297">
            <a:extLst>
              <a:ext uri="{FF2B5EF4-FFF2-40B4-BE49-F238E27FC236}">
                <a16:creationId xmlns:a16="http://schemas.microsoft.com/office/drawing/2014/main" id="{9E89BA2D-D6D2-593D-B1EF-B741896D6A05}"/>
              </a:ext>
            </a:extLst>
          </p:cNvPr>
          <p:cNvGrpSpPr/>
          <p:nvPr/>
        </p:nvGrpSpPr>
        <p:grpSpPr>
          <a:xfrm>
            <a:off x="10104667" y="11363988"/>
            <a:ext cx="1943000" cy="719356"/>
            <a:chOff x="3749692" y="11369202"/>
            <a:chExt cx="1943000" cy="719356"/>
          </a:xfrm>
        </p:grpSpPr>
        <p:sp>
          <p:nvSpPr>
            <p:cNvPr id="299" name="正方形/長方形 298">
              <a:extLst>
                <a:ext uri="{FF2B5EF4-FFF2-40B4-BE49-F238E27FC236}">
                  <a16:creationId xmlns:a16="http://schemas.microsoft.com/office/drawing/2014/main" id="{879CE573-44C1-B764-878B-F3A54F5C74C6}"/>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00" name="テキスト ボックス 299">
                  <a:extLst>
                    <a:ext uri="{FF2B5EF4-FFF2-40B4-BE49-F238E27FC236}">
                      <a16:creationId xmlns:a16="http://schemas.microsoft.com/office/drawing/2014/main" id="{7440FC71-87C8-A4C2-1E2D-FC670DDB0E47}"/>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300" name="テキスト ボックス 299">
                  <a:extLst>
                    <a:ext uri="{FF2B5EF4-FFF2-40B4-BE49-F238E27FC236}">
                      <a16:creationId xmlns:a16="http://schemas.microsoft.com/office/drawing/2014/main" id="{7440FC71-87C8-A4C2-1E2D-FC670DDB0E47}"/>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8"/>
                  <a:stretch>
                    <a:fillRect b="-8571"/>
                  </a:stretch>
                </a:blipFill>
              </p:spPr>
              <p:txBody>
                <a:bodyPr/>
                <a:lstStyle/>
                <a:p>
                  <a:r>
                    <a:rPr lang="ja-JP" altLang="en-US">
                      <a:noFill/>
                    </a:rPr>
                    <a:t> </a:t>
                  </a:r>
                </a:p>
              </p:txBody>
            </p:sp>
          </mc:Fallback>
        </mc:AlternateContent>
      </p:grpSp>
      <p:cxnSp>
        <p:nvCxnSpPr>
          <p:cNvPr id="301" name="直線矢印コネクタ 300">
            <a:extLst>
              <a:ext uri="{FF2B5EF4-FFF2-40B4-BE49-F238E27FC236}">
                <a16:creationId xmlns:a16="http://schemas.microsoft.com/office/drawing/2014/main" id="{86FEAC7B-8D99-59A9-EDFA-226FFC4EB47B}"/>
              </a:ext>
            </a:extLst>
          </p:cNvPr>
          <p:cNvCxnSpPr>
            <a:cxnSpLocks/>
            <a:stCxn id="296" idx="2"/>
          </p:cNvCxnSpPr>
          <p:nvPr/>
        </p:nvCxnSpPr>
        <p:spPr>
          <a:xfrm>
            <a:off x="7979774" y="11462310"/>
            <a:ext cx="0" cy="163574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19" name="テキスト ボックス 418">
            <a:extLst>
              <a:ext uri="{FF2B5EF4-FFF2-40B4-BE49-F238E27FC236}">
                <a16:creationId xmlns:a16="http://schemas.microsoft.com/office/drawing/2014/main" id="{0F5BE3FB-C6EC-599F-75BF-494BD8D27C8D}"/>
              </a:ext>
            </a:extLst>
          </p:cNvPr>
          <p:cNvSpPr txBox="1"/>
          <p:nvPr/>
        </p:nvSpPr>
        <p:spPr>
          <a:xfrm>
            <a:off x="23896320" y="9289037"/>
            <a:ext cx="6001946" cy="523220"/>
          </a:xfrm>
          <a:prstGeom prst="rect">
            <a:avLst/>
          </a:prstGeom>
          <a:noFill/>
        </p:spPr>
        <p:txBody>
          <a:bodyPr wrap="square">
            <a:spAutoFit/>
          </a:bodyPr>
          <a:lstStyle/>
          <a:p>
            <a:pPr algn="ctr"/>
            <a:r>
              <a:rPr lang="ja-JP" altLang="en-US" sz="2800">
                <a:latin typeface="UD デジタル 教科書体 NK-R" panose="02020400000000000000" pitchFamily="18" charset="-128"/>
                <a:ea typeface="UD デジタル 教科書体 NK-R" panose="02020400000000000000" pitchFamily="18" charset="-128"/>
              </a:rPr>
              <a:t>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回変更した</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ベスト値</a:t>
            </a:r>
            <a:r>
              <a:rPr lang="en-US" altLang="ja-JP" sz="2800" dirty="0">
                <a:latin typeface="UD デジタル 教科書体 NK-R" panose="02020400000000000000" pitchFamily="18" charset="-128"/>
                <a:ea typeface="UD デジタル 教科書体 NK-R" panose="02020400000000000000" pitchFamily="18" charset="-128"/>
              </a:rPr>
              <a:t>/</a:t>
            </a:r>
            <a:r>
              <a:rPr lang="ja-JP" altLang="en-US" sz="2800">
                <a:latin typeface="UD デジタル 教科書体 NK-R" panose="02020400000000000000" pitchFamily="18" charset="-128"/>
                <a:ea typeface="UD デジタル 教科書体 NK-R" panose="02020400000000000000" pitchFamily="18" charset="-128"/>
              </a:rPr>
              <a:t>平均</a:t>
            </a:r>
            <a:endParaRPr lang="en-US" altLang="ja-JP" sz="2800" dirty="0">
              <a:latin typeface="UD デジタル 教科書体 NK-R" panose="02020400000000000000" pitchFamily="18" charset="-128"/>
              <a:ea typeface="UD デジタル 教科書体 NK-R" panose="02020400000000000000" pitchFamily="18" charset="-128"/>
            </a:endParaRPr>
          </a:p>
        </p:txBody>
      </p:sp>
      <p:sp>
        <p:nvSpPr>
          <p:cNvPr id="420" name="テキスト ボックス 419">
            <a:extLst>
              <a:ext uri="{FF2B5EF4-FFF2-40B4-BE49-F238E27FC236}">
                <a16:creationId xmlns:a16="http://schemas.microsoft.com/office/drawing/2014/main" id="{2DFBAEB6-F326-F69C-A302-B6B82BCA4683}"/>
              </a:ext>
            </a:extLst>
          </p:cNvPr>
          <p:cNvSpPr txBox="1"/>
          <p:nvPr/>
        </p:nvSpPr>
        <p:spPr>
          <a:xfrm>
            <a:off x="23902652" y="14532494"/>
            <a:ext cx="6001946" cy="523220"/>
          </a:xfrm>
          <a:prstGeom prst="rect">
            <a:avLst/>
          </a:prstGeom>
          <a:noFill/>
        </p:spPr>
        <p:txBody>
          <a:bodyPr wrap="square">
            <a:spAutoFit/>
          </a:bodyPr>
          <a:lstStyle/>
          <a:p>
            <a:pPr algn="ctr"/>
            <a:r>
              <a:rPr lang="ja-JP" altLang="en-US" sz="2800">
                <a:latin typeface="UD デジタル 教科書体 NK-R" panose="02020400000000000000" pitchFamily="18" charset="-128"/>
                <a:ea typeface="UD デジタル 教科書体 NK-R" panose="02020400000000000000" pitchFamily="18" charset="-128"/>
              </a:rPr>
              <a:t>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回変更した</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ベスト値</a:t>
            </a:r>
            <a:r>
              <a:rPr lang="en-US" altLang="ja-JP" sz="2800" dirty="0">
                <a:latin typeface="UD デジタル 教科書体 NK-R" panose="02020400000000000000" pitchFamily="18" charset="-128"/>
                <a:ea typeface="UD デジタル 教科書体 NK-R" panose="02020400000000000000" pitchFamily="18" charset="-128"/>
              </a:rPr>
              <a:t>/</a:t>
            </a:r>
            <a:r>
              <a:rPr lang="ja-JP" altLang="en-US" sz="2800">
                <a:latin typeface="UD デジタル 教科書体 NK-R" panose="02020400000000000000" pitchFamily="18" charset="-128"/>
                <a:ea typeface="UD デジタル 教科書体 NK-R" panose="02020400000000000000" pitchFamily="18" charset="-128"/>
              </a:rPr>
              <a:t>平均</a:t>
            </a:r>
            <a:endParaRPr lang="en-US" altLang="ja-JP" sz="2800" dirty="0">
              <a:latin typeface="UD デジタル 教科書体 NK-R" panose="02020400000000000000" pitchFamily="18" charset="-128"/>
              <a:ea typeface="UD デジタル 教科書体 NK-R" panose="02020400000000000000" pitchFamily="18" charset="-128"/>
            </a:endParaRPr>
          </a:p>
        </p:txBody>
      </p:sp>
      <p:graphicFrame>
        <p:nvGraphicFramePr>
          <p:cNvPr id="421" name="表 255">
            <a:extLst>
              <a:ext uri="{FF2B5EF4-FFF2-40B4-BE49-F238E27FC236}">
                <a16:creationId xmlns:a16="http://schemas.microsoft.com/office/drawing/2014/main" id="{9E9B6337-A505-26AE-A8FC-9981C77C4405}"/>
              </a:ext>
            </a:extLst>
          </p:cNvPr>
          <p:cNvGraphicFramePr>
            <a:graphicFrameLocks noGrp="1"/>
          </p:cNvGraphicFramePr>
          <p:nvPr>
            <p:extLst>
              <p:ext uri="{D42A27DB-BD31-4B8C-83A1-F6EECF244321}">
                <p14:modId xmlns:p14="http://schemas.microsoft.com/office/powerpoint/2010/main" val="814878171"/>
              </p:ext>
            </p:extLst>
          </p:nvPr>
        </p:nvGraphicFramePr>
        <p:xfrm>
          <a:off x="15329206" y="37323652"/>
          <a:ext cx="14557141" cy="289082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63206">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775872">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これが私のスタンド</a:t>
                      </a:r>
                    </a:p>
                  </a:txBody>
                  <a:tcPr anchor="ctr"/>
                </a:tc>
                <a:extLst>
                  <a:ext uri="{0D108BD9-81ED-4DB2-BD59-A6C34878D82A}">
                    <a16:rowId xmlns:a16="http://schemas.microsoft.com/office/drawing/2014/main" val="2587712661"/>
                  </a:ext>
                </a:extLst>
              </a:tr>
              <a:tr h="775871">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おれのボケに対する評価</a:t>
                      </a:r>
                    </a:p>
                  </a:txBody>
                  <a:tcPr anchor="ctr"/>
                </a:tc>
                <a:extLst>
                  <a:ext uri="{0D108BD9-81ED-4DB2-BD59-A6C34878D82A}">
                    <a16:rowId xmlns:a16="http://schemas.microsoft.com/office/drawing/2014/main" val="686941759"/>
                  </a:ext>
                </a:extLst>
              </a:tr>
              <a:tr h="775872">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このとおり忙しいんだから早く</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宿題</a:t>
                      </a:r>
                      <a:r>
                        <a:rPr kumimoji="1" lang="ja-JP" altLang="en-US" sz="2800" spc="-100" baseline="0">
                          <a:latin typeface="UD Digi Kyokasho NK-R" panose="02020400000000000000" pitchFamily="18" charset="-128"/>
                          <a:ea typeface="UD Digi Kyokasho NK-R" panose="02020400000000000000" pitchFamily="18" charset="-128"/>
                        </a:rPr>
                        <a:t>を</a:t>
                      </a:r>
                    </a:p>
                  </a:txBody>
                  <a:tcPr anchor="ctr"/>
                </a:tc>
                <a:extLst>
                  <a:ext uri="{0D108BD9-81ED-4DB2-BD59-A6C34878D82A}">
                    <a16:rowId xmlns:a16="http://schemas.microsoft.com/office/drawing/2014/main" val="1783522377"/>
                  </a:ext>
                </a:extLst>
              </a:tr>
            </a:tbl>
          </a:graphicData>
        </a:graphic>
      </p:graphicFrame>
      <p:pic>
        <p:nvPicPr>
          <p:cNvPr id="19" name="図 18">
            <a:extLst>
              <a:ext uri="{FF2B5EF4-FFF2-40B4-BE49-F238E27FC236}">
                <a16:creationId xmlns:a16="http://schemas.microsoft.com/office/drawing/2014/main" id="{C0BDE784-B10D-2778-AC98-505AD98FC1C5}"/>
              </a:ext>
            </a:extLst>
          </p:cNvPr>
          <p:cNvPicPr>
            <a:picLocks noChangeAspect="1"/>
          </p:cNvPicPr>
          <p:nvPr/>
        </p:nvPicPr>
        <p:blipFill>
          <a:blip r:embed="rId29"/>
          <a:stretch>
            <a:fillRect/>
          </a:stretch>
        </p:blipFill>
        <p:spPr>
          <a:xfrm>
            <a:off x="16004098" y="37916622"/>
            <a:ext cx="2254355" cy="2254355"/>
          </a:xfrm>
          <a:prstGeom prst="rect">
            <a:avLst/>
          </a:prstGeom>
        </p:spPr>
      </p:pic>
      <p:cxnSp>
        <p:nvCxnSpPr>
          <p:cNvPr id="425" name="直線コネクタ 424">
            <a:extLst>
              <a:ext uri="{FF2B5EF4-FFF2-40B4-BE49-F238E27FC236}">
                <a16:creationId xmlns:a16="http://schemas.microsoft.com/office/drawing/2014/main" id="{A8C545B9-12A6-3FDE-995D-347D62BDEBD0}"/>
              </a:ext>
            </a:extLst>
          </p:cNvPr>
          <p:cNvCxnSpPr/>
          <p:nvPr/>
        </p:nvCxnSpPr>
        <p:spPr>
          <a:xfrm flipV="1">
            <a:off x="15398156" y="24525711"/>
            <a:ext cx="14461296" cy="7084"/>
          </a:xfrm>
          <a:prstGeom prst="line">
            <a:avLst/>
          </a:prstGeom>
          <a:ln w="57150">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2" name="グループ化 11">
            <a:extLst>
              <a:ext uri="{FF2B5EF4-FFF2-40B4-BE49-F238E27FC236}">
                <a16:creationId xmlns:a16="http://schemas.microsoft.com/office/drawing/2014/main" id="{E65DC85F-3E15-0BA1-8E80-793F41AD0CB6}"/>
              </a:ext>
            </a:extLst>
          </p:cNvPr>
          <p:cNvGrpSpPr/>
          <p:nvPr/>
        </p:nvGrpSpPr>
        <p:grpSpPr>
          <a:xfrm>
            <a:off x="232570" y="17783668"/>
            <a:ext cx="14760000" cy="6854511"/>
            <a:chOff x="191499" y="4380113"/>
            <a:chExt cx="14760000" cy="6854511"/>
          </a:xfrm>
        </p:grpSpPr>
        <p:sp>
          <p:nvSpPr>
            <p:cNvPr id="13" name="四角形: 角を丸くする 29">
              <a:extLst>
                <a:ext uri="{FF2B5EF4-FFF2-40B4-BE49-F238E27FC236}">
                  <a16:creationId xmlns:a16="http://schemas.microsoft.com/office/drawing/2014/main" id="{1C769F48-58D5-1679-DACB-318FA8F9E3DF}"/>
                </a:ext>
              </a:extLst>
            </p:cNvPr>
            <p:cNvSpPr/>
            <p:nvPr/>
          </p:nvSpPr>
          <p:spPr>
            <a:xfrm>
              <a:off x="191499" y="4755867"/>
              <a:ext cx="14760000" cy="6478757"/>
            </a:xfrm>
            <a:prstGeom prst="roundRect">
              <a:avLst>
                <a:gd name="adj" fmla="val 6417"/>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14" name="四角形: 角を丸くする 30">
              <a:extLst>
                <a:ext uri="{FF2B5EF4-FFF2-40B4-BE49-F238E27FC236}">
                  <a16:creationId xmlns:a16="http://schemas.microsoft.com/office/drawing/2014/main" id="{BF075FB3-0F66-2685-FBC5-BA7513501AD7}"/>
                </a:ext>
              </a:extLst>
            </p:cNvPr>
            <p:cNvSpPr/>
            <p:nvPr/>
          </p:nvSpPr>
          <p:spPr>
            <a:xfrm>
              <a:off x="506889" y="4380113"/>
              <a:ext cx="8227994" cy="743541"/>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Neural Joking Machine[1]</a:t>
              </a:r>
            </a:p>
          </p:txBody>
        </p:sp>
        <p:sp>
          <p:nvSpPr>
            <p:cNvPr id="15" name="テキスト ボックス 14">
              <a:extLst>
                <a:ext uri="{FF2B5EF4-FFF2-40B4-BE49-F238E27FC236}">
                  <a16:creationId xmlns:a16="http://schemas.microsoft.com/office/drawing/2014/main" id="{96426498-9315-7381-86AE-CDBD63175D6C}"/>
                </a:ext>
              </a:extLst>
            </p:cNvPr>
            <p:cNvSpPr txBox="1"/>
            <p:nvPr/>
          </p:nvSpPr>
          <p:spPr>
            <a:xfrm>
              <a:off x="318217" y="5375836"/>
              <a:ext cx="14633281" cy="2677656"/>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a:latin typeface="UD Digi Kyokasho NK-R" panose="02020400000000000000" pitchFamily="18" charset="-128"/>
                  <a:ea typeface="UD Digi Kyokasho NK-R" panose="02020400000000000000" pitchFamily="18" charset="-128"/>
                </a:rPr>
                <a:t>, ImageNet</a:t>
              </a:r>
              <a:r>
                <a:rPr lang="ja-JP" altLang="en-US" sz="2800">
                  <a:latin typeface="UD Digi Kyokasho NK-R" panose="02020400000000000000" pitchFamily="18" charset="-128"/>
                  <a:ea typeface="UD Digi Kyokasho NK-R" panose="02020400000000000000" pitchFamily="18" charset="-128"/>
                </a:rPr>
                <a:t>を事前学習済みの</a:t>
              </a:r>
              <a:r>
                <a:rPr lang="en-US" altLang="ja-JP" sz="2800" dirty="0">
                  <a:solidFill>
                    <a:srgbClr val="00B050"/>
                  </a:solidFill>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を使用</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大喜利⇔画像のデータセットを</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サイトをスクレイピングし作成</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一部の画像に対し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不適な単語を含む大喜利が生成される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事前学習済み</a:t>
              </a:r>
              <a:r>
                <a:rPr lang="en-US" altLang="ja-JP" sz="2800" dirty="0">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が</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特有のアニメ・マンガ画像等に対し</a:t>
              </a:r>
              <a:r>
                <a:rPr lang="en-US" altLang="ja-JP" sz="2800" dirty="0">
                  <a:latin typeface="UD Digi Kyokasho NK-R" panose="02020400000000000000" pitchFamily="18" charset="-128"/>
                  <a:ea typeface="UD Digi Kyokasho NK-R" panose="02020400000000000000" pitchFamily="18" charset="-128"/>
                </a:rPr>
                <a:t>, </a:t>
              </a:r>
            </a:p>
            <a:p>
              <a:pPr lvl="1"/>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特徴抽出できていない可能性がある</a:t>
              </a:r>
              <a:endParaRPr lang="en-US" altLang="ja-JP" sz="2800" dirty="0">
                <a:latin typeface="UD Digi Kyokasho NK-R" panose="02020400000000000000" pitchFamily="18" charset="-128"/>
                <a:ea typeface="UD Digi Kyokasho NK-R" panose="02020400000000000000" pitchFamily="18" charset="-128"/>
              </a:endParaRPr>
            </a:p>
          </p:txBody>
        </p:sp>
      </p:grpSp>
      <p:grpSp>
        <p:nvGrpSpPr>
          <p:cNvPr id="16" name="グループ化 15">
            <a:extLst>
              <a:ext uri="{FF2B5EF4-FFF2-40B4-BE49-F238E27FC236}">
                <a16:creationId xmlns:a16="http://schemas.microsoft.com/office/drawing/2014/main" id="{616ED7B0-C8FA-C46D-B08B-23B37E96A617}"/>
              </a:ext>
            </a:extLst>
          </p:cNvPr>
          <p:cNvGrpSpPr/>
          <p:nvPr/>
        </p:nvGrpSpPr>
        <p:grpSpPr>
          <a:xfrm>
            <a:off x="212936" y="25008417"/>
            <a:ext cx="14760000" cy="9380134"/>
            <a:chOff x="191499" y="4380113"/>
            <a:chExt cx="14760000" cy="9380134"/>
          </a:xfrm>
        </p:grpSpPr>
        <p:sp>
          <p:nvSpPr>
            <p:cNvPr id="17" name="四角形: 角を丸くする 29">
              <a:extLst>
                <a:ext uri="{FF2B5EF4-FFF2-40B4-BE49-F238E27FC236}">
                  <a16:creationId xmlns:a16="http://schemas.microsoft.com/office/drawing/2014/main" id="{4B05E3D0-4699-E5A1-64BB-5A1CFC63D341}"/>
                </a:ext>
              </a:extLst>
            </p:cNvPr>
            <p:cNvSpPr/>
            <p:nvPr/>
          </p:nvSpPr>
          <p:spPr>
            <a:xfrm>
              <a:off x="191499" y="5101306"/>
              <a:ext cx="14760000" cy="8658941"/>
            </a:xfrm>
            <a:prstGeom prst="roundRect">
              <a:avLst>
                <a:gd name="adj" fmla="val 2868"/>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30">
              <a:extLst>
                <a:ext uri="{FF2B5EF4-FFF2-40B4-BE49-F238E27FC236}">
                  <a16:creationId xmlns:a16="http://schemas.microsoft.com/office/drawing/2014/main" id="{1B9C66BC-7CF3-4C13-C82B-343E7DF3E09D}"/>
                </a:ext>
              </a:extLst>
            </p:cNvPr>
            <p:cNvSpPr/>
            <p:nvPr/>
          </p:nvSpPr>
          <p:spPr>
            <a:xfrm>
              <a:off x="506889" y="4380113"/>
              <a:ext cx="10270304" cy="1557846"/>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800" dirty="0" err="1">
                  <a:solidFill>
                    <a:schemeClr val="tx1"/>
                  </a:solidFill>
                  <a:latin typeface="UD デジタル 教科書体 NK-R" panose="02020400000000000000" pitchFamily="18" charset="-128"/>
                  <a:ea typeface="UD デジタル 教科書体 NK-R" panose="02020400000000000000" pitchFamily="18" charset="-128"/>
                </a:rPr>
                <a:t>AutoEncoder</a:t>
              </a: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と</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Pix2Seq</a:t>
              </a: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を用いた</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大喜利生成</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AI</a:t>
              </a: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の実装に関する研究</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[2]</a:t>
              </a: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8103660E-7864-B952-E9D4-8B1BFBE455FD}"/>
                    </a:ext>
                  </a:extLst>
                </p:cNvPr>
                <p:cNvSpPr txBox="1"/>
                <p:nvPr/>
              </p:nvSpPr>
              <p:spPr>
                <a:xfrm>
                  <a:off x="318217" y="6094295"/>
                  <a:ext cx="14633281" cy="7628242"/>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の画像を学習した</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a:t>
                  </a:r>
                  <a:r>
                    <a:rPr lang="ja-JP" altLang="en-US" sz="2800">
                      <a:solidFill>
                        <a:srgbClr val="FFC000"/>
                      </a:solidFill>
                      <a:latin typeface="UD Digi Kyokasho NK-R" panose="02020400000000000000" pitchFamily="18" charset="-128"/>
                      <a:ea typeface="UD Digi Kyokasho NK-R" panose="02020400000000000000" pitchFamily="18" charset="-128"/>
                    </a:rPr>
                    <a:t>エンコーダ</a:t>
                  </a:r>
                  <a:r>
                    <a:rPr lang="ja-JP" altLang="en-US" sz="2800">
                      <a:latin typeface="UD Digi Kyokasho NK-R" panose="02020400000000000000" pitchFamily="18" charset="-128"/>
                      <a:ea typeface="UD Digi Kyokasho NK-R" panose="02020400000000000000" pitchFamily="18" charset="-128"/>
                    </a:rPr>
                    <a:t>を使用</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のデータに適したエンコーダを用いることで，高精度に学習できることが期待できる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　　</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デバイスに適した性能のエンコーダを用いることもできる</a:t>
                  </a:r>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3200" dirty="0" err="1">
                      <a:latin typeface="UD Digi Kyokasho NK-R" panose="02020400000000000000" pitchFamily="18" charset="-128"/>
                      <a:ea typeface="UD Digi Kyokasho NK-R" panose="02020400000000000000" pitchFamily="18" charset="-128"/>
                    </a:rPr>
                    <a:t>AutoEncoder</a:t>
                  </a:r>
                  <a:r>
                    <a:rPr lang="en-US" altLang="ja-JP" sz="3200" dirty="0">
                      <a:latin typeface="UD Digi Kyokasho NK-R" panose="02020400000000000000" pitchFamily="18" charset="-128"/>
                      <a:ea typeface="UD Digi Kyokasho NK-R" panose="02020400000000000000" pitchFamily="18" charset="-128"/>
                    </a:rPr>
                    <a:t>[4]</a:t>
                  </a:r>
                </a:p>
                <a:p>
                  <a:pPr lvl="2"/>
                  <a:r>
                    <a:rPr lang="ja-JP" altLang="en-US" sz="2800">
                      <a:latin typeface="UD Digi Kyokasho NK-R" panose="02020400000000000000" pitchFamily="18" charset="-128"/>
                      <a:ea typeface="UD Digi Kyokasho NK-R" panose="02020400000000000000" pitchFamily="18" charset="-128"/>
                    </a:rPr>
                    <a:t>データの次元圧縮や， 特徴抽出が可能</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学習時にデータに対するアノテーションを必要としない</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任意の構造のエンコーダ・デコーダを定義できる</a:t>
                  </a:r>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は入力されたデータを復元するよう学習する</a:t>
                  </a:r>
                  <a:r>
                    <a:rPr lang="en-US" altLang="ja-JP" sz="2800" dirty="0">
                      <a:latin typeface="UD Digi Kyokasho NK-R" panose="02020400000000000000" pitchFamily="18" charset="-128"/>
                      <a:ea typeface="UD Digi Kyokasho NK-R" panose="02020400000000000000" pitchFamily="18" charset="-128"/>
                    </a:rPr>
                    <a:t>(1)</a:t>
                  </a:r>
                </a:p>
                <a:p>
                  <a:pPr/>
                  <a14:m>
                    <m:oMathPara xmlns:m="http://schemas.openxmlformats.org/officeDocument/2006/math">
                      <m:oMathParaPr>
                        <m:jc m:val="centerGroup"/>
                      </m:oMathParaPr>
                      <m:oMath xmlns:m="http://schemas.openxmlformats.org/officeDocument/2006/math">
                        <m:eqArr>
                          <m:eqArrPr>
                            <m:ctrlPr>
                              <a:rPr lang="en-US" altLang="ja-JP" sz="2800" b="0" i="1" smtClean="0">
                                <a:latin typeface="Cambria Math" panose="02040503050406030204" pitchFamily="18" charset="0"/>
                                <a:ea typeface="UD Digi Kyokasho NK-R" panose="02020400000000000000" pitchFamily="18" charset="-128"/>
                              </a:rPr>
                            </m:ctrlPr>
                          </m:eqArrPr>
                          <m:e>
                            <m:func>
                              <m:funcPr>
                                <m:ctrlPr>
                                  <a:rPr lang="en-US" altLang="ja-JP" sz="2800" b="0" i="1" smtClean="0">
                                    <a:latin typeface="Cambria Math" panose="02040503050406030204" pitchFamily="18" charset="0"/>
                                    <a:ea typeface="UD Digi Kyokasho NK-R" panose="02020400000000000000" pitchFamily="18" charset="-128"/>
                                  </a:rPr>
                                </m:ctrlPr>
                              </m:funcPr>
                              <m:fName>
                                <m:limLow>
                                  <m:limLowPr>
                                    <m:ctrlPr>
                                      <a:rPr lang="en-US" altLang="ja-JP" sz="2800" b="0" i="1" smtClean="0">
                                        <a:latin typeface="Cambria Math" panose="02040503050406030204" pitchFamily="18" charset="0"/>
                                        <a:ea typeface="UD Digi Kyokasho NK-R" panose="02020400000000000000" pitchFamily="18" charset="-128"/>
                                      </a:rPr>
                                    </m:ctrlPr>
                                  </m:limLowPr>
                                  <m:e>
                                    <m:r>
                                      <m:rPr>
                                        <m:sty m:val="p"/>
                                      </m:rPr>
                                      <a:rPr lang="en-US" altLang="ja-JP" sz="2800" b="0" i="0" smtClean="0">
                                        <a:latin typeface="Cambria Math" panose="02040503050406030204" pitchFamily="18" charset="0"/>
                                        <a:ea typeface="UD Digi Kyokasho NK-R" panose="02020400000000000000" pitchFamily="18" charset="-128"/>
                                      </a:rPr>
                                      <m:t>min</m:t>
                                    </m:r>
                                  </m:e>
                                  <m:lim>
                                    <m:sSub>
                                      <m:sSubPr>
                                        <m:ctrlPr>
                                          <a:rPr lang="en-US" altLang="ja-JP" sz="2800" b="0" i="1" smtClean="0">
                                            <a:latin typeface="Cambria Math" panose="02040503050406030204" pitchFamily="18" charset="0"/>
                                            <a:ea typeface="UD Digi Kyokasho NK-R" panose="02020400000000000000" pitchFamily="18" charset="-128"/>
                                          </a:rPr>
                                        </m:ctrlPr>
                                      </m:sSubPr>
                                      <m:e>
                                        <m:r>
                                          <a:rPr lang="en-US" altLang="ja-JP" sz="2800" b="1" i="0" smtClean="0">
                                            <a:latin typeface="Cambria Math" panose="02040503050406030204" pitchFamily="18" charset="0"/>
                                            <a:ea typeface="UD Digi Kyokasho NK-R" panose="02020400000000000000" pitchFamily="18" charset="-128"/>
                                          </a:rPr>
                                          <m:t>𝐰</m:t>
                                        </m:r>
                                      </m:e>
                                      <m:sub>
                                        <m:r>
                                          <a:rPr lang="en-US" altLang="ja-JP" sz="2800" b="0" i="1" smtClean="0">
                                            <a:latin typeface="Cambria Math" panose="02040503050406030204" pitchFamily="18" charset="0"/>
                                            <a:ea typeface="UD Digi Kyokasho NK-R" panose="02020400000000000000" pitchFamily="18" charset="-128"/>
                                          </a:rPr>
                                          <m:t>𝑒</m:t>
                                        </m:r>
                                      </m:sub>
                                    </m:sSub>
                                    <m:r>
                                      <a:rPr lang="en-US" altLang="ja-JP" sz="2800" b="0" i="1" smtClean="0">
                                        <a:latin typeface="Cambria Math" panose="02040503050406030204" pitchFamily="18" charset="0"/>
                                        <a:ea typeface="UD Digi Kyokasho NK-R" panose="02020400000000000000" pitchFamily="18" charset="-128"/>
                                      </a:rPr>
                                      <m:t>,</m:t>
                                    </m:r>
                                    <m:sSub>
                                      <m:sSubPr>
                                        <m:ctrlPr>
                                          <a:rPr lang="en-US" altLang="ja-JP" sz="2800" b="0" i="1" smtClean="0">
                                            <a:latin typeface="Cambria Math" panose="02040503050406030204" pitchFamily="18" charset="0"/>
                                            <a:ea typeface="UD Digi Kyokasho NK-R" panose="02020400000000000000" pitchFamily="18" charset="-128"/>
                                          </a:rPr>
                                        </m:ctrlPr>
                                      </m:sSubPr>
                                      <m:e>
                                        <m:r>
                                          <a:rPr lang="en-US" altLang="ja-JP" sz="2800" b="1" i="0" smtClean="0">
                                            <a:latin typeface="Cambria Math" panose="02040503050406030204" pitchFamily="18" charset="0"/>
                                            <a:ea typeface="UD Digi Kyokasho NK-R" panose="02020400000000000000" pitchFamily="18" charset="-128"/>
                                          </a:rPr>
                                          <m:t>𝐰</m:t>
                                        </m:r>
                                      </m:e>
                                      <m:sub>
                                        <m:r>
                                          <a:rPr lang="en-US" altLang="ja-JP" sz="2800" b="0" i="1" smtClean="0">
                                            <a:latin typeface="Cambria Math" panose="02040503050406030204" pitchFamily="18" charset="0"/>
                                            <a:ea typeface="UD Digi Kyokasho NK-R" panose="02020400000000000000" pitchFamily="18" charset="-128"/>
                                          </a:rPr>
                                          <m:t>𝑑</m:t>
                                        </m:r>
                                      </m:sub>
                                    </m:sSub>
                                  </m:lim>
                                </m:limLow>
                              </m:fName>
                              <m:e>
                                <m:r>
                                  <a:rPr lang="en-US" altLang="ja-JP" sz="2800" i="1">
                                    <a:latin typeface="Cambria Math" panose="02040503050406030204" pitchFamily="18" charset="0"/>
                                    <a:ea typeface="UD Digi Kyokasho NK-R" panose="02020400000000000000" pitchFamily="18" charset="-128"/>
                                  </a:rPr>
                                  <m:t>𝐸</m:t>
                                </m:r>
                                <m:r>
                                  <a:rPr lang="en-US" altLang="ja-JP" sz="2800" b="0" i="1" smtClean="0">
                                    <a:latin typeface="Cambria Math" panose="02040503050406030204" pitchFamily="18" charset="0"/>
                                    <a:ea typeface="UD Digi Kyokasho NK-R" panose="02020400000000000000" pitchFamily="18" charset="-128"/>
                                  </a:rPr>
                                  <m:t>(</m:t>
                                </m:r>
                                <m:r>
                                  <a:rPr kumimoji="1" lang="en-US" altLang="ja-JP" sz="2800" b="1">
                                    <a:latin typeface="Cambria Math" panose="02040503050406030204" pitchFamily="18" charset="0"/>
                                  </a:rPr>
                                  <m:t>𝐈</m:t>
                                </m:r>
                                <m:r>
                                  <a:rPr kumimoji="1" lang="en-US" altLang="ja-JP" sz="2800" b="0" i="1" smtClean="0">
                                    <a:latin typeface="Cambria Math" panose="02040503050406030204" pitchFamily="18" charset="0"/>
                                  </a:rPr>
                                  <m:t>,</m:t>
                                </m:r>
                                <m:r>
                                  <a:rPr kumimoji="1" lang="en-US" altLang="ja-JP" sz="2800" i="1">
                                    <a:latin typeface="Cambria Math" panose="02040503050406030204" pitchFamily="18" charset="0"/>
                                  </a:rPr>
                                  <m:t>𝑑𝑒𝑐</m:t>
                                </m:r>
                                <m:r>
                                  <m:rPr>
                                    <m:nor/>
                                  </m:rPr>
                                  <a:rPr kumimoji="1" lang="en-US" altLang="ja-JP" sz="2800" i="1">
                                    <a:latin typeface="Cambria Math" panose="02040503050406030204" pitchFamily="18" charset="0"/>
                                  </a:rPr>
                                  <m:t>oder</m:t>
                                </m:r>
                                <m:r>
                                  <m:rPr>
                                    <m:nor/>
                                  </m:rPr>
                                  <a:rPr kumimoji="1" lang="en-US" altLang="ja-JP" sz="2800">
                                    <a:latin typeface="Cambria Math" panose="02040503050406030204" pitchFamily="18" charset="0"/>
                                  </a:rPr>
                                  <m:t>(</m:t>
                                </m:r>
                                <m:r>
                                  <m:rPr>
                                    <m:nor/>
                                  </m:rPr>
                                  <a:rPr kumimoji="1" lang="en-US" altLang="ja-JP" sz="2800" i="1">
                                    <a:latin typeface="Cambria Math" panose="02040503050406030204" pitchFamily="18" charset="0"/>
                                  </a:rPr>
                                  <m:t>encoder</m:t>
                                </m:r>
                                <m:r>
                                  <m:rPr>
                                    <m:nor/>
                                  </m:rPr>
                                  <a:rPr kumimoji="1" lang="en-US" altLang="ja-JP" sz="2800">
                                    <a:latin typeface="Cambria Math" panose="02040503050406030204" pitchFamily="18" charset="0"/>
                                  </a:rPr>
                                  <m:t>(</m:t>
                                </m:r>
                                <m:r>
                                  <a:rPr kumimoji="1" lang="en-US" altLang="ja-JP" sz="2800" b="1">
                                    <a:latin typeface="Cambria Math" panose="02040503050406030204" pitchFamily="18" charset="0"/>
                                  </a:rPr>
                                  <m:t>𝐈</m:t>
                                </m:r>
                                <m:r>
                                  <m:rPr>
                                    <m:nor/>
                                  </m:rPr>
                                  <a:rPr kumimoji="1" lang="en-US" altLang="ja-JP" sz="2800">
                                    <a:latin typeface="Cambria Math" panose="02040503050406030204" pitchFamily="18" charset="0"/>
                                  </a:rPr>
                                  <m:t>))</m:t>
                                </m:r>
                                <m:r>
                                  <a:rPr lang="en-US" altLang="ja-JP" sz="2800" b="0" i="1" smtClean="0">
                                    <a:latin typeface="Cambria Math" panose="02040503050406030204" pitchFamily="18" charset="0"/>
                                    <a:ea typeface="UD Digi Kyokasho NK-R" panose="02020400000000000000" pitchFamily="18" charset="-128"/>
                                  </a:rPr>
                                  <m:t>)</m:t>
                                </m:r>
                              </m:e>
                            </m:func>
                          </m:e>
                        </m:eqArr>
                      </m:oMath>
                    </m:oMathPara>
                  </a14:m>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入力</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a:latin typeface="Cambria Math" panose="02040503050406030204" pitchFamily="18" charset="0"/>
                        </a:rPr>
                        <m:t>𝑧</m:t>
                      </m:r>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特徴量</a:t>
                  </a:r>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lang="en-US" altLang="ja-JP" sz="2800" i="1">
                              <a:latin typeface="Cambria Math" panose="02040503050406030204" pitchFamily="18" charset="0"/>
                              <a:ea typeface="UD Digi Kyokasho NK-R" panose="02020400000000000000" pitchFamily="18" charset="-128"/>
                            </a:rPr>
                          </m:ctrlPr>
                        </m:sSubPr>
                        <m:e>
                          <m:r>
                            <a:rPr lang="en-US" altLang="ja-JP" sz="2800" b="1">
                              <a:latin typeface="Cambria Math" panose="02040503050406030204" pitchFamily="18" charset="0"/>
                              <a:ea typeface="UD Digi Kyokasho NK-R" panose="02020400000000000000" pitchFamily="18" charset="-128"/>
                            </a:rPr>
                            <m:t>𝐰</m:t>
                          </m:r>
                        </m:e>
                        <m:sub>
                          <m:r>
                            <a:rPr lang="en-US" altLang="ja-JP" sz="2800" i="1">
                              <a:latin typeface="Cambria Math" panose="02040503050406030204" pitchFamily="18" charset="0"/>
                              <a:ea typeface="UD Digi Kyokasho NK-R" panose="02020400000000000000" pitchFamily="18" charset="-128"/>
                            </a:rPr>
                            <m:t>𝑒</m:t>
                          </m:r>
                        </m:sub>
                      </m:sSub>
                      <m:r>
                        <a:rPr lang="en-US" altLang="ja-JP" sz="2800" i="1">
                          <a:latin typeface="Cambria Math" panose="02040503050406030204" pitchFamily="18" charset="0"/>
                          <a:ea typeface="UD Digi Kyokasho NK-R" panose="02020400000000000000" pitchFamily="18" charset="-128"/>
                        </a:rPr>
                        <m:t>,</m:t>
                      </m:r>
                      <m:sSub>
                        <m:sSubPr>
                          <m:ctrlPr>
                            <a:rPr lang="en-US" altLang="ja-JP" sz="2800" i="1">
                              <a:latin typeface="Cambria Math" panose="02040503050406030204" pitchFamily="18" charset="0"/>
                              <a:ea typeface="UD Digi Kyokasho NK-R" panose="02020400000000000000" pitchFamily="18" charset="-128"/>
                            </a:rPr>
                          </m:ctrlPr>
                        </m:sSubPr>
                        <m:e>
                          <m:r>
                            <a:rPr lang="en-US" altLang="ja-JP" sz="2800" b="1">
                              <a:latin typeface="Cambria Math" panose="02040503050406030204" pitchFamily="18" charset="0"/>
                              <a:ea typeface="UD Digi Kyokasho NK-R" panose="02020400000000000000" pitchFamily="18" charset="-128"/>
                            </a:rPr>
                            <m:t>𝐰</m:t>
                          </m:r>
                        </m:e>
                        <m:sub>
                          <m:r>
                            <a:rPr lang="en-US" altLang="ja-JP" sz="2800" i="1">
                              <a:latin typeface="Cambria Math" panose="02040503050406030204" pitchFamily="18" charset="0"/>
                              <a:ea typeface="UD Digi Kyokasho NK-R" panose="02020400000000000000" pitchFamily="18" charset="-128"/>
                            </a:rPr>
                            <m:t>𝑑</m:t>
                          </m:r>
                        </m:sub>
                      </m:sSub>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エンコーダとデコーダのパラメータ</a:t>
                  </a:r>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lang="en-US" altLang="ja-JP" sz="2800" i="1">
                          <a:latin typeface="Cambria Math" panose="02040503050406030204" pitchFamily="18" charset="0"/>
                          <a:ea typeface="UD Digi Kyokasho NK-R" panose="02020400000000000000" pitchFamily="18" charset="-128"/>
                        </a:rPr>
                        <m:t>𝐸</m:t>
                      </m:r>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任意の誤差関数</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本研究では</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のエンコーダの構造について検討を行う</a:t>
                  </a:r>
                  <a:endParaRPr lang="en-US" altLang="ja-JP" sz="2800" dirty="0">
                    <a:latin typeface="UD Digi Kyokasho NK-R" panose="02020400000000000000" pitchFamily="18" charset="-128"/>
                    <a:ea typeface="UD Digi Kyokasho NK-R" panose="02020400000000000000" pitchFamily="18" charset="-128"/>
                  </a:endParaRPr>
                </a:p>
              </p:txBody>
            </p:sp>
          </mc:Choice>
          <mc:Fallback xmlns="">
            <p:sp>
              <p:nvSpPr>
                <p:cNvPr id="21" name="テキスト ボックス 20">
                  <a:extLst>
                    <a:ext uri="{FF2B5EF4-FFF2-40B4-BE49-F238E27FC236}">
                      <a16:creationId xmlns:a16="http://schemas.microsoft.com/office/drawing/2014/main" id="{8103660E-7864-B952-E9D4-8B1BFBE455FD}"/>
                    </a:ext>
                  </a:extLst>
                </p:cNvPr>
                <p:cNvSpPr txBox="1">
                  <a:spLocks noRot="1" noChangeAspect="1" noMove="1" noResize="1" noEditPoints="1" noAdjustHandles="1" noChangeArrowheads="1" noChangeShapeType="1" noTextEdit="1"/>
                </p:cNvSpPr>
                <p:nvPr/>
              </p:nvSpPr>
              <p:spPr>
                <a:xfrm>
                  <a:off x="318217" y="6094295"/>
                  <a:ext cx="14633281" cy="7628242"/>
                </a:xfrm>
                <a:prstGeom prst="rect">
                  <a:avLst/>
                </a:prstGeom>
                <a:blipFill>
                  <a:blip r:embed="rId30"/>
                  <a:stretch>
                    <a:fillRect t="-832" b="-1331"/>
                  </a:stretch>
                </a:blipFill>
              </p:spPr>
              <p:txBody>
                <a:bodyPr/>
                <a:lstStyle/>
                <a:p>
                  <a:r>
                    <a:rPr lang="ja-JP" altLang="en-US">
                      <a:noFill/>
                    </a:rPr>
                    <a:t> </a:t>
                  </a:r>
                </a:p>
              </p:txBody>
            </p:sp>
          </mc:Fallback>
        </mc:AlternateContent>
      </p:grpSp>
      <p:sp>
        <p:nvSpPr>
          <p:cNvPr id="71" name="正方形/長方形 70">
            <a:extLst>
              <a:ext uri="{FF2B5EF4-FFF2-40B4-BE49-F238E27FC236}">
                <a16:creationId xmlns:a16="http://schemas.microsoft.com/office/drawing/2014/main" id="{C1922F36-5D13-A2B0-A6B8-8A3B6DDAC105}"/>
              </a:ext>
            </a:extLst>
          </p:cNvPr>
          <p:cNvSpPr/>
          <p:nvPr/>
        </p:nvSpPr>
        <p:spPr>
          <a:xfrm>
            <a:off x="4690186" y="30374339"/>
            <a:ext cx="1796586" cy="1374387"/>
          </a:xfrm>
          <a:prstGeom prst="rect">
            <a:avLst/>
          </a:prstGeom>
          <a:solidFill>
            <a:srgbClr val="FFC000"/>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E6ABED7C-E5B2-78C3-4EBE-4A7252D7FCEE}"/>
              </a:ext>
            </a:extLst>
          </p:cNvPr>
          <p:cNvGrpSpPr/>
          <p:nvPr/>
        </p:nvGrpSpPr>
        <p:grpSpPr>
          <a:xfrm>
            <a:off x="1545856" y="30299494"/>
            <a:ext cx="1496736" cy="1496736"/>
            <a:chOff x="1545856" y="16973525"/>
            <a:chExt cx="1496736" cy="1496736"/>
          </a:xfrm>
        </p:grpSpPr>
        <p:pic>
          <p:nvPicPr>
            <p:cNvPr id="24" name="図 23" descr="帽子を被っている女性&#10;&#10;自動的に生成された説明">
              <a:extLst>
                <a:ext uri="{FF2B5EF4-FFF2-40B4-BE49-F238E27FC236}">
                  <a16:creationId xmlns:a16="http://schemas.microsoft.com/office/drawing/2014/main" id="{F4DBBA9F-0A23-EE52-49CE-26421790D6B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C1C759C4-0F65-CC32-E87F-475E9C5143BC}"/>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5" name="テキスト ボックス 24">
                  <a:extLst>
                    <a:ext uri="{FF2B5EF4-FFF2-40B4-BE49-F238E27FC236}">
                      <a16:creationId xmlns:a16="http://schemas.microsoft.com/office/drawing/2014/main" id="{C1C759C4-0F65-CC32-E87F-475E9C5143BC}"/>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31"/>
                  <a:stretch>
                    <a:fillRect b="-5714"/>
                  </a:stretch>
                </a:blipFill>
              </p:spPr>
              <p:txBody>
                <a:bodyPr/>
                <a:lstStyle/>
                <a:p>
                  <a:r>
                    <a:rPr lang="ja-JP" altLang="en-US">
                      <a:noFill/>
                    </a:rPr>
                    <a:t> </a:t>
                  </a:r>
                </a:p>
              </p:txBody>
            </p:sp>
          </mc:Fallback>
        </mc:AlternateContent>
      </p:grpSp>
      <p:cxnSp>
        <p:nvCxnSpPr>
          <p:cNvPr id="38" name="直線矢印コネクタ 37">
            <a:extLst>
              <a:ext uri="{FF2B5EF4-FFF2-40B4-BE49-F238E27FC236}">
                <a16:creationId xmlns:a16="http://schemas.microsoft.com/office/drawing/2014/main" id="{E0A6D5F8-B787-79BA-13C2-9F0C284BFDB6}"/>
              </a:ext>
            </a:extLst>
          </p:cNvPr>
          <p:cNvCxnSpPr>
            <a:cxnSpLocks/>
            <a:stCxn id="24" idx="3"/>
            <a:endCxn id="41" idx="2"/>
          </p:cNvCxnSpPr>
          <p:nvPr/>
        </p:nvCxnSpPr>
        <p:spPr>
          <a:xfrm flipV="1">
            <a:off x="3042592" y="31041394"/>
            <a:ext cx="1853074"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グループ化 38">
            <a:extLst>
              <a:ext uri="{FF2B5EF4-FFF2-40B4-BE49-F238E27FC236}">
                <a16:creationId xmlns:a16="http://schemas.microsoft.com/office/drawing/2014/main" id="{25EB4B6D-2DC5-B7AC-41CE-055879FF73A2}"/>
              </a:ext>
            </a:extLst>
          </p:cNvPr>
          <p:cNvGrpSpPr/>
          <p:nvPr/>
        </p:nvGrpSpPr>
        <p:grpSpPr>
          <a:xfrm>
            <a:off x="4895666" y="30480118"/>
            <a:ext cx="1431984" cy="1122552"/>
            <a:chOff x="5794565" y="9611968"/>
            <a:chExt cx="1431984" cy="1122552"/>
          </a:xfrm>
        </p:grpSpPr>
        <p:sp>
          <p:nvSpPr>
            <p:cNvPr id="41" name="台形 40">
              <a:extLst>
                <a:ext uri="{FF2B5EF4-FFF2-40B4-BE49-F238E27FC236}">
                  <a16:creationId xmlns:a16="http://schemas.microsoft.com/office/drawing/2014/main" id="{D2837E79-FF3C-7953-9085-2F82397EE9D4}"/>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52394F01-7B61-CA49-CE8E-F5865A3032D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42" name="テキスト ボックス 41">
                  <a:extLst>
                    <a:ext uri="{FF2B5EF4-FFF2-40B4-BE49-F238E27FC236}">
                      <a16:creationId xmlns:a16="http://schemas.microsoft.com/office/drawing/2014/main" id="{52394F01-7B61-CA49-CE8E-F5865A3032D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32"/>
                  <a:stretch>
                    <a:fillRect l="-6364" r="-5455" b="-8571"/>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F8BF2742-65B0-D356-0E9B-4A868A6BA9D5}"/>
                  </a:ext>
                </a:extLst>
              </p:cNvPr>
              <p:cNvSpPr txBox="1"/>
              <p:nvPr/>
            </p:nvSpPr>
            <p:spPr>
              <a:xfrm>
                <a:off x="7854200" y="30815856"/>
                <a:ext cx="2610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i="1" smtClean="0">
                          <a:latin typeface="Cambria Math" panose="02040503050406030204" pitchFamily="18" charset="0"/>
                        </a:rPr>
                        <m:t>𝑧</m:t>
                      </m:r>
                    </m:oMath>
                  </m:oMathPara>
                </a14:m>
                <a:endParaRPr kumimoji="1" lang="ja-JP" altLang="en-US" sz="2800" dirty="0"/>
              </a:p>
            </p:txBody>
          </p:sp>
        </mc:Choice>
        <mc:Fallback xmlns="">
          <p:sp>
            <p:nvSpPr>
              <p:cNvPr id="43" name="テキスト ボックス 42">
                <a:extLst>
                  <a:ext uri="{FF2B5EF4-FFF2-40B4-BE49-F238E27FC236}">
                    <a16:creationId xmlns:a16="http://schemas.microsoft.com/office/drawing/2014/main" id="{F8BF2742-65B0-D356-0E9B-4A868A6BA9D5}"/>
                  </a:ext>
                </a:extLst>
              </p:cNvPr>
              <p:cNvSpPr txBox="1">
                <a:spLocks noRot="1" noChangeAspect="1" noMove="1" noResize="1" noEditPoints="1" noAdjustHandles="1" noChangeArrowheads="1" noChangeShapeType="1" noTextEdit="1"/>
              </p:cNvSpPr>
              <p:nvPr/>
            </p:nvSpPr>
            <p:spPr>
              <a:xfrm>
                <a:off x="7854200" y="30815856"/>
                <a:ext cx="261034" cy="430887"/>
              </a:xfrm>
              <a:prstGeom prst="rect">
                <a:avLst/>
              </a:prstGeom>
              <a:blipFill>
                <a:blip r:embed="rId33"/>
                <a:stretch>
                  <a:fillRect l="-19048" r="-14286"/>
                </a:stretch>
              </a:blipFill>
            </p:spPr>
            <p:txBody>
              <a:bodyPr/>
              <a:lstStyle/>
              <a:p>
                <a:r>
                  <a:rPr lang="ja-JP" altLang="en-US">
                    <a:noFill/>
                  </a:rPr>
                  <a:t> </a:t>
                </a:r>
              </a:p>
            </p:txBody>
          </p:sp>
        </mc:Fallback>
      </mc:AlternateContent>
      <p:cxnSp>
        <p:nvCxnSpPr>
          <p:cNvPr id="44" name="直線矢印コネクタ 43">
            <a:extLst>
              <a:ext uri="{FF2B5EF4-FFF2-40B4-BE49-F238E27FC236}">
                <a16:creationId xmlns:a16="http://schemas.microsoft.com/office/drawing/2014/main" id="{581D1025-5FE8-93AE-EDEB-DAF3B14052DA}"/>
              </a:ext>
            </a:extLst>
          </p:cNvPr>
          <p:cNvCxnSpPr>
            <a:cxnSpLocks/>
            <a:stCxn id="42" idx="3"/>
            <a:endCxn id="43" idx="1"/>
          </p:cNvCxnSpPr>
          <p:nvPr/>
        </p:nvCxnSpPr>
        <p:spPr>
          <a:xfrm flipV="1">
            <a:off x="6316764" y="31031300"/>
            <a:ext cx="1537436" cy="75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714E1F2A-4569-4501-DB7F-9F33D9B0CEB0}"/>
              </a:ext>
            </a:extLst>
          </p:cNvPr>
          <p:cNvGrpSpPr/>
          <p:nvPr/>
        </p:nvGrpSpPr>
        <p:grpSpPr>
          <a:xfrm>
            <a:off x="9500859" y="30480118"/>
            <a:ext cx="1431984" cy="1122552"/>
            <a:chOff x="5794565" y="9611968"/>
            <a:chExt cx="1431984" cy="1122552"/>
          </a:xfrm>
        </p:grpSpPr>
        <p:sp>
          <p:nvSpPr>
            <p:cNvPr id="46" name="台形 45">
              <a:extLst>
                <a:ext uri="{FF2B5EF4-FFF2-40B4-BE49-F238E27FC236}">
                  <a16:creationId xmlns:a16="http://schemas.microsoft.com/office/drawing/2014/main" id="{5CAA1B4C-500A-B11C-53E1-5EA9ED4A7D95}"/>
                </a:ext>
              </a:extLst>
            </p:cNvPr>
            <p:cNvSpPr/>
            <p:nvPr/>
          </p:nvSpPr>
          <p:spPr>
            <a:xfrm rot="162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70680F1A-8CC2-FA82-6D68-8014CEE26FD4}"/>
                    </a:ext>
                  </a:extLst>
                </p:cNvPr>
                <p:cNvSpPr txBox="1"/>
                <p:nvPr/>
              </p:nvSpPr>
              <p:spPr>
                <a:xfrm>
                  <a:off x="5827591" y="9955261"/>
                  <a:ext cx="13896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𝑑𝑒𝑐𝑜𝑑𝑒𝑟</m:t>
                        </m:r>
                      </m:oMath>
                    </m:oMathPara>
                  </a14:m>
                  <a:endParaRPr kumimoji="1" lang="ja-JP" altLang="en-US" sz="2800" dirty="0"/>
                </a:p>
              </p:txBody>
            </p:sp>
          </mc:Choice>
          <mc:Fallback xmlns="">
            <p:sp>
              <p:nvSpPr>
                <p:cNvPr id="47" name="テキスト ボックス 46">
                  <a:extLst>
                    <a:ext uri="{FF2B5EF4-FFF2-40B4-BE49-F238E27FC236}">
                      <a16:creationId xmlns:a16="http://schemas.microsoft.com/office/drawing/2014/main" id="{70680F1A-8CC2-FA82-6D68-8014CEE26FD4}"/>
                    </a:ext>
                  </a:extLst>
                </p:cNvPr>
                <p:cNvSpPr txBox="1">
                  <a:spLocks noRot="1" noChangeAspect="1" noMove="1" noResize="1" noEditPoints="1" noAdjustHandles="1" noChangeArrowheads="1" noChangeShapeType="1" noTextEdit="1"/>
                </p:cNvSpPr>
                <p:nvPr/>
              </p:nvSpPr>
              <p:spPr>
                <a:xfrm>
                  <a:off x="5827591" y="9955261"/>
                  <a:ext cx="1389676" cy="430887"/>
                </a:xfrm>
                <a:prstGeom prst="rect">
                  <a:avLst/>
                </a:prstGeom>
                <a:blipFill>
                  <a:blip r:embed="rId34"/>
                  <a:stretch>
                    <a:fillRect l="-5405" r="-4505" b="-8571"/>
                  </a:stretch>
                </a:blipFill>
              </p:spPr>
              <p:txBody>
                <a:bodyPr/>
                <a:lstStyle/>
                <a:p>
                  <a:r>
                    <a:rPr lang="ja-JP" altLang="en-US">
                      <a:noFill/>
                    </a:rPr>
                    <a:t> </a:t>
                  </a:r>
                </a:p>
              </p:txBody>
            </p:sp>
          </mc:Fallback>
        </mc:AlternateContent>
      </p:grpSp>
      <p:cxnSp>
        <p:nvCxnSpPr>
          <p:cNvPr id="49" name="直線矢印コネクタ 48">
            <a:extLst>
              <a:ext uri="{FF2B5EF4-FFF2-40B4-BE49-F238E27FC236}">
                <a16:creationId xmlns:a16="http://schemas.microsoft.com/office/drawing/2014/main" id="{355260CC-C0E8-D419-E8DC-83D05DD6F323}"/>
              </a:ext>
            </a:extLst>
          </p:cNvPr>
          <p:cNvCxnSpPr>
            <a:cxnSpLocks/>
            <a:stCxn id="43" idx="3"/>
            <a:endCxn id="46" idx="0"/>
          </p:cNvCxnSpPr>
          <p:nvPr/>
        </p:nvCxnSpPr>
        <p:spPr>
          <a:xfrm>
            <a:off x="8115234" y="31031300"/>
            <a:ext cx="1385625" cy="100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C833BA0A-A362-C813-3918-2250B5FCC100}"/>
              </a:ext>
            </a:extLst>
          </p:cNvPr>
          <p:cNvGrpSpPr/>
          <p:nvPr/>
        </p:nvGrpSpPr>
        <p:grpSpPr>
          <a:xfrm>
            <a:off x="12792225" y="30290486"/>
            <a:ext cx="1496736" cy="1496736"/>
            <a:chOff x="1545856" y="16973525"/>
            <a:chExt cx="1496736" cy="1496736"/>
          </a:xfrm>
        </p:grpSpPr>
        <p:pic>
          <p:nvPicPr>
            <p:cNvPr id="51" name="図 50" descr="帽子を被っている女性&#10;&#10;自動的に生成された説明">
              <a:extLst>
                <a:ext uri="{FF2B5EF4-FFF2-40B4-BE49-F238E27FC236}">
                  <a16:creationId xmlns:a16="http://schemas.microsoft.com/office/drawing/2014/main" id="{D04AAEC9-9912-214C-E5EB-C6671536A500}"/>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52" name="テキスト ボックス 51">
                  <a:extLst>
                    <a:ext uri="{FF2B5EF4-FFF2-40B4-BE49-F238E27FC236}">
                      <a16:creationId xmlns:a16="http://schemas.microsoft.com/office/drawing/2014/main" id="{1860838F-943D-7B64-F3C4-4F159BEC7B5E}"/>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rPr>
                            </m:ctrlPr>
                          </m:sSupPr>
                          <m:e>
                            <m:r>
                              <a:rPr kumimoji="1" lang="en-US" altLang="ja-JP" sz="2800" b="1">
                                <a:latin typeface="Cambria Math" panose="02040503050406030204" pitchFamily="18" charset="0"/>
                              </a:rPr>
                              <m:t>𝐈</m:t>
                            </m:r>
                          </m:e>
                          <m:sup>
                            <m:r>
                              <a:rPr kumimoji="1" lang="en-US" altLang="ja-JP" sz="2800" b="0" i="0" smtClean="0">
                                <a:latin typeface="Cambria Math" panose="02040503050406030204" pitchFamily="18" charset="0"/>
                              </a:rPr>
                              <m:t>′</m:t>
                            </m:r>
                          </m:sup>
                        </m:sSup>
                      </m:oMath>
                    </m:oMathPara>
                  </a14:m>
                  <a:endParaRPr kumimoji="1" lang="ja-JP" altLang="en-US" sz="2800" dirty="0"/>
                </a:p>
              </p:txBody>
            </p:sp>
          </mc:Choice>
          <mc:Fallback xmlns="">
            <p:sp>
              <p:nvSpPr>
                <p:cNvPr id="52" name="テキスト ボックス 51">
                  <a:extLst>
                    <a:ext uri="{FF2B5EF4-FFF2-40B4-BE49-F238E27FC236}">
                      <a16:creationId xmlns:a16="http://schemas.microsoft.com/office/drawing/2014/main" id="{1860838F-943D-7B64-F3C4-4F159BEC7B5E}"/>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35"/>
                  <a:stretch>
                    <a:fillRect b="-2857"/>
                  </a:stretch>
                </a:blipFill>
              </p:spPr>
              <p:txBody>
                <a:bodyPr/>
                <a:lstStyle/>
                <a:p>
                  <a:r>
                    <a:rPr lang="ja-JP" altLang="en-US">
                      <a:noFill/>
                    </a:rPr>
                    <a:t> </a:t>
                  </a:r>
                </a:p>
              </p:txBody>
            </p:sp>
          </mc:Fallback>
        </mc:AlternateContent>
      </p:grpSp>
      <p:cxnSp>
        <p:nvCxnSpPr>
          <p:cNvPr id="53" name="直線矢印コネクタ 52">
            <a:extLst>
              <a:ext uri="{FF2B5EF4-FFF2-40B4-BE49-F238E27FC236}">
                <a16:creationId xmlns:a16="http://schemas.microsoft.com/office/drawing/2014/main" id="{5AAED562-D412-AFAE-2198-8120CD7A0264}"/>
              </a:ext>
            </a:extLst>
          </p:cNvPr>
          <p:cNvCxnSpPr>
            <a:cxnSpLocks/>
            <a:stCxn id="47" idx="3"/>
            <a:endCxn id="51" idx="1"/>
          </p:cNvCxnSpPr>
          <p:nvPr/>
        </p:nvCxnSpPr>
        <p:spPr>
          <a:xfrm flipV="1">
            <a:off x="10923561" y="31038854"/>
            <a:ext cx="186866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4" name="グループ化 63">
            <a:extLst>
              <a:ext uri="{FF2B5EF4-FFF2-40B4-BE49-F238E27FC236}">
                <a16:creationId xmlns:a16="http://schemas.microsoft.com/office/drawing/2014/main" id="{EA22256A-DA42-F1FD-2076-99F74272C048}"/>
              </a:ext>
            </a:extLst>
          </p:cNvPr>
          <p:cNvGrpSpPr/>
          <p:nvPr/>
        </p:nvGrpSpPr>
        <p:grpSpPr>
          <a:xfrm>
            <a:off x="212935" y="34644279"/>
            <a:ext cx="14760000" cy="5671022"/>
            <a:chOff x="191499" y="4419427"/>
            <a:chExt cx="14760000" cy="5671022"/>
          </a:xfrm>
        </p:grpSpPr>
        <p:sp>
          <p:nvSpPr>
            <p:cNvPr id="65" name="四角形: 角を丸くする 29">
              <a:extLst>
                <a:ext uri="{FF2B5EF4-FFF2-40B4-BE49-F238E27FC236}">
                  <a16:creationId xmlns:a16="http://schemas.microsoft.com/office/drawing/2014/main" id="{BC3E62D6-66DC-7F1E-D140-17AAD6D431E4}"/>
                </a:ext>
              </a:extLst>
            </p:cNvPr>
            <p:cNvSpPr/>
            <p:nvPr/>
          </p:nvSpPr>
          <p:spPr>
            <a:xfrm>
              <a:off x="191499" y="4755867"/>
              <a:ext cx="14760000" cy="5334582"/>
            </a:xfrm>
            <a:prstGeom prst="roundRect">
              <a:avLst>
                <a:gd name="adj" fmla="val 444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66" name="四角形: 角を丸くする 30">
              <a:extLst>
                <a:ext uri="{FF2B5EF4-FFF2-40B4-BE49-F238E27FC236}">
                  <a16:creationId xmlns:a16="http://schemas.microsoft.com/office/drawing/2014/main" id="{DEBB2F63-6934-F810-5853-C2F9DD86091E}"/>
                </a:ext>
              </a:extLst>
            </p:cNvPr>
            <p:cNvSpPr/>
            <p:nvPr/>
          </p:nvSpPr>
          <p:spPr>
            <a:xfrm>
              <a:off x="506889" y="4419427"/>
              <a:ext cx="3445798" cy="704227"/>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データセット</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67" name="テキスト ボックス 66">
              <a:extLst>
                <a:ext uri="{FF2B5EF4-FFF2-40B4-BE49-F238E27FC236}">
                  <a16:creationId xmlns:a16="http://schemas.microsoft.com/office/drawing/2014/main" id="{E638F061-0305-31B9-29E9-EE6E693ADF8C}"/>
                </a:ext>
              </a:extLst>
            </p:cNvPr>
            <p:cNvSpPr txBox="1"/>
            <p:nvPr/>
          </p:nvSpPr>
          <p:spPr>
            <a:xfrm>
              <a:off x="318217" y="5375836"/>
              <a:ext cx="14633281" cy="954107"/>
            </a:xfrm>
            <a:prstGeom prst="rect">
              <a:avLst/>
            </a:prstGeom>
            <a:noFill/>
          </p:spPr>
          <p:txBody>
            <a:bodyPr wrap="square">
              <a:spAutoFit/>
            </a:bodyPr>
            <a:lstStyle/>
            <a:p>
              <a:pPr lvl="1"/>
              <a:r>
                <a:rPr lang="en-US" altLang="ja-JP" sz="2800" dirty="0">
                  <a:latin typeface="UD Digi Kyokasho NK-R" panose="02020400000000000000" pitchFamily="18" charset="-128"/>
                  <a:ea typeface="UD Digi Kyokasho NK-R" panose="02020400000000000000" pitchFamily="18" charset="-128"/>
                </a:rPr>
                <a:t>[1]</a:t>
              </a:r>
              <a:r>
                <a:rPr lang="ja-JP" altLang="en-US" sz="2800">
                  <a:latin typeface="UD Digi Kyokasho NK-R" panose="02020400000000000000" pitchFamily="18" charset="-128"/>
                  <a:ea typeface="UD Digi Kyokasho NK-R" panose="02020400000000000000" pitchFamily="18" charset="-128"/>
                </a:rPr>
                <a:t>に倣い</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大喜利⇔画像データセットを作成</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画像</a:t>
              </a:r>
              <a:r>
                <a:rPr lang="en-US" altLang="ja-JP" sz="2800" dirty="0">
                  <a:latin typeface="UD Digi Kyokasho NK-R" panose="02020400000000000000" pitchFamily="18" charset="-128"/>
                  <a:ea typeface="UD Digi Kyokasho NK-R" panose="02020400000000000000" pitchFamily="18" charset="-128"/>
                </a:rPr>
                <a:t> : 88102</a:t>
              </a:r>
              <a:r>
                <a:rPr lang="ja-JP" altLang="en-US" sz="2800">
                  <a:latin typeface="UD Digi Kyokasho NK-R" panose="02020400000000000000" pitchFamily="18" charset="-128"/>
                  <a:ea typeface="UD Digi Kyokasho NK-R" panose="02020400000000000000" pitchFamily="18" charset="-128"/>
                </a:rPr>
                <a:t>枚</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a:t>
              </a:r>
              <a:r>
                <a:rPr lang="en-US" altLang="ja-JP" sz="2800" dirty="0">
                  <a:latin typeface="UD Digi Kyokasho NK-R" panose="02020400000000000000" pitchFamily="18" charset="-128"/>
                  <a:ea typeface="UD Digi Kyokasho NK-R" panose="02020400000000000000" pitchFamily="18" charset="-128"/>
                </a:rPr>
                <a:t> : 759501</a:t>
              </a:r>
              <a:r>
                <a:rPr lang="ja-JP" altLang="en-US" sz="2800">
                  <a:latin typeface="UD Digi Kyokasho NK-R" panose="02020400000000000000" pitchFamily="18" charset="-128"/>
                  <a:ea typeface="UD Digi Kyokasho NK-R" panose="02020400000000000000" pitchFamily="18" charset="-128"/>
                </a:rPr>
                <a:t>文章</a:t>
              </a:r>
              <a:endParaRPr lang="en-US" altLang="ja-JP" sz="2800" dirty="0">
                <a:latin typeface="UD Digi Kyokasho NK-R" panose="02020400000000000000" pitchFamily="18" charset="-128"/>
                <a:ea typeface="UD Digi Kyokasho NK-R" panose="02020400000000000000" pitchFamily="18" charset="-128"/>
              </a:endParaRPr>
            </a:p>
          </p:txBody>
        </p:sp>
      </p:grpSp>
      <p:graphicFrame>
        <p:nvGraphicFramePr>
          <p:cNvPr id="68" name="表 74">
            <a:extLst>
              <a:ext uri="{FF2B5EF4-FFF2-40B4-BE49-F238E27FC236}">
                <a16:creationId xmlns:a16="http://schemas.microsoft.com/office/drawing/2014/main" id="{FF77A009-441A-8E1E-3C0C-87773C6E561E}"/>
              </a:ext>
            </a:extLst>
          </p:cNvPr>
          <p:cNvGraphicFramePr>
            <a:graphicFrameLocks noGrp="1"/>
          </p:cNvGraphicFramePr>
          <p:nvPr>
            <p:extLst>
              <p:ext uri="{D42A27DB-BD31-4B8C-83A1-F6EECF244321}">
                <p14:modId xmlns:p14="http://schemas.microsoft.com/office/powerpoint/2010/main" val="1579348240"/>
              </p:ext>
            </p:extLst>
          </p:nvPr>
        </p:nvGraphicFramePr>
        <p:xfrm>
          <a:off x="395346" y="36579410"/>
          <a:ext cx="14271298" cy="3546691"/>
        </p:xfrm>
        <a:graphic>
          <a:graphicData uri="http://schemas.openxmlformats.org/drawingml/2006/table">
            <a:tbl>
              <a:tblPr firstRow="1" bandRow="1">
                <a:tableStyleId>{7DF18680-E054-41AD-8BC1-D1AEF772440D}</a:tableStyleId>
              </a:tblPr>
              <a:tblGrid>
                <a:gridCol w="7135649">
                  <a:extLst>
                    <a:ext uri="{9D8B030D-6E8A-4147-A177-3AD203B41FA5}">
                      <a16:colId xmlns:a16="http://schemas.microsoft.com/office/drawing/2014/main" val="1696693587"/>
                    </a:ext>
                  </a:extLst>
                </a:gridCol>
                <a:gridCol w="7135649">
                  <a:extLst>
                    <a:ext uri="{9D8B030D-6E8A-4147-A177-3AD203B41FA5}">
                      <a16:colId xmlns:a16="http://schemas.microsoft.com/office/drawing/2014/main" val="693706453"/>
                    </a:ext>
                  </a:extLst>
                </a:gridCol>
              </a:tblGrid>
              <a:tr h="2019643">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1958493544"/>
                  </a:ext>
                </a:extLst>
              </a:tr>
              <a:tr h="1518849">
                <a:tc>
                  <a:txBody>
                    <a:bodyPr/>
                    <a:lstStyle/>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宿題制度を廃止にする</a:t>
                      </a:r>
                      <a:endParaRPr lang="en-US" altLang="ja-JP" sz="2800" dirty="0">
                        <a:latin typeface="UD Digi Kyokasho NK-R" panose="02020400000000000000" pitchFamily="18" charset="-128"/>
                        <a:ea typeface="UD Digi Kyokasho NK-R" panose="02020400000000000000" pitchFamily="18" charset="-128"/>
                      </a:endParaRPr>
                    </a:p>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首相がキムタク</a:t>
                      </a:r>
                      <a:endParaRPr lang="en-US" altLang="ja-JP" sz="2800" dirty="0">
                        <a:latin typeface="UD Digi Kyokasho NK-R" panose="02020400000000000000" pitchFamily="18" charset="-128"/>
                        <a:ea typeface="UD Digi Kyokasho NK-R" panose="02020400000000000000" pitchFamily="18" charset="-128"/>
                      </a:endParaRPr>
                    </a:p>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全体的にシュッとしてる</a:t>
                      </a:r>
                      <a:endParaRPr lang="en-US" altLang="ja-JP" sz="2800" dirty="0">
                        <a:latin typeface="UD Digi Kyokasho NK-R" panose="02020400000000000000" pitchFamily="18" charset="-128"/>
                        <a:ea typeface="UD Digi Kyokasho NK-R" panose="02020400000000000000" pitchFamily="18" charset="-128"/>
                      </a:endParaRPr>
                    </a:p>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しゃべってる時たまに白目を剥く</a:t>
                      </a:r>
                      <a:endParaRPr lang="en-US" altLang="ja-JP" sz="2800" dirty="0">
                        <a:latin typeface="UD Digi Kyokasho NK-R" panose="02020400000000000000" pitchFamily="18" charset="-128"/>
                        <a:ea typeface="UD Digi Kyokasho NK-R" panose="02020400000000000000" pitchFamily="18" charset="-128"/>
                      </a:endParaRPr>
                    </a:p>
                  </a:txBody>
                  <a:tcPr/>
                </a:tc>
                <a:tc>
                  <a:txBody>
                    <a:bodyPr/>
                    <a:lstStyle/>
                    <a:p>
                      <a:pPr marL="285750" indent="-285750">
                        <a:lnSpc>
                          <a:spcPts val="2760"/>
                        </a:lnSpc>
                        <a:buFont typeface="Arial" panose="020B0604020202020204" pitchFamily="34" charset="0"/>
                        <a:buChar char="•"/>
                      </a:pPr>
                      <a:r>
                        <a:rPr lang="ja-JP" altLang="en-US" sz="2800" spc="-100" baseline="0">
                          <a:latin typeface="UD Digi Kyokasho NK-R" panose="02020400000000000000" pitchFamily="18" charset="-128"/>
                          <a:ea typeface="UD Digi Kyokasho NK-R" panose="02020400000000000000" pitchFamily="18" charset="-128"/>
                        </a:rPr>
                        <a:t>背後霊とｼﾝｸﾛ</a:t>
                      </a:r>
                      <a:endParaRPr lang="en-US" altLang="ja-JP" sz="2800" spc="-100" baseline="0" dirty="0">
                        <a:latin typeface="UD Digi Kyokasho NK-R" panose="02020400000000000000" pitchFamily="18" charset="-128"/>
                        <a:ea typeface="UD Digi Kyokasho NK-R" panose="02020400000000000000" pitchFamily="18" charset="-128"/>
                      </a:endParaRPr>
                    </a:p>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spc="-100" baseline="0">
                          <a:latin typeface="UD Digi Kyokasho NK-R" panose="02020400000000000000" pitchFamily="18" charset="-128"/>
                          <a:ea typeface="UD Digi Kyokasho NK-R" panose="02020400000000000000" pitchFamily="18" charset="-128"/>
                        </a:rPr>
                        <a:t>交信中</a:t>
                      </a:r>
                      <a:endParaRPr lang="en-US" altLang="ja-JP" sz="2800" spc="-100" baseline="0" dirty="0">
                        <a:latin typeface="UD Digi Kyokasho NK-R" panose="02020400000000000000" pitchFamily="18" charset="-128"/>
                        <a:ea typeface="UD Digi Kyokasho NK-R" panose="02020400000000000000" pitchFamily="18" charset="-128"/>
                      </a:endParaRPr>
                    </a:p>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spc="-100" baseline="0">
                          <a:latin typeface="UD Digi Kyokasho NK-R" panose="02020400000000000000" pitchFamily="18" charset="-128"/>
                          <a:ea typeface="UD Digi Kyokasho NK-R" panose="02020400000000000000" pitchFamily="18" charset="-128"/>
                        </a:rPr>
                        <a:t>この匂い</a:t>
                      </a:r>
                      <a:r>
                        <a:rPr lang="en-US" altLang="ja-JP" sz="2800" spc="-100" baseline="0" dirty="0">
                          <a:latin typeface="UD Digi Kyokasho NK-R" panose="02020400000000000000" pitchFamily="18" charset="-128"/>
                          <a:ea typeface="UD Digi Kyokasho NK-R" panose="02020400000000000000" pitchFamily="18" charset="-128"/>
                        </a:rPr>
                        <a:t>…</a:t>
                      </a:r>
                      <a:r>
                        <a:rPr lang="ja-JP" altLang="en-US" sz="2800" spc="-100" baseline="0">
                          <a:latin typeface="UD Digi Kyokasho NK-R" panose="02020400000000000000" pitchFamily="18" charset="-128"/>
                          <a:ea typeface="UD Digi Kyokasho NK-R" panose="02020400000000000000" pitchFamily="18" charset="-128"/>
                        </a:rPr>
                        <a:t>もしかしてシチュー！？</a:t>
                      </a:r>
                      <a:endParaRPr lang="en-US" altLang="ja-JP" sz="2800" spc="-100" baseline="0" dirty="0">
                        <a:latin typeface="UD Digi Kyokasho NK-R" panose="02020400000000000000" pitchFamily="18" charset="-128"/>
                        <a:ea typeface="UD Digi Kyokasho NK-R" panose="02020400000000000000" pitchFamily="18" charset="-128"/>
                      </a:endParaRPr>
                    </a:p>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spc="-100" baseline="0">
                          <a:latin typeface="UD Digi Kyokasho NK-R" panose="02020400000000000000" pitchFamily="18" charset="-128"/>
                          <a:ea typeface="UD Digi Kyokasho NK-R" panose="02020400000000000000" pitchFamily="18" charset="-128"/>
                        </a:rPr>
                        <a:t>どちらかが生き別れた兄ちゃんらしいんだけど</a:t>
                      </a:r>
                    </a:p>
                  </a:txBody>
                  <a:tcPr/>
                </a:tc>
                <a:extLst>
                  <a:ext uri="{0D108BD9-81ED-4DB2-BD59-A6C34878D82A}">
                    <a16:rowId xmlns:a16="http://schemas.microsoft.com/office/drawing/2014/main" val="311803853"/>
                  </a:ext>
                </a:extLst>
              </a:tr>
            </a:tbl>
          </a:graphicData>
        </a:graphic>
      </p:graphicFrame>
      <p:pic>
        <p:nvPicPr>
          <p:cNvPr id="69" name="図 68">
            <a:extLst>
              <a:ext uri="{FF2B5EF4-FFF2-40B4-BE49-F238E27FC236}">
                <a16:creationId xmlns:a16="http://schemas.microsoft.com/office/drawing/2014/main" id="{E897CAFB-8BA1-1DB0-2BC3-ED045A07E1D5}"/>
              </a:ext>
            </a:extLst>
          </p:cNvPr>
          <p:cNvPicPr>
            <a:picLocks noChangeAspect="1"/>
          </p:cNvPicPr>
          <p:nvPr/>
        </p:nvPicPr>
        <p:blipFill>
          <a:blip r:embed="rId36"/>
          <a:stretch>
            <a:fillRect/>
          </a:stretch>
        </p:blipFill>
        <p:spPr>
          <a:xfrm>
            <a:off x="2891352" y="36575849"/>
            <a:ext cx="2035519" cy="2035519"/>
          </a:xfrm>
          <a:prstGeom prst="rect">
            <a:avLst/>
          </a:prstGeom>
        </p:spPr>
      </p:pic>
      <p:pic>
        <p:nvPicPr>
          <p:cNvPr id="70" name="図 69">
            <a:extLst>
              <a:ext uri="{FF2B5EF4-FFF2-40B4-BE49-F238E27FC236}">
                <a16:creationId xmlns:a16="http://schemas.microsoft.com/office/drawing/2014/main" id="{2795E0AC-2BE9-214A-30D9-FE36A5EC60E2}"/>
              </a:ext>
            </a:extLst>
          </p:cNvPr>
          <p:cNvPicPr>
            <a:picLocks noChangeAspect="1"/>
          </p:cNvPicPr>
          <p:nvPr/>
        </p:nvPicPr>
        <p:blipFill>
          <a:blip r:embed="rId37"/>
          <a:stretch>
            <a:fillRect/>
          </a:stretch>
        </p:blipFill>
        <p:spPr>
          <a:xfrm>
            <a:off x="10038747" y="36561655"/>
            <a:ext cx="2035520" cy="2035520"/>
          </a:xfrm>
          <a:prstGeom prst="rect">
            <a:avLst/>
          </a:prstGeom>
        </p:spPr>
      </p:pic>
      <p:pic>
        <p:nvPicPr>
          <p:cNvPr id="72" name="図 71" descr="帽子を被っている女性&#10;&#10;自動的に生成された説明">
            <a:extLst>
              <a:ext uri="{FF2B5EF4-FFF2-40B4-BE49-F238E27FC236}">
                <a16:creationId xmlns:a16="http://schemas.microsoft.com/office/drawing/2014/main" id="{5A1F6BED-4C84-6E02-F1A2-D2783395046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516938" y="22706920"/>
            <a:ext cx="1496736" cy="1496736"/>
          </a:xfrm>
          <a:prstGeom prst="rect">
            <a:avLst/>
          </a:prstGeom>
        </p:spPr>
      </p:pic>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25180291-E602-010E-5ADF-791F7E05AAF7}"/>
                  </a:ext>
                </a:extLst>
              </p:cNvPr>
              <p:cNvSpPr txBox="1"/>
              <p:nvPr/>
            </p:nvSpPr>
            <p:spPr>
              <a:xfrm>
                <a:off x="2031060" y="21735543"/>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73" name="テキスト ボックス 72">
                <a:extLst>
                  <a:ext uri="{FF2B5EF4-FFF2-40B4-BE49-F238E27FC236}">
                    <a16:creationId xmlns:a16="http://schemas.microsoft.com/office/drawing/2014/main" id="{25180291-E602-010E-5ADF-791F7E05AAF7}"/>
                  </a:ext>
                </a:extLst>
              </p:cNvPr>
              <p:cNvSpPr txBox="1">
                <a:spLocks noRot="1" noChangeAspect="1" noMove="1" noResize="1" noEditPoints="1" noAdjustHandles="1" noChangeArrowheads="1" noChangeShapeType="1" noTextEdit="1"/>
              </p:cNvSpPr>
              <p:nvPr/>
            </p:nvSpPr>
            <p:spPr>
              <a:xfrm>
                <a:off x="2031060" y="21735543"/>
                <a:ext cx="471668" cy="430887"/>
              </a:xfrm>
              <a:prstGeom prst="rect">
                <a:avLst/>
              </a:prstGeom>
              <a:blipFill>
                <a:blip r:embed="rId38"/>
                <a:stretch>
                  <a:fillRect l="-7692" r="-2564"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5" name="テキスト ボックス 74">
                <a:extLst>
                  <a:ext uri="{FF2B5EF4-FFF2-40B4-BE49-F238E27FC236}">
                    <a16:creationId xmlns:a16="http://schemas.microsoft.com/office/drawing/2014/main" id="{F0C44F22-620F-3C73-48DC-FB57F577FD34}"/>
                  </a:ext>
                </a:extLst>
              </p:cNvPr>
              <p:cNvSpPr txBox="1"/>
              <p:nvPr/>
            </p:nvSpPr>
            <p:spPr>
              <a:xfrm>
                <a:off x="1984008" y="23230836"/>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75" name="テキスト ボックス 74">
                <a:extLst>
                  <a:ext uri="{FF2B5EF4-FFF2-40B4-BE49-F238E27FC236}">
                    <a16:creationId xmlns:a16="http://schemas.microsoft.com/office/drawing/2014/main" id="{F0C44F22-620F-3C73-48DC-FB57F577FD34}"/>
                  </a:ext>
                </a:extLst>
              </p:cNvPr>
              <p:cNvSpPr txBox="1">
                <a:spLocks noRot="1" noChangeAspect="1" noMove="1" noResize="1" noEditPoints="1" noAdjustHandles="1" noChangeArrowheads="1" noChangeShapeType="1" noTextEdit="1"/>
              </p:cNvSpPr>
              <p:nvPr/>
            </p:nvSpPr>
            <p:spPr>
              <a:xfrm>
                <a:off x="1984008" y="23230836"/>
                <a:ext cx="492507" cy="430887"/>
              </a:xfrm>
              <a:prstGeom prst="rect">
                <a:avLst/>
              </a:prstGeom>
              <a:blipFill>
                <a:blip r:embed="rId39"/>
                <a:stretch>
                  <a:fillRect b="-2857"/>
                </a:stretch>
              </a:blipFill>
            </p:spPr>
            <p:txBody>
              <a:bodyPr/>
              <a:lstStyle/>
              <a:p>
                <a:r>
                  <a:rPr lang="ja-JP" altLang="en-US">
                    <a:noFill/>
                  </a:rPr>
                  <a:t> </a:t>
                </a:r>
              </a:p>
            </p:txBody>
          </p:sp>
        </mc:Fallback>
      </mc:AlternateContent>
      <p:cxnSp>
        <p:nvCxnSpPr>
          <p:cNvPr id="76" name="直線矢印コネクタ 75">
            <a:extLst>
              <a:ext uri="{FF2B5EF4-FFF2-40B4-BE49-F238E27FC236}">
                <a16:creationId xmlns:a16="http://schemas.microsoft.com/office/drawing/2014/main" id="{AC58F5BE-4DEC-15C7-78C9-7802CBFEA9E4}"/>
              </a:ext>
            </a:extLst>
          </p:cNvPr>
          <p:cNvCxnSpPr>
            <a:cxnSpLocks/>
            <a:stCxn id="73" idx="3"/>
            <a:endCxn id="82" idx="1"/>
          </p:cNvCxnSpPr>
          <p:nvPr/>
        </p:nvCxnSpPr>
        <p:spPr>
          <a:xfrm>
            <a:off x="2502728" y="21950987"/>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79E65BC1-0429-6466-2320-AA8CD5117ACB}"/>
              </a:ext>
            </a:extLst>
          </p:cNvPr>
          <p:cNvCxnSpPr>
            <a:cxnSpLocks/>
            <a:stCxn id="82" idx="3"/>
            <a:endCxn id="92" idx="1"/>
          </p:cNvCxnSpPr>
          <p:nvPr/>
        </p:nvCxnSpPr>
        <p:spPr>
          <a:xfrm flipV="1">
            <a:off x="5608938" y="21946977"/>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19">
            <a:extLst>
              <a:ext uri="{FF2B5EF4-FFF2-40B4-BE49-F238E27FC236}">
                <a16:creationId xmlns:a16="http://schemas.microsoft.com/office/drawing/2014/main" id="{D885CFCD-7B7C-36A9-6816-EDF99534A948}"/>
              </a:ext>
            </a:extLst>
          </p:cNvPr>
          <p:cNvCxnSpPr>
            <a:cxnSpLocks/>
            <a:stCxn id="92" idx="3"/>
            <a:endCxn id="95" idx="1"/>
          </p:cNvCxnSpPr>
          <p:nvPr/>
        </p:nvCxnSpPr>
        <p:spPr>
          <a:xfrm>
            <a:off x="8951274" y="21946977"/>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F5DC9AA1-8E23-5762-429B-77BE90D206A9}"/>
              </a:ext>
            </a:extLst>
          </p:cNvPr>
          <p:cNvCxnSpPr>
            <a:cxnSpLocks/>
            <a:stCxn id="95" idx="3"/>
            <a:endCxn id="80" idx="1"/>
          </p:cNvCxnSpPr>
          <p:nvPr/>
        </p:nvCxnSpPr>
        <p:spPr>
          <a:xfrm>
            <a:off x="12047667" y="22568011"/>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テキスト ボックス 79">
                <a:extLst>
                  <a:ext uri="{FF2B5EF4-FFF2-40B4-BE49-F238E27FC236}">
                    <a16:creationId xmlns:a16="http://schemas.microsoft.com/office/drawing/2014/main" id="{B45F6316-A026-50D1-5F87-0ED7677188C8}"/>
                  </a:ext>
                </a:extLst>
              </p:cNvPr>
              <p:cNvSpPr txBox="1"/>
              <p:nvPr/>
            </p:nvSpPr>
            <p:spPr>
              <a:xfrm>
                <a:off x="12904337" y="22367074"/>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80" name="テキスト ボックス 79">
                <a:extLst>
                  <a:ext uri="{FF2B5EF4-FFF2-40B4-BE49-F238E27FC236}">
                    <a16:creationId xmlns:a16="http://schemas.microsoft.com/office/drawing/2014/main" id="{B45F6316-A026-50D1-5F87-0ED7677188C8}"/>
                  </a:ext>
                </a:extLst>
              </p:cNvPr>
              <p:cNvSpPr txBox="1">
                <a:spLocks noRot="1" noChangeAspect="1" noMove="1" noResize="1" noEditPoints="1" noAdjustHandles="1" noChangeArrowheads="1" noChangeShapeType="1" noTextEdit="1"/>
              </p:cNvSpPr>
              <p:nvPr/>
            </p:nvSpPr>
            <p:spPr>
              <a:xfrm>
                <a:off x="12904337" y="22367074"/>
                <a:ext cx="814710" cy="430887"/>
              </a:xfrm>
              <a:prstGeom prst="rect">
                <a:avLst/>
              </a:prstGeom>
              <a:blipFill>
                <a:blip r:embed="rId40"/>
                <a:stretch>
                  <a:fillRect l="-6250" r="-4688" b="-11429"/>
                </a:stretch>
              </a:blipFill>
            </p:spPr>
            <p:txBody>
              <a:bodyPr/>
              <a:lstStyle/>
              <a:p>
                <a:r>
                  <a:rPr lang="ja-JP" altLang="en-US">
                    <a:noFill/>
                  </a:rPr>
                  <a:t> </a:t>
                </a:r>
              </a:p>
            </p:txBody>
          </p:sp>
        </mc:Fallback>
      </mc:AlternateContent>
      <p:grpSp>
        <p:nvGrpSpPr>
          <p:cNvPr id="81" name="グループ化 80">
            <a:extLst>
              <a:ext uri="{FF2B5EF4-FFF2-40B4-BE49-F238E27FC236}">
                <a16:creationId xmlns:a16="http://schemas.microsoft.com/office/drawing/2014/main" id="{99BFB386-2063-DDDE-3BC3-B1B8DE86EAAD}"/>
              </a:ext>
            </a:extLst>
          </p:cNvPr>
          <p:cNvGrpSpPr/>
          <p:nvPr/>
        </p:nvGrpSpPr>
        <p:grpSpPr>
          <a:xfrm>
            <a:off x="3665938" y="21593423"/>
            <a:ext cx="1943000" cy="719356"/>
            <a:chOff x="3749692" y="11369202"/>
            <a:chExt cx="1943000" cy="719356"/>
          </a:xfrm>
        </p:grpSpPr>
        <p:sp>
          <p:nvSpPr>
            <p:cNvPr id="82" name="正方形/長方形 81">
              <a:extLst>
                <a:ext uri="{FF2B5EF4-FFF2-40B4-BE49-F238E27FC236}">
                  <a16:creationId xmlns:a16="http://schemas.microsoft.com/office/drawing/2014/main" id="{5394E1AE-5634-F5CC-9018-B087DA7B0D39}"/>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83" name="テキスト ボックス 82">
                  <a:extLst>
                    <a:ext uri="{FF2B5EF4-FFF2-40B4-BE49-F238E27FC236}">
                      <a16:creationId xmlns:a16="http://schemas.microsoft.com/office/drawing/2014/main" id="{0716E997-542C-1EE7-FD83-AC763A65279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83" name="テキスト ボックス 82">
                  <a:extLst>
                    <a:ext uri="{FF2B5EF4-FFF2-40B4-BE49-F238E27FC236}">
                      <a16:creationId xmlns:a16="http://schemas.microsoft.com/office/drawing/2014/main" id="{0716E997-542C-1EE7-FD83-AC763A65279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24"/>
                  <a:stretch>
                    <a:fillRect l="-5960" t="-2857" r="-5960" b="-31429"/>
                  </a:stretch>
                </a:blipFill>
              </p:spPr>
              <p:txBody>
                <a:bodyPr/>
                <a:lstStyle/>
                <a:p>
                  <a:r>
                    <a:rPr lang="ja-JP" altLang="en-US">
                      <a:noFill/>
                    </a:rPr>
                    <a:t> </a:t>
                  </a:r>
                </a:p>
              </p:txBody>
            </p:sp>
          </mc:Fallback>
        </mc:AlternateContent>
      </p:grpSp>
      <p:sp>
        <p:nvSpPr>
          <p:cNvPr id="97" name="正方形/長方形 96">
            <a:extLst>
              <a:ext uri="{FF2B5EF4-FFF2-40B4-BE49-F238E27FC236}">
                <a16:creationId xmlns:a16="http://schemas.microsoft.com/office/drawing/2014/main" id="{8ABDF078-AA56-21F9-7837-815BBE1BCFDC}"/>
              </a:ext>
            </a:extLst>
          </p:cNvPr>
          <p:cNvSpPr/>
          <p:nvPr/>
        </p:nvSpPr>
        <p:spPr>
          <a:xfrm>
            <a:off x="4820160" y="22574454"/>
            <a:ext cx="2851422" cy="1803974"/>
          </a:xfrm>
          <a:prstGeom prst="rect">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6" name="直線矢印コネクタ 85">
            <a:extLst>
              <a:ext uri="{FF2B5EF4-FFF2-40B4-BE49-F238E27FC236}">
                <a16:creationId xmlns:a16="http://schemas.microsoft.com/office/drawing/2014/main" id="{E757EF45-4B44-8C9E-67D8-0DA7E1C3B9B9}"/>
              </a:ext>
            </a:extLst>
          </p:cNvPr>
          <p:cNvCxnSpPr>
            <a:cxnSpLocks/>
            <a:stCxn id="72" idx="3"/>
            <a:endCxn id="89" idx="2"/>
          </p:cNvCxnSpPr>
          <p:nvPr/>
        </p:nvCxnSpPr>
        <p:spPr>
          <a:xfrm>
            <a:off x="3013674" y="23455288"/>
            <a:ext cx="1984373" cy="238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22">
            <a:extLst>
              <a:ext uri="{FF2B5EF4-FFF2-40B4-BE49-F238E27FC236}">
                <a16:creationId xmlns:a16="http://schemas.microsoft.com/office/drawing/2014/main" id="{342BEC40-CD51-CBC3-46AE-D845BDA91FEB}"/>
              </a:ext>
            </a:extLst>
          </p:cNvPr>
          <p:cNvCxnSpPr>
            <a:cxnSpLocks/>
            <a:stCxn id="89" idx="0"/>
            <a:endCxn id="95" idx="1"/>
          </p:cNvCxnSpPr>
          <p:nvPr/>
        </p:nvCxnSpPr>
        <p:spPr>
          <a:xfrm flipV="1">
            <a:off x="7431132" y="22568011"/>
            <a:ext cx="2673535" cy="911147"/>
          </a:xfrm>
          <a:prstGeom prst="bentConnector3">
            <a:avLst>
              <a:gd name="adj1" fmla="val 78339"/>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8" name="グループ化 87">
            <a:extLst>
              <a:ext uri="{FF2B5EF4-FFF2-40B4-BE49-F238E27FC236}">
                <a16:creationId xmlns:a16="http://schemas.microsoft.com/office/drawing/2014/main" id="{D2219FC2-26FB-3961-A8F3-9C71EFF9A4AD}"/>
              </a:ext>
            </a:extLst>
          </p:cNvPr>
          <p:cNvGrpSpPr/>
          <p:nvPr/>
        </p:nvGrpSpPr>
        <p:grpSpPr>
          <a:xfrm>
            <a:off x="4998047" y="22730789"/>
            <a:ext cx="2433085" cy="1496737"/>
            <a:chOff x="5794564" y="9455213"/>
            <a:chExt cx="2433085" cy="1496737"/>
          </a:xfrm>
        </p:grpSpPr>
        <p:sp>
          <p:nvSpPr>
            <p:cNvPr id="89" name="台形 88">
              <a:extLst>
                <a:ext uri="{FF2B5EF4-FFF2-40B4-BE49-F238E27FC236}">
                  <a16:creationId xmlns:a16="http://schemas.microsoft.com/office/drawing/2014/main" id="{612EAE33-C941-1882-1619-BA897B7D40F5}"/>
                </a:ext>
              </a:extLst>
            </p:cNvPr>
            <p:cNvSpPr/>
            <p:nvPr/>
          </p:nvSpPr>
          <p:spPr>
            <a:xfrm rot="5400000">
              <a:off x="6262738" y="8987039"/>
              <a:ext cx="1496737" cy="2433085"/>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90" name="テキスト ボックス 89">
                  <a:extLst>
                    <a:ext uri="{FF2B5EF4-FFF2-40B4-BE49-F238E27FC236}">
                      <a16:creationId xmlns:a16="http://schemas.microsoft.com/office/drawing/2014/main" id="{A3D47FCC-F41C-36CA-FA23-2C40DFB9B479}"/>
                    </a:ext>
                  </a:extLst>
                </p:cNvPr>
                <p:cNvSpPr txBox="1"/>
                <p:nvPr/>
              </p:nvSpPr>
              <p:spPr>
                <a:xfrm>
                  <a:off x="5827591" y="9798507"/>
                  <a:ext cx="2298001" cy="8617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𝑝𝑟𝑒</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𝑡𝑟𝑎𝑖𝑛𝑒𝑑</m:t>
                        </m:r>
                      </m:oMath>
                    </m:oMathPara>
                  </a14:m>
                  <a:endParaRPr kumimoji="1" lang="en-US" altLang="ja-JP" sz="2800" b="0" dirty="0"/>
                </a:p>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𝑅𝑒𝑠𝑁𝑒𝑡</m:t>
                        </m:r>
                        <m:r>
                          <a:rPr kumimoji="1" lang="en-US" altLang="ja-JP" sz="2800" b="0" i="1" smtClean="0">
                            <a:latin typeface="Cambria Math" panose="02040503050406030204" pitchFamily="18" charset="0"/>
                          </a:rPr>
                          <m:t>152</m:t>
                        </m:r>
                      </m:oMath>
                    </m:oMathPara>
                  </a14:m>
                  <a:endParaRPr kumimoji="1" lang="ja-JP" altLang="en-US" sz="2800" dirty="0"/>
                </a:p>
              </p:txBody>
            </p:sp>
          </mc:Choice>
          <mc:Fallback xmlns="">
            <p:sp>
              <p:nvSpPr>
                <p:cNvPr id="90" name="テキスト ボックス 89">
                  <a:extLst>
                    <a:ext uri="{FF2B5EF4-FFF2-40B4-BE49-F238E27FC236}">
                      <a16:creationId xmlns:a16="http://schemas.microsoft.com/office/drawing/2014/main" id="{A3D47FCC-F41C-36CA-FA23-2C40DFB9B479}"/>
                    </a:ext>
                  </a:extLst>
                </p:cNvPr>
                <p:cNvSpPr txBox="1">
                  <a:spLocks noRot="1" noChangeAspect="1" noMove="1" noResize="1" noEditPoints="1" noAdjustHandles="1" noChangeArrowheads="1" noChangeShapeType="1" noTextEdit="1"/>
                </p:cNvSpPr>
                <p:nvPr/>
              </p:nvSpPr>
              <p:spPr>
                <a:xfrm>
                  <a:off x="5827591" y="9798507"/>
                  <a:ext cx="2298001" cy="861774"/>
                </a:xfrm>
                <a:prstGeom prst="rect">
                  <a:avLst/>
                </a:prstGeom>
                <a:blipFill>
                  <a:blip r:embed="rId41"/>
                  <a:stretch>
                    <a:fillRect l="-3315" r="-3315" b="-2899"/>
                  </a:stretch>
                </a:blipFill>
              </p:spPr>
              <p:txBody>
                <a:bodyPr/>
                <a:lstStyle/>
                <a:p>
                  <a:r>
                    <a:rPr lang="ja-JP" altLang="en-US">
                      <a:noFill/>
                    </a:rPr>
                    <a:t> </a:t>
                  </a:r>
                </a:p>
              </p:txBody>
            </p:sp>
          </mc:Fallback>
        </mc:AlternateContent>
      </p:grpSp>
      <p:grpSp>
        <p:nvGrpSpPr>
          <p:cNvPr id="91" name="グループ化 90">
            <a:extLst>
              <a:ext uri="{FF2B5EF4-FFF2-40B4-BE49-F238E27FC236}">
                <a16:creationId xmlns:a16="http://schemas.microsoft.com/office/drawing/2014/main" id="{7E850E49-1E4F-DB19-17F5-EFDA0E832FD6}"/>
              </a:ext>
            </a:extLst>
          </p:cNvPr>
          <p:cNvGrpSpPr/>
          <p:nvPr/>
        </p:nvGrpSpPr>
        <p:grpSpPr>
          <a:xfrm>
            <a:off x="7008274" y="21587299"/>
            <a:ext cx="1943000" cy="719356"/>
            <a:chOff x="3749692" y="11369202"/>
            <a:chExt cx="1943000" cy="719356"/>
          </a:xfrm>
        </p:grpSpPr>
        <p:sp>
          <p:nvSpPr>
            <p:cNvPr id="92" name="正方形/長方形 91">
              <a:extLst>
                <a:ext uri="{FF2B5EF4-FFF2-40B4-BE49-F238E27FC236}">
                  <a16:creationId xmlns:a16="http://schemas.microsoft.com/office/drawing/2014/main" id="{3E56A3DD-D170-5292-6612-63DDF665593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93" name="テキスト ボックス 92">
                  <a:extLst>
                    <a:ext uri="{FF2B5EF4-FFF2-40B4-BE49-F238E27FC236}">
                      <a16:creationId xmlns:a16="http://schemas.microsoft.com/office/drawing/2014/main" id="{530F7026-FEC9-842A-46CC-D75BCDA6539A}"/>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93" name="テキスト ボックス 92">
                  <a:extLst>
                    <a:ext uri="{FF2B5EF4-FFF2-40B4-BE49-F238E27FC236}">
                      <a16:creationId xmlns:a16="http://schemas.microsoft.com/office/drawing/2014/main" id="{530F7026-FEC9-842A-46CC-D75BCDA6539A}"/>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7"/>
                  <a:stretch>
                    <a:fillRect b="-5882"/>
                  </a:stretch>
                </a:blipFill>
              </p:spPr>
              <p:txBody>
                <a:bodyPr/>
                <a:lstStyle/>
                <a:p>
                  <a:r>
                    <a:rPr lang="ja-JP" altLang="en-US">
                      <a:noFill/>
                    </a:rPr>
                    <a:t> </a:t>
                  </a:r>
                </a:p>
              </p:txBody>
            </p:sp>
          </mc:Fallback>
        </mc:AlternateContent>
      </p:grpSp>
      <p:grpSp>
        <p:nvGrpSpPr>
          <p:cNvPr id="94" name="グループ化 93">
            <a:extLst>
              <a:ext uri="{FF2B5EF4-FFF2-40B4-BE49-F238E27FC236}">
                <a16:creationId xmlns:a16="http://schemas.microsoft.com/office/drawing/2014/main" id="{480A452F-7716-A8E3-3F12-2F62CAD33F5E}"/>
              </a:ext>
            </a:extLst>
          </p:cNvPr>
          <p:cNvGrpSpPr/>
          <p:nvPr/>
        </p:nvGrpSpPr>
        <p:grpSpPr>
          <a:xfrm>
            <a:off x="10104667" y="22208333"/>
            <a:ext cx="1943000" cy="719356"/>
            <a:chOff x="3749692" y="11369202"/>
            <a:chExt cx="1943000" cy="719356"/>
          </a:xfrm>
        </p:grpSpPr>
        <p:sp>
          <p:nvSpPr>
            <p:cNvPr id="95" name="正方形/長方形 94">
              <a:extLst>
                <a:ext uri="{FF2B5EF4-FFF2-40B4-BE49-F238E27FC236}">
                  <a16:creationId xmlns:a16="http://schemas.microsoft.com/office/drawing/2014/main" id="{70C1D36C-D70E-5DD4-3E60-4FF98BDBA8D4}"/>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96" name="テキスト ボックス 95">
                  <a:extLst>
                    <a:ext uri="{FF2B5EF4-FFF2-40B4-BE49-F238E27FC236}">
                      <a16:creationId xmlns:a16="http://schemas.microsoft.com/office/drawing/2014/main" id="{C0B92E46-B603-F627-D4D7-4F235C2D9CE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96" name="テキスト ボックス 95">
                  <a:extLst>
                    <a:ext uri="{FF2B5EF4-FFF2-40B4-BE49-F238E27FC236}">
                      <a16:creationId xmlns:a16="http://schemas.microsoft.com/office/drawing/2014/main" id="{C0B92E46-B603-F627-D4D7-4F235C2D9CE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8"/>
                  <a:stretch>
                    <a:fillRect b="-8571"/>
                  </a:stretch>
                </a:blipFill>
              </p:spPr>
              <p:txBody>
                <a:bodyPr/>
                <a:lstStyle/>
                <a:p>
                  <a:r>
                    <a:rPr lang="ja-JP" altLang="en-US">
                      <a:noFill/>
                    </a:rPr>
                    <a:t> </a:t>
                  </a:r>
                </a:p>
              </p:txBody>
            </p:sp>
          </mc:Fallback>
        </mc:AlternateContent>
      </p:grpSp>
      <p:sp>
        <p:nvSpPr>
          <p:cNvPr id="103" name="テキスト ボックス 102">
            <a:extLst>
              <a:ext uri="{FF2B5EF4-FFF2-40B4-BE49-F238E27FC236}">
                <a16:creationId xmlns:a16="http://schemas.microsoft.com/office/drawing/2014/main" id="{0BEC38A4-014D-30D0-14C0-EF77DC1FF4F6}"/>
              </a:ext>
            </a:extLst>
          </p:cNvPr>
          <p:cNvSpPr txBox="1"/>
          <p:nvPr/>
        </p:nvSpPr>
        <p:spPr>
          <a:xfrm>
            <a:off x="13997881" y="32379390"/>
            <a:ext cx="972326" cy="523220"/>
          </a:xfrm>
          <a:prstGeom prst="rect">
            <a:avLst/>
          </a:prstGeom>
          <a:noFill/>
        </p:spPr>
        <p:txBody>
          <a:bodyPr wrap="square" rtlCol="0">
            <a:spAutoFit/>
          </a:bodyPr>
          <a:lstStyle/>
          <a:p>
            <a:pPr algn="ctr"/>
            <a:r>
              <a:rPr kumimoji="1" lang="en-US" altLang="ja-JP" sz="2800" dirty="0">
                <a:latin typeface="UD Digi Kyokasho NK-R" panose="02020400000000000000" pitchFamily="18" charset="-128"/>
                <a:ea typeface="UD Digi Kyokasho NK-R" panose="02020400000000000000" pitchFamily="18" charset="-128"/>
              </a:rPr>
              <a:t>(1)</a:t>
            </a:r>
            <a:endParaRPr kumimoji="1" lang="ja-JP" altLang="en-US" sz="2800">
              <a:latin typeface="UD Digi Kyokasho NK-R" panose="02020400000000000000" pitchFamily="18" charset="-128"/>
              <a:ea typeface="UD Digi Kyokasho NK-R" panose="02020400000000000000" pitchFamily="18" charset="-128"/>
            </a:endParaRPr>
          </a:p>
        </p:txBody>
      </p:sp>
      <p:sp>
        <p:nvSpPr>
          <p:cNvPr id="104" name="テキスト ボックス 103">
            <a:extLst>
              <a:ext uri="{FF2B5EF4-FFF2-40B4-BE49-F238E27FC236}">
                <a16:creationId xmlns:a16="http://schemas.microsoft.com/office/drawing/2014/main" id="{ADD97B12-2825-A101-15AD-B5071038F7DE}"/>
              </a:ext>
            </a:extLst>
          </p:cNvPr>
          <p:cNvSpPr txBox="1"/>
          <p:nvPr/>
        </p:nvSpPr>
        <p:spPr>
          <a:xfrm>
            <a:off x="29050546" y="17180091"/>
            <a:ext cx="972326" cy="523220"/>
          </a:xfrm>
          <a:prstGeom prst="rect">
            <a:avLst/>
          </a:prstGeom>
          <a:noFill/>
        </p:spPr>
        <p:txBody>
          <a:bodyPr wrap="square" rtlCol="0">
            <a:spAutoFit/>
          </a:bodyPr>
          <a:lstStyle/>
          <a:p>
            <a:pPr algn="ctr"/>
            <a:r>
              <a:rPr kumimoji="1" lang="en-US" altLang="ja-JP" sz="2800" dirty="0">
                <a:latin typeface="UD Digi Kyokasho NK-R" panose="02020400000000000000" pitchFamily="18" charset="-128"/>
                <a:ea typeface="UD Digi Kyokasho NK-R" panose="02020400000000000000" pitchFamily="18" charset="-128"/>
              </a:rPr>
              <a:t>(2)</a:t>
            </a:r>
            <a:endParaRPr kumimoji="1" lang="ja-JP" altLang="en-US" sz="2800">
              <a:latin typeface="UD Digi Kyokasho NK-R" panose="02020400000000000000" pitchFamily="18" charset="-128"/>
              <a:ea typeface="UD Digi Kyokasho NK-R" panose="02020400000000000000" pitchFamily="18" charset="-128"/>
            </a:endParaRPr>
          </a:p>
        </p:txBody>
      </p:sp>
    </p:spTree>
    <p:extLst>
      <p:ext uri="{BB962C8B-B14F-4D97-AF65-F5344CB8AC3E}">
        <p14:creationId xmlns:p14="http://schemas.microsoft.com/office/powerpoint/2010/main" val="2431836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77C00F1B-B54B-9ADE-40B5-5B2FEA05E6A5}"/>
              </a:ext>
            </a:extLst>
          </p:cNvPr>
          <p:cNvSpPr/>
          <p:nvPr/>
        </p:nvSpPr>
        <p:spPr>
          <a:xfrm>
            <a:off x="232568" y="40523872"/>
            <a:ext cx="29775151" cy="1768016"/>
          </a:xfrm>
          <a:prstGeom prst="roundRect">
            <a:avLst>
              <a:gd name="adj" fmla="val 994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grpSp>
        <p:nvGrpSpPr>
          <p:cNvPr id="23" name="グループ化 22">
            <a:extLst>
              <a:ext uri="{FF2B5EF4-FFF2-40B4-BE49-F238E27FC236}">
                <a16:creationId xmlns:a16="http://schemas.microsoft.com/office/drawing/2014/main" id="{30CE2818-1843-6F2A-80B7-05612BF68763}"/>
              </a:ext>
            </a:extLst>
          </p:cNvPr>
          <p:cNvGrpSpPr/>
          <p:nvPr/>
        </p:nvGrpSpPr>
        <p:grpSpPr>
          <a:xfrm>
            <a:off x="232570" y="2395271"/>
            <a:ext cx="14760000" cy="4055173"/>
            <a:chOff x="232570" y="2529741"/>
            <a:chExt cx="14760000" cy="4055173"/>
          </a:xfrm>
        </p:grpSpPr>
        <p:sp>
          <p:nvSpPr>
            <p:cNvPr id="10" name="四角形: 角を丸くする 9">
              <a:extLst>
                <a:ext uri="{FF2B5EF4-FFF2-40B4-BE49-F238E27FC236}">
                  <a16:creationId xmlns:a16="http://schemas.microsoft.com/office/drawing/2014/main" id="{27C6F926-3906-9907-52EE-E1D4D4E5F520}"/>
                </a:ext>
              </a:extLst>
            </p:cNvPr>
            <p:cNvSpPr/>
            <p:nvPr/>
          </p:nvSpPr>
          <p:spPr>
            <a:xfrm>
              <a:off x="232570" y="2928093"/>
              <a:ext cx="14760000" cy="3656821"/>
            </a:xfrm>
            <a:prstGeom prst="roundRect">
              <a:avLst>
                <a:gd name="adj" fmla="val 6375"/>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latin typeface="UD デジタル 教科書体 NK-R" panose="02020400000000000000" pitchFamily="18" charset="-128"/>
                  <a:ea typeface="UD デジタル 教科書体 NK-R" panose="02020400000000000000" pitchFamily="18" charset="-128"/>
                </a:rPr>
                <a:t>目的</a:t>
              </a:r>
            </a:p>
          </p:txBody>
        </p:sp>
        <p:sp>
          <p:nvSpPr>
            <p:cNvPr id="18" name="四角形: 角を丸くする 17">
              <a:extLst>
                <a:ext uri="{FF2B5EF4-FFF2-40B4-BE49-F238E27FC236}">
                  <a16:creationId xmlns:a16="http://schemas.microsoft.com/office/drawing/2014/main" id="{83F891FC-763A-95C7-C6BF-CC832CB33667}"/>
                </a:ext>
              </a:extLst>
            </p:cNvPr>
            <p:cNvSpPr/>
            <p:nvPr/>
          </p:nvSpPr>
          <p:spPr>
            <a:xfrm>
              <a:off x="528326" y="2529741"/>
              <a:ext cx="3159050" cy="797855"/>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背景・目的</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18" name="テキスト ボックス 117">
              <a:extLst>
                <a:ext uri="{FF2B5EF4-FFF2-40B4-BE49-F238E27FC236}">
                  <a16:creationId xmlns:a16="http://schemas.microsoft.com/office/drawing/2014/main" id="{72956B3B-BA4D-7529-D417-26D2225646DE}"/>
                </a:ext>
              </a:extLst>
            </p:cNvPr>
            <p:cNvSpPr txBox="1"/>
            <p:nvPr/>
          </p:nvSpPr>
          <p:spPr>
            <a:xfrm>
              <a:off x="506887" y="3468067"/>
              <a:ext cx="14463319" cy="3108543"/>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背景</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近年</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の研究が盛んに行われている</a:t>
              </a:r>
              <a:r>
                <a:rPr lang="en-US" altLang="ja-JP" sz="2800" dirty="0">
                  <a:latin typeface="UD デジタル 教科書体 NK-R" panose="02020400000000000000" pitchFamily="18" charset="-128"/>
                  <a:ea typeface="UD デジタル 教科書体 NK-R" panose="02020400000000000000" pitchFamily="18" charset="-128"/>
                </a:rPr>
                <a:t>[1]</a:t>
              </a: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画像キャプションモデル</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の画像の特徴抽出機として，事前学習済みの画像認識モデルが使用される</a:t>
              </a:r>
              <a:r>
                <a:rPr lang="en-US" altLang="ja-JP" sz="2800" dirty="0">
                  <a:latin typeface="UD デジタル 教科書体 NK-R" panose="02020400000000000000" pitchFamily="18" charset="-128"/>
                  <a:ea typeface="UD デジタル 教科書体 NK-R" panose="02020400000000000000" pitchFamily="18" charset="-128"/>
                </a:rPr>
                <a:t>[1]</a:t>
              </a:r>
            </a:p>
            <a:p>
              <a:r>
                <a:rPr lang="ja-JP" altLang="en-US" sz="2800">
                  <a:latin typeface="UD デジタル 教科書体 NK-R" panose="02020400000000000000" pitchFamily="18" charset="-128"/>
                  <a:ea typeface="UD デジタル 教科書体 NK-R" panose="02020400000000000000" pitchFamily="18" charset="-128"/>
                </a:rPr>
                <a:t>目的</a:t>
              </a:r>
              <a:endParaRPr lang="en-US" altLang="ja-JP" sz="2800" dirty="0">
                <a:latin typeface="UD デジタル 教科書体 NK-R" panose="02020400000000000000" pitchFamily="18" charset="-128"/>
                <a:ea typeface="UD デジタル 教科書体 NK-R" panose="02020400000000000000" pitchFamily="18" charset="-128"/>
              </a:endParaRPr>
            </a:p>
            <a:p>
              <a:pPr marL="457200" indent="-457200">
                <a:buFont typeface="Arial" panose="020B0604020202020204" pitchFamily="34" charset="0"/>
                <a:buChar char="•"/>
              </a:pPr>
              <a:r>
                <a:rPr lang="ja-JP" altLang="en-US" sz="2800" spc="-160">
                  <a:latin typeface="UD デジタル 教科書体 NK-R" panose="02020400000000000000" pitchFamily="18" charset="-128"/>
                  <a:ea typeface="UD デジタル 教科書体 NK-R" panose="02020400000000000000" pitchFamily="18" charset="-128"/>
                </a:rPr>
                <a:t>画像キャプションモデルの画像の特徴抽出器として</a:t>
              </a:r>
              <a:r>
                <a:rPr lang="en-US" altLang="ja-JP" sz="2800" spc="-160" dirty="0" err="1">
                  <a:latin typeface="UD デジタル 教科書体 NK-R" panose="02020400000000000000" pitchFamily="18" charset="-128"/>
                  <a:ea typeface="UD デジタル 教科書体 NK-R" panose="02020400000000000000" pitchFamily="18" charset="-128"/>
                </a:rPr>
                <a:t>AutoEncoder</a:t>
              </a:r>
              <a:r>
                <a:rPr lang="ja-JP" altLang="en-US" sz="2800" spc="-160">
                  <a:latin typeface="UD デジタル 教科書体 NK-R" panose="02020400000000000000" pitchFamily="18" charset="-128"/>
                  <a:ea typeface="UD デジタル 教科書体 NK-R" panose="02020400000000000000" pitchFamily="18" charset="-128"/>
                </a:rPr>
                <a:t>のエンコーダを用いる方法を提案</a:t>
              </a:r>
              <a:endParaRPr lang="en-US" altLang="ja-JP" sz="2800" spc="-16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spc="-100">
                  <a:latin typeface="UD デジタル 教科書体 NK-R" panose="02020400000000000000" pitchFamily="18" charset="-128"/>
                  <a:ea typeface="UD デジタル 教科書体 NK-R" panose="02020400000000000000" pitchFamily="18" charset="-128"/>
                </a:rPr>
                <a:t>大喜利生成</a:t>
              </a:r>
              <a:r>
                <a:rPr lang="en-US" altLang="ja-JP" sz="2800" spc="-100" dirty="0">
                  <a:latin typeface="UD デジタル 教科書体 NK-R" panose="02020400000000000000" pitchFamily="18" charset="-128"/>
                  <a:ea typeface="UD デジタル 教科書体 NK-R" panose="02020400000000000000" pitchFamily="18" charset="-128"/>
                </a:rPr>
                <a:t>AI</a:t>
              </a:r>
              <a:r>
                <a:rPr lang="ja-JP" altLang="en-US" sz="2800" spc="-100">
                  <a:latin typeface="UD デジタル 教科書体 NK-R" panose="02020400000000000000" pitchFamily="18" charset="-128"/>
                  <a:ea typeface="UD デジタル 教科書体 NK-R" panose="02020400000000000000" pitchFamily="18" charset="-128"/>
                </a:rPr>
                <a:t>の画像の特徴抽出機として適した</a:t>
              </a:r>
              <a:r>
                <a:rPr lang="en-US" altLang="ja-JP" sz="2800" spc="-100" dirty="0" err="1">
                  <a:latin typeface="UD デジタル 教科書体 NK-R" panose="02020400000000000000" pitchFamily="18" charset="-128"/>
                  <a:ea typeface="UD デジタル 教科書体 NK-R" panose="02020400000000000000" pitchFamily="18" charset="-128"/>
                </a:rPr>
                <a:t>AutoEncoder</a:t>
              </a:r>
              <a:r>
                <a:rPr lang="ja-JP" altLang="en-US" sz="2800" spc="-100">
                  <a:latin typeface="UD デジタル 教科書体 NK-R" panose="02020400000000000000" pitchFamily="18" charset="-128"/>
                  <a:ea typeface="UD デジタル 教科書体 NK-R" panose="02020400000000000000" pitchFamily="18" charset="-128"/>
                </a:rPr>
                <a:t>の構造を模索する</a:t>
              </a:r>
              <a:endParaRPr lang="ja-JP" altLang="en-US" sz="2800" spc="-100" dirty="0">
                <a:latin typeface="UD デジタル 教科書体 NK-R" panose="02020400000000000000" pitchFamily="18" charset="-128"/>
                <a:ea typeface="UD デジタル 教科書体 NK-R" panose="02020400000000000000" pitchFamily="18" charset="-128"/>
              </a:endParaRPr>
            </a:p>
          </p:txBody>
        </p:sp>
      </p:grpSp>
      <p:grpSp>
        <p:nvGrpSpPr>
          <p:cNvPr id="8" name="グループ化 7">
            <a:extLst>
              <a:ext uri="{FF2B5EF4-FFF2-40B4-BE49-F238E27FC236}">
                <a16:creationId xmlns:a16="http://schemas.microsoft.com/office/drawing/2014/main" id="{D217D156-E69B-2BDF-A462-41E6CA149116}"/>
              </a:ext>
            </a:extLst>
          </p:cNvPr>
          <p:cNvGrpSpPr/>
          <p:nvPr/>
        </p:nvGrpSpPr>
        <p:grpSpPr>
          <a:xfrm>
            <a:off x="946944" y="353705"/>
            <a:ext cx="28346400" cy="1683875"/>
            <a:chOff x="946944" y="353705"/>
            <a:chExt cx="28346400" cy="1683875"/>
          </a:xfrm>
        </p:grpSpPr>
        <p:sp>
          <p:nvSpPr>
            <p:cNvPr id="6" name="テキスト ボックス 5">
              <a:extLst>
                <a:ext uri="{FF2B5EF4-FFF2-40B4-BE49-F238E27FC236}">
                  <a16:creationId xmlns:a16="http://schemas.microsoft.com/office/drawing/2014/main" id="{D0F93D02-78A6-D657-0BA1-CF2B85B44883}"/>
                </a:ext>
              </a:extLst>
            </p:cNvPr>
            <p:cNvSpPr txBox="1"/>
            <p:nvPr/>
          </p:nvSpPr>
          <p:spPr>
            <a:xfrm>
              <a:off x="946944" y="353705"/>
              <a:ext cx="28346400" cy="830997"/>
            </a:xfrm>
            <a:prstGeom prst="rect">
              <a:avLst/>
            </a:prstGeom>
            <a:noFill/>
          </p:spPr>
          <p:txBody>
            <a:bodyPr wrap="square">
              <a:spAutoFit/>
            </a:bodyPr>
            <a:lstStyle/>
            <a:p>
              <a:pPr algn="ctr"/>
              <a:r>
                <a:rPr kumimoji="1" lang="ja-JP" altLang="en-US" sz="4800">
                  <a:latin typeface="UD デジタル 教科書体 NK-R" panose="02020400000000000000" pitchFamily="18" charset="-128"/>
                  <a:ea typeface="UD デジタル 教科書体 NK-R" panose="02020400000000000000" pitchFamily="18" charset="-128"/>
                </a:rPr>
                <a:t>大喜利生成</a:t>
              </a:r>
              <a:r>
                <a:rPr kumimoji="1" lang="en-US" altLang="ja-JP" sz="4800" dirty="0">
                  <a:latin typeface="UD デジタル 教科書体 NK-R" panose="02020400000000000000" pitchFamily="18" charset="-128"/>
                  <a:ea typeface="UD デジタル 教科書体 NK-R" panose="02020400000000000000" pitchFamily="18" charset="-128"/>
                </a:rPr>
                <a:t>AI</a:t>
              </a:r>
              <a:r>
                <a:rPr kumimoji="1" lang="ja-JP" altLang="en-US" sz="4800">
                  <a:latin typeface="UD デジタル 教科書体 NK-R" panose="02020400000000000000" pitchFamily="18" charset="-128"/>
                  <a:ea typeface="UD デジタル 教科書体 NK-R" panose="02020400000000000000" pitchFamily="18" charset="-128"/>
                </a:rPr>
                <a:t>に適した</a:t>
              </a:r>
              <a:r>
                <a:rPr kumimoji="1" lang="en-US" altLang="ja-JP" sz="4800" dirty="0" err="1">
                  <a:latin typeface="UD デジタル 教科書体 NK-R" panose="02020400000000000000" pitchFamily="18" charset="-128"/>
                  <a:ea typeface="UD デジタル 教科書体 NK-R" panose="02020400000000000000" pitchFamily="18" charset="-128"/>
                </a:rPr>
                <a:t>AutoEncoder</a:t>
              </a:r>
              <a:r>
                <a:rPr kumimoji="1" lang="ja-JP" altLang="en-US" sz="4800">
                  <a:latin typeface="UD デジタル 教科書体 NK-R" panose="02020400000000000000" pitchFamily="18" charset="-128"/>
                  <a:ea typeface="UD デジタル 教科書体 NK-R" panose="02020400000000000000" pitchFamily="18" charset="-128"/>
                </a:rPr>
                <a:t>に関する研究</a:t>
              </a:r>
              <a:endParaRPr lang="ja-JP" altLang="en-US" sz="48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078920E-DE64-22FA-4A80-4CD39FAE4327}"/>
                    </a:ext>
                  </a:extLst>
                </p:cNvPr>
                <p:cNvSpPr txBox="1"/>
                <p:nvPr/>
              </p:nvSpPr>
              <p:spPr>
                <a:xfrm>
                  <a:off x="946944" y="1193246"/>
                  <a:ext cx="28346400" cy="844334"/>
                </a:xfrm>
                <a:prstGeom prst="rect">
                  <a:avLst/>
                </a:prstGeom>
                <a:noFill/>
              </p:spPr>
              <p:txBody>
                <a:bodyPr wrap="square">
                  <a:spAutoFit/>
                </a:bodyPr>
                <a:lstStyle/>
                <a:p>
                  <a:pPr algn="ctr"/>
                  <a:r>
                    <a:rPr kumimoji="1" lang="ja-JP" altLang="en-US" sz="4800" dirty="0">
                      <a:latin typeface="UD デジタル 教科書体 NK-R" panose="02020400000000000000" pitchFamily="18" charset="-128"/>
                      <a:ea typeface="UD デジタル 教科書体 NK-R" panose="02020400000000000000" pitchFamily="18" charset="-128"/>
                    </a:rPr>
                    <a:t>〇山富 龍</a:t>
                  </a:r>
                  <a14:m>
                    <m:oMath xmlns:m="http://schemas.openxmlformats.org/officeDocument/2006/math">
                      <m:sSup>
                        <m:sSupPr>
                          <m:ctrlPr>
                            <a:rPr kumimoji="1" lang="en-US" altLang="ja-JP" sz="4800" i="1" dirty="0" smtClean="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b="0" i="1" dirty="0" smtClean="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マハブービ シェヘラザード</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二宮 洋</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湘南工科大学</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p>
              </p:txBody>
            </p:sp>
          </mc:Choice>
          <mc:Fallback xmlns="">
            <p:sp>
              <p:nvSpPr>
                <p:cNvPr id="7" name="テキスト ボックス 6">
                  <a:extLst>
                    <a:ext uri="{FF2B5EF4-FFF2-40B4-BE49-F238E27FC236}">
                      <a16:creationId xmlns:a16="http://schemas.microsoft.com/office/drawing/2014/main" id="{9078920E-DE64-22FA-4A80-4CD39FAE4327}"/>
                    </a:ext>
                  </a:extLst>
                </p:cNvPr>
                <p:cNvSpPr txBox="1">
                  <a:spLocks noRot="1" noChangeAspect="1" noMove="1" noResize="1" noEditPoints="1" noAdjustHandles="1" noChangeArrowheads="1" noChangeShapeType="1" noTextEdit="1"/>
                </p:cNvSpPr>
                <p:nvPr/>
              </p:nvSpPr>
              <p:spPr>
                <a:xfrm>
                  <a:off x="946944" y="1193246"/>
                  <a:ext cx="28346400" cy="844334"/>
                </a:xfrm>
                <a:prstGeom prst="rect">
                  <a:avLst/>
                </a:prstGeom>
                <a:blipFill>
                  <a:blip r:embed="rId3"/>
                  <a:stretch>
                    <a:fillRect t="-15217" b="-37681"/>
                  </a:stretch>
                </a:blipFill>
              </p:spPr>
              <p:txBody>
                <a:bodyPr/>
                <a:lstStyle/>
                <a:p>
                  <a:r>
                    <a:rPr lang="ja-JP" altLang="en-US">
                      <a:noFill/>
                    </a:rPr>
                    <a:t> </a:t>
                  </a:r>
                </a:p>
              </p:txBody>
            </p:sp>
          </mc:Fallback>
        </mc:AlternateContent>
      </p:grpSp>
      <p:grpSp>
        <p:nvGrpSpPr>
          <p:cNvPr id="29" name="グループ化 28">
            <a:extLst>
              <a:ext uri="{FF2B5EF4-FFF2-40B4-BE49-F238E27FC236}">
                <a16:creationId xmlns:a16="http://schemas.microsoft.com/office/drawing/2014/main" id="{CE582D28-B8C7-184A-8907-3F8DB7980B3A}"/>
              </a:ext>
            </a:extLst>
          </p:cNvPr>
          <p:cNvGrpSpPr/>
          <p:nvPr/>
        </p:nvGrpSpPr>
        <p:grpSpPr>
          <a:xfrm>
            <a:off x="212937" y="6664685"/>
            <a:ext cx="14760000" cy="10950880"/>
            <a:chOff x="191499" y="4380114"/>
            <a:chExt cx="14760000" cy="10950880"/>
          </a:xfrm>
        </p:grpSpPr>
        <p:sp>
          <p:nvSpPr>
            <p:cNvPr id="30" name="四角形: 角を丸くする 29">
              <a:extLst>
                <a:ext uri="{FF2B5EF4-FFF2-40B4-BE49-F238E27FC236}">
                  <a16:creationId xmlns:a16="http://schemas.microsoft.com/office/drawing/2014/main" id="{3337E6AE-FD4C-7BA6-9BB0-42A2F8FA8691}"/>
                </a:ext>
              </a:extLst>
            </p:cNvPr>
            <p:cNvSpPr/>
            <p:nvPr/>
          </p:nvSpPr>
          <p:spPr>
            <a:xfrm>
              <a:off x="191499" y="4755866"/>
              <a:ext cx="14760000" cy="10469908"/>
            </a:xfrm>
            <a:prstGeom prst="roundRect">
              <a:avLst>
                <a:gd name="adj" fmla="val 245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31" name="四角形: 角を丸くする 30">
              <a:extLst>
                <a:ext uri="{FF2B5EF4-FFF2-40B4-BE49-F238E27FC236}">
                  <a16:creationId xmlns:a16="http://schemas.microsoft.com/office/drawing/2014/main" id="{946408B4-3F6B-5E5B-91E5-DE0AC41DEBB8}"/>
                </a:ext>
              </a:extLst>
            </p:cNvPr>
            <p:cNvSpPr/>
            <p:nvPr/>
          </p:nvSpPr>
          <p:spPr>
            <a:xfrm>
              <a:off x="506889" y="4380114"/>
              <a:ext cx="7158348" cy="768330"/>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画像キャプションモデル</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[2]</a:t>
              </a:r>
            </a:p>
          </p:txBody>
        </p: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7D06BDE7-BADC-0589-E24F-85B1071B5196}"/>
                    </a:ext>
                  </a:extLst>
                </p:cNvPr>
                <p:cNvSpPr txBox="1"/>
                <p:nvPr/>
              </p:nvSpPr>
              <p:spPr>
                <a:xfrm>
                  <a:off x="318217" y="5759143"/>
                  <a:ext cx="14633281" cy="9571851"/>
                </a:xfrm>
                <a:prstGeom prst="rect">
                  <a:avLst/>
                </a:prstGeom>
                <a:noFill/>
              </p:spPr>
              <p:txBody>
                <a:bodyPr wrap="square">
                  <a:spAutoFit/>
                </a:bodyPr>
                <a:lstStyle/>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画像</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𝑤</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文章の</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番目の単語</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𝑟</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時点の内部状態</a:t>
                  </a:r>
                  <a:endParaRPr kumimoji="1" lang="en-US" altLang="ja-JP" sz="2800" dirty="0">
                    <a:latin typeface="UD Digi Kyokasho NK-R" panose="02020400000000000000" pitchFamily="18" charset="-128"/>
                    <a:ea typeface="UD Digi Kyokasho NK-R" panose="02020400000000000000" pitchFamily="18" charset="-128"/>
                  </a:endParaRPr>
                </a:p>
                <a:p>
                  <a:pPr lvl="1"/>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spc="-100">
                      <a:solidFill>
                        <a:srgbClr val="FF0000"/>
                      </a:solidFill>
                      <a:latin typeface="UD Digi Kyokasho NK-R" panose="02020400000000000000" pitchFamily="18" charset="-128"/>
                      <a:ea typeface="UD Digi Kyokasho NK-R" panose="02020400000000000000" pitchFamily="18" charset="-128"/>
                    </a:rPr>
                    <a:t>画像のエンコーダ</a:t>
                  </a:r>
                  <a:r>
                    <a:rPr kumimoji="1" lang="ja-JP" altLang="en-US" sz="2800" spc="-100">
                      <a:latin typeface="UD Digi Kyokasho NK-R" panose="02020400000000000000" pitchFamily="18" charset="-128"/>
                      <a:ea typeface="UD Digi Kyokasho NK-R" panose="02020400000000000000" pitchFamily="18" charset="-128"/>
                    </a:rPr>
                    <a:t>として事前学習済みの画像認識モデルが一般的に使用される</a:t>
                  </a:r>
                  <a:endParaRPr kumimoji="1" lang="en-US" altLang="ja-JP" sz="2800" spc="-100" dirty="0">
                    <a:latin typeface="UD Digi Kyokasho NK-R" panose="02020400000000000000" pitchFamily="18" charset="-128"/>
                    <a:ea typeface="UD Digi Kyokasho NK-R" panose="02020400000000000000" pitchFamily="18" charset="-128"/>
                  </a:endParaRPr>
                </a:p>
                <a:p>
                  <a:pPr lvl="1"/>
                  <a:r>
                    <a:rPr kumimoji="1" lang="ja-JP" altLang="en-US" sz="2800" spc="-100">
                      <a:latin typeface="UD Digi Kyokasho NK-R" panose="02020400000000000000" pitchFamily="18" charset="-128"/>
                      <a:ea typeface="UD Digi Kyokasho NK-R" panose="02020400000000000000" pitchFamily="18" charset="-128"/>
                    </a:rPr>
                    <a:t>メリット</a:t>
                  </a:r>
                  <a:endParaRPr kumimoji="1" lang="en-US" altLang="ja-JP" sz="2800" spc="-1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画像のエンコーダを学習しないため，計算コストが低い</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en-US" altLang="ja-JP" sz="2800" dirty="0">
                      <a:latin typeface="UD Digi Kyokasho NK-R" panose="02020400000000000000" pitchFamily="18" charset="-128"/>
                      <a:ea typeface="UD Digi Kyokasho NK-R" panose="02020400000000000000" pitchFamily="18" charset="-128"/>
                    </a:rPr>
                    <a:t>ImageNet</a:t>
                  </a:r>
                  <a:r>
                    <a:rPr kumimoji="1" lang="ja-JP" altLang="en-US" sz="2800">
                      <a:latin typeface="UD Digi Kyokasho NK-R" panose="02020400000000000000" pitchFamily="18" charset="-128"/>
                      <a:ea typeface="UD Digi Kyokasho NK-R" panose="02020400000000000000" pitchFamily="18" charset="-128"/>
                    </a:rPr>
                    <a:t>のような大規模なデータで学習しており，　　　　　　　　　　　　　　　　　　　　　　　　　　　　　幅広い種類の画像に対応できることが期待できる</a:t>
                  </a:r>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a:latin typeface="UD Digi Kyokasho NK-R" panose="02020400000000000000" pitchFamily="18" charset="-128"/>
                      <a:ea typeface="UD Digi Kyokasho NK-R" panose="02020400000000000000" pitchFamily="18" charset="-128"/>
                    </a:rPr>
                    <a:t>デメリット</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事前学習済みモデルの再学習には画像に対する</a:t>
                  </a:r>
                  <a:r>
                    <a:rPr kumimoji="1" lang="ja-JP" altLang="en-US" sz="2800">
                      <a:solidFill>
                        <a:srgbClr val="00B0F0"/>
                      </a:solidFill>
                      <a:latin typeface="UD Digi Kyokasho NK-R" panose="02020400000000000000" pitchFamily="18" charset="-128"/>
                      <a:ea typeface="UD Digi Kyokasho NK-R" panose="02020400000000000000" pitchFamily="18" charset="-128"/>
                    </a:rPr>
                    <a:t>アノテーションが必要</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ja-JP" altLang="en-US" sz="2800">
                      <a:solidFill>
                        <a:srgbClr val="00B0F0"/>
                      </a:solidFill>
                      <a:latin typeface="UD Digi Kyokasho NK-R" panose="02020400000000000000" pitchFamily="18" charset="-128"/>
                      <a:ea typeface="UD Digi Kyokasho NK-R" panose="02020400000000000000" pitchFamily="18" charset="-128"/>
                    </a:rPr>
                    <a:t>パラメータ数が膨大</a:t>
                  </a:r>
                  <a:r>
                    <a:rPr kumimoji="1" lang="ja-JP" altLang="en-US" sz="2800">
                      <a:latin typeface="UD Digi Kyokasho NK-R" panose="02020400000000000000" pitchFamily="18" charset="-128"/>
                      <a:ea typeface="UD Digi Kyokasho NK-R" panose="02020400000000000000" pitchFamily="18" charset="-128"/>
                    </a:rPr>
                    <a:t>かつ</a:t>
                  </a:r>
                  <a:r>
                    <a:rPr kumimoji="1" lang="en-US" altLang="ja-JP" sz="2800" dirty="0">
                      <a:latin typeface="UD Digi Kyokasho NK-R" panose="02020400000000000000" pitchFamily="18" charset="-128"/>
                      <a:ea typeface="UD Digi Kyokasho NK-R" panose="02020400000000000000" pitchFamily="18" charset="-128"/>
                    </a:rPr>
                    <a:t>, </a:t>
                  </a:r>
                  <a:r>
                    <a:rPr kumimoji="1" lang="ja-JP" altLang="en-US" sz="2800">
                      <a:latin typeface="UD Digi Kyokasho NK-R" panose="02020400000000000000" pitchFamily="18" charset="-128"/>
                      <a:ea typeface="UD Digi Kyokasho NK-R" panose="02020400000000000000" pitchFamily="18" charset="-128"/>
                    </a:rPr>
                    <a:t>任意に</a:t>
                  </a:r>
                  <a:r>
                    <a:rPr kumimoji="1" lang="ja-JP" altLang="en-US" sz="2800">
                      <a:solidFill>
                        <a:srgbClr val="00B0F0"/>
                      </a:solidFill>
                      <a:latin typeface="UD Digi Kyokasho NK-R" panose="02020400000000000000" pitchFamily="18" charset="-128"/>
                      <a:ea typeface="UD Digi Kyokasho NK-R" panose="02020400000000000000" pitchFamily="18" charset="-128"/>
                    </a:rPr>
                    <a:t>構造を変更できない</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p:txBody>
            </p:sp>
          </mc:Choice>
          <mc:Fallback xmlns="">
            <p:sp>
              <p:nvSpPr>
                <p:cNvPr id="32" name="テキスト ボックス 31">
                  <a:extLst>
                    <a:ext uri="{FF2B5EF4-FFF2-40B4-BE49-F238E27FC236}">
                      <a16:creationId xmlns:a16="http://schemas.microsoft.com/office/drawing/2014/main" id="{7D06BDE7-BADC-0589-E24F-85B1071B5196}"/>
                    </a:ext>
                  </a:extLst>
                </p:cNvPr>
                <p:cNvSpPr txBox="1">
                  <a:spLocks noRot="1" noChangeAspect="1" noMove="1" noResize="1" noEditPoints="1" noAdjustHandles="1" noChangeArrowheads="1" noChangeShapeType="1" noTextEdit="1"/>
                </p:cNvSpPr>
                <p:nvPr/>
              </p:nvSpPr>
              <p:spPr>
                <a:xfrm>
                  <a:off x="318217" y="5759143"/>
                  <a:ext cx="14633281" cy="9571851"/>
                </a:xfrm>
                <a:prstGeom prst="rect">
                  <a:avLst/>
                </a:prstGeom>
                <a:blipFill>
                  <a:blip r:embed="rId4"/>
                  <a:stretch>
                    <a:fillRect b="-795"/>
                  </a:stretch>
                </a:blipFill>
              </p:spPr>
              <p:txBody>
                <a:bodyPr/>
                <a:lstStyle/>
                <a:p>
                  <a:r>
                    <a:rPr lang="ja-JP" altLang="en-US">
                      <a:noFill/>
                    </a:rPr>
                    <a:t> </a:t>
                  </a:r>
                </a:p>
              </p:txBody>
            </p:sp>
          </mc:Fallback>
        </mc:AlternateContent>
      </p:grpSp>
      <p:grpSp>
        <p:nvGrpSpPr>
          <p:cNvPr id="34" name="グループ化 33">
            <a:extLst>
              <a:ext uri="{FF2B5EF4-FFF2-40B4-BE49-F238E27FC236}">
                <a16:creationId xmlns:a16="http://schemas.microsoft.com/office/drawing/2014/main" id="{C7FB90F9-473B-DBE3-6A8B-8777B7E770FE}"/>
              </a:ext>
            </a:extLst>
          </p:cNvPr>
          <p:cNvGrpSpPr/>
          <p:nvPr/>
        </p:nvGrpSpPr>
        <p:grpSpPr>
          <a:xfrm>
            <a:off x="15242062" y="2465608"/>
            <a:ext cx="14760000" cy="37853922"/>
            <a:chOff x="232568" y="5248316"/>
            <a:chExt cx="14760000" cy="37853922"/>
          </a:xfrm>
        </p:grpSpPr>
        <p:sp>
          <p:nvSpPr>
            <p:cNvPr id="35" name="四角形: 角を丸くする 34">
              <a:extLst>
                <a:ext uri="{FF2B5EF4-FFF2-40B4-BE49-F238E27FC236}">
                  <a16:creationId xmlns:a16="http://schemas.microsoft.com/office/drawing/2014/main" id="{47EECEA1-1146-F75F-B958-C642FAF77E57}"/>
                </a:ext>
              </a:extLst>
            </p:cNvPr>
            <p:cNvSpPr/>
            <p:nvPr/>
          </p:nvSpPr>
          <p:spPr>
            <a:xfrm>
              <a:off x="232568" y="5607880"/>
              <a:ext cx="14760000" cy="37494358"/>
            </a:xfrm>
            <a:prstGeom prst="roundRect">
              <a:avLst>
                <a:gd name="adj" fmla="val 994"/>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36" name="四角形: 角を丸くする 35">
              <a:extLst>
                <a:ext uri="{FF2B5EF4-FFF2-40B4-BE49-F238E27FC236}">
                  <a16:creationId xmlns:a16="http://schemas.microsoft.com/office/drawing/2014/main" id="{7F035820-E432-DA19-702C-74373820AD4B}"/>
                </a:ext>
              </a:extLst>
            </p:cNvPr>
            <p:cNvSpPr/>
            <p:nvPr/>
          </p:nvSpPr>
          <p:spPr>
            <a:xfrm>
              <a:off x="506888" y="5248316"/>
              <a:ext cx="1528972" cy="797856"/>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実験</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3CBE4EA-6A45-2DF9-9C9B-750731A73354}"/>
                    </a:ext>
                  </a:extLst>
                </p:cNvPr>
                <p:cNvSpPr txBox="1"/>
                <p:nvPr/>
              </p:nvSpPr>
              <p:spPr>
                <a:xfrm>
                  <a:off x="350132" y="6188617"/>
                  <a:ext cx="14499166" cy="33466277"/>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実験目的</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で使用されている</a:t>
                  </a:r>
                  <a:r>
                    <a:rPr lang="en-US" altLang="ja-JP" sz="2800" dirty="0">
                      <a:latin typeface="UD デジタル 教科書体 NK-R" panose="02020400000000000000" pitchFamily="18" charset="-128"/>
                      <a:ea typeface="UD デジタル 教科書体 NK-R" panose="02020400000000000000" pitchFamily="18" charset="-128"/>
                    </a:rPr>
                    <a:t>ResNet152</a:t>
                  </a:r>
                  <a:r>
                    <a:rPr lang="ja-JP" altLang="en-US" sz="2800">
                      <a:latin typeface="UD デジタル 教科書体 NK-R" panose="02020400000000000000" pitchFamily="18" charset="-128"/>
                      <a:ea typeface="UD デジタル 教科書体 NK-R" panose="02020400000000000000" pitchFamily="18" charset="-128"/>
                    </a:rPr>
                    <a:t>のパラメータ数</a:t>
                  </a:r>
                  <a:r>
                    <a:rPr lang="en-US" altLang="ja-JP" sz="2800" dirty="0">
                      <a:latin typeface="UD デジタル 教科書体 NK-R" panose="02020400000000000000" pitchFamily="18" charset="-128"/>
                      <a:ea typeface="UD デジタル 教科書体 NK-R" panose="02020400000000000000" pitchFamily="18" charset="-128"/>
                    </a:rPr>
                    <a:t>58,370,944</a:t>
                  </a:r>
                  <a:r>
                    <a:rPr lang="ja-JP" altLang="en-US" sz="2800">
                      <a:latin typeface="UD デジタル 教科書体 NK-R" panose="02020400000000000000" pitchFamily="18" charset="-128"/>
                      <a:ea typeface="UD デジタル 教科書体 NK-R" panose="02020400000000000000" pitchFamily="18" charset="-128"/>
                    </a:rPr>
                    <a:t>よりパラメータ数が少なく，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高性能な</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のエンコーダを模索</a:t>
                  </a:r>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 : </a:t>
                  </a:r>
                  <a:r>
                    <a:rPr lang="ja-JP" altLang="en-US" sz="2800">
                      <a:latin typeface="UD デジタル 教科書体 NK-R" panose="02020400000000000000" pitchFamily="18" charset="-128"/>
                      <a:ea typeface="UD デジタル 教科書体 NK-R" panose="02020400000000000000" pitchFamily="18" charset="-128"/>
                    </a:rPr>
                    <a:t>畳み込み層の数を変更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 </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特徴量次元数</a:t>
                  </a:r>
                  <a:r>
                    <a:rPr lang="en-US" altLang="ja-JP" sz="2800" dirty="0">
                      <a:latin typeface="UD デジタル 教科書体 NK-R" panose="02020400000000000000" pitchFamily="18" charset="-128"/>
                      <a:ea typeface="UD デジタル 教科書体 NK-R" panose="02020400000000000000" pitchFamily="18" charset="-128"/>
                    </a:rPr>
                    <a:t> : 2048</a:t>
                  </a: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p>
                <a:p>
                  <a:pPr lvl="1"/>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𝐿</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何層目か</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　検証誤差を比較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 : </a:t>
                  </a:r>
                  <a:r>
                    <a:rPr lang="ja-JP" altLang="en-US" sz="2800">
                      <a:latin typeface="UD デジタル 教科書体 NK-R" panose="02020400000000000000" pitchFamily="18" charset="-128"/>
                      <a:ea typeface="UD デジタル 教科書体 NK-R" panose="02020400000000000000" pitchFamily="18" charset="-128"/>
                    </a:rPr>
                    <a:t>特徴量の次元数を変更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畳み込み層の数</a:t>
                  </a:r>
                  <a:r>
                    <a:rPr lang="en-US" altLang="ja-JP" sz="2800" dirty="0">
                      <a:latin typeface="UD デジタル 教科書体 NK-R" panose="02020400000000000000" pitchFamily="18" charset="-128"/>
                      <a:ea typeface="UD デジタル 教科書体 NK-R" panose="02020400000000000000" pitchFamily="18" charset="-128"/>
                    </a:rPr>
                    <a:t> : 5</a:t>
                  </a:r>
                  <a:r>
                    <a:rPr lang="ja-JP" altLang="en-US" sz="2800">
                      <a:latin typeface="UD デジタル 教科書体 NK-R" panose="02020400000000000000" pitchFamily="18" charset="-128"/>
                      <a:ea typeface="UD デジタル 教科書体 NK-R" panose="02020400000000000000" pitchFamily="18" charset="-128"/>
                    </a:rPr>
                    <a:t>層</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　検証誤差・</a:t>
                  </a:r>
                  <a:r>
                    <a:rPr lang="en-US" altLang="ja-JP" sz="2800" dirty="0">
                      <a:latin typeface="UD デジタル 教科書体 NK-R" panose="02020400000000000000" pitchFamily="18" charset="-128"/>
                      <a:ea typeface="UD デジタル 教科書体 NK-R" panose="02020400000000000000" pitchFamily="18" charset="-128"/>
                    </a:rPr>
                    <a:t> FID</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err="1">
                      <a:latin typeface="UD デジタル 教科書体 NK-R" panose="02020400000000000000" pitchFamily="18" charset="-128"/>
                      <a:ea typeface="UD デジタル 教科書体 NK-R" panose="02020400000000000000" pitchFamily="18" charset="-128"/>
                    </a:rPr>
                    <a:t>Frechet</a:t>
                  </a:r>
                  <a:r>
                    <a:rPr lang="en-US" altLang="ja-JP" sz="2800" dirty="0">
                      <a:latin typeface="UD デジタル 教科書体 NK-R" panose="02020400000000000000" pitchFamily="18" charset="-128"/>
                      <a:ea typeface="UD デジタル 教科書体 NK-R" panose="02020400000000000000" pitchFamily="18" charset="-128"/>
                    </a:rPr>
                    <a:t> Inception Distance(FID)[5]</a:t>
                  </a:r>
                </a:p>
                <a:p>
                  <a:pPr lvl="2"/>
                  <a:r>
                    <a:rPr lang="ja-JP" altLang="en-US" sz="2800">
                      <a:latin typeface="UD デジタル 教科書体 NK-R" panose="02020400000000000000" pitchFamily="18" charset="-128"/>
                      <a:ea typeface="UD デジタル 教科書体 NK-R" panose="02020400000000000000" pitchFamily="18" charset="-128"/>
                    </a:rPr>
                    <a:t>画像群</a:t>
                  </a:r>
                  <a:r>
                    <a:rPr lang="en-US" altLang="ja-JP" sz="2800" dirty="0">
                      <a:latin typeface="UD デジタル 教科書体 NK-R" panose="02020400000000000000" pitchFamily="18" charset="-128"/>
                      <a:ea typeface="UD デジタル 教科書体 NK-R" panose="02020400000000000000" pitchFamily="18" charset="-128"/>
                    </a:rPr>
                    <a:t>A</a:t>
                  </a:r>
                  <a:r>
                    <a:rPr lang="ja-JP" altLang="en-US" sz="2800">
                      <a:latin typeface="UD デジタル 教科書体 NK-R" panose="02020400000000000000" pitchFamily="18" charset="-128"/>
                      <a:ea typeface="UD デジタル 教科書体 NK-R" panose="02020400000000000000" pitchFamily="18" charset="-128"/>
                    </a:rPr>
                    <a:t>と画像群</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の分布がどれほど近いか測る指標</a:t>
                  </a:r>
                  <a:r>
                    <a:rPr lang="en-US" altLang="ja-JP" sz="2800" dirty="0">
                      <a:latin typeface="UD デジタル 教科書体 NK-R" panose="02020400000000000000" pitchFamily="18" charset="-128"/>
                      <a:ea typeface="UD デジタル 教科書体 NK-R" panose="02020400000000000000" pitchFamily="18" charset="-128"/>
                    </a:rPr>
                    <a:t>. 0</a:t>
                  </a:r>
                  <a:r>
                    <a:rPr lang="ja-JP" altLang="en-US" sz="2800">
                      <a:latin typeface="UD デジタル 教科書体 NK-R" panose="02020400000000000000" pitchFamily="18" charset="-128"/>
                      <a:ea typeface="UD デジタル 教科書体 NK-R" panose="02020400000000000000" pitchFamily="18" charset="-128"/>
                    </a:rPr>
                    <a:t>に近ければ近いほど分布は近い</a:t>
                  </a:r>
                  <a:endParaRPr lang="en-US" altLang="ja-JP" sz="2800" dirty="0">
                    <a:latin typeface="UD デジタル 教科書体 NK-R" panose="02020400000000000000" pitchFamily="18" charset="-128"/>
                    <a:ea typeface="UD デジタル 教科書体 NK-R" panose="02020400000000000000" pitchFamily="18" charset="-128"/>
                  </a:endParaRPr>
                </a:p>
                <a:p>
                  <a:pPr lvl="2"/>
                  <a14:m>
                    <m:oMathPara xmlns:m="http://schemas.openxmlformats.org/officeDocument/2006/math">
                      <m:oMathParaPr>
                        <m:jc m:val="centerGroup"/>
                      </m:oMathParaPr>
                      <m:oMath xmlns:m="http://schemas.openxmlformats.org/officeDocument/2006/math">
                        <m:eqArr>
                          <m:eqArrPr>
                            <m:ctrlPr>
                              <a:rPr lang="en-US" altLang="ja-JP" sz="2800" i="1">
                                <a:latin typeface="Cambria Math" panose="02040503050406030204" pitchFamily="18" charset="0"/>
                                <a:ea typeface="UD Digi Kyokasho NK-R" panose="02020400000000000000" pitchFamily="18" charset="-128"/>
                              </a:rPr>
                            </m:ctrlPr>
                          </m:eqArrPr>
                          <m:e>
                            <m:m>
                              <m:mPr>
                                <m:mcs>
                                  <m:mc>
                                    <m:mcPr>
                                      <m:count m:val="1"/>
                                      <m:mcJc m:val="center"/>
                                    </m:mcPr>
                                  </m:mc>
                                </m:mcs>
                                <m:ctrlPr>
                                  <a:rPr lang="en-US" altLang="ja-JP" sz="2800" i="1">
                                    <a:latin typeface="Cambria Math" panose="02040503050406030204" pitchFamily="18" charset="0"/>
                                    <a:ea typeface="UD Digi Kyokasho NK-R" panose="02020400000000000000" pitchFamily="18" charset="-128"/>
                                  </a:rPr>
                                </m:ctrlPr>
                              </m:mPr>
                              <m:m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i="1">
                                      <a:latin typeface="Cambria Math" panose="02040503050406030204" pitchFamily="18" charset="0"/>
                                      <a:ea typeface="UD デジタル 教科書体 NK-R" panose="02020400000000000000" pitchFamily="18" charset="-128"/>
                                    </a:rPr>
                                    <m:t>(</m:t>
                                  </m:r>
                                  <m:r>
                                    <a:rPr lang="en-US" altLang="ja-JP" sz="2800" b="1">
                                      <a:latin typeface="Cambria Math" panose="02040503050406030204" pitchFamily="18" charset="0"/>
                                      <a:ea typeface="UD デジタル 教科書体 NK-R" panose="02020400000000000000" pitchFamily="18" charset="-128"/>
                                    </a:rPr>
                                    <m:t>𝐀</m:t>
                                  </m:r>
                                  <m:r>
                                    <a:rPr lang="en-US" altLang="ja-JP" sz="2800" i="1">
                                      <a:latin typeface="Cambria Math" panose="02040503050406030204" pitchFamily="18" charset="0"/>
                                      <a:ea typeface="UD デジタル 教科書体 NK-R" panose="02020400000000000000" pitchFamily="18" charset="-128"/>
                                    </a:rPr>
                                    <m:t>)</m:t>
                                  </m:r>
                                  <m:r>
                                    <m:rPr>
                                      <m:nor/>
                                    </m:rPr>
                                    <a:rPr lang="en-US" altLang="ja-JP" sz="2800" dirty="0">
                                      <a:latin typeface="UD デジタル 教科書体 NK-R" panose="02020400000000000000" pitchFamily="18" charset="-128"/>
                                      <a:ea typeface="UD デジタル 教科書体 NK-R" panose="02020400000000000000" pitchFamily="18" charset="-128"/>
                                    </a:rPr>
                                    <m:t>,</m:t>
                                  </m:r>
                                  <m:r>
                                    <m:rPr>
                                      <m:nor/>
                                    </m:rPr>
                                    <a:rPr lang="en-US" altLang="ja-JP" sz="2800" b="0" i="0" dirty="0" smtClean="0">
                                      <a:latin typeface="UD デジタル 教科書体 NK-R" panose="02020400000000000000" pitchFamily="18" charset="-128"/>
                                      <a:ea typeface="UD デジタル 教科書体 NK-R" panose="02020400000000000000" pitchFamily="18" charset="-128"/>
                                    </a:rPr>
                                    <m:t>   </m:t>
                                  </m:r>
                                  <m:r>
                                    <m:rPr>
                                      <m:nor/>
                                    </m:rPr>
                                    <a:rPr lang="en-US" altLang="ja-JP" sz="2800" dirty="0">
                                      <a:latin typeface="UD デジタル 教科書体 NK-R" panose="02020400000000000000" pitchFamily="18" charset="-128"/>
                                      <a:ea typeface="UD デジタル 教科書体 NK-R" panose="02020400000000000000" pitchFamily="18" charset="-128"/>
                                    </a:rPr>
                                    <m:t>	</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Sub>
                                  <m:r>
                                    <a:rPr lang="en-US" altLang="ja-JP" sz="2800" i="1">
                                      <a:latin typeface="Cambria Math" panose="02040503050406030204" pitchFamily="18" charset="0"/>
                                      <a:ea typeface="UD デジタル 教科書体 NK-R" panose="02020400000000000000" pitchFamily="18" charset="-128"/>
                                    </a:rPr>
                                    <m:t>=</m:t>
                                  </m:r>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i="1">
                                      <a:latin typeface="Cambria Math" panose="02040503050406030204" pitchFamily="18" charset="0"/>
                                      <a:ea typeface="UD デジタル 教科書体 NK-R" panose="02020400000000000000" pitchFamily="18" charset="-128"/>
                                    </a:rPr>
                                    <m:t>(</m:t>
                                  </m:r>
                                  <m:r>
                                    <a:rPr lang="en-US" altLang="ja-JP" sz="2800" b="1">
                                      <a:latin typeface="Cambria Math" panose="02040503050406030204" pitchFamily="18" charset="0"/>
                                      <a:ea typeface="UD デジタル 教科書体 NK-R" panose="02020400000000000000" pitchFamily="18" charset="-128"/>
                                    </a:rPr>
                                    <m:t>𝐁</m:t>
                                  </m:r>
                                  <m:r>
                                    <a:rPr lang="en-US" altLang="ja-JP" sz="2800" i="1">
                                      <a:latin typeface="Cambria Math" panose="02040503050406030204" pitchFamily="18" charset="0"/>
                                      <a:ea typeface="UD デジタル 教科書体 NK-R" panose="02020400000000000000" pitchFamily="18" charset="-128"/>
                                    </a:rPr>
                                    <m:t>)</m:t>
                                  </m:r>
                                  <m:r>
                                    <m:rPr>
                                      <m:nor/>
                                    </m:rPr>
                                    <a:rPr lang="en-US" altLang="ja-JP" sz="2800" dirty="0">
                                      <a:latin typeface="UD デジタル 教科書体 NK-R" panose="02020400000000000000" pitchFamily="18" charset="-128"/>
                                      <a:ea typeface="UD デジタル 教科書体 NK-R" panose="02020400000000000000" pitchFamily="18" charset="-128"/>
                                    </a:rPr>
                                    <m:t> </m:t>
                                  </m:r>
                                </m:e>
                              </m:mr>
                              <m:m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𝐀</m:t>
                                          </m:r>
                                        </m:e>
                                      </m:d>
                                    </m:den>
                                  </m:f>
                                  <m:r>
                                    <a:rPr lang="en-US" altLang="ja-JP" sz="2800" i="1">
                                      <a:latin typeface="Cambria Math" panose="02040503050406030204" pitchFamily="18" charset="0"/>
                                      <a:ea typeface="UD デジタル 教科書体 NK-R" panose="02020400000000000000" pitchFamily="18" charset="-128"/>
                                    </a:rPr>
                                    <m:t>𝑣</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r>
                                    <m:rPr>
                                      <m:nor/>
                                    </m:rPr>
                                    <a:rPr lang="en-US" altLang="ja-JP" sz="2800" dirty="0">
                                      <a:latin typeface="UD デジタル 教科書体 NK-R" panose="02020400000000000000" pitchFamily="18" charset="-128"/>
                                      <a:ea typeface="UD デジタル 教科書体 NK-R" panose="02020400000000000000" pitchFamily="18" charset="-128"/>
                                    </a:rPr>
                                    <m:t>,</m:t>
                                  </m:r>
                                  <m:r>
                                    <m:rPr>
                                      <m:nor/>
                                    </m:rPr>
                                    <a:rPr lang="en-US" altLang="ja-JP" sz="2800" b="0" i="0" dirty="0" smtClean="0">
                                      <a:latin typeface="UD デジタル 教科書体 NK-R" panose="02020400000000000000" pitchFamily="18" charset="-128"/>
                                      <a:ea typeface="UD デジタル 教科書体 NK-R" panose="02020400000000000000" pitchFamily="18" charset="-128"/>
                                    </a:rPr>
                                    <m:t>   </m:t>
                                  </m:r>
                                  <m:r>
                                    <m:rPr>
                                      <m:nor/>
                                    </m:rPr>
                                    <a:rPr lang="en-US" altLang="ja-JP" sz="2800" dirty="0">
                                      <a:latin typeface="UD デジタル 教科書体 NK-R" panose="02020400000000000000" pitchFamily="18" charset="-128"/>
                                      <a:ea typeface="UD デジタル 教科書体 NK-R" panose="02020400000000000000" pitchFamily="18" charset="-128"/>
                                    </a:rPr>
                                    <m:t>	</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𝐵</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𝐁</m:t>
                                          </m:r>
                                        </m:e>
                                      </m:d>
                                    </m:den>
                                  </m:f>
                                  <m:r>
                                    <a:rPr lang="en-US" altLang="ja-JP" sz="2800" i="1">
                                      <a:latin typeface="Cambria Math" panose="02040503050406030204" pitchFamily="18" charset="0"/>
                                      <a:ea typeface="UD デジタル 教科書体 NK-R" panose="02020400000000000000" pitchFamily="18" charset="-128"/>
                                    </a:rPr>
                                    <m:t>𝑣</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Sub>
                                </m:e>
                              </m:mr>
                              <m:mr>
                                <m:e>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r>
                                        <a:rPr lang="en-US" altLang="ja-JP" sz="2800" i="1">
                                          <a:latin typeface="Cambria Math" panose="02040503050406030204" pitchFamily="18" charset="0"/>
                                          <a:ea typeface="UD デジタル 教科書体 NK-R" panose="02020400000000000000" pitchFamily="18" charset="-128"/>
                                        </a:rPr>
                                        <m:t>2048</m:t>
                                      </m:r>
                                    </m:den>
                                  </m:f>
                                  <m:sSubSup>
                                    <m:sSubSupPr>
                                      <m:ctrlPr>
                                        <a:rPr lang="en-US" altLang="ja-JP" sz="2800" i="1">
                                          <a:latin typeface="Cambria Math" panose="02040503050406030204" pitchFamily="18" charset="0"/>
                                          <a:ea typeface="UD デジタル 教科書体 NK-R" panose="02020400000000000000" pitchFamily="18" charset="-128"/>
                                        </a:rPr>
                                      </m:ctrlPr>
                                    </m:sSubSup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up>
                                      <m:r>
                                        <a:rPr lang="en-US" altLang="ja-JP" sz="2800" i="1">
                                          <a:latin typeface="Cambria Math" panose="02040503050406030204" pitchFamily="18" charset="0"/>
                                          <a:ea typeface="UD デジタル 教科書体 NK-R" panose="02020400000000000000" pitchFamily="18" charset="-128"/>
                                        </a:rPr>
                                        <m:t>𝑇</m:t>
                                      </m:r>
                                    </m:sup>
                                  </m:sSubSup>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r>
                                    <m:rPr>
                                      <m:nor/>
                                    </m:rPr>
                                    <a:rPr lang="en-US" altLang="ja-JP" sz="2800" dirty="0">
                                      <a:latin typeface="UD デジタル 教科書体 NK-R" panose="02020400000000000000" pitchFamily="18" charset="-128"/>
                                      <a:ea typeface="UD デジタル 教科書体 NK-R" panose="02020400000000000000" pitchFamily="18" charset="-128"/>
                                    </a:rPr>
                                    <m:t>,	</m:t>
                                  </m:r>
                                  <m:r>
                                    <m:rPr>
                                      <m:nor/>
                                    </m:rPr>
                                    <a:rPr lang="en-US" altLang="ja-JP" sz="2800" b="0" i="0" dirty="0" smtClean="0">
                                      <a:latin typeface="UD デジタル 教科書体 NK-R" panose="02020400000000000000" pitchFamily="18" charset="-128"/>
                                      <a:ea typeface="UD デジタル 教科書体 NK-R" panose="02020400000000000000" pitchFamily="18" charset="-128"/>
                                    </a:rPr>
                                    <m:t>   </m:t>
                                  </m:r>
                                  <m:r>
                                    <m:rPr>
                                      <m:nor/>
                                    </m:rPr>
                                    <a:rPr lang="en-US" altLang="ja-JP" sz="2800" dirty="0">
                                      <a:latin typeface="UD デジタル 教科書体 NK-R" panose="02020400000000000000" pitchFamily="18" charset="-128"/>
                                      <a:ea typeface="UD デジタル 教科書体 NK-R" panose="02020400000000000000" pitchFamily="18" charset="-128"/>
                                    </a:rPr>
                                    <m:t> </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Cambria Math" panose="02040503050406030204" pitchFamily="18" charset="0"/>
                                        </a:rPr>
                                        <m:t>𝐵</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r>
                                        <a:rPr lang="en-US" altLang="ja-JP" sz="2800" i="1">
                                          <a:latin typeface="Cambria Math" panose="02040503050406030204" pitchFamily="18" charset="0"/>
                                          <a:ea typeface="UD デジタル 教科書体 NK-R" panose="02020400000000000000" pitchFamily="18" charset="-128"/>
                                        </a:rPr>
                                        <m:t>2048</m:t>
                                      </m:r>
                                    </m:den>
                                  </m:f>
                                  <m:sSubSup>
                                    <m:sSubSupPr>
                                      <m:ctrlPr>
                                        <a:rPr lang="en-US" altLang="ja-JP" sz="2800" i="1">
                                          <a:latin typeface="Cambria Math" panose="02040503050406030204" pitchFamily="18" charset="0"/>
                                          <a:ea typeface="UD デジタル 教科書体 NK-R" panose="02020400000000000000" pitchFamily="18" charset="-128"/>
                                        </a:rPr>
                                      </m:ctrlPr>
                                    </m:sSubSup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up>
                                      <m:r>
                                        <a:rPr lang="en-US" altLang="ja-JP" sz="2800" i="1">
                                          <a:latin typeface="Cambria Math" panose="02040503050406030204" pitchFamily="18" charset="0"/>
                                          <a:ea typeface="UD デジタル 教科書体 NK-R" panose="02020400000000000000" pitchFamily="18" charset="-128"/>
                                        </a:rPr>
                                        <m:t>𝑇</m:t>
                                      </m:r>
                                    </m:sup>
                                  </m:sSubSup>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Sub>
                                  <m:r>
                                    <m:rPr>
                                      <m:nor/>
                                    </m:rPr>
                                    <a:rPr lang="en-US" altLang="ja-JP" sz="2800" dirty="0">
                                      <a:latin typeface="UD デジタル 教科書体 NK-R" panose="02020400000000000000" pitchFamily="18" charset="-128"/>
                                      <a:ea typeface="UD デジタル 教科書体 NK-R" panose="02020400000000000000" pitchFamily="18" charset="-128"/>
                                    </a:rPr>
                                    <m:t> </m:t>
                                  </m:r>
                                </m:e>
                              </m:mr>
                              <m:mr>
                                <m:e>
                                  <m:r>
                                    <a:rPr lang="en-US" altLang="ja-JP" sz="2800" i="1">
                                      <a:latin typeface="Cambria Math" panose="02040503050406030204" pitchFamily="18" charset="0"/>
                                      <a:ea typeface="UD デジタル 教科書体 NK-R" panose="02020400000000000000" pitchFamily="18" charset="-128"/>
                                    </a:rPr>
                                    <m:t>𝐹𝐼𝐷</m:t>
                                  </m:r>
                                  <m:r>
                                    <a:rPr lang="en-US" altLang="ja-JP" sz="2800" i="1">
                                      <a:latin typeface="Cambria Math" panose="02040503050406030204" pitchFamily="18" charset="0"/>
                                      <a:ea typeface="UD デジタル 教科書体 NK-R" panose="02020400000000000000" pitchFamily="18" charset="-128"/>
                                    </a:rPr>
                                    <m:t>=</m:t>
                                  </m:r>
                                  <m:sSubSup>
                                    <m:sSubSupPr>
                                      <m:ctrlPr>
                                        <a:rPr lang="en-US" altLang="ja-JP" sz="2800" i="1">
                                          <a:latin typeface="Cambria Math" panose="02040503050406030204" pitchFamily="18" charset="0"/>
                                          <a:ea typeface="UD デジタル 教科書体 NK-R" panose="02020400000000000000" pitchFamily="18" charset="-128"/>
                                        </a:rPr>
                                      </m:ctrlPr>
                                    </m:sSubSupPr>
                                    <m:e>
                                      <m:d>
                                        <m:dPr>
                                          <m:begChr m:val="‖"/>
                                          <m:endChr m:val="‖"/>
                                          <m:ctrlPr>
                                            <a:rPr lang="en-US" altLang="ja-JP" sz="2800" i="1">
                                              <a:latin typeface="Cambria Math" panose="02040503050406030204" pitchFamily="18" charset="0"/>
                                              <a:ea typeface="UD デジタル 教科書体 NK-R" panose="02020400000000000000" pitchFamily="18" charset="-128"/>
                                            </a:rPr>
                                          </m:ctrlPr>
                                        </m:dP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𝐵</m:t>
                                              </m:r>
                                            </m:sub>
                                          </m:sSub>
                                        </m:e>
                                      </m:d>
                                    </m:e>
                                    <m:sub>
                                      <m:r>
                                        <a:rPr lang="en-US" altLang="ja-JP" sz="2800" i="1">
                                          <a:latin typeface="Cambria Math" panose="02040503050406030204" pitchFamily="18" charset="0"/>
                                          <a:ea typeface="UD デジタル 教科書体 NK-R" panose="02020400000000000000" pitchFamily="18" charset="-128"/>
                                        </a:rPr>
                                        <m:t>2</m:t>
                                      </m:r>
                                    </m:sub>
                                    <m:sup>
                                      <m:r>
                                        <a:rPr lang="en-US" altLang="ja-JP" sz="2800" i="1">
                                          <a:latin typeface="Cambria Math" panose="02040503050406030204" pitchFamily="18" charset="0"/>
                                          <a:ea typeface="UD デジタル 教科書体 NK-R" panose="02020400000000000000" pitchFamily="18" charset="-128"/>
                                        </a:rPr>
                                        <m:t>2</m:t>
                                      </m:r>
                                    </m:sup>
                                  </m:sSubSup>
                                  <m:r>
                                    <a:rPr lang="en-US" altLang="ja-JP" sz="2800" i="1">
                                      <a:latin typeface="Cambria Math" panose="02040503050406030204" pitchFamily="18" charset="0"/>
                                      <a:ea typeface="UD デジタル 教科書体 NK-R" panose="02020400000000000000" pitchFamily="18" charset="-128"/>
                                    </a:rPr>
                                    <m:t>+</m:t>
                                  </m:r>
                                  <m:r>
                                    <a:rPr lang="en-US" altLang="ja-JP" sz="2800" i="1">
                                      <a:latin typeface="Cambria Math" panose="02040503050406030204" pitchFamily="18" charset="0"/>
                                      <a:ea typeface="UD デジタル 教科書体 NK-R" panose="02020400000000000000" pitchFamily="18" charset="-128"/>
                                    </a:rPr>
                                    <m:t>𝑇𝑟</m:t>
                                  </m:r>
                                  <m:r>
                                    <a:rPr lang="en-US" altLang="ja-JP" sz="2800" i="1">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𝐵</m:t>
                                      </m:r>
                                    </m:sub>
                                  </m:sSub>
                                  <m:r>
                                    <a:rPr lang="en-US" altLang="ja-JP" sz="2800" i="1">
                                      <a:latin typeface="Cambria Math" panose="02040503050406030204" pitchFamily="18" charset="0"/>
                                      <a:ea typeface="UD デジタル 教科書体 NK-R" panose="02020400000000000000" pitchFamily="18" charset="-128"/>
                                    </a:rPr>
                                    <m:t>−2</m:t>
                                  </m:r>
                                  <m:rad>
                                    <m:radPr>
                                      <m:degHide m:val="on"/>
                                      <m:ctrlPr>
                                        <a:rPr lang="en-US" altLang="ja-JP" sz="2800" i="1">
                                          <a:latin typeface="Cambria Math" panose="02040503050406030204" pitchFamily="18" charset="0"/>
                                          <a:ea typeface="UD デジタル 教科書体 NK-R" panose="02020400000000000000" pitchFamily="18" charset="-128"/>
                                        </a:rPr>
                                      </m:ctrlPr>
                                    </m:radPr>
                                    <m:deg/>
                                    <m:e>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𝐵</m:t>
                                          </m:r>
                                        </m:sub>
                                      </m:sSub>
                                    </m:e>
                                  </m:rad>
                                  <m:r>
                                    <a:rPr lang="en-US" altLang="ja-JP" sz="2800" i="1">
                                      <a:latin typeface="Cambria Math" panose="02040503050406030204" pitchFamily="18" charset="0"/>
                                      <a:ea typeface="UD デジタル 教科書体 NK-R" panose="02020400000000000000" pitchFamily="18" charset="-128"/>
                                    </a:rPr>
                                    <m:t>)</m:t>
                                  </m:r>
                                  <m:r>
                                    <m:rPr>
                                      <m:nor/>
                                    </m:rPr>
                                    <a:rPr lang="en-US" altLang="ja-JP" sz="2800" dirty="0">
                                      <a:latin typeface="UD デジタル 教科書体 NK-R" panose="02020400000000000000" pitchFamily="18" charset="-128"/>
                                      <a:ea typeface="UD デジタル 教科書体 NK-R" panose="02020400000000000000" pitchFamily="18" charset="-128"/>
                                    </a:rPr>
                                    <m:t>  </m:t>
                                  </m:r>
                                </m:e>
                              </m:mr>
                            </m:m>
                          </m:e>
                        </m:eqArr>
                      </m:oMath>
                    </m:oMathPara>
                  </a14:m>
                  <a:endParaRPr lang="en-US" altLang="ja-JP" sz="2800" dirty="0">
                    <a:latin typeface="UD デジタル 教科書体 NK-R" panose="02020400000000000000" pitchFamily="18" charset="-128"/>
                    <a:ea typeface="UD デジタル 教科書体 NK-R" panose="02020400000000000000" pitchFamily="18" charset="-128"/>
                  </a:endParaRPr>
                </a:p>
                <a:p>
                  <a:pPr lvl="2"/>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b="1" i="0" smtClean="0">
                          <a:latin typeface="Cambria Math" panose="02040503050406030204" pitchFamily="18" charset="0"/>
                          <a:ea typeface="UD デジタル 教科書体 NK-R" panose="02020400000000000000" pitchFamily="18" charset="-128"/>
                        </a:rPr>
                        <m:t>𝐀</m:t>
                      </m:r>
                    </m:oMath>
                  </a14:m>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b="1" i="0" smtClean="0">
                          <a:latin typeface="Cambria Math" panose="02040503050406030204" pitchFamily="18" charset="0"/>
                          <a:ea typeface="UD デジタル 教科書体 NK-R" panose="02020400000000000000" pitchFamily="18" charset="-128"/>
                        </a:rPr>
                        <m:t>𝐁</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分布を調べたい画像群</a:t>
                  </a:r>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𝑣</m:t>
                      </m:r>
                      <m:r>
                        <a:rPr lang="en-US" altLang="ja-JP" sz="2800" i="1">
                          <a:latin typeface="Cambria Math" panose="02040503050406030204" pitchFamily="18" charset="0"/>
                          <a:ea typeface="Cambria Math" panose="02040503050406030204" pitchFamily="18" charset="0"/>
                        </a:rPr>
                        <m:t>∈</m:t>
                      </m:r>
                      <m:sSup>
                        <m:sSupPr>
                          <m:ctrlPr>
                            <a:rPr lang="en-US" altLang="ja-JP" sz="2800" i="1">
                              <a:latin typeface="Cambria Math" panose="02040503050406030204" pitchFamily="18" charset="0"/>
                              <a:ea typeface="Cambria Math" panose="02040503050406030204" pitchFamily="18" charset="0"/>
                            </a:rPr>
                          </m:ctrlPr>
                        </m:sSupPr>
                        <m:e>
                          <m:r>
                            <a:rPr lang="en-US" altLang="ja-JP" sz="2800" i="1">
                              <a:latin typeface="Cambria Math" panose="02040503050406030204" pitchFamily="18" charset="0"/>
                              <a:ea typeface="Cambria Math" panose="02040503050406030204" pitchFamily="18" charset="0"/>
                            </a:rPr>
                            <m:t>ℝ</m:t>
                          </m:r>
                        </m:e>
                        <m:sup>
                          <m:r>
                            <a:rPr lang="en-US" altLang="ja-JP" sz="2800" i="1">
                              <a:latin typeface="Cambria Math" panose="02040503050406030204" pitchFamily="18" charset="0"/>
                              <a:ea typeface="Cambria Math" panose="02040503050406030204" pitchFamily="18" charset="0"/>
                            </a:rPr>
                            <m:t>1×</m:t>
                          </m:r>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𝐀</m:t>
                              </m:r>
                            </m:e>
                          </m:d>
                        </m:sup>
                      </m:sSup>
                    </m:oMath>
                  </a14:m>
                  <a:r>
                    <a:rPr lang="en-US" altLang="ja-JP" sz="2800" dirty="0">
                      <a:latin typeface="UD デジタル 教科書体 NK-R" panose="02020400000000000000" pitchFamily="18" charset="-128"/>
                      <a:ea typeface="UD デジタル 教科書体 NK-R" panose="02020400000000000000" pitchFamily="18" charset="-128"/>
                    </a:rPr>
                    <a:t> : 1</a:t>
                  </a:r>
                  <a:r>
                    <a:rPr lang="ja-JP" altLang="en-US" sz="2800">
                      <a:latin typeface="UD デジタル 教科書体 NK-R" panose="02020400000000000000" pitchFamily="18" charset="-128"/>
                      <a:ea typeface="UD デジタル 教科書体 NK-R" panose="02020400000000000000" pitchFamily="18" charset="-128"/>
                    </a:rPr>
                    <a:t>ベクトル</a:t>
                  </a:r>
                  <a:r>
                    <a:rPr lang="en-US" altLang="ja-JP" sz="2800" dirty="0">
                      <a:latin typeface="UD デジタル 教科書体 NK-R" panose="02020400000000000000" pitchFamily="18" charset="-128"/>
                      <a:ea typeface="UD デジタル 教科書体 NK-R" panose="02020400000000000000" pitchFamily="18" charset="-128"/>
                    </a:rPr>
                    <a:t>,</a:t>
                  </a:r>
                </a:p>
                <a:p>
                  <a:pPr lvl="2"/>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b="0" i="1" smtClean="0">
                          <a:latin typeface="Cambria Math" panose="02040503050406030204" pitchFamily="18" charset="0"/>
                          <a:ea typeface="UD デジタル 教科書体 NK-R" panose="02020400000000000000" pitchFamily="18" charset="-128"/>
                        </a:rPr>
                        <m:t>(</m:t>
                      </m:r>
                      <m:r>
                        <a:rPr lang="en-US" altLang="ja-JP" sz="2800" b="1" i="0" smtClean="0">
                          <a:latin typeface="Cambria Math" panose="02040503050406030204" pitchFamily="18" charset="0"/>
                          <a:ea typeface="UD デジタル 教科書体 NK-R" panose="02020400000000000000" pitchFamily="18" charset="-128"/>
                        </a:rPr>
                        <m:t>𝐗</m:t>
                      </m:r>
                      <m:r>
                        <a:rPr lang="en-US" altLang="ja-JP" sz="2800" b="0" i="1" smtClean="0">
                          <a:latin typeface="Cambria Math" panose="02040503050406030204" pitchFamily="18" charset="0"/>
                          <a:ea typeface="UD デジタル 教科書体 NK-R" panose="02020400000000000000" pitchFamily="18" charset="-128"/>
                        </a:rPr>
                        <m:t>)</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学習済み</a:t>
                  </a:r>
                  <a:r>
                    <a:rPr lang="en-US" altLang="ja-JP" sz="2800" dirty="0">
                      <a:latin typeface="UD デジタル 教科書体 NK-R" panose="02020400000000000000" pitchFamily="18" charset="-128"/>
                      <a:ea typeface="UD デジタル 教科書体 NK-R" panose="02020400000000000000" pitchFamily="18" charset="-128"/>
                    </a:rPr>
                    <a:t>Inception-v3</a:t>
                  </a:r>
                  <a:r>
                    <a:rPr lang="ja-JP" altLang="en-US" sz="2800">
                      <a:latin typeface="UD デジタル 教科書体 NK-R" panose="02020400000000000000" pitchFamily="18" charset="-128"/>
                      <a:ea typeface="UD デジタル 教科書体 NK-R" panose="02020400000000000000" pitchFamily="18" charset="-128"/>
                    </a:rPr>
                    <a:t>に</a:t>
                  </a:r>
                  <a14:m>
                    <m:oMath xmlns:m="http://schemas.openxmlformats.org/officeDocument/2006/math">
                      <m:r>
                        <a:rPr lang="en-US" altLang="ja-JP" sz="2800" b="1">
                          <a:latin typeface="Cambria Math" panose="02040503050406030204" pitchFamily="18" charset="0"/>
                          <a:ea typeface="UD デジタル 教科書体 NK-R" panose="02020400000000000000" pitchFamily="18" charset="-128"/>
                        </a:rPr>
                        <m:t>𝐗</m:t>
                      </m:r>
                    </m:oMath>
                  </a14:m>
                  <a:r>
                    <a:rPr lang="ja-JP" altLang="en-US" sz="2800">
                      <a:latin typeface="UD デジタル 教科書体 NK-R" panose="02020400000000000000" pitchFamily="18" charset="-128"/>
                      <a:ea typeface="UD デジタル 教科書体 NK-R" panose="02020400000000000000" pitchFamily="18" charset="-128"/>
                    </a:rPr>
                    <a:t>を入力した際の出力</a:t>
                  </a:r>
                  <a:r>
                    <a:rPr lang="en-US" altLang="ja-JP" sz="2800" dirty="0">
                      <a:latin typeface="UD デジタル 教科書体 NK-R" panose="02020400000000000000" pitchFamily="18" charset="-128"/>
                      <a:ea typeface="UD デジタル 教科書体 NK-R" panose="02020400000000000000" pitchFamily="18" charset="-128"/>
                    </a:rPr>
                    <a:t>, </a:t>
                  </a: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spc="-200" dirty="0">
                    <a:latin typeface="UD デジタル 教科書体 NK-R" panose="02020400000000000000" pitchFamily="18" charset="-128"/>
                    <a:ea typeface="UD デジタル 教科書体 NK-R" panose="02020400000000000000" pitchFamily="18" charset="-128"/>
                  </a:endParaRPr>
                </a:p>
                <a:p>
                  <a:pPr lvl="1"/>
                  <a:endParaRPr lang="ja-JP" altLang="en-US" sz="2800" spc="-20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 :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を学習</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つの条件で大喜利生成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en-US" altLang="ja-JP" sz="2800" spc="-100" dirty="0">
                      <a:latin typeface="UD デジタル 教科書体 NK-R" panose="02020400000000000000" pitchFamily="18" charset="-128"/>
                      <a:ea typeface="UD デジタル 教科書体 NK-R" panose="02020400000000000000" pitchFamily="18" charset="-128"/>
                    </a:rPr>
                    <a:t>[1]</a:t>
                  </a:r>
                  <a:r>
                    <a:rPr lang="ja-JP" altLang="en-US" sz="2800" spc="-100">
                      <a:latin typeface="UD デジタル 教科書体 NK-R" panose="02020400000000000000" pitchFamily="18" charset="-128"/>
                      <a:ea typeface="UD デジタル 教科書体 NK-R" panose="02020400000000000000" pitchFamily="18" charset="-128"/>
                    </a:rPr>
                    <a:t>と同様に画像の特徴抽出機として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事前学習済み</a:t>
                  </a:r>
                  <a:r>
                    <a:rPr lang="en-US" altLang="ja-JP" sz="2800" spc="-100" dirty="0">
                      <a:latin typeface="UD デジタル 教科書体 NK-R" panose="02020400000000000000" pitchFamily="18" charset="-128"/>
                      <a:ea typeface="UD デジタル 教科書体 NK-R" panose="02020400000000000000" pitchFamily="18" charset="-128"/>
                    </a:rPr>
                    <a:t>ResNet152</a:t>
                  </a:r>
                  <a:r>
                    <a:rPr lang="ja-JP" altLang="en-US" sz="2800" spc="-100">
                      <a:latin typeface="UD デジタル 教科書体 NK-R" panose="02020400000000000000" pitchFamily="18" charset="-128"/>
                      <a:ea typeface="UD デジタル 教科書体 NK-R" panose="02020400000000000000" pitchFamily="18" charset="-128"/>
                    </a:rPr>
                    <a:t>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512</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2048</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spc="-100">
                      <a:latin typeface="UD デジタル 教科書体 NK-R" panose="02020400000000000000" pitchFamily="18" charset="-128"/>
                      <a:ea typeface="UD デジタル 教科書体 NK-R" panose="02020400000000000000" pitchFamily="18" charset="-128"/>
                    </a:rPr>
                    <a:t>実験条件</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en-US" altLang="ja-JP" sz="2800" spc="-100" dirty="0">
                      <a:latin typeface="UD デジタル 教科書体 NK-R" panose="02020400000000000000" pitchFamily="18" charset="-128"/>
                      <a:ea typeface="UD デジタル 教科書体 NK-R" panose="02020400000000000000" pitchFamily="18" charset="-128"/>
                    </a:rPr>
                    <a:t>LSTM</a:t>
                  </a:r>
                  <a:r>
                    <a:rPr lang="ja-JP" altLang="en-US" sz="2800" spc="-100">
                      <a:latin typeface="UD デジタル 教科書体 NK-R" panose="02020400000000000000" pitchFamily="18" charset="-128"/>
                      <a:ea typeface="UD デジタル 教科書体 NK-R" panose="02020400000000000000" pitchFamily="18" charset="-128"/>
                    </a:rPr>
                    <a:t>ユニット数</a:t>
                  </a:r>
                  <a:r>
                    <a:rPr lang="en-US" altLang="ja-JP" sz="2800" spc="-100" dirty="0">
                      <a:latin typeface="UD デジタル 教科書体 NK-R" panose="02020400000000000000" pitchFamily="18" charset="-128"/>
                      <a:ea typeface="UD デジタル 教科書体 NK-R" panose="02020400000000000000" pitchFamily="18" charset="-128"/>
                    </a:rPr>
                    <a:t> : 512, </a:t>
                  </a:r>
                  <a:r>
                    <a:rPr lang="ja-JP" altLang="en-US" sz="2800" spc="-100">
                      <a:latin typeface="UD デジタル 教科書体 NK-R" panose="02020400000000000000" pitchFamily="18" charset="-128"/>
                      <a:ea typeface="UD デジタル 教科書体 NK-R" panose="02020400000000000000" pitchFamily="18" charset="-128"/>
                    </a:rPr>
                    <a:t>バッチサイズ</a:t>
                  </a:r>
                  <a:r>
                    <a:rPr lang="en-US" altLang="ja-JP" sz="2800" spc="-100" dirty="0">
                      <a:latin typeface="UD デジタル 教科書体 NK-R" panose="02020400000000000000" pitchFamily="18" charset="-128"/>
                      <a:ea typeface="UD デジタル 教科書体 NK-R" panose="02020400000000000000" pitchFamily="18" charset="-128"/>
                    </a:rPr>
                    <a:t> : 1024, </a:t>
                  </a:r>
                  <a:r>
                    <a:rPr lang="ja-JP" altLang="en-US" sz="2800" spc="-100">
                      <a:latin typeface="UD デジタル 教科書体 NK-R" panose="02020400000000000000" pitchFamily="18" charset="-128"/>
                      <a:ea typeface="UD デジタル 教科書体 NK-R" panose="02020400000000000000" pitchFamily="18" charset="-128"/>
                    </a:rPr>
                    <a:t>エポック</a:t>
                  </a:r>
                  <a:r>
                    <a:rPr lang="en-US" altLang="ja-JP" sz="2800" spc="-1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交差エントロピー</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endParaRPr lang="en-US" altLang="ja-JP" sz="2000" spc="-1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　生成大喜利を比較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en-US" altLang="ja-JP" sz="2800" dirty="0">
                      <a:latin typeface="UD デジタル 教科書体 NK-R" panose="02020400000000000000" pitchFamily="18" charset="-128"/>
                      <a:ea typeface="UD デジタル 教科書体 NK-R" panose="02020400000000000000" pitchFamily="18" charset="-128"/>
                    </a:rPr>
                    <a:t>(a) </a:t>
                  </a:r>
                  <a:r>
                    <a:rPr lang="ja-JP" altLang="en-US" sz="2800">
                      <a:latin typeface="UD デジタル 教科書体 NK-R" panose="02020400000000000000" pitchFamily="18" charset="-128"/>
                      <a:ea typeface="UD デジタル 教科書体 NK-R" panose="02020400000000000000" pitchFamily="18" charset="-128"/>
                    </a:rPr>
                    <a:t>学習損失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　　　　　　　　　　　　　　　　　　</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学習精度</a:t>
                  </a:r>
                  <a:endParaRPr lang="en-US" altLang="ja-JP" sz="2000" dirty="0">
                    <a:latin typeface="UD デジタル 教科書体 NK-R" panose="02020400000000000000" pitchFamily="18" charset="-128"/>
                    <a:ea typeface="UD デジタル 教科書体 NK-R" panose="02020400000000000000" pitchFamily="18" charset="-128"/>
                  </a:endParaRPr>
                </a:p>
                <a:p>
                  <a:pPr algn="ctr"/>
                  <a:endParaRPr lang="en-US" altLang="ja-JP" sz="20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　学習した大喜利生成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が生成した大喜利</a:t>
                  </a:r>
                  <a:endParaRPr lang="en-US" altLang="ja-JP" sz="2800" dirty="0">
                    <a:latin typeface="UD デジタル 教科書体 NK-R" panose="02020400000000000000" pitchFamily="18" charset="-128"/>
                    <a:ea typeface="UD デジタル 教科書体 NK-R" panose="02020400000000000000" pitchFamily="18" charset="-128"/>
                  </a:endParaRPr>
                </a:p>
              </p:txBody>
            </p:sp>
          </mc:Choice>
          <mc:Fallback xmlns="">
            <p:sp>
              <p:nvSpPr>
                <p:cNvPr id="37" name="テキスト ボックス 36">
                  <a:extLst>
                    <a:ext uri="{FF2B5EF4-FFF2-40B4-BE49-F238E27FC236}">
                      <a16:creationId xmlns:a16="http://schemas.microsoft.com/office/drawing/2014/main" id="{33CBE4EA-6A45-2DF9-9C9B-750731A73354}"/>
                    </a:ext>
                  </a:extLst>
                </p:cNvPr>
                <p:cNvSpPr txBox="1">
                  <a:spLocks noRot="1" noChangeAspect="1" noMove="1" noResize="1" noEditPoints="1" noAdjustHandles="1" noChangeArrowheads="1" noChangeShapeType="1" noTextEdit="1"/>
                </p:cNvSpPr>
                <p:nvPr/>
              </p:nvSpPr>
              <p:spPr>
                <a:xfrm>
                  <a:off x="350132" y="6188617"/>
                  <a:ext cx="14499166" cy="33466277"/>
                </a:xfrm>
                <a:prstGeom prst="rect">
                  <a:avLst/>
                </a:prstGeom>
                <a:blipFill>
                  <a:blip r:embed="rId5"/>
                  <a:stretch>
                    <a:fillRect l="-875" t="-190"/>
                  </a:stretch>
                </a:blipFill>
              </p:spPr>
              <p:txBody>
                <a:bodyPr/>
                <a:lstStyle/>
                <a:p>
                  <a:r>
                    <a:rPr lang="ja-JP" altLang="en-US">
                      <a:noFill/>
                    </a:rPr>
                    <a:t> </a:t>
                  </a:r>
                </a:p>
              </p:txBody>
            </p:sp>
          </mc:Fallback>
        </mc:AlternateContent>
      </p:grpSp>
      <p:sp>
        <p:nvSpPr>
          <p:cNvPr id="154" name="テキスト ボックス 153">
            <a:extLst>
              <a:ext uri="{FF2B5EF4-FFF2-40B4-BE49-F238E27FC236}">
                <a16:creationId xmlns:a16="http://schemas.microsoft.com/office/drawing/2014/main" id="{D885AE38-02FE-BABF-B73B-FD10DBD6E9F0}"/>
              </a:ext>
            </a:extLst>
          </p:cNvPr>
          <p:cNvSpPr txBox="1"/>
          <p:nvPr/>
        </p:nvSpPr>
        <p:spPr>
          <a:xfrm>
            <a:off x="478313" y="40720311"/>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[1] </a:t>
            </a:r>
            <a:r>
              <a:rPr lang="ja-JP" altLang="en-US" sz="2800">
                <a:latin typeface="UD Digi Kyokasho NK-R" panose="02020400000000000000" pitchFamily="18" charset="-128"/>
                <a:ea typeface="UD Digi Kyokasho NK-R" panose="02020400000000000000" pitchFamily="18" charset="-128"/>
              </a:rPr>
              <a:t>美濃口 宗尊</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他</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精密工学会誌</a:t>
            </a:r>
            <a:r>
              <a:rPr lang="en-US" altLang="ja-JP" sz="2800" dirty="0">
                <a:latin typeface="UD Digi Kyokasho NK-R" panose="02020400000000000000" pitchFamily="18" charset="-128"/>
                <a:ea typeface="UD Digi Kyokasho NK-R" panose="02020400000000000000" pitchFamily="18" charset="-128"/>
              </a:rPr>
              <a:t>, vol.85, no.12, pp.1151-1156 (2019).</a:t>
            </a:r>
          </a:p>
          <a:p>
            <a:r>
              <a:rPr lang="en-US" altLang="ja-JP" sz="2800" dirty="0">
                <a:latin typeface="UD デジタル 教科書体 NK-R" panose="02020400000000000000" pitchFamily="18" charset="-128"/>
                <a:ea typeface="UD デジタル 教科書体 NK-R" panose="02020400000000000000" pitchFamily="18" charset="-128"/>
              </a:rPr>
              <a:t>[2] </a:t>
            </a:r>
            <a:r>
              <a:rPr lang="en-US" altLang="ja-JP" sz="2800" dirty="0" err="1">
                <a:latin typeface="UD デジタル 教科書体 NK-R" panose="02020400000000000000" pitchFamily="18" charset="-128"/>
                <a:ea typeface="UD デジタル 教科書体 NK-R" panose="02020400000000000000" pitchFamily="18" charset="-128"/>
              </a:rPr>
              <a:t>Vinyals</a:t>
            </a:r>
            <a:r>
              <a:rPr lang="en-US" altLang="ja-JP" sz="2800" dirty="0">
                <a:latin typeface="UD デジタル 教科書体 NK-R" panose="02020400000000000000" pitchFamily="18" charset="-128"/>
                <a:ea typeface="UD デジタル 教科書体 NK-R" panose="02020400000000000000" pitchFamily="18" charset="-128"/>
              </a:rPr>
              <a:t>, O., et al., Proc. IEEE CVPR, pp. 3156-3164 (2015).</a:t>
            </a:r>
          </a:p>
          <a:p>
            <a:r>
              <a:rPr lang="en-US" altLang="ja-JP" sz="2800" dirty="0">
                <a:latin typeface="UD Digi Kyokasho NK-R" panose="02020400000000000000" pitchFamily="18" charset="-128"/>
                <a:ea typeface="UD Digi Kyokasho NK-R" panose="02020400000000000000" pitchFamily="18" charset="-128"/>
              </a:rPr>
              <a:t>[3] G. E. Hinton, et al., Science, vol.313, no.5786, pp.504-507(2006).</a:t>
            </a:r>
          </a:p>
        </p:txBody>
      </p:sp>
      <p:sp>
        <p:nvSpPr>
          <p:cNvPr id="155" name="テキスト ボックス 154">
            <a:extLst>
              <a:ext uri="{FF2B5EF4-FFF2-40B4-BE49-F238E27FC236}">
                <a16:creationId xmlns:a16="http://schemas.microsoft.com/office/drawing/2014/main" id="{EFC3748E-A701-D3A4-4FB9-8E56588245BE}"/>
              </a:ext>
            </a:extLst>
          </p:cNvPr>
          <p:cNvSpPr txBox="1"/>
          <p:nvPr/>
        </p:nvSpPr>
        <p:spPr>
          <a:xfrm>
            <a:off x="15425050" y="40702554"/>
            <a:ext cx="14522270" cy="954107"/>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[4] </a:t>
            </a:r>
            <a:r>
              <a:rPr lang="ja-JP" altLang="en-US" sz="2800">
                <a:latin typeface="UD Digi Kyokasho NK-R" panose="02020400000000000000" pitchFamily="18" charset="-128"/>
                <a:ea typeface="UD Digi Kyokasho NK-R" panose="02020400000000000000" pitchFamily="18" charset="-128"/>
              </a:rPr>
              <a:t>株式会社オモロキ</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 https://</a:t>
            </a:r>
            <a:r>
              <a:rPr lang="en-US" altLang="ja-JP" sz="2800" dirty="0" err="1">
                <a:latin typeface="UD Digi Kyokasho NK-R" panose="02020400000000000000" pitchFamily="18" charset="-128"/>
                <a:ea typeface="UD Digi Kyokasho NK-R" panose="02020400000000000000" pitchFamily="18" charset="-128"/>
              </a:rPr>
              <a:t>bokete.jp</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最終アクセス</a:t>
            </a:r>
            <a:r>
              <a:rPr lang="en-US" altLang="ja-JP" sz="2800" dirty="0">
                <a:latin typeface="UD Digi Kyokasho NK-R" panose="02020400000000000000" pitchFamily="18" charset="-128"/>
                <a:ea typeface="UD Digi Kyokasho NK-R" panose="02020400000000000000" pitchFamily="18" charset="-128"/>
              </a:rPr>
              <a:t> : 2023/6/6).</a:t>
            </a:r>
          </a:p>
          <a:p>
            <a:r>
              <a:rPr lang="en-US" altLang="ja-JP" sz="2800" dirty="0">
                <a:latin typeface="UD Digi Kyokasho NK-R" panose="02020400000000000000" pitchFamily="18" charset="-128"/>
                <a:ea typeface="UD Digi Kyokasho NK-R" panose="02020400000000000000" pitchFamily="18" charset="-128"/>
              </a:rPr>
              <a:t>[5]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Heusel</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 Martin, et al.,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NeurIPS</a:t>
            </a:r>
            <a:r>
              <a:rPr lang="en" altLang="ja-JP" sz="2800" dirty="0">
                <a:solidFill>
                  <a:srgbClr val="222222"/>
                </a:solidFill>
                <a:latin typeface="UD Digi Kyokasho NK-R" panose="02020400000000000000" pitchFamily="18" charset="-128"/>
                <a:ea typeface="UD Digi Kyokasho NK-R" panose="02020400000000000000" pitchFamily="18" charset="-128"/>
              </a:rPr>
              <a:t>, </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30 (2017).</a:t>
            </a:r>
            <a:endParaRPr lang="en-US" altLang="ja-JP" sz="2800" dirty="0">
              <a:latin typeface="UD Digi Kyokasho NK-R" panose="02020400000000000000" pitchFamily="18" charset="-128"/>
              <a:ea typeface="UD Digi Kyokasho NK-R" panose="02020400000000000000" pitchFamily="18" charset="-128"/>
            </a:endParaRPr>
          </a:p>
        </p:txBody>
      </p:sp>
      <p:graphicFrame>
        <p:nvGraphicFramePr>
          <p:cNvPr id="255" name="表 255">
            <a:extLst>
              <a:ext uri="{FF2B5EF4-FFF2-40B4-BE49-F238E27FC236}">
                <a16:creationId xmlns:a16="http://schemas.microsoft.com/office/drawing/2014/main" id="{238C88B2-E0D1-950A-16DC-AD9A1C46C3F1}"/>
              </a:ext>
            </a:extLst>
          </p:cNvPr>
          <p:cNvGraphicFramePr>
            <a:graphicFrameLocks noGrp="1"/>
          </p:cNvGraphicFramePr>
          <p:nvPr>
            <p:extLst>
              <p:ext uri="{D42A27DB-BD31-4B8C-83A1-F6EECF244321}">
                <p14:modId xmlns:p14="http://schemas.microsoft.com/office/powerpoint/2010/main" val="4071158739"/>
              </p:ext>
            </p:extLst>
          </p:nvPr>
        </p:nvGraphicFramePr>
        <p:xfrm>
          <a:off x="15343492" y="7764541"/>
          <a:ext cx="14557140" cy="155448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p>
                  </a:txBody>
                  <a:tcP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49,265,280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58,703,488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0.0094/0.0096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0.0109/0.0111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bl>
          </a:graphicData>
        </a:graphic>
      </p:graphicFrame>
      <p:graphicFrame>
        <p:nvGraphicFramePr>
          <p:cNvPr id="259" name="表 255">
            <a:extLst>
              <a:ext uri="{FF2B5EF4-FFF2-40B4-BE49-F238E27FC236}">
                <a16:creationId xmlns:a16="http://schemas.microsoft.com/office/drawing/2014/main" id="{075542DE-9B92-8E05-FA82-9740125B2813}"/>
              </a:ext>
            </a:extLst>
          </p:cNvPr>
          <p:cNvGraphicFramePr>
            <a:graphicFrameLocks noGrp="1"/>
          </p:cNvGraphicFramePr>
          <p:nvPr/>
        </p:nvGraphicFramePr>
        <p:xfrm>
          <a:off x="15343492" y="12459854"/>
          <a:ext cx="14557140" cy="207264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特徴量の次元数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1024</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14,659,712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23,048,832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0.0111/0.0111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0.0086/0.0086</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r h="370840">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FID</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108.30/109.38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73.03/74.37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61.76/62.87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extLst>
                  <a:ext uri="{0D108BD9-81ED-4DB2-BD59-A6C34878D82A}">
                    <a16:rowId xmlns:a16="http://schemas.microsoft.com/office/drawing/2014/main" val="2145768203"/>
                  </a:ext>
                </a:extLst>
              </a:tr>
            </a:tbl>
          </a:graphicData>
        </a:graphic>
      </p:graphicFrame>
      <p:graphicFrame>
        <p:nvGraphicFramePr>
          <p:cNvPr id="4" name="表 255">
            <a:extLst>
              <a:ext uri="{FF2B5EF4-FFF2-40B4-BE49-F238E27FC236}">
                <a16:creationId xmlns:a16="http://schemas.microsoft.com/office/drawing/2014/main" id="{ED82D327-A8A9-DFD6-9FF7-08FA73F91AD0}"/>
              </a:ext>
            </a:extLst>
          </p:cNvPr>
          <p:cNvGraphicFramePr>
            <a:graphicFrameLocks noGrp="1"/>
          </p:cNvGraphicFramePr>
          <p:nvPr>
            <p:extLst>
              <p:ext uri="{D42A27DB-BD31-4B8C-83A1-F6EECF244321}">
                <p14:modId xmlns:p14="http://schemas.microsoft.com/office/powerpoint/2010/main" val="1570383692"/>
              </p:ext>
            </p:extLst>
          </p:nvPr>
        </p:nvGraphicFramePr>
        <p:xfrm>
          <a:off x="15343492" y="34152424"/>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火事だー</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プリキュアの最終回</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よし一旦</a:t>
                      </a:r>
                      <a:r>
                        <a:rPr kumimoji="1" lang="en" altLang="ja-JP" sz="2800" spc="-100" baseline="0" dirty="0">
                          <a:solidFill>
                            <a:srgbClr val="FF0000"/>
                          </a:solidFill>
                          <a:latin typeface="UD Digi Kyokasho NK-R" panose="02020400000000000000" pitchFamily="18" charset="-128"/>
                          <a:ea typeface="UD Digi Kyokasho NK-R" panose="02020400000000000000" pitchFamily="18" charset="-128"/>
                        </a:rPr>
                        <a:t>CM</a:t>
                      </a:r>
                      <a:r>
                        <a:rPr kumimoji="1" lang="ja-JP" altLang="en-US" sz="2800" spc="-100" baseline="0">
                          <a:latin typeface="UD Digi Kyokasho NK-R" panose="02020400000000000000" pitchFamily="18" charset="-128"/>
                          <a:ea typeface="UD Digi Kyokasho NK-R" panose="02020400000000000000" pitchFamily="18" charset="-128"/>
                        </a:rPr>
                        <a:t>の時間だ</a:t>
                      </a:r>
                    </a:p>
                  </a:txBody>
                  <a:tcPr anchor="ctr"/>
                </a:tc>
                <a:extLst>
                  <a:ext uri="{0D108BD9-81ED-4DB2-BD59-A6C34878D82A}">
                    <a16:rowId xmlns:a16="http://schemas.microsoft.com/office/drawing/2014/main" val="1783522377"/>
                  </a:ext>
                </a:extLst>
              </a:tr>
            </a:tbl>
          </a:graphicData>
        </a:graphic>
      </p:graphicFrame>
      <p:pic>
        <p:nvPicPr>
          <p:cNvPr id="214" name="図 213" descr="帽子を被っている女性&#10;&#10;自動的に生成された説明">
            <a:extLst>
              <a:ext uri="{FF2B5EF4-FFF2-40B4-BE49-F238E27FC236}">
                <a16:creationId xmlns:a16="http://schemas.microsoft.com/office/drawing/2014/main" id="{AC82285A-96DB-9690-7F15-C9A038C14A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1881" y="8581709"/>
            <a:ext cx="1496736" cy="1496736"/>
          </a:xfrm>
          <a:prstGeom prst="rect">
            <a:avLst/>
          </a:prstGeom>
        </p:spPr>
      </p:pic>
      <mc:AlternateContent xmlns:mc="http://schemas.openxmlformats.org/markup-compatibility/2006" xmlns:a14="http://schemas.microsoft.com/office/drawing/2010/main">
        <mc:Choice Requires="a14">
          <p:sp>
            <p:nvSpPr>
              <p:cNvPr id="216" name="テキスト ボックス 215">
                <a:extLst>
                  <a:ext uri="{FF2B5EF4-FFF2-40B4-BE49-F238E27FC236}">
                    <a16:creationId xmlns:a16="http://schemas.microsoft.com/office/drawing/2014/main" id="{E9786A7F-47F9-B8F1-4898-1CF3772FB67A}"/>
                  </a:ext>
                </a:extLst>
              </p:cNvPr>
              <p:cNvSpPr txBox="1"/>
              <p:nvPr/>
            </p:nvSpPr>
            <p:spPr>
              <a:xfrm>
                <a:off x="2036003" y="7871590"/>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16" name="テキスト ボックス 215">
                <a:extLst>
                  <a:ext uri="{FF2B5EF4-FFF2-40B4-BE49-F238E27FC236}">
                    <a16:creationId xmlns:a16="http://schemas.microsoft.com/office/drawing/2014/main" id="{E9786A7F-47F9-B8F1-4898-1CF3772FB67A}"/>
                  </a:ext>
                </a:extLst>
              </p:cNvPr>
              <p:cNvSpPr txBox="1">
                <a:spLocks noRot="1" noChangeAspect="1" noMove="1" noResize="1" noEditPoints="1" noAdjustHandles="1" noChangeArrowheads="1" noChangeShapeType="1" noTextEdit="1"/>
              </p:cNvSpPr>
              <p:nvPr/>
            </p:nvSpPr>
            <p:spPr>
              <a:xfrm>
                <a:off x="2036003" y="7871590"/>
                <a:ext cx="471668" cy="430887"/>
              </a:xfrm>
              <a:prstGeom prst="rect">
                <a:avLst/>
              </a:prstGeom>
              <a:blipFill>
                <a:blip r:embed="rId7"/>
                <a:stretch>
                  <a:fillRect l="-10526" r="-2632"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7" name="テキスト ボックス 216">
                <a:extLst>
                  <a:ext uri="{FF2B5EF4-FFF2-40B4-BE49-F238E27FC236}">
                    <a16:creationId xmlns:a16="http://schemas.microsoft.com/office/drawing/2014/main" id="{89F9CC42-0EFF-4861-65DA-AA213DBC97A8}"/>
                  </a:ext>
                </a:extLst>
              </p:cNvPr>
              <p:cNvSpPr txBox="1"/>
              <p:nvPr/>
            </p:nvSpPr>
            <p:spPr>
              <a:xfrm>
                <a:off x="1988951" y="9105625"/>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17" name="テキスト ボックス 216">
                <a:extLst>
                  <a:ext uri="{FF2B5EF4-FFF2-40B4-BE49-F238E27FC236}">
                    <a16:creationId xmlns:a16="http://schemas.microsoft.com/office/drawing/2014/main" id="{89F9CC42-0EFF-4861-65DA-AA213DBC97A8}"/>
                  </a:ext>
                </a:extLst>
              </p:cNvPr>
              <p:cNvSpPr txBox="1">
                <a:spLocks noRot="1" noChangeAspect="1" noMove="1" noResize="1" noEditPoints="1" noAdjustHandles="1" noChangeArrowheads="1" noChangeShapeType="1" noTextEdit="1"/>
              </p:cNvSpPr>
              <p:nvPr/>
            </p:nvSpPr>
            <p:spPr>
              <a:xfrm>
                <a:off x="1988951" y="9105625"/>
                <a:ext cx="492507" cy="430887"/>
              </a:xfrm>
              <a:prstGeom prst="rect">
                <a:avLst/>
              </a:prstGeom>
              <a:blipFill>
                <a:blip r:embed="rId8"/>
                <a:stretch>
                  <a:fillRect b="-5882"/>
                </a:stretch>
              </a:blipFill>
            </p:spPr>
            <p:txBody>
              <a:bodyPr/>
              <a:lstStyle/>
              <a:p>
                <a:r>
                  <a:rPr lang="ja-JP" altLang="en-US">
                    <a:noFill/>
                  </a:rPr>
                  <a:t> </a:t>
                </a:r>
              </a:p>
            </p:txBody>
          </p:sp>
        </mc:Fallback>
      </mc:AlternateContent>
      <p:cxnSp>
        <p:nvCxnSpPr>
          <p:cNvPr id="223" name="直線矢印コネクタ 222">
            <a:extLst>
              <a:ext uri="{FF2B5EF4-FFF2-40B4-BE49-F238E27FC236}">
                <a16:creationId xmlns:a16="http://schemas.microsoft.com/office/drawing/2014/main" id="{EB5A462D-A80D-CC6A-B4A4-915FD8588001}"/>
              </a:ext>
            </a:extLst>
          </p:cNvPr>
          <p:cNvCxnSpPr>
            <a:cxnSpLocks/>
            <a:stCxn id="216" idx="3"/>
            <a:endCxn id="245" idx="1"/>
          </p:cNvCxnSpPr>
          <p:nvPr/>
        </p:nvCxnSpPr>
        <p:spPr>
          <a:xfrm>
            <a:off x="2507671" y="8087034"/>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線矢印コネクタ 223">
            <a:extLst>
              <a:ext uri="{FF2B5EF4-FFF2-40B4-BE49-F238E27FC236}">
                <a16:creationId xmlns:a16="http://schemas.microsoft.com/office/drawing/2014/main" id="{9FF679CD-793E-7077-AD1C-3BCC7951EF16}"/>
              </a:ext>
            </a:extLst>
          </p:cNvPr>
          <p:cNvCxnSpPr>
            <a:cxnSpLocks/>
            <a:stCxn id="245" idx="3"/>
            <a:endCxn id="270" idx="1"/>
          </p:cNvCxnSpPr>
          <p:nvPr/>
        </p:nvCxnSpPr>
        <p:spPr>
          <a:xfrm flipV="1">
            <a:off x="5613881" y="8083024"/>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19">
            <a:extLst>
              <a:ext uri="{FF2B5EF4-FFF2-40B4-BE49-F238E27FC236}">
                <a16:creationId xmlns:a16="http://schemas.microsoft.com/office/drawing/2014/main" id="{A4BA8391-F00F-15FB-2F52-C17A87D640BF}"/>
              </a:ext>
            </a:extLst>
          </p:cNvPr>
          <p:cNvCxnSpPr>
            <a:cxnSpLocks/>
            <a:stCxn id="270" idx="3"/>
            <a:endCxn id="273" idx="1"/>
          </p:cNvCxnSpPr>
          <p:nvPr/>
        </p:nvCxnSpPr>
        <p:spPr>
          <a:xfrm>
            <a:off x="8956217" y="8083024"/>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線矢印コネクタ 225">
            <a:extLst>
              <a:ext uri="{FF2B5EF4-FFF2-40B4-BE49-F238E27FC236}">
                <a16:creationId xmlns:a16="http://schemas.microsoft.com/office/drawing/2014/main" id="{B0244165-A331-B5E2-2D99-05A754DC6D77}"/>
              </a:ext>
            </a:extLst>
          </p:cNvPr>
          <p:cNvCxnSpPr>
            <a:cxnSpLocks/>
            <a:stCxn id="273" idx="3"/>
            <a:endCxn id="228" idx="1"/>
          </p:cNvCxnSpPr>
          <p:nvPr/>
        </p:nvCxnSpPr>
        <p:spPr>
          <a:xfrm>
            <a:off x="12052610" y="8704058"/>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8" name="テキスト ボックス 227">
                <a:extLst>
                  <a:ext uri="{FF2B5EF4-FFF2-40B4-BE49-F238E27FC236}">
                    <a16:creationId xmlns:a16="http://schemas.microsoft.com/office/drawing/2014/main" id="{BE9AD327-F7D0-ED72-F40D-84FF6D3695E3}"/>
                  </a:ext>
                </a:extLst>
              </p:cNvPr>
              <p:cNvSpPr txBox="1"/>
              <p:nvPr/>
            </p:nvSpPr>
            <p:spPr>
              <a:xfrm>
                <a:off x="12909280" y="8503121"/>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28" name="テキスト ボックス 227">
                <a:extLst>
                  <a:ext uri="{FF2B5EF4-FFF2-40B4-BE49-F238E27FC236}">
                    <a16:creationId xmlns:a16="http://schemas.microsoft.com/office/drawing/2014/main" id="{BE9AD327-F7D0-ED72-F40D-84FF6D3695E3}"/>
                  </a:ext>
                </a:extLst>
              </p:cNvPr>
              <p:cNvSpPr txBox="1">
                <a:spLocks noRot="1" noChangeAspect="1" noMove="1" noResize="1" noEditPoints="1" noAdjustHandles="1" noChangeArrowheads="1" noChangeShapeType="1" noTextEdit="1"/>
              </p:cNvSpPr>
              <p:nvPr/>
            </p:nvSpPr>
            <p:spPr>
              <a:xfrm>
                <a:off x="12909280" y="8503121"/>
                <a:ext cx="814710" cy="430887"/>
              </a:xfrm>
              <a:prstGeom prst="rect">
                <a:avLst/>
              </a:prstGeom>
              <a:blipFill>
                <a:blip r:embed="rId9"/>
                <a:stretch>
                  <a:fillRect l="-4615" r="-3077" b="-11429"/>
                </a:stretch>
              </a:blipFill>
            </p:spPr>
            <p:txBody>
              <a:bodyPr/>
              <a:lstStyle/>
              <a:p>
                <a:r>
                  <a:rPr lang="ja-JP" altLang="en-US">
                    <a:noFill/>
                  </a:rPr>
                  <a:t> </a:t>
                </a:r>
              </a:p>
            </p:txBody>
          </p:sp>
        </mc:Fallback>
      </mc:AlternateContent>
      <p:grpSp>
        <p:nvGrpSpPr>
          <p:cNvPr id="240" name="グループ化 239">
            <a:extLst>
              <a:ext uri="{FF2B5EF4-FFF2-40B4-BE49-F238E27FC236}">
                <a16:creationId xmlns:a16="http://schemas.microsoft.com/office/drawing/2014/main" id="{A054153A-7DE4-618A-3D41-DE53B06C7CCD}"/>
              </a:ext>
            </a:extLst>
          </p:cNvPr>
          <p:cNvGrpSpPr/>
          <p:nvPr/>
        </p:nvGrpSpPr>
        <p:grpSpPr>
          <a:xfrm>
            <a:off x="3670881" y="7729470"/>
            <a:ext cx="1943000" cy="719356"/>
            <a:chOff x="3749692" y="11369202"/>
            <a:chExt cx="1943000" cy="719356"/>
          </a:xfrm>
        </p:grpSpPr>
        <p:sp>
          <p:nvSpPr>
            <p:cNvPr id="245" name="正方形/長方形 244">
              <a:extLst>
                <a:ext uri="{FF2B5EF4-FFF2-40B4-BE49-F238E27FC236}">
                  <a16:creationId xmlns:a16="http://schemas.microsoft.com/office/drawing/2014/main" id="{3D593E03-A2D3-15AB-90BC-6AEE4C3C1647}"/>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46" name="テキスト ボックス 245">
                  <a:extLst>
                    <a:ext uri="{FF2B5EF4-FFF2-40B4-BE49-F238E27FC236}">
                      <a16:creationId xmlns:a16="http://schemas.microsoft.com/office/drawing/2014/main" id="{86E9DCFB-3953-82A5-AD51-D92E907C7CA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46" name="テキスト ボックス 245">
                  <a:extLst>
                    <a:ext uri="{FF2B5EF4-FFF2-40B4-BE49-F238E27FC236}">
                      <a16:creationId xmlns:a16="http://schemas.microsoft.com/office/drawing/2014/main" id="{86E9DCFB-3953-82A5-AD51-D92E907C7CA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0"/>
                  <a:stretch>
                    <a:fillRect l="-6000" t="-2941" r="-6000" b="-3529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47" name="テキスト ボックス 246">
                <a:extLst>
                  <a:ext uri="{FF2B5EF4-FFF2-40B4-BE49-F238E27FC236}">
                    <a16:creationId xmlns:a16="http://schemas.microsoft.com/office/drawing/2014/main" id="{973B32A8-3E14-E7A8-84C7-48191CB33DA7}"/>
                  </a:ext>
                </a:extLst>
              </p:cNvPr>
              <p:cNvSpPr txBox="1"/>
              <p:nvPr/>
            </p:nvSpPr>
            <p:spPr>
              <a:xfrm>
                <a:off x="8086668" y="7251510"/>
                <a:ext cx="3511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47" name="テキスト ボックス 246">
                <a:extLst>
                  <a:ext uri="{FF2B5EF4-FFF2-40B4-BE49-F238E27FC236}">
                    <a16:creationId xmlns:a16="http://schemas.microsoft.com/office/drawing/2014/main" id="{973B32A8-3E14-E7A8-84C7-48191CB33DA7}"/>
                  </a:ext>
                </a:extLst>
              </p:cNvPr>
              <p:cNvSpPr txBox="1">
                <a:spLocks noRot="1" noChangeAspect="1" noMove="1" noResize="1" noEditPoints="1" noAdjustHandles="1" noChangeArrowheads="1" noChangeShapeType="1" noTextEdit="1"/>
              </p:cNvSpPr>
              <p:nvPr/>
            </p:nvSpPr>
            <p:spPr>
              <a:xfrm>
                <a:off x="8086668" y="7251510"/>
                <a:ext cx="351185" cy="430887"/>
              </a:xfrm>
              <a:prstGeom prst="rect">
                <a:avLst/>
              </a:prstGeom>
              <a:blipFill>
                <a:blip r:embed="rId11"/>
                <a:stretch>
                  <a:fillRect l="-10345" r="-3448" b="-14706"/>
                </a:stretch>
              </a:blipFill>
            </p:spPr>
            <p:txBody>
              <a:bodyPr/>
              <a:lstStyle/>
              <a:p>
                <a:r>
                  <a:rPr lang="ja-JP" altLang="en-US">
                    <a:noFill/>
                  </a:rPr>
                  <a:t> </a:t>
                </a:r>
              </a:p>
            </p:txBody>
          </p:sp>
        </mc:Fallback>
      </mc:AlternateContent>
      <p:sp>
        <p:nvSpPr>
          <p:cNvPr id="5" name="正方形/長方形 4">
            <a:extLst>
              <a:ext uri="{FF2B5EF4-FFF2-40B4-BE49-F238E27FC236}">
                <a16:creationId xmlns:a16="http://schemas.microsoft.com/office/drawing/2014/main" id="{5BCF1E3A-E4D3-E485-FF19-DB5B16DAF899}"/>
              </a:ext>
            </a:extLst>
          </p:cNvPr>
          <p:cNvSpPr/>
          <p:nvPr/>
        </p:nvSpPr>
        <p:spPr>
          <a:xfrm>
            <a:off x="5341076" y="11561797"/>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EAC9EC35-19CC-9271-9E5C-5203A561D264}"/>
              </a:ext>
            </a:extLst>
          </p:cNvPr>
          <p:cNvSpPr/>
          <p:nvPr/>
        </p:nvSpPr>
        <p:spPr>
          <a:xfrm>
            <a:off x="5352644" y="8658165"/>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8" name="直線矢印コネクタ 247">
            <a:extLst>
              <a:ext uri="{FF2B5EF4-FFF2-40B4-BE49-F238E27FC236}">
                <a16:creationId xmlns:a16="http://schemas.microsoft.com/office/drawing/2014/main" id="{02FE7BE1-F83F-1E1F-D74D-A29BD0761BDB}"/>
              </a:ext>
            </a:extLst>
          </p:cNvPr>
          <p:cNvCxnSpPr>
            <a:cxnSpLocks/>
            <a:endCxn id="270" idx="0"/>
          </p:cNvCxnSpPr>
          <p:nvPr/>
        </p:nvCxnSpPr>
        <p:spPr>
          <a:xfrm>
            <a:off x="7984717" y="7213486"/>
            <a:ext cx="0" cy="50986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27AA0A93-5A38-32FF-42C1-ED2393F43D09}"/>
              </a:ext>
            </a:extLst>
          </p:cNvPr>
          <p:cNvCxnSpPr>
            <a:cxnSpLocks/>
            <a:stCxn id="214" idx="3"/>
            <a:endCxn id="256" idx="2"/>
          </p:cNvCxnSpPr>
          <p:nvPr/>
        </p:nvCxnSpPr>
        <p:spPr>
          <a:xfrm flipV="1">
            <a:off x="3018617" y="9323609"/>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直線矢印コネクタ 22">
            <a:extLst>
              <a:ext uri="{FF2B5EF4-FFF2-40B4-BE49-F238E27FC236}">
                <a16:creationId xmlns:a16="http://schemas.microsoft.com/office/drawing/2014/main" id="{4A573549-C2AA-98F8-59E3-1055973CBB60}"/>
              </a:ext>
            </a:extLst>
          </p:cNvPr>
          <p:cNvCxnSpPr>
            <a:cxnSpLocks/>
            <a:stCxn id="256" idx="0"/>
            <a:endCxn id="273" idx="1"/>
          </p:cNvCxnSpPr>
          <p:nvPr/>
        </p:nvCxnSpPr>
        <p:spPr>
          <a:xfrm flipV="1">
            <a:off x="6983616" y="8704058"/>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4" name="グループ化 253">
            <a:extLst>
              <a:ext uri="{FF2B5EF4-FFF2-40B4-BE49-F238E27FC236}">
                <a16:creationId xmlns:a16="http://schemas.microsoft.com/office/drawing/2014/main" id="{80A45BF1-1759-352C-F29F-FAA0D6CC85E1}"/>
              </a:ext>
            </a:extLst>
          </p:cNvPr>
          <p:cNvGrpSpPr/>
          <p:nvPr/>
        </p:nvGrpSpPr>
        <p:grpSpPr>
          <a:xfrm>
            <a:off x="5551632" y="8762333"/>
            <a:ext cx="1431984" cy="1122552"/>
            <a:chOff x="5794565" y="9611968"/>
            <a:chExt cx="1431984" cy="1122552"/>
          </a:xfrm>
        </p:grpSpPr>
        <p:sp>
          <p:nvSpPr>
            <p:cNvPr id="256" name="台形 255">
              <a:extLst>
                <a:ext uri="{FF2B5EF4-FFF2-40B4-BE49-F238E27FC236}">
                  <a16:creationId xmlns:a16="http://schemas.microsoft.com/office/drawing/2014/main" id="{9F94FCAC-3C49-7535-4605-BE8FEDC9A663}"/>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62" name="テキスト ボックス 261">
                  <a:extLst>
                    <a:ext uri="{FF2B5EF4-FFF2-40B4-BE49-F238E27FC236}">
                      <a16:creationId xmlns:a16="http://schemas.microsoft.com/office/drawing/2014/main" id="{DF67C357-CCE4-4C6F-CA9A-AE9F5A8A624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62" name="テキスト ボックス 261">
                  <a:extLst>
                    <a:ext uri="{FF2B5EF4-FFF2-40B4-BE49-F238E27FC236}">
                      <a16:creationId xmlns:a16="http://schemas.microsoft.com/office/drawing/2014/main" id="{DF67C357-CCE4-4C6F-CA9A-AE9F5A8A624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12"/>
                  <a:stretch>
                    <a:fillRect l="-6306" r="-4505" b="-5714"/>
                  </a:stretch>
                </a:blipFill>
              </p:spPr>
              <p:txBody>
                <a:bodyPr/>
                <a:lstStyle/>
                <a:p>
                  <a:r>
                    <a:rPr lang="ja-JP" altLang="en-US">
                      <a:noFill/>
                    </a:rPr>
                    <a:t> </a:t>
                  </a:r>
                </a:p>
              </p:txBody>
            </p:sp>
          </mc:Fallback>
        </mc:AlternateContent>
      </p:grpSp>
      <p:grpSp>
        <p:nvGrpSpPr>
          <p:cNvPr id="269" name="グループ化 268">
            <a:extLst>
              <a:ext uri="{FF2B5EF4-FFF2-40B4-BE49-F238E27FC236}">
                <a16:creationId xmlns:a16="http://schemas.microsoft.com/office/drawing/2014/main" id="{E602F14E-591B-3D60-161F-7DC215F96608}"/>
              </a:ext>
            </a:extLst>
          </p:cNvPr>
          <p:cNvGrpSpPr/>
          <p:nvPr/>
        </p:nvGrpSpPr>
        <p:grpSpPr>
          <a:xfrm>
            <a:off x="7013217" y="7723346"/>
            <a:ext cx="1943000" cy="719356"/>
            <a:chOff x="3749692" y="11369202"/>
            <a:chExt cx="1943000" cy="719356"/>
          </a:xfrm>
        </p:grpSpPr>
        <p:sp>
          <p:nvSpPr>
            <p:cNvPr id="270" name="正方形/長方形 269">
              <a:extLst>
                <a:ext uri="{FF2B5EF4-FFF2-40B4-BE49-F238E27FC236}">
                  <a16:creationId xmlns:a16="http://schemas.microsoft.com/office/drawing/2014/main" id="{A7E4DF10-563E-BEB9-68A1-A17CB31EC791}"/>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1" name="テキスト ボックス 270">
                  <a:extLst>
                    <a:ext uri="{FF2B5EF4-FFF2-40B4-BE49-F238E27FC236}">
                      <a16:creationId xmlns:a16="http://schemas.microsoft.com/office/drawing/2014/main" id="{F730D54A-F977-45DB-D319-702796AFEEC6}"/>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71" name="テキスト ボックス 270">
                  <a:extLst>
                    <a:ext uri="{FF2B5EF4-FFF2-40B4-BE49-F238E27FC236}">
                      <a16:creationId xmlns:a16="http://schemas.microsoft.com/office/drawing/2014/main" id="{F730D54A-F977-45DB-D319-702796AFEEC6}"/>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3"/>
                  <a:stretch>
                    <a:fillRect b="-5714"/>
                  </a:stretch>
                </a:blipFill>
              </p:spPr>
              <p:txBody>
                <a:bodyPr/>
                <a:lstStyle/>
                <a:p>
                  <a:r>
                    <a:rPr lang="ja-JP" altLang="en-US">
                      <a:noFill/>
                    </a:rPr>
                    <a:t> </a:t>
                  </a:r>
                </a:p>
              </p:txBody>
            </p:sp>
          </mc:Fallback>
        </mc:AlternateContent>
      </p:grpSp>
      <p:grpSp>
        <p:nvGrpSpPr>
          <p:cNvPr id="272" name="グループ化 271">
            <a:extLst>
              <a:ext uri="{FF2B5EF4-FFF2-40B4-BE49-F238E27FC236}">
                <a16:creationId xmlns:a16="http://schemas.microsoft.com/office/drawing/2014/main" id="{075AF110-7F10-C9A1-A124-0088DDABFAAD}"/>
              </a:ext>
            </a:extLst>
          </p:cNvPr>
          <p:cNvGrpSpPr/>
          <p:nvPr/>
        </p:nvGrpSpPr>
        <p:grpSpPr>
          <a:xfrm>
            <a:off x="10109610" y="8344380"/>
            <a:ext cx="1943000" cy="719356"/>
            <a:chOff x="3749692" y="11369202"/>
            <a:chExt cx="1943000" cy="719356"/>
          </a:xfrm>
        </p:grpSpPr>
        <p:sp>
          <p:nvSpPr>
            <p:cNvPr id="273" name="正方形/長方形 272">
              <a:extLst>
                <a:ext uri="{FF2B5EF4-FFF2-40B4-BE49-F238E27FC236}">
                  <a16:creationId xmlns:a16="http://schemas.microsoft.com/office/drawing/2014/main" id="{B0C78290-2687-F702-7E5B-DA11CB35E48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4" name="テキスト ボックス 273">
                  <a:extLst>
                    <a:ext uri="{FF2B5EF4-FFF2-40B4-BE49-F238E27FC236}">
                      <a16:creationId xmlns:a16="http://schemas.microsoft.com/office/drawing/2014/main" id="{CB8AAA5B-7BAA-5FE0-DA14-9E1B3199832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274" name="テキスト ボックス 273">
                  <a:extLst>
                    <a:ext uri="{FF2B5EF4-FFF2-40B4-BE49-F238E27FC236}">
                      <a16:creationId xmlns:a16="http://schemas.microsoft.com/office/drawing/2014/main" id="{CB8AAA5B-7BAA-5FE0-DA14-9E1B31998329}"/>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4"/>
                  <a:stretch>
                    <a:fillRect b="-5714"/>
                  </a:stretch>
                </a:blipFill>
              </p:spPr>
              <p:txBody>
                <a:bodyPr/>
                <a:lstStyle/>
                <a:p>
                  <a:r>
                    <a:rPr lang="ja-JP" altLang="en-US">
                      <a:noFill/>
                    </a:rPr>
                    <a:t> </a:t>
                  </a:r>
                </a:p>
              </p:txBody>
            </p:sp>
          </mc:Fallback>
        </mc:AlternateContent>
      </p:grpSp>
      <p:cxnSp>
        <p:nvCxnSpPr>
          <p:cNvPr id="275" name="直線矢印コネクタ 135">
            <a:extLst>
              <a:ext uri="{FF2B5EF4-FFF2-40B4-BE49-F238E27FC236}">
                <a16:creationId xmlns:a16="http://schemas.microsoft.com/office/drawing/2014/main" id="{1442AD5E-ECC8-2EF6-E36D-352CFD75AB83}"/>
              </a:ext>
            </a:extLst>
          </p:cNvPr>
          <p:cNvCxnSpPr>
            <a:cxnSpLocks/>
            <a:stCxn id="228" idx="2"/>
            <a:endCxn id="277" idx="0"/>
          </p:cNvCxnSpPr>
          <p:nvPr/>
        </p:nvCxnSpPr>
        <p:spPr>
          <a:xfrm rot="5400000">
            <a:off x="6937002" y="4435421"/>
            <a:ext cx="1881046" cy="10878220"/>
          </a:xfrm>
          <a:prstGeom prst="bentConnector3">
            <a:avLst>
              <a:gd name="adj1" fmla="val 69943"/>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76" name="図 275" descr="帽子を被っている女性&#10;&#10;自動的に生成された説明">
            <a:extLst>
              <a:ext uri="{FF2B5EF4-FFF2-40B4-BE49-F238E27FC236}">
                <a16:creationId xmlns:a16="http://schemas.microsoft.com/office/drawing/2014/main" id="{7D919012-BCD9-E78F-078E-853C48FE2B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11525173"/>
            <a:ext cx="1496736" cy="1496736"/>
          </a:xfrm>
          <a:prstGeom prst="rect">
            <a:avLst/>
          </a:prstGeom>
        </p:spPr>
      </p:pic>
      <mc:AlternateContent xmlns:mc="http://schemas.openxmlformats.org/markup-compatibility/2006" xmlns:a14="http://schemas.microsoft.com/office/drawing/2010/main">
        <mc:Choice Requires="a14">
          <p:sp>
            <p:nvSpPr>
              <p:cNvPr id="277" name="テキスト ボックス 276">
                <a:extLst>
                  <a:ext uri="{FF2B5EF4-FFF2-40B4-BE49-F238E27FC236}">
                    <a16:creationId xmlns:a16="http://schemas.microsoft.com/office/drawing/2014/main" id="{185E924C-D473-7E31-2791-6C6A6D47B0B5}"/>
                  </a:ext>
                </a:extLst>
              </p:cNvPr>
              <p:cNvSpPr txBox="1"/>
              <p:nvPr/>
            </p:nvSpPr>
            <p:spPr>
              <a:xfrm>
                <a:off x="2031060" y="10815054"/>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77" name="テキスト ボックス 276">
                <a:extLst>
                  <a:ext uri="{FF2B5EF4-FFF2-40B4-BE49-F238E27FC236}">
                    <a16:creationId xmlns:a16="http://schemas.microsoft.com/office/drawing/2014/main" id="{185E924C-D473-7E31-2791-6C6A6D47B0B5}"/>
                  </a:ext>
                </a:extLst>
              </p:cNvPr>
              <p:cNvSpPr txBox="1">
                <a:spLocks noRot="1" noChangeAspect="1" noMove="1" noResize="1" noEditPoints="1" noAdjustHandles="1" noChangeArrowheads="1" noChangeShapeType="1" noTextEdit="1"/>
              </p:cNvSpPr>
              <p:nvPr/>
            </p:nvSpPr>
            <p:spPr>
              <a:xfrm>
                <a:off x="2031060" y="10815054"/>
                <a:ext cx="814710" cy="430887"/>
              </a:xfrm>
              <a:prstGeom prst="rect">
                <a:avLst/>
              </a:prstGeom>
              <a:blipFill>
                <a:blip r:embed="rId15"/>
                <a:stretch>
                  <a:fillRect l="-4545" r="-3030"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8" name="テキスト ボックス 277">
                <a:extLst>
                  <a:ext uri="{FF2B5EF4-FFF2-40B4-BE49-F238E27FC236}">
                    <a16:creationId xmlns:a16="http://schemas.microsoft.com/office/drawing/2014/main" id="{FA734656-A05F-5B8A-2837-1B844524488D}"/>
                  </a:ext>
                </a:extLst>
              </p:cNvPr>
              <p:cNvSpPr txBox="1"/>
              <p:nvPr/>
            </p:nvSpPr>
            <p:spPr>
              <a:xfrm>
                <a:off x="1984008" y="1204908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i="0" smtClean="0">
                          <a:latin typeface="Cambria Math" panose="02040503050406030204" pitchFamily="18" charset="0"/>
                        </a:rPr>
                        <m:t>𝐈</m:t>
                      </m:r>
                    </m:oMath>
                  </m:oMathPara>
                </a14:m>
                <a:endParaRPr kumimoji="1" lang="ja-JP" altLang="en-US" sz="2800" b="1" dirty="0"/>
              </a:p>
            </p:txBody>
          </p:sp>
        </mc:Choice>
        <mc:Fallback xmlns="">
          <p:sp>
            <p:nvSpPr>
              <p:cNvPr id="278" name="テキスト ボックス 277">
                <a:extLst>
                  <a:ext uri="{FF2B5EF4-FFF2-40B4-BE49-F238E27FC236}">
                    <a16:creationId xmlns:a16="http://schemas.microsoft.com/office/drawing/2014/main" id="{FA734656-A05F-5B8A-2837-1B844524488D}"/>
                  </a:ext>
                </a:extLst>
              </p:cNvPr>
              <p:cNvSpPr txBox="1">
                <a:spLocks noRot="1" noChangeAspect="1" noMove="1" noResize="1" noEditPoints="1" noAdjustHandles="1" noChangeArrowheads="1" noChangeShapeType="1" noTextEdit="1"/>
              </p:cNvSpPr>
              <p:nvPr/>
            </p:nvSpPr>
            <p:spPr>
              <a:xfrm>
                <a:off x="1984008" y="12049089"/>
                <a:ext cx="492507" cy="430887"/>
              </a:xfrm>
              <a:prstGeom prst="rect">
                <a:avLst/>
              </a:prstGeom>
              <a:blipFill>
                <a:blip r:embed="rId16"/>
                <a:stretch>
                  <a:fillRect b="-5714"/>
                </a:stretch>
              </a:blipFill>
            </p:spPr>
            <p:txBody>
              <a:bodyPr/>
              <a:lstStyle/>
              <a:p>
                <a:r>
                  <a:rPr lang="ja-JP" altLang="en-US">
                    <a:noFill/>
                  </a:rPr>
                  <a:t> </a:t>
                </a:r>
              </a:p>
            </p:txBody>
          </p:sp>
        </mc:Fallback>
      </mc:AlternateContent>
      <p:cxnSp>
        <p:nvCxnSpPr>
          <p:cNvPr id="279" name="直線矢印コネクタ 278">
            <a:extLst>
              <a:ext uri="{FF2B5EF4-FFF2-40B4-BE49-F238E27FC236}">
                <a16:creationId xmlns:a16="http://schemas.microsoft.com/office/drawing/2014/main" id="{4FA4FB80-7B2C-D4FA-1E26-D032CC28C889}"/>
              </a:ext>
            </a:extLst>
          </p:cNvPr>
          <p:cNvCxnSpPr>
            <a:cxnSpLocks/>
            <a:stCxn id="277" idx="3"/>
            <a:endCxn id="285" idx="1"/>
          </p:cNvCxnSpPr>
          <p:nvPr/>
        </p:nvCxnSpPr>
        <p:spPr>
          <a:xfrm>
            <a:off x="2845770" y="11030498"/>
            <a:ext cx="820168"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E638358B-477C-ED4B-4360-CF9629AA8759}"/>
              </a:ext>
            </a:extLst>
          </p:cNvPr>
          <p:cNvCxnSpPr>
            <a:cxnSpLocks/>
            <a:stCxn id="285" idx="3"/>
            <a:endCxn id="296" idx="1"/>
          </p:cNvCxnSpPr>
          <p:nvPr/>
        </p:nvCxnSpPr>
        <p:spPr>
          <a:xfrm flipV="1">
            <a:off x="5608938" y="11026488"/>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19">
            <a:extLst>
              <a:ext uri="{FF2B5EF4-FFF2-40B4-BE49-F238E27FC236}">
                <a16:creationId xmlns:a16="http://schemas.microsoft.com/office/drawing/2014/main" id="{CE0C6582-A421-C5E2-13D1-0A458F975858}"/>
              </a:ext>
            </a:extLst>
          </p:cNvPr>
          <p:cNvCxnSpPr>
            <a:cxnSpLocks/>
            <a:stCxn id="296" idx="3"/>
            <a:endCxn id="299" idx="1"/>
          </p:cNvCxnSpPr>
          <p:nvPr/>
        </p:nvCxnSpPr>
        <p:spPr>
          <a:xfrm>
            <a:off x="8951274" y="11026488"/>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直線矢印コネクタ 281">
            <a:extLst>
              <a:ext uri="{FF2B5EF4-FFF2-40B4-BE49-F238E27FC236}">
                <a16:creationId xmlns:a16="http://schemas.microsoft.com/office/drawing/2014/main" id="{A2295E78-CDC7-7445-F865-DEFA6D7DC947}"/>
              </a:ext>
            </a:extLst>
          </p:cNvPr>
          <p:cNvCxnSpPr>
            <a:cxnSpLocks/>
            <a:stCxn id="299" idx="3"/>
            <a:endCxn id="283" idx="1"/>
          </p:cNvCxnSpPr>
          <p:nvPr/>
        </p:nvCxnSpPr>
        <p:spPr>
          <a:xfrm>
            <a:off x="12047667" y="11647522"/>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3" name="テキスト ボックス 282">
                <a:extLst>
                  <a:ext uri="{FF2B5EF4-FFF2-40B4-BE49-F238E27FC236}">
                    <a16:creationId xmlns:a16="http://schemas.microsoft.com/office/drawing/2014/main" id="{BB3662A6-1EBB-E2D8-7AE1-E157E0C26BF0}"/>
                  </a:ext>
                </a:extLst>
              </p:cNvPr>
              <p:cNvSpPr txBox="1"/>
              <p:nvPr/>
            </p:nvSpPr>
            <p:spPr>
              <a:xfrm>
                <a:off x="12904337" y="11446585"/>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+2</m:t>
                          </m:r>
                        </m:sub>
                      </m:sSub>
                    </m:oMath>
                  </m:oMathPara>
                </a14:m>
                <a:endParaRPr kumimoji="1" lang="ja-JP" altLang="en-US" sz="2800" dirty="0"/>
              </a:p>
            </p:txBody>
          </p:sp>
        </mc:Choice>
        <mc:Fallback xmlns="">
          <p:sp>
            <p:nvSpPr>
              <p:cNvPr id="283" name="テキスト ボックス 282">
                <a:extLst>
                  <a:ext uri="{FF2B5EF4-FFF2-40B4-BE49-F238E27FC236}">
                    <a16:creationId xmlns:a16="http://schemas.microsoft.com/office/drawing/2014/main" id="{BB3662A6-1EBB-E2D8-7AE1-E157E0C26BF0}"/>
                  </a:ext>
                </a:extLst>
              </p:cNvPr>
              <p:cNvSpPr txBox="1">
                <a:spLocks noRot="1" noChangeAspect="1" noMove="1" noResize="1" noEditPoints="1" noAdjustHandles="1" noChangeArrowheads="1" noChangeShapeType="1" noTextEdit="1"/>
              </p:cNvSpPr>
              <p:nvPr/>
            </p:nvSpPr>
            <p:spPr>
              <a:xfrm>
                <a:off x="12904337" y="11446585"/>
                <a:ext cx="814710" cy="430887"/>
              </a:xfrm>
              <a:prstGeom prst="rect">
                <a:avLst/>
              </a:prstGeom>
              <a:blipFill>
                <a:blip r:embed="rId17"/>
                <a:stretch>
                  <a:fillRect l="-6250" r="-4688" b="-11429"/>
                </a:stretch>
              </a:blipFill>
            </p:spPr>
            <p:txBody>
              <a:bodyPr/>
              <a:lstStyle/>
              <a:p>
                <a:r>
                  <a:rPr lang="ja-JP" altLang="en-US">
                    <a:noFill/>
                  </a:rPr>
                  <a:t> </a:t>
                </a:r>
              </a:p>
            </p:txBody>
          </p:sp>
        </mc:Fallback>
      </mc:AlternateContent>
      <p:grpSp>
        <p:nvGrpSpPr>
          <p:cNvPr id="284" name="グループ化 283">
            <a:extLst>
              <a:ext uri="{FF2B5EF4-FFF2-40B4-BE49-F238E27FC236}">
                <a16:creationId xmlns:a16="http://schemas.microsoft.com/office/drawing/2014/main" id="{9C34ABBF-0103-7F3F-36C5-5CB61B776E74}"/>
              </a:ext>
            </a:extLst>
          </p:cNvPr>
          <p:cNvGrpSpPr/>
          <p:nvPr/>
        </p:nvGrpSpPr>
        <p:grpSpPr>
          <a:xfrm>
            <a:off x="3665938" y="10672934"/>
            <a:ext cx="1943000" cy="719356"/>
            <a:chOff x="3749692" y="11369202"/>
            <a:chExt cx="1943000" cy="719356"/>
          </a:xfrm>
        </p:grpSpPr>
        <p:sp>
          <p:nvSpPr>
            <p:cNvPr id="285" name="正方形/長方形 284">
              <a:extLst>
                <a:ext uri="{FF2B5EF4-FFF2-40B4-BE49-F238E27FC236}">
                  <a16:creationId xmlns:a16="http://schemas.microsoft.com/office/drawing/2014/main" id="{27EC2E1D-2732-BAC4-6A6D-281A796D48C3}"/>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86" name="テキスト ボックス 285">
                  <a:extLst>
                    <a:ext uri="{FF2B5EF4-FFF2-40B4-BE49-F238E27FC236}">
                      <a16:creationId xmlns:a16="http://schemas.microsoft.com/office/drawing/2014/main" id="{A1964DD9-3996-2BA3-8021-AA9FD0AD5D6D}"/>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86" name="テキスト ボックス 285">
                  <a:extLst>
                    <a:ext uri="{FF2B5EF4-FFF2-40B4-BE49-F238E27FC236}">
                      <a16:creationId xmlns:a16="http://schemas.microsoft.com/office/drawing/2014/main" id="{A1964DD9-3996-2BA3-8021-AA9FD0AD5D6D}"/>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8"/>
                  <a:stretch>
                    <a:fillRect l="-5960" r="-5960" b="-34286"/>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87" name="テキスト ボックス 286">
                <a:extLst>
                  <a:ext uri="{FF2B5EF4-FFF2-40B4-BE49-F238E27FC236}">
                    <a16:creationId xmlns:a16="http://schemas.microsoft.com/office/drawing/2014/main" id="{01855A5E-DE71-BB22-36A4-138ADFE4FEBD}"/>
                  </a:ext>
                </a:extLst>
              </p:cNvPr>
              <p:cNvSpPr txBox="1"/>
              <p:nvPr/>
            </p:nvSpPr>
            <p:spPr>
              <a:xfrm>
                <a:off x="8081725" y="10194974"/>
                <a:ext cx="6942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87" name="テキスト ボックス 286">
                <a:extLst>
                  <a:ext uri="{FF2B5EF4-FFF2-40B4-BE49-F238E27FC236}">
                    <a16:creationId xmlns:a16="http://schemas.microsoft.com/office/drawing/2014/main" id="{01855A5E-DE71-BB22-36A4-138ADFE4FEBD}"/>
                  </a:ext>
                </a:extLst>
              </p:cNvPr>
              <p:cNvSpPr txBox="1">
                <a:spLocks noRot="1" noChangeAspect="1" noMove="1" noResize="1" noEditPoints="1" noAdjustHandles="1" noChangeArrowheads="1" noChangeShapeType="1" noTextEdit="1"/>
              </p:cNvSpPr>
              <p:nvPr/>
            </p:nvSpPr>
            <p:spPr>
              <a:xfrm>
                <a:off x="8081725" y="10194974"/>
                <a:ext cx="694229" cy="430887"/>
              </a:xfrm>
              <a:prstGeom prst="rect">
                <a:avLst/>
              </a:prstGeom>
              <a:blipFill>
                <a:blip r:embed="rId19"/>
                <a:stretch>
                  <a:fillRect l="-5357" r="-3571" b="-14286"/>
                </a:stretch>
              </a:blipFill>
            </p:spPr>
            <p:txBody>
              <a:bodyPr/>
              <a:lstStyle/>
              <a:p>
                <a:r>
                  <a:rPr lang="ja-JP" altLang="en-US">
                    <a:noFill/>
                  </a:rPr>
                  <a:t> </a:t>
                </a:r>
              </a:p>
            </p:txBody>
          </p:sp>
        </mc:Fallback>
      </mc:AlternateContent>
      <p:cxnSp>
        <p:nvCxnSpPr>
          <p:cNvPr id="288" name="直線矢印コネクタ 287">
            <a:extLst>
              <a:ext uri="{FF2B5EF4-FFF2-40B4-BE49-F238E27FC236}">
                <a16:creationId xmlns:a16="http://schemas.microsoft.com/office/drawing/2014/main" id="{2502D6C6-DBE8-343F-2691-09B277B83FD7}"/>
              </a:ext>
            </a:extLst>
          </p:cNvPr>
          <p:cNvCxnSpPr>
            <a:cxnSpLocks/>
            <a:stCxn id="270" idx="2"/>
            <a:endCxn id="296" idx="0"/>
          </p:cNvCxnSpPr>
          <p:nvPr/>
        </p:nvCxnSpPr>
        <p:spPr>
          <a:xfrm flipH="1">
            <a:off x="7979774" y="8442702"/>
            <a:ext cx="4943" cy="222410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0" name="直線矢印コネクタ 289">
            <a:extLst>
              <a:ext uri="{FF2B5EF4-FFF2-40B4-BE49-F238E27FC236}">
                <a16:creationId xmlns:a16="http://schemas.microsoft.com/office/drawing/2014/main" id="{7FEE215C-2EB2-4303-7B09-0AD03F2968FB}"/>
              </a:ext>
            </a:extLst>
          </p:cNvPr>
          <p:cNvCxnSpPr>
            <a:cxnSpLocks/>
            <a:stCxn id="276" idx="3"/>
            <a:endCxn id="293" idx="2"/>
          </p:cNvCxnSpPr>
          <p:nvPr/>
        </p:nvCxnSpPr>
        <p:spPr>
          <a:xfrm flipV="1">
            <a:off x="3013674" y="12267073"/>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線矢印コネクタ 22">
            <a:extLst>
              <a:ext uri="{FF2B5EF4-FFF2-40B4-BE49-F238E27FC236}">
                <a16:creationId xmlns:a16="http://schemas.microsoft.com/office/drawing/2014/main" id="{97AE75E7-60DA-0E37-4526-AF103F1D9083}"/>
              </a:ext>
            </a:extLst>
          </p:cNvPr>
          <p:cNvCxnSpPr>
            <a:cxnSpLocks/>
            <a:stCxn id="293" idx="0"/>
            <a:endCxn id="299" idx="1"/>
          </p:cNvCxnSpPr>
          <p:nvPr/>
        </p:nvCxnSpPr>
        <p:spPr>
          <a:xfrm flipV="1">
            <a:off x="6978673" y="11647522"/>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2" name="グループ化 291">
            <a:extLst>
              <a:ext uri="{FF2B5EF4-FFF2-40B4-BE49-F238E27FC236}">
                <a16:creationId xmlns:a16="http://schemas.microsoft.com/office/drawing/2014/main" id="{A3E80203-2F17-F70D-09E9-3A1EED2A87E4}"/>
              </a:ext>
            </a:extLst>
          </p:cNvPr>
          <p:cNvGrpSpPr/>
          <p:nvPr/>
        </p:nvGrpSpPr>
        <p:grpSpPr>
          <a:xfrm>
            <a:off x="5546689" y="11705797"/>
            <a:ext cx="1431984" cy="1122552"/>
            <a:chOff x="5794565" y="9611968"/>
            <a:chExt cx="1431984" cy="1122552"/>
          </a:xfrm>
        </p:grpSpPr>
        <p:sp>
          <p:nvSpPr>
            <p:cNvPr id="293" name="台形 292">
              <a:extLst>
                <a:ext uri="{FF2B5EF4-FFF2-40B4-BE49-F238E27FC236}">
                  <a16:creationId xmlns:a16="http://schemas.microsoft.com/office/drawing/2014/main" id="{B091EEA4-AB85-3AE7-8C1A-54E94199C420}"/>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4" name="テキスト ボックス 293">
                  <a:extLst>
                    <a:ext uri="{FF2B5EF4-FFF2-40B4-BE49-F238E27FC236}">
                      <a16:creationId xmlns:a16="http://schemas.microsoft.com/office/drawing/2014/main" id="{58F80D79-ED15-165A-100C-A1A6A666F595}"/>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94" name="テキスト ボックス 293">
                  <a:extLst>
                    <a:ext uri="{FF2B5EF4-FFF2-40B4-BE49-F238E27FC236}">
                      <a16:creationId xmlns:a16="http://schemas.microsoft.com/office/drawing/2014/main" id="{58F80D79-ED15-165A-100C-A1A6A666F595}"/>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0"/>
                  <a:stretch>
                    <a:fillRect l="-6364" r="-5455" b="-5714"/>
                  </a:stretch>
                </a:blipFill>
              </p:spPr>
              <p:txBody>
                <a:bodyPr/>
                <a:lstStyle/>
                <a:p>
                  <a:r>
                    <a:rPr lang="ja-JP" altLang="en-US">
                      <a:noFill/>
                    </a:rPr>
                    <a:t> </a:t>
                  </a:r>
                </a:p>
              </p:txBody>
            </p:sp>
          </mc:Fallback>
        </mc:AlternateContent>
      </p:grpSp>
      <p:grpSp>
        <p:nvGrpSpPr>
          <p:cNvPr id="295" name="グループ化 294">
            <a:extLst>
              <a:ext uri="{FF2B5EF4-FFF2-40B4-BE49-F238E27FC236}">
                <a16:creationId xmlns:a16="http://schemas.microsoft.com/office/drawing/2014/main" id="{397F1010-BEED-3815-94C9-7AF896AE9D6F}"/>
              </a:ext>
            </a:extLst>
          </p:cNvPr>
          <p:cNvGrpSpPr/>
          <p:nvPr/>
        </p:nvGrpSpPr>
        <p:grpSpPr>
          <a:xfrm>
            <a:off x="7008274" y="10666810"/>
            <a:ext cx="1943000" cy="719356"/>
            <a:chOff x="3749692" y="11369202"/>
            <a:chExt cx="1943000" cy="719356"/>
          </a:xfrm>
        </p:grpSpPr>
        <p:sp>
          <p:nvSpPr>
            <p:cNvPr id="296" name="正方形/長方形 295">
              <a:extLst>
                <a:ext uri="{FF2B5EF4-FFF2-40B4-BE49-F238E27FC236}">
                  <a16:creationId xmlns:a16="http://schemas.microsoft.com/office/drawing/2014/main" id="{25C8505A-7B66-65A3-DBE2-F7B307A92800}"/>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7" name="テキスト ボックス 296">
                  <a:extLst>
                    <a:ext uri="{FF2B5EF4-FFF2-40B4-BE49-F238E27FC236}">
                      <a16:creationId xmlns:a16="http://schemas.microsoft.com/office/drawing/2014/main" id="{93D74842-23A3-2736-F957-263CAB46B80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97" name="テキスト ボックス 296">
                  <a:extLst>
                    <a:ext uri="{FF2B5EF4-FFF2-40B4-BE49-F238E27FC236}">
                      <a16:creationId xmlns:a16="http://schemas.microsoft.com/office/drawing/2014/main" id="{93D74842-23A3-2736-F957-263CAB46B80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1"/>
                  <a:stretch>
                    <a:fillRect b="-5714"/>
                  </a:stretch>
                </a:blipFill>
              </p:spPr>
              <p:txBody>
                <a:bodyPr/>
                <a:lstStyle/>
                <a:p>
                  <a:r>
                    <a:rPr lang="ja-JP" altLang="en-US">
                      <a:noFill/>
                    </a:rPr>
                    <a:t> </a:t>
                  </a:r>
                </a:p>
              </p:txBody>
            </p:sp>
          </mc:Fallback>
        </mc:AlternateContent>
      </p:grpSp>
      <p:grpSp>
        <p:nvGrpSpPr>
          <p:cNvPr id="298" name="グループ化 297">
            <a:extLst>
              <a:ext uri="{FF2B5EF4-FFF2-40B4-BE49-F238E27FC236}">
                <a16:creationId xmlns:a16="http://schemas.microsoft.com/office/drawing/2014/main" id="{9E89BA2D-D6D2-593D-B1EF-B741896D6A05}"/>
              </a:ext>
            </a:extLst>
          </p:cNvPr>
          <p:cNvGrpSpPr/>
          <p:nvPr/>
        </p:nvGrpSpPr>
        <p:grpSpPr>
          <a:xfrm>
            <a:off x="10104667" y="11287844"/>
            <a:ext cx="1943000" cy="719356"/>
            <a:chOff x="3749692" y="11369202"/>
            <a:chExt cx="1943000" cy="719356"/>
          </a:xfrm>
        </p:grpSpPr>
        <p:sp>
          <p:nvSpPr>
            <p:cNvPr id="299" name="正方形/長方形 298">
              <a:extLst>
                <a:ext uri="{FF2B5EF4-FFF2-40B4-BE49-F238E27FC236}">
                  <a16:creationId xmlns:a16="http://schemas.microsoft.com/office/drawing/2014/main" id="{879CE573-44C1-B764-878B-F3A54F5C74C6}"/>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00" name="テキスト ボックス 299">
                  <a:extLst>
                    <a:ext uri="{FF2B5EF4-FFF2-40B4-BE49-F238E27FC236}">
                      <a16:creationId xmlns:a16="http://schemas.microsoft.com/office/drawing/2014/main" id="{7440FC71-87C8-A4C2-1E2D-FC670DDB0E47}"/>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300" name="テキスト ボックス 299">
                  <a:extLst>
                    <a:ext uri="{FF2B5EF4-FFF2-40B4-BE49-F238E27FC236}">
                      <a16:creationId xmlns:a16="http://schemas.microsoft.com/office/drawing/2014/main" id="{7440FC71-87C8-A4C2-1E2D-FC670DDB0E47}"/>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2"/>
                  <a:stretch>
                    <a:fillRect b="-5714"/>
                  </a:stretch>
                </a:blipFill>
              </p:spPr>
              <p:txBody>
                <a:bodyPr/>
                <a:lstStyle/>
                <a:p>
                  <a:r>
                    <a:rPr lang="ja-JP" altLang="en-US">
                      <a:noFill/>
                    </a:rPr>
                    <a:t> </a:t>
                  </a:r>
                </a:p>
              </p:txBody>
            </p:sp>
          </mc:Fallback>
        </mc:AlternateContent>
      </p:grpSp>
      <p:cxnSp>
        <p:nvCxnSpPr>
          <p:cNvPr id="301" name="直線矢印コネクタ 300">
            <a:extLst>
              <a:ext uri="{FF2B5EF4-FFF2-40B4-BE49-F238E27FC236}">
                <a16:creationId xmlns:a16="http://schemas.microsoft.com/office/drawing/2014/main" id="{86FEAC7B-8D99-59A9-EDFA-226FFC4EB47B}"/>
              </a:ext>
            </a:extLst>
          </p:cNvPr>
          <p:cNvCxnSpPr>
            <a:cxnSpLocks/>
            <a:stCxn id="296" idx="2"/>
          </p:cNvCxnSpPr>
          <p:nvPr/>
        </p:nvCxnSpPr>
        <p:spPr>
          <a:xfrm>
            <a:off x="7979774" y="11386166"/>
            <a:ext cx="0" cy="163574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19" name="テキスト ボックス 418">
            <a:extLst>
              <a:ext uri="{FF2B5EF4-FFF2-40B4-BE49-F238E27FC236}">
                <a16:creationId xmlns:a16="http://schemas.microsoft.com/office/drawing/2014/main" id="{0F5BE3FB-C6EC-599F-75BF-494BD8D27C8D}"/>
              </a:ext>
            </a:extLst>
          </p:cNvPr>
          <p:cNvSpPr txBox="1"/>
          <p:nvPr/>
        </p:nvSpPr>
        <p:spPr>
          <a:xfrm>
            <a:off x="23896320" y="9289037"/>
            <a:ext cx="6001946" cy="523220"/>
          </a:xfrm>
          <a:prstGeom prst="rect">
            <a:avLst/>
          </a:prstGeom>
          <a:noFill/>
        </p:spPr>
        <p:txBody>
          <a:bodyPr wrap="square">
            <a:spAutoFit/>
          </a:bodyPr>
          <a:lstStyle/>
          <a:p>
            <a:pPr algn="ctr"/>
            <a:r>
              <a:rPr lang="ja-JP" altLang="en-US" sz="2800">
                <a:latin typeface="UD デジタル 教科書体 NK-R" panose="02020400000000000000" pitchFamily="18" charset="-128"/>
                <a:ea typeface="UD デジタル 教科書体 NK-R" panose="02020400000000000000" pitchFamily="18" charset="-128"/>
              </a:rPr>
              <a:t>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回変更した</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ベスト値</a:t>
            </a:r>
            <a:r>
              <a:rPr lang="en-US" altLang="ja-JP" sz="2800" dirty="0">
                <a:latin typeface="UD デジタル 教科書体 NK-R" panose="02020400000000000000" pitchFamily="18" charset="-128"/>
                <a:ea typeface="UD デジタル 教科書体 NK-R" panose="02020400000000000000" pitchFamily="18" charset="-128"/>
              </a:rPr>
              <a:t>/</a:t>
            </a:r>
            <a:r>
              <a:rPr lang="ja-JP" altLang="en-US" sz="2800">
                <a:latin typeface="UD デジタル 教科書体 NK-R" panose="02020400000000000000" pitchFamily="18" charset="-128"/>
                <a:ea typeface="UD デジタル 教科書体 NK-R" panose="02020400000000000000" pitchFamily="18" charset="-128"/>
              </a:rPr>
              <a:t>平均</a:t>
            </a:r>
            <a:endParaRPr lang="en-US" altLang="ja-JP" sz="2800" dirty="0">
              <a:latin typeface="UD デジタル 教科書体 NK-R" panose="02020400000000000000" pitchFamily="18" charset="-128"/>
              <a:ea typeface="UD デジタル 教科書体 NK-R" panose="02020400000000000000" pitchFamily="18" charset="-128"/>
            </a:endParaRPr>
          </a:p>
        </p:txBody>
      </p:sp>
      <p:sp>
        <p:nvSpPr>
          <p:cNvPr id="420" name="テキスト ボックス 419">
            <a:extLst>
              <a:ext uri="{FF2B5EF4-FFF2-40B4-BE49-F238E27FC236}">
                <a16:creationId xmlns:a16="http://schemas.microsoft.com/office/drawing/2014/main" id="{2DFBAEB6-F326-F69C-A302-B6B82BCA4683}"/>
              </a:ext>
            </a:extLst>
          </p:cNvPr>
          <p:cNvSpPr txBox="1"/>
          <p:nvPr/>
        </p:nvSpPr>
        <p:spPr>
          <a:xfrm>
            <a:off x="23902652" y="14532494"/>
            <a:ext cx="6001946" cy="523220"/>
          </a:xfrm>
          <a:prstGeom prst="rect">
            <a:avLst/>
          </a:prstGeom>
          <a:noFill/>
        </p:spPr>
        <p:txBody>
          <a:bodyPr wrap="square">
            <a:spAutoFit/>
          </a:bodyPr>
          <a:lstStyle/>
          <a:p>
            <a:pPr algn="ctr"/>
            <a:r>
              <a:rPr lang="ja-JP" altLang="en-US" sz="2800">
                <a:latin typeface="UD デジタル 教科書体 NK-R" panose="02020400000000000000" pitchFamily="18" charset="-128"/>
                <a:ea typeface="UD デジタル 教科書体 NK-R" panose="02020400000000000000" pitchFamily="18" charset="-128"/>
              </a:rPr>
              <a:t>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回変更した</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ベスト値</a:t>
            </a:r>
            <a:r>
              <a:rPr lang="en-US" altLang="ja-JP" sz="2800" dirty="0">
                <a:latin typeface="UD デジタル 教科書体 NK-R" panose="02020400000000000000" pitchFamily="18" charset="-128"/>
                <a:ea typeface="UD デジタル 教科書体 NK-R" panose="02020400000000000000" pitchFamily="18" charset="-128"/>
              </a:rPr>
              <a:t>/</a:t>
            </a:r>
            <a:r>
              <a:rPr lang="ja-JP" altLang="en-US" sz="2800">
                <a:latin typeface="UD デジタル 教科書体 NK-R" panose="02020400000000000000" pitchFamily="18" charset="-128"/>
                <a:ea typeface="UD デジタル 教科書体 NK-R" panose="02020400000000000000" pitchFamily="18" charset="-128"/>
              </a:rPr>
              <a:t>平均</a:t>
            </a:r>
            <a:endParaRPr lang="en-US" altLang="ja-JP" sz="2800" dirty="0">
              <a:latin typeface="UD デジタル 教科書体 NK-R" panose="02020400000000000000" pitchFamily="18" charset="-128"/>
              <a:ea typeface="UD デジタル 教科書体 NK-R" panose="02020400000000000000" pitchFamily="18" charset="-128"/>
            </a:endParaRPr>
          </a:p>
        </p:txBody>
      </p:sp>
      <p:graphicFrame>
        <p:nvGraphicFramePr>
          <p:cNvPr id="421" name="表 255">
            <a:extLst>
              <a:ext uri="{FF2B5EF4-FFF2-40B4-BE49-F238E27FC236}">
                <a16:creationId xmlns:a16="http://schemas.microsoft.com/office/drawing/2014/main" id="{9E9B6337-A505-26AE-A8FC-9981C77C4405}"/>
              </a:ext>
            </a:extLst>
          </p:cNvPr>
          <p:cNvGraphicFramePr>
            <a:graphicFrameLocks noGrp="1"/>
          </p:cNvGraphicFramePr>
          <p:nvPr>
            <p:extLst>
              <p:ext uri="{D42A27DB-BD31-4B8C-83A1-F6EECF244321}">
                <p14:modId xmlns:p14="http://schemas.microsoft.com/office/powerpoint/2010/main" val="1883710640"/>
              </p:ext>
            </p:extLst>
          </p:nvPr>
        </p:nvGraphicFramePr>
        <p:xfrm>
          <a:off x="15329206" y="37240525"/>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これが私のスタンド</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おれのボケに対する評価</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このとおり忙しいんだから早く</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宿題</a:t>
                      </a:r>
                      <a:r>
                        <a:rPr kumimoji="1" lang="ja-JP" altLang="en-US" sz="2800" spc="-100" baseline="0">
                          <a:latin typeface="UD Digi Kyokasho NK-R" panose="02020400000000000000" pitchFamily="18" charset="-128"/>
                          <a:ea typeface="UD Digi Kyokasho NK-R" panose="02020400000000000000" pitchFamily="18" charset="-128"/>
                        </a:rPr>
                        <a:t>を</a:t>
                      </a:r>
                    </a:p>
                  </a:txBody>
                  <a:tcPr anchor="ctr"/>
                </a:tc>
                <a:extLst>
                  <a:ext uri="{0D108BD9-81ED-4DB2-BD59-A6C34878D82A}">
                    <a16:rowId xmlns:a16="http://schemas.microsoft.com/office/drawing/2014/main" val="1783522377"/>
                  </a:ext>
                </a:extLst>
              </a:tr>
            </a:tbl>
          </a:graphicData>
        </a:graphic>
      </p:graphicFrame>
      <p:pic>
        <p:nvPicPr>
          <p:cNvPr id="19" name="図 18">
            <a:extLst>
              <a:ext uri="{FF2B5EF4-FFF2-40B4-BE49-F238E27FC236}">
                <a16:creationId xmlns:a16="http://schemas.microsoft.com/office/drawing/2014/main" id="{C0BDE784-B10D-2778-AC98-505AD98FC1C5}"/>
              </a:ext>
            </a:extLst>
          </p:cNvPr>
          <p:cNvPicPr>
            <a:picLocks noChangeAspect="1"/>
          </p:cNvPicPr>
          <p:nvPr/>
        </p:nvPicPr>
        <p:blipFill>
          <a:blip r:embed="rId23"/>
          <a:stretch>
            <a:fillRect/>
          </a:stretch>
        </p:blipFill>
        <p:spPr>
          <a:xfrm>
            <a:off x="15913172" y="37871527"/>
            <a:ext cx="2402435" cy="2402435"/>
          </a:xfrm>
          <a:prstGeom prst="rect">
            <a:avLst/>
          </a:prstGeom>
        </p:spPr>
      </p:pic>
      <p:grpSp>
        <p:nvGrpSpPr>
          <p:cNvPr id="12" name="グループ化 11">
            <a:extLst>
              <a:ext uri="{FF2B5EF4-FFF2-40B4-BE49-F238E27FC236}">
                <a16:creationId xmlns:a16="http://schemas.microsoft.com/office/drawing/2014/main" id="{E65DC85F-3E15-0BA1-8E80-793F41AD0CB6}"/>
              </a:ext>
            </a:extLst>
          </p:cNvPr>
          <p:cNvGrpSpPr/>
          <p:nvPr/>
        </p:nvGrpSpPr>
        <p:grpSpPr>
          <a:xfrm>
            <a:off x="232570" y="17707466"/>
            <a:ext cx="14760000" cy="6514405"/>
            <a:chOff x="191499" y="4380113"/>
            <a:chExt cx="14760000" cy="6514405"/>
          </a:xfrm>
        </p:grpSpPr>
        <p:sp>
          <p:nvSpPr>
            <p:cNvPr id="13" name="四角形: 角を丸くする 29">
              <a:extLst>
                <a:ext uri="{FF2B5EF4-FFF2-40B4-BE49-F238E27FC236}">
                  <a16:creationId xmlns:a16="http://schemas.microsoft.com/office/drawing/2014/main" id="{1C769F48-58D5-1679-DACB-318FA8F9E3DF}"/>
                </a:ext>
              </a:extLst>
            </p:cNvPr>
            <p:cNvSpPr/>
            <p:nvPr/>
          </p:nvSpPr>
          <p:spPr>
            <a:xfrm>
              <a:off x="191499" y="4755867"/>
              <a:ext cx="14760000" cy="6138651"/>
            </a:xfrm>
            <a:prstGeom prst="roundRect">
              <a:avLst>
                <a:gd name="adj" fmla="val 517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14" name="四角形: 角を丸くする 30">
              <a:extLst>
                <a:ext uri="{FF2B5EF4-FFF2-40B4-BE49-F238E27FC236}">
                  <a16:creationId xmlns:a16="http://schemas.microsoft.com/office/drawing/2014/main" id="{BF075FB3-0F66-2685-FBC5-BA7513501AD7}"/>
                </a:ext>
              </a:extLst>
            </p:cNvPr>
            <p:cNvSpPr/>
            <p:nvPr/>
          </p:nvSpPr>
          <p:spPr>
            <a:xfrm>
              <a:off x="506889" y="4380113"/>
              <a:ext cx="8227994" cy="743541"/>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Neural Joking Machine[1]</a:t>
              </a:r>
            </a:p>
          </p:txBody>
        </p:sp>
        <p:sp>
          <p:nvSpPr>
            <p:cNvPr id="15" name="テキスト ボックス 14">
              <a:extLst>
                <a:ext uri="{FF2B5EF4-FFF2-40B4-BE49-F238E27FC236}">
                  <a16:creationId xmlns:a16="http://schemas.microsoft.com/office/drawing/2014/main" id="{96426498-9315-7381-86AE-CDBD63175D6C}"/>
                </a:ext>
              </a:extLst>
            </p:cNvPr>
            <p:cNvSpPr txBox="1"/>
            <p:nvPr/>
          </p:nvSpPr>
          <p:spPr>
            <a:xfrm>
              <a:off x="318217" y="5375836"/>
              <a:ext cx="14633281" cy="2677656"/>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a:latin typeface="UD Digi Kyokasho NK-R" panose="02020400000000000000" pitchFamily="18" charset="-128"/>
                  <a:ea typeface="UD Digi Kyokasho NK-R" panose="02020400000000000000" pitchFamily="18" charset="-128"/>
                </a:rPr>
                <a:t>, ImageNet</a:t>
              </a:r>
              <a:r>
                <a:rPr lang="ja-JP" altLang="en-US" sz="2800">
                  <a:latin typeface="UD Digi Kyokasho NK-R" panose="02020400000000000000" pitchFamily="18" charset="-128"/>
                  <a:ea typeface="UD Digi Kyokasho NK-R" panose="02020400000000000000" pitchFamily="18" charset="-128"/>
                </a:rPr>
                <a:t>を事前学習済みの</a:t>
              </a:r>
              <a:r>
                <a:rPr lang="en-US" altLang="ja-JP" sz="2800" dirty="0">
                  <a:solidFill>
                    <a:srgbClr val="00B050"/>
                  </a:solidFill>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を使用</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大喜利⇔画像のデータセットを</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サイトをスクレイピングし作成</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一部の画像に対し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不適な単語を含む大喜利が生成される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事前学習済み</a:t>
              </a:r>
              <a:r>
                <a:rPr lang="en-US" altLang="ja-JP" sz="2800" dirty="0">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が</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特有のアニメ・マンガ画像等に対し</a:t>
              </a:r>
              <a:r>
                <a:rPr lang="en-US" altLang="ja-JP" sz="2800" dirty="0">
                  <a:latin typeface="UD Digi Kyokasho NK-R" panose="02020400000000000000" pitchFamily="18" charset="-128"/>
                  <a:ea typeface="UD Digi Kyokasho NK-R" panose="02020400000000000000" pitchFamily="18" charset="-128"/>
                </a:rPr>
                <a:t>, </a:t>
              </a:r>
            </a:p>
            <a:p>
              <a:pPr lvl="1"/>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特徴抽出できていない可能性がある</a:t>
              </a:r>
              <a:endParaRPr lang="en-US" altLang="ja-JP" sz="2800" dirty="0">
                <a:latin typeface="UD Digi Kyokasho NK-R" panose="02020400000000000000" pitchFamily="18" charset="-128"/>
                <a:ea typeface="UD Digi Kyokasho NK-R" panose="02020400000000000000" pitchFamily="18" charset="-128"/>
              </a:endParaRPr>
            </a:p>
          </p:txBody>
        </p:sp>
      </p:grpSp>
      <p:grpSp>
        <p:nvGrpSpPr>
          <p:cNvPr id="16" name="グループ化 15">
            <a:extLst>
              <a:ext uri="{FF2B5EF4-FFF2-40B4-BE49-F238E27FC236}">
                <a16:creationId xmlns:a16="http://schemas.microsoft.com/office/drawing/2014/main" id="{616ED7B0-C8FA-C46D-B08B-23B37E96A617}"/>
              </a:ext>
            </a:extLst>
          </p:cNvPr>
          <p:cNvGrpSpPr/>
          <p:nvPr/>
        </p:nvGrpSpPr>
        <p:grpSpPr>
          <a:xfrm>
            <a:off x="212936" y="24360493"/>
            <a:ext cx="14760000" cy="10393495"/>
            <a:chOff x="191499" y="4692374"/>
            <a:chExt cx="14760000" cy="10393495"/>
          </a:xfrm>
        </p:grpSpPr>
        <p:sp>
          <p:nvSpPr>
            <p:cNvPr id="17" name="四角形: 角を丸くする 29">
              <a:extLst>
                <a:ext uri="{FF2B5EF4-FFF2-40B4-BE49-F238E27FC236}">
                  <a16:creationId xmlns:a16="http://schemas.microsoft.com/office/drawing/2014/main" id="{4B05E3D0-4699-E5A1-64BB-5A1CFC63D341}"/>
                </a:ext>
              </a:extLst>
            </p:cNvPr>
            <p:cNvSpPr/>
            <p:nvPr/>
          </p:nvSpPr>
          <p:spPr>
            <a:xfrm>
              <a:off x="191499" y="5101306"/>
              <a:ext cx="14760000" cy="9914112"/>
            </a:xfrm>
            <a:prstGeom prst="roundRect">
              <a:avLst>
                <a:gd name="adj" fmla="val 2868"/>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30">
              <a:extLst>
                <a:ext uri="{FF2B5EF4-FFF2-40B4-BE49-F238E27FC236}">
                  <a16:creationId xmlns:a16="http://schemas.microsoft.com/office/drawing/2014/main" id="{1B9C66BC-7CF3-4C13-C82B-343E7DF3E09D}"/>
                </a:ext>
              </a:extLst>
            </p:cNvPr>
            <p:cNvSpPr/>
            <p:nvPr/>
          </p:nvSpPr>
          <p:spPr>
            <a:xfrm>
              <a:off x="506889" y="4692374"/>
              <a:ext cx="4812750" cy="809753"/>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本研究</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a:t>
              </a: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提案手法</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8103660E-7864-B952-E9D4-8B1BFBE455FD}"/>
                    </a:ext>
                  </a:extLst>
                </p:cNvPr>
                <p:cNvSpPr txBox="1"/>
                <p:nvPr/>
              </p:nvSpPr>
              <p:spPr>
                <a:xfrm>
                  <a:off x="318217" y="5734078"/>
                  <a:ext cx="14633281" cy="9351791"/>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の画像を学習した</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a:t>
                  </a:r>
                  <a:r>
                    <a:rPr lang="ja-JP" altLang="en-US" sz="2800">
                      <a:solidFill>
                        <a:srgbClr val="FFC000"/>
                      </a:solidFill>
                      <a:latin typeface="UD Digi Kyokasho NK-R" panose="02020400000000000000" pitchFamily="18" charset="-128"/>
                      <a:ea typeface="UD Digi Kyokasho NK-R" panose="02020400000000000000" pitchFamily="18" charset="-128"/>
                    </a:rPr>
                    <a:t>エンコーダ</a:t>
                  </a:r>
                  <a:r>
                    <a:rPr lang="ja-JP" altLang="en-US" sz="2800">
                      <a:latin typeface="UD Digi Kyokasho NK-R" panose="02020400000000000000" pitchFamily="18" charset="-128"/>
                      <a:ea typeface="UD Digi Kyokasho NK-R" panose="02020400000000000000" pitchFamily="18" charset="-128"/>
                    </a:rPr>
                    <a:t>を使用</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のデータに適したエンコーダを用いることで，高精度に学習できることが期待できる</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デバイスに適した性能のエンコーダを用いることもできる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デメリット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を事前に学習する必要がある</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3200" dirty="0" err="1">
                      <a:latin typeface="UD Digi Kyokasho NK-R" panose="02020400000000000000" pitchFamily="18" charset="-128"/>
                      <a:ea typeface="UD Digi Kyokasho NK-R" panose="02020400000000000000" pitchFamily="18" charset="-128"/>
                    </a:rPr>
                    <a:t>AutoEncoder</a:t>
                  </a:r>
                  <a:r>
                    <a:rPr lang="en-US" altLang="ja-JP" sz="3200" dirty="0">
                      <a:latin typeface="UD Digi Kyokasho NK-R" panose="02020400000000000000" pitchFamily="18" charset="-128"/>
                      <a:ea typeface="UD Digi Kyokasho NK-R" panose="02020400000000000000" pitchFamily="18" charset="-128"/>
                    </a:rPr>
                    <a:t>[4]</a:t>
                  </a:r>
                </a:p>
                <a:p>
                  <a:pPr lvl="2"/>
                  <a:r>
                    <a:rPr lang="ja-JP" altLang="en-US" sz="2800">
                      <a:latin typeface="UD Digi Kyokasho NK-R" panose="02020400000000000000" pitchFamily="18" charset="-128"/>
                      <a:ea typeface="UD Digi Kyokasho NK-R" panose="02020400000000000000" pitchFamily="18" charset="-128"/>
                    </a:rPr>
                    <a:t>データの次元圧縮や， 特徴抽出が可能</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学習時にデータに対するアノテーションを必要としない</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任意の構造のエンコーダ・デコーダを定義できる</a:t>
                  </a:r>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は入力されたデータを復元するよう学習する</a:t>
                  </a:r>
                  <a:r>
                    <a:rPr lang="en-US" altLang="ja-JP" sz="2800" dirty="0">
                      <a:latin typeface="UD Digi Kyokasho NK-R" panose="02020400000000000000" pitchFamily="18" charset="-128"/>
                      <a:ea typeface="UD Digi Kyokasho NK-R" panose="02020400000000000000" pitchFamily="18" charset="-128"/>
                    </a:rPr>
                    <a:t>(1)</a:t>
                  </a:r>
                </a:p>
                <a:p>
                  <a:pPr/>
                  <a14:m>
                    <m:oMathPara xmlns:m="http://schemas.openxmlformats.org/officeDocument/2006/math">
                      <m:oMathParaPr>
                        <m:jc m:val="centerGroup"/>
                      </m:oMathParaPr>
                      <m:oMath xmlns:m="http://schemas.openxmlformats.org/officeDocument/2006/math">
                        <m:eqArr>
                          <m:eqArrPr>
                            <m:ctrlPr>
                              <a:rPr lang="en-US" altLang="ja-JP" sz="2800" b="0" i="1" smtClean="0">
                                <a:latin typeface="Cambria Math" panose="02040503050406030204" pitchFamily="18" charset="0"/>
                                <a:ea typeface="UD Digi Kyokasho NK-R" panose="02020400000000000000" pitchFamily="18" charset="-128"/>
                              </a:rPr>
                            </m:ctrlPr>
                          </m:eqArrPr>
                          <m:e>
                            <m:func>
                              <m:funcPr>
                                <m:ctrlPr>
                                  <a:rPr lang="en-US" altLang="ja-JP" sz="2800" b="0" i="1" smtClean="0">
                                    <a:latin typeface="Cambria Math" panose="02040503050406030204" pitchFamily="18" charset="0"/>
                                    <a:ea typeface="UD Digi Kyokasho NK-R" panose="02020400000000000000" pitchFamily="18" charset="-128"/>
                                  </a:rPr>
                                </m:ctrlPr>
                              </m:funcPr>
                              <m:fName>
                                <m:limLow>
                                  <m:limLowPr>
                                    <m:ctrlPr>
                                      <a:rPr lang="en-US" altLang="ja-JP" sz="2800" b="0" i="1" smtClean="0">
                                        <a:latin typeface="Cambria Math" panose="02040503050406030204" pitchFamily="18" charset="0"/>
                                        <a:ea typeface="UD Digi Kyokasho NK-R" panose="02020400000000000000" pitchFamily="18" charset="-128"/>
                                      </a:rPr>
                                    </m:ctrlPr>
                                  </m:limLowPr>
                                  <m:e>
                                    <m:r>
                                      <m:rPr>
                                        <m:sty m:val="p"/>
                                      </m:rPr>
                                      <a:rPr lang="en-US" altLang="ja-JP" sz="2800" b="0" i="0" smtClean="0">
                                        <a:latin typeface="Cambria Math" panose="02040503050406030204" pitchFamily="18" charset="0"/>
                                        <a:ea typeface="UD Digi Kyokasho NK-R" panose="02020400000000000000" pitchFamily="18" charset="-128"/>
                                      </a:rPr>
                                      <m:t>min</m:t>
                                    </m:r>
                                  </m:e>
                                  <m:lim>
                                    <m:sSub>
                                      <m:sSubPr>
                                        <m:ctrlPr>
                                          <a:rPr lang="en-US" altLang="ja-JP" sz="2800" b="0" i="1" smtClean="0">
                                            <a:latin typeface="Cambria Math" panose="02040503050406030204" pitchFamily="18" charset="0"/>
                                            <a:ea typeface="UD Digi Kyokasho NK-R" panose="02020400000000000000" pitchFamily="18" charset="-128"/>
                                          </a:rPr>
                                        </m:ctrlPr>
                                      </m:sSubPr>
                                      <m:e>
                                        <m:r>
                                          <a:rPr lang="en-US" altLang="ja-JP" sz="2800" b="1" i="0" smtClean="0">
                                            <a:latin typeface="Cambria Math" panose="02040503050406030204" pitchFamily="18" charset="0"/>
                                            <a:ea typeface="UD Digi Kyokasho NK-R" panose="02020400000000000000" pitchFamily="18" charset="-128"/>
                                          </a:rPr>
                                          <m:t>𝐰</m:t>
                                        </m:r>
                                      </m:e>
                                      <m:sub>
                                        <m:r>
                                          <a:rPr lang="en-US" altLang="ja-JP" sz="2800" b="0" i="1" smtClean="0">
                                            <a:latin typeface="Cambria Math" panose="02040503050406030204" pitchFamily="18" charset="0"/>
                                            <a:ea typeface="UD Digi Kyokasho NK-R" panose="02020400000000000000" pitchFamily="18" charset="-128"/>
                                          </a:rPr>
                                          <m:t>𝑒</m:t>
                                        </m:r>
                                      </m:sub>
                                    </m:sSub>
                                    <m:r>
                                      <a:rPr lang="en-US" altLang="ja-JP" sz="2800" b="0" i="1" smtClean="0">
                                        <a:latin typeface="Cambria Math" panose="02040503050406030204" pitchFamily="18" charset="0"/>
                                        <a:ea typeface="UD Digi Kyokasho NK-R" panose="02020400000000000000" pitchFamily="18" charset="-128"/>
                                      </a:rPr>
                                      <m:t>,</m:t>
                                    </m:r>
                                    <m:sSub>
                                      <m:sSubPr>
                                        <m:ctrlPr>
                                          <a:rPr lang="en-US" altLang="ja-JP" sz="2800" b="0" i="1" smtClean="0">
                                            <a:latin typeface="Cambria Math" panose="02040503050406030204" pitchFamily="18" charset="0"/>
                                            <a:ea typeface="UD Digi Kyokasho NK-R" panose="02020400000000000000" pitchFamily="18" charset="-128"/>
                                          </a:rPr>
                                        </m:ctrlPr>
                                      </m:sSubPr>
                                      <m:e>
                                        <m:r>
                                          <a:rPr lang="en-US" altLang="ja-JP" sz="2800" b="1" i="0" smtClean="0">
                                            <a:latin typeface="Cambria Math" panose="02040503050406030204" pitchFamily="18" charset="0"/>
                                            <a:ea typeface="UD Digi Kyokasho NK-R" panose="02020400000000000000" pitchFamily="18" charset="-128"/>
                                          </a:rPr>
                                          <m:t>𝐰</m:t>
                                        </m:r>
                                      </m:e>
                                      <m:sub>
                                        <m:r>
                                          <a:rPr lang="en-US" altLang="ja-JP" sz="2800" b="0" i="1" smtClean="0">
                                            <a:latin typeface="Cambria Math" panose="02040503050406030204" pitchFamily="18" charset="0"/>
                                            <a:ea typeface="UD Digi Kyokasho NK-R" panose="02020400000000000000" pitchFamily="18" charset="-128"/>
                                          </a:rPr>
                                          <m:t>𝑑</m:t>
                                        </m:r>
                                      </m:sub>
                                    </m:sSub>
                                  </m:lim>
                                </m:limLow>
                              </m:fName>
                              <m:e>
                                <m:r>
                                  <a:rPr lang="en-US" altLang="ja-JP" sz="2800" i="1">
                                    <a:latin typeface="Cambria Math" panose="02040503050406030204" pitchFamily="18" charset="0"/>
                                    <a:ea typeface="UD Digi Kyokasho NK-R" panose="02020400000000000000" pitchFamily="18" charset="-128"/>
                                  </a:rPr>
                                  <m:t>𝐸</m:t>
                                </m:r>
                                <m:r>
                                  <a:rPr lang="en-US" altLang="ja-JP" sz="2800" b="0" i="1" smtClean="0">
                                    <a:latin typeface="Cambria Math" panose="02040503050406030204" pitchFamily="18" charset="0"/>
                                    <a:ea typeface="UD Digi Kyokasho NK-R" panose="02020400000000000000" pitchFamily="18" charset="-128"/>
                                  </a:rPr>
                                  <m:t>(</m:t>
                                </m:r>
                                <m:r>
                                  <a:rPr kumimoji="1" lang="en-US" altLang="ja-JP" sz="2800" b="1">
                                    <a:latin typeface="Cambria Math" panose="02040503050406030204" pitchFamily="18" charset="0"/>
                                  </a:rPr>
                                  <m:t>𝐈</m:t>
                                </m:r>
                                <m:r>
                                  <a:rPr kumimoji="1" lang="en-US" altLang="ja-JP" sz="2800" b="0" i="1" smtClean="0">
                                    <a:latin typeface="Cambria Math" panose="02040503050406030204" pitchFamily="18" charset="0"/>
                                  </a:rPr>
                                  <m:t>,</m:t>
                                </m:r>
                                <m:r>
                                  <a:rPr kumimoji="1" lang="en-US" altLang="ja-JP" sz="2800" i="1">
                                    <a:latin typeface="Cambria Math" panose="02040503050406030204" pitchFamily="18" charset="0"/>
                                  </a:rPr>
                                  <m:t>𝑑𝑒𝑐</m:t>
                                </m:r>
                                <m:r>
                                  <m:rPr>
                                    <m:nor/>
                                  </m:rPr>
                                  <a:rPr kumimoji="1" lang="en-US" altLang="ja-JP" sz="2800" i="1">
                                    <a:latin typeface="Cambria Math" panose="02040503050406030204" pitchFamily="18" charset="0"/>
                                  </a:rPr>
                                  <m:t>oder</m:t>
                                </m:r>
                                <m:r>
                                  <m:rPr>
                                    <m:nor/>
                                  </m:rPr>
                                  <a:rPr kumimoji="1" lang="en-US" altLang="ja-JP" sz="2800">
                                    <a:latin typeface="Cambria Math" panose="02040503050406030204" pitchFamily="18" charset="0"/>
                                  </a:rPr>
                                  <m:t>(</m:t>
                                </m:r>
                                <m:r>
                                  <m:rPr>
                                    <m:nor/>
                                  </m:rPr>
                                  <a:rPr kumimoji="1" lang="en-US" altLang="ja-JP" sz="2800" i="1">
                                    <a:latin typeface="Cambria Math" panose="02040503050406030204" pitchFamily="18" charset="0"/>
                                  </a:rPr>
                                  <m:t>encoder</m:t>
                                </m:r>
                                <m:r>
                                  <m:rPr>
                                    <m:nor/>
                                  </m:rPr>
                                  <a:rPr kumimoji="1" lang="en-US" altLang="ja-JP" sz="2800">
                                    <a:latin typeface="Cambria Math" panose="02040503050406030204" pitchFamily="18" charset="0"/>
                                  </a:rPr>
                                  <m:t>(</m:t>
                                </m:r>
                                <m:r>
                                  <a:rPr kumimoji="1" lang="en-US" altLang="ja-JP" sz="2800" b="1">
                                    <a:latin typeface="Cambria Math" panose="02040503050406030204" pitchFamily="18" charset="0"/>
                                  </a:rPr>
                                  <m:t>𝐈</m:t>
                                </m:r>
                                <m:r>
                                  <m:rPr>
                                    <m:nor/>
                                  </m:rPr>
                                  <a:rPr kumimoji="1" lang="en-US" altLang="ja-JP" sz="2800">
                                    <a:latin typeface="Cambria Math" panose="02040503050406030204" pitchFamily="18" charset="0"/>
                                  </a:rPr>
                                  <m:t>))</m:t>
                                </m:r>
                                <m:r>
                                  <a:rPr lang="en-US" altLang="ja-JP" sz="2800" b="0" i="1" smtClean="0">
                                    <a:latin typeface="Cambria Math" panose="02040503050406030204" pitchFamily="18" charset="0"/>
                                    <a:ea typeface="UD Digi Kyokasho NK-R" panose="02020400000000000000" pitchFamily="18" charset="-128"/>
                                  </a:rPr>
                                  <m:t>)</m:t>
                                </m:r>
                              </m:e>
                            </m:func>
                          </m:e>
                        </m:eqArr>
                      </m:oMath>
                    </m:oMathPara>
                  </a14:m>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入力</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a:latin typeface="Cambria Math" panose="02040503050406030204" pitchFamily="18" charset="0"/>
                        </a:rPr>
                        <m:t>𝑧</m:t>
                      </m:r>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特徴量</a:t>
                  </a:r>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lang="en-US" altLang="ja-JP" sz="2800" i="1">
                              <a:latin typeface="Cambria Math" panose="02040503050406030204" pitchFamily="18" charset="0"/>
                              <a:ea typeface="UD Digi Kyokasho NK-R" panose="02020400000000000000" pitchFamily="18" charset="-128"/>
                            </a:rPr>
                          </m:ctrlPr>
                        </m:sSubPr>
                        <m:e>
                          <m:r>
                            <a:rPr lang="en-US" altLang="ja-JP" sz="2800" b="1">
                              <a:latin typeface="Cambria Math" panose="02040503050406030204" pitchFamily="18" charset="0"/>
                              <a:ea typeface="UD Digi Kyokasho NK-R" panose="02020400000000000000" pitchFamily="18" charset="-128"/>
                            </a:rPr>
                            <m:t>𝐰</m:t>
                          </m:r>
                        </m:e>
                        <m:sub>
                          <m:r>
                            <a:rPr lang="en-US" altLang="ja-JP" sz="2800" i="1">
                              <a:latin typeface="Cambria Math" panose="02040503050406030204" pitchFamily="18" charset="0"/>
                              <a:ea typeface="UD Digi Kyokasho NK-R" panose="02020400000000000000" pitchFamily="18" charset="-128"/>
                            </a:rPr>
                            <m:t>𝑒</m:t>
                          </m:r>
                        </m:sub>
                      </m:sSub>
                      <m:r>
                        <a:rPr lang="en-US" altLang="ja-JP" sz="2800" i="1">
                          <a:latin typeface="Cambria Math" panose="02040503050406030204" pitchFamily="18" charset="0"/>
                          <a:ea typeface="UD Digi Kyokasho NK-R" panose="02020400000000000000" pitchFamily="18" charset="-128"/>
                        </a:rPr>
                        <m:t>,</m:t>
                      </m:r>
                      <m:sSub>
                        <m:sSubPr>
                          <m:ctrlPr>
                            <a:rPr lang="en-US" altLang="ja-JP" sz="2800" i="1">
                              <a:latin typeface="Cambria Math" panose="02040503050406030204" pitchFamily="18" charset="0"/>
                              <a:ea typeface="UD Digi Kyokasho NK-R" panose="02020400000000000000" pitchFamily="18" charset="-128"/>
                            </a:rPr>
                          </m:ctrlPr>
                        </m:sSubPr>
                        <m:e>
                          <m:r>
                            <a:rPr lang="en-US" altLang="ja-JP" sz="2800" b="1">
                              <a:latin typeface="Cambria Math" panose="02040503050406030204" pitchFamily="18" charset="0"/>
                              <a:ea typeface="UD Digi Kyokasho NK-R" panose="02020400000000000000" pitchFamily="18" charset="-128"/>
                            </a:rPr>
                            <m:t>𝐰</m:t>
                          </m:r>
                        </m:e>
                        <m:sub>
                          <m:r>
                            <a:rPr lang="en-US" altLang="ja-JP" sz="2800" i="1">
                              <a:latin typeface="Cambria Math" panose="02040503050406030204" pitchFamily="18" charset="0"/>
                              <a:ea typeface="UD Digi Kyokasho NK-R" panose="02020400000000000000" pitchFamily="18" charset="-128"/>
                            </a:rPr>
                            <m:t>𝑑</m:t>
                          </m:r>
                        </m:sub>
                      </m:sSub>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エンコーダとデコーダのパラメータ</a:t>
                  </a:r>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lang="en-US" altLang="ja-JP" sz="2800" i="1">
                          <a:latin typeface="Cambria Math" panose="02040503050406030204" pitchFamily="18" charset="0"/>
                          <a:ea typeface="UD Digi Kyokasho NK-R" panose="02020400000000000000" pitchFamily="18" charset="-128"/>
                        </a:rPr>
                        <m:t>𝐸</m:t>
                      </m:r>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任意の誤差関数</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2800" dirty="0">
                    <a:latin typeface="UD Digi Kyokasho NK-R" panose="02020400000000000000" pitchFamily="18" charset="-128"/>
                    <a:ea typeface="UD Digi Kyokasho NK-R" panose="02020400000000000000" pitchFamily="18" charset="-128"/>
                  </a:endParaRPr>
                </a:p>
                <a:p>
                  <a:pPr lvl="1" algn="ctr"/>
                  <a:r>
                    <a:rPr lang="ja-JP" altLang="en-US" sz="2800" b="1">
                      <a:latin typeface="UD Digi Kyokasho NK-R" panose="02020400000000000000" pitchFamily="18" charset="-128"/>
                      <a:ea typeface="UD Digi Kyokasho NK-R" panose="02020400000000000000" pitchFamily="18" charset="-128"/>
                    </a:rPr>
                    <a:t>本研究では</a:t>
                  </a:r>
                  <a:r>
                    <a:rPr lang="en-US" altLang="ja-JP" sz="2800" b="1" dirty="0">
                      <a:latin typeface="UD Digi Kyokasho NK-R" panose="02020400000000000000" pitchFamily="18" charset="-128"/>
                      <a:ea typeface="UD Digi Kyokasho NK-R" panose="02020400000000000000" pitchFamily="18" charset="-128"/>
                    </a:rPr>
                    <a:t>, </a:t>
                  </a:r>
                  <a:r>
                    <a:rPr lang="en-US" altLang="ja-JP" sz="2800" b="1" dirty="0" err="1">
                      <a:latin typeface="UD Digi Kyokasho NK-R" panose="02020400000000000000" pitchFamily="18" charset="-128"/>
                      <a:ea typeface="UD Digi Kyokasho NK-R" panose="02020400000000000000" pitchFamily="18" charset="-128"/>
                    </a:rPr>
                    <a:t>AutoEncoder</a:t>
                  </a:r>
                  <a:r>
                    <a:rPr lang="ja-JP" altLang="en-US" sz="2800" b="1">
                      <a:latin typeface="UD Digi Kyokasho NK-R" panose="02020400000000000000" pitchFamily="18" charset="-128"/>
                      <a:ea typeface="UD Digi Kyokasho NK-R" panose="02020400000000000000" pitchFamily="18" charset="-128"/>
                    </a:rPr>
                    <a:t>のエンコーダの構造について検討を行う</a:t>
                  </a:r>
                  <a:endParaRPr lang="en-US" altLang="ja-JP" sz="2800" b="1" dirty="0">
                    <a:latin typeface="UD Digi Kyokasho NK-R" panose="02020400000000000000" pitchFamily="18" charset="-128"/>
                    <a:ea typeface="UD Digi Kyokasho NK-R" panose="02020400000000000000" pitchFamily="18" charset="-128"/>
                  </a:endParaRPr>
                </a:p>
              </p:txBody>
            </p:sp>
          </mc:Choice>
          <mc:Fallback xmlns="">
            <p:sp>
              <p:nvSpPr>
                <p:cNvPr id="21" name="テキスト ボックス 20">
                  <a:extLst>
                    <a:ext uri="{FF2B5EF4-FFF2-40B4-BE49-F238E27FC236}">
                      <a16:creationId xmlns:a16="http://schemas.microsoft.com/office/drawing/2014/main" id="{8103660E-7864-B952-E9D4-8B1BFBE455FD}"/>
                    </a:ext>
                  </a:extLst>
                </p:cNvPr>
                <p:cNvSpPr txBox="1">
                  <a:spLocks noRot="1" noChangeAspect="1" noMove="1" noResize="1" noEditPoints="1" noAdjustHandles="1" noChangeArrowheads="1" noChangeShapeType="1" noTextEdit="1"/>
                </p:cNvSpPr>
                <p:nvPr/>
              </p:nvSpPr>
              <p:spPr>
                <a:xfrm>
                  <a:off x="318217" y="5734078"/>
                  <a:ext cx="14633281" cy="9351791"/>
                </a:xfrm>
                <a:prstGeom prst="rect">
                  <a:avLst/>
                </a:prstGeom>
                <a:blipFill>
                  <a:blip r:embed="rId24"/>
                  <a:stretch>
                    <a:fillRect t="-814" b="-950"/>
                  </a:stretch>
                </a:blipFill>
              </p:spPr>
              <p:txBody>
                <a:bodyPr/>
                <a:lstStyle/>
                <a:p>
                  <a:r>
                    <a:rPr lang="ja-JP" altLang="en-US">
                      <a:noFill/>
                    </a:rPr>
                    <a:t> </a:t>
                  </a:r>
                </a:p>
              </p:txBody>
            </p:sp>
          </mc:Fallback>
        </mc:AlternateContent>
      </p:grpSp>
      <p:sp>
        <p:nvSpPr>
          <p:cNvPr id="71" name="正方形/長方形 70">
            <a:extLst>
              <a:ext uri="{FF2B5EF4-FFF2-40B4-BE49-F238E27FC236}">
                <a16:creationId xmlns:a16="http://schemas.microsoft.com/office/drawing/2014/main" id="{C1922F36-5D13-A2B0-A6B8-8A3B6DDAC105}"/>
              </a:ext>
            </a:extLst>
          </p:cNvPr>
          <p:cNvSpPr/>
          <p:nvPr/>
        </p:nvSpPr>
        <p:spPr>
          <a:xfrm>
            <a:off x="4690186" y="30774210"/>
            <a:ext cx="1796586" cy="1374387"/>
          </a:xfrm>
          <a:prstGeom prst="rect">
            <a:avLst/>
          </a:prstGeom>
          <a:solidFill>
            <a:srgbClr val="FFC000"/>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E6ABED7C-E5B2-78C3-4EBE-4A7252D7FCEE}"/>
              </a:ext>
            </a:extLst>
          </p:cNvPr>
          <p:cNvGrpSpPr/>
          <p:nvPr/>
        </p:nvGrpSpPr>
        <p:grpSpPr>
          <a:xfrm>
            <a:off x="1545856" y="30699365"/>
            <a:ext cx="1496736" cy="1496736"/>
            <a:chOff x="1545856" y="16973525"/>
            <a:chExt cx="1496736" cy="1496736"/>
          </a:xfrm>
        </p:grpSpPr>
        <p:pic>
          <p:nvPicPr>
            <p:cNvPr id="24" name="図 23" descr="帽子を被っている女性&#10;&#10;自動的に生成された説明">
              <a:extLst>
                <a:ext uri="{FF2B5EF4-FFF2-40B4-BE49-F238E27FC236}">
                  <a16:creationId xmlns:a16="http://schemas.microsoft.com/office/drawing/2014/main" id="{F4DBBA9F-0A23-EE52-49CE-26421790D6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C1C759C4-0F65-CC32-E87F-475E9C5143BC}"/>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5" name="テキスト ボックス 24">
                  <a:extLst>
                    <a:ext uri="{FF2B5EF4-FFF2-40B4-BE49-F238E27FC236}">
                      <a16:creationId xmlns:a16="http://schemas.microsoft.com/office/drawing/2014/main" id="{C1C759C4-0F65-CC32-E87F-475E9C5143BC}"/>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5"/>
                  <a:stretch>
                    <a:fillRect b="-5714"/>
                  </a:stretch>
                </a:blipFill>
              </p:spPr>
              <p:txBody>
                <a:bodyPr/>
                <a:lstStyle/>
                <a:p>
                  <a:r>
                    <a:rPr lang="ja-JP" altLang="en-US">
                      <a:noFill/>
                    </a:rPr>
                    <a:t> </a:t>
                  </a:r>
                </a:p>
              </p:txBody>
            </p:sp>
          </mc:Fallback>
        </mc:AlternateContent>
      </p:grpSp>
      <p:cxnSp>
        <p:nvCxnSpPr>
          <p:cNvPr id="38" name="直線矢印コネクタ 37">
            <a:extLst>
              <a:ext uri="{FF2B5EF4-FFF2-40B4-BE49-F238E27FC236}">
                <a16:creationId xmlns:a16="http://schemas.microsoft.com/office/drawing/2014/main" id="{E0A6D5F8-B787-79BA-13C2-9F0C284BFDB6}"/>
              </a:ext>
            </a:extLst>
          </p:cNvPr>
          <p:cNvCxnSpPr>
            <a:cxnSpLocks/>
            <a:stCxn id="24" idx="3"/>
            <a:endCxn id="41" idx="2"/>
          </p:cNvCxnSpPr>
          <p:nvPr/>
        </p:nvCxnSpPr>
        <p:spPr>
          <a:xfrm flipV="1">
            <a:off x="3042592" y="31441265"/>
            <a:ext cx="1853074"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グループ化 38">
            <a:extLst>
              <a:ext uri="{FF2B5EF4-FFF2-40B4-BE49-F238E27FC236}">
                <a16:creationId xmlns:a16="http://schemas.microsoft.com/office/drawing/2014/main" id="{25EB4B6D-2DC5-B7AC-41CE-055879FF73A2}"/>
              </a:ext>
            </a:extLst>
          </p:cNvPr>
          <p:cNvGrpSpPr/>
          <p:nvPr/>
        </p:nvGrpSpPr>
        <p:grpSpPr>
          <a:xfrm>
            <a:off x="4895666" y="30879989"/>
            <a:ext cx="1431984" cy="1122552"/>
            <a:chOff x="5794565" y="9611968"/>
            <a:chExt cx="1431984" cy="1122552"/>
          </a:xfrm>
        </p:grpSpPr>
        <p:sp>
          <p:nvSpPr>
            <p:cNvPr id="41" name="台形 40">
              <a:extLst>
                <a:ext uri="{FF2B5EF4-FFF2-40B4-BE49-F238E27FC236}">
                  <a16:creationId xmlns:a16="http://schemas.microsoft.com/office/drawing/2014/main" id="{D2837E79-FF3C-7953-9085-2F82397EE9D4}"/>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52394F01-7B61-CA49-CE8E-F5865A3032D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42" name="テキスト ボックス 41">
                  <a:extLst>
                    <a:ext uri="{FF2B5EF4-FFF2-40B4-BE49-F238E27FC236}">
                      <a16:creationId xmlns:a16="http://schemas.microsoft.com/office/drawing/2014/main" id="{52394F01-7B61-CA49-CE8E-F5865A3032D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6"/>
                  <a:stretch>
                    <a:fillRect l="-6364" r="-5455" b="-571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F8BF2742-65B0-D356-0E9B-4A868A6BA9D5}"/>
                  </a:ext>
                </a:extLst>
              </p:cNvPr>
              <p:cNvSpPr txBox="1"/>
              <p:nvPr/>
            </p:nvSpPr>
            <p:spPr>
              <a:xfrm>
                <a:off x="7854200" y="31215727"/>
                <a:ext cx="2610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i="1" smtClean="0">
                          <a:latin typeface="Cambria Math" panose="02040503050406030204" pitchFamily="18" charset="0"/>
                        </a:rPr>
                        <m:t>𝑧</m:t>
                      </m:r>
                    </m:oMath>
                  </m:oMathPara>
                </a14:m>
                <a:endParaRPr kumimoji="1" lang="ja-JP" altLang="en-US" sz="2800" dirty="0"/>
              </a:p>
            </p:txBody>
          </p:sp>
        </mc:Choice>
        <mc:Fallback xmlns="">
          <p:sp>
            <p:nvSpPr>
              <p:cNvPr id="43" name="テキスト ボックス 42">
                <a:extLst>
                  <a:ext uri="{FF2B5EF4-FFF2-40B4-BE49-F238E27FC236}">
                    <a16:creationId xmlns:a16="http://schemas.microsoft.com/office/drawing/2014/main" id="{F8BF2742-65B0-D356-0E9B-4A868A6BA9D5}"/>
                  </a:ext>
                </a:extLst>
              </p:cNvPr>
              <p:cNvSpPr txBox="1">
                <a:spLocks noRot="1" noChangeAspect="1" noMove="1" noResize="1" noEditPoints="1" noAdjustHandles="1" noChangeArrowheads="1" noChangeShapeType="1" noTextEdit="1"/>
              </p:cNvSpPr>
              <p:nvPr/>
            </p:nvSpPr>
            <p:spPr>
              <a:xfrm>
                <a:off x="7854200" y="31215727"/>
                <a:ext cx="261034" cy="430887"/>
              </a:xfrm>
              <a:prstGeom prst="rect">
                <a:avLst/>
              </a:prstGeom>
              <a:blipFill>
                <a:blip r:embed="rId27"/>
                <a:stretch>
                  <a:fillRect l="-19048" r="-14286"/>
                </a:stretch>
              </a:blipFill>
            </p:spPr>
            <p:txBody>
              <a:bodyPr/>
              <a:lstStyle/>
              <a:p>
                <a:r>
                  <a:rPr lang="ja-JP" altLang="en-US">
                    <a:noFill/>
                  </a:rPr>
                  <a:t> </a:t>
                </a:r>
              </a:p>
            </p:txBody>
          </p:sp>
        </mc:Fallback>
      </mc:AlternateContent>
      <p:cxnSp>
        <p:nvCxnSpPr>
          <p:cNvPr id="44" name="直線矢印コネクタ 43">
            <a:extLst>
              <a:ext uri="{FF2B5EF4-FFF2-40B4-BE49-F238E27FC236}">
                <a16:creationId xmlns:a16="http://schemas.microsoft.com/office/drawing/2014/main" id="{581D1025-5FE8-93AE-EDEB-DAF3B14052DA}"/>
              </a:ext>
            </a:extLst>
          </p:cNvPr>
          <p:cNvCxnSpPr>
            <a:cxnSpLocks/>
            <a:stCxn id="42" idx="3"/>
            <a:endCxn id="43" idx="1"/>
          </p:cNvCxnSpPr>
          <p:nvPr/>
        </p:nvCxnSpPr>
        <p:spPr>
          <a:xfrm flipV="1">
            <a:off x="6316764" y="31431171"/>
            <a:ext cx="1537436" cy="75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714E1F2A-4569-4501-DB7F-9F33D9B0CEB0}"/>
              </a:ext>
            </a:extLst>
          </p:cNvPr>
          <p:cNvGrpSpPr/>
          <p:nvPr/>
        </p:nvGrpSpPr>
        <p:grpSpPr>
          <a:xfrm>
            <a:off x="9500859" y="30879989"/>
            <a:ext cx="1431984" cy="1122552"/>
            <a:chOff x="5794565" y="9611968"/>
            <a:chExt cx="1431984" cy="1122552"/>
          </a:xfrm>
        </p:grpSpPr>
        <p:sp>
          <p:nvSpPr>
            <p:cNvPr id="46" name="台形 45">
              <a:extLst>
                <a:ext uri="{FF2B5EF4-FFF2-40B4-BE49-F238E27FC236}">
                  <a16:creationId xmlns:a16="http://schemas.microsoft.com/office/drawing/2014/main" id="{5CAA1B4C-500A-B11C-53E1-5EA9ED4A7D95}"/>
                </a:ext>
              </a:extLst>
            </p:cNvPr>
            <p:cNvSpPr/>
            <p:nvPr/>
          </p:nvSpPr>
          <p:spPr>
            <a:xfrm rot="162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70680F1A-8CC2-FA82-6D68-8014CEE26FD4}"/>
                    </a:ext>
                  </a:extLst>
                </p:cNvPr>
                <p:cNvSpPr txBox="1"/>
                <p:nvPr/>
              </p:nvSpPr>
              <p:spPr>
                <a:xfrm>
                  <a:off x="5827591" y="9955261"/>
                  <a:ext cx="13896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𝑑𝑒𝑐𝑜𝑑𝑒𝑟</m:t>
                        </m:r>
                      </m:oMath>
                    </m:oMathPara>
                  </a14:m>
                  <a:endParaRPr kumimoji="1" lang="ja-JP" altLang="en-US" sz="2800" dirty="0"/>
                </a:p>
              </p:txBody>
            </p:sp>
          </mc:Choice>
          <mc:Fallback xmlns="">
            <p:sp>
              <p:nvSpPr>
                <p:cNvPr id="47" name="テキスト ボックス 46">
                  <a:extLst>
                    <a:ext uri="{FF2B5EF4-FFF2-40B4-BE49-F238E27FC236}">
                      <a16:creationId xmlns:a16="http://schemas.microsoft.com/office/drawing/2014/main" id="{70680F1A-8CC2-FA82-6D68-8014CEE26FD4}"/>
                    </a:ext>
                  </a:extLst>
                </p:cNvPr>
                <p:cNvSpPr txBox="1">
                  <a:spLocks noRot="1" noChangeAspect="1" noMove="1" noResize="1" noEditPoints="1" noAdjustHandles="1" noChangeArrowheads="1" noChangeShapeType="1" noTextEdit="1"/>
                </p:cNvSpPr>
                <p:nvPr/>
              </p:nvSpPr>
              <p:spPr>
                <a:xfrm>
                  <a:off x="5827591" y="9955261"/>
                  <a:ext cx="1389676" cy="430887"/>
                </a:xfrm>
                <a:prstGeom prst="rect">
                  <a:avLst/>
                </a:prstGeom>
                <a:blipFill>
                  <a:blip r:embed="rId28"/>
                  <a:stretch>
                    <a:fillRect l="-5405" r="-4505" b="-5714"/>
                  </a:stretch>
                </a:blipFill>
              </p:spPr>
              <p:txBody>
                <a:bodyPr/>
                <a:lstStyle/>
                <a:p>
                  <a:r>
                    <a:rPr lang="ja-JP" altLang="en-US">
                      <a:noFill/>
                    </a:rPr>
                    <a:t> </a:t>
                  </a:r>
                </a:p>
              </p:txBody>
            </p:sp>
          </mc:Fallback>
        </mc:AlternateContent>
      </p:grpSp>
      <p:cxnSp>
        <p:nvCxnSpPr>
          <p:cNvPr id="49" name="直線矢印コネクタ 48">
            <a:extLst>
              <a:ext uri="{FF2B5EF4-FFF2-40B4-BE49-F238E27FC236}">
                <a16:creationId xmlns:a16="http://schemas.microsoft.com/office/drawing/2014/main" id="{355260CC-C0E8-D419-E8DC-83D05DD6F323}"/>
              </a:ext>
            </a:extLst>
          </p:cNvPr>
          <p:cNvCxnSpPr>
            <a:cxnSpLocks/>
            <a:stCxn id="43" idx="3"/>
            <a:endCxn id="46" idx="0"/>
          </p:cNvCxnSpPr>
          <p:nvPr/>
        </p:nvCxnSpPr>
        <p:spPr>
          <a:xfrm>
            <a:off x="8115234" y="31431171"/>
            <a:ext cx="1385625" cy="100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C833BA0A-A362-C813-3918-2250B5FCC100}"/>
              </a:ext>
            </a:extLst>
          </p:cNvPr>
          <p:cNvGrpSpPr/>
          <p:nvPr/>
        </p:nvGrpSpPr>
        <p:grpSpPr>
          <a:xfrm>
            <a:off x="12792225" y="30690357"/>
            <a:ext cx="1496736" cy="1496736"/>
            <a:chOff x="1545856" y="16973525"/>
            <a:chExt cx="1496736" cy="1496736"/>
          </a:xfrm>
        </p:grpSpPr>
        <p:pic>
          <p:nvPicPr>
            <p:cNvPr id="51" name="図 50" descr="帽子を被っている女性&#10;&#10;自動的に生成された説明">
              <a:extLst>
                <a:ext uri="{FF2B5EF4-FFF2-40B4-BE49-F238E27FC236}">
                  <a16:creationId xmlns:a16="http://schemas.microsoft.com/office/drawing/2014/main" id="{D04AAEC9-9912-214C-E5EB-C6671536A5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52" name="テキスト ボックス 51">
                  <a:extLst>
                    <a:ext uri="{FF2B5EF4-FFF2-40B4-BE49-F238E27FC236}">
                      <a16:creationId xmlns:a16="http://schemas.microsoft.com/office/drawing/2014/main" id="{1860838F-943D-7B64-F3C4-4F159BEC7B5E}"/>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rPr>
                            </m:ctrlPr>
                          </m:sSupPr>
                          <m:e>
                            <m:r>
                              <a:rPr kumimoji="1" lang="en-US" altLang="ja-JP" sz="2800" b="1">
                                <a:latin typeface="Cambria Math" panose="02040503050406030204" pitchFamily="18" charset="0"/>
                              </a:rPr>
                              <m:t>𝐈</m:t>
                            </m:r>
                          </m:e>
                          <m:sup>
                            <m:r>
                              <a:rPr kumimoji="1" lang="en-US" altLang="ja-JP" sz="2800" b="0" i="0" smtClean="0">
                                <a:latin typeface="Cambria Math" panose="02040503050406030204" pitchFamily="18" charset="0"/>
                              </a:rPr>
                              <m:t>′</m:t>
                            </m:r>
                          </m:sup>
                        </m:sSup>
                      </m:oMath>
                    </m:oMathPara>
                  </a14:m>
                  <a:endParaRPr kumimoji="1" lang="ja-JP" altLang="en-US" sz="2800" dirty="0"/>
                </a:p>
              </p:txBody>
            </p:sp>
          </mc:Choice>
          <mc:Fallback xmlns="">
            <p:sp>
              <p:nvSpPr>
                <p:cNvPr id="52" name="テキスト ボックス 51">
                  <a:extLst>
                    <a:ext uri="{FF2B5EF4-FFF2-40B4-BE49-F238E27FC236}">
                      <a16:creationId xmlns:a16="http://schemas.microsoft.com/office/drawing/2014/main" id="{1860838F-943D-7B64-F3C4-4F159BEC7B5E}"/>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9"/>
                  <a:stretch>
                    <a:fillRect b="-5714"/>
                  </a:stretch>
                </a:blipFill>
              </p:spPr>
              <p:txBody>
                <a:bodyPr/>
                <a:lstStyle/>
                <a:p>
                  <a:r>
                    <a:rPr lang="ja-JP" altLang="en-US">
                      <a:noFill/>
                    </a:rPr>
                    <a:t> </a:t>
                  </a:r>
                </a:p>
              </p:txBody>
            </p:sp>
          </mc:Fallback>
        </mc:AlternateContent>
      </p:grpSp>
      <p:cxnSp>
        <p:nvCxnSpPr>
          <p:cNvPr id="53" name="直線矢印コネクタ 52">
            <a:extLst>
              <a:ext uri="{FF2B5EF4-FFF2-40B4-BE49-F238E27FC236}">
                <a16:creationId xmlns:a16="http://schemas.microsoft.com/office/drawing/2014/main" id="{5AAED562-D412-AFAE-2198-8120CD7A0264}"/>
              </a:ext>
            </a:extLst>
          </p:cNvPr>
          <p:cNvCxnSpPr>
            <a:cxnSpLocks/>
            <a:stCxn id="47" idx="3"/>
            <a:endCxn id="51" idx="1"/>
          </p:cNvCxnSpPr>
          <p:nvPr/>
        </p:nvCxnSpPr>
        <p:spPr>
          <a:xfrm flipV="1">
            <a:off x="10923561" y="31438725"/>
            <a:ext cx="186866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4" name="グループ化 63">
            <a:extLst>
              <a:ext uri="{FF2B5EF4-FFF2-40B4-BE49-F238E27FC236}">
                <a16:creationId xmlns:a16="http://schemas.microsoft.com/office/drawing/2014/main" id="{EA22256A-DA42-F1FD-2076-99F74272C048}"/>
              </a:ext>
            </a:extLst>
          </p:cNvPr>
          <p:cNvGrpSpPr/>
          <p:nvPr/>
        </p:nvGrpSpPr>
        <p:grpSpPr>
          <a:xfrm>
            <a:off x="212935" y="34847479"/>
            <a:ext cx="14760000" cy="5518622"/>
            <a:chOff x="191499" y="4571827"/>
            <a:chExt cx="14760000" cy="5518622"/>
          </a:xfrm>
        </p:grpSpPr>
        <p:sp>
          <p:nvSpPr>
            <p:cNvPr id="65" name="四角形: 角を丸くする 29">
              <a:extLst>
                <a:ext uri="{FF2B5EF4-FFF2-40B4-BE49-F238E27FC236}">
                  <a16:creationId xmlns:a16="http://schemas.microsoft.com/office/drawing/2014/main" id="{BC3E62D6-66DC-7F1E-D140-17AAD6D431E4}"/>
                </a:ext>
              </a:extLst>
            </p:cNvPr>
            <p:cNvSpPr/>
            <p:nvPr/>
          </p:nvSpPr>
          <p:spPr>
            <a:xfrm>
              <a:off x="191499" y="4923815"/>
              <a:ext cx="14760000" cy="5166634"/>
            </a:xfrm>
            <a:prstGeom prst="roundRect">
              <a:avLst>
                <a:gd name="adj" fmla="val 444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66" name="四角形: 角を丸くする 30">
              <a:extLst>
                <a:ext uri="{FF2B5EF4-FFF2-40B4-BE49-F238E27FC236}">
                  <a16:creationId xmlns:a16="http://schemas.microsoft.com/office/drawing/2014/main" id="{DEBB2F63-6934-F810-5853-C2F9DD86091E}"/>
                </a:ext>
              </a:extLst>
            </p:cNvPr>
            <p:cNvSpPr/>
            <p:nvPr/>
          </p:nvSpPr>
          <p:spPr>
            <a:xfrm>
              <a:off x="506889" y="4571827"/>
              <a:ext cx="3445798" cy="704227"/>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データセット</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67" name="テキスト ボックス 66">
              <a:extLst>
                <a:ext uri="{FF2B5EF4-FFF2-40B4-BE49-F238E27FC236}">
                  <a16:creationId xmlns:a16="http://schemas.microsoft.com/office/drawing/2014/main" id="{E638F061-0305-31B9-29E9-EE6E693ADF8C}"/>
                </a:ext>
              </a:extLst>
            </p:cNvPr>
            <p:cNvSpPr txBox="1"/>
            <p:nvPr/>
          </p:nvSpPr>
          <p:spPr>
            <a:xfrm>
              <a:off x="318217" y="5375836"/>
              <a:ext cx="14633281" cy="954107"/>
            </a:xfrm>
            <a:prstGeom prst="rect">
              <a:avLst/>
            </a:prstGeom>
            <a:noFill/>
          </p:spPr>
          <p:txBody>
            <a:bodyPr wrap="square">
              <a:spAutoFit/>
            </a:bodyPr>
            <a:lstStyle/>
            <a:p>
              <a:pPr lvl="1"/>
              <a:r>
                <a:rPr lang="en-US" altLang="ja-JP" sz="2800" dirty="0">
                  <a:latin typeface="UD Digi Kyokasho NK-R" panose="02020400000000000000" pitchFamily="18" charset="-128"/>
                  <a:ea typeface="UD Digi Kyokasho NK-R" panose="02020400000000000000" pitchFamily="18" charset="-128"/>
                </a:rPr>
                <a:t>[1]</a:t>
              </a:r>
              <a:r>
                <a:rPr lang="ja-JP" altLang="en-US" sz="2800">
                  <a:latin typeface="UD Digi Kyokasho NK-R" panose="02020400000000000000" pitchFamily="18" charset="-128"/>
                  <a:ea typeface="UD Digi Kyokasho NK-R" panose="02020400000000000000" pitchFamily="18" charset="-128"/>
                </a:rPr>
                <a:t>に倣い</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[4]</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大喜利⇔画像データセットを作成</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画像</a:t>
              </a:r>
              <a:r>
                <a:rPr lang="en-US" altLang="ja-JP" sz="2800" dirty="0">
                  <a:latin typeface="UD Digi Kyokasho NK-R" panose="02020400000000000000" pitchFamily="18" charset="-128"/>
                  <a:ea typeface="UD Digi Kyokasho NK-R" panose="02020400000000000000" pitchFamily="18" charset="-128"/>
                </a:rPr>
                <a:t> : 88102</a:t>
              </a:r>
              <a:r>
                <a:rPr lang="ja-JP" altLang="en-US" sz="2800">
                  <a:latin typeface="UD Digi Kyokasho NK-R" panose="02020400000000000000" pitchFamily="18" charset="-128"/>
                  <a:ea typeface="UD Digi Kyokasho NK-R" panose="02020400000000000000" pitchFamily="18" charset="-128"/>
                </a:rPr>
                <a:t>枚</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a:t>
              </a:r>
              <a:r>
                <a:rPr lang="en-US" altLang="ja-JP" sz="2800" dirty="0">
                  <a:latin typeface="UD Digi Kyokasho NK-R" panose="02020400000000000000" pitchFamily="18" charset="-128"/>
                  <a:ea typeface="UD Digi Kyokasho NK-R" panose="02020400000000000000" pitchFamily="18" charset="-128"/>
                </a:rPr>
                <a:t> : 759501</a:t>
              </a:r>
              <a:r>
                <a:rPr lang="ja-JP" altLang="en-US" sz="2800">
                  <a:latin typeface="UD Digi Kyokasho NK-R" panose="02020400000000000000" pitchFamily="18" charset="-128"/>
                  <a:ea typeface="UD Digi Kyokasho NK-R" panose="02020400000000000000" pitchFamily="18" charset="-128"/>
                </a:rPr>
                <a:t>文章</a:t>
              </a:r>
              <a:endParaRPr lang="en-US" altLang="ja-JP" sz="2800" dirty="0">
                <a:latin typeface="UD Digi Kyokasho NK-R" panose="02020400000000000000" pitchFamily="18" charset="-128"/>
                <a:ea typeface="UD Digi Kyokasho NK-R" panose="02020400000000000000" pitchFamily="18" charset="-128"/>
              </a:endParaRPr>
            </a:p>
          </p:txBody>
        </p:sp>
      </p:grpSp>
      <p:graphicFrame>
        <p:nvGraphicFramePr>
          <p:cNvPr id="68" name="表 74">
            <a:extLst>
              <a:ext uri="{FF2B5EF4-FFF2-40B4-BE49-F238E27FC236}">
                <a16:creationId xmlns:a16="http://schemas.microsoft.com/office/drawing/2014/main" id="{FF77A009-441A-8E1E-3C0C-87773C6E561E}"/>
              </a:ext>
            </a:extLst>
          </p:cNvPr>
          <p:cNvGraphicFramePr>
            <a:graphicFrameLocks noGrp="1"/>
          </p:cNvGraphicFramePr>
          <p:nvPr>
            <p:extLst>
              <p:ext uri="{D42A27DB-BD31-4B8C-83A1-F6EECF244321}">
                <p14:modId xmlns:p14="http://schemas.microsoft.com/office/powerpoint/2010/main" val="3202702254"/>
              </p:ext>
            </p:extLst>
          </p:nvPr>
        </p:nvGraphicFramePr>
        <p:xfrm>
          <a:off x="395346" y="36630210"/>
          <a:ext cx="14271298" cy="3546691"/>
        </p:xfrm>
        <a:graphic>
          <a:graphicData uri="http://schemas.openxmlformats.org/drawingml/2006/table">
            <a:tbl>
              <a:tblPr firstRow="1" bandRow="1">
                <a:tableStyleId>{7DF18680-E054-41AD-8BC1-D1AEF772440D}</a:tableStyleId>
              </a:tblPr>
              <a:tblGrid>
                <a:gridCol w="7135649">
                  <a:extLst>
                    <a:ext uri="{9D8B030D-6E8A-4147-A177-3AD203B41FA5}">
                      <a16:colId xmlns:a16="http://schemas.microsoft.com/office/drawing/2014/main" val="1696693587"/>
                    </a:ext>
                  </a:extLst>
                </a:gridCol>
                <a:gridCol w="7135649">
                  <a:extLst>
                    <a:ext uri="{9D8B030D-6E8A-4147-A177-3AD203B41FA5}">
                      <a16:colId xmlns:a16="http://schemas.microsoft.com/office/drawing/2014/main" val="693706453"/>
                    </a:ext>
                  </a:extLst>
                </a:gridCol>
              </a:tblGrid>
              <a:tr h="2019643">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1958493544"/>
                  </a:ext>
                </a:extLst>
              </a:tr>
              <a:tr h="1518849">
                <a:tc>
                  <a:txBody>
                    <a:bodyPr/>
                    <a:lstStyle/>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宿題制度を廃止にする</a:t>
                      </a:r>
                      <a:endParaRPr lang="en-US" altLang="ja-JP" sz="2800" dirty="0">
                        <a:latin typeface="UD Digi Kyokasho NK-R" panose="02020400000000000000" pitchFamily="18" charset="-128"/>
                        <a:ea typeface="UD Digi Kyokasho NK-R" panose="02020400000000000000" pitchFamily="18" charset="-128"/>
                      </a:endParaRPr>
                    </a:p>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首相がキムタク</a:t>
                      </a:r>
                      <a:endParaRPr lang="en-US" altLang="ja-JP" sz="2800" dirty="0">
                        <a:latin typeface="UD Digi Kyokasho NK-R" panose="02020400000000000000" pitchFamily="18" charset="-128"/>
                        <a:ea typeface="UD Digi Kyokasho NK-R" panose="02020400000000000000" pitchFamily="18" charset="-128"/>
                      </a:endParaRPr>
                    </a:p>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ディフェンスに定評がある</a:t>
                      </a:r>
                      <a:endParaRPr lang="en-US" altLang="ja-JP" sz="2800" dirty="0">
                        <a:latin typeface="UD Digi Kyokasho NK-R" panose="02020400000000000000" pitchFamily="18" charset="-128"/>
                        <a:ea typeface="UD Digi Kyokasho NK-R" panose="02020400000000000000" pitchFamily="18" charset="-128"/>
                      </a:endParaRPr>
                    </a:p>
                    <a:p>
                      <a:pPr marL="285750" marR="0" lvl="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a:latin typeface="UD Digi Kyokasho NK-R" panose="02020400000000000000" pitchFamily="18" charset="-128"/>
                          <a:ea typeface="UD Digi Kyokasho NK-R" panose="02020400000000000000" pitchFamily="18" charset="-128"/>
                        </a:rPr>
                        <a:t>すそが短い</a:t>
                      </a:r>
                      <a:endParaRPr lang="en-US" altLang="ja-JP" sz="2800" dirty="0">
                        <a:latin typeface="UD Digi Kyokasho NK-R" panose="02020400000000000000" pitchFamily="18" charset="-128"/>
                        <a:ea typeface="UD Digi Kyokasho NK-R" panose="02020400000000000000" pitchFamily="18" charset="-128"/>
                      </a:endParaRPr>
                    </a:p>
                  </a:txBody>
                  <a:tcPr/>
                </a:tc>
                <a:tc>
                  <a:txBody>
                    <a:bodyPr/>
                    <a:lstStyle/>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spc="-100" baseline="0">
                          <a:latin typeface="UD Digi Kyokasho NK-R" panose="02020400000000000000" pitchFamily="18" charset="-128"/>
                          <a:ea typeface="UD Digi Kyokasho NK-R" panose="02020400000000000000" pitchFamily="18" charset="-128"/>
                        </a:rPr>
                        <a:t>うそっ、君が男</a:t>
                      </a:r>
                      <a:r>
                        <a:rPr lang="en-US" altLang="ja-JP" sz="2800" spc="-100" baseline="0" dirty="0">
                          <a:latin typeface="UD Digi Kyokasho NK-R" panose="02020400000000000000" pitchFamily="18" charset="-128"/>
                          <a:ea typeface="UD Digi Kyokasho NK-R" panose="02020400000000000000" pitchFamily="18" charset="-128"/>
                        </a:rPr>
                        <a:t>!? </a:t>
                      </a:r>
                    </a:p>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en" altLang="ja-JP" sz="2800" spc="-100" baseline="0" dirty="0">
                          <a:latin typeface="UD Digi Kyokasho NK-R" panose="02020400000000000000" pitchFamily="18" charset="-128"/>
                          <a:ea typeface="UD Digi Kyokasho NK-R" panose="02020400000000000000" pitchFamily="18" charset="-128"/>
                        </a:rPr>
                        <a:t>CM</a:t>
                      </a:r>
                      <a:r>
                        <a:rPr lang="ja-JP" altLang="en-US" sz="2800" spc="-100" baseline="0">
                          <a:latin typeface="UD Digi Kyokasho NK-R" panose="02020400000000000000" pitchFamily="18" charset="-128"/>
                          <a:ea typeface="UD Digi Kyokasho NK-R" panose="02020400000000000000" pitchFamily="18" charset="-128"/>
                        </a:rPr>
                        <a:t>のあと驚きの鑑定結果が！ </a:t>
                      </a:r>
                      <a:endParaRPr lang="en-US" altLang="ja-JP" sz="2800" spc="-100" baseline="0" dirty="0">
                        <a:latin typeface="UD Digi Kyokasho NK-R" panose="02020400000000000000" pitchFamily="18" charset="-128"/>
                        <a:ea typeface="UD Digi Kyokasho NK-R" panose="02020400000000000000" pitchFamily="18" charset="-128"/>
                      </a:endParaRPr>
                    </a:p>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spc="-100" baseline="0">
                          <a:latin typeface="UD Digi Kyokasho NK-R" panose="02020400000000000000" pitchFamily="18" charset="-128"/>
                          <a:ea typeface="UD Digi Kyokasho NK-R" panose="02020400000000000000" pitchFamily="18" charset="-128"/>
                        </a:rPr>
                        <a:t>先生、純白かぁっ！</a:t>
                      </a:r>
                      <a:endParaRPr lang="en-US" altLang="ja-JP" sz="2800" spc="-100" baseline="0" dirty="0">
                        <a:latin typeface="UD Digi Kyokasho NK-R" panose="02020400000000000000" pitchFamily="18" charset="-128"/>
                        <a:ea typeface="UD Digi Kyokasho NK-R" panose="02020400000000000000" pitchFamily="18" charset="-128"/>
                      </a:endParaRPr>
                    </a:p>
                    <a:p>
                      <a:pPr marL="285750" marR="0" indent="-285750" algn="l" defTabSz="3024012" rtl="0" eaLnBrk="1" fontAlgn="auto" latinLnBrk="0" hangingPunct="1">
                        <a:lnSpc>
                          <a:spcPts val="2760"/>
                        </a:lnSpc>
                        <a:spcBef>
                          <a:spcPts val="0"/>
                        </a:spcBef>
                        <a:spcAft>
                          <a:spcPts val="0"/>
                        </a:spcAft>
                        <a:buClrTx/>
                        <a:buSzTx/>
                        <a:buFont typeface="Arial" panose="020B0604020202020204" pitchFamily="34" charset="0"/>
                        <a:buChar char="•"/>
                        <a:tabLst/>
                        <a:defRPr/>
                      </a:pPr>
                      <a:r>
                        <a:rPr lang="ja-JP" altLang="en-US" sz="2800" spc="-100" baseline="0">
                          <a:latin typeface="UD Digi Kyokasho NK-R" panose="02020400000000000000" pitchFamily="18" charset="-128"/>
                          <a:ea typeface="UD Digi Kyokasho NK-R" panose="02020400000000000000" pitchFamily="18" charset="-128"/>
                        </a:rPr>
                        <a:t>いっ・・・生き返った！</a:t>
                      </a:r>
                    </a:p>
                  </a:txBody>
                  <a:tcPr/>
                </a:tc>
                <a:extLst>
                  <a:ext uri="{0D108BD9-81ED-4DB2-BD59-A6C34878D82A}">
                    <a16:rowId xmlns:a16="http://schemas.microsoft.com/office/drawing/2014/main" val="311803853"/>
                  </a:ext>
                </a:extLst>
              </a:tr>
            </a:tbl>
          </a:graphicData>
        </a:graphic>
      </p:graphicFrame>
      <p:pic>
        <p:nvPicPr>
          <p:cNvPr id="69" name="図 68">
            <a:extLst>
              <a:ext uri="{FF2B5EF4-FFF2-40B4-BE49-F238E27FC236}">
                <a16:creationId xmlns:a16="http://schemas.microsoft.com/office/drawing/2014/main" id="{E897CAFB-8BA1-1DB0-2BC3-ED045A07E1D5}"/>
              </a:ext>
            </a:extLst>
          </p:cNvPr>
          <p:cNvPicPr>
            <a:picLocks noChangeAspect="1"/>
          </p:cNvPicPr>
          <p:nvPr/>
        </p:nvPicPr>
        <p:blipFill>
          <a:blip r:embed="rId30"/>
          <a:stretch>
            <a:fillRect/>
          </a:stretch>
        </p:blipFill>
        <p:spPr>
          <a:xfrm>
            <a:off x="2891352" y="36626649"/>
            <a:ext cx="2035519" cy="2035519"/>
          </a:xfrm>
          <a:prstGeom prst="rect">
            <a:avLst/>
          </a:prstGeom>
        </p:spPr>
      </p:pic>
      <p:pic>
        <p:nvPicPr>
          <p:cNvPr id="72" name="図 71" descr="帽子を被っている女性&#10;&#10;自動的に生成された説明">
            <a:extLst>
              <a:ext uri="{FF2B5EF4-FFF2-40B4-BE49-F238E27FC236}">
                <a16:creationId xmlns:a16="http://schemas.microsoft.com/office/drawing/2014/main" id="{5A1F6BED-4C84-6E02-F1A2-D278339504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22402118"/>
            <a:ext cx="1496736" cy="1496736"/>
          </a:xfrm>
          <a:prstGeom prst="rect">
            <a:avLst/>
          </a:prstGeom>
        </p:spPr>
      </p:pic>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25180291-E602-010E-5ADF-791F7E05AAF7}"/>
                  </a:ext>
                </a:extLst>
              </p:cNvPr>
              <p:cNvSpPr txBox="1"/>
              <p:nvPr/>
            </p:nvSpPr>
            <p:spPr>
              <a:xfrm>
                <a:off x="2031060" y="21430741"/>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73" name="テキスト ボックス 72">
                <a:extLst>
                  <a:ext uri="{FF2B5EF4-FFF2-40B4-BE49-F238E27FC236}">
                    <a16:creationId xmlns:a16="http://schemas.microsoft.com/office/drawing/2014/main" id="{25180291-E602-010E-5ADF-791F7E05AAF7}"/>
                  </a:ext>
                </a:extLst>
              </p:cNvPr>
              <p:cNvSpPr txBox="1">
                <a:spLocks noRot="1" noChangeAspect="1" noMove="1" noResize="1" noEditPoints="1" noAdjustHandles="1" noChangeArrowheads="1" noChangeShapeType="1" noTextEdit="1"/>
              </p:cNvSpPr>
              <p:nvPr/>
            </p:nvSpPr>
            <p:spPr>
              <a:xfrm>
                <a:off x="2031060" y="21430741"/>
                <a:ext cx="471668" cy="430887"/>
              </a:xfrm>
              <a:prstGeom prst="rect">
                <a:avLst/>
              </a:prstGeom>
              <a:blipFill>
                <a:blip r:embed="rId31"/>
                <a:stretch>
                  <a:fillRect l="-7692" r="-2564"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5" name="テキスト ボックス 74">
                <a:extLst>
                  <a:ext uri="{FF2B5EF4-FFF2-40B4-BE49-F238E27FC236}">
                    <a16:creationId xmlns:a16="http://schemas.microsoft.com/office/drawing/2014/main" id="{F0C44F22-620F-3C73-48DC-FB57F577FD34}"/>
                  </a:ext>
                </a:extLst>
              </p:cNvPr>
              <p:cNvSpPr txBox="1"/>
              <p:nvPr/>
            </p:nvSpPr>
            <p:spPr>
              <a:xfrm>
                <a:off x="1984008" y="22926034"/>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75" name="テキスト ボックス 74">
                <a:extLst>
                  <a:ext uri="{FF2B5EF4-FFF2-40B4-BE49-F238E27FC236}">
                    <a16:creationId xmlns:a16="http://schemas.microsoft.com/office/drawing/2014/main" id="{F0C44F22-620F-3C73-48DC-FB57F577FD34}"/>
                  </a:ext>
                </a:extLst>
              </p:cNvPr>
              <p:cNvSpPr txBox="1">
                <a:spLocks noRot="1" noChangeAspect="1" noMove="1" noResize="1" noEditPoints="1" noAdjustHandles="1" noChangeArrowheads="1" noChangeShapeType="1" noTextEdit="1"/>
              </p:cNvSpPr>
              <p:nvPr/>
            </p:nvSpPr>
            <p:spPr>
              <a:xfrm>
                <a:off x="1984008" y="22926034"/>
                <a:ext cx="492507" cy="430887"/>
              </a:xfrm>
              <a:prstGeom prst="rect">
                <a:avLst/>
              </a:prstGeom>
              <a:blipFill>
                <a:blip r:embed="rId32"/>
                <a:stretch>
                  <a:fillRect b="-2857"/>
                </a:stretch>
              </a:blipFill>
            </p:spPr>
            <p:txBody>
              <a:bodyPr/>
              <a:lstStyle/>
              <a:p>
                <a:r>
                  <a:rPr lang="ja-JP" altLang="en-US">
                    <a:noFill/>
                  </a:rPr>
                  <a:t> </a:t>
                </a:r>
              </a:p>
            </p:txBody>
          </p:sp>
        </mc:Fallback>
      </mc:AlternateContent>
      <p:cxnSp>
        <p:nvCxnSpPr>
          <p:cNvPr id="76" name="直線矢印コネクタ 75">
            <a:extLst>
              <a:ext uri="{FF2B5EF4-FFF2-40B4-BE49-F238E27FC236}">
                <a16:creationId xmlns:a16="http://schemas.microsoft.com/office/drawing/2014/main" id="{AC58F5BE-4DEC-15C7-78C9-7802CBFEA9E4}"/>
              </a:ext>
            </a:extLst>
          </p:cNvPr>
          <p:cNvCxnSpPr>
            <a:cxnSpLocks/>
            <a:stCxn id="73" idx="3"/>
            <a:endCxn id="82" idx="1"/>
          </p:cNvCxnSpPr>
          <p:nvPr/>
        </p:nvCxnSpPr>
        <p:spPr>
          <a:xfrm>
            <a:off x="2502728" y="21646185"/>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79E65BC1-0429-6466-2320-AA8CD5117ACB}"/>
              </a:ext>
            </a:extLst>
          </p:cNvPr>
          <p:cNvCxnSpPr>
            <a:cxnSpLocks/>
            <a:stCxn id="82" idx="3"/>
            <a:endCxn id="92" idx="1"/>
          </p:cNvCxnSpPr>
          <p:nvPr/>
        </p:nvCxnSpPr>
        <p:spPr>
          <a:xfrm flipV="1">
            <a:off x="5608938" y="21642175"/>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19">
            <a:extLst>
              <a:ext uri="{FF2B5EF4-FFF2-40B4-BE49-F238E27FC236}">
                <a16:creationId xmlns:a16="http://schemas.microsoft.com/office/drawing/2014/main" id="{D885CFCD-7B7C-36A9-6816-EDF99534A948}"/>
              </a:ext>
            </a:extLst>
          </p:cNvPr>
          <p:cNvCxnSpPr>
            <a:cxnSpLocks/>
            <a:stCxn id="92" idx="3"/>
            <a:endCxn id="95" idx="1"/>
          </p:cNvCxnSpPr>
          <p:nvPr/>
        </p:nvCxnSpPr>
        <p:spPr>
          <a:xfrm>
            <a:off x="8951274" y="21642175"/>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F5DC9AA1-8E23-5762-429B-77BE90D206A9}"/>
              </a:ext>
            </a:extLst>
          </p:cNvPr>
          <p:cNvCxnSpPr>
            <a:cxnSpLocks/>
            <a:stCxn id="95" idx="3"/>
            <a:endCxn id="80" idx="1"/>
          </p:cNvCxnSpPr>
          <p:nvPr/>
        </p:nvCxnSpPr>
        <p:spPr>
          <a:xfrm>
            <a:off x="12047667" y="22263209"/>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テキスト ボックス 79">
                <a:extLst>
                  <a:ext uri="{FF2B5EF4-FFF2-40B4-BE49-F238E27FC236}">
                    <a16:creationId xmlns:a16="http://schemas.microsoft.com/office/drawing/2014/main" id="{B45F6316-A026-50D1-5F87-0ED7677188C8}"/>
                  </a:ext>
                </a:extLst>
              </p:cNvPr>
              <p:cNvSpPr txBox="1"/>
              <p:nvPr/>
            </p:nvSpPr>
            <p:spPr>
              <a:xfrm>
                <a:off x="12904337" y="22062272"/>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80" name="テキスト ボックス 79">
                <a:extLst>
                  <a:ext uri="{FF2B5EF4-FFF2-40B4-BE49-F238E27FC236}">
                    <a16:creationId xmlns:a16="http://schemas.microsoft.com/office/drawing/2014/main" id="{B45F6316-A026-50D1-5F87-0ED7677188C8}"/>
                  </a:ext>
                </a:extLst>
              </p:cNvPr>
              <p:cNvSpPr txBox="1">
                <a:spLocks noRot="1" noChangeAspect="1" noMove="1" noResize="1" noEditPoints="1" noAdjustHandles="1" noChangeArrowheads="1" noChangeShapeType="1" noTextEdit="1"/>
              </p:cNvSpPr>
              <p:nvPr/>
            </p:nvSpPr>
            <p:spPr>
              <a:xfrm>
                <a:off x="12904337" y="22062272"/>
                <a:ext cx="814710" cy="430887"/>
              </a:xfrm>
              <a:prstGeom prst="rect">
                <a:avLst/>
              </a:prstGeom>
              <a:blipFill>
                <a:blip r:embed="rId33"/>
                <a:stretch>
                  <a:fillRect l="-6250" r="-4688" b="-11429"/>
                </a:stretch>
              </a:blipFill>
            </p:spPr>
            <p:txBody>
              <a:bodyPr/>
              <a:lstStyle/>
              <a:p>
                <a:r>
                  <a:rPr lang="ja-JP" altLang="en-US">
                    <a:noFill/>
                  </a:rPr>
                  <a:t> </a:t>
                </a:r>
              </a:p>
            </p:txBody>
          </p:sp>
        </mc:Fallback>
      </mc:AlternateContent>
      <p:grpSp>
        <p:nvGrpSpPr>
          <p:cNvPr id="81" name="グループ化 80">
            <a:extLst>
              <a:ext uri="{FF2B5EF4-FFF2-40B4-BE49-F238E27FC236}">
                <a16:creationId xmlns:a16="http://schemas.microsoft.com/office/drawing/2014/main" id="{99BFB386-2063-DDDE-3BC3-B1B8DE86EAAD}"/>
              </a:ext>
            </a:extLst>
          </p:cNvPr>
          <p:cNvGrpSpPr/>
          <p:nvPr/>
        </p:nvGrpSpPr>
        <p:grpSpPr>
          <a:xfrm>
            <a:off x="3665938" y="21288621"/>
            <a:ext cx="1943000" cy="719356"/>
            <a:chOff x="3749692" y="11369202"/>
            <a:chExt cx="1943000" cy="719356"/>
          </a:xfrm>
        </p:grpSpPr>
        <p:sp>
          <p:nvSpPr>
            <p:cNvPr id="82" name="正方形/長方形 81">
              <a:extLst>
                <a:ext uri="{FF2B5EF4-FFF2-40B4-BE49-F238E27FC236}">
                  <a16:creationId xmlns:a16="http://schemas.microsoft.com/office/drawing/2014/main" id="{5394E1AE-5634-F5CC-9018-B087DA7B0D39}"/>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83" name="テキスト ボックス 82">
                  <a:extLst>
                    <a:ext uri="{FF2B5EF4-FFF2-40B4-BE49-F238E27FC236}">
                      <a16:creationId xmlns:a16="http://schemas.microsoft.com/office/drawing/2014/main" id="{0716E997-542C-1EE7-FD83-AC763A65279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83" name="テキスト ボックス 82">
                  <a:extLst>
                    <a:ext uri="{FF2B5EF4-FFF2-40B4-BE49-F238E27FC236}">
                      <a16:creationId xmlns:a16="http://schemas.microsoft.com/office/drawing/2014/main" id="{0716E997-542C-1EE7-FD83-AC763A65279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34"/>
                  <a:stretch>
                    <a:fillRect l="-5960" t="-2857" r="-5960" b="-31429"/>
                  </a:stretch>
                </a:blipFill>
              </p:spPr>
              <p:txBody>
                <a:bodyPr/>
                <a:lstStyle/>
                <a:p>
                  <a:r>
                    <a:rPr lang="ja-JP" altLang="en-US">
                      <a:noFill/>
                    </a:rPr>
                    <a:t> </a:t>
                  </a:r>
                </a:p>
              </p:txBody>
            </p:sp>
          </mc:Fallback>
        </mc:AlternateContent>
      </p:grpSp>
      <p:sp>
        <p:nvSpPr>
          <p:cNvPr id="97" name="正方形/長方形 96">
            <a:extLst>
              <a:ext uri="{FF2B5EF4-FFF2-40B4-BE49-F238E27FC236}">
                <a16:creationId xmlns:a16="http://schemas.microsoft.com/office/drawing/2014/main" id="{8ABDF078-AA56-21F9-7837-815BBE1BCFDC}"/>
              </a:ext>
            </a:extLst>
          </p:cNvPr>
          <p:cNvSpPr/>
          <p:nvPr/>
        </p:nvSpPr>
        <p:spPr>
          <a:xfrm>
            <a:off x="4820160" y="22269652"/>
            <a:ext cx="2851422" cy="1803974"/>
          </a:xfrm>
          <a:prstGeom prst="rect">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6" name="直線矢印コネクタ 85">
            <a:extLst>
              <a:ext uri="{FF2B5EF4-FFF2-40B4-BE49-F238E27FC236}">
                <a16:creationId xmlns:a16="http://schemas.microsoft.com/office/drawing/2014/main" id="{E757EF45-4B44-8C9E-67D8-0DA7E1C3B9B9}"/>
              </a:ext>
            </a:extLst>
          </p:cNvPr>
          <p:cNvCxnSpPr>
            <a:cxnSpLocks/>
            <a:stCxn id="72" idx="3"/>
            <a:endCxn id="89" idx="2"/>
          </p:cNvCxnSpPr>
          <p:nvPr/>
        </p:nvCxnSpPr>
        <p:spPr>
          <a:xfrm>
            <a:off x="3013674" y="23150486"/>
            <a:ext cx="1984373" cy="238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22">
            <a:extLst>
              <a:ext uri="{FF2B5EF4-FFF2-40B4-BE49-F238E27FC236}">
                <a16:creationId xmlns:a16="http://schemas.microsoft.com/office/drawing/2014/main" id="{342BEC40-CD51-CBC3-46AE-D845BDA91FEB}"/>
              </a:ext>
            </a:extLst>
          </p:cNvPr>
          <p:cNvCxnSpPr>
            <a:cxnSpLocks/>
            <a:stCxn id="89" idx="0"/>
            <a:endCxn id="95" idx="1"/>
          </p:cNvCxnSpPr>
          <p:nvPr/>
        </p:nvCxnSpPr>
        <p:spPr>
          <a:xfrm flipV="1">
            <a:off x="7431132" y="22263209"/>
            <a:ext cx="2673535" cy="911147"/>
          </a:xfrm>
          <a:prstGeom prst="bentConnector3">
            <a:avLst>
              <a:gd name="adj1" fmla="val 78339"/>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8" name="グループ化 87">
            <a:extLst>
              <a:ext uri="{FF2B5EF4-FFF2-40B4-BE49-F238E27FC236}">
                <a16:creationId xmlns:a16="http://schemas.microsoft.com/office/drawing/2014/main" id="{D2219FC2-26FB-3961-A8F3-9C71EFF9A4AD}"/>
              </a:ext>
            </a:extLst>
          </p:cNvPr>
          <p:cNvGrpSpPr/>
          <p:nvPr/>
        </p:nvGrpSpPr>
        <p:grpSpPr>
          <a:xfrm>
            <a:off x="4998047" y="22425987"/>
            <a:ext cx="2433085" cy="1496737"/>
            <a:chOff x="5794564" y="9455213"/>
            <a:chExt cx="2433085" cy="1496737"/>
          </a:xfrm>
        </p:grpSpPr>
        <p:sp>
          <p:nvSpPr>
            <p:cNvPr id="89" name="台形 88">
              <a:extLst>
                <a:ext uri="{FF2B5EF4-FFF2-40B4-BE49-F238E27FC236}">
                  <a16:creationId xmlns:a16="http://schemas.microsoft.com/office/drawing/2014/main" id="{612EAE33-C941-1882-1619-BA897B7D40F5}"/>
                </a:ext>
              </a:extLst>
            </p:cNvPr>
            <p:cNvSpPr/>
            <p:nvPr/>
          </p:nvSpPr>
          <p:spPr>
            <a:xfrm rot="5400000">
              <a:off x="6262738" y="8987039"/>
              <a:ext cx="1496737" cy="2433085"/>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90" name="テキスト ボックス 89">
                  <a:extLst>
                    <a:ext uri="{FF2B5EF4-FFF2-40B4-BE49-F238E27FC236}">
                      <a16:creationId xmlns:a16="http://schemas.microsoft.com/office/drawing/2014/main" id="{A3D47FCC-F41C-36CA-FA23-2C40DFB9B479}"/>
                    </a:ext>
                  </a:extLst>
                </p:cNvPr>
                <p:cNvSpPr txBox="1"/>
                <p:nvPr/>
              </p:nvSpPr>
              <p:spPr>
                <a:xfrm>
                  <a:off x="5827591" y="9798507"/>
                  <a:ext cx="2298001" cy="8617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𝑝𝑟𝑒</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𝑡𝑟𝑎𝑖𝑛𝑒𝑑</m:t>
                        </m:r>
                      </m:oMath>
                    </m:oMathPara>
                  </a14:m>
                  <a:endParaRPr kumimoji="1" lang="en-US" altLang="ja-JP" sz="2800" b="0" dirty="0"/>
                </a:p>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𝑅𝑒𝑠𝑁𝑒𝑡</m:t>
                        </m:r>
                        <m:r>
                          <a:rPr kumimoji="1" lang="en-US" altLang="ja-JP" sz="2800" b="0" i="1" smtClean="0">
                            <a:latin typeface="Cambria Math" panose="02040503050406030204" pitchFamily="18" charset="0"/>
                          </a:rPr>
                          <m:t>152</m:t>
                        </m:r>
                      </m:oMath>
                    </m:oMathPara>
                  </a14:m>
                  <a:endParaRPr kumimoji="1" lang="ja-JP" altLang="en-US" sz="2800" dirty="0"/>
                </a:p>
              </p:txBody>
            </p:sp>
          </mc:Choice>
          <mc:Fallback xmlns="">
            <p:sp>
              <p:nvSpPr>
                <p:cNvPr id="90" name="テキスト ボックス 89">
                  <a:extLst>
                    <a:ext uri="{FF2B5EF4-FFF2-40B4-BE49-F238E27FC236}">
                      <a16:creationId xmlns:a16="http://schemas.microsoft.com/office/drawing/2014/main" id="{A3D47FCC-F41C-36CA-FA23-2C40DFB9B479}"/>
                    </a:ext>
                  </a:extLst>
                </p:cNvPr>
                <p:cNvSpPr txBox="1">
                  <a:spLocks noRot="1" noChangeAspect="1" noMove="1" noResize="1" noEditPoints="1" noAdjustHandles="1" noChangeArrowheads="1" noChangeShapeType="1" noTextEdit="1"/>
                </p:cNvSpPr>
                <p:nvPr/>
              </p:nvSpPr>
              <p:spPr>
                <a:xfrm>
                  <a:off x="5827591" y="9798507"/>
                  <a:ext cx="2298001" cy="861774"/>
                </a:xfrm>
                <a:prstGeom prst="rect">
                  <a:avLst/>
                </a:prstGeom>
                <a:blipFill>
                  <a:blip r:embed="rId35"/>
                  <a:stretch>
                    <a:fillRect l="-3315" r="-3315" b="-2899"/>
                  </a:stretch>
                </a:blipFill>
              </p:spPr>
              <p:txBody>
                <a:bodyPr/>
                <a:lstStyle/>
                <a:p>
                  <a:r>
                    <a:rPr lang="ja-JP" altLang="en-US">
                      <a:noFill/>
                    </a:rPr>
                    <a:t> </a:t>
                  </a:r>
                </a:p>
              </p:txBody>
            </p:sp>
          </mc:Fallback>
        </mc:AlternateContent>
      </p:grpSp>
      <p:grpSp>
        <p:nvGrpSpPr>
          <p:cNvPr id="91" name="グループ化 90">
            <a:extLst>
              <a:ext uri="{FF2B5EF4-FFF2-40B4-BE49-F238E27FC236}">
                <a16:creationId xmlns:a16="http://schemas.microsoft.com/office/drawing/2014/main" id="{7E850E49-1E4F-DB19-17F5-EFDA0E832FD6}"/>
              </a:ext>
            </a:extLst>
          </p:cNvPr>
          <p:cNvGrpSpPr/>
          <p:nvPr/>
        </p:nvGrpSpPr>
        <p:grpSpPr>
          <a:xfrm>
            <a:off x="7008274" y="21282497"/>
            <a:ext cx="1943000" cy="719356"/>
            <a:chOff x="3749692" y="11369202"/>
            <a:chExt cx="1943000" cy="719356"/>
          </a:xfrm>
        </p:grpSpPr>
        <p:sp>
          <p:nvSpPr>
            <p:cNvPr id="92" name="正方形/長方形 91">
              <a:extLst>
                <a:ext uri="{FF2B5EF4-FFF2-40B4-BE49-F238E27FC236}">
                  <a16:creationId xmlns:a16="http://schemas.microsoft.com/office/drawing/2014/main" id="{3E56A3DD-D170-5292-6612-63DDF665593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93" name="テキスト ボックス 92">
                  <a:extLst>
                    <a:ext uri="{FF2B5EF4-FFF2-40B4-BE49-F238E27FC236}">
                      <a16:creationId xmlns:a16="http://schemas.microsoft.com/office/drawing/2014/main" id="{530F7026-FEC9-842A-46CC-D75BCDA6539A}"/>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93" name="テキスト ボックス 92">
                  <a:extLst>
                    <a:ext uri="{FF2B5EF4-FFF2-40B4-BE49-F238E27FC236}">
                      <a16:creationId xmlns:a16="http://schemas.microsoft.com/office/drawing/2014/main" id="{530F7026-FEC9-842A-46CC-D75BCDA6539A}"/>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36"/>
                  <a:stretch>
                    <a:fillRect b="-5882"/>
                  </a:stretch>
                </a:blipFill>
              </p:spPr>
              <p:txBody>
                <a:bodyPr/>
                <a:lstStyle/>
                <a:p>
                  <a:r>
                    <a:rPr lang="ja-JP" altLang="en-US">
                      <a:noFill/>
                    </a:rPr>
                    <a:t> </a:t>
                  </a:r>
                </a:p>
              </p:txBody>
            </p:sp>
          </mc:Fallback>
        </mc:AlternateContent>
      </p:grpSp>
      <p:grpSp>
        <p:nvGrpSpPr>
          <p:cNvPr id="94" name="グループ化 93">
            <a:extLst>
              <a:ext uri="{FF2B5EF4-FFF2-40B4-BE49-F238E27FC236}">
                <a16:creationId xmlns:a16="http://schemas.microsoft.com/office/drawing/2014/main" id="{480A452F-7716-A8E3-3F12-2F62CAD33F5E}"/>
              </a:ext>
            </a:extLst>
          </p:cNvPr>
          <p:cNvGrpSpPr/>
          <p:nvPr/>
        </p:nvGrpSpPr>
        <p:grpSpPr>
          <a:xfrm>
            <a:off x="10104667" y="21903531"/>
            <a:ext cx="1943000" cy="719356"/>
            <a:chOff x="3749692" y="11369202"/>
            <a:chExt cx="1943000" cy="719356"/>
          </a:xfrm>
        </p:grpSpPr>
        <p:sp>
          <p:nvSpPr>
            <p:cNvPr id="95" name="正方形/長方形 94">
              <a:extLst>
                <a:ext uri="{FF2B5EF4-FFF2-40B4-BE49-F238E27FC236}">
                  <a16:creationId xmlns:a16="http://schemas.microsoft.com/office/drawing/2014/main" id="{70C1D36C-D70E-5DD4-3E60-4FF98BDBA8D4}"/>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96" name="テキスト ボックス 95">
                  <a:extLst>
                    <a:ext uri="{FF2B5EF4-FFF2-40B4-BE49-F238E27FC236}">
                      <a16:creationId xmlns:a16="http://schemas.microsoft.com/office/drawing/2014/main" id="{C0B92E46-B603-F627-D4D7-4F235C2D9CE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96" name="テキスト ボックス 95">
                  <a:extLst>
                    <a:ext uri="{FF2B5EF4-FFF2-40B4-BE49-F238E27FC236}">
                      <a16:creationId xmlns:a16="http://schemas.microsoft.com/office/drawing/2014/main" id="{C0B92E46-B603-F627-D4D7-4F235C2D9CE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37"/>
                  <a:stretch>
                    <a:fillRect b="-8571"/>
                  </a:stretch>
                </a:blipFill>
              </p:spPr>
              <p:txBody>
                <a:bodyPr/>
                <a:lstStyle/>
                <a:p>
                  <a:r>
                    <a:rPr lang="ja-JP" altLang="en-US">
                      <a:noFill/>
                    </a:rPr>
                    <a:t> </a:t>
                  </a:r>
                </a:p>
              </p:txBody>
            </p:sp>
          </mc:Fallback>
        </mc:AlternateContent>
      </p:grpSp>
      <p:sp>
        <p:nvSpPr>
          <p:cNvPr id="103" name="テキスト ボックス 102">
            <a:extLst>
              <a:ext uri="{FF2B5EF4-FFF2-40B4-BE49-F238E27FC236}">
                <a16:creationId xmlns:a16="http://schemas.microsoft.com/office/drawing/2014/main" id="{0BEC38A4-014D-30D0-14C0-EF77DC1FF4F6}"/>
              </a:ext>
            </a:extLst>
          </p:cNvPr>
          <p:cNvSpPr txBox="1"/>
          <p:nvPr/>
        </p:nvSpPr>
        <p:spPr>
          <a:xfrm>
            <a:off x="13997881" y="32677661"/>
            <a:ext cx="972326" cy="523220"/>
          </a:xfrm>
          <a:prstGeom prst="rect">
            <a:avLst/>
          </a:prstGeom>
          <a:noFill/>
        </p:spPr>
        <p:txBody>
          <a:bodyPr wrap="square" rtlCol="0">
            <a:spAutoFit/>
          </a:bodyPr>
          <a:lstStyle/>
          <a:p>
            <a:pPr algn="ctr"/>
            <a:r>
              <a:rPr kumimoji="1" lang="en-US" altLang="ja-JP" sz="2800" dirty="0">
                <a:latin typeface="UD Digi Kyokasho NK-R" panose="02020400000000000000" pitchFamily="18" charset="-128"/>
                <a:ea typeface="UD Digi Kyokasho NK-R" panose="02020400000000000000" pitchFamily="18" charset="-128"/>
              </a:rPr>
              <a:t>(1)</a:t>
            </a:r>
            <a:endParaRPr kumimoji="1" lang="ja-JP" altLang="en-US" sz="2800">
              <a:latin typeface="UD Digi Kyokasho NK-R" panose="02020400000000000000" pitchFamily="18" charset="-128"/>
              <a:ea typeface="UD Digi Kyokasho NK-R" panose="02020400000000000000" pitchFamily="18" charset="-128"/>
            </a:endParaRPr>
          </a:p>
        </p:txBody>
      </p:sp>
      <p:sp>
        <p:nvSpPr>
          <p:cNvPr id="104" name="テキスト ボックス 103">
            <a:extLst>
              <a:ext uri="{FF2B5EF4-FFF2-40B4-BE49-F238E27FC236}">
                <a16:creationId xmlns:a16="http://schemas.microsoft.com/office/drawing/2014/main" id="{ADD97B12-2825-A101-15AD-B5071038F7DE}"/>
              </a:ext>
            </a:extLst>
          </p:cNvPr>
          <p:cNvSpPr txBox="1"/>
          <p:nvPr/>
        </p:nvSpPr>
        <p:spPr>
          <a:xfrm>
            <a:off x="29050546" y="17180091"/>
            <a:ext cx="972326" cy="523220"/>
          </a:xfrm>
          <a:prstGeom prst="rect">
            <a:avLst/>
          </a:prstGeom>
          <a:noFill/>
        </p:spPr>
        <p:txBody>
          <a:bodyPr wrap="square" rtlCol="0">
            <a:spAutoFit/>
          </a:bodyPr>
          <a:lstStyle/>
          <a:p>
            <a:pPr algn="ctr"/>
            <a:r>
              <a:rPr kumimoji="1" lang="en-US" altLang="ja-JP" sz="2800" dirty="0">
                <a:latin typeface="UD Digi Kyokasho NK-R" panose="02020400000000000000" pitchFamily="18" charset="-128"/>
                <a:ea typeface="UD Digi Kyokasho NK-R" panose="02020400000000000000" pitchFamily="18" charset="-128"/>
              </a:rPr>
              <a:t>(2)</a:t>
            </a:r>
            <a:endParaRPr kumimoji="1" lang="ja-JP" altLang="en-US" sz="2800">
              <a:latin typeface="UD Digi Kyokasho NK-R" panose="02020400000000000000" pitchFamily="18" charset="-128"/>
              <a:ea typeface="UD Digi Kyokasho NK-R" panose="02020400000000000000" pitchFamily="18" charset="-128"/>
            </a:endParaRPr>
          </a:p>
        </p:txBody>
      </p:sp>
      <p:graphicFrame>
        <p:nvGraphicFramePr>
          <p:cNvPr id="54" name="表 54">
            <a:extLst>
              <a:ext uri="{FF2B5EF4-FFF2-40B4-BE49-F238E27FC236}">
                <a16:creationId xmlns:a16="http://schemas.microsoft.com/office/drawing/2014/main" id="{71EB0320-7586-7DBA-B1ED-305D8F8CA721}"/>
              </a:ext>
            </a:extLst>
          </p:cNvPr>
          <p:cNvGraphicFramePr>
            <a:graphicFrameLocks noGrp="1"/>
          </p:cNvGraphicFramePr>
          <p:nvPr>
            <p:extLst>
              <p:ext uri="{D42A27DB-BD31-4B8C-83A1-F6EECF244321}">
                <p14:modId xmlns:p14="http://schemas.microsoft.com/office/powerpoint/2010/main" val="1251773546"/>
              </p:ext>
            </p:extLst>
          </p:nvPr>
        </p:nvGraphicFramePr>
        <p:xfrm>
          <a:off x="16271324" y="20215225"/>
          <a:ext cx="5844900" cy="6427710"/>
        </p:xfrm>
        <a:graphic>
          <a:graphicData uri="http://schemas.openxmlformats.org/drawingml/2006/table">
            <a:tbl>
              <a:tblPr firstRow="1" bandRow="1">
                <a:tableStyleId>{7DF18680-E054-41AD-8BC1-D1AEF772440D}</a:tableStyleId>
              </a:tblPr>
              <a:tblGrid>
                <a:gridCol w="2922450">
                  <a:extLst>
                    <a:ext uri="{9D8B030D-6E8A-4147-A177-3AD203B41FA5}">
                      <a16:colId xmlns:a16="http://schemas.microsoft.com/office/drawing/2014/main" val="2605247061"/>
                    </a:ext>
                  </a:extLst>
                </a:gridCol>
                <a:gridCol w="2922450">
                  <a:extLst>
                    <a:ext uri="{9D8B030D-6E8A-4147-A177-3AD203B41FA5}">
                      <a16:colId xmlns:a16="http://schemas.microsoft.com/office/drawing/2014/main" val="21923573"/>
                    </a:ext>
                  </a:extLst>
                </a:gridCol>
              </a:tblGrid>
              <a:tr h="494595">
                <a:tc>
                  <a:txBody>
                    <a:bodyPr/>
                    <a:lstStyle/>
                    <a:p>
                      <a:pPr algn="ctr"/>
                      <a:r>
                        <a:rPr kumimoji="1" lang="ja-JP" altLang="en-US" sz="2800">
                          <a:latin typeface="UD Digi Kyokasho NK-R" panose="02020400000000000000" pitchFamily="18" charset="-128"/>
                          <a:ea typeface="UD Digi Kyokasho NK-R" panose="02020400000000000000" pitchFamily="18" charset="-128"/>
                        </a:rPr>
                        <a:t>入力画像</a:t>
                      </a:r>
                    </a:p>
                  </a:txBody>
                  <a:tcPr/>
                </a:tc>
                <a:tc>
                  <a:txBody>
                    <a:bodyPr/>
                    <a:lstStyle/>
                    <a:p>
                      <a:pPr algn="ctr"/>
                      <a:r>
                        <a:rPr kumimoji="1" lang="en-US" altLang="ja-JP" sz="2800" dirty="0">
                          <a:latin typeface="UD Digi Kyokasho NK-R" panose="02020400000000000000" pitchFamily="18" charset="-128"/>
                          <a:ea typeface="UD Digi Kyokasho NK-R" panose="02020400000000000000" pitchFamily="18" charset="-128"/>
                        </a:rPr>
                        <a:t>512</a:t>
                      </a:r>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543304455"/>
                  </a:ext>
                </a:extLst>
              </a:tr>
              <a:tr h="2596880">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305008445"/>
                  </a:ext>
                </a:extLst>
              </a:tr>
              <a:tr h="650639">
                <a:tc>
                  <a:txBody>
                    <a:bodyPr/>
                    <a:lstStyle/>
                    <a:p>
                      <a:pPr algn="ctr"/>
                      <a:r>
                        <a:rPr kumimoji="1" lang="en-US" altLang="ja-JP" sz="2800" dirty="0">
                          <a:latin typeface="UD Digi Kyokasho NK-R" panose="02020400000000000000" pitchFamily="18" charset="-128"/>
                          <a:ea typeface="UD Digi Kyokasho NK-R" panose="02020400000000000000" pitchFamily="18" charset="-128"/>
                        </a:rPr>
                        <a:t>1024</a:t>
                      </a:r>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dirty="0">
                          <a:latin typeface="UD Digi Kyokasho NK-R" panose="02020400000000000000" pitchFamily="18" charset="-128"/>
                          <a:ea typeface="UD Digi Kyokasho NK-R" panose="02020400000000000000" pitchFamily="18" charset="-128"/>
                        </a:rPr>
                        <a:t>2048</a:t>
                      </a:r>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1190950867"/>
                  </a:ext>
                </a:extLst>
              </a:tr>
              <a:tr h="2662031">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046697167"/>
                  </a:ext>
                </a:extLst>
              </a:tr>
            </a:tbl>
          </a:graphicData>
        </a:graphic>
      </p:graphicFrame>
      <p:pic>
        <p:nvPicPr>
          <p:cNvPr id="27" name="図 26">
            <a:extLst>
              <a:ext uri="{FF2B5EF4-FFF2-40B4-BE49-F238E27FC236}">
                <a16:creationId xmlns:a16="http://schemas.microsoft.com/office/drawing/2014/main" id="{3ACB756E-77C4-D8B9-BB66-C80A7DB45412}"/>
              </a:ext>
            </a:extLst>
          </p:cNvPr>
          <p:cNvPicPr>
            <a:picLocks noChangeAspect="1"/>
          </p:cNvPicPr>
          <p:nvPr/>
        </p:nvPicPr>
        <p:blipFill>
          <a:blip r:embed="rId38"/>
          <a:stretch>
            <a:fillRect/>
          </a:stretch>
        </p:blipFill>
        <p:spPr>
          <a:xfrm>
            <a:off x="16533676" y="20805996"/>
            <a:ext cx="2467124" cy="2467124"/>
          </a:xfrm>
          <a:prstGeom prst="rect">
            <a:avLst/>
          </a:prstGeom>
        </p:spPr>
      </p:pic>
      <p:pic>
        <p:nvPicPr>
          <p:cNvPr id="33" name="図 32">
            <a:extLst>
              <a:ext uri="{FF2B5EF4-FFF2-40B4-BE49-F238E27FC236}">
                <a16:creationId xmlns:a16="http://schemas.microsoft.com/office/drawing/2014/main" id="{405A57DB-25AF-5828-979F-ACF81963688E}"/>
              </a:ext>
            </a:extLst>
          </p:cNvPr>
          <p:cNvPicPr>
            <a:picLocks noChangeAspect="1"/>
          </p:cNvPicPr>
          <p:nvPr/>
        </p:nvPicPr>
        <p:blipFill>
          <a:blip r:embed="rId39"/>
          <a:stretch>
            <a:fillRect/>
          </a:stretch>
        </p:blipFill>
        <p:spPr>
          <a:xfrm>
            <a:off x="19433969" y="20789281"/>
            <a:ext cx="2467123" cy="2467123"/>
          </a:xfrm>
          <a:prstGeom prst="rect">
            <a:avLst/>
          </a:prstGeom>
        </p:spPr>
      </p:pic>
      <p:pic>
        <p:nvPicPr>
          <p:cNvPr id="40" name="図 39">
            <a:extLst>
              <a:ext uri="{FF2B5EF4-FFF2-40B4-BE49-F238E27FC236}">
                <a16:creationId xmlns:a16="http://schemas.microsoft.com/office/drawing/2014/main" id="{0644C89B-29B5-841C-C504-EA62B1958AB4}"/>
              </a:ext>
            </a:extLst>
          </p:cNvPr>
          <p:cNvPicPr>
            <a:picLocks noChangeAspect="1"/>
          </p:cNvPicPr>
          <p:nvPr/>
        </p:nvPicPr>
        <p:blipFill>
          <a:blip r:embed="rId40"/>
          <a:stretch>
            <a:fillRect/>
          </a:stretch>
        </p:blipFill>
        <p:spPr>
          <a:xfrm>
            <a:off x="16509339" y="24093355"/>
            <a:ext cx="2467123" cy="2467123"/>
          </a:xfrm>
          <a:prstGeom prst="rect">
            <a:avLst/>
          </a:prstGeom>
        </p:spPr>
      </p:pic>
      <p:pic>
        <p:nvPicPr>
          <p:cNvPr id="48" name="図 47">
            <a:extLst>
              <a:ext uri="{FF2B5EF4-FFF2-40B4-BE49-F238E27FC236}">
                <a16:creationId xmlns:a16="http://schemas.microsoft.com/office/drawing/2014/main" id="{C2635F94-DED3-A817-9ACB-2C2A35959766}"/>
              </a:ext>
            </a:extLst>
          </p:cNvPr>
          <p:cNvPicPr>
            <a:picLocks noChangeAspect="1"/>
          </p:cNvPicPr>
          <p:nvPr/>
        </p:nvPicPr>
        <p:blipFill>
          <a:blip r:embed="rId41"/>
          <a:stretch>
            <a:fillRect/>
          </a:stretch>
        </p:blipFill>
        <p:spPr>
          <a:xfrm>
            <a:off x="19432311" y="24093355"/>
            <a:ext cx="2467123" cy="2467123"/>
          </a:xfrm>
          <a:prstGeom prst="rect">
            <a:avLst/>
          </a:prstGeom>
        </p:spPr>
      </p:pic>
      <p:sp>
        <p:nvSpPr>
          <p:cNvPr id="55" name="テキスト ボックス 54">
            <a:extLst>
              <a:ext uri="{FF2B5EF4-FFF2-40B4-BE49-F238E27FC236}">
                <a16:creationId xmlns:a16="http://schemas.microsoft.com/office/drawing/2014/main" id="{80AFDCD6-167C-2DDF-EEA1-1794FC041036}"/>
              </a:ext>
            </a:extLst>
          </p:cNvPr>
          <p:cNvSpPr txBox="1"/>
          <p:nvPr/>
        </p:nvSpPr>
        <p:spPr>
          <a:xfrm>
            <a:off x="16666524" y="19710724"/>
            <a:ext cx="4243284" cy="523220"/>
          </a:xfrm>
          <a:prstGeom prst="rect">
            <a:avLst/>
          </a:prstGeom>
          <a:noFill/>
        </p:spPr>
        <p:txBody>
          <a:bodyPr wrap="square" rtlCol="0">
            <a:spAutoFit/>
          </a:bodyPr>
          <a:lstStyle/>
          <a:p>
            <a:pPr algn="ctr"/>
            <a:r>
              <a:rPr kumimoji="1" lang="ja-JP" altLang="en-US" sz="2800">
                <a:latin typeface="UD Digi Kyokasho NK-R" panose="02020400000000000000" pitchFamily="18" charset="-128"/>
                <a:ea typeface="UD Digi Kyokasho NK-R" panose="02020400000000000000" pitchFamily="18" charset="-128"/>
              </a:rPr>
              <a:t>実験</a:t>
            </a:r>
            <a:r>
              <a:rPr kumimoji="1" lang="en-US" altLang="ja-JP" sz="2800" dirty="0">
                <a:latin typeface="UD Digi Kyokasho NK-R" panose="02020400000000000000" pitchFamily="18" charset="-128"/>
                <a:ea typeface="UD Digi Kyokasho NK-R" panose="02020400000000000000" pitchFamily="18" charset="-128"/>
              </a:rPr>
              <a:t>2</a:t>
            </a:r>
            <a:r>
              <a:rPr kumimoji="1" lang="ja-JP" altLang="en-US" sz="2800">
                <a:latin typeface="UD Digi Kyokasho NK-R" panose="02020400000000000000" pitchFamily="18" charset="-128"/>
                <a:ea typeface="UD Digi Kyokasho NK-R" panose="02020400000000000000" pitchFamily="18" charset="-128"/>
              </a:rPr>
              <a:t>　再構成画像を比較</a:t>
            </a:r>
          </a:p>
        </p:txBody>
      </p:sp>
      <p:sp>
        <p:nvSpPr>
          <p:cNvPr id="59" name="テキスト ボックス 58">
            <a:extLst>
              <a:ext uri="{FF2B5EF4-FFF2-40B4-BE49-F238E27FC236}">
                <a16:creationId xmlns:a16="http://schemas.microsoft.com/office/drawing/2014/main" id="{EB4554EE-D7B3-1073-AE3A-B8BDFE7ABA2C}"/>
              </a:ext>
            </a:extLst>
          </p:cNvPr>
          <p:cNvSpPr txBox="1"/>
          <p:nvPr/>
        </p:nvSpPr>
        <p:spPr>
          <a:xfrm>
            <a:off x="23270915" y="26377944"/>
            <a:ext cx="5458095" cy="523220"/>
          </a:xfrm>
          <a:prstGeom prst="rect">
            <a:avLst/>
          </a:prstGeom>
          <a:noFill/>
        </p:spPr>
        <p:txBody>
          <a:bodyPr wrap="square" rtlCol="0">
            <a:spAutoFit/>
          </a:bodyPr>
          <a:lstStyle/>
          <a:p>
            <a:pPr algn="ctr"/>
            <a:r>
              <a:rPr kumimoji="1" lang="ja-JP" altLang="en-US" sz="2800">
                <a:latin typeface="UD Digi Kyokasho NK-R" panose="02020400000000000000" pitchFamily="18" charset="-128"/>
                <a:ea typeface="UD Digi Kyokasho NK-R" panose="02020400000000000000" pitchFamily="18" charset="-128"/>
              </a:rPr>
              <a:t>実験</a:t>
            </a:r>
            <a:r>
              <a:rPr kumimoji="1" lang="en-US" altLang="ja-JP" sz="2800" dirty="0">
                <a:latin typeface="UD Digi Kyokasho NK-R" panose="02020400000000000000" pitchFamily="18" charset="-128"/>
                <a:ea typeface="UD Digi Kyokasho NK-R" panose="02020400000000000000" pitchFamily="18" charset="-128"/>
              </a:rPr>
              <a:t>3</a:t>
            </a:r>
            <a:r>
              <a:rPr kumimoji="1" lang="ja-JP" altLang="en-US" sz="2800">
                <a:latin typeface="UD Digi Kyokasho NK-R" panose="02020400000000000000" pitchFamily="18" charset="-128"/>
                <a:ea typeface="UD Digi Kyokasho NK-R" panose="02020400000000000000" pitchFamily="18" charset="-128"/>
              </a:rPr>
              <a:t>　学習精度・学習誤差を比較</a:t>
            </a:r>
          </a:p>
        </p:txBody>
      </p:sp>
      <p:graphicFrame>
        <p:nvGraphicFramePr>
          <p:cNvPr id="61" name="表 255">
            <a:extLst>
              <a:ext uri="{FF2B5EF4-FFF2-40B4-BE49-F238E27FC236}">
                <a16:creationId xmlns:a16="http://schemas.microsoft.com/office/drawing/2014/main" id="{C843D60C-48A5-B579-246D-9B7389C06D50}"/>
              </a:ext>
            </a:extLst>
          </p:cNvPr>
          <p:cNvGraphicFramePr>
            <a:graphicFrameLocks noGrp="1"/>
          </p:cNvGraphicFramePr>
          <p:nvPr>
            <p:extLst>
              <p:ext uri="{D42A27DB-BD31-4B8C-83A1-F6EECF244321}">
                <p14:modId xmlns:p14="http://schemas.microsoft.com/office/powerpoint/2010/main" val="901765372"/>
              </p:ext>
            </p:extLst>
          </p:nvPr>
        </p:nvGraphicFramePr>
        <p:xfrm>
          <a:off x="15329206" y="31040601"/>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パンツの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すそ</a:t>
                      </a:r>
                      <a:r>
                        <a:rPr kumimoji="1" lang="ja-JP" altLang="en-US" sz="2800" spc="-100" baseline="0">
                          <a:latin typeface="UD Digi Kyokasho NK-R" panose="02020400000000000000" pitchFamily="18" charset="-128"/>
                          <a:ea typeface="UD Digi Kyokasho NK-R" panose="02020400000000000000" pitchFamily="18" charset="-128"/>
                        </a:rPr>
                        <a:t>がカピカピになっている</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出会い系で待ち合わせ</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子供の頃から</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ディフェンスに定評</a:t>
                      </a:r>
                      <a:r>
                        <a:rPr kumimoji="1" lang="ja-JP" altLang="en-US" sz="2800" spc="-100" baseline="0">
                          <a:solidFill>
                            <a:schemeClr val="tx1"/>
                          </a:solidFill>
                          <a:latin typeface="UD Digi Kyokasho NK-R" panose="02020400000000000000" pitchFamily="18" charset="-128"/>
                          <a:ea typeface="UD Digi Kyokasho NK-R" panose="02020400000000000000" pitchFamily="18" charset="-128"/>
                        </a:rPr>
                        <a:t>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ある</a:t>
                      </a:r>
                      <a:r>
                        <a:rPr kumimoji="1" lang="ja-JP" altLang="en-US" sz="2800" spc="-100" baseline="0">
                          <a:latin typeface="UD Digi Kyokasho NK-R" panose="02020400000000000000" pitchFamily="18" charset="-128"/>
                          <a:ea typeface="UD Digi Kyokasho NK-R" panose="02020400000000000000" pitchFamily="18" charset="-128"/>
                        </a:rPr>
                        <a:t>人</a:t>
                      </a:r>
                    </a:p>
                  </a:txBody>
                  <a:tcPr anchor="ctr"/>
                </a:tc>
                <a:extLst>
                  <a:ext uri="{0D108BD9-81ED-4DB2-BD59-A6C34878D82A}">
                    <a16:rowId xmlns:a16="http://schemas.microsoft.com/office/drawing/2014/main" val="1783522377"/>
                  </a:ext>
                </a:extLst>
              </a:tr>
            </a:tbl>
          </a:graphicData>
        </a:graphic>
      </p:graphicFrame>
      <p:pic>
        <p:nvPicPr>
          <p:cNvPr id="62" name="図 61">
            <a:extLst>
              <a:ext uri="{FF2B5EF4-FFF2-40B4-BE49-F238E27FC236}">
                <a16:creationId xmlns:a16="http://schemas.microsoft.com/office/drawing/2014/main" id="{3FBF9621-4FD9-208C-8DC2-FA39BC25B015}"/>
              </a:ext>
            </a:extLst>
          </p:cNvPr>
          <p:cNvPicPr>
            <a:picLocks noChangeAspect="1"/>
          </p:cNvPicPr>
          <p:nvPr/>
        </p:nvPicPr>
        <p:blipFill>
          <a:blip r:embed="rId30"/>
          <a:stretch>
            <a:fillRect/>
          </a:stretch>
        </p:blipFill>
        <p:spPr>
          <a:xfrm>
            <a:off x="15913172" y="31669709"/>
            <a:ext cx="2402435" cy="2402435"/>
          </a:xfrm>
          <a:prstGeom prst="rect">
            <a:avLst/>
          </a:prstGeom>
        </p:spPr>
      </p:pic>
      <p:pic>
        <p:nvPicPr>
          <p:cNvPr id="63" name="図 62">
            <a:extLst>
              <a:ext uri="{FF2B5EF4-FFF2-40B4-BE49-F238E27FC236}">
                <a16:creationId xmlns:a16="http://schemas.microsoft.com/office/drawing/2014/main" id="{72294DBF-E76D-7A22-0EE6-F6AAE1E9F344}"/>
              </a:ext>
            </a:extLst>
          </p:cNvPr>
          <p:cNvPicPr>
            <a:picLocks noChangeAspect="1"/>
          </p:cNvPicPr>
          <p:nvPr/>
        </p:nvPicPr>
        <p:blipFill>
          <a:blip r:embed="rId42"/>
          <a:stretch>
            <a:fillRect/>
          </a:stretch>
        </p:blipFill>
        <p:spPr>
          <a:xfrm>
            <a:off x="15913172" y="34788661"/>
            <a:ext cx="2402435" cy="2402435"/>
          </a:xfrm>
          <a:prstGeom prst="rect">
            <a:avLst/>
          </a:prstGeom>
        </p:spPr>
      </p:pic>
      <p:pic>
        <p:nvPicPr>
          <p:cNvPr id="74" name="図 73">
            <a:extLst>
              <a:ext uri="{FF2B5EF4-FFF2-40B4-BE49-F238E27FC236}">
                <a16:creationId xmlns:a16="http://schemas.microsoft.com/office/drawing/2014/main" id="{C8E8BA21-167A-967F-C117-43CF73C81A45}"/>
              </a:ext>
            </a:extLst>
          </p:cNvPr>
          <p:cNvPicPr>
            <a:picLocks noChangeAspect="1"/>
          </p:cNvPicPr>
          <p:nvPr/>
        </p:nvPicPr>
        <p:blipFill>
          <a:blip r:embed="rId43"/>
          <a:stretch>
            <a:fillRect/>
          </a:stretch>
        </p:blipFill>
        <p:spPr>
          <a:xfrm>
            <a:off x="9999399" y="36635030"/>
            <a:ext cx="2035519" cy="2035519"/>
          </a:xfrm>
          <a:prstGeom prst="rect">
            <a:avLst/>
          </a:prstGeom>
        </p:spPr>
      </p:pic>
      <p:pic>
        <p:nvPicPr>
          <p:cNvPr id="2" name="図 1">
            <a:extLst>
              <a:ext uri="{FF2B5EF4-FFF2-40B4-BE49-F238E27FC236}">
                <a16:creationId xmlns:a16="http://schemas.microsoft.com/office/drawing/2014/main" id="{0484CCE0-04AF-8D5F-967C-37678A37120D}"/>
              </a:ext>
            </a:extLst>
          </p:cNvPr>
          <p:cNvPicPr>
            <a:picLocks noChangeAspect="1"/>
          </p:cNvPicPr>
          <p:nvPr/>
        </p:nvPicPr>
        <p:blipFill>
          <a:blip r:embed="rId44"/>
          <a:stretch>
            <a:fillRect/>
          </a:stretch>
        </p:blipFill>
        <p:spPr>
          <a:xfrm>
            <a:off x="22593830" y="19771684"/>
            <a:ext cx="6812267" cy="6663528"/>
          </a:xfrm>
          <a:prstGeom prst="rect">
            <a:avLst/>
          </a:prstGeom>
        </p:spPr>
      </p:pic>
    </p:spTree>
    <p:extLst>
      <p:ext uri="{BB962C8B-B14F-4D97-AF65-F5344CB8AC3E}">
        <p14:creationId xmlns:p14="http://schemas.microsoft.com/office/powerpoint/2010/main" val="1046813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77C00F1B-B54B-9ADE-40B5-5B2FEA05E6A5}"/>
              </a:ext>
            </a:extLst>
          </p:cNvPr>
          <p:cNvSpPr/>
          <p:nvPr/>
        </p:nvSpPr>
        <p:spPr>
          <a:xfrm>
            <a:off x="232568" y="40523872"/>
            <a:ext cx="29775151" cy="1768016"/>
          </a:xfrm>
          <a:prstGeom prst="roundRect">
            <a:avLst>
              <a:gd name="adj" fmla="val 994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grpSp>
        <p:nvGrpSpPr>
          <p:cNvPr id="23" name="グループ化 22">
            <a:extLst>
              <a:ext uri="{FF2B5EF4-FFF2-40B4-BE49-F238E27FC236}">
                <a16:creationId xmlns:a16="http://schemas.microsoft.com/office/drawing/2014/main" id="{30CE2818-1843-6F2A-80B7-05612BF68763}"/>
              </a:ext>
            </a:extLst>
          </p:cNvPr>
          <p:cNvGrpSpPr/>
          <p:nvPr/>
        </p:nvGrpSpPr>
        <p:grpSpPr>
          <a:xfrm>
            <a:off x="232570" y="1480871"/>
            <a:ext cx="14911137" cy="4055173"/>
            <a:chOff x="232570" y="2529741"/>
            <a:chExt cx="14911137" cy="4055173"/>
          </a:xfrm>
        </p:grpSpPr>
        <p:sp>
          <p:nvSpPr>
            <p:cNvPr id="10" name="四角形: 角を丸くする 9">
              <a:extLst>
                <a:ext uri="{FF2B5EF4-FFF2-40B4-BE49-F238E27FC236}">
                  <a16:creationId xmlns:a16="http://schemas.microsoft.com/office/drawing/2014/main" id="{27C6F926-3906-9907-52EE-E1D4D4E5F520}"/>
                </a:ext>
              </a:extLst>
            </p:cNvPr>
            <p:cNvSpPr/>
            <p:nvPr/>
          </p:nvSpPr>
          <p:spPr>
            <a:xfrm>
              <a:off x="232570" y="2928093"/>
              <a:ext cx="14760000" cy="3656821"/>
            </a:xfrm>
            <a:prstGeom prst="roundRect">
              <a:avLst>
                <a:gd name="adj" fmla="val 6375"/>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latin typeface="UD デジタル 教科書体 NK-R" panose="02020400000000000000" pitchFamily="18" charset="-128"/>
                  <a:ea typeface="UD デジタル 教科書体 NK-R" panose="02020400000000000000" pitchFamily="18" charset="-128"/>
                </a:rPr>
                <a:t>目的</a:t>
              </a:r>
            </a:p>
          </p:txBody>
        </p:sp>
        <p:sp>
          <p:nvSpPr>
            <p:cNvPr id="18" name="四角形: 角を丸くする 17">
              <a:extLst>
                <a:ext uri="{FF2B5EF4-FFF2-40B4-BE49-F238E27FC236}">
                  <a16:creationId xmlns:a16="http://schemas.microsoft.com/office/drawing/2014/main" id="{83F891FC-763A-95C7-C6BF-CC832CB33667}"/>
                </a:ext>
              </a:extLst>
            </p:cNvPr>
            <p:cNvSpPr/>
            <p:nvPr/>
          </p:nvSpPr>
          <p:spPr>
            <a:xfrm>
              <a:off x="528326" y="2529741"/>
              <a:ext cx="3159050" cy="797855"/>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背景・目的</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18" name="テキスト ボックス 117">
              <a:extLst>
                <a:ext uri="{FF2B5EF4-FFF2-40B4-BE49-F238E27FC236}">
                  <a16:creationId xmlns:a16="http://schemas.microsoft.com/office/drawing/2014/main" id="{72956B3B-BA4D-7529-D417-26D2225646DE}"/>
                </a:ext>
              </a:extLst>
            </p:cNvPr>
            <p:cNvSpPr txBox="1"/>
            <p:nvPr/>
          </p:nvSpPr>
          <p:spPr>
            <a:xfrm>
              <a:off x="388899" y="3468067"/>
              <a:ext cx="14754808" cy="3108543"/>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背景</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近年</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の研究が盛んに行われている</a:t>
              </a:r>
              <a:r>
                <a:rPr lang="en-US" altLang="ja-JP" sz="2800" dirty="0">
                  <a:latin typeface="UD デジタル 教科書体 NK-R" panose="02020400000000000000" pitchFamily="18" charset="-128"/>
                  <a:ea typeface="UD デジタル 教科書体 NK-R" panose="02020400000000000000" pitchFamily="18" charset="-128"/>
                </a:rPr>
                <a:t>[1,2]</a:t>
              </a: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画像キャプションモデル</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の画像の特徴抽出機として，事前学習済みの画像認識モデルが</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使用される</a:t>
              </a:r>
              <a:r>
                <a:rPr lang="en-US" altLang="ja-JP" sz="2800" dirty="0">
                  <a:latin typeface="UD デジタル 教科書体 NK-R" panose="02020400000000000000" pitchFamily="18" charset="-128"/>
                  <a:ea typeface="UD デジタル 教科書体 NK-R" panose="02020400000000000000" pitchFamily="18" charset="-128"/>
                </a:rPr>
                <a:t>[1]</a:t>
              </a:r>
            </a:p>
            <a:p>
              <a:pPr marL="571500" indent="-571500">
                <a:buFont typeface="Arial" panose="020B0604020202020204" pitchFamily="34" charset="0"/>
                <a:buChar char="•"/>
              </a:pPr>
              <a:r>
                <a:rPr lang="ja-JP" altLang="en-US" sz="2800" spc="-200">
                  <a:latin typeface="UD デジタル 教科書体 NK-R" panose="02020400000000000000" pitchFamily="18" charset="-128"/>
                  <a:ea typeface="UD デジタル 教科書体 NK-R" panose="02020400000000000000" pitchFamily="18" charset="-128"/>
                </a:rPr>
                <a:t>画像キャプションモデルの画像の特徴抽出器として</a:t>
              </a:r>
              <a:r>
                <a:rPr lang="en-US" altLang="ja-JP" sz="2800" spc="-200" dirty="0" err="1">
                  <a:latin typeface="UD デジタル 教科書体 NK-R" panose="02020400000000000000" pitchFamily="18" charset="-128"/>
                  <a:ea typeface="UD デジタル 教科書体 NK-R" panose="02020400000000000000" pitchFamily="18" charset="-128"/>
                </a:rPr>
                <a:t>AutoEncoder</a:t>
              </a:r>
              <a:r>
                <a:rPr lang="ja-JP" altLang="en-US" sz="2800" spc="-200">
                  <a:latin typeface="UD デジタル 教科書体 NK-R" panose="02020400000000000000" pitchFamily="18" charset="-128"/>
                  <a:ea typeface="UD デジタル 教科書体 NK-R" panose="02020400000000000000" pitchFamily="18" charset="-128"/>
                </a:rPr>
                <a:t>のエンコーダを用いる方法を提案</a:t>
              </a:r>
              <a:r>
                <a:rPr lang="en-US" altLang="ja-JP" sz="2800" spc="-200" dirty="0">
                  <a:latin typeface="UD デジタル 教科書体 NK-R" panose="02020400000000000000" pitchFamily="18" charset="-128"/>
                  <a:ea typeface="UD デジタル 教科書体 NK-R" panose="02020400000000000000" pitchFamily="18" charset="-128"/>
                </a:rPr>
                <a:t>[2]</a:t>
              </a:r>
            </a:p>
            <a:p>
              <a:r>
                <a:rPr lang="ja-JP" altLang="en-US" sz="2800">
                  <a:latin typeface="UD デジタル 教科書体 NK-R" panose="02020400000000000000" pitchFamily="18" charset="-128"/>
                  <a:ea typeface="UD デジタル 教科書体 NK-R" panose="02020400000000000000" pitchFamily="18" charset="-128"/>
                </a:rPr>
                <a:t>目的</a:t>
              </a:r>
              <a:endParaRPr lang="en-US" altLang="ja-JP" sz="2800" dirty="0">
                <a:latin typeface="UD デジタル 教科書体 NK-R" panose="02020400000000000000" pitchFamily="18" charset="-128"/>
                <a:ea typeface="UD デジタル 教科書体 NK-R" panose="02020400000000000000" pitchFamily="18" charset="-128"/>
              </a:endParaRPr>
            </a:p>
            <a:p>
              <a:pPr marL="457200" indent="-457200">
                <a:buFont typeface="Arial" panose="020B0604020202020204" pitchFamily="34" charset="0"/>
                <a:buChar char="•"/>
              </a:pPr>
              <a:r>
                <a:rPr lang="ja-JP" altLang="en-US" sz="2800" spc="-100">
                  <a:latin typeface="UD デジタル 教科書体 NK-R" panose="02020400000000000000" pitchFamily="18" charset="-128"/>
                  <a:ea typeface="UD デジタル 教科書体 NK-R" panose="02020400000000000000" pitchFamily="18" charset="-128"/>
                </a:rPr>
                <a:t>大喜利生成</a:t>
              </a:r>
              <a:r>
                <a:rPr lang="en-US" altLang="ja-JP" sz="2800" spc="-100" dirty="0">
                  <a:latin typeface="UD デジタル 教科書体 NK-R" panose="02020400000000000000" pitchFamily="18" charset="-128"/>
                  <a:ea typeface="UD デジタル 教科書体 NK-R" panose="02020400000000000000" pitchFamily="18" charset="-128"/>
                </a:rPr>
                <a:t>AI</a:t>
              </a:r>
              <a:r>
                <a:rPr lang="ja-JP" altLang="en-US" sz="2800" spc="-100">
                  <a:latin typeface="UD デジタル 教科書体 NK-R" panose="02020400000000000000" pitchFamily="18" charset="-128"/>
                  <a:ea typeface="UD デジタル 教科書体 NK-R" panose="02020400000000000000" pitchFamily="18" charset="-128"/>
                </a:rPr>
                <a:t>の画像の特徴抽出機として適した</a:t>
              </a:r>
              <a:r>
                <a:rPr lang="en-US" altLang="ja-JP" sz="2800" spc="-100" dirty="0" err="1">
                  <a:latin typeface="UD デジタル 教科書体 NK-R" panose="02020400000000000000" pitchFamily="18" charset="-128"/>
                  <a:ea typeface="UD デジタル 教科書体 NK-R" panose="02020400000000000000" pitchFamily="18" charset="-128"/>
                </a:rPr>
                <a:t>AutoEncoder</a:t>
              </a:r>
              <a:r>
                <a:rPr lang="ja-JP" altLang="en-US" sz="2800" spc="-100">
                  <a:latin typeface="UD デジタル 教科書体 NK-R" panose="02020400000000000000" pitchFamily="18" charset="-128"/>
                  <a:ea typeface="UD デジタル 教科書体 NK-R" panose="02020400000000000000" pitchFamily="18" charset="-128"/>
                </a:rPr>
                <a:t>の構造を模索する</a:t>
              </a:r>
              <a:endParaRPr lang="ja-JP" altLang="en-US" sz="2800" spc="-100" dirty="0">
                <a:latin typeface="UD デジタル 教科書体 NK-R" panose="02020400000000000000" pitchFamily="18" charset="-128"/>
                <a:ea typeface="UD デジタル 教科書体 NK-R" panose="02020400000000000000" pitchFamily="18" charset="-128"/>
              </a:endParaRPr>
            </a:p>
          </p:txBody>
        </p:sp>
      </p:grpSp>
      <p:grpSp>
        <p:nvGrpSpPr>
          <p:cNvPr id="8" name="グループ化 7">
            <a:extLst>
              <a:ext uri="{FF2B5EF4-FFF2-40B4-BE49-F238E27FC236}">
                <a16:creationId xmlns:a16="http://schemas.microsoft.com/office/drawing/2014/main" id="{D217D156-E69B-2BDF-A462-41E6CA149116}"/>
              </a:ext>
            </a:extLst>
          </p:cNvPr>
          <p:cNvGrpSpPr/>
          <p:nvPr/>
        </p:nvGrpSpPr>
        <p:grpSpPr>
          <a:xfrm>
            <a:off x="885984" y="-73015"/>
            <a:ext cx="28346400" cy="1683875"/>
            <a:chOff x="946944" y="353705"/>
            <a:chExt cx="28346400" cy="1683875"/>
          </a:xfrm>
        </p:grpSpPr>
        <p:sp>
          <p:nvSpPr>
            <p:cNvPr id="6" name="テキスト ボックス 5">
              <a:extLst>
                <a:ext uri="{FF2B5EF4-FFF2-40B4-BE49-F238E27FC236}">
                  <a16:creationId xmlns:a16="http://schemas.microsoft.com/office/drawing/2014/main" id="{D0F93D02-78A6-D657-0BA1-CF2B85B44883}"/>
                </a:ext>
              </a:extLst>
            </p:cNvPr>
            <p:cNvSpPr txBox="1"/>
            <p:nvPr/>
          </p:nvSpPr>
          <p:spPr>
            <a:xfrm>
              <a:off x="946944" y="353705"/>
              <a:ext cx="28346400" cy="830997"/>
            </a:xfrm>
            <a:prstGeom prst="rect">
              <a:avLst/>
            </a:prstGeom>
            <a:noFill/>
          </p:spPr>
          <p:txBody>
            <a:bodyPr wrap="square">
              <a:spAutoFit/>
            </a:bodyPr>
            <a:lstStyle/>
            <a:p>
              <a:pPr algn="ctr"/>
              <a:r>
                <a:rPr kumimoji="1" lang="ja-JP" altLang="en-US" sz="4800">
                  <a:latin typeface="UD デジタル 教科書体 NK-R" panose="02020400000000000000" pitchFamily="18" charset="-128"/>
                  <a:ea typeface="UD デジタル 教科書体 NK-R" panose="02020400000000000000" pitchFamily="18" charset="-128"/>
                </a:rPr>
                <a:t>大喜利生成</a:t>
              </a:r>
              <a:r>
                <a:rPr kumimoji="1" lang="en-US" altLang="ja-JP" sz="4800" dirty="0">
                  <a:latin typeface="UD デジタル 教科書体 NK-R" panose="02020400000000000000" pitchFamily="18" charset="-128"/>
                  <a:ea typeface="UD デジタル 教科書体 NK-R" panose="02020400000000000000" pitchFamily="18" charset="-128"/>
                </a:rPr>
                <a:t>AI</a:t>
              </a:r>
              <a:r>
                <a:rPr kumimoji="1" lang="ja-JP" altLang="en-US" sz="4800">
                  <a:latin typeface="UD デジタル 教科書体 NK-R" panose="02020400000000000000" pitchFamily="18" charset="-128"/>
                  <a:ea typeface="UD デジタル 教科書体 NK-R" panose="02020400000000000000" pitchFamily="18" charset="-128"/>
                </a:rPr>
                <a:t>に適した</a:t>
              </a:r>
              <a:r>
                <a:rPr kumimoji="1" lang="en-US" altLang="ja-JP" sz="4800" dirty="0" err="1">
                  <a:latin typeface="UD デジタル 教科書体 NK-R" panose="02020400000000000000" pitchFamily="18" charset="-128"/>
                  <a:ea typeface="UD デジタル 教科書体 NK-R" panose="02020400000000000000" pitchFamily="18" charset="-128"/>
                </a:rPr>
                <a:t>AutoEncoder</a:t>
              </a:r>
              <a:r>
                <a:rPr kumimoji="1" lang="ja-JP" altLang="en-US" sz="4800">
                  <a:latin typeface="UD デジタル 教科書体 NK-R" panose="02020400000000000000" pitchFamily="18" charset="-128"/>
                  <a:ea typeface="UD デジタル 教科書体 NK-R" panose="02020400000000000000" pitchFamily="18" charset="-128"/>
                </a:rPr>
                <a:t>に関する研究</a:t>
              </a:r>
              <a:endParaRPr lang="ja-JP" altLang="en-US" sz="48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078920E-DE64-22FA-4A80-4CD39FAE4327}"/>
                    </a:ext>
                  </a:extLst>
                </p:cNvPr>
                <p:cNvSpPr txBox="1"/>
                <p:nvPr/>
              </p:nvSpPr>
              <p:spPr>
                <a:xfrm>
                  <a:off x="946944" y="1193246"/>
                  <a:ext cx="28346400" cy="844334"/>
                </a:xfrm>
                <a:prstGeom prst="rect">
                  <a:avLst/>
                </a:prstGeom>
                <a:noFill/>
              </p:spPr>
              <p:txBody>
                <a:bodyPr wrap="square">
                  <a:spAutoFit/>
                </a:bodyPr>
                <a:lstStyle/>
                <a:p>
                  <a:pPr algn="ctr"/>
                  <a:r>
                    <a:rPr kumimoji="1" lang="ja-JP" altLang="en-US" sz="4800" dirty="0">
                      <a:latin typeface="UD デジタル 教科書体 NK-R" panose="02020400000000000000" pitchFamily="18" charset="-128"/>
                      <a:ea typeface="UD デジタル 教科書体 NK-R" panose="02020400000000000000" pitchFamily="18" charset="-128"/>
                    </a:rPr>
                    <a:t>〇山富 龍</a:t>
                  </a:r>
                  <a14:m>
                    <m:oMath xmlns:m="http://schemas.openxmlformats.org/officeDocument/2006/math">
                      <m:sSup>
                        <m:sSupPr>
                          <m:ctrlPr>
                            <a:rPr kumimoji="1" lang="en-US" altLang="ja-JP" sz="4800" i="1" dirty="0" smtClean="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b="0" i="1" dirty="0" smtClean="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マハブービ シェヘラザード</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二宮 洋</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湘南工科大学</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p>
              </p:txBody>
            </p:sp>
          </mc:Choice>
          <mc:Fallback xmlns="">
            <p:sp>
              <p:nvSpPr>
                <p:cNvPr id="7" name="テキスト ボックス 6">
                  <a:extLst>
                    <a:ext uri="{FF2B5EF4-FFF2-40B4-BE49-F238E27FC236}">
                      <a16:creationId xmlns:a16="http://schemas.microsoft.com/office/drawing/2014/main" id="{9078920E-DE64-22FA-4A80-4CD39FAE4327}"/>
                    </a:ext>
                  </a:extLst>
                </p:cNvPr>
                <p:cNvSpPr txBox="1">
                  <a:spLocks noRot="1" noChangeAspect="1" noMove="1" noResize="1" noEditPoints="1" noAdjustHandles="1" noChangeArrowheads="1" noChangeShapeType="1" noTextEdit="1"/>
                </p:cNvSpPr>
                <p:nvPr/>
              </p:nvSpPr>
              <p:spPr>
                <a:xfrm>
                  <a:off x="946944" y="1193246"/>
                  <a:ext cx="28346400" cy="844334"/>
                </a:xfrm>
                <a:prstGeom prst="rect">
                  <a:avLst/>
                </a:prstGeom>
                <a:blipFill>
                  <a:blip r:embed="rId3"/>
                  <a:stretch>
                    <a:fillRect t="-15217" b="-37681"/>
                  </a:stretch>
                </a:blipFill>
              </p:spPr>
              <p:txBody>
                <a:bodyPr/>
                <a:lstStyle/>
                <a:p>
                  <a:r>
                    <a:rPr lang="ja-JP" altLang="en-US">
                      <a:noFill/>
                    </a:rPr>
                    <a:t> </a:t>
                  </a:r>
                </a:p>
              </p:txBody>
            </p:sp>
          </mc:Fallback>
        </mc:AlternateContent>
      </p:grpSp>
      <p:grpSp>
        <p:nvGrpSpPr>
          <p:cNvPr id="29" name="グループ化 28">
            <a:extLst>
              <a:ext uri="{FF2B5EF4-FFF2-40B4-BE49-F238E27FC236}">
                <a16:creationId xmlns:a16="http://schemas.microsoft.com/office/drawing/2014/main" id="{CE582D28-B8C7-184A-8907-3F8DB7980B3A}"/>
              </a:ext>
            </a:extLst>
          </p:cNvPr>
          <p:cNvGrpSpPr/>
          <p:nvPr/>
        </p:nvGrpSpPr>
        <p:grpSpPr>
          <a:xfrm>
            <a:off x="212937" y="5750285"/>
            <a:ext cx="14760000" cy="10950880"/>
            <a:chOff x="191499" y="4380114"/>
            <a:chExt cx="14760000" cy="10950880"/>
          </a:xfrm>
        </p:grpSpPr>
        <p:sp>
          <p:nvSpPr>
            <p:cNvPr id="30" name="四角形: 角を丸くする 29">
              <a:extLst>
                <a:ext uri="{FF2B5EF4-FFF2-40B4-BE49-F238E27FC236}">
                  <a16:creationId xmlns:a16="http://schemas.microsoft.com/office/drawing/2014/main" id="{3337E6AE-FD4C-7BA6-9BB0-42A2F8FA8691}"/>
                </a:ext>
              </a:extLst>
            </p:cNvPr>
            <p:cNvSpPr/>
            <p:nvPr/>
          </p:nvSpPr>
          <p:spPr>
            <a:xfrm>
              <a:off x="191499" y="4755866"/>
              <a:ext cx="14760000" cy="10469908"/>
            </a:xfrm>
            <a:prstGeom prst="roundRect">
              <a:avLst>
                <a:gd name="adj" fmla="val 245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31" name="四角形: 角を丸くする 30">
              <a:extLst>
                <a:ext uri="{FF2B5EF4-FFF2-40B4-BE49-F238E27FC236}">
                  <a16:creationId xmlns:a16="http://schemas.microsoft.com/office/drawing/2014/main" id="{946408B4-3F6B-5E5B-91E5-DE0AC41DEBB8}"/>
                </a:ext>
              </a:extLst>
            </p:cNvPr>
            <p:cNvSpPr/>
            <p:nvPr/>
          </p:nvSpPr>
          <p:spPr>
            <a:xfrm>
              <a:off x="506889" y="4380114"/>
              <a:ext cx="7158348" cy="768330"/>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画像キャプションモデル</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[3]</a:t>
              </a:r>
            </a:p>
          </p:txBody>
        </p: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7D06BDE7-BADC-0589-E24F-85B1071B5196}"/>
                    </a:ext>
                  </a:extLst>
                </p:cNvPr>
                <p:cNvSpPr txBox="1"/>
                <p:nvPr/>
              </p:nvSpPr>
              <p:spPr>
                <a:xfrm>
                  <a:off x="318217" y="5759143"/>
                  <a:ext cx="14633281" cy="9571851"/>
                </a:xfrm>
                <a:prstGeom prst="rect">
                  <a:avLst/>
                </a:prstGeom>
                <a:noFill/>
              </p:spPr>
              <p:txBody>
                <a:bodyPr wrap="square">
                  <a:spAutoFit/>
                </a:bodyPr>
                <a:lstStyle/>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画像</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𝑤</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文章の</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番目の単語</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𝑟</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時点の内部状態</a:t>
                  </a:r>
                  <a:endParaRPr kumimoji="1" lang="en-US" altLang="ja-JP" sz="2800" dirty="0">
                    <a:latin typeface="UD Digi Kyokasho NK-R" panose="02020400000000000000" pitchFamily="18" charset="-128"/>
                    <a:ea typeface="UD Digi Kyokasho NK-R" panose="02020400000000000000" pitchFamily="18" charset="-128"/>
                  </a:endParaRPr>
                </a:p>
                <a:p>
                  <a:pPr lvl="1"/>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spc="-100">
                      <a:solidFill>
                        <a:srgbClr val="FF0000"/>
                      </a:solidFill>
                      <a:latin typeface="UD Digi Kyokasho NK-R" panose="02020400000000000000" pitchFamily="18" charset="-128"/>
                      <a:ea typeface="UD Digi Kyokasho NK-R" panose="02020400000000000000" pitchFamily="18" charset="-128"/>
                    </a:rPr>
                    <a:t>画像のエンコーダ</a:t>
                  </a:r>
                  <a:r>
                    <a:rPr kumimoji="1" lang="ja-JP" altLang="en-US" sz="2800" spc="-100">
                      <a:latin typeface="UD Digi Kyokasho NK-R" panose="02020400000000000000" pitchFamily="18" charset="-128"/>
                      <a:ea typeface="UD Digi Kyokasho NK-R" panose="02020400000000000000" pitchFamily="18" charset="-128"/>
                    </a:rPr>
                    <a:t>として事前学習済みの画像認識モデルが一般的に使用される</a:t>
                  </a:r>
                  <a:endParaRPr kumimoji="1" lang="en-US" altLang="ja-JP" sz="2800" spc="-100" dirty="0">
                    <a:latin typeface="UD Digi Kyokasho NK-R" panose="02020400000000000000" pitchFamily="18" charset="-128"/>
                    <a:ea typeface="UD Digi Kyokasho NK-R" panose="02020400000000000000" pitchFamily="18" charset="-128"/>
                  </a:endParaRPr>
                </a:p>
                <a:p>
                  <a:pPr lvl="1"/>
                  <a:r>
                    <a:rPr kumimoji="1" lang="ja-JP" altLang="en-US" sz="2800" spc="-100">
                      <a:latin typeface="UD Digi Kyokasho NK-R" panose="02020400000000000000" pitchFamily="18" charset="-128"/>
                      <a:ea typeface="UD Digi Kyokasho NK-R" panose="02020400000000000000" pitchFamily="18" charset="-128"/>
                    </a:rPr>
                    <a:t>メリット</a:t>
                  </a:r>
                  <a:endParaRPr kumimoji="1" lang="en-US" altLang="ja-JP" sz="2800" spc="-1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画像のエンコーダを学習しないため，計算コストが低い</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en-US" altLang="ja-JP" sz="2800" dirty="0">
                      <a:latin typeface="UD Digi Kyokasho NK-R" panose="02020400000000000000" pitchFamily="18" charset="-128"/>
                      <a:ea typeface="UD Digi Kyokasho NK-R" panose="02020400000000000000" pitchFamily="18" charset="-128"/>
                    </a:rPr>
                    <a:t>ImageNet</a:t>
                  </a:r>
                  <a:r>
                    <a:rPr kumimoji="1" lang="ja-JP" altLang="en-US" sz="2800">
                      <a:latin typeface="UD Digi Kyokasho NK-R" panose="02020400000000000000" pitchFamily="18" charset="-128"/>
                      <a:ea typeface="UD Digi Kyokasho NK-R" panose="02020400000000000000" pitchFamily="18" charset="-128"/>
                    </a:rPr>
                    <a:t>のような大規模なデータで学習しており，　　　　　　　　　　　　　　　　　　　　　　　　　　　　　幅広い種類の画像に対応できることが期待できる</a:t>
                  </a:r>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a:latin typeface="UD Digi Kyokasho NK-R" panose="02020400000000000000" pitchFamily="18" charset="-128"/>
                      <a:ea typeface="UD Digi Kyokasho NK-R" panose="02020400000000000000" pitchFamily="18" charset="-128"/>
                    </a:rPr>
                    <a:t>デメリット</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事前学習済みモデルの再学習には画像に対する</a:t>
                  </a:r>
                  <a:r>
                    <a:rPr kumimoji="1" lang="ja-JP" altLang="en-US" sz="2800">
                      <a:solidFill>
                        <a:srgbClr val="00B0F0"/>
                      </a:solidFill>
                      <a:latin typeface="UD Digi Kyokasho NK-R" panose="02020400000000000000" pitchFamily="18" charset="-128"/>
                      <a:ea typeface="UD Digi Kyokasho NK-R" panose="02020400000000000000" pitchFamily="18" charset="-128"/>
                    </a:rPr>
                    <a:t>アノテーションが必要</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ja-JP" altLang="en-US" sz="2800">
                      <a:solidFill>
                        <a:srgbClr val="00B0F0"/>
                      </a:solidFill>
                      <a:latin typeface="UD Digi Kyokasho NK-R" panose="02020400000000000000" pitchFamily="18" charset="-128"/>
                      <a:ea typeface="UD Digi Kyokasho NK-R" panose="02020400000000000000" pitchFamily="18" charset="-128"/>
                    </a:rPr>
                    <a:t>パラメータ数が膨大</a:t>
                  </a:r>
                  <a:r>
                    <a:rPr kumimoji="1" lang="ja-JP" altLang="en-US" sz="2800">
                      <a:latin typeface="UD Digi Kyokasho NK-R" panose="02020400000000000000" pitchFamily="18" charset="-128"/>
                      <a:ea typeface="UD Digi Kyokasho NK-R" panose="02020400000000000000" pitchFamily="18" charset="-128"/>
                    </a:rPr>
                    <a:t>かつ</a:t>
                  </a:r>
                  <a:r>
                    <a:rPr kumimoji="1" lang="en-US" altLang="ja-JP" sz="2800" dirty="0">
                      <a:latin typeface="UD Digi Kyokasho NK-R" panose="02020400000000000000" pitchFamily="18" charset="-128"/>
                      <a:ea typeface="UD Digi Kyokasho NK-R" panose="02020400000000000000" pitchFamily="18" charset="-128"/>
                    </a:rPr>
                    <a:t>, </a:t>
                  </a:r>
                  <a:r>
                    <a:rPr kumimoji="1" lang="ja-JP" altLang="en-US" sz="2800">
                      <a:latin typeface="UD Digi Kyokasho NK-R" panose="02020400000000000000" pitchFamily="18" charset="-128"/>
                      <a:ea typeface="UD Digi Kyokasho NK-R" panose="02020400000000000000" pitchFamily="18" charset="-128"/>
                    </a:rPr>
                    <a:t>任意に</a:t>
                  </a:r>
                  <a:r>
                    <a:rPr kumimoji="1" lang="ja-JP" altLang="en-US" sz="2800">
                      <a:solidFill>
                        <a:srgbClr val="00B0F0"/>
                      </a:solidFill>
                      <a:latin typeface="UD Digi Kyokasho NK-R" panose="02020400000000000000" pitchFamily="18" charset="-128"/>
                      <a:ea typeface="UD Digi Kyokasho NK-R" panose="02020400000000000000" pitchFamily="18" charset="-128"/>
                    </a:rPr>
                    <a:t>構造を変更できない</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p:txBody>
            </p:sp>
          </mc:Choice>
          <mc:Fallback xmlns="">
            <p:sp>
              <p:nvSpPr>
                <p:cNvPr id="32" name="テキスト ボックス 31">
                  <a:extLst>
                    <a:ext uri="{FF2B5EF4-FFF2-40B4-BE49-F238E27FC236}">
                      <a16:creationId xmlns:a16="http://schemas.microsoft.com/office/drawing/2014/main" id="{7D06BDE7-BADC-0589-E24F-85B1071B5196}"/>
                    </a:ext>
                  </a:extLst>
                </p:cNvPr>
                <p:cNvSpPr txBox="1">
                  <a:spLocks noRot="1" noChangeAspect="1" noMove="1" noResize="1" noEditPoints="1" noAdjustHandles="1" noChangeArrowheads="1" noChangeShapeType="1" noTextEdit="1"/>
                </p:cNvSpPr>
                <p:nvPr/>
              </p:nvSpPr>
              <p:spPr>
                <a:xfrm>
                  <a:off x="318217" y="5759143"/>
                  <a:ext cx="14633281" cy="9571851"/>
                </a:xfrm>
                <a:prstGeom prst="rect">
                  <a:avLst/>
                </a:prstGeom>
                <a:blipFill>
                  <a:blip r:embed="rId4"/>
                  <a:stretch>
                    <a:fillRect b="-795"/>
                  </a:stretch>
                </a:blipFill>
              </p:spPr>
              <p:txBody>
                <a:bodyPr/>
                <a:lstStyle/>
                <a:p>
                  <a:r>
                    <a:rPr lang="ja-JP" altLang="en-US">
                      <a:noFill/>
                    </a:rPr>
                    <a:t> </a:t>
                  </a:r>
                </a:p>
              </p:txBody>
            </p:sp>
          </mc:Fallback>
        </mc:AlternateContent>
      </p:grpSp>
      <p:grpSp>
        <p:nvGrpSpPr>
          <p:cNvPr id="34" name="グループ化 33">
            <a:extLst>
              <a:ext uri="{FF2B5EF4-FFF2-40B4-BE49-F238E27FC236}">
                <a16:creationId xmlns:a16="http://schemas.microsoft.com/office/drawing/2014/main" id="{C7FB90F9-473B-DBE3-6A8B-8777B7E770FE}"/>
              </a:ext>
            </a:extLst>
          </p:cNvPr>
          <p:cNvGrpSpPr/>
          <p:nvPr/>
        </p:nvGrpSpPr>
        <p:grpSpPr>
          <a:xfrm>
            <a:off x="15242062" y="1551208"/>
            <a:ext cx="14760000" cy="38726405"/>
            <a:chOff x="232568" y="5248316"/>
            <a:chExt cx="14760000" cy="38726405"/>
          </a:xfrm>
        </p:grpSpPr>
        <p:sp>
          <p:nvSpPr>
            <p:cNvPr id="35" name="四角形: 角を丸くする 34">
              <a:extLst>
                <a:ext uri="{FF2B5EF4-FFF2-40B4-BE49-F238E27FC236}">
                  <a16:creationId xmlns:a16="http://schemas.microsoft.com/office/drawing/2014/main" id="{47EECEA1-1146-F75F-B958-C642FAF77E57}"/>
                </a:ext>
              </a:extLst>
            </p:cNvPr>
            <p:cNvSpPr/>
            <p:nvPr/>
          </p:nvSpPr>
          <p:spPr>
            <a:xfrm>
              <a:off x="232568" y="5607879"/>
              <a:ext cx="14760000" cy="38366842"/>
            </a:xfrm>
            <a:prstGeom prst="roundRect">
              <a:avLst>
                <a:gd name="adj" fmla="val 994"/>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36" name="四角形: 角を丸くする 35">
              <a:extLst>
                <a:ext uri="{FF2B5EF4-FFF2-40B4-BE49-F238E27FC236}">
                  <a16:creationId xmlns:a16="http://schemas.microsoft.com/office/drawing/2014/main" id="{7F035820-E432-DA19-702C-74373820AD4B}"/>
                </a:ext>
              </a:extLst>
            </p:cNvPr>
            <p:cNvSpPr/>
            <p:nvPr/>
          </p:nvSpPr>
          <p:spPr>
            <a:xfrm>
              <a:off x="506888" y="5248316"/>
              <a:ext cx="1528972" cy="797856"/>
            </a:xfrm>
            <a:prstGeom prst="roundRect">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実験</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3CBE4EA-6A45-2DF9-9C9B-750731A73354}"/>
                    </a:ext>
                  </a:extLst>
                </p:cNvPr>
                <p:cNvSpPr txBox="1"/>
                <p:nvPr/>
              </p:nvSpPr>
              <p:spPr>
                <a:xfrm>
                  <a:off x="350132" y="6188617"/>
                  <a:ext cx="14499166" cy="34635828"/>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実験目的</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で使用されている</a:t>
                  </a:r>
                  <a:r>
                    <a:rPr lang="en-US" altLang="ja-JP" sz="2800" dirty="0">
                      <a:latin typeface="UD デジタル 教科書体 NK-R" panose="02020400000000000000" pitchFamily="18" charset="-128"/>
                      <a:ea typeface="UD デジタル 教科書体 NK-R" panose="02020400000000000000" pitchFamily="18" charset="-128"/>
                    </a:rPr>
                    <a:t>ResNet152</a:t>
                  </a:r>
                  <a:r>
                    <a:rPr lang="ja-JP" altLang="en-US" sz="2800">
                      <a:latin typeface="UD デジタル 教科書体 NK-R" panose="02020400000000000000" pitchFamily="18" charset="-128"/>
                      <a:ea typeface="UD デジタル 教科書体 NK-R" panose="02020400000000000000" pitchFamily="18" charset="-128"/>
                    </a:rPr>
                    <a:t>のパラメータ数</a:t>
                  </a:r>
                  <a:r>
                    <a:rPr lang="en-US" altLang="ja-JP" sz="2800" dirty="0">
                      <a:latin typeface="UD デジタル 教科書体 NK-R" panose="02020400000000000000" pitchFamily="18" charset="-128"/>
                      <a:ea typeface="UD デジタル 教科書体 NK-R" panose="02020400000000000000" pitchFamily="18" charset="-128"/>
                    </a:rPr>
                    <a:t>58,370,944</a:t>
                  </a:r>
                  <a:r>
                    <a:rPr lang="ja-JP" altLang="en-US" sz="2800">
                      <a:latin typeface="UD デジタル 教科書体 NK-R" panose="02020400000000000000" pitchFamily="18" charset="-128"/>
                      <a:ea typeface="UD デジタル 教科書体 NK-R" panose="02020400000000000000" pitchFamily="18" charset="-128"/>
                    </a:rPr>
                    <a:t>よりパラメータ数が少なく，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高性能な</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のエンコーダを模索</a:t>
                  </a:r>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 : </a:t>
                  </a:r>
                  <a:r>
                    <a:rPr lang="ja-JP" altLang="en-US" sz="2800">
                      <a:latin typeface="UD デジタル 教科書体 NK-R" panose="02020400000000000000" pitchFamily="18" charset="-128"/>
                      <a:ea typeface="UD デジタル 教科書体 NK-R" panose="02020400000000000000" pitchFamily="18" charset="-128"/>
                    </a:rPr>
                    <a:t>畳み込み層の数を変更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ネットワークの初期値を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 </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特徴量次元数</a:t>
                  </a:r>
                  <a:r>
                    <a:rPr lang="en-US" altLang="ja-JP" sz="2800" dirty="0">
                      <a:latin typeface="UD デジタル 教科書体 NK-R" panose="02020400000000000000" pitchFamily="18" charset="-128"/>
                      <a:ea typeface="UD デジタル 教科書体 NK-R" panose="02020400000000000000" pitchFamily="18" charset="-128"/>
                    </a:rPr>
                    <a:t> : 2048</a:t>
                  </a:r>
                </a:p>
                <a:p>
                  <a:pPr lvl="1"/>
                  <a:r>
                    <a:rPr lang="ja-JP" altLang="en-US" sz="2800" spc="-100">
                      <a:latin typeface="UD デジタル 教科書体 NK-R" panose="02020400000000000000" pitchFamily="18" charset="-128"/>
                      <a:ea typeface="UD デジタル 教科書体 NK-R" panose="02020400000000000000" pitchFamily="18" charset="-128"/>
                    </a:rPr>
                    <a:t>フィルター数</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pc="-100" smtClean="0">
                              <a:latin typeface="Cambria Math" panose="02040503050406030204" pitchFamily="18" charset="0"/>
                              <a:ea typeface="UD デジタル 教科書体 NK-R" panose="02020400000000000000" pitchFamily="18" charset="-128"/>
                            </a:rPr>
                          </m:ctrlPr>
                        </m:sSupPr>
                        <m:e>
                          <m:r>
                            <a:rPr lang="en-US" altLang="ja-JP" sz="2800" b="0" i="1" spc="-100" smtClean="0">
                              <a:latin typeface="Cambria Math" panose="02040503050406030204" pitchFamily="18" charset="0"/>
                              <a:ea typeface="UD デジタル 教科書体 NK-R" panose="02020400000000000000" pitchFamily="18" charset="-128"/>
                            </a:rPr>
                            <m:t>2</m:t>
                          </m:r>
                        </m:e>
                        <m:sup>
                          <m:r>
                            <a:rPr lang="en-US" altLang="ja-JP" sz="2800" b="0" i="1" spc="-100" smtClean="0">
                              <a:latin typeface="Cambria Math" panose="02040503050406030204" pitchFamily="18" charset="0"/>
                              <a:ea typeface="UD デジタル 教科書体 NK-R" panose="02020400000000000000" pitchFamily="18" charset="-128"/>
                            </a:rPr>
                            <m:t>5+</m:t>
                          </m:r>
                          <m:r>
                            <a:rPr lang="en-US" altLang="ja-JP" sz="2800" b="0" i="1" spc="-100" smtClean="0">
                              <a:latin typeface="Cambria Math" panose="02040503050406030204" pitchFamily="18" charset="0"/>
                              <a:ea typeface="UD デジタル 教科書体 NK-R" panose="02020400000000000000" pitchFamily="18" charset="-128"/>
                            </a:rPr>
                            <m:t>𝐿</m:t>
                          </m:r>
                        </m:sup>
                      </m:sSup>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カーネルサイズ</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3</m:t>
                      </m:r>
                      <m:r>
                        <a:rPr lang="en-US" altLang="ja-JP" sz="2800" b="0" i="1" spc="-100" smtClean="0">
                          <a:latin typeface="Cambria Math" panose="02040503050406030204" pitchFamily="18" charset="0"/>
                          <a:ea typeface="Cambria Math" panose="02040503050406030204" pitchFamily="18" charset="0"/>
                        </a:rPr>
                        <m:t>×3</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ストライド</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2</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活性化関数</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𝐿𝑒𝑎𝑘𝑦𝑅𝑒𝐿𝑈</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spc="-100">
                          <a:latin typeface="Cambria Math" panose="02040503050406030204" pitchFamily="18" charset="0"/>
                          <a:ea typeface="UD デジタル 教科書体 NK-R" panose="02020400000000000000" pitchFamily="18" charset="-128"/>
                        </a:rPr>
                        <m:t>𝐿</m:t>
                      </m:r>
                    </m:oMath>
                  </a14:m>
                  <a:r>
                    <a:rPr lang="en-US" altLang="ja-JP" sz="2800" spc="-100" dirty="0">
                      <a:latin typeface="UD デジタル 教科書体 NK-R" panose="02020400000000000000" pitchFamily="18" charset="-128"/>
                      <a:ea typeface="UD デジタル 教科書体 NK-R" panose="02020400000000000000" pitchFamily="18" charset="-128"/>
                    </a:rPr>
                    <a:t> : </a:t>
                  </a:r>
                  <a:r>
                    <a:rPr lang="ja-JP" altLang="en-US" sz="2800" spc="-100">
                      <a:latin typeface="UD デジタル 教科書体 NK-R" panose="02020400000000000000" pitchFamily="18" charset="-128"/>
                      <a:ea typeface="UD デジタル 教科書体 NK-R" panose="02020400000000000000" pitchFamily="18" charset="-128"/>
                    </a:rPr>
                    <a:t>層番号</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　検証誤差を比較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 : </a:t>
                  </a:r>
                  <a:r>
                    <a:rPr lang="ja-JP" altLang="en-US" sz="2800">
                      <a:latin typeface="UD デジタル 教科書体 NK-R" panose="02020400000000000000" pitchFamily="18" charset="-128"/>
                      <a:ea typeface="UD デジタル 教科書体 NK-R" panose="02020400000000000000" pitchFamily="18" charset="-128"/>
                    </a:rPr>
                    <a:t>特徴量の次元数を変更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ネットワークの初期値を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畳み込み層の数</a:t>
                  </a:r>
                  <a:r>
                    <a:rPr lang="en-US" altLang="ja-JP" sz="2800" dirty="0">
                      <a:latin typeface="UD デジタル 教科書体 NK-R" panose="02020400000000000000" pitchFamily="18" charset="-128"/>
                      <a:ea typeface="UD デジタル 教科書体 NK-R" panose="02020400000000000000" pitchFamily="18" charset="-128"/>
                    </a:rPr>
                    <a:t> : 5</a:t>
                  </a:r>
                  <a:r>
                    <a:rPr lang="ja-JP" altLang="en-US" sz="2800">
                      <a:latin typeface="UD デジタル 教科書体 NK-R" panose="02020400000000000000" pitchFamily="18" charset="-128"/>
                      <a:ea typeface="UD デジタル 教科書体 NK-R" panose="02020400000000000000" pitchFamily="18" charset="-128"/>
                    </a:rPr>
                    <a:t>層</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　検証誤差・</a:t>
                  </a:r>
                  <a:r>
                    <a:rPr lang="en-US" altLang="ja-JP" sz="2800" dirty="0">
                      <a:latin typeface="UD デジタル 教科書体 NK-R" panose="02020400000000000000" pitchFamily="18" charset="-128"/>
                      <a:ea typeface="UD デジタル 教科書体 NK-R" panose="02020400000000000000" pitchFamily="18" charset="-128"/>
                    </a:rPr>
                    <a:t> FID</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err="1">
                      <a:latin typeface="UD デジタル 教科書体 NK-R" panose="02020400000000000000" pitchFamily="18" charset="-128"/>
                      <a:ea typeface="UD デジタル 教科書体 NK-R" panose="02020400000000000000" pitchFamily="18" charset="-128"/>
                    </a:rPr>
                    <a:t>Frechet</a:t>
                  </a:r>
                  <a:r>
                    <a:rPr lang="en-US" altLang="ja-JP" sz="2800" dirty="0">
                      <a:latin typeface="UD デジタル 教科書体 NK-R" panose="02020400000000000000" pitchFamily="18" charset="-128"/>
                      <a:ea typeface="UD デジタル 教科書体 NK-R" panose="02020400000000000000" pitchFamily="18" charset="-128"/>
                    </a:rPr>
                    <a:t> Inception Distance(FID)[5]</a:t>
                  </a:r>
                </a:p>
                <a:p>
                  <a:pPr lvl="2"/>
                  <a:r>
                    <a:rPr lang="ja-JP" altLang="en-US" sz="2800">
                      <a:latin typeface="UD デジタル 教科書体 NK-R" panose="02020400000000000000" pitchFamily="18" charset="-128"/>
                      <a:ea typeface="UD デジタル 教科書体 NK-R" panose="02020400000000000000" pitchFamily="18" charset="-128"/>
                    </a:rPr>
                    <a:t>画像群</a:t>
                  </a:r>
                  <a:r>
                    <a:rPr lang="en-US" altLang="ja-JP" sz="2800" dirty="0">
                      <a:latin typeface="UD デジタル 教科書体 NK-R" panose="02020400000000000000" pitchFamily="18" charset="-128"/>
                      <a:ea typeface="UD デジタル 教科書体 NK-R" panose="02020400000000000000" pitchFamily="18" charset="-128"/>
                    </a:rPr>
                    <a:t>A</a:t>
                  </a:r>
                  <a:r>
                    <a:rPr lang="ja-JP" altLang="en-US" sz="2800">
                      <a:latin typeface="UD デジタル 教科書体 NK-R" panose="02020400000000000000" pitchFamily="18" charset="-128"/>
                      <a:ea typeface="UD デジタル 教科書体 NK-R" panose="02020400000000000000" pitchFamily="18" charset="-128"/>
                    </a:rPr>
                    <a:t>と画像群</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の分布がどれほど近いか測る指標</a:t>
                  </a:r>
                  <a:r>
                    <a:rPr lang="en-US" altLang="ja-JP" sz="2800" dirty="0">
                      <a:latin typeface="UD デジタル 教科書体 NK-R" panose="02020400000000000000" pitchFamily="18" charset="-128"/>
                      <a:ea typeface="UD デジタル 教科書体 NK-R" panose="02020400000000000000" pitchFamily="18" charset="-128"/>
                    </a:rPr>
                    <a:t>. 0</a:t>
                  </a:r>
                  <a:r>
                    <a:rPr lang="ja-JP" altLang="en-US" sz="2800">
                      <a:latin typeface="UD デジタル 教科書体 NK-R" panose="02020400000000000000" pitchFamily="18" charset="-128"/>
                      <a:ea typeface="UD デジタル 教科書体 NK-R" panose="02020400000000000000" pitchFamily="18" charset="-128"/>
                    </a:rPr>
                    <a:t>に近ければ近いほど分布は近い</a:t>
                  </a:r>
                  <a:endParaRPr lang="en-US" altLang="ja-JP" sz="2800" dirty="0">
                    <a:latin typeface="UD デジタル 教科書体 NK-R" panose="02020400000000000000" pitchFamily="18" charset="-128"/>
                    <a:ea typeface="UD デジタル 教科書体 NK-R" panose="02020400000000000000" pitchFamily="18" charset="-128"/>
                  </a:endParaRPr>
                </a:p>
                <a:p>
                  <a:pPr lvl="2"/>
                  <a14:m>
                    <m:oMathPara xmlns:m="http://schemas.openxmlformats.org/officeDocument/2006/math">
                      <m:oMathParaPr>
                        <m:jc m:val="centerGroup"/>
                      </m:oMathParaPr>
                      <m:oMath xmlns:m="http://schemas.openxmlformats.org/officeDocument/2006/math">
                        <m:eqArr>
                          <m:eqArrPr>
                            <m:ctrlPr>
                              <a:rPr lang="en-US" altLang="ja-JP" sz="2800" i="1">
                                <a:latin typeface="Cambria Math" panose="02040503050406030204" pitchFamily="18" charset="0"/>
                                <a:ea typeface="UD Digi Kyokasho NK-R" panose="02020400000000000000" pitchFamily="18" charset="-128"/>
                              </a:rPr>
                            </m:ctrlPr>
                          </m:eqArrPr>
                          <m:e>
                            <m:m>
                              <m:mPr>
                                <m:mcs>
                                  <m:mc>
                                    <m:mcPr>
                                      <m:count m:val="1"/>
                                      <m:mcJc m:val="center"/>
                                    </m:mcPr>
                                  </m:mc>
                                </m:mcs>
                                <m:ctrlPr>
                                  <a:rPr lang="en-US" altLang="ja-JP" sz="2800" i="1">
                                    <a:latin typeface="Cambria Math" panose="02040503050406030204" pitchFamily="18" charset="0"/>
                                    <a:ea typeface="UD Digi Kyokasho NK-R" panose="02020400000000000000" pitchFamily="18" charset="-128"/>
                                  </a:rPr>
                                </m:ctrlPr>
                              </m:mPr>
                              <m:m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i="1">
                                      <a:latin typeface="Cambria Math" panose="02040503050406030204" pitchFamily="18" charset="0"/>
                                      <a:ea typeface="UD デジタル 教科書体 NK-R" panose="02020400000000000000" pitchFamily="18" charset="-128"/>
                                    </a:rPr>
                                    <m:t>(</m:t>
                                  </m:r>
                                  <m:r>
                                    <a:rPr lang="en-US" altLang="ja-JP" sz="2800" b="1">
                                      <a:latin typeface="Cambria Math" panose="02040503050406030204" pitchFamily="18" charset="0"/>
                                      <a:ea typeface="UD デジタル 教科書体 NK-R" panose="02020400000000000000" pitchFamily="18" charset="-128"/>
                                    </a:rPr>
                                    <m:t>𝐀</m:t>
                                  </m:r>
                                  <m:r>
                                    <a:rPr lang="en-US" altLang="ja-JP" sz="2800" i="1">
                                      <a:latin typeface="Cambria Math" panose="02040503050406030204" pitchFamily="18" charset="0"/>
                                      <a:ea typeface="UD デジタル 教科書体 NK-R" panose="02020400000000000000" pitchFamily="18" charset="-128"/>
                                    </a:rPr>
                                    <m:t>)</m:t>
                                  </m:r>
                                  <m:r>
                                    <m:rPr>
                                      <m:nor/>
                                    </m:rPr>
                                    <a:rPr lang="en-US" altLang="ja-JP" sz="2800" dirty="0">
                                      <a:latin typeface="UD デジタル 教科書体 NK-R" panose="02020400000000000000" pitchFamily="18" charset="-128"/>
                                      <a:ea typeface="UD デジタル 教科書体 NK-R" panose="02020400000000000000" pitchFamily="18" charset="-128"/>
                                    </a:rPr>
                                    <m:t>,</m:t>
                                  </m:r>
                                  <m:r>
                                    <m:rPr>
                                      <m:nor/>
                                    </m:rPr>
                                    <a:rPr lang="en-US" altLang="ja-JP" sz="2800" b="0" i="0" dirty="0" smtClean="0">
                                      <a:latin typeface="UD デジタル 教科書体 NK-R" panose="02020400000000000000" pitchFamily="18" charset="-128"/>
                                      <a:ea typeface="UD デジタル 教科書体 NK-R" panose="02020400000000000000" pitchFamily="18" charset="-128"/>
                                    </a:rPr>
                                    <m:t>   </m:t>
                                  </m:r>
                                  <m:r>
                                    <m:rPr>
                                      <m:nor/>
                                    </m:rPr>
                                    <a:rPr lang="en-US" altLang="ja-JP" sz="2800" dirty="0">
                                      <a:latin typeface="UD デジタル 教科書体 NK-R" panose="02020400000000000000" pitchFamily="18" charset="-128"/>
                                      <a:ea typeface="UD デジタル 教科書体 NK-R" panose="02020400000000000000" pitchFamily="18" charset="-128"/>
                                    </a:rPr>
                                    <m:t>	</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Sub>
                                  <m:r>
                                    <a:rPr lang="en-US" altLang="ja-JP" sz="2800" i="1">
                                      <a:latin typeface="Cambria Math" panose="02040503050406030204" pitchFamily="18" charset="0"/>
                                      <a:ea typeface="UD デジタル 教科書体 NK-R" panose="02020400000000000000" pitchFamily="18" charset="-128"/>
                                    </a:rPr>
                                    <m:t>=</m:t>
                                  </m:r>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i="1">
                                      <a:latin typeface="Cambria Math" panose="02040503050406030204" pitchFamily="18" charset="0"/>
                                      <a:ea typeface="UD デジタル 教科書体 NK-R" panose="02020400000000000000" pitchFamily="18" charset="-128"/>
                                    </a:rPr>
                                    <m:t>(</m:t>
                                  </m:r>
                                  <m:r>
                                    <a:rPr lang="en-US" altLang="ja-JP" sz="2800" b="1">
                                      <a:latin typeface="Cambria Math" panose="02040503050406030204" pitchFamily="18" charset="0"/>
                                      <a:ea typeface="UD デジタル 教科書体 NK-R" panose="02020400000000000000" pitchFamily="18" charset="-128"/>
                                    </a:rPr>
                                    <m:t>𝐁</m:t>
                                  </m:r>
                                  <m:r>
                                    <a:rPr lang="en-US" altLang="ja-JP" sz="2800" i="1">
                                      <a:latin typeface="Cambria Math" panose="02040503050406030204" pitchFamily="18" charset="0"/>
                                      <a:ea typeface="UD デジタル 教科書体 NK-R" panose="02020400000000000000" pitchFamily="18" charset="-128"/>
                                    </a:rPr>
                                    <m:t>)</m:t>
                                  </m:r>
                                  <m:r>
                                    <m:rPr>
                                      <m:nor/>
                                    </m:rPr>
                                    <a:rPr lang="en-US" altLang="ja-JP" sz="2800" dirty="0">
                                      <a:latin typeface="UD デジタル 教科書体 NK-R" panose="02020400000000000000" pitchFamily="18" charset="-128"/>
                                      <a:ea typeface="UD デジタル 教科書体 NK-R" panose="02020400000000000000" pitchFamily="18" charset="-128"/>
                                    </a:rPr>
                                    <m:t> </m:t>
                                  </m:r>
                                </m:e>
                              </m:mr>
                              <m:m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𝐀</m:t>
                                          </m:r>
                                        </m:e>
                                      </m:d>
                                    </m:den>
                                  </m:f>
                                  <m:r>
                                    <a:rPr lang="en-US" altLang="ja-JP" sz="2800" i="1">
                                      <a:latin typeface="Cambria Math" panose="02040503050406030204" pitchFamily="18" charset="0"/>
                                      <a:ea typeface="UD デジタル 教科書体 NK-R" panose="02020400000000000000" pitchFamily="18" charset="-128"/>
                                    </a:rPr>
                                    <m:t>𝑣</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r>
                                    <m:rPr>
                                      <m:nor/>
                                    </m:rPr>
                                    <a:rPr lang="en-US" altLang="ja-JP" sz="2800" dirty="0">
                                      <a:latin typeface="UD デジタル 教科書体 NK-R" panose="02020400000000000000" pitchFamily="18" charset="-128"/>
                                      <a:ea typeface="UD デジタル 教科書体 NK-R" panose="02020400000000000000" pitchFamily="18" charset="-128"/>
                                    </a:rPr>
                                    <m:t>,</m:t>
                                  </m:r>
                                  <m:r>
                                    <m:rPr>
                                      <m:nor/>
                                    </m:rPr>
                                    <a:rPr lang="en-US" altLang="ja-JP" sz="2800" b="0" i="0" dirty="0" smtClean="0">
                                      <a:latin typeface="UD デジタル 教科書体 NK-R" panose="02020400000000000000" pitchFamily="18" charset="-128"/>
                                      <a:ea typeface="UD デジタル 教科書体 NK-R" panose="02020400000000000000" pitchFamily="18" charset="-128"/>
                                    </a:rPr>
                                    <m:t>   </m:t>
                                  </m:r>
                                  <m:r>
                                    <m:rPr>
                                      <m:nor/>
                                    </m:rPr>
                                    <a:rPr lang="en-US" altLang="ja-JP" sz="2800" dirty="0">
                                      <a:latin typeface="UD デジタル 教科書体 NK-R" panose="02020400000000000000" pitchFamily="18" charset="-128"/>
                                      <a:ea typeface="UD デジタル 教科書体 NK-R" panose="02020400000000000000" pitchFamily="18" charset="-128"/>
                                    </a:rPr>
                                    <m:t>	</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𝐵</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𝐁</m:t>
                                          </m:r>
                                        </m:e>
                                      </m:d>
                                    </m:den>
                                  </m:f>
                                  <m:r>
                                    <a:rPr lang="en-US" altLang="ja-JP" sz="2800" i="1">
                                      <a:latin typeface="Cambria Math" panose="02040503050406030204" pitchFamily="18" charset="0"/>
                                      <a:ea typeface="UD デジタル 教科書体 NK-R" panose="02020400000000000000" pitchFamily="18" charset="-128"/>
                                    </a:rPr>
                                    <m:t>𝑣</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Sub>
                                </m:e>
                              </m:mr>
                              <m:mr>
                                <m:e>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r>
                                        <a:rPr lang="en-US" altLang="ja-JP" sz="2800" i="1">
                                          <a:latin typeface="Cambria Math" panose="02040503050406030204" pitchFamily="18" charset="0"/>
                                          <a:ea typeface="UD デジタル 教科書体 NK-R" panose="02020400000000000000" pitchFamily="18" charset="-128"/>
                                        </a:rPr>
                                        <m:t>2048</m:t>
                                      </m:r>
                                    </m:den>
                                  </m:f>
                                  <m:sSubSup>
                                    <m:sSubSupPr>
                                      <m:ctrlPr>
                                        <a:rPr lang="en-US" altLang="ja-JP" sz="2800" i="1">
                                          <a:latin typeface="Cambria Math" panose="02040503050406030204" pitchFamily="18" charset="0"/>
                                          <a:ea typeface="UD デジタル 教科書体 NK-R" panose="02020400000000000000" pitchFamily="18" charset="-128"/>
                                        </a:rPr>
                                      </m:ctrlPr>
                                    </m:sSubSup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up>
                                      <m:r>
                                        <a:rPr lang="en-US" altLang="ja-JP" sz="2800" i="1">
                                          <a:latin typeface="Cambria Math" panose="02040503050406030204" pitchFamily="18" charset="0"/>
                                          <a:ea typeface="UD デジタル 教科書体 NK-R" panose="02020400000000000000" pitchFamily="18" charset="-128"/>
                                        </a:rPr>
                                        <m:t>𝑇</m:t>
                                      </m:r>
                                    </m:sup>
                                  </m:sSubSup>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𝐴</m:t>
                                      </m:r>
                                    </m:sub>
                                  </m:sSub>
                                  <m:r>
                                    <m:rPr>
                                      <m:nor/>
                                    </m:rPr>
                                    <a:rPr lang="en-US" altLang="ja-JP" sz="2800" dirty="0">
                                      <a:latin typeface="UD デジタル 教科書体 NK-R" panose="02020400000000000000" pitchFamily="18" charset="-128"/>
                                      <a:ea typeface="UD デジタル 教科書体 NK-R" panose="02020400000000000000" pitchFamily="18" charset="-128"/>
                                    </a:rPr>
                                    <m:t>,	</m:t>
                                  </m:r>
                                  <m:r>
                                    <m:rPr>
                                      <m:nor/>
                                    </m:rPr>
                                    <a:rPr lang="en-US" altLang="ja-JP" sz="2800" b="0" i="0" dirty="0" smtClean="0">
                                      <a:latin typeface="UD デジタル 教科書体 NK-R" panose="02020400000000000000" pitchFamily="18" charset="-128"/>
                                      <a:ea typeface="UD デジタル 教科書体 NK-R" panose="02020400000000000000" pitchFamily="18" charset="-128"/>
                                    </a:rPr>
                                    <m:t>   </m:t>
                                  </m:r>
                                  <m:r>
                                    <m:rPr>
                                      <m:nor/>
                                    </m:rPr>
                                    <a:rPr lang="en-US" altLang="ja-JP" sz="2800" dirty="0">
                                      <a:latin typeface="UD デジタル 教科書体 NK-R" panose="02020400000000000000" pitchFamily="18" charset="-128"/>
                                      <a:ea typeface="UD デジタル 教科書体 NK-R" panose="02020400000000000000" pitchFamily="18" charset="-128"/>
                                    </a:rPr>
                                    <m:t> </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Cambria Math" panose="02040503050406030204" pitchFamily="18" charset="0"/>
                                        </a:rPr>
                                        <m:t>𝐵</m:t>
                                      </m:r>
                                    </m:sub>
                                  </m:sSub>
                                  <m:r>
                                    <a:rPr lang="en-US" altLang="ja-JP" sz="2800" i="1">
                                      <a:latin typeface="Cambria Math" panose="02040503050406030204" pitchFamily="18" charset="0"/>
                                      <a:ea typeface="UD デジタル 教科書体 NK-R" panose="02020400000000000000" pitchFamily="18" charset="-128"/>
                                    </a:rPr>
                                    <m:t>=</m:t>
                                  </m:r>
                                  <m:f>
                                    <m:fPr>
                                      <m:ctrlPr>
                                        <a:rPr lang="en-US" altLang="ja-JP" sz="2800" i="1">
                                          <a:latin typeface="Cambria Math" panose="02040503050406030204" pitchFamily="18" charset="0"/>
                                          <a:ea typeface="UD デジタル 教科書体 NK-R" panose="02020400000000000000" pitchFamily="18" charset="-128"/>
                                        </a:rPr>
                                      </m:ctrlPr>
                                    </m:fPr>
                                    <m:num>
                                      <m:r>
                                        <a:rPr lang="en-US" altLang="ja-JP" sz="2800" i="1">
                                          <a:latin typeface="Cambria Math" panose="02040503050406030204" pitchFamily="18" charset="0"/>
                                          <a:ea typeface="UD デジタル 教科書体 NK-R" panose="02020400000000000000" pitchFamily="18" charset="-128"/>
                                        </a:rPr>
                                        <m:t>1</m:t>
                                      </m:r>
                                    </m:num>
                                    <m:den>
                                      <m:r>
                                        <a:rPr lang="en-US" altLang="ja-JP" sz="2800" i="1">
                                          <a:latin typeface="Cambria Math" panose="02040503050406030204" pitchFamily="18" charset="0"/>
                                          <a:ea typeface="UD デジタル 教科書体 NK-R" panose="02020400000000000000" pitchFamily="18" charset="-128"/>
                                        </a:rPr>
                                        <m:t>2048</m:t>
                                      </m:r>
                                    </m:den>
                                  </m:f>
                                  <m:sSubSup>
                                    <m:sSubSupPr>
                                      <m:ctrlPr>
                                        <a:rPr lang="en-US" altLang="ja-JP" sz="2800" i="1">
                                          <a:latin typeface="Cambria Math" panose="02040503050406030204" pitchFamily="18" charset="0"/>
                                          <a:ea typeface="UD デジタル 教科書体 NK-R" panose="02020400000000000000" pitchFamily="18" charset="-128"/>
                                        </a:rPr>
                                      </m:ctrlPr>
                                    </m:sSubSup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up>
                                      <m:r>
                                        <a:rPr lang="en-US" altLang="ja-JP" sz="2800" i="1">
                                          <a:latin typeface="Cambria Math" panose="02040503050406030204" pitchFamily="18" charset="0"/>
                                          <a:ea typeface="UD デジタル 教科書体 NK-R" panose="02020400000000000000" pitchFamily="18" charset="-128"/>
                                        </a:rPr>
                                        <m:t>𝑇</m:t>
                                      </m:r>
                                    </m:sup>
                                  </m:sSubSup>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𝐕</m:t>
                                      </m:r>
                                    </m:e>
                                    <m:sub>
                                      <m:r>
                                        <a:rPr lang="en-US" altLang="ja-JP" sz="2800" i="1">
                                          <a:latin typeface="Cambria Math" panose="02040503050406030204" pitchFamily="18" charset="0"/>
                                          <a:ea typeface="UD デジタル 教科書体 NK-R" panose="02020400000000000000" pitchFamily="18" charset="-128"/>
                                        </a:rPr>
                                        <m:t>𝐵</m:t>
                                      </m:r>
                                    </m:sub>
                                  </m:sSub>
                                  <m:r>
                                    <m:rPr>
                                      <m:nor/>
                                    </m:rPr>
                                    <a:rPr lang="en-US" altLang="ja-JP" sz="2800" dirty="0">
                                      <a:latin typeface="UD デジタル 教科書体 NK-R" panose="02020400000000000000" pitchFamily="18" charset="-128"/>
                                      <a:ea typeface="UD デジタル 教科書体 NK-R" panose="02020400000000000000" pitchFamily="18" charset="-128"/>
                                    </a:rPr>
                                    <m:t> </m:t>
                                  </m:r>
                                </m:e>
                              </m:mr>
                              <m:mr>
                                <m:e>
                                  <m:r>
                                    <a:rPr lang="en-US" altLang="ja-JP" sz="2800" i="1">
                                      <a:latin typeface="Cambria Math" panose="02040503050406030204" pitchFamily="18" charset="0"/>
                                      <a:ea typeface="UD デジタル 教科書体 NK-R" panose="02020400000000000000" pitchFamily="18" charset="-128"/>
                                    </a:rPr>
                                    <m:t>𝐹𝐼𝐷</m:t>
                                  </m:r>
                                  <m:r>
                                    <a:rPr lang="en-US" altLang="ja-JP" sz="2800" i="1">
                                      <a:latin typeface="Cambria Math" panose="02040503050406030204" pitchFamily="18" charset="0"/>
                                      <a:ea typeface="UD デジタル 教科書体 NK-R" panose="02020400000000000000" pitchFamily="18" charset="-128"/>
                                    </a:rPr>
                                    <m:t>=</m:t>
                                  </m:r>
                                  <m:sSubSup>
                                    <m:sSubSupPr>
                                      <m:ctrlPr>
                                        <a:rPr lang="en-US" altLang="ja-JP" sz="2800" i="1">
                                          <a:latin typeface="Cambria Math" panose="02040503050406030204" pitchFamily="18" charset="0"/>
                                          <a:ea typeface="UD デジタル 教科書体 NK-R" panose="02020400000000000000" pitchFamily="18" charset="-128"/>
                                        </a:rPr>
                                      </m:ctrlPr>
                                    </m:sSubSupPr>
                                    <m:e>
                                      <m:d>
                                        <m:dPr>
                                          <m:begChr m:val="‖"/>
                                          <m:endChr m:val="‖"/>
                                          <m:ctrlPr>
                                            <a:rPr lang="en-US" altLang="ja-JP" sz="2800" i="1">
                                              <a:latin typeface="Cambria Math" panose="02040503050406030204" pitchFamily="18" charset="0"/>
                                              <a:ea typeface="UD デジタル 教科書体 NK-R" panose="02020400000000000000" pitchFamily="18" charset="-128"/>
                                            </a:rPr>
                                          </m:ctrlPr>
                                        </m:dPr>
                                        <m:e>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n-US" altLang="ja-JP" sz="2800" b="1">
                                                  <a:latin typeface="Cambria Math" panose="02040503050406030204" pitchFamily="18" charset="0"/>
                                                  <a:ea typeface="UD デジタル 教科書体 NK-R" panose="02020400000000000000" pitchFamily="18" charset="-128"/>
                                                </a:rPr>
                                                <m:t>𝐦</m:t>
                                              </m:r>
                                            </m:e>
                                            <m:sub>
                                              <m:r>
                                                <a:rPr lang="en-US" altLang="ja-JP" sz="2800" i="1">
                                                  <a:latin typeface="Cambria Math" panose="02040503050406030204" pitchFamily="18" charset="0"/>
                                                  <a:ea typeface="UD デジタル 教科書体 NK-R" panose="02020400000000000000" pitchFamily="18" charset="-128"/>
                                                </a:rPr>
                                                <m:t>𝐵</m:t>
                                              </m:r>
                                            </m:sub>
                                          </m:sSub>
                                        </m:e>
                                      </m:d>
                                    </m:e>
                                    <m:sub>
                                      <m:r>
                                        <a:rPr lang="en-US" altLang="ja-JP" sz="2800" i="1">
                                          <a:latin typeface="Cambria Math" panose="02040503050406030204" pitchFamily="18" charset="0"/>
                                          <a:ea typeface="UD デジタル 教科書体 NK-R" panose="02020400000000000000" pitchFamily="18" charset="-128"/>
                                        </a:rPr>
                                        <m:t>2</m:t>
                                      </m:r>
                                    </m:sub>
                                    <m:sup>
                                      <m:r>
                                        <a:rPr lang="en-US" altLang="ja-JP" sz="2800" i="1">
                                          <a:latin typeface="Cambria Math" panose="02040503050406030204" pitchFamily="18" charset="0"/>
                                          <a:ea typeface="UD デジタル 教科書体 NK-R" panose="02020400000000000000" pitchFamily="18" charset="-128"/>
                                        </a:rPr>
                                        <m:t>2</m:t>
                                      </m:r>
                                    </m:sup>
                                  </m:sSubSup>
                                  <m:r>
                                    <a:rPr lang="en-US" altLang="ja-JP" sz="2800" i="1">
                                      <a:latin typeface="Cambria Math" panose="02040503050406030204" pitchFamily="18" charset="0"/>
                                      <a:ea typeface="UD デジタル 教科書体 NK-R" panose="02020400000000000000" pitchFamily="18" charset="-128"/>
                                    </a:rPr>
                                    <m:t>+</m:t>
                                  </m:r>
                                  <m:r>
                                    <a:rPr lang="en-US" altLang="ja-JP" sz="2800" i="1">
                                      <a:latin typeface="Cambria Math" panose="02040503050406030204" pitchFamily="18" charset="0"/>
                                      <a:ea typeface="UD デジタル 教科書体 NK-R" panose="02020400000000000000" pitchFamily="18" charset="-128"/>
                                    </a:rPr>
                                    <m:t>𝑇𝑟</m:t>
                                  </m:r>
                                  <m:r>
                                    <a:rPr lang="en-US" altLang="ja-JP" sz="2800" i="1">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r>
                                    <a:rPr lang="en-US" altLang="ja-JP" sz="2800" i="1">
                                      <a:latin typeface="Cambria Math" panose="02040503050406030204" pitchFamily="18" charset="0"/>
                                      <a:ea typeface="UD デジタル 教科書体 NK-R" panose="02020400000000000000" pitchFamily="18" charset="-128"/>
                                    </a:rPr>
                                    <m:t>+</m:t>
                                  </m:r>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𝐵</m:t>
                                      </m:r>
                                    </m:sub>
                                  </m:sSub>
                                  <m:r>
                                    <a:rPr lang="en-US" altLang="ja-JP" sz="2800" i="1">
                                      <a:latin typeface="Cambria Math" panose="02040503050406030204" pitchFamily="18" charset="0"/>
                                      <a:ea typeface="UD デジタル 教科書体 NK-R" panose="02020400000000000000" pitchFamily="18" charset="-128"/>
                                    </a:rPr>
                                    <m:t>−2</m:t>
                                  </m:r>
                                  <m:rad>
                                    <m:radPr>
                                      <m:degHide m:val="on"/>
                                      <m:ctrlPr>
                                        <a:rPr lang="en-US" altLang="ja-JP" sz="2800" i="1">
                                          <a:latin typeface="Cambria Math" panose="02040503050406030204" pitchFamily="18" charset="0"/>
                                          <a:ea typeface="UD デジタル 教科書体 NK-R" panose="02020400000000000000" pitchFamily="18" charset="-128"/>
                                        </a:rPr>
                                      </m:ctrlPr>
                                    </m:radPr>
                                    <m:deg/>
                                    <m:e>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𝐴</m:t>
                                          </m:r>
                                        </m:sub>
                                      </m:sSub>
                                      <m:sSub>
                                        <m:sSubPr>
                                          <m:ctrlPr>
                                            <a:rPr lang="en-US" altLang="ja-JP" sz="2800" i="1">
                                              <a:latin typeface="Cambria Math" panose="02040503050406030204" pitchFamily="18" charset="0"/>
                                              <a:ea typeface="UD デジタル 教科書体 NK-R" panose="02020400000000000000" pitchFamily="18" charset="-128"/>
                                            </a:rPr>
                                          </m:ctrlPr>
                                        </m:sSubPr>
                                        <m:e>
                                          <m:r>
                                            <a:rPr lang="el-GR" altLang="ja-JP" sz="2800" b="1">
                                              <a:latin typeface="Cambria Math" panose="02040503050406030204" pitchFamily="18" charset="0"/>
                                              <a:ea typeface="Cambria Math" panose="02040503050406030204" pitchFamily="18" charset="0"/>
                                            </a:rPr>
                                            <m:t>𝚺</m:t>
                                          </m:r>
                                        </m:e>
                                        <m:sub>
                                          <m:r>
                                            <a:rPr lang="en-US" altLang="ja-JP" sz="2800" i="1">
                                              <a:latin typeface="Cambria Math" panose="02040503050406030204" pitchFamily="18" charset="0"/>
                                              <a:ea typeface="UD デジタル 教科書体 NK-R" panose="02020400000000000000" pitchFamily="18" charset="-128"/>
                                            </a:rPr>
                                            <m:t>𝐵</m:t>
                                          </m:r>
                                        </m:sub>
                                      </m:sSub>
                                    </m:e>
                                  </m:rad>
                                  <m:r>
                                    <a:rPr lang="en-US" altLang="ja-JP" sz="2800" i="1">
                                      <a:latin typeface="Cambria Math" panose="02040503050406030204" pitchFamily="18" charset="0"/>
                                      <a:ea typeface="UD デジタル 教科書体 NK-R" panose="02020400000000000000" pitchFamily="18" charset="-128"/>
                                    </a:rPr>
                                    <m:t>)</m:t>
                                  </m:r>
                                  <m:r>
                                    <m:rPr>
                                      <m:nor/>
                                    </m:rPr>
                                    <a:rPr lang="en-US" altLang="ja-JP" sz="2800" dirty="0">
                                      <a:latin typeface="UD デジタル 教科書体 NK-R" panose="02020400000000000000" pitchFamily="18" charset="-128"/>
                                      <a:ea typeface="UD デジタル 教科書体 NK-R" panose="02020400000000000000" pitchFamily="18" charset="-128"/>
                                    </a:rPr>
                                    <m:t>  </m:t>
                                  </m:r>
                                </m:e>
                              </m:mr>
                            </m:m>
                          </m:e>
                        </m:eqArr>
                      </m:oMath>
                    </m:oMathPara>
                  </a14:m>
                  <a:endParaRPr lang="en-US" altLang="ja-JP" sz="2800" dirty="0">
                    <a:latin typeface="UD デジタル 教科書体 NK-R" panose="02020400000000000000" pitchFamily="18" charset="-128"/>
                    <a:ea typeface="UD デジタル 教科書体 NK-R" panose="02020400000000000000" pitchFamily="18" charset="-128"/>
                  </a:endParaRPr>
                </a:p>
                <a:p>
                  <a:pPr lvl="2"/>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b="1" i="0" smtClean="0">
                          <a:latin typeface="Cambria Math" panose="02040503050406030204" pitchFamily="18" charset="0"/>
                          <a:ea typeface="UD デジタル 教科書体 NK-R" panose="02020400000000000000" pitchFamily="18" charset="-128"/>
                        </a:rPr>
                        <m:t>𝐀</m:t>
                      </m:r>
                    </m:oMath>
                  </a14:m>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b="1" i="0" smtClean="0">
                          <a:latin typeface="Cambria Math" panose="02040503050406030204" pitchFamily="18" charset="0"/>
                          <a:ea typeface="UD デジタル 教科書体 NK-R" panose="02020400000000000000" pitchFamily="18" charset="-128"/>
                        </a:rPr>
                        <m:t>𝐁</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分布を調べたい画像群</a:t>
                  </a:r>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𝑣</m:t>
                      </m:r>
                      <m:r>
                        <a:rPr lang="en-US" altLang="ja-JP" sz="2800" i="1">
                          <a:latin typeface="Cambria Math" panose="02040503050406030204" pitchFamily="18" charset="0"/>
                          <a:ea typeface="Cambria Math" panose="02040503050406030204" pitchFamily="18" charset="0"/>
                        </a:rPr>
                        <m:t>∈</m:t>
                      </m:r>
                      <m:sSup>
                        <m:sSupPr>
                          <m:ctrlPr>
                            <a:rPr lang="en-US" altLang="ja-JP" sz="2800" i="1">
                              <a:latin typeface="Cambria Math" panose="02040503050406030204" pitchFamily="18" charset="0"/>
                              <a:ea typeface="Cambria Math" panose="02040503050406030204" pitchFamily="18" charset="0"/>
                            </a:rPr>
                          </m:ctrlPr>
                        </m:sSupPr>
                        <m:e>
                          <m:r>
                            <a:rPr lang="en-US" altLang="ja-JP" sz="2800" i="1">
                              <a:latin typeface="Cambria Math" panose="02040503050406030204" pitchFamily="18" charset="0"/>
                              <a:ea typeface="Cambria Math" panose="02040503050406030204" pitchFamily="18" charset="0"/>
                            </a:rPr>
                            <m:t>ℝ</m:t>
                          </m:r>
                        </m:e>
                        <m:sup>
                          <m:r>
                            <a:rPr lang="en-US" altLang="ja-JP" sz="2800" i="1">
                              <a:latin typeface="Cambria Math" panose="02040503050406030204" pitchFamily="18" charset="0"/>
                              <a:ea typeface="Cambria Math" panose="02040503050406030204" pitchFamily="18" charset="0"/>
                            </a:rPr>
                            <m:t>1×</m:t>
                          </m:r>
                          <m:d>
                            <m:dPr>
                              <m:begChr m:val="|"/>
                              <m:endChr m:val="|"/>
                              <m:ctrlPr>
                                <a:rPr lang="en-US" altLang="ja-JP" sz="2800" i="1">
                                  <a:latin typeface="Cambria Math" panose="02040503050406030204" pitchFamily="18" charset="0"/>
                                  <a:ea typeface="UD デジタル 教科書体 NK-R" panose="02020400000000000000" pitchFamily="18" charset="-128"/>
                                </a:rPr>
                              </m:ctrlPr>
                            </m:dPr>
                            <m:e>
                              <m:r>
                                <a:rPr lang="en-US" altLang="ja-JP" sz="2800" b="1">
                                  <a:latin typeface="Cambria Math" panose="02040503050406030204" pitchFamily="18" charset="0"/>
                                  <a:ea typeface="UD デジタル 教科書体 NK-R" panose="02020400000000000000" pitchFamily="18" charset="-128"/>
                                </a:rPr>
                                <m:t>𝐀</m:t>
                              </m:r>
                            </m:e>
                          </m:d>
                        </m:sup>
                      </m:sSup>
                    </m:oMath>
                  </a14:m>
                  <a:r>
                    <a:rPr lang="en-US" altLang="ja-JP" sz="2800" dirty="0">
                      <a:latin typeface="UD デジタル 教科書体 NK-R" panose="02020400000000000000" pitchFamily="18" charset="-128"/>
                      <a:ea typeface="UD デジタル 教科書体 NK-R" panose="02020400000000000000" pitchFamily="18" charset="-128"/>
                    </a:rPr>
                    <a:t> : 1</a:t>
                  </a:r>
                  <a:r>
                    <a:rPr lang="ja-JP" altLang="en-US" sz="2800">
                      <a:latin typeface="UD デジタル 教科書体 NK-R" panose="02020400000000000000" pitchFamily="18" charset="-128"/>
                      <a:ea typeface="UD デジタル 教科書体 NK-R" panose="02020400000000000000" pitchFamily="18" charset="-128"/>
                    </a:rPr>
                    <a:t>ベクトル</a:t>
                  </a:r>
                  <a:r>
                    <a:rPr lang="en-US" altLang="ja-JP" sz="2800" dirty="0">
                      <a:latin typeface="UD デジタル 教科書体 NK-R" panose="02020400000000000000" pitchFamily="18" charset="-128"/>
                      <a:ea typeface="UD デジタル 教科書体 NK-R" panose="02020400000000000000" pitchFamily="18" charset="-128"/>
                    </a:rPr>
                    <a:t>,</a:t>
                  </a:r>
                </a:p>
                <a:p>
                  <a:pPr lvl="2"/>
                  <a:r>
                    <a:rPr lang="en-US" altLang="ja-JP" sz="28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a:latin typeface="Cambria Math" panose="02040503050406030204" pitchFamily="18" charset="0"/>
                          <a:ea typeface="UD デジタル 教科書体 NK-R" panose="02020400000000000000" pitchFamily="18" charset="-128"/>
                        </a:rPr>
                        <m:t>𝐼𝑛𝑐𝑒𝑝𝑡𝑖𝑜𝑛</m:t>
                      </m:r>
                      <m:r>
                        <a:rPr lang="en-US" altLang="ja-JP" sz="2800" b="0" i="1" smtClean="0">
                          <a:latin typeface="Cambria Math" panose="02040503050406030204" pitchFamily="18" charset="0"/>
                          <a:ea typeface="UD デジタル 教科書体 NK-R" panose="02020400000000000000" pitchFamily="18" charset="-128"/>
                        </a:rPr>
                        <m:t>(</m:t>
                      </m:r>
                      <m:r>
                        <a:rPr lang="en-US" altLang="ja-JP" sz="2800" b="1" i="0" smtClean="0">
                          <a:latin typeface="Cambria Math" panose="02040503050406030204" pitchFamily="18" charset="0"/>
                          <a:ea typeface="UD デジタル 教科書体 NK-R" panose="02020400000000000000" pitchFamily="18" charset="-128"/>
                        </a:rPr>
                        <m:t>𝐗</m:t>
                      </m:r>
                      <m:r>
                        <a:rPr lang="en-US" altLang="ja-JP" sz="2800" b="0" i="1" smtClean="0">
                          <a:latin typeface="Cambria Math" panose="02040503050406030204" pitchFamily="18" charset="0"/>
                          <a:ea typeface="UD デジタル 教科書体 NK-R" panose="02020400000000000000" pitchFamily="18" charset="-128"/>
                        </a:rPr>
                        <m:t>)</m:t>
                      </m:r>
                    </m:oMath>
                  </a14:m>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学習済み</a:t>
                  </a:r>
                  <a:r>
                    <a:rPr lang="en-US" altLang="ja-JP" sz="2800" dirty="0">
                      <a:latin typeface="UD デジタル 教科書体 NK-R" panose="02020400000000000000" pitchFamily="18" charset="-128"/>
                      <a:ea typeface="UD デジタル 教科書体 NK-R" panose="02020400000000000000" pitchFamily="18" charset="-128"/>
                    </a:rPr>
                    <a:t>Inception-v3</a:t>
                  </a:r>
                  <a:r>
                    <a:rPr lang="ja-JP" altLang="en-US" sz="2800">
                      <a:latin typeface="UD デジタル 教科書体 NK-R" panose="02020400000000000000" pitchFamily="18" charset="-128"/>
                      <a:ea typeface="UD デジタル 教科書体 NK-R" panose="02020400000000000000" pitchFamily="18" charset="-128"/>
                    </a:rPr>
                    <a:t>に</a:t>
                  </a:r>
                  <a14:m>
                    <m:oMath xmlns:m="http://schemas.openxmlformats.org/officeDocument/2006/math">
                      <m:r>
                        <a:rPr lang="en-US" altLang="ja-JP" sz="2800" b="1">
                          <a:latin typeface="Cambria Math" panose="02040503050406030204" pitchFamily="18" charset="0"/>
                          <a:ea typeface="UD デジタル 教科書体 NK-R" panose="02020400000000000000" pitchFamily="18" charset="-128"/>
                        </a:rPr>
                        <m:t>𝐗</m:t>
                      </m:r>
                    </m:oMath>
                  </a14:m>
                  <a:r>
                    <a:rPr lang="ja-JP" altLang="en-US" sz="2800">
                      <a:latin typeface="UD デジタル 教科書体 NK-R" panose="02020400000000000000" pitchFamily="18" charset="-128"/>
                      <a:ea typeface="UD デジタル 教科書体 NK-R" panose="02020400000000000000" pitchFamily="18" charset="-128"/>
                    </a:rPr>
                    <a:t>を入力した際の出力</a:t>
                  </a:r>
                  <a:r>
                    <a:rPr lang="en-US" altLang="ja-JP" sz="2800" dirty="0">
                      <a:latin typeface="UD デジタル 教科書体 NK-R" panose="02020400000000000000" pitchFamily="18" charset="-128"/>
                      <a:ea typeface="UD デジタル 教科書体 NK-R" panose="02020400000000000000" pitchFamily="18" charset="-128"/>
                    </a:rPr>
                    <a:t> </a:t>
                  </a:r>
                </a:p>
                <a:p>
                  <a:pPr lvl="2"/>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spc="-200" dirty="0">
                    <a:latin typeface="UD デジタル 教科書体 NK-R" panose="02020400000000000000" pitchFamily="18" charset="-128"/>
                    <a:ea typeface="UD デジタル 教科書体 NK-R" panose="02020400000000000000" pitchFamily="18" charset="-128"/>
                  </a:endParaRPr>
                </a:p>
                <a:p>
                  <a:pPr lvl="1"/>
                  <a:endParaRPr lang="ja-JP" altLang="en-US" sz="2800" spc="-20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 :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を学習</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つの条件で大喜利生成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en-US" altLang="ja-JP" sz="2800" spc="-100" dirty="0">
                      <a:latin typeface="UD デジタル 教科書体 NK-R" panose="02020400000000000000" pitchFamily="18" charset="-128"/>
                      <a:ea typeface="UD デジタル 教科書体 NK-R" panose="02020400000000000000" pitchFamily="18" charset="-128"/>
                    </a:rPr>
                    <a:t>[1]</a:t>
                  </a:r>
                  <a:r>
                    <a:rPr lang="ja-JP" altLang="en-US" sz="2800" spc="-100">
                      <a:latin typeface="UD デジタル 教科書体 NK-R" panose="02020400000000000000" pitchFamily="18" charset="-128"/>
                      <a:ea typeface="UD デジタル 教科書体 NK-R" panose="02020400000000000000" pitchFamily="18" charset="-128"/>
                    </a:rPr>
                    <a:t>と同様に画像の特徴抽出機として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事前学習済み</a:t>
                  </a:r>
                  <a:r>
                    <a:rPr lang="en-US" altLang="ja-JP" sz="2800" spc="-100" dirty="0">
                      <a:latin typeface="UD デジタル 教科書体 NK-R" panose="02020400000000000000" pitchFamily="18" charset="-128"/>
                      <a:ea typeface="UD デジタル 教科書体 NK-R" panose="02020400000000000000" pitchFamily="18" charset="-128"/>
                    </a:rPr>
                    <a:t>ResNet152</a:t>
                  </a:r>
                  <a:r>
                    <a:rPr lang="ja-JP" altLang="en-US" sz="2800" spc="-100">
                      <a:latin typeface="UD デジタル 教科書体 NK-R" panose="02020400000000000000" pitchFamily="18" charset="-128"/>
                      <a:ea typeface="UD デジタル 教科書体 NK-R" panose="02020400000000000000" pitchFamily="18" charset="-128"/>
                    </a:rPr>
                    <a:t>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512</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2048</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spc="-100">
                      <a:latin typeface="UD デジタル 教科書体 NK-R" panose="02020400000000000000" pitchFamily="18" charset="-128"/>
                      <a:ea typeface="UD デジタル 教科書体 NK-R" panose="02020400000000000000" pitchFamily="18" charset="-128"/>
                    </a:rPr>
                    <a:t>実験条件</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en-US" altLang="ja-JP" sz="2800" spc="-100" dirty="0">
                      <a:latin typeface="UD デジタル 教科書体 NK-R" panose="02020400000000000000" pitchFamily="18" charset="-128"/>
                      <a:ea typeface="UD デジタル 教科書体 NK-R" panose="02020400000000000000" pitchFamily="18" charset="-128"/>
                    </a:rPr>
                    <a:t>LSTM</a:t>
                  </a:r>
                  <a:r>
                    <a:rPr lang="ja-JP" altLang="en-US" sz="2800" spc="-100">
                      <a:latin typeface="UD デジタル 教科書体 NK-R" panose="02020400000000000000" pitchFamily="18" charset="-128"/>
                      <a:ea typeface="UD デジタル 教科書体 NK-R" panose="02020400000000000000" pitchFamily="18" charset="-128"/>
                    </a:rPr>
                    <a:t>ユニット数</a:t>
                  </a:r>
                  <a:r>
                    <a:rPr lang="en-US" altLang="ja-JP" sz="2800" spc="-100" dirty="0">
                      <a:latin typeface="UD デジタル 教科書体 NK-R" panose="02020400000000000000" pitchFamily="18" charset="-128"/>
                      <a:ea typeface="UD デジタル 教科書体 NK-R" panose="02020400000000000000" pitchFamily="18" charset="-128"/>
                    </a:rPr>
                    <a:t> : 512, </a:t>
                  </a:r>
                  <a:r>
                    <a:rPr lang="ja-JP" altLang="en-US" sz="2800" spc="-100">
                      <a:latin typeface="UD デジタル 教科書体 NK-R" panose="02020400000000000000" pitchFamily="18" charset="-128"/>
                      <a:ea typeface="UD デジタル 教科書体 NK-R" panose="02020400000000000000" pitchFamily="18" charset="-128"/>
                    </a:rPr>
                    <a:t>バッチサイズ</a:t>
                  </a:r>
                  <a:r>
                    <a:rPr lang="en-US" altLang="ja-JP" sz="2800" spc="-100" dirty="0">
                      <a:latin typeface="UD デジタル 教科書体 NK-R" panose="02020400000000000000" pitchFamily="18" charset="-128"/>
                      <a:ea typeface="UD デジタル 教科書体 NK-R" panose="02020400000000000000" pitchFamily="18" charset="-128"/>
                    </a:rPr>
                    <a:t> : 1024, </a:t>
                  </a:r>
                  <a:r>
                    <a:rPr lang="ja-JP" altLang="en-US" sz="2800" spc="-100">
                      <a:latin typeface="UD デジタル 教科書体 NK-R" panose="02020400000000000000" pitchFamily="18" charset="-128"/>
                      <a:ea typeface="UD デジタル 教科書体 NK-R" panose="02020400000000000000" pitchFamily="18" charset="-128"/>
                    </a:rPr>
                    <a:t>エポック</a:t>
                  </a:r>
                  <a:r>
                    <a:rPr lang="en-US" altLang="ja-JP" sz="2800" spc="-1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交差エントロピー</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endParaRPr lang="en-US" altLang="ja-JP" sz="2000" spc="-1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　生成大喜利を比較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en-US" altLang="ja-JP" sz="2800" dirty="0">
                      <a:latin typeface="UD デジタル 教科書体 NK-R" panose="02020400000000000000" pitchFamily="18" charset="-128"/>
                      <a:ea typeface="UD デジタル 教科書体 NK-R" panose="02020400000000000000" pitchFamily="18" charset="-128"/>
                    </a:rPr>
                    <a:t>(a) </a:t>
                  </a:r>
                  <a:r>
                    <a:rPr lang="ja-JP" altLang="en-US" sz="2800">
                      <a:latin typeface="UD デジタル 教科書体 NK-R" panose="02020400000000000000" pitchFamily="18" charset="-128"/>
                      <a:ea typeface="UD デジタル 教科書体 NK-R" panose="02020400000000000000" pitchFamily="18" charset="-128"/>
                    </a:rPr>
                    <a:t>学習損失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　　　　　　　　　　　　　　　　　　</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学習精度</a:t>
                  </a:r>
                  <a:endParaRPr lang="en-US" altLang="ja-JP" sz="2000" dirty="0">
                    <a:latin typeface="UD デジタル 教科書体 NK-R" panose="02020400000000000000" pitchFamily="18" charset="-128"/>
                    <a:ea typeface="UD デジタル 教科書体 NK-R" panose="02020400000000000000" pitchFamily="18" charset="-128"/>
                  </a:endParaRPr>
                </a:p>
                <a:p>
                  <a:pPr algn="ctr"/>
                  <a:endParaRPr lang="en-US" altLang="ja-JP" sz="20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　学習した大喜利生成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が生成した大喜利</a:t>
                  </a:r>
                  <a:endParaRPr lang="en-US" altLang="ja-JP" sz="2800" dirty="0">
                    <a:latin typeface="UD デジタル 教科書体 NK-R" panose="02020400000000000000" pitchFamily="18" charset="-128"/>
                    <a:ea typeface="UD デジタル 教科書体 NK-R" panose="02020400000000000000" pitchFamily="18" charset="-128"/>
                  </a:endParaRPr>
                </a:p>
              </p:txBody>
            </p:sp>
          </mc:Choice>
          <mc:Fallback xmlns="">
            <p:sp>
              <p:nvSpPr>
                <p:cNvPr id="37" name="テキスト ボックス 36">
                  <a:extLst>
                    <a:ext uri="{FF2B5EF4-FFF2-40B4-BE49-F238E27FC236}">
                      <a16:creationId xmlns:a16="http://schemas.microsoft.com/office/drawing/2014/main" id="{33CBE4EA-6A45-2DF9-9C9B-750731A73354}"/>
                    </a:ext>
                  </a:extLst>
                </p:cNvPr>
                <p:cNvSpPr txBox="1">
                  <a:spLocks noRot="1" noChangeAspect="1" noMove="1" noResize="1" noEditPoints="1" noAdjustHandles="1" noChangeArrowheads="1" noChangeShapeType="1" noTextEdit="1"/>
                </p:cNvSpPr>
                <p:nvPr/>
              </p:nvSpPr>
              <p:spPr>
                <a:xfrm>
                  <a:off x="350132" y="6188617"/>
                  <a:ext cx="14499166" cy="34635828"/>
                </a:xfrm>
                <a:prstGeom prst="rect">
                  <a:avLst/>
                </a:prstGeom>
                <a:blipFill>
                  <a:blip r:embed="rId5"/>
                  <a:stretch>
                    <a:fillRect l="-875" t="-183"/>
                  </a:stretch>
                </a:blipFill>
              </p:spPr>
              <p:txBody>
                <a:bodyPr/>
                <a:lstStyle/>
                <a:p>
                  <a:r>
                    <a:rPr lang="ja-JP" altLang="en-US">
                      <a:noFill/>
                    </a:rPr>
                    <a:t> </a:t>
                  </a:r>
                </a:p>
              </p:txBody>
            </p:sp>
          </mc:Fallback>
        </mc:AlternateContent>
      </p:grpSp>
      <p:sp>
        <p:nvSpPr>
          <p:cNvPr id="154" name="テキスト ボックス 153">
            <a:extLst>
              <a:ext uri="{FF2B5EF4-FFF2-40B4-BE49-F238E27FC236}">
                <a16:creationId xmlns:a16="http://schemas.microsoft.com/office/drawing/2014/main" id="{D885AE38-02FE-BABF-B73B-FD10DBD6E9F0}"/>
              </a:ext>
            </a:extLst>
          </p:cNvPr>
          <p:cNvSpPr txBox="1"/>
          <p:nvPr/>
        </p:nvSpPr>
        <p:spPr>
          <a:xfrm>
            <a:off x="478313" y="40720311"/>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[1] </a:t>
            </a:r>
            <a:r>
              <a:rPr lang="ja-JP" altLang="en-US" sz="2800">
                <a:latin typeface="UD Digi Kyokasho NK-R" panose="02020400000000000000" pitchFamily="18" charset="-128"/>
                <a:ea typeface="UD Digi Kyokasho NK-R" panose="02020400000000000000" pitchFamily="18" charset="-128"/>
              </a:rPr>
              <a:t>美濃口 宗尊</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他</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精密工学会誌</a:t>
            </a:r>
            <a:r>
              <a:rPr lang="en-US" altLang="ja-JP" sz="2800" dirty="0">
                <a:latin typeface="UD Digi Kyokasho NK-R" panose="02020400000000000000" pitchFamily="18" charset="-128"/>
                <a:ea typeface="UD Digi Kyokasho NK-R" panose="02020400000000000000" pitchFamily="18" charset="-128"/>
              </a:rPr>
              <a:t>, vol.85, no.12, pp.1151-1156 (2019).</a:t>
            </a:r>
          </a:p>
          <a:p>
            <a:r>
              <a:rPr lang="en-US" altLang="ja-JP" sz="2800" dirty="0">
                <a:latin typeface="UD Digi Kyokasho NK-R" panose="02020400000000000000" pitchFamily="18" charset="-128"/>
                <a:ea typeface="UD Digi Kyokasho NK-R" panose="02020400000000000000" pitchFamily="18" charset="-128"/>
              </a:rPr>
              <a:t>[2] </a:t>
            </a:r>
            <a:r>
              <a:rPr lang="ja-JP" altLang="en-US" sz="2800">
                <a:latin typeface="UD Digi Kyokasho NK-R" panose="02020400000000000000" pitchFamily="18" charset="-128"/>
                <a:ea typeface="UD Digi Kyokasho NK-R" panose="02020400000000000000" pitchFamily="18" charset="-128"/>
              </a:rPr>
              <a:t>山富 龍, 他, IEICE 信学技報 CCS 研究会, CCS2022-73,</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pp.59-62(2023).</a:t>
            </a:r>
            <a:endParaRPr lang="en-US" altLang="ja-JP" sz="2800" dirty="0">
              <a:latin typeface="UD Digi Kyokasho NK-R" panose="02020400000000000000" pitchFamily="18" charset="-128"/>
              <a:ea typeface="UD Digi Kyokasho NK-R" panose="02020400000000000000" pitchFamily="18" charset="-128"/>
            </a:endParaRPr>
          </a:p>
          <a:p>
            <a:r>
              <a:rPr lang="en-US" altLang="ja-JP" sz="2800" dirty="0">
                <a:latin typeface="UD デジタル 教科書体 NK-R" panose="02020400000000000000" pitchFamily="18" charset="-128"/>
                <a:ea typeface="UD デジタル 教科書体 NK-R" panose="02020400000000000000" pitchFamily="18" charset="-128"/>
              </a:rPr>
              <a:t>[3] </a:t>
            </a:r>
            <a:r>
              <a:rPr lang="en-US" altLang="ja-JP" sz="2800" dirty="0" err="1">
                <a:latin typeface="UD デジタル 教科書体 NK-R" panose="02020400000000000000" pitchFamily="18" charset="-128"/>
                <a:ea typeface="UD デジタル 教科書体 NK-R" panose="02020400000000000000" pitchFamily="18" charset="-128"/>
              </a:rPr>
              <a:t>Vinyals</a:t>
            </a:r>
            <a:r>
              <a:rPr lang="en-US" altLang="ja-JP" sz="2800" dirty="0">
                <a:latin typeface="UD デジタル 教科書体 NK-R" panose="02020400000000000000" pitchFamily="18" charset="-128"/>
                <a:ea typeface="UD デジタル 教科書体 NK-R" panose="02020400000000000000" pitchFamily="18" charset="-128"/>
              </a:rPr>
              <a:t>, O., et al., Proc. IEEE CVPR, pp. 3156-3164 (2015).</a:t>
            </a:r>
          </a:p>
        </p:txBody>
      </p:sp>
      <p:sp>
        <p:nvSpPr>
          <p:cNvPr id="155" name="テキスト ボックス 154">
            <a:extLst>
              <a:ext uri="{FF2B5EF4-FFF2-40B4-BE49-F238E27FC236}">
                <a16:creationId xmlns:a16="http://schemas.microsoft.com/office/drawing/2014/main" id="{EFC3748E-A701-D3A4-4FB9-8E56588245BE}"/>
              </a:ext>
            </a:extLst>
          </p:cNvPr>
          <p:cNvSpPr txBox="1"/>
          <p:nvPr/>
        </p:nvSpPr>
        <p:spPr>
          <a:xfrm>
            <a:off x="15425050" y="40702554"/>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[4] G. E. Hinton, et al., Science, vol.313, no.5786, pp.504-507(2006).</a:t>
            </a:r>
          </a:p>
          <a:p>
            <a:r>
              <a:rPr lang="en-US" altLang="ja-JP" sz="2800" dirty="0">
                <a:latin typeface="UD Digi Kyokasho NK-R" panose="02020400000000000000" pitchFamily="18" charset="-128"/>
                <a:ea typeface="UD Digi Kyokasho NK-R" panose="02020400000000000000" pitchFamily="18" charset="-128"/>
              </a:rPr>
              <a:t>[5] </a:t>
            </a:r>
            <a:r>
              <a:rPr lang="ja-JP" altLang="en-US" sz="2800">
                <a:latin typeface="UD Digi Kyokasho NK-R" panose="02020400000000000000" pitchFamily="18" charset="-128"/>
                <a:ea typeface="UD Digi Kyokasho NK-R" panose="02020400000000000000" pitchFamily="18" charset="-128"/>
              </a:rPr>
              <a:t>株式会社オモロキ</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 https://</a:t>
            </a:r>
            <a:r>
              <a:rPr lang="en-US" altLang="ja-JP" sz="2800" dirty="0" err="1">
                <a:latin typeface="UD Digi Kyokasho NK-R" panose="02020400000000000000" pitchFamily="18" charset="-128"/>
                <a:ea typeface="UD Digi Kyokasho NK-R" panose="02020400000000000000" pitchFamily="18" charset="-128"/>
              </a:rPr>
              <a:t>bokete.jp</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最終アクセス</a:t>
            </a:r>
            <a:r>
              <a:rPr lang="en-US" altLang="ja-JP" sz="2800" dirty="0">
                <a:latin typeface="UD Digi Kyokasho NK-R" panose="02020400000000000000" pitchFamily="18" charset="-128"/>
                <a:ea typeface="UD Digi Kyokasho NK-R" panose="02020400000000000000" pitchFamily="18" charset="-128"/>
              </a:rPr>
              <a:t> : 2023/6/6).</a:t>
            </a:r>
          </a:p>
          <a:p>
            <a:r>
              <a:rPr lang="en-US" altLang="ja-JP" sz="2800" dirty="0">
                <a:latin typeface="UD Digi Kyokasho NK-R" panose="02020400000000000000" pitchFamily="18" charset="-128"/>
                <a:ea typeface="UD Digi Kyokasho NK-R" panose="02020400000000000000" pitchFamily="18" charset="-128"/>
              </a:rPr>
              <a:t>[6]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Heusel</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 Martin, et al.,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NeurIPS</a:t>
            </a:r>
            <a:r>
              <a:rPr lang="en" altLang="ja-JP" sz="2800" dirty="0">
                <a:solidFill>
                  <a:srgbClr val="222222"/>
                </a:solidFill>
                <a:latin typeface="UD Digi Kyokasho NK-R" panose="02020400000000000000" pitchFamily="18" charset="-128"/>
                <a:ea typeface="UD Digi Kyokasho NK-R" panose="02020400000000000000" pitchFamily="18" charset="-128"/>
              </a:rPr>
              <a:t>, </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30 (2017).</a:t>
            </a:r>
            <a:endParaRPr lang="en-US" altLang="ja-JP" sz="2800" dirty="0">
              <a:latin typeface="UD Digi Kyokasho NK-R" panose="02020400000000000000" pitchFamily="18" charset="-128"/>
              <a:ea typeface="UD Digi Kyokasho NK-R" panose="02020400000000000000" pitchFamily="18" charset="-128"/>
            </a:endParaRPr>
          </a:p>
        </p:txBody>
      </p:sp>
      <p:graphicFrame>
        <p:nvGraphicFramePr>
          <p:cNvPr id="255" name="表 255">
            <a:extLst>
              <a:ext uri="{FF2B5EF4-FFF2-40B4-BE49-F238E27FC236}">
                <a16:creationId xmlns:a16="http://schemas.microsoft.com/office/drawing/2014/main" id="{238C88B2-E0D1-950A-16DC-AD9A1C46C3F1}"/>
              </a:ext>
            </a:extLst>
          </p:cNvPr>
          <p:cNvGraphicFramePr>
            <a:graphicFrameLocks noGrp="1"/>
          </p:cNvGraphicFramePr>
          <p:nvPr>
            <p:extLst>
              <p:ext uri="{D42A27DB-BD31-4B8C-83A1-F6EECF244321}">
                <p14:modId xmlns:p14="http://schemas.microsoft.com/office/powerpoint/2010/main" val="2454848557"/>
              </p:ext>
            </p:extLst>
          </p:nvPr>
        </p:nvGraphicFramePr>
        <p:xfrm>
          <a:off x="15343492" y="6898210"/>
          <a:ext cx="14557140" cy="192024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algn="ct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49,265,280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58,703,488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0.0094/0.0096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0.0109/0.0111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bl>
          </a:graphicData>
        </a:graphic>
      </p:graphicFrame>
      <p:graphicFrame>
        <p:nvGraphicFramePr>
          <p:cNvPr id="259" name="表 255">
            <a:extLst>
              <a:ext uri="{FF2B5EF4-FFF2-40B4-BE49-F238E27FC236}">
                <a16:creationId xmlns:a16="http://schemas.microsoft.com/office/drawing/2014/main" id="{075542DE-9B92-8E05-FA82-9740125B2813}"/>
              </a:ext>
            </a:extLst>
          </p:cNvPr>
          <p:cNvGraphicFramePr>
            <a:graphicFrameLocks noGrp="1"/>
          </p:cNvGraphicFramePr>
          <p:nvPr>
            <p:extLst>
              <p:ext uri="{D42A27DB-BD31-4B8C-83A1-F6EECF244321}">
                <p14:modId xmlns:p14="http://schemas.microsoft.com/office/powerpoint/2010/main" val="2337720657"/>
              </p:ext>
            </p:extLst>
          </p:nvPr>
        </p:nvGraphicFramePr>
        <p:xfrm>
          <a:off x="15343492" y="11928915"/>
          <a:ext cx="14557140" cy="243840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algn="ct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14,659,712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23,048,832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0.0111/0.0111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0.0086/0.0086</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r h="370840">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FID</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108.30/109.38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73.03/74.37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61.76/62.87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extLst>
                  <a:ext uri="{0D108BD9-81ED-4DB2-BD59-A6C34878D82A}">
                    <a16:rowId xmlns:a16="http://schemas.microsoft.com/office/drawing/2014/main" val="2145768203"/>
                  </a:ext>
                </a:extLst>
              </a:tr>
            </a:tbl>
          </a:graphicData>
        </a:graphic>
      </p:graphicFrame>
      <p:graphicFrame>
        <p:nvGraphicFramePr>
          <p:cNvPr id="4" name="表 255">
            <a:extLst>
              <a:ext uri="{FF2B5EF4-FFF2-40B4-BE49-F238E27FC236}">
                <a16:creationId xmlns:a16="http://schemas.microsoft.com/office/drawing/2014/main" id="{ED82D327-A8A9-DFD6-9FF7-08FA73F91AD0}"/>
              </a:ext>
            </a:extLst>
          </p:cNvPr>
          <p:cNvGraphicFramePr>
            <a:graphicFrameLocks noGrp="1"/>
          </p:cNvGraphicFramePr>
          <p:nvPr>
            <p:extLst>
              <p:ext uri="{D42A27DB-BD31-4B8C-83A1-F6EECF244321}">
                <p14:modId xmlns:p14="http://schemas.microsoft.com/office/powerpoint/2010/main" val="152678706"/>
              </p:ext>
            </p:extLst>
          </p:nvPr>
        </p:nvGraphicFramePr>
        <p:xfrm>
          <a:off x="15343492" y="34063940"/>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火事だー</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プリキュアの最終回</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よし一旦</a:t>
                      </a:r>
                      <a:r>
                        <a:rPr kumimoji="1" lang="en" altLang="ja-JP" sz="2800" spc="-100" baseline="0" dirty="0">
                          <a:solidFill>
                            <a:srgbClr val="FF0000"/>
                          </a:solidFill>
                          <a:latin typeface="UD Digi Kyokasho NK-R" panose="02020400000000000000" pitchFamily="18" charset="-128"/>
                          <a:ea typeface="UD Digi Kyokasho NK-R" panose="02020400000000000000" pitchFamily="18" charset="-128"/>
                        </a:rPr>
                        <a:t>CM</a:t>
                      </a:r>
                      <a:r>
                        <a:rPr kumimoji="1" lang="ja-JP" altLang="en-US" sz="2800" spc="-100" baseline="0">
                          <a:latin typeface="UD Digi Kyokasho NK-R" panose="02020400000000000000" pitchFamily="18" charset="-128"/>
                          <a:ea typeface="UD Digi Kyokasho NK-R" panose="02020400000000000000" pitchFamily="18" charset="-128"/>
                        </a:rPr>
                        <a:t>の時間だ</a:t>
                      </a:r>
                    </a:p>
                  </a:txBody>
                  <a:tcPr anchor="ctr"/>
                </a:tc>
                <a:extLst>
                  <a:ext uri="{0D108BD9-81ED-4DB2-BD59-A6C34878D82A}">
                    <a16:rowId xmlns:a16="http://schemas.microsoft.com/office/drawing/2014/main" val="1783522377"/>
                  </a:ext>
                </a:extLst>
              </a:tr>
            </a:tbl>
          </a:graphicData>
        </a:graphic>
      </p:graphicFrame>
      <p:pic>
        <p:nvPicPr>
          <p:cNvPr id="214" name="図 213" descr="帽子を被っている女性&#10;&#10;自動的に生成された説明">
            <a:extLst>
              <a:ext uri="{FF2B5EF4-FFF2-40B4-BE49-F238E27FC236}">
                <a16:creationId xmlns:a16="http://schemas.microsoft.com/office/drawing/2014/main" id="{AC82285A-96DB-9690-7F15-C9A038C14A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1881" y="7667309"/>
            <a:ext cx="1496736" cy="1496736"/>
          </a:xfrm>
          <a:prstGeom prst="rect">
            <a:avLst/>
          </a:prstGeom>
        </p:spPr>
      </p:pic>
      <mc:AlternateContent xmlns:mc="http://schemas.openxmlformats.org/markup-compatibility/2006" xmlns:a14="http://schemas.microsoft.com/office/drawing/2010/main">
        <mc:Choice Requires="a14">
          <p:sp>
            <p:nvSpPr>
              <p:cNvPr id="216" name="テキスト ボックス 215">
                <a:extLst>
                  <a:ext uri="{FF2B5EF4-FFF2-40B4-BE49-F238E27FC236}">
                    <a16:creationId xmlns:a16="http://schemas.microsoft.com/office/drawing/2014/main" id="{E9786A7F-47F9-B8F1-4898-1CF3772FB67A}"/>
                  </a:ext>
                </a:extLst>
              </p:cNvPr>
              <p:cNvSpPr txBox="1"/>
              <p:nvPr/>
            </p:nvSpPr>
            <p:spPr>
              <a:xfrm>
                <a:off x="2036003" y="6957190"/>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16" name="テキスト ボックス 215">
                <a:extLst>
                  <a:ext uri="{FF2B5EF4-FFF2-40B4-BE49-F238E27FC236}">
                    <a16:creationId xmlns:a16="http://schemas.microsoft.com/office/drawing/2014/main" id="{E9786A7F-47F9-B8F1-4898-1CF3772FB67A}"/>
                  </a:ext>
                </a:extLst>
              </p:cNvPr>
              <p:cNvSpPr txBox="1">
                <a:spLocks noRot="1" noChangeAspect="1" noMove="1" noResize="1" noEditPoints="1" noAdjustHandles="1" noChangeArrowheads="1" noChangeShapeType="1" noTextEdit="1"/>
              </p:cNvSpPr>
              <p:nvPr/>
            </p:nvSpPr>
            <p:spPr>
              <a:xfrm>
                <a:off x="2036003" y="6957190"/>
                <a:ext cx="471668" cy="430887"/>
              </a:xfrm>
              <a:prstGeom prst="rect">
                <a:avLst/>
              </a:prstGeom>
              <a:blipFill>
                <a:blip r:embed="rId7"/>
                <a:stretch>
                  <a:fillRect l="-10526" r="-2632"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7" name="テキスト ボックス 216">
                <a:extLst>
                  <a:ext uri="{FF2B5EF4-FFF2-40B4-BE49-F238E27FC236}">
                    <a16:creationId xmlns:a16="http://schemas.microsoft.com/office/drawing/2014/main" id="{89F9CC42-0EFF-4861-65DA-AA213DBC97A8}"/>
                  </a:ext>
                </a:extLst>
              </p:cNvPr>
              <p:cNvSpPr txBox="1"/>
              <p:nvPr/>
            </p:nvSpPr>
            <p:spPr>
              <a:xfrm>
                <a:off x="1988951" y="8191225"/>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17" name="テキスト ボックス 216">
                <a:extLst>
                  <a:ext uri="{FF2B5EF4-FFF2-40B4-BE49-F238E27FC236}">
                    <a16:creationId xmlns:a16="http://schemas.microsoft.com/office/drawing/2014/main" id="{89F9CC42-0EFF-4861-65DA-AA213DBC97A8}"/>
                  </a:ext>
                </a:extLst>
              </p:cNvPr>
              <p:cNvSpPr txBox="1">
                <a:spLocks noRot="1" noChangeAspect="1" noMove="1" noResize="1" noEditPoints="1" noAdjustHandles="1" noChangeArrowheads="1" noChangeShapeType="1" noTextEdit="1"/>
              </p:cNvSpPr>
              <p:nvPr/>
            </p:nvSpPr>
            <p:spPr>
              <a:xfrm>
                <a:off x="1988951" y="8191225"/>
                <a:ext cx="492507" cy="430887"/>
              </a:xfrm>
              <a:prstGeom prst="rect">
                <a:avLst/>
              </a:prstGeom>
              <a:blipFill>
                <a:blip r:embed="rId8"/>
                <a:stretch>
                  <a:fillRect b="-5882"/>
                </a:stretch>
              </a:blipFill>
            </p:spPr>
            <p:txBody>
              <a:bodyPr/>
              <a:lstStyle/>
              <a:p>
                <a:r>
                  <a:rPr lang="ja-JP" altLang="en-US">
                    <a:noFill/>
                  </a:rPr>
                  <a:t> </a:t>
                </a:r>
              </a:p>
            </p:txBody>
          </p:sp>
        </mc:Fallback>
      </mc:AlternateContent>
      <p:cxnSp>
        <p:nvCxnSpPr>
          <p:cNvPr id="223" name="直線矢印コネクタ 222">
            <a:extLst>
              <a:ext uri="{FF2B5EF4-FFF2-40B4-BE49-F238E27FC236}">
                <a16:creationId xmlns:a16="http://schemas.microsoft.com/office/drawing/2014/main" id="{EB5A462D-A80D-CC6A-B4A4-915FD8588001}"/>
              </a:ext>
            </a:extLst>
          </p:cNvPr>
          <p:cNvCxnSpPr>
            <a:cxnSpLocks/>
            <a:stCxn id="216" idx="3"/>
            <a:endCxn id="245" idx="1"/>
          </p:cNvCxnSpPr>
          <p:nvPr/>
        </p:nvCxnSpPr>
        <p:spPr>
          <a:xfrm>
            <a:off x="2507671" y="7172634"/>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線矢印コネクタ 223">
            <a:extLst>
              <a:ext uri="{FF2B5EF4-FFF2-40B4-BE49-F238E27FC236}">
                <a16:creationId xmlns:a16="http://schemas.microsoft.com/office/drawing/2014/main" id="{9FF679CD-793E-7077-AD1C-3BCC7951EF16}"/>
              </a:ext>
            </a:extLst>
          </p:cNvPr>
          <p:cNvCxnSpPr>
            <a:cxnSpLocks/>
            <a:stCxn id="245" idx="3"/>
            <a:endCxn id="270" idx="1"/>
          </p:cNvCxnSpPr>
          <p:nvPr/>
        </p:nvCxnSpPr>
        <p:spPr>
          <a:xfrm flipV="1">
            <a:off x="5613881" y="7168624"/>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19">
            <a:extLst>
              <a:ext uri="{FF2B5EF4-FFF2-40B4-BE49-F238E27FC236}">
                <a16:creationId xmlns:a16="http://schemas.microsoft.com/office/drawing/2014/main" id="{A4BA8391-F00F-15FB-2F52-C17A87D640BF}"/>
              </a:ext>
            </a:extLst>
          </p:cNvPr>
          <p:cNvCxnSpPr>
            <a:cxnSpLocks/>
            <a:stCxn id="270" idx="3"/>
            <a:endCxn id="273" idx="1"/>
          </p:cNvCxnSpPr>
          <p:nvPr/>
        </p:nvCxnSpPr>
        <p:spPr>
          <a:xfrm>
            <a:off x="8956217" y="7168624"/>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線矢印コネクタ 225">
            <a:extLst>
              <a:ext uri="{FF2B5EF4-FFF2-40B4-BE49-F238E27FC236}">
                <a16:creationId xmlns:a16="http://schemas.microsoft.com/office/drawing/2014/main" id="{B0244165-A331-B5E2-2D99-05A754DC6D77}"/>
              </a:ext>
            </a:extLst>
          </p:cNvPr>
          <p:cNvCxnSpPr>
            <a:cxnSpLocks/>
            <a:stCxn id="273" idx="3"/>
            <a:endCxn id="228" idx="1"/>
          </p:cNvCxnSpPr>
          <p:nvPr/>
        </p:nvCxnSpPr>
        <p:spPr>
          <a:xfrm>
            <a:off x="12052610" y="7789658"/>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8" name="テキスト ボックス 227">
                <a:extLst>
                  <a:ext uri="{FF2B5EF4-FFF2-40B4-BE49-F238E27FC236}">
                    <a16:creationId xmlns:a16="http://schemas.microsoft.com/office/drawing/2014/main" id="{BE9AD327-F7D0-ED72-F40D-84FF6D3695E3}"/>
                  </a:ext>
                </a:extLst>
              </p:cNvPr>
              <p:cNvSpPr txBox="1"/>
              <p:nvPr/>
            </p:nvSpPr>
            <p:spPr>
              <a:xfrm>
                <a:off x="12909280" y="7588721"/>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28" name="テキスト ボックス 227">
                <a:extLst>
                  <a:ext uri="{FF2B5EF4-FFF2-40B4-BE49-F238E27FC236}">
                    <a16:creationId xmlns:a16="http://schemas.microsoft.com/office/drawing/2014/main" id="{BE9AD327-F7D0-ED72-F40D-84FF6D3695E3}"/>
                  </a:ext>
                </a:extLst>
              </p:cNvPr>
              <p:cNvSpPr txBox="1">
                <a:spLocks noRot="1" noChangeAspect="1" noMove="1" noResize="1" noEditPoints="1" noAdjustHandles="1" noChangeArrowheads="1" noChangeShapeType="1" noTextEdit="1"/>
              </p:cNvSpPr>
              <p:nvPr/>
            </p:nvSpPr>
            <p:spPr>
              <a:xfrm>
                <a:off x="12909280" y="7588721"/>
                <a:ext cx="814710" cy="430887"/>
              </a:xfrm>
              <a:prstGeom prst="rect">
                <a:avLst/>
              </a:prstGeom>
              <a:blipFill>
                <a:blip r:embed="rId9"/>
                <a:stretch>
                  <a:fillRect l="-4615" r="-3077" b="-11429"/>
                </a:stretch>
              </a:blipFill>
            </p:spPr>
            <p:txBody>
              <a:bodyPr/>
              <a:lstStyle/>
              <a:p>
                <a:r>
                  <a:rPr lang="ja-JP" altLang="en-US">
                    <a:noFill/>
                  </a:rPr>
                  <a:t> </a:t>
                </a:r>
              </a:p>
            </p:txBody>
          </p:sp>
        </mc:Fallback>
      </mc:AlternateContent>
      <p:grpSp>
        <p:nvGrpSpPr>
          <p:cNvPr id="240" name="グループ化 239">
            <a:extLst>
              <a:ext uri="{FF2B5EF4-FFF2-40B4-BE49-F238E27FC236}">
                <a16:creationId xmlns:a16="http://schemas.microsoft.com/office/drawing/2014/main" id="{A054153A-7DE4-618A-3D41-DE53B06C7CCD}"/>
              </a:ext>
            </a:extLst>
          </p:cNvPr>
          <p:cNvGrpSpPr/>
          <p:nvPr/>
        </p:nvGrpSpPr>
        <p:grpSpPr>
          <a:xfrm>
            <a:off x="3670881" y="6815070"/>
            <a:ext cx="1943000" cy="719356"/>
            <a:chOff x="3749692" y="11369202"/>
            <a:chExt cx="1943000" cy="719356"/>
          </a:xfrm>
        </p:grpSpPr>
        <p:sp>
          <p:nvSpPr>
            <p:cNvPr id="245" name="正方形/長方形 244">
              <a:extLst>
                <a:ext uri="{FF2B5EF4-FFF2-40B4-BE49-F238E27FC236}">
                  <a16:creationId xmlns:a16="http://schemas.microsoft.com/office/drawing/2014/main" id="{3D593E03-A2D3-15AB-90BC-6AEE4C3C1647}"/>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46" name="テキスト ボックス 245">
                  <a:extLst>
                    <a:ext uri="{FF2B5EF4-FFF2-40B4-BE49-F238E27FC236}">
                      <a16:creationId xmlns:a16="http://schemas.microsoft.com/office/drawing/2014/main" id="{86E9DCFB-3953-82A5-AD51-D92E907C7CA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46" name="テキスト ボックス 245">
                  <a:extLst>
                    <a:ext uri="{FF2B5EF4-FFF2-40B4-BE49-F238E27FC236}">
                      <a16:creationId xmlns:a16="http://schemas.microsoft.com/office/drawing/2014/main" id="{86E9DCFB-3953-82A5-AD51-D92E907C7CA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0"/>
                  <a:stretch>
                    <a:fillRect l="-6000" t="-2941" r="-6000" b="-3529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47" name="テキスト ボックス 246">
                <a:extLst>
                  <a:ext uri="{FF2B5EF4-FFF2-40B4-BE49-F238E27FC236}">
                    <a16:creationId xmlns:a16="http://schemas.microsoft.com/office/drawing/2014/main" id="{973B32A8-3E14-E7A8-84C7-48191CB33DA7}"/>
                  </a:ext>
                </a:extLst>
              </p:cNvPr>
              <p:cNvSpPr txBox="1"/>
              <p:nvPr/>
            </p:nvSpPr>
            <p:spPr>
              <a:xfrm>
                <a:off x="8086668" y="6337110"/>
                <a:ext cx="3511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47" name="テキスト ボックス 246">
                <a:extLst>
                  <a:ext uri="{FF2B5EF4-FFF2-40B4-BE49-F238E27FC236}">
                    <a16:creationId xmlns:a16="http://schemas.microsoft.com/office/drawing/2014/main" id="{973B32A8-3E14-E7A8-84C7-48191CB33DA7}"/>
                  </a:ext>
                </a:extLst>
              </p:cNvPr>
              <p:cNvSpPr txBox="1">
                <a:spLocks noRot="1" noChangeAspect="1" noMove="1" noResize="1" noEditPoints="1" noAdjustHandles="1" noChangeArrowheads="1" noChangeShapeType="1" noTextEdit="1"/>
              </p:cNvSpPr>
              <p:nvPr/>
            </p:nvSpPr>
            <p:spPr>
              <a:xfrm>
                <a:off x="8086668" y="6337110"/>
                <a:ext cx="351185" cy="430887"/>
              </a:xfrm>
              <a:prstGeom prst="rect">
                <a:avLst/>
              </a:prstGeom>
              <a:blipFill>
                <a:blip r:embed="rId11"/>
                <a:stretch>
                  <a:fillRect l="-10345" r="-3448" b="-14706"/>
                </a:stretch>
              </a:blipFill>
            </p:spPr>
            <p:txBody>
              <a:bodyPr/>
              <a:lstStyle/>
              <a:p>
                <a:r>
                  <a:rPr lang="ja-JP" altLang="en-US">
                    <a:noFill/>
                  </a:rPr>
                  <a:t> </a:t>
                </a:r>
              </a:p>
            </p:txBody>
          </p:sp>
        </mc:Fallback>
      </mc:AlternateContent>
      <p:sp>
        <p:nvSpPr>
          <p:cNvPr id="5" name="正方形/長方形 4">
            <a:extLst>
              <a:ext uri="{FF2B5EF4-FFF2-40B4-BE49-F238E27FC236}">
                <a16:creationId xmlns:a16="http://schemas.microsoft.com/office/drawing/2014/main" id="{5BCF1E3A-E4D3-E485-FF19-DB5B16DAF899}"/>
              </a:ext>
            </a:extLst>
          </p:cNvPr>
          <p:cNvSpPr/>
          <p:nvPr/>
        </p:nvSpPr>
        <p:spPr>
          <a:xfrm>
            <a:off x="5341076" y="10647397"/>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EAC9EC35-19CC-9271-9E5C-5203A561D264}"/>
              </a:ext>
            </a:extLst>
          </p:cNvPr>
          <p:cNvSpPr/>
          <p:nvPr/>
        </p:nvSpPr>
        <p:spPr>
          <a:xfrm>
            <a:off x="5352644" y="7743765"/>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8" name="直線矢印コネクタ 247">
            <a:extLst>
              <a:ext uri="{FF2B5EF4-FFF2-40B4-BE49-F238E27FC236}">
                <a16:creationId xmlns:a16="http://schemas.microsoft.com/office/drawing/2014/main" id="{02FE7BE1-F83F-1E1F-D74D-A29BD0761BDB}"/>
              </a:ext>
            </a:extLst>
          </p:cNvPr>
          <p:cNvCxnSpPr>
            <a:cxnSpLocks/>
            <a:endCxn id="270" idx="0"/>
          </p:cNvCxnSpPr>
          <p:nvPr/>
        </p:nvCxnSpPr>
        <p:spPr>
          <a:xfrm>
            <a:off x="7984717" y="6299086"/>
            <a:ext cx="0" cy="50986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27AA0A93-5A38-32FF-42C1-ED2393F43D09}"/>
              </a:ext>
            </a:extLst>
          </p:cNvPr>
          <p:cNvCxnSpPr>
            <a:cxnSpLocks/>
            <a:stCxn id="214" idx="3"/>
            <a:endCxn id="256" idx="2"/>
          </p:cNvCxnSpPr>
          <p:nvPr/>
        </p:nvCxnSpPr>
        <p:spPr>
          <a:xfrm flipV="1">
            <a:off x="3018617" y="8409209"/>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直線矢印コネクタ 22">
            <a:extLst>
              <a:ext uri="{FF2B5EF4-FFF2-40B4-BE49-F238E27FC236}">
                <a16:creationId xmlns:a16="http://schemas.microsoft.com/office/drawing/2014/main" id="{4A573549-C2AA-98F8-59E3-1055973CBB60}"/>
              </a:ext>
            </a:extLst>
          </p:cNvPr>
          <p:cNvCxnSpPr>
            <a:cxnSpLocks/>
            <a:stCxn id="256" idx="0"/>
            <a:endCxn id="273" idx="1"/>
          </p:cNvCxnSpPr>
          <p:nvPr/>
        </p:nvCxnSpPr>
        <p:spPr>
          <a:xfrm flipV="1">
            <a:off x="6983616" y="7789658"/>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4" name="グループ化 253">
            <a:extLst>
              <a:ext uri="{FF2B5EF4-FFF2-40B4-BE49-F238E27FC236}">
                <a16:creationId xmlns:a16="http://schemas.microsoft.com/office/drawing/2014/main" id="{80A45BF1-1759-352C-F29F-FAA0D6CC85E1}"/>
              </a:ext>
            </a:extLst>
          </p:cNvPr>
          <p:cNvGrpSpPr/>
          <p:nvPr/>
        </p:nvGrpSpPr>
        <p:grpSpPr>
          <a:xfrm>
            <a:off x="5551632" y="7847933"/>
            <a:ext cx="1431984" cy="1122552"/>
            <a:chOff x="5794565" y="9611968"/>
            <a:chExt cx="1431984" cy="1122552"/>
          </a:xfrm>
        </p:grpSpPr>
        <p:sp>
          <p:nvSpPr>
            <p:cNvPr id="256" name="台形 255">
              <a:extLst>
                <a:ext uri="{FF2B5EF4-FFF2-40B4-BE49-F238E27FC236}">
                  <a16:creationId xmlns:a16="http://schemas.microsoft.com/office/drawing/2014/main" id="{9F94FCAC-3C49-7535-4605-BE8FEDC9A663}"/>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62" name="テキスト ボックス 261">
                  <a:extLst>
                    <a:ext uri="{FF2B5EF4-FFF2-40B4-BE49-F238E27FC236}">
                      <a16:creationId xmlns:a16="http://schemas.microsoft.com/office/drawing/2014/main" id="{DF67C357-CCE4-4C6F-CA9A-AE9F5A8A624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62" name="テキスト ボックス 261">
                  <a:extLst>
                    <a:ext uri="{FF2B5EF4-FFF2-40B4-BE49-F238E27FC236}">
                      <a16:creationId xmlns:a16="http://schemas.microsoft.com/office/drawing/2014/main" id="{DF67C357-CCE4-4C6F-CA9A-AE9F5A8A624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12"/>
                  <a:stretch>
                    <a:fillRect l="-6306" r="-4505" b="-5714"/>
                  </a:stretch>
                </a:blipFill>
              </p:spPr>
              <p:txBody>
                <a:bodyPr/>
                <a:lstStyle/>
                <a:p>
                  <a:r>
                    <a:rPr lang="ja-JP" altLang="en-US">
                      <a:noFill/>
                    </a:rPr>
                    <a:t> </a:t>
                  </a:r>
                </a:p>
              </p:txBody>
            </p:sp>
          </mc:Fallback>
        </mc:AlternateContent>
      </p:grpSp>
      <p:grpSp>
        <p:nvGrpSpPr>
          <p:cNvPr id="269" name="グループ化 268">
            <a:extLst>
              <a:ext uri="{FF2B5EF4-FFF2-40B4-BE49-F238E27FC236}">
                <a16:creationId xmlns:a16="http://schemas.microsoft.com/office/drawing/2014/main" id="{E602F14E-591B-3D60-161F-7DC215F96608}"/>
              </a:ext>
            </a:extLst>
          </p:cNvPr>
          <p:cNvGrpSpPr/>
          <p:nvPr/>
        </p:nvGrpSpPr>
        <p:grpSpPr>
          <a:xfrm>
            <a:off x="7013217" y="6808946"/>
            <a:ext cx="1943000" cy="719356"/>
            <a:chOff x="3749692" y="11369202"/>
            <a:chExt cx="1943000" cy="719356"/>
          </a:xfrm>
        </p:grpSpPr>
        <p:sp>
          <p:nvSpPr>
            <p:cNvPr id="270" name="正方形/長方形 269">
              <a:extLst>
                <a:ext uri="{FF2B5EF4-FFF2-40B4-BE49-F238E27FC236}">
                  <a16:creationId xmlns:a16="http://schemas.microsoft.com/office/drawing/2014/main" id="{A7E4DF10-563E-BEB9-68A1-A17CB31EC791}"/>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1" name="テキスト ボックス 270">
                  <a:extLst>
                    <a:ext uri="{FF2B5EF4-FFF2-40B4-BE49-F238E27FC236}">
                      <a16:creationId xmlns:a16="http://schemas.microsoft.com/office/drawing/2014/main" id="{F730D54A-F977-45DB-D319-702796AFEEC6}"/>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71" name="テキスト ボックス 270">
                  <a:extLst>
                    <a:ext uri="{FF2B5EF4-FFF2-40B4-BE49-F238E27FC236}">
                      <a16:creationId xmlns:a16="http://schemas.microsoft.com/office/drawing/2014/main" id="{F730D54A-F977-45DB-D319-702796AFEEC6}"/>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3"/>
                  <a:stretch>
                    <a:fillRect b="-5714"/>
                  </a:stretch>
                </a:blipFill>
              </p:spPr>
              <p:txBody>
                <a:bodyPr/>
                <a:lstStyle/>
                <a:p>
                  <a:r>
                    <a:rPr lang="ja-JP" altLang="en-US">
                      <a:noFill/>
                    </a:rPr>
                    <a:t> </a:t>
                  </a:r>
                </a:p>
              </p:txBody>
            </p:sp>
          </mc:Fallback>
        </mc:AlternateContent>
      </p:grpSp>
      <p:grpSp>
        <p:nvGrpSpPr>
          <p:cNvPr id="272" name="グループ化 271">
            <a:extLst>
              <a:ext uri="{FF2B5EF4-FFF2-40B4-BE49-F238E27FC236}">
                <a16:creationId xmlns:a16="http://schemas.microsoft.com/office/drawing/2014/main" id="{075AF110-7F10-C9A1-A124-0088DDABFAAD}"/>
              </a:ext>
            </a:extLst>
          </p:cNvPr>
          <p:cNvGrpSpPr/>
          <p:nvPr/>
        </p:nvGrpSpPr>
        <p:grpSpPr>
          <a:xfrm>
            <a:off x="10109610" y="7429980"/>
            <a:ext cx="1943000" cy="719356"/>
            <a:chOff x="3749692" y="11369202"/>
            <a:chExt cx="1943000" cy="719356"/>
          </a:xfrm>
        </p:grpSpPr>
        <p:sp>
          <p:nvSpPr>
            <p:cNvPr id="273" name="正方形/長方形 272">
              <a:extLst>
                <a:ext uri="{FF2B5EF4-FFF2-40B4-BE49-F238E27FC236}">
                  <a16:creationId xmlns:a16="http://schemas.microsoft.com/office/drawing/2014/main" id="{B0C78290-2687-F702-7E5B-DA11CB35E48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4" name="テキスト ボックス 273">
                  <a:extLst>
                    <a:ext uri="{FF2B5EF4-FFF2-40B4-BE49-F238E27FC236}">
                      <a16:creationId xmlns:a16="http://schemas.microsoft.com/office/drawing/2014/main" id="{CB8AAA5B-7BAA-5FE0-DA14-9E1B3199832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274" name="テキスト ボックス 273">
                  <a:extLst>
                    <a:ext uri="{FF2B5EF4-FFF2-40B4-BE49-F238E27FC236}">
                      <a16:creationId xmlns:a16="http://schemas.microsoft.com/office/drawing/2014/main" id="{CB8AAA5B-7BAA-5FE0-DA14-9E1B31998329}"/>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4"/>
                  <a:stretch>
                    <a:fillRect b="-5714"/>
                  </a:stretch>
                </a:blipFill>
              </p:spPr>
              <p:txBody>
                <a:bodyPr/>
                <a:lstStyle/>
                <a:p>
                  <a:r>
                    <a:rPr lang="ja-JP" altLang="en-US">
                      <a:noFill/>
                    </a:rPr>
                    <a:t> </a:t>
                  </a:r>
                </a:p>
              </p:txBody>
            </p:sp>
          </mc:Fallback>
        </mc:AlternateContent>
      </p:grpSp>
      <p:cxnSp>
        <p:nvCxnSpPr>
          <p:cNvPr id="275" name="直線矢印コネクタ 135">
            <a:extLst>
              <a:ext uri="{FF2B5EF4-FFF2-40B4-BE49-F238E27FC236}">
                <a16:creationId xmlns:a16="http://schemas.microsoft.com/office/drawing/2014/main" id="{1442AD5E-ECC8-2EF6-E36D-352CFD75AB83}"/>
              </a:ext>
            </a:extLst>
          </p:cNvPr>
          <p:cNvCxnSpPr>
            <a:cxnSpLocks/>
            <a:stCxn id="228" idx="2"/>
            <a:endCxn id="277" idx="0"/>
          </p:cNvCxnSpPr>
          <p:nvPr/>
        </p:nvCxnSpPr>
        <p:spPr>
          <a:xfrm rot="5400000">
            <a:off x="6937002" y="3521021"/>
            <a:ext cx="1881046" cy="10878220"/>
          </a:xfrm>
          <a:prstGeom prst="bentConnector3">
            <a:avLst>
              <a:gd name="adj1" fmla="val 69943"/>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76" name="図 275" descr="帽子を被っている女性&#10;&#10;自動的に生成された説明">
            <a:extLst>
              <a:ext uri="{FF2B5EF4-FFF2-40B4-BE49-F238E27FC236}">
                <a16:creationId xmlns:a16="http://schemas.microsoft.com/office/drawing/2014/main" id="{7D919012-BCD9-E78F-078E-853C48FE2B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10610773"/>
            <a:ext cx="1496736" cy="1496736"/>
          </a:xfrm>
          <a:prstGeom prst="rect">
            <a:avLst/>
          </a:prstGeom>
        </p:spPr>
      </p:pic>
      <mc:AlternateContent xmlns:mc="http://schemas.openxmlformats.org/markup-compatibility/2006" xmlns:a14="http://schemas.microsoft.com/office/drawing/2010/main">
        <mc:Choice Requires="a14">
          <p:sp>
            <p:nvSpPr>
              <p:cNvPr id="277" name="テキスト ボックス 276">
                <a:extLst>
                  <a:ext uri="{FF2B5EF4-FFF2-40B4-BE49-F238E27FC236}">
                    <a16:creationId xmlns:a16="http://schemas.microsoft.com/office/drawing/2014/main" id="{185E924C-D473-7E31-2791-6C6A6D47B0B5}"/>
                  </a:ext>
                </a:extLst>
              </p:cNvPr>
              <p:cNvSpPr txBox="1"/>
              <p:nvPr/>
            </p:nvSpPr>
            <p:spPr>
              <a:xfrm>
                <a:off x="2031060" y="9900654"/>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77" name="テキスト ボックス 276">
                <a:extLst>
                  <a:ext uri="{FF2B5EF4-FFF2-40B4-BE49-F238E27FC236}">
                    <a16:creationId xmlns:a16="http://schemas.microsoft.com/office/drawing/2014/main" id="{185E924C-D473-7E31-2791-6C6A6D47B0B5}"/>
                  </a:ext>
                </a:extLst>
              </p:cNvPr>
              <p:cNvSpPr txBox="1">
                <a:spLocks noRot="1" noChangeAspect="1" noMove="1" noResize="1" noEditPoints="1" noAdjustHandles="1" noChangeArrowheads="1" noChangeShapeType="1" noTextEdit="1"/>
              </p:cNvSpPr>
              <p:nvPr/>
            </p:nvSpPr>
            <p:spPr>
              <a:xfrm>
                <a:off x="2031060" y="9900654"/>
                <a:ext cx="814710" cy="430887"/>
              </a:xfrm>
              <a:prstGeom prst="rect">
                <a:avLst/>
              </a:prstGeom>
              <a:blipFill>
                <a:blip r:embed="rId15"/>
                <a:stretch>
                  <a:fillRect l="-4545" r="-3030"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8" name="テキスト ボックス 277">
                <a:extLst>
                  <a:ext uri="{FF2B5EF4-FFF2-40B4-BE49-F238E27FC236}">
                    <a16:creationId xmlns:a16="http://schemas.microsoft.com/office/drawing/2014/main" id="{FA734656-A05F-5B8A-2837-1B844524488D}"/>
                  </a:ext>
                </a:extLst>
              </p:cNvPr>
              <p:cNvSpPr txBox="1"/>
              <p:nvPr/>
            </p:nvSpPr>
            <p:spPr>
              <a:xfrm>
                <a:off x="1984008" y="1113468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i="0" smtClean="0">
                          <a:latin typeface="Cambria Math" panose="02040503050406030204" pitchFamily="18" charset="0"/>
                        </a:rPr>
                        <m:t>𝐈</m:t>
                      </m:r>
                    </m:oMath>
                  </m:oMathPara>
                </a14:m>
                <a:endParaRPr kumimoji="1" lang="ja-JP" altLang="en-US" sz="2800" b="1" dirty="0"/>
              </a:p>
            </p:txBody>
          </p:sp>
        </mc:Choice>
        <mc:Fallback xmlns="">
          <p:sp>
            <p:nvSpPr>
              <p:cNvPr id="278" name="テキスト ボックス 277">
                <a:extLst>
                  <a:ext uri="{FF2B5EF4-FFF2-40B4-BE49-F238E27FC236}">
                    <a16:creationId xmlns:a16="http://schemas.microsoft.com/office/drawing/2014/main" id="{FA734656-A05F-5B8A-2837-1B844524488D}"/>
                  </a:ext>
                </a:extLst>
              </p:cNvPr>
              <p:cNvSpPr txBox="1">
                <a:spLocks noRot="1" noChangeAspect="1" noMove="1" noResize="1" noEditPoints="1" noAdjustHandles="1" noChangeArrowheads="1" noChangeShapeType="1" noTextEdit="1"/>
              </p:cNvSpPr>
              <p:nvPr/>
            </p:nvSpPr>
            <p:spPr>
              <a:xfrm>
                <a:off x="1984008" y="11134689"/>
                <a:ext cx="492507" cy="430887"/>
              </a:xfrm>
              <a:prstGeom prst="rect">
                <a:avLst/>
              </a:prstGeom>
              <a:blipFill>
                <a:blip r:embed="rId16"/>
                <a:stretch>
                  <a:fillRect b="-5714"/>
                </a:stretch>
              </a:blipFill>
            </p:spPr>
            <p:txBody>
              <a:bodyPr/>
              <a:lstStyle/>
              <a:p>
                <a:r>
                  <a:rPr lang="ja-JP" altLang="en-US">
                    <a:noFill/>
                  </a:rPr>
                  <a:t> </a:t>
                </a:r>
              </a:p>
            </p:txBody>
          </p:sp>
        </mc:Fallback>
      </mc:AlternateContent>
      <p:cxnSp>
        <p:nvCxnSpPr>
          <p:cNvPr id="279" name="直線矢印コネクタ 278">
            <a:extLst>
              <a:ext uri="{FF2B5EF4-FFF2-40B4-BE49-F238E27FC236}">
                <a16:creationId xmlns:a16="http://schemas.microsoft.com/office/drawing/2014/main" id="{4FA4FB80-7B2C-D4FA-1E26-D032CC28C889}"/>
              </a:ext>
            </a:extLst>
          </p:cNvPr>
          <p:cNvCxnSpPr>
            <a:cxnSpLocks/>
            <a:stCxn id="277" idx="3"/>
            <a:endCxn id="285" idx="1"/>
          </p:cNvCxnSpPr>
          <p:nvPr/>
        </p:nvCxnSpPr>
        <p:spPr>
          <a:xfrm>
            <a:off x="2845770" y="10116098"/>
            <a:ext cx="820168"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E638358B-477C-ED4B-4360-CF9629AA8759}"/>
              </a:ext>
            </a:extLst>
          </p:cNvPr>
          <p:cNvCxnSpPr>
            <a:cxnSpLocks/>
            <a:stCxn id="285" idx="3"/>
            <a:endCxn id="296" idx="1"/>
          </p:cNvCxnSpPr>
          <p:nvPr/>
        </p:nvCxnSpPr>
        <p:spPr>
          <a:xfrm flipV="1">
            <a:off x="5608938" y="10112088"/>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19">
            <a:extLst>
              <a:ext uri="{FF2B5EF4-FFF2-40B4-BE49-F238E27FC236}">
                <a16:creationId xmlns:a16="http://schemas.microsoft.com/office/drawing/2014/main" id="{CE0C6582-A421-C5E2-13D1-0A458F975858}"/>
              </a:ext>
            </a:extLst>
          </p:cNvPr>
          <p:cNvCxnSpPr>
            <a:cxnSpLocks/>
            <a:stCxn id="296" idx="3"/>
            <a:endCxn id="299" idx="1"/>
          </p:cNvCxnSpPr>
          <p:nvPr/>
        </p:nvCxnSpPr>
        <p:spPr>
          <a:xfrm>
            <a:off x="8951274" y="10112088"/>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直線矢印コネクタ 281">
            <a:extLst>
              <a:ext uri="{FF2B5EF4-FFF2-40B4-BE49-F238E27FC236}">
                <a16:creationId xmlns:a16="http://schemas.microsoft.com/office/drawing/2014/main" id="{A2295E78-CDC7-7445-F865-DEFA6D7DC947}"/>
              </a:ext>
            </a:extLst>
          </p:cNvPr>
          <p:cNvCxnSpPr>
            <a:cxnSpLocks/>
            <a:stCxn id="299" idx="3"/>
            <a:endCxn id="283" idx="1"/>
          </p:cNvCxnSpPr>
          <p:nvPr/>
        </p:nvCxnSpPr>
        <p:spPr>
          <a:xfrm>
            <a:off x="12047667" y="10733122"/>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3" name="テキスト ボックス 282">
                <a:extLst>
                  <a:ext uri="{FF2B5EF4-FFF2-40B4-BE49-F238E27FC236}">
                    <a16:creationId xmlns:a16="http://schemas.microsoft.com/office/drawing/2014/main" id="{BB3662A6-1EBB-E2D8-7AE1-E157E0C26BF0}"/>
                  </a:ext>
                </a:extLst>
              </p:cNvPr>
              <p:cNvSpPr txBox="1"/>
              <p:nvPr/>
            </p:nvSpPr>
            <p:spPr>
              <a:xfrm>
                <a:off x="12904337" y="10532185"/>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+2</m:t>
                          </m:r>
                        </m:sub>
                      </m:sSub>
                    </m:oMath>
                  </m:oMathPara>
                </a14:m>
                <a:endParaRPr kumimoji="1" lang="ja-JP" altLang="en-US" sz="2800" dirty="0"/>
              </a:p>
            </p:txBody>
          </p:sp>
        </mc:Choice>
        <mc:Fallback xmlns="">
          <p:sp>
            <p:nvSpPr>
              <p:cNvPr id="283" name="テキスト ボックス 282">
                <a:extLst>
                  <a:ext uri="{FF2B5EF4-FFF2-40B4-BE49-F238E27FC236}">
                    <a16:creationId xmlns:a16="http://schemas.microsoft.com/office/drawing/2014/main" id="{BB3662A6-1EBB-E2D8-7AE1-E157E0C26BF0}"/>
                  </a:ext>
                </a:extLst>
              </p:cNvPr>
              <p:cNvSpPr txBox="1">
                <a:spLocks noRot="1" noChangeAspect="1" noMove="1" noResize="1" noEditPoints="1" noAdjustHandles="1" noChangeArrowheads="1" noChangeShapeType="1" noTextEdit="1"/>
              </p:cNvSpPr>
              <p:nvPr/>
            </p:nvSpPr>
            <p:spPr>
              <a:xfrm>
                <a:off x="12904337" y="10532185"/>
                <a:ext cx="814710" cy="430887"/>
              </a:xfrm>
              <a:prstGeom prst="rect">
                <a:avLst/>
              </a:prstGeom>
              <a:blipFill>
                <a:blip r:embed="rId17"/>
                <a:stretch>
                  <a:fillRect l="-6250" r="-4688" b="-11429"/>
                </a:stretch>
              </a:blipFill>
            </p:spPr>
            <p:txBody>
              <a:bodyPr/>
              <a:lstStyle/>
              <a:p>
                <a:r>
                  <a:rPr lang="ja-JP" altLang="en-US">
                    <a:noFill/>
                  </a:rPr>
                  <a:t> </a:t>
                </a:r>
              </a:p>
            </p:txBody>
          </p:sp>
        </mc:Fallback>
      </mc:AlternateContent>
      <p:grpSp>
        <p:nvGrpSpPr>
          <p:cNvPr id="284" name="グループ化 283">
            <a:extLst>
              <a:ext uri="{FF2B5EF4-FFF2-40B4-BE49-F238E27FC236}">
                <a16:creationId xmlns:a16="http://schemas.microsoft.com/office/drawing/2014/main" id="{9C34ABBF-0103-7F3F-36C5-5CB61B776E74}"/>
              </a:ext>
            </a:extLst>
          </p:cNvPr>
          <p:cNvGrpSpPr/>
          <p:nvPr/>
        </p:nvGrpSpPr>
        <p:grpSpPr>
          <a:xfrm>
            <a:off x="3665938" y="9758534"/>
            <a:ext cx="1943000" cy="719356"/>
            <a:chOff x="3749692" y="11369202"/>
            <a:chExt cx="1943000" cy="719356"/>
          </a:xfrm>
        </p:grpSpPr>
        <p:sp>
          <p:nvSpPr>
            <p:cNvPr id="285" name="正方形/長方形 284">
              <a:extLst>
                <a:ext uri="{FF2B5EF4-FFF2-40B4-BE49-F238E27FC236}">
                  <a16:creationId xmlns:a16="http://schemas.microsoft.com/office/drawing/2014/main" id="{27EC2E1D-2732-BAC4-6A6D-281A796D48C3}"/>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86" name="テキスト ボックス 285">
                  <a:extLst>
                    <a:ext uri="{FF2B5EF4-FFF2-40B4-BE49-F238E27FC236}">
                      <a16:creationId xmlns:a16="http://schemas.microsoft.com/office/drawing/2014/main" id="{A1964DD9-3996-2BA3-8021-AA9FD0AD5D6D}"/>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86" name="テキスト ボックス 285">
                  <a:extLst>
                    <a:ext uri="{FF2B5EF4-FFF2-40B4-BE49-F238E27FC236}">
                      <a16:creationId xmlns:a16="http://schemas.microsoft.com/office/drawing/2014/main" id="{A1964DD9-3996-2BA3-8021-AA9FD0AD5D6D}"/>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8"/>
                  <a:stretch>
                    <a:fillRect l="-5960" r="-5960" b="-34286"/>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87" name="テキスト ボックス 286">
                <a:extLst>
                  <a:ext uri="{FF2B5EF4-FFF2-40B4-BE49-F238E27FC236}">
                    <a16:creationId xmlns:a16="http://schemas.microsoft.com/office/drawing/2014/main" id="{01855A5E-DE71-BB22-36A4-138ADFE4FEBD}"/>
                  </a:ext>
                </a:extLst>
              </p:cNvPr>
              <p:cNvSpPr txBox="1"/>
              <p:nvPr/>
            </p:nvSpPr>
            <p:spPr>
              <a:xfrm>
                <a:off x="8081725" y="9280574"/>
                <a:ext cx="6942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87" name="テキスト ボックス 286">
                <a:extLst>
                  <a:ext uri="{FF2B5EF4-FFF2-40B4-BE49-F238E27FC236}">
                    <a16:creationId xmlns:a16="http://schemas.microsoft.com/office/drawing/2014/main" id="{01855A5E-DE71-BB22-36A4-138ADFE4FEBD}"/>
                  </a:ext>
                </a:extLst>
              </p:cNvPr>
              <p:cNvSpPr txBox="1">
                <a:spLocks noRot="1" noChangeAspect="1" noMove="1" noResize="1" noEditPoints="1" noAdjustHandles="1" noChangeArrowheads="1" noChangeShapeType="1" noTextEdit="1"/>
              </p:cNvSpPr>
              <p:nvPr/>
            </p:nvSpPr>
            <p:spPr>
              <a:xfrm>
                <a:off x="8081725" y="9280574"/>
                <a:ext cx="694229" cy="430887"/>
              </a:xfrm>
              <a:prstGeom prst="rect">
                <a:avLst/>
              </a:prstGeom>
              <a:blipFill>
                <a:blip r:embed="rId19"/>
                <a:stretch>
                  <a:fillRect l="-5357" r="-3571" b="-14286"/>
                </a:stretch>
              </a:blipFill>
            </p:spPr>
            <p:txBody>
              <a:bodyPr/>
              <a:lstStyle/>
              <a:p>
                <a:r>
                  <a:rPr lang="ja-JP" altLang="en-US">
                    <a:noFill/>
                  </a:rPr>
                  <a:t> </a:t>
                </a:r>
              </a:p>
            </p:txBody>
          </p:sp>
        </mc:Fallback>
      </mc:AlternateContent>
      <p:cxnSp>
        <p:nvCxnSpPr>
          <p:cNvPr id="288" name="直線矢印コネクタ 287">
            <a:extLst>
              <a:ext uri="{FF2B5EF4-FFF2-40B4-BE49-F238E27FC236}">
                <a16:creationId xmlns:a16="http://schemas.microsoft.com/office/drawing/2014/main" id="{2502D6C6-DBE8-343F-2691-09B277B83FD7}"/>
              </a:ext>
            </a:extLst>
          </p:cNvPr>
          <p:cNvCxnSpPr>
            <a:cxnSpLocks/>
            <a:stCxn id="270" idx="2"/>
            <a:endCxn id="296" idx="0"/>
          </p:cNvCxnSpPr>
          <p:nvPr/>
        </p:nvCxnSpPr>
        <p:spPr>
          <a:xfrm flipH="1">
            <a:off x="7979774" y="7528302"/>
            <a:ext cx="4943" cy="222410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0" name="直線矢印コネクタ 289">
            <a:extLst>
              <a:ext uri="{FF2B5EF4-FFF2-40B4-BE49-F238E27FC236}">
                <a16:creationId xmlns:a16="http://schemas.microsoft.com/office/drawing/2014/main" id="{7FEE215C-2EB2-4303-7B09-0AD03F2968FB}"/>
              </a:ext>
            </a:extLst>
          </p:cNvPr>
          <p:cNvCxnSpPr>
            <a:cxnSpLocks/>
            <a:stCxn id="276" idx="3"/>
            <a:endCxn id="293" idx="2"/>
          </p:cNvCxnSpPr>
          <p:nvPr/>
        </p:nvCxnSpPr>
        <p:spPr>
          <a:xfrm flipV="1">
            <a:off x="3013674" y="11352673"/>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線矢印コネクタ 22">
            <a:extLst>
              <a:ext uri="{FF2B5EF4-FFF2-40B4-BE49-F238E27FC236}">
                <a16:creationId xmlns:a16="http://schemas.microsoft.com/office/drawing/2014/main" id="{97AE75E7-60DA-0E37-4526-AF103F1D9083}"/>
              </a:ext>
            </a:extLst>
          </p:cNvPr>
          <p:cNvCxnSpPr>
            <a:cxnSpLocks/>
            <a:stCxn id="293" idx="0"/>
            <a:endCxn id="299" idx="1"/>
          </p:cNvCxnSpPr>
          <p:nvPr/>
        </p:nvCxnSpPr>
        <p:spPr>
          <a:xfrm flipV="1">
            <a:off x="6978673" y="10733122"/>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2" name="グループ化 291">
            <a:extLst>
              <a:ext uri="{FF2B5EF4-FFF2-40B4-BE49-F238E27FC236}">
                <a16:creationId xmlns:a16="http://schemas.microsoft.com/office/drawing/2014/main" id="{A3E80203-2F17-F70D-09E9-3A1EED2A87E4}"/>
              </a:ext>
            </a:extLst>
          </p:cNvPr>
          <p:cNvGrpSpPr/>
          <p:nvPr/>
        </p:nvGrpSpPr>
        <p:grpSpPr>
          <a:xfrm>
            <a:off x="5546689" y="10791397"/>
            <a:ext cx="1431984" cy="1122552"/>
            <a:chOff x="5794565" y="9611968"/>
            <a:chExt cx="1431984" cy="1122552"/>
          </a:xfrm>
        </p:grpSpPr>
        <p:sp>
          <p:nvSpPr>
            <p:cNvPr id="293" name="台形 292">
              <a:extLst>
                <a:ext uri="{FF2B5EF4-FFF2-40B4-BE49-F238E27FC236}">
                  <a16:creationId xmlns:a16="http://schemas.microsoft.com/office/drawing/2014/main" id="{B091EEA4-AB85-3AE7-8C1A-54E94199C420}"/>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4" name="テキスト ボックス 293">
                  <a:extLst>
                    <a:ext uri="{FF2B5EF4-FFF2-40B4-BE49-F238E27FC236}">
                      <a16:creationId xmlns:a16="http://schemas.microsoft.com/office/drawing/2014/main" id="{58F80D79-ED15-165A-100C-A1A6A666F595}"/>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94" name="テキスト ボックス 293">
                  <a:extLst>
                    <a:ext uri="{FF2B5EF4-FFF2-40B4-BE49-F238E27FC236}">
                      <a16:creationId xmlns:a16="http://schemas.microsoft.com/office/drawing/2014/main" id="{58F80D79-ED15-165A-100C-A1A6A666F595}"/>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0"/>
                  <a:stretch>
                    <a:fillRect l="-6364" r="-5455" b="-5714"/>
                  </a:stretch>
                </a:blipFill>
              </p:spPr>
              <p:txBody>
                <a:bodyPr/>
                <a:lstStyle/>
                <a:p>
                  <a:r>
                    <a:rPr lang="ja-JP" altLang="en-US">
                      <a:noFill/>
                    </a:rPr>
                    <a:t> </a:t>
                  </a:r>
                </a:p>
              </p:txBody>
            </p:sp>
          </mc:Fallback>
        </mc:AlternateContent>
      </p:grpSp>
      <p:grpSp>
        <p:nvGrpSpPr>
          <p:cNvPr id="295" name="グループ化 294">
            <a:extLst>
              <a:ext uri="{FF2B5EF4-FFF2-40B4-BE49-F238E27FC236}">
                <a16:creationId xmlns:a16="http://schemas.microsoft.com/office/drawing/2014/main" id="{397F1010-BEED-3815-94C9-7AF896AE9D6F}"/>
              </a:ext>
            </a:extLst>
          </p:cNvPr>
          <p:cNvGrpSpPr/>
          <p:nvPr/>
        </p:nvGrpSpPr>
        <p:grpSpPr>
          <a:xfrm>
            <a:off x="7008274" y="9752410"/>
            <a:ext cx="1943000" cy="719356"/>
            <a:chOff x="3749692" y="11369202"/>
            <a:chExt cx="1943000" cy="719356"/>
          </a:xfrm>
        </p:grpSpPr>
        <p:sp>
          <p:nvSpPr>
            <p:cNvPr id="296" name="正方形/長方形 295">
              <a:extLst>
                <a:ext uri="{FF2B5EF4-FFF2-40B4-BE49-F238E27FC236}">
                  <a16:creationId xmlns:a16="http://schemas.microsoft.com/office/drawing/2014/main" id="{25C8505A-7B66-65A3-DBE2-F7B307A92800}"/>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7" name="テキスト ボックス 296">
                  <a:extLst>
                    <a:ext uri="{FF2B5EF4-FFF2-40B4-BE49-F238E27FC236}">
                      <a16:creationId xmlns:a16="http://schemas.microsoft.com/office/drawing/2014/main" id="{93D74842-23A3-2736-F957-263CAB46B80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97" name="テキスト ボックス 296">
                  <a:extLst>
                    <a:ext uri="{FF2B5EF4-FFF2-40B4-BE49-F238E27FC236}">
                      <a16:creationId xmlns:a16="http://schemas.microsoft.com/office/drawing/2014/main" id="{93D74842-23A3-2736-F957-263CAB46B80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1"/>
                  <a:stretch>
                    <a:fillRect b="-5714"/>
                  </a:stretch>
                </a:blipFill>
              </p:spPr>
              <p:txBody>
                <a:bodyPr/>
                <a:lstStyle/>
                <a:p>
                  <a:r>
                    <a:rPr lang="ja-JP" altLang="en-US">
                      <a:noFill/>
                    </a:rPr>
                    <a:t> </a:t>
                  </a:r>
                </a:p>
              </p:txBody>
            </p:sp>
          </mc:Fallback>
        </mc:AlternateContent>
      </p:grpSp>
      <p:grpSp>
        <p:nvGrpSpPr>
          <p:cNvPr id="298" name="グループ化 297">
            <a:extLst>
              <a:ext uri="{FF2B5EF4-FFF2-40B4-BE49-F238E27FC236}">
                <a16:creationId xmlns:a16="http://schemas.microsoft.com/office/drawing/2014/main" id="{9E89BA2D-D6D2-593D-B1EF-B741896D6A05}"/>
              </a:ext>
            </a:extLst>
          </p:cNvPr>
          <p:cNvGrpSpPr/>
          <p:nvPr/>
        </p:nvGrpSpPr>
        <p:grpSpPr>
          <a:xfrm>
            <a:off x="10104667" y="10373444"/>
            <a:ext cx="1943000" cy="719356"/>
            <a:chOff x="3749692" y="11369202"/>
            <a:chExt cx="1943000" cy="719356"/>
          </a:xfrm>
        </p:grpSpPr>
        <p:sp>
          <p:nvSpPr>
            <p:cNvPr id="299" name="正方形/長方形 298">
              <a:extLst>
                <a:ext uri="{FF2B5EF4-FFF2-40B4-BE49-F238E27FC236}">
                  <a16:creationId xmlns:a16="http://schemas.microsoft.com/office/drawing/2014/main" id="{879CE573-44C1-B764-878B-F3A54F5C74C6}"/>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00" name="テキスト ボックス 299">
                  <a:extLst>
                    <a:ext uri="{FF2B5EF4-FFF2-40B4-BE49-F238E27FC236}">
                      <a16:creationId xmlns:a16="http://schemas.microsoft.com/office/drawing/2014/main" id="{7440FC71-87C8-A4C2-1E2D-FC670DDB0E47}"/>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300" name="テキスト ボックス 299">
                  <a:extLst>
                    <a:ext uri="{FF2B5EF4-FFF2-40B4-BE49-F238E27FC236}">
                      <a16:creationId xmlns:a16="http://schemas.microsoft.com/office/drawing/2014/main" id="{7440FC71-87C8-A4C2-1E2D-FC670DDB0E47}"/>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2"/>
                  <a:stretch>
                    <a:fillRect b="-5714"/>
                  </a:stretch>
                </a:blipFill>
              </p:spPr>
              <p:txBody>
                <a:bodyPr/>
                <a:lstStyle/>
                <a:p>
                  <a:r>
                    <a:rPr lang="ja-JP" altLang="en-US">
                      <a:noFill/>
                    </a:rPr>
                    <a:t> </a:t>
                  </a:r>
                </a:p>
              </p:txBody>
            </p:sp>
          </mc:Fallback>
        </mc:AlternateContent>
      </p:grpSp>
      <p:cxnSp>
        <p:nvCxnSpPr>
          <p:cNvPr id="301" name="直線矢印コネクタ 300">
            <a:extLst>
              <a:ext uri="{FF2B5EF4-FFF2-40B4-BE49-F238E27FC236}">
                <a16:creationId xmlns:a16="http://schemas.microsoft.com/office/drawing/2014/main" id="{86FEAC7B-8D99-59A9-EDFA-226FFC4EB47B}"/>
              </a:ext>
            </a:extLst>
          </p:cNvPr>
          <p:cNvCxnSpPr>
            <a:cxnSpLocks/>
            <a:stCxn id="296" idx="2"/>
          </p:cNvCxnSpPr>
          <p:nvPr/>
        </p:nvCxnSpPr>
        <p:spPr>
          <a:xfrm>
            <a:off x="7979774" y="10471766"/>
            <a:ext cx="0" cy="163574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421" name="表 255">
            <a:extLst>
              <a:ext uri="{FF2B5EF4-FFF2-40B4-BE49-F238E27FC236}">
                <a16:creationId xmlns:a16="http://schemas.microsoft.com/office/drawing/2014/main" id="{9E9B6337-A505-26AE-A8FC-9981C77C4405}"/>
              </a:ext>
            </a:extLst>
          </p:cNvPr>
          <p:cNvGraphicFramePr>
            <a:graphicFrameLocks noGrp="1"/>
          </p:cNvGraphicFramePr>
          <p:nvPr>
            <p:extLst>
              <p:ext uri="{D42A27DB-BD31-4B8C-83A1-F6EECF244321}">
                <p14:modId xmlns:p14="http://schemas.microsoft.com/office/powerpoint/2010/main" val="1598612388"/>
              </p:ext>
            </p:extLst>
          </p:nvPr>
        </p:nvGraphicFramePr>
        <p:xfrm>
          <a:off x="15329206" y="37152041"/>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これが私のスタンド</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おれのボケに対する評価</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このとおり忙しいんだから早く</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宿題</a:t>
                      </a:r>
                      <a:r>
                        <a:rPr kumimoji="1" lang="ja-JP" altLang="en-US" sz="2800" spc="-100" baseline="0">
                          <a:latin typeface="UD Digi Kyokasho NK-R" panose="02020400000000000000" pitchFamily="18" charset="-128"/>
                          <a:ea typeface="UD Digi Kyokasho NK-R" panose="02020400000000000000" pitchFamily="18" charset="-128"/>
                        </a:rPr>
                        <a:t>を</a:t>
                      </a:r>
                    </a:p>
                  </a:txBody>
                  <a:tcPr anchor="ctr"/>
                </a:tc>
                <a:extLst>
                  <a:ext uri="{0D108BD9-81ED-4DB2-BD59-A6C34878D82A}">
                    <a16:rowId xmlns:a16="http://schemas.microsoft.com/office/drawing/2014/main" val="1783522377"/>
                  </a:ext>
                </a:extLst>
              </a:tr>
            </a:tbl>
          </a:graphicData>
        </a:graphic>
      </p:graphicFrame>
      <p:pic>
        <p:nvPicPr>
          <p:cNvPr id="19" name="図 18">
            <a:extLst>
              <a:ext uri="{FF2B5EF4-FFF2-40B4-BE49-F238E27FC236}">
                <a16:creationId xmlns:a16="http://schemas.microsoft.com/office/drawing/2014/main" id="{C0BDE784-B10D-2778-AC98-505AD98FC1C5}"/>
              </a:ext>
            </a:extLst>
          </p:cNvPr>
          <p:cNvPicPr>
            <a:picLocks noChangeAspect="1"/>
          </p:cNvPicPr>
          <p:nvPr/>
        </p:nvPicPr>
        <p:blipFill>
          <a:blip r:embed="rId23"/>
          <a:stretch>
            <a:fillRect/>
          </a:stretch>
        </p:blipFill>
        <p:spPr>
          <a:xfrm>
            <a:off x="15913172" y="37783043"/>
            <a:ext cx="2402435" cy="2402435"/>
          </a:xfrm>
          <a:prstGeom prst="rect">
            <a:avLst/>
          </a:prstGeom>
        </p:spPr>
      </p:pic>
      <p:grpSp>
        <p:nvGrpSpPr>
          <p:cNvPr id="12" name="グループ化 11">
            <a:extLst>
              <a:ext uri="{FF2B5EF4-FFF2-40B4-BE49-F238E27FC236}">
                <a16:creationId xmlns:a16="http://schemas.microsoft.com/office/drawing/2014/main" id="{E65DC85F-3E15-0BA1-8E80-793F41AD0CB6}"/>
              </a:ext>
            </a:extLst>
          </p:cNvPr>
          <p:cNvGrpSpPr/>
          <p:nvPr/>
        </p:nvGrpSpPr>
        <p:grpSpPr>
          <a:xfrm>
            <a:off x="232570" y="16793066"/>
            <a:ext cx="14760000" cy="6514405"/>
            <a:chOff x="191499" y="4380113"/>
            <a:chExt cx="14760000" cy="6514405"/>
          </a:xfrm>
        </p:grpSpPr>
        <p:sp>
          <p:nvSpPr>
            <p:cNvPr id="13" name="四角形: 角を丸くする 29">
              <a:extLst>
                <a:ext uri="{FF2B5EF4-FFF2-40B4-BE49-F238E27FC236}">
                  <a16:creationId xmlns:a16="http://schemas.microsoft.com/office/drawing/2014/main" id="{1C769F48-58D5-1679-DACB-318FA8F9E3DF}"/>
                </a:ext>
              </a:extLst>
            </p:cNvPr>
            <p:cNvSpPr/>
            <p:nvPr/>
          </p:nvSpPr>
          <p:spPr>
            <a:xfrm>
              <a:off x="191499" y="4755867"/>
              <a:ext cx="14760000" cy="6138651"/>
            </a:xfrm>
            <a:prstGeom prst="roundRect">
              <a:avLst>
                <a:gd name="adj" fmla="val 517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14" name="四角形: 角を丸くする 30">
              <a:extLst>
                <a:ext uri="{FF2B5EF4-FFF2-40B4-BE49-F238E27FC236}">
                  <a16:creationId xmlns:a16="http://schemas.microsoft.com/office/drawing/2014/main" id="{BF075FB3-0F66-2685-FBC5-BA7513501AD7}"/>
                </a:ext>
              </a:extLst>
            </p:cNvPr>
            <p:cNvSpPr/>
            <p:nvPr/>
          </p:nvSpPr>
          <p:spPr>
            <a:xfrm>
              <a:off x="506889" y="4380113"/>
              <a:ext cx="8227994" cy="743541"/>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Neural Joking Machine[1]</a:t>
              </a:r>
            </a:p>
          </p:txBody>
        </p:sp>
        <p:sp>
          <p:nvSpPr>
            <p:cNvPr id="15" name="テキスト ボックス 14">
              <a:extLst>
                <a:ext uri="{FF2B5EF4-FFF2-40B4-BE49-F238E27FC236}">
                  <a16:creationId xmlns:a16="http://schemas.microsoft.com/office/drawing/2014/main" id="{96426498-9315-7381-86AE-CDBD63175D6C}"/>
                </a:ext>
              </a:extLst>
            </p:cNvPr>
            <p:cNvSpPr txBox="1"/>
            <p:nvPr/>
          </p:nvSpPr>
          <p:spPr>
            <a:xfrm>
              <a:off x="318217" y="5375836"/>
              <a:ext cx="14633281" cy="2246769"/>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a:latin typeface="UD Digi Kyokasho NK-R" panose="02020400000000000000" pitchFamily="18" charset="-128"/>
                  <a:ea typeface="UD Digi Kyokasho NK-R" panose="02020400000000000000" pitchFamily="18" charset="-128"/>
                </a:rPr>
                <a:t>, ImageNet</a:t>
              </a:r>
              <a:r>
                <a:rPr lang="ja-JP" altLang="en-US" sz="2800">
                  <a:latin typeface="UD Digi Kyokasho NK-R" panose="02020400000000000000" pitchFamily="18" charset="-128"/>
                  <a:ea typeface="UD Digi Kyokasho NK-R" panose="02020400000000000000" pitchFamily="18" charset="-128"/>
                </a:rPr>
                <a:t>を事前学習済みの</a:t>
              </a:r>
              <a:r>
                <a:rPr lang="en-US" altLang="ja-JP" sz="2800" dirty="0">
                  <a:solidFill>
                    <a:srgbClr val="00B050"/>
                  </a:solidFill>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を使用</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大喜利⇔画像のデータセットを</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サイトをスクレイピングし作成</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一部の画像に対し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不適な単語を含む大喜利が生成される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a:t>
              </a:r>
              <a:r>
                <a:rPr lang="en-US" altLang="ja-JP" sz="2800" dirty="0">
                  <a:latin typeface="UD Digi Kyokasho NK-R" panose="02020400000000000000" pitchFamily="18" charset="-128"/>
                  <a:ea typeface="UD Digi Kyokasho NK-R" panose="02020400000000000000" pitchFamily="18" charset="-128"/>
                </a:rPr>
                <a:t> </a:t>
              </a:r>
              <a:r>
                <a:rPr lang="ja-JP" altLang="en-US" sz="2800" spc="-100">
                  <a:latin typeface="UD Digi Kyokasho NK-R" panose="02020400000000000000" pitchFamily="18" charset="-128"/>
                  <a:ea typeface="UD Digi Kyokasho NK-R" panose="02020400000000000000" pitchFamily="18" charset="-128"/>
                </a:rPr>
                <a:t>事前学習済み</a:t>
              </a:r>
              <a:r>
                <a:rPr lang="en-US" altLang="ja-JP" sz="2800" spc="-100" dirty="0">
                  <a:latin typeface="UD Digi Kyokasho NK-R" panose="02020400000000000000" pitchFamily="18" charset="-128"/>
                  <a:ea typeface="UD Digi Kyokasho NK-R" panose="02020400000000000000" pitchFamily="18" charset="-128"/>
                </a:rPr>
                <a:t>ResNet152</a:t>
              </a:r>
              <a:r>
                <a:rPr lang="ja-JP" altLang="en-US" sz="2800" spc="-100">
                  <a:latin typeface="UD Digi Kyokasho NK-R" panose="02020400000000000000" pitchFamily="18" charset="-128"/>
                  <a:ea typeface="UD Digi Kyokasho NK-R" panose="02020400000000000000" pitchFamily="18" charset="-128"/>
                </a:rPr>
                <a:t>が</a:t>
              </a:r>
              <a:r>
                <a:rPr lang="en-US" altLang="ja-JP" sz="2800" spc="-100" dirty="0" err="1">
                  <a:latin typeface="UD Digi Kyokasho NK-R" panose="02020400000000000000" pitchFamily="18" charset="-128"/>
                  <a:ea typeface="UD Digi Kyokasho NK-R" panose="02020400000000000000" pitchFamily="18" charset="-128"/>
                </a:rPr>
                <a:t>bokete</a:t>
              </a:r>
              <a:r>
                <a:rPr lang="ja-JP" altLang="en-US" sz="2800" spc="-100">
                  <a:latin typeface="UD Digi Kyokasho NK-R" panose="02020400000000000000" pitchFamily="18" charset="-128"/>
                  <a:ea typeface="UD Digi Kyokasho NK-R" panose="02020400000000000000" pitchFamily="18" charset="-128"/>
                </a:rPr>
                <a:t>特有のアニメ・マンガ画像等に対し</a:t>
              </a:r>
              <a:r>
                <a:rPr lang="en-US" altLang="ja-JP" sz="2800" spc="-100" dirty="0">
                  <a:latin typeface="UD Digi Kyokasho NK-R" panose="02020400000000000000" pitchFamily="18" charset="-128"/>
                  <a:ea typeface="UD Digi Kyokasho NK-R" panose="02020400000000000000" pitchFamily="18" charset="-128"/>
                </a:rPr>
                <a:t>,</a:t>
              </a:r>
              <a:r>
                <a:rPr lang="ja-JP" altLang="en-US" sz="2800" spc="-100">
                  <a:latin typeface="UD Digi Kyokasho NK-R" panose="02020400000000000000" pitchFamily="18" charset="-128"/>
                  <a:ea typeface="UD Digi Kyokasho NK-R" panose="02020400000000000000" pitchFamily="18" charset="-128"/>
                </a:rPr>
                <a:t>　特徴抽出が困難</a:t>
              </a:r>
              <a:endParaRPr lang="en-US" altLang="ja-JP" sz="2800" spc="-100" dirty="0">
                <a:latin typeface="UD Digi Kyokasho NK-R" panose="02020400000000000000" pitchFamily="18" charset="-128"/>
                <a:ea typeface="UD Digi Kyokasho NK-R" panose="02020400000000000000" pitchFamily="18" charset="-128"/>
              </a:endParaRPr>
            </a:p>
          </p:txBody>
        </p:sp>
      </p:grpSp>
      <p:grpSp>
        <p:nvGrpSpPr>
          <p:cNvPr id="16" name="グループ化 15">
            <a:extLst>
              <a:ext uri="{FF2B5EF4-FFF2-40B4-BE49-F238E27FC236}">
                <a16:creationId xmlns:a16="http://schemas.microsoft.com/office/drawing/2014/main" id="{616ED7B0-C8FA-C46D-B08B-23B37E96A617}"/>
              </a:ext>
            </a:extLst>
          </p:cNvPr>
          <p:cNvGrpSpPr/>
          <p:nvPr/>
        </p:nvGrpSpPr>
        <p:grpSpPr>
          <a:xfrm>
            <a:off x="212936" y="23446093"/>
            <a:ext cx="14760000" cy="8520674"/>
            <a:chOff x="191499" y="4692374"/>
            <a:chExt cx="14760000" cy="8520674"/>
          </a:xfrm>
        </p:grpSpPr>
        <p:sp>
          <p:nvSpPr>
            <p:cNvPr id="17" name="四角形: 角を丸くする 29">
              <a:extLst>
                <a:ext uri="{FF2B5EF4-FFF2-40B4-BE49-F238E27FC236}">
                  <a16:creationId xmlns:a16="http://schemas.microsoft.com/office/drawing/2014/main" id="{4B05E3D0-4699-E5A1-64BB-5A1CFC63D341}"/>
                </a:ext>
              </a:extLst>
            </p:cNvPr>
            <p:cNvSpPr/>
            <p:nvPr/>
          </p:nvSpPr>
          <p:spPr>
            <a:xfrm>
              <a:off x="191499" y="5101306"/>
              <a:ext cx="14760000" cy="8063676"/>
            </a:xfrm>
            <a:prstGeom prst="roundRect">
              <a:avLst>
                <a:gd name="adj" fmla="val 2868"/>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30">
              <a:extLst>
                <a:ext uri="{FF2B5EF4-FFF2-40B4-BE49-F238E27FC236}">
                  <a16:creationId xmlns:a16="http://schemas.microsoft.com/office/drawing/2014/main" id="{1B9C66BC-7CF3-4C13-C82B-343E7DF3E09D}"/>
                </a:ext>
              </a:extLst>
            </p:cNvPr>
            <p:cNvSpPr/>
            <p:nvPr/>
          </p:nvSpPr>
          <p:spPr>
            <a:xfrm>
              <a:off x="506889" y="4692374"/>
              <a:ext cx="2745816" cy="809753"/>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提案手法</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8103660E-7864-B952-E9D4-8B1BFBE455FD}"/>
                    </a:ext>
                  </a:extLst>
                </p:cNvPr>
                <p:cNvSpPr txBox="1"/>
                <p:nvPr/>
              </p:nvSpPr>
              <p:spPr>
                <a:xfrm>
                  <a:off x="318217" y="5734078"/>
                  <a:ext cx="14633281" cy="7478970"/>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の画像を学習した</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a:t>
                  </a:r>
                  <a:r>
                    <a:rPr lang="ja-JP" altLang="en-US" sz="2800">
                      <a:solidFill>
                        <a:srgbClr val="FFC000"/>
                      </a:solidFill>
                      <a:latin typeface="UD Digi Kyokasho NK-R" panose="02020400000000000000" pitchFamily="18" charset="-128"/>
                      <a:ea typeface="UD Digi Kyokasho NK-R" panose="02020400000000000000" pitchFamily="18" charset="-128"/>
                    </a:rPr>
                    <a:t>エンコーダ</a:t>
                  </a:r>
                  <a:r>
                    <a:rPr lang="ja-JP" altLang="en-US" sz="2800">
                      <a:latin typeface="UD Digi Kyokasho NK-R" panose="02020400000000000000" pitchFamily="18" charset="-128"/>
                      <a:ea typeface="UD Digi Kyokasho NK-R" panose="02020400000000000000" pitchFamily="18" charset="-128"/>
                    </a:rPr>
                    <a:t>を使用</a:t>
                  </a:r>
                  <a:r>
                    <a:rPr lang="en-US" altLang="ja-JP" sz="2800" dirty="0">
                      <a:latin typeface="UD Digi Kyokasho NK-R" panose="02020400000000000000" pitchFamily="18" charset="-128"/>
                      <a:ea typeface="UD Digi Kyokasho NK-R" panose="02020400000000000000" pitchFamily="18" charset="-128"/>
                    </a:rPr>
                    <a:t>[2]</a:t>
                  </a:r>
                </a:p>
                <a:p>
                  <a:pPr lvl="1"/>
                  <a:r>
                    <a:rPr lang="ja-JP" altLang="en-US" sz="2800">
                      <a:latin typeface="UD Digi Kyokasho NK-R" panose="02020400000000000000" pitchFamily="18" charset="-128"/>
                      <a:ea typeface="UD Digi Kyokasho NK-R" panose="02020400000000000000" pitchFamily="18" charset="-128"/>
                    </a:rPr>
                    <a:t>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のデータに適したエンコーダを用いることで，高精度に学習できることが期待できる</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デバイスに適した性能のエンコーダを用いることができる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デメリット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を事前に学習する必要がある</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3200" dirty="0" err="1">
                      <a:latin typeface="UD Digi Kyokasho NK-R" panose="02020400000000000000" pitchFamily="18" charset="-128"/>
                      <a:ea typeface="UD Digi Kyokasho NK-R" panose="02020400000000000000" pitchFamily="18" charset="-128"/>
                    </a:rPr>
                    <a:t>AutoEncoder</a:t>
                  </a:r>
                  <a:r>
                    <a:rPr lang="en-US" altLang="ja-JP" sz="3200" dirty="0">
                      <a:latin typeface="UD Digi Kyokasho NK-R" panose="02020400000000000000" pitchFamily="18" charset="-128"/>
                      <a:ea typeface="UD Digi Kyokasho NK-R" panose="02020400000000000000" pitchFamily="18" charset="-128"/>
                    </a:rPr>
                    <a:t>[4]</a:t>
                  </a:r>
                </a:p>
                <a:p>
                  <a:pPr lvl="2"/>
                  <a:r>
                    <a:rPr lang="ja-JP" altLang="en-US" sz="2800">
                      <a:latin typeface="UD Digi Kyokasho NK-R" panose="02020400000000000000" pitchFamily="18" charset="-128"/>
                      <a:ea typeface="UD Digi Kyokasho NK-R" panose="02020400000000000000" pitchFamily="18" charset="-128"/>
                    </a:rPr>
                    <a:t>データの次元圧縮や， 特徴抽出が可能</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学習時にデータに対するアノテーションを必要としない</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任意の構造のエンコーダ・デコーダを定義できる</a:t>
                  </a:r>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入力</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a:latin typeface="Cambria Math" panose="02040503050406030204" pitchFamily="18" charset="0"/>
                        </a:rPr>
                        <m:t>𝑧</m:t>
                      </m:r>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特徴量</a:t>
                  </a:r>
                  <a:endParaRPr lang="en-US" altLang="ja-JP" sz="2800" b="1" dirty="0">
                    <a:latin typeface="UD Digi Kyokasho NK-R" panose="02020400000000000000" pitchFamily="18" charset="-128"/>
                    <a:ea typeface="UD Digi Kyokasho NK-R" panose="02020400000000000000" pitchFamily="18" charset="-128"/>
                  </a:endParaRPr>
                </a:p>
              </p:txBody>
            </p:sp>
          </mc:Choice>
          <mc:Fallback xmlns="">
            <p:sp>
              <p:nvSpPr>
                <p:cNvPr id="21" name="テキスト ボックス 20">
                  <a:extLst>
                    <a:ext uri="{FF2B5EF4-FFF2-40B4-BE49-F238E27FC236}">
                      <a16:creationId xmlns:a16="http://schemas.microsoft.com/office/drawing/2014/main" id="{8103660E-7864-B952-E9D4-8B1BFBE455FD}"/>
                    </a:ext>
                  </a:extLst>
                </p:cNvPr>
                <p:cNvSpPr txBox="1">
                  <a:spLocks noRot="1" noChangeAspect="1" noMove="1" noResize="1" noEditPoints="1" noAdjustHandles="1" noChangeArrowheads="1" noChangeShapeType="1" noTextEdit="1"/>
                </p:cNvSpPr>
                <p:nvPr/>
              </p:nvSpPr>
              <p:spPr>
                <a:xfrm>
                  <a:off x="318217" y="5734078"/>
                  <a:ext cx="14633281" cy="7478970"/>
                </a:xfrm>
                <a:prstGeom prst="rect">
                  <a:avLst/>
                </a:prstGeom>
                <a:blipFill>
                  <a:blip r:embed="rId24"/>
                  <a:stretch>
                    <a:fillRect t="-1017" b="-1186"/>
                  </a:stretch>
                </a:blipFill>
              </p:spPr>
              <p:txBody>
                <a:bodyPr/>
                <a:lstStyle/>
                <a:p>
                  <a:r>
                    <a:rPr lang="ja-JP" altLang="en-US">
                      <a:noFill/>
                    </a:rPr>
                    <a:t> </a:t>
                  </a:r>
                </a:p>
              </p:txBody>
            </p:sp>
          </mc:Fallback>
        </mc:AlternateContent>
      </p:grpSp>
      <p:sp>
        <p:nvSpPr>
          <p:cNvPr id="71" name="正方形/長方形 70">
            <a:extLst>
              <a:ext uri="{FF2B5EF4-FFF2-40B4-BE49-F238E27FC236}">
                <a16:creationId xmlns:a16="http://schemas.microsoft.com/office/drawing/2014/main" id="{C1922F36-5D13-A2B0-A6B8-8A3B6DDAC105}"/>
              </a:ext>
            </a:extLst>
          </p:cNvPr>
          <p:cNvSpPr/>
          <p:nvPr/>
        </p:nvSpPr>
        <p:spPr>
          <a:xfrm>
            <a:off x="4690186" y="29859810"/>
            <a:ext cx="1796586" cy="1374387"/>
          </a:xfrm>
          <a:prstGeom prst="rect">
            <a:avLst/>
          </a:prstGeom>
          <a:solidFill>
            <a:srgbClr val="FFC000"/>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E6ABED7C-E5B2-78C3-4EBE-4A7252D7FCEE}"/>
              </a:ext>
            </a:extLst>
          </p:cNvPr>
          <p:cNvGrpSpPr/>
          <p:nvPr/>
        </p:nvGrpSpPr>
        <p:grpSpPr>
          <a:xfrm>
            <a:off x="1545856" y="29784965"/>
            <a:ext cx="1496736" cy="1496736"/>
            <a:chOff x="1545856" y="16973525"/>
            <a:chExt cx="1496736" cy="1496736"/>
          </a:xfrm>
        </p:grpSpPr>
        <p:pic>
          <p:nvPicPr>
            <p:cNvPr id="24" name="図 23" descr="帽子を被っている女性&#10;&#10;自動的に生成された説明">
              <a:extLst>
                <a:ext uri="{FF2B5EF4-FFF2-40B4-BE49-F238E27FC236}">
                  <a16:creationId xmlns:a16="http://schemas.microsoft.com/office/drawing/2014/main" id="{F4DBBA9F-0A23-EE52-49CE-26421790D6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C1C759C4-0F65-CC32-E87F-475E9C5143BC}"/>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5" name="テキスト ボックス 24">
                  <a:extLst>
                    <a:ext uri="{FF2B5EF4-FFF2-40B4-BE49-F238E27FC236}">
                      <a16:creationId xmlns:a16="http://schemas.microsoft.com/office/drawing/2014/main" id="{C1C759C4-0F65-CC32-E87F-475E9C5143BC}"/>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5"/>
                  <a:stretch>
                    <a:fillRect b="-5714"/>
                  </a:stretch>
                </a:blipFill>
              </p:spPr>
              <p:txBody>
                <a:bodyPr/>
                <a:lstStyle/>
                <a:p>
                  <a:r>
                    <a:rPr lang="ja-JP" altLang="en-US">
                      <a:noFill/>
                    </a:rPr>
                    <a:t> </a:t>
                  </a:r>
                </a:p>
              </p:txBody>
            </p:sp>
          </mc:Fallback>
        </mc:AlternateContent>
      </p:grpSp>
      <p:cxnSp>
        <p:nvCxnSpPr>
          <p:cNvPr id="38" name="直線矢印コネクタ 37">
            <a:extLst>
              <a:ext uri="{FF2B5EF4-FFF2-40B4-BE49-F238E27FC236}">
                <a16:creationId xmlns:a16="http://schemas.microsoft.com/office/drawing/2014/main" id="{E0A6D5F8-B787-79BA-13C2-9F0C284BFDB6}"/>
              </a:ext>
            </a:extLst>
          </p:cNvPr>
          <p:cNvCxnSpPr>
            <a:cxnSpLocks/>
            <a:stCxn id="24" idx="3"/>
            <a:endCxn id="41" idx="2"/>
          </p:cNvCxnSpPr>
          <p:nvPr/>
        </p:nvCxnSpPr>
        <p:spPr>
          <a:xfrm flipV="1">
            <a:off x="3042592" y="30526865"/>
            <a:ext cx="1853074"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グループ化 38">
            <a:extLst>
              <a:ext uri="{FF2B5EF4-FFF2-40B4-BE49-F238E27FC236}">
                <a16:creationId xmlns:a16="http://schemas.microsoft.com/office/drawing/2014/main" id="{25EB4B6D-2DC5-B7AC-41CE-055879FF73A2}"/>
              </a:ext>
            </a:extLst>
          </p:cNvPr>
          <p:cNvGrpSpPr/>
          <p:nvPr/>
        </p:nvGrpSpPr>
        <p:grpSpPr>
          <a:xfrm>
            <a:off x="4895666" y="29965589"/>
            <a:ext cx="1431984" cy="1122552"/>
            <a:chOff x="5794565" y="9611968"/>
            <a:chExt cx="1431984" cy="1122552"/>
          </a:xfrm>
        </p:grpSpPr>
        <p:sp>
          <p:nvSpPr>
            <p:cNvPr id="41" name="台形 40">
              <a:extLst>
                <a:ext uri="{FF2B5EF4-FFF2-40B4-BE49-F238E27FC236}">
                  <a16:creationId xmlns:a16="http://schemas.microsoft.com/office/drawing/2014/main" id="{D2837E79-FF3C-7953-9085-2F82397EE9D4}"/>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52394F01-7B61-CA49-CE8E-F5865A3032D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42" name="テキスト ボックス 41">
                  <a:extLst>
                    <a:ext uri="{FF2B5EF4-FFF2-40B4-BE49-F238E27FC236}">
                      <a16:creationId xmlns:a16="http://schemas.microsoft.com/office/drawing/2014/main" id="{52394F01-7B61-CA49-CE8E-F5865A3032D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6"/>
                  <a:stretch>
                    <a:fillRect l="-6364" r="-5455" b="-571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F8BF2742-65B0-D356-0E9B-4A868A6BA9D5}"/>
                  </a:ext>
                </a:extLst>
              </p:cNvPr>
              <p:cNvSpPr txBox="1"/>
              <p:nvPr/>
            </p:nvSpPr>
            <p:spPr>
              <a:xfrm>
                <a:off x="7854200" y="30301327"/>
                <a:ext cx="2610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i="1" smtClean="0">
                          <a:latin typeface="Cambria Math" panose="02040503050406030204" pitchFamily="18" charset="0"/>
                        </a:rPr>
                        <m:t>𝑧</m:t>
                      </m:r>
                    </m:oMath>
                  </m:oMathPara>
                </a14:m>
                <a:endParaRPr kumimoji="1" lang="ja-JP" altLang="en-US" sz="2800" dirty="0"/>
              </a:p>
            </p:txBody>
          </p:sp>
        </mc:Choice>
        <mc:Fallback xmlns="">
          <p:sp>
            <p:nvSpPr>
              <p:cNvPr id="43" name="テキスト ボックス 42">
                <a:extLst>
                  <a:ext uri="{FF2B5EF4-FFF2-40B4-BE49-F238E27FC236}">
                    <a16:creationId xmlns:a16="http://schemas.microsoft.com/office/drawing/2014/main" id="{F8BF2742-65B0-D356-0E9B-4A868A6BA9D5}"/>
                  </a:ext>
                </a:extLst>
              </p:cNvPr>
              <p:cNvSpPr txBox="1">
                <a:spLocks noRot="1" noChangeAspect="1" noMove="1" noResize="1" noEditPoints="1" noAdjustHandles="1" noChangeArrowheads="1" noChangeShapeType="1" noTextEdit="1"/>
              </p:cNvSpPr>
              <p:nvPr/>
            </p:nvSpPr>
            <p:spPr>
              <a:xfrm>
                <a:off x="7854200" y="30301327"/>
                <a:ext cx="261034" cy="430887"/>
              </a:xfrm>
              <a:prstGeom prst="rect">
                <a:avLst/>
              </a:prstGeom>
              <a:blipFill>
                <a:blip r:embed="rId27"/>
                <a:stretch>
                  <a:fillRect l="-19048" r="-14286"/>
                </a:stretch>
              </a:blipFill>
            </p:spPr>
            <p:txBody>
              <a:bodyPr/>
              <a:lstStyle/>
              <a:p>
                <a:r>
                  <a:rPr lang="ja-JP" altLang="en-US">
                    <a:noFill/>
                  </a:rPr>
                  <a:t> </a:t>
                </a:r>
              </a:p>
            </p:txBody>
          </p:sp>
        </mc:Fallback>
      </mc:AlternateContent>
      <p:cxnSp>
        <p:nvCxnSpPr>
          <p:cNvPr id="44" name="直線矢印コネクタ 43">
            <a:extLst>
              <a:ext uri="{FF2B5EF4-FFF2-40B4-BE49-F238E27FC236}">
                <a16:creationId xmlns:a16="http://schemas.microsoft.com/office/drawing/2014/main" id="{581D1025-5FE8-93AE-EDEB-DAF3B14052DA}"/>
              </a:ext>
            </a:extLst>
          </p:cNvPr>
          <p:cNvCxnSpPr>
            <a:cxnSpLocks/>
            <a:stCxn id="42" idx="3"/>
            <a:endCxn id="43" idx="1"/>
          </p:cNvCxnSpPr>
          <p:nvPr/>
        </p:nvCxnSpPr>
        <p:spPr>
          <a:xfrm flipV="1">
            <a:off x="6316764" y="30516771"/>
            <a:ext cx="1537436" cy="75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714E1F2A-4569-4501-DB7F-9F33D9B0CEB0}"/>
              </a:ext>
            </a:extLst>
          </p:cNvPr>
          <p:cNvGrpSpPr/>
          <p:nvPr/>
        </p:nvGrpSpPr>
        <p:grpSpPr>
          <a:xfrm>
            <a:off x="9500859" y="29965589"/>
            <a:ext cx="1431984" cy="1122552"/>
            <a:chOff x="5794565" y="9611968"/>
            <a:chExt cx="1431984" cy="1122552"/>
          </a:xfrm>
        </p:grpSpPr>
        <p:sp>
          <p:nvSpPr>
            <p:cNvPr id="46" name="台形 45">
              <a:extLst>
                <a:ext uri="{FF2B5EF4-FFF2-40B4-BE49-F238E27FC236}">
                  <a16:creationId xmlns:a16="http://schemas.microsoft.com/office/drawing/2014/main" id="{5CAA1B4C-500A-B11C-53E1-5EA9ED4A7D95}"/>
                </a:ext>
              </a:extLst>
            </p:cNvPr>
            <p:cNvSpPr/>
            <p:nvPr/>
          </p:nvSpPr>
          <p:spPr>
            <a:xfrm rot="162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70680F1A-8CC2-FA82-6D68-8014CEE26FD4}"/>
                    </a:ext>
                  </a:extLst>
                </p:cNvPr>
                <p:cNvSpPr txBox="1"/>
                <p:nvPr/>
              </p:nvSpPr>
              <p:spPr>
                <a:xfrm>
                  <a:off x="5827591" y="9955261"/>
                  <a:ext cx="13896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𝑑𝑒𝑐𝑜𝑑𝑒𝑟</m:t>
                        </m:r>
                      </m:oMath>
                    </m:oMathPara>
                  </a14:m>
                  <a:endParaRPr kumimoji="1" lang="ja-JP" altLang="en-US" sz="2800" dirty="0"/>
                </a:p>
              </p:txBody>
            </p:sp>
          </mc:Choice>
          <mc:Fallback xmlns="">
            <p:sp>
              <p:nvSpPr>
                <p:cNvPr id="47" name="テキスト ボックス 46">
                  <a:extLst>
                    <a:ext uri="{FF2B5EF4-FFF2-40B4-BE49-F238E27FC236}">
                      <a16:creationId xmlns:a16="http://schemas.microsoft.com/office/drawing/2014/main" id="{70680F1A-8CC2-FA82-6D68-8014CEE26FD4}"/>
                    </a:ext>
                  </a:extLst>
                </p:cNvPr>
                <p:cNvSpPr txBox="1">
                  <a:spLocks noRot="1" noChangeAspect="1" noMove="1" noResize="1" noEditPoints="1" noAdjustHandles="1" noChangeArrowheads="1" noChangeShapeType="1" noTextEdit="1"/>
                </p:cNvSpPr>
                <p:nvPr/>
              </p:nvSpPr>
              <p:spPr>
                <a:xfrm>
                  <a:off x="5827591" y="9955261"/>
                  <a:ext cx="1389676" cy="430887"/>
                </a:xfrm>
                <a:prstGeom prst="rect">
                  <a:avLst/>
                </a:prstGeom>
                <a:blipFill>
                  <a:blip r:embed="rId28"/>
                  <a:stretch>
                    <a:fillRect l="-5405" r="-4505" b="-5714"/>
                  </a:stretch>
                </a:blipFill>
              </p:spPr>
              <p:txBody>
                <a:bodyPr/>
                <a:lstStyle/>
                <a:p>
                  <a:r>
                    <a:rPr lang="ja-JP" altLang="en-US">
                      <a:noFill/>
                    </a:rPr>
                    <a:t> </a:t>
                  </a:r>
                </a:p>
              </p:txBody>
            </p:sp>
          </mc:Fallback>
        </mc:AlternateContent>
      </p:grpSp>
      <p:cxnSp>
        <p:nvCxnSpPr>
          <p:cNvPr id="49" name="直線矢印コネクタ 48">
            <a:extLst>
              <a:ext uri="{FF2B5EF4-FFF2-40B4-BE49-F238E27FC236}">
                <a16:creationId xmlns:a16="http://schemas.microsoft.com/office/drawing/2014/main" id="{355260CC-C0E8-D419-E8DC-83D05DD6F323}"/>
              </a:ext>
            </a:extLst>
          </p:cNvPr>
          <p:cNvCxnSpPr>
            <a:cxnSpLocks/>
            <a:stCxn id="43" idx="3"/>
            <a:endCxn id="46" idx="0"/>
          </p:cNvCxnSpPr>
          <p:nvPr/>
        </p:nvCxnSpPr>
        <p:spPr>
          <a:xfrm>
            <a:off x="8115234" y="30516771"/>
            <a:ext cx="1385625" cy="100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C833BA0A-A362-C813-3918-2250B5FCC100}"/>
              </a:ext>
            </a:extLst>
          </p:cNvPr>
          <p:cNvGrpSpPr/>
          <p:nvPr/>
        </p:nvGrpSpPr>
        <p:grpSpPr>
          <a:xfrm>
            <a:off x="12792225" y="29775957"/>
            <a:ext cx="1496736" cy="1496736"/>
            <a:chOff x="1545856" y="16973525"/>
            <a:chExt cx="1496736" cy="1496736"/>
          </a:xfrm>
        </p:grpSpPr>
        <p:pic>
          <p:nvPicPr>
            <p:cNvPr id="51" name="図 50" descr="帽子を被っている女性&#10;&#10;自動的に生成された説明">
              <a:extLst>
                <a:ext uri="{FF2B5EF4-FFF2-40B4-BE49-F238E27FC236}">
                  <a16:creationId xmlns:a16="http://schemas.microsoft.com/office/drawing/2014/main" id="{D04AAEC9-9912-214C-E5EB-C6671536A5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52" name="テキスト ボックス 51">
                  <a:extLst>
                    <a:ext uri="{FF2B5EF4-FFF2-40B4-BE49-F238E27FC236}">
                      <a16:creationId xmlns:a16="http://schemas.microsoft.com/office/drawing/2014/main" id="{1860838F-943D-7B64-F3C4-4F159BEC7B5E}"/>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rPr>
                            </m:ctrlPr>
                          </m:sSupPr>
                          <m:e>
                            <m:r>
                              <a:rPr kumimoji="1" lang="en-US" altLang="ja-JP" sz="2800" b="1">
                                <a:latin typeface="Cambria Math" panose="02040503050406030204" pitchFamily="18" charset="0"/>
                              </a:rPr>
                              <m:t>𝐈</m:t>
                            </m:r>
                          </m:e>
                          <m:sup>
                            <m:r>
                              <a:rPr kumimoji="1" lang="en-US" altLang="ja-JP" sz="2800" b="0" i="0" smtClean="0">
                                <a:latin typeface="Cambria Math" panose="02040503050406030204" pitchFamily="18" charset="0"/>
                              </a:rPr>
                              <m:t>′</m:t>
                            </m:r>
                          </m:sup>
                        </m:sSup>
                      </m:oMath>
                    </m:oMathPara>
                  </a14:m>
                  <a:endParaRPr kumimoji="1" lang="ja-JP" altLang="en-US" sz="2800" dirty="0"/>
                </a:p>
              </p:txBody>
            </p:sp>
          </mc:Choice>
          <mc:Fallback xmlns="">
            <p:sp>
              <p:nvSpPr>
                <p:cNvPr id="52" name="テキスト ボックス 51">
                  <a:extLst>
                    <a:ext uri="{FF2B5EF4-FFF2-40B4-BE49-F238E27FC236}">
                      <a16:creationId xmlns:a16="http://schemas.microsoft.com/office/drawing/2014/main" id="{1860838F-943D-7B64-F3C4-4F159BEC7B5E}"/>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9"/>
                  <a:stretch>
                    <a:fillRect b="-5714"/>
                  </a:stretch>
                </a:blipFill>
              </p:spPr>
              <p:txBody>
                <a:bodyPr/>
                <a:lstStyle/>
                <a:p>
                  <a:r>
                    <a:rPr lang="ja-JP" altLang="en-US">
                      <a:noFill/>
                    </a:rPr>
                    <a:t> </a:t>
                  </a:r>
                </a:p>
              </p:txBody>
            </p:sp>
          </mc:Fallback>
        </mc:AlternateContent>
      </p:grpSp>
      <p:cxnSp>
        <p:nvCxnSpPr>
          <p:cNvPr id="53" name="直線矢印コネクタ 52">
            <a:extLst>
              <a:ext uri="{FF2B5EF4-FFF2-40B4-BE49-F238E27FC236}">
                <a16:creationId xmlns:a16="http://schemas.microsoft.com/office/drawing/2014/main" id="{5AAED562-D412-AFAE-2198-8120CD7A0264}"/>
              </a:ext>
            </a:extLst>
          </p:cNvPr>
          <p:cNvCxnSpPr>
            <a:cxnSpLocks/>
            <a:stCxn id="47" idx="3"/>
            <a:endCxn id="51" idx="1"/>
          </p:cNvCxnSpPr>
          <p:nvPr/>
        </p:nvCxnSpPr>
        <p:spPr>
          <a:xfrm flipV="1">
            <a:off x="10923561" y="30524325"/>
            <a:ext cx="186866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72" name="図 71" descr="帽子を被っている女性&#10;&#10;自動的に生成された説明">
            <a:extLst>
              <a:ext uri="{FF2B5EF4-FFF2-40B4-BE49-F238E27FC236}">
                <a16:creationId xmlns:a16="http://schemas.microsoft.com/office/drawing/2014/main" id="{5A1F6BED-4C84-6E02-F1A2-D2783395046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21349173"/>
            <a:ext cx="1496736" cy="1496736"/>
          </a:xfrm>
          <a:prstGeom prst="rect">
            <a:avLst/>
          </a:prstGeom>
        </p:spPr>
      </p:pic>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25180291-E602-010E-5ADF-791F7E05AAF7}"/>
                  </a:ext>
                </a:extLst>
              </p:cNvPr>
              <p:cNvSpPr txBox="1"/>
              <p:nvPr/>
            </p:nvSpPr>
            <p:spPr>
              <a:xfrm>
                <a:off x="2031060" y="20377796"/>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73" name="テキスト ボックス 72">
                <a:extLst>
                  <a:ext uri="{FF2B5EF4-FFF2-40B4-BE49-F238E27FC236}">
                    <a16:creationId xmlns:a16="http://schemas.microsoft.com/office/drawing/2014/main" id="{25180291-E602-010E-5ADF-791F7E05AAF7}"/>
                  </a:ext>
                </a:extLst>
              </p:cNvPr>
              <p:cNvSpPr txBox="1">
                <a:spLocks noRot="1" noChangeAspect="1" noMove="1" noResize="1" noEditPoints="1" noAdjustHandles="1" noChangeArrowheads="1" noChangeShapeType="1" noTextEdit="1"/>
              </p:cNvSpPr>
              <p:nvPr/>
            </p:nvSpPr>
            <p:spPr>
              <a:xfrm>
                <a:off x="2031060" y="20377796"/>
                <a:ext cx="471668" cy="430887"/>
              </a:xfrm>
              <a:prstGeom prst="rect">
                <a:avLst/>
              </a:prstGeom>
              <a:blipFill>
                <a:blip r:embed="rId30"/>
                <a:stretch>
                  <a:fillRect l="-7692" r="-2564"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5" name="テキスト ボックス 74">
                <a:extLst>
                  <a:ext uri="{FF2B5EF4-FFF2-40B4-BE49-F238E27FC236}">
                    <a16:creationId xmlns:a16="http://schemas.microsoft.com/office/drawing/2014/main" id="{F0C44F22-620F-3C73-48DC-FB57F577FD34}"/>
                  </a:ext>
                </a:extLst>
              </p:cNvPr>
              <p:cNvSpPr txBox="1"/>
              <p:nvPr/>
            </p:nvSpPr>
            <p:spPr>
              <a:xfrm>
                <a:off x="1984008" y="2187308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75" name="テキスト ボックス 74">
                <a:extLst>
                  <a:ext uri="{FF2B5EF4-FFF2-40B4-BE49-F238E27FC236}">
                    <a16:creationId xmlns:a16="http://schemas.microsoft.com/office/drawing/2014/main" id="{F0C44F22-620F-3C73-48DC-FB57F577FD34}"/>
                  </a:ext>
                </a:extLst>
              </p:cNvPr>
              <p:cNvSpPr txBox="1">
                <a:spLocks noRot="1" noChangeAspect="1" noMove="1" noResize="1" noEditPoints="1" noAdjustHandles="1" noChangeArrowheads="1" noChangeShapeType="1" noTextEdit="1"/>
              </p:cNvSpPr>
              <p:nvPr/>
            </p:nvSpPr>
            <p:spPr>
              <a:xfrm>
                <a:off x="1984008" y="21873089"/>
                <a:ext cx="492507" cy="430887"/>
              </a:xfrm>
              <a:prstGeom prst="rect">
                <a:avLst/>
              </a:prstGeom>
              <a:blipFill>
                <a:blip r:embed="rId31"/>
                <a:stretch>
                  <a:fillRect b="-5714"/>
                </a:stretch>
              </a:blipFill>
            </p:spPr>
            <p:txBody>
              <a:bodyPr/>
              <a:lstStyle/>
              <a:p>
                <a:r>
                  <a:rPr lang="ja-JP" altLang="en-US">
                    <a:noFill/>
                  </a:rPr>
                  <a:t> </a:t>
                </a:r>
              </a:p>
            </p:txBody>
          </p:sp>
        </mc:Fallback>
      </mc:AlternateContent>
      <p:cxnSp>
        <p:nvCxnSpPr>
          <p:cNvPr id="76" name="直線矢印コネクタ 75">
            <a:extLst>
              <a:ext uri="{FF2B5EF4-FFF2-40B4-BE49-F238E27FC236}">
                <a16:creationId xmlns:a16="http://schemas.microsoft.com/office/drawing/2014/main" id="{AC58F5BE-4DEC-15C7-78C9-7802CBFEA9E4}"/>
              </a:ext>
            </a:extLst>
          </p:cNvPr>
          <p:cNvCxnSpPr>
            <a:cxnSpLocks/>
            <a:stCxn id="73" idx="3"/>
            <a:endCxn id="82" idx="1"/>
          </p:cNvCxnSpPr>
          <p:nvPr/>
        </p:nvCxnSpPr>
        <p:spPr>
          <a:xfrm>
            <a:off x="2502728" y="20593240"/>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矢印コネクタ 76">
            <a:extLst>
              <a:ext uri="{FF2B5EF4-FFF2-40B4-BE49-F238E27FC236}">
                <a16:creationId xmlns:a16="http://schemas.microsoft.com/office/drawing/2014/main" id="{79E65BC1-0429-6466-2320-AA8CD5117ACB}"/>
              </a:ext>
            </a:extLst>
          </p:cNvPr>
          <p:cNvCxnSpPr>
            <a:cxnSpLocks/>
            <a:stCxn id="82" idx="3"/>
            <a:endCxn id="92" idx="1"/>
          </p:cNvCxnSpPr>
          <p:nvPr/>
        </p:nvCxnSpPr>
        <p:spPr>
          <a:xfrm flipV="1">
            <a:off x="5608938" y="20589230"/>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19">
            <a:extLst>
              <a:ext uri="{FF2B5EF4-FFF2-40B4-BE49-F238E27FC236}">
                <a16:creationId xmlns:a16="http://schemas.microsoft.com/office/drawing/2014/main" id="{D885CFCD-7B7C-36A9-6816-EDF99534A948}"/>
              </a:ext>
            </a:extLst>
          </p:cNvPr>
          <p:cNvCxnSpPr>
            <a:cxnSpLocks/>
            <a:stCxn id="92" idx="3"/>
            <a:endCxn id="95" idx="1"/>
          </p:cNvCxnSpPr>
          <p:nvPr/>
        </p:nvCxnSpPr>
        <p:spPr>
          <a:xfrm>
            <a:off x="8951274" y="20589230"/>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F5DC9AA1-8E23-5762-429B-77BE90D206A9}"/>
              </a:ext>
            </a:extLst>
          </p:cNvPr>
          <p:cNvCxnSpPr>
            <a:cxnSpLocks/>
            <a:stCxn id="95" idx="3"/>
            <a:endCxn id="80" idx="1"/>
          </p:cNvCxnSpPr>
          <p:nvPr/>
        </p:nvCxnSpPr>
        <p:spPr>
          <a:xfrm>
            <a:off x="12047667" y="21210264"/>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テキスト ボックス 79">
                <a:extLst>
                  <a:ext uri="{FF2B5EF4-FFF2-40B4-BE49-F238E27FC236}">
                    <a16:creationId xmlns:a16="http://schemas.microsoft.com/office/drawing/2014/main" id="{B45F6316-A026-50D1-5F87-0ED7677188C8}"/>
                  </a:ext>
                </a:extLst>
              </p:cNvPr>
              <p:cNvSpPr txBox="1"/>
              <p:nvPr/>
            </p:nvSpPr>
            <p:spPr>
              <a:xfrm>
                <a:off x="12904337" y="21009327"/>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80" name="テキスト ボックス 79">
                <a:extLst>
                  <a:ext uri="{FF2B5EF4-FFF2-40B4-BE49-F238E27FC236}">
                    <a16:creationId xmlns:a16="http://schemas.microsoft.com/office/drawing/2014/main" id="{B45F6316-A026-50D1-5F87-0ED7677188C8}"/>
                  </a:ext>
                </a:extLst>
              </p:cNvPr>
              <p:cNvSpPr txBox="1">
                <a:spLocks noRot="1" noChangeAspect="1" noMove="1" noResize="1" noEditPoints="1" noAdjustHandles="1" noChangeArrowheads="1" noChangeShapeType="1" noTextEdit="1"/>
              </p:cNvSpPr>
              <p:nvPr/>
            </p:nvSpPr>
            <p:spPr>
              <a:xfrm>
                <a:off x="12904337" y="21009327"/>
                <a:ext cx="814710" cy="430887"/>
              </a:xfrm>
              <a:prstGeom prst="rect">
                <a:avLst/>
              </a:prstGeom>
              <a:blipFill>
                <a:blip r:embed="rId15"/>
                <a:stretch>
                  <a:fillRect l="-6250" r="-4688" b="-11429"/>
                </a:stretch>
              </a:blipFill>
            </p:spPr>
            <p:txBody>
              <a:bodyPr/>
              <a:lstStyle/>
              <a:p>
                <a:r>
                  <a:rPr lang="ja-JP" altLang="en-US">
                    <a:noFill/>
                  </a:rPr>
                  <a:t> </a:t>
                </a:r>
              </a:p>
            </p:txBody>
          </p:sp>
        </mc:Fallback>
      </mc:AlternateContent>
      <p:grpSp>
        <p:nvGrpSpPr>
          <p:cNvPr id="81" name="グループ化 80">
            <a:extLst>
              <a:ext uri="{FF2B5EF4-FFF2-40B4-BE49-F238E27FC236}">
                <a16:creationId xmlns:a16="http://schemas.microsoft.com/office/drawing/2014/main" id="{99BFB386-2063-DDDE-3BC3-B1B8DE86EAAD}"/>
              </a:ext>
            </a:extLst>
          </p:cNvPr>
          <p:cNvGrpSpPr/>
          <p:nvPr/>
        </p:nvGrpSpPr>
        <p:grpSpPr>
          <a:xfrm>
            <a:off x="3665938" y="20235676"/>
            <a:ext cx="1943000" cy="719356"/>
            <a:chOff x="3749692" y="11369202"/>
            <a:chExt cx="1943000" cy="719356"/>
          </a:xfrm>
        </p:grpSpPr>
        <p:sp>
          <p:nvSpPr>
            <p:cNvPr id="82" name="正方形/長方形 81">
              <a:extLst>
                <a:ext uri="{FF2B5EF4-FFF2-40B4-BE49-F238E27FC236}">
                  <a16:creationId xmlns:a16="http://schemas.microsoft.com/office/drawing/2014/main" id="{5394E1AE-5634-F5CC-9018-B087DA7B0D39}"/>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83" name="テキスト ボックス 82">
                  <a:extLst>
                    <a:ext uri="{FF2B5EF4-FFF2-40B4-BE49-F238E27FC236}">
                      <a16:creationId xmlns:a16="http://schemas.microsoft.com/office/drawing/2014/main" id="{0716E997-542C-1EE7-FD83-AC763A65279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83" name="テキスト ボックス 82">
                  <a:extLst>
                    <a:ext uri="{FF2B5EF4-FFF2-40B4-BE49-F238E27FC236}">
                      <a16:creationId xmlns:a16="http://schemas.microsoft.com/office/drawing/2014/main" id="{0716E997-542C-1EE7-FD83-AC763A65279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34"/>
                  <a:stretch>
                    <a:fillRect l="-5960" t="-2857" r="-5960" b="-31429"/>
                  </a:stretch>
                </a:blipFill>
              </p:spPr>
              <p:txBody>
                <a:bodyPr/>
                <a:lstStyle/>
                <a:p>
                  <a:r>
                    <a:rPr lang="ja-JP" altLang="en-US">
                      <a:noFill/>
                    </a:rPr>
                    <a:t> </a:t>
                  </a:r>
                </a:p>
              </p:txBody>
            </p:sp>
          </mc:Fallback>
        </mc:AlternateContent>
      </p:grpSp>
      <p:sp>
        <p:nvSpPr>
          <p:cNvPr id="97" name="正方形/長方形 96">
            <a:extLst>
              <a:ext uri="{FF2B5EF4-FFF2-40B4-BE49-F238E27FC236}">
                <a16:creationId xmlns:a16="http://schemas.microsoft.com/office/drawing/2014/main" id="{8ABDF078-AA56-21F9-7837-815BBE1BCFDC}"/>
              </a:ext>
            </a:extLst>
          </p:cNvPr>
          <p:cNvSpPr/>
          <p:nvPr/>
        </p:nvSpPr>
        <p:spPr>
          <a:xfrm>
            <a:off x="4820160" y="21216707"/>
            <a:ext cx="2851422" cy="1803974"/>
          </a:xfrm>
          <a:prstGeom prst="rect">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6" name="直線矢印コネクタ 85">
            <a:extLst>
              <a:ext uri="{FF2B5EF4-FFF2-40B4-BE49-F238E27FC236}">
                <a16:creationId xmlns:a16="http://schemas.microsoft.com/office/drawing/2014/main" id="{E757EF45-4B44-8C9E-67D8-0DA7E1C3B9B9}"/>
              </a:ext>
            </a:extLst>
          </p:cNvPr>
          <p:cNvCxnSpPr>
            <a:cxnSpLocks/>
            <a:stCxn id="72" idx="3"/>
            <a:endCxn id="89" idx="2"/>
          </p:cNvCxnSpPr>
          <p:nvPr/>
        </p:nvCxnSpPr>
        <p:spPr>
          <a:xfrm>
            <a:off x="3013674" y="22097541"/>
            <a:ext cx="1984373" cy="238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矢印コネクタ 22">
            <a:extLst>
              <a:ext uri="{FF2B5EF4-FFF2-40B4-BE49-F238E27FC236}">
                <a16:creationId xmlns:a16="http://schemas.microsoft.com/office/drawing/2014/main" id="{342BEC40-CD51-CBC3-46AE-D845BDA91FEB}"/>
              </a:ext>
            </a:extLst>
          </p:cNvPr>
          <p:cNvCxnSpPr>
            <a:cxnSpLocks/>
            <a:stCxn id="89" idx="0"/>
            <a:endCxn id="95" idx="1"/>
          </p:cNvCxnSpPr>
          <p:nvPr/>
        </p:nvCxnSpPr>
        <p:spPr>
          <a:xfrm flipV="1">
            <a:off x="7431132" y="21210264"/>
            <a:ext cx="2673535" cy="911147"/>
          </a:xfrm>
          <a:prstGeom prst="bentConnector3">
            <a:avLst>
              <a:gd name="adj1" fmla="val 78339"/>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8" name="グループ化 87">
            <a:extLst>
              <a:ext uri="{FF2B5EF4-FFF2-40B4-BE49-F238E27FC236}">
                <a16:creationId xmlns:a16="http://schemas.microsoft.com/office/drawing/2014/main" id="{D2219FC2-26FB-3961-A8F3-9C71EFF9A4AD}"/>
              </a:ext>
            </a:extLst>
          </p:cNvPr>
          <p:cNvGrpSpPr/>
          <p:nvPr/>
        </p:nvGrpSpPr>
        <p:grpSpPr>
          <a:xfrm>
            <a:off x="4998047" y="21373042"/>
            <a:ext cx="2433085" cy="1496737"/>
            <a:chOff x="5794564" y="9455213"/>
            <a:chExt cx="2433085" cy="1496737"/>
          </a:xfrm>
        </p:grpSpPr>
        <p:sp>
          <p:nvSpPr>
            <p:cNvPr id="89" name="台形 88">
              <a:extLst>
                <a:ext uri="{FF2B5EF4-FFF2-40B4-BE49-F238E27FC236}">
                  <a16:creationId xmlns:a16="http://schemas.microsoft.com/office/drawing/2014/main" id="{612EAE33-C941-1882-1619-BA897B7D40F5}"/>
                </a:ext>
              </a:extLst>
            </p:cNvPr>
            <p:cNvSpPr/>
            <p:nvPr/>
          </p:nvSpPr>
          <p:spPr>
            <a:xfrm rot="5400000">
              <a:off x="6262738" y="8987039"/>
              <a:ext cx="1496737" cy="2433085"/>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90" name="テキスト ボックス 89">
                  <a:extLst>
                    <a:ext uri="{FF2B5EF4-FFF2-40B4-BE49-F238E27FC236}">
                      <a16:creationId xmlns:a16="http://schemas.microsoft.com/office/drawing/2014/main" id="{A3D47FCC-F41C-36CA-FA23-2C40DFB9B479}"/>
                    </a:ext>
                  </a:extLst>
                </p:cNvPr>
                <p:cNvSpPr txBox="1"/>
                <p:nvPr/>
              </p:nvSpPr>
              <p:spPr>
                <a:xfrm>
                  <a:off x="5827591" y="9798507"/>
                  <a:ext cx="2298001" cy="8617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𝑝𝑟𝑒</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𝑡𝑟𝑎𝑖𝑛𝑒𝑑</m:t>
                        </m:r>
                      </m:oMath>
                    </m:oMathPara>
                  </a14:m>
                  <a:endParaRPr kumimoji="1" lang="en-US" altLang="ja-JP" sz="2800" b="0" dirty="0"/>
                </a:p>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𝑅𝑒𝑠𝑁𝑒𝑡</m:t>
                        </m:r>
                        <m:r>
                          <a:rPr kumimoji="1" lang="en-US" altLang="ja-JP" sz="2800" b="0" i="1" smtClean="0">
                            <a:latin typeface="Cambria Math" panose="02040503050406030204" pitchFamily="18" charset="0"/>
                          </a:rPr>
                          <m:t>152</m:t>
                        </m:r>
                      </m:oMath>
                    </m:oMathPara>
                  </a14:m>
                  <a:endParaRPr kumimoji="1" lang="ja-JP" altLang="en-US" sz="2800" dirty="0"/>
                </a:p>
              </p:txBody>
            </p:sp>
          </mc:Choice>
          <mc:Fallback xmlns="">
            <p:sp>
              <p:nvSpPr>
                <p:cNvPr id="90" name="テキスト ボックス 89">
                  <a:extLst>
                    <a:ext uri="{FF2B5EF4-FFF2-40B4-BE49-F238E27FC236}">
                      <a16:creationId xmlns:a16="http://schemas.microsoft.com/office/drawing/2014/main" id="{A3D47FCC-F41C-36CA-FA23-2C40DFB9B479}"/>
                    </a:ext>
                  </a:extLst>
                </p:cNvPr>
                <p:cNvSpPr txBox="1">
                  <a:spLocks noRot="1" noChangeAspect="1" noMove="1" noResize="1" noEditPoints="1" noAdjustHandles="1" noChangeArrowheads="1" noChangeShapeType="1" noTextEdit="1"/>
                </p:cNvSpPr>
                <p:nvPr/>
              </p:nvSpPr>
              <p:spPr>
                <a:xfrm>
                  <a:off x="5827591" y="9798507"/>
                  <a:ext cx="2298001" cy="861774"/>
                </a:xfrm>
                <a:prstGeom prst="rect">
                  <a:avLst/>
                </a:prstGeom>
                <a:blipFill>
                  <a:blip r:embed="rId35"/>
                  <a:stretch>
                    <a:fillRect l="-3315" r="-3315" b="-2899"/>
                  </a:stretch>
                </a:blipFill>
              </p:spPr>
              <p:txBody>
                <a:bodyPr/>
                <a:lstStyle/>
                <a:p>
                  <a:r>
                    <a:rPr lang="ja-JP" altLang="en-US">
                      <a:noFill/>
                    </a:rPr>
                    <a:t> </a:t>
                  </a:r>
                </a:p>
              </p:txBody>
            </p:sp>
          </mc:Fallback>
        </mc:AlternateContent>
      </p:grpSp>
      <p:grpSp>
        <p:nvGrpSpPr>
          <p:cNvPr id="91" name="グループ化 90">
            <a:extLst>
              <a:ext uri="{FF2B5EF4-FFF2-40B4-BE49-F238E27FC236}">
                <a16:creationId xmlns:a16="http://schemas.microsoft.com/office/drawing/2014/main" id="{7E850E49-1E4F-DB19-17F5-EFDA0E832FD6}"/>
              </a:ext>
            </a:extLst>
          </p:cNvPr>
          <p:cNvGrpSpPr/>
          <p:nvPr/>
        </p:nvGrpSpPr>
        <p:grpSpPr>
          <a:xfrm>
            <a:off x="7008274" y="20229552"/>
            <a:ext cx="1943000" cy="719356"/>
            <a:chOff x="3749692" y="11369202"/>
            <a:chExt cx="1943000" cy="719356"/>
          </a:xfrm>
        </p:grpSpPr>
        <p:sp>
          <p:nvSpPr>
            <p:cNvPr id="92" name="正方形/長方形 91">
              <a:extLst>
                <a:ext uri="{FF2B5EF4-FFF2-40B4-BE49-F238E27FC236}">
                  <a16:creationId xmlns:a16="http://schemas.microsoft.com/office/drawing/2014/main" id="{3E56A3DD-D170-5292-6612-63DDF665593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93" name="テキスト ボックス 92">
                  <a:extLst>
                    <a:ext uri="{FF2B5EF4-FFF2-40B4-BE49-F238E27FC236}">
                      <a16:creationId xmlns:a16="http://schemas.microsoft.com/office/drawing/2014/main" id="{530F7026-FEC9-842A-46CC-D75BCDA6539A}"/>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93" name="テキスト ボックス 92">
                  <a:extLst>
                    <a:ext uri="{FF2B5EF4-FFF2-40B4-BE49-F238E27FC236}">
                      <a16:creationId xmlns:a16="http://schemas.microsoft.com/office/drawing/2014/main" id="{530F7026-FEC9-842A-46CC-D75BCDA6539A}"/>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36"/>
                  <a:stretch>
                    <a:fillRect b="-5882"/>
                  </a:stretch>
                </a:blipFill>
              </p:spPr>
              <p:txBody>
                <a:bodyPr/>
                <a:lstStyle/>
                <a:p>
                  <a:r>
                    <a:rPr lang="ja-JP" altLang="en-US">
                      <a:noFill/>
                    </a:rPr>
                    <a:t> </a:t>
                  </a:r>
                </a:p>
              </p:txBody>
            </p:sp>
          </mc:Fallback>
        </mc:AlternateContent>
      </p:grpSp>
      <p:grpSp>
        <p:nvGrpSpPr>
          <p:cNvPr id="94" name="グループ化 93">
            <a:extLst>
              <a:ext uri="{FF2B5EF4-FFF2-40B4-BE49-F238E27FC236}">
                <a16:creationId xmlns:a16="http://schemas.microsoft.com/office/drawing/2014/main" id="{480A452F-7716-A8E3-3F12-2F62CAD33F5E}"/>
              </a:ext>
            </a:extLst>
          </p:cNvPr>
          <p:cNvGrpSpPr/>
          <p:nvPr/>
        </p:nvGrpSpPr>
        <p:grpSpPr>
          <a:xfrm>
            <a:off x="10104667" y="20850586"/>
            <a:ext cx="1943000" cy="719356"/>
            <a:chOff x="3749692" y="11369202"/>
            <a:chExt cx="1943000" cy="719356"/>
          </a:xfrm>
        </p:grpSpPr>
        <p:sp>
          <p:nvSpPr>
            <p:cNvPr id="95" name="正方形/長方形 94">
              <a:extLst>
                <a:ext uri="{FF2B5EF4-FFF2-40B4-BE49-F238E27FC236}">
                  <a16:creationId xmlns:a16="http://schemas.microsoft.com/office/drawing/2014/main" id="{70C1D36C-D70E-5DD4-3E60-4FF98BDBA8D4}"/>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96" name="テキスト ボックス 95">
                  <a:extLst>
                    <a:ext uri="{FF2B5EF4-FFF2-40B4-BE49-F238E27FC236}">
                      <a16:creationId xmlns:a16="http://schemas.microsoft.com/office/drawing/2014/main" id="{C0B92E46-B603-F627-D4D7-4F235C2D9CE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96" name="テキスト ボックス 95">
                  <a:extLst>
                    <a:ext uri="{FF2B5EF4-FFF2-40B4-BE49-F238E27FC236}">
                      <a16:creationId xmlns:a16="http://schemas.microsoft.com/office/drawing/2014/main" id="{C0B92E46-B603-F627-D4D7-4F235C2D9CE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37"/>
                  <a:stretch>
                    <a:fillRect b="-8571"/>
                  </a:stretch>
                </a:blipFill>
              </p:spPr>
              <p:txBody>
                <a:bodyPr/>
                <a:lstStyle/>
                <a:p>
                  <a:r>
                    <a:rPr lang="ja-JP" altLang="en-US">
                      <a:noFill/>
                    </a:rPr>
                    <a:t> </a:t>
                  </a:r>
                </a:p>
              </p:txBody>
            </p:sp>
          </mc:Fallback>
        </mc:AlternateContent>
      </p:grpSp>
      <p:sp>
        <p:nvSpPr>
          <p:cNvPr id="104" name="テキスト ボックス 103">
            <a:extLst>
              <a:ext uri="{FF2B5EF4-FFF2-40B4-BE49-F238E27FC236}">
                <a16:creationId xmlns:a16="http://schemas.microsoft.com/office/drawing/2014/main" id="{ADD97B12-2825-A101-15AD-B5071038F7DE}"/>
              </a:ext>
            </a:extLst>
          </p:cNvPr>
          <p:cNvSpPr txBox="1"/>
          <p:nvPr/>
        </p:nvSpPr>
        <p:spPr>
          <a:xfrm>
            <a:off x="29050546" y="16265691"/>
            <a:ext cx="972326" cy="523220"/>
          </a:xfrm>
          <a:prstGeom prst="rect">
            <a:avLst/>
          </a:prstGeom>
          <a:noFill/>
        </p:spPr>
        <p:txBody>
          <a:bodyPr wrap="square" rtlCol="0">
            <a:spAutoFit/>
          </a:bodyPr>
          <a:lstStyle/>
          <a:p>
            <a:pPr algn="ctr"/>
            <a:r>
              <a:rPr kumimoji="1" lang="en-US" altLang="ja-JP" sz="2800" dirty="0">
                <a:latin typeface="UD Digi Kyokasho NK-R" panose="02020400000000000000" pitchFamily="18" charset="-128"/>
                <a:ea typeface="UD Digi Kyokasho NK-R" panose="02020400000000000000" pitchFamily="18" charset="-128"/>
              </a:rPr>
              <a:t>(2)</a:t>
            </a:r>
            <a:endParaRPr kumimoji="1" lang="ja-JP" altLang="en-US" sz="2800">
              <a:latin typeface="UD Digi Kyokasho NK-R" panose="02020400000000000000" pitchFamily="18" charset="-128"/>
              <a:ea typeface="UD Digi Kyokasho NK-R" panose="02020400000000000000" pitchFamily="18" charset="-128"/>
            </a:endParaRPr>
          </a:p>
        </p:txBody>
      </p:sp>
      <p:graphicFrame>
        <p:nvGraphicFramePr>
          <p:cNvPr id="54" name="表 54">
            <a:extLst>
              <a:ext uri="{FF2B5EF4-FFF2-40B4-BE49-F238E27FC236}">
                <a16:creationId xmlns:a16="http://schemas.microsoft.com/office/drawing/2014/main" id="{71EB0320-7586-7DBA-B1ED-305D8F8CA721}"/>
              </a:ext>
            </a:extLst>
          </p:cNvPr>
          <p:cNvGraphicFramePr>
            <a:graphicFrameLocks noGrp="1"/>
          </p:cNvGraphicFramePr>
          <p:nvPr>
            <p:extLst>
              <p:ext uri="{D42A27DB-BD31-4B8C-83A1-F6EECF244321}">
                <p14:modId xmlns:p14="http://schemas.microsoft.com/office/powerpoint/2010/main" val="106183480"/>
              </p:ext>
            </p:extLst>
          </p:nvPr>
        </p:nvGraphicFramePr>
        <p:xfrm>
          <a:off x="16271324" y="19890765"/>
          <a:ext cx="5844900" cy="6427710"/>
        </p:xfrm>
        <a:graphic>
          <a:graphicData uri="http://schemas.openxmlformats.org/drawingml/2006/table">
            <a:tbl>
              <a:tblPr firstRow="1" bandRow="1">
                <a:tableStyleId>{7DF18680-E054-41AD-8BC1-D1AEF772440D}</a:tableStyleId>
              </a:tblPr>
              <a:tblGrid>
                <a:gridCol w="2922450">
                  <a:extLst>
                    <a:ext uri="{9D8B030D-6E8A-4147-A177-3AD203B41FA5}">
                      <a16:colId xmlns:a16="http://schemas.microsoft.com/office/drawing/2014/main" val="2605247061"/>
                    </a:ext>
                  </a:extLst>
                </a:gridCol>
                <a:gridCol w="2922450">
                  <a:extLst>
                    <a:ext uri="{9D8B030D-6E8A-4147-A177-3AD203B41FA5}">
                      <a16:colId xmlns:a16="http://schemas.microsoft.com/office/drawing/2014/main" val="21923573"/>
                    </a:ext>
                  </a:extLst>
                </a:gridCol>
              </a:tblGrid>
              <a:tr h="494595">
                <a:tc>
                  <a:txBody>
                    <a:bodyPr/>
                    <a:lstStyle/>
                    <a:p>
                      <a:pPr algn="ctr"/>
                      <a:r>
                        <a:rPr kumimoji="1" lang="ja-JP" altLang="en-US" sz="2800">
                          <a:latin typeface="UD Digi Kyokasho NK-R" panose="02020400000000000000" pitchFamily="18" charset="-128"/>
                          <a:ea typeface="UD Digi Kyokasho NK-R" panose="02020400000000000000" pitchFamily="18" charset="-128"/>
                        </a:rPr>
                        <a:t>入力画像</a:t>
                      </a:r>
                    </a:p>
                  </a:txBody>
                  <a:tcPr>
                    <a:solidFill>
                      <a:schemeClr val="accent5">
                        <a:lumMod val="75000"/>
                      </a:schemeClr>
                    </a:solidFill>
                  </a:tcPr>
                </a:tc>
                <a:tc>
                  <a:txBody>
                    <a:bodyPr/>
                    <a:lstStyle/>
                    <a:p>
                      <a:pPr algn="ctr"/>
                      <a:r>
                        <a:rPr kumimoji="1" lang="en-US" altLang="ja-JP" sz="2800" dirty="0">
                          <a:latin typeface="UD Digi Kyokasho NK-R" panose="02020400000000000000" pitchFamily="18" charset="-128"/>
                          <a:ea typeface="UD Digi Kyokasho NK-R" panose="02020400000000000000" pitchFamily="18" charset="-128"/>
                        </a:rPr>
                        <a:t>512</a:t>
                      </a:r>
                      <a:endParaRPr kumimoji="1" lang="ja-JP" altLang="en-US" sz="2800">
                        <a:latin typeface="UD Digi Kyokasho NK-R" panose="02020400000000000000" pitchFamily="18" charset="-128"/>
                        <a:ea typeface="UD Digi Kyokasho NK-R" panose="02020400000000000000" pitchFamily="18" charset="-128"/>
                      </a:endParaRPr>
                    </a:p>
                  </a:txBody>
                  <a:tcPr>
                    <a:solidFill>
                      <a:schemeClr val="accent5">
                        <a:lumMod val="75000"/>
                      </a:schemeClr>
                    </a:solidFill>
                  </a:tcPr>
                </a:tc>
                <a:extLst>
                  <a:ext uri="{0D108BD9-81ED-4DB2-BD59-A6C34878D82A}">
                    <a16:rowId xmlns:a16="http://schemas.microsoft.com/office/drawing/2014/main" val="543304455"/>
                  </a:ext>
                </a:extLst>
              </a:tr>
              <a:tr h="2596880">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305008445"/>
                  </a:ext>
                </a:extLst>
              </a:tr>
              <a:tr h="650639">
                <a:tc>
                  <a:txBody>
                    <a:bodyPr/>
                    <a:lstStyle/>
                    <a:p>
                      <a:pPr algn="ctr"/>
                      <a:r>
                        <a:rPr kumimoji="1" lang="en-US" altLang="ja-JP" sz="2800" dirty="0">
                          <a:solidFill>
                            <a:schemeClr val="bg1"/>
                          </a:solidFill>
                          <a:latin typeface="UD Digi Kyokasho NK-R" panose="02020400000000000000" pitchFamily="18" charset="-128"/>
                          <a:ea typeface="UD Digi Kyokasho NK-R" panose="02020400000000000000" pitchFamily="18" charset="-128"/>
                        </a:rPr>
                        <a:t>1024</a:t>
                      </a:r>
                      <a:endParaRPr kumimoji="1" lang="ja-JP" altLang="en-US" sz="2800">
                        <a:solidFill>
                          <a:schemeClr val="bg1"/>
                        </a:solidFill>
                        <a:latin typeface="UD Digi Kyokasho NK-R" panose="02020400000000000000" pitchFamily="18" charset="-128"/>
                        <a:ea typeface="UD Digi Kyokasho NK-R" panose="02020400000000000000" pitchFamily="18" charset="-128"/>
                      </a:endParaRPr>
                    </a:p>
                  </a:txBody>
                  <a:tcPr>
                    <a:solidFill>
                      <a:schemeClr val="accent5">
                        <a:lumMod val="75000"/>
                      </a:schemeClr>
                    </a:solidFill>
                  </a:tcPr>
                </a:tc>
                <a:tc>
                  <a:txBody>
                    <a:bodyPr/>
                    <a:lstStyle/>
                    <a:p>
                      <a:pPr algn="ctr"/>
                      <a:r>
                        <a:rPr kumimoji="1" lang="en-US" altLang="ja-JP" sz="2800" dirty="0">
                          <a:solidFill>
                            <a:schemeClr val="bg1"/>
                          </a:solidFill>
                          <a:latin typeface="UD Digi Kyokasho NK-R" panose="02020400000000000000" pitchFamily="18" charset="-128"/>
                          <a:ea typeface="UD Digi Kyokasho NK-R" panose="02020400000000000000" pitchFamily="18" charset="-128"/>
                        </a:rPr>
                        <a:t>2048</a:t>
                      </a:r>
                      <a:endParaRPr kumimoji="1" lang="ja-JP" altLang="en-US" sz="2800">
                        <a:solidFill>
                          <a:schemeClr val="bg1"/>
                        </a:solidFill>
                        <a:latin typeface="UD Digi Kyokasho NK-R" panose="02020400000000000000" pitchFamily="18" charset="-128"/>
                        <a:ea typeface="UD Digi Kyokasho NK-R" panose="02020400000000000000" pitchFamily="18" charset="-128"/>
                      </a:endParaRPr>
                    </a:p>
                  </a:txBody>
                  <a:tcPr>
                    <a:solidFill>
                      <a:schemeClr val="accent5">
                        <a:lumMod val="75000"/>
                      </a:schemeClr>
                    </a:solidFill>
                  </a:tcPr>
                </a:tc>
                <a:extLst>
                  <a:ext uri="{0D108BD9-81ED-4DB2-BD59-A6C34878D82A}">
                    <a16:rowId xmlns:a16="http://schemas.microsoft.com/office/drawing/2014/main" val="1190950867"/>
                  </a:ext>
                </a:extLst>
              </a:tr>
              <a:tr h="2662031">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046697167"/>
                  </a:ext>
                </a:extLst>
              </a:tr>
            </a:tbl>
          </a:graphicData>
        </a:graphic>
      </p:graphicFrame>
      <p:pic>
        <p:nvPicPr>
          <p:cNvPr id="27" name="図 26">
            <a:extLst>
              <a:ext uri="{FF2B5EF4-FFF2-40B4-BE49-F238E27FC236}">
                <a16:creationId xmlns:a16="http://schemas.microsoft.com/office/drawing/2014/main" id="{3ACB756E-77C4-D8B9-BB66-C80A7DB45412}"/>
              </a:ext>
            </a:extLst>
          </p:cNvPr>
          <p:cNvPicPr>
            <a:picLocks noChangeAspect="1"/>
          </p:cNvPicPr>
          <p:nvPr/>
        </p:nvPicPr>
        <p:blipFill>
          <a:blip r:embed="rId38"/>
          <a:stretch>
            <a:fillRect/>
          </a:stretch>
        </p:blipFill>
        <p:spPr>
          <a:xfrm>
            <a:off x="16533676" y="20481536"/>
            <a:ext cx="2467124" cy="2467124"/>
          </a:xfrm>
          <a:prstGeom prst="rect">
            <a:avLst/>
          </a:prstGeom>
        </p:spPr>
      </p:pic>
      <p:pic>
        <p:nvPicPr>
          <p:cNvPr id="33" name="図 32">
            <a:extLst>
              <a:ext uri="{FF2B5EF4-FFF2-40B4-BE49-F238E27FC236}">
                <a16:creationId xmlns:a16="http://schemas.microsoft.com/office/drawing/2014/main" id="{405A57DB-25AF-5828-979F-ACF81963688E}"/>
              </a:ext>
            </a:extLst>
          </p:cNvPr>
          <p:cNvPicPr>
            <a:picLocks noChangeAspect="1"/>
          </p:cNvPicPr>
          <p:nvPr/>
        </p:nvPicPr>
        <p:blipFill>
          <a:blip r:embed="rId39"/>
          <a:stretch>
            <a:fillRect/>
          </a:stretch>
        </p:blipFill>
        <p:spPr>
          <a:xfrm>
            <a:off x="19433969" y="20464821"/>
            <a:ext cx="2467123" cy="2467123"/>
          </a:xfrm>
          <a:prstGeom prst="rect">
            <a:avLst/>
          </a:prstGeom>
        </p:spPr>
      </p:pic>
      <p:pic>
        <p:nvPicPr>
          <p:cNvPr id="40" name="図 39">
            <a:extLst>
              <a:ext uri="{FF2B5EF4-FFF2-40B4-BE49-F238E27FC236}">
                <a16:creationId xmlns:a16="http://schemas.microsoft.com/office/drawing/2014/main" id="{0644C89B-29B5-841C-C504-EA62B1958AB4}"/>
              </a:ext>
            </a:extLst>
          </p:cNvPr>
          <p:cNvPicPr>
            <a:picLocks noChangeAspect="1"/>
          </p:cNvPicPr>
          <p:nvPr/>
        </p:nvPicPr>
        <p:blipFill>
          <a:blip r:embed="rId40"/>
          <a:stretch>
            <a:fillRect/>
          </a:stretch>
        </p:blipFill>
        <p:spPr>
          <a:xfrm>
            <a:off x="16509339" y="23768895"/>
            <a:ext cx="2467123" cy="2467123"/>
          </a:xfrm>
          <a:prstGeom prst="rect">
            <a:avLst/>
          </a:prstGeom>
        </p:spPr>
      </p:pic>
      <p:pic>
        <p:nvPicPr>
          <p:cNvPr id="48" name="図 47">
            <a:extLst>
              <a:ext uri="{FF2B5EF4-FFF2-40B4-BE49-F238E27FC236}">
                <a16:creationId xmlns:a16="http://schemas.microsoft.com/office/drawing/2014/main" id="{C2635F94-DED3-A817-9ACB-2C2A35959766}"/>
              </a:ext>
            </a:extLst>
          </p:cNvPr>
          <p:cNvPicPr>
            <a:picLocks noChangeAspect="1"/>
          </p:cNvPicPr>
          <p:nvPr/>
        </p:nvPicPr>
        <p:blipFill>
          <a:blip r:embed="rId41"/>
          <a:stretch>
            <a:fillRect/>
          </a:stretch>
        </p:blipFill>
        <p:spPr>
          <a:xfrm>
            <a:off x="19432311" y="23768895"/>
            <a:ext cx="2467123" cy="2467123"/>
          </a:xfrm>
          <a:prstGeom prst="rect">
            <a:avLst/>
          </a:prstGeom>
        </p:spPr>
      </p:pic>
      <p:sp>
        <p:nvSpPr>
          <p:cNvPr id="55" name="テキスト ボックス 54">
            <a:extLst>
              <a:ext uri="{FF2B5EF4-FFF2-40B4-BE49-F238E27FC236}">
                <a16:creationId xmlns:a16="http://schemas.microsoft.com/office/drawing/2014/main" id="{80AFDCD6-167C-2DDF-EEA1-1794FC041036}"/>
              </a:ext>
            </a:extLst>
          </p:cNvPr>
          <p:cNvSpPr txBox="1"/>
          <p:nvPr/>
        </p:nvSpPr>
        <p:spPr>
          <a:xfrm>
            <a:off x="16666524" y="19386264"/>
            <a:ext cx="4243284" cy="523220"/>
          </a:xfrm>
          <a:prstGeom prst="rect">
            <a:avLst/>
          </a:prstGeom>
          <a:noFill/>
        </p:spPr>
        <p:txBody>
          <a:bodyPr wrap="square" rtlCol="0">
            <a:spAutoFit/>
          </a:bodyPr>
          <a:lstStyle/>
          <a:p>
            <a:pPr algn="ctr"/>
            <a:r>
              <a:rPr kumimoji="1" lang="ja-JP" altLang="en-US" sz="2800">
                <a:latin typeface="UD Digi Kyokasho NK-R" panose="02020400000000000000" pitchFamily="18" charset="-128"/>
                <a:ea typeface="UD Digi Kyokasho NK-R" panose="02020400000000000000" pitchFamily="18" charset="-128"/>
              </a:rPr>
              <a:t>実験</a:t>
            </a:r>
            <a:r>
              <a:rPr kumimoji="1" lang="en-US" altLang="ja-JP" sz="2800" dirty="0">
                <a:latin typeface="UD Digi Kyokasho NK-R" panose="02020400000000000000" pitchFamily="18" charset="-128"/>
                <a:ea typeface="UD Digi Kyokasho NK-R" panose="02020400000000000000" pitchFamily="18" charset="-128"/>
              </a:rPr>
              <a:t>2</a:t>
            </a:r>
            <a:r>
              <a:rPr kumimoji="1" lang="ja-JP" altLang="en-US" sz="2800">
                <a:latin typeface="UD Digi Kyokasho NK-R" panose="02020400000000000000" pitchFamily="18" charset="-128"/>
                <a:ea typeface="UD Digi Kyokasho NK-R" panose="02020400000000000000" pitchFamily="18" charset="-128"/>
              </a:rPr>
              <a:t>　再構成画像を比較</a:t>
            </a:r>
          </a:p>
        </p:txBody>
      </p:sp>
      <p:sp>
        <p:nvSpPr>
          <p:cNvPr id="59" name="テキスト ボックス 58">
            <a:extLst>
              <a:ext uri="{FF2B5EF4-FFF2-40B4-BE49-F238E27FC236}">
                <a16:creationId xmlns:a16="http://schemas.microsoft.com/office/drawing/2014/main" id="{EB4554EE-D7B3-1073-AE3A-B8BDFE7ABA2C}"/>
              </a:ext>
            </a:extLst>
          </p:cNvPr>
          <p:cNvSpPr txBox="1"/>
          <p:nvPr/>
        </p:nvSpPr>
        <p:spPr>
          <a:xfrm>
            <a:off x="23270915" y="26053484"/>
            <a:ext cx="5458095" cy="523220"/>
          </a:xfrm>
          <a:prstGeom prst="rect">
            <a:avLst/>
          </a:prstGeom>
          <a:noFill/>
        </p:spPr>
        <p:txBody>
          <a:bodyPr wrap="square" rtlCol="0">
            <a:spAutoFit/>
          </a:bodyPr>
          <a:lstStyle/>
          <a:p>
            <a:pPr algn="ctr"/>
            <a:r>
              <a:rPr kumimoji="1" lang="ja-JP" altLang="en-US" sz="2800">
                <a:latin typeface="UD Digi Kyokasho NK-R" panose="02020400000000000000" pitchFamily="18" charset="-128"/>
                <a:ea typeface="UD Digi Kyokasho NK-R" panose="02020400000000000000" pitchFamily="18" charset="-128"/>
              </a:rPr>
              <a:t>実験</a:t>
            </a:r>
            <a:r>
              <a:rPr kumimoji="1" lang="en-US" altLang="ja-JP" sz="2800" dirty="0">
                <a:latin typeface="UD Digi Kyokasho NK-R" panose="02020400000000000000" pitchFamily="18" charset="-128"/>
                <a:ea typeface="UD Digi Kyokasho NK-R" panose="02020400000000000000" pitchFamily="18" charset="-128"/>
              </a:rPr>
              <a:t>3</a:t>
            </a:r>
            <a:r>
              <a:rPr kumimoji="1" lang="ja-JP" altLang="en-US" sz="2800">
                <a:latin typeface="UD Digi Kyokasho NK-R" panose="02020400000000000000" pitchFamily="18" charset="-128"/>
                <a:ea typeface="UD Digi Kyokasho NK-R" panose="02020400000000000000" pitchFamily="18" charset="-128"/>
              </a:rPr>
              <a:t>　学習精度・学習誤差を比較</a:t>
            </a:r>
          </a:p>
        </p:txBody>
      </p:sp>
      <p:graphicFrame>
        <p:nvGraphicFramePr>
          <p:cNvPr id="61" name="表 255">
            <a:extLst>
              <a:ext uri="{FF2B5EF4-FFF2-40B4-BE49-F238E27FC236}">
                <a16:creationId xmlns:a16="http://schemas.microsoft.com/office/drawing/2014/main" id="{C843D60C-48A5-B579-246D-9B7389C06D50}"/>
              </a:ext>
            </a:extLst>
          </p:cNvPr>
          <p:cNvGraphicFramePr>
            <a:graphicFrameLocks noGrp="1"/>
          </p:cNvGraphicFramePr>
          <p:nvPr>
            <p:extLst>
              <p:ext uri="{D42A27DB-BD31-4B8C-83A1-F6EECF244321}">
                <p14:modId xmlns:p14="http://schemas.microsoft.com/office/powerpoint/2010/main" val="3527606302"/>
              </p:ext>
            </p:extLst>
          </p:nvPr>
        </p:nvGraphicFramePr>
        <p:xfrm>
          <a:off x="15329206" y="30952117"/>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パンツの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すそ</a:t>
                      </a:r>
                      <a:r>
                        <a:rPr kumimoji="1" lang="ja-JP" altLang="en-US" sz="2800" spc="-100" baseline="0">
                          <a:latin typeface="UD Digi Kyokasho NK-R" panose="02020400000000000000" pitchFamily="18" charset="-128"/>
                          <a:ea typeface="UD Digi Kyokasho NK-R" panose="02020400000000000000" pitchFamily="18" charset="-128"/>
                        </a:rPr>
                        <a:t>がカピカピになっている</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出会い系で待ち合わせ</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子供の頃から</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ディフェンスに定評</a:t>
                      </a:r>
                      <a:r>
                        <a:rPr kumimoji="1" lang="ja-JP" altLang="en-US" sz="2800" spc="-100" baseline="0">
                          <a:solidFill>
                            <a:schemeClr val="tx1"/>
                          </a:solidFill>
                          <a:latin typeface="UD Digi Kyokasho NK-R" panose="02020400000000000000" pitchFamily="18" charset="-128"/>
                          <a:ea typeface="UD Digi Kyokasho NK-R" panose="02020400000000000000" pitchFamily="18" charset="-128"/>
                        </a:rPr>
                        <a:t>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ある</a:t>
                      </a:r>
                      <a:r>
                        <a:rPr kumimoji="1" lang="ja-JP" altLang="en-US" sz="2800" spc="-100" baseline="0">
                          <a:latin typeface="UD Digi Kyokasho NK-R" panose="02020400000000000000" pitchFamily="18" charset="-128"/>
                          <a:ea typeface="UD Digi Kyokasho NK-R" panose="02020400000000000000" pitchFamily="18" charset="-128"/>
                        </a:rPr>
                        <a:t>人</a:t>
                      </a:r>
                    </a:p>
                  </a:txBody>
                  <a:tcPr anchor="ctr"/>
                </a:tc>
                <a:extLst>
                  <a:ext uri="{0D108BD9-81ED-4DB2-BD59-A6C34878D82A}">
                    <a16:rowId xmlns:a16="http://schemas.microsoft.com/office/drawing/2014/main" val="1783522377"/>
                  </a:ext>
                </a:extLst>
              </a:tr>
            </a:tbl>
          </a:graphicData>
        </a:graphic>
      </p:graphicFrame>
      <p:pic>
        <p:nvPicPr>
          <p:cNvPr id="62" name="図 61">
            <a:extLst>
              <a:ext uri="{FF2B5EF4-FFF2-40B4-BE49-F238E27FC236}">
                <a16:creationId xmlns:a16="http://schemas.microsoft.com/office/drawing/2014/main" id="{3FBF9621-4FD9-208C-8DC2-FA39BC25B015}"/>
              </a:ext>
            </a:extLst>
          </p:cNvPr>
          <p:cNvPicPr>
            <a:picLocks noChangeAspect="1"/>
          </p:cNvPicPr>
          <p:nvPr/>
        </p:nvPicPr>
        <p:blipFill>
          <a:blip r:embed="rId42"/>
          <a:stretch>
            <a:fillRect/>
          </a:stretch>
        </p:blipFill>
        <p:spPr>
          <a:xfrm>
            <a:off x="15913172" y="31581225"/>
            <a:ext cx="2402435" cy="2402435"/>
          </a:xfrm>
          <a:prstGeom prst="rect">
            <a:avLst/>
          </a:prstGeom>
        </p:spPr>
      </p:pic>
      <p:pic>
        <p:nvPicPr>
          <p:cNvPr id="63" name="図 62">
            <a:extLst>
              <a:ext uri="{FF2B5EF4-FFF2-40B4-BE49-F238E27FC236}">
                <a16:creationId xmlns:a16="http://schemas.microsoft.com/office/drawing/2014/main" id="{72294DBF-E76D-7A22-0EE6-F6AAE1E9F344}"/>
              </a:ext>
            </a:extLst>
          </p:cNvPr>
          <p:cNvPicPr>
            <a:picLocks noChangeAspect="1"/>
          </p:cNvPicPr>
          <p:nvPr/>
        </p:nvPicPr>
        <p:blipFill>
          <a:blip r:embed="rId43"/>
          <a:stretch>
            <a:fillRect/>
          </a:stretch>
        </p:blipFill>
        <p:spPr>
          <a:xfrm>
            <a:off x="15913172" y="34700177"/>
            <a:ext cx="2402435" cy="2402435"/>
          </a:xfrm>
          <a:prstGeom prst="rect">
            <a:avLst/>
          </a:prstGeom>
        </p:spPr>
      </p:pic>
      <p:pic>
        <p:nvPicPr>
          <p:cNvPr id="2" name="図 1">
            <a:extLst>
              <a:ext uri="{FF2B5EF4-FFF2-40B4-BE49-F238E27FC236}">
                <a16:creationId xmlns:a16="http://schemas.microsoft.com/office/drawing/2014/main" id="{0484CCE0-04AF-8D5F-967C-37678A37120D}"/>
              </a:ext>
            </a:extLst>
          </p:cNvPr>
          <p:cNvPicPr>
            <a:picLocks noChangeAspect="1"/>
          </p:cNvPicPr>
          <p:nvPr/>
        </p:nvPicPr>
        <p:blipFill>
          <a:blip r:embed="rId44"/>
          <a:stretch>
            <a:fillRect/>
          </a:stretch>
        </p:blipFill>
        <p:spPr>
          <a:xfrm>
            <a:off x="22593830" y="19447224"/>
            <a:ext cx="6812267" cy="6663528"/>
          </a:xfrm>
          <a:prstGeom prst="rect">
            <a:avLst/>
          </a:prstGeom>
        </p:spPr>
      </p:pic>
      <p:sp>
        <p:nvSpPr>
          <p:cNvPr id="57" name="テキスト ボックス 56">
            <a:extLst>
              <a:ext uri="{FF2B5EF4-FFF2-40B4-BE49-F238E27FC236}">
                <a16:creationId xmlns:a16="http://schemas.microsoft.com/office/drawing/2014/main" id="{C643C9AC-DCDA-90E0-4D5E-CEB290DE06D7}"/>
              </a:ext>
            </a:extLst>
          </p:cNvPr>
          <p:cNvSpPr txBox="1"/>
          <p:nvPr/>
        </p:nvSpPr>
        <p:spPr>
          <a:xfrm>
            <a:off x="-34395" y="-30111"/>
            <a:ext cx="1483100" cy="830997"/>
          </a:xfrm>
          <a:prstGeom prst="rect">
            <a:avLst/>
          </a:prstGeom>
          <a:noFill/>
        </p:spPr>
        <p:txBody>
          <a:bodyPr wrap="square" rtlCol="0">
            <a:spAutoFit/>
          </a:bodyPr>
          <a:lstStyle/>
          <a:p>
            <a:pPr algn="ctr"/>
            <a:r>
              <a:rPr kumimoji="1" lang="en-US" altLang="ja-JP" sz="4800" dirty="0">
                <a:latin typeface="UD Digi Kyokasho NK-R" panose="02020400000000000000" pitchFamily="18" charset="-128"/>
                <a:ea typeface="UD Digi Kyokasho NK-R" panose="02020400000000000000" pitchFamily="18" charset="-128"/>
              </a:rPr>
              <a:t>A</a:t>
            </a:r>
            <a:r>
              <a:rPr kumimoji="1" lang="ja-JP" altLang="en-US" sz="4800">
                <a:latin typeface="UD Digi Kyokasho NK-R" panose="02020400000000000000" pitchFamily="18" charset="-128"/>
                <a:ea typeface="UD Digi Kyokasho NK-R" panose="02020400000000000000" pitchFamily="18" charset="-128"/>
              </a:rPr>
              <a:t>案</a:t>
            </a:r>
          </a:p>
        </p:txBody>
      </p:sp>
      <p:grpSp>
        <p:nvGrpSpPr>
          <p:cNvPr id="100" name="グループ化 99">
            <a:extLst>
              <a:ext uri="{FF2B5EF4-FFF2-40B4-BE49-F238E27FC236}">
                <a16:creationId xmlns:a16="http://schemas.microsoft.com/office/drawing/2014/main" id="{335787A4-DEEE-3686-AAA6-742A715A8CA7}"/>
              </a:ext>
            </a:extLst>
          </p:cNvPr>
          <p:cNvGrpSpPr/>
          <p:nvPr/>
        </p:nvGrpSpPr>
        <p:grpSpPr>
          <a:xfrm>
            <a:off x="212934" y="32051017"/>
            <a:ext cx="14760000" cy="8241483"/>
            <a:chOff x="191499" y="4380113"/>
            <a:chExt cx="14760000" cy="8241483"/>
          </a:xfrm>
        </p:grpSpPr>
        <p:sp>
          <p:nvSpPr>
            <p:cNvPr id="101" name="四角形: 角を丸くする 29">
              <a:extLst>
                <a:ext uri="{FF2B5EF4-FFF2-40B4-BE49-F238E27FC236}">
                  <a16:creationId xmlns:a16="http://schemas.microsoft.com/office/drawing/2014/main" id="{978EFB0C-BA7D-D3B6-3862-CA5B706BC12F}"/>
                </a:ext>
              </a:extLst>
            </p:cNvPr>
            <p:cNvSpPr/>
            <p:nvPr/>
          </p:nvSpPr>
          <p:spPr>
            <a:xfrm>
              <a:off x="191499" y="4755868"/>
              <a:ext cx="14760000" cy="7865728"/>
            </a:xfrm>
            <a:prstGeom prst="roundRect">
              <a:avLst>
                <a:gd name="adj" fmla="val 4013"/>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102" name="四角形: 角を丸くする 30">
              <a:extLst>
                <a:ext uri="{FF2B5EF4-FFF2-40B4-BE49-F238E27FC236}">
                  <a16:creationId xmlns:a16="http://schemas.microsoft.com/office/drawing/2014/main" id="{A277DEA7-660B-9D46-D630-F5ED1E7FC997}"/>
                </a:ext>
              </a:extLst>
            </p:cNvPr>
            <p:cNvSpPr/>
            <p:nvPr/>
          </p:nvSpPr>
          <p:spPr>
            <a:xfrm>
              <a:off x="506890" y="4380113"/>
              <a:ext cx="2317446" cy="818741"/>
            </a:xfrm>
            <a:prstGeom prst="roundRect">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本研究</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05" name="テキスト ボックス 104">
              <a:extLst>
                <a:ext uri="{FF2B5EF4-FFF2-40B4-BE49-F238E27FC236}">
                  <a16:creationId xmlns:a16="http://schemas.microsoft.com/office/drawing/2014/main" id="{5EDA9288-B360-193E-2969-973A59389C0D}"/>
                </a:ext>
              </a:extLst>
            </p:cNvPr>
            <p:cNvSpPr txBox="1"/>
            <p:nvPr/>
          </p:nvSpPr>
          <p:spPr>
            <a:xfrm>
              <a:off x="318217" y="5198854"/>
              <a:ext cx="14633281" cy="4031873"/>
            </a:xfrm>
            <a:prstGeom prst="rect">
              <a:avLst/>
            </a:prstGeom>
            <a:noFill/>
          </p:spPr>
          <p:txBody>
            <a:bodyPr wrap="square">
              <a:spAutoFit/>
            </a:bodyPr>
            <a:lstStyle/>
            <a:p>
              <a:pPr lvl="1"/>
              <a:r>
                <a:rPr lang="en-US" altLang="ja-JP" sz="2800" dirty="0">
                  <a:latin typeface="UD Digi Kyokasho NK-R" panose="02020400000000000000" pitchFamily="18" charset="-128"/>
                  <a:ea typeface="UD Digi Kyokasho NK-R" panose="02020400000000000000" pitchFamily="18" charset="-128"/>
                </a:rPr>
                <a:t>[2]</a:t>
              </a:r>
              <a:r>
                <a:rPr lang="ja-JP" altLang="en-US" sz="2800">
                  <a:latin typeface="UD Digi Kyokasho NK-R" panose="02020400000000000000" pitchFamily="18" charset="-128"/>
                  <a:ea typeface="UD Digi Kyokasho NK-R" panose="02020400000000000000" pitchFamily="18" charset="-128"/>
                </a:rPr>
                <a:t>において</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の最適な構造について言及は無い</a:t>
              </a:r>
              <a:endParaRPr lang="en-US" altLang="ja-JP" sz="2800" dirty="0">
                <a:latin typeface="UD Digi Kyokasho NK-R" panose="02020400000000000000" pitchFamily="18" charset="-128"/>
                <a:ea typeface="UD Digi Kyokasho NK-R" panose="02020400000000000000" pitchFamily="18" charset="-128"/>
              </a:endParaRPr>
            </a:p>
            <a:p>
              <a:pPr lvl="1" algn="ctr"/>
              <a:r>
                <a:rPr lang="ja-JP" altLang="en-US" sz="2800">
                  <a:latin typeface="UD Digi Kyokasho NK-R" panose="02020400000000000000" pitchFamily="18" charset="-128"/>
                  <a:ea typeface="UD Digi Kyokasho NK-R" panose="02020400000000000000" pitchFamily="18" charset="-128"/>
                </a:rPr>
                <a:t>↓</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3600" b="1">
                  <a:latin typeface="UD Digi Kyokasho NK-R" panose="02020400000000000000" pitchFamily="18" charset="-128"/>
                  <a:ea typeface="UD Digi Kyokasho NK-R" panose="02020400000000000000" pitchFamily="18" charset="-128"/>
                </a:rPr>
                <a:t>大喜利生成</a:t>
              </a:r>
              <a:r>
                <a:rPr lang="en-US" altLang="ja-JP" sz="3600" b="1" dirty="0">
                  <a:latin typeface="UD Digi Kyokasho NK-R" panose="02020400000000000000" pitchFamily="18" charset="-128"/>
                  <a:ea typeface="UD Digi Kyokasho NK-R" panose="02020400000000000000" pitchFamily="18" charset="-128"/>
                </a:rPr>
                <a:t>AI</a:t>
              </a:r>
              <a:r>
                <a:rPr lang="ja-JP" altLang="en-US" sz="3600" b="1">
                  <a:latin typeface="UD Digi Kyokasho NK-R" panose="02020400000000000000" pitchFamily="18" charset="-128"/>
                  <a:ea typeface="UD Digi Kyokasho NK-R" panose="02020400000000000000" pitchFamily="18" charset="-128"/>
                </a:rPr>
                <a:t>に適した</a:t>
              </a:r>
              <a:r>
                <a:rPr lang="en-US" altLang="ja-JP" sz="3600" b="1" dirty="0" err="1">
                  <a:latin typeface="UD Digi Kyokasho NK-R" panose="02020400000000000000" pitchFamily="18" charset="-128"/>
                  <a:ea typeface="UD Digi Kyokasho NK-R" panose="02020400000000000000" pitchFamily="18" charset="-128"/>
                </a:rPr>
                <a:t>AutoEncoder</a:t>
              </a:r>
              <a:r>
                <a:rPr lang="ja-JP" altLang="en-US" sz="3600" b="1">
                  <a:latin typeface="UD Digi Kyokasho NK-R" panose="02020400000000000000" pitchFamily="18" charset="-128"/>
                  <a:ea typeface="UD Digi Kyokasho NK-R" panose="02020400000000000000" pitchFamily="18" charset="-128"/>
                </a:rPr>
                <a:t>のエンコーダの構造を模索する</a:t>
              </a:r>
              <a:endParaRPr lang="en-US" altLang="ja-JP" sz="3600" b="1" dirty="0">
                <a:latin typeface="UD Digi Kyokasho NK-R" panose="02020400000000000000" pitchFamily="18" charset="-128"/>
                <a:ea typeface="UD Digi Kyokasho NK-R" panose="02020400000000000000" pitchFamily="18" charset="-128"/>
              </a:endParaRPr>
            </a:p>
            <a:p>
              <a:pPr lvl="1"/>
              <a:endParaRPr lang="en-US" altLang="ja-JP" sz="3600" dirty="0">
                <a:latin typeface="UD Digi Kyokasho NK-R" panose="02020400000000000000" pitchFamily="18" charset="-128"/>
                <a:ea typeface="UD Digi Kyokasho NK-R" panose="02020400000000000000" pitchFamily="18" charset="-128"/>
              </a:endParaRPr>
            </a:p>
            <a:p>
              <a:pPr lvl="1"/>
              <a:r>
                <a:rPr lang="ja-JP" altLang="en-US" sz="3200">
                  <a:latin typeface="UD Digi Kyokasho NK-R" panose="02020400000000000000" pitchFamily="18" charset="-128"/>
                  <a:ea typeface="UD Digi Kyokasho NK-R" panose="02020400000000000000" pitchFamily="18" charset="-128"/>
                </a:rPr>
                <a:t>データセット</a:t>
              </a:r>
              <a:endParaRPr lang="en-US" altLang="ja-JP" sz="40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[1]</a:t>
              </a:r>
              <a:r>
                <a:rPr lang="ja-JP" altLang="en-US" sz="2800">
                  <a:latin typeface="UD Digi Kyokasho NK-R" panose="02020400000000000000" pitchFamily="18" charset="-128"/>
                  <a:ea typeface="UD Digi Kyokasho NK-R" panose="02020400000000000000" pitchFamily="18" charset="-128"/>
                </a:rPr>
                <a:t>に倣い</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大喜利⇔画像データセットを作成</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画像</a:t>
              </a:r>
              <a:r>
                <a:rPr lang="en-US" altLang="ja-JP" sz="2800" dirty="0">
                  <a:latin typeface="UD Digi Kyokasho NK-R" panose="02020400000000000000" pitchFamily="18" charset="-128"/>
                  <a:ea typeface="UD Digi Kyokasho NK-R" panose="02020400000000000000" pitchFamily="18" charset="-128"/>
                </a:rPr>
                <a:t> : 88102</a:t>
              </a:r>
              <a:r>
                <a:rPr lang="ja-JP" altLang="en-US" sz="2800">
                  <a:latin typeface="UD Digi Kyokasho NK-R" panose="02020400000000000000" pitchFamily="18" charset="-128"/>
                  <a:ea typeface="UD Digi Kyokasho NK-R" panose="02020400000000000000" pitchFamily="18" charset="-128"/>
                </a:rPr>
                <a:t>枚</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a:t>
              </a:r>
              <a:r>
                <a:rPr lang="en-US" altLang="ja-JP" sz="2800" dirty="0">
                  <a:latin typeface="UD Digi Kyokasho NK-R" panose="02020400000000000000" pitchFamily="18" charset="-128"/>
                  <a:ea typeface="UD Digi Kyokasho NK-R" panose="02020400000000000000" pitchFamily="18" charset="-128"/>
                </a:rPr>
                <a:t> : 759501</a:t>
              </a:r>
              <a:r>
                <a:rPr lang="ja-JP" altLang="en-US" sz="2800">
                  <a:latin typeface="UD Digi Kyokasho NK-R" panose="02020400000000000000" pitchFamily="18" charset="-128"/>
                  <a:ea typeface="UD Digi Kyokasho NK-R" panose="02020400000000000000" pitchFamily="18" charset="-128"/>
                </a:rPr>
                <a:t>文章</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3600" dirty="0">
                <a:latin typeface="UD Digi Kyokasho NK-R" panose="02020400000000000000" pitchFamily="18" charset="-128"/>
                <a:ea typeface="UD Digi Kyokasho NK-R" panose="02020400000000000000" pitchFamily="18" charset="-128"/>
              </a:endParaRPr>
            </a:p>
          </p:txBody>
        </p:sp>
      </p:grpSp>
      <p:graphicFrame>
        <p:nvGraphicFramePr>
          <p:cNvPr id="106" name="表 74">
            <a:extLst>
              <a:ext uri="{FF2B5EF4-FFF2-40B4-BE49-F238E27FC236}">
                <a16:creationId xmlns:a16="http://schemas.microsoft.com/office/drawing/2014/main" id="{F960CEA1-9348-90ED-305D-5C4E12DE45D7}"/>
              </a:ext>
            </a:extLst>
          </p:cNvPr>
          <p:cNvGraphicFramePr>
            <a:graphicFrameLocks noGrp="1"/>
          </p:cNvGraphicFramePr>
          <p:nvPr>
            <p:extLst>
              <p:ext uri="{D42A27DB-BD31-4B8C-83A1-F6EECF244321}">
                <p14:modId xmlns:p14="http://schemas.microsoft.com/office/powerpoint/2010/main" val="1633366898"/>
              </p:ext>
            </p:extLst>
          </p:nvPr>
        </p:nvGraphicFramePr>
        <p:xfrm>
          <a:off x="885984" y="36202563"/>
          <a:ext cx="13402978" cy="3968448"/>
        </p:xfrm>
        <a:graphic>
          <a:graphicData uri="http://schemas.openxmlformats.org/drawingml/2006/table">
            <a:tbl>
              <a:tblPr firstRow="1" bandRow="1">
                <a:tableStyleId>{7DF18680-E054-41AD-8BC1-D1AEF772440D}</a:tableStyleId>
              </a:tblPr>
              <a:tblGrid>
                <a:gridCol w="6701489">
                  <a:extLst>
                    <a:ext uri="{9D8B030D-6E8A-4147-A177-3AD203B41FA5}">
                      <a16:colId xmlns:a16="http://schemas.microsoft.com/office/drawing/2014/main" val="1696693587"/>
                    </a:ext>
                  </a:extLst>
                </a:gridCol>
                <a:gridCol w="6701489">
                  <a:extLst>
                    <a:ext uri="{9D8B030D-6E8A-4147-A177-3AD203B41FA5}">
                      <a16:colId xmlns:a16="http://schemas.microsoft.com/office/drawing/2014/main" val="693706453"/>
                    </a:ext>
                  </a:extLst>
                </a:gridCol>
              </a:tblGrid>
              <a:tr h="2170128">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1958493544"/>
                  </a:ext>
                </a:extLst>
              </a:tr>
              <a:tr h="1640830">
                <a:tc>
                  <a:txBody>
                    <a:bodyPr/>
                    <a:lstStyle/>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宿題制度を廃止にする</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首相がキムタク</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ディフェンスに定評がある</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すそが短い</a:t>
                      </a:r>
                      <a:endParaRPr lang="en-US" altLang="ja-JP" sz="2800" dirty="0">
                        <a:latin typeface="UD Digi Kyokasho NK-R" panose="02020400000000000000" pitchFamily="18" charset="-128"/>
                        <a:ea typeface="UD Digi Kyokasho NK-R" panose="02020400000000000000" pitchFamily="18" charset="-128"/>
                      </a:endParaRPr>
                    </a:p>
                  </a:txBody>
                  <a:tcPr/>
                </a:tc>
                <a:tc>
                  <a:txBody>
                    <a:bodyPr/>
                    <a:lstStyle/>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うそっ、君が男</a:t>
                      </a:r>
                      <a:r>
                        <a:rPr lang="en-US" altLang="ja-JP" sz="2800" spc="-100" baseline="0" dirty="0">
                          <a:latin typeface="UD Digi Kyokasho NK-R" panose="02020400000000000000" pitchFamily="18" charset="-128"/>
                          <a:ea typeface="UD Digi Kyokasho NK-R" panose="02020400000000000000" pitchFamily="18" charset="-128"/>
                        </a:rPr>
                        <a:t>!? </a:t>
                      </a: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en" altLang="ja-JP" sz="2800" spc="-100" baseline="0" dirty="0">
                          <a:latin typeface="UD Digi Kyokasho NK-R" panose="02020400000000000000" pitchFamily="18" charset="-128"/>
                          <a:ea typeface="UD Digi Kyokasho NK-R" panose="02020400000000000000" pitchFamily="18" charset="-128"/>
                        </a:rPr>
                        <a:t>CM</a:t>
                      </a:r>
                      <a:r>
                        <a:rPr lang="ja-JP" altLang="en-US" sz="2800" spc="-100" baseline="0">
                          <a:latin typeface="UD Digi Kyokasho NK-R" panose="02020400000000000000" pitchFamily="18" charset="-128"/>
                          <a:ea typeface="UD Digi Kyokasho NK-R" panose="02020400000000000000" pitchFamily="18" charset="-128"/>
                        </a:rPr>
                        <a:t>のあと驚きの鑑定結果が！ </a:t>
                      </a:r>
                      <a:endParaRPr lang="en-US" altLang="ja-JP" sz="2800" spc="-100" baseline="0" dirty="0">
                        <a:latin typeface="UD Digi Kyokasho NK-R" panose="02020400000000000000" pitchFamily="18" charset="-128"/>
                        <a:ea typeface="UD Digi Kyokasho NK-R" panose="02020400000000000000" pitchFamily="18" charset="-128"/>
                      </a:endParaRP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先生、純白かぁっ！</a:t>
                      </a:r>
                      <a:endParaRPr lang="en-US" altLang="ja-JP" sz="2800" spc="-100" baseline="0" dirty="0">
                        <a:latin typeface="UD Digi Kyokasho NK-R" panose="02020400000000000000" pitchFamily="18" charset="-128"/>
                        <a:ea typeface="UD Digi Kyokasho NK-R" panose="02020400000000000000" pitchFamily="18" charset="-128"/>
                      </a:endParaRP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いっ・・・生き返った！</a:t>
                      </a:r>
                    </a:p>
                  </a:txBody>
                  <a:tcPr/>
                </a:tc>
                <a:extLst>
                  <a:ext uri="{0D108BD9-81ED-4DB2-BD59-A6C34878D82A}">
                    <a16:rowId xmlns:a16="http://schemas.microsoft.com/office/drawing/2014/main" val="311803853"/>
                  </a:ext>
                </a:extLst>
              </a:tr>
            </a:tbl>
          </a:graphicData>
        </a:graphic>
      </p:graphicFrame>
      <p:pic>
        <p:nvPicPr>
          <p:cNvPr id="107" name="図 106">
            <a:extLst>
              <a:ext uri="{FF2B5EF4-FFF2-40B4-BE49-F238E27FC236}">
                <a16:creationId xmlns:a16="http://schemas.microsoft.com/office/drawing/2014/main" id="{A2B772D6-4C5A-37FD-1E44-FE03DC17753A}"/>
              </a:ext>
            </a:extLst>
          </p:cNvPr>
          <p:cNvPicPr>
            <a:picLocks noChangeAspect="1"/>
          </p:cNvPicPr>
          <p:nvPr/>
        </p:nvPicPr>
        <p:blipFill>
          <a:blip r:embed="rId42"/>
          <a:stretch>
            <a:fillRect/>
          </a:stretch>
        </p:blipFill>
        <p:spPr>
          <a:xfrm>
            <a:off x="2891352" y="36199002"/>
            <a:ext cx="2035519" cy="2035519"/>
          </a:xfrm>
          <a:prstGeom prst="rect">
            <a:avLst/>
          </a:prstGeom>
        </p:spPr>
      </p:pic>
      <p:pic>
        <p:nvPicPr>
          <p:cNvPr id="108" name="図 107">
            <a:extLst>
              <a:ext uri="{FF2B5EF4-FFF2-40B4-BE49-F238E27FC236}">
                <a16:creationId xmlns:a16="http://schemas.microsoft.com/office/drawing/2014/main" id="{D9EB7653-379D-D68C-95B5-E99980EA7978}"/>
              </a:ext>
            </a:extLst>
          </p:cNvPr>
          <p:cNvPicPr>
            <a:picLocks noChangeAspect="1"/>
          </p:cNvPicPr>
          <p:nvPr/>
        </p:nvPicPr>
        <p:blipFill>
          <a:blip r:embed="rId45"/>
          <a:stretch>
            <a:fillRect/>
          </a:stretch>
        </p:blipFill>
        <p:spPr>
          <a:xfrm>
            <a:off x="9999399" y="36207383"/>
            <a:ext cx="2035519" cy="2035519"/>
          </a:xfrm>
          <a:prstGeom prst="rect">
            <a:avLst/>
          </a:prstGeom>
        </p:spPr>
      </p:pic>
    </p:spTree>
    <p:extLst>
      <p:ext uri="{BB962C8B-B14F-4D97-AF65-F5344CB8AC3E}">
        <p14:creationId xmlns:p14="http://schemas.microsoft.com/office/powerpoint/2010/main" val="2145381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77C00F1B-B54B-9ADE-40B5-5B2FEA05E6A5}"/>
              </a:ext>
            </a:extLst>
          </p:cNvPr>
          <p:cNvSpPr/>
          <p:nvPr/>
        </p:nvSpPr>
        <p:spPr>
          <a:xfrm>
            <a:off x="232568" y="40523872"/>
            <a:ext cx="29775151" cy="1768016"/>
          </a:xfrm>
          <a:prstGeom prst="roundRect">
            <a:avLst>
              <a:gd name="adj" fmla="val 994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grpSp>
        <p:nvGrpSpPr>
          <p:cNvPr id="23" name="グループ化 22">
            <a:extLst>
              <a:ext uri="{FF2B5EF4-FFF2-40B4-BE49-F238E27FC236}">
                <a16:creationId xmlns:a16="http://schemas.microsoft.com/office/drawing/2014/main" id="{30CE2818-1843-6F2A-80B7-05612BF68763}"/>
              </a:ext>
            </a:extLst>
          </p:cNvPr>
          <p:cNvGrpSpPr/>
          <p:nvPr/>
        </p:nvGrpSpPr>
        <p:grpSpPr>
          <a:xfrm>
            <a:off x="232570" y="1480871"/>
            <a:ext cx="14911137" cy="4055173"/>
            <a:chOff x="232570" y="2529741"/>
            <a:chExt cx="14911137" cy="4055173"/>
          </a:xfrm>
        </p:grpSpPr>
        <p:sp>
          <p:nvSpPr>
            <p:cNvPr id="10" name="四角形: 角を丸くする 9">
              <a:extLst>
                <a:ext uri="{FF2B5EF4-FFF2-40B4-BE49-F238E27FC236}">
                  <a16:creationId xmlns:a16="http://schemas.microsoft.com/office/drawing/2014/main" id="{27C6F926-3906-9907-52EE-E1D4D4E5F520}"/>
                </a:ext>
              </a:extLst>
            </p:cNvPr>
            <p:cNvSpPr/>
            <p:nvPr/>
          </p:nvSpPr>
          <p:spPr>
            <a:xfrm>
              <a:off x="232570" y="2928093"/>
              <a:ext cx="14760000" cy="3656821"/>
            </a:xfrm>
            <a:prstGeom prst="roundRect">
              <a:avLst>
                <a:gd name="adj" fmla="val 6375"/>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latin typeface="UD デジタル 教科書体 NK-R" panose="02020400000000000000" pitchFamily="18" charset="-128"/>
                  <a:ea typeface="UD デジタル 教科書体 NK-R" panose="02020400000000000000" pitchFamily="18" charset="-128"/>
                </a:rPr>
                <a:t>目的</a:t>
              </a:r>
            </a:p>
          </p:txBody>
        </p:sp>
        <p:sp>
          <p:nvSpPr>
            <p:cNvPr id="18" name="四角形: 角を丸くする 17">
              <a:extLst>
                <a:ext uri="{FF2B5EF4-FFF2-40B4-BE49-F238E27FC236}">
                  <a16:creationId xmlns:a16="http://schemas.microsoft.com/office/drawing/2014/main" id="{83F891FC-763A-95C7-C6BF-CC832CB33667}"/>
                </a:ext>
              </a:extLst>
            </p:cNvPr>
            <p:cNvSpPr/>
            <p:nvPr/>
          </p:nvSpPr>
          <p:spPr>
            <a:xfrm>
              <a:off x="528326" y="2529741"/>
              <a:ext cx="3159050" cy="797855"/>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背景・目的</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18" name="テキスト ボックス 117">
              <a:extLst>
                <a:ext uri="{FF2B5EF4-FFF2-40B4-BE49-F238E27FC236}">
                  <a16:creationId xmlns:a16="http://schemas.microsoft.com/office/drawing/2014/main" id="{72956B3B-BA4D-7529-D417-26D2225646DE}"/>
                </a:ext>
              </a:extLst>
            </p:cNvPr>
            <p:cNvSpPr txBox="1"/>
            <p:nvPr/>
          </p:nvSpPr>
          <p:spPr>
            <a:xfrm>
              <a:off x="388899" y="3468067"/>
              <a:ext cx="14754808" cy="3108543"/>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背景</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近年</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の研究が盛んに行われている</a:t>
              </a:r>
              <a:r>
                <a:rPr lang="en-US" altLang="ja-JP" sz="2800" dirty="0">
                  <a:latin typeface="UD デジタル 教科書体 NK-R" panose="02020400000000000000" pitchFamily="18" charset="-128"/>
                  <a:ea typeface="UD デジタル 教科書体 NK-R" panose="02020400000000000000" pitchFamily="18" charset="-128"/>
                </a:rPr>
                <a:t>[1,2]</a:t>
              </a: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画像キャプションモデル</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の画像の特徴抽出機として，事前学習済みの画像認識モデルが</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使用される</a:t>
              </a:r>
              <a:r>
                <a:rPr lang="en-US" altLang="ja-JP" sz="2800" dirty="0">
                  <a:latin typeface="UD デジタル 教科書体 NK-R" panose="02020400000000000000" pitchFamily="18" charset="-128"/>
                  <a:ea typeface="UD デジタル 教科書体 NK-R" panose="02020400000000000000" pitchFamily="18" charset="-128"/>
                </a:rPr>
                <a:t>[1]</a:t>
              </a:r>
            </a:p>
            <a:p>
              <a:pPr marL="571500" indent="-571500">
                <a:buFont typeface="Arial" panose="020B0604020202020204" pitchFamily="34" charset="0"/>
                <a:buChar char="•"/>
              </a:pPr>
              <a:r>
                <a:rPr lang="ja-JP" altLang="en-US" sz="2800" spc="-200">
                  <a:latin typeface="UD デジタル 教科書体 NK-R" panose="02020400000000000000" pitchFamily="18" charset="-128"/>
                  <a:ea typeface="UD デジタル 教科書体 NK-R" panose="02020400000000000000" pitchFamily="18" charset="-128"/>
                </a:rPr>
                <a:t>画像キャプションモデルの画像の特徴抽出器として</a:t>
              </a:r>
              <a:r>
                <a:rPr lang="en-US" altLang="ja-JP" sz="2800" spc="-200" dirty="0" err="1">
                  <a:latin typeface="UD デジタル 教科書体 NK-R" panose="02020400000000000000" pitchFamily="18" charset="-128"/>
                  <a:ea typeface="UD デジタル 教科書体 NK-R" panose="02020400000000000000" pitchFamily="18" charset="-128"/>
                </a:rPr>
                <a:t>AutoEncoder</a:t>
              </a:r>
              <a:r>
                <a:rPr lang="ja-JP" altLang="en-US" sz="2800" spc="-200">
                  <a:latin typeface="UD デジタル 教科書体 NK-R" panose="02020400000000000000" pitchFamily="18" charset="-128"/>
                  <a:ea typeface="UD デジタル 教科書体 NK-R" panose="02020400000000000000" pitchFamily="18" charset="-128"/>
                </a:rPr>
                <a:t>のエンコーダを用いる方法を提案</a:t>
              </a:r>
              <a:r>
                <a:rPr lang="en-US" altLang="ja-JP" sz="2800" spc="-200" dirty="0">
                  <a:latin typeface="UD デジタル 教科書体 NK-R" panose="02020400000000000000" pitchFamily="18" charset="-128"/>
                  <a:ea typeface="UD デジタル 教科書体 NK-R" panose="02020400000000000000" pitchFamily="18" charset="-128"/>
                </a:rPr>
                <a:t>[2]</a:t>
              </a:r>
            </a:p>
            <a:p>
              <a:r>
                <a:rPr lang="ja-JP" altLang="en-US" sz="2800">
                  <a:latin typeface="UD デジタル 教科書体 NK-R" panose="02020400000000000000" pitchFamily="18" charset="-128"/>
                  <a:ea typeface="UD デジタル 教科書体 NK-R" panose="02020400000000000000" pitchFamily="18" charset="-128"/>
                </a:rPr>
                <a:t>目的</a:t>
              </a:r>
              <a:endParaRPr lang="en-US" altLang="ja-JP" sz="2800" dirty="0">
                <a:latin typeface="UD デジタル 教科書体 NK-R" panose="02020400000000000000" pitchFamily="18" charset="-128"/>
                <a:ea typeface="UD デジタル 教科書体 NK-R" panose="02020400000000000000" pitchFamily="18" charset="-128"/>
              </a:endParaRPr>
            </a:p>
            <a:p>
              <a:pPr marL="457200" indent="-457200">
                <a:buFont typeface="Arial" panose="020B0604020202020204" pitchFamily="34" charset="0"/>
                <a:buChar char="•"/>
              </a:pPr>
              <a:r>
                <a:rPr lang="ja-JP" altLang="en-US" sz="2800" spc="-100">
                  <a:latin typeface="UD デジタル 教科書体 NK-R" panose="02020400000000000000" pitchFamily="18" charset="-128"/>
                  <a:ea typeface="UD デジタル 教科書体 NK-R" panose="02020400000000000000" pitchFamily="18" charset="-128"/>
                </a:rPr>
                <a:t>大喜利生成</a:t>
              </a:r>
              <a:r>
                <a:rPr lang="en-US" altLang="ja-JP" sz="2800" spc="-100" dirty="0">
                  <a:latin typeface="UD デジタル 教科書体 NK-R" panose="02020400000000000000" pitchFamily="18" charset="-128"/>
                  <a:ea typeface="UD デジタル 教科書体 NK-R" panose="02020400000000000000" pitchFamily="18" charset="-128"/>
                </a:rPr>
                <a:t>AI</a:t>
              </a:r>
              <a:r>
                <a:rPr lang="ja-JP" altLang="en-US" sz="2800" spc="-100">
                  <a:latin typeface="UD デジタル 教科書体 NK-R" panose="02020400000000000000" pitchFamily="18" charset="-128"/>
                  <a:ea typeface="UD デジタル 教科書体 NK-R" panose="02020400000000000000" pitchFamily="18" charset="-128"/>
                </a:rPr>
                <a:t>の画像の特徴抽出機として適した</a:t>
              </a:r>
              <a:r>
                <a:rPr lang="en-US" altLang="ja-JP" sz="2800" spc="-100" dirty="0" err="1">
                  <a:latin typeface="UD デジタル 教科書体 NK-R" panose="02020400000000000000" pitchFamily="18" charset="-128"/>
                  <a:ea typeface="UD デジタル 教科書体 NK-R" panose="02020400000000000000" pitchFamily="18" charset="-128"/>
                </a:rPr>
                <a:t>AutoEncoder</a:t>
              </a:r>
              <a:r>
                <a:rPr lang="ja-JP" altLang="en-US" sz="2800" spc="-100">
                  <a:latin typeface="UD デジタル 教科書体 NK-R" panose="02020400000000000000" pitchFamily="18" charset="-128"/>
                  <a:ea typeface="UD デジタル 教科書体 NK-R" panose="02020400000000000000" pitchFamily="18" charset="-128"/>
                </a:rPr>
                <a:t>の構造を模索する</a:t>
              </a:r>
              <a:endParaRPr lang="ja-JP" altLang="en-US" sz="2800" spc="-100" dirty="0">
                <a:latin typeface="UD デジタル 教科書体 NK-R" panose="02020400000000000000" pitchFamily="18" charset="-128"/>
                <a:ea typeface="UD デジタル 教科書体 NK-R" panose="02020400000000000000" pitchFamily="18" charset="-128"/>
              </a:endParaRPr>
            </a:p>
          </p:txBody>
        </p:sp>
      </p:grpSp>
      <p:grpSp>
        <p:nvGrpSpPr>
          <p:cNvPr id="8" name="グループ化 7">
            <a:extLst>
              <a:ext uri="{FF2B5EF4-FFF2-40B4-BE49-F238E27FC236}">
                <a16:creationId xmlns:a16="http://schemas.microsoft.com/office/drawing/2014/main" id="{D217D156-E69B-2BDF-A462-41E6CA149116}"/>
              </a:ext>
            </a:extLst>
          </p:cNvPr>
          <p:cNvGrpSpPr/>
          <p:nvPr/>
        </p:nvGrpSpPr>
        <p:grpSpPr>
          <a:xfrm>
            <a:off x="885984" y="-73015"/>
            <a:ext cx="28346400" cy="1683875"/>
            <a:chOff x="946944" y="353705"/>
            <a:chExt cx="28346400" cy="1683875"/>
          </a:xfrm>
        </p:grpSpPr>
        <p:sp>
          <p:nvSpPr>
            <p:cNvPr id="6" name="テキスト ボックス 5">
              <a:extLst>
                <a:ext uri="{FF2B5EF4-FFF2-40B4-BE49-F238E27FC236}">
                  <a16:creationId xmlns:a16="http://schemas.microsoft.com/office/drawing/2014/main" id="{D0F93D02-78A6-D657-0BA1-CF2B85B44883}"/>
                </a:ext>
              </a:extLst>
            </p:cNvPr>
            <p:cNvSpPr txBox="1"/>
            <p:nvPr/>
          </p:nvSpPr>
          <p:spPr>
            <a:xfrm>
              <a:off x="946944" y="353705"/>
              <a:ext cx="28346400" cy="830997"/>
            </a:xfrm>
            <a:prstGeom prst="rect">
              <a:avLst/>
            </a:prstGeom>
            <a:noFill/>
          </p:spPr>
          <p:txBody>
            <a:bodyPr wrap="square">
              <a:spAutoFit/>
            </a:bodyPr>
            <a:lstStyle/>
            <a:p>
              <a:pPr algn="ctr"/>
              <a:r>
                <a:rPr kumimoji="1" lang="ja-JP" altLang="en-US" sz="4800">
                  <a:latin typeface="UD デジタル 教科書体 NK-R" panose="02020400000000000000" pitchFamily="18" charset="-128"/>
                  <a:ea typeface="UD デジタル 教科書体 NK-R" panose="02020400000000000000" pitchFamily="18" charset="-128"/>
                </a:rPr>
                <a:t>大喜利生成</a:t>
              </a:r>
              <a:r>
                <a:rPr kumimoji="1" lang="en-US" altLang="ja-JP" sz="4800" dirty="0">
                  <a:latin typeface="UD デジタル 教科書体 NK-R" panose="02020400000000000000" pitchFamily="18" charset="-128"/>
                  <a:ea typeface="UD デジタル 教科書体 NK-R" panose="02020400000000000000" pitchFamily="18" charset="-128"/>
                </a:rPr>
                <a:t>AI</a:t>
              </a:r>
              <a:r>
                <a:rPr kumimoji="1" lang="ja-JP" altLang="en-US" sz="4800">
                  <a:latin typeface="UD デジタル 教科書体 NK-R" panose="02020400000000000000" pitchFamily="18" charset="-128"/>
                  <a:ea typeface="UD デジタル 教科書体 NK-R" panose="02020400000000000000" pitchFamily="18" charset="-128"/>
                </a:rPr>
                <a:t>に適した</a:t>
              </a:r>
              <a:r>
                <a:rPr kumimoji="1" lang="en-US" altLang="ja-JP" sz="4800" dirty="0" err="1">
                  <a:latin typeface="UD デジタル 教科書体 NK-R" panose="02020400000000000000" pitchFamily="18" charset="-128"/>
                  <a:ea typeface="UD デジタル 教科書体 NK-R" panose="02020400000000000000" pitchFamily="18" charset="-128"/>
                </a:rPr>
                <a:t>AutoEncoder</a:t>
              </a:r>
              <a:r>
                <a:rPr kumimoji="1" lang="ja-JP" altLang="en-US" sz="4800">
                  <a:latin typeface="UD デジタル 教科書体 NK-R" panose="02020400000000000000" pitchFamily="18" charset="-128"/>
                  <a:ea typeface="UD デジタル 教科書体 NK-R" panose="02020400000000000000" pitchFamily="18" charset="-128"/>
                </a:rPr>
                <a:t>に関する研究</a:t>
              </a:r>
              <a:endParaRPr lang="ja-JP" altLang="en-US" sz="48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078920E-DE64-22FA-4A80-4CD39FAE4327}"/>
                    </a:ext>
                  </a:extLst>
                </p:cNvPr>
                <p:cNvSpPr txBox="1"/>
                <p:nvPr/>
              </p:nvSpPr>
              <p:spPr>
                <a:xfrm>
                  <a:off x="946944" y="1193246"/>
                  <a:ext cx="28346400" cy="844334"/>
                </a:xfrm>
                <a:prstGeom prst="rect">
                  <a:avLst/>
                </a:prstGeom>
                <a:noFill/>
              </p:spPr>
              <p:txBody>
                <a:bodyPr wrap="square">
                  <a:spAutoFit/>
                </a:bodyPr>
                <a:lstStyle/>
                <a:p>
                  <a:pPr algn="ctr"/>
                  <a:r>
                    <a:rPr kumimoji="1" lang="ja-JP" altLang="en-US" sz="4800" dirty="0">
                      <a:latin typeface="UD デジタル 教科書体 NK-R" panose="02020400000000000000" pitchFamily="18" charset="-128"/>
                      <a:ea typeface="UD デジタル 教科書体 NK-R" panose="02020400000000000000" pitchFamily="18" charset="-128"/>
                    </a:rPr>
                    <a:t>〇山富 龍</a:t>
                  </a:r>
                  <a14:m>
                    <m:oMath xmlns:m="http://schemas.openxmlformats.org/officeDocument/2006/math">
                      <m:sSup>
                        <m:sSupPr>
                          <m:ctrlPr>
                            <a:rPr kumimoji="1" lang="en-US" altLang="ja-JP" sz="4800" i="1" dirty="0" smtClean="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b="0" i="1" dirty="0" smtClean="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マハブービ シェヘラザード</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二宮 洋</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湘南工科大学</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p>
              </p:txBody>
            </p:sp>
          </mc:Choice>
          <mc:Fallback xmlns="">
            <p:sp>
              <p:nvSpPr>
                <p:cNvPr id="7" name="テキスト ボックス 6">
                  <a:extLst>
                    <a:ext uri="{FF2B5EF4-FFF2-40B4-BE49-F238E27FC236}">
                      <a16:creationId xmlns:a16="http://schemas.microsoft.com/office/drawing/2014/main" id="{9078920E-DE64-22FA-4A80-4CD39FAE4327}"/>
                    </a:ext>
                  </a:extLst>
                </p:cNvPr>
                <p:cNvSpPr txBox="1">
                  <a:spLocks noRot="1" noChangeAspect="1" noMove="1" noResize="1" noEditPoints="1" noAdjustHandles="1" noChangeArrowheads="1" noChangeShapeType="1" noTextEdit="1"/>
                </p:cNvSpPr>
                <p:nvPr/>
              </p:nvSpPr>
              <p:spPr>
                <a:xfrm>
                  <a:off x="946944" y="1193246"/>
                  <a:ext cx="28346400" cy="844334"/>
                </a:xfrm>
                <a:prstGeom prst="rect">
                  <a:avLst/>
                </a:prstGeom>
                <a:blipFill>
                  <a:blip r:embed="rId3"/>
                  <a:stretch>
                    <a:fillRect t="-15217" b="-37681"/>
                  </a:stretch>
                </a:blipFill>
              </p:spPr>
              <p:txBody>
                <a:bodyPr/>
                <a:lstStyle/>
                <a:p>
                  <a:r>
                    <a:rPr lang="ja-JP" altLang="en-US">
                      <a:noFill/>
                    </a:rPr>
                    <a:t> </a:t>
                  </a:r>
                </a:p>
              </p:txBody>
            </p:sp>
          </mc:Fallback>
        </mc:AlternateContent>
      </p:grpSp>
      <p:grpSp>
        <p:nvGrpSpPr>
          <p:cNvPr id="29" name="グループ化 28">
            <a:extLst>
              <a:ext uri="{FF2B5EF4-FFF2-40B4-BE49-F238E27FC236}">
                <a16:creationId xmlns:a16="http://schemas.microsoft.com/office/drawing/2014/main" id="{CE582D28-B8C7-184A-8907-3F8DB7980B3A}"/>
              </a:ext>
            </a:extLst>
          </p:cNvPr>
          <p:cNvGrpSpPr/>
          <p:nvPr/>
        </p:nvGrpSpPr>
        <p:grpSpPr>
          <a:xfrm>
            <a:off x="212937" y="5750285"/>
            <a:ext cx="14760000" cy="10950880"/>
            <a:chOff x="191499" y="4380114"/>
            <a:chExt cx="14760000" cy="10950880"/>
          </a:xfrm>
        </p:grpSpPr>
        <p:sp>
          <p:nvSpPr>
            <p:cNvPr id="30" name="四角形: 角を丸くする 29">
              <a:extLst>
                <a:ext uri="{FF2B5EF4-FFF2-40B4-BE49-F238E27FC236}">
                  <a16:creationId xmlns:a16="http://schemas.microsoft.com/office/drawing/2014/main" id="{3337E6AE-FD4C-7BA6-9BB0-42A2F8FA8691}"/>
                </a:ext>
              </a:extLst>
            </p:cNvPr>
            <p:cNvSpPr/>
            <p:nvPr/>
          </p:nvSpPr>
          <p:spPr>
            <a:xfrm>
              <a:off x="191499" y="4755866"/>
              <a:ext cx="14760000" cy="10469908"/>
            </a:xfrm>
            <a:prstGeom prst="roundRect">
              <a:avLst>
                <a:gd name="adj" fmla="val 245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31" name="四角形: 角を丸くする 30">
              <a:extLst>
                <a:ext uri="{FF2B5EF4-FFF2-40B4-BE49-F238E27FC236}">
                  <a16:creationId xmlns:a16="http://schemas.microsoft.com/office/drawing/2014/main" id="{946408B4-3F6B-5E5B-91E5-DE0AC41DEBB8}"/>
                </a:ext>
              </a:extLst>
            </p:cNvPr>
            <p:cNvSpPr/>
            <p:nvPr/>
          </p:nvSpPr>
          <p:spPr>
            <a:xfrm>
              <a:off x="506889" y="4380114"/>
              <a:ext cx="7158348" cy="768330"/>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画像キャプションモデル</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[3]</a:t>
              </a:r>
            </a:p>
          </p:txBody>
        </p: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7D06BDE7-BADC-0589-E24F-85B1071B5196}"/>
                    </a:ext>
                  </a:extLst>
                </p:cNvPr>
                <p:cNvSpPr txBox="1"/>
                <p:nvPr/>
              </p:nvSpPr>
              <p:spPr>
                <a:xfrm>
                  <a:off x="318217" y="5759143"/>
                  <a:ext cx="14633281" cy="9571851"/>
                </a:xfrm>
                <a:prstGeom prst="rect">
                  <a:avLst/>
                </a:prstGeom>
                <a:noFill/>
              </p:spPr>
              <p:txBody>
                <a:bodyPr wrap="square">
                  <a:spAutoFit/>
                </a:bodyPr>
                <a:lstStyle/>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画像</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𝑤</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文章の</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番目の単語</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𝑟</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時点の内部状態</a:t>
                  </a:r>
                  <a:endParaRPr kumimoji="1" lang="en-US" altLang="ja-JP" sz="2800" dirty="0">
                    <a:latin typeface="UD Digi Kyokasho NK-R" panose="02020400000000000000" pitchFamily="18" charset="-128"/>
                    <a:ea typeface="UD Digi Kyokasho NK-R" panose="02020400000000000000" pitchFamily="18" charset="-128"/>
                  </a:endParaRPr>
                </a:p>
                <a:p>
                  <a:pPr lvl="1"/>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spc="-100">
                      <a:solidFill>
                        <a:srgbClr val="FF0000"/>
                      </a:solidFill>
                      <a:latin typeface="UD Digi Kyokasho NK-R" panose="02020400000000000000" pitchFamily="18" charset="-128"/>
                      <a:ea typeface="UD Digi Kyokasho NK-R" panose="02020400000000000000" pitchFamily="18" charset="-128"/>
                    </a:rPr>
                    <a:t>画像のエンコーダ</a:t>
                  </a:r>
                  <a:r>
                    <a:rPr kumimoji="1" lang="ja-JP" altLang="en-US" sz="2800" spc="-100">
                      <a:latin typeface="UD Digi Kyokasho NK-R" panose="02020400000000000000" pitchFamily="18" charset="-128"/>
                      <a:ea typeface="UD Digi Kyokasho NK-R" panose="02020400000000000000" pitchFamily="18" charset="-128"/>
                    </a:rPr>
                    <a:t>として事前学習済みの画像認識モデルが一般的に使用される</a:t>
                  </a:r>
                  <a:endParaRPr kumimoji="1" lang="en-US" altLang="ja-JP" sz="2800" spc="-100" dirty="0">
                    <a:latin typeface="UD Digi Kyokasho NK-R" panose="02020400000000000000" pitchFamily="18" charset="-128"/>
                    <a:ea typeface="UD Digi Kyokasho NK-R" panose="02020400000000000000" pitchFamily="18" charset="-128"/>
                  </a:endParaRPr>
                </a:p>
                <a:p>
                  <a:pPr lvl="1"/>
                  <a:r>
                    <a:rPr kumimoji="1" lang="ja-JP" altLang="en-US" sz="2800" spc="-100">
                      <a:latin typeface="UD Digi Kyokasho NK-R" panose="02020400000000000000" pitchFamily="18" charset="-128"/>
                      <a:ea typeface="UD Digi Kyokasho NK-R" panose="02020400000000000000" pitchFamily="18" charset="-128"/>
                    </a:rPr>
                    <a:t>メリット</a:t>
                  </a:r>
                  <a:endParaRPr kumimoji="1" lang="en-US" altLang="ja-JP" sz="2800" spc="-1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画像のエンコーダを学習しないため，計算コストが低い</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en-US" altLang="ja-JP" sz="2800" dirty="0">
                      <a:latin typeface="UD Digi Kyokasho NK-R" panose="02020400000000000000" pitchFamily="18" charset="-128"/>
                      <a:ea typeface="UD Digi Kyokasho NK-R" panose="02020400000000000000" pitchFamily="18" charset="-128"/>
                    </a:rPr>
                    <a:t>ImageNet</a:t>
                  </a:r>
                  <a:r>
                    <a:rPr kumimoji="1" lang="ja-JP" altLang="en-US" sz="2800">
                      <a:latin typeface="UD Digi Kyokasho NK-R" panose="02020400000000000000" pitchFamily="18" charset="-128"/>
                      <a:ea typeface="UD Digi Kyokasho NK-R" panose="02020400000000000000" pitchFamily="18" charset="-128"/>
                    </a:rPr>
                    <a:t>のような大規模なデータで学習しており，　　　　　　　　　　　　　　　　　　　　　　　　　　　　　幅広い種類の画像に対応できることが期待できる</a:t>
                  </a:r>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a:latin typeface="UD Digi Kyokasho NK-R" panose="02020400000000000000" pitchFamily="18" charset="-128"/>
                      <a:ea typeface="UD Digi Kyokasho NK-R" panose="02020400000000000000" pitchFamily="18" charset="-128"/>
                    </a:rPr>
                    <a:t>デメリット</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事前学習済みモデルの再学習には画像に対する</a:t>
                  </a:r>
                  <a:r>
                    <a:rPr kumimoji="1" lang="ja-JP" altLang="en-US" sz="2800">
                      <a:solidFill>
                        <a:srgbClr val="00B0F0"/>
                      </a:solidFill>
                      <a:latin typeface="UD Digi Kyokasho NK-R" panose="02020400000000000000" pitchFamily="18" charset="-128"/>
                      <a:ea typeface="UD Digi Kyokasho NK-R" panose="02020400000000000000" pitchFamily="18" charset="-128"/>
                    </a:rPr>
                    <a:t>アノテーションが必要</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ja-JP" altLang="en-US" sz="2800">
                      <a:solidFill>
                        <a:srgbClr val="00B0F0"/>
                      </a:solidFill>
                      <a:latin typeface="UD Digi Kyokasho NK-R" panose="02020400000000000000" pitchFamily="18" charset="-128"/>
                      <a:ea typeface="UD Digi Kyokasho NK-R" panose="02020400000000000000" pitchFamily="18" charset="-128"/>
                    </a:rPr>
                    <a:t>パラメータ数が膨大</a:t>
                  </a:r>
                  <a:r>
                    <a:rPr kumimoji="1" lang="ja-JP" altLang="en-US" sz="2800">
                      <a:latin typeface="UD Digi Kyokasho NK-R" panose="02020400000000000000" pitchFamily="18" charset="-128"/>
                      <a:ea typeface="UD Digi Kyokasho NK-R" panose="02020400000000000000" pitchFamily="18" charset="-128"/>
                    </a:rPr>
                    <a:t>かつ</a:t>
                  </a:r>
                  <a:r>
                    <a:rPr kumimoji="1" lang="en-US" altLang="ja-JP" sz="2800" dirty="0">
                      <a:latin typeface="UD Digi Kyokasho NK-R" panose="02020400000000000000" pitchFamily="18" charset="-128"/>
                      <a:ea typeface="UD Digi Kyokasho NK-R" panose="02020400000000000000" pitchFamily="18" charset="-128"/>
                    </a:rPr>
                    <a:t>, </a:t>
                  </a:r>
                  <a:r>
                    <a:rPr kumimoji="1" lang="ja-JP" altLang="en-US" sz="2800">
                      <a:latin typeface="UD Digi Kyokasho NK-R" panose="02020400000000000000" pitchFamily="18" charset="-128"/>
                      <a:ea typeface="UD Digi Kyokasho NK-R" panose="02020400000000000000" pitchFamily="18" charset="-128"/>
                    </a:rPr>
                    <a:t>任意に</a:t>
                  </a:r>
                  <a:r>
                    <a:rPr kumimoji="1" lang="ja-JP" altLang="en-US" sz="2800">
                      <a:solidFill>
                        <a:srgbClr val="00B0F0"/>
                      </a:solidFill>
                      <a:latin typeface="UD Digi Kyokasho NK-R" panose="02020400000000000000" pitchFamily="18" charset="-128"/>
                      <a:ea typeface="UD Digi Kyokasho NK-R" panose="02020400000000000000" pitchFamily="18" charset="-128"/>
                    </a:rPr>
                    <a:t>構造を変更できない</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p:txBody>
            </p:sp>
          </mc:Choice>
          <mc:Fallback xmlns="">
            <p:sp>
              <p:nvSpPr>
                <p:cNvPr id="32" name="テキスト ボックス 31">
                  <a:extLst>
                    <a:ext uri="{FF2B5EF4-FFF2-40B4-BE49-F238E27FC236}">
                      <a16:creationId xmlns:a16="http://schemas.microsoft.com/office/drawing/2014/main" id="{7D06BDE7-BADC-0589-E24F-85B1071B5196}"/>
                    </a:ext>
                  </a:extLst>
                </p:cNvPr>
                <p:cNvSpPr txBox="1">
                  <a:spLocks noRot="1" noChangeAspect="1" noMove="1" noResize="1" noEditPoints="1" noAdjustHandles="1" noChangeArrowheads="1" noChangeShapeType="1" noTextEdit="1"/>
                </p:cNvSpPr>
                <p:nvPr/>
              </p:nvSpPr>
              <p:spPr>
                <a:xfrm>
                  <a:off x="318217" y="5759143"/>
                  <a:ext cx="14633281" cy="9571851"/>
                </a:xfrm>
                <a:prstGeom prst="rect">
                  <a:avLst/>
                </a:prstGeom>
                <a:blipFill>
                  <a:blip r:embed="rId4"/>
                  <a:stretch>
                    <a:fillRect b="-795"/>
                  </a:stretch>
                </a:blipFill>
              </p:spPr>
              <p:txBody>
                <a:bodyPr/>
                <a:lstStyle/>
                <a:p>
                  <a:r>
                    <a:rPr lang="ja-JP" altLang="en-US">
                      <a:noFill/>
                    </a:rPr>
                    <a:t> </a:t>
                  </a:r>
                </a:p>
              </p:txBody>
            </p:sp>
          </mc:Fallback>
        </mc:AlternateContent>
      </p:grpSp>
      <p:grpSp>
        <p:nvGrpSpPr>
          <p:cNvPr id="34" name="グループ化 33">
            <a:extLst>
              <a:ext uri="{FF2B5EF4-FFF2-40B4-BE49-F238E27FC236}">
                <a16:creationId xmlns:a16="http://schemas.microsoft.com/office/drawing/2014/main" id="{C7FB90F9-473B-DBE3-6A8B-8777B7E770FE}"/>
              </a:ext>
            </a:extLst>
          </p:cNvPr>
          <p:cNvGrpSpPr/>
          <p:nvPr/>
        </p:nvGrpSpPr>
        <p:grpSpPr>
          <a:xfrm>
            <a:off x="15242062" y="1551208"/>
            <a:ext cx="14760000" cy="38726405"/>
            <a:chOff x="232568" y="5248316"/>
            <a:chExt cx="14760000" cy="38726405"/>
          </a:xfrm>
        </p:grpSpPr>
        <p:sp>
          <p:nvSpPr>
            <p:cNvPr id="35" name="四角形: 角を丸くする 34">
              <a:extLst>
                <a:ext uri="{FF2B5EF4-FFF2-40B4-BE49-F238E27FC236}">
                  <a16:creationId xmlns:a16="http://schemas.microsoft.com/office/drawing/2014/main" id="{47EECEA1-1146-F75F-B958-C642FAF77E57}"/>
                </a:ext>
              </a:extLst>
            </p:cNvPr>
            <p:cNvSpPr/>
            <p:nvPr/>
          </p:nvSpPr>
          <p:spPr>
            <a:xfrm>
              <a:off x="232568" y="5607879"/>
              <a:ext cx="14760000" cy="38366842"/>
            </a:xfrm>
            <a:prstGeom prst="roundRect">
              <a:avLst>
                <a:gd name="adj" fmla="val 994"/>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36" name="四角形: 角を丸くする 35">
              <a:extLst>
                <a:ext uri="{FF2B5EF4-FFF2-40B4-BE49-F238E27FC236}">
                  <a16:creationId xmlns:a16="http://schemas.microsoft.com/office/drawing/2014/main" id="{7F035820-E432-DA19-702C-74373820AD4B}"/>
                </a:ext>
              </a:extLst>
            </p:cNvPr>
            <p:cNvSpPr/>
            <p:nvPr/>
          </p:nvSpPr>
          <p:spPr>
            <a:xfrm>
              <a:off x="506888" y="5248316"/>
              <a:ext cx="1528972" cy="797856"/>
            </a:xfrm>
            <a:prstGeom prst="roundRect">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実験</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3CBE4EA-6A45-2DF9-9C9B-750731A73354}"/>
                    </a:ext>
                  </a:extLst>
                </p:cNvPr>
                <p:cNvSpPr txBox="1"/>
                <p:nvPr/>
              </p:nvSpPr>
              <p:spPr>
                <a:xfrm>
                  <a:off x="350132" y="6188617"/>
                  <a:ext cx="14499166" cy="31002846"/>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実験目的</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で使用されている</a:t>
                  </a:r>
                  <a:r>
                    <a:rPr lang="en-US" altLang="ja-JP" sz="2800" dirty="0">
                      <a:latin typeface="UD デジタル 教科書体 NK-R" panose="02020400000000000000" pitchFamily="18" charset="-128"/>
                      <a:ea typeface="UD デジタル 教科書体 NK-R" panose="02020400000000000000" pitchFamily="18" charset="-128"/>
                    </a:rPr>
                    <a:t>ResNet152</a:t>
                  </a:r>
                  <a:r>
                    <a:rPr lang="ja-JP" altLang="en-US" sz="2800">
                      <a:latin typeface="UD デジタル 教科書体 NK-R" panose="02020400000000000000" pitchFamily="18" charset="-128"/>
                      <a:ea typeface="UD デジタル 教科書体 NK-R" panose="02020400000000000000" pitchFamily="18" charset="-128"/>
                    </a:rPr>
                    <a:t>のパラメータ数</a:t>
                  </a:r>
                  <a:r>
                    <a:rPr lang="en-US" altLang="ja-JP" sz="2800" dirty="0">
                      <a:latin typeface="UD デジタル 教科書体 NK-R" panose="02020400000000000000" pitchFamily="18" charset="-128"/>
                      <a:ea typeface="UD デジタル 教科書体 NK-R" panose="02020400000000000000" pitchFamily="18" charset="-128"/>
                    </a:rPr>
                    <a:t>58,370,944</a:t>
                  </a:r>
                  <a:r>
                    <a:rPr lang="ja-JP" altLang="en-US" sz="2800">
                      <a:latin typeface="UD デジタル 教科書体 NK-R" panose="02020400000000000000" pitchFamily="18" charset="-128"/>
                      <a:ea typeface="UD デジタル 教科書体 NK-R" panose="02020400000000000000" pitchFamily="18" charset="-128"/>
                    </a:rPr>
                    <a:t>よりパラメータ数が少なく，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高性能な</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のエンコーダを模索</a:t>
                  </a:r>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 : </a:t>
                  </a:r>
                  <a:r>
                    <a:rPr lang="ja-JP" altLang="en-US" sz="2800">
                      <a:latin typeface="UD デジタル 教科書体 NK-R" panose="02020400000000000000" pitchFamily="18" charset="-128"/>
                      <a:ea typeface="UD デジタル 教科書体 NK-R" panose="02020400000000000000" pitchFamily="18" charset="-128"/>
                    </a:rPr>
                    <a:t>畳み込み層の数を変更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ネットワークの初期値を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 </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特徴量次元数</a:t>
                  </a:r>
                  <a:r>
                    <a:rPr lang="en-US" altLang="ja-JP" sz="2800" dirty="0">
                      <a:latin typeface="UD デジタル 教科書体 NK-R" panose="02020400000000000000" pitchFamily="18" charset="-128"/>
                      <a:ea typeface="UD デジタル 教科書体 NK-R" panose="02020400000000000000" pitchFamily="18" charset="-128"/>
                    </a:rPr>
                    <a:t> : 2048</a:t>
                  </a:r>
                </a:p>
                <a:p>
                  <a:pPr lvl="1"/>
                  <a:r>
                    <a:rPr lang="ja-JP" altLang="en-US" sz="2800" spc="-100">
                      <a:latin typeface="UD デジタル 教科書体 NK-R" panose="02020400000000000000" pitchFamily="18" charset="-128"/>
                      <a:ea typeface="UD デジタル 教科書体 NK-R" panose="02020400000000000000" pitchFamily="18" charset="-128"/>
                    </a:rPr>
                    <a:t>フィルター数</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pc="-100" smtClean="0">
                              <a:latin typeface="Cambria Math" panose="02040503050406030204" pitchFamily="18" charset="0"/>
                              <a:ea typeface="UD デジタル 教科書体 NK-R" panose="02020400000000000000" pitchFamily="18" charset="-128"/>
                            </a:rPr>
                          </m:ctrlPr>
                        </m:sSupPr>
                        <m:e>
                          <m:r>
                            <a:rPr lang="en-US" altLang="ja-JP" sz="2800" b="0" i="1" spc="-100" smtClean="0">
                              <a:latin typeface="Cambria Math" panose="02040503050406030204" pitchFamily="18" charset="0"/>
                              <a:ea typeface="UD デジタル 教科書体 NK-R" panose="02020400000000000000" pitchFamily="18" charset="-128"/>
                            </a:rPr>
                            <m:t>2</m:t>
                          </m:r>
                        </m:e>
                        <m:sup>
                          <m:r>
                            <a:rPr lang="en-US" altLang="ja-JP" sz="2800" b="0" i="1" spc="-100" smtClean="0">
                              <a:latin typeface="Cambria Math" panose="02040503050406030204" pitchFamily="18" charset="0"/>
                              <a:ea typeface="UD デジタル 教科書体 NK-R" panose="02020400000000000000" pitchFamily="18" charset="-128"/>
                            </a:rPr>
                            <m:t>5+</m:t>
                          </m:r>
                          <m:r>
                            <a:rPr lang="en-US" altLang="ja-JP" sz="2800" b="0" i="1" spc="-100" smtClean="0">
                              <a:latin typeface="Cambria Math" panose="02040503050406030204" pitchFamily="18" charset="0"/>
                              <a:ea typeface="UD デジタル 教科書体 NK-R" panose="02020400000000000000" pitchFamily="18" charset="-128"/>
                            </a:rPr>
                            <m:t>𝐿</m:t>
                          </m:r>
                        </m:sup>
                      </m:sSup>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カーネルサイズ</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3</m:t>
                      </m:r>
                      <m:r>
                        <a:rPr lang="en-US" altLang="ja-JP" sz="2800" b="0" i="1" spc="-100" smtClean="0">
                          <a:latin typeface="Cambria Math" panose="02040503050406030204" pitchFamily="18" charset="0"/>
                          <a:ea typeface="Cambria Math" panose="02040503050406030204" pitchFamily="18" charset="0"/>
                        </a:rPr>
                        <m:t>×3</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ストライド</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2</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活性化関数</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𝐿𝑒𝑎𝑘𝑦𝑅𝑒𝐿𝑈</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spc="-100">
                          <a:latin typeface="Cambria Math" panose="02040503050406030204" pitchFamily="18" charset="0"/>
                          <a:ea typeface="UD デジタル 教科書体 NK-R" panose="02020400000000000000" pitchFamily="18" charset="-128"/>
                        </a:rPr>
                        <m:t>𝐿</m:t>
                      </m:r>
                    </m:oMath>
                  </a14:m>
                  <a:r>
                    <a:rPr lang="en-US" altLang="ja-JP" sz="2800" spc="-100" dirty="0">
                      <a:latin typeface="UD デジタル 教科書体 NK-R" panose="02020400000000000000" pitchFamily="18" charset="-128"/>
                      <a:ea typeface="UD デジタル 教科書体 NK-R" panose="02020400000000000000" pitchFamily="18" charset="-128"/>
                    </a:rPr>
                    <a:t> : </a:t>
                  </a:r>
                  <a:r>
                    <a:rPr lang="ja-JP" altLang="en-US" sz="2800" spc="-100">
                      <a:latin typeface="UD デジタル 教科書体 NK-R" panose="02020400000000000000" pitchFamily="18" charset="-128"/>
                      <a:ea typeface="UD デジタル 教科書体 NK-R" panose="02020400000000000000" pitchFamily="18" charset="-128"/>
                    </a:rPr>
                    <a:t>層番号</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　検証誤差を比較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 : </a:t>
                  </a:r>
                  <a:r>
                    <a:rPr lang="ja-JP" altLang="en-US" sz="2800">
                      <a:latin typeface="UD デジタル 教科書体 NK-R" panose="02020400000000000000" pitchFamily="18" charset="-128"/>
                      <a:ea typeface="UD デジタル 教科書体 NK-R" panose="02020400000000000000" pitchFamily="18" charset="-128"/>
                    </a:rPr>
                    <a:t>特徴量の次元数を変更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ネットワークの初期値を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畳み込み層の数</a:t>
                  </a:r>
                  <a:r>
                    <a:rPr lang="en-US" altLang="ja-JP" sz="2800" dirty="0">
                      <a:latin typeface="UD デジタル 教科書体 NK-R" panose="02020400000000000000" pitchFamily="18" charset="-128"/>
                      <a:ea typeface="UD デジタル 教科書体 NK-R" panose="02020400000000000000" pitchFamily="18" charset="-128"/>
                    </a:rPr>
                    <a:t> : 5</a:t>
                  </a:r>
                  <a:r>
                    <a:rPr lang="ja-JP" altLang="en-US" sz="2800">
                      <a:latin typeface="UD デジタル 教科書体 NK-R" panose="02020400000000000000" pitchFamily="18" charset="-128"/>
                      <a:ea typeface="UD デジタル 教科書体 NK-R" panose="02020400000000000000" pitchFamily="18" charset="-128"/>
                    </a:rPr>
                    <a:t>層</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　検証誤差・</a:t>
                  </a:r>
                  <a:r>
                    <a:rPr lang="en-US" altLang="ja-JP" sz="2800" dirty="0">
                      <a:latin typeface="UD デジタル 教科書体 NK-R" panose="02020400000000000000" pitchFamily="18" charset="-128"/>
                      <a:ea typeface="UD デジタル 教科書体 NK-R" panose="02020400000000000000" pitchFamily="18" charset="-128"/>
                    </a:rPr>
                    <a:t> FID</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 </a:t>
                  </a:r>
                  <a:r>
                    <a:rPr lang="en-US" altLang="ja-JP" sz="2800" dirty="0" err="1">
                      <a:latin typeface="UD デジタル 教科書体 NK-R" panose="02020400000000000000" pitchFamily="18" charset="-128"/>
                      <a:ea typeface="UD デジタル 教科書体 NK-R" panose="02020400000000000000" pitchFamily="18" charset="-128"/>
                    </a:rPr>
                    <a:t>Frechet</a:t>
                  </a:r>
                  <a:r>
                    <a:rPr lang="en-US" altLang="ja-JP" sz="2800" dirty="0">
                      <a:latin typeface="UD デジタル 教科書体 NK-R" panose="02020400000000000000" pitchFamily="18" charset="-128"/>
                      <a:ea typeface="UD デジタル 教科書体 NK-R" panose="02020400000000000000" pitchFamily="18" charset="-128"/>
                    </a:rPr>
                    <a:t> Inception Distance(FID)[5]</a:t>
                  </a:r>
                </a:p>
                <a:p>
                  <a:pPr lvl="2"/>
                  <a:r>
                    <a:rPr lang="ja-JP" altLang="en-US" sz="2800">
                      <a:latin typeface="UD デジタル 教科書体 NK-R" panose="02020400000000000000" pitchFamily="18" charset="-128"/>
                      <a:ea typeface="UD デジタル 教科書体 NK-R" panose="02020400000000000000" pitchFamily="18" charset="-128"/>
                    </a:rPr>
                    <a:t>画像群</a:t>
                  </a:r>
                  <a:r>
                    <a:rPr lang="en-US" altLang="ja-JP" sz="2800" dirty="0">
                      <a:latin typeface="UD デジタル 教科書体 NK-R" panose="02020400000000000000" pitchFamily="18" charset="-128"/>
                      <a:ea typeface="UD デジタル 教科書体 NK-R" panose="02020400000000000000" pitchFamily="18" charset="-128"/>
                    </a:rPr>
                    <a:t>A</a:t>
                  </a:r>
                  <a:r>
                    <a:rPr lang="ja-JP" altLang="en-US" sz="2800">
                      <a:latin typeface="UD デジタル 教科書体 NK-R" panose="02020400000000000000" pitchFamily="18" charset="-128"/>
                      <a:ea typeface="UD デジタル 教科書体 NK-R" panose="02020400000000000000" pitchFamily="18" charset="-128"/>
                    </a:rPr>
                    <a:t>と画像群</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の分布がどれほど近いか測る指標</a:t>
                  </a:r>
                  <a:r>
                    <a:rPr lang="en-US" altLang="ja-JP" sz="2800" dirty="0">
                      <a:latin typeface="UD デジタル 教科書体 NK-R" panose="02020400000000000000" pitchFamily="18" charset="-128"/>
                      <a:ea typeface="UD デジタル 教科書体 NK-R" panose="02020400000000000000" pitchFamily="18" charset="-128"/>
                    </a:rPr>
                    <a:t>. 0</a:t>
                  </a:r>
                  <a:r>
                    <a:rPr lang="ja-JP" altLang="en-US" sz="2800">
                      <a:latin typeface="UD デジタル 教科書体 NK-R" panose="02020400000000000000" pitchFamily="18" charset="-128"/>
                      <a:ea typeface="UD デジタル 教科書体 NK-R" panose="02020400000000000000" pitchFamily="18" charset="-128"/>
                    </a:rPr>
                    <a:t>に近ければ近いほど分布は近い</a:t>
                  </a:r>
                  <a:endParaRPr lang="en-US" altLang="ja-JP" sz="2800" dirty="0">
                    <a:latin typeface="UD デジタル 教科書体 NK-R" panose="02020400000000000000" pitchFamily="18" charset="-128"/>
                    <a:ea typeface="UD デジタル 教科書体 NK-R" panose="02020400000000000000" pitchFamily="18" charset="-128"/>
                  </a:endParaRPr>
                </a:p>
                <a:p>
                  <a:pPr lvl="2"/>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spc="-200" dirty="0">
                    <a:latin typeface="UD デジタル 教科書体 NK-R" panose="02020400000000000000" pitchFamily="18" charset="-128"/>
                    <a:ea typeface="UD デジタル 教科書体 NK-R" panose="02020400000000000000" pitchFamily="18" charset="-128"/>
                  </a:endParaRPr>
                </a:p>
                <a:p>
                  <a:pPr lvl="1"/>
                  <a:endParaRPr lang="ja-JP" altLang="en-US" sz="2800" spc="-20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 :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を学習</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つの条件で大喜利生成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en-US" altLang="ja-JP" sz="2800" spc="-100" dirty="0">
                      <a:latin typeface="UD デジタル 教科書体 NK-R" panose="02020400000000000000" pitchFamily="18" charset="-128"/>
                      <a:ea typeface="UD デジタル 教科書体 NK-R" panose="02020400000000000000" pitchFamily="18" charset="-128"/>
                    </a:rPr>
                    <a:t>[1]</a:t>
                  </a:r>
                  <a:r>
                    <a:rPr lang="ja-JP" altLang="en-US" sz="2800" spc="-100">
                      <a:latin typeface="UD デジタル 教科書体 NK-R" panose="02020400000000000000" pitchFamily="18" charset="-128"/>
                      <a:ea typeface="UD デジタル 教科書体 NK-R" panose="02020400000000000000" pitchFamily="18" charset="-128"/>
                    </a:rPr>
                    <a:t>と同様に画像の特徴抽出機として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事前学習済み</a:t>
                  </a:r>
                  <a:r>
                    <a:rPr lang="en-US" altLang="ja-JP" sz="2800" spc="-100" dirty="0">
                      <a:latin typeface="UD デジタル 教科書体 NK-R" panose="02020400000000000000" pitchFamily="18" charset="-128"/>
                      <a:ea typeface="UD デジタル 教科書体 NK-R" panose="02020400000000000000" pitchFamily="18" charset="-128"/>
                    </a:rPr>
                    <a:t>ResNet152</a:t>
                  </a:r>
                  <a:r>
                    <a:rPr lang="ja-JP" altLang="en-US" sz="2800" spc="-100">
                      <a:latin typeface="UD デジタル 教科書体 NK-R" panose="02020400000000000000" pitchFamily="18" charset="-128"/>
                      <a:ea typeface="UD デジタル 教科書体 NK-R" panose="02020400000000000000" pitchFamily="18" charset="-128"/>
                    </a:rPr>
                    <a:t>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512</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2048</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spc="-100">
                      <a:latin typeface="UD デジタル 教科書体 NK-R" panose="02020400000000000000" pitchFamily="18" charset="-128"/>
                      <a:ea typeface="UD デジタル 教科書体 NK-R" panose="02020400000000000000" pitchFamily="18" charset="-128"/>
                    </a:rPr>
                    <a:t>実験条件</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en-US" altLang="ja-JP" sz="2800" spc="-100" dirty="0">
                      <a:latin typeface="UD デジタル 教科書体 NK-R" panose="02020400000000000000" pitchFamily="18" charset="-128"/>
                      <a:ea typeface="UD デジタル 教科書体 NK-R" panose="02020400000000000000" pitchFamily="18" charset="-128"/>
                    </a:rPr>
                    <a:t>LSTM</a:t>
                  </a:r>
                  <a:r>
                    <a:rPr lang="ja-JP" altLang="en-US" sz="2800" spc="-100">
                      <a:latin typeface="UD デジタル 教科書体 NK-R" panose="02020400000000000000" pitchFamily="18" charset="-128"/>
                      <a:ea typeface="UD デジタル 教科書体 NK-R" panose="02020400000000000000" pitchFamily="18" charset="-128"/>
                    </a:rPr>
                    <a:t>ユニット数</a:t>
                  </a:r>
                  <a:r>
                    <a:rPr lang="en-US" altLang="ja-JP" sz="2800" spc="-100" dirty="0">
                      <a:latin typeface="UD デジタル 教科書体 NK-R" panose="02020400000000000000" pitchFamily="18" charset="-128"/>
                      <a:ea typeface="UD デジタル 教科書体 NK-R" panose="02020400000000000000" pitchFamily="18" charset="-128"/>
                    </a:rPr>
                    <a:t> : 512, </a:t>
                  </a:r>
                  <a:r>
                    <a:rPr lang="ja-JP" altLang="en-US" sz="2800" spc="-100">
                      <a:latin typeface="UD デジタル 教科書体 NK-R" panose="02020400000000000000" pitchFamily="18" charset="-128"/>
                      <a:ea typeface="UD デジタル 教科書体 NK-R" panose="02020400000000000000" pitchFamily="18" charset="-128"/>
                    </a:rPr>
                    <a:t>バッチサイズ</a:t>
                  </a:r>
                  <a:r>
                    <a:rPr lang="en-US" altLang="ja-JP" sz="2800" spc="-100" dirty="0">
                      <a:latin typeface="UD デジタル 教科書体 NK-R" panose="02020400000000000000" pitchFamily="18" charset="-128"/>
                      <a:ea typeface="UD デジタル 教科書体 NK-R" panose="02020400000000000000" pitchFamily="18" charset="-128"/>
                    </a:rPr>
                    <a:t> : 1024, </a:t>
                  </a:r>
                  <a:r>
                    <a:rPr lang="ja-JP" altLang="en-US" sz="2800" spc="-100">
                      <a:latin typeface="UD デジタル 教科書体 NK-R" panose="02020400000000000000" pitchFamily="18" charset="-128"/>
                      <a:ea typeface="UD デジタル 教科書体 NK-R" panose="02020400000000000000" pitchFamily="18" charset="-128"/>
                    </a:rPr>
                    <a:t>エポック</a:t>
                  </a:r>
                  <a:r>
                    <a:rPr lang="en-US" altLang="ja-JP" sz="2800" spc="-1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交差エントロピー</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　生成大喜利を比較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en-US" altLang="ja-JP" sz="2800" dirty="0">
                      <a:latin typeface="UD デジタル 教科書体 NK-R" panose="02020400000000000000" pitchFamily="18" charset="-128"/>
                      <a:ea typeface="UD デジタル 教科書体 NK-R" panose="02020400000000000000" pitchFamily="18" charset="-128"/>
                    </a:rPr>
                    <a:t>(a) </a:t>
                  </a:r>
                  <a:r>
                    <a:rPr lang="ja-JP" altLang="en-US" sz="2800">
                      <a:latin typeface="UD デジタル 教科書体 NK-R" panose="02020400000000000000" pitchFamily="18" charset="-128"/>
                      <a:ea typeface="UD デジタル 教科書体 NK-R" panose="02020400000000000000" pitchFamily="18" charset="-128"/>
                    </a:rPr>
                    <a:t>学習損失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　　　　　　　　　　　　　　　　　　</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学習精度</a:t>
                  </a:r>
                  <a:endParaRPr lang="en-US" altLang="ja-JP" sz="2000" dirty="0">
                    <a:latin typeface="UD デジタル 教科書体 NK-R" panose="02020400000000000000" pitchFamily="18" charset="-128"/>
                    <a:ea typeface="UD デジタル 教科書体 NK-R" panose="02020400000000000000" pitchFamily="18" charset="-128"/>
                  </a:endParaRPr>
                </a:p>
                <a:p>
                  <a:pPr algn="ctr"/>
                  <a:endParaRPr lang="en-US" altLang="ja-JP" sz="20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　学習した大喜利生成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が生成した大喜利</a:t>
                  </a:r>
                  <a:endParaRPr lang="en-US" altLang="ja-JP" sz="2800" dirty="0">
                    <a:latin typeface="UD デジタル 教科書体 NK-R" panose="02020400000000000000" pitchFamily="18" charset="-128"/>
                    <a:ea typeface="UD デジタル 教科書体 NK-R" panose="02020400000000000000" pitchFamily="18" charset="-128"/>
                  </a:endParaRPr>
                </a:p>
              </p:txBody>
            </p:sp>
          </mc:Choice>
          <mc:Fallback xmlns="">
            <p:sp>
              <p:nvSpPr>
                <p:cNvPr id="37" name="テキスト ボックス 36">
                  <a:extLst>
                    <a:ext uri="{FF2B5EF4-FFF2-40B4-BE49-F238E27FC236}">
                      <a16:creationId xmlns:a16="http://schemas.microsoft.com/office/drawing/2014/main" id="{33CBE4EA-6A45-2DF9-9C9B-750731A73354}"/>
                    </a:ext>
                  </a:extLst>
                </p:cNvPr>
                <p:cNvSpPr txBox="1">
                  <a:spLocks noRot="1" noChangeAspect="1" noMove="1" noResize="1" noEditPoints="1" noAdjustHandles="1" noChangeArrowheads="1" noChangeShapeType="1" noTextEdit="1"/>
                </p:cNvSpPr>
                <p:nvPr/>
              </p:nvSpPr>
              <p:spPr>
                <a:xfrm>
                  <a:off x="350132" y="6188617"/>
                  <a:ext cx="14499166" cy="31002846"/>
                </a:xfrm>
                <a:prstGeom prst="rect">
                  <a:avLst/>
                </a:prstGeom>
                <a:blipFill>
                  <a:blip r:embed="rId5"/>
                  <a:stretch>
                    <a:fillRect l="-875" t="-205"/>
                  </a:stretch>
                </a:blipFill>
              </p:spPr>
              <p:txBody>
                <a:bodyPr/>
                <a:lstStyle/>
                <a:p>
                  <a:r>
                    <a:rPr lang="ja-JP" altLang="en-US">
                      <a:noFill/>
                    </a:rPr>
                    <a:t> </a:t>
                  </a:r>
                </a:p>
              </p:txBody>
            </p:sp>
          </mc:Fallback>
        </mc:AlternateContent>
      </p:grpSp>
      <p:sp>
        <p:nvSpPr>
          <p:cNvPr id="154" name="テキスト ボックス 153">
            <a:extLst>
              <a:ext uri="{FF2B5EF4-FFF2-40B4-BE49-F238E27FC236}">
                <a16:creationId xmlns:a16="http://schemas.microsoft.com/office/drawing/2014/main" id="{D885AE38-02FE-BABF-B73B-FD10DBD6E9F0}"/>
              </a:ext>
            </a:extLst>
          </p:cNvPr>
          <p:cNvSpPr txBox="1"/>
          <p:nvPr/>
        </p:nvSpPr>
        <p:spPr>
          <a:xfrm>
            <a:off x="478313" y="40720311"/>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[1] </a:t>
            </a:r>
            <a:r>
              <a:rPr lang="ja-JP" altLang="en-US" sz="2800">
                <a:latin typeface="UD Digi Kyokasho NK-R" panose="02020400000000000000" pitchFamily="18" charset="-128"/>
                <a:ea typeface="UD Digi Kyokasho NK-R" panose="02020400000000000000" pitchFamily="18" charset="-128"/>
              </a:rPr>
              <a:t>美濃口 宗尊</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他</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精密工学会誌</a:t>
            </a:r>
            <a:r>
              <a:rPr lang="en-US" altLang="ja-JP" sz="2800" dirty="0">
                <a:latin typeface="UD Digi Kyokasho NK-R" panose="02020400000000000000" pitchFamily="18" charset="-128"/>
                <a:ea typeface="UD Digi Kyokasho NK-R" panose="02020400000000000000" pitchFamily="18" charset="-128"/>
              </a:rPr>
              <a:t>, vol.85, no.12, pp.1151-1156 (2019).</a:t>
            </a:r>
          </a:p>
          <a:p>
            <a:r>
              <a:rPr lang="en-US" altLang="ja-JP" sz="2800" dirty="0">
                <a:latin typeface="UD Digi Kyokasho NK-R" panose="02020400000000000000" pitchFamily="18" charset="-128"/>
                <a:ea typeface="UD Digi Kyokasho NK-R" panose="02020400000000000000" pitchFamily="18" charset="-128"/>
              </a:rPr>
              <a:t>[2] </a:t>
            </a:r>
            <a:r>
              <a:rPr lang="ja-JP" altLang="en-US" sz="2800">
                <a:latin typeface="UD Digi Kyokasho NK-R" panose="02020400000000000000" pitchFamily="18" charset="-128"/>
                <a:ea typeface="UD Digi Kyokasho NK-R" panose="02020400000000000000" pitchFamily="18" charset="-128"/>
              </a:rPr>
              <a:t>山富 龍, 他, IEICE 信学技報 CCS 研究会, CCS2022-73,</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pp.59-62(2023).</a:t>
            </a:r>
            <a:endParaRPr lang="en-US" altLang="ja-JP" sz="2800" dirty="0">
              <a:latin typeface="UD Digi Kyokasho NK-R" panose="02020400000000000000" pitchFamily="18" charset="-128"/>
              <a:ea typeface="UD Digi Kyokasho NK-R" panose="02020400000000000000" pitchFamily="18" charset="-128"/>
            </a:endParaRPr>
          </a:p>
          <a:p>
            <a:r>
              <a:rPr lang="en-US" altLang="ja-JP" sz="2800" dirty="0">
                <a:latin typeface="UD デジタル 教科書体 NK-R" panose="02020400000000000000" pitchFamily="18" charset="-128"/>
                <a:ea typeface="UD デジタル 教科書体 NK-R" panose="02020400000000000000" pitchFamily="18" charset="-128"/>
              </a:rPr>
              <a:t>[3] </a:t>
            </a:r>
            <a:r>
              <a:rPr lang="en-US" altLang="ja-JP" sz="2800" dirty="0" err="1">
                <a:latin typeface="UD デジタル 教科書体 NK-R" panose="02020400000000000000" pitchFamily="18" charset="-128"/>
                <a:ea typeface="UD デジタル 教科書体 NK-R" panose="02020400000000000000" pitchFamily="18" charset="-128"/>
              </a:rPr>
              <a:t>Vinyals</a:t>
            </a:r>
            <a:r>
              <a:rPr lang="en-US" altLang="ja-JP" sz="2800" dirty="0">
                <a:latin typeface="UD デジタル 教科書体 NK-R" panose="02020400000000000000" pitchFamily="18" charset="-128"/>
                <a:ea typeface="UD デジタル 教科書体 NK-R" panose="02020400000000000000" pitchFamily="18" charset="-128"/>
              </a:rPr>
              <a:t>, O., et al., Proc. IEEE CVPR, pp. 3156-3164 (2015).</a:t>
            </a:r>
          </a:p>
        </p:txBody>
      </p:sp>
      <p:sp>
        <p:nvSpPr>
          <p:cNvPr id="155" name="テキスト ボックス 154">
            <a:extLst>
              <a:ext uri="{FF2B5EF4-FFF2-40B4-BE49-F238E27FC236}">
                <a16:creationId xmlns:a16="http://schemas.microsoft.com/office/drawing/2014/main" id="{EFC3748E-A701-D3A4-4FB9-8E56588245BE}"/>
              </a:ext>
            </a:extLst>
          </p:cNvPr>
          <p:cNvSpPr txBox="1"/>
          <p:nvPr/>
        </p:nvSpPr>
        <p:spPr>
          <a:xfrm>
            <a:off x="15425050" y="40702554"/>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[4] G. E. Hinton, et al., Science, vol.313, no.5786, pp.504-507(2006).</a:t>
            </a:r>
          </a:p>
          <a:p>
            <a:r>
              <a:rPr lang="en-US" altLang="ja-JP" sz="2800" dirty="0">
                <a:latin typeface="UD Digi Kyokasho NK-R" panose="02020400000000000000" pitchFamily="18" charset="-128"/>
                <a:ea typeface="UD Digi Kyokasho NK-R" panose="02020400000000000000" pitchFamily="18" charset="-128"/>
              </a:rPr>
              <a:t>[5] </a:t>
            </a:r>
            <a:r>
              <a:rPr lang="ja-JP" altLang="en-US" sz="2800">
                <a:latin typeface="UD Digi Kyokasho NK-R" panose="02020400000000000000" pitchFamily="18" charset="-128"/>
                <a:ea typeface="UD Digi Kyokasho NK-R" panose="02020400000000000000" pitchFamily="18" charset="-128"/>
              </a:rPr>
              <a:t>株式会社オモロキ</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 https://</a:t>
            </a:r>
            <a:r>
              <a:rPr lang="en-US" altLang="ja-JP" sz="2800" dirty="0" err="1">
                <a:latin typeface="UD Digi Kyokasho NK-R" panose="02020400000000000000" pitchFamily="18" charset="-128"/>
                <a:ea typeface="UD Digi Kyokasho NK-R" panose="02020400000000000000" pitchFamily="18" charset="-128"/>
              </a:rPr>
              <a:t>bokete.jp</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最終アクセス</a:t>
            </a:r>
            <a:r>
              <a:rPr lang="en-US" altLang="ja-JP" sz="2800" dirty="0">
                <a:latin typeface="UD Digi Kyokasho NK-R" panose="02020400000000000000" pitchFamily="18" charset="-128"/>
                <a:ea typeface="UD Digi Kyokasho NK-R" panose="02020400000000000000" pitchFamily="18" charset="-128"/>
              </a:rPr>
              <a:t> : 2023/6/6).</a:t>
            </a:r>
          </a:p>
          <a:p>
            <a:r>
              <a:rPr lang="en-US" altLang="ja-JP" sz="2800" dirty="0">
                <a:latin typeface="UD Digi Kyokasho NK-R" panose="02020400000000000000" pitchFamily="18" charset="-128"/>
                <a:ea typeface="UD Digi Kyokasho NK-R" panose="02020400000000000000" pitchFamily="18" charset="-128"/>
              </a:rPr>
              <a:t>[6]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Heusel</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 Martin, et al.,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NeurIPS</a:t>
            </a:r>
            <a:r>
              <a:rPr lang="en" altLang="ja-JP" sz="2800" dirty="0">
                <a:solidFill>
                  <a:srgbClr val="222222"/>
                </a:solidFill>
                <a:latin typeface="UD Digi Kyokasho NK-R" panose="02020400000000000000" pitchFamily="18" charset="-128"/>
                <a:ea typeface="UD Digi Kyokasho NK-R" panose="02020400000000000000" pitchFamily="18" charset="-128"/>
              </a:rPr>
              <a:t>, </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30 (2017).</a:t>
            </a:r>
            <a:endParaRPr lang="en-US" altLang="ja-JP" sz="2800" dirty="0">
              <a:latin typeface="UD Digi Kyokasho NK-R" panose="02020400000000000000" pitchFamily="18" charset="-128"/>
              <a:ea typeface="UD Digi Kyokasho NK-R" panose="02020400000000000000" pitchFamily="18" charset="-128"/>
            </a:endParaRPr>
          </a:p>
        </p:txBody>
      </p:sp>
      <p:graphicFrame>
        <p:nvGraphicFramePr>
          <p:cNvPr id="255" name="表 255">
            <a:extLst>
              <a:ext uri="{FF2B5EF4-FFF2-40B4-BE49-F238E27FC236}">
                <a16:creationId xmlns:a16="http://schemas.microsoft.com/office/drawing/2014/main" id="{238C88B2-E0D1-950A-16DC-AD9A1C46C3F1}"/>
              </a:ext>
            </a:extLst>
          </p:cNvPr>
          <p:cNvGraphicFramePr>
            <a:graphicFrameLocks noGrp="1"/>
          </p:cNvGraphicFramePr>
          <p:nvPr>
            <p:extLst>
              <p:ext uri="{D42A27DB-BD31-4B8C-83A1-F6EECF244321}">
                <p14:modId xmlns:p14="http://schemas.microsoft.com/office/powerpoint/2010/main" val="744415542"/>
              </p:ext>
            </p:extLst>
          </p:nvPr>
        </p:nvGraphicFramePr>
        <p:xfrm>
          <a:off x="15343492" y="6784697"/>
          <a:ext cx="14557140" cy="192024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algn="ct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49,265,280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58,703,488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0.0094/0.0096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0.0109/0.0111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bl>
          </a:graphicData>
        </a:graphic>
      </p:graphicFrame>
      <p:graphicFrame>
        <p:nvGraphicFramePr>
          <p:cNvPr id="259" name="表 255">
            <a:extLst>
              <a:ext uri="{FF2B5EF4-FFF2-40B4-BE49-F238E27FC236}">
                <a16:creationId xmlns:a16="http://schemas.microsoft.com/office/drawing/2014/main" id="{075542DE-9B92-8E05-FA82-9740125B2813}"/>
              </a:ext>
            </a:extLst>
          </p:cNvPr>
          <p:cNvGraphicFramePr>
            <a:graphicFrameLocks noGrp="1"/>
          </p:cNvGraphicFramePr>
          <p:nvPr>
            <p:extLst>
              <p:ext uri="{D42A27DB-BD31-4B8C-83A1-F6EECF244321}">
                <p14:modId xmlns:p14="http://schemas.microsoft.com/office/powerpoint/2010/main" val="3991409517"/>
              </p:ext>
            </p:extLst>
          </p:nvPr>
        </p:nvGraphicFramePr>
        <p:xfrm>
          <a:off x="15343492" y="12341873"/>
          <a:ext cx="14557140" cy="243840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algn="ct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14,659,712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23,048,832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0.0111/0.0111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0.0086/0.0086</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r h="370840">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FID</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108.30/109.38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73.03/74.37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61.76/62.87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extLst>
                  <a:ext uri="{0D108BD9-81ED-4DB2-BD59-A6C34878D82A}">
                    <a16:rowId xmlns:a16="http://schemas.microsoft.com/office/drawing/2014/main" val="2145768203"/>
                  </a:ext>
                </a:extLst>
              </a:tr>
            </a:tbl>
          </a:graphicData>
        </a:graphic>
      </p:graphicFrame>
      <p:graphicFrame>
        <p:nvGraphicFramePr>
          <p:cNvPr id="4" name="表 255">
            <a:extLst>
              <a:ext uri="{FF2B5EF4-FFF2-40B4-BE49-F238E27FC236}">
                <a16:creationId xmlns:a16="http://schemas.microsoft.com/office/drawing/2014/main" id="{ED82D327-A8A9-DFD6-9FF7-08FA73F91AD0}"/>
              </a:ext>
            </a:extLst>
          </p:cNvPr>
          <p:cNvGraphicFramePr>
            <a:graphicFrameLocks noGrp="1"/>
          </p:cNvGraphicFramePr>
          <p:nvPr/>
        </p:nvGraphicFramePr>
        <p:xfrm>
          <a:off x="15343492" y="34063940"/>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火事だー</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プリキュアの最終回</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よし一旦</a:t>
                      </a:r>
                      <a:r>
                        <a:rPr kumimoji="1" lang="en" altLang="ja-JP" sz="2800" spc="-100" baseline="0" dirty="0">
                          <a:solidFill>
                            <a:srgbClr val="FF0000"/>
                          </a:solidFill>
                          <a:latin typeface="UD Digi Kyokasho NK-R" panose="02020400000000000000" pitchFamily="18" charset="-128"/>
                          <a:ea typeface="UD Digi Kyokasho NK-R" panose="02020400000000000000" pitchFamily="18" charset="-128"/>
                        </a:rPr>
                        <a:t>CM</a:t>
                      </a:r>
                      <a:r>
                        <a:rPr kumimoji="1" lang="ja-JP" altLang="en-US" sz="2800" spc="-100" baseline="0">
                          <a:latin typeface="UD Digi Kyokasho NK-R" panose="02020400000000000000" pitchFamily="18" charset="-128"/>
                          <a:ea typeface="UD Digi Kyokasho NK-R" panose="02020400000000000000" pitchFamily="18" charset="-128"/>
                        </a:rPr>
                        <a:t>の時間だ</a:t>
                      </a:r>
                    </a:p>
                  </a:txBody>
                  <a:tcPr anchor="ctr"/>
                </a:tc>
                <a:extLst>
                  <a:ext uri="{0D108BD9-81ED-4DB2-BD59-A6C34878D82A}">
                    <a16:rowId xmlns:a16="http://schemas.microsoft.com/office/drawing/2014/main" val="1783522377"/>
                  </a:ext>
                </a:extLst>
              </a:tr>
            </a:tbl>
          </a:graphicData>
        </a:graphic>
      </p:graphicFrame>
      <p:pic>
        <p:nvPicPr>
          <p:cNvPr id="214" name="図 213" descr="帽子を被っている女性&#10;&#10;自動的に生成された説明">
            <a:extLst>
              <a:ext uri="{FF2B5EF4-FFF2-40B4-BE49-F238E27FC236}">
                <a16:creationId xmlns:a16="http://schemas.microsoft.com/office/drawing/2014/main" id="{AC82285A-96DB-9690-7F15-C9A038C14A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1881" y="7667309"/>
            <a:ext cx="1496736" cy="1496736"/>
          </a:xfrm>
          <a:prstGeom prst="rect">
            <a:avLst/>
          </a:prstGeom>
        </p:spPr>
      </p:pic>
      <mc:AlternateContent xmlns:mc="http://schemas.openxmlformats.org/markup-compatibility/2006" xmlns:a14="http://schemas.microsoft.com/office/drawing/2010/main">
        <mc:Choice Requires="a14">
          <p:sp>
            <p:nvSpPr>
              <p:cNvPr id="216" name="テキスト ボックス 215">
                <a:extLst>
                  <a:ext uri="{FF2B5EF4-FFF2-40B4-BE49-F238E27FC236}">
                    <a16:creationId xmlns:a16="http://schemas.microsoft.com/office/drawing/2014/main" id="{E9786A7F-47F9-B8F1-4898-1CF3772FB67A}"/>
                  </a:ext>
                </a:extLst>
              </p:cNvPr>
              <p:cNvSpPr txBox="1"/>
              <p:nvPr/>
            </p:nvSpPr>
            <p:spPr>
              <a:xfrm>
                <a:off x="2036003" y="6957190"/>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16" name="テキスト ボックス 215">
                <a:extLst>
                  <a:ext uri="{FF2B5EF4-FFF2-40B4-BE49-F238E27FC236}">
                    <a16:creationId xmlns:a16="http://schemas.microsoft.com/office/drawing/2014/main" id="{E9786A7F-47F9-B8F1-4898-1CF3772FB67A}"/>
                  </a:ext>
                </a:extLst>
              </p:cNvPr>
              <p:cNvSpPr txBox="1">
                <a:spLocks noRot="1" noChangeAspect="1" noMove="1" noResize="1" noEditPoints="1" noAdjustHandles="1" noChangeArrowheads="1" noChangeShapeType="1" noTextEdit="1"/>
              </p:cNvSpPr>
              <p:nvPr/>
            </p:nvSpPr>
            <p:spPr>
              <a:xfrm>
                <a:off x="2036003" y="6957190"/>
                <a:ext cx="471668" cy="430887"/>
              </a:xfrm>
              <a:prstGeom prst="rect">
                <a:avLst/>
              </a:prstGeom>
              <a:blipFill>
                <a:blip r:embed="rId7"/>
                <a:stretch>
                  <a:fillRect l="-10526" r="-2632"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7" name="テキスト ボックス 216">
                <a:extLst>
                  <a:ext uri="{FF2B5EF4-FFF2-40B4-BE49-F238E27FC236}">
                    <a16:creationId xmlns:a16="http://schemas.microsoft.com/office/drawing/2014/main" id="{89F9CC42-0EFF-4861-65DA-AA213DBC97A8}"/>
                  </a:ext>
                </a:extLst>
              </p:cNvPr>
              <p:cNvSpPr txBox="1"/>
              <p:nvPr/>
            </p:nvSpPr>
            <p:spPr>
              <a:xfrm>
                <a:off x="1988951" y="8191225"/>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17" name="テキスト ボックス 216">
                <a:extLst>
                  <a:ext uri="{FF2B5EF4-FFF2-40B4-BE49-F238E27FC236}">
                    <a16:creationId xmlns:a16="http://schemas.microsoft.com/office/drawing/2014/main" id="{89F9CC42-0EFF-4861-65DA-AA213DBC97A8}"/>
                  </a:ext>
                </a:extLst>
              </p:cNvPr>
              <p:cNvSpPr txBox="1">
                <a:spLocks noRot="1" noChangeAspect="1" noMove="1" noResize="1" noEditPoints="1" noAdjustHandles="1" noChangeArrowheads="1" noChangeShapeType="1" noTextEdit="1"/>
              </p:cNvSpPr>
              <p:nvPr/>
            </p:nvSpPr>
            <p:spPr>
              <a:xfrm>
                <a:off x="1988951" y="8191225"/>
                <a:ext cx="492507" cy="430887"/>
              </a:xfrm>
              <a:prstGeom prst="rect">
                <a:avLst/>
              </a:prstGeom>
              <a:blipFill>
                <a:blip r:embed="rId8"/>
                <a:stretch>
                  <a:fillRect b="-5882"/>
                </a:stretch>
              </a:blipFill>
            </p:spPr>
            <p:txBody>
              <a:bodyPr/>
              <a:lstStyle/>
              <a:p>
                <a:r>
                  <a:rPr lang="ja-JP" altLang="en-US">
                    <a:noFill/>
                  </a:rPr>
                  <a:t> </a:t>
                </a:r>
              </a:p>
            </p:txBody>
          </p:sp>
        </mc:Fallback>
      </mc:AlternateContent>
      <p:cxnSp>
        <p:nvCxnSpPr>
          <p:cNvPr id="223" name="直線矢印コネクタ 222">
            <a:extLst>
              <a:ext uri="{FF2B5EF4-FFF2-40B4-BE49-F238E27FC236}">
                <a16:creationId xmlns:a16="http://schemas.microsoft.com/office/drawing/2014/main" id="{EB5A462D-A80D-CC6A-B4A4-915FD8588001}"/>
              </a:ext>
            </a:extLst>
          </p:cNvPr>
          <p:cNvCxnSpPr>
            <a:cxnSpLocks/>
            <a:stCxn id="216" idx="3"/>
            <a:endCxn id="245" idx="1"/>
          </p:cNvCxnSpPr>
          <p:nvPr/>
        </p:nvCxnSpPr>
        <p:spPr>
          <a:xfrm>
            <a:off x="2507671" y="7172634"/>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線矢印コネクタ 223">
            <a:extLst>
              <a:ext uri="{FF2B5EF4-FFF2-40B4-BE49-F238E27FC236}">
                <a16:creationId xmlns:a16="http://schemas.microsoft.com/office/drawing/2014/main" id="{9FF679CD-793E-7077-AD1C-3BCC7951EF16}"/>
              </a:ext>
            </a:extLst>
          </p:cNvPr>
          <p:cNvCxnSpPr>
            <a:cxnSpLocks/>
            <a:stCxn id="245" idx="3"/>
            <a:endCxn id="270" idx="1"/>
          </p:cNvCxnSpPr>
          <p:nvPr/>
        </p:nvCxnSpPr>
        <p:spPr>
          <a:xfrm flipV="1">
            <a:off x="5613881" y="7168624"/>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19">
            <a:extLst>
              <a:ext uri="{FF2B5EF4-FFF2-40B4-BE49-F238E27FC236}">
                <a16:creationId xmlns:a16="http://schemas.microsoft.com/office/drawing/2014/main" id="{A4BA8391-F00F-15FB-2F52-C17A87D640BF}"/>
              </a:ext>
            </a:extLst>
          </p:cNvPr>
          <p:cNvCxnSpPr>
            <a:cxnSpLocks/>
            <a:stCxn id="270" idx="3"/>
            <a:endCxn id="273" idx="1"/>
          </p:cNvCxnSpPr>
          <p:nvPr/>
        </p:nvCxnSpPr>
        <p:spPr>
          <a:xfrm>
            <a:off x="8956217" y="7168624"/>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線矢印コネクタ 225">
            <a:extLst>
              <a:ext uri="{FF2B5EF4-FFF2-40B4-BE49-F238E27FC236}">
                <a16:creationId xmlns:a16="http://schemas.microsoft.com/office/drawing/2014/main" id="{B0244165-A331-B5E2-2D99-05A754DC6D77}"/>
              </a:ext>
            </a:extLst>
          </p:cNvPr>
          <p:cNvCxnSpPr>
            <a:cxnSpLocks/>
            <a:stCxn id="273" idx="3"/>
            <a:endCxn id="228" idx="1"/>
          </p:cNvCxnSpPr>
          <p:nvPr/>
        </p:nvCxnSpPr>
        <p:spPr>
          <a:xfrm>
            <a:off x="12052610" y="7789658"/>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8" name="テキスト ボックス 227">
                <a:extLst>
                  <a:ext uri="{FF2B5EF4-FFF2-40B4-BE49-F238E27FC236}">
                    <a16:creationId xmlns:a16="http://schemas.microsoft.com/office/drawing/2014/main" id="{BE9AD327-F7D0-ED72-F40D-84FF6D3695E3}"/>
                  </a:ext>
                </a:extLst>
              </p:cNvPr>
              <p:cNvSpPr txBox="1"/>
              <p:nvPr/>
            </p:nvSpPr>
            <p:spPr>
              <a:xfrm>
                <a:off x="12909280" y="7588721"/>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28" name="テキスト ボックス 227">
                <a:extLst>
                  <a:ext uri="{FF2B5EF4-FFF2-40B4-BE49-F238E27FC236}">
                    <a16:creationId xmlns:a16="http://schemas.microsoft.com/office/drawing/2014/main" id="{BE9AD327-F7D0-ED72-F40D-84FF6D3695E3}"/>
                  </a:ext>
                </a:extLst>
              </p:cNvPr>
              <p:cNvSpPr txBox="1">
                <a:spLocks noRot="1" noChangeAspect="1" noMove="1" noResize="1" noEditPoints="1" noAdjustHandles="1" noChangeArrowheads="1" noChangeShapeType="1" noTextEdit="1"/>
              </p:cNvSpPr>
              <p:nvPr/>
            </p:nvSpPr>
            <p:spPr>
              <a:xfrm>
                <a:off x="12909280" y="7588721"/>
                <a:ext cx="814710" cy="430887"/>
              </a:xfrm>
              <a:prstGeom prst="rect">
                <a:avLst/>
              </a:prstGeom>
              <a:blipFill>
                <a:blip r:embed="rId9"/>
                <a:stretch>
                  <a:fillRect l="-4615" r="-3077" b="-11429"/>
                </a:stretch>
              </a:blipFill>
            </p:spPr>
            <p:txBody>
              <a:bodyPr/>
              <a:lstStyle/>
              <a:p>
                <a:r>
                  <a:rPr lang="ja-JP" altLang="en-US">
                    <a:noFill/>
                  </a:rPr>
                  <a:t> </a:t>
                </a:r>
              </a:p>
            </p:txBody>
          </p:sp>
        </mc:Fallback>
      </mc:AlternateContent>
      <p:grpSp>
        <p:nvGrpSpPr>
          <p:cNvPr id="240" name="グループ化 239">
            <a:extLst>
              <a:ext uri="{FF2B5EF4-FFF2-40B4-BE49-F238E27FC236}">
                <a16:creationId xmlns:a16="http://schemas.microsoft.com/office/drawing/2014/main" id="{A054153A-7DE4-618A-3D41-DE53B06C7CCD}"/>
              </a:ext>
            </a:extLst>
          </p:cNvPr>
          <p:cNvGrpSpPr/>
          <p:nvPr/>
        </p:nvGrpSpPr>
        <p:grpSpPr>
          <a:xfrm>
            <a:off x="3670881" y="6815070"/>
            <a:ext cx="1943000" cy="719356"/>
            <a:chOff x="3749692" y="11369202"/>
            <a:chExt cx="1943000" cy="719356"/>
          </a:xfrm>
        </p:grpSpPr>
        <p:sp>
          <p:nvSpPr>
            <p:cNvPr id="245" name="正方形/長方形 244">
              <a:extLst>
                <a:ext uri="{FF2B5EF4-FFF2-40B4-BE49-F238E27FC236}">
                  <a16:creationId xmlns:a16="http://schemas.microsoft.com/office/drawing/2014/main" id="{3D593E03-A2D3-15AB-90BC-6AEE4C3C1647}"/>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46" name="テキスト ボックス 245">
                  <a:extLst>
                    <a:ext uri="{FF2B5EF4-FFF2-40B4-BE49-F238E27FC236}">
                      <a16:creationId xmlns:a16="http://schemas.microsoft.com/office/drawing/2014/main" id="{86E9DCFB-3953-82A5-AD51-D92E907C7CA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46" name="テキスト ボックス 245">
                  <a:extLst>
                    <a:ext uri="{FF2B5EF4-FFF2-40B4-BE49-F238E27FC236}">
                      <a16:creationId xmlns:a16="http://schemas.microsoft.com/office/drawing/2014/main" id="{86E9DCFB-3953-82A5-AD51-D92E907C7CA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0"/>
                  <a:stretch>
                    <a:fillRect l="-6000" t="-2941" r="-6000" b="-3529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47" name="テキスト ボックス 246">
                <a:extLst>
                  <a:ext uri="{FF2B5EF4-FFF2-40B4-BE49-F238E27FC236}">
                    <a16:creationId xmlns:a16="http://schemas.microsoft.com/office/drawing/2014/main" id="{973B32A8-3E14-E7A8-84C7-48191CB33DA7}"/>
                  </a:ext>
                </a:extLst>
              </p:cNvPr>
              <p:cNvSpPr txBox="1"/>
              <p:nvPr/>
            </p:nvSpPr>
            <p:spPr>
              <a:xfrm>
                <a:off x="8086668" y="6337110"/>
                <a:ext cx="3511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47" name="テキスト ボックス 246">
                <a:extLst>
                  <a:ext uri="{FF2B5EF4-FFF2-40B4-BE49-F238E27FC236}">
                    <a16:creationId xmlns:a16="http://schemas.microsoft.com/office/drawing/2014/main" id="{973B32A8-3E14-E7A8-84C7-48191CB33DA7}"/>
                  </a:ext>
                </a:extLst>
              </p:cNvPr>
              <p:cNvSpPr txBox="1">
                <a:spLocks noRot="1" noChangeAspect="1" noMove="1" noResize="1" noEditPoints="1" noAdjustHandles="1" noChangeArrowheads="1" noChangeShapeType="1" noTextEdit="1"/>
              </p:cNvSpPr>
              <p:nvPr/>
            </p:nvSpPr>
            <p:spPr>
              <a:xfrm>
                <a:off x="8086668" y="6337110"/>
                <a:ext cx="351185" cy="430887"/>
              </a:xfrm>
              <a:prstGeom prst="rect">
                <a:avLst/>
              </a:prstGeom>
              <a:blipFill>
                <a:blip r:embed="rId11"/>
                <a:stretch>
                  <a:fillRect l="-10345" r="-3448" b="-14706"/>
                </a:stretch>
              </a:blipFill>
            </p:spPr>
            <p:txBody>
              <a:bodyPr/>
              <a:lstStyle/>
              <a:p>
                <a:r>
                  <a:rPr lang="ja-JP" altLang="en-US">
                    <a:noFill/>
                  </a:rPr>
                  <a:t> </a:t>
                </a:r>
              </a:p>
            </p:txBody>
          </p:sp>
        </mc:Fallback>
      </mc:AlternateContent>
      <p:sp>
        <p:nvSpPr>
          <p:cNvPr id="5" name="正方形/長方形 4">
            <a:extLst>
              <a:ext uri="{FF2B5EF4-FFF2-40B4-BE49-F238E27FC236}">
                <a16:creationId xmlns:a16="http://schemas.microsoft.com/office/drawing/2014/main" id="{5BCF1E3A-E4D3-E485-FF19-DB5B16DAF899}"/>
              </a:ext>
            </a:extLst>
          </p:cNvPr>
          <p:cNvSpPr/>
          <p:nvPr/>
        </p:nvSpPr>
        <p:spPr>
          <a:xfrm>
            <a:off x="5341076" y="10647397"/>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EAC9EC35-19CC-9271-9E5C-5203A561D264}"/>
              </a:ext>
            </a:extLst>
          </p:cNvPr>
          <p:cNvSpPr/>
          <p:nvPr/>
        </p:nvSpPr>
        <p:spPr>
          <a:xfrm>
            <a:off x="5352644" y="7743765"/>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8" name="直線矢印コネクタ 247">
            <a:extLst>
              <a:ext uri="{FF2B5EF4-FFF2-40B4-BE49-F238E27FC236}">
                <a16:creationId xmlns:a16="http://schemas.microsoft.com/office/drawing/2014/main" id="{02FE7BE1-F83F-1E1F-D74D-A29BD0761BDB}"/>
              </a:ext>
            </a:extLst>
          </p:cNvPr>
          <p:cNvCxnSpPr>
            <a:cxnSpLocks/>
            <a:endCxn id="270" idx="0"/>
          </p:cNvCxnSpPr>
          <p:nvPr/>
        </p:nvCxnSpPr>
        <p:spPr>
          <a:xfrm>
            <a:off x="7984717" y="6299086"/>
            <a:ext cx="0" cy="50986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27AA0A93-5A38-32FF-42C1-ED2393F43D09}"/>
              </a:ext>
            </a:extLst>
          </p:cNvPr>
          <p:cNvCxnSpPr>
            <a:cxnSpLocks/>
            <a:stCxn id="214" idx="3"/>
            <a:endCxn id="256" idx="2"/>
          </p:cNvCxnSpPr>
          <p:nvPr/>
        </p:nvCxnSpPr>
        <p:spPr>
          <a:xfrm flipV="1">
            <a:off x="3018617" y="8409209"/>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直線矢印コネクタ 22">
            <a:extLst>
              <a:ext uri="{FF2B5EF4-FFF2-40B4-BE49-F238E27FC236}">
                <a16:creationId xmlns:a16="http://schemas.microsoft.com/office/drawing/2014/main" id="{4A573549-C2AA-98F8-59E3-1055973CBB60}"/>
              </a:ext>
            </a:extLst>
          </p:cNvPr>
          <p:cNvCxnSpPr>
            <a:cxnSpLocks/>
            <a:stCxn id="256" idx="0"/>
            <a:endCxn id="273" idx="1"/>
          </p:cNvCxnSpPr>
          <p:nvPr/>
        </p:nvCxnSpPr>
        <p:spPr>
          <a:xfrm flipV="1">
            <a:off x="6983616" y="7789658"/>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4" name="グループ化 253">
            <a:extLst>
              <a:ext uri="{FF2B5EF4-FFF2-40B4-BE49-F238E27FC236}">
                <a16:creationId xmlns:a16="http://schemas.microsoft.com/office/drawing/2014/main" id="{80A45BF1-1759-352C-F29F-FAA0D6CC85E1}"/>
              </a:ext>
            </a:extLst>
          </p:cNvPr>
          <p:cNvGrpSpPr/>
          <p:nvPr/>
        </p:nvGrpSpPr>
        <p:grpSpPr>
          <a:xfrm>
            <a:off x="5551632" y="7847933"/>
            <a:ext cx="1431984" cy="1122552"/>
            <a:chOff x="5794565" y="9611968"/>
            <a:chExt cx="1431984" cy="1122552"/>
          </a:xfrm>
        </p:grpSpPr>
        <p:sp>
          <p:nvSpPr>
            <p:cNvPr id="256" name="台形 255">
              <a:extLst>
                <a:ext uri="{FF2B5EF4-FFF2-40B4-BE49-F238E27FC236}">
                  <a16:creationId xmlns:a16="http://schemas.microsoft.com/office/drawing/2014/main" id="{9F94FCAC-3C49-7535-4605-BE8FEDC9A663}"/>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62" name="テキスト ボックス 261">
                  <a:extLst>
                    <a:ext uri="{FF2B5EF4-FFF2-40B4-BE49-F238E27FC236}">
                      <a16:creationId xmlns:a16="http://schemas.microsoft.com/office/drawing/2014/main" id="{DF67C357-CCE4-4C6F-CA9A-AE9F5A8A624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62" name="テキスト ボックス 261">
                  <a:extLst>
                    <a:ext uri="{FF2B5EF4-FFF2-40B4-BE49-F238E27FC236}">
                      <a16:creationId xmlns:a16="http://schemas.microsoft.com/office/drawing/2014/main" id="{DF67C357-CCE4-4C6F-CA9A-AE9F5A8A624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12"/>
                  <a:stretch>
                    <a:fillRect l="-6306" r="-4505" b="-5714"/>
                  </a:stretch>
                </a:blipFill>
              </p:spPr>
              <p:txBody>
                <a:bodyPr/>
                <a:lstStyle/>
                <a:p>
                  <a:r>
                    <a:rPr lang="ja-JP" altLang="en-US">
                      <a:noFill/>
                    </a:rPr>
                    <a:t> </a:t>
                  </a:r>
                </a:p>
              </p:txBody>
            </p:sp>
          </mc:Fallback>
        </mc:AlternateContent>
      </p:grpSp>
      <p:grpSp>
        <p:nvGrpSpPr>
          <p:cNvPr id="269" name="グループ化 268">
            <a:extLst>
              <a:ext uri="{FF2B5EF4-FFF2-40B4-BE49-F238E27FC236}">
                <a16:creationId xmlns:a16="http://schemas.microsoft.com/office/drawing/2014/main" id="{E602F14E-591B-3D60-161F-7DC215F96608}"/>
              </a:ext>
            </a:extLst>
          </p:cNvPr>
          <p:cNvGrpSpPr/>
          <p:nvPr/>
        </p:nvGrpSpPr>
        <p:grpSpPr>
          <a:xfrm>
            <a:off x="7013217" y="6808946"/>
            <a:ext cx="1943000" cy="719356"/>
            <a:chOff x="3749692" y="11369202"/>
            <a:chExt cx="1943000" cy="719356"/>
          </a:xfrm>
        </p:grpSpPr>
        <p:sp>
          <p:nvSpPr>
            <p:cNvPr id="270" name="正方形/長方形 269">
              <a:extLst>
                <a:ext uri="{FF2B5EF4-FFF2-40B4-BE49-F238E27FC236}">
                  <a16:creationId xmlns:a16="http://schemas.microsoft.com/office/drawing/2014/main" id="{A7E4DF10-563E-BEB9-68A1-A17CB31EC791}"/>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1" name="テキスト ボックス 270">
                  <a:extLst>
                    <a:ext uri="{FF2B5EF4-FFF2-40B4-BE49-F238E27FC236}">
                      <a16:creationId xmlns:a16="http://schemas.microsoft.com/office/drawing/2014/main" id="{F730D54A-F977-45DB-D319-702796AFEEC6}"/>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71" name="テキスト ボックス 270">
                  <a:extLst>
                    <a:ext uri="{FF2B5EF4-FFF2-40B4-BE49-F238E27FC236}">
                      <a16:creationId xmlns:a16="http://schemas.microsoft.com/office/drawing/2014/main" id="{F730D54A-F977-45DB-D319-702796AFEEC6}"/>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3"/>
                  <a:stretch>
                    <a:fillRect b="-5714"/>
                  </a:stretch>
                </a:blipFill>
              </p:spPr>
              <p:txBody>
                <a:bodyPr/>
                <a:lstStyle/>
                <a:p>
                  <a:r>
                    <a:rPr lang="ja-JP" altLang="en-US">
                      <a:noFill/>
                    </a:rPr>
                    <a:t> </a:t>
                  </a:r>
                </a:p>
              </p:txBody>
            </p:sp>
          </mc:Fallback>
        </mc:AlternateContent>
      </p:grpSp>
      <p:grpSp>
        <p:nvGrpSpPr>
          <p:cNvPr id="272" name="グループ化 271">
            <a:extLst>
              <a:ext uri="{FF2B5EF4-FFF2-40B4-BE49-F238E27FC236}">
                <a16:creationId xmlns:a16="http://schemas.microsoft.com/office/drawing/2014/main" id="{075AF110-7F10-C9A1-A124-0088DDABFAAD}"/>
              </a:ext>
            </a:extLst>
          </p:cNvPr>
          <p:cNvGrpSpPr/>
          <p:nvPr/>
        </p:nvGrpSpPr>
        <p:grpSpPr>
          <a:xfrm>
            <a:off x="10109610" y="7429980"/>
            <a:ext cx="1943000" cy="719356"/>
            <a:chOff x="3749692" y="11369202"/>
            <a:chExt cx="1943000" cy="719356"/>
          </a:xfrm>
        </p:grpSpPr>
        <p:sp>
          <p:nvSpPr>
            <p:cNvPr id="273" name="正方形/長方形 272">
              <a:extLst>
                <a:ext uri="{FF2B5EF4-FFF2-40B4-BE49-F238E27FC236}">
                  <a16:creationId xmlns:a16="http://schemas.microsoft.com/office/drawing/2014/main" id="{B0C78290-2687-F702-7E5B-DA11CB35E48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4" name="テキスト ボックス 273">
                  <a:extLst>
                    <a:ext uri="{FF2B5EF4-FFF2-40B4-BE49-F238E27FC236}">
                      <a16:creationId xmlns:a16="http://schemas.microsoft.com/office/drawing/2014/main" id="{CB8AAA5B-7BAA-5FE0-DA14-9E1B3199832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274" name="テキスト ボックス 273">
                  <a:extLst>
                    <a:ext uri="{FF2B5EF4-FFF2-40B4-BE49-F238E27FC236}">
                      <a16:creationId xmlns:a16="http://schemas.microsoft.com/office/drawing/2014/main" id="{CB8AAA5B-7BAA-5FE0-DA14-9E1B31998329}"/>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4"/>
                  <a:stretch>
                    <a:fillRect b="-5714"/>
                  </a:stretch>
                </a:blipFill>
              </p:spPr>
              <p:txBody>
                <a:bodyPr/>
                <a:lstStyle/>
                <a:p>
                  <a:r>
                    <a:rPr lang="ja-JP" altLang="en-US">
                      <a:noFill/>
                    </a:rPr>
                    <a:t> </a:t>
                  </a:r>
                </a:p>
              </p:txBody>
            </p:sp>
          </mc:Fallback>
        </mc:AlternateContent>
      </p:grpSp>
      <p:cxnSp>
        <p:nvCxnSpPr>
          <p:cNvPr id="275" name="直線矢印コネクタ 135">
            <a:extLst>
              <a:ext uri="{FF2B5EF4-FFF2-40B4-BE49-F238E27FC236}">
                <a16:creationId xmlns:a16="http://schemas.microsoft.com/office/drawing/2014/main" id="{1442AD5E-ECC8-2EF6-E36D-352CFD75AB83}"/>
              </a:ext>
            </a:extLst>
          </p:cNvPr>
          <p:cNvCxnSpPr>
            <a:cxnSpLocks/>
            <a:stCxn id="228" idx="2"/>
            <a:endCxn id="277" idx="0"/>
          </p:cNvCxnSpPr>
          <p:nvPr/>
        </p:nvCxnSpPr>
        <p:spPr>
          <a:xfrm rot="5400000">
            <a:off x="6937002" y="3521021"/>
            <a:ext cx="1881046" cy="10878220"/>
          </a:xfrm>
          <a:prstGeom prst="bentConnector3">
            <a:avLst>
              <a:gd name="adj1" fmla="val 69943"/>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76" name="図 275" descr="帽子を被っている女性&#10;&#10;自動的に生成された説明">
            <a:extLst>
              <a:ext uri="{FF2B5EF4-FFF2-40B4-BE49-F238E27FC236}">
                <a16:creationId xmlns:a16="http://schemas.microsoft.com/office/drawing/2014/main" id="{7D919012-BCD9-E78F-078E-853C48FE2B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10610773"/>
            <a:ext cx="1496736" cy="1496736"/>
          </a:xfrm>
          <a:prstGeom prst="rect">
            <a:avLst/>
          </a:prstGeom>
        </p:spPr>
      </p:pic>
      <mc:AlternateContent xmlns:mc="http://schemas.openxmlformats.org/markup-compatibility/2006" xmlns:a14="http://schemas.microsoft.com/office/drawing/2010/main">
        <mc:Choice Requires="a14">
          <p:sp>
            <p:nvSpPr>
              <p:cNvPr id="277" name="テキスト ボックス 276">
                <a:extLst>
                  <a:ext uri="{FF2B5EF4-FFF2-40B4-BE49-F238E27FC236}">
                    <a16:creationId xmlns:a16="http://schemas.microsoft.com/office/drawing/2014/main" id="{185E924C-D473-7E31-2791-6C6A6D47B0B5}"/>
                  </a:ext>
                </a:extLst>
              </p:cNvPr>
              <p:cNvSpPr txBox="1"/>
              <p:nvPr/>
            </p:nvSpPr>
            <p:spPr>
              <a:xfrm>
                <a:off x="2031060" y="9900654"/>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77" name="テキスト ボックス 276">
                <a:extLst>
                  <a:ext uri="{FF2B5EF4-FFF2-40B4-BE49-F238E27FC236}">
                    <a16:creationId xmlns:a16="http://schemas.microsoft.com/office/drawing/2014/main" id="{185E924C-D473-7E31-2791-6C6A6D47B0B5}"/>
                  </a:ext>
                </a:extLst>
              </p:cNvPr>
              <p:cNvSpPr txBox="1">
                <a:spLocks noRot="1" noChangeAspect="1" noMove="1" noResize="1" noEditPoints="1" noAdjustHandles="1" noChangeArrowheads="1" noChangeShapeType="1" noTextEdit="1"/>
              </p:cNvSpPr>
              <p:nvPr/>
            </p:nvSpPr>
            <p:spPr>
              <a:xfrm>
                <a:off x="2031060" y="9900654"/>
                <a:ext cx="814710" cy="430887"/>
              </a:xfrm>
              <a:prstGeom prst="rect">
                <a:avLst/>
              </a:prstGeom>
              <a:blipFill>
                <a:blip r:embed="rId15"/>
                <a:stretch>
                  <a:fillRect l="-4545" r="-3030"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8" name="テキスト ボックス 277">
                <a:extLst>
                  <a:ext uri="{FF2B5EF4-FFF2-40B4-BE49-F238E27FC236}">
                    <a16:creationId xmlns:a16="http://schemas.microsoft.com/office/drawing/2014/main" id="{FA734656-A05F-5B8A-2837-1B844524488D}"/>
                  </a:ext>
                </a:extLst>
              </p:cNvPr>
              <p:cNvSpPr txBox="1"/>
              <p:nvPr/>
            </p:nvSpPr>
            <p:spPr>
              <a:xfrm>
                <a:off x="1984008" y="1113468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i="0" smtClean="0">
                          <a:latin typeface="Cambria Math" panose="02040503050406030204" pitchFamily="18" charset="0"/>
                        </a:rPr>
                        <m:t>𝐈</m:t>
                      </m:r>
                    </m:oMath>
                  </m:oMathPara>
                </a14:m>
                <a:endParaRPr kumimoji="1" lang="ja-JP" altLang="en-US" sz="2800" b="1" dirty="0"/>
              </a:p>
            </p:txBody>
          </p:sp>
        </mc:Choice>
        <mc:Fallback xmlns="">
          <p:sp>
            <p:nvSpPr>
              <p:cNvPr id="278" name="テキスト ボックス 277">
                <a:extLst>
                  <a:ext uri="{FF2B5EF4-FFF2-40B4-BE49-F238E27FC236}">
                    <a16:creationId xmlns:a16="http://schemas.microsoft.com/office/drawing/2014/main" id="{FA734656-A05F-5B8A-2837-1B844524488D}"/>
                  </a:ext>
                </a:extLst>
              </p:cNvPr>
              <p:cNvSpPr txBox="1">
                <a:spLocks noRot="1" noChangeAspect="1" noMove="1" noResize="1" noEditPoints="1" noAdjustHandles="1" noChangeArrowheads="1" noChangeShapeType="1" noTextEdit="1"/>
              </p:cNvSpPr>
              <p:nvPr/>
            </p:nvSpPr>
            <p:spPr>
              <a:xfrm>
                <a:off x="1984008" y="11134689"/>
                <a:ext cx="492507" cy="430887"/>
              </a:xfrm>
              <a:prstGeom prst="rect">
                <a:avLst/>
              </a:prstGeom>
              <a:blipFill>
                <a:blip r:embed="rId16"/>
                <a:stretch>
                  <a:fillRect b="-5714"/>
                </a:stretch>
              </a:blipFill>
            </p:spPr>
            <p:txBody>
              <a:bodyPr/>
              <a:lstStyle/>
              <a:p>
                <a:r>
                  <a:rPr lang="ja-JP" altLang="en-US">
                    <a:noFill/>
                  </a:rPr>
                  <a:t> </a:t>
                </a:r>
              </a:p>
            </p:txBody>
          </p:sp>
        </mc:Fallback>
      </mc:AlternateContent>
      <p:cxnSp>
        <p:nvCxnSpPr>
          <p:cNvPr id="279" name="直線矢印コネクタ 278">
            <a:extLst>
              <a:ext uri="{FF2B5EF4-FFF2-40B4-BE49-F238E27FC236}">
                <a16:creationId xmlns:a16="http://schemas.microsoft.com/office/drawing/2014/main" id="{4FA4FB80-7B2C-D4FA-1E26-D032CC28C889}"/>
              </a:ext>
            </a:extLst>
          </p:cNvPr>
          <p:cNvCxnSpPr>
            <a:cxnSpLocks/>
            <a:stCxn id="277" idx="3"/>
            <a:endCxn id="285" idx="1"/>
          </p:cNvCxnSpPr>
          <p:nvPr/>
        </p:nvCxnSpPr>
        <p:spPr>
          <a:xfrm>
            <a:off x="2845770" y="10116098"/>
            <a:ext cx="820168"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E638358B-477C-ED4B-4360-CF9629AA8759}"/>
              </a:ext>
            </a:extLst>
          </p:cNvPr>
          <p:cNvCxnSpPr>
            <a:cxnSpLocks/>
            <a:stCxn id="285" idx="3"/>
            <a:endCxn id="296" idx="1"/>
          </p:cNvCxnSpPr>
          <p:nvPr/>
        </p:nvCxnSpPr>
        <p:spPr>
          <a:xfrm flipV="1">
            <a:off x="5608938" y="10112088"/>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19">
            <a:extLst>
              <a:ext uri="{FF2B5EF4-FFF2-40B4-BE49-F238E27FC236}">
                <a16:creationId xmlns:a16="http://schemas.microsoft.com/office/drawing/2014/main" id="{CE0C6582-A421-C5E2-13D1-0A458F975858}"/>
              </a:ext>
            </a:extLst>
          </p:cNvPr>
          <p:cNvCxnSpPr>
            <a:cxnSpLocks/>
            <a:stCxn id="296" idx="3"/>
            <a:endCxn id="299" idx="1"/>
          </p:cNvCxnSpPr>
          <p:nvPr/>
        </p:nvCxnSpPr>
        <p:spPr>
          <a:xfrm>
            <a:off x="8951274" y="10112088"/>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直線矢印コネクタ 281">
            <a:extLst>
              <a:ext uri="{FF2B5EF4-FFF2-40B4-BE49-F238E27FC236}">
                <a16:creationId xmlns:a16="http://schemas.microsoft.com/office/drawing/2014/main" id="{A2295E78-CDC7-7445-F865-DEFA6D7DC947}"/>
              </a:ext>
            </a:extLst>
          </p:cNvPr>
          <p:cNvCxnSpPr>
            <a:cxnSpLocks/>
            <a:stCxn id="299" idx="3"/>
            <a:endCxn id="283" idx="1"/>
          </p:cNvCxnSpPr>
          <p:nvPr/>
        </p:nvCxnSpPr>
        <p:spPr>
          <a:xfrm>
            <a:off x="12047667" y="10733122"/>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3" name="テキスト ボックス 282">
                <a:extLst>
                  <a:ext uri="{FF2B5EF4-FFF2-40B4-BE49-F238E27FC236}">
                    <a16:creationId xmlns:a16="http://schemas.microsoft.com/office/drawing/2014/main" id="{BB3662A6-1EBB-E2D8-7AE1-E157E0C26BF0}"/>
                  </a:ext>
                </a:extLst>
              </p:cNvPr>
              <p:cNvSpPr txBox="1"/>
              <p:nvPr/>
            </p:nvSpPr>
            <p:spPr>
              <a:xfrm>
                <a:off x="12904337" y="10532185"/>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+2</m:t>
                          </m:r>
                        </m:sub>
                      </m:sSub>
                    </m:oMath>
                  </m:oMathPara>
                </a14:m>
                <a:endParaRPr kumimoji="1" lang="ja-JP" altLang="en-US" sz="2800" dirty="0"/>
              </a:p>
            </p:txBody>
          </p:sp>
        </mc:Choice>
        <mc:Fallback xmlns="">
          <p:sp>
            <p:nvSpPr>
              <p:cNvPr id="283" name="テキスト ボックス 282">
                <a:extLst>
                  <a:ext uri="{FF2B5EF4-FFF2-40B4-BE49-F238E27FC236}">
                    <a16:creationId xmlns:a16="http://schemas.microsoft.com/office/drawing/2014/main" id="{BB3662A6-1EBB-E2D8-7AE1-E157E0C26BF0}"/>
                  </a:ext>
                </a:extLst>
              </p:cNvPr>
              <p:cNvSpPr txBox="1">
                <a:spLocks noRot="1" noChangeAspect="1" noMove="1" noResize="1" noEditPoints="1" noAdjustHandles="1" noChangeArrowheads="1" noChangeShapeType="1" noTextEdit="1"/>
              </p:cNvSpPr>
              <p:nvPr/>
            </p:nvSpPr>
            <p:spPr>
              <a:xfrm>
                <a:off x="12904337" y="10532185"/>
                <a:ext cx="814710" cy="430887"/>
              </a:xfrm>
              <a:prstGeom prst="rect">
                <a:avLst/>
              </a:prstGeom>
              <a:blipFill>
                <a:blip r:embed="rId17"/>
                <a:stretch>
                  <a:fillRect l="-6250" r="-4688" b="-11429"/>
                </a:stretch>
              </a:blipFill>
            </p:spPr>
            <p:txBody>
              <a:bodyPr/>
              <a:lstStyle/>
              <a:p>
                <a:r>
                  <a:rPr lang="ja-JP" altLang="en-US">
                    <a:noFill/>
                  </a:rPr>
                  <a:t> </a:t>
                </a:r>
              </a:p>
            </p:txBody>
          </p:sp>
        </mc:Fallback>
      </mc:AlternateContent>
      <p:grpSp>
        <p:nvGrpSpPr>
          <p:cNvPr id="284" name="グループ化 283">
            <a:extLst>
              <a:ext uri="{FF2B5EF4-FFF2-40B4-BE49-F238E27FC236}">
                <a16:creationId xmlns:a16="http://schemas.microsoft.com/office/drawing/2014/main" id="{9C34ABBF-0103-7F3F-36C5-5CB61B776E74}"/>
              </a:ext>
            </a:extLst>
          </p:cNvPr>
          <p:cNvGrpSpPr/>
          <p:nvPr/>
        </p:nvGrpSpPr>
        <p:grpSpPr>
          <a:xfrm>
            <a:off x="3665938" y="9758534"/>
            <a:ext cx="1943000" cy="719356"/>
            <a:chOff x="3749692" y="11369202"/>
            <a:chExt cx="1943000" cy="719356"/>
          </a:xfrm>
        </p:grpSpPr>
        <p:sp>
          <p:nvSpPr>
            <p:cNvPr id="285" name="正方形/長方形 284">
              <a:extLst>
                <a:ext uri="{FF2B5EF4-FFF2-40B4-BE49-F238E27FC236}">
                  <a16:creationId xmlns:a16="http://schemas.microsoft.com/office/drawing/2014/main" id="{27EC2E1D-2732-BAC4-6A6D-281A796D48C3}"/>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86" name="テキスト ボックス 285">
                  <a:extLst>
                    <a:ext uri="{FF2B5EF4-FFF2-40B4-BE49-F238E27FC236}">
                      <a16:creationId xmlns:a16="http://schemas.microsoft.com/office/drawing/2014/main" id="{A1964DD9-3996-2BA3-8021-AA9FD0AD5D6D}"/>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86" name="テキスト ボックス 285">
                  <a:extLst>
                    <a:ext uri="{FF2B5EF4-FFF2-40B4-BE49-F238E27FC236}">
                      <a16:creationId xmlns:a16="http://schemas.microsoft.com/office/drawing/2014/main" id="{A1964DD9-3996-2BA3-8021-AA9FD0AD5D6D}"/>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8"/>
                  <a:stretch>
                    <a:fillRect l="-5960" r="-5960" b="-34286"/>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87" name="テキスト ボックス 286">
                <a:extLst>
                  <a:ext uri="{FF2B5EF4-FFF2-40B4-BE49-F238E27FC236}">
                    <a16:creationId xmlns:a16="http://schemas.microsoft.com/office/drawing/2014/main" id="{01855A5E-DE71-BB22-36A4-138ADFE4FEBD}"/>
                  </a:ext>
                </a:extLst>
              </p:cNvPr>
              <p:cNvSpPr txBox="1"/>
              <p:nvPr/>
            </p:nvSpPr>
            <p:spPr>
              <a:xfrm>
                <a:off x="8081725" y="9280574"/>
                <a:ext cx="6942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87" name="テキスト ボックス 286">
                <a:extLst>
                  <a:ext uri="{FF2B5EF4-FFF2-40B4-BE49-F238E27FC236}">
                    <a16:creationId xmlns:a16="http://schemas.microsoft.com/office/drawing/2014/main" id="{01855A5E-DE71-BB22-36A4-138ADFE4FEBD}"/>
                  </a:ext>
                </a:extLst>
              </p:cNvPr>
              <p:cNvSpPr txBox="1">
                <a:spLocks noRot="1" noChangeAspect="1" noMove="1" noResize="1" noEditPoints="1" noAdjustHandles="1" noChangeArrowheads="1" noChangeShapeType="1" noTextEdit="1"/>
              </p:cNvSpPr>
              <p:nvPr/>
            </p:nvSpPr>
            <p:spPr>
              <a:xfrm>
                <a:off x="8081725" y="9280574"/>
                <a:ext cx="694229" cy="430887"/>
              </a:xfrm>
              <a:prstGeom prst="rect">
                <a:avLst/>
              </a:prstGeom>
              <a:blipFill>
                <a:blip r:embed="rId19"/>
                <a:stretch>
                  <a:fillRect l="-5357" r="-3571" b="-14286"/>
                </a:stretch>
              </a:blipFill>
            </p:spPr>
            <p:txBody>
              <a:bodyPr/>
              <a:lstStyle/>
              <a:p>
                <a:r>
                  <a:rPr lang="ja-JP" altLang="en-US">
                    <a:noFill/>
                  </a:rPr>
                  <a:t> </a:t>
                </a:r>
              </a:p>
            </p:txBody>
          </p:sp>
        </mc:Fallback>
      </mc:AlternateContent>
      <p:cxnSp>
        <p:nvCxnSpPr>
          <p:cNvPr id="288" name="直線矢印コネクタ 287">
            <a:extLst>
              <a:ext uri="{FF2B5EF4-FFF2-40B4-BE49-F238E27FC236}">
                <a16:creationId xmlns:a16="http://schemas.microsoft.com/office/drawing/2014/main" id="{2502D6C6-DBE8-343F-2691-09B277B83FD7}"/>
              </a:ext>
            </a:extLst>
          </p:cNvPr>
          <p:cNvCxnSpPr>
            <a:cxnSpLocks/>
            <a:stCxn id="270" idx="2"/>
            <a:endCxn id="296" idx="0"/>
          </p:cNvCxnSpPr>
          <p:nvPr/>
        </p:nvCxnSpPr>
        <p:spPr>
          <a:xfrm flipH="1">
            <a:off x="7979774" y="7528302"/>
            <a:ext cx="4943" cy="222410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0" name="直線矢印コネクタ 289">
            <a:extLst>
              <a:ext uri="{FF2B5EF4-FFF2-40B4-BE49-F238E27FC236}">
                <a16:creationId xmlns:a16="http://schemas.microsoft.com/office/drawing/2014/main" id="{7FEE215C-2EB2-4303-7B09-0AD03F2968FB}"/>
              </a:ext>
            </a:extLst>
          </p:cNvPr>
          <p:cNvCxnSpPr>
            <a:cxnSpLocks/>
            <a:stCxn id="276" idx="3"/>
            <a:endCxn id="293" idx="2"/>
          </p:cNvCxnSpPr>
          <p:nvPr/>
        </p:nvCxnSpPr>
        <p:spPr>
          <a:xfrm flipV="1">
            <a:off x="3013674" y="11352673"/>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線矢印コネクタ 22">
            <a:extLst>
              <a:ext uri="{FF2B5EF4-FFF2-40B4-BE49-F238E27FC236}">
                <a16:creationId xmlns:a16="http://schemas.microsoft.com/office/drawing/2014/main" id="{97AE75E7-60DA-0E37-4526-AF103F1D9083}"/>
              </a:ext>
            </a:extLst>
          </p:cNvPr>
          <p:cNvCxnSpPr>
            <a:cxnSpLocks/>
            <a:stCxn id="293" idx="0"/>
            <a:endCxn id="299" idx="1"/>
          </p:cNvCxnSpPr>
          <p:nvPr/>
        </p:nvCxnSpPr>
        <p:spPr>
          <a:xfrm flipV="1">
            <a:off x="6978673" y="10733122"/>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2" name="グループ化 291">
            <a:extLst>
              <a:ext uri="{FF2B5EF4-FFF2-40B4-BE49-F238E27FC236}">
                <a16:creationId xmlns:a16="http://schemas.microsoft.com/office/drawing/2014/main" id="{A3E80203-2F17-F70D-09E9-3A1EED2A87E4}"/>
              </a:ext>
            </a:extLst>
          </p:cNvPr>
          <p:cNvGrpSpPr/>
          <p:nvPr/>
        </p:nvGrpSpPr>
        <p:grpSpPr>
          <a:xfrm>
            <a:off x="5546689" y="10791397"/>
            <a:ext cx="1431984" cy="1122552"/>
            <a:chOff x="5794565" y="9611968"/>
            <a:chExt cx="1431984" cy="1122552"/>
          </a:xfrm>
        </p:grpSpPr>
        <p:sp>
          <p:nvSpPr>
            <p:cNvPr id="293" name="台形 292">
              <a:extLst>
                <a:ext uri="{FF2B5EF4-FFF2-40B4-BE49-F238E27FC236}">
                  <a16:creationId xmlns:a16="http://schemas.microsoft.com/office/drawing/2014/main" id="{B091EEA4-AB85-3AE7-8C1A-54E94199C420}"/>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4" name="テキスト ボックス 293">
                  <a:extLst>
                    <a:ext uri="{FF2B5EF4-FFF2-40B4-BE49-F238E27FC236}">
                      <a16:creationId xmlns:a16="http://schemas.microsoft.com/office/drawing/2014/main" id="{58F80D79-ED15-165A-100C-A1A6A666F595}"/>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94" name="テキスト ボックス 293">
                  <a:extLst>
                    <a:ext uri="{FF2B5EF4-FFF2-40B4-BE49-F238E27FC236}">
                      <a16:creationId xmlns:a16="http://schemas.microsoft.com/office/drawing/2014/main" id="{58F80D79-ED15-165A-100C-A1A6A666F595}"/>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0"/>
                  <a:stretch>
                    <a:fillRect l="-6364" r="-5455" b="-5714"/>
                  </a:stretch>
                </a:blipFill>
              </p:spPr>
              <p:txBody>
                <a:bodyPr/>
                <a:lstStyle/>
                <a:p>
                  <a:r>
                    <a:rPr lang="ja-JP" altLang="en-US">
                      <a:noFill/>
                    </a:rPr>
                    <a:t> </a:t>
                  </a:r>
                </a:p>
              </p:txBody>
            </p:sp>
          </mc:Fallback>
        </mc:AlternateContent>
      </p:grpSp>
      <p:grpSp>
        <p:nvGrpSpPr>
          <p:cNvPr id="295" name="グループ化 294">
            <a:extLst>
              <a:ext uri="{FF2B5EF4-FFF2-40B4-BE49-F238E27FC236}">
                <a16:creationId xmlns:a16="http://schemas.microsoft.com/office/drawing/2014/main" id="{397F1010-BEED-3815-94C9-7AF896AE9D6F}"/>
              </a:ext>
            </a:extLst>
          </p:cNvPr>
          <p:cNvGrpSpPr/>
          <p:nvPr/>
        </p:nvGrpSpPr>
        <p:grpSpPr>
          <a:xfrm>
            <a:off x="7008274" y="9752410"/>
            <a:ext cx="1943000" cy="719356"/>
            <a:chOff x="3749692" y="11369202"/>
            <a:chExt cx="1943000" cy="719356"/>
          </a:xfrm>
        </p:grpSpPr>
        <p:sp>
          <p:nvSpPr>
            <p:cNvPr id="296" name="正方形/長方形 295">
              <a:extLst>
                <a:ext uri="{FF2B5EF4-FFF2-40B4-BE49-F238E27FC236}">
                  <a16:creationId xmlns:a16="http://schemas.microsoft.com/office/drawing/2014/main" id="{25C8505A-7B66-65A3-DBE2-F7B307A92800}"/>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7" name="テキスト ボックス 296">
                  <a:extLst>
                    <a:ext uri="{FF2B5EF4-FFF2-40B4-BE49-F238E27FC236}">
                      <a16:creationId xmlns:a16="http://schemas.microsoft.com/office/drawing/2014/main" id="{93D74842-23A3-2736-F957-263CAB46B80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97" name="テキスト ボックス 296">
                  <a:extLst>
                    <a:ext uri="{FF2B5EF4-FFF2-40B4-BE49-F238E27FC236}">
                      <a16:creationId xmlns:a16="http://schemas.microsoft.com/office/drawing/2014/main" id="{93D74842-23A3-2736-F957-263CAB46B80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1"/>
                  <a:stretch>
                    <a:fillRect b="-5714"/>
                  </a:stretch>
                </a:blipFill>
              </p:spPr>
              <p:txBody>
                <a:bodyPr/>
                <a:lstStyle/>
                <a:p>
                  <a:r>
                    <a:rPr lang="ja-JP" altLang="en-US">
                      <a:noFill/>
                    </a:rPr>
                    <a:t> </a:t>
                  </a:r>
                </a:p>
              </p:txBody>
            </p:sp>
          </mc:Fallback>
        </mc:AlternateContent>
      </p:grpSp>
      <p:grpSp>
        <p:nvGrpSpPr>
          <p:cNvPr id="298" name="グループ化 297">
            <a:extLst>
              <a:ext uri="{FF2B5EF4-FFF2-40B4-BE49-F238E27FC236}">
                <a16:creationId xmlns:a16="http://schemas.microsoft.com/office/drawing/2014/main" id="{9E89BA2D-D6D2-593D-B1EF-B741896D6A05}"/>
              </a:ext>
            </a:extLst>
          </p:cNvPr>
          <p:cNvGrpSpPr/>
          <p:nvPr/>
        </p:nvGrpSpPr>
        <p:grpSpPr>
          <a:xfrm>
            <a:off x="10104667" y="10373444"/>
            <a:ext cx="1943000" cy="719356"/>
            <a:chOff x="3749692" y="11369202"/>
            <a:chExt cx="1943000" cy="719356"/>
          </a:xfrm>
        </p:grpSpPr>
        <p:sp>
          <p:nvSpPr>
            <p:cNvPr id="299" name="正方形/長方形 298">
              <a:extLst>
                <a:ext uri="{FF2B5EF4-FFF2-40B4-BE49-F238E27FC236}">
                  <a16:creationId xmlns:a16="http://schemas.microsoft.com/office/drawing/2014/main" id="{879CE573-44C1-B764-878B-F3A54F5C74C6}"/>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00" name="テキスト ボックス 299">
                  <a:extLst>
                    <a:ext uri="{FF2B5EF4-FFF2-40B4-BE49-F238E27FC236}">
                      <a16:creationId xmlns:a16="http://schemas.microsoft.com/office/drawing/2014/main" id="{7440FC71-87C8-A4C2-1E2D-FC670DDB0E47}"/>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300" name="テキスト ボックス 299">
                  <a:extLst>
                    <a:ext uri="{FF2B5EF4-FFF2-40B4-BE49-F238E27FC236}">
                      <a16:creationId xmlns:a16="http://schemas.microsoft.com/office/drawing/2014/main" id="{7440FC71-87C8-A4C2-1E2D-FC670DDB0E47}"/>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2"/>
                  <a:stretch>
                    <a:fillRect b="-5714"/>
                  </a:stretch>
                </a:blipFill>
              </p:spPr>
              <p:txBody>
                <a:bodyPr/>
                <a:lstStyle/>
                <a:p>
                  <a:r>
                    <a:rPr lang="ja-JP" altLang="en-US">
                      <a:noFill/>
                    </a:rPr>
                    <a:t> </a:t>
                  </a:r>
                </a:p>
              </p:txBody>
            </p:sp>
          </mc:Fallback>
        </mc:AlternateContent>
      </p:grpSp>
      <p:cxnSp>
        <p:nvCxnSpPr>
          <p:cNvPr id="301" name="直線矢印コネクタ 300">
            <a:extLst>
              <a:ext uri="{FF2B5EF4-FFF2-40B4-BE49-F238E27FC236}">
                <a16:creationId xmlns:a16="http://schemas.microsoft.com/office/drawing/2014/main" id="{86FEAC7B-8D99-59A9-EDFA-226FFC4EB47B}"/>
              </a:ext>
            </a:extLst>
          </p:cNvPr>
          <p:cNvCxnSpPr>
            <a:cxnSpLocks/>
            <a:stCxn id="296" idx="2"/>
          </p:cNvCxnSpPr>
          <p:nvPr/>
        </p:nvCxnSpPr>
        <p:spPr>
          <a:xfrm>
            <a:off x="7979774" y="10471766"/>
            <a:ext cx="0" cy="163574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421" name="表 255">
            <a:extLst>
              <a:ext uri="{FF2B5EF4-FFF2-40B4-BE49-F238E27FC236}">
                <a16:creationId xmlns:a16="http://schemas.microsoft.com/office/drawing/2014/main" id="{9E9B6337-A505-26AE-A8FC-9981C77C4405}"/>
              </a:ext>
            </a:extLst>
          </p:cNvPr>
          <p:cNvGraphicFramePr>
            <a:graphicFrameLocks noGrp="1"/>
          </p:cNvGraphicFramePr>
          <p:nvPr/>
        </p:nvGraphicFramePr>
        <p:xfrm>
          <a:off x="15329206" y="37152041"/>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これが私のスタンド</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おれのボケに対する評価</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このとおり忙しいんだから早く</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宿題</a:t>
                      </a:r>
                      <a:r>
                        <a:rPr kumimoji="1" lang="ja-JP" altLang="en-US" sz="2800" spc="-100" baseline="0">
                          <a:latin typeface="UD Digi Kyokasho NK-R" panose="02020400000000000000" pitchFamily="18" charset="-128"/>
                          <a:ea typeface="UD Digi Kyokasho NK-R" panose="02020400000000000000" pitchFamily="18" charset="-128"/>
                        </a:rPr>
                        <a:t>を</a:t>
                      </a:r>
                    </a:p>
                  </a:txBody>
                  <a:tcPr anchor="ctr"/>
                </a:tc>
                <a:extLst>
                  <a:ext uri="{0D108BD9-81ED-4DB2-BD59-A6C34878D82A}">
                    <a16:rowId xmlns:a16="http://schemas.microsoft.com/office/drawing/2014/main" val="1783522377"/>
                  </a:ext>
                </a:extLst>
              </a:tr>
            </a:tbl>
          </a:graphicData>
        </a:graphic>
      </p:graphicFrame>
      <p:pic>
        <p:nvPicPr>
          <p:cNvPr id="19" name="図 18">
            <a:extLst>
              <a:ext uri="{FF2B5EF4-FFF2-40B4-BE49-F238E27FC236}">
                <a16:creationId xmlns:a16="http://schemas.microsoft.com/office/drawing/2014/main" id="{C0BDE784-B10D-2778-AC98-505AD98FC1C5}"/>
              </a:ext>
            </a:extLst>
          </p:cNvPr>
          <p:cNvPicPr>
            <a:picLocks noChangeAspect="1"/>
          </p:cNvPicPr>
          <p:nvPr/>
        </p:nvPicPr>
        <p:blipFill>
          <a:blip r:embed="rId23"/>
          <a:stretch>
            <a:fillRect/>
          </a:stretch>
        </p:blipFill>
        <p:spPr>
          <a:xfrm>
            <a:off x="15913172" y="37783043"/>
            <a:ext cx="2402435" cy="2402435"/>
          </a:xfrm>
          <a:prstGeom prst="rect">
            <a:avLst/>
          </a:prstGeom>
        </p:spPr>
      </p:pic>
      <p:grpSp>
        <p:nvGrpSpPr>
          <p:cNvPr id="16" name="グループ化 15">
            <a:extLst>
              <a:ext uri="{FF2B5EF4-FFF2-40B4-BE49-F238E27FC236}">
                <a16:creationId xmlns:a16="http://schemas.microsoft.com/office/drawing/2014/main" id="{616ED7B0-C8FA-C46D-B08B-23B37E96A617}"/>
              </a:ext>
            </a:extLst>
          </p:cNvPr>
          <p:cNvGrpSpPr/>
          <p:nvPr/>
        </p:nvGrpSpPr>
        <p:grpSpPr>
          <a:xfrm>
            <a:off x="212936" y="23446093"/>
            <a:ext cx="14760000" cy="8520674"/>
            <a:chOff x="191499" y="4692374"/>
            <a:chExt cx="14760000" cy="8520674"/>
          </a:xfrm>
        </p:grpSpPr>
        <p:sp>
          <p:nvSpPr>
            <p:cNvPr id="17" name="四角形: 角を丸くする 29">
              <a:extLst>
                <a:ext uri="{FF2B5EF4-FFF2-40B4-BE49-F238E27FC236}">
                  <a16:creationId xmlns:a16="http://schemas.microsoft.com/office/drawing/2014/main" id="{4B05E3D0-4699-E5A1-64BB-5A1CFC63D341}"/>
                </a:ext>
              </a:extLst>
            </p:cNvPr>
            <p:cNvSpPr/>
            <p:nvPr/>
          </p:nvSpPr>
          <p:spPr>
            <a:xfrm>
              <a:off x="191499" y="5101306"/>
              <a:ext cx="14760000" cy="8063676"/>
            </a:xfrm>
            <a:prstGeom prst="roundRect">
              <a:avLst>
                <a:gd name="adj" fmla="val 2868"/>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30">
              <a:extLst>
                <a:ext uri="{FF2B5EF4-FFF2-40B4-BE49-F238E27FC236}">
                  <a16:creationId xmlns:a16="http://schemas.microsoft.com/office/drawing/2014/main" id="{1B9C66BC-7CF3-4C13-C82B-343E7DF3E09D}"/>
                </a:ext>
              </a:extLst>
            </p:cNvPr>
            <p:cNvSpPr/>
            <p:nvPr/>
          </p:nvSpPr>
          <p:spPr>
            <a:xfrm>
              <a:off x="506889" y="4692374"/>
              <a:ext cx="2745816" cy="809753"/>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提案手法</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8103660E-7864-B952-E9D4-8B1BFBE455FD}"/>
                    </a:ext>
                  </a:extLst>
                </p:cNvPr>
                <p:cNvSpPr txBox="1"/>
                <p:nvPr/>
              </p:nvSpPr>
              <p:spPr>
                <a:xfrm>
                  <a:off x="318217" y="5734078"/>
                  <a:ext cx="14633281" cy="7478970"/>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の画像を学習した</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a:t>
                  </a:r>
                  <a:r>
                    <a:rPr lang="ja-JP" altLang="en-US" sz="2800">
                      <a:solidFill>
                        <a:srgbClr val="FFC000"/>
                      </a:solidFill>
                      <a:latin typeface="UD Digi Kyokasho NK-R" panose="02020400000000000000" pitchFamily="18" charset="-128"/>
                      <a:ea typeface="UD Digi Kyokasho NK-R" panose="02020400000000000000" pitchFamily="18" charset="-128"/>
                    </a:rPr>
                    <a:t>エンコーダ</a:t>
                  </a:r>
                  <a:r>
                    <a:rPr lang="ja-JP" altLang="en-US" sz="2800">
                      <a:latin typeface="UD Digi Kyokasho NK-R" panose="02020400000000000000" pitchFamily="18" charset="-128"/>
                      <a:ea typeface="UD Digi Kyokasho NK-R" panose="02020400000000000000" pitchFamily="18" charset="-128"/>
                    </a:rPr>
                    <a:t>を使用</a:t>
                  </a:r>
                  <a:r>
                    <a:rPr lang="en-US" altLang="ja-JP" sz="2800" dirty="0">
                      <a:latin typeface="UD Digi Kyokasho NK-R" panose="02020400000000000000" pitchFamily="18" charset="-128"/>
                      <a:ea typeface="UD Digi Kyokasho NK-R" panose="02020400000000000000" pitchFamily="18" charset="-128"/>
                    </a:rPr>
                    <a:t>[2]</a:t>
                  </a:r>
                </a:p>
                <a:p>
                  <a:pPr lvl="1"/>
                  <a:r>
                    <a:rPr lang="ja-JP" altLang="en-US" sz="2800">
                      <a:latin typeface="UD Digi Kyokasho NK-R" panose="02020400000000000000" pitchFamily="18" charset="-128"/>
                      <a:ea typeface="UD Digi Kyokasho NK-R" panose="02020400000000000000" pitchFamily="18" charset="-128"/>
                    </a:rPr>
                    <a:t>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のデータに適したエンコーダを用いることで，高精度に学習できることが期待できる</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デバイスに適した性能のエンコーダを用いることができる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デメリット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を事前に学習する必要がある</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3200" dirty="0" err="1">
                      <a:latin typeface="UD Digi Kyokasho NK-R" panose="02020400000000000000" pitchFamily="18" charset="-128"/>
                      <a:ea typeface="UD Digi Kyokasho NK-R" panose="02020400000000000000" pitchFamily="18" charset="-128"/>
                    </a:rPr>
                    <a:t>AutoEncoder</a:t>
                  </a:r>
                  <a:r>
                    <a:rPr lang="en-US" altLang="ja-JP" sz="3200" dirty="0">
                      <a:latin typeface="UD Digi Kyokasho NK-R" panose="02020400000000000000" pitchFamily="18" charset="-128"/>
                      <a:ea typeface="UD Digi Kyokasho NK-R" panose="02020400000000000000" pitchFamily="18" charset="-128"/>
                    </a:rPr>
                    <a:t>[4]</a:t>
                  </a:r>
                </a:p>
                <a:p>
                  <a:pPr lvl="2"/>
                  <a:r>
                    <a:rPr lang="ja-JP" altLang="en-US" sz="2800">
                      <a:latin typeface="UD Digi Kyokasho NK-R" panose="02020400000000000000" pitchFamily="18" charset="-128"/>
                      <a:ea typeface="UD Digi Kyokasho NK-R" panose="02020400000000000000" pitchFamily="18" charset="-128"/>
                    </a:rPr>
                    <a:t>データの次元圧縮や， 特徴抽出が可能</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学習時にデータに対するアノテーションを必要としない</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任意の構造のエンコーダ・デコーダを定義できる</a:t>
                  </a:r>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入力</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a:latin typeface="Cambria Math" panose="02040503050406030204" pitchFamily="18" charset="0"/>
                        </a:rPr>
                        <m:t>𝑧</m:t>
                      </m:r>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特徴量</a:t>
                  </a:r>
                  <a:endParaRPr lang="en-US" altLang="ja-JP" sz="2800" b="1" dirty="0">
                    <a:latin typeface="UD Digi Kyokasho NK-R" panose="02020400000000000000" pitchFamily="18" charset="-128"/>
                    <a:ea typeface="UD Digi Kyokasho NK-R" panose="02020400000000000000" pitchFamily="18" charset="-128"/>
                  </a:endParaRPr>
                </a:p>
              </p:txBody>
            </p:sp>
          </mc:Choice>
          <mc:Fallback xmlns="">
            <p:sp>
              <p:nvSpPr>
                <p:cNvPr id="21" name="テキスト ボックス 20">
                  <a:extLst>
                    <a:ext uri="{FF2B5EF4-FFF2-40B4-BE49-F238E27FC236}">
                      <a16:creationId xmlns:a16="http://schemas.microsoft.com/office/drawing/2014/main" id="{8103660E-7864-B952-E9D4-8B1BFBE455FD}"/>
                    </a:ext>
                  </a:extLst>
                </p:cNvPr>
                <p:cNvSpPr txBox="1">
                  <a:spLocks noRot="1" noChangeAspect="1" noMove="1" noResize="1" noEditPoints="1" noAdjustHandles="1" noChangeArrowheads="1" noChangeShapeType="1" noTextEdit="1"/>
                </p:cNvSpPr>
                <p:nvPr/>
              </p:nvSpPr>
              <p:spPr>
                <a:xfrm>
                  <a:off x="318217" y="5734078"/>
                  <a:ext cx="14633281" cy="7478970"/>
                </a:xfrm>
                <a:prstGeom prst="rect">
                  <a:avLst/>
                </a:prstGeom>
                <a:blipFill>
                  <a:blip r:embed="rId24"/>
                  <a:stretch>
                    <a:fillRect t="-1017" b="-1186"/>
                  </a:stretch>
                </a:blipFill>
              </p:spPr>
              <p:txBody>
                <a:bodyPr/>
                <a:lstStyle/>
                <a:p>
                  <a:r>
                    <a:rPr lang="ja-JP" altLang="en-US">
                      <a:noFill/>
                    </a:rPr>
                    <a:t> </a:t>
                  </a:r>
                </a:p>
              </p:txBody>
            </p:sp>
          </mc:Fallback>
        </mc:AlternateContent>
      </p:grpSp>
      <p:sp>
        <p:nvSpPr>
          <p:cNvPr id="71" name="正方形/長方形 70">
            <a:extLst>
              <a:ext uri="{FF2B5EF4-FFF2-40B4-BE49-F238E27FC236}">
                <a16:creationId xmlns:a16="http://schemas.microsoft.com/office/drawing/2014/main" id="{C1922F36-5D13-A2B0-A6B8-8A3B6DDAC105}"/>
              </a:ext>
            </a:extLst>
          </p:cNvPr>
          <p:cNvSpPr/>
          <p:nvPr/>
        </p:nvSpPr>
        <p:spPr>
          <a:xfrm>
            <a:off x="4690186" y="29859810"/>
            <a:ext cx="1796586" cy="1374387"/>
          </a:xfrm>
          <a:prstGeom prst="rect">
            <a:avLst/>
          </a:prstGeom>
          <a:solidFill>
            <a:srgbClr val="FFC000"/>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E6ABED7C-E5B2-78C3-4EBE-4A7252D7FCEE}"/>
              </a:ext>
            </a:extLst>
          </p:cNvPr>
          <p:cNvGrpSpPr/>
          <p:nvPr/>
        </p:nvGrpSpPr>
        <p:grpSpPr>
          <a:xfrm>
            <a:off x="1545856" y="29784965"/>
            <a:ext cx="1496736" cy="1496736"/>
            <a:chOff x="1545856" y="16973525"/>
            <a:chExt cx="1496736" cy="1496736"/>
          </a:xfrm>
        </p:grpSpPr>
        <p:pic>
          <p:nvPicPr>
            <p:cNvPr id="24" name="図 23" descr="帽子を被っている女性&#10;&#10;自動的に生成された説明">
              <a:extLst>
                <a:ext uri="{FF2B5EF4-FFF2-40B4-BE49-F238E27FC236}">
                  <a16:creationId xmlns:a16="http://schemas.microsoft.com/office/drawing/2014/main" id="{F4DBBA9F-0A23-EE52-49CE-26421790D6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C1C759C4-0F65-CC32-E87F-475E9C5143BC}"/>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5" name="テキスト ボックス 24">
                  <a:extLst>
                    <a:ext uri="{FF2B5EF4-FFF2-40B4-BE49-F238E27FC236}">
                      <a16:creationId xmlns:a16="http://schemas.microsoft.com/office/drawing/2014/main" id="{C1C759C4-0F65-CC32-E87F-475E9C5143BC}"/>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5"/>
                  <a:stretch>
                    <a:fillRect b="-5714"/>
                  </a:stretch>
                </a:blipFill>
              </p:spPr>
              <p:txBody>
                <a:bodyPr/>
                <a:lstStyle/>
                <a:p>
                  <a:r>
                    <a:rPr lang="ja-JP" altLang="en-US">
                      <a:noFill/>
                    </a:rPr>
                    <a:t> </a:t>
                  </a:r>
                </a:p>
              </p:txBody>
            </p:sp>
          </mc:Fallback>
        </mc:AlternateContent>
      </p:grpSp>
      <p:cxnSp>
        <p:nvCxnSpPr>
          <p:cNvPr id="38" name="直線矢印コネクタ 37">
            <a:extLst>
              <a:ext uri="{FF2B5EF4-FFF2-40B4-BE49-F238E27FC236}">
                <a16:creationId xmlns:a16="http://schemas.microsoft.com/office/drawing/2014/main" id="{E0A6D5F8-B787-79BA-13C2-9F0C284BFDB6}"/>
              </a:ext>
            </a:extLst>
          </p:cNvPr>
          <p:cNvCxnSpPr>
            <a:cxnSpLocks/>
            <a:stCxn id="24" idx="3"/>
            <a:endCxn id="41" idx="2"/>
          </p:cNvCxnSpPr>
          <p:nvPr/>
        </p:nvCxnSpPr>
        <p:spPr>
          <a:xfrm flipV="1">
            <a:off x="3042592" y="30526865"/>
            <a:ext cx="1853074"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グループ化 38">
            <a:extLst>
              <a:ext uri="{FF2B5EF4-FFF2-40B4-BE49-F238E27FC236}">
                <a16:creationId xmlns:a16="http://schemas.microsoft.com/office/drawing/2014/main" id="{25EB4B6D-2DC5-B7AC-41CE-055879FF73A2}"/>
              </a:ext>
            </a:extLst>
          </p:cNvPr>
          <p:cNvGrpSpPr/>
          <p:nvPr/>
        </p:nvGrpSpPr>
        <p:grpSpPr>
          <a:xfrm>
            <a:off x="4895666" y="29965589"/>
            <a:ext cx="1431984" cy="1122552"/>
            <a:chOff x="5794565" y="9611968"/>
            <a:chExt cx="1431984" cy="1122552"/>
          </a:xfrm>
        </p:grpSpPr>
        <p:sp>
          <p:nvSpPr>
            <p:cNvPr id="41" name="台形 40">
              <a:extLst>
                <a:ext uri="{FF2B5EF4-FFF2-40B4-BE49-F238E27FC236}">
                  <a16:creationId xmlns:a16="http://schemas.microsoft.com/office/drawing/2014/main" id="{D2837E79-FF3C-7953-9085-2F82397EE9D4}"/>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52394F01-7B61-CA49-CE8E-F5865A3032D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42" name="テキスト ボックス 41">
                  <a:extLst>
                    <a:ext uri="{FF2B5EF4-FFF2-40B4-BE49-F238E27FC236}">
                      <a16:creationId xmlns:a16="http://schemas.microsoft.com/office/drawing/2014/main" id="{52394F01-7B61-CA49-CE8E-F5865A3032D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6"/>
                  <a:stretch>
                    <a:fillRect l="-6364" r="-5455" b="-571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F8BF2742-65B0-D356-0E9B-4A868A6BA9D5}"/>
                  </a:ext>
                </a:extLst>
              </p:cNvPr>
              <p:cNvSpPr txBox="1"/>
              <p:nvPr/>
            </p:nvSpPr>
            <p:spPr>
              <a:xfrm>
                <a:off x="7854200" y="30301327"/>
                <a:ext cx="2610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i="1" smtClean="0">
                          <a:latin typeface="Cambria Math" panose="02040503050406030204" pitchFamily="18" charset="0"/>
                        </a:rPr>
                        <m:t>𝑧</m:t>
                      </m:r>
                    </m:oMath>
                  </m:oMathPara>
                </a14:m>
                <a:endParaRPr kumimoji="1" lang="ja-JP" altLang="en-US" sz="2800" dirty="0"/>
              </a:p>
            </p:txBody>
          </p:sp>
        </mc:Choice>
        <mc:Fallback xmlns="">
          <p:sp>
            <p:nvSpPr>
              <p:cNvPr id="43" name="テキスト ボックス 42">
                <a:extLst>
                  <a:ext uri="{FF2B5EF4-FFF2-40B4-BE49-F238E27FC236}">
                    <a16:creationId xmlns:a16="http://schemas.microsoft.com/office/drawing/2014/main" id="{F8BF2742-65B0-D356-0E9B-4A868A6BA9D5}"/>
                  </a:ext>
                </a:extLst>
              </p:cNvPr>
              <p:cNvSpPr txBox="1">
                <a:spLocks noRot="1" noChangeAspect="1" noMove="1" noResize="1" noEditPoints="1" noAdjustHandles="1" noChangeArrowheads="1" noChangeShapeType="1" noTextEdit="1"/>
              </p:cNvSpPr>
              <p:nvPr/>
            </p:nvSpPr>
            <p:spPr>
              <a:xfrm>
                <a:off x="7854200" y="30301327"/>
                <a:ext cx="261034" cy="430887"/>
              </a:xfrm>
              <a:prstGeom prst="rect">
                <a:avLst/>
              </a:prstGeom>
              <a:blipFill>
                <a:blip r:embed="rId27"/>
                <a:stretch>
                  <a:fillRect l="-19048" r="-14286"/>
                </a:stretch>
              </a:blipFill>
            </p:spPr>
            <p:txBody>
              <a:bodyPr/>
              <a:lstStyle/>
              <a:p>
                <a:r>
                  <a:rPr lang="ja-JP" altLang="en-US">
                    <a:noFill/>
                  </a:rPr>
                  <a:t> </a:t>
                </a:r>
              </a:p>
            </p:txBody>
          </p:sp>
        </mc:Fallback>
      </mc:AlternateContent>
      <p:cxnSp>
        <p:nvCxnSpPr>
          <p:cNvPr id="44" name="直線矢印コネクタ 43">
            <a:extLst>
              <a:ext uri="{FF2B5EF4-FFF2-40B4-BE49-F238E27FC236}">
                <a16:creationId xmlns:a16="http://schemas.microsoft.com/office/drawing/2014/main" id="{581D1025-5FE8-93AE-EDEB-DAF3B14052DA}"/>
              </a:ext>
            </a:extLst>
          </p:cNvPr>
          <p:cNvCxnSpPr>
            <a:cxnSpLocks/>
            <a:stCxn id="42" idx="3"/>
            <a:endCxn id="43" idx="1"/>
          </p:cNvCxnSpPr>
          <p:nvPr/>
        </p:nvCxnSpPr>
        <p:spPr>
          <a:xfrm flipV="1">
            <a:off x="6316764" y="30516771"/>
            <a:ext cx="1537436" cy="75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714E1F2A-4569-4501-DB7F-9F33D9B0CEB0}"/>
              </a:ext>
            </a:extLst>
          </p:cNvPr>
          <p:cNvGrpSpPr/>
          <p:nvPr/>
        </p:nvGrpSpPr>
        <p:grpSpPr>
          <a:xfrm>
            <a:off x="9500859" y="29965589"/>
            <a:ext cx="1431984" cy="1122552"/>
            <a:chOff x="5794565" y="9611968"/>
            <a:chExt cx="1431984" cy="1122552"/>
          </a:xfrm>
        </p:grpSpPr>
        <p:sp>
          <p:nvSpPr>
            <p:cNvPr id="46" name="台形 45">
              <a:extLst>
                <a:ext uri="{FF2B5EF4-FFF2-40B4-BE49-F238E27FC236}">
                  <a16:creationId xmlns:a16="http://schemas.microsoft.com/office/drawing/2014/main" id="{5CAA1B4C-500A-B11C-53E1-5EA9ED4A7D95}"/>
                </a:ext>
              </a:extLst>
            </p:cNvPr>
            <p:cNvSpPr/>
            <p:nvPr/>
          </p:nvSpPr>
          <p:spPr>
            <a:xfrm rot="162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70680F1A-8CC2-FA82-6D68-8014CEE26FD4}"/>
                    </a:ext>
                  </a:extLst>
                </p:cNvPr>
                <p:cNvSpPr txBox="1"/>
                <p:nvPr/>
              </p:nvSpPr>
              <p:spPr>
                <a:xfrm>
                  <a:off x="5827591" y="9955261"/>
                  <a:ext cx="13896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𝑑𝑒𝑐𝑜𝑑𝑒𝑟</m:t>
                        </m:r>
                      </m:oMath>
                    </m:oMathPara>
                  </a14:m>
                  <a:endParaRPr kumimoji="1" lang="ja-JP" altLang="en-US" sz="2800" dirty="0"/>
                </a:p>
              </p:txBody>
            </p:sp>
          </mc:Choice>
          <mc:Fallback xmlns="">
            <p:sp>
              <p:nvSpPr>
                <p:cNvPr id="47" name="テキスト ボックス 46">
                  <a:extLst>
                    <a:ext uri="{FF2B5EF4-FFF2-40B4-BE49-F238E27FC236}">
                      <a16:creationId xmlns:a16="http://schemas.microsoft.com/office/drawing/2014/main" id="{70680F1A-8CC2-FA82-6D68-8014CEE26FD4}"/>
                    </a:ext>
                  </a:extLst>
                </p:cNvPr>
                <p:cNvSpPr txBox="1">
                  <a:spLocks noRot="1" noChangeAspect="1" noMove="1" noResize="1" noEditPoints="1" noAdjustHandles="1" noChangeArrowheads="1" noChangeShapeType="1" noTextEdit="1"/>
                </p:cNvSpPr>
                <p:nvPr/>
              </p:nvSpPr>
              <p:spPr>
                <a:xfrm>
                  <a:off x="5827591" y="9955261"/>
                  <a:ext cx="1389676" cy="430887"/>
                </a:xfrm>
                <a:prstGeom prst="rect">
                  <a:avLst/>
                </a:prstGeom>
                <a:blipFill>
                  <a:blip r:embed="rId28"/>
                  <a:stretch>
                    <a:fillRect l="-5405" r="-4505" b="-5714"/>
                  </a:stretch>
                </a:blipFill>
              </p:spPr>
              <p:txBody>
                <a:bodyPr/>
                <a:lstStyle/>
                <a:p>
                  <a:r>
                    <a:rPr lang="ja-JP" altLang="en-US">
                      <a:noFill/>
                    </a:rPr>
                    <a:t> </a:t>
                  </a:r>
                </a:p>
              </p:txBody>
            </p:sp>
          </mc:Fallback>
        </mc:AlternateContent>
      </p:grpSp>
      <p:cxnSp>
        <p:nvCxnSpPr>
          <p:cNvPr id="49" name="直線矢印コネクタ 48">
            <a:extLst>
              <a:ext uri="{FF2B5EF4-FFF2-40B4-BE49-F238E27FC236}">
                <a16:creationId xmlns:a16="http://schemas.microsoft.com/office/drawing/2014/main" id="{355260CC-C0E8-D419-E8DC-83D05DD6F323}"/>
              </a:ext>
            </a:extLst>
          </p:cNvPr>
          <p:cNvCxnSpPr>
            <a:cxnSpLocks/>
            <a:stCxn id="43" idx="3"/>
            <a:endCxn id="46" idx="0"/>
          </p:cNvCxnSpPr>
          <p:nvPr/>
        </p:nvCxnSpPr>
        <p:spPr>
          <a:xfrm>
            <a:off x="8115234" y="30516771"/>
            <a:ext cx="1385625" cy="100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C833BA0A-A362-C813-3918-2250B5FCC100}"/>
              </a:ext>
            </a:extLst>
          </p:cNvPr>
          <p:cNvGrpSpPr/>
          <p:nvPr/>
        </p:nvGrpSpPr>
        <p:grpSpPr>
          <a:xfrm>
            <a:off x="12792225" y="29775957"/>
            <a:ext cx="1496736" cy="1496736"/>
            <a:chOff x="1545856" y="16973525"/>
            <a:chExt cx="1496736" cy="1496736"/>
          </a:xfrm>
        </p:grpSpPr>
        <p:pic>
          <p:nvPicPr>
            <p:cNvPr id="51" name="図 50" descr="帽子を被っている女性&#10;&#10;自動的に生成された説明">
              <a:extLst>
                <a:ext uri="{FF2B5EF4-FFF2-40B4-BE49-F238E27FC236}">
                  <a16:creationId xmlns:a16="http://schemas.microsoft.com/office/drawing/2014/main" id="{D04AAEC9-9912-214C-E5EB-C6671536A5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52" name="テキスト ボックス 51">
                  <a:extLst>
                    <a:ext uri="{FF2B5EF4-FFF2-40B4-BE49-F238E27FC236}">
                      <a16:creationId xmlns:a16="http://schemas.microsoft.com/office/drawing/2014/main" id="{1860838F-943D-7B64-F3C4-4F159BEC7B5E}"/>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rPr>
                            </m:ctrlPr>
                          </m:sSupPr>
                          <m:e>
                            <m:r>
                              <a:rPr kumimoji="1" lang="en-US" altLang="ja-JP" sz="2800" b="1">
                                <a:latin typeface="Cambria Math" panose="02040503050406030204" pitchFamily="18" charset="0"/>
                              </a:rPr>
                              <m:t>𝐈</m:t>
                            </m:r>
                          </m:e>
                          <m:sup>
                            <m:r>
                              <a:rPr kumimoji="1" lang="en-US" altLang="ja-JP" sz="2800" b="0" i="0" smtClean="0">
                                <a:latin typeface="Cambria Math" panose="02040503050406030204" pitchFamily="18" charset="0"/>
                              </a:rPr>
                              <m:t>′</m:t>
                            </m:r>
                          </m:sup>
                        </m:sSup>
                      </m:oMath>
                    </m:oMathPara>
                  </a14:m>
                  <a:endParaRPr kumimoji="1" lang="ja-JP" altLang="en-US" sz="2800" dirty="0"/>
                </a:p>
              </p:txBody>
            </p:sp>
          </mc:Choice>
          <mc:Fallback xmlns="">
            <p:sp>
              <p:nvSpPr>
                <p:cNvPr id="52" name="テキスト ボックス 51">
                  <a:extLst>
                    <a:ext uri="{FF2B5EF4-FFF2-40B4-BE49-F238E27FC236}">
                      <a16:creationId xmlns:a16="http://schemas.microsoft.com/office/drawing/2014/main" id="{1860838F-943D-7B64-F3C4-4F159BEC7B5E}"/>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9"/>
                  <a:stretch>
                    <a:fillRect b="-5714"/>
                  </a:stretch>
                </a:blipFill>
              </p:spPr>
              <p:txBody>
                <a:bodyPr/>
                <a:lstStyle/>
                <a:p>
                  <a:r>
                    <a:rPr lang="ja-JP" altLang="en-US">
                      <a:noFill/>
                    </a:rPr>
                    <a:t> </a:t>
                  </a:r>
                </a:p>
              </p:txBody>
            </p:sp>
          </mc:Fallback>
        </mc:AlternateContent>
      </p:grpSp>
      <p:cxnSp>
        <p:nvCxnSpPr>
          <p:cNvPr id="53" name="直線矢印コネクタ 52">
            <a:extLst>
              <a:ext uri="{FF2B5EF4-FFF2-40B4-BE49-F238E27FC236}">
                <a16:creationId xmlns:a16="http://schemas.microsoft.com/office/drawing/2014/main" id="{5AAED562-D412-AFAE-2198-8120CD7A0264}"/>
              </a:ext>
            </a:extLst>
          </p:cNvPr>
          <p:cNvCxnSpPr>
            <a:cxnSpLocks/>
            <a:stCxn id="47" idx="3"/>
            <a:endCxn id="51" idx="1"/>
          </p:cNvCxnSpPr>
          <p:nvPr/>
        </p:nvCxnSpPr>
        <p:spPr>
          <a:xfrm flipV="1">
            <a:off x="10923561" y="30524325"/>
            <a:ext cx="186866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4" name="表 54">
            <a:extLst>
              <a:ext uri="{FF2B5EF4-FFF2-40B4-BE49-F238E27FC236}">
                <a16:creationId xmlns:a16="http://schemas.microsoft.com/office/drawing/2014/main" id="{71EB0320-7586-7DBA-B1ED-305D8F8CA721}"/>
              </a:ext>
            </a:extLst>
          </p:cNvPr>
          <p:cNvGraphicFramePr>
            <a:graphicFrameLocks noGrp="1"/>
          </p:cNvGraphicFramePr>
          <p:nvPr>
            <p:extLst>
              <p:ext uri="{D42A27DB-BD31-4B8C-83A1-F6EECF244321}">
                <p14:modId xmlns:p14="http://schemas.microsoft.com/office/powerpoint/2010/main" val="2867630233"/>
              </p:ext>
            </p:extLst>
          </p:nvPr>
        </p:nvGraphicFramePr>
        <p:xfrm>
          <a:off x="16271324" y="16469141"/>
          <a:ext cx="5844900" cy="6427710"/>
        </p:xfrm>
        <a:graphic>
          <a:graphicData uri="http://schemas.openxmlformats.org/drawingml/2006/table">
            <a:tbl>
              <a:tblPr firstRow="1" bandRow="1">
                <a:tableStyleId>{7DF18680-E054-41AD-8BC1-D1AEF772440D}</a:tableStyleId>
              </a:tblPr>
              <a:tblGrid>
                <a:gridCol w="2922450">
                  <a:extLst>
                    <a:ext uri="{9D8B030D-6E8A-4147-A177-3AD203B41FA5}">
                      <a16:colId xmlns:a16="http://schemas.microsoft.com/office/drawing/2014/main" val="2605247061"/>
                    </a:ext>
                  </a:extLst>
                </a:gridCol>
                <a:gridCol w="2922450">
                  <a:extLst>
                    <a:ext uri="{9D8B030D-6E8A-4147-A177-3AD203B41FA5}">
                      <a16:colId xmlns:a16="http://schemas.microsoft.com/office/drawing/2014/main" val="21923573"/>
                    </a:ext>
                  </a:extLst>
                </a:gridCol>
              </a:tblGrid>
              <a:tr h="494595">
                <a:tc>
                  <a:txBody>
                    <a:bodyPr/>
                    <a:lstStyle/>
                    <a:p>
                      <a:pPr algn="ctr"/>
                      <a:r>
                        <a:rPr kumimoji="1" lang="ja-JP" altLang="en-US" sz="2800">
                          <a:latin typeface="UD Digi Kyokasho NK-R" panose="02020400000000000000" pitchFamily="18" charset="-128"/>
                          <a:ea typeface="UD Digi Kyokasho NK-R" panose="02020400000000000000" pitchFamily="18" charset="-128"/>
                        </a:rPr>
                        <a:t>入力画像</a:t>
                      </a:r>
                    </a:p>
                  </a:txBody>
                  <a:tcPr>
                    <a:solidFill>
                      <a:schemeClr val="accent5">
                        <a:lumMod val="75000"/>
                      </a:schemeClr>
                    </a:solidFill>
                  </a:tcPr>
                </a:tc>
                <a:tc>
                  <a:txBody>
                    <a:bodyPr/>
                    <a:lstStyle/>
                    <a:p>
                      <a:pPr algn="ctr"/>
                      <a:r>
                        <a:rPr kumimoji="1" lang="en-US" altLang="ja-JP" sz="2800" dirty="0">
                          <a:latin typeface="UD Digi Kyokasho NK-R" panose="02020400000000000000" pitchFamily="18" charset="-128"/>
                          <a:ea typeface="UD Digi Kyokasho NK-R" panose="02020400000000000000" pitchFamily="18" charset="-128"/>
                        </a:rPr>
                        <a:t>512</a:t>
                      </a:r>
                      <a:endParaRPr kumimoji="1" lang="ja-JP" altLang="en-US" sz="2800">
                        <a:latin typeface="UD Digi Kyokasho NK-R" panose="02020400000000000000" pitchFamily="18" charset="-128"/>
                        <a:ea typeface="UD Digi Kyokasho NK-R" panose="02020400000000000000" pitchFamily="18" charset="-128"/>
                      </a:endParaRPr>
                    </a:p>
                  </a:txBody>
                  <a:tcPr>
                    <a:solidFill>
                      <a:schemeClr val="accent5">
                        <a:lumMod val="75000"/>
                      </a:schemeClr>
                    </a:solidFill>
                  </a:tcPr>
                </a:tc>
                <a:extLst>
                  <a:ext uri="{0D108BD9-81ED-4DB2-BD59-A6C34878D82A}">
                    <a16:rowId xmlns:a16="http://schemas.microsoft.com/office/drawing/2014/main" val="543304455"/>
                  </a:ext>
                </a:extLst>
              </a:tr>
              <a:tr h="2596880">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305008445"/>
                  </a:ext>
                </a:extLst>
              </a:tr>
              <a:tr h="650639">
                <a:tc>
                  <a:txBody>
                    <a:bodyPr/>
                    <a:lstStyle/>
                    <a:p>
                      <a:pPr algn="ctr"/>
                      <a:r>
                        <a:rPr kumimoji="1" lang="en-US" altLang="ja-JP" sz="2800" dirty="0">
                          <a:solidFill>
                            <a:schemeClr val="bg1"/>
                          </a:solidFill>
                          <a:latin typeface="UD Digi Kyokasho NK-R" panose="02020400000000000000" pitchFamily="18" charset="-128"/>
                          <a:ea typeface="UD Digi Kyokasho NK-R" panose="02020400000000000000" pitchFamily="18" charset="-128"/>
                        </a:rPr>
                        <a:t>1024</a:t>
                      </a:r>
                      <a:endParaRPr kumimoji="1" lang="ja-JP" altLang="en-US" sz="2800">
                        <a:solidFill>
                          <a:schemeClr val="bg1"/>
                        </a:solidFill>
                        <a:latin typeface="UD Digi Kyokasho NK-R" panose="02020400000000000000" pitchFamily="18" charset="-128"/>
                        <a:ea typeface="UD Digi Kyokasho NK-R" panose="02020400000000000000" pitchFamily="18" charset="-128"/>
                      </a:endParaRPr>
                    </a:p>
                  </a:txBody>
                  <a:tcPr>
                    <a:solidFill>
                      <a:schemeClr val="accent5">
                        <a:lumMod val="75000"/>
                      </a:schemeClr>
                    </a:solidFill>
                  </a:tcPr>
                </a:tc>
                <a:tc>
                  <a:txBody>
                    <a:bodyPr/>
                    <a:lstStyle/>
                    <a:p>
                      <a:pPr algn="ctr"/>
                      <a:r>
                        <a:rPr kumimoji="1" lang="en-US" altLang="ja-JP" sz="2800" dirty="0">
                          <a:solidFill>
                            <a:schemeClr val="bg1"/>
                          </a:solidFill>
                          <a:latin typeface="UD Digi Kyokasho NK-R" panose="02020400000000000000" pitchFamily="18" charset="-128"/>
                          <a:ea typeface="UD Digi Kyokasho NK-R" panose="02020400000000000000" pitchFamily="18" charset="-128"/>
                        </a:rPr>
                        <a:t>2048</a:t>
                      </a:r>
                      <a:endParaRPr kumimoji="1" lang="ja-JP" altLang="en-US" sz="2800">
                        <a:solidFill>
                          <a:schemeClr val="bg1"/>
                        </a:solidFill>
                        <a:latin typeface="UD Digi Kyokasho NK-R" panose="02020400000000000000" pitchFamily="18" charset="-128"/>
                        <a:ea typeface="UD Digi Kyokasho NK-R" panose="02020400000000000000" pitchFamily="18" charset="-128"/>
                      </a:endParaRPr>
                    </a:p>
                  </a:txBody>
                  <a:tcPr>
                    <a:solidFill>
                      <a:schemeClr val="accent5">
                        <a:lumMod val="75000"/>
                      </a:schemeClr>
                    </a:solidFill>
                  </a:tcPr>
                </a:tc>
                <a:extLst>
                  <a:ext uri="{0D108BD9-81ED-4DB2-BD59-A6C34878D82A}">
                    <a16:rowId xmlns:a16="http://schemas.microsoft.com/office/drawing/2014/main" val="1190950867"/>
                  </a:ext>
                </a:extLst>
              </a:tr>
              <a:tr h="2662031">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pPr algn="ctr"/>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046697167"/>
                  </a:ext>
                </a:extLst>
              </a:tr>
            </a:tbl>
          </a:graphicData>
        </a:graphic>
      </p:graphicFrame>
      <p:pic>
        <p:nvPicPr>
          <p:cNvPr id="27" name="図 26">
            <a:extLst>
              <a:ext uri="{FF2B5EF4-FFF2-40B4-BE49-F238E27FC236}">
                <a16:creationId xmlns:a16="http://schemas.microsoft.com/office/drawing/2014/main" id="{3ACB756E-77C4-D8B9-BB66-C80A7DB45412}"/>
              </a:ext>
            </a:extLst>
          </p:cNvPr>
          <p:cNvPicPr>
            <a:picLocks noChangeAspect="1"/>
          </p:cNvPicPr>
          <p:nvPr/>
        </p:nvPicPr>
        <p:blipFill>
          <a:blip r:embed="rId30"/>
          <a:stretch>
            <a:fillRect/>
          </a:stretch>
        </p:blipFill>
        <p:spPr>
          <a:xfrm>
            <a:off x="16533676" y="17059912"/>
            <a:ext cx="2467124" cy="2467124"/>
          </a:xfrm>
          <a:prstGeom prst="rect">
            <a:avLst/>
          </a:prstGeom>
        </p:spPr>
      </p:pic>
      <p:pic>
        <p:nvPicPr>
          <p:cNvPr id="33" name="図 32">
            <a:extLst>
              <a:ext uri="{FF2B5EF4-FFF2-40B4-BE49-F238E27FC236}">
                <a16:creationId xmlns:a16="http://schemas.microsoft.com/office/drawing/2014/main" id="{405A57DB-25AF-5828-979F-ACF81963688E}"/>
              </a:ext>
            </a:extLst>
          </p:cNvPr>
          <p:cNvPicPr>
            <a:picLocks noChangeAspect="1"/>
          </p:cNvPicPr>
          <p:nvPr/>
        </p:nvPicPr>
        <p:blipFill>
          <a:blip r:embed="rId31"/>
          <a:stretch>
            <a:fillRect/>
          </a:stretch>
        </p:blipFill>
        <p:spPr>
          <a:xfrm>
            <a:off x="19433969" y="17043197"/>
            <a:ext cx="2467123" cy="2467123"/>
          </a:xfrm>
          <a:prstGeom prst="rect">
            <a:avLst/>
          </a:prstGeom>
        </p:spPr>
      </p:pic>
      <p:pic>
        <p:nvPicPr>
          <p:cNvPr id="40" name="図 39">
            <a:extLst>
              <a:ext uri="{FF2B5EF4-FFF2-40B4-BE49-F238E27FC236}">
                <a16:creationId xmlns:a16="http://schemas.microsoft.com/office/drawing/2014/main" id="{0644C89B-29B5-841C-C504-EA62B1958AB4}"/>
              </a:ext>
            </a:extLst>
          </p:cNvPr>
          <p:cNvPicPr>
            <a:picLocks noChangeAspect="1"/>
          </p:cNvPicPr>
          <p:nvPr/>
        </p:nvPicPr>
        <p:blipFill>
          <a:blip r:embed="rId32"/>
          <a:stretch>
            <a:fillRect/>
          </a:stretch>
        </p:blipFill>
        <p:spPr>
          <a:xfrm>
            <a:off x="16509339" y="20347271"/>
            <a:ext cx="2467123" cy="2467123"/>
          </a:xfrm>
          <a:prstGeom prst="rect">
            <a:avLst/>
          </a:prstGeom>
        </p:spPr>
      </p:pic>
      <p:pic>
        <p:nvPicPr>
          <p:cNvPr id="48" name="図 47">
            <a:extLst>
              <a:ext uri="{FF2B5EF4-FFF2-40B4-BE49-F238E27FC236}">
                <a16:creationId xmlns:a16="http://schemas.microsoft.com/office/drawing/2014/main" id="{C2635F94-DED3-A817-9ACB-2C2A35959766}"/>
              </a:ext>
            </a:extLst>
          </p:cNvPr>
          <p:cNvPicPr>
            <a:picLocks noChangeAspect="1"/>
          </p:cNvPicPr>
          <p:nvPr/>
        </p:nvPicPr>
        <p:blipFill>
          <a:blip r:embed="rId33"/>
          <a:stretch>
            <a:fillRect/>
          </a:stretch>
        </p:blipFill>
        <p:spPr>
          <a:xfrm>
            <a:off x="19432311" y="20347271"/>
            <a:ext cx="2467123" cy="2467123"/>
          </a:xfrm>
          <a:prstGeom prst="rect">
            <a:avLst/>
          </a:prstGeom>
        </p:spPr>
      </p:pic>
      <p:sp>
        <p:nvSpPr>
          <p:cNvPr id="55" name="テキスト ボックス 54">
            <a:extLst>
              <a:ext uri="{FF2B5EF4-FFF2-40B4-BE49-F238E27FC236}">
                <a16:creationId xmlns:a16="http://schemas.microsoft.com/office/drawing/2014/main" id="{80AFDCD6-167C-2DDF-EEA1-1794FC041036}"/>
              </a:ext>
            </a:extLst>
          </p:cNvPr>
          <p:cNvSpPr txBox="1"/>
          <p:nvPr/>
        </p:nvSpPr>
        <p:spPr>
          <a:xfrm>
            <a:off x="16666524" y="15964640"/>
            <a:ext cx="4243284" cy="523220"/>
          </a:xfrm>
          <a:prstGeom prst="rect">
            <a:avLst/>
          </a:prstGeom>
          <a:noFill/>
        </p:spPr>
        <p:txBody>
          <a:bodyPr wrap="square" rtlCol="0">
            <a:spAutoFit/>
          </a:bodyPr>
          <a:lstStyle/>
          <a:p>
            <a:pPr algn="ctr"/>
            <a:r>
              <a:rPr kumimoji="1" lang="ja-JP" altLang="en-US" sz="2800">
                <a:latin typeface="UD Digi Kyokasho NK-R" panose="02020400000000000000" pitchFamily="18" charset="-128"/>
                <a:ea typeface="UD Digi Kyokasho NK-R" panose="02020400000000000000" pitchFamily="18" charset="-128"/>
              </a:rPr>
              <a:t>実験</a:t>
            </a:r>
            <a:r>
              <a:rPr kumimoji="1" lang="en-US" altLang="ja-JP" sz="2800" dirty="0">
                <a:latin typeface="UD Digi Kyokasho NK-R" panose="02020400000000000000" pitchFamily="18" charset="-128"/>
                <a:ea typeface="UD Digi Kyokasho NK-R" panose="02020400000000000000" pitchFamily="18" charset="-128"/>
              </a:rPr>
              <a:t>2</a:t>
            </a:r>
            <a:r>
              <a:rPr kumimoji="1" lang="ja-JP" altLang="en-US" sz="2800">
                <a:latin typeface="UD Digi Kyokasho NK-R" panose="02020400000000000000" pitchFamily="18" charset="-128"/>
                <a:ea typeface="UD Digi Kyokasho NK-R" panose="02020400000000000000" pitchFamily="18" charset="-128"/>
              </a:rPr>
              <a:t>　再構成画像を比較</a:t>
            </a:r>
          </a:p>
        </p:txBody>
      </p:sp>
      <p:sp>
        <p:nvSpPr>
          <p:cNvPr id="59" name="テキスト ボックス 58">
            <a:extLst>
              <a:ext uri="{FF2B5EF4-FFF2-40B4-BE49-F238E27FC236}">
                <a16:creationId xmlns:a16="http://schemas.microsoft.com/office/drawing/2014/main" id="{EB4554EE-D7B3-1073-AE3A-B8BDFE7ABA2C}"/>
              </a:ext>
            </a:extLst>
          </p:cNvPr>
          <p:cNvSpPr txBox="1"/>
          <p:nvPr/>
        </p:nvSpPr>
        <p:spPr>
          <a:xfrm>
            <a:off x="23270915" y="22631860"/>
            <a:ext cx="5458095" cy="523220"/>
          </a:xfrm>
          <a:prstGeom prst="rect">
            <a:avLst/>
          </a:prstGeom>
          <a:noFill/>
        </p:spPr>
        <p:txBody>
          <a:bodyPr wrap="square" rtlCol="0">
            <a:spAutoFit/>
          </a:bodyPr>
          <a:lstStyle/>
          <a:p>
            <a:pPr algn="ctr"/>
            <a:r>
              <a:rPr kumimoji="1" lang="ja-JP" altLang="en-US" sz="2800">
                <a:latin typeface="UD Digi Kyokasho NK-R" panose="02020400000000000000" pitchFamily="18" charset="-128"/>
                <a:ea typeface="UD Digi Kyokasho NK-R" panose="02020400000000000000" pitchFamily="18" charset="-128"/>
              </a:rPr>
              <a:t>実験</a:t>
            </a:r>
            <a:r>
              <a:rPr kumimoji="1" lang="en-US" altLang="ja-JP" sz="2800" dirty="0">
                <a:latin typeface="UD Digi Kyokasho NK-R" panose="02020400000000000000" pitchFamily="18" charset="-128"/>
                <a:ea typeface="UD Digi Kyokasho NK-R" panose="02020400000000000000" pitchFamily="18" charset="-128"/>
              </a:rPr>
              <a:t>3</a:t>
            </a:r>
            <a:r>
              <a:rPr kumimoji="1" lang="ja-JP" altLang="en-US" sz="2800">
                <a:latin typeface="UD Digi Kyokasho NK-R" panose="02020400000000000000" pitchFamily="18" charset="-128"/>
                <a:ea typeface="UD Digi Kyokasho NK-R" panose="02020400000000000000" pitchFamily="18" charset="-128"/>
              </a:rPr>
              <a:t>　学習精度・学習誤差を比較</a:t>
            </a:r>
          </a:p>
        </p:txBody>
      </p:sp>
      <p:graphicFrame>
        <p:nvGraphicFramePr>
          <p:cNvPr id="61" name="表 255">
            <a:extLst>
              <a:ext uri="{FF2B5EF4-FFF2-40B4-BE49-F238E27FC236}">
                <a16:creationId xmlns:a16="http://schemas.microsoft.com/office/drawing/2014/main" id="{C843D60C-48A5-B579-246D-9B7389C06D50}"/>
              </a:ext>
            </a:extLst>
          </p:cNvPr>
          <p:cNvGraphicFramePr>
            <a:graphicFrameLocks noGrp="1"/>
          </p:cNvGraphicFramePr>
          <p:nvPr>
            <p:extLst>
              <p:ext uri="{D42A27DB-BD31-4B8C-83A1-F6EECF244321}">
                <p14:modId xmlns:p14="http://schemas.microsoft.com/office/powerpoint/2010/main" val="870191352"/>
              </p:ext>
            </p:extLst>
          </p:nvPr>
        </p:nvGraphicFramePr>
        <p:xfrm>
          <a:off x="15329206" y="30952117"/>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こいつが噂の鮫肌男か</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あーんこの人痴漢です</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実は痔なんです</a:t>
                      </a:r>
                    </a:p>
                  </a:txBody>
                  <a:tcPr anchor="ctr"/>
                </a:tc>
                <a:extLst>
                  <a:ext uri="{0D108BD9-81ED-4DB2-BD59-A6C34878D82A}">
                    <a16:rowId xmlns:a16="http://schemas.microsoft.com/office/drawing/2014/main" val="1783522377"/>
                  </a:ext>
                </a:extLst>
              </a:tr>
            </a:tbl>
          </a:graphicData>
        </a:graphic>
      </p:graphicFrame>
      <p:pic>
        <p:nvPicPr>
          <p:cNvPr id="63" name="図 62">
            <a:extLst>
              <a:ext uri="{FF2B5EF4-FFF2-40B4-BE49-F238E27FC236}">
                <a16:creationId xmlns:a16="http://schemas.microsoft.com/office/drawing/2014/main" id="{72294DBF-E76D-7A22-0EE6-F6AAE1E9F344}"/>
              </a:ext>
            </a:extLst>
          </p:cNvPr>
          <p:cNvPicPr>
            <a:picLocks noChangeAspect="1"/>
          </p:cNvPicPr>
          <p:nvPr/>
        </p:nvPicPr>
        <p:blipFill>
          <a:blip r:embed="rId34"/>
          <a:stretch>
            <a:fillRect/>
          </a:stretch>
        </p:blipFill>
        <p:spPr>
          <a:xfrm>
            <a:off x="15913172" y="34700177"/>
            <a:ext cx="2402435" cy="2402435"/>
          </a:xfrm>
          <a:prstGeom prst="rect">
            <a:avLst/>
          </a:prstGeom>
        </p:spPr>
      </p:pic>
      <p:pic>
        <p:nvPicPr>
          <p:cNvPr id="2" name="図 1">
            <a:extLst>
              <a:ext uri="{FF2B5EF4-FFF2-40B4-BE49-F238E27FC236}">
                <a16:creationId xmlns:a16="http://schemas.microsoft.com/office/drawing/2014/main" id="{0484CCE0-04AF-8D5F-967C-37678A37120D}"/>
              </a:ext>
            </a:extLst>
          </p:cNvPr>
          <p:cNvPicPr>
            <a:picLocks noChangeAspect="1"/>
          </p:cNvPicPr>
          <p:nvPr/>
        </p:nvPicPr>
        <p:blipFill>
          <a:blip r:embed="rId35"/>
          <a:stretch>
            <a:fillRect/>
          </a:stretch>
        </p:blipFill>
        <p:spPr>
          <a:xfrm>
            <a:off x="22593830" y="16025600"/>
            <a:ext cx="6812267" cy="6663528"/>
          </a:xfrm>
          <a:prstGeom prst="rect">
            <a:avLst/>
          </a:prstGeom>
        </p:spPr>
      </p:pic>
      <p:sp>
        <p:nvSpPr>
          <p:cNvPr id="57" name="テキスト ボックス 56">
            <a:extLst>
              <a:ext uri="{FF2B5EF4-FFF2-40B4-BE49-F238E27FC236}">
                <a16:creationId xmlns:a16="http://schemas.microsoft.com/office/drawing/2014/main" id="{C643C9AC-DCDA-90E0-4D5E-CEB290DE06D7}"/>
              </a:ext>
            </a:extLst>
          </p:cNvPr>
          <p:cNvSpPr txBox="1"/>
          <p:nvPr/>
        </p:nvSpPr>
        <p:spPr>
          <a:xfrm>
            <a:off x="-34395" y="-30111"/>
            <a:ext cx="1483100" cy="830997"/>
          </a:xfrm>
          <a:prstGeom prst="rect">
            <a:avLst/>
          </a:prstGeom>
          <a:noFill/>
        </p:spPr>
        <p:txBody>
          <a:bodyPr wrap="square" rtlCol="0">
            <a:spAutoFit/>
          </a:bodyPr>
          <a:lstStyle/>
          <a:p>
            <a:pPr algn="ctr"/>
            <a:r>
              <a:rPr kumimoji="1" lang="en-US" altLang="ja-JP" sz="4800" dirty="0">
                <a:latin typeface="UD Digi Kyokasho NK-R" panose="02020400000000000000" pitchFamily="18" charset="-128"/>
                <a:ea typeface="UD Digi Kyokasho NK-R" panose="02020400000000000000" pitchFamily="18" charset="-128"/>
              </a:rPr>
              <a:t>B</a:t>
            </a:r>
            <a:r>
              <a:rPr kumimoji="1" lang="ja-JP" altLang="en-US" sz="4800">
                <a:latin typeface="UD Digi Kyokasho NK-R" panose="02020400000000000000" pitchFamily="18" charset="-128"/>
                <a:ea typeface="UD Digi Kyokasho NK-R" panose="02020400000000000000" pitchFamily="18" charset="-128"/>
              </a:rPr>
              <a:t>案</a:t>
            </a:r>
          </a:p>
        </p:txBody>
      </p:sp>
      <p:graphicFrame>
        <p:nvGraphicFramePr>
          <p:cNvPr id="58" name="表 255">
            <a:extLst>
              <a:ext uri="{FF2B5EF4-FFF2-40B4-BE49-F238E27FC236}">
                <a16:creationId xmlns:a16="http://schemas.microsoft.com/office/drawing/2014/main" id="{100BF946-21CA-2726-7934-F8A241F906F3}"/>
              </a:ext>
            </a:extLst>
          </p:cNvPr>
          <p:cNvGraphicFramePr>
            <a:graphicFrameLocks noGrp="1"/>
          </p:cNvGraphicFramePr>
          <p:nvPr>
            <p:extLst>
              <p:ext uri="{D42A27DB-BD31-4B8C-83A1-F6EECF244321}">
                <p14:modId xmlns:p14="http://schemas.microsoft.com/office/powerpoint/2010/main" val="2110485506"/>
              </p:ext>
            </p:extLst>
          </p:nvPr>
        </p:nvGraphicFramePr>
        <p:xfrm>
          <a:off x="15329206" y="27827871"/>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パンツの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すそ</a:t>
                      </a:r>
                      <a:r>
                        <a:rPr kumimoji="1" lang="ja-JP" altLang="en-US" sz="2800" spc="-100" baseline="0">
                          <a:latin typeface="UD Digi Kyokasho NK-R" panose="02020400000000000000" pitchFamily="18" charset="-128"/>
                          <a:ea typeface="UD Digi Kyokasho NK-R" panose="02020400000000000000" pitchFamily="18" charset="-128"/>
                        </a:rPr>
                        <a:t>がカピカピになっている</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出会い系で待ち合わせ</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子供の頃から</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ディフェンスに定評</a:t>
                      </a:r>
                      <a:r>
                        <a:rPr kumimoji="1" lang="ja-JP" altLang="en-US" sz="2800" spc="-100" baseline="0">
                          <a:solidFill>
                            <a:schemeClr val="tx1"/>
                          </a:solidFill>
                          <a:latin typeface="UD Digi Kyokasho NK-R" panose="02020400000000000000" pitchFamily="18" charset="-128"/>
                          <a:ea typeface="UD Digi Kyokasho NK-R" panose="02020400000000000000" pitchFamily="18" charset="-128"/>
                        </a:rPr>
                        <a:t>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ある</a:t>
                      </a:r>
                      <a:r>
                        <a:rPr kumimoji="1" lang="ja-JP" altLang="en-US" sz="2800" spc="-100" baseline="0">
                          <a:latin typeface="UD Digi Kyokasho NK-R" panose="02020400000000000000" pitchFamily="18" charset="-128"/>
                          <a:ea typeface="UD Digi Kyokasho NK-R" panose="02020400000000000000" pitchFamily="18" charset="-128"/>
                        </a:rPr>
                        <a:t>人</a:t>
                      </a:r>
                    </a:p>
                  </a:txBody>
                  <a:tcPr anchor="ctr"/>
                </a:tc>
                <a:extLst>
                  <a:ext uri="{0D108BD9-81ED-4DB2-BD59-A6C34878D82A}">
                    <a16:rowId xmlns:a16="http://schemas.microsoft.com/office/drawing/2014/main" val="1783522377"/>
                  </a:ext>
                </a:extLst>
              </a:tr>
            </a:tbl>
          </a:graphicData>
        </a:graphic>
      </p:graphicFrame>
      <p:pic>
        <p:nvPicPr>
          <p:cNvPr id="60" name="図 59">
            <a:extLst>
              <a:ext uri="{FF2B5EF4-FFF2-40B4-BE49-F238E27FC236}">
                <a16:creationId xmlns:a16="http://schemas.microsoft.com/office/drawing/2014/main" id="{D75239D6-B966-46AD-5B85-11A933F7FD0A}"/>
              </a:ext>
            </a:extLst>
          </p:cNvPr>
          <p:cNvPicPr>
            <a:picLocks noChangeAspect="1"/>
          </p:cNvPicPr>
          <p:nvPr/>
        </p:nvPicPr>
        <p:blipFill>
          <a:blip r:embed="rId36"/>
          <a:stretch>
            <a:fillRect/>
          </a:stretch>
        </p:blipFill>
        <p:spPr>
          <a:xfrm>
            <a:off x="15913172" y="28456979"/>
            <a:ext cx="2402435" cy="2402435"/>
          </a:xfrm>
          <a:prstGeom prst="rect">
            <a:avLst/>
          </a:prstGeom>
        </p:spPr>
      </p:pic>
      <p:pic>
        <p:nvPicPr>
          <p:cNvPr id="70" name="図 69">
            <a:extLst>
              <a:ext uri="{FF2B5EF4-FFF2-40B4-BE49-F238E27FC236}">
                <a16:creationId xmlns:a16="http://schemas.microsoft.com/office/drawing/2014/main" id="{FF4C2A8C-C736-8333-5BCB-BBC26F625887}"/>
              </a:ext>
            </a:extLst>
          </p:cNvPr>
          <p:cNvPicPr>
            <a:picLocks noChangeAspect="1"/>
          </p:cNvPicPr>
          <p:nvPr/>
        </p:nvPicPr>
        <p:blipFill>
          <a:blip r:embed="rId37"/>
          <a:stretch>
            <a:fillRect/>
          </a:stretch>
        </p:blipFill>
        <p:spPr>
          <a:xfrm>
            <a:off x="15913172" y="31599913"/>
            <a:ext cx="2402435" cy="2402435"/>
          </a:xfrm>
          <a:prstGeom prst="rect">
            <a:avLst/>
          </a:prstGeom>
        </p:spPr>
      </p:pic>
      <p:grpSp>
        <p:nvGrpSpPr>
          <p:cNvPr id="103" name="グループ化 102">
            <a:extLst>
              <a:ext uri="{FF2B5EF4-FFF2-40B4-BE49-F238E27FC236}">
                <a16:creationId xmlns:a16="http://schemas.microsoft.com/office/drawing/2014/main" id="{1539E1DA-FC55-2DB5-DAE4-BFFCC93E9F53}"/>
              </a:ext>
            </a:extLst>
          </p:cNvPr>
          <p:cNvGrpSpPr/>
          <p:nvPr/>
        </p:nvGrpSpPr>
        <p:grpSpPr>
          <a:xfrm>
            <a:off x="232570" y="16793066"/>
            <a:ext cx="14760000" cy="6514405"/>
            <a:chOff x="191499" y="4380113"/>
            <a:chExt cx="14760000" cy="6514405"/>
          </a:xfrm>
        </p:grpSpPr>
        <p:sp>
          <p:nvSpPr>
            <p:cNvPr id="105" name="四角形: 角を丸くする 29">
              <a:extLst>
                <a:ext uri="{FF2B5EF4-FFF2-40B4-BE49-F238E27FC236}">
                  <a16:creationId xmlns:a16="http://schemas.microsoft.com/office/drawing/2014/main" id="{1E4519D7-1E8F-5DEF-FAF1-DCC4C5573C52}"/>
                </a:ext>
              </a:extLst>
            </p:cNvPr>
            <p:cNvSpPr/>
            <p:nvPr/>
          </p:nvSpPr>
          <p:spPr>
            <a:xfrm>
              <a:off x="191499" y="4755867"/>
              <a:ext cx="14760000" cy="6138651"/>
            </a:xfrm>
            <a:prstGeom prst="roundRect">
              <a:avLst>
                <a:gd name="adj" fmla="val 517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106" name="四角形: 角を丸くする 30">
              <a:extLst>
                <a:ext uri="{FF2B5EF4-FFF2-40B4-BE49-F238E27FC236}">
                  <a16:creationId xmlns:a16="http://schemas.microsoft.com/office/drawing/2014/main" id="{4C59906F-63D4-C751-180F-5F641C86DC1A}"/>
                </a:ext>
              </a:extLst>
            </p:cNvPr>
            <p:cNvSpPr/>
            <p:nvPr/>
          </p:nvSpPr>
          <p:spPr>
            <a:xfrm>
              <a:off x="506889" y="4380113"/>
              <a:ext cx="8227994" cy="743541"/>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Neural Joking Machine[1]</a:t>
              </a:r>
            </a:p>
          </p:txBody>
        </p:sp>
        <p:sp>
          <p:nvSpPr>
            <p:cNvPr id="107" name="テキスト ボックス 106">
              <a:extLst>
                <a:ext uri="{FF2B5EF4-FFF2-40B4-BE49-F238E27FC236}">
                  <a16:creationId xmlns:a16="http://schemas.microsoft.com/office/drawing/2014/main" id="{475080EF-E7D3-074F-6CB4-C42073484482}"/>
                </a:ext>
              </a:extLst>
            </p:cNvPr>
            <p:cNvSpPr txBox="1"/>
            <p:nvPr/>
          </p:nvSpPr>
          <p:spPr>
            <a:xfrm>
              <a:off x="318217" y="5375836"/>
              <a:ext cx="14633281" cy="2246769"/>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a:latin typeface="UD Digi Kyokasho NK-R" panose="02020400000000000000" pitchFamily="18" charset="-128"/>
                  <a:ea typeface="UD Digi Kyokasho NK-R" panose="02020400000000000000" pitchFamily="18" charset="-128"/>
                </a:rPr>
                <a:t>, ImageNet</a:t>
              </a:r>
              <a:r>
                <a:rPr lang="ja-JP" altLang="en-US" sz="2800">
                  <a:latin typeface="UD Digi Kyokasho NK-R" panose="02020400000000000000" pitchFamily="18" charset="-128"/>
                  <a:ea typeface="UD Digi Kyokasho NK-R" panose="02020400000000000000" pitchFamily="18" charset="-128"/>
                </a:rPr>
                <a:t>を事前学習済みの</a:t>
              </a:r>
              <a:r>
                <a:rPr lang="en-US" altLang="ja-JP" sz="2800" dirty="0">
                  <a:solidFill>
                    <a:srgbClr val="00B050"/>
                  </a:solidFill>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を使用</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大喜利⇔画像のデータセットを</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サイトをスクレイピングし作成</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一部の画像に対し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不適な単語を含む大喜利が生成される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a:t>
              </a:r>
              <a:r>
                <a:rPr lang="en-US" altLang="ja-JP" sz="2800" dirty="0">
                  <a:latin typeface="UD Digi Kyokasho NK-R" panose="02020400000000000000" pitchFamily="18" charset="-128"/>
                  <a:ea typeface="UD Digi Kyokasho NK-R" panose="02020400000000000000" pitchFamily="18" charset="-128"/>
                </a:rPr>
                <a:t> </a:t>
              </a:r>
              <a:r>
                <a:rPr lang="ja-JP" altLang="en-US" sz="2800" spc="-100">
                  <a:latin typeface="UD Digi Kyokasho NK-R" panose="02020400000000000000" pitchFamily="18" charset="-128"/>
                  <a:ea typeface="UD Digi Kyokasho NK-R" panose="02020400000000000000" pitchFamily="18" charset="-128"/>
                </a:rPr>
                <a:t>事前学習済み</a:t>
              </a:r>
              <a:r>
                <a:rPr lang="en-US" altLang="ja-JP" sz="2800" spc="-100" dirty="0">
                  <a:latin typeface="UD Digi Kyokasho NK-R" panose="02020400000000000000" pitchFamily="18" charset="-128"/>
                  <a:ea typeface="UD Digi Kyokasho NK-R" panose="02020400000000000000" pitchFamily="18" charset="-128"/>
                </a:rPr>
                <a:t>ResNet152</a:t>
              </a:r>
              <a:r>
                <a:rPr lang="ja-JP" altLang="en-US" sz="2800" spc="-100">
                  <a:latin typeface="UD Digi Kyokasho NK-R" panose="02020400000000000000" pitchFamily="18" charset="-128"/>
                  <a:ea typeface="UD Digi Kyokasho NK-R" panose="02020400000000000000" pitchFamily="18" charset="-128"/>
                </a:rPr>
                <a:t>が</a:t>
              </a:r>
              <a:r>
                <a:rPr lang="en-US" altLang="ja-JP" sz="2800" spc="-100" dirty="0" err="1">
                  <a:latin typeface="UD Digi Kyokasho NK-R" panose="02020400000000000000" pitchFamily="18" charset="-128"/>
                  <a:ea typeface="UD Digi Kyokasho NK-R" panose="02020400000000000000" pitchFamily="18" charset="-128"/>
                </a:rPr>
                <a:t>bokete</a:t>
              </a:r>
              <a:r>
                <a:rPr lang="ja-JP" altLang="en-US" sz="2800" spc="-100">
                  <a:latin typeface="UD Digi Kyokasho NK-R" panose="02020400000000000000" pitchFamily="18" charset="-128"/>
                  <a:ea typeface="UD Digi Kyokasho NK-R" panose="02020400000000000000" pitchFamily="18" charset="-128"/>
                </a:rPr>
                <a:t>特有のアニメ・マンガ画像等に対し</a:t>
              </a:r>
              <a:r>
                <a:rPr lang="en-US" altLang="ja-JP" sz="2800" spc="-100" dirty="0">
                  <a:latin typeface="UD Digi Kyokasho NK-R" panose="02020400000000000000" pitchFamily="18" charset="-128"/>
                  <a:ea typeface="UD Digi Kyokasho NK-R" panose="02020400000000000000" pitchFamily="18" charset="-128"/>
                </a:rPr>
                <a:t>,</a:t>
              </a:r>
              <a:r>
                <a:rPr lang="ja-JP" altLang="en-US" sz="2800" spc="-100">
                  <a:latin typeface="UD Digi Kyokasho NK-R" panose="02020400000000000000" pitchFamily="18" charset="-128"/>
                  <a:ea typeface="UD Digi Kyokasho NK-R" panose="02020400000000000000" pitchFamily="18" charset="-128"/>
                </a:rPr>
                <a:t>　特徴抽出が困難</a:t>
              </a:r>
              <a:endParaRPr lang="en-US" altLang="ja-JP" sz="2800" spc="-100" dirty="0">
                <a:latin typeface="UD Digi Kyokasho NK-R" panose="02020400000000000000" pitchFamily="18" charset="-128"/>
                <a:ea typeface="UD Digi Kyokasho NK-R" panose="02020400000000000000" pitchFamily="18" charset="-128"/>
              </a:endParaRPr>
            </a:p>
          </p:txBody>
        </p:sp>
      </p:grpSp>
      <p:pic>
        <p:nvPicPr>
          <p:cNvPr id="108" name="図 107" descr="帽子を被っている女性&#10;&#10;自動的に生成された説明">
            <a:extLst>
              <a:ext uri="{FF2B5EF4-FFF2-40B4-BE49-F238E27FC236}">
                <a16:creationId xmlns:a16="http://schemas.microsoft.com/office/drawing/2014/main" id="{09A979BF-98C5-BE2A-09C8-7A81043EB0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21349173"/>
            <a:ext cx="1496736" cy="1496736"/>
          </a:xfrm>
          <a:prstGeom prst="rect">
            <a:avLst/>
          </a:prstGeom>
        </p:spPr>
      </p:pic>
      <mc:AlternateContent xmlns:mc="http://schemas.openxmlformats.org/markup-compatibility/2006" xmlns:a14="http://schemas.microsoft.com/office/drawing/2010/main">
        <mc:Choice Requires="a14">
          <p:sp>
            <p:nvSpPr>
              <p:cNvPr id="109" name="テキスト ボックス 108">
                <a:extLst>
                  <a:ext uri="{FF2B5EF4-FFF2-40B4-BE49-F238E27FC236}">
                    <a16:creationId xmlns:a16="http://schemas.microsoft.com/office/drawing/2014/main" id="{BDC80640-048F-9E9D-568C-6763DD6FB39F}"/>
                  </a:ext>
                </a:extLst>
              </p:cNvPr>
              <p:cNvSpPr txBox="1"/>
              <p:nvPr/>
            </p:nvSpPr>
            <p:spPr>
              <a:xfrm>
                <a:off x="2031060" y="20377796"/>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109" name="テキスト ボックス 108">
                <a:extLst>
                  <a:ext uri="{FF2B5EF4-FFF2-40B4-BE49-F238E27FC236}">
                    <a16:creationId xmlns:a16="http://schemas.microsoft.com/office/drawing/2014/main" id="{BDC80640-048F-9E9D-568C-6763DD6FB39F}"/>
                  </a:ext>
                </a:extLst>
              </p:cNvPr>
              <p:cNvSpPr txBox="1">
                <a:spLocks noRot="1" noChangeAspect="1" noMove="1" noResize="1" noEditPoints="1" noAdjustHandles="1" noChangeArrowheads="1" noChangeShapeType="1" noTextEdit="1"/>
              </p:cNvSpPr>
              <p:nvPr/>
            </p:nvSpPr>
            <p:spPr>
              <a:xfrm>
                <a:off x="2031060" y="20377796"/>
                <a:ext cx="471668" cy="430887"/>
              </a:xfrm>
              <a:prstGeom prst="rect">
                <a:avLst/>
              </a:prstGeom>
              <a:blipFill>
                <a:blip r:embed="rId38"/>
                <a:stretch>
                  <a:fillRect l="-7692" r="-2564"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0" name="テキスト ボックス 109">
                <a:extLst>
                  <a:ext uri="{FF2B5EF4-FFF2-40B4-BE49-F238E27FC236}">
                    <a16:creationId xmlns:a16="http://schemas.microsoft.com/office/drawing/2014/main" id="{076116FC-76C7-75FD-05E6-7DB6FBEAD349}"/>
                  </a:ext>
                </a:extLst>
              </p:cNvPr>
              <p:cNvSpPr txBox="1"/>
              <p:nvPr/>
            </p:nvSpPr>
            <p:spPr>
              <a:xfrm>
                <a:off x="1984008" y="2187308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110" name="テキスト ボックス 109">
                <a:extLst>
                  <a:ext uri="{FF2B5EF4-FFF2-40B4-BE49-F238E27FC236}">
                    <a16:creationId xmlns:a16="http://schemas.microsoft.com/office/drawing/2014/main" id="{076116FC-76C7-75FD-05E6-7DB6FBEAD349}"/>
                  </a:ext>
                </a:extLst>
              </p:cNvPr>
              <p:cNvSpPr txBox="1">
                <a:spLocks noRot="1" noChangeAspect="1" noMove="1" noResize="1" noEditPoints="1" noAdjustHandles="1" noChangeArrowheads="1" noChangeShapeType="1" noTextEdit="1"/>
              </p:cNvSpPr>
              <p:nvPr/>
            </p:nvSpPr>
            <p:spPr>
              <a:xfrm>
                <a:off x="1984008" y="21873089"/>
                <a:ext cx="492507" cy="430887"/>
              </a:xfrm>
              <a:prstGeom prst="rect">
                <a:avLst/>
              </a:prstGeom>
              <a:blipFill>
                <a:blip r:embed="rId39"/>
                <a:stretch>
                  <a:fillRect b="-5714"/>
                </a:stretch>
              </a:blipFill>
            </p:spPr>
            <p:txBody>
              <a:bodyPr/>
              <a:lstStyle/>
              <a:p>
                <a:r>
                  <a:rPr lang="ja-JP" altLang="en-US">
                    <a:noFill/>
                  </a:rPr>
                  <a:t> </a:t>
                </a:r>
              </a:p>
            </p:txBody>
          </p:sp>
        </mc:Fallback>
      </mc:AlternateContent>
      <p:cxnSp>
        <p:nvCxnSpPr>
          <p:cNvPr id="111" name="直線矢印コネクタ 110">
            <a:extLst>
              <a:ext uri="{FF2B5EF4-FFF2-40B4-BE49-F238E27FC236}">
                <a16:creationId xmlns:a16="http://schemas.microsoft.com/office/drawing/2014/main" id="{317A1EE3-3791-959B-2263-8B583A83619A}"/>
              </a:ext>
            </a:extLst>
          </p:cNvPr>
          <p:cNvCxnSpPr>
            <a:cxnSpLocks/>
            <a:stCxn id="109" idx="3"/>
            <a:endCxn id="117" idx="1"/>
          </p:cNvCxnSpPr>
          <p:nvPr/>
        </p:nvCxnSpPr>
        <p:spPr>
          <a:xfrm>
            <a:off x="2502728" y="20593240"/>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矢印コネクタ 111">
            <a:extLst>
              <a:ext uri="{FF2B5EF4-FFF2-40B4-BE49-F238E27FC236}">
                <a16:creationId xmlns:a16="http://schemas.microsoft.com/office/drawing/2014/main" id="{DCCEB8B4-8B08-D6B7-EBF4-9DED0ED98B8B}"/>
              </a:ext>
            </a:extLst>
          </p:cNvPr>
          <p:cNvCxnSpPr>
            <a:cxnSpLocks/>
            <a:stCxn id="117" idx="3"/>
            <a:endCxn id="127" idx="1"/>
          </p:cNvCxnSpPr>
          <p:nvPr/>
        </p:nvCxnSpPr>
        <p:spPr>
          <a:xfrm flipV="1">
            <a:off x="5608938" y="20589230"/>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矢印コネクタ 19">
            <a:extLst>
              <a:ext uri="{FF2B5EF4-FFF2-40B4-BE49-F238E27FC236}">
                <a16:creationId xmlns:a16="http://schemas.microsoft.com/office/drawing/2014/main" id="{FB844685-3364-9934-9924-3FD846BE7291}"/>
              </a:ext>
            </a:extLst>
          </p:cNvPr>
          <p:cNvCxnSpPr>
            <a:cxnSpLocks/>
            <a:stCxn id="127" idx="3"/>
            <a:endCxn id="130" idx="1"/>
          </p:cNvCxnSpPr>
          <p:nvPr/>
        </p:nvCxnSpPr>
        <p:spPr>
          <a:xfrm>
            <a:off x="8951274" y="20589230"/>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矢印コネクタ 113">
            <a:extLst>
              <a:ext uri="{FF2B5EF4-FFF2-40B4-BE49-F238E27FC236}">
                <a16:creationId xmlns:a16="http://schemas.microsoft.com/office/drawing/2014/main" id="{211AB67C-09FC-109C-013F-854A650BD671}"/>
              </a:ext>
            </a:extLst>
          </p:cNvPr>
          <p:cNvCxnSpPr>
            <a:cxnSpLocks/>
            <a:stCxn id="130" idx="3"/>
            <a:endCxn id="115" idx="1"/>
          </p:cNvCxnSpPr>
          <p:nvPr/>
        </p:nvCxnSpPr>
        <p:spPr>
          <a:xfrm>
            <a:off x="12047667" y="21210264"/>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5" name="テキスト ボックス 114">
                <a:extLst>
                  <a:ext uri="{FF2B5EF4-FFF2-40B4-BE49-F238E27FC236}">
                    <a16:creationId xmlns:a16="http://schemas.microsoft.com/office/drawing/2014/main" id="{D36EE500-5417-7188-FD16-93F0BF5B5F00}"/>
                  </a:ext>
                </a:extLst>
              </p:cNvPr>
              <p:cNvSpPr txBox="1"/>
              <p:nvPr/>
            </p:nvSpPr>
            <p:spPr>
              <a:xfrm>
                <a:off x="12904337" y="21009327"/>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115" name="テキスト ボックス 114">
                <a:extLst>
                  <a:ext uri="{FF2B5EF4-FFF2-40B4-BE49-F238E27FC236}">
                    <a16:creationId xmlns:a16="http://schemas.microsoft.com/office/drawing/2014/main" id="{D36EE500-5417-7188-FD16-93F0BF5B5F00}"/>
                  </a:ext>
                </a:extLst>
              </p:cNvPr>
              <p:cNvSpPr txBox="1">
                <a:spLocks noRot="1" noChangeAspect="1" noMove="1" noResize="1" noEditPoints="1" noAdjustHandles="1" noChangeArrowheads="1" noChangeShapeType="1" noTextEdit="1"/>
              </p:cNvSpPr>
              <p:nvPr/>
            </p:nvSpPr>
            <p:spPr>
              <a:xfrm>
                <a:off x="12904337" y="21009327"/>
                <a:ext cx="814710" cy="430887"/>
              </a:xfrm>
              <a:prstGeom prst="rect">
                <a:avLst/>
              </a:prstGeom>
              <a:blipFill>
                <a:blip r:embed="rId15"/>
                <a:stretch>
                  <a:fillRect l="-6250" r="-4688" b="-11429"/>
                </a:stretch>
              </a:blipFill>
            </p:spPr>
            <p:txBody>
              <a:bodyPr/>
              <a:lstStyle/>
              <a:p>
                <a:r>
                  <a:rPr lang="ja-JP" altLang="en-US">
                    <a:noFill/>
                  </a:rPr>
                  <a:t> </a:t>
                </a:r>
              </a:p>
            </p:txBody>
          </p:sp>
        </mc:Fallback>
      </mc:AlternateContent>
      <p:grpSp>
        <p:nvGrpSpPr>
          <p:cNvPr id="116" name="グループ化 115">
            <a:extLst>
              <a:ext uri="{FF2B5EF4-FFF2-40B4-BE49-F238E27FC236}">
                <a16:creationId xmlns:a16="http://schemas.microsoft.com/office/drawing/2014/main" id="{2CA43F37-3FA8-9E73-209A-6A0CFE54DED3}"/>
              </a:ext>
            </a:extLst>
          </p:cNvPr>
          <p:cNvGrpSpPr/>
          <p:nvPr/>
        </p:nvGrpSpPr>
        <p:grpSpPr>
          <a:xfrm>
            <a:off x="3665938" y="20235676"/>
            <a:ext cx="1943000" cy="719356"/>
            <a:chOff x="3749692" y="11369202"/>
            <a:chExt cx="1943000" cy="719356"/>
          </a:xfrm>
        </p:grpSpPr>
        <p:sp>
          <p:nvSpPr>
            <p:cNvPr id="117" name="正方形/長方形 116">
              <a:extLst>
                <a:ext uri="{FF2B5EF4-FFF2-40B4-BE49-F238E27FC236}">
                  <a16:creationId xmlns:a16="http://schemas.microsoft.com/office/drawing/2014/main" id="{A7497701-1BEE-B0FB-69FD-4045DB22BC8E}"/>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4CBC3EA0-1C14-6CD6-9D44-1A9D3C820968}"/>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83" name="テキスト ボックス 82">
                  <a:extLst>
                    <a:ext uri="{FF2B5EF4-FFF2-40B4-BE49-F238E27FC236}">
                      <a16:creationId xmlns:a16="http://schemas.microsoft.com/office/drawing/2014/main" id="{0716E997-542C-1EE7-FD83-AC763A65279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40"/>
                  <a:stretch>
                    <a:fillRect l="-5960" t="-2857" r="-5960" b="-31429"/>
                  </a:stretch>
                </a:blipFill>
              </p:spPr>
              <p:txBody>
                <a:bodyPr/>
                <a:lstStyle/>
                <a:p>
                  <a:r>
                    <a:rPr lang="ja-JP" altLang="en-US">
                      <a:noFill/>
                    </a:rPr>
                    <a:t> </a:t>
                  </a:r>
                </a:p>
              </p:txBody>
            </p:sp>
          </mc:Fallback>
        </mc:AlternateContent>
      </p:grpSp>
      <p:sp>
        <p:nvSpPr>
          <p:cNvPr id="120" name="正方形/長方形 119">
            <a:extLst>
              <a:ext uri="{FF2B5EF4-FFF2-40B4-BE49-F238E27FC236}">
                <a16:creationId xmlns:a16="http://schemas.microsoft.com/office/drawing/2014/main" id="{5CA779F2-502F-1D38-AC77-3F1CB270D029}"/>
              </a:ext>
            </a:extLst>
          </p:cNvPr>
          <p:cNvSpPr/>
          <p:nvPr/>
        </p:nvSpPr>
        <p:spPr>
          <a:xfrm>
            <a:off x="4820160" y="21216707"/>
            <a:ext cx="2851422" cy="1803974"/>
          </a:xfrm>
          <a:prstGeom prst="rect">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1" name="直線矢印コネクタ 120">
            <a:extLst>
              <a:ext uri="{FF2B5EF4-FFF2-40B4-BE49-F238E27FC236}">
                <a16:creationId xmlns:a16="http://schemas.microsoft.com/office/drawing/2014/main" id="{9D354C57-E146-7543-CEA0-F6C8E1D411BA}"/>
              </a:ext>
            </a:extLst>
          </p:cNvPr>
          <p:cNvCxnSpPr>
            <a:cxnSpLocks/>
            <a:stCxn id="108" idx="3"/>
            <a:endCxn id="124" idx="2"/>
          </p:cNvCxnSpPr>
          <p:nvPr/>
        </p:nvCxnSpPr>
        <p:spPr>
          <a:xfrm>
            <a:off x="3013674" y="22097541"/>
            <a:ext cx="1984373" cy="238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線矢印コネクタ 22">
            <a:extLst>
              <a:ext uri="{FF2B5EF4-FFF2-40B4-BE49-F238E27FC236}">
                <a16:creationId xmlns:a16="http://schemas.microsoft.com/office/drawing/2014/main" id="{E6A41BC6-F4AB-9C37-0082-93688606BC1C}"/>
              </a:ext>
            </a:extLst>
          </p:cNvPr>
          <p:cNvCxnSpPr>
            <a:cxnSpLocks/>
            <a:stCxn id="124" idx="0"/>
            <a:endCxn id="130" idx="1"/>
          </p:cNvCxnSpPr>
          <p:nvPr/>
        </p:nvCxnSpPr>
        <p:spPr>
          <a:xfrm flipV="1">
            <a:off x="7431132" y="21210264"/>
            <a:ext cx="2673535" cy="911147"/>
          </a:xfrm>
          <a:prstGeom prst="bentConnector3">
            <a:avLst>
              <a:gd name="adj1" fmla="val 78339"/>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3" name="グループ化 122">
            <a:extLst>
              <a:ext uri="{FF2B5EF4-FFF2-40B4-BE49-F238E27FC236}">
                <a16:creationId xmlns:a16="http://schemas.microsoft.com/office/drawing/2014/main" id="{37596BE9-9B52-DA8C-8741-53A74651B309}"/>
              </a:ext>
            </a:extLst>
          </p:cNvPr>
          <p:cNvGrpSpPr/>
          <p:nvPr/>
        </p:nvGrpSpPr>
        <p:grpSpPr>
          <a:xfrm>
            <a:off x="4998047" y="21373042"/>
            <a:ext cx="2433085" cy="1496737"/>
            <a:chOff x="5794564" y="9455213"/>
            <a:chExt cx="2433085" cy="1496737"/>
          </a:xfrm>
        </p:grpSpPr>
        <p:sp>
          <p:nvSpPr>
            <p:cNvPr id="124" name="台形 123">
              <a:extLst>
                <a:ext uri="{FF2B5EF4-FFF2-40B4-BE49-F238E27FC236}">
                  <a16:creationId xmlns:a16="http://schemas.microsoft.com/office/drawing/2014/main" id="{E6B7737D-CAC7-A742-2048-BBEEE237DCEF}"/>
                </a:ext>
              </a:extLst>
            </p:cNvPr>
            <p:cNvSpPr/>
            <p:nvPr/>
          </p:nvSpPr>
          <p:spPr>
            <a:xfrm rot="5400000">
              <a:off x="6262738" y="8987039"/>
              <a:ext cx="1496737" cy="2433085"/>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25" name="テキスト ボックス 124">
                  <a:extLst>
                    <a:ext uri="{FF2B5EF4-FFF2-40B4-BE49-F238E27FC236}">
                      <a16:creationId xmlns:a16="http://schemas.microsoft.com/office/drawing/2014/main" id="{67FF4F48-D877-0CAA-8BFF-CB7B256048F8}"/>
                    </a:ext>
                  </a:extLst>
                </p:cNvPr>
                <p:cNvSpPr txBox="1"/>
                <p:nvPr/>
              </p:nvSpPr>
              <p:spPr>
                <a:xfrm>
                  <a:off x="5827591" y="9798507"/>
                  <a:ext cx="2298001" cy="8617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𝑝𝑟𝑒</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𝑡𝑟𝑎𝑖𝑛𝑒𝑑</m:t>
                        </m:r>
                      </m:oMath>
                    </m:oMathPara>
                  </a14:m>
                  <a:endParaRPr kumimoji="1" lang="en-US" altLang="ja-JP" sz="2800" b="0" dirty="0"/>
                </a:p>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𝑅𝑒𝑠𝑁𝑒𝑡</m:t>
                        </m:r>
                        <m:r>
                          <a:rPr kumimoji="1" lang="en-US" altLang="ja-JP" sz="2800" b="0" i="1" smtClean="0">
                            <a:latin typeface="Cambria Math" panose="02040503050406030204" pitchFamily="18" charset="0"/>
                          </a:rPr>
                          <m:t>152</m:t>
                        </m:r>
                      </m:oMath>
                    </m:oMathPara>
                  </a14:m>
                  <a:endParaRPr kumimoji="1" lang="ja-JP" altLang="en-US" sz="2800" dirty="0"/>
                </a:p>
              </p:txBody>
            </p:sp>
          </mc:Choice>
          <mc:Fallback xmlns="">
            <p:sp>
              <p:nvSpPr>
                <p:cNvPr id="90" name="テキスト ボックス 89">
                  <a:extLst>
                    <a:ext uri="{FF2B5EF4-FFF2-40B4-BE49-F238E27FC236}">
                      <a16:creationId xmlns:a16="http://schemas.microsoft.com/office/drawing/2014/main" id="{A3D47FCC-F41C-36CA-FA23-2C40DFB9B479}"/>
                    </a:ext>
                  </a:extLst>
                </p:cNvPr>
                <p:cNvSpPr txBox="1">
                  <a:spLocks noRot="1" noChangeAspect="1" noMove="1" noResize="1" noEditPoints="1" noAdjustHandles="1" noChangeArrowheads="1" noChangeShapeType="1" noTextEdit="1"/>
                </p:cNvSpPr>
                <p:nvPr/>
              </p:nvSpPr>
              <p:spPr>
                <a:xfrm>
                  <a:off x="5827591" y="9798507"/>
                  <a:ext cx="2298001" cy="861774"/>
                </a:xfrm>
                <a:prstGeom prst="rect">
                  <a:avLst/>
                </a:prstGeom>
                <a:blipFill>
                  <a:blip r:embed="rId41"/>
                  <a:stretch>
                    <a:fillRect l="-3315" r="-3315" b="-2899"/>
                  </a:stretch>
                </a:blipFill>
              </p:spPr>
              <p:txBody>
                <a:bodyPr/>
                <a:lstStyle/>
                <a:p>
                  <a:r>
                    <a:rPr lang="ja-JP" altLang="en-US">
                      <a:noFill/>
                    </a:rPr>
                    <a:t> </a:t>
                  </a:r>
                </a:p>
              </p:txBody>
            </p:sp>
          </mc:Fallback>
        </mc:AlternateContent>
      </p:grpSp>
      <p:grpSp>
        <p:nvGrpSpPr>
          <p:cNvPr id="126" name="グループ化 125">
            <a:extLst>
              <a:ext uri="{FF2B5EF4-FFF2-40B4-BE49-F238E27FC236}">
                <a16:creationId xmlns:a16="http://schemas.microsoft.com/office/drawing/2014/main" id="{2C0254B6-E430-FFF5-0875-BF82EBB5B0CA}"/>
              </a:ext>
            </a:extLst>
          </p:cNvPr>
          <p:cNvGrpSpPr/>
          <p:nvPr/>
        </p:nvGrpSpPr>
        <p:grpSpPr>
          <a:xfrm>
            <a:off x="7008274" y="20229552"/>
            <a:ext cx="1943000" cy="719356"/>
            <a:chOff x="3749692" y="11369202"/>
            <a:chExt cx="1943000" cy="719356"/>
          </a:xfrm>
        </p:grpSpPr>
        <p:sp>
          <p:nvSpPr>
            <p:cNvPr id="127" name="正方形/長方形 126">
              <a:extLst>
                <a:ext uri="{FF2B5EF4-FFF2-40B4-BE49-F238E27FC236}">
                  <a16:creationId xmlns:a16="http://schemas.microsoft.com/office/drawing/2014/main" id="{7EECE422-2422-79A9-78EF-EB30D8B11D1F}"/>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017D607F-71FD-84CB-DF8D-0C98A3BD5842}"/>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93" name="テキスト ボックス 92">
                  <a:extLst>
                    <a:ext uri="{FF2B5EF4-FFF2-40B4-BE49-F238E27FC236}">
                      <a16:creationId xmlns:a16="http://schemas.microsoft.com/office/drawing/2014/main" id="{530F7026-FEC9-842A-46CC-D75BCDA6539A}"/>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42"/>
                  <a:stretch>
                    <a:fillRect b="-5882"/>
                  </a:stretch>
                </a:blipFill>
              </p:spPr>
              <p:txBody>
                <a:bodyPr/>
                <a:lstStyle/>
                <a:p>
                  <a:r>
                    <a:rPr lang="ja-JP" altLang="en-US">
                      <a:noFill/>
                    </a:rPr>
                    <a:t> </a:t>
                  </a:r>
                </a:p>
              </p:txBody>
            </p:sp>
          </mc:Fallback>
        </mc:AlternateContent>
      </p:grpSp>
      <p:grpSp>
        <p:nvGrpSpPr>
          <p:cNvPr id="129" name="グループ化 128">
            <a:extLst>
              <a:ext uri="{FF2B5EF4-FFF2-40B4-BE49-F238E27FC236}">
                <a16:creationId xmlns:a16="http://schemas.microsoft.com/office/drawing/2014/main" id="{4CA051E4-EFC7-7085-6E1C-F79266876876}"/>
              </a:ext>
            </a:extLst>
          </p:cNvPr>
          <p:cNvGrpSpPr/>
          <p:nvPr/>
        </p:nvGrpSpPr>
        <p:grpSpPr>
          <a:xfrm>
            <a:off x="10104667" y="20850586"/>
            <a:ext cx="1943000" cy="719356"/>
            <a:chOff x="3749692" y="11369202"/>
            <a:chExt cx="1943000" cy="719356"/>
          </a:xfrm>
        </p:grpSpPr>
        <p:sp>
          <p:nvSpPr>
            <p:cNvPr id="130" name="正方形/長方形 129">
              <a:extLst>
                <a:ext uri="{FF2B5EF4-FFF2-40B4-BE49-F238E27FC236}">
                  <a16:creationId xmlns:a16="http://schemas.microsoft.com/office/drawing/2014/main" id="{7F8B8F78-2EF2-CF60-5643-15C3BA30BCD7}"/>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31" name="テキスト ボックス 130">
                  <a:extLst>
                    <a:ext uri="{FF2B5EF4-FFF2-40B4-BE49-F238E27FC236}">
                      <a16:creationId xmlns:a16="http://schemas.microsoft.com/office/drawing/2014/main" id="{49B69FA4-73A3-D317-3E09-8B14CDE572C1}"/>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96" name="テキスト ボックス 95">
                  <a:extLst>
                    <a:ext uri="{FF2B5EF4-FFF2-40B4-BE49-F238E27FC236}">
                      <a16:creationId xmlns:a16="http://schemas.microsoft.com/office/drawing/2014/main" id="{C0B92E46-B603-F627-D4D7-4F235C2D9CE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43"/>
                  <a:stretch>
                    <a:fillRect b="-8571"/>
                  </a:stretch>
                </a:blipFill>
              </p:spPr>
              <p:txBody>
                <a:bodyPr/>
                <a:lstStyle/>
                <a:p>
                  <a:r>
                    <a:rPr lang="ja-JP" altLang="en-US">
                      <a:noFill/>
                    </a:rPr>
                    <a:t> </a:t>
                  </a:r>
                </a:p>
              </p:txBody>
            </p:sp>
          </mc:Fallback>
        </mc:AlternateContent>
      </p:grpSp>
      <p:grpSp>
        <p:nvGrpSpPr>
          <p:cNvPr id="132" name="グループ化 131">
            <a:extLst>
              <a:ext uri="{FF2B5EF4-FFF2-40B4-BE49-F238E27FC236}">
                <a16:creationId xmlns:a16="http://schemas.microsoft.com/office/drawing/2014/main" id="{624DB56A-CED6-D9A5-44A0-B700DE539B76}"/>
              </a:ext>
            </a:extLst>
          </p:cNvPr>
          <p:cNvGrpSpPr/>
          <p:nvPr/>
        </p:nvGrpSpPr>
        <p:grpSpPr>
          <a:xfrm>
            <a:off x="212934" y="32051017"/>
            <a:ext cx="14760000" cy="8241483"/>
            <a:chOff x="191499" y="4380113"/>
            <a:chExt cx="14760000" cy="8241483"/>
          </a:xfrm>
        </p:grpSpPr>
        <p:sp>
          <p:nvSpPr>
            <p:cNvPr id="133" name="四角形: 角を丸くする 29">
              <a:extLst>
                <a:ext uri="{FF2B5EF4-FFF2-40B4-BE49-F238E27FC236}">
                  <a16:creationId xmlns:a16="http://schemas.microsoft.com/office/drawing/2014/main" id="{F53B1E86-332E-493B-7E57-C8DDD6DA520C}"/>
                </a:ext>
              </a:extLst>
            </p:cNvPr>
            <p:cNvSpPr/>
            <p:nvPr/>
          </p:nvSpPr>
          <p:spPr>
            <a:xfrm>
              <a:off x="191499" y="4755868"/>
              <a:ext cx="14760000" cy="7865728"/>
            </a:xfrm>
            <a:prstGeom prst="roundRect">
              <a:avLst>
                <a:gd name="adj" fmla="val 4013"/>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134" name="四角形: 角を丸くする 30">
              <a:extLst>
                <a:ext uri="{FF2B5EF4-FFF2-40B4-BE49-F238E27FC236}">
                  <a16:creationId xmlns:a16="http://schemas.microsoft.com/office/drawing/2014/main" id="{288A1685-E45D-96A2-ED9C-E4A1EC23C065}"/>
                </a:ext>
              </a:extLst>
            </p:cNvPr>
            <p:cNvSpPr/>
            <p:nvPr/>
          </p:nvSpPr>
          <p:spPr>
            <a:xfrm>
              <a:off x="506890" y="4380113"/>
              <a:ext cx="2317446" cy="818741"/>
            </a:xfrm>
            <a:prstGeom prst="roundRect">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本研究</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35" name="テキスト ボックス 134">
              <a:extLst>
                <a:ext uri="{FF2B5EF4-FFF2-40B4-BE49-F238E27FC236}">
                  <a16:creationId xmlns:a16="http://schemas.microsoft.com/office/drawing/2014/main" id="{E09A2E6C-CD76-EC27-46AE-4343F2E58C88}"/>
                </a:ext>
              </a:extLst>
            </p:cNvPr>
            <p:cNvSpPr txBox="1"/>
            <p:nvPr/>
          </p:nvSpPr>
          <p:spPr>
            <a:xfrm>
              <a:off x="318217" y="5198854"/>
              <a:ext cx="14633281" cy="4031873"/>
            </a:xfrm>
            <a:prstGeom prst="rect">
              <a:avLst/>
            </a:prstGeom>
            <a:noFill/>
          </p:spPr>
          <p:txBody>
            <a:bodyPr wrap="square">
              <a:spAutoFit/>
            </a:bodyPr>
            <a:lstStyle/>
            <a:p>
              <a:pPr lvl="1"/>
              <a:r>
                <a:rPr lang="en-US" altLang="ja-JP" sz="2800" dirty="0">
                  <a:latin typeface="UD Digi Kyokasho NK-R" panose="02020400000000000000" pitchFamily="18" charset="-128"/>
                  <a:ea typeface="UD Digi Kyokasho NK-R" panose="02020400000000000000" pitchFamily="18" charset="-128"/>
                </a:rPr>
                <a:t>[2]</a:t>
              </a:r>
              <a:r>
                <a:rPr lang="ja-JP" altLang="en-US" sz="2800">
                  <a:latin typeface="UD Digi Kyokasho NK-R" panose="02020400000000000000" pitchFamily="18" charset="-128"/>
                  <a:ea typeface="UD Digi Kyokasho NK-R" panose="02020400000000000000" pitchFamily="18" charset="-128"/>
                </a:rPr>
                <a:t>において</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の最適な構造について言及は無い</a:t>
              </a:r>
              <a:endParaRPr lang="en-US" altLang="ja-JP" sz="2800" dirty="0">
                <a:latin typeface="UD Digi Kyokasho NK-R" panose="02020400000000000000" pitchFamily="18" charset="-128"/>
                <a:ea typeface="UD Digi Kyokasho NK-R" panose="02020400000000000000" pitchFamily="18" charset="-128"/>
              </a:endParaRPr>
            </a:p>
            <a:p>
              <a:pPr lvl="1" algn="ctr"/>
              <a:r>
                <a:rPr lang="ja-JP" altLang="en-US" sz="2800">
                  <a:latin typeface="UD Digi Kyokasho NK-R" panose="02020400000000000000" pitchFamily="18" charset="-128"/>
                  <a:ea typeface="UD Digi Kyokasho NK-R" panose="02020400000000000000" pitchFamily="18" charset="-128"/>
                </a:rPr>
                <a:t>↓</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3600" b="1">
                  <a:latin typeface="UD Digi Kyokasho NK-R" panose="02020400000000000000" pitchFamily="18" charset="-128"/>
                  <a:ea typeface="UD Digi Kyokasho NK-R" panose="02020400000000000000" pitchFamily="18" charset="-128"/>
                </a:rPr>
                <a:t>大喜利生成</a:t>
              </a:r>
              <a:r>
                <a:rPr lang="en-US" altLang="ja-JP" sz="3600" b="1" dirty="0">
                  <a:latin typeface="UD Digi Kyokasho NK-R" panose="02020400000000000000" pitchFamily="18" charset="-128"/>
                  <a:ea typeface="UD Digi Kyokasho NK-R" panose="02020400000000000000" pitchFamily="18" charset="-128"/>
                </a:rPr>
                <a:t>AI</a:t>
              </a:r>
              <a:r>
                <a:rPr lang="ja-JP" altLang="en-US" sz="3600" b="1">
                  <a:latin typeface="UD Digi Kyokasho NK-R" panose="02020400000000000000" pitchFamily="18" charset="-128"/>
                  <a:ea typeface="UD Digi Kyokasho NK-R" panose="02020400000000000000" pitchFamily="18" charset="-128"/>
                </a:rPr>
                <a:t>に適した</a:t>
              </a:r>
              <a:r>
                <a:rPr lang="en-US" altLang="ja-JP" sz="3600" b="1" dirty="0" err="1">
                  <a:latin typeface="UD Digi Kyokasho NK-R" panose="02020400000000000000" pitchFamily="18" charset="-128"/>
                  <a:ea typeface="UD Digi Kyokasho NK-R" panose="02020400000000000000" pitchFamily="18" charset="-128"/>
                </a:rPr>
                <a:t>AutoEncoder</a:t>
              </a:r>
              <a:r>
                <a:rPr lang="ja-JP" altLang="en-US" sz="3600" b="1">
                  <a:latin typeface="UD Digi Kyokasho NK-R" panose="02020400000000000000" pitchFamily="18" charset="-128"/>
                  <a:ea typeface="UD Digi Kyokasho NK-R" panose="02020400000000000000" pitchFamily="18" charset="-128"/>
                </a:rPr>
                <a:t>のエンコーダの構造を模索する</a:t>
              </a:r>
              <a:endParaRPr lang="en-US" altLang="ja-JP" sz="3600" b="1" dirty="0">
                <a:latin typeface="UD Digi Kyokasho NK-R" panose="02020400000000000000" pitchFamily="18" charset="-128"/>
                <a:ea typeface="UD Digi Kyokasho NK-R" panose="02020400000000000000" pitchFamily="18" charset="-128"/>
              </a:endParaRPr>
            </a:p>
            <a:p>
              <a:pPr lvl="1"/>
              <a:endParaRPr lang="en-US" altLang="ja-JP" sz="3600" dirty="0">
                <a:latin typeface="UD Digi Kyokasho NK-R" panose="02020400000000000000" pitchFamily="18" charset="-128"/>
                <a:ea typeface="UD Digi Kyokasho NK-R" panose="02020400000000000000" pitchFamily="18" charset="-128"/>
              </a:endParaRPr>
            </a:p>
            <a:p>
              <a:pPr lvl="1"/>
              <a:r>
                <a:rPr lang="ja-JP" altLang="en-US" sz="3200">
                  <a:latin typeface="UD Digi Kyokasho NK-R" panose="02020400000000000000" pitchFamily="18" charset="-128"/>
                  <a:ea typeface="UD Digi Kyokasho NK-R" panose="02020400000000000000" pitchFamily="18" charset="-128"/>
                </a:rPr>
                <a:t>データセット</a:t>
              </a:r>
              <a:endParaRPr lang="en-US" altLang="ja-JP" sz="40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[1]</a:t>
              </a:r>
              <a:r>
                <a:rPr lang="ja-JP" altLang="en-US" sz="2800">
                  <a:latin typeface="UD Digi Kyokasho NK-R" panose="02020400000000000000" pitchFamily="18" charset="-128"/>
                  <a:ea typeface="UD Digi Kyokasho NK-R" panose="02020400000000000000" pitchFamily="18" charset="-128"/>
                </a:rPr>
                <a:t>に倣い</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大喜利⇔画像データセットを作成</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画像</a:t>
              </a:r>
              <a:r>
                <a:rPr lang="en-US" altLang="ja-JP" sz="2800" dirty="0">
                  <a:latin typeface="UD Digi Kyokasho NK-R" panose="02020400000000000000" pitchFamily="18" charset="-128"/>
                  <a:ea typeface="UD Digi Kyokasho NK-R" panose="02020400000000000000" pitchFamily="18" charset="-128"/>
                </a:rPr>
                <a:t> : 88102</a:t>
              </a:r>
              <a:r>
                <a:rPr lang="ja-JP" altLang="en-US" sz="2800">
                  <a:latin typeface="UD Digi Kyokasho NK-R" panose="02020400000000000000" pitchFamily="18" charset="-128"/>
                  <a:ea typeface="UD Digi Kyokasho NK-R" panose="02020400000000000000" pitchFamily="18" charset="-128"/>
                </a:rPr>
                <a:t>枚</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a:t>
              </a:r>
              <a:r>
                <a:rPr lang="en-US" altLang="ja-JP" sz="2800" dirty="0">
                  <a:latin typeface="UD Digi Kyokasho NK-R" panose="02020400000000000000" pitchFamily="18" charset="-128"/>
                  <a:ea typeface="UD Digi Kyokasho NK-R" panose="02020400000000000000" pitchFamily="18" charset="-128"/>
                </a:rPr>
                <a:t> : 759501</a:t>
              </a:r>
              <a:r>
                <a:rPr lang="ja-JP" altLang="en-US" sz="2800">
                  <a:latin typeface="UD Digi Kyokasho NK-R" panose="02020400000000000000" pitchFamily="18" charset="-128"/>
                  <a:ea typeface="UD Digi Kyokasho NK-R" panose="02020400000000000000" pitchFamily="18" charset="-128"/>
                </a:rPr>
                <a:t>文章</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3600" dirty="0">
                <a:latin typeface="UD Digi Kyokasho NK-R" panose="02020400000000000000" pitchFamily="18" charset="-128"/>
                <a:ea typeface="UD Digi Kyokasho NK-R" panose="02020400000000000000" pitchFamily="18" charset="-128"/>
              </a:endParaRPr>
            </a:p>
          </p:txBody>
        </p:sp>
      </p:grpSp>
      <p:graphicFrame>
        <p:nvGraphicFramePr>
          <p:cNvPr id="136" name="表 74">
            <a:extLst>
              <a:ext uri="{FF2B5EF4-FFF2-40B4-BE49-F238E27FC236}">
                <a16:creationId xmlns:a16="http://schemas.microsoft.com/office/drawing/2014/main" id="{A7B5421D-57EC-C2AF-A61C-84A65FF8855B}"/>
              </a:ext>
            </a:extLst>
          </p:cNvPr>
          <p:cNvGraphicFramePr>
            <a:graphicFrameLocks noGrp="1"/>
          </p:cNvGraphicFramePr>
          <p:nvPr>
            <p:extLst>
              <p:ext uri="{D42A27DB-BD31-4B8C-83A1-F6EECF244321}">
                <p14:modId xmlns:p14="http://schemas.microsoft.com/office/powerpoint/2010/main" val="1633366898"/>
              </p:ext>
            </p:extLst>
          </p:nvPr>
        </p:nvGraphicFramePr>
        <p:xfrm>
          <a:off x="885984" y="36202563"/>
          <a:ext cx="13402978" cy="3968448"/>
        </p:xfrm>
        <a:graphic>
          <a:graphicData uri="http://schemas.openxmlformats.org/drawingml/2006/table">
            <a:tbl>
              <a:tblPr firstRow="1" bandRow="1">
                <a:tableStyleId>{7DF18680-E054-41AD-8BC1-D1AEF772440D}</a:tableStyleId>
              </a:tblPr>
              <a:tblGrid>
                <a:gridCol w="6701489">
                  <a:extLst>
                    <a:ext uri="{9D8B030D-6E8A-4147-A177-3AD203B41FA5}">
                      <a16:colId xmlns:a16="http://schemas.microsoft.com/office/drawing/2014/main" val="1696693587"/>
                    </a:ext>
                  </a:extLst>
                </a:gridCol>
                <a:gridCol w="6701489">
                  <a:extLst>
                    <a:ext uri="{9D8B030D-6E8A-4147-A177-3AD203B41FA5}">
                      <a16:colId xmlns:a16="http://schemas.microsoft.com/office/drawing/2014/main" val="693706453"/>
                    </a:ext>
                  </a:extLst>
                </a:gridCol>
              </a:tblGrid>
              <a:tr h="2170128">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1958493544"/>
                  </a:ext>
                </a:extLst>
              </a:tr>
              <a:tr h="1640830">
                <a:tc>
                  <a:txBody>
                    <a:bodyPr/>
                    <a:lstStyle/>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宿題制度を廃止にする</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首相がキムタク</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ディフェンスに定評がある</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すそが短い</a:t>
                      </a:r>
                      <a:endParaRPr lang="en-US" altLang="ja-JP" sz="2800" dirty="0">
                        <a:latin typeface="UD Digi Kyokasho NK-R" panose="02020400000000000000" pitchFamily="18" charset="-128"/>
                        <a:ea typeface="UD Digi Kyokasho NK-R" panose="02020400000000000000" pitchFamily="18" charset="-128"/>
                      </a:endParaRPr>
                    </a:p>
                  </a:txBody>
                  <a:tcPr/>
                </a:tc>
                <a:tc>
                  <a:txBody>
                    <a:bodyPr/>
                    <a:lstStyle/>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うそっ、君が男</a:t>
                      </a:r>
                      <a:r>
                        <a:rPr lang="en-US" altLang="ja-JP" sz="2800" spc="-100" baseline="0" dirty="0">
                          <a:latin typeface="UD Digi Kyokasho NK-R" panose="02020400000000000000" pitchFamily="18" charset="-128"/>
                          <a:ea typeface="UD Digi Kyokasho NK-R" panose="02020400000000000000" pitchFamily="18" charset="-128"/>
                        </a:rPr>
                        <a:t>!? </a:t>
                      </a: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en" altLang="ja-JP" sz="2800" spc="-100" baseline="0" dirty="0">
                          <a:latin typeface="UD Digi Kyokasho NK-R" panose="02020400000000000000" pitchFamily="18" charset="-128"/>
                          <a:ea typeface="UD Digi Kyokasho NK-R" panose="02020400000000000000" pitchFamily="18" charset="-128"/>
                        </a:rPr>
                        <a:t>CM</a:t>
                      </a:r>
                      <a:r>
                        <a:rPr lang="ja-JP" altLang="en-US" sz="2800" spc="-100" baseline="0">
                          <a:latin typeface="UD Digi Kyokasho NK-R" panose="02020400000000000000" pitchFamily="18" charset="-128"/>
                          <a:ea typeface="UD Digi Kyokasho NK-R" panose="02020400000000000000" pitchFamily="18" charset="-128"/>
                        </a:rPr>
                        <a:t>のあと驚きの鑑定結果が！ </a:t>
                      </a:r>
                      <a:endParaRPr lang="en-US" altLang="ja-JP" sz="2800" spc="-100" baseline="0" dirty="0">
                        <a:latin typeface="UD Digi Kyokasho NK-R" panose="02020400000000000000" pitchFamily="18" charset="-128"/>
                        <a:ea typeface="UD Digi Kyokasho NK-R" panose="02020400000000000000" pitchFamily="18" charset="-128"/>
                      </a:endParaRP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先生、純白かぁっ！</a:t>
                      </a:r>
                      <a:endParaRPr lang="en-US" altLang="ja-JP" sz="2800" spc="-100" baseline="0" dirty="0">
                        <a:latin typeface="UD Digi Kyokasho NK-R" panose="02020400000000000000" pitchFamily="18" charset="-128"/>
                        <a:ea typeface="UD Digi Kyokasho NK-R" panose="02020400000000000000" pitchFamily="18" charset="-128"/>
                      </a:endParaRP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いっ・・・生き返った！</a:t>
                      </a:r>
                    </a:p>
                  </a:txBody>
                  <a:tcPr/>
                </a:tc>
                <a:extLst>
                  <a:ext uri="{0D108BD9-81ED-4DB2-BD59-A6C34878D82A}">
                    <a16:rowId xmlns:a16="http://schemas.microsoft.com/office/drawing/2014/main" val="311803853"/>
                  </a:ext>
                </a:extLst>
              </a:tr>
            </a:tbl>
          </a:graphicData>
        </a:graphic>
      </p:graphicFrame>
      <p:pic>
        <p:nvPicPr>
          <p:cNvPr id="137" name="図 136">
            <a:extLst>
              <a:ext uri="{FF2B5EF4-FFF2-40B4-BE49-F238E27FC236}">
                <a16:creationId xmlns:a16="http://schemas.microsoft.com/office/drawing/2014/main" id="{42600E10-9E04-5B9B-4894-EED6541DC2E6}"/>
              </a:ext>
            </a:extLst>
          </p:cNvPr>
          <p:cNvPicPr>
            <a:picLocks noChangeAspect="1"/>
          </p:cNvPicPr>
          <p:nvPr/>
        </p:nvPicPr>
        <p:blipFill>
          <a:blip r:embed="rId36"/>
          <a:stretch>
            <a:fillRect/>
          </a:stretch>
        </p:blipFill>
        <p:spPr>
          <a:xfrm>
            <a:off x="2891352" y="36199002"/>
            <a:ext cx="2035519" cy="2035519"/>
          </a:xfrm>
          <a:prstGeom prst="rect">
            <a:avLst/>
          </a:prstGeom>
        </p:spPr>
      </p:pic>
      <p:pic>
        <p:nvPicPr>
          <p:cNvPr id="138" name="図 137">
            <a:extLst>
              <a:ext uri="{FF2B5EF4-FFF2-40B4-BE49-F238E27FC236}">
                <a16:creationId xmlns:a16="http://schemas.microsoft.com/office/drawing/2014/main" id="{70547861-6A36-B942-4DDA-50F8DCBE36EF}"/>
              </a:ext>
            </a:extLst>
          </p:cNvPr>
          <p:cNvPicPr>
            <a:picLocks noChangeAspect="1"/>
          </p:cNvPicPr>
          <p:nvPr/>
        </p:nvPicPr>
        <p:blipFill>
          <a:blip r:embed="rId44"/>
          <a:stretch>
            <a:fillRect/>
          </a:stretch>
        </p:blipFill>
        <p:spPr>
          <a:xfrm>
            <a:off x="9999399" y="36207383"/>
            <a:ext cx="2035519" cy="2035519"/>
          </a:xfrm>
          <a:prstGeom prst="rect">
            <a:avLst/>
          </a:prstGeom>
        </p:spPr>
      </p:pic>
    </p:spTree>
    <p:extLst>
      <p:ext uri="{BB962C8B-B14F-4D97-AF65-F5344CB8AC3E}">
        <p14:creationId xmlns:p14="http://schemas.microsoft.com/office/powerpoint/2010/main" val="406829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77C00F1B-B54B-9ADE-40B5-5B2FEA05E6A5}"/>
              </a:ext>
            </a:extLst>
          </p:cNvPr>
          <p:cNvSpPr/>
          <p:nvPr/>
        </p:nvSpPr>
        <p:spPr>
          <a:xfrm>
            <a:off x="232568" y="40523872"/>
            <a:ext cx="29775151" cy="1768016"/>
          </a:xfrm>
          <a:prstGeom prst="roundRect">
            <a:avLst>
              <a:gd name="adj" fmla="val 994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grpSp>
        <p:nvGrpSpPr>
          <p:cNvPr id="23" name="グループ化 22">
            <a:extLst>
              <a:ext uri="{FF2B5EF4-FFF2-40B4-BE49-F238E27FC236}">
                <a16:creationId xmlns:a16="http://schemas.microsoft.com/office/drawing/2014/main" id="{30CE2818-1843-6F2A-80B7-05612BF68763}"/>
              </a:ext>
            </a:extLst>
          </p:cNvPr>
          <p:cNvGrpSpPr/>
          <p:nvPr/>
        </p:nvGrpSpPr>
        <p:grpSpPr>
          <a:xfrm>
            <a:off x="232570" y="1480871"/>
            <a:ext cx="14911137" cy="4055173"/>
            <a:chOff x="232570" y="2529741"/>
            <a:chExt cx="14911137" cy="4055173"/>
          </a:xfrm>
        </p:grpSpPr>
        <p:sp>
          <p:nvSpPr>
            <p:cNvPr id="10" name="四角形: 角を丸くする 9">
              <a:extLst>
                <a:ext uri="{FF2B5EF4-FFF2-40B4-BE49-F238E27FC236}">
                  <a16:creationId xmlns:a16="http://schemas.microsoft.com/office/drawing/2014/main" id="{27C6F926-3906-9907-52EE-E1D4D4E5F520}"/>
                </a:ext>
              </a:extLst>
            </p:cNvPr>
            <p:cNvSpPr/>
            <p:nvPr/>
          </p:nvSpPr>
          <p:spPr>
            <a:xfrm>
              <a:off x="232570" y="2928093"/>
              <a:ext cx="14760000" cy="3656821"/>
            </a:xfrm>
            <a:prstGeom prst="roundRect">
              <a:avLst>
                <a:gd name="adj" fmla="val 6375"/>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latin typeface="UD デジタル 教科書体 NK-R" panose="02020400000000000000" pitchFamily="18" charset="-128"/>
                  <a:ea typeface="UD デジタル 教科書体 NK-R" panose="02020400000000000000" pitchFamily="18" charset="-128"/>
                </a:rPr>
                <a:t>目的</a:t>
              </a:r>
            </a:p>
          </p:txBody>
        </p:sp>
        <p:sp>
          <p:nvSpPr>
            <p:cNvPr id="18" name="四角形: 角を丸くする 17">
              <a:extLst>
                <a:ext uri="{FF2B5EF4-FFF2-40B4-BE49-F238E27FC236}">
                  <a16:creationId xmlns:a16="http://schemas.microsoft.com/office/drawing/2014/main" id="{83F891FC-763A-95C7-C6BF-CC832CB33667}"/>
                </a:ext>
              </a:extLst>
            </p:cNvPr>
            <p:cNvSpPr/>
            <p:nvPr/>
          </p:nvSpPr>
          <p:spPr>
            <a:xfrm>
              <a:off x="528326" y="2529741"/>
              <a:ext cx="3159050" cy="797855"/>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背景・目的</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18" name="テキスト ボックス 117">
              <a:extLst>
                <a:ext uri="{FF2B5EF4-FFF2-40B4-BE49-F238E27FC236}">
                  <a16:creationId xmlns:a16="http://schemas.microsoft.com/office/drawing/2014/main" id="{72956B3B-BA4D-7529-D417-26D2225646DE}"/>
                </a:ext>
              </a:extLst>
            </p:cNvPr>
            <p:cNvSpPr txBox="1"/>
            <p:nvPr/>
          </p:nvSpPr>
          <p:spPr>
            <a:xfrm>
              <a:off x="388899" y="3468067"/>
              <a:ext cx="14754808" cy="3108543"/>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背景</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近年</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の研究が盛んに行われている</a:t>
              </a:r>
              <a:r>
                <a:rPr lang="en-US" altLang="ja-JP" sz="2800" dirty="0">
                  <a:latin typeface="UD デジタル 教科書体 NK-R" panose="02020400000000000000" pitchFamily="18" charset="-128"/>
                  <a:ea typeface="UD デジタル 教科書体 NK-R" panose="02020400000000000000" pitchFamily="18" charset="-128"/>
                </a:rPr>
                <a:t>[1,2]</a:t>
              </a: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画像キャプションモデル</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の画像の特徴抽出機として，事前学習済みの画像認識モデルが</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使用される</a:t>
              </a:r>
              <a:r>
                <a:rPr lang="en-US" altLang="ja-JP" sz="2800" dirty="0">
                  <a:latin typeface="UD デジタル 教科書体 NK-R" panose="02020400000000000000" pitchFamily="18" charset="-128"/>
                  <a:ea typeface="UD デジタル 教科書体 NK-R" panose="02020400000000000000" pitchFamily="18" charset="-128"/>
                </a:rPr>
                <a:t>[1]</a:t>
              </a:r>
            </a:p>
            <a:p>
              <a:pPr marL="571500" indent="-571500">
                <a:buFont typeface="Arial" panose="020B0604020202020204" pitchFamily="34" charset="0"/>
                <a:buChar char="•"/>
              </a:pPr>
              <a:r>
                <a:rPr lang="ja-JP" altLang="en-US" sz="2800" spc="-200">
                  <a:latin typeface="UD デジタル 教科書体 NK-R" panose="02020400000000000000" pitchFamily="18" charset="-128"/>
                  <a:ea typeface="UD デジタル 教科書体 NK-R" panose="02020400000000000000" pitchFamily="18" charset="-128"/>
                </a:rPr>
                <a:t>画像キャプションモデルの画像の特徴抽出器として</a:t>
              </a:r>
              <a:r>
                <a:rPr lang="en-US" altLang="ja-JP" sz="2800" spc="-200" dirty="0" err="1">
                  <a:latin typeface="UD デジタル 教科書体 NK-R" panose="02020400000000000000" pitchFamily="18" charset="-128"/>
                  <a:ea typeface="UD デジタル 教科書体 NK-R" panose="02020400000000000000" pitchFamily="18" charset="-128"/>
                </a:rPr>
                <a:t>AutoEncoder</a:t>
              </a:r>
              <a:r>
                <a:rPr lang="ja-JP" altLang="en-US" sz="2800" spc="-200">
                  <a:latin typeface="UD デジタル 教科書体 NK-R" panose="02020400000000000000" pitchFamily="18" charset="-128"/>
                  <a:ea typeface="UD デジタル 教科書体 NK-R" panose="02020400000000000000" pitchFamily="18" charset="-128"/>
                </a:rPr>
                <a:t>のエンコーダを用いる方法を提案</a:t>
              </a:r>
              <a:r>
                <a:rPr lang="en-US" altLang="ja-JP" sz="2800" spc="-200" dirty="0">
                  <a:latin typeface="UD デジタル 教科書体 NK-R" panose="02020400000000000000" pitchFamily="18" charset="-128"/>
                  <a:ea typeface="UD デジタル 教科書体 NK-R" panose="02020400000000000000" pitchFamily="18" charset="-128"/>
                </a:rPr>
                <a:t>[2]</a:t>
              </a:r>
            </a:p>
            <a:p>
              <a:r>
                <a:rPr lang="ja-JP" altLang="en-US" sz="2800">
                  <a:latin typeface="UD デジタル 教科書体 NK-R" panose="02020400000000000000" pitchFamily="18" charset="-128"/>
                  <a:ea typeface="UD デジタル 教科書体 NK-R" panose="02020400000000000000" pitchFamily="18" charset="-128"/>
                </a:rPr>
                <a:t>目的</a:t>
              </a:r>
              <a:endParaRPr lang="en-US" altLang="ja-JP" sz="2800" dirty="0">
                <a:latin typeface="UD デジタル 教科書体 NK-R" panose="02020400000000000000" pitchFamily="18" charset="-128"/>
                <a:ea typeface="UD デジタル 教科書体 NK-R" panose="02020400000000000000" pitchFamily="18" charset="-128"/>
              </a:endParaRPr>
            </a:p>
            <a:p>
              <a:pPr marL="457200" indent="-457200">
                <a:buFont typeface="Arial" panose="020B0604020202020204" pitchFamily="34" charset="0"/>
                <a:buChar char="•"/>
              </a:pPr>
              <a:r>
                <a:rPr lang="ja-JP" altLang="en-US" sz="2800" spc="-100">
                  <a:latin typeface="UD デジタル 教科書体 NK-R" panose="02020400000000000000" pitchFamily="18" charset="-128"/>
                  <a:ea typeface="UD デジタル 教科書体 NK-R" panose="02020400000000000000" pitchFamily="18" charset="-128"/>
                </a:rPr>
                <a:t>大喜利生成</a:t>
              </a:r>
              <a:r>
                <a:rPr lang="en-US" altLang="ja-JP" sz="2800" spc="-100" dirty="0">
                  <a:latin typeface="UD デジタル 教科書体 NK-R" panose="02020400000000000000" pitchFamily="18" charset="-128"/>
                  <a:ea typeface="UD デジタル 教科書体 NK-R" panose="02020400000000000000" pitchFamily="18" charset="-128"/>
                </a:rPr>
                <a:t>AI</a:t>
              </a:r>
              <a:r>
                <a:rPr lang="ja-JP" altLang="en-US" sz="2800" spc="-100">
                  <a:latin typeface="UD デジタル 教科書体 NK-R" panose="02020400000000000000" pitchFamily="18" charset="-128"/>
                  <a:ea typeface="UD デジタル 教科書体 NK-R" panose="02020400000000000000" pitchFamily="18" charset="-128"/>
                </a:rPr>
                <a:t>の画像の特徴抽出機として適した</a:t>
              </a:r>
              <a:r>
                <a:rPr lang="en-US" altLang="ja-JP" sz="2800" spc="-100" dirty="0" err="1">
                  <a:latin typeface="UD デジタル 教科書体 NK-R" panose="02020400000000000000" pitchFamily="18" charset="-128"/>
                  <a:ea typeface="UD デジタル 教科書体 NK-R" panose="02020400000000000000" pitchFamily="18" charset="-128"/>
                </a:rPr>
                <a:t>AutoEncoder</a:t>
              </a:r>
              <a:r>
                <a:rPr lang="ja-JP" altLang="en-US" sz="2800" spc="-100">
                  <a:latin typeface="UD デジタル 教科書体 NK-R" panose="02020400000000000000" pitchFamily="18" charset="-128"/>
                  <a:ea typeface="UD デジタル 教科書体 NK-R" panose="02020400000000000000" pitchFamily="18" charset="-128"/>
                </a:rPr>
                <a:t>の構造を模索する</a:t>
              </a:r>
              <a:endParaRPr lang="ja-JP" altLang="en-US" sz="2800" spc="-100" dirty="0">
                <a:latin typeface="UD デジタル 教科書体 NK-R" panose="02020400000000000000" pitchFamily="18" charset="-128"/>
                <a:ea typeface="UD デジタル 教科書体 NK-R" panose="02020400000000000000" pitchFamily="18" charset="-128"/>
              </a:endParaRPr>
            </a:p>
          </p:txBody>
        </p:sp>
      </p:grpSp>
      <p:grpSp>
        <p:nvGrpSpPr>
          <p:cNvPr id="8" name="グループ化 7">
            <a:extLst>
              <a:ext uri="{FF2B5EF4-FFF2-40B4-BE49-F238E27FC236}">
                <a16:creationId xmlns:a16="http://schemas.microsoft.com/office/drawing/2014/main" id="{D217D156-E69B-2BDF-A462-41E6CA149116}"/>
              </a:ext>
            </a:extLst>
          </p:cNvPr>
          <p:cNvGrpSpPr/>
          <p:nvPr/>
        </p:nvGrpSpPr>
        <p:grpSpPr>
          <a:xfrm>
            <a:off x="885984" y="-73015"/>
            <a:ext cx="28346400" cy="1683875"/>
            <a:chOff x="946944" y="353705"/>
            <a:chExt cx="28346400" cy="1683875"/>
          </a:xfrm>
        </p:grpSpPr>
        <p:sp>
          <p:nvSpPr>
            <p:cNvPr id="6" name="テキスト ボックス 5">
              <a:extLst>
                <a:ext uri="{FF2B5EF4-FFF2-40B4-BE49-F238E27FC236}">
                  <a16:creationId xmlns:a16="http://schemas.microsoft.com/office/drawing/2014/main" id="{D0F93D02-78A6-D657-0BA1-CF2B85B44883}"/>
                </a:ext>
              </a:extLst>
            </p:cNvPr>
            <p:cNvSpPr txBox="1"/>
            <p:nvPr/>
          </p:nvSpPr>
          <p:spPr>
            <a:xfrm>
              <a:off x="946944" y="353705"/>
              <a:ext cx="28346400" cy="830997"/>
            </a:xfrm>
            <a:prstGeom prst="rect">
              <a:avLst/>
            </a:prstGeom>
            <a:noFill/>
          </p:spPr>
          <p:txBody>
            <a:bodyPr wrap="square">
              <a:spAutoFit/>
            </a:bodyPr>
            <a:lstStyle/>
            <a:p>
              <a:pPr algn="ctr"/>
              <a:r>
                <a:rPr kumimoji="1" lang="ja-JP" altLang="en-US" sz="4800">
                  <a:latin typeface="UD デジタル 教科書体 NK-R" panose="02020400000000000000" pitchFamily="18" charset="-128"/>
                  <a:ea typeface="UD デジタル 教科書体 NK-R" panose="02020400000000000000" pitchFamily="18" charset="-128"/>
                </a:rPr>
                <a:t>大喜利生成</a:t>
              </a:r>
              <a:r>
                <a:rPr kumimoji="1" lang="en-US" altLang="ja-JP" sz="4800" dirty="0">
                  <a:latin typeface="UD デジタル 教科書体 NK-R" panose="02020400000000000000" pitchFamily="18" charset="-128"/>
                  <a:ea typeface="UD デジタル 教科書体 NK-R" panose="02020400000000000000" pitchFamily="18" charset="-128"/>
                </a:rPr>
                <a:t>AI</a:t>
              </a:r>
              <a:r>
                <a:rPr kumimoji="1" lang="ja-JP" altLang="en-US" sz="4800">
                  <a:latin typeface="UD デジタル 教科書体 NK-R" panose="02020400000000000000" pitchFamily="18" charset="-128"/>
                  <a:ea typeface="UD デジタル 教科書体 NK-R" panose="02020400000000000000" pitchFamily="18" charset="-128"/>
                </a:rPr>
                <a:t>に適した</a:t>
              </a:r>
              <a:r>
                <a:rPr kumimoji="1" lang="en-US" altLang="ja-JP" sz="4800" dirty="0" err="1">
                  <a:latin typeface="UD デジタル 教科書体 NK-R" panose="02020400000000000000" pitchFamily="18" charset="-128"/>
                  <a:ea typeface="UD デジタル 教科書体 NK-R" panose="02020400000000000000" pitchFamily="18" charset="-128"/>
                </a:rPr>
                <a:t>AutoEncoder</a:t>
              </a:r>
              <a:r>
                <a:rPr kumimoji="1" lang="ja-JP" altLang="en-US" sz="4800">
                  <a:latin typeface="UD デジタル 教科書体 NK-R" panose="02020400000000000000" pitchFamily="18" charset="-128"/>
                  <a:ea typeface="UD デジタル 教科書体 NK-R" panose="02020400000000000000" pitchFamily="18" charset="-128"/>
                </a:rPr>
                <a:t>に関する研究</a:t>
              </a:r>
              <a:endParaRPr lang="ja-JP" altLang="en-US" sz="48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078920E-DE64-22FA-4A80-4CD39FAE4327}"/>
                    </a:ext>
                  </a:extLst>
                </p:cNvPr>
                <p:cNvSpPr txBox="1"/>
                <p:nvPr/>
              </p:nvSpPr>
              <p:spPr>
                <a:xfrm>
                  <a:off x="946944" y="1193246"/>
                  <a:ext cx="28346400" cy="844334"/>
                </a:xfrm>
                <a:prstGeom prst="rect">
                  <a:avLst/>
                </a:prstGeom>
                <a:noFill/>
              </p:spPr>
              <p:txBody>
                <a:bodyPr wrap="square">
                  <a:spAutoFit/>
                </a:bodyPr>
                <a:lstStyle/>
                <a:p>
                  <a:pPr algn="ctr"/>
                  <a:r>
                    <a:rPr kumimoji="1" lang="ja-JP" altLang="en-US" sz="4800" dirty="0">
                      <a:latin typeface="UD デジタル 教科書体 NK-R" panose="02020400000000000000" pitchFamily="18" charset="-128"/>
                      <a:ea typeface="UD デジタル 教科書体 NK-R" panose="02020400000000000000" pitchFamily="18" charset="-128"/>
                    </a:rPr>
                    <a:t>〇山富 龍</a:t>
                  </a:r>
                  <a14:m>
                    <m:oMath xmlns:m="http://schemas.openxmlformats.org/officeDocument/2006/math">
                      <m:sSup>
                        <m:sSupPr>
                          <m:ctrlPr>
                            <a:rPr kumimoji="1" lang="en-US" altLang="ja-JP" sz="4800" i="1" dirty="0" smtClean="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b="0" i="1" dirty="0" smtClean="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マハブービ シェヘラザード</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kumimoji="1" lang="en-US" altLang="ja-JP"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 二宮 洋</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r>
                    <a:rPr kumimoji="1" lang="ja-JP" altLang="en-US" sz="4800" dirty="0">
                      <a:latin typeface="UD デジタル 教科書体 NK-R" panose="02020400000000000000" pitchFamily="18" charset="-128"/>
                      <a:ea typeface="UD デジタル 教科書体 NK-R" panose="02020400000000000000" pitchFamily="18" charset="-128"/>
                    </a:rPr>
                    <a:t>湘南工科大学</a:t>
                  </a:r>
                  <a14:m>
                    <m:oMath xmlns:m="http://schemas.openxmlformats.org/officeDocument/2006/math">
                      <m:sSup>
                        <m:sSupPr>
                          <m:ctrlPr>
                            <a:rPr kumimoji="1" lang="en-US" altLang="ja-JP" sz="4800" i="1" dirty="0">
                              <a:latin typeface="Cambria Math" panose="02040503050406030204" pitchFamily="18" charset="0"/>
                            </a:rPr>
                          </m:ctrlPr>
                        </m:sSupPr>
                        <m:e>
                          <m:r>
                            <a:rPr kumimoji="1" lang="ja-JP" altLang="en-US" sz="4800" i="1" dirty="0">
                              <a:latin typeface="Cambria Math" panose="02040503050406030204" pitchFamily="18" charset="0"/>
                            </a:rPr>
                            <m:t> </m:t>
                          </m:r>
                        </m:e>
                        <m:sup>
                          <m:r>
                            <a:rPr kumimoji="1" lang="en-US" altLang="ja-JP" sz="4800" i="1" dirty="0">
                              <a:latin typeface="Cambria Math" panose="02040503050406030204" pitchFamily="18" charset="0"/>
                            </a:rPr>
                            <m:t>1</m:t>
                          </m:r>
                        </m:sup>
                      </m:sSup>
                    </m:oMath>
                  </a14:m>
                  <a:r>
                    <a:rPr lang="ja-JP" altLang="en-US" sz="4800" dirty="0">
                      <a:latin typeface="UD デジタル 教科書体 NK-R" panose="02020400000000000000" pitchFamily="18" charset="-128"/>
                      <a:ea typeface="UD デジタル 教科書体 NK-R" panose="02020400000000000000" pitchFamily="18" charset="-128"/>
                    </a:rPr>
                    <a:t>）</a:t>
                  </a:r>
                </a:p>
              </p:txBody>
            </p:sp>
          </mc:Choice>
          <mc:Fallback xmlns="">
            <p:sp>
              <p:nvSpPr>
                <p:cNvPr id="7" name="テキスト ボックス 6">
                  <a:extLst>
                    <a:ext uri="{FF2B5EF4-FFF2-40B4-BE49-F238E27FC236}">
                      <a16:creationId xmlns:a16="http://schemas.microsoft.com/office/drawing/2014/main" id="{9078920E-DE64-22FA-4A80-4CD39FAE4327}"/>
                    </a:ext>
                  </a:extLst>
                </p:cNvPr>
                <p:cNvSpPr txBox="1">
                  <a:spLocks noRot="1" noChangeAspect="1" noMove="1" noResize="1" noEditPoints="1" noAdjustHandles="1" noChangeArrowheads="1" noChangeShapeType="1" noTextEdit="1"/>
                </p:cNvSpPr>
                <p:nvPr/>
              </p:nvSpPr>
              <p:spPr>
                <a:xfrm>
                  <a:off x="946944" y="1193246"/>
                  <a:ext cx="28346400" cy="844334"/>
                </a:xfrm>
                <a:prstGeom prst="rect">
                  <a:avLst/>
                </a:prstGeom>
                <a:blipFill>
                  <a:blip r:embed="rId3"/>
                  <a:stretch>
                    <a:fillRect t="-15217" b="-37681"/>
                  </a:stretch>
                </a:blipFill>
              </p:spPr>
              <p:txBody>
                <a:bodyPr/>
                <a:lstStyle/>
                <a:p>
                  <a:r>
                    <a:rPr lang="ja-JP" altLang="en-US">
                      <a:noFill/>
                    </a:rPr>
                    <a:t> </a:t>
                  </a:r>
                </a:p>
              </p:txBody>
            </p:sp>
          </mc:Fallback>
        </mc:AlternateContent>
      </p:grpSp>
      <p:grpSp>
        <p:nvGrpSpPr>
          <p:cNvPr id="29" name="グループ化 28">
            <a:extLst>
              <a:ext uri="{FF2B5EF4-FFF2-40B4-BE49-F238E27FC236}">
                <a16:creationId xmlns:a16="http://schemas.microsoft.com/office/drawing/2014/main" id="{CE582D28-B8C7-184A-8907-3F8DB7980B3A}"/>
              </a:ext>
            </a:extLst>
          </p:cNvPr>
          <p:cNvGrpSpPr/>
          <p:nvPr/>
        </p:nvGrpSpPr>
        <p:grpSpPr>
          <a:xfrm>
            <a:off x="212937" y="5750285"/>
            <a:ext cx="14760000" cy="10950880"/>
            <a:chOff x="191499" y="4380114"/>
            <a:chExt cx="14760000" cy="10950880"/>
          </a:xfrm>
        </p:grpSpPr>
        <p:sp>
          <p:nvSpPr>
            <p:cNvPr id="30" name="四角形: 角を丸くする 29">
              <a:extLst>
                <a:ext uri="{FF2B5EF4-FFF2-40B4-BE49-F238E27FC236}">
                  <a16:creationId xmlns:a16="http://schemas.microsoft.com/office/drawing/2014/main" id="{3337E6AE-FD4C-7BA6-9BB0-42A2F8FA8691}"/>
                </a:ext>
              </a:extLst>
            </p:cNvPr>
            <p:cNvSpPr/>
            <p:nvPr/>
          </p:nvSpPr>
          <p:spPr>
            <a:xfrm>
              <a:off x="191499" y="4755866"/>
              <a:ext cx="14760000" cy="10469908"/>
            </a:xfrm>
            <a:prstGeom prst="roundRect">
              <a:avLst>
                <a:gd name="adj" fmla="val 245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31" name="四角形: 角を丸くする 30">
              <a:extLst>
                <a:ext uri="{FF2B5EF4-FFF2-40B4-BE49-F238E27FC236}">
                  <a16:creationId xmlns:a16="http://schemas.microsoft.com/office/drawing/2014/main" id="{946408B4-3F6B-5E5B-91E5-DE0AC41DEBB8}"/>
                </a:ext>
              </a:extLst>
            </p:cNvPr>
            <p:cNvSpPr/>
            <p:nvPr/>
          </p:nvSpPr>
          <p:spPr>
            <a:xfrm>
              <a:off x="506889" y="4380114"/>
              <a:ext cx="7158348" cy="768330"/>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画像キャプションモデル</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[3]</a:t>
              </a:r>
            </a:p>
          </p:txBody>
        </p: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7D06BDE7-BADC-0589-E24F-85B1071B5196}"/>
                    </a:ext>
                  </a:extLst>
                </p:cNvPr>
                <p:cNvSpPr txBox="1"/>
                <p:nvPr/>
              </p:nvSpPr>
              <p:spPr>
                <a:xfrm>
                  <a:off x="318217" y="5759143"/>
                  <a:ext cx="14633281" cy="9571851"/>
                </a:xfrm>
                <a:prstGeom prst="rect">
                  <a:avLst/>
                </a:prstGeom>
                <a:noFill/>
              </p:spPr>
              <p:txBody>
                <a:bodyPr wrap="square">
                  <a:spAutoFit/>
                </a:bodyPr>
                <a:lstStyle/>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画像</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𝑤</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文章の</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番目の単語</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𝑟</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時点の内部状態</a:t>
                  </a:r>
                  <a:endParaRPr kumimoji="1" lang="en-US" altLang="ja-JP" sz="2800" dirty="0">
                    <a:latin typeface="UD Digi Kyokasho NK-R" panose="02020400000000000000" pitchFamily="18" charset="-128"/>
                    <a:ea typeface="UD Digi Kyokasho NK-R" panose="02020400000000000000" pitchFamily="18" charset="-128"/>
                  </a:endParaRPr>
                </a:p>
                <a:p>
                  <a:pPr lvl="1"/>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spc="-100">
                      <a:solidFill>
                        <a:srgbClr val="FF0000"/>
                      </a:solidFill>
                      <a:latin typeface="UD Digi Kyokasho NK-R" panose="02020400000000000000" pitchFamily="18" charset="-128"/>
                      <a:ea typeface="UD Digi Kyokasho NK-R" panose="02020400000000000000" pitchFamily="18" charset="-128"/>
                    </a:rPr>
                    <a:t>画像のエンコーダ</a:t>
                  </a:r>
                  <a:r>
                    <a:rPr kumimoji="1" lang="ja-JP" altLang="en-US" sz="2800" spc="-100">
                      <a:latin typeface="UD Digi Kyokasho NK-R" panose="02020400000000000000" pitchFamily="18" charset="-128"/>
                      <a:ea typeface="UD Digi Kyokasho NK-R" panose="02020400000000000000" pitchFamily="18" charset="-128"/>
                    </a:rPr>
                    <a:t>として事前学習済みの画像認識モデルが一般的に使用される</a:t>
                  </a:r>
                  <a:endParaRPr kumimoji="1" lang="en-US" altLang="ja-JP" sz="2800" spc="-100" dirty="0">
                    <a:latin typeface="UD Digi Kyokasho NK-R" panose="02020400000000000000" pitchFamily="18" charset="-128"/>
                    <a:ea typeface="UD Digi Kyokasho NK-R" panose="02020400000000000000" pitchFamily="18" charset="-128"/>
                  </a:endParaRPr>
                </a:p>
                <a:p>
                  <a:pPr lvl="1"/>
                  <a:r>
                    <a:rPr kumimoji="1" lang="ja-JP" altLang="en-US" sz="2800" spc="-100">
                      <a:latin typeface="UD Digi Kyokasho NK-R" panose="02020400000000000000" pitchFamily="18" charset="-128"/>
                      <a:ea typeface="UD Digi Kyokasho NK-R" panose="02020400000000000000" pitchFamily="18" charset="-128"/>
                    </a:rPr>
                    <a:t>メリット</a:t>
                  </a:r>
                  <a:endParaRPr kumimoji="1" lang="en-US" altLang="ja-JP" sz="2800" spc="-1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画像のエンコーダを学習しないため，計算コストが低い</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en-US" altLang="ja-JP" sz="2800" dirty="0">
                      <a:latin typeface="UD Digi Kyokasho NK-R" panose="02020400000000000000" pitchFamily="18" charset="-128"/>
                      <a:ea typeface="UD Digi Kyokasho NK-R" panose="02020400000000000000" pitchFamily="18" charset="-128"/>
                    </a:rPr>
                    <a:t>ImageNet</a:t>
                  </a:r>
                  <a:r>
                    <a:rPr kumimoji="1" lang="ja-JP" altLang="en-US" sz="2800">
                      <a:latin typeface="UD Digi Kyokasho NK-R" panose="02020400000000000000" pitchFamily="18" charset="-128"/>
                      <a:ea typeface="UD Digi Kyokasho NK-R" panose="02020400000000000000" pitchFamily="18" charset="-128"/>
                    </a:rPr>
                    <a:t>のような大規模なデータで学習しており，　　　　　　　　　　　　　　　　　　　　　　　　　　　　　幅広い種類の画像に対応できることが期待できる</a:t>
                  </a:r>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a:latin typeface="UD Digi Kyokasho NK-R" panose="02020400000000000000" pitchFamily="18" charset="-128"/>
                      <a:ea typeface="UD Digi Kyokasho NK-R" panose="02020400000000000000" pitchFamily="18" charset="-128"/>
                    </a:rPr>
                    <a:t>デメリット</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事前学習済みモデルの再学習には画像に対する</a:t>
                  </a:r>
                  <a:r>
                    <a:rPr kumimoji="1" lang="ja-JP" altLang="en-US" sz="2800">
                      <a:solidFill>
                        <a:srgbClr val="00B0F0"/>
                      </a:solidFill>
                      <a:latin typeface="UD Digi Kyokasho NK-R" panose="02020400000000000000" pitchFamily="18" charset="-128"/>
                      <a:ea typeface="UD Digi Kyokasho NK-R" panose="02020400000000000000" pitchFamily="18" charset="-128"/>
                    </a:rPr>
                    <a:t>アノテーションが必要</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ja-JP" altLang="en-US" sz="2800">
                      <a:solidFill>
                        <a:srgbClr val="00B0F0"/>
                      </a:solidFill>
                      <a:latin typeface="UD Digi Kyokasho NK-R" panose="02020400000000000000" pitchFamily="18" charset="-128"/>
                      <a:ea typeface="UD Digi Kyokasho NK-R" panose="02020400000000000000" pitchFamily="18" charset="-128"/>
                    </a:rPr>
                    <a:t>パラメータ数が膨大</a:t>
                  </a:r>
                  <a:r>
                    <a:rPr kumimoji="1" lang="ja-JP" altLang="en-US" sz="2800">
                      <a:latin typeface="UD Digi Kyokasho NK-R" panose="02020400000000000000" pitchFamily="18" charset="-128"/>
                      <a:ea typeface="UD Digi Kyokasho NK-R" panose="02020400000000000000" pitchFamily="18" charset="-128"/>
                    </a:rPr>
                    <a:t>かつ</a:t>
                  </a:r>
                  <a:r>
                    <a:rPr kumimoji="1" lang="en-US" altLang="ja-JP" sz="2800" dirty="0">
                      <a:latin typeface="UD Digi Kyokasho NK-R" panose="02020400000000000000" pitchFamily="18" charset="-128"/>
                      <a:ea typeface="UD Digi Kyokasho NK-R" panose="02020400000000000000" pitchFamily="18" charset="-128"/>
                    </a:rPr>
                    <a:t>, </a:t>
                  </a:r>
                  <a:r>
                    <a:rPr kumimoji="1" lang="ja-JP" altLang="en-US" sz="2800">
                      <a:latin typeface="UD Digi Kyokasho NK-R" panose="02020400000000000000" pitchFamily="18" charset="-128"/>
                      <a:ea typeface="UD Digi Kyokasho NK-R" panose="02020400000000000000" pitchFamily="18" charset="-128"/>
                    </a:rPr>
                    <a:t>任意に</a:t>
                  </a:r>
                  <a:r>
                    <a:rPr kumimoji="1" lang="ja-JP" altLang="en-US" sz="2800">
                      <a:solidFill>
                        <a:srgbClr val="00B0F0"/>
                      </a:solidFill>
                      <a:latin typeface="UD Digi Kyokasho NK-R" panose="02020400000000000000" pitchFamily="18" charset="-128"/>
                      <a:ea typeface="UD Digi Kyokasho NK-R" panose="02020400000000000000" pitchFamily="18" charset="-128"/>
                    </a:rPr>
                    <a:t>構造を変更できない</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p:txBody>
            </p:sp>
          </mc:Choice>
          <mc:Fallback xmlns="">
            <p:sp>
              <p:nvSpPr>
                <p:cNvPr id="32" name="テキスト ボックス 31">
                  <a:extLst>
                    <a:ext uri="{FF2B5EF4-FFF2-40B4-BE49-F238E27FC236}">
                      <a16:creationId xmlns:a16="http://schemas.microsoft.com/office/drawing/2014/main" id="{7D06BDE7-BADC-0589-E24F-85B1071B5196}"/>
                    </a:ext>
                  </a:extLst>
                </p:cNvPr>
                <p:cNvSpPr txBox="1">
                  <a:spLocks noRot="1" noChangeAspect="1" noMove="1" noResize="1" noEditPoints="1" noAdjustHandles="1" noChangeArrowheads="1" noChangeShapeType="1" noTextEdit="1"/>
                </p:cNvSpPr>
                <p:nvPr/>
              </p:nvSpPr>
              <p:spPr>
                <a:xfrm>
                  <a:off x="318217" y="5759143"/>
                  <a:ext cx="14633281" cy="9571851"/>
                </a:xfrm>
                <a:prstGeom prst="rect">
                  <a:avLst/>
                </a:prstGeom>
                <a:blipFill>
                  <a:blip r:embed="rId4"/>
                  <a:stretch>
                    <a:fillRect b="-795"/>
                  </a:stretch>
                </a:blipFill>
              </p:spPr>
              <p:txBody>
                <a:bodyPr/>
                <a:lstStyle/>
                <a:p>
                  <a:r>
                    <a:rPr lang="ja-JP" altLang="en-US">
                      <a:noFill/>
                    </a:rPr>
                    <a:t> </a:t>
                  </a:r>
                </a:p>
              </p:txBody>
            </p:sp>
          </mc:Fallback>
        </mc:AlternateContent>
      </p:grpSp>
      <p:grpSp>
        <p:nvGrpSpPr>
          <p:cNvPr id="34" name="グループ化 33">
            <a:extLst>
              <a:ext uri="{FF2B5EF4-FFF2-40B4-BE49-F238E27FC236}">
                <a16:creationId xmlns:a16="http://schemas.microsoft.com/office/drawing/2014/main" id="{C7FB90F9-473B-DBE3-6A8B-8777B7E770FE}"/>
              </a:ext>
            </a:extLst>
          </p:cNvPr>
          <p:cNvGrpSpPr/>
          <p:nvPr/>
        </p:nvGrpSpPr>
        <p:grpSpPr>
          <a:xfrm>
            <a:off x="15242062" y="1551208"/>
            <a:ext cx="14760000" cy="38726405"/>
            <a:chOff x="232568" y="5248316"/>
            <a:chExt cx="14760000" cy="38726405"/>
          </a:xfrm>
        </p:grpSpPr>
        <p:sp>
          <p:nvSpPr>
            <p:cNvPr id="35" name="四角形: 角を丸くする 34">
              <a:extLst>
                <a:ext uri="{FF2B5EF4-FFF2-40B4-BE49-F238E27FC236}">
                  <a16:creationId xmlns:a16="http://schemas.microsoft.com/office/drawing/2014/main" id="{47EECEA1-1146-F75F-B958-C642FAF77E57}"/>
                </a:ext>
              </a:extLst>
            </p:cNvPr>
            <p:cNvSpPr/>
            <p:nvPr/>
          </p:nvSpPr>
          <p:spPr>
            <a:xfrm>
              <a:off x="232568" y="5607879"/>
              <a:ext cx="14760000" cy="38366842"/>
            </a:xfrm>
            <a:prstGeom prst="roundRect">
              <a:avLst>
                <a:gd name="adj" fmla="val 994"/>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36" name="四角形: 角を丸くする 35">
              <a:extLst>
                <a:ext uri="{FF2B5EF4-FFF2-40B4-BE49-F238E27FC236}">
                  <a16:creationId xmlns:a16="http://schemas.microsoft.com/office/drawing/2014/main" id="{7F035820-E432-DA19-702C-74373820AD4B}"/>
                </a:ext>
              </a:extLst>
            </p:cNvPr>
            <p:cNvSpPr/>
            <p:nvPr/>
          </p:nvSpPr>
          <p:spPr>
            <a:xfrm>
              <a:off x="506888" y="5248316"/>
              <a:ext cx="1528972" cy="797856"/>
            </a:xfrm>
            <a:prstGeom prst="roundRect">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実験</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3CBE4EA-6A45-2DF9-9C9B-750731A73354}"/>
                    </a:ext>
                  </a:extLst>
                </p:cNvPr>
                <p:cNvSpPr txBox="1"/>
                <p:nvPr/>
              </p:nvSpPr>
              <p:spPr>
                <a:xfrm>
                  <a:off x="350132" y="6188617"/>
                  <a:ext cx="14499166" cy="22939100"/>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実験目的</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で使用されている</a:t>
                  </a:r>
                  <a:r>
                    <a:rPr lang="en-US" altLang="ja-JP" sz="2800" dirty="0">
                      <a:latin typeface="UD デジタル 教科書体 NK-R" panose="02020400000000000000" pitchFamily="18" charset="-128"/>
                      <a:ea typeface="UD デジタル 教科書体 NK-R" panose="02020400000000000000" pitchFamily="18" charset="-128"/>
                    </a:rPr>
                    <a:t>ResNet152</a:t>
                  </a:r>
                  <a:r>
                    <a:rPr lang="ja-JP" altLang="en-US" sz="2800">
                      <a:latin typeface="UD デジタル 教科書体 NK-R" panose="02020400000000000000" pitchFamily="18" charset="-128"/>
                      <a:ea typeface="UD デジタル 教科書体 NK-R" panose="02020400000000000000" pitchFamily="18" charset="-128"/>
                    </a:rPr>
                    <a:t>のパラメータ数</a:t>
                  </a:r>
                  <a:r>
                    <a:rPr lang="en-US" altLang="ja-JP" sz="2800" dirty="0">
                      <a:latin typeface="UD デジタル 教科書体 NK-R" panose="02020400000000000000" pitchFamily="18" charset="-128"/>
                      <a:ea typeface="UD デジタル 教科書体 NK-R" panose="02020400000000000000" pitchFamily="18" charset="-128"/>
                    </a:rPr>
                    <a:t>58,370,944</a:t>
                  </a:r>
                  <a:r>
                    <a:rPr lang="ja-JP" altLang="en-US" sz="2800">
                      <a:latin typeface="UD デジタル 教科書体 NK-R" panose="02020400000000000000" pitchFamily="18" charset="-128"/>
                      <a:ea typeface="UD デジタル 教科書体 NK-R" panose="02020400000000000000" pitchFamily="18" charset="-128"/>
                    </a:rPr>
                    <a:t>よりパラメータ数が少なく，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高性能な</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のエンコーダを模索</a:t>
                  </a:r>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 : </a:t>
                  </a:r>
                  <a:r>
                    <a:rPr lang="ja-JP" altLang="en-US" sz="2800">
                      <a:latin typeface="UD デジタル 教科書体 NK-R" panose="02020400000000000000" pitchFamily="18" charset="-128"/>
                      <a:ea typeface="UD デジタル 教科書体 NK-R" panose="02020400000000000000" pitchFamily="18" charset="-128"/>
                    </a:rPr>
                    <a:t>畳み込み層の数を変更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ネットワークの初期値を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 </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特徴量次元数</a:t>
                  </a:r>
                  <a:r>
                    <a:rPr lang="en-US" altLang="ja-JP" sz="2800" dirty="0">
                      <a:latin typeface="UD デジタル 教科書体 NK-R" panose="02020400000000000000" pitchFamily="18" charset="-128"/>
                      <a:ea typeface="UD デジタル 教科書体 NK-R" panose="02020400000000000000" pitchFamily="18" charset="-128"/>
                    </a:rPr>
                    <a:t> : 2048</a:t>
                  </a:r>
                </a:p>
                <a:p>
                  <a:pPr lvl="1"/>
                  <a:r>
                    <a:rPr lang="ja-JP" altLang="en-US" sz="2800" spc="-100">
                      <a:latin typeface="UD デジタル 教科書体 NK-R" panose="02020400000000000000" pitchFamily="18" charset="-128"/>
                      <a:ea typeface="UD デジタル 教科書体 NK-R" panose="02020400000000000000" pitchFamily="18" charset="-128"/>
                    </a:rPr>
                    <a:t>フィルター数</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pc="-100" smtClean="0">
                              <a:latin typeface="Cambria Math" panose="02040503050406030204" pitchFamily="18" charset="0"/>
                              <a:ea typeface="UD デジタル 教科書体 NK-R" panose="02020400000000000000" pitchFamily="18" charset="-128"/>
                            </a:rPr>
                          </m:ctrlPr>
                        </m:sSupPr>
                        <m:e>
                          <m:r>
                            <a:rPr lang="en-US" altLang="ja-JP" sz="2800" b="0" i="1" spc="-100" smtClean="0">
                              <a:latin typeface="Cambria Math" panose="02040503050406030204" pitchFamily="18" charset="0"/>
                              <a:ea typeface="UD デジタル 教科書体 NK-R" panose="02020400000000000000" pitchFamily="18" charset="-128"/>
                            </a:rPr>
                            <m:t>2</m:t>
                          </m:r>
                        </m:e>
                        <m:sup>
                          <m:r>
                            <a:rPr lang="en-US" altLang="ja-JP" sz="2800" b="0" i="1" spc="-100" smtClean="0">
                              <a:latin typeface="Cambria Math" panose="02040503050406030204" pitchFamily="18" charset="0"/>
                              <a:ea typeface="UD デジタル 教科書体 NK-R" panose="02020400000000000000" pitchFamily="18" charset="-128"/>
                            </a:rPr>
                            <m:t>5+</m:t>
                          </m:r>
                          <m:r>
                            <a:rPr lang="en-US" altLang="ja-JP" sz="2800" b="0" i="1" spc="-100" smtClean="0">
                              <a:latin typeface="Cambria Math" panose="02040503050406030204" pitchFamily="18" charset="0"/>
                              <a:ea typeface="UD デジタル 教科書体 NK-R" panose="02020400000000000000" pitchFamily="18" charset="-128"/>
                            </a:rPr>
                            <m:t>𝐿</m:t>
                          </m:r>
                        </m:sup>
                      </m:sSup>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カーネルサイズ</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3</m:t>
                      </m:r>
                      <m:r>
                        <a:rPr lang="en-US" altLang="ja-JP" sz="2800" b="0" i="1" spc="-100" smtClean="0">
                          <a:latin typeface="Cambria Math" panose="02040503050406030204" pitchFamily="18" charset="0"/>
                          <a:ea typeface="Cambria Math" panose="02040503050406030204" pitchFamily="18" charset="0"/>
                        </a:rPr>
                        <m:t>×3</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ストライド</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2</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活性化関数</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𝐿𝑒𝑎𝑘𝑦𝑅𝑒𝐿𝑈</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spc="-100">
                          <a:latin typeface="Cambria Math" panose="02040503050406030204" pitchFamily="18" charset="0"/>
                          <a:ea typeface="UD デジタル 教科書体 NK-R" panose="02020400000000000000" pitchFamily="18" charset="-128"/>
                        </a:rPr>
                        <m:t>𝐿</m:t>
                      </m:r>
                    </m:oMath>
                  </a14:m>
                  <a:r>
                    <a:rPr lang="en-US" altLang="ja-JP" sz="2800" spc="-100" dirty="0">
                      <a:latin typeface="UD デジタル 教科書体 NK-R" panose="02020400000000000000" pitchFamily="18" charset="-128"/>
                      <a:ea typeface="UD デジタル 教科書体 NK-R" panose="02020400000000000000" pitchFamily="18" charset="-128"/>
                    </a:rPr>
                    <a:t> : </a:t>
                  </a:r>
                  <a:r>
                    <a:rPr lang="ja-JP" altLang="en-US" sz="2800" spc="-100">
                      <a:latin typeface="UD デジタル 教科書体 NK-R" panose="02020400000000000000" pitchFamily="18" charset="-128"/>
                      <a:ea typeface="UD デジタル 教科書体 NK-R" panose="02020400000000000000" pitchFamily="18" charset="-128"/>
                    </a:rPr>
                    <a:t>層番号</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　検証誤差を比較</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 : </a:t>
                  </a:r>
                  <a:r>
                    <a:rPr lang="ja-JP" altLang="en-US" sz="2800">
                      <a:latin typeface="UD デジタル 教科書体 NK-R" panose="02020400000000000000" pitchFamily="18" charset="-128"/>
                      <a:ea typeface="UD デジタル 教科書体 NK-R" panose="02020400000000000000" pitchFamily="18" charset="-128"/>
                    </a:rPr>
                    <a:t>特徴量の次元数を変更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ネットワークの初期値を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畳み込み層の数</a:t>
                  </a:r>
                  <a:r>
                    <a:rPr lang="en-US" altLang="ja-JP" sz="2800" dirty="0">
                      <a:latin typeface="UD デジタル 教科書体 NK-R" panose="02020400000000000000" pitchFamily="18" charset="-128"/>
                      <a:ea typeface="UD デジタル 教科書体 NK-R" panose="02020400000000000000" pitchFamily="18" charset="-128"/>
                    </a:rPr>
                    <a:t> : 5</a:t>
                  </a:r>
                  <a:r>
                    <a:rPr lang="ja-JP" altLang="en-US" sz="2800">
                      <a:latin typeface="UD デジタル 教科書体 NK-R" panose="02020400000000000000" pitchFamily="18" charset="-128"/>
                      <a:ea typeface="UD デジタル 教科書体 NK-R" panose="02020400000000000000" pitchFamily="18" charset="-128"/>
                    </a:rPr>
                    <a:t>層</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　検証誤差・</a:t>
                  </a:r>
                  <a:r>
                    <a:rPr lang="en-US" altLang="ja-JP" sz="2800" dirty="0">
                      <a:latin typeface="UD デジタル 教科書体 NK-R" panose="02020400000000000000" pitchFamily="18" charset="-128"/>
                      <a:ea typeface="UD デジタル 教科書体 NK-R" panose="02020400000000000000" pitchFamily="18" charset="-128"/>
                    </a:rPr>
                    <a:t> FID</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 </a:t>
                  </a:r>
                  <a:r>
                    <a:rPr lang="en-US" altLang="ja-JP" sz="2800" dirty="0" err="1">
                      <a:latin typeface="UD デジタル 教科書体 NK-R" panose="02020400000000000000" pitchFamily="18" charset="-128"/>
                      <a:ea typeface="UD デジタル 教科書体 NK-R" panose="02020400000000000000" pitchFamily="18" charset="-128"/>
                    </a:rPr>
                    <a:t>Frechet</a:t>
                  </a:r>
                  <a:r>
                    <a:rPr lang="en-US" altLang="ja-JP" sz="2800" dirty="0">
                      <a:latin typeface="UD デジタル 教科書体 NK-R" panose="02020400000000000000" pitchFamily="18" charset="-128"/>
                      <a:ea typeface="UD デジタル 教科書体 NK-R" panose="02020400000000000000" pitchFamily="18" charset="-128"/>
                    </a:rPr>
                    <a:t> Inception Distance(FID)[5]</a:t>
                  </a:r>
                </a:p>
                <a:p>
                  <a:pPr lvl="2"/>
                  <a:r>
                    <a:rPr lang="ja-JP" altLang="en-US" sz="2800">
                      <a:latin typeface="UD デジタル 教科書体 NK-R" panose="02020400000000000000" pitchFamily="18" charset="-128"/>
                      <a:ea typeface="UD デジタル 教科書体 NK-R" panose="02020400000000000000" pitchFamily="18" charset="-128"/>
                    </a:rPr>
                    <a:t>画像群</a:t>
                  </a:r>
                  <a:r>
                    <a:rPr lang="en-US" altLang="ja-JP" sz="2800" dirty="0">
                      <a:latin typeface="UD デジタル 教科書体 NK-R" panose="02020400000000000000" pitchFamily="18" charset="-128"/>
                      <a:ea typeface="UD デジタル 教科書体 NK-R" panose="02020400000000000000" pitchFamily="18" charset="-128"/>
                    </a:rPr>
                    <a:t>A</a:t>
                  </a:r>
                  <a:r>
                    <a:rPr lang="ja-JP" altLang="en-US" sz="2800">
                      <a:latin typeface="UD デジタル 教科書体 NK-R" panose="02020400000000000000" pitchFamily="18" charset="-128"/>
                      <a:ea typeface="UD デジタル 教科書体 NK-R" panose="02020400000000000000" pitchFamily="18" charset="-128"/>
                    </a:rPr>
                    <a:t>と画像群</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の分布がどれほど近いか測る指標</a:t>
                  </a:r>
                  <a:r>
                    <a:rPr lang="en-US" altLang="ja-JP" sz="2800" dirty="0">
                      <a:latin typeface="UD デジタル 教科書体 NK-R" panose="02020400000000000000" pitchFamily="18" charset="-128"/>
                      <a:ea typeface="UD デジタル 教科書体 NK-R" panose="02020400000000000000" pitchFamily="18" charset="-128"/>
                    </a:rPr>
                    <a:t>. 0</a:t>
                  </a:r>
                  <a:r>
                    <a:rPr lang="ja-JP" altLang="en-US" sz="2800">
                      <a:latin typeface="UD デジタル 教科書体 NK-R" panose="02020400000000000000" pitchFamily="18" charset="-128"/>
                      <a:ea typeface="UD デジタル 教科書体 NK-R" panose="02020400000000000000" pitchFamily="18" charset="-128"/>
                    </a:rPr>
                    <a:t>に近ければ近いほど分布は近い</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 :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を学習</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つの条件で大喜利生成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en-US" altLang="ja-JP" sz="2800" spc="-100" dirty="0">
                      <a:latin typeface="UD デジタル 教科書体 NK-R" panose="02020400000000000000" pitchFamily="18" charset="-128"/>
                      <a:ea typeface="UD デジタル 教科書体 NK-R" panose="02020400000000000000" pitchFamily="18" charset="-128"/>
                    </a:rPr>
                    <a:t>[1]</a:t>
                  </a:r>
                  <a:r>
                    <a:rPr lang="ja-JP" altLang="en-US" sz="2800" spc="-100">
                      <a:latin typeface="UD デジタル 教科書体 NK-R" panose="02020400000000000000" pitchFamily="18" charset="-128"/>
                      <a:ea typeface="UD デジタル 教科書体 NK-R" panose="02020400000000000000" pitchFamily="18" charset="-128"/>
                    </a:rPr>
                    <a:t>と同様に画像の特徴抽出機として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事前学習済み</a:t>
                  </a:r>
                  <a:r>
                    <a:rPr lang="en-US" altLang="ja-JP" sz="2800" spc="-100" dirty="0">
                      <a:latin typeface="UD デジタル 教科書体 NK-R" panose="02020400000000000000" pitchFamily="18" charset="-128"/>
                      <a:ea typeface="UD デジタル 教科書体 NK-R" panose="02020400000000000000" pitchFamily="18" charset="-128"/>
                    </a:rPr>
                    <a:t>ResNet152</a:t>
                  </a:r>
                  <a:r>
                    <a:rPr lang="ja-JP" altLang="en-US" sz="2800" spc="-100">
                      <a:latin typeface="UD デジタル 教科書体 NK-R" panose="02020400000000000000" pitchFamily="18" charset="-128"/>
                      <a:ea typeface="UD デジタル 教科書体 NK-R" panose="02020400000000000000" pitchFamily="18" charset="-128"/>
                    </a:rPr>
                    <a:t>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512</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2048</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spc="-100">
                      <a:latin typeface="UD デジタル 教科書体 NK-R" panose="02020400000000000000" pitchFamily="18" charset="-128"/>
                      <a:ea typeface="UD デジタル 教科書体 NK-R" panose="02020400000000000000" pitchFamily="18" charset="-128"/>
                    </a:rPr>
                    <a:t>実験条件</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en-US" altLang="ja-JP" sz="2800" spc="-100" dirty="0">
                      <a:latin typeface="UD デジタル 教科書体 NK-R" panose="02020400000000000000" pitchFamily="18" charset="-128"/>
                      <a:ea typeface="UD デジタル 教科書体 NK-R" panose="02020400000000000000" pitchFamily="18" charset="-128"/>
                    </a:rPr>
                    <a:t>LSTM</a:t>
                  </a:r>
                  <a:r>
                    <a:rPr lang="ja-JP" altLang="en-US" sz="2800" spc="-100">
                      <a:latin typeface="UD デジタル 教科書体 NK-R" panose="02020400000000000000" pitchFamily="18" charset="-128"/>
                      <a:ea typeface="UD デジタル 教科書体 NK-R" panose="02020400000000000000" pitchFamily="18" charset="-128"/>
                    </a:rPr>
                    <a:t>ユニット数</a:t>
                  </a:r>
                  <a:r>
                    <a:rPr lang="en-US" altLang="ja-JP" sz="2800" spc="-100" dirty="0">
                      <a:latin typeface="UD デジタル 教科書体 NK-R" panose="02020400000000000000" pitchFamily="18" charset="-128"/>
                      <a:ea typeface="UD デジタル 教科書体 NK-R" panose="02020400000000000000" pitchFamily="18" charset="-128"/>
                    </a:rPr>
                    <a:t> : 512, </a:t>
                  </a:r>
                  <a:r>
                    <a:rPr lang="ja-JP" altLang="en-US" sz="2800" spc="-100">
                      <a:latin typeface="UD デジタル 教科書体 NK-R" panose="02020400000000000000" pitchFamily="18" charset="-128"/>
                      <a:ea typeface="UD デジタル 教科書体 NK-R" panose="02020400000000000000" pitchFamily="18" charset="-128"/>
                    </a:rPr>
                    <a:t>バッチサイズ</a:t>
                  </a:r>
                  <a:r>
                    <a:rPr lang="en-US" altLang="ja-JP" sz="2800" spc="-100" dirty="0">
                      <a:latin typeface="UD デジタル 教科書体 NK-R" panose="02020400000000000000" pitchFamily="18" charset="-128"/>
                      <a:ea typeface="UD デジタル 教科書体 NK-R" panose="02020400000000000000" pitchFamily="18" charset="-128"/>
                    </a:rPr>
                    <a:t> : 1024, </a:t>
                  </a:r>
                  <a:r>
                    <a:rPr lang="ja-JP" altLang="en-US" sz="2800" spc="-100">
                      <a:latin typeface="UD デジタル 教科書体 NK-R" panose="02020400000000000000" pitchFamily="18" charset="-128"/>
                      <a:ea typeface="UD デジタル 教科書体 NK-R" panose="02020400000000000000" pitchFamily="18" charset="-128"/>
                    </a:rPr>
                    <a:t>エポック</a:t>
                  </a:r>
                  <a:r>
                    <a:rPr lang="en-US" altLang="ja-JP" sz="2800" spc="-1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交差エントロピー</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 </a:t>
                  </a:r>
                  <a:r>
                    <a:rPr lang="ja-JP" altLang="en-US" sz="2800">
                      <a:latin typeface="UD デジタル 教科書体 NK-R" panose="02020400000000000000" pitchFamily="18" charset="-128"/>
                      <a:ea typeface="UD デジタル 教科書体 NK-R" panose="02020400000000000000" pitchFamily="18" charset="-128"/>
                    </a:rPr>
                    <a:t>学習損失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　　　　　　　　　　実験</a:t>
                  </a:r>
                  <a:r>
                    <a:rPr lang="en-US" altLang="ja-JP" sz="2800" dirty="0">
                      <a:latin typeface="UD デジタル 教科書体 NK-R" panose="02020400000000000000" pitchFamily="18" charset="-128"/>
                      <a:ea typeface="UD デジタル 教科書体 NK-R" panose="02020400000000000000" pitchFamily="18" charset="-128"/>
                    </a:rPr>
                    <a:t>3 </a:t>
                  </a:r>
                  <a:r>
                    <a:rPr lang="ja-JP" altLang="en-US" sz="2800">
                      <a:latin typeface="UD デジタル 教科書体 NK-R" panose="02020400000000000000" pitchFamily="18" charset="-128"/>
                      <a:ea typeface="UD デジタル 教科書体 NK-R" panose="02020400000000000000" pitchFamily="18" charset="-128"/>
                    </a:rPr>
                    <a:t>学習精度</a:t>
                  </a:r>
                  <a:endParaRPr lang="en-US" altLang="ja-JP" sz="20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　学習した大喜利生成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が生成した大喜利</a:t>
                  </a:r>
                  <a:endParaRPr lang="en-US" altLang="ja-JP" sz="2800" dirty="0">
                    <a:latin typeface="UD デジタル 教科書体 NK-R" panose="02020400000000000000" pitchFamily="18" charset="-128"/>
                    <a:ea typeface="UD デジタル 教科書体 NK-R" panose="02020400000000000000" pitchFamily="18" charset="-128"/>
                  </a:endParaRPr>
                </a:p>
              </p:txBody>
            </p:sp>
          </mc:Choice>
          <mc:Fallback xmlns="">
            <p:sp>
              <p:nvSpPr>
                <p:cNvPr id="37" name="テキスト ボックス 36">
                  <a:extLst>
                    <a:ext uri="{FF2B5EF4-FFF2-40B4-BE49-F238E27FC236}">
                      <a16:creationId xmlns:a16="http://schemas.microsoft.com/office/drawing/2014/main" id="{33CBE4EA-6A45-2DF9-9C9B-750731A73354}"/>
                    </a:ext>
                  </a:extLst>
                </p:cNvPr>
                <p:cNvSpPr txBox="1">
                  <a:spLocks noRot="1" noChangeAspect="1" noMove="1" noResize="1" noEditPoints="1" noAdjustHandles="1" noChangeArrowheads="1" noChangeShapeType="1" noTextEdit="1"/>
                </p:cNvSpPr>
                <p:nvPr/>
              </p:nvSpPr>
              <p:spPr>
                <a:xfrm>
                  <a:off x="350132" y="6188617"/>
                  <a:ext cx="14499166" cy="22939100"/>
                </a:xfrm>
                <a:prstGeom prst="rect">
                  <a:avLst/>
                </a:prstGeom>
                <a:blipFill>
                  <a:blip r:embed="rId5"/>
                  <a:stretch>
                    <a:fillRect l="-875" t="-277"/>
                  </a:stretch>
                </a:blipFill>
              </p:spPr>
              <p:txBody>
                <a:bodyPr/>
                <a:lstStyle/>
                <a:p>
                  <a:r>
                    <a:rPr lang="ja-JP" altLang="en-US">
                      <a:noFill/>
                    </a:rPr>
                    <a:t> </a:t>
                  </a:r>
                </a:p>
              </p:txBody>
            </p:sp>
          </mc:Fallback>
        </mc:AlternateContent>
      </p:grpSp>
      <p:sp>
        <p:nvSpPr>
          <p:cNvPr id="154" name="テキスト ボックス 153">
            <a:extLst>
              <a:ext uri="{FF2B5EF4-FFF2-40B4-BE49-F238E27FC236}">
                <a16:creationId xmlns:a16="http://schemas.microsoft.com/office/drawing/2014/main" id="{D885AE38-02FE-BABF-B73B-FD10DBD6E9F0}"/>
              </a:ext>
            </a:extLst>
          </p:cNvPr>
          <p:cNvSpPr txBox="1"/>
          <p:nvPr/>
        </p:nvSpPr>
        <p:spPr>
          <a:xfrm>
            <a:off x="478313" y="40720311"/>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[1] </a:t>
            </a:r>
            <a:r>
              <a:rPr lang="ja-JP" altLang="en-US" sz="2800">
                <a:latin typeface="UD Digi Kyokasho NK-R" panose="02020400000000000000" pitchFamily="18" charset="-128"/>
                <a:ea typeface="UD Digi Kyokasho NK-R" panose="02020400000000000000" pitchFamily="18" charset="-128"/>
              </a:rPr>
              <a:t>美濃口 宗尊</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他</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精密工学会誌</a:t>
            </a:r>
            <a:r>
              <a:rPr lang="en-US" altLang="ja-JP" sz="2800" dirty="0">
                <a:latin typeface="UD Digi Kyokasho NK-R" panose="02020400000000000000" pitchFamily="18" charset="-128"/>
                <a:ea typeface="UD Digi Kyokasho NK-R" panose="02020400000000000000" pitchFamily="18" charset="-128"/>
              </a:rPr>
              <a:t>, vol.85, no.12, pp.1151-1156 (2019).</a:t>
            </a:r>
          </a:p>
          <a:p>
            <a:r>
              <a:rPr lang="en-US" altLang="ja-JP" sz="2800" dirty="0">
                <a:latin typeface="UD Digi Kyokasho NK-R" panose="02020400000000000000" pitchFamily="18" charset="-128"/>
                <a:ea typeface="UD Digi Kyokasho NK-R" panose="02020400000000000000" pitchFamily="18" charset="-128"/>
              </a:rPr>
              <a:t>[2] </a:t>
            </a:r>
            <a:r>
              <a:rPr lang="ja-JP" altLang="en-US" sz="2800">
                <a:latin typeface="UD Digi Kyokasho NK-R" panose="02020400000000000000" pitchFamily="18" charset="-128"/>
                <a:ea typeface="UD Digi Kyokasho NK-R" panose="02020400000000000000" pitchFamily="18" charset="-128"/>
              </a:rPr>
              <a:t>山富 龍, 他, IEICE 信学技報 CCS 研究会, CCS2022-73,</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pp.59-62(2023).</a:t>
            </a:r>
            <a:endParaRPr lang="en-US" altLang="ja-JP" sz="2800" dirty="0">
              <a:latin typeface="UD Digi Kyokasho NK-R" panose="02020400000000000000" pitchFamily="18" charset="-128"/>
              <a:ea typeface="UD Digi Kyokasho NK-R" panose="02020400000000000000" pitchFamily="18" charset="-128"/>
            </a:endParaRPr>
          </a:p>
          <a:p>
            <a:r>
              <a:rPr lang="en-US" altLang="ja-JP" sz="2800" dirty="0">
                <a:latin typeface="UD デジタル 教科書体 NK-R" panose="02020400000000000000" pitchFamily="18" charset="-128"/>
                <a:ea typeface="UD デジタル 教科書体 NK-R" panose="02020400000000000000" pitchFamily="18" charset="-128"/>
              </a:rPr>
              <a:t>[3] </a:t>
            </a:r>
            <a:r>
              <a:rPr lang="en-US" altLang="ja-JP" sz="2800" dirty="0" err="1">
                <a:latin typeface="UD デジタル 教科書体 NK-R" panose="02020400000000000000" pitchFamily="18" charset="-128"/>
                <a:ea typeface="UD デジタル 教科書体 NK-R" panose="02020400000000000000" pitchFamily="18" charset="-128"/>
              </a:rPr>
              <a:t>Vinyals</a:t>
            </a:r>
            <a:r>
              <a:rPr lang="en-US" altLang="ja-JP" sz="2800" dirty="0">
                <a:latin typeface="UD デジタル 教科書体 NK-R" panose="02020400000000000000" pitchFamily="18" charset="-128"/>
                <a:ea typeface="UD デジタル 教科書体 NK-R" panose="02020400000000000000" pitchFamily="18" charset="-128"/>
              </a:rPr>
              <a:t>, O., et al., Proc. IEEE CVPR, pp. 3156-3164 (2015).</a:t>
            </a:r>
          </a:p>
        </p:txBody>
      </p:sp>
      <p:sp>
        <p:nvSpPr>
          <p:cNvPr id="155" name="テキスト ボックス 154">
            <a:extLst>
              <a:ext uri="{FF2B5EF4-FFF2-40B4-BE49-F238E27FC236}">
                <a16:creationId xmlns:a16="http://schemas.microsoft.com/office/drawing/2014/main" id="{EFC3748E-A701-D3A4-4FB9-8E56588245BE}"/>
              </a:ext>
            </a:extLst>
          </p:cNvPr>
          <p:cNvSpPr txBox="1"/>
          <p:nvPr/>
        </p:nvSpPr>
        <p:spPr>
          <a:xfrm>
            <a:off x="15425050" y="40702554"/>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[4] G. E. Hinton, et al., Science, vol.313, no.5786, pp.504-507(2006).</a:t>
            </a:r>
          </a:p>
          <a:p>
            <a:r>
              <a:rPr lang="en-US" altLang="ja-JP" sz="2800" dirty="0">
                <a:latin typeface="UD Digi Kyokasho NK-R" panose="02020400000000000000" pitchFamily="18" charset="-128"/>
                <a:ea typeface="UD Digi Kyokasho NK-R" panose="02020400000000000000" pitchFamily="18" charset="-128"/>
              </a:rPr>
              <a:t>[5] </a:t>
            </a:r>
            <a:r>
              <a:rPr lang="ja-JP" altLang="en-US" sz="2800">
                <a:latin typeface="UD Digi Kyokasho NK-R" panose="02020400000000000000" pitchFamily="18" charset="-128"/>
                <a:ea typeface="UD Digi Kyokasho NK-R" panose="02020400000000000000" pitchFamily="18" charset="-128"/>
              </a:rPr>
              <a:t>株式会社オモロキ</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 https://</a:t>
            </a:r>
            <a:r>
              <a:rPr lang="en-US" altLang="ja-JP" sz="2800" dirty="0" err="1">
                <a:latin typeface="UD Digi Kyokasho NK-R" panose="02020400000000000000" pitchFamily="18" charset="-128"/>
                <a:ea typeface="UD Digi Kyokasho NK-R" panose="02020400000000000000" pitchFamily="18" charset="-128"/>
              </a:rPr>
              <a:t>bokete.jp</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最終アクセス</a:t>
            </a:r>
            <a:r>
              <a:rPr lang="en-US" altLang="ja-JP" sz="2800" dirty="0">
                <a:latin typeface="UD Digi Kyokasho NK-R" panose="02020400000000000000" pitchFamily="18" charset="-128"/>
                <a:ea typeface="UD Digi Kyokasho NK-R" panose="02020400000000000000" pitchFamily="18" charset="-128"/>
              </a:rPr>
              <a:t> : 2023/6/6).</a:t>
            </a:r>
          </a:p>
          <a:p>
            <a:r>
              <a:rPr lang="en-US" altLang="ja-JP" sz="2800" dirty="0">
                <a:latin typeface="UD Digi Kyokasho NK-R" panose="02020400000000000000" pitchFamily="18" charset="-128"/>
                <a:ea typeface="UD Digi Kyokasho NK-R" panose="02020400000000000000" pitchFamily="18" charset="-128"/>
              </a:rPr>
              <a:t>[6]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Heusel</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 Martin, et al.,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NeurIPS</a:t>
            </a:r>
            <a:r>
              <a:rPr lang="en" altLang="ja-JP" sz="2800" dirty="0">
                <a:solidFill>
                  <a:srgbClr val="222222"/>
                </a:solidFill>
                <a:latin typeface="UD Digi Kyokasho NK-R" panose="02020400000000000000" pitchFamily="18" charset="-128"/>
                <a:ea typeface="UD Digi Kyokasho NK-R" panose="02020400000000000000" pitchFamily="18" charset="-128"/>
              </a:rPr>
              <a:t>, </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30 (2017).</a:t>
            </a:r>
            <a:endParaRPr lang="en-US" altLang="ja-JP" sz="2800" dirty="0">
              <a:latin typeface="UD Digi Kyokasho NK-R" panose="02020400000000000000" pitchFamily="18" charset="-128"/>
              <a:ea typeface="UD Digi Kyokasho NK-R" panose="02020400000000000000" pitchFamily="18" charset="-128"/>
            </a:endParaRPr>
          </a:p>
        </p:txBody>
      </p:sp>
      <p:graphicFrame>
        <p:nvGraphicFramePr>
          <p:cNvPr id="255" name="表 255">
            <a:extLst>
              <a:ext uri="{FF2B5EF4-FFF2-40B4-BE49-F238E27FC236}">
                <a16:creationId xmlns:a16="http://schemas.microsoft.com/office/drawing/2014/main" id="{238C88B2-E0D1-950A-16DC-AD9A1C46C3F1}"/>
              </a:ext>
            </a:extLst>
          </p:cNvPr>
          <p:cNvGraphicFramePr>
            <a:graphicFrameLocks noGrp="1"/>
          </p:cNvGraphicFramePr>
          <p:nvPr>
            <p:extLst>
              <p:ext uri="{D42A27DB-BD31-4B8C-83A1-F6EECF244321}">
                <p14:modId xmlns:p14="http://schemas.microsoft.com/office/powerpoint/2010/main" val="3161004914"/>
              </p:ext>
            </p:extLst>
          </p:nvPr>
        </p:nvGraphicFramePr>
        <p:xfrm>
          <a:off x="15343492" y="6756988"/>
          <a:ext cx="14557140" cy="192024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algn="ct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49,265,280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58,703,488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0.0094/0.0096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0.0109/0.0111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bl>
          </a:graphicData>
        </a:graphic>
      </p:graphicFrame>
      <p:graphicFrame>
        <p:nvGraphicFramePr>
          <p:cNvPr id="259" name="表 255">
            <a:extLst>
              <a:ext uri="{FF2B5EF4-FFF2-40B4-BE49-F238E27FC236}">
                <a16:creationId xmlns:a16="http://schemas.microsoft.com/office/drawing/2014/main" id="{075542DE-9B92-8E05-FA82-9740125B2813}"/>
              </a:ext>
            </a:extLst>
          </p:cNvPr>
          <p:cNvGraphicFramePr>
            <a:graphicFrameLocks noGrp="1"/>
          </p:cNvGraphicFramePr>
          <p:nvPr>
            <p:extLst>
              <p:ext uri="{D42A27DB-BD31-4B8C-83A1-F6EECF244321}">
                <p14:modId xmlns:p14="http://schemas.microsoft.com/office/powerpoint/2010/main" val="3685933499"/>
              </p:ext>
            </p:extLst>
          </p:nvPr>
        </p:nvGraphicFramePr>
        <p:xfrm>
          <a:off x="15343492" y="12552887"/>
          <a:ext cx="14557140" cy="243840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algn="ct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14,659,712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23,048,832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0.0111/0.0111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0.0086/0.0086</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r h="370840">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FID</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108.30/109.38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73.03/74.37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61.76/62.87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extLst>
                  <a:ext uri="{0D108BD9-81ED-4DB2-BD59-A6C34878D82A}">
                    <a16:rowId xmlns:a16="http://schemas.microsoft.com/office/drawing/2014/main" val="2145768203"/>
                  </a:ext>
                </a:extLst>
              </a:tr>
            </a:tbl>
          </a:graphicData>
        </a:graphic>
      </p:graphicFrame>
      <p:graphicFrame>
        <p:nvGraphicFramePr>
          <p:cNvPr id="4" name="表 255">
            <a:extLst>
              <a:ext uri="{FF2B5EF4-FFF2-40B4-BE49-F238E27FC236}">
                <a16:creationId xmlns:a16="http://schemas.microsoft.com/office/drawing/2014/main" id="{ED82D327-A8A9-DFD6-9FF7-08FA73F91AD0}"/>
              </a:ext>
            </a:extLst>
          </p:cNvPr>
          <p:cNvGraphicFramePr>
            <a:graphicFrameLocks noGrp="1"/>
          </p:cNvGraphicFramePr>
          <p:nvPr/>
        </p:nvGraphicFramePr>
        <p:xfrm>
          <a:off x="15343492" y="34063940"/>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火事だー</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プリキュアの最終回</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よし一旦</a:t>
                      </a:r>
                      <a:r>
                        <a:rPr kumimoji="1" lang="en" altLang="ja-JP" sz="2800" spc="-100" baseline="0" dirty="0">
                          <a:solidFill>
                            <a:srgbClr val="FF0000"/>
                          </a:solidFill>
                          <a:latin typeface="UD Digi Kyokasho NK-R" panose="02020400000000000000" pitchFamily="18" charset="-128"/>
                          <a:ea typeface="UD Digi Kyokasho NK-R" panose="02020400000000000000" pitchFamily="18" charset="-128"/>
                        </a:rPr>
                        <a:t>CM</a:t>
                      </a:r>
                      <a:r>
                        <a:rPr kumimoji="1" lang="ja-JP" altLang="en-US" sz="2800" spc="-100" baseline="0">
                          <a:latin typeface="UD Digi Kyokasho NK-R" panose="02020400000000000000" pitchFamily="18" charset="-128"/>
                          <a:ea typeface="UD Digi Kyokasho NK-R" panose="02020400000000000000" pitchFamily="18" charset="-128"/>
                        </a:rPr>
                        <a:t>の時間だ</a:t>
                      </a:r>
                    </a:p>
                  </a:txBody>
                  <a:tcPr anchor="ctr"/>
                </a:tc>
                <a:extLst>
                  <a:ext uri="{0D108BD9-81ED-4DB2-BD59-A6C34878D82A}">
                    <a16:rowId xmlns:a16="http://schemas.microsoft.com/office/drawing/2014/main" val="1783522377"/>
                  </a:ext>
                </a:extLst>
              </a:tr>
            </a:tbl>
          </a:graphicData>
        </a:graphic>
      </p:graphicFrame>
      <p:pic>
        <p:nvPicPr>
          <p:cNvPr id="214" name="図 213" descr="帽子を被っている女性&#10;&#10;自動的に生成された説明">
            <a:extLst>
              <a:ext uri="{FF2B5EF4-FFF2-40B4-BE49-F238E27FC236}">
                <a16:creationId xmlns:a16="http://schemas.microsoft.com/office/drawing/2014/main" id="{AC82285A-96DB-9690-7F15-C9A038C14A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1881" y="7667309"/>
            <a:ext cx="1496736" cy="1496736"/>
          </a:xfrm>
          <a:prstGeom prst="rect">
            <a:avLst/>
          </a:prstGeom>
        </p:spPr>
      </p:pic>
      <mc:AlternateContent xmlns:mc="http://schemas.openxmlformats.org/markup-compatibility/2006" xmlns:a14="http://schemas.microsoft.com/office/drawing/2010/main">
        <mc:Choice Requires="a14">
          <p:sp>
            <p:nvSpPr>
              <p:cNvPr id="216" name="テキスト ボックス 215">
                <a:extLst>
                  <a:ext uri="{FF2B5EF4-FFF2-40B4-BE49-F238E27FC236}">
                    <a16:creationId xmlns:a16="http://schemas.microsoft.com/office/drawing/2014/main" id="{E9786A7F-47F9-B8F1-4898-1CF3772FB67A}"/>
                  </a:ext>
                </a:extLst>
              </p:cNvPr>
              <p:cNvSpPr txBox="1"/>
              <p:nvPr/>
            </p:nvSpPr>
            <p:spPr>
              <a:xfrm>
                <a:off x="2036003" y="6957190"/>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16" name="テキスト ボックス 215">
                <a:extLst>
                  <a:ext uri="{FF2B5EF4-FFF2-40B4-BE49-F238E27FC236}">
                    <a16:creationId xmlns:a16="http://schemas.microsoft.com/office/drawing/2014/main" id="{E9786A7F-47F9-B8F1-4898-1CF3772FB67A}"/>
                  </a:ext>
                </a:extLst>
              </p:cNvPr>
              <p:cNvSpPr txBox="1">
                <a:spLocks noRot="1" noChangeAspect="1" noMove="1" noResize="1" noEditPoints="1" noAdjustHandles="1" noChangeArrowheads="1" noChangeShapeType="1" noTextEdit="1"/>
              </p:cNvSpPr>
              <p:nvPr/>
            </p:nvSpPr>
            <p:spPr>
              <a:xfrm>
                <a:off x="2036003" y="6957190"/>
                <a:ext cx="471668" cy="430887"/>
              </a:xfrm>
              <a:prstGeom prst="rect">
                <a:avLst/>
              </a:prstGeom>
              <a:blipFill>
                <a:blip r:embed="rId7"/>
                <a:stretch>
                  <a:fillRect l="-10526" r="-2632"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7" name="テキスト ボックス 216">
                <a:extLst>
                  <a:ext uri="{FF2B5EF4-FFF2-40B4-BE49-F238E27FC236}">
                    <a16:creationId xmlns:a16="http://schemas.microsoft.com/office/drawing/2014/main" id="{89F9CC42-0EFF-4861-65DA-AA213DBC97A8}"/>
                  </a:ext>
                </a:extLst>
              </p:cNvPr>
              <p:cNvSpPr txBox="1"/>
              <p:nvPr/>
            </p:nvSpPr>
            <p:spPr>
              <a:xfrm>
                <a:off x="1988951" y="8191225"/>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17" name="テキスト ボックス 216">
                <a:extLst>
                  <a:ext uri="{FF2B5EF4-FFF2-40B4-BE49-F238E27FC236}">
                    <a16:creationId xmlns:a16="http://schemas.microsoft.com/office/drawing/2014/main" id="{89F9CC42-0EFF-4861-65DA-AA213DBC97A8}"/>
                  </a:ext>
                </a:extLst>
              </p:cNvPr>
              <p:cNvSpPr txBox="1">
                <a:spLocks noRot="1" noChangeAspect="1" noMove="1" noResize="1" noEditPoints="1" noAdjustHandles="1" noChangeArrowheads="1" noChangeShapeType="1" noTextEdit="1"/>
              </p:cNvSpPr>
              <p:nvPr/>
            </p:nvSpPr>
            <p:spPr>
              <a:xfrm>
                <a:off x="1988951" y="8191225"/>
                <a:ext cx="492507" cy="430887"/>
              </a:xfrm>
              <a:prstGeom prst="rect">
                <a:avLst/>
              </a:prstGeom>
              <a:blipFill>
                <a:blip r:embed="rId8"/>
                <a:stretch>
                  <a:fillRect b="-5882"/>
                </a:stretch>
              </a:blipFill>
            </p:spPr>
            <p:txBody>
              <a:bodyPr/>
              <a:lstStyle/>
              <a:p>
                <a:r>
                  <a:rPr lang="ja-JP" altLang="en-US">
                    <a:noFill/>
                  </a:rPr>
                  <a:t> </a:t>
                </a:r>
              </a:p>
            </p:txBody>
          </p:sp>
        </mc:Fallback>
      </mc:AlternateContent>
      <p:cxnSp>
        <p:nvCxnSpPr>
          <p:cNvPr id="223" name="直線矢印コネクタ 222">
            <a:extLst>
              <a:ext uri="{FF2B5EF4-FFF2-40B4-BE49-F238E27FC236}">
                <a16:creationId xmlns:a16="http://schemas.microsoft.com/office/drawing/2014/main" id="{EB5A462D-A80D-CC6A-B4A4-915FD8588001}"/>
              </a:ext>
            </a:extLst>
          </p:cNvPr>
          <p:cNvCxnSpPr>
            <a:cxnSpLocks/>
            <a:stCxn id="216" idx="3"/>
            <a:endCxn id="245" idx="1"/>
          </p:cNvCxnSpPr>
          <p:nvPr/>
        </p:nvCxnSpPr>
        <p:spPr>
          <a:xfrm>
            <a:off x="2507671" y="7172634"/>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線矢印コネクタ 223">
            <a:extLst>
              <a:ext uri="{FF2B5EF4-FFF2-40B4-BE49-F238E27FC236}">
                <a16:creationId xmlns:a16="http://schemas.microsoft.com/office/drawing/2014/main" id="{9FF679CD-793E-7077-AD1C-3BCC7951EF16}"/>
              </a:ext>
            </a:extLst>
          </p:cNvPr>
          <p:cNvCxnSpPr>
            <a:cxnSpLocks/>
            <a:stCxn id="245" idx="3"/>
            <a:endCxn id="270" idx="1"/>
          </p:cNvCxnSpPr>
          <p:nvPr/>
        </p:nvCxnSpPr>
        <p:spPr>
          <a:xfrm flipV="1">
            <a:off x="5613881" y="7168624"/>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19">
            <a:extLst>
              <a:ext uri="{FF2B5EF4-FFF2-40B4-BE49-F238E27FC236}">
                <a16:creationId xmlns:a16="http://schemas.microsoft.com/office/drawing/2014/main" id="{A4BA8391-F00F-15FB-2F52-C17A87D640BF}"/>
              </a:ext>
            </a:extLst>
          </p:cNvPr>
          <p:cNvCxnSpPr>
            <a:cxnSpLocks/>
            <a:stCxn id="270" idx="3"/>
            <a:endCxn id="273" idx="1"/>
          </p:cNvCxnSpPr>
          <p:nvPr/>
        </p:nvCxnSpPr>
        <p:spPr>
          <a:xfrm>
            <a:off x="8956217" y="7168624"/>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線矢印コネクタ 225">
            <a:extLst>
              <a:ext uri="{FF2B5EF4-FFF2-40B4-BE49-F238E27FC236}">
                <a16:creationId xmlns:a16="http://schemas.microsoft.com/office/drawing/2014/main" id="{B0244165-A331-B5E2-2D99-05A754DC6D77}"/>
              </a:ext>
            </a:extLst>
          </p:cNvPr>
          <p:cNvCxnSpPr>
            <a:cxnSpLocks/>
            <a:stCxn id="273" idx="3"/>
            <a:endCxn id="228" idx="1"/>
          </p:cNvCxnSpPr>
          <p:nvPr/>
        </p:nvCxnSpPr>
        <p:spPr>
          <a:xfrm>
            <a:off x="12052610" y="7789658"/>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8" name="テキスト ボックス 227">
                <a:extLst>
                  <a:ext uri="{FF2B5EF4-FFF2-40B4-BE49-F238E27FC236}">
                    <a16:creationId xmlns:a16="http://schemas.microsoft.com/office/drawing/2014/main" id="{BE9AD327-F7D0-ED72-F40D-84FF6D3695E3}"/>
                  </a:ext>
                </a:extLst>
              </p:cNvPr>
              <p:cNvSpPr txBox="1"/>
              <p:nvPr/>
            </p:nvSpPr>
            <p:spPr>
              <a:xfrm>
                <a:off x="12909280" y="7588721"/>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28" name="テキスト ボックス 227">
                <a:extLst>
                  <a:ext uri="{FF2B5EF4-FFF2-40B4-BE49-F238E27FC236}">
                    <a16:creationId xmlns:a16="http://schemas.microsoft.com/office/drawing/2014/main" id="{BE9AD327-F7D0-ED72-F40D-84FF6D3695E3}"/>
                  </a:ext>
                </a:extLst>
              </p:cNvPr>
              <p:cNvSpPr txBox="1">
                <a:spLocks noRot="1" noChangeAspect="1" noMove="1" noResize="1" noEditPoints="1" noAdjustHandles="1" noChangeArrowheads="1" noChangeShapeType="1" noTextEdit="1"/>
              </p:cNvSpPr>
              <p:nvPr/>
            </p:nvSpPr>
            <p:spPr>
              <a:xfrm>
                <a:off x="12909280" y="7588721"/>
                <a:ext cx="814710" cy="430887"/>
              </a:xfrm>
              <a:prstGeom prst="rect">
                <a:avLst/>
              </a:prstGeom>
              <a:blipFill>
                <a:blip r:embed="rId9"/>
                <a:stretch>
                  <a:fillRect l="-4615" r="-3077" b="-11429"/>
                </a:stretch>
              </a:blipFill>
            </p:spPr>
            <p:txBody>
              <a:bodyPr/>
              <a:lstStyle/>
              <a:p>
                <a:r>
                  <a:rPr lang="ja-JP" altLang="en-US">
                    <a:noFill/>
                  </a:rPr>
                  <a:t> </a:t>
                </a:r>
              </a:p>
            </p:txBody>
          </p:sp>
        </mc:Fallback>
      </mc:AlternateContent>
      <p:grpSp>
        <p:nvGrpSpPr>
          <p:cNvPr id="240" name="グループ化 239">
            <a:extLst>
              <a:ext uri="{FF2B5EF4-FFF2-40B4-BE49-F238E27FC236}">
                <a16:creationId xmlns:a16="http://schemas.microsoft.com/office/drawing/2014/main" id="{A054153A-7DE4-618A-3D41-DE53B06C7CCD}"/>
              </a:ext>
            </a:extLst>
          </p:cNvPr>
          <p:cNvGrpSpPr/>
          <p:nvPr/>
        </p:nvGrpSpPr>
        <p:grpSpPr>
          <a:xfrm>
            <a:off x="3670881" y="6815070"/>
            <a:ext cx="1943000" cy="719356"/>
            <a:chOff x="3749692" y="11369202"/>
            <a:chExt cx="1943000" cy="719356"/>
          </a:xfrm>
        </p:grpSpPr>
        <p:sp>
          <p:nvSpPr>
            <p:cNvPr id="245" name="正方形/長方形 244">
              <a:extLst>
                <a:ext uri="{FF2B5EF4-FFF2-40B4-BE49-F238E27FC236}">
                  <a16:creationId xmlns:a16="http://schemas.microsoft.com/office/drawing/2014/main" id="{3D593E03-A2D3-15AB-90BC-6AEE4C3C1647}"/>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46" name="テキスト ボックス 245">
                  <a:extLst>
                    <a:ext uri="{FF2B5EF4-FFF2-40B4-BE49-F238E27FC236}">
                      <a16:creationId xmlns:a16="http://schemas.microsoft.com/office/drawing/2014/main" id="{86E9DCFB-3953-82A5-AD51-D92E907C7CA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46" name="テキスト ボックス 245">
                  <a:extLst>
                    <a:ext uri="{FF2B5EF4-FFF2-40B4-BE49-F238E27FC236}">
                      <a16:creationId xmlns:a16="http://schemas.microsoft.com/office/drawing/2014/main" id="{86E9DCFB-3953-82A5-AD51-D92E907C7CA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0"/>
                  <a:stretch>
                    <a:fillRect l="-6000" t="-2941" r="-6000" b="-3529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47" name="テキスト ボックス 246">
                <a:extLst>
                  <a:ext uri="{FF2B5EF4-FFF2-40B4-BE49-F238E27FC236}">
                    <a16:creationId xmlns:a16="http://schemas.microsoft.com/office/drawing/2014/main" id="{973B32A8-3E14-E7A8-84C7-48191CB33DA7}"/>
                  </a:ext>
                </a:extLst>
              </p:cNvPr>
              <p:cNvSpPr txBox="1"/>
              <p:nvPr/>
            </p:nvSpPr>
            <p:spPr>
              <a:xfrm>
                <a:off x="8086668" y="6337110"/>
                <a:ext cx="3511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47" name="テキスト ボックス 246">
                <a:extLst>
                  <a:ext uri="{FF2B5EF4-FFF2-40B4-BE49-F238E27FC236}">
                    <a16:creationId xmlns:a16="http://schemas.microsoft.com/office/drawing/2014/main" id="{973B32A8-3E14-E7A8-84C7-48191CB33DA7}"/>
                  </a:ext>
                </a:extLst>
              </p:cNvPr>
              <p:cNvSpPr txBox="1">
                <a:spLocks noRot="1" noChangeAspect="1" noMove="1" noResize="1" noEditPoints="1" noAdjustHandles="1" noChangeArrowheads="1" noChangeShapeType="1" noTextEdit="1"/>
              </p:cNvSpPr>
              <p:nvPr/>
            </p:nvSpPr>
            <p:spPr>
              <a:xfrm>
                <a:off x="8086668" y="6337110"/>
                <a:ext cx="351185" cy="430887"/>
              </a:xfrm>
              <a:prstGeom prst="rect">
                <a:avLst/>
              </a:prstGeom>
              <a:blipFill>
                <a:blip r:embed="rId11"/>
                <a:stretch>
                  <a:fillRect l="-10345" r="-3448" b="-14706"/>
                </a:stretch>
              </a:blipFill>
            </p:spPr>
            <p:txBody>
              <a:bodyPr/>
              <a:lstStyle/>
              <a:p>
                <a:r>
                  <a:rPr lang="ja-JP" altLang="en-US">
                    <a:noFill/>
                  </a:rPr>
                  <a:t> </a:t>
                </a:r>
              </a:p>
            </p:txBody>
          </p:sp>
        </mc:Fallback>
      </mc:AlternateContent>
      <p:sp>
        <p:nvSpPr>
          <p:cNvPr id="5" name="正方形/長方形 4">
            <a:extLst>
              <a:ext uri="{FF2B5EF4-FFF2-40B4-BE49-F238E27FC236}">
                <a16:creationId xmlns:a16="http://schemas.microsoft.com/office/drawing/2014/main" id="{5BCF1E3A-E4D3-E485-FF19-DB5B16DAF899}"/>
              </a:ext>
            </a:extLst>
          </p:cNvPr>
          <p:cNvSpPr/>
          <p:nvPr/>
        </p:nvSpPr>
        <p:spPr>
          <a:xfrm>
            <a:off x="5341076" y="10647397"/>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EAC9EC35-19CC-9271-9E5C-5203A561D264}"/>
              </a:ext>
            </a:extLst>
          </p:cNvPr>
          <p:cNvSpPr/>
          <p:nvPr/>
        </p:nvSpPr>
        <p:spPr>
          <a:xfrm>
            <a:off x="5352644" y="7743765"/>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8" name="直線矢印コネクタ 247">
            <a:extLst>
              <a:ext uri="{FF2B5EF4-FFF2-40B4-BE49-F238E27FC236}">
                <a16:creationId xmlns:a16="http://schemas.microsoft.com/office/drawing/2014/main" id="{02FE7BE1-F83F-1E1F-D74D-A29BD0761BDB}"/>
              </a:ext>
            </a:extLst>
          </p:cNvPr>
          <p:cNvCxnSpPr>
            <a:cxnSpLocks/>
            <a:endCxn id="270" idx="0"/>
          </p:cNvCxnSpPr>
          <p:nvPr/>
        </p:nvCxnSpPr>
        <p:spPr>
          <a:xfrm>
            <a:off x="7984717" y="6299086"/>
            <a:ext cx="0" cy="50986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27AA0A93-5A38-32FF-42C1-ED2393F43D09}"/>
              </a:ext>
            </a:extLst>
          </p:cNvPr>
          <p:cNvCxnSpPr>
            <a:cxnSpLocks/>
            <a:stCxn id="214" idx="3"/>
            <a:endCxn id="256" idx="2"/>
          </p:cNvCxnSpPr>
          <p:nvPr/>
        </p:nvCxnSpPr>
        <p:spPr>
          <a:xfrm flipV="1">
            <a:off x="3018617" y="8409209"/>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直線矢印コネクタ 22">
            <a:extLst>
              <a:ext uri="{FF2B5EF4-FFF2-40B4-BE49-F238E27FC236}">
                <a16:creationId xmlns:a16="http://schemas.microsoft.com/office/drawing/2014/main" id="{4A573549-C2AA-98F8-59E3-1055973CBB60}"/>
              </a:ext>
            </a:extLst>
          </p:cNvPr>
          <p:cNvCxnSpPr>
            <a:cxnSpLocks/>
            <a:stCxn id="256" idx="0"/>
            <a:endCxn id="273" idx="1"/>
          </p:cNvCxnSpPr>
          <p:nvPr/>
        </p:nvCxnSpPr>
        <p:spPr>
          <a:xfrm flipV="1">
            <a:off x="6983616" y="7789658"/>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4" name="グループ化 253">
            <a:extLst>
              <a:ext uri="{FF2B5EF4-FFF2-40B4-BE49-F238E27FC236}">
                <a16:creationId xmlns:a16="http://schemas.microsoft.com/office/drawing/2014/main" id="{80A45BF1-1759-352C-F29F-FAA0D6CC85E1}"/>
              </a:ext>
            </a:extLst>
          </p:cNvPr>
          <p:cNvGrpSpPr/>
          <p:nvPr/>
        </p:nvGrpSpPr>
        <p:grpSpPr>
          <a:xfrm>
            <a:off x="5551632" y="7847933"/>
            <a:ext cx="1431984" cy="1122552"/>
            <a:chOff x="5794565" y="9611968"/>
            <a:chExt cx="1431984" cy="1122552"/>
          </a:xfrm>
        </p:grpSpPr>
        <p:sp>
          <p:nvSpPr>
            <p:cNvPr id="256" name="台形 255">
              <a:extLst>
                <a:ext uri="{FF2B5EF4-FFF2-40B4-BE49-F238E27FC236}">
                  <a16:creationId xmlns:a16="http://schemas.microsoft.com/office/drawing/2014/main" id="{9F94FCAC-3C49-7535-4605-BE8FEDC9A663}"/>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62" name="テキスト ボックス 261">
                  <a:extLst>
                    <a:ext uri="{FF2B5EF4-FFF2-40B4-BE49-F238E27FC236}">
                      <a16:creationId xmlns:a16="http://schemas.microsoft.com/office/drawing/2014/main" id="{DF67C357-CCE4-4C6F-CA9A-AE9F5A8A624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62" name="テキスト ボックス 261">
                  <a:extLst>
                    <a:ext uri="{FF2B5EF4-FFF2-40B4-BE49-F238E27FC236}">
                      <a16:creationId xmlns:a16="http://schemas.microsoft.com/office/drawing/2014/main" id="{DF67C357-CCE4-4C6F-CA9A-AE9F5A8A624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12"/>
                  <a:stretch>
                    <a:fillRect l="-6306" r="-4505" b="-5714"/>
                  </a:stretch>
                </a:blipFill>
              </p:spPr>
              <p:txBody>
                <a:bodyPr/>
                <a:lstStyle/>
                <a:p>
                  <a:r>
                    <a:rPr lang="ja-JP" altLang="en-US">
                      <a:noFill/>
                    </a:rPr>
                    <a:t> </a:t>
                  </a:r>
                </a:p>
              </p:txBody>
            </p:sp>
          </mc:Fallback>
        </mc:AlternateContent>
      </p:grpSp>
      <p:grpSp>
        <p:nvGrpSpPr>
          <p:cNvPr id="269" name="グループ化 268">
            <a:extLst>
              <a:ext uri="{FF2B5EF4-FFF2-40B4-BE49-F238E27FC236}">
                <a16:creationId xmlns:a16="http://schemas.microsoft.com/office/drawing/2014/main" id="{E602F14E-591B-3D60-161F-7DC215F96608}"/>
              </a:ext>
            </a:extLst>
          </p:cNvPr>
          <p:cNvGrpSpPr/>
          <p:nvPr/>
        </p:nvGrpSpPr>
        <p:grpSpPr>
          <a:xfrm>
            <a:off x="7013217" y="6808946"/>
            <a:ext cx="1943000" cy="719356"/>
            <a:chOff x="3749692" y="11369202"/>
            <a:chExt cx="1943000" cy="719356"/>
          </a:xfrm>
        </p:grpSpPr>
        <p:sp>
          <p:nvSpPr>
            <p:cNvPr id="270" name="正方形/長方形 269">
              <a:extLst>
                <a:ext uri="{FF2B5EF4-FFF2-40B4-BE49-F238E27FC236}">
                  <a16:creationId xmlns:a16="http://schemas.microsoft.com/office/drawing/2014/main" id="{A7E4DF10-563E-BEB9-68A1-A17CB31EC791}"/>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1" name="テキスト ボックス 270">
                  <a:extLst>
                    <a:ext uri="{FF2B5EF4-FFF2-40B4-BE49-F238E27FC236}">
                      <a16:creationId xmlns:a16="http://schemas.microsoft.com/office/drawing/2014/main" id="{F730D54A-F977-45DB-D319-702796AFEEC6}"/>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71" name="テキスト ボックス 270">
                  <a:extLst>
                    <a:ext uri="{FF2B5EF4-FFF2-40B4-BE49-F238E27FC236}">
                      <a16:creationId xmlns:a16="http://schemas.microsoft.com/office/drawing/2014/main" id="{F730D54A-F977-45DB-D319-702796AFEEC6}"/>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3"/>
                  <a:stretch>
                    <a:fillRect b="-5714"/>
                  </a:stretch>
                </a:blipFill>
              </p:spPr>
              <p:txBody>
                <a:bodyPr/>
                <a:lstStyle/>
                <a:p>
                  <a:r>
                    <a:rPr lang="ja-JP" altLang="en-US">
                      <a:noFill/>
                    </a:rPr>
                    <a:t> </a:t>
                  </a:r>
                </a:p>
              </p:txBody>
            </p:sp>
          </mc:Fallback>
        </mc:AlternateContent>
      </p:grpSp>
      <p:grpSp>
        <p:nvGrpSpPr>
          <p:cNvPr id="272" name="グループ化 271">
            <a:extLst>
              <a:ext uri="{FF2B5EF4-FFF2-40B4-BE49-F238E27FC236}">
                <a16:creationId xmlns:a16="http://schemas.microsoft.com/office/drawing/2014/main" id="{075AF110-7F10-C9A1-A124-0088DDABFAAD}"/>
              </a:ext>
            </a:extLst>
          </p:cNvPr>
          <p:cNvGrpSpPr/>
          <p:nvPr/>
        </p:nvGrpSpPr>
        <p:grpSpPr>
          <a:xfrm>
            <a:off x="10109610" y="7429980"/>
            <a:ext cx="1943000" cy="719356"/>
            <a:chOff x="3749692" y="11369202"/>
            <a:chExt cx="1943000" cy="719356"/>
          </a:xfrm>
        </p:grpSpPr>
        <p:sp>
          <p:nvSpPr>
            <p:cNvPr id="273" name="正方形/長方形 272">
              <a:extLst>
                <a:ext uri="{FF2B5EF4-FFF2-40B4-BE49-F238E27FC236}">
                  <a16:creationId xmlns:a16="http://schemas.microsoft.com/office/drawing/2014/main" id="{B0C78290-2687-F702-7E5B-DA11CB35E48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4" name="テキスト ボックス 273">
                  <a:extLst>
                    <a:ext uri="{FF2B5EF4-FFF2-40B4-BE49-F238E27FC236}">
                      <a16:creationId xmlns:a16="http://schemas.microsoft.com/office/drawing/2014/main" id="{CB8AAA5B-7BAA-5FE0-DA14-9E1B3199832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274" name="テキスト ボックス 273">
                  <a:extLst>
                    <a:ext uri="{FF2B5EF4-FFF2-40B4-BE49-F238E27FC236}">
                      <a16:creationId xmlns:a16="http://schemas.microsoft.com/office/drawing/2014/main" id="{CB8AAA5B-7BAA-5FE0-DA14-9E1B31998329}"/>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4"/>
                  <a:stretch>
                    <a:fillRect b="-5714"/>
                  </a:stretch>
                </a:blipFill>
              </p:spPr>
              <p:txBody>
                <a:bodyPr/>
                <a:lstStyle/>
                <a:p>
                  <a:r>
                    <a:rPr lang="ja-JP" altLang="en-US">
                      <a:noFill/>
                    </a:rPr>
                    <a:t> </a:t>
                  </a:r>
                </a:p>
              </p:txBody>
            </p:sp>
          </mc:Fallback>
        </mc:AlternateContent>
      </p:grpSp>
      <p:cxnSp>
        <p:nvCxnSpPr>
          <p:cNvPr id="275" name="直線矢印コネクタ 135">
            <a:extLst>
              <a:ext uri="{FF2B5EF4-FFF2-40B4-BE49-F238E27FC236}">
                <a16:creationId xmlns:a16="http://schemas.microsoft.com/office/drawing/2014/main" id="{1442AD5E-ECC8-2EF6-E36D-352CFD75AB83}"/>
              </a:ext>
            </a:extLst>
          </p:cNvPr>
          <p:cNvCxnSpPr>
            <a:cxnSpLocks/>
            <a:stCxn id="228" idx="2"/>
            <a:endCxn id="277" idx="0"/>
          </p:cNvCxnSpPr>
          <p:nvPr/>
        </p:nvCxnSpPr>
        <p:spPr>
          <a:xfrm rot="5400000">
            <a:off x="6937002" y="3521021"/>
            <a:ext cx="1881046" cy="10878220"/>
          </a:xfrm>
          <a:prstGeom prst="bentConnector3">
            <a:avLst>
              <a:gd name="adj1" fmla="val 69943"/>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76" name="図 275" descr="帽子を被っている女性&#10;&#10;自動的に生成された説明">
            <a:extLst>
              <a:ext uri="{FF2B5EF4-FFF2-40B4-BE49-F238E27FC236}">
                <a16:creationId xmlns:a16="http://schemas.microsoft.com/office/drawing/2014/main" id="{7D919012-BCD9-E78F-078E-853C48FE2B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10610773"/>
            <a:ext cx="1496736" cy="1496736"/>
          </a:xfrm>
          <a:prstGeom prst="rect">
            <a:avLst/>
          </a:prstGeom>
        </p:spPr>
      </p:pic>
      <mc:AlternateContent xmlns:mc="http://schemas.openxmlformats.org/markup-compatibility/2006" xmlns:a14="http://schemas.microsoft.com/office/drawing/2010/main">
        <mc:Choice Requires="a14">
          <p:sp>
            <p:nvSpPr>
              <p:cNvPr id="277" name="テキスト ボックス 276">
                <a:extLst>
                  <a:ext uri="{FF2B5EF4-FFF2-40B4-BE49-F238E27FC236}">
                    <a16:creationId xmlns:a16="http://schemas.microsoft.com/office/drawing/2014/main" id="{185E924C-D473-7E31-2791-6C6A6D47B0B5}"/>
                  </a:ext>
                </a:extLst>
              </p:cNvPr>
              <p:cNvSpPr txBox="1"/>
              <p:nvPr/>
            </p:nvSpPr>
            <p:spPr>
              <a:xfrm>
                <a:off x="2031060" y="9900654"/>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77" name="テキスト ボックス 276">
                <a:extLst>
                  <a:ext uri="{FF2B5EF4-FFF2-40B4-BE49-F238E27FC236}">
                    <a16:creationId xmlns:a16="http://schemas.microsoft.com/office/drawing/2014/main" id="{185E924C-D473-7E31-2791-6C6A6D47B0B5}"/>
                  </a:ext>
                </a:extLst>
              </p:cNvPr>
              <p:cNvSpPr txBox="1">
                <a:spLocks noRot="1" noChangeAspect="1" noMove="1" noResize="1" noEditPoints="1" noAdjustHandles="1" noChangeArrowheads="1" noChangeShapeType="1" noTextEdit="1"/>
              </p:cNvSpPr>
              <p:nvPr/>
            </p:nvSpPr>
            <p:spPr>
              <a:xfrm>
                <a:off x="2031060" y="9900654"/>
                <a:ext cx="814710" cy="430887"/>
              </a:xfrm>
              <a:prstGeom prst="rect">
                <a:avLst/>
              </a:prstGeom>
              <a:blipFill>
                <a:blip r:embed="rId15"/>
                <a:stretch>
                  <a:fillRect l="-4545" r="-3030"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8" name="テキスト ボックス 277">
                <a:extLst>
                  <a:ext uri="{FF2B5EF4-FFF2-40B4-BE49-F238E27FC236}">
                    <a16:creationId xmlns:a16="http://schemas.microsoft.com/office/drawing/2014/main" id="{FA734656-A05F-5B8A-2837-1B844524488D}"/>
                  </a:ext>
                </a:extLst>
              </p:cNvPr>
              <p:cNvSpPr txBox="1"/>
              <p:nvPr/>
            </p:nvSpPr>
            <p:spPr>
              <a:xfrm>
                <a:off x="1984008" y="1113468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i="0" smtClean="0">
                          <a:latin typeface="Cambria Math" panose="02040503050406030204" pitchFamily="18" charset="0"/>
                        </a:rPr>
                        <m:t>𝐈</m:t>
                      </m:r>
                    </m:oMath>
                  </m:oMathPara>
                </a14:m>
                <a:endParaRPr kumimoji="1" lang="ja-JP" altLang="en-US" sz="2800" b="1" dirty="0"/>
              </a:p>
            </p:txBody>
          </p:sp>
        </mc:Choice>
        <mc:Fallback xmlns="">
          <p:sp>
            <p:nvSpPr>
              <p:cNvPr id="278" name="テキスト ボックス 277">
                <a:extLst>
                  <a:ext uri="{FF2B5EF4-FFF2-40B4-BE49-F238E27FC236}">
                    <a16:creationId xmlns:a16="http://schemas.microsoft.com/office/drawing/2014/main" id="{FA734656-A05F-5B8A-2837-1B844524488D}"/>
                  </a:ext>
                </a:extLst>
              </p:cNvPr>
              <p:cNvSpPr txBox="1">
                <a:spLocks noRot="1" noChangeAspect="1" noMove="1" noResize="1" noEditPoints="1" noAdjustHandles="1" noChangeArrowheads="1" noChangeShapeType="1" noTextEdit="1"/>
              </p:cNvSpPr>
              <p:nvPr/>
            </p:nvSpPr>
            <p:spPr>
              <a:xfrm>
                <a:off x="1984008" y="11134689"/>
                <a:ext cx="492507" cy="430887"/>
              </a:xfrm>
              <a:prstGeom prst="rect">
                <a:avLst/>
              </a:prstGeom>
              <a:blipFill>
                <a:blip r:embed="rId16"/>
                <a:stretch>
                  <a:fillRect b="-5714"/>
                </a:stretch>
              </a:blipFill>
            </p:spPr>
            <p:txBody>
              <a:bodyPr/>
              <a:lstStyle/>
              <a:p>
                <a:r>
                  <a:rPr lang="ja-JP" altLang="en-US">
                    <a:noFill/>
                  </a:rPr>
                  <a:t> </a:t>
                </a:r>
              </a:p>
            </p:txBody>
          </p:sp>
        </mc:Fallback>
      </mc:AlternateContent>
      <p:cxnSp>
        <p:nvCxnSpPr>
          <p:cNvPr id="279" name="直線矢印コネクタ 278">
            <a:extLst>
              <a:ext uri="{FF2B5EF4-FFF2-40B4-BE49-F238E27FC236}">
                <a16:creationId xmlns:a16="http://schemas.microsoft.com/office/drawing/2014/main" id="{4FA4FB80-7B2C-D4FA-1E26-D032CC28C889}"/>
              </a:ext>
            </a:extLst>
          </p:cNvPr>
          <p:cNvCxnSpPr>
            <a:cxnSpLocks/>
            <a:stCxn id="277" idx="3"/>
            <a:endCxn id="285" idx="1"/>
          </p:cNvCxnSpPr>
          <p:nvPr/>
        </p:nvCxnSpPr>
        <p:spPr>
          <a:xfrm>
            <a:off x="2845770" y="10116098"/>
            <a:ext cx="820168"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E638358B-477C-ED4B-4360-CF9629AA8759}"/>
              </a:ext>
            </a:extLst>
          </p:cNvPr>
          <p:cNvCxnSpPr>
            <a:cxnSpLocks/>
            <a:stCxn id="285" idx="3"/>
            <a:endCxn id="296" idx="1"/>
          </p:cNvCxnSpPr>
          <p:nvPr/>
        </p:nvCxnSpPr>
        <p:spPr>
          <a:xfrm flipV="1">
            <a:off x="5608938" y="10112088"/>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19">
            <a:extLst>
              <a:ext uri="{FF2B5EF4-FFF2-40B4-BE49-F238E27FC236}">
                <a16:creationId xmlns:a16="http://schemas.microsoft.com/office/drawing/2014/main" id="{CE0C6582-A421-C5E2-13D1-0A458F975858}"/>
              </a:ext>
            </a:extLst>
          </p:cNvPr>
          <p:cNvCxnSpPr>
            <a:cxnSpLocks/>
            <a:stCxn id="296" idx="3"/>
            <a:endCxn id="299" idx="1"/>
          </p:cNvCxnSpPr>
          <p:nvPr/>
        </p:nvCxnSpPr>
        <p:spPr>
          <a:xfrm>
            <a:off x="8951274" y="10112088"/>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直線矢印コネクタ 281">
            <a:extLst>
              <a:ext uri="{FF2B5EF4-FFF2-40B4-BE49-F238E27FC236}">
                <a16:creationId xmlns:a16="http://schemas.microsoft.com/office/drawing/2014/main" id="{A2295E78-CDC7-7445-F865-DEFA6D7DC947}"/>
              </a:ext>
            </a:extLst>
          </p:cNvPr>
          <p:cNvCxnSpPr>
            <a:cxnSpLocks/>
            <a:stCxn id="299" idx="3"/>
            <a:endCxn id="283" idx="1"/>
          </p:cNvCxnSpPr>
          <p:nvPr/>
        </p:nvCxnSpPr>
        <p:spPr>
          <a:xfrm>
            <a:off x="12047667" y="10733122"/>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3" name="テキスト ボックス 282">
                <a:extLst>
                  <a:ext uri="{FF2B5EF4-FFF2-40B4-BE49-F238E27FC236}">
                    <a16:creationId xmlns:a16="http://schemas.microsoft.com/office/drawing/2014/main" id="{BB3662A6-1EBB-E2D8-7AE1-E157E0C26BF0}"/>
                  </a:ext>
                </a:extLst>
              </p:cNvPr>
              <p:cNvSpPr txBox="1"/>
              <p:nvPr/>
            </p:nvSpPr>
            <p:spPr>
              <a:xfrm>
                <a:off x="12904337" y="10532185"/>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+2</m:t>
                          </m:r>
                        </m:sub>
                      </m:sSub>
                    </m:oMath>
                  </m:oMathPara>
                </a14:m>
                <a:endParaRPr kumimoji="1" lang="ja-JP" altLang="en-US" sz="2800" dirty="0"/>
              </a:p>
            </p:txBody>
          </p:sp>
        </mc:Choice>
        <mc:Fallback xmlns="">
          <p:sp>
            <p:nvSpPr>
              <p:cNvPr id="283" name="テキスト ボックス 282">
                <a:extLst>
                  <a:ext uri="{FF2B5EF4-FFF2-40B4-BE49-F238E27FC236}">
                    <a16:creationId xmlns:a16="http://schemas.microsoft.com/office/drawing/2014/main" id="{BB3662A6-1EBB-E2D8-7AE1-E157E0C26BF0}"/>
                  </a:ext>
                </a:extLst>
              </p:cNvPr>
              <p:cNvSpPr txBox="1">
                <a:spLocks noRot="1" noChangeAspect="1" noMove="1" noResize="1" noEditPoints="1" noAdjustHandles="1" noChangeArrowheads="1" noChangeShapeType="1" noTextEdit="1"/>
              </p:cNvSpPr>
              <p:nvPr/>
            </p:nvSpPr>
            <p:spPr>
              <a:xfrm>
                <a:off x="12904337" y="10532185"/>
                <a:ext cx="814710" cy="430887"/>
              </a:xfrm>
              <a:prstGeom prst="rect">
                <a:avLst/>
              </a:prstGeom>
              <a:blipFill>
                <a:blip r:embed="rId17"/>
                <a:stretch>
                  <a:fillRect l="-6250" r="-4688" b="-11429"/>
                </a:stretch>
              </a:blipFill>
            </p:spPr>
            <p:txBody>
              <a:bodyPr/>
              <a:lstStyle/>
              <a:p>
                <a:r>
                  <a:rPr lang="ja-JP" altLang="en-US">
                    <a:noFill/>
                  </a:rPr>
                  <a:t> </a:t>
                </a:r>
              </a:p>
            </p:txBody>
          </p:sp>
        </mc:Fallback>
      </mc:AlternateContent>
      <p:grpSp>
        <p:nvGrpSpPr>
          <p:cNvPr id="284" name="グループ化 283">
            <a:extLst>
              <a:ext uri="{FF2B5EF4-FFF2-40B4-BE49-F238E27FC236}">
                <a16:creationId xmlns:a16="http://schemas.microsoft.com/office/drawing/2014/main" id="{9C34ABBF-0103-7F3F-36C5-5CB61B776E74}"/>
              </a:ext>
            </a:extLst>
          </p:cNvPr>
          <p:cNvGrpSpPr/>
          <p:nvPr/>
        </p:nvGrpSpPr>
        <p:grpSpPr>
          <a:xfrm>
            <a:off x="3665938" y="9758534"/>
            <a:ext cx="1943000" cy="719356"/>
            <a:chOff x="3749692" y="11369202"/>
            <a:chExt cx="1943000" cy="719356"/>
          </a:xfrm>
        </p:grpSpPr>
        <p:sp>
          <p:nvSpPr>
            <p:cNvPr id="285" name="正方形/長方形 284">
              <a:extLst>
                <a:ext uri="{FF2B5EF4-FFF2-40B4-BE49-F238E27FC236}">
                  <a16:creationId xmlns:a16="http://schemas.microsoft.com/office/drawing/2014/main" id="{27EC2E1D-2732-BAC4-6A6D-281A796D48C3}"/>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86" name="テキスト ボックス 285">
                  <a:extLst>
                    <a:ext uri="{FF2B5EF4-FFF2-40B4-BE49-F238E27FC236}">
                      <a16:creationId xmlns:a16="http://schemas.microsoft.com/office/drawing/2014/main" id="{A1964DD9-3996-2BA3-8021-AA9FD0AD5D6D}"/>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86" name="テキスト ボックス 285">
                  <a:extLst>
                    <a:ext uri="{FF2B5EF4-FFF2-40B4-BE49-F238E27FC236}">
                      <a16:creationId xmlns:a16="http://schemas.microsoft.com/office/drawing/2014/main" id="{A1964DD9-3996-2BA3-8021-AA9FD0AD5D6D}"/>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8"/>
                  <a:stretch>
                    <a:fillRect l="-5960" r="-5960" b="-34286"/>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87" name="テキスト ボックス 286">
                <a:extLst>
                  <a:ext uri="{FF2B5EF4-FFF2-40B4-BE49-F238E27FC236}">
                    <a16:creationId xmlns:a16="http://schemas.microsoft.com/office/drawing/2014/main" id="{01855A5E-DE71-BB22-36A4-138ADFE4FEBD}"/>
                  </a:ext>
                </a:extLst>
              </p:cNvPr>
              <p:cNvSpPr txBox="1"/>
              <p:nvPr/>
            </p:nvSpPr>
            <p:spPr>
              <a:xfrm>
                <a:off x="8081725" y="9280574"/>
                <a:ext cx="6942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87" name="テキスト ボックス 286">
                <a:extLst>
                  <a:ext uri="{FF2B5EF4-FFF2-40B4-BE49-F238E27FC236}">
                    <a16:creationId xmlns:a16="http://schemas.microsoft.com/office/drawing/2014/main" id="{01855A5E-DE71-BB22-36A4-138ADFE4FEBD}"/>
                  </a:ext>
                </a:extLst>
              </p:cNvPr>
              <p:cNvSpPr txBox="1">
                <a:spLocks noRot="1" noChangeAspect="1" noMove="1" noResize="1" noEditPoints="1" noAdjustHandles="1" noChangeArrowheads="1" noChangeShapeType="1" noTextEdit="1"/>
              </p:cNvSpPr>
              <p:nvPr/>
            </p:nvSpPr>
            <p:spPr>
              <a:xfrm>
                <a:off x="8081725" y="9280574"/>
                <a:ext cx="694229" cy="430887"/>
              </a:xfrm>
              <a:prstGeom prst="rect">
                <a:avLst/>
              </a:prstGeom>
              <a:blipFill>
                <a:blip r:embed="rId19"/>
                <a:stretch>
                  <a:fillRect l="-5357" r="-3571" b="-14286"/>
                </a:stretch>
              </a:blipFill>
            </p:spPr>
            <p:txBody>
              <a:bodyPr/>
              <a:lstStyle/>
              <a:p>
                <a:r>
                  <a:rPr lang="ja-JP" altLang="en-US">
                    <a:noFill/>
                  </a:rPr>
                  <a:t> </a:t>
                </a:r>
              </a:p>
            </p:txBody>
          </p:sp>
        </mc:Fallback>
      </mc:AlternateContent>
      <p:cxnSp>
        <p:nvCxnSpPr>
          <p:cNvPr id="288" name="直線矢印コネクタ 287">
            <a:extLst>
              <a:ext uri="{FF2B5EF4-FFF2-40B4-BE49-F238E27FC236}">
                <a16:creationId xmlns:a16="http://schemas.microsoft.com/office/drawing/2014/main" id="{2502D6C6-DBE8-343F-2691-09B277B83FD7}"/>
              </a:ext>
            </a:extLst>
          </p:cNvPr>
          <p:cNvCxnSpPr>
            <a:cxnSpLocks/>
            <a:stCxn id="270" idx="2"/>
            <a:endCxn id="296" idx="0"/>
          </p:cNvCxnSpPr>
          <p:nvPr/>
        </p:nvCxnSpPr>
        <p:spPr>
          <a:xfrm flipH="1">
            <a:off x="7979774" y="7528302"/>
            <a:ext cx="4943" cy="222410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0" name="直線矢印コネクタ 289">
            <a:extLst>
              <a:ext uri="{FF2B5EF4-FFF2-40B4-BE49-F238E27FC236}">
                <a16:creationId xmlns:a16="http://schemas.microsoft.com/office/drawing/2014/main" id="{7FEE215C-2EB2-4303-7B09-0AD03F2968FB}"/>
              </a:ext>
            </a:extLst>
          </p:cNvPr>
          <p:cNvCxnSpPr>
            <a:cxnSpLocks/>
            <a:stCxn id="276" idx="3"/>
            <a:endCxn id="293" idx="2"/>
          </p:cNvCxnSpPr>
          <p:nvPr/>
        </p:nvCxnSpPr>
        <p:spPr>
          <a:xfrm flipV="1">
            <a:off x="3013674" y="11352673"/>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線矢印コネクタ 22">
            <a:extLst>
              <a:ext uri="{FF2B5EF4-FFF2-40B4-BE49-F238E27FC236}">
                <a16:creationId xmlns:a16="http://schemas.microsoft.com/office/drawing/2014/main" id="{97AE75E7-60DA-0E37-4526-AF103F1D9083}"/>
              </a:ext>
            </a:extLst>
          </p:cNvPr>
          <p:cNvCxnSpPr>
            <a:cxnSpLocks/>
            <a:stCxn id="293" idx="0"/>
            <a:endCxn id="299" idx="1"/>
          </p:cNvCxnSpPr>
          <p:nvPr/>
        </p:nvCxnSpPr>
        <p:spPr>
          <a:xfrm flipV="1">
            <a:off x="6978673" y="10733122"/>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2" name="グループ化 291">
            <a:extLst>
              <a:ext uri="{FF2B5EF4-FFF2-40B4-BE49-F238E27FC236}">
                <a16:creationId xmlns:a16="http://schemas.microsoft.com/office/drawing/2014/main" id="{A3E80203-2F17-F70D-09E9-3A1EED2A87E4}"/>
              </a:ext>
            </a:extLst>
          </p:cNvPr>
          <p:cNvGrpSpPr/>
          <p:nvPr/>
        </p:nvGrpSpPr>
        <p:grpSpPr>
          <a:xfrm>
            <a:off x="5546689" y="10791397"/>
            <a:ext cx="1431984" cy="1122552"/>
            <a:chOff x="5794565" y="9611968"/>
            <a:chExt cx="1431984" cy="1122552"/>
          </a:xfrm>
        </p:grpSpPr>
        <p:sp>
          <p:nvSpPr>
            <p:cNvPr id="293" name="台形 292">
              <a:extLst>
                <a:ext uri="{FF2B5EF4-FFF2-40B4-BE49-F238E27FC236}">
                  <a16:creationId xmlns:a16="http://schemas.microsoft.com/office/drawing/2014/main" id="{B091EEA4-AB85-3AE7-8C1A-54E94199C420}"/>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4" name="テキスト ボックス 293">
                  <a:extLst>
                    <a:ext uri="{FF2B5EF4-FFF2-40B4-BE49-F238E27FC236}">
                      <a16:creationId xmlns:a16="http://schemas.microsoft.com/office/drawing/2014/main" id="{58F80D79-ED15-165A-100C-A1A6A666F595}"/>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94" name="テキスト ボックス 293">
                  <a:extLst>
                    <a:ext uri="{FF2B5EF4-FFF2-40B4-BE49-F238E27FC236}">
                      <a16:creationId xmlns:a16="http://schemas.microsoft.com/office/drawing/2014/main" id="{58F80D79-ED15-165A-100C-A1A6A666F595}"/>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0"/>
                  <a:stretch>
                    <a:fillRect l="-6364" r="-5455" b="-5714"/>
                  </a:stretch>
                </a:blipFill>
              </p:spPr>
              <p:txBody>
                <a:bodyPr/>
                <a:lstStyle/>
                <a:p>
                  <a:r>
                    <a:rPr lang="ja-JP" altLang="en-US">
                      <a:noFill/>
                    </a:rPr>
                    <a:t> </a:t>
                  </a:r>
                </a:p>
              </p:txBody>
            </p:sp>
          </mc:Fallback>
        </mc:AlternateContent>
      </p:grpSp>
      <p:grpSp>
        <p:nvGrpSpPr>
          <p:cNvPr id="295" name="グループ化 294">
            <a:extLst>
              <a:ext uri="{FF2B5EF4-FFF2-40B4-BE49-F238E27FC236}">
                <a16:creationId xmlns:a16="http://schemas.microsoft.com/office/drawing/2014/main" id="{397F1010-BEED-3815-94C9-7AF896AE9D6F}"/>
              </a:ext>
            </a:extLst>
          </p:cNvPr>
          <p:cNvGrpSpPr/>
          <p:nvPr/>
        </p:nvGrpSpPr>
        <p:grpSpPr>
          <a:xfrm>
            <a:off x="7008274" y="9752410"/>
            <a:ext cx="1943000" cy="719356"/>
            <a:chOff x="3749692" y="11369202"/>
            <a:chExt cx="1943000" cy="719356"/>
          </a:xfrm>
        </p:grpSpPr>
        <p:sp>
          <p:nvSpPr>
            <p:cNvPr id="296" name="正方形/長方形 295">
              <a:extLst>
                <a:ext uri="{FF2B5EF4-FFF2-40B4-BE49-F238E27FC236}">
                  <a16:creationId xmlns:a16="http://schemas.microsoft.com/office/drawing/2014/main" id="{25C8505A-7B66-65A3-DBE2-F7B307A92800}"/>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7" name="テキスト ボックス 296">
                  <a:extLst>
                    <a:ext uri="{FF2B5EF4-FFF2-40B4-BE49-F238E27FC236}">
                      <a16:creationId xmlns:a16="http://schemas.microsoft.com/office/drawing/2014/main" id="{93D74842-23A3-2736-F957-263CAB46B80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97" name="テキスト ボックス 296">
                  <a:extLst>
                    <a:ext uri="{FF2B5EF4-FFF2-40B4-BE49-F238E27FC236}">
                      <a16:creationId xmlns:a16="http://schemas.microsoft.com/office/drawing/2014/main" id="{93D74842-23A3-2736-F957-263CAB46B80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1"/>
                  <a:stretch>
                    <a:fillRect b="-5714"/>
                  </a:stretch>
                </a:blipFill>
              </p:spPr>
              <p:txBody>
                <a:bodyPr/>
                <a:lstStyle/>
                <a:p>
                  <a:r>
                    <a:rPr lang="ja-JP" altLang="en-US">
                      <a:noFill/>
                    </a:rPr>
                    <a:t> </a:t>
                  </a:r>
                </a:p>
              </p:txBody>
            </p:sp>
          </mc:Fallback>
        </mc:AlternateContent>
      </p:grpSp>
      <p:grpSp>
        <p:nvGrpSpPr>
          <p:cNvPr id="298" name="グループ化 297">
            <a:extLst>
              <a:ext uri="{FF2B5EF4-FFF2-40B4-BE49-F238E27FC236}">
                <a16:creationId xmlns:a16="http://schemas.microsoft.com/office/drawing/2014/main" id="{9E89BA2D-D6D2-593D-B1EF-B741896D6A05}"/>
              </a:ext>
            </a:extLst>
          </p:cNvPr>
          <p:cNvGrpSpPr/>
          <p:nvPr/>
        </p:nvGrpSpPr>
        <p:grpSpPr>
          <a:xfrm>
            <a:off x="10104667" y="10373444"/>
            <a:ext cx="1943000" cy="719356"/>
            <a:chOff x="3749692" y="11369202"/>
            <a:chExt cx="1943000" cy="719356"/>
          </a:xfrm>
        </p:grpSpPr>
        <p:sp>
          <p:nvSpPr>
            <p:cNvPr id="299" name="正方形/長方形 298">
              <a:extLst>
                <a:ext uri="{FF2B5EF4-FFF2-40B4-BE49-F238E27FC236}">
                  <a16:creationId xmlns:a16="http://schemas.microsoft.com/office/drawing/2014/main" id="{879CE573-44C1-B764-878B-F3A54F5C74C6}"/>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00" name="テキスト ボックス 299">
                  <a:extLst>
                    <a:ext uri="{FF2B5EF4-FFF2-40B4-BE49-F238E27FC236}">
                      <a16:creationId xmlns:a16="http://schemas.microsoft.com/office/drawing/2014/main" id="{7440FC71-87C8-A4C2-1E2D-FC670DDB0E47}"/>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300" name="テキスト ボックス 299">
                  <a:extLst>
                    <a:ext uri="{FF2B5EF4-FFF2-40B4-BE49-F238E27FC236}">
                      <a16:creationId xmlns:a16="http://schemas.microsoft.com/office/drawing/2014/main" id="{7440FC71-87C8-A4C2-1E2D-FC670DDB0E47}"/>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2"/>
                  <a:stretch>
                    <a:fillRect b="-5714"/>
                  </a:stretch>
                </a:blipFill>
              </p:spPr>
              <p:txBody>
                <a:bodyPr/>
                <a:lstStyle/>
                <a:p>
                  <a:r>
                    <a:rPr lang="ja-JP" altLang="en-US">
                      <a:noFill/>
                    </a:rPr>
                    <a:t> </a:t>
                  </a:r>
                </a:p>
              </p:txBody>
            </p:sp>
          </mc:Fallback>
        </mc:AlternateContent>
      </p:grpSp>
      <p:cxnSp>
        <p:nvCxnSpPr>
          <p:cNvPr id="301" name="直線矢印コネクタ 300">
            <a:extLst>
              <a:ext uri="{FF2B5EF4-FFF2-40B4-BE49-F238E27FC236}">
                <a16:creationId xmlns:a16="http://schemas.microsoft.com/office/drawing/2014/main" id="{86FEAC7B-8D99-59A9-EDFA-226FFC4EB47B}"/>
              </a:ext>
            </a:extLst>
          </p:cNvPr>
          <p:cNvCxnSpPr>
            <a:cxnSpLocks/>
            <a:stCxn id="296" idx="2"/>
          </p:cNvCxnSpPr>
          <p:nvPr/>
        </p:nvCxnSpPr>
        <p:spPr>
          <a:xfrm>
            <a:off x="7979774" y="10471766"/>
            <a:ext cx="0" cy="163574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421" name="表 255">
            <a:extLst>
              <a:ext uri="{FF2B5EF4-FFF2-40B4-BE49-F238E27FC236}">
                <a16:creationId xmlns:a16="http://schemas.microsoft.com/office/drawing/2014/main" id="{9E9B6337-A505-26AE-A8FC-9981C77C4405}"/>
              </a:ext>
            </a:extLst>
          </p:cNvPr>
          <p:cNvGraphicFramePr>
            <a:graphicFrameLocks noGrp="1"/>
          </p:cNvGraphicFramePr>
          <p:nvPr/>
        </p:nvGraphicFramePr>
        <p:xfrm>
          <a:off x="15329206" y="37152041"/>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これが私のスタンド</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おれのボケに対する評価</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このとおり忙しいんだから早く</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宿題</a:t>
                      </a:r>
                      <a:r>
                        <a:rPr kumimoji="1" lang="ja-JP" altLang="en-US" sz="2800" spc="-100" baseline="0">
                          <a:latin typeface="UD Digi Kyokasho NK-R" panose="02020400000000000000" pitchFamily="18" charset="-128"/>
                          <a:ea typeface="UD Digi Kyokasho NK-R" panose="02020400000000000000" pitchFamily="18" charset="-128"/>
                        </a:rPr>
                        <a:t>を</a:t>
                      </a:r>
                    </a:p>
                  </a:txBody>
                  <a:tcPr anchor="ctr"/>
                </a:tc>
                <a:extLst>
                  <a:ext uri="{0D108BD9-81ED-4DB2-BD59-A6C34878D82A}">
                    <a16:rowId xmlns:a16="http://schemas.microsoft.com/office/drawing/2014/main" val="1783522377"/>
                  </a:ext>
                </a:extLst>
              </a:tr>
            </a:tbl>
          </a:graphicData>
        </a:graphic>
      </p:graphicFrame>
      <p:pic>
        <p:nvPicPr>
          <p:cNvPr id="19" name="図 18">
            <a:extLst>
              <a:ext uri="{FF2B5EF4-FFF2-40B4-BE49-F238E27FC236}">
                <a16:creationId xmlns:a16="http://schemas.microsoft.com/office/drawing/2014/main" id="{C0BDE784-B10D-2778-AC98-505AD98FC1C5}"/>
              </a:ext>
            </a:extLst>
          </p:cNvPr>
          <p:cNvPicPr>
            <a:picLocks noChangeAspect="1"/>
          </p:cNvPicPr>
          <p:nvPr/>
        </p:nvPicPr>
        <p:blipFill>
          <a:blip r:embed="rId23"/>
          <a:stretch>
            <a:fillRect/>
          </a:stretch>
        </p:blipFill>
        <p:spPr>
          <a:xfrm>
            <a:off x="15913172" y="37783043"/>
            <a:ext cx="2402435" cy="2402435"/>
          </a:xfrm>
          <a:prstGeom prst="rect">
            <a:avLst/>
          </a:prstGeom>
        </p:spPr>
      </p:pic>
      <p:grpSp>
        <p:nvGrpSpPr>
          <p:cNvPr id="16" name="グループ化 15">
            <a:extLst>
              <a:ext uri="{FF2B5EF4-FFF2-40B4-BE49-F238E27FC236}">
                <a16:creationId xmlns:a16="http://schemas.microsoft.com/office/drawing/2014/main" id="{616ED7B0-C8FA-C46D-B08B-23B37E96A617}"/>
              </a:ext>
            </a:extLst>
          </p:cNvPr>
          <p:cNvGrpSpPr/>
          <p:nvPr/>
        </p:nvGrpSpPr>
        <p:grpSpPr>
          <a:xfrm>
            <a:off x="212936" y="23446093"/>
            <a:ext cx="14760000" cy="8520674"/>
            <a:chOff x="191499" y="4692374"/>
            <a:chExt cx="14760000" cy="8520674"/>
          </a:xfrm>
        </p:grpSpPr>
        <p:sp>
          <p:nvSpPr>
            <p:cNvPr id="17" name="四角形: 角を丸くする 29">
              <a:extLst>
                <a:ext uri="{FF2B5EF4-FFF2-40B4-BE49-F238E27FC236}">
                  <a16:creationId xmlns:a16="http://schemas.microsoft.com/office/drawing/2014/main" id="{4B05E3D0-4699-E5A1-64BB-5A1CFC63D341}"/>
                </a:ext>
              </a:extLst>
            </p:cNvPr>
            <p:cNvSpPr/>
            <p:nvPr/>
          </p:nvSpPr>
          <p:spPr>
            <a:xfrm>
              <a:off x="191499" y="5101306"/>
              <a:ext cx="14760000" cy="8063676"/>
            </a:xfrm>
            <a:prstGeom prst="roundRect">
              <a:avLst>
                <a:gd name="adj" fmla="val 2868"/>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30">
              <a:extLst>
                <a:ext uri="{FF2B5EF4-FFF2-40B4-BE49-F238E27FC236}">
                  <a16:creationId xmlns:a16="http://schemas.microsoft.com/office/drawing/2014/main" id="{1B9C66BC-7CF3-4C13-C82B-343E7DF3E09D}"/>
                </a:ext>
              </a:extLst>
            </p:cNvPr>
            <p:cNvSpPr/>
            <p:nvPr/>
          </p:nvSpPr>
          <p:spPr>
            <a:xfrm>
              <a:off x="506889" y="4692374"/>
              <a:ext cx="2745816" cy="809753"/>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提案手法</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8103660E-7864-B952-E9D4-8B1BFBE455FD}"/>
                    </a:ext>
                  </a:extLst>
                </p:cNvPr>
                <p:cNvSpPr txBox="1"/>
                <p:nvPr/>
              </p:nvSpPr>
              <p:spPr>
                <a:xfrm>
                  <a:off x="318217" y="5734078"/>
                  <a:ext cx="14633281" cy="7478970"/>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の画像を学習した</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a:t>
                  </a:r>
                  <a:r>
                    <a:rPr lang="ja-JP" altLang="en-US" sz="2800">
                      <a:solidFill>
                        <a:srgbClr val="FFC000"/>
                      </a:solidFill>
                      <a:latin typeface="UD Digi Kyokasho NK-R" panose="02020400000000000000" pitchFamily="18" charset="-128"/>
                      <a:ea typeface="UD Digi Kyokasho NK-R" panose="02020400000000000000" pitchFamily="18" charset="-128"/>
                    </a:rPr>
                    <a:t>エンコーダ</a:t>
                  </a:r>
                  <a:r>
                    <a:rPr lang="ja-JP" altLang="en-US" sz="2800">
                      <a:latin typeface="UD Digi Kyokasho NK-R" panose="02020400000000000000" pitchFamily="18" charset="-128"/>
                      <a:ea typeface="UD Digi Kyokasho NK-R" panose="02020400000000000000" pitchFamily="18" charset="-128"/>
                    </a:rPr>
                    <a:t>を使用</a:t>
                  </a:r>
                  <a:r>
                    <a:rPr lang="en-US" altLang="ja-JP" sz="2800" dirty="0">
                      <a:latin typeface="UD Digi Kyokasho NK-R" panose="02020400000000000000" pitchFamily="18" charset="-128"/>
                      <a:ea typeface="UD Digi Kyokasho NK-R" panose="02020400000000000000" pitchFamily="18" charset="-128"/>
                    </a:rPr>
                    <a:t>[2]</a:t>
                  </a:r>
                </a:p>
                <a:p>
                  <a:pPr lvl="1"/>
                  <a:r>
                    <a:rPr lang="ja-JP" altLang="en-US" sz="2800">
                      <a:latin typeface="UD Digi Kyokasho NK-R" panose="02020400000000000000" pitchFamily="18" charset="-128"/>
                      <a:ea typeface="UD Digi Kyokasho NK-R" panose="02020400000000000000" pitchFamily="18" charset="-128"/>
                    </a:rPr>
                    <a:t>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のデータに適したエンコーダを用いることで，高精度に学習できることが期待できる</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デバイスに適した性能のエンコーダを用いることができる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デメリット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を事前に学習する必要がある</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3200" dirty="0" err="1">
                      <a:latin typeface="UD Digi Kyokasho NK-R" panose="02020400000000000000" pitchFamily="18" charset="-128"/>
                      <a:ea typeface="UD Digi Kyokasho NK-R" panose="02020400000000000000" pitchFamily="18" charset="-128"/>
                    </a:rPr>
                    <a:t>AutoEncoder</a:t>
                  </a:r>
                  <a:r>
                    <a:rPr lang="en-US" altLang="ja-JP" sz="3200" dirty="0">
                      <a:latin typeface="UD Digi Kyokasho NK-R" panose="02020400000000000000" pitchFamily="18" charset="-128"/>
                      <a:ea typeface="UD Digi Kyokasho NK-R" panose="02020400000000000000" pitchFamily="18" charset="-128"/>
                    </a:rPr>
                    <a:t>[4]</a:t>
                  </a:r>
                </a:p>
                <a:p>
                  <a:pPr lvl="2"/>
                  <a:r>
                    <a:rPr lang="ja-JP" altLang="en-US" sz="2800">
                      <a:latin typeface="UD Digi Kyokasho NK-R" panose="02020400000000000000" pitchFamily="18" charset="-128"/>
                      <a:ea typeface="UD Digi Kyokasho NK-R" panose="02020400000000000000" pitchFamily="18" charset="-128"/>
                    </a:rPr>
                    <a:t>データの次元圧縮や， 特徴抽出が可能</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学習時にデータに対するアノテーションを必要としない</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任意の構造のエンコーダ・デコーダを定義できる</a:t>
                  </a:r>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入力</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a:latin typeface="Cambria Math" panose="02040503050406030204" pitchFamily="18" charset="0"/>
                        </a:rPr>
                        <m:t>𝑧</m:t>
                      </m:r>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特徴量</a:t>
                  </a:r>
                  <a:endParaRPr lang="en-US" altLang="ja-JP" sz="2800" b="1" dirty="0">
                    <a:latin typeface="UD Digi Kyokasho NK-R" panose="02020400000000000000" pitchFamily="18" charset="-128"/>
                    <a:ea typeface="UD Digi Kyokasho NK-R" panose="02020400000000000000" pitchFamily="18" charset="-128"/>
                  </a:endParaRPr>
                </a:p>
              </p:txBody>
            </p:sp>
          </mc:Choice>
          <mc:Fallback xmlns="">
            <p:sp>
              <p:nvSpPr>
                <p:cNvPr id="21" name="テキスト ボックス 20">
                  <a:extLst>
                    <a:ext uri="{FF2B5EF4-FFF2-40B4-BE49-F238E27FC236}">
                      <a16:creationId xmlns:a16="http://schemas.microsoft.com/office/drawing/2014/main" id="{8103660E-7864-B952-E9D4-8B1BFBE455FD}"/>
                    </a:ext>
                  </a:extLst>
                </p:cNvPr>
                <p:cNvSpPr txBox="1">
                  <a:spLocks noRot="1" noChangeAspect="1" noMove="1" noResize="1" noEditPoints="1" noAdjustHandles="1" noChangeArrowheads="1" noChangeShapeType="1" noTextEdit="1"/>
                </p:cNvSpPr>
                <p:nvPr/>
              </p:nvSpPr>
              <p:spPr>
                <a:xfrm>
                  <a:off x="318217" y="5734078"/>
                  <a:ext cx="14633281" cy="7478970"/>
                </a:xfrm>
                <a:prstGeom prst="rect">
                  <a:avLst/>
                </a:prstGeom>
                <a:blipFill>
                  <a:blip r:embed="rId24"/>
                  <a:stretch>
                    <a:fillRect t="-1017" b="-1186"/>
                  </a:stretch>
                </a:blipFill>
              </p:spPr>
              <p:txBody>
                <a:bodyPr/>
                <a:lstStyle/>
                <a:p>
                  <a:r>
                    <a:rPr lang="ja-JP" altLang="en-US">
                      <a:noFill/>
                    </a:rPr>
                    <a:t> </a:t>
                  </a:r>
                </a:p>
              </p:txBody>
            </p:sp>
          </mc:Fallback>
        </mc:AlternateContent>
      </p:grpSp>
      <p:sp>
        <p:nvSpPr>
          <p:cNvPr id="71" name="正方形/長方形 70">
            <a:extLst>
              <a:ext uri="{FF2B5EF4-FFF2-40B4-BE49-F238E27FC236}">
                <a16:creationId xmlns:a16="http://schemas.microsoft.com/office/drawing/2014/main" id="{C1922F36-5D13-A2B0-A6B8-8A3B6DDAC105}"/>
              </a:ext>
            </a:extLst>
          </p:cNvPr>
          <p:cNvSpPr/>
          <p:nvPr/>
        </p:nvSpPr>
        <p:spPr>
          <a:xfrm>
            <a:off x="4690186" y="29859810"/>
            <a:ext cx="1796586" cy="1374387"/>
          </a:xfrm>
          <a:prstGeom prst="rect">
            <a:avLst/>
          </a:prstGeom>
          <a:solidFill>
            <a:srgbClr val="FFC000"/>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E6ABED7C-E5B2-78C3-4EBE-4A7252D7FCEE}"/>
              </a:ext>
            </a:extLst>
          </p:cNvPr>
          <p:cNvGrpSpPr/>
          <p:nvPr/>
        </p:nvGrpSpPr>
        <p:grpSpPr>
          <a:xfrm>
            <a:off x="1545856" y="29784965"/>
            <a:ext cx="1496736" cy="1496736"/>
            <a:chOff x="1545856" y="16973525"/>
            <a:chExt cx="1496736" cy="1496736"/>
          </a:xfrm>
        </p:grpSpPr>
        <p:pic>
          <p:nvPicPr>
            <p:cNvPr id="24" name="図 23" descr="帽子を被っている女性&#10;&#10;自動的に生成された説明">
              <a:extLst>
                <a:ext uri="{FF2B5EF4-FFF2-40B4-BE49-F238E27FC236}">
                  <a16:creationId xmlns:a16="http://schemas.microsoft.com/office/drawing/2014/main" id="{F4DBBA9F-0A23-EE52-49CE-26421790D6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C1C759C4-0F65-CC32-E87F-475E9C5143BC}"/>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5" name="テキスト ボックス 24">
                  <a:extLst>
                    <a:ext uri="{FF2B5EF4-FFF2-40B4-BE49-F238E27FC236}">
                      <a16:creationId xmlns:a16="http://schemas.microsoft.com/office/drawing/2014/main" id="{C1C759C4-0F65-CC32-E87F-475E9C5143BC}"/>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5"/>
                  <a:stretch>
                    <a:fillRect b="-5714"/>
                  </a:stretch>
                </a:blipFill>
              </p:spPr>
              <p:txBody>
                <a:bodyPr/>
                <a:lstStyle/>
                <a:p>
                  <a:r>
                    <a:rPr lang="ja-JP" altLang="en-US">
                      <a:noFill/>
                    </a:rPr>
                    <a:t> </a:t>
                  </a:r>
                </a:p>
              </p:txBody>
            </p:sp>
          </mc:Fallback>
        </mc:AlternateContent>
      </p:grpSp>
      <p:cxnSp>
        <p:nvCxnSpPr>
          <p:cNvPr id="38" name="直線矢印コネクタ 37">
            <a:extLst>
              <a:ext uri="{FF2B5EF4-FFF2-40B4-BE49-F238E27FC236}">
                <a16:creationId xmlns:a16="http://schemas.microsoft.com/office/drawing/2014/main" id="{E0A6D5F8-B787-79BA-13C2-9F0C284BFDB6}"/>
              </a:ext>
            </a:extLst>
          </p:cNvPr>
          <p:cNvCxnSpPr>
            <a:cxnSpLocks/>
            <a:stCxn id="24" idx="3"/>
            <a:endCxn id="41" idx="2"/>
          </p:cNvCxnSpPr>
          <p:nvPr/>
        </p:nvCxnSpPr>
        <p:spPr>
          <a:xfrm flipV="1">
            <a:off x="3042592" y="30526865"/>
            <a:ext cx="1853074"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グループ化 38">
            <a:extLst>
              <a:ext uri="{FF2B5EF4-FFF2-40B4-BE49-F238E27FC236}">
                <a16:creationId xmlns:a16="http://schemas.microsoft.com/office/drawing/2014/main" id="{25EB4B6D-2DC5-B7AC-41CE-055879FF73A2}"/>
              </a:ext>
            </a:extLst>
          </p:cNvPr>
          <p:cNvGrpSpPr/>
          <p:nvPr/>
        </p:nvGrpSpPr>
        <p:grpSpPr>
          <a:xfrm>
            <a:off x="4895666" y="29965589"/>
            <a:ext cx="1431984" cy="1122552"/>
            <a:chOff x="5794565" y="9611968"/>
            <a:chExt cx="1431984" cy="1122552"/>
          </a:xfrm>
        </p:grpSpPr>
        <p:sp>
          <p:nvSpPr>
            <p:cNvPr id="41" name="台形 40">
              <a:extLst>
                <a:ext uri="{FF2B5EF4-FFF2-40B4-BE49-F238E27FC236}">
                  <a16:creationId xmlns:a16="http://schemas.microsoft.com/office/drawing/2014/main" id="{D2837E79-FF3C-7953-9085-2F82397EE9D4}"/>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52394F01-7B61-CA49-CE8E-F5865A3032D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42" name="テキスト ボックス 41">
                  <a:extLst>
                    <a:ext uri="{FF2B5EF4-FFF2-40B4-BE49-F238E27FC236}">
                      <a16:creationId xmlns:a16="http://schemas.microsoft.com/office/drawing/2014/main" id="{52394F01-7B61-CA49-CE8E-F5865A3032D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6"/>
                  <a:stretch>
                    <a:fillRect l="-6364" r="-5455" b="-571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F8BF2742-65B0-D356-0E9B-4A868A6BA9D5}"/>
                  </a:ext>
                </a:extLst>
              </p:cNvPr>
              <p:cNvSpPr txBox="1"/>
              <p:nvPr/>
            </p:nvSpPr>
            <p:spPr>
              <a:xfrm>
                <a:off x="7854200" y="30301327"/>
                <a:ext cx="2610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i="1" smtClean="0">
                          <a:latin typeface="Cambria Math" panose="02040503050406030204" pitchFamily="18" charset="0"/>
                        </a:rPr>
                        <m:t>𝑧</m:t>
                      </m:r>
                    </m:oMath>
                  </m:oMathPara>
                </a14:m>
                <a:endParaRPr kumimoji="1" lang="ja-JP" altLang="en-US" sz="2800" dirty="0"/>
              </a:p>
            </p:txBody>
          </p:sp>
        </mc:Choice>
        <mc:Fallback xmlns="">
          <p:sp>
            <p:nvSpPr>
              <p:cNvPr id="43" name="テキスト ボックス 42">
                <a:extLst>
                  <a:ext uri="{FF2B5EF4-FFF2-40B4-BE49-F238E27FC236}">
                    <a16:creationId xmlns:a16="http://schemas.microsoft.com/office/drawing/2014/main" id="{F8BF2742-65B0-D356-0E9B-4A868A6BA9D5}"/>
                  </a:ext>
                </a:extLst>
              </p:cNvPr>
              <p:cNvSpPr txBox="1">
                <a:spLocks noRot="1" noChangeAspect="1" noMove="1" noResize="1" noEditPoints="1" noAdjustHandles="1" noChangeArrowheads="1" noChangeShapeType="1" noTextEdit="1"/>
              </p:cNvSpPr>
              <p:nvPr/>
            </p:nvSpPr>
            <p:spPr>
              <a:xfrm>
                <a:off x="7854200" y="30301327"/>
                <a:ext cx="261034" cy="430887"/>
              </a:xfrm>
              <a:prstGeom prst="rect">
                <a:avLst/>
              </a:prstGeom>
              <a:blipFill>
                <a:blip r:embed="rId27"/>
                <a:stretch>
                  <a:fillRect l="-19048" r="-14286"/>
                </a:stretch>
              </a:blipFill>
            </p:spPr>
            <p:txBody>
              <a:bodyPr/>
              <a:lstStyle/>
              <a:p>
                <a:r>
                  <a:rPr lang="ja-JP" altLang="en-US">
                    <a:noFill/>
                  </a:rPr>
                  <a:t> </a:t>
                </a:r>
              </a:p>
            </p:txBody>
          </p:sp>
        </mc:Fallback>
      </mc:AlternateContent>
      <p:cxnSp>
        <p:nvCxnSpPr>
          <p:cNvPr id="44" name="直線矢印コネクタ 43">
            <a:extLst>
              <a:ext uri="{FF2B5EF4-FFF2-40B4-BE49-F238E27FC236}">
                <a16:creationId xmlns:a16="http://schemas.microsoft.com/office/drawing/2014/main" id="{581D1025-5FE8-93AE-EDEB-DAF3B14052DA}"/>
              </a:ext>
            </a:extLst>
          </p:cNvPr>
          <p:cNvCxnSpPr>
            <a:cxnSpLocks/>
            <a:stCxn id="42" idx="3"/>
            <a:endCxn id="43" idx="1"/>
          </p:cNvCxnSpPr>
          <p:nvPr/>
        </p:nvCxnSpPr>
        <p:spPr>
          <a:xfrm flipV="1">
            <a:off x="6316764" y="30516771"/>
            <a:ext cx="1537436" cy="75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714E1F2A-4569-4501-DB7F-9F33D9B0CEB0}"/>
              </a:ext>
            </a:extLst>
          </p:cNvPr>
          <p:cNvGrpSpPr/>
          <p:nvPr/>
        </p:nvGrpSpPr>
        <p:grpSpPr>
          <a:xfrm>
            <a:off x="9500859" y="29965589"/>
            <a:ext cx="1431984" cy="1122552"/>
            <a:chOff x="5794565" y="9611968"/>
            <a:chExt cx="1431984" cy="1122552"/>
          </a:xfrm>
        </p:grpSpPr>
        <p:sp>
          <p:nvSpPr>
            <p:cNvPr id="46" name="台形 45">
              <a:extLst>
                <a:ext uri="{FF2B5EF4-FFF2-40B4-BE49-F238E27FC236}">
                  <a16:creationId xmlns:a16="http://schemas.microsoft.com/office/drawing/2014/main" id="{5CAA1B4C-500A-B11C-53E1-5EA9ED4A7D95}"/>
                </a:ext>
              </a:extLst>
            </p:cNvPr>
            <p:cNvSpPr/>
            <p:nvPr/>
          </p:nvSpPr>
          <p:spPr>
            <a:xfrm rot="162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70680F1A-8CC2-FA82-6D68-8014CEE26FD4}"/>
                    </a:ext>
                  </a:extLst>
                </p:cNvPr>
                <p:cNvSpPr txBox="1"/>
                <p:nvPr/>
              </p:nvSpPr>
              <p:spPr>
                <a:xfrm>
                  <a:off x="5827591" y="9955261"/>
                  <a:ext cx="13896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𝑑𝑒𝑐𝑜𝑑𝑒𝑟</m:t>
                        </m:r>
                      </m:oMath>
                    </m:oMathPara>
                  </a14:m>
                  <a:endParaRPr kumimoji="1" lang="ja-JP" altLang="en-US" sz="2800" dirty="0"/>
                </a:p>
              </p:txBody>
            </p:sp>
          </mc:Choice>
          <mc:Fallback xmlns="">
            <p:sp>
              <p:nvSpPr>
                <p:cNvPr id="47" name="テキスト ボックス 46">
                  <a:extLst>
                    <a:ext uri="{FF2B5EF4-FFF2-40B4-BE49-F238E27FC236}">
                      <a16:creationId xmlns:a16="http://schemas.microsoft.com/office/drawing/2014/main" id="{70680F1A-8CC2-FA82-6D68-8014CEE26FD4}"/>
                    </a:ext>
                  </a:extLst>
                </p:cNvPr>
                <p:cNvSpPr txBox="1">
                  <a:spLocks noRot="1" noChangeAspect="1" noMove="1" noResize="1" noEditPoints="1" noAdjustHandles="1" noChangeArrowheads="1" noChangeShapeType="1" noTextEdit="1"/>
                </p:cNvSpPr>
                <p:nvPr/>
              </p:nvSpPr>
              <p:spPr>
                <a:xfrm>
                  <a:off x="5827591" y="9955261"/>
                  <a:ext cx="1389676" cy="430887"/>
                </a:xfrm>
                <a:prstGeom prst="rect">
                  <a:avLst/>
                </a:prstGeom>
                <a:blipFill>
                  <a:blip r:embed="rId28"/>
                  <a:stretch>
                    <a:fillRect l="-5405" r="-4505" b="-5714"/>
                  </a:stretch>
                </a:blipFill>
              </p:spPr>
              <p:txBody>
                <a:bodyPr/>
                <a:lstStyle/>
                <a:p>
                  <a:r>
                    <a:rPr lang="ja-JP" altLang="en-US">
                      <a:noFill/>
                    </a:rPr>
                    <a:t> </a:t>
                  </a:r>
                </a:p>
              </p:txBody>
            </p:sp>
          </mc:Fallback>
        </mc:AlternateContent>
      </p:grpSp>
      <p:cxnSp>
        <p:nvCxnSpPr>
          <p:cNvPr id="49" name="直線矢印コネクタ 48">
            <a:extLst>
              <a:ext uri="{FF2B5EF4-FFF2-40B4-BE49-F238E27FC236}">
                <a16:creationId xmlns:a16="http://schemas.microsoft.com/office/drawing/2014/main" id="{355260CC-C0E8-D419-E8DC-83D05DD6F323}"/>
              </a:ext>
            </a:extLst>
          </p:cNvPr>
          <p:cNvCxnSpPr>
            <a:cxnSpLocks/>
            <a:stCxn id="43" idx="3"/>
            <a:endCxn id="46" idx="0"/>
          </p:cNvCxnSpPr>
          <p:nvPr/>
        </p:nvCxnSpPr>
        <p:spPr>
          <a:xfrm>
            <a:off x="8115234" y="30516771"/>
            <a:ext cx="1385625" cy="100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C833BA0A-A362-C813-3918-2250B5FCC100}"/>
              </a:ext>
            </a:extLst>
          </p:cNvPr>
          <p:cNvGrpSpPr/>
          <p:nvPr/>
        </p:nvGrpSpPr>
        <p:grpSpPr>
          <a:xfrm>
            <a:off x="12792225" y="29775957"/>
            <a:ext cx="1496736" cy="1496736"/>
            <a:chOff x="1545856" y="16973525"/>
            <a:chExt cx="1496736" cy="1496736"/>
          </a:xfrm>
        </p:grpSpPr>
        <p:pic>
          <p:nvPicPr>
            <p:cNvPr id="51" name="図 50" descr="帽子を被っている女性&#10;&#10;自動的に生成された説明">
              <a:extLst>
                <a:ext uri="{FF2B5EF4-FFF2-40B4-BE49-F238E27FC236}">
                  <a16:creationId xmlns:a16="http://schemas.microsoft.com/office/drawing/2014/main" id="{D04AAEC9-9912-214C-E5EB-C6671536A5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52" name="テキスト ボックス 51">
                  <a:extLst>
                    <a:ext uri="{FF2B5EF4-FFF2-40B4-BE49-F238E27FC236}">
                      <a16:creationId xmlns:a16="http://schemas.microsoft.com/office/drawing/2014/main" id="{1860838F-943D-7B64-F3C4-4F159BEC7B5E}"/>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rPr>
                            </m:ctrlPr>
                          </m:sSupPr>
                          <m:e>
                            <m:r>
                              <a:rPr kumimoji="1" lang="en-US" altLang="ja-JP" sz="2800" b="1">
                                <a:latin typeface="Cambria Math" panose="02040503050406030204" pitchFamily="18" charset="0"/>
                              </a:rPr>
                              <m:t>𝐈</m:t>
                            </m:r>
                          </m:e>
                          <m:sup>
                            <m:r>
                              <a:rPr kumimoji="1" lang="en-US" altLang="ja-JP" sz="2800" b="0" i="0" smtClean="0">
                                <a:latin typeface="Cambria Math" panose="02040503050406030204" pitchFamily="18" charset="0"/>
                              </a:rPr>
                              <m:t>′</m:t>
                            </m:r>
                          </m:sup>
                        </m:sSup>
                      </m:oMath>
                    </m:oMathPara>
                  </a14:m>
                  <a:endParaRPr kumimoji="1" lang="ja-JP" altLang="en-US" sz="2800" dirty="0"/>
                </a:p>
              </p:txBody>
            </p:sp>
          </mc:Choice>
          <mc:Fallback xmlns="">
            <p:sp>
              <p:nvSpPr>
                <p:cNvPr id="52" name="テキスト ボックス 51">
                  <a:extLst>
                    <a:ext uri="{FF2B5EF4-FFF2-40B4-BE49-F238E27FC236}">
                      <a16:creationId xmlns:a16="http://schemas.microsoft.com/office/drawing/2014/main" id="{1860838F-943D-7B64-F3C4-4F159BEC7B5E}"/>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9"/>
                  <a:stretch>
                    <a:fillRect b="-5714"/>
                  </a:stretch>
                </a:blipFill>
              </p:spPr>
              <p:txBody>
                <a:bodyPr/>
                <a:lstStyle/>
                <a:p>
                  <a:r>
                    <a:rPr lang="ja-JP" altLang="en-US">
                      <a:noFill/>
                    </a:rPr>
                    <a:t> </a:t>
                  </a:r>
                </a:p>
              </p:txBody>
            </p:sp>
          </mc:Fallback>
        </mc:AlternateContent>
      </p:grpSp>
      <p:cxnSp>
        <p:nvCxnSpPr>
          <p:cNvPr id="53" name="直線矢印コネクタ 52">
            <a:extLst>
              <a:ext uri="{FF2B5EF4-FFF2-40B4-BE49-F238E27FC236}">
                <a16:creationId xmlns:a16="http://schemas.microsoft.com/office/drawing/2014/main" id="{5AAED562-D412-AFAE-2198-8120CD7A0264}"/>
              </a:ext>
            </a:extLst>
          </p:cNvPr>
          <p:cNvCxnSpPr>
            <a:cxnSpLocks/>
            <a:stCxn id="47" idx="3"/>
            <a:endCxn id="51" idx="1"/>
          </p:cNvCxnSpPr>
          <p:nvPr/>
        </p:nvCxnSpPr>
        <p:spPr>
          <a:xfrm flipV="1">
            <a:off x="10923561" y="30524325"/>
            <a:ext cx="186866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1" name="表 255">
            <a:extLst>
              <a:ext uri="{FF2B5EF4-FFF2-40B4-BE49-F238E27FC236}">
                <a16:creationId xmlns:a16="http://schemas.microsoft.com/office/drawing/2014/main" id="{C843D60C-48A5-B579-246D-9B7389C06D50}"/>
              </a:ext>
            </a:extLst>
          </p:cNvPr>
          <p:cNvGraphicFramePr>
            <a:graphicFrameLocks noGrp="1"/>
          </p:cNvGraphicFramePr>
          <p:nvPr>
            <p:extLst>
              <p:ext uri="{D42A27DB-BD31-4B8C-83A1-F6EECF244321}">
                <p14:modId xmlns:p14="http://schemas.microsoft.com/office/powerpoint/2010/main" val="2676835195"/>
              </p:ext>
            </p:extLst>
          </p:nvPr>
        </p:nvGraphicFramePr>
        <p:xfrm>
          <a:off x="15329206" y="30952117"/>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紙がない</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あなたの瞳に乾杯</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手を叩くとキレる</a:t>
                      </a:r>
                    </a:p>
                  </a:txBody>
                  <a:tcPr anchor="ctr"/>
                </a:tc>
                <a:extLst>
                  <a:ext uri="{0D108BD9-81ED-4DB2-BD59-A6C34878D82A}">
                    <a16:rowId xmlns:a16="http://schemas.microsoft.com/office/drawing/2014/main" val="1783522377"/>
                  </a:ext>
                </a:extLst>
              </a:tr>
            </a:tbl>
          </a:graphicData>
        </a:graphic>
      </p:graphicFrame>
      <p:pic>
        <p:nvPicPr>
          <p:cNvPr id="63" name="図 62">
            <a:extLst>
              <a:ext uri="{FF2B5EF4-FFF2-40B4-BE49-F238E27FC236}">
                <a16:creationId xmlns:a16="http://schemas.microsoft.com/office/drawing/2014/main" id="{72294DBF-E76D-7A22-0EE6-F6AAE1E9F344}"/>
              </a:ext>
            </a:extLst>
          </p:cNvPr>
          <p:cNvPicPr>
            <a:picLocks noChangeAspect="1"/>
          </p:cNvPicPr>
          <p:nvPr/>
        </p:nvPicPr>
        <p:blipFill>
          <a:blip r:embed="rId30"/>
          <a:stretch>
            <a:fillRect/>
          </a:stretch>
        </p:blipFill>
        <p:spPr>
          <a:xfrm>
            <a:off x="15913172" y="34700177"/>
            <a:ext cx="2402435" cy="2402435"/>
          </a:xfrm>
          <a:prstGeom prst="rect">
            <a:avLst/>
          </a:prstGeom>
        </p:spPr>
      </p:pic>
      <p:grpSp>
        <p:nvGrpSpPr>
          <p:cNvPr id="3" name="グループ化 2">
            <a:extLst>
              <a:ext uri="{FF2B5EF4-FFF2-40B4-BE49-F238E27FC236}">
                <a16:creationId xmlns:a16="http://schemas.microsoft.com/office/drawing/2014/main" id="{168CDE1D-0483-4DD1-9189-15C555E4B8DB}"/>
              </a:ext>
            </a:extLst>
          </p:cNvPr>
          <p:cNvGrpSpPr/>
          <p:nvPr/>
        </p:nvGrpSpPr>
        <p:grpSpPr>
          <a:xfrm>
            <a:off x="212934" y="32051017"/>
            <a:ext cx="14760000" cy="8241483"/>
            <a:chOff x="191499" y="4380113"/>
            <a:chExt cx="14760000" cy="8241483"/>
          </a:xfrm>
        </p:grpSpPr>
        <p:sp>
          <p:nvSpPr>
            <p:cNvPr id="26" name="四角形: 角を丸くする 29">
              <a:extLst>
                <a:ext uri="{FF2B5EF4-FFF2-40B4-BE49-F238E27FC236}">
                  <a16:creationId xmlns:a16="http://schemas.microsoft.com/office/drawing/2014/main" id="{25578486-AE54-F401-84E1-743D19BB0E63}"/>
                </a:ext>
              </a:extLst>
            </p:cNvPr>
            <p:cNvSpPr/>
            <p:nvPr/>
          </p:nvSpPr>
          <p:spPr>
            <a:xfrm>
              <a:off x="191499" y="4755868"/>
              <a:ext cx="14760000" cy="7865728"/>
            </a:xfrm>
            <a:prstGeom prst="roundRect">
              <a:avLst>
                <a:gd name="adj" fmla="val 4013"/>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28" name="四角形: 角を丸くする 30">
              <a:extLst>
                <a:ext uri="{FF2B5EF4-FFF2-40B4-BE49-F238E27FC236}">
                  <a16:creationId xmlns:a16="http://schemas.microsoft.com/office/drawing/2014/main" id="{E224A970-D805-11AD-B747-72F186B2C6F1}"/>
                </a:ext>
              </a:extLst>
            </p:cNvPr>
            <p:cNvSpPr/>
            <p:nvPr/>
          </p:nvSpPr>
          <p:spPr>
            <a:xfrm>
              <a:off x="506890" y="4380113"/>
              <a:ext cx="2317446" cy="818741"/>
            </a:xfrm>
            <a:prstGeom prst="roundRect">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本研究</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56" name="テキスト ボックス 55">
              <a:extLst>
                <a:ext uri="{FF2B5EF4-FFF2-40B4-BE49-F238E27FC236}">
                  <a16:creationId xmlns:a16="http://schemas.microsoft.com/office/drawing/2014/main" id="{3E0639EC-AD9A-45D2-E33E-F967EC141B0E}"/>
                </a:ext>
              </a:extLst>
            </p:cNvPr>
            <p:cNvSpPr txBox="1"/>
            <p:nvPr/>
          </p:nvSpPr>
          <p:spPr>
            <a:xfrm>
              <a:off x="318217" y="5198854"/>
              <a:ext cx="14633281" cy="4031873"/>
            </a:xfrm>
            <a:prstGeom prst="rect">
              <a:avLst/>
            </a:prstGeom>
            <a:noFill/>
          </p:spPr>
          <p:txBody>
            <a:bodyPr wrap="square">
              <a:spAutoFit/>
            </a:bodyPr>
            <a:lstStyle/>
            <a:p>
              <a:pPr lvl="1"/>
              <a:r>
                <a:rPr lang="en-US" altLang="ja-JP" sz="2800" dirty="0">
                  <a:latin typeface="UD Digi Kyokasho NK-R" panose="02020400000000000000" pitchFamily="18" charset="-128"/>
                  <a:ea typeface="UD Digi Kyokasho NK-R" panose="02020400000000000000" pitchFamily="18" charset="-128"/>
                </a:rPr>
                <a:t>[2]</a:t>
              </a:r>
              <a:r>
                <a:rPr lang="ja-JP" altLang="en-US" sz="2800">
                  <a:latin typeface="UD Digi Kyokasho NK-R" panose="02020400000000000000" pitchFamily="18" charset="-128"/>
                  <a:ea typeface="UD Digi Kyokasho NK-R" panose="02020400000000000000" pitchFamily="18" charset="-128"/>
                </a:rPr>
                <a:t>において</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の最適な構造について言及は無い</a:t>
              </a:r>
              <a:endParaRPr lang="en-US" altLang="ja-JP" sz="2800" dirty="0">
                <a:latin typeface="UD Digi Kyokasho NK-R" panose="02020400000000000000" pitchFamily="18" charset="-128"/>
                <a:ea typeface="UD Digi Kyokasho NK-R" panose="02020400000000000000" pitchFamily="18" charset="-128"/>
              </a:endParaRPr>
            </a:p>
            <a:p>
              <a:pPr lvl="1" algn="ctr"/>
              <a:r>
                <a:rPr lang="ja-JP" altLang="en-US" sz="2800">
                  <a:latin typeface="UD Digi Kyokasho NK-R" panose="02020400000000000000" pitchFamily="18" charset="-128"/>
                  <a:ea typeface="UD Digi Kyokasho NK-R" panose="02020400000000000000" pitchFamily="18" charset="-128"/>
                </a:rPr>
                <a:t>↓</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3600" b="1">
                  <a:latin typeface="UD Digi Kyokasho NK-R" panose="02020400000000000000" pitchFamily="18" charset="-128"/>
                  <a:ea typeface="UD Digi Kyokasho NK-R" panose="02020400000000000000" pitchFamily="18" charset="-128"/>
                </a:rPr>
                <a:t>大喜利生成</a:t>
              </a:r>
              <a:r>
                <a:rPr lang="en-US" altLang="ja-JP" sz="3600" b="1" dirty="0">
                  <a:latin typeface="UD Digi Kyokasho NK-R" panose="02020400000000000000" pitchFamily="18" charset="-128"/>
                  <a:ea typeface="UD Digi Kyokasho NK-R" panose="02020400000000000000" pitchFamily="18" charset="-128"/>
                </a:rPr>
                <a:t>AI</a:t>
              </a:r>
              <a:r>
                <a:rPr lang="ja-JP" altLang="en-US" sz="3600" b="1">
                  <a:latin typeface="UD Digi Kyokasho NK-R" panose="02020400000000000000" pitchFamily="18" charset="-128"/>
                  <a:ea typeface="UD Digi Kyokasho NK-R" panose="02020400000000000000" pitchFamily="18" charset="-128"/>
                </a:rPr>
                <a:t>に適した</a:t>
              </a:r>
              <a:r>
                <a:rPr lang="en-US" altLang="ja-JP" sz="3600" b="1" dirty="0" err="1">
                  <a:latin typeface="UD Digi Kyokasho NK-R" panose="02020400000000000000" pitchFamily="18" charset="-128"/>
                  <a:ea typeface="UD Digi Kyokasho NK-R" panose="02020400000000000000" pitchFamily="18" charset="-128"/>
                </a:rPr>
                <a:t>AutoEncoder</a:t>
              </a:r>
              <a:r>
                <a:rPr lang="ja-JP" altLang="en-US" sz="3600" b="1">
                  <a:latin typeface="UD Digi Kyokasho NK-R" panose="02020400000000000000" pitchFamily="18" charset="-128"/>
                  <a:ea typeface="UD Digi Kyokasho NK-R" panose="02020400000000000000" pitchFamily="18" charset="-128"/>
                </a:rPr>
                <a:t>のエンコーダの構造を模索する</a:t>
              </a:r>
              <a:endParaRPr lang="en-US" altLang="ja-JP" sz="3600" b="1" dirty="0">
                <a:latin typeface="UD Digi Kyokasho NK-R" panose="02020400000000000000" pitchFamily="18" charset="-128"/>
                <a:ea typeface="UD Digi Kyokasho NK-R" panose="02020400000000000000" pitchFamily="18" charset="-128"/>
              </a:endParaRPr>
            </a:p>
            <a:p>
              <a:pPr lvl="1"/>
              <a:endParaRPr lang="en-US" altLang="ja-JP" sz="3600" dirty="0">
                <a:latin typeface="UD Digi Kyokasho NK-R" panose="02020400000000000000" pitchFamily="18" charset="-128"/>
                <a:ea typeface="UD Digi Kyokasho NK-R" panose="02020400000000000000" pitchFamily="18" charset="-128"/>
              </a:endParaRPr>
            </a:p>
            <a:p>
              <a:pPr lvl="1"/>
              <a:r>
                <a:rPr lang="ja-JP" altLang="en-US" sz="3200">
                  <a:latin typeface="UD Digi Kyokasho NK-R" panose="02020400000000000000" pitchFamily="18" charset="-128"/>
                  <a:ea typeface="UD Digi Kyokasho NK-R" panose="02020400000000000000" pitchFamily="18" charset="-128"/>
                </a:rPr>
                <a:t>データセット</a:t>
              </a:r>
              <a:endParaRPr lang="en-US" altLang="ja-JP" sz="40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[1]</a:t>
              </a:r>
              <a:r>
                <a:rPr lang="ja-JP" altLang="en-US" sz="2800">
                  <a:latin typeface="UD Digi Kyokasho NK-R" panose="02020400000000000000" pitchFamily="18" charset="-128"/>
                  <a:ea typeface="UD Digi Kyokasho NK-R" panose="02020400000000000000" pitchFamily="18" charset="-128"/>
                </a:rPr>
                <a:t>に倣い</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大喜利⇔画像データセットを作成</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画像</a:t>
              </a:r>
              <a:r>
                <a:rPr lang="en-US" altLang="ja-JP" sz="2800" dirty="0">
                  <a:latin typeface="UD Digi Kyokasho NK-R" panose="02020400000000000000" pitchFamily="18" charset="-128"/>
                  <a:ea typeface="UD Digi Kyokasho NK-R" panose="02020400000000000000" pitchFamily="18" charset="-128"/>
                </a:rPr>
                <a:t> : 88102</a:t>
              </a:r>
              <a:r>
                <a:rPr lang="ja-JP" altLang="en-US" sz="2800">
                  <a:latin typeface="UD Digi Kyokasho NK-R" panose="02020400000000000000" pitchFamily="18" charset="-128"/>
                  <a:ea typeface="UD Digi Kyokasho NK-R" panose="02020400000000000000" pitchFamily="18" charset="-128"/>
                </a:rPr>
                <a:t>枚</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a:t>
              </a:r>
              <a:r>
                <a:rPr lang="en-US" altLang="ja-JP" sz="2800" dirty="0">
                  <a:latin typeface="UD Digi Kyokasho NK-R" panose="02020400000000000000" pitchFamily="18" charset="-128"/>
                  <a:ea typeface="UD Digi Kyokasho NK-R" panose="02020400000000000000" pitchFamily="18" charset="-128"/>
                </a:rPr>
                <a:t> : 759501</a:t>
              </a:r>
              <a:r>
                <a:rPr lang="ja-JP" altLang="en-US" sz="2800">
                  <a:latin typeface="UD Digi Kyokasho NK-R" panose="02020400000000000000" pitchFamily="18" charset="-128"/>
                  <a:ea typeface="UD Digi Kyokasho NK-R" panose="02020400000000000000" pitchFamily="18" charset="-128"/>
                </a:rPr>
                <a:t>文章</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3600" dirty="0">
                <a:latin typeface="UD Digi Kyokasho NK-R" panose="02020400000000000000" pitchFamily="18" charset="-128"/>
                <a:ea typeface="UD Digi Kyokasho NK-R" panose="02020400000000000000" pitchFamily="18" charset="-128"/>
              </a:endParaRPr>
            </a:p>
          </p:txBody>
        </p:sp>
      </p:grpSp>
      <p:sp>
        <p:nvSpPr>
          <p:cNvPr id="57" name="テキスト ボックス 56">
            <a:extLst>
              <a:ext uri="{FF2B5EF4-FFF2-40B4-BE49-F238E27FC236}">
                <a16:creationId xmlns:a16="http://schemas.microsoft.com/office/drawing/2014/main" id="{C643C9AC-DCDA-90E0-4D5E-CEB290DE06D7}"/>
              </a:ext>
            </a:extLst>
          </p:cNvPr>
          <p:cNvSpPr txBox="1"/>
          <p:nvPr/>
        </p:nvSpPr>
        <p:spPr>
          <a:xfrm>
            <a:off x="-34395" y="-30111"/>
            <a:ext cx="1483100" cy="830997"/>
          </a:xfrm>
          <a:prstGeom prst="rect">
            <a:avLst/>
          </a:prstGeom>
          <a:noFill/>
        </p:spPr>
        <p:txBody>
          <a:bodyPr wrap="square" rtlCol="0">
            <a:spAutoFit/>
          </a:bodyPr>
          <a:lstStyle/>
          <a:p>
            <a:pPr algn="ctr"/>
            <a:r>
              <a:rPr kumimoji="1" lang="en-US" altLang="ja-JP" sz="4800" dirty="0">
                <a:latin typeface="UD Digi Kyokasho NK-R" panose="02020400000000000000" pitchFamily="18" charset="-128"/>
                <a:ea typeface="UD Digi Kyokasho NK-R" panose="02020400000000000000" pitchFamily="18" charset="-128"/>
              </a:rPr>
              <a:t>C</a:t>
            </a:r>
            <a:r>
              <a:rPr kumimoji="1" lang="ja-JP" altLang="en-US" sz="4800">
                <a:latin typeface="UD Digi Kyokasho NK-R" panose="02020400000000000000" pitchFamily="18" charset="-128"/>
                <a:ea typeface="UD Digi Kyokasho NK-R" panose="02020400000000000000" pitchFamily="18" charset="-128"/>
              </a:rPr>
              <a:t>案</a:t>
            </a:r>
          </a:p>
        </p:txBody>
      </p:sp>
      <p:pic>
        <p:nvPicPr>
          <p:cNvPr id="62" name="図 61">
            <a:extLst>
              <a:ext uri="{FF2B5EF4-FFF2-40B4-BE49-F238E27FC236}">
                <a16:creationId xmlns:a16="http://schemas.microsoft.com/office/drawing/2014/main" id="{1CB59E49-E1BF-FC6F-0E23-04A3A5DB2B41}"/>
              </a:ext>
            </a:extLst>
          </p:cNvPr>
          <p:cNvPicPr>
            <a:picLocks noChangeAspect="1"/>
          </p:cNvPicPr>
          <p:nvPr/>
        </p:nvPicPr>
        <p:blipFill>
          <a:blip r:embed="rId31"/>
          <a:stretch>
            <a:fillRect/>
          </a:stretch>
        </p:blipFill>
        <p:spPr>
          <a:xfrm>
            <a:off x="15914716" y="19734566"/>
            <a:ext cx="13104761" cy="4120460"/>
          </a:xfrm>
          <a:prstGeom prst="rect">
            <a:avLst/>
          </a:prstGeom>
        </p:spPr>
      </p:pic>
      <p:graphicFrame>
        <p:nvGraphicFramePr>
          <p:cNvPr id="100" name="表 255">
            <a:extLst>
              <a:ext uri="{FF2B5EF4-FFF2-40B4-BE49-F238E27FC236}">
                <a16:creationId xmlns:a16="http://schemas.microsoft.com/office/drawing/2014/main" id="{4CE40C58-94E5-7912-7204-152EB1B23844}"/>
              </a:ext>
            </a:extLst>
          </p:cNvPr>
          <p:cNvGraphicFramePr>
            <a:graphicFrameLocks noGrp="1"/>
          </p:cNvGraphicFramePr>
          <p:nvPr>
            <p:extLst>
              <p:ext uri="{D42A27DB-BD31-4B8C-83A1-F6EECF244321}">
                <p14:modId xmlns:p14="http://schemas.microsoft.com/office/powerpoint/2010/main" val="4034486543"/>
              </p:ext>
            </p:extLst>
          </p:nvPr>
        </p:nvGraphicFramePr>
        <p:xfrm>
          <a:off x="15329206" y="24734581"/>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パンツの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すそ</a:t>
                      </a:r>
                      <a:r>
                        <a:rPr kumimoji="1" lang="ja-JP" altLang="en-US" sz="2800" spc="-100" baseline="0">
                          <a:latin typeface="UD Digi Kyokasho NK-R" panose="02020400000000000000" pitchFamily="18" charset="-128"/>
                          <a:ea typeface="UD Digi Kyokasho NK-R" panose="02020400000000000000" pitchFamily="18" charset="-128"/>
                        </a:rPr>
                        <a:t>がカピカピになっている</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出会い系で待ち合わせ</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子供の頃から</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ディフェンスに定評</a:t>
                      </a:r>
                      <a:r>
                        <a:rPr kumimoji="1" lang="ja-JP" altLang="en-US" sz="2800" spc="-100" baseline="0">
                          <a:solidFill>
                            <a:schemeClr val="tx1"/>
                          </a:solidFill>
                          <a:latin typeface="UD Digi Kyokasho NK-R" panose="02020400000000000000" pitchFamily="18" charset="-128"/>
                          <a:ea typeface="UD Digi Kyokasho NK-R" panose="02020400000000000000" pitchFamily="18" charset="-128"/>
                        </a:rPr>
                        <a:t>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ある</a:t>
                      </a:r>
                      <a:r>
                        <a:rPr kumimoji="1" lang="ja-JP" altLang="en-US" sz="2800" spc="-100" baseline="0">
                          <a:latin typeface="UD Digi Kyokasho NK-R" panose="02020400000000000000" pitchFamily="18" charset="-128"/>
                          <a:ea typeface="UD Digi Kyokasho NK-R" panose="02020400000000000000" pitchFamily="18" charset="-128"/>
                        </a:rPr>
                        <a:t>人</a:t>
                      </a:r>
                    </a:p>
                  </a:txBody>
                  <a:tcPr anchor="ctr"/>
                </a:tc>
                <a:extLst>
                  <a:ext uri="{0D108BD9-81ED-4DB2-BD59-A6C34878D82A}">
                    <a16:rowId xmlns:a16="http://schemas.microsoft.com/office/drawing/2014/main" val="1783522377"/>
                  </a:ext>
                </a:extLst>
              </a:tr>
            </a:tbl>
          </a:graphicData>
        </a:graphic>
      </p:graphicFrame>
      <p:pic>
        <p:nvPicPr>
          <p:cNvPr id="101" name="図 100">
            <a:extLst>
              <a:ext uri="{FF2B5EF4-FFF2-40B4-BE49-F238E27FC236}">
                <a16:creationId xmlns:a16="http://schemas.microsoft.com/office/drawing/2014/main" id="{28699951-E358-CA36-9EF8-425BF5D8B6BE}"/>
              </a:ext>
            </a:extLst>
          </p:cNvPr>
          <p:cNvPicPr>
            <a:picLocks noChangeAspect="1"/>
          </p:cNvPicPr>
          <p:nvPr/>
        </p:nvPicPr>
        <p:blipFill>
          <a:blip r:embed="rId32"/>
          <a:stretch>
            <a:fillRect/>
          </a:stretch>
        </p:blipFill>
        <p:spPr>
          <a:xfrm>
            <a:off x="15913172" y="25363689"/>
            <a:ext cx="2402435" cy="2402435"/>
          </a:xfrm>
          <a:prstGeom prst="rect">
            <a:avLst/>
          </a:prstGeom>
        </p:spPr>
      </p:pic>
      <p:graphicFrame>
        <p:nvGraphicFramePr>
          <p:cNvPr id="102" name="表 255">
            <a:extLst>
              <a:ext uri="{FF2B5EF4-FFF2-40B4-BE49-F238E27FC236}">
                <a16:creationId xmlns:a16="http://schemas.microsoft.com/office/drawing/2014/main" id="{4A599252-C81B-4904-C5EF-F96476DDAC31}"/>
              </a:ext>
            </a:extLst>
          </p:cNvPr>
          <p:cNvGraphicFramePr>
            <a:graphicFrameLocks noGrp="1"/>
          </p:cNvGraphicFramePr>
          <p:nvPr>
            <p:extLst>
              <p:ext uri="{D42A27DB-BD31-4B8C-83A1-F6EECF244321}">
                <p14:modId xmlns:p14="http://schemas.microsoft.com/office/powerpoint/2010/main" val="1153779844"/>
              </p:ext>
            </p:extLst>
          </p:nvPr>
        </p:nvGraphicFramePr>
        <p:xfrm>
          <a:off x="15329206" y="27860144"/>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こいつが噂の鮫肌男か</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あーんこの人痴漢です</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実は痔なんです</a:t>
                      </a:r>
                    </a:p>
                  </a:txBody>
                  <a:tcPr anchor="ctr"/>
                </a:tc>
                <a:extLst>
                  <a:ext uri="{0D108BD9-81ED-4DB2-BD59-A6C34878D82A}">
                    <a16:rowId xmlns:a16="http://schemas.microsoft.com/office/drawing/2014/main" val="1783522377"/>
                  </a:ext>
                </a:extLst>
              </a:tr>
            </a:tbl>
          </a:graphicData>
        </a:graphic>
      </p:graphicFrame>
      <p:pic>
        <p:nvPicPr>
          <p:cNvPr id="103" name="図 102">
            <a:extLst>
              <a:ext uri="{FF2B5EF4-FFF2-40B4-BE49-F238E27FC236}">
                <a16:creationId xmlns:a16="http://schemas.microsoft.com/office/drawing/2014/main" id="{F4DD320A-CEE5-0471-A764-66F767F39B3A}"/>
              </a:ext>
            </a:extLst>
          </p:cNvPr>
          <p:cNvPicPr>
            <a:picLocks noChangeAspect="1"/>
          </p:cNvPicPr>
          <p:nvPr/>
        </p:nvPicPr>
        <p:blipFill>
          <a:blip r:embed="rId33"/>
          <a:stretch>
            <a:fillRect/>
          </a:stretch>
        </p:blipFill>
        <p:spPr>
          <a:xfrm>
            <a:off x="15913172" y="28507940"/>
            <a:ext cx="2402435" cy="2402435"/>
          </a:xfrm>
          <a:prstGeom prst="rect">
            <a:avLst/>
          </a:prstGeom>
        </p:spPr>
      </p:pic>
      <p:graphicFrame>
        <p:nvGraphicFramePr>
          <p:cNvPr id="68" name="表 74">
            <a:extLst>
              <a:ext uri="{FF2B5EF4-FFF2-40B4-BE49-F238E27FC236}">
                <a16:creationId xmlns:a16="http://schemas.microsoft.com/office/drawing/2014/main" id="{FF77A009-441A-8E1E-3C0C-87773C6E561E}"/>
              </a:ext>
            </a:extLst>
          </p:cNvPr>
          <p:cNvGraphicFramePr>
            <a:graphicFrameLocks noGrp="1"/>
          </p:cNvGraphicFramePr>
          <p:nvPr>
            <p:extLst>
              <p:ext uri="{D42A27DB-BD31-4B8C-83A1-F6EECF244321}">
                <p14:modId xmlns:p14="http://schemas.microsoft.com/office/powerpoint/2010/main" val="604305123"/>
              </p:ext>
            </p:extLst>
          </p:nvPr>
        </p:nvGraphicFramePr>
        <p:xfrm>
          <a:off x="885984" y="36202563"/>
          <a:ext cx="13402978" cy="3968448"/>
        </p:xfrm>
        <a:graphic>
          <a:graphicData uri="http://schemas.openxmlformats.org/drawingml/2006/table">
            <a:tbl>
              <a:tblPr firstRow="1" bandRow="1">
                <a:tableStyleId>{7DF18680-E054-41AD-8BC1-D1AEF772440D}</a:tableStyleId>
              </a:tblPr>
              <a:tblGrid>
                <a:gridCol w="6701489">
                  <a:extLst>
                    <a:ext uri="{9D8B030D-6E8A-4147-A177-3AD203B41FA5}">
                      <a16:colId xmlns:a16="http://schemas.microsoft.com/office/drawing/2014/main" val="1696693587"/>
                    </a:ext>
                  </a:extLst>
                </a:gridCol>
                <a:gridCol w="6701489">
                  <a:extLst>
                    <a:ext uri="{9D8B030D-6E8A-4147-A177-3AD203B41FA5}">
                      <a16:colId xmlns:a16="http://schemas.microsoft.com/office/drawing/2014/main" val="693706453"/>
                    </a:ext>
                  </a:extLst>
                </a:gridCol>
              </a:tblGrid>
              <a:tr h="2170128">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1958493544"/>
                  </a:ext>
                </a:extLst>
              </a:tr>
              <a:tr h="1640830">
                <a:tc>
                  <a:txBody>
                    <a:bodyPr/>
                    <a:lstStyle/>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宿題制度を廃止にする</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首相がキムタク</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ディフェンスに定評がある</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すそが短い</a:t>
                      </a:r>
                      <a:endParaRPr lang="en-US" altLang="ja-JP" sz="2800" dirty="0">
                        <a:latin typeface="UD Digi Kyokasho NK-R" panose="02020400000000000000" pitchFamily="18" charset="-128"/>
                        <a:ea typeface="UD Digi Kyokasho NK-R" panose="02020400000000000000" pitchFamily="18" charset="-128"/>
                      </a:endParaRPr>
                    </a:p>
                  </a:txBody>
                  <a:tcPr/>
                </a:tc>
                <a:tc>
                  <a:txBody>
                    <a:bodyPr/>
                    <a:lstStyle/>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うそっ、君が男</a:t>
                      </a:r>
                      <a:r>
                        <a:rPr lang="en-US" altLang="ja-JP" sz="2800" spc="-100" baseline="0" dirty="0">
                          <a:latin typeface="UD Digi Kyokasho NK-R" panose="02020400000000000000" pitchFamily="18" charset="-128"/>
                          <a:ea typeface="UD Digi Kyokasho NK-R" panose="02020400000000000000" pitchFamily="18" charset="-128"/>
                        </a:rPr>
                        <a:t>!? </a:t>
                      </a: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en" altLang="ja-JP" sz="2800" spc="-100" baseline="0" dirty="0">
                          <a:latin typeface="UD Digi Kyokasho NK-R" panose="02020400000000000000" pitchFamily="18" charset="-128"/>
                          <a:ea typeface="UD Digi Kyokasho NK-R" panose="02020400000000000000" pitchFamily="18" charset="-128"/>
                        </a:rPr>
                        <a:t>CM</a:t>
                      </a:r>
                      <a:r>
                        <a:rPr lang="ja-JP" altLang="en-US" sz="2800" spc="-100" baseline="0">
                          <a:latin typeface="UD Digi Kyokasho NK-R" panose="02020400000000000000" pitchFamily="18" charset="-128"/>
                          <a:ea typeface="UD Digi Kyokasho NK-R" panose="02020400000000000000" pitchFamily="18" charset="-128"/>
                        </a:rPr>
                        <a:t>のあと驚きの鑑定結果が！ </a:t>
                      </a:r>
                      <a:endParaRPr lang="en-US" altLang="ja-JP" sz="2800" spc="-100" baseline="0" dirty="0">
                        <a:latin typeface="UD Digi Kyokasho NK-R" panose="02020400000000000000" pitchFamily="18" charset="-128"/>
                        <a:ea typeface="UD Digi Kyokasho NK-R" panose="02020400000000000000" pitchFamily="18" charset="-128"/>
                      </a:endParaRP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先生、純白かぁっ！</a:t>
                      </a:r>
                      <a:endParaRPr lang="en-US" altLang="ja-JP" sz="2800" spc="-100" baseline="0" dirty="0">
                        <a:latin typeface="UD Digi Kyokasho NK-R" panose="02020400000000000000" pitchFamily="18" charset="-128"/>
                        <a:ea typeface="UD Digi Kyokasho NK-R" panose="02020400000000000000" pitchFamily="18" charset="-128"/>
                      </a:endParaRP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いっ・・・生き返った！</a:t>
                      </a:r>
                    </a:p>
                  </a:txBody>
                  <a:tcPr/>
                </a:tc>
                <a:extLst>
                  <a:ext uri="{0D108BD9-81ED-4DB2-BD59-A6C34878D82A}">
                    <a16:rowId xmlns:a16="http://schemas.microsoft.com/office/drawing/2014/main" val="311803853"/>
                  </a:ext>
                </a:extLst>
              </a:tr>
            </a:tbl>
          </a:graphicData>
        </a:graphic>
      </p:graphicFrame>
      <p:pic>
        <p:nvPicPr>
          <p:cNvPr id="69" name="図 68">
            <a:extLst>
              <a:ext uri="{FF2B5EF4-FFF2-40B4-BE49-F238E27FC236}">
                <a16:creationId xmlns:a16="http://schemas.microsoft.com/office/drawing/2014/main" id="{E897CAFB-8BA1-1DB0-2BC3-ED045A07E1D5}"/>
              </a:ext>
            </a:extLst>
          </p:cNvPr>
          <p:cNvPicPr>
            <a:picLocks noChangeAspect="1"/>
          </p:cNvPicPr>
          <p:nvPr/>
        </p:nvPicPr>
        <p:blipFill>
          <a:blip r:embed="rId32"/>
          <a:stretch>
            <a:fillRect/>
          </a:stretch>
        </p:blipFill>
        <p:spPr>
          <a:xfrm>
            <a:off x="2891352" y="36199002"/>
            <a:ext cx="2035519" cy="2035519"/>
          </a:xfrm>
          <a:prstGeom prst="rect">
            <a:avLst/>
          </a:prstGeom>
        </p:spPr>
      </p:pic>
      <p:pic>
        <p:nvPicPr>
          <p:cNvPr id="74" name="図 73">
            <a:extLst>
              <a:ext uri="{FF2B5EF4-FFF2-40B4-BE49-F238E27FC236}">
                <a16:creationId xmlns:a16="http://schemas.microsoft.com/office/drawing/2014/main" id="{C8E8BA21-167A-967F-C117-43CF73C81A45}"/>
              </a:ext>
            </a:extLst>
          </p:cNvPr>
          <p:cNvPicPr>
            <a:picLocks noChangeAspect="1"/>
          </p:cNvPicPr>
          <p:nvPr/>
        </p:nvPicPr>
        <p:blipFill>
          <a:blip r:embed="rId34"/>
          <a:stretch>
            <a:fillRect/>
          </a:stretch>
        </p:blipFill>
        <p:spPr>
          <a:xfrm>
            <a:off x="9999399" y="36207383"/>
            <a:ext cx="2035519" cy="2035519"/>
          </a:xfrm>
          <a:prstGeom prst="rect">
            <a:avLst/>
          </a:prstGeom>
        </p:spPr>
      </p:pic>
      <p:pic>
        <p:nvPicPr>
          <p:cNvPr id="106" name="図 105">
            <a:extLst>
              <a:ext uri="{FF2B5EF4-FFF2-40B4-BE49-F238E27FC236}">
                <a16:creationId xmlns:a16="http://schemas.microsoft.com/office/drawing/2014/main" id="{FDC10A08-F190-B7AA-F57B-465FBA173BFA}"/>
              </a:ext>
            </a:extLst>
          </p:cNvPr>
          <p:cNvPicPr>
            <a:picLocks noChangeAspect="1"/>
          </p:cNvPicPr>
          <p:nvPr/>
        </p:nvPicPr>
        <p:blipFill>
          <a:blip r:embed="rId35"/>
          <a:stretch>
            <a:fillRect/>
          </a:stretch>
        </p:blipFill>
        <p:spPr>
          <a:xfrm>
            <a:off x="15913172" y="31606099"/>
            <a:ext cx="2402435" cy="2402435"/>
          </a:xfrm>
          <a:prstGeom prst="rect">
            <a:avLst/>
          </a:prstGeom>
        </p:spPr>
      </p:pic>
      <p:grpSp>
        <p:nvGrpSpPr>
          <p:cNvPr id="107" name="グループ化 106">
            <a:extLst>
              <a:ext uri="{FF2B5EF4-FFF2-40B4-BE49-F238E27FC236}">
                <a16:creationId xmlns:a16="http://schemas.microsoft.com/office/drawing/2014/main" id="{0BE3E0B5-29E6-70A8-BF45-3F4168EC1034}"/>
              </a:ext>
            </a:extLst>
          </p:cNvPr>
          <p:cNvGrpSpPr/>
          <p:nvPr/>
        </p:nvGrpSpPr>
        <p:grpSpPr>
          <a:xfrm>
            <a:off x="232570" y="16793066"/>
            <a:ext cx="14760000" cy="6514405"/>
            <a:chOff x="191499" y="4380113"/>
            <a:chExt cx="14760000" cy="6514405"/>
          </a:xfrm>
        </p:grpSpPr>
        <p:sp>
          <p:nvSpPr>
            <p:cNvPr id="108" name="四角形: 角を丸くする 29">
              <a:extLst>
                <a:ext uri="{FF2B5EF4-FFF2-40B4-BE49-F238E27FC236}">
                  <a16:creationId xmlns:a16="http://schemas.microsoft.com/office/drawing/2014/main" id="{6A6B5EDD-FE45-3D08-0EA0-140632924AF5}"/>
                </a:ext>
              </a:extLst>
            </p:cNvPr>
            <p:cNvSpPr/>
            <p:nvPr/>
          </p:nvSpPr>
          <p:spPr>
            <a:xfrm>
              <a:off x="191499" y="4755867"/>
              <a:ext cx="14760000" cy="6138651"/>
            </a:xfrm>
            <a:prstGeom prst="roundRect">
              <a:avLst>
                <a:gd name="adj" fmla="val 517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109" name="四角形: 角を丸くする 30">
              <a:extLst>
                <a:ext uri="{FF2B5EF4-FFF2-40B4-BE49-F238E27FC236}">
                  <a16:creationId xmlns:a16="http://schemas.microsoft.com/office/drawing/2014/main" id="{5B00BE33-A337-E509-2E93-00EE8490C8C3}"/>
                </a:ext>
              </a:extLst>
            </p:cNvPr>
            <p:cNvSpPr/>
            <p:nvPr/>
          </p:nvSpPr>
          <p:spPr>
            <a:xfrm>
              <a:off x="506889" y="4380113"/>
              <a:ext cx="8227994" cy="743541"/>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Neural Joking Machine[1]</a:t>
              </a:r>
            </a:p>
          </p:txBody>
        </p:sp>
        <p:sp>
          <p:nvSpPr>
            <p:cNvPr id="110" name="テキスト ボックス 109">
              <a:extLst>
                <a:ext uri="{FF2B5EF4-FFF2-40B4-BE49-F238E27FC236}">
                  <a16:creationId xmlns:a16="http://schemas.microsoft.com/office/drawing/2014/main" id="{9C127CCB-2004-2961-86EB-5DA04548F516}"/>
                </a:ext>
              </a:extLst>
            </p:cNvPr>
            <p:cNvSpPr txBox="1"/>
            <p:nvPr/>
          </p:nvSpPr>
          <p:spPr>
            <a:xfrm>
              <a:off x="318217" y="5375836"/>
              <a:ext cx="14633281" cy="2246769"/>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a:latin typeface="UD Digi Kyokasho NK-R" panose="02020400000000000000" pitchFamily="18" charset="-128"/>
                  <a:ea typeface="UD Digi Kyokasho NK-R" panose="02020400000000000000" pitchFamily="18" charset="-128"/>
                </a:rPr>
                <a:t>, ImageNet</a:t>
              </a:r>
              <a:r>
                <a:rPr lang="ja-JP" altLang="en-US" sz="2800">
                  <a:latin typeface="UD Digi Kyokasho NK-R" panose="02020400000000000000" pitchFamily="18" charset="-128"/>
                  <a:ea typeface="UD Digi Kyokasho NK-R" panose="02020400000000000000" pitchFamily="18" charset="-128"/>
                </a:rPr>
                <a:t>を事前学習済みの</a:t>
              </a:r>
              <a:r>
                <a:rPr lang="en-US" altLang="ja-JP" sz="2800" dirty="0">
                  <a:solidFill>
                    <a:srgbClr val="00B050"/>
                  </a:solidFill>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を使用</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大喜利⇔画像のデータセットを</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サイトをスクレイピングし作成</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一部の画像に対し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不適な単語を含む大喜利が生成される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a:t>
              </a:r>
              <a:r>
                <a:rPr lang="en-US" altLang="ja-JP" sz="2800" dirty="0">
                  <a:latin typeface="UD Digi Kyokasho NK-R" panose="02020400000000000000" pitchFamily="18" charset="-128"/>
                  <a:ea typeface="UD Digi Kyokasho NK-R" panose="02020400000000000000" pitchFamily="18" charset="-128"/>
                </a:rPr>
                <a:t> </a:t>
              </a:r>
              <a:r>
                <a:rPr lang="ja-JP" altLang="en-US" sz="2800" spc="-100">
                  <a:latin typeface="UD Digi Kyokasho NK-R" panose="02020400000000000000" pitchFamily="18" charset="-128"/>
                  <a:ea typeface="UD Digi Kyokasho NK-R" panose="02020400000000000000" pitchFamily="18" charset="-128"/>
                </a:rPr>
                <a:t>事前学習済み</a:t>
              </a:r>
              <a:r>
                <a:rPr lang="en-US" altLang="ja-JP" sz="2800" spc="-100" dirty="0">
                  <a:latin typeface="UD Digi Kyokasho NK-R" panose="02020400000000000000" pitchFamily="18" charset="-128"/>
                  <a:ea typeface="UD Digi Kyokasho NK-R" panose="02020400000000000000" pitchFamily="18" charset="-128"/>
                </a:rPr>
                <a:t>ResNet152</a:t>
              </a:r>
              <a:r>
                <a:rPr lang="ja-JP" altLang="en-US" sz="2800" spc="-100">
                  <a:latin typeface="UD Digi Kyokasho NK-R" panose="02020400000000000000" pitchFamily="18" charset="-128"/>
                  <a:ea typeface="UD Digi Kyokasho NK-R" panose="02020400000000000000" pitchFamily="18" charset="-128"/>
                </a:rPr>
                <a:t>が</a:t>
              </a:r>
              <a:r>
                <a:rPr lang="en-US" altLang="ja-JP" sz="2800" spc="-100" dirty="0" err="1">
                  <a:latin typeface="UD Digi Kyokasho NK-R" panose="02020400000000000000" pitchFamily="18" charset="-128"/>
                  <a:ea typeface="UD Digi Kyokasho NK-R" panose="02020400000000000000" pitchFamily="18" charset="-128"/>
                </a:rPr>
                <a:t>bokete</a:t>
              </a:r>
              <a:r>
                <a:rPr lang="ja-JP" altLang="en-US" sz="2800" spc="-100">
                  <a:latin typeface="UD Digi Kyokasho NK-R" panose="02020400000000000000" pitchFamily="18" charset="-128"/>
                  <a:ea typeface="UD Digi Kyokasho NK-R" panose="02020400000000000000" pitchFamily="18" charset="-128"/>
                </a:rPr>
                <a:t>特有のアニメ・マンガ画像等に対し</a:t>
              </a:r>
              <a:r>
                <a:rPr lang="en-US" altLang="ja-JP" sz="2800" spc="-100" dirty="0">
                  <a:latin typeface="UD Digi Kyokasho NK-R" panose="02020400000000000000" pitchFamily="18" charset="-128"/>
                  <a:ea typeface="UD Digi Kyokasho NK-R" panose="02020400000000000000" pitchFamily="18" charset="-128"/>
                </a:rPr>
                <a:t>,</a:t>
              </a:r>
              <a:r>
                <a:rPr lang="ja-JP" altLang="en-US" sz="2800" spc="-100">
                  <a:latin typeface="UD Digi Kyokasho NK-R" panose="02020400000000000000" pitchFamily="18" charset="-128"/>
                  <a:ea typeface="UD Digi Kyokasho NK-R" panose="02020400000000000000" pitchFamily="18" charset="-128"/>
                </a:rPr>
                <a:t>　特徴抽出が困難</a:t>
              </a:r>
              <a:endParaRPr lang="en-US" altLang="ja-JP" sz="2800" spc="-100" dirty="0">
                <a:latin typeface="UD Digi Kyokasho NK-R" panose="02020400000000000000" pitchFamily="18" charset="-128"/>
                <a:ea typeface="UD Digi Kyokasho NK-R" panose="02020400000000000000" pitchFamily="18" charset="-128"/>
              </a:endParaRPr>
            </a:p>
          </p:txBody>
        </p:sp>
      </p:grpSp>
      <p:pic>
        <p:nvPicPr>
          <p:cNvPr id="111" name="図 110" descr="帽子を被っている女性&#10;&#10;自動的に生成された説明">
            <a:extLst>
              <a:ext uri="{FF2B5EF4-FFF2-40B4-BE49-F238E27FC236}">
                <a16:creationId xmlns:a16="http://schemas.microsoft.com/office/drawing/2014/main" id="{95B74A44-9B59-9D9C-0699-6F10FB3CF3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21349173"/>
            <a:ext cx="1496736" cy="1496736"/>
          </a:xfrm>
          <a:prstGeom prst="rect">
            <a:avLst/>
          </a:prstGeom>
        </p:spPr>
      </p:pic>
      <mc:AlternateContent xmlns:mc="http://schemas.openxmlformats.org/markup-compatibility/2006" xmlns:a14="http://schemas.microsoft.com/office/drawing/2010/main">
        <mc:Choice Requires="a14">
          <p:sp>
            <p:nvSpPr>
              <p:cNvPr id="112" name="テキスト ボックス 111">
                <a:extLst>
                  <a:ext uri="{FF2B5EF4-FFF2-40B4-BE49-F238E27FC236}">
                    <a16:creationId xmlns:a16="http://schemas.microsoft.com/office/drawing/2014/main" id="{87ED0284-8335-04E7-1437-6CD3E060371A}"/>
                  </a:ext>
                </a:extLst>
              </p:cNvPr>
              <p:cNvSpPr txBox="1"/>
              <p:nvPr/>
            </p:nvSpPr>
            <p:spPr>
              <a:xfrm>
                <a:off x="2031060" y="20377796"/>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112" name="テキスト ボックス 111">
                <a:extLst>
                  <a:ext uri="{FF2B5EF4-FFF2-40B4-BE49-F238E27FC236}">
                    <a16:creationId xmlns:a16="http://schemas.microsoft.com/office/drawing/2014/main" id="{87ED0284-8335-04E7-1437-6CD3E060371A}"/>
                  </a:ext>
                </a:extLst>
              </p:cNvPr>
              <p:cNvSpPr txBox="1">
                <a:spLocks noRot="1" noChangeAspect="1" noMove="1" noResize="1" noEditPoints="1" noAdjustHandles="1" noChangeArrowheads="1" noChangeShapeType="1" noTextEdit="1"/>
              </p:cNvSpPr>
              <p:nvPr/>
            </p:nvSpPr>
            <p:spPr>
              <a:xfrm>
                <a:off x="2031060" y="20377796"/>
                <a:ext cx="471668" cy="430887"/>
              </a:xfrm>
              <a:prstGeom prst="rect">
                <a:avLst/>
              </a:prstGeom>
              <a:blipFill>
                <a:blip r:embed="rId36"/>
                <a:stretch>
                  <a:fillRect l="-7692" r="-2564"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3" name="テキスト ボックス 112">
                <a:extLst>
                  <a:ext uri="{FF2B5EF4-FFF2-40B4-BE49-F238E27FC236}">
                    <a16:creationId xmlns:a16="http://schemas.microsoft.com/office/drawing/2014/main" id="{DEA06397-34E7-50B7-A15C-EF915B5718A4}"/>
                  </a:ext>
                </a:extLst>
              </p:cNvPr>
              <p:cNvSpPr txBox="1"/>
              <p:nvPr/>
            </p:nvSpPr>
            <p:spPr>
              <a:xfrm>
                <a:off x="1984008" y="2187308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113" name="テキスト ボックス 112">
                <a:extLst>
                  <a:ext uri="{FF2B5EF4-FFF2-40B4-BE49-F238E27FC236}">
                    <a16:creationId xmlns:a16="http://schemas.microsoft.com/office/drawing/2014/main" id="{DEA06397-34E7-50B7-A15C-EF915B5718A4}"/>
                  </a:ext>
                </a:extLst>
              </p:cNvPr>
              <p:cNvSpPr txBox="1">
                <a:spLocks noRot="1" noChangeAspect="1" noMove="1" noResize="1" noEditPoints="1" noAdjustHandles="1" noChangeArrowheads="1" noChangeShapeType="1" noTextEdit="1"/>
              </p:cNvSpPr>
              <p:nvPr/>
            </p:nvSpPr>
            <p:spPr>
              <a:xfrm>
                <a:off x="1984008" y="21873089"/>
                <a:ext cx="492507" cy="430887"/>
              </a:xfrm>
              <a:prstGeom prst="rect">
                <a:avLst/>
              </a:prstGeom>
              <a:blipFill>
                <a:blip r:embed="rId37"/>
                <a:stretch>
                  <a:fillRect b="-5714"/>
                </a:stretch>
              </a:blipFill>
            </p:spPr>
            <p:txBody>
              <a:bodyPr/>
              <a:lstStyle/>
              <a:p>
                <a:r>
                  <a:rPr lang="ja-JP" altLang="en-US">
                    <a:noFill/>
                  </a:rPr>
                  <a:t> </a:t>
                </a:r>
              </a:p>
            </p:txBody>
          </p:sp>
        </mc:Fallback>
      </mc:AlternateContent>
      <p:cxnSp>
        <p:nvCxnSpPr>
          <p:cNvPr id="114" name="直線矢印コネクタ 113">
            <a:extLst>
              <a:ext uri="{FF2B5EF4-FFF2-40B4-BE49-F238E27FC236}">
                <a16:creationId xmlns:a16="http://schemas.microsoft.com/office/drawing/2014/main" id="{E59D6F21-C608-A869-3377-5A6E8E054098}"/>
              </a:ext>
            </a:extLst>
          </p:cNvPr>
          <p:cNvCxnSpPr>
            <a:cxnSpLocks/>
            <a:stCxn id="112" idx="3"/>
            <a:endCxn id="121" idx="1"/>
          </p:cNvCxnSpPr>
          <p:nvPr/>
        </p:nvCxnSpPr>
        <p:spPr>
          <a:xfrm>
            <a:off x="2502728" y="20593240"/>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385F40A5-DD8C-6FA1-9860-7924144B2F0D}"/>
              </a:ext>
            </a:extLst>
          </p:cNvPr>
          <p:cNvCxnSpPr>
            <a:cxnSpLocks/>
            <a:stCxn id="121" idx="3"/>
            <a:endCxn id="130" idx="1"/>
          </p:cNvCxnSpPr>
          <p:nvPr/>
        </p:nvCxnSpPr>
        <p:spPr>
          <a:xfrm flipV="1">
            <a:off x="5608938" y="20589230"/>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線矢印コネクタ 19">
            <a:extLst>
              <a:ext uri="{FF2B5EF4-FFF2-40B4-BE49-F238E27FC236}">
                <a16:creationId xmlns:a16="http://schemas.microsoft.com/office/drawing/2014/main" id="{CF07B72A-319E-A901-7D18-D80C844F415D}"/>
              </a:ext>
            </a:extLst>
          </p:cNvPr>
          <p:cNvCxnSpPr>
            <a:cxnSpLocks/>
            <a:stCxn id="130" idx="3"/>
            <a:endCxn id="133" idx="1"/>
          </p:cNvCxnSpPr>
          <p:nvPr/>
        </p:nvCxnSpPr>
        <p:spPr>
          <a:xfrm>
            <a:off x="8951274" y="20589230"/>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2ED6E808-445B-40FD-FB29-2E0AD0386E7D}"/>
              </a:ext>
            </a:extLst>
          </p:cNvPr>
          <p:cNvCxnSpPr>
            <a:cxnSpLocks/>
            <a:stCxn id="133" idx="3"/>
            <a:endCxn id="119" idx="1"/>
          </p:cNvCxnSpPr>
          <p:nvPr/>
        </p:nvCxnSpPr>
        <p:spPr>
          <a:xfrm>
            <a:off x="12047667" y="21210264"/>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D2A7070E-6AC2-D4EB-104F-254466FB759D}"/>
                  </a:ext>
                </a:extLst>
              </p:cNvPr>
              <p:cNvSpPr txBox="1"/>
              <p:nvPr/>
            </p:nvSpPr>
            <p:spPr>
              <a:xfrm>
                <a:off x="12904337" y="21009327"/>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119" name="テキスト ボックス 118">
                <a:extLst>
                  <a:ext uri="{FF2B5EF4-FFF2-40B4-BE49-F238E27FC236}">
                    <a16:creationId xmlns:a16="http://schemas.microsoft.com/office/drawing/2014/main" id="{D2A7070E-6AC2-D4EB-104F-254466FB759D}"/>
                  </a:ext>
                </a:extLst>
              </p:cNvPr>
              <p:cNvSpPr txBox="1">
                <a:spLocks noRot="1" noChangeAspect="1" noMove="1" noResize="1" noEditPoints="1" noAdjustHandles="1" noChangeArrowheads="1" noChangeShapeType="1" noTextEdit="1"/>
              </p:cNvSpPr>
              <p:nvPr/>
            </p:nvSpPr>
            <p:spPr>
              <a:xfrm>
                <a:off x="12904337" y="21009327"/>
                <a:ext cx="814710" cy="430887"/>
              </a:xfrm>
              <a:prstGeom prst="rect">
                <a:avLst/>
              </a:prstGeom>
              <a:blipFill>
                <a:blip r:embed="rId15"/>
                <a:stretch>
                  <a:fillRect l="-6250" r="-4688" b="-11429"/>
                </a:stretch>
              </a:blipFill>
            </p:spPr>
            <p:txBody>
              <a:bodyPr/>
              <a:lstStyle/>
              <a:p>
                <a:r>
                  <a:rPr lang="ja-JP" altLang="en-US">
                    <a:noFill/>
                  </a:rPr>
                  <a:t> </a:t>
                </a:r>
              </a:p>
            </p:txBody>
          </p:sp>
        </mc:Fallback>
      </mc:AlternateContent>
      <p:grpSp>
        <p:nvGrpSpPr>
          <p:cNvPr id="120" name="グループ化 119">
            <a:extLst>
              <a:ext uri="{FF2B5EF4-FFF2-40B4-BE49-F238E27FC236}">
                <a16:creationId xmlns:a16="http://schemas.microsoft.com/office/drawing/2014/main" id="{FFF734C8-BEE3-A9CC-E7A3-8DABD3D74FDB}"/>
              </a:ext>
            </a:extLst>
          </p:cNvPr>
          <p:cNvGrpSpPr/>
          <p:nvPr/>
        </p:nvGrpSpPr>
        <p:grpSpPr>
          <a:xfrm>
            <a:off x="3665938" y="20235676"/>
            <a:ext cx="1943000" cy="719356"/>
            <a:chOff x="3749692" y="11369202"/>
            <a:chExt cx="1943000" cy="719356"/>
          </a:xfrm>
        </p:grpSpPr>
        <p:sp>
          <p:nvSpPr>
            <p:cNvPr id="121" name="正方形/長方形 120">
              <a:extLst>
                <a:ext uri="{FF2B5EF4-FFF2-40B4-BE49-F238E27FC236}">
                  <a16:creationId xmlns:a16="http://schemas.microsoft.com/office/drawing/2014/main" id="{B151BCC5-6E2C-0CE8-B614-D12BD5040C7B}"/>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22" name="テキスト ボックス 121">
                  <a:extLst>
                    <a:ext uri="{FF2B5EF4-FFF2-40B4-BE49-F238E27FC236}">
                      <a16:creationId xmlns:a16="http://schemas.microsoft.com/office/drawing/2014/main" id="{05DF72A1-4581-EDAA-C7D5-CE30ACDC744E}"/>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83" name="テキスト ボックス 82">
                  <a:extLst>
                    <a:ext uri="{FF2B5EF4-FFF2-40B4-BE49-F238E27FC236}">
                      <a16:creationId xmlns:a16="http://schemas.microsoft.com/office/drawing/2014/main" id="{0716E997-542C-1EE7-FD83-AC763A65279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38"/>
                  <a:stretch>
                    <a:fillRect l="-5960" t="-2857" r="-5960" b="-31429"/>
                  </a:stretch>
                </a:blipFill>
              </p:spPr>
              <p:txBody>
                <a:bodyPr/>
                <a:lstStyle/>
                <a:p>
                  <a:r>
                    <a:rPr lang="ja-JP" altLang="en-US">
                      <a:noFill/>
                    </a:rPr>
                    <a:t> </a:t>
                  </a:r>
                </a:p>
              </p:txBody>
            </p:sp>
          </mc:Fallback>
        </mc:AlternateContent>
      </p:grpSp>
      <p:sp>
        <p:nvSpPr>
          <p:cNvPr id="123" name="正方形/長方形 122">
            <a:extLst>
              <a:ext uri="{FF2B5EF4-FFF2-40B4-BE49-F238E27FC236}">
                <a16:creationId xmlns:a16="http://schemas.microsoft.com/office/drawing/2014/main" id="{924E6761-FB59-3A10-21D3-FD8BD948F228}"/>
              </a:ext>
            </a:extLst>
          </p:cNvPr>
          <p:cNvSpPr/>
          <p:nvPr/>
        </p:nvSpPr>
        <p:spPr>
          <a:xfrm>
            <a:off x="4820160" y="21216707"/>
            <a:ext cx="2851422" cy="1803974"/>
          </a:xfrm>
          <a:prstGeom prst="rect">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4" name="直線矢印コネクタ 123">
            <a:extLst>
              <a:ext uri="{FF2B5EF4-FFF2-40B4-BE49-F238E27FC236}">
                <a16:creationId xmlns:a16="http://schemas.microsoft.com/office/drawing/2014/main" id="{8881FEB3-BBBD-EAFC-4EA8-A5E3FEE568DD}"/>
              </a:ext>
            </a:extLst>
          </p:cNvPr>
          <p:cNvCxnSpPr>
            <a:cxnSpLocks/>
            <a:stCxn id="111" idx="3"/>
            <a:endCxn id="127" idx="2"/>
          </p:cNvCxnSpPr>
          <p:nvPr/>
        </p:nvCxnSpPr>
        <p:spPr>
          <a:xfrm>
            <a:off x="3013674" y="22097541"/>
            <a:ext cx="1984373" cy="238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線矢印コネクタ 22">
            <a:extLst>
              <a:ext uri="{FF2B5EF4-FFF2-40B4-BE49-F238E27FC236}">
                <a16:creationId xmlns:a16="http://schemas.microsoft.com/office/drawing/2014/main" id="{55780254-1A90-9768-76EC-D8021AA6E117}"/>
              </a:ext>
            </a:extLst>
          </p:cNvPr>
          <p:cNvCxnSpPr>
            <a:cxnSpLocks/>
            <a:stCxn id="127" idx="0"/>
            <a:endCxn id="133" idx="1"/>
          </p:cNvCxnSpPr>
          <p:nvPr/>
        </p:nvCxnSpPr>
        <p:spPr>
          <a:xfrm flipV="1">
            <a:off x="7431132" y="21210264"/>
            <a:ext cx="2673535" cy="911147"/>
          </a:xfrm>
          <a:prstGeom prst="bentConnector3">
            <a:avLst>
              <a:gd name="adj1" fmla="val 78339"/>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6" name="グループ化 125">
            <a:extLst>
              <a:ext uri="{FF2B5EF4-FFF2-40B4-BE49-F238E27FC236}">
                <a16:creationId xmlns:a16="http://schemas.microsoft.com/office/drawing/2014/main" id="{7E0C896F-FB7F-E63C-C654-79796ED0B4B9}"/>
              </a:ext>
            </a:extLst>
          </p:cNvPr>
          <p:cNvGrpSpPr/>
          <p:nvPr/>
        </p:nvGrpSpPr>
        <p:grpSpPr>
          <a:xfrm>
            <a:off x="4998047" y="21373042"/>
            <a:ext cx="2433085" cy="1496737"/>
            <a:chOff x="5794564" y="9455213"/>
            <a:chExt cx="2433085" cy="1496737"/>
          </a:xfrm>
        </p:grpSpPr>
        <p:sp>
          <p:nvSpPr>
            <p:cNvPr id="127" name="台形 126">
              <a:extLst>
                <a:ext uri="{FF2B5EF4-FFF2-40B4-BE49-F238E27FC236}">
                  <a16:creationId xmlns:a16="http://schemas.microsoft.com/office/drawing/2014/main" id="{55D65801-ED4D-1612-09FD-E1A68AE3CAC6}"/>
                </a:ext>
              </a:extLst>
            </p:cNvPr>
            <p:cNvSpPr/>
            <p:nvPr/>
          </p:nvSpPr>
          <p:spPr>
            <a:xfrm rot="5400000">
              <a:off x="6262738" y="8987039"/>
              <a:ext cx="1496737" cy="2433085"/>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8E308A47-7014-E357-27A1-1DC429230C5C}"/>
                    </a:ext>
                  </a:extLst>
                </p:cNvPr>
                <p:cNvSpPr txBox="1"/>
                <p:nvPr/>
              </p:nvSpPr>
              <p:spPr>
                <a:xfrm>
                  <a:off x="5827591" y="9798507"/>
                  <a:ext cx="2298001" cy="8617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𝑝𝑟𝑒</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𝑡𝑟𝑎𝑖𝑛𝑒𝑑</m:t>
                        </m:r>
                      </m:oMath>
                    </m:oMathPara>
                  </a14:m>
                  <a:endParaRPr kumimoji="1" lang="en-US" altLang="ja-JP" sz="2800" b="0" dirty="0"/>
                </a:p>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𝑅𝑒𝑠𝑁𝑒𝑡</m:t>
                        </m:r>
                        <m:r>
                          <a:rPr kumimoji="1" lang="en-US" altLang="ja-JP" sz="2800" b="0" i="1" smtClean="0">
                            <a:latin typeface="Cambria Math" panose="02040503050406030204" pitchFamily="18" charset="0"/>
                          </a:rPr>
                          <m:t>152</m:t>
                        </m:r>
                      </m:oMath>
                    </m:oMathPara>
                  </a14:m>
                  <a:endParaRPr kumimoji="1" lang="ja-JP" altLang="en-US" sz="2800" dirty="0"/>
                </a:p>
              </p:txBody>
            </p:sp>
          </mc:Choice>
          <mc:Fallback xmlns="">
            <p:sp>
              <p:nvSpPr>
                <p:cNvPr id="90" name="テキスト ボックス 89">
                  <a:extLst>
                    <a:ext uri="{FF2B5EF4-FFF2-40B4-BE49-F238E27FC236}">
                      <a16:creationId xmlns:a16="http://schemas.microsoft.com/office/drawing/2014/main" id="{A3D47FCC-F41C-36CA-FA23-2C40DFB9B479}"/>
                    </a:ext>
                  </a:extLst>
                </p:cNvPr>
                <p:cNvSpPr txBox="1">
                  <a:spLocks noRot="1" noChangeAspect="1" noMove="1" noResize="1" noEditPoints="1" noAdjustHandles="1" noChangeArrowheads="1" noChangeShapeType="1" noTextEdit="1"/>
                </p:cNvSpPr>
                <p:nvPr/>
              </p:nvSpPr>
              <p:spPr>
                <a:xfrm>
                  <a:off x="5827591" y="9798507"/>
                  <a:ext cx="2298001" cy="861774"/>
                </a:xfrm>
                <a:prstGeom prst="rect">
                  <a:avLst/>
                </a:prstGeom>
                <a:blipFill>
                  <a:blip r:embed="rId39"/>
                  <a:stretch>
                    <a:fillRect l="-3315" r="-3315" b="-2899"/>
                  </a:stretch>
                </a:blipFill>
              </p:spPr>
              <p:txBody>
                <a:bodyPr/>
                <a:lstStyle/>
                <a:p>
                  <a:r>
                    <a:rPr lang="ja-JP" altLang="en-US">
                      <a:noFill/>
                    </a:rPr>
                    <a:t> </a:t>
                  </a:r>
                </a:p>
              </p:txBody>
            </p:sp>
          </mc:Fallback>
        </mc:AlternateContent>
      </p:grpSp>
      <p:grpSp>
        <p:nvGrpSpPr>
          <p:cNvPr id="129" name="グループ化 128">
            <a:extLst>
              <a:ext uri="{FF2B5EF4-FFF2-40B4-BE49-F238E27FC236}">
                <a16:creationId xmlns:a16="http://schemas.microsoft.com/office/drawing/2014/main" id="{634A9A22-B8E5-55ED-BE28-6DFD47BECF19}"/>
              </a:ext>
            </a:extLst>
          </p:cNvPr>
          <p:cNvGrpSpPr/>
          <p:nvPr/>
        </p:nvGrpSpPr>
        <p:grpSpPr>
          <a:xfrm>
            <a:off x="7008274" y="20229552"/>
            <a:ext cx="1943000" cy="719356"/>
            <a:chOff x="3749692" y="11369202"/>
            <a:chExt cx="1943000" cy="719356"/>
          </a:xfrm>
        </p:grpSpPr>
        <p:sp>
          <p:nvSpPr>
            <p:cNvPr id="130" name="正方形/長方形 129">
              <a:extLst>
                <a:ext uri="{FF2B5EF4-FFF2-40B4-BE49-F238E27FC236}">
                  <a16:creationId xmlns:a16="http://schemas.microsoft.com/office/drawing/2014/main" id="{43F84040-7E3C-BA18-C3B3-EF852524697E}"/>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31" name="テキスト ボックス 130">
                  <a:extLst>
                    <a:ext uri="{FF2B5EF4-FFF2-40B4-BE49-F238E27FC236}">
                      <a16:creationId xmlns:a16="http://schemas.microsoft.com/office/drawing/2014/main" id="{382CD386-7BD2-23DB-2DFD-2A1A70317BD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93" name="テキスト ボックス 92">
                  <a:extLst>
                    <a:ext uri="{FF2B5EF4-FFF2-40B4-BE49-F238E27FC236}">
                      <a16:creationId xmlns:a16="http://schemas.microsoft.com/office/drawing/2014/main" id="{530F7026-FEC9-842A-46CC-D75BCDA6539A}"/>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40"/>
                  <a:stretch>
                    <a:fillRect b="-5882"/>
                  </a:stretch>
                </a:blipFill>
              </p:spPr>
              <p:txBody>
                <a:bodyPr/>
                <a:lstStyle/>
                <a:p>
                  <a:r>
                    <a:rPr lang="ja-JP" altLang="en-US">
                      <a:noFill/>
                    </a:rPr>
                    <a:t> </a:t>
                  </a:r>
                </a:p>
              </p:txBody>
            </p:sp>
          </mc:Fallback>
        </mc:AlternateContent>
      </p:grpSp>
      <p:grpSp>
        <p:nvGrpSpPr>
          <p:cNvPr id="132" name="グループ化 131">
            <a:extLst>
              <a:ext uri="{FF2B5EF4-FFF2-40B4-BE49-F238E27FC236}">
                <a16:creationId xmlns:a16="http://schemas.microsoft.com/office/drawing/2014/main" id="{55F15A3B-E444-D6FB-0CAD-C0AC4EABB4EB}"/>
              </a:ext>
            </a:extLst>
          </p:cNvPr>
          <p:cNvGrpSpPr/>
          <p:nvPr/>
        </p:nvGrpSpPr>
        <p:grpSpPr>
          <a:xfrm>
            <a:off x="10104667" y="20850586"/>
            <a:ext cx="1943000" cy="719356"/>
            <a:chOff x="3749692" y="11369202"/>
            <a:chExt cx="1943000" cy="719356"/>
          </a:xfrm>
        </p:grpSpPr>
        <p:sp>
          <p:nvSpPr>
            <p:cNvPr id="133" name="正方形/長方形 132">
              <a:extLst>
                <a:ext uri="{FF2B5EF4-FFF2-40B4-BE49-F238E27FC236}">
                  <a16:creationId xmlns:a16="http://schemas.microsoft.com/office/drawing/2014/main" id="{D592285D-8185-5CA9-88E7-0756CC44E90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34" name="テキスト ボックス 133">
                  <a:extLst>
                    <a:ext uri="{FF2B5EF4-FFF2-40B4-BE49-F238E27FC236}">
                      <a16:creationId xmlns:a16="http://schemas.microsoft.com/office/drawing/2014/main" id="{7A94F792-5220-F6A8-DCE0-A6B478D5D19F}"/>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96" name="テキスト ボックス 95">
                  <a:extLst>
                    <a:ext uri="{FF2B5EF4-FFF2-40B4-BE49-F238E27FC236}">
                      <a16:creationId xmlns:a16="http://schemas.microsoft.com/office/drawing/2014/main" id="{C0B92E46-B603-F627-D4D7-4F235C2D9CE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41"/>
                  <a:stretch>
                    <a:fillRect b="-8571"/>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1633172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四角形: 角を丸くする 10">
            <a:extLst>
              <a:ext uri="{FF2B5EF4-FFF2-40B4-BE49-F238E27FC236}">
                <a16:creationId xmlns:a16="http://schemas.microsoft.com/office/drawing/2014/main" id="{77C00F1B-B54B-9ADE-40B5-5B2FEA05E6A5}"/>
              </a:ext>
            </a:extLst>
          </p:cNvPr>
          <p:cNvSpPr/>
          <p:nvPr/>
        </p:nvSpPr>
        <p:spPr>
          <a:xfrm>
            <a:off x="232568" y="40523872"/>
            <a:ext cx="29775151" cy="1768016"/>
          </a:xfrm>
          <a:prstGeom prst="roundRect">
            <a:avLst>
              <a:gd name="adj" fmla="val 994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grpSp>
        <p:nvGrpSpPr>
          <p:cNvPr id="23" name="グループ化 22">
            <a:extLst>
              <a:ext uri="{FF2B5EF4-FFF2-40B4-BE49-F238E27FC236}">
                <a16:creationId xmlns:a16="http://schemas.microsoft.com/office/drawing/2014/main" id="{30CE2818-1843-6F2A-80B7-05612BF68763}"/>
              </a:ext>
            </a:extLst>
          </p:cNvPr>
          <p:cNvGrpSpPr/>
          <p:nvPr/>
        </p:nvGrpSpPr>
        <p:grpSpPr>
          <a:xfrm>
            <a:off x="232570" y="1480871"/>
            <a:ext cx="14911137" cy="4055173"/>
            <a:chOff x="232570" y="2529741"/>
            <a:chExt cx="14911137" cy="4055173"/>
          </a:xfrm>
        </p:grpSpPr>
        <p:sp>
          <p:nvSpPr>
            <p:cNvPr id="10" name="四角形: 角を丸くする 9">
              <a:extLst>
                <a:ext uri="{FF2B5EF4-FFF2-40B4-BE49-F238E27FC236}">
                  <a16:creationId xmlns:a16="http://schemas.microsoft.com/office/drawing/2014/main" id="{27C6F926-3906-9907-52EE-E1D4D4E5F520}"/>
                </a:ext>
              </a:extLst>
            </p:cNvPr>
            <p:cNvSpPr/>
            <p:nvPr/>
          </p:nvSpPr>
          <p:spPr>
            <a:xfrm>
              <a:off x="232570" y="2928093"/>
              <a:ext cx="14760000" cy="3656821"/>
            </a:xfrm>
            <a:prstGeom prst="roundRect">
              <a:avLst>
                <a:gd name="adj" fmla="val 6375"/>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dirty="0">
                  <a:latin typeface="UD デジタル 教科書体 NK-R" panose="02020400000000000000" pitchFamily="18" charset="-128"/>
                  <a:ea typeface="UD デジタル 教科書体 NK-R" panose="02020400000000000000" pitchFamily="18" charset="-128"/>
                </a:rPr>
                <a:t>目的</a:t>
              </a:r>
            </a:p>
          </p:txBody>
        </p:sp>
        <p:sp>
          <p:nvSpPr>
            <p:cNvPr id="18" name="四角形: 角を丸くする 17">
              <a:extLst>
                <a:ext uri="{FF2B5EF4-FFF2-40B4-BE49-F238E27FC236}">
                  <a16:creationId xmlns:a16="http://schemas.microsoft.com/office/drawing/2014/main" id="{83F891FC-763A-95C7-C6BF-CC832CB33667}"/>
                </a:ext>
              </a:extLst>
            </p:cNvPr>
            <p:cNvSpPr/>
            <p:nvPr/>
          </p:nvSpPr>
          <p:spPr>
            <a:xfrm>
              <a:off x="528326" y="2529741"/>
              <a:ext cx="3159050" cy="797855"/>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背景・目的</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118" name="テキスト ボックス 117">
              <a:extLst>
                <a:ext uri="{FF2B5EF4-FFF2-40B4-BE49-F238E27FC236}">
                  <a16:creationId xmlns:a16="http://schemas.microsoft.com/office/drawing/2014/main" id="{72956B3B-BA4D-7529-D417-26D2225646DE}"/>
                </a:ext>
              </a:extLst>
            </p:cNvPr>
            <p:cNvSpPr txBox="1"/>
            <p:nvPr/>
          </p:nvSpPr>
          <p:spPr>
            <a:xfrm>
              <a:off x="388899" y="3468067"/>
              <a:ext cx="14754808" cy="3108543"/>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背景</a:t>
              </a:r>
              <a:endParaRPr lang="en-US" altLang="ja-JP" sz="2800" dirty="0">
                <a:latin typeface="UD デジタル 教科書体 NK-R" panose="02020400000000000000" pitchFamily="18" charset="-128"/>
                <a:ea typeface="UD デジタル 教科書体 NK-R" panose="02020400000000000000" pitchFamily="18" charset="-128"/>
              </a:endParaRP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近年</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の研究が盛んに行われている</a:t>
              </a:r>
              <a:r>
                <a:rPr lang="en-US" altLang="ja-JP" sz="2800" dirty="0">
                  <a:latin typeface="UD デジタル 教科書体 NK-R" panose="02020400000000000000" pitchFamily="18" charset="-128"/>
                  <a:ea typeface="UD デジタル 教科書体 NK-R" panose="02020400000000000000" pitchFamily="18" charset="-128"/>
                </a:rPr>
                <a:t>[1,2]</a:t>
              </a:r>
            </a:p>
            <a:p>
              <a:pPr marL="571500" indent="-571500">
                <a:buFont typeface="Arial" panose="020B0604020202020204" pitchFamily="34" charset="0"/>
                <a:buChar char="•"/>
              </a:pPr>
              <a:r>
                <a:rPr lang="ja-JP" altLang="en-US" sz="2800">
                  <a:latin typeface="UD デジタル 教科書体 NK-R" panose="02020400000000000000" pitchFamily="18" charset="-128"/>
                  <a:ea typeface="UD デジタル 教科書体 NK-R" panose="02020400000000000000" pitchFamily="18" charset="-128"/>
                </a:rPr>
                <a:t>画像キャプションモデル</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の画像の特徴抽出機として，事前学習済みの画像認識モデルが</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使用される</a:t>
              </a:r>
              <a:r>
                <a:rPr lang="en-US" altLang="ja-JP" sz="2800" dirty="0">
                  <a:latin typeface="UD デジタル 教科書体 NK-R" panose="02020400000000000000" pitchFamily="18" charset="-128"/>
                  <a:ea typeface="UD デジタル 教科書体 NK-R" panose="02020400000000000000" pitchFamily="18" charset="-128"/>
                </a:rPr>
                <a:t>[1]</a:t>
              </a:r>
            </a:p>
            <a:p>
              <a:pPr marL="571500" indent="-571500">
                <a:buFont typeface="Arial" panose="020B0604020202020204" pitchFamily="34" charset="0"/>
                <a:buChar char="•"/>
              </a:pPr>
              <a:r>
                <a:rPr lang="ja-JP" altLang="en-US" sz="2800" spc="-200">
                  <a:latin typeface="UD デジタル 教科書体 NK-R" panose="02020400000000000000" pitchFamily="18" charset="-128"/>
                  <a:ea typeface="UD デジタル 教科書体 NK-R" panose="02020400000000000000" pitchFamily="18" charset="-128"/>
                </a:rPr>
                <a:t>画像キャプションモデルの画像の特徴抽出器として</a:t>
              </a:r>
              <a:r>
                <a:rPr lang="en-US" altLang="ja-JP" sz="2800" spc="-200" dirty="0" err="1">
                  <a:latin typeface="UD デジタル 教科書体 NK-R" panose="02020400000000000000" pitchFamily="18" charset="-128"/>
                  <a:ea typeface="UD デジタル 教科書体 NK-R" panose="02020400000000000000" pitchFamily="18" charset="-128"/>
                </a:rPr>
                <a:t>AutoEncoder</a:t>
              </a:r>
              <a:r>
                <a:rPr lang="ja-JP" altLang="en-US" sz="2800" spc="-200">
                  <a:latin typeface="UD デジタル 教科書体 NK-R" panose="02020400000000000000" pitchFamily="18" charset="-128"/>
                  <a:ea typeface="UD デジタル 教科書体 NK-R" panose="02020400000000000000" pitchFamily="18" charset="-128"/>
                </a:rPr>
                <a:t>のエンコーダを用いる方法を提案</a:t>
              </a:r>
              <a:r>
                <a:rPr lang="en-US" altLang="ja-JP" sz="2800" spc="-200" dirty="0">
                  <a:latin typeface="UD デジタル 教科書体 NK-R" panose="02020400000000000000" pitchFamily="18" charset="-128"/>
                  <a:ea typeface="UD デジタル 教科書体 NK-R" panose="02020400000000000000" pitchFamily="18" charset="-128"/>
                </a:rPr>
                <a:t>[2]</a:t>
              </a:r>
            </a:p>
            <a:p>
              <a:r>
                <a:rPr lang="ja-JP" altLang="en-US" sz="2800">
                  <a:latin typeface="UD デジタル 教科書体 NK-R" panose="02020400000000000000" pitchFamily="18" charset="-128"/>
                  <a:ea typeface="UD デジタル 教科書体 NK-R" panose="02020400000000000000" pitchFamily="18" charset="-128"/>
                </a:rPr>
                <a:t>目的</a:t>
              </a:r>
              <a:endParaRPr lang="en-US" altLang="ja-JP" sz="2800" dirty="0">
                <a:latin typeface="UD デジタル 教科書体 NK-R" panose="02020400000000000000" pitchFamily="18" charset="-128"/>
                <a:ea typeface="UD デジタル 教科書体 NK-R" panose="02020400000000000000" pitchFamily="18" charset="-128"/>
              </a:endParaRPr>
            </a:p>
            <a:p>
              <a:pPr marL="457200" indent="-457200">
                <a:buFont typeface="Arial" panose="020B0604020202020204" pitchFamily="34" charset="0"/>
                <a:buChar char="•"/>
              </a:pPr>
              <a:r>
                <a:rPr lang="ja-JP" altLang="en-US" sz="2800" spc="-100">
                  <a:latin typeface="UD デジタル 教科書体 NK-R" panose="02020400000000000000" pitchFamily="18" charset="-128"/>
                  <a:ea typeface="UD デジタル 教科書体 NK-R" panose="02020400000000000000" pitchFamily="18" charset="-128"/>
                </a:rPr>
                <a:t>大喜利生成</a:t>
              </a:r>
              <a:r>
                <a:rPr lang="en-US" altLang="ja-JP" sz="2800" spc="-100" dirty="0">
                  <a:latin typeface="UD デジタル 教科書体 NK-R" panose="02020400000000000000" pitchFamily="18" charset="-128"/>
                  <a:ea typeface="UD デジタル 教科書体 NK-R" panose="02020400000000000000" pitchFamily="18" charset="-128"/>
                </a:rPr>
                <a:t>AI</a:t>
              </a:r>
              <a:r>
                <a:rPr lang="ja-JP" altLang="en-US" sz="2800" spc="-100">
                  <a:latin typeface="UD デジタル 教科書体 NK-R" panose="02020400000000000000" pitchFamily="18" charset="-128"/>
                  <a:ea typeface="UD デジタル 教科書体 NK-R" panose="02020400000000000000" pitchFamily="18" charset="-128"/>
                </a:rPr>
                <a:t>の画像の特徴抽出機として適した</a:t>
              </a:r>
              <a:r>
                <a:rPr lang="en-US" altLang="ja-JP" sz="2800" spc="-100" dirty="0" err="1">
                  <a:latin typeface="UD デジタル 教科書体 NK-R" panose="02020400000000000000" pitchFamily="18" charset="-128"/>
                  <a:ea typeface="UD デジタル 教科書体 NK-R" panose="02020400000000000000" pitchFamily="18" charset="-128"/>
                </a:rPr>
                <a:t>AutoEncoder</a:t>
              </a:r>
              <a:r>
                <a:rPr lang="ja-JP" altLang="en-US" sz="2800" spc="-100">
                  <a:latin typeface="UD デジタル 教科書体 NK-R" panose="02020400000000000000" pitchFamily="18" charset="-128"/>
                  <a:ea typeface="UD デジタル 教科書体 NK-R" panose="02020400000000000000" pitchFamily="18" charset="-128"/>
                </a:rPr>
                <a:t>の構造を模索する</a:t>
              </a:r>
              <a:endParaRPr lang="ja-JP" altLang="en-US" sz="2800" spc="-100" dirty="0">
                <a:latin typeface="UD デジタル 教科書体 NK-R" panose="02020400000000000000" pitchFamily="18" charset="-128"/>
                <a:ea typeface="UD デジタル 教科書体 NK-R" panose="02020400000000000000" pitchFamily="18" charset="-128"/>
              </a:endParaRPr>
            </a:p>
          </p:txBody>
        </p:sp>
      </p:grpSp>
      <p:grpSp>
        <p:nvGrpSpPr>
          <p:cNvPr id="8" name="グループ化 7">
            <a:extLst>
              <a:ext uri="{FF2B5EF4-FFF2-40B4-BE49-F238E27FC236}">
                <a16:creationId xmlns:a16="http://schemas.microsoft.com/office/drawing/2014/main" id="{D217D156-E69B-2BDF-A462-41E6CA149116}"/>
              </a:ext>
            </a:extLst>
          </p:cNvPr>
          <p:cNvGrpSpPr/>
          <p:nvPr/>
        </p:nvGrpSpPr>
        <p:grpSpPr>
          <a:xfrm>
            <a:off x="885984" y="-35693"/>
            <a:ext cx="28346400" cy="1608982"/>
            <a:chOff x="946944" y="353705"/>
            <a:chExt cx="28346400" cy="1608982"/>
          </a:xfrm>
        </p:grpSpPr>
        <p:sp>
          <p:nvSpPr>
            <p:cNvPr id="6" name="テキスト ボックス 5">
              <a:extLst>
                <a:ext uri="{FF2B5EF4-FFF2-40B4-BE49-F238E27FC236}">
                  <a16:creationId xmlns:a16="http://schemas.microsoft.com/office/drawing/2014/main" id="{D0F93D02-78A6-D657-0BA1-CF2B85B44883}"/>
                </a:ext>
              </a:extLst>
            </p:cNvPr>
            <p:cNvSpPr txBox="1"/>
            <p:nvPr/>
          </p:nvSpPr>
          <p:spPr>
            <a:xfrm>
              <a:off x="946944" y="353705"/>
              <a:ext cx="28346400" cy="923330"/>
            </a:xfrm>
            <a:prstGeom prst="rect">
              <a:avLst/>
            </a:prstGeom>
            <a:noFill/>
          </p:spPr>
          <p:txBody>
            <a:bodyPr wrap="square">
              <a:spAutoFit/>
            </a:bodyPr>
            <a:lstStyle/>
            <a:p>
              <a:pPr algn="ctr"/>
              <a:r>
                <a:rPr kumimoji="1" lang="ja-JP" altLang="en-US" sz="5400">
                  <a:latin typeface="UD デジタル 教科書体 NK-R" panose="02020400000000000000" pitchFamily="18" charset="-128"/>
                  <a:ea typeface="UD デジタル 教科書体 NK-R" panose="02020400000000000000" pitchFamily="18" charset="-128"/>
                </a:rPr>
                <a:t>大喜利生成</a:t>
              </a:r>
              <a:r>
                <a:rPr kumimoji="1" lang="en-US" altLang="ja-JP" sz="5400" dirty="0">
                  <a:latin typeface="UD デジタル 教科書体 NK-R" panose="02020400000000000000" pitchFamily="18" charset="-128"/>
                  <a:ea typeface="UD デジタル 教科書体 NK-R" panose="02020400000000000000" pitchFamily="18" charset="-128"/>
                </a:rPr>
                <a:t>AI</a:t>
              </a:r>
              <a:r>
                <a:rPr kumimoji="1" lang="ja-JP" altLang="en-US" sz="5400">
                  <a:latin typeface="UD デジタル 教科書体 NK-R" panose="02020400000000000000" pitchFamily="18" charset="-128"/>
                  <a:ea typeface="UD デジタル 教科書体 NK-R" panose="02020400000000000000" pitchFamily="18" charset="-128"/>
                </a:rPr>
                <a:t>に適した</a:t>
              </a:r>
              <a:r>
                <a:rPr kumimoji="1" lang="en-US" altLang="ja-JP" sz="5400" dirty="0" err="1">
                  <a:latin typeface="UD デジタル 教科書体 NK-R" panose="02020400000000000000" pitchFamily="18" charset="-128"/>
                  <a:ea typeface="UD デジタル 教科書体 NK-R" panose="02020400000000000000" pitchFamily="18" charset="-128"/>
                </a:rPr>
                <a:t>AutoEncoder</a:t>
              </a:r>
              <a:r>
                <a:rPr kumimoji="1" lang="ja-JP" altLang="en-US" sz="5400">
                  <a:latin typeface="UD デジタル 教科書体 NK-R" panose="02020400000000000000" pitchFamily="18" charset="-128"/>
                  <a:ea typeface="UD デジタル 教科書体 NK-R" panose="02020400000000000000" pitchFamily="18" charset="-128"/>
                </a:rPr>
                <a:t>に関する研究</a:t>
              </a:r>
              <a:endParaRPr lang="ja-JP" altLang="en-US" sz="5400" dirty="0">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078920E-DE64-22FA-4A80-4CD39FAE4327}"/>
                    </a:ext>
                  </a:extLst>
                </p:cNvPr>
                <p:cNvSpPr txBox="1"/>
                <p:nvPr/>
              </p:nvSpPr>
              <p:spPr>
                <a:xfrm>
                  <a:off x="946944" y="1193246"/>
                  <a:ext cx="28346400" cy="769441"/>
                </a:xfrm>
                <a:prstGeom prst="rect">
                  <a:avLst/>
                </a:prstGeom>
                <a:noFill/>
              </p:spPr>
              <p:txBody>
                <a:bodyPr wrap="square">
                  <a:spAutoFit/>
                </a:bodyPr>
                <a:lstStyle/>
                <a:p>
                  <a:pPr algn="ctr"/>
                  <a:r>
                    <a:rPr kumimoji="1" lang="ja-JP" altLang="en-US" sz="4400" dirty="0">
                      <a:latin typeface="UD デジタル 教科書体 NK-R" panose="02020400000000000000" pitchFamily="18" charset="-128"/>
                      <a:ea typeface="UD デジタル 教科書体 NK-R" panose="02020400000000000000" pitchFamily="18" charset="-128"/>
                    </a:rPr>
                    <a:t>〇山富 龍</a:t>
                  </a:r>
                  <a14:m>
                    <m:oMath xmlns:m="http://schemas.openxmlformats.org/officeDocument/2006/math">
                      <m:sSup>
                        <m:sSupPr>
                          <m:ctrlPr>
                            <a:rPr kumimoji="1" lang="en-US" altLang="ja-JP" sz="4400" i="1" dirty="0" smtClean="0">
                              <a:latin typeface="Cambria Math" panose="02040503050406030204" pitchFamily="18" charset="0"/>
                            </a:rPr>
                          </m:ctrlPr>
                        </m:sSupPr>
                        <m:e>
                          <m:r>
                            <a:rPr kumimoji="1" lang="ja-JP" altLang="en-US" sz="4400" i="1" dirty="0">
                              <a:latin typeface="Cambria Math" panose="02040503050406030204" pitchFamily="18" charset="0"/>
                            </a:rPr>
                            <m:t> </m:t>
                          </m:r>
                        </m:e>
                        <m:sup>
                          <m:r>
                            <a:rPr kumimoji="1" lang="en-US" altLang="ja-JP" sz="4400" b="0" i="1" dirty="0" smtClean="0">
                              <a:latin typeface="Cambria Math" panose="02040503050406030204" pitchFamily="18" charset="0"/>
                            </a:rPr>
                            <m:t>1</m:t>
                          </m:r>
                        </m:sup>
                      </m:sSup>
                    </m:oMath>
                  </a14:m>
                  <a:r>
                    <a:rPr kumimoji="1" lang="en-US" altLang="ja-JP" sz="4400" dirty="0">
                      <a:latin typeface="UD デジタル 教科書体 NK-R" panose="02020400000000000000" pitchFamily="18" charset="-128"/>
                      <a:ea typeface="UD デジタル 教科書体 NK-R" panose="02020400000000000000" pitchFamily="18" charset="-128"/>
                    </a:rPr>
                    <a:t>,</a:t>
                  </a:r>
                  <a:r>
                    <a:rPr kumimoji="1" lang="ja-JP" altLang="en-US" sz="4400" dirty="0">
                      <a:latin typeface="UD デジタル 教科書体 NK-R" panose="02020400000000000000" pitchFamily="18" charset="-128"/>
                      <a:ea typeface="UD デジタル 教科書体 NK-R" panose="02020400000000000000" pitchFamily="18" charset="-128"/>
                    </a:rPr>
                    <a:t> マハブービ シェヘラザード</a:t>
                  </a:r>
                  <a14:m>
                    <m:oMath xmlns:m="http://schemas.openxmlformats.org/officeDocument/2006/math">
                      <m:sSup>
                        <m:sSupPr>
                          <m:ctrlPr>
                            <a:rPr kumimoji="1" lang="en-US" altLang="ja-JP" sz="4400" i="1" dirty="0">
                              <a:latin typeface="Cambria Math" panose="02040503050406030204" pitchFamily="18" charset="0"/>
                            </a:rPr>
                          </m:ctrlPr>
                        </m:sSupPr>
                        <m:e>
                          <m:r>
                            <a:rPr kumimoji="1" lang="ja-JP" altLang="en-US" sz="4400" i="1" dirty="0">
                              <a:latin typeface="Cambria Math" panose="02040503050406030204" pitchFamily="18" charset="0"/>
                            </a:rPr>
                            <m:t> </m:t>
                          </m:r>
                        </m:e>
                        <m:sup>
                          <m:r>
                            <a:rPr kumimoji="1" lang="en-US" altLang="ja-JP" sz="4400" i="1" dirty="0">
                              <a:latin typeface="Cambria Math" panose="02040503050406030204" pitchFamily="18" charset="0"/>
                            </a:rPr>
                            <m:t>1</m:t>
                          </m:r>
                        </m:sup>
                      </m:sSup>
                    </m:oMath>
                  </a14:m>
                  <a:r>
                    <a:rPr kumimoji="1" lang="en-US" altLang="ja-JP" sz="4400" dirty="0">
                      <a:latin typeface="UD デジタル 教科書体 NK-R" panose="02020400000000000000" pitchFamily="18" charset="-128"/>
                      <a:ea typeface="UD デジタル 教科書体 NK-R" panose="02020400000000000000" pitchFamily="18" charset="-128"/>
                    </a:rPr>
                    <a:t>,</a:t>
                  </a:r>
                  <a:r>
                    <a:rPr kumimoji="1" lang="ja-JP" altLang="en-US" sz="4400" dirty="0">
                      <a:latin typeface="UD デジタル 教科書体 NK-R" panose="02020400000000000000" pitchFamily="18" charset="-128"/>
                      <a:ea typeface="UD デジタル 教科書体 NK-R" panose="02020400000000000000" pitchFamily="18" charset="-128"/>
                    </a:rPr>
                    <a:t> 二宮 洋</a:t>
                  </a:r>
                  <a14:m>
                    <m:oMath xmlns:m="http://schemas.openxmlformats.org/officeDocument/2006/math">
                      <m:sSup>
                        <m:sSupPr>
                          <m:ctrlPr>
                            <a:rPr kumimoji="1" lang="en-US" altLang="ja-JP" sz="4400" i="1" dirty="0">
                              <a:latin typeface="Cambria Math" panose="02040503050406030204" pitchFamily="18" charset="0"/>
                            </a:rPr>
                          </m:ctrlPr>
                        </m:sSupPr>
                        <m:e>
                          <m:r>
                            <a:rPr kumimoji="1" lang="ja-JP" altLang="en-US" sz="4400" i="1" dirty="0">
                              <a:latin typeface="Cambria Math" panose="02040503050406030204" pitchFamily="18" charset="0"/>
                            </a:rPr>
                            <m:t> </m:t>
                          </m:r>
                        </m:e>
                        <m:sup>
                          <m:r>
                            <a:rPr kumimoji="1" lang="en-US" altLang="ja-JP" sz="4400" i="1" dirty="0">
                              <a:latin typeface="Cambria Math" panose="02040503050406030204" pitchFamily="18" charset="0"/>
                            </a:rPr>
                            <m:t>1</m:t>
                          </m:r>
                        </m:sup>
                      </m:sSup>
                    </m:oMath>
                  </a14:m>
                  <a:r>
                    <a:rPr lang="ja-JP" altLang="en-US" sz="4400" dirty="0">
                      <a:latin typeface="UD デジタル 教科書体 NK-R" panose="02020400000000000000" pitchFamily="18" charset="-128"/>
                      <a:ea typeface="UD デジタル 教科書体 NK-R" panose="02020400000000000000" pitchFamily="18" charset="-128"/>
                    </a:rPr>
                    <a:t>（</a:t>
                  </a:r>
                  <a:r>
                    <a:rPr kumimoji="1" lang="ja-JP" altLang="en-US" sz="4400" dirty="0">
                      <a:latin typeface="UD デジタル 教科書体 NK-R" panose="02020400000000000000" pitchFamily="18" charset="-128"/>
                      <a:ea typeface="UD デジタル 教科書体 NK-R" panose="02020400000000000000" pitchFamily="18" charset="-128"/>
                    </a:rPr>
                    <a:t>湘南工科大学</a:t>
                  </a:r>
                  <a14:m>
                    <m:oMath xmlns:m="http://schemas.openxmlformats.org/officeDocument/2006/math">
                      <m:sSup>
                        <m:sSupPr>
                          <m:ctrlPr>
                            <a:rPr kumimoji="1" lang="en-US" altLang="ja-JP" sz="4400" i="1" dirty="0">
                              <a:latin typeface="Cambria Math" panose="02040503050406030204" pitchFamily="18" charset="0"/>
                            </a:rPr>
                          </m:ctrlPr>
                        </m:sSupPr>
                        <m:e>
                          <m:r>
                            <a:rPr kumimoji="1" lang="ja-JP" altLang="en-US" sz="4400" i="1" dirty="0">
                              <a:latin typeface="Cambria Math" panose="02040503050406030204" pitchFamily="18" charset="0"/>
                            </a:rPr>
                            <m:t> </m:t>
                          </m:r>
                        </m:e>
                        <m:sup>
                          <m:r>
                            <a:rPr kumimoji="1" lang="en-US" altLang="ja-JP" sz="4400" i="1" dirty="0">
                              <a:latin typeface="Cambria Math" panose="02040503050406030204" pitchFamily="18" charset="0"/>
                            </a:rPr>
                            <m:t>1</m:t>
                          </m:r>
                        </m:sup>
                      </m:sSup>
                    </m:oMath>
                  </a14:m>
                  <a:r>
                    <a:rPr lang="ja-JP" altLang="en-US" sz="4400" dirty="0">
                      <a:latin typeface="UD デジタル 教科書体 NK-R" panose="02020400000000000000" pitchFamily="18" charset="-128"/>
                      <a:ea typeface="UD デジタル 教科書体 NK-R" panose="02020400000000000000" pitchFamily="18" charset="-128"/>
                    </a:rPr>
                    <a:t>）</a:t>
                  </a:r>
                </a:p>
              </p:txBody>
            </p:sp>
          </mc:Choice>
          <mc:Fallback xmlns="">
            <p:sp>
              <p:nvSpPr>
                <p:cNvPr id="7" name="テキスト ボックス 6">
                  <a:extLst>
                    <a:ext uri="{FF2B5EF4-FFF2-40B4-BE49-F238E27FC236}">
                      <a16:creationId xmlns:a16="http://schemas.microsoft.com/office/drawing/2014/main" id="{9078920E-DE64-22FA-4A80-4CD39FAE4327}"/>
                    </a:ext>
                  </a:extLst>
                </p:cNvPr>
                <p:cNvSpPr txBox="1">
                  <a:spLocks noRot="1" noChangeAspect="1" noMove="1" noResize="1" noEditPoints="1" noAdjustHandles="1" noChangeArrowheads="1" noChangeShapeType="1" noTextEdit="1"/>
                </p:cNvSpPr>
                <p:nvPr/>
              </p:nvSpPr>
              <p:spPr>
                <a:xfrm>
                  <a:off x="946944" y="1193246"/>
                  <a:ext cx="28346400" cy="769441"/>
                </a:xfrm>
                <a:prstGeom prst="rect">
                  <a:avLst/>
                </a:prstGeom>
                <a:blipFill>
                  <a:blip r:embed="rId2"/>
                  <a:stretch>
                    <a:fillRect t="-14754" b="-39344"/>
                  </a:stretch>
                </a:blipFill>
              </p:spPr>
              <p:txBody>
                <a:bodyPr/>
                <a:lstStyle/>
                <a:p>
                  <a:r>
                    <a:rPr lang="ja-JP" altLang="en-US">
                      <a:noFill/>
                    </a:rPr>
                    <a:t> </a:t>
                  </a:r>
                </a:p>
              </p:txBody>
            </p:sp>
          </mc:Fallback>
        </mc:AlternateContent>
      </p:grpSp>
      <p:grpSp>
        <p:nvGrpSpPr>
          <p:cNvPr id="29" name="グループ化 28">
            <a:extLst>
              <a:ext uri="{FF2B5EF4-FFF2-40B4-BE49-F238E27FC236}">
                <a16:creationId xmlns:a16="http://schemas.microsoft.com/office/drawing/2014/main" id="{CE582D28-B8C7-184A-8907-3F8DB7980B3A}"/>
              </a:ext>
            </a:extLst>
          </p:cNvPr>
          <p:cNvGrpSpPr/>
          <p:nvPr/>
        </p:nvGrpSpPr>
        <p:grpSpPr>
          <a:xfrm>
            <a:off x="212937" y="5750285"/>
            <a:ext cx="14760000" cy="10950880"/>
            <a:chOff x="191499" y="4380114"/>
            <a:chExt cx="14760000" cy="10950880"/>
          </a:xfrm>
        </p:grpSpPr>
        <p:sp>
          <p:nvSpPr>
            <p:cNvPr id="30" name="四角形: 角を丸くする 29">
              <a:extLst>
                <a:ext uri="{FF2B5EF4-FFF2-40B4-BE49-F238E27FC236}">
                  <a16:creationId xmlns:a16="http://schemas.microsoft.com/office/drawing/2014/main" id="{3337E6AE-FD4C-7BA6-9BB0-42A2F8FA8691}"/>
                </a:ext>
              </a:extLst>
            </p:cNvPr>
            <p:cNvSpPr/>
            <p:nvPr/>
          </p:nvSpPr>
          <p:spPr>
            <a:xfrm>
              <a:off x="191499" y="4755866"/>
              <a:ext cx="14760000" cy="10469908"/>
            </a:xfrm>
            <a:prstGeom prst="roundRect">
              <a:avLst>
                <a:gd name="adj" fmla="val 245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31" name="四角形: 角を丸くする 30">
              <a:extLst>
                <a:ext uri="{FF2B5EF4-FFF2-40B4-BE49-F238E27FC236}">
                  <a16:creationId xmlns:a16="http://schemas.microsoft.com/office/drawing/2014/main" id="{946408B4-3F6B-5E5B-91E5-DE0AC41DEBB8}"/>
                </a:ext>
              </a:extLst>
            </p:cNvPr>
            <p:cNvSpPr/>
            <p:nvPr/>
          </p:nvSpPr>
          <p:spPr>
            <a:xfrm>
              <a:off x="506889" y="4380114"/>
              <a:ext cx="7158348" cy="768330"/>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画像キャプションモデル</a:t>
              </a: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[3]</a:t>
              </a:r>
            </a:p>
          </p:txBody>
        </p:sp>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7D06BDE7-BADC-0589-E24F-85B1071B5196}"/>
                    </a:ext>
                  </a:extLst>
                </p:cNvPr>
                <p:cNvSpPr txBox="1"/>
                <p:nvPr/>
              </p:nvSpPr>
              <p:spPr>
                <a:xfrm>
                  <a:off x="318217" y="5759143"/>
                  <a:ext cx="14633281" cy="9571851"/>
                </a:xfrm>
                <a:prstGeom prst="rect">
                  <a:avLst/>
                </a:prstGeom>
                <a:noFill/>
              </p:spPr>
              <p:txBody>
                <a:bodyPr wrap="square">
                  <a:spAutoFit/>
                </a:bodyPr>
                <a:lstStyle/>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画像</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𝑤</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文章の</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番目の単語</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sSub>
                        <m:sSubPr>
                          <m:ctrlPr>
                            <a:rPr kumimoji="1" lang="en-US" altLang="ja-JP" sz="2800" i="1">
                              <a:latin typeface="Cambria Math" panose="02040503050406030204" pitchFamily="18" charset="0"/>
                            </a:rPr>
                          </m:ctrlPr>
                        </m:sSubPr>
                        <m:e>
                          <m:r>
                            <a:rPr kumimoji="1" lang="en-US" altLang="ja-JP" sz="2800" i="1">
                              <a:latin typeface="Cambria Math" panose="02040503050406030204" pitchFamily="18" charset="0"/>
                            </a:rPr>
                            <m:t>𝑟</m:t>
                          </m:r>
                        </m:e>
                        <m:sub>
                          <m:r>
                            <a:rPr kumimoji="1" lang="en-US" altLang="ja-JP" sz="2800" i="1">
                              <a:latin typeface="Cambria Math" panose="02040503050406030204" pitchFamily="18" charset="0"/>
                            </a:rPr>
                            <m:t>𝑡</m:t>
                          </m:r>
                        </m:sub>
                      </m:sSub>
                    </m:oMath>
                  </a14:m>
                  <a:r>
                    <a:rPr kumimoji="1" lang="en-US" altLang="ja-JP" sz="2800" dirty="0">
                      <a:latin typeface="UD Digi Kyokasho NK-R" panose="02020400000000000000" pitchFamily="18" charset="-128"/>
                      <a:ea typeface="UD Digi Kyokasho NK-R" panose="02020400000000000000" pitchFamily="18" charset="-128"/>
                    </a:rPr>
                    <a:t> : </a:t>
                  </a:r>
                  <a14:m>
                    <m:oMath xmlns:m="http://schemas.openxmlformats.org/officeDocument/2006/math">
                      <m:r>
                        <a:rPr kumimoji="1" lang="en-US" altLang="ja-JP" sz="2800" i="1">
                          <a:latin typeface="Cambria Math" panose="02040503050406030204" pitchFamily="18" charset="0"/>
                        </a:rPr>
                        <m:t>𝑡</m:t>
                      </m:r>
                    </m:oMath>
                  </a14:m>
                  <a:r>
                    <a:rPr kumimoji="1" lang="ja-JP" altLang="en-US" sz="2800">
                      <a:latin typeface="UD Digi Kyokasho NK-R" panose="02020400000000000000" pitchFamily="18" charset="-128"/>
                      <a:ea typeface="UD Digi Kyokasho NK-R" panose="02020400000000000000" pitchFamily="18" charset="-128"/>
                    </a:rPr>
                    <a:t>時点の内部状態</a:t>
                  </a:r>
                  <a:endParaRPr kumimoji="1" lang="en-US" altLang="ja-JP" sz="2800" dirty="0">
                    <a:latin typeface="UD Digi Kyokasho NK-R" panose="02020400000000000000" pitchFamily="18" charset="-128"/>
                    <a:ea typeface="UD Digi Kyokasho NK-R" panose="02020400000000000000" pitchFamily="18" charset="-128"/>
                  </a:endParaRPr>
                </a:p>
                <a:p>
                  <a:pPr lvl="1"/>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spc="-100">
                      <a:solidFill>
                        <a:srgbClr val="FF0000"/>
                      </a:solidFill>
                      <a:latin typeface="UD Digi Kyokasho NK-R" panose="02020400000000000000" pitchFamily="18" charset="-128"/>
                      <a:ea typeface="UD Digi Kyokasho NK-R" panose="02020400000000000000" pitchFamily="18" charset="-128"/>
                    </a:rPr>
                    <a:t>画像のエンコーダ</a:t>
                  </a:r>
                  <a:r>
                    <a:rPr kumimoji="1" lang="ja-JP" altLang="en-US" sz="2800" spc="-100">
                      <a:latin typeface="UD Digi Kyokasho NK-R" panose="02020400000000000000" pitchFamily="18" charset="-128"/>
                      <a:ea typeface="UD Digi Kyokasho NK-R" panose="02020400000000000000" pitchFamily="18" charset="-128"/>
                    </a:rPr>
                    <a:t>として事前学習済みの画像認識モデルが一般的に使用される</a:t>
                  </a:r>
                  <a:endParaRPr kumimoji="1" lang="en-US" altLang="ja-JP" sz="2800" spc="-100" dirty="0">
                    <a:latin typeface="UD Digi Kyokasho NK-R" panose="02020400000000000000" pitchFamily="18" charset="-128"/>
                    <a:ea typeface="UD Digi Kyokasho NK-R" panose="02020400000000000000" pitchFamily="18" charset="-128"/>
                  </a:endParaRPr>
                </a:p>
                <a:p>
                  <a:pPr lvl="1"/>
                  <a:r>
                    <a:rPr kumimoji="1" lang="ja-JP" altLang="en-US" sz="2800" spc="-100">
                      <a:latin typeface="UD Digi Kyokasho NK-R" panose="02020400000000000000" pitchFamily="18" charset="-128"/>
                      <a:ea typeface="UD Digi Kyokasho NK-R" panose="02020400000000000000" pitchFamily="18" charset="-128"/>
                    </a:rPr>
                    <a:t>メリット</a:t>
                  </a:r>
                  <a:endParaRPr kumimoji="1" lang="en-US" altLang="ja-JP" sz="2800" spc="-1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画像のエンコーダを学習しないため，計算コストが低い</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en-US" altLang="ja-JP" sz="2800" dirty="0">
                      <a:latin typeface="UD Digi Kyokasho NK-R" panose="02020400000000000000" pitchFamily="18" charset="-128"/>
                      <a:ea typeface="UD Digi Kyokasho NK-R" panose="02020400000000000000" pitchFamily="18" charset="-128"/>
                    </a:rPr>
                    <a:t>ImageNet</a:t>
                  </a:r>
                  <a:r>
                    <a:rPr kumimoji="1" lang="ja-JP" altLang="en-US" sz="2800">
                      <a:latin typeface="UD Digi Kyokasho NK-R" panose="02020400000000000000" pitchFamily="18" charset="-128"/>
                      <a:ea typeface="UD Digi Kyokasho NK-R" panose="02020400000000000000" pitchFamily="18" charset="-128"/>
                    </a:rPr>
                    <a:t>のような大規模なデータで学習しており，　　　　　　　　　　　　　　　　　　　　　　　　　　　　　幅広い種類の画像に対応できることが期待できる</a:t>
                  </a:r>
                  <a:endParaRPr kumimoji="1" lang="en-US" altLang="ja-JP" sz="2800" dirty="0">
                    <a:latin typeface="UD Digi Kyokasho NK-R" panose="02020400000000000000" pitchFamily="18" charset="-128"/>
                    <a:ea typeface="UD Digi Kyokasho NK-R" panose="02020400000000000000" pitchFamily="18" charset="-128"/>
                  </a:endParaRPr>
                </a:p>
                <a:p>
                  <a:pPr lvl="1"/>
                  <a:r>
                    <a:rPr kumimoji="1" lang="ja-JP" altLang="en-US" sz="2800">
                      <a:latin typeface="UD Digi Kyokasho NK-R" panose="02020400000000000000" pitchFamily="18" charset="-128"/>
                      <a:ea typeface="UD Digi Kyokasho NK-R" panose="02020400000000000000" pitchFamily="18" charset="-128"/>
                    </a:rPr>
                    <a:t>デメリット</a:t>
                  </a:r>
                  <a:endParaRPr kumimoji="1"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事前学習済みモデルの再学習には画像に対する</a:t>
                  </a:r>
                  <a:r>
                    <a:rPr kumimoji="1" lang="ja-JP" altLang="en-US" sz="2800">
                      <a:solidFill>
                        <a:srgbClr val="00B0F0"/>
                      </a:solidFill>
                      <a:latin typeface="UD Digi Kyokasho NK-R" panose="02020400000000000000" pitchFamily="18" charset="-128"/>
                      <a:ea typeface="UD Digi Kyokasho NK-R" panose="02020400000000000000" pitchFamily="18" charset="-128"/>
                    </a:rPr>
                    <a:t>アノテーションが必要</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kumimoji="1" lang="ja-JP" altLang="en-US" sz="2800">
                      <a:latin typeface="UD Digi Kyokasho NK-R" panose="02020400000000000000" pitchFamily="18" charset="-128"/>
                      <a:ea typeface="UD Digi Kyokasho NK-R" panose="02020400000000000000" pitchFamily="18" charset="-128"/>
                    </a:rPr>
                    <a:t>事前学習済みモデルは</a:t>
                  </a:r>
                  <a:r>
                    <a:rPr kumimoji="1" lang="ja-JP" altLang="en-US" sz="2800">
                      <a:solidFill>
                        <a:srgbClr val="00B0F0"/>
                      </a:solidFill>
                      <a:latin typeface="UD Digi Kyokasho NK-R" panose="02020400000000000000" pitchFamily="18" charset="-128"/>
                      <a:ea typeface="UD Digi Kyokasho NK-R" panose="02020400000000000000" pitchFamily="18" charset="-128"/>
                    </a:rPr>
                    <a:t>パラメータ数が膨大</a:t>
                  </a:r>
                  <a:r>
                    <a:rPr kumimoji="1" lang="ja-JP" altLang="en-US" sz="2800">
                      <a:latin typeface="UD Digi Kyokasho NK-R" panose="02020400000000000000" pitchFamily="18" charset="-128"/>
                      <a:ea typeface="UD Digi Kyokasho NK-R" panose="02020400000000000000" pitchFamily="18" charset="-128"/>
                    </a:rPr>
                    <a:t>かつ</a:t>
                  </a:r>
                  <a:r>
                    <a:rPr kumimoji="1" lang="en-US" altLang="ja-JP" sz="2800" dirty="0">
                      <a:latin typeface="UD Digi Kyokasho NK-R" panose="02020400000000000000" pitchFamily="18" charset="-128"/>
                      <a:ea typeface="UD Digi Kyokasho NK-R" panose="02020400000000000000" pitchFamily="18" charset="-128"/>
                    </a:rPr>
                    <a:t>, </a:t>
                  </a:r>
                  <a:r>
                    <a:rPr kumimoji="1" lang="ja-JP" altLang="en-US" sz="2800">
                      <a:latin typeface="UD Digi Kyokasho NK-R" panose="02020400000000000000" pitchFamily="18" charset="-128"/>
                      <a:ea typeface="UD Digi Kyokasho NK-R" panose="02020400000000000000" pitchFamily="18" charset="-128"/>
                    </a:rPr>
                    <a:t>任意に</a:t>
                  </a:r>
                  <a:r>
                    <a:rPr kumimoji="1" lang="ja-JP" altLang="en-US" sz="2800">
                      <a:solidFill>
                        <a:srgbClr val="00B0F0"/>
                      </a:solidFill>
                      <a:latin typeface="UD Digi Kyokasho NK-R" panose="02020400000000000000" pitchFamily="18" charset="-128"/>
                      <a:ea typeface="UD Digi Kyokasho NK-R" panose="02020400000000000000" pitchFamily="18" charset="-128"/>
                    </a:rPr>
                    <a:t>構造を変更できない</a:t>
                  </a:r>
                  <a:endParaRPr kumimoji="1" lang="en-US" altLang="ja-JP" sz="2800" dirty="0">
                    <a:solidFill>
                      <a:srgbClr val="00B0F0"/>
                    </a:solidFill>
                    <a:latin typeface="UD Digi Kyokasho NK-R" panose="02020400000000000000" pitchFamily="18" charset="-128"/>
                    <a:ea typeface="UD Digi Kyokasho NK-R" panose="02020400000000000000" pitchFamily="18" charset="-128"/>
                  </a:endParaRPr>
                </a:p>
              </p:txBody>
            </p:sp>
          </mc:Choice>
          <mc:Fallback xmlns="">
            <p:sp>
              <p:nvSpPr>
                <p:cNvPr id="32" name="テキスト ボックス 31">
                  <a:extLst>
                    <a:ext uri="{FF2B5EF4-FFF2-40B4-BE49-F238E27FC236}">
                      <a16:creationId xmlns:a16="http://schemas.microsoft.com/office/drawing/2014/main" id="{7D06BDE7-BADC-0589-E24F-85B1071B5196}"/>
                    </a:ext>
                  </a:extLst>
                </p:cNvPr>
                <p:cNvSpPr txBox="1">
                  <a:spLocks noRot="1" noChangeAspect="1" noMove="1" noResize="1" noEditPoints="1" noAdjustHandles="1" noChangeArrowheads="1" noChangeShapeType="1" noTextEdit="1"/>
                </p:cNvSpPr>
                <p:nvPr/>
              </p:nvSpPr>
              <p:spPr>
                <a:xfrm>
                  <a:off x="318217" y="5759143"/>
                  <a:ext cx="14633281" cy="9571851"/>
                </a:xfrm>
                <a:prstGeom prst="rect">
                  <a:avLst/>
                </a:prstGeom>
                <a:blipFill>
                  <a:blip r:embed="rId4"/>
                  <a:stretch>
                    <a:fillRect b="-795"/>
                  </a:stretch>
                </a:blipFill>
              </p:spPr>
              <p:txBody>
                <a:bodyPr/>
                <a:lstStyle/>
                <a:p>
                  <a:r>
                    <a:rPr lang="ja-JP" altLang="en-US">
                      <a:noFill/>
                    </a:rPr>
                    <a:t> </a:t>
                  </a:r>
                </a:p>
              </p:txBody>
            </p:sp>
          </mc:Fallback>
        </mc:AlternateContent>
      </p:grpSp>
      <p:grpSp>
        <p:nvGrpSpPr>
          <p:cNvPr id="34" name="グループ化 33">
            <a:extLst>
              <a:ext uri="{FF2B5EF4-FFF2-40B4-BE49-F238E27FC236}">
                <a16:creationId xmlns:a16="http://schemas.microsoft.com/office/drawing/2014/main" id="{C7FB90F9-473B-DBE3-6A8B-8777B7E770FE}"/>
              </a:ext>
            </a:extLst>
          </p:cNvPr>
          <p:cNvGrpSpPr/>
          <p:nvPr/>
        </p:nvGrpSpPr>
        <p:grpSpPr>
          <a:xfrm>
            <a:off x="15242062" y="1551208"/>
            <a:ext cx="14760000" cy="38726405"/>
            <a:chOff x="232568" y="5248316"/>
            <a:chExt cx="14760000" cy="38726405"/>
          </a:xfrm>
        </p:grpSpPr>
        <p:sp>
          <p:nvSpPr>
            <p:cNvPr id="35" name="四角形: 角を丸くする 34">
              <a:extLst>
                <a:ext uri="{FF2B5EF4-FFF2-40B4-BE49-F238E27FC236}">
                  <a16:creationId xmlns:a16="http://schemas.microsoft.com/office/drawing/2014/main" id="{47EECEA1-1146-F75F-B958-C642FAF77E57}"/>
                </a:ext>
              </a:extLst>
            </p:cNvPr>
            <p:cNvSpPr/>
            <p:nvPr/>
          </p:nvSpPr>
          <p:spPr>
            <a:xfrm>
              <a:off x="232568" y="5607879"/>
              <a:ext cx="14760000" cy="38366842"/>
            </a:xfrm>
            <a:prstGeom prst="roundRect">
              <a:avLst>
                <a:gd name="adj" fmla="val 994"/>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6000" dirty="0">
                  <a:latin typeface="UD デジタル 教科書体 NK-R" panose="02020400000000000000" pitchFamily="18" charset="-128"/>
                  <a:ea typeface="UD デジタル 教科書体 NK-R" panose="02020400000000000000" pitchFamily="18" charset="-128"/>
                </a:rPr>
                <a:t>NN</a:t>
              </a:r>
              <a:r>
                <a:rPr kumimoji="1" lang="ja-JP" altLang="en-US" sz="6000" dirty="0">
                  <a:latin typeface="UD デジタル 教科書体 NK-R" panose="02020400000000000000" pitchFamily="18" charset="-128"/>
                  <a:ea typeface="UD デジタル 教科書体 NK-R" panose="02020400000000000000" pitchFamily="18" charset="-128"/>
                </a:rPr>
                <a:t>の学習</a:t>
              </a:r>
            </a:p>
          </p:txBody>
        </p:sp>
        <p:sp>
          <p:nvSpPr>
            <p:cNvPr id="36" name="四角形: 角を丸くする 35">
              <a:extLst>
                <a:ext uri="{FF2B5EF4-FFF2-40B4-BE49-F238E27FC236}">
                  <a16:creationId xmlns:a16="http://schemas.microsoft.com/office/drawing/2014/main" id="{7F035820-E432-DA19-702C-74373820AD4B}"/>
                </a:ext>
              </a:extLst>
            </p:cNvPr>
            <p:cNvSpPr/>
            <p:nvPr/>
          </p:nvSpPr>
          <p:spPr>
            <a:xfrm>
              <a:off x="506888" y="5248316"/>
              <a:ext cx="1528972" cy="797856"/>
            </a:xfrm>
            <a:prstGeom prst="roundRect">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実験</a:t>
              </a:r>
              <a:endParaRPr kumimoji="1" lang="ja-JP" altLang="en-US"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33CBE4EA-6A45-2DF9-9C9B-750731A73354}"/>
                    </a:ext>
                  </a:extLst>
                </p:cNvPr>
                <p:cNvSpPr txBox="1"/>
                <p:nvPr/>
              </p:nvSpPr>
              <p:spPr>
                <a:xfrm>
                  <a:off x="350132" y="6188617"/>
                  <a:ext cx="14499166" cy="22939100"/>
                </a:xfrm>
                <a:prstGeom prst="rect">
                  <a:avLst/>
                </a:prstGeom>
                <a:noFill/>
              </p:spPr>
              <p:txBody>
                <a:bodyPr wrap="square">
                  <a:spAutoFit/>
                </a:bodyPr>
                <a:lstStyle/>
                <a:p>
                  <a:r>
                    <a:rPr lang="ja-JP" altLang="en-US" sz="2800">
                      <a:latin typeface="UD デジタル 教科書体 NK-R" panose="02020400000000000000" pitchFamily="18" charset="-128"/>
                      <a:ea typeface="UD デジタル 教科書体 NK-R" panose="02020400000000000000" pitchFamily="18" charset="-128"/>
                    </a:rPr>
                    <a:t>実験目的</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で使用されている</a:t>
                  </a:r>
                  <a:r>
                    <a:rPr lang="en-US" altLang="ja-JP" sz="2800" dirty="0">
                      <a:latin typeface="UD デジタル 教科書体 NK-R" panose="02020400000000000000" pitchFamily="18" charset="-128"/>
                      <a:ea typeface="UD デジタル 教科書体 NK-R" panose="02020400000000000000" pitchFamily="18" charset="-128"/>
                    </a:rPr>
                    <a:t>ResNet152</a:t>
                  </a:r>
                  <a:r>
                    <a:rPr lang="ja-JP" altLang="en-US" sz="2800">
                      <a:latin typeface="UD デジタル 教科書体 NK-R" panose="02020400000000000000" pitchFamily="18" charset="-128"/>
                      <a:ea typeface="UD デジタル 教科書体 NK-R" panose="02020400000000000000" pitchFamily="18" charset="-128"/>
                    </a:rPr>
                    <a:t>のパラメータ数</a:t>
                  </a:r>
                  <a:r>
                    <a:rPr lang="en-US" altLang="ja-JP" sz="2800" dirty="0">
                      <a:latin typeface="UD デジタル 教科書体 NK-R" panose="02020400000000000000" pitchFamily="18" charset="-128"/>
                      <a:ea typeface="UD デジタル 教科書体 NK-R" panose="02020400000000000000" pitchFamily="18" charset="-128"/>
                    </a:rPr>
                    <a:t>58,370,944</a:t>
                  </a:r>
                  <a:r>
                    <a:rPr lang="ja-JP" altLang="en-US" sz="2800">
                      <a:latin typeface="UD デジタル 教科書体 NK-R" panose="02020400000000000000" pitchFamily="18" charset="-128"/>
                      <a:ea typeface="UD デジタル 教科書体 NK-R" panose="02020400000000000000" pitchFamily="18" charset="-128"/>
                    </a:rPr>
                    <a:t>よりパラメータ数が少なく，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高性能な</a:t>
                  </a:r>
                  <a:r>
                    <a:rPr lang="en-US" altLang="ja-JP" sz="2800" dirty="0" err="1">
                      <a:latin typeface="UD デジタル 教科書体 NK-R" panose="02020400000000000000" pitchFamily="18" charset="-128"/>
                      <a:ea typeface="UD デジタル 教科書体 NK-R" panose="02020400000000000000" pitchFamily="18" charset="-128"/>
                    </a:rPr>
                    <a:t>AutoEncoder</a:t>
                  </a:r>
                  <a:r>
                    <a:rPr lang="ja-JP" altLang="en-US" sz="2800">
                      <a:latin typeface="UD デジタル 教科書体 NK-R" panose="02020400000000000000" pitchFamily="18" charset="-128"/>
                      <a:ea typeface="UD デジタル 教科書体 NK-R" panose="02020400000000000000" pitchFamily="18" charset="-128"/>
                    </a:rPr>
                    <a:t>のエンコーダを模索</a:t>
                  </a:r>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 : </a:t>
                  </a:r>
                  <a:r>
                    <a:rPr lang="ja-JP" altLang="en-US" sz="2800">
                      <a:latin typeface="UD デジタル 教科書体 NK-R" panose="02020400000000000000" pitchFamily="18" charset="-128"/>
                      <a:ea typeface="UD デジタル 教科書体 NK-R" panose="02020400000000000000" pitchFamily="18" charset="-128"/>
                    </a:rPr>
                    <a:t>畳み込み層の数を変更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ネットワークの初期値を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 </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特徴量次元数</a:t>
                  </a:r>
                  <a:r>
                    <a:rPr lang="en-US" altLang="ja-JP" sz="2800" dirty="0">
                      <a:latin typeface="UD デジタル 教科書体 NK-R" panose="02020400000000000000" pitchFamily="18" charset="-128"/>
                      <a:ea typeface="UD デジタル 教科書体 NK-R" panose="02020400000000000000" pitchFamily="18" charset="-128"/>
                    </a:rPr>
                    <a:t> : 2048</a:t>
                  </a:r>
                </a:p>
                <a:p>
                  <a:pPr lvl="1"/>
                  <a:r>
                    <a:rPr lang="ja-JP" altLang="en-US" sz="2800" spc="-100">
                      <a:latin typeface="UD デジタル 教科書体 NK-R" panose="02020400000000000000" pitchFamily="18" charset="-128"/>
                      <a:ea typeface="UD デジタル 教科書体 NK-R" panose="02020400000000000000" pitchFamily="18" charset="-128"/>
                    </a:rPr>
                    <a:t>フィルター数</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pc="-100" smtClean="0">
                              <a:latin typeface="Cambria Math" panose="02040503050406030204" pitchFamily="18" charset="0"/>
                              <a:ea typeface="UD デジタル 教科書体 NK-R" panose="02020400000000000000" pitchFamily="18" charset="-128"/>
                            </a:rPr>
                          </m:ctrlPr>
                        </m:sSupPr>
                        <m:e>
                          <m:r>
                            <a:rPr lang="en-US" altLang="ja-JP" sz="2800" b="0" i="1" spc="-100" smtClean="0">
                              <a:latin typeface="Cambria Math" panose="02040503050406030204" pitchFamily="18" charset="0"/>
                              <a:ea typeface="UD デジタル 教科書体 NK-R" panose="02020400000000000000" pitchFamily="18" charset="-128"/>
                            </a:rPr>
                            <m:t>2</m:t>
                          </m:r>
                        </m:e>
                        <m:sup>
                          <m:r>
                            <a:rPr lang="en-US" altLang="ja-JP" sz="2800" b="0" i="1" spc="-100" smtClean="0">
                              <a:latin typeface="Cambria Math" panose="02040503050406030204" pitchFamily="18" charset="0"/>
                              <a:ea typeface="UD デジタル 教科書体 NK-R" panose="02020400000000000000" pitchFamily="18" charset="-128"/>
                            </a:rPr>
                            <m:t>5+</m:t>
                          </m:r>
                          <m:r>
                            <a:rPr lang="en-US" altLang="ja-JP" sz="2800" b="0" i="1" spc="-100" smtClean="0">
                              <a:latin typeface="Cambria Math" panose="02040503050406030204" pitchFamily="18" charset="0"/>
                              <a:ea typeface="UD デジタル 教科書体 NK-R" panose="02020400000000000000" pitchFamily="18" charset="-128"/>
                            </a:rPr>
                            <m:t>𝐿</m:t>
                          </m:r>
                        </m:sup>
                      </m:sSup>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カーネルサイズ</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3</m:t>
                      </m:r>
                      <m:r>
                        <a:rPr lang="en-US" altLang="ja-JP" sz="2800" b="0" i="1" spc="-100" smtClean="0">
                          <a:latin typeface="Cambria Math" panose="02040503050406030204" pitchFamily="18" charset="0"/>
                          <a:ea typeface="Cambria Math" panose="02040503050406030204" pitchFamily="18" charset="0"/>
                        </a:rPr>
                        <m:t>×3</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ストライド</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2</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活性化関数</a:t>
                  </a:r>
                  <a:r>
                    <a:rPr lang="en-US" altLang="ja-JP" sz="2800" spc="-1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pc="-100" smtClean="0">
                          <a:latin typeface="Cambria Math" panose="02040503050406030204" pitchFamily="18" charset="0"/>
                          <a:ea typeface="UD デジタル 教科書体 NK-R" panose="02020400000000000000" pitchFamily="18" charset="-128"/>
                        </a:rPr>
                        <m:t>𝐿𝑒𝑎𝑘𝑦𝑅𝑒𝐿𝑈</m:t>
                      </m:r>
                    </m:oMath>
                  </a14:m>
                  <a:r>
                    <a:rPr lang="en-US" altLang="ja-JP" sz="2800" spc="-100" dirty="0">
                      <a:latin typeface="UD デジタル 教科書体 NK-R" panose="02020400000000000000" pitchFamily="18" charset="-128"/>
                      <a:ea typeface="UD デジタル 教科書体 NK-R" panose="02020400000000000000" pitchFamily="18" charset="-128"/>
                    </a:rPr>
                    <a:t>, </a:t>
                  </a:r>
                  <a14:m>
                    <m:oMath xmlns:m="http://schemas.openxmlformats.org/officeDocument/2006/math">
                      <m:r>
                        <a:rPr lang="en-US" altLang="ja-JP" sz="2800" i="1" spc="-100">
                          <a:latin typeface="Cambria Math" panose="02040503050406030204" pitchFamily="18" charset="0"/>
                          <a:ea typeface="UD デジタル 教科書体 NK-R" panose="02020400000000000000" pitchFamily="18" charset="-128"/>
                        </a:rPr>
                        <m:t>𝐿</m:t>
                      </m:r>
                    </m:oMath>
                  </a14:m>
                  <a:r>
                    <a:rPr lang="en-US" altLang="ja-JP" sz="2800" spc="-100" dirty="0">
                      <a:latin typeface="UD デジタル 教科書体 NK-R" panose="02020400000000000000" pitchFamily="18" charset="-128"/>
                      <a:ea typeface="UD デジタル 教科書体 NK-R" panose="02020400000000000000" pitchFamily="18" charset="-128"/>
                    </a:rPr>
                    <a:t> : </a:t>
                  </a:r>
                  <a:r>
                    <a:rPr lang="ja-JP" altLang="en-US" sz="2800" spc="-100">
                      <a:latin typeface="UD デジタル 教科書体 NK-R" panose="02020400000000000000" pitchFamily="18" charset="-128"/>
                      <a:ea typeface="UD デジタル 教科書体 NK-R" panose="02020400000000000000" pitchFamily="18" charset="-128"/>
                    </a:rPr>
                    <a:t>層番号</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1</a:t>
                  </a:r>
                  <a:r>
                    <a:rPr lang="ja-JP" altLang="en-US" sz="2800">
                      <a:latin typeface="UD デジタル 教科書体 NK-R" panose="02020400000000000000" pitchFamily="18" charset="-128"/>
                      <a:ea typeface="UD デジタル 教科書体 NK-R" panose="02020400000000000000" pitchFamily="18" charset="-128"/>
                    </a:rPr>
                    <a:t>　パラメータ数・検証誤差</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 : </a:t>
                  </a:r>
                  <a:r>
                    <a:rPr lang="ja-JP" altLang="en-US" sz="2800">
                      <a:latin typeface="UD デジタル 教科書体 NK-R" panose="02020400000000000000" pitchFamily="18" charset="-128"/>
                      <a:ea typeface="UD デジタル 教科書体 NK-R" panose="02020400000000000000" pitchFamily="18" charset="-128"/>
                    </a:rPr>
                    <a:t>特徴量の次元数を変更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実験条件</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ネットワークの初期値を</a:t>
                  </a:r>
                  <a:r>
                    <a:rPr lang="en-US" altLang="ja-JP" sz="2800" dirty="0">
                      <a:latin typeface="UD デジタル 教科書体 NK-R" panose="02020400000000000000" pitchFamily="18" charset="-128"/>
                      <a:ea typeface="UD デジタル 教科書体 NK-R" panose="02020400000000000000" pitchFamily="18" charset="-128"/>
                    </a:rPr>
                    <a:t>10</a:t>
                  </a:r>
                  <a:r>
                    <a:rPr lang="ja-JP" altLang="en-US" sz="2800">
                      <a:latin typeface="UD デジタル 教科書体 NK-R" panose="02020400000000000000" pitchFamily="18" charset="-128"/>
                      <a:ea typeface="UD デジタル 教科書体 NK-R" panose="02020400000000000000" pitchFamily="18" charset="-128"/>
                    </a:rPr>
                    <a:t>回変更</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画像サイズ</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縦横</a:t>
                  </a:r>
                  <a:r>
                    <a:rPr lang="en-US" altLang="ja-JP" sz="2800" dirty="0">
                      <a:latin typeface="UD デジタル 教科書体 NK-R" panose="02020400000000000000" pitchFamily="18" charset="-128"/>
                      <a:ea typeface="UD デジタル 教科書体 NK-R" panose="02020400000000000000" pitchFamily="18" charset="-128"/>
                    </a:rPr>
                    <a:t>128Pixel, </a:t>
                  </a:r>
                  <a:r>
                    <a:rPr lang="ja-JP" altLang="en-US" sz="2800">
                      <a:latin typeface="UD デジタル 教科書体 NK-R" panose="02020400000000000000" pitchFamily="18" charset="-128"/>
                      <a:ea typeface="UD デジタル 教科書体 NK-R" panose="02020400000000000000" pitchFamily="18" charset="-128"/>
                    </a:rPr>
                    <a:t>最大エポック</a:t>
                  </a:r>
                  <a:r>
                    <a:rPr lang="en-US" altLang="ja-JP" sz="28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バッチサイズ</a:t>
                  </a:r>
                  <a:r>
                    <a:rPr lang="en-US" altLang="ja-JP" sz="2800" dirty="0">
                      <a:latin typeface="UD デジタル 教科書体 NK-R" panose="02020400000000000000" pitchFamily="18" charset="-128"/>
                      <a:ea typeface="UD デジタル 教科書体 NK-R" panose="02020400000000000000" pitchFamily="18" charset="-128"/>
                    </a:rPr>
                    <a:t> : 16,</a:t>
                  </a: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畳み込み層の数</a:t>
                  </a:r>
                  <a:r>
                    <a:rPr lang="en-US" altLang="ja-JP" sz="2800" dirty="0">
                      <a:latin typeface="UD デジタル 教科書体 NK-R" panose="02020400000000000000" pitchFamily="18" charset="-128"/>
                      <a:ea typeface="UD デジタル 教科書体 NK-R" panose="02020400000000000000" pitchFamily="18" charset="-128"/>
                    </a:rPr>
                    <a:t> : 5</a:t>
                  </a:r>
                  <a:r>
                    <a:rPr lang="ja-JP" altLang="en-US" sz="2800">
                      <a:latin typeface="UD デジタル 教科書体 NK-R" panose="02020400000000000000" pitchFamily="18" charset="-128"/>
                      <a:ea typeface="UD デジタル 教科書体 NK-R" panose="02020400000000000000" pitchFamily="18" charset="-128"/>
                    </a:rPr>
                    <a:t>層</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フィルター数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sSup>
                        <m:sSupPr>
                          <m:ctrlPr>
                            <a:rPr lang="en-US" altLang="ja-JP" sz="2800" i="1" smtClean="0">
                              <a:latin typeface="Cambria Math" panose="02040503050406030204" pitchFamily="18" charset="0"/>
                              <a:ea typeface="UD デジタル 教科書体 NK-R" panose="02020400000000000000" pitchFamily="18" charset="-128"/>
                            </a:rPr>
                          </m:ctrlPr>
                        </m:sSupPr>
                        <m:e>
                          <m:r>
                            <a:rPr lang="en-US" altLang="ja-JP" sz="2800" b="0" i="1" smtClean="0">
                              <a:latin typeface="Cambria Math" panose="02040503050406030204" pitchFamily="18" charset="0"/>
                              <a:ea typeface="UD デジタル 教科書体 NK-R" panose="02020400000000000000" pitchFamily="18" charset="-128"/>
                            </a:rPr>
                            <m:t>2</m:t>
                          </m:r>
                        </m:e>
                        <m:sup>
                          <m:r>
                            <a:rPr lang="en-US" altLang="ja-JP" sz="2800" b="0" i="1" smtClean="0">
                              <a:latin typeface="Cambria Math" panose="02040503050406030204" pitchFamily="18" charset="0"/>
                              <a:ea typeface="UD デジタル 教科書体 NK-R" panose="02020400000000000000" pitchFamily="18" charset="-128"/>
                            </a:rPr>
                            <m:t>5+</m:t>
                          </m:r>
                          <m:r>
                            <a:rPr lang="en-US" altLang="ja-JP" sz="2800" b="0" i="1" smtClean="0">
                              <a:latin typeface="Cambria Math" panose="02040503050406030204" pitchFamily="18" charset="0"/>
                              <a:ea typeface="UD デジタル 教科書体 NK-R" panose="02020400000000000000" pitchFamily="18" charset="-128"/>
                            </a:rPr>
                            <m:t>𝐿</m:t>
                          </m:r>
                        </m:sup>
                      </m:sSup>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カーネルサイズ</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3</m:t>
                      </m:r>
                      <m:r>
                        <a:rPr lang="en-US" altLang="ja-JP" sz="2800" b="0" i="1" smtClean="0">
                          <a:latin typeface="Cambria Math" panose="02040503050406030204" pitchFamily="18" charset="0"/>
                          <a:ea typeface="Cambria Math" panose="02040503050406030204" pitchFamily="18" charset="0"/>
                        </a:rPr>
                        <m:t>×3</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ストライド</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2</m:t>
                      </m:r>
                    </m:oMath>
                  </a14:m>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活性化関数</a:t>
                  </a:r>
                  <a:r>
                    <a:rPr lang="en-US" altLang="ja-JP" sz="2800" dirty="0">
                      <a:latin typeface="UD デジタル 教科書体 NK-R" panose="02020400000000000000" pitchFamily="18" charset="-128"/>
                      <a:ea typeface="UD デジタル 教科書体 NK-R" panose="02020400000000000000" pitchFamily="18" charset="-128"/>
                    </a:rPr>
                    <a:t> : </a:t>
                  </a:r>
                  <a14:m>
                    <m:oMath xmlns:m="http://schemas.openxmlformats.org/officeDocument/2006/math">
                      <m:r>
                        <a:rPr lang="en-US" altLang="ja-JP" sz="2800" b="0" i="1" smtClean="0">
                          <a:latin typeface="Cambria Math" panose="02040503050406030204" pitchFamily="18" charset="0"/>
                          <a:ea typeface="UD デジタル 教科書体 NK-R" panose="02020400000000000000" pitchFamily="18" charset="-128"/>
                        </a:rPr>
                        <m:t>𝐿𝑒𝑎𝑘𝑦𝑅𝑒𝐿𝑈</m:t>
                      </m:r>
                    </m:oMath>
                  </a14:m>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2</a:t>
                  </a:r>
                  <a:r>
                    <a:rPr lang="ja-JP" altLang="en-US" sz="2800">
                      <a:latin typeface="UD デジタル 教科書体 NK-R" panose="02020400000000000000" pitchFamily="18" charset="-128"/>
                      <a:ea typeface="UD デジタル 教科書体 NK-R" panose="02020400000000000000" pitchFamily="18" charset="-128"/>
                    </a:rPr>
                    <a:t>　パラメータ数・検証誤差・</a:t>
                  </a:r>
                  <a:r>
                    <a:rPr lang="en-US" altLang="ja-JP" sz="2800" dirty="0">
                      <a:latin typeface="UD デジタル 教科書体 NK-R" panose="02020400000000000000" pitchFamily="18" charset="-128"/>
                      <a:ea typeface="UD デジタル 教科書体 NK-R" panose="02020400000000000000" pitchFamily="18" charset="-128"/>
                    </a:rPr>
                    <a:t> FID</a:t>
                  </a: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lvl="1"/>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 </a:t>
                  </a:r>
                  <a:r>
                    <a:rPr lang="en-US" altLang="ja-JP" sz="2800" dirty="0" err="1">
                      <a:latin typeface="UD デジタル 教科書体 NK-R" panose="02020400000000000000" pitchFamily="18" charset="-128"/>
                      <a:ea typeface="UD デジタル 教科書体 NK-R" panose="02020400000000000000" pitchFamily="18" charset="-128"/>
                    </a:rPr>
                    <a:t>Frechet</a:t>
                  </a:r>
                  <a:r>
                    <a:rPr lang="en-US" altLang="ja-JP" sz="2800" dirty="0">
                      <a:latin typeface="UD デジタル 教科書体 NK-R" panose="02020400000000000000" pitchFamily="18" charset="-128"/>
                      <a:ea typeface="UD デジタル 教科書体 NK-R" panose="02020400000000000000" pitchFamily="18" charset="-128"/>
                    </a:rPr>
                    <a:t> Inception Distance(FID)[5]</a:t>
                  </a:r>
                </a:p>
                <a:p>
                  <a:pPr lvl="2"/>
                  <a:r>
                    <a:rPr lang="ja-JP" altLang="en-US" sz="2800">
                      <a:latin typeface="UD デジタル 教科書体 NK-R" panose="02020400000000000000" pitchFamily="18" charset="-128"/>
                      <a:ea typeface="UD デジタル 教科書体 NK-R" panose="02020400000000000000" pitchFamily="18" charset="-128"/>
                    </a:rPr>
                    <a:t>画像群</a:t>
                  </a:r>
                  <a:r>
                    <a:rPr lang="en-US" altLang="ja-JP" sz="2800" dirty="0">
                      <a:latin typeface="UD デジタル 教科書体 NK-R" panose="02020400000000000000" pitchFamily="18" charset="-128"/>
                      <a:ea typeface="UD デジタル 教科書体 NK-R" panose="02020400000000000000" pitchFamily="18" charset="-128"/>
                    </a:rPr>
                    <a:t>A</a:t>
                  </a:r>
                  <a:r>
                    <a:rPr lang="ja-JP" altLang="en-US" sz="2800">
                      <a:latin typeface="UD デジタル 教科書体 NK-R" panose="02020400000000000000" pitchFamily="18" charset="-128"/>
                      <a:ea typeface="UD デジタル 教科書体 NK-R" panose="02020400000000000000" pitchFamily="18" charset="-128"/>
                    </a:rPr>
                    <a:t>と画像群</a:t>
                  </a:r>
                  <a:r>
                    <a:rPr lang="en-US" altLang="ja-JP" sz="2800" dirty="0">
                      <a:latin typeface="UD デジタル 教科書体 NK-R" panose="02020400000000000000" pitchFamily="18" charset="-128"/>
                      <a:ea typeface="UD デジタル 教科書体 NK-R" panose="02020400000000000000" pitchFamily="18" charset="-128"/>
                    </a:rPr>
                    <a:t>B</a:t>
                  </a:r>
                  <a:r>
                    <a:rPr lang="ja-JP" altLang="en-US" sz="2800">
                      <a:latin typeface="UD デジタル 教科書体 NK-R" panose="02020400000000000000" pitchFamily="18" charset="-128"/>
                      <a:ea typeface="UD デジタル 教科書体 NK-R" panose="02020400000000000000" pitchFamily="18" charset="-128"/>
                    </a:rPr>
                    <a:t>の分布がどれほど近いか測る指標</a:t>
                  </a:r>
                  <a:r>
                    <a:rPr lang="en-US" altLang="ja-JP" sz="2800" dirty="0">
                      <a:latin typeface="UD デジタル 教科書体 NK-R" panose="02020400000000000000" pitchFamily="18" charset="-128"/>
                      <a:ea typeface="UD デジタル 教科書体 NK-R" panose="02020400000000000000" pitchFamily="18" charset="-128"/>
                    </a:rPr>
                    <a:t>. 0</a:t>
                  </a:r>
                  <a:r>
                    <a:rPr lang="ja-JP" altLang="en-US" sz="2800">
                      <a:latin typeface="UD デジタル 教科書体 NK-R" panose="02020400000000000000" pitchFamily="18" charset="-128"/>
                      <a:ea typeface="UD デジタル 教科書体 NK-R" panose="02020400000000000000" pitchFamily="18" charset="-128"/>
                    </a:rPr>
                    <a:t>に近ければ近いほど分布は近い</a:t>
                  </a: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 : </a:t>
                  </a:r>
                  <a:r>
                    <a:rPr lang="ja-JP" altLang="en-US" sz="2800">
                      <a:latin typeface="UD デジタル 教科書体 NK-R" panose="02020400000000000000" pitchFamily="18" charset="-128"/>
                      <a:ea typeface="UD デジタル 教科書体 NK-R" panose="02020400000000000000" pitchFamily="18" charset="-128"/>
                    </a:rPr>
                    <a:t>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を学習</a:t>
                  </a:r>
                  <a:endParaRPr lang="en-US" altLang="ja-JP" sz="2800" dirty="0">
                    <a:latin typeface="UD デジタル 教科書体 NK-R" panose="02020400000000000000" pitchFamily="18" charset="-128"/>
                    <a:ea typeface="UD デジタル 教科書体 NK-R" panose="02020400000000000000" pitchFamily="18" charset="-128"/>
                  </a:endParaRPr>
                </a:p>
                <a:p>
                  <a:pPr lvl="1"/>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つの条件で大喜利生成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を比較</a:t>
                  </a:r>
                  <a:endParaRPr lang="en-US" altLang="ja-JP" sz="28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en-US" altLang="ja-JP" sz="2800" spc="-100" dirty="0">
                      <a:latin typeface="UD デジタル 教科書体 NK-R" panose="02020400000000000000" pitchFamily="18" charset="-128"/>
                      <a:ea typeface="UD デジタル 教科書体 NK-R" panose="02020400000000000000" pitchFamily="18" charset="-128"/>
                    </a:rPr>
                    <a:t>[1]</a:t>
                  </a:r>
                  <a:r>
                    <a:rPr lang="ja-JP" altLang="en-US" sz="2800" spc="-100">
                      <a:latin typeface="UD デジタル 教科書体 NK-R" panose="02020400000000000000" pitchFamily="18" charset="-128"/>
                      <a:ea typeface="UD デジタル 教科書体 NK-R" panose="02020400000000000000" pitchFamily="18" charset="-128"/>
                    </a:rPr>
                    <a:t>と同様に画像の特徴抽出機として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事前学習済み</a:t>
                  </a:r>
                  <a:r>
                    <a:rPr lang="en-US" altLang="ja-JP" sz="2800" spc="-100" dirty="0">
                      <a:latin typeface="UD デジタル 教科書体 NK-R" panose="02020400000000000000" pitchFamily="18" charset="-128"/>
                      <a:ea typeface="UD デジタル 教科書体 NK-R" panose="02020400000000000000" pitchFamily="18" charset="-128"/>
                    </a:rPr>
                    <a:t>ResNet152</a:t>
                  </a:r>
                  <a:r>
                    <a:rPr lang="ja-JP" altLang="en-US" sz="2800" spc="-100">
                      <a:latin typeface="UD デジタル 教科書体 NK-R" panose="02020400000000000000" pitchFamily="18" charset="-128"/>
                      <a:ea typeface="UD デジタル 教科書体 NK-R" panose="02020400000000000000" pitchFamily="18" charset="-128"/>
                    </a:rPr>
                    <a:t>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512</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marL="1200150" lvl="1" indent="-742950">
                    <a:buFont typeface="+mj-lt"/>
                    <a:buAutoNum type="arabicPeriod"/>
                  </a:pPr>
                  <a:r>
                    <a:rPr lang="ja-JP" altLang="en-US" sz="2800" spc="-100">
                      <a:latin typeface="UD デジタル 教科書体 NK-R" panose="02020400000000000000" pitchFamily="18" charset="-128"/>
                      <a:ea typeface="UD デジタル 教科書体 NK-R" panose="02020400000000000000" pitchFamily="18" charset="-128"/>
                    </a:rPr>
                    <a:t>画像の特徴抽出機として</a:t>
                  </a:r>
                  <a:r>
                    <a:rPr lang="en-US" altLang="ja-JP" sz="2800" spc="-100" dirty="0">
                      <a:latin typeface="UD デジタル 教科書体 NK-R" panose="02020400000000000000" pitchFamily="18" charset="-128"/>
                      <a:ea typeface="UD デジタル 教科書体 NK-R" panose="02020400000000000000" pitchFamily="18" charset="-128"/>
                    </a:rPr>
                    <a:t>, </a:t>
                  </a:r>
                  <a:r>
                    <a:rPr lang="ja-JP" altLang="en-US" sz="2800" spc="-100">
                      <a:latin typeface="UD デジタル 教科書体 NK-R" panose="02020400000000000000" pitchFamily="18" charset="-128"/>
                      <a:ea typeface="UD デジタル 教科書体 NK-R" panose="02020400000000000000" pitchFamily="18" charset="-128"/>
                    </a:rPr>
                    <a:t>実験</a:t>
                  </a:r>
                  <a:r>
                    <a:rPr lang="en-US" altLang="ja-JP" sz="2800" spc="-100" dirty="0">
                      <a:latin typeface="UD デジタル 教科書体 NK-R" panose="02020400000000000000" pitchFamily="18" charset="-128"/>
                      <a:ea typeface="UD デジタル 教科書体 NK-R" panose="02020400000000000000" pitchFamily="18" charset="-128"/>
                    </a:rPr>
                    <a:t>2</a:t>
                  </a:r>
                  <a:r>
                    <a:rPr lang="ja-JP" altLang="en-US" sz="2800" spc="-100">
                      <a:latin typeface="UD デジタル 教科書体 NK-R" panose="02020400000000000000" pitchFamily="18" charset="-128"/>
                      <a:ea typeface="UD デジタル 教科書体 NK-R" panose="02020400000000000000" pitchFamily="18" charset="-128"/>
                    </a:rPr>
                    <a:t>で学習した特徴量の次元数が</a:t>
                  </a:r>
                  <a:r>
                    <a:rPr lang="en-US" altLang="ja-JP" sz="2800" spc="-100" dirty="0">
                      <a:latin typeface="UD デジタル 教科書体 NK-R" panose="02020400000000000000" pitchFamily="18" charset="-128"/>
                      <a:ea typeface="UD デジタル 教科書体 NK-R" panose="02020400000000000000" pitchFamily="18" charset="-128"/>
                    </a:rPr>
                    <a:t>2048</a:t>
                  </a:r>
                  <a:r>
                    <a:rPr lang="ja-JP" altLang="en-US" sz="2800" spc="-100">
                      <a:latin typeface="UD デジタル 教科書体 NK-R" panose="02020400000000000000" pitchFamily="18" charset="-128"/>
                      <a:ea typeface="UD デジタル 教科書体 NK-R" panose="02020400000000000000" pitchFamily="18" charset="-128"/>
                    </a:rPr>
                    <a:t>のエンコーダを使用</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spc="-100">
                      <a:latin typeface="UD デジタル 教科書体 NK-R" panose="02020400000000000000" pitchFamily="18" charset="-128"/>
                      <a:ea typeface="UD デジタル 教科書体 NK-R" panose="02020400000000000000" pitchFamily="18" charset="-128"/>
                    </a:rPr>
                    <a:t>実験条件</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en-US" altLang="ja-JP" sz="2800" spc="-100" dirty="0">
                      <a:latin typeface="UD デジタル 教科書体 NK-R" panose="02020400000000000000" pitchFamily="18" charset="-128"/>
                      <a:ea typeface="UD デジタル 教科書体 NK-R" panose="02020400000000000000" pitchFamily="18" charset="-128"/>
                    </a:rPr>
                    <a:t>LSTM</a:t>
                  </a:r>
                  <a:r>
                    <a:rPr lang="ja-JP" altLang="en-US" sz="2800" spc="-100">
                      <a:latin typeface="UD デジタル 教科書体 NK-R" panose="02020400000000000000" pitchFamily="18" charset="-128"/>
                      <a:ea typeface="UD デジタル 教科書体 NK-R" panose="02020400000000000000" pitchFamily="18" charset="-128"/>
                    </a:rPr>
                    <a:t>ユニット数</a:t>
                  </a:r>
                  <a:r>
                    <a:rPr lang="en-US" altLang="ja-JP" sz="2800" spc="-100" dirty="0">
                      <a:latin typeface="UD デジタル 教科書体 NK-R" panose="02020400000000000000" pitchFamily="18" charset="-128"/>
                      <a:ea typeface="UD デジタル 教科書体 NK-R" panose="02020400000000000000" pitchFamily="18" charset="-128"/>
                    </a:rPr>
                    <a:t> : 512, </a:t>
                  </a:r>
                  <a:r>
                    <a:rPr lang="ja-JP" altLang="en-US" sz="2800" spc="-100">
                      <a:latin typeface="UD デジタル 教科書体 NK-R" panose="02020400000000000000" pitchFamily="18" charset="-128"/>
                      <a:ea typeface="UD デジタル 教科書体 NK-R" panose="02020400000000000000" pitchFamily="18" charset="-128"/>
                    </a:rPr>
                    <a:t>バッチサイズ</a:t>
                  </a:r>
                  <a:r>
                    <a:rPr lang="en-US" altLang="ja-JP" sz="2800" spc="-100" dirty="0">
                      <a:latin typeface="UD デジタル 教科書体 NK-R" panose="02020400000000000000" pitchFamily="18" charset="-128"/>
                      <a:ea typeface="UD デジタル 教科書体 NK-R" panose="02020400000000000000" pitchFamily="18" charset="-128"/>
                    </a:rPr>
                    <a:t> : 1024, </a:t>
                  </a:r>
                  <a:r>
                    <a:rPr lang="ja-JP" altLang="en-US" sz="2800" spc="-100">
                      <a:latin typeface="UD デジタル 教科書体 NK-R" panose="02020400000000000000" pitchFamily="18" charset="-128"/>
                      <a:ea typeface="UD デジタル 教科書体 NK-R" panose="02020400000000000000" pitchFamily="18" charset="-128"/>
                    </a:rPr>
                    <a:t>エポック</a:t>
                  </a:r>
                  <a:r>
                    <a:rPr lang="en-US" altLang="ja-JP" sz="2800" spc="-100" dirty="0">
                      <a:latin typeface="UD デジタル 教科書体 NK-R" panose="02020400000000000000" pitchFamily="18" charset="-128"/>
                      <a:ea typeface="UD デジタル 教科書体 NK-R" panose="02020400000000000000" pitchFamily="18" charset="-128"/>
                    </a:rPr>
                    <a:t> : 100,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交差エントロピー</a:t>
                  </a:r>
                  <a:endParaRPr lang="en-US" altLang="ja-JP" sz="2800" spc="-100" dirty="0">
                    <a:latin typeface="UD デジタル 教科書体 NK-R" panose="02020400000000000000" pitchFamily="18" charset="-128"/>
                    <a:ea typeface="UD デジタル 教科書体 NK-R" panose="02020400000000000000" pitchFamily="18" charset="-128"/>
                  </a:endParaRPr>
                </a:p>
                <a:p>
                  <a:pPr lvl="1"/>
                  <a:r>
                    <a:rPr lang="ja-JP" altLang="en-US" sz="2800">
                      <a:latin typeface="UD デジタル 教科書体 NK-R" panose="02020400000000000000" pitchFamily="18" charset="-128"/>
                      <a:ea typeface="UD デジタル 教科書体 NK-R" panose="02020400000000000000" pitchFamily="18" charset="-128"/>
                    </a:rPr>
                    <a:t>最適化手法</a:t>
                  </a:r>
                  <a:r>
                    <a:rPr lang="en-US" altLang="ja-JP" sz="2800" dirty="0">
                      <a:latin typeface="UD デジタル 教科書体 NK-R" panose="02020400000000000000" pitchFamily="18" charset="-128"/>
                      <a:ea typeface="UD デジタル 教科書体 NK-R" panose="02020400000000000000" pitchFamily="18" charset="-128"/>
                    </a:rPr>
                    <a:t> : Adam(</a:t>
                  </a:r>
                  <a:r>
                    <a:rPr lang="ja-JP" altLang="en-US" sz="2800">
                      <a:latin typeface="UD デジタル 教科書体 NK-R" panose="02020400000000000000" pitchFamily="18" charset="-128"/>
                      <a:ea typeface="UD デジタル 教科書体 NK-R" panose="02020400000000000000" pitchFamily="18" charset="-128"/>
                    </a:rPr>
                    <a:t>学習率</a:t>
                  </a:r>
                  <a:r>
                    <a:rPr lang="en-US" altLang="ja-JP" sz="2800" dirty="0">
                      <a:latin typeface="UD デジタル 教科書体 NK-R" panose="02020400000000000000" pitchFamily="18" charset="-128"/>
                      <a:ea typeface="UD デジタル 教科書体 NK-R" panose="02020400000000000000" pitchFamily="18" charset="-128"/>
                    </a:rPr>
                    <a:t> : 0.0001) , </a:t>
                  </a:r>
                  <a:r>
                    <a:rPr lang="ja-JP" altLang="en-US" sz="2800">
                      <a:latin typeface="UD デジタル 教科書体 NK-R" panose="02020400000000000000" pitchFamily="18" charset="-128"/>
                      <a:ea typeface="UD デジタル 教科書体 NK-R" panose="02020400000000000000" pitchFamily="18" charset="-128"/>
                    </a:rPr>
                    <a:t>損失関数</a:t>
                  </a:r>
                  <a:r>
                    <a:rPr lang="en-US" altLang="ja-JP" sz="2800" dirty="0">
                      <a:latin typeface="UD デジタル 教科書体 NK-R" panose="02020400000000000000" pitchFamily="18" charset="-128"/>
                      <a:ea typeface="UD デジタル 教科書体 NK-R" panose="02020400000000000000" pitchFamily="18" charset="-128"/>
                    </a:rPr>
                    <a:t> : </a:t>
                  </a:r>
                  <a:r>
                    <a:rPr lang="ja-JP" altLang="en-US" sz="2800">
                      <a:latin typeface="UD デジタル 教科書体 NK-R" panose="02020400000000000000" pitchFamily="18" charset="-128"/>
                      <a:ea typeface="UD デジタル 教科書体 NK-R" panose="02020400000000000000" pitchFamily="18" charset="-128"/>
                    </a:rPr>
                    <a:t>二乗和誤差</a:t>
                  </a:r>
                  <a:endParaRPr lang="en-US" altLang="ja-JP" sz="2800" dirty="0">
                    <a:latin typeface="UD デジタル 教科書体 NK-R" panose="02020400000000000000" pitchFamily="18" charset="-128"/>
                    <a:ea typeface="UD デジタル 教科書体 NK-R" panose="02020400000000000000" pitchFamily="18" charset="-128"/>
                  </a:endParaRPr>
                </a:p>
                <a:p>
                  <a:pPr algn="ctr"/>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endParaRPr lang="en-US" altLang="ja-JP" sz="28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 </a:t>
                  </a:r>
                  <a:r>
                    <a:rPr lang="ja-JP" altLang="en-US" sz="2800">
                      <a:latin typeface="UD デジタル 教科書体 NK-R" panose="02020400000000000000" pitchFamily="18" charset="-128"/>
                      <a:ea typeface="UD デジタル 教科書体 NK-R" panose="02020400000000000000" pitchFamily="18" charset="-128"/>
                    </a:rPr>
                    <a:t>学習損失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　　　　　　　　</a:t>
                  </a:r>
                  <a:r>
                    <a:rPr lang="en-US" altLang="ja-JP" sz="2800" dirty="0">
                      <a:latin typeface="UD デジタル 教科書体 NK-R" panose="02020400000000000000" pitchFamily="18" charset="-128"/>
                      <a:ea typeface="UD デジタル 教科書体 NK-R" panose="02020400000000000000" pitchFamily="18" charset="-128"/>
                    </a:rPr>
                    <a:t>    </a:t>
                  </a:r>
                  <a:r>
                    <a:rPr lang="ja-JP" altLang="en-US" sz="2800">
                      <a:latin typeface="UD デジタル 教科書体 NK-R" panose="02020400000000000000" pitchFamily="18" charset="-128"/>
                      <a:ea typeface="UD デジタル 教科書体 NK-R" panose="02020400000000000000" pitchFamily="18" charset="-128"/>
                    </a:rPr>
                    <a:t>　　　　　　　　　　実験</a:t>
                  </a:r>
                  <a:r>
                    <a:rPr lang="en-US" altLang="ja-JP" sz="2800" dirty="0">
                      <a:latin typeface="UD デジタル 教科書体 NK-R" panose="02020400000000000000" pitchFamily="18" charset="-128"/>
                      <a:ea typeface="UD デジタル 教科書体 NK-R" panose="02020400000000000000" pitchFamily="18" charset="-128"/>
                    </a:rPr>
                    <a:t>3 </a:t>
                  </a:r>
                  <a:r>
                    <a:rPr lang="ja-JP" altLang="en-US" sz="2800">
                      <a:latin typeface="UD デジタル 教科書体 NK-R" panose="02020400000000000000" pitchFamily="18" charset="-128"/>
                      <a:ea typeface="UD デジタル 教科書体 NK-R" panose="02020400000000000000" pitchFamily="18" charset="-128"/>
                    </a:rPr>
                    <a:t>学習精度</a:t>
                  </a:r>
                  <a:endParaRPr lang="en-US" altLang="ja-JP" sz="2000" dirty="0">
                    <a:latin typeface="UD デジタル 教科書体 NK-R" panose="02020400000000000000" pitchFamily="18" charset="-128"/>
                    <a:ea typeface="UD デジタル 教科書体 NK-R" panose="02020400000000000000" pitchFamily="18" charset="-128"/>
                  </a:endParaRPr>
                </a:p>
                <a:p>
                  <a:pPr algn="ctr"/>
                  <a:r>
                    <a:rPr lang="ja-JP" altLang="en-US" sz="2800">
                      <a:latin typeface="UD デジタル 教科書体 NK-R" panose="02020400000000000000" pitchFamily="18" charset="-128"/>
                      <a:ea typeface="UD デジタル 教科書体 NK-R" panose="02020400000000000000" pitchFamily="18" charset="-128"/>
                    </a:rPr>
                    <a:t>実験</a:t>
                  </a:r>
                  <a:r>
                    <a:rPr lang="en-US" altLang="ja-JP" sz="2800" dirty="0">
                      <a:latin typeface="UD デジタル 教科書体 NK-R" panose="02020400000000000000" pitchFamily="18" charset="-128"/>
                      <a:ea typeface="UD デジタル 教科書体 NK-R" panose="02020400000000000000" pitchFamily="18" charset="-128"/>
                    </a:rPr>
                    <a:t>3</a:t>
                  </a:r>
                  <a:r>
                    <a:rPr lang="ja-JP" altLang="en-US" sz="2800">
                      <a:latin typeface="UD デジタル 教科書体 NK-R" panose="02020400000000000000" pitchFamily="18" charset="-128"/>
                      <a:ea typeface="UD デジタル 教科書体 NK-R" panose="02020400000000000000" pitchFamily="18" charset="-128"/>
                    </a:rPr>
                    <a:t>　学習した大喜利生成</a:t>
                  </a:r>
                  <a:r>
                    <a:rPr lang="en-US" altLang="ja-JP" sz="2800" dirty="0">
                      <a:latin typeface="UD デジタル 教科書体 NK-R" panose="02020400000000000000" pitchFamily="18" charset="-128"/>
                      <a:ea typeface="UD デジタル 教科書体 NK-R" panose="02020400000000000000" pitchFamily="18" charset="-128"/>
                    </a:rPr>
                    <a:t>AI</a:t>
                  </a:r>
                  <a:r>
                    <a:rPr lang="ja-JP" altLang="en-US" sz="2800">
                      <a:latin typeface="UD デジタル 教科書体 NK-R" panose="02020400000000000000" pitchFamily="18" charset="-128"/>
                      <a:ea typeface="UD デジタル 教科書体 NK-R" panose="02020400000000000000" pitchFamily="18" charset="-128"/>
                    </a:rPr>
                    <a:t>が生成した大喜利</a:t>
                  </a:r>
                  <a:endParaRPr lang="en-US" altLang="ja-JP" sz="2800" dirty="0">
                    <a:latin typeface="UD デジタル 教科書体 NK-R" panose="02020400000000000000" pitchFamily="18" charset="-128"/>
                    <a:ea typeface="UD デジタル 教科書体 NK-R" panose="02020400000000000000" pitchFamily="18" charset="-128"/>
                  </a:endParaRPr>
                </a:p>
              </p:txBody>
            </p:sp>
          </mc:Choice>
          <mc:Fallback xmlns="">
            <p:sp>
              <p:nvSpPr>
                <p:cNvPr id="37" name="テキスト ボックス 36">
                  <a:extLst>
                    <a:ext uri="{FF2B5EF4-FFF2-40B4-BE49-F238E27FC236}">
                      <a16:creationId xmlns:a16="http://schemas.microsoft.com/office/drawing/2014/main" id="{33CBE4EA-6A45-2DF9-9C9B-750731A73354}"/>
                    </a:ext>
                  </a:extLst>
                </p:cNvPr>
                <p:cNvSpPr txBox="1">
                  <a:spLocks noRot="1" noChangeAspect="1" noMove="1" noResize="1" noEditPoints="1" noAdjustHandles="1" noChangeArrowheads="1" noChangeShapeType="1" noTextEdit="1"/>
                </p:cNvSpPr>
                <p:nvPr/>
              </p:nvSpPr>
              <p:spPr>
                <a:xfrm>
                  <a:off x="350132" y="6188617"/>
                  <a:ext cx="14499166" cy="22939100"/>
                </a:xfrm>
                <a:prstGeom prst="rect">
                  <a:avLst/>
                </a:prstGeom>
                <a:blipFill>
                  <a:blip r:embed="rId5"/>
                  <a:stretch>
                    <a:fillRect l="-875" t="-277"/>
                  </a:stretch>
                </a:blipFill>
              </p:spPr>
              <p:txBody>
                <a:bodyPr/>
                <a:lstStyle/>
                <a:p>
                  <a:r>
                    <a:rPr lang="ja-JP" altLang="en-US">
                      <a:noFill/>
                    </a:rPr>
                    <a:t> </a:t>
                  </a:r>
                </a:p>
              </p:txBody>
            </p:sp>
          </mc:Fallback>
        </mc:AlternateContent>
      </p:grpSp>
      <p:sp>
        <p:nvSpPr>
          <p:cNvPr id="154" name="テキスト ボックス 153">
            <a:extLst>
              <a:ext uri="{FF2B5EF4-FFF2-40B4-BE49-F238E27FC236}">
                <a16:creationId xmlns:a16="http://schemas.microsoft.com/office/drawing/2014/main" id="{D885AE38-02FE-BABF-B73B-FD10DBD6E9F0}"/>
              </a:ext>
            </a:extLst>
          </p:cNvPr>
          <p:cNvSpPr txBox="1"/>
          <p:nvPr/>
        </p:nvSpPr>
        <p:spPr>
          <a:xfrm>
            <a:off x="478313" y="40720311"/>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[1] </a:t>
            </a:r>
            <a:r>
              <a:rPr lang="ja-JP" altLang="en-US" sz="2800">
                <a:latin typeface="UD Digi Kyokasho NK-R" panose="02020400000000000000" pitchFamily="18" charset="-128"/>
                <a:ea typeface="UD Digi Kyokasho NK-R" panose="02020400000000000000" pitchFamily="18" charset="-128"/>
              </a:rPr>
              <a:t>美濃口 宗尊</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他</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精密工学会誌</a:t>
            </a:r>
            <a:r>
              <a:rPr lang="en-US" altLang="ja-JP" sz="2800" dirty="0">
                <a:latin typeface="UD Digi Kyokasho NK-R" panose="02020400000000000000" pitchFamily="18" charset="-128"/>
                <a:ea typeface="UD Digi Kyokasho NK-R" panose="02020400000000000000" pitchFamily="18" charset="-128"/>
              </a:rPr>
              <a:t>, vol.85, no.12, pp.1151-1156 (2019).</a:t>
            </a:r>
          </a:p>
          <a:p>
            <a:r>
              <a:rPr lang="en-US" altLang="ja-JP" sz="2800" dirty="0">
                <a:latin typeface="UD Digi Kyokasho NK-R" panose="02020400000000000000" pitchFamily="18" charset="-128"/>
                <a:ea typeface="UD Digi Kyokasho NK-R" panose="02020400000000000000" pitchFamily="18" charset="-128"/>
              </a:rPr>
              <a:t>[2] </a:t>
            </a:r>
            <a:r>
              <a:rPr lang="ja-JP" altLang="en-US" sz="2800">
                <a:latin typeface="UD Digi Kyokasho NK-R" panose="02020400000000000000" pitchFamily="18" charset="-128"/>
                <a:ea typeface="UD Digi Kyokasho NK-R" panose="02020400000000000000" pitchFamily="18" charset="-128"/>
              </a:rPr>
              <a:t>山富 龍, 他, IEICE 信学技報 CCS 研究会, CCS2022-73,</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pp.59-62(2023).</a:t>
            </a:r>
            <a:endParaRPr lang="en-US" altLang="ja-JP" sz="2800" dirty="0">
              <a:latin typeface="UD Digi Kyokasho NK-R" panose="02020400000000000000" pitchFamily="18" charset="-128"/>
              <a:ea typeface="UD Digi Kyokasho NK-R" panose="02020400000000000000" pitchFamily="18" charset="-128"/>
            </a:endParaRPr>
          </a:p>
          <a:p>
            <a:r>
              <a:rPr lang="en-US" altLang="ja-JP" sz="2800" dirty="0">
                <a:latin typeface="UD デジタル 教科書体 NK-R" panose="02020400000000000000" pitchFamily="18" charset="-128"/>
                <a:ea typeface="UD デジタル 教科書体 NK-R" panose="02020400000000000000" pitchFamily="18" charset="-128"/>
              </a:rPr>
              <a:t>[3] </a:t>
            </a:r>
            <a:r>
              <a:rPr lang="en-US" altLang="ja-JP" sz="2800" dirty="0" err="1">
                <a:latin typeface="UD デジタル 教科書体 NK-R" panose="02020400000000000000" pitchFamily="18" charset="-128"/>
                <a:ea typeface="UD デジタル 教科書体 NK-R" panose="02020400000000000000" pitchFamily="18" charset="-128"/>
              </a:rPr>
              <a:t>Vinyals</a:t>
            </a:r>
            <a:r>
              <a:rPr lang="en-US" altLang="ja-JP" sz="2800" dirty="0">
                <a:latin typeface="UD デジタル 教科書体 NK-R" panose="02020400000000000000" pitchFamily="18" charset="-128"/>
                <a:ea typeface="UD デジタル 教科書体 NK-R" panose="02020400000000000000" pitchFamily="18" charset="-128"/>
              </a:rPr>
              <a:t>, O., et al., Proc. IEEE CVPR, pp. 3156-3164 (2015).</a:t>
            </a:r>
          </a:p>
        </p:txBody>
      </p:sp>
      <p:sp>
        <p:nvSpPr>
          <p:cNvPr id="155" name="テキスト ボックス 154">
            <a:extLst>
              <a:ext uri="{FF2B5EF4-FFF2-40B4-BE49-F238E27FC236}">
                <a16:creationId xmlns:a16="http://schemas.microsoft.com/office/drawing/2014/main" id="{EFC3748E-A701-D3A4-4FB9-8E56588245BE}"/>
              </a:ext>
            </a:extLst>
          </p:cNvPr>
          <p:cNvSpPr txBox="1"/>
          <p:nvPr/>
        </p:nvSpPr>
        <p:spPr>
          <a:xfrm>
            <a:off x="15425050" y="40702554"/>
            <a:ext cx="14522270" cy="1384995"/>
          </a:xfrm>
          <a:prstGeom prst="rect">
            <a:avLst/>
          </a:prstGeom>
          <a:noFill/>
        </p:spPr>
        <p:txBody>
          <a:bodyPr wrap="square">
            <a:spAutoFit/>
          </a:bodyPr>
          <a:lstStyle/>
          <a:p>
            <a:r>
              <a:rPr lang="en-US" altLang="ja-JP" sz="2800" dirty="0">
                <a:latin typeface="UD Digi Kyokasho NK-R" panose="02020400000000000000" pitchFamily="18" charset="-128"/>
                <a:ea typeface="UD Digi Kyokasho NK-R" panose="02020400000000000000" pitchFamily="18" charset="-128"/>
              </a:rPr>
              <a:t>[4] G. E. Hinton, et al., Science, vol.313, no.5786, pp.504-507(2006).</a:t>
            </a:r>
          </a:p>
          <a:p>
            <a:r>
              <a:rPr lang="en-US" altLang="ja-JP" sz="2800" dirty="0">
                <a:latin typeface="UD Digi Kyokasho NK-R" panose="02020400000000000000" pitchFamily="18" charset="-128"/>
                <a:ea typeface="UD Digi Kyokasho NK-R" panose="02020400000000000000" pitchFamily="18" charset="-128"/>
              </a:rPr>
              <a:t>[5] </a:t>
            </a:r>
            <a:r>
              <a:rPr lang="ja-JP" altLang="en-US" sz="2800">
                <a:latin typeface="UD Digi Kyokasho NK-R" panose="02020400000000000000" pitchFamily="18" charset="-128"/>
                <a:ea typeface="UD Digi Kyokasho NK-R" panose="02020400000000000000" pitchFamily="18" charset="-128"/>
              </a:rPr>
              <a:t>株式会社オモロキ</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 https://</a:t>
            </a:r>
            <a:r>
              <a:rPr lang="en-US" altLang="ja-JP" sz="2800" dirty="0" err="1">
                <a:latin typeface="UD Digi Kyokasho NK-R" panose="02020400000000000000" pitchFamily="18" charset="-128"/>
                <a:ea typeface="UD Digi Kyokasho NK-R" panose="02020400000000000000" pitchFamily="18" charset="-128"/>
              </a:rPr>
              <a:t>bokete.jp</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最終アクセス</a:t>
            </a:r>
            <a:r>
              <a:rPr lang="en-US" altLang="ja-JP" sz="2800" dirty="0">
                <a:latin typeface="UD Digi Kyokasho NK-R" panose="02020400000000000000" pitchFamily="18" charset="-128"/>
                <a:ea typeface="UD Digi Kyokasho NK-R" panose="02020400000000000000" pitchFamily="18" charset="-128"/>
              </a:rPr>
              <a:t> : 2023/6/6).</a:t>
            </a:r>
          </a:p>
          <a:p>
            <a:r>
              <a:rPr lang="en-US" altLang="ja-JP" sz="2800" dirty="0">
                <a:latin typeface="UD Digi Kyokasho NK-R" panose="02020400000000000000" pitchFamily="18" charset="-128"/>
                <a:ea typeface="UD Digi Kyokasho NK-R" panose="02020400000000000000" pitchFamily="18" charset="-128"/>
              </a:rPr>
              <a:t>[6]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Heusel</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 Martin, et al.,  </a:t>
            </a:r>
            <a:r>
              <a:rPr lang="en" altLang="ja-JP" sz="2800" b="0" dirty="0" err="1">
                <a:solidFill>
                  <a:srgbClr val="222222"/>
                </a:solidFill>
                <a:effectLst/>
                <a:latin typeface="UD Digi Kyokasho NK-R" panose="02020400000000000000" pitchFamily="18" charset="-128"/>
                <a:ea typeface="UD Digi Kyokasho NK-R" panose="02020400000000000000" pitchFamily="18" charset="-128"/>
              </a:rPr>
              <a:t>NeurIPS</a:t>
            </a:r>
            <a:r>
              <a:rPr lang="en" altLang="ja-JP" sz="2800" dirty="0">
                <a:solidFill>
                  <a:srgbClr val="222222"/>
                </a:solidFill>
                <a:latin typeface="UD Digi Kyokasho NK-R" panose="02020400000000000000" pitchFamily="18" charset="-128"/>
                <a:ea typeface="UD Digi Kyokasho NK-R" panose="02020400000000000000" pitchFamily="18" charset="-128"/>
              </a:rPr>
              <a:t>, </a:t>
            </a:r>
            <a:r>
              <a:rPr lang="en" altLang="ja-JP" sz="2800" b="0" dirty="0">
                <a:solidFill>
                  <a:srgbClr val="222222"/>
                </a:solidFill>
                <a:effectLst/>
                <a:latin typeface="UD Digi Kyokasho NK-R" panose="02020400000000000000" pitchFamily="18" charset="-128"/>
                <a:ea typeface="UD Digi Kyokasho NK-R" panose="02020400000000000000" pitchFamily="18" charset="-128"/>
              </a:rPr>
              <a:t>30 (2017).</a:t>
            </a:r>
            <a:endParaRPr lang="en-US" altLang="ja-JP" sz="2800" dirty="0">
              <a:latin typeface="UD Digi Kyokasho NK-R" panose="02020400000000000000" pitchFamily="18" charset="-128"/>
              <a:ea typeface="UD Digi Kyokasho NK-R" panose="02020400000000000000" pitchFamily="18" charset="-128"/>
            </a:endParaRPr>
          </a:p>
        </p:txBody>
      </p:sp>
      <p:graphicFrame>
        <p:nvGraphicFramePr>
          <p:cNvPr id="255" name="表 255">
            <a:extLst>
              <a:ext uri="{FF2B5EF4-FFF2-40B4-BE49-F238E27FC236}">
                <a16:creationId xmlns:a16="http://schemas.microsoft.com/office/drawing/2014/main" id="{238C88B2-E0D1-950A-16DC-AD9A1C46C3F1}"/>
              </a:ext>
            </a:extLst>
          </p:cNvPr>
          <p:cNvGraphicFramePr>
            <a:graphicFrameLocks noGrp="1"/>
          </p:cNvGraphicFramePr>
          <p:nvPr>
            <p:extLst>
              <p:ext uri="{D42A27DB-BD31-4B8C-83A1-F6EECF244321}">
                <p14:modId xmlns:p14="http://schemas.microsoft.com/office/powerpoint/2010/main" val="3008607331"/>
              </p:ext>
            </p:extLst>
          </p:nvPr>
        </p:nvGraphicFramePr>
        <p:xfrm>
          <a:off x="15343492" y="7264988"/>
          <a:ext cx="14557140" cy="192024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畳み込み層の数</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algn="ct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6</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7</a:t>
                      </a:r>
                      <a:r>
                        <a:rPr kumimoji="1" lang="ja-JP" altLang="en-US" sz="2800" spc="-100" baseline="0">
                          <a:latin typeface="UD Digi Kyokasho NK-R" panose="02020400000000000000" pitchFamily="18" charset="-128"/>
                          <a:ea typeface="UD Digi Kyokasho NK-R" panose="02020400000000000000" pitchFamily="18" charset="-128"/>
                        </a:rPr>
                        <a:t>層</a:t>
                      </a:r>
                      <a:endParaRPr kumimoji="1" lang="en-US" altLang="ja-JP" sz="2800" spc="-100" baseline="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49,265,280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58,703,488</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0.0094/0.0096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0.0109/0.0111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bl>
          </a:graphicData>
        </a:graphic>
      </p:graphicFrame>
      <p:graphicFrame>
        <p:nvGraphicFramePr>
          <p:cNvPr id="259" name="表 255">
            <a:extLst>
              <a:ext uri="{FF2B5EF4-FFF2-40B4-BE49-F238E27FC236}">
                <a16:creationId xmlns:a16="http://schemas.microsoft.com/office/drawing/2014/main" id="{075542DE-9B92-8E05-FA82-9740125B2813}"/>
              </a:ext>
            </a:extLst>
          </p:cNvPr>
          <p:cNvGraphicFramePr>
            <a:graphicFrameLocks noGrp="1"/>
          </p:cNvGraphicFramePr>
          <p:nvPr>
            <p:extLst>
              <p:ext uri="{D42A27DB-BD31-4B8C-83A1-F6EECF244321}">
                <p14:modId xmlns:p14="http://schemas.microsoft.com/office/powerpoint/2010/main" val="3620298297"/>
              </p:ext>
            </p:extLst>
          </p:nvPr>
        </p:nvGraphicFramePr>
        <p:xfrm>
          <a:off x="15343492" y="12629087"/>
          <a:ext cx="14557140" cy="2438400"/>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639285">
                  <a:extLst>
                    <a:ext uri="{9D8B030D-6E8A-4147-A177-3AD203B41FA5}">
                      <a16:colId xmlns:a16="http://schemas.microsoft.com/office/drawing/2014/main" val="4104626895"/>
                    </a:ext>
                  </a:extLst>
                </a:gridCol>
                <a:gridCol w="3639285">
                  <a:extLst>
                    <a:ext uri="{9D8B030D-6E8A-4147-A177-3AD203B41FA5}">
                      <a16:colId xmlns:a16="http://schemas.microsoft.com/office/drawing/2014/main" val="846220719"/>
                    </a:ext>
                  </a:extLst>
                </a:gridCol>
                <a:gridCol w="3639285">
                  <a:extLst>
                    <a:ext uri="{9D8B030D-6E8A-4147-A177-3AD203B41FA5}">
                      <a16:colId xmlns:a16="http://schemas.microsoft.com/office/drawing/2014/main" val="1661007282"/>
                    </a:ext>
                  </a:extLst>
                </a:gridCol>
              </a:tblGrid>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特徴量次元数</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512</a:t>
                      </a:r>
                    </a:p>
                    <a:p>
                      <a:pPr algn="ct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1024</a:t>
                      </a: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2048</a:t>
                      </a:r>
                    </a:p>
                    <a:p>
                      <a:pPr marL="0" marR="0" lvl="0" indent="0" algn="ctr" defTabSz="3024012" rtl="0" eaLnBrk="1" fontAlgn="auto" latinLnBrk="0" hangingPunct="1">
                        <a:lnSpc>
                          <a:spcPct val="100000"/>
                        </a:lnSpc>
                        <a:spcBef>
                          <a:spcPts val="0"/>
                        </a:spcBef>
                        <a:spcAft>
                          <a:spcPts val="0"/>
                        </a:spcAft>
                        <a:buClrTx/>
                        <a:buSzTx/>
                        <a:buFontTx/>
                        <a:buNone/>
                        <a:tabLst/>
                        <a:defRPr/>
                      </a:pPr>
                      <a:r>
                        <a:rPr kumimoji="1" lang="en-US" altLang="ja-JP" sz="2400" spc="-100" baseline="0" dirty="0">
                          <a:latin typeface="UD Digi Kyokasho NK-R" panose="02020400000000000000" pitchFamily="18" charset="-128"/>
                          <a:ea typeface="UD Digi Kyokasho NK-R" panose="02020400000000000000" pitchFamily="18" charset="-128"/>
                        </a:rPr>
                        <a:t>vest/average</a:t>
                      </a:r>
                    </a:p>
                  </a:txBody>
                  <a:tcPr anchor="ctr"/>
                </a:tc>
                <a:extLst>
                  <a:ext uri="{0D108BD9-81ED-4DB2-BD59-A6C34878D82A}">
                    <a16:rowId xmlns:a16="http://schemas.microsoft.com/office/drawing/2014/main" val="3271151497"/>
                  </a:ext>
                </a:extLst>
              </a:tr>
              <a:tr h="37084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パラメータ数</a:t>
                      </a: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14,659,712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23,048,832 </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39,827,072</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753427683"/>
                  </a:ext>
                </a:extLst>
              </a:tr>
              <a:tr h="370840">
                <a:tc>
                  <a:txBody>
                    <a:bodyPr/>
                    <a:lstStyle/>
                    <a:p>
                      <a:pPr algn="ctr"/>
                      <a:r>
                        <a:rPr lang="ja-JP" altLang="en-US" sz="2800">
                          <a:latin typeface="UD デジタル 教科書体 NK-R" panose="02020400000000000000" pitchFamily="18" charset="-128"/>
                          <a:ea typeface="UD デジタル 教科書体 NK-R" panose="02020400000000000000" pitchFamily="18" charset="-128"/>
                        </a:rPr>
                        <a:t>検証誤差</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0.0111/0.0111</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0.0086/0.0086</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0.0079/0.0080</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2587712661"/>
                  </a:ext>
                </a:extLst>
              </a:tr>
              <a:tr h="370840">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FID※</a:t>
                      </a:r>
                      <a:endParaRPr kumimoji="1" lang="ja-JP" altLang="en-US" sz="2800" spc="-100" baseline="0">
                        <a:latin typeface="UD Digi Kyokasho NK-R" panose="02020400000000000000" pitchFamily="18" charset="-128"/>
                        <a:ea typeface="UD Digi Kyokasho NK-R" panose="02020400000000000000" pitchFamily="18" charset="-128"/>
                      </a:endParaRPr>
                    </a:p>
                  </a:txBody>
                  <a:tcP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108.30/109.38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73.03/74.37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b="0" i="0" kern="1200" spc="-100" baseline="0" dirty="0">
                          <a:solidFill>
                            <a:schemeClr val="dk1"/>
                          </a:solidFill>
                          <a:effectLst/>
                          <a:latin typeface="UD Digi Kyokasho NK-R" panose="02020400000000000000" pitchFamily="18" charset="-128"/>
                          <a:ea typeface="UD Digi Kyokasho NK-R" panose="02020400000000000000" pitchFamily="18" charset="-128"/>
                          <a:cs typeface="+mn-cs"/>
                        </a:rPr>
                        <a:t>61.76/62.87</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extLst>
                  <a:ext uri="{0D108BD9-81ED-4DB2-BD59-A6C34878D82A}">
                    <a16:rowId xmlns:a16="http://schemas.microsoft.com/office/drawing/2014/main" val="2145768203"/>
                  </a:ext>
                </a:extLst>
              </a:tr>
            </a:tbl>
          </a:graphicData>
        </a:graphic>
      </p:graphicFrame>
      <p:graphicFrame>
        <p:nvGraphicFramePr>
          <p:cNvPr id="4" name="表 255">
            <a:extLst>
              <a:ext uri="{FF2B5EF4-FFF2-40B4-BE49-F238E27FC236}">
                <a16:creationId xmlns:a16="http://schemas.microsoft.com/office/drawing/2014/main" id="{ED82D327-A8A9-DFD6-9FF7-08FA73F91AD0}"/>
              </a:ext>
            </a:extLst>
          </p:cNvPr>
          <p:cNvGraphicFramePr>
            <a:graphicFrameLocks noGrp="1"/>
          </p:cNvGraphicFramePr>
          <p:nvPr/>
        </p:nvGraphicFramePr>
        <p:xfrm>
          <a:off x="15343492" y="34063940"/>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火事だー</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プリキュアの最終回</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よし一旦</a:t>
                      </a:r>
                      <a:r>
                        <a:rPr kumimoji="1" lang="en" altLang="ja-JP" sz="2800" spc="-100" baseline="0" dirty="0">
                          <a:solidFill>
                            <a:srgbClr val="FF0000"/>
                          </a:solidFill>
                          <a:latin typeface="UD Digi Kyokasho NK-R" panose="02020400000000000000" pitchFamily="18" charset="-128"/>
                          <a:ea typeface="UD Digi Kyokasho NK-R" panose="02020400000000000000" pitchFamily="18" charset="-128"/>
                        </a:rPr>
                        <a:t>CM</a:t>
                      </a:r>
                      <a:r>
                        <a:rPr kumimoji="1" lang="ja-JP" altLang="en-US" sz="2800" spc="-100" baseline="0">
                          <a:latin typeface="UD Digi Kyokasho NK-R" panose="02020400000000000000" pitchFamily="18" charset="-128"/>
                          <a:ea typeface="UD Digi Kyokasho NK-R" panose="02020400000000000000" pitchFamily="18" charset="-128"/>
                        </a:rPr>
                        <a:t>の時間だ</a:t>
                      </a:r>
                    </a:p>
                  </a:txBody>
                  <a:tcPr anchor="ctr"/>
                </a:tc>
                <a:extLst>
                  <a:ext uri="{0D108BD9-81ED-4DB2-BD59-A6C34878D82A}">
                    <a16:rowId xmlns:a16="http://schemas.microsoft.com/office/drawing/2014/main" val="1783522377"/>
                  </a:ext>
                </a:extLst>
              </a:tr>
            </a:tbl>
          </a:graphicData>
        </a:graphic>
      </p:graphicFrame>
      <p:pic>
        <p:nvPicPr>
          <p:cNvPr id="214" name="図 213" descr="帽子を被っている女性&#10;&#10;自動的に生成された説明">
            <a:extLst>
              <a:ext uri="{FF2B5EF4-FFF2-40B4-BE49-F238E27FC236}">
                <a16:creationId xmlns:a16="http://schemas.microsoft.com/office/drawing/2014/main" id="{AC82285A-96DB-9690-7F15-C9A038C14A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1881" y="7667309"/>
            <a:ext cx="1496736" cy="1496736"/>
          </a:xfrm>
          <a:prstGeom prst="rect">
            <a:avLst/>
          </a:prstGeom>
        </p:spPr>
      </p:pic>
      <mc:AlternateContent xmlns:mc="http://schemas.openxmlformats.org/markup-compatibility/2006" xmlns:a14="http://schemas.microsoft.com/office/drawing/2010/main">
        <mc:Choice Requires="a14">
          <p:sp>
            <p:nvSpPr>
              <p:cNvPr id="216" name="テキスト ボックス 215">
                <a:extLst>
                  <a:ext uri="{FF2B5EF4-FFF2-40B4-BE49-F238E27FC236}">
                    <a16:creationId xmlns:a16="http://schemas.microsoft.com/office/drawing/2014/main" id="{E9786A7F-47F9-B8F1-4898-1CF3772FB67A}"/>
                  </a:ext>
                </a:extLst>
              </p:cNvPr>
              <p:cNvSpPr txBox="1"/>
              <p:nvPr/>
            </p:nvSpPr>
            <p:spPr>
              <a:xfrm>
                <a:off x="2036003" y="6957190"/>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16" name="テキスト ボックス 215">
                <a:extLst>
                  <a:ext uri="{FF2B5EF4-FFF2-40B4-BE49-F238E27FC236}">
                    <a16:creationId xmlns:a16="http://schemas.microsoft.com/office/drawing/2014/main" id="{E9786A7F-47F9-B8F1-4898-1CF3772FB67A}"/>
                  </a:ext>
                </a:extLst>
              </p:cNvPr>
              <p:cNvSpPr txBox="1">
                <a:spLocks noRot="1" noChangeAspect="1" noMove="1" noResize="1" noEditPoints="1" noAdjustHandles="1" noChangeArrowheads="1" noChangeShapeType="1" noTextEdit="1"/>
              </p:cNvSpPr>
              <p:nvPr/>
            </p:nvSpPr>
            <p:spPr>
              <a:xfrm>
                <a:off x="2036003" y="6957190"/>
                <a:ext cx="471668" cy="430887"/>
              </a:xfrm>
              <a:prstGeom prst="rect">
                <a:avLst/>
              </a:prstGeom>
              <a:blipFill>
                <a:blip r:embed="rId7"/>
                <a:stretch>
                  <a:fillRect l="-10526" r="-2632"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7" name="テキスト ボックス 216">
                <a:extLst>
                  <a:ext uri="{FF2B5EF4-FFF2-40B4-BE49-F238E27FC236}">
                    <a16:creationId xmlns:a16="http://schemas.microsoft.com/office/drawing/2014/main" id="{89F9CC42-0EFF-4861-65DA-AA213DBC97A8}"/>
                  </a:ext>
                </a:extLst>
              </p:cNvPr>
              <p:cNvSpPr txBox="1"/>
              <p:nvPr/>
            </p:nvSpPr>
            <p:spPr>
              <a:xfrm>
                <a:off x="1988951" y="8191225"/>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17" name="テキスト ボックス 216">
                <a:extLst>
                  <a:ext uri="{FF2B5EF4-FFF2-40B4-BE49-F238E27FC236}">
                    <a16:creationId xmlns:a16="http://schemas.microsoft.com/office/drawing/2014/main" id="{89F9CC42-0EFF-4861-65DA-AA213DBC97A8}"/>
                  </a:ext>
                </a:extLst>
              </p:cNvPr>
              <p:cNvSpPr txBox="1">
                <a:spLocks noRot="1" noChangeAspect="1" noMove="1" noResize="1" noEditPoints="1" noAdjustHandles="1" noChangeArrowheads="1" noChangeShapeType="1" noTextEdit="1"/>
              </p:cNvSpPr>
              <p:nvPr/>
            </p:nvSpPr>
            <p:spPr>
              <a:xfrm>
                <a:off x="1988951" y="8191225"/>
                <a:ext cx="492507" cy="430887"/>
              </a:xfrm>
              <a:prstGeom prst="rect">
                <a:avLst/>
              </a:prstGeom>
              <a:blipFill>
                <a:blip r:embed="rId8"/>
                <a:stretch>
                  <a:fillRect b="-5882"/>
                </a:stretch>
              </a:blipFill>
            </p:spPr>
            <p:txBody>
              <a:bodyPr/>
              <a:lstStyle/>
              <a:p>
                <a:r>
                  <a:rPr lang="ja-JP" altLang="en-US">
                    <a:noFill/>
                  </a:rPr>
                  <a:t> </a:t>
                </a:r>
              </a:p>
            </p:txBody>
          </p:sp>
        </mc:Fallback>
      </mc:AlternateContent>
      <p:cxnSp>
        <p:nvCxnSpPr>
          <p:cNvPr id="223" name="直線矢印コネクタ 222">
            <a:extLst>
              <a:ext uri="{FF2B5EF4-FFF2-40B4-BE49-F238E27FC236}">
                <a16:creationId xmlns:a16="http://schemas.microsoft.com/office/drawing/2014/main" id="{EB5A462D-A80D-CC6A-B4A4-915FD8588001}"/>
              </a:ext>
            </a:extLst>
          </p:cNvPr>
          <p:cNvCxnSpPr>
            <a:cxnSpLocks/>
            <a:stCxn id="216" idx="3"/>
            <a:endCxn id="245" idx="1"/>
          </p:cNvCxnSpPr>
          <p:nvPr/>
        </p:nvCxnSpPr>
        <p:spPr>
          <a:xfrm>
            <a:off x="2507671" y="7172634"/>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4" name="直線矢印コネクタ 223">
            <a:extLst>
              <a:ext uri="{FF2B5EF4-FFF2-40B4-BE49-F238E27FC236}">
                <a16:creationId xmlns:a16="http://schemas.microsoft.com/office/drawing/2014/main" id="{9FF679CD-793E-7077-AD1C-3BCC7951EF16}"/>
              </a:ext>
            </a:extLst>
          </p:cNvPr>
          <p:cNvCxnSpPr>
            <a:cxnSpLocks/>
            <a:stCxn id="245" idx="3"/>
            <a:endCxn id="270" idx="1"/>
          </p:cNvCxnSpPr>
          <p:nvPr/>
        </p:nvCxnSpPr>
        <p:spPr>
          <a:xfrm flipV="1">
            <a:off x="5613881" y="7168624"/>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5" name="直線矢印コネクタ 19">
            <a:extLst>
              <a:ext uri="{FF2B5EF4-FFF2-40B4-BE49-F238E27FC236}">
                <a16:creationId xmlns:a16="http://schemas.microsoft.com/office/drawing/2014/main" id="{A4BA8391-F00F-15FB-2F52-C17A87D640BF}"/>
              </a:ext>
            </a:extLst>
          </p:cNvPr>
          <p:cNvCxnSpPr>
            <a:cxnSpLocks/>
            <a:stCxn id="270" idx="3"/>
            <a:endCxn id="273" idx="1"/>
          </p:cNvCxnSpPr>
          <p:nvPr/>
        </p:nvCxnSpPr>
        <p:spPr>
          <a:xfrm>
            <a:off x="8956217" y="7168624"/>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6" name="直線矢印コネクタ 225">
            <a:extLst>
              <a:ext uri="{FF2B5EF4-FFF2-40B4-BE49-F238E27FC236}">
                <a16:creationId xmlns:a16="http://schemas.microsoft.com/office/drawing/2014/main" id="{B0244165-A331-B5E2-2D99-05A754DC6D77}"/>
              </a:ext>
            </a:extLst>
          </p:cNvPr>
          <p:cNvCxnSpPr>
            <a:cxnSpLocks/>
            <a:stCxn id="273" idx="3"/>
            <a:endCxn id="228" idx="1"/>
          </p:cNvCxnSpPr>
          <p:nvPr/>
        </p:nvCxnSpPr>
        <p:spPr>
          <a:xfrm>
            <a:off x="12052610" y="7789658"/>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8" name="テキスト ボックス 227">
                <a:extLst>
                  <a:ext uri="{FF2B5EF4-FFF2-40B4-BE49-F238E27FC236}">
                    <a16:creationId xmlns:a16="http://schemas.microsoft.com/office/drawing/2014/main" id="{BE9AD327-F7D0-ED72-F40D-84FF6D3695E3}"/>
                  </a:ext>
                </a:extLst>
              </p:cNvPr>
              <p:cNvSpPr txBox="1"/>
              <p:nvPr/>
            </p:nvSpPr>
            <p:spPr>
              <a:xfrm>
                <a:off x="12909280" y="7588721"/>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28" name="テキスト ボックス 227">
                <a:extLst>
                  <a:ext uri="{FF2B5EF4-FFF2-40B4-BE49-F238E27FC236}">
                    <a16:creationId xmlns:a16="http://schemas.microsoft.com/office/drawing/2014/main" id="{BE9AD327-F7D0-ED72-F40D-84FF6D3695E3}"/>
                  </a:ext>
                </a:extLst>
              </p:cNvPr>
              <p:cNvSpPr txBox="1">
                <a:spLocks noRot="1" noChangeAspect="1" noMove="1" noResize="1" noEditPoints="1" noAdjustHandles="1" noChangeArrowheads="1" noChangeShapeType="1" noTextEdit="1"/>
              </p:cNvSpPr>
              <p:nvPr/>
            </p:nvSpPr>
            <p:spPr>
              <a:xfrm>
                <a:off x="12909280" y="7588721"/>
                <a:ext cx="814710" cy="430887"/>
              </a:xfrm>
              <a:prstGeom prst="rect">
                <a:avLst/>
              </a:prstGeom>
              <a:blipFill>
                <a:blip r:embed="rId9"/>
                <a:stretch>
                  <a:fillRect l="-4615" r="-3077" b="-11429"/>
                </a:stretch>
              </a:blipFill>
            </p:spPr>
            <p:txBody>
              <a:bodyPr/>
              <a:lstStyle/>
              <a:p>
                <a:r>
                  <a:rPr lang="ja-JP" altLang="en-US">
                    <a:noFill/>
                  </a:rPr>
                  <a:t> </a:t>
                </a:r>
              </a:p>
            </p:txBody>
          </p:sp>
        </mc:Fallback>
      </mc:AlternateContent>
      <p:grpSp>
        <p:nvGrpSpPr>
          <p:cNvPr id="240" name="グループ化 239">
            <a:extLst>
              <a:ext uri="{FF2B5EF4-FFF2-40B4-BE49-F238E27FC236}">
                <a16:creationId xmlns:a16="http://schemas.microsoft.com/office/drawing/2014/main" id="{A054153A-7DE4-618A-3D41-DE53B06C7CCD}"/>
              </a:ext>
            </a:extLst>
          </p:cNvPr>
          <p:cNvGrpSpPr/>
          <p:nvPr/>
        </p:nvGrpSpPr>
        <p:grpSpPr>
          <a:xfrm>
            <a:off x="3670881" y="6815070"/>
            <a:ext cx="1943000" cy="719356"/>
            <a:chOff x="3749692" y="11369202"/>
            <a:chExt cx="1943000" cy="719356"/>
          </a:xfrm>
        </p:grpSpPr>
        <p:sp>
          <p:nvSpPr>
            <p:cNvPr id="245" name="正方形/長方形 244">
              <a:extLst>
                <a:ext uri="{FF2B5EF4-FFF2-40B4-BE49-F238E27FC236}">
                  <a16:creationId xmlns:a16="http://schemas.microsoft.com/office/drawing/2014/main" id="{3D593E03-A2D3-15AB-90BC-6AEE4C3C1647}"/>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46" name="テキスト ボックス 245">
                  <a:extLst>
                    <a:ext uri="{FF2B5EF4-FFF2-40B4-BE49-F238E27FC236}">
                      <a16:creationId xmlns:a16="http://schemas.microsoft.com/office/drawing/2014/main" id="{86E9DCFB-3953-82A5-AD51-D92E907C7CAB}"/>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46" name="テキスト ボックス 245">
                  <a:extLst>
                    <a:ext uri="{FF2B5EF4-FFF2-40B4-BE49-F238E27FC236}">
                      <a16:creationId xmlns:a16="http://schemas.microsoft.com/office/drawing/2014/main" id="{86E9DCFB-3953-82A5-AD51-D92E907C7CA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0"/>
                  <a:stretch>
                    <a:fillRect l="-6000" t="-2941" r="-6000" b="-3529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47" name="テキスト ボックス 246">
                <a:extLst>
                  <a:ext uri="{FF2B5EF4-FFF2-40B4-BE49-F238E27FC236}">
                    <a16:creationId xmlns:a16="http://schemas.microsoft.com/office/drawing/2014/main" id="{973B32A8-3E14-E7A8-84C7-48191CB33DA7}"/>
                  </a:ext>
                </a:extLst>
              </p:cNvPr>
              <p:cNvSpPr txBox="1"/>
              <p:nvPr/>
            </p:nvSpPr>
            <p:spPr>
              <a:xfrm>
                <a:off x="8086668" y="6337110"/>
                <a:ext cx="35118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247" name="テキスト ボックス 246">
                <a:extLst>
                  <a:ext uri="{FF2B5EF4-FFF2-40B4-BE49-F238E27FC236}">
                    <a16:creationId xmlns:a16="http://schemas.microsoft.com/office/drawing/2014/main" id="{973B32A8-3E14-E7A8-84C7-48191CB33DA7}"/>
                  </a:ext>
                </a:extLst>
              </p:cNvPr>
              <p:cNvSpPr txBox="1">
                <a:spLocks noRot="1" noChangeAspect="1" noMove="1" noResize="1" noEditPoints="1" noAdjustHandles="1" noChangeArrowheads="1" noChangeShapeType="1" noTextEdit="1"/>
              </p:cNvSpPr>
              <p:nvPr/>
            </p:nvSpPr>
            <p:spPr>
              <a:xfrm>
                <a:off x="8086668" y="6337110"/>
                <a:ext cx="351185" cy="430887"/>
              </a:xfrm>
              <a:prstGeom prst="rect">
                <a:avLst/>
              </a:prstGeom>
              <a:blipFill>
                <a:blip r:embed="rId11"/>
                <a:stretch>
                  <a:fillRect l="-10345" r="-3448" b="-14706"/>
                </a:stretch>
              </a:blipFill>
            </p:spPr>
            <p:txBody>
              <a:bodyPr/>
              <a:lstStyle/>
              <a:p>
                <a:r>
                  <a:rPr lang="ja-JP" altLang="en-US">
                    <a:noFill/>
                  </a:rPr>
                  <a:t> </a:t>
                </a:r>
              </a:p>
            </p:txBody>
          </p:sp>
        </mc:Fallback>
      </mc:AlternateContent>
      <p:sp>
        <p:nvSpPr>
          <p:cNvPr id="5" name="正方形/長方形 4">
            <a:extLst>
              <a:ext uri="{FF2B5EF4-FFF2-40B4-BE49-F238E27FC236}">
                <a16:creationId xmlns:a16="http://schemas.microsoft.com/office/drawing/2014/main" id="{5BCF1E3A-E4D3-E485-FF19-DB5B16DAF899}"/>
              </a:ext>
            </a:extLst>
          </p:cNvPr>
          <p:cNvSpPr/>
          <p:nvPr/>
        </p:nvSpPr>
        <p:spPr>
          <a:xfrm>
            <a:off x="5341076" y="10647397"/>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EAC9EC35-19CC-9271-9E5C-5203A561D264}"/>
              </a:ext>
            </a:extLst>
          </p:cNvPr>
          <p:cNvSpPr/>
          <p:nvPr/>
        </p:nvSpPr>
        <p:spPr>
          <a:xfrm>
            <a:off x="5352644" y="7743765"/>
            <a:ext cx="1796586" cy="1374387"/>
          </a:xfrm>
          <a:prstGeom prst="rect">
            <a:avLst/>
          </a:prstGeom>
          <a:solidFill>
            <a:srgbClr val="FF0000"/>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48" name="直線矢印コネクタ 247">
            <a:extLst>
              <a:ext uri="{FF2B5EF4-FFF2-40B4-BE49-F238E27FC236}">
                <a16:creationId xmlns:a16="http://schemas.microsoft.com/office/drawing/2014/main" id="{02FE7BE1-F83F-1E1F-D74D-A29BD0761BDB}"/>
              </a:ext>
            </a:extLst>
          </p:cNvPr>
          <p:cNvCxnSpPr>
            <a:cxnSpLocks/>
            <a:endCxn id="270" idx="0"/>
          </p:cNvCxnSpPr>
          <p:nvPr/>
        </p:nvCxnSpPr>
        <p:spPr>
          <a:xfrm>
            <a:off x="7984717" y="6299086"/>
            <a:ext cx="0" cy="509860"/>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50" name="直線矢印コネクタ 249">
            <a:extLst>
              <a:ext uri="{FF2B5EF4-FFF2-40B4-BE49-F238E27FC236}">
                <a16:creationId xmlns:a16="http://schemas.microsoft.com/office/drawing/2014/main" id="{27AA0A93-5A38-32FF-42C1-ED2393F43D09}"/>
              </a:ext>
            </a:extLst>
          </p:cNvPr>
          <p:cNvCxnSpPr>
            <a:cxnSpLocks/>
            <a:stCxn id="214" idx="3"/>
            <a:endCxn id="256" idx="2"/>
          </p:cNvCxnSpPr>
          <p:nvPr/>
        </p:nvCxnSpPr>
        <p:spPr>
          <a:xfrm flipV="1">
            <a:off x="3018617" y="8409209"/>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2" name="直線矢印コネクタ 22">
            <a:extLst>
              <a:ext uri="{FF2B5EF4-FFF2-40B4-BE49-F238E27FC236}">
                <a16:creationId xmlns:a16="http://schemas.microsoft.com/office/drawing/2014/main" id="{4A573549-C2AA-98F8-59E3-1055973CBB60}"/>
              </a:ext>
            </a:extLst>
          </p:cNvPr>
          <p:cNvCxnSpPr>
            <a:cxnSpLocks/>
            <a:stCxn id="256" idx="0"/>
            <a:endCxn id="273" idx="1"/>
          </p:cNvCxnSpPr>
          <p:nvPr/>
        </p:nvCxnSpPr>
        <p:spPr>
          <a:xfrm flipV="1">
            <a:off x="6983616" y="7789658"/>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54" name="グループ化 253">
            <a:extLst>
              <a:ext uri="{FF2B5EF4-FFF2-40B4-BE49-F238E27FC236}">
                <a16:creationId xmlns:a16="http://schemas.microsoft.com/office/drawing/2014/main" id="{80A45BF1-1759-352C-F29F-FAA0D6CC85E1}"/>
              </a:ext>
            </a:extLst>
          </p:cNvPr>
          <p:cNvGrpSpPr/>
          <p:nvPr/>
        </p:nvGrpSpPr>
        <p:grpSpPr>
          <a:xfrm>
            <a:off x="5551632" y="7847933"/>
            <a:ext cx="1431984" cy="1122552"/>
            <a:chOff x="5794565" y="9611968"/>
            <a:chExt cx="1431984" cy="1122552"/>
          </a:xfrm>
        </p:grpSpPr>
        <p:sp>
          <p:nvSpPr>
            <p:cNvPr id="256" name="台形 255">
              <a:extLst>
                <a:ext uri="{FF2B5EF4-FFF2-40B4-BE49-F238E27FC236}">
                  <a16:creationId xmlns:a16="http://schemas.microsoft.com/office/drawing/2014/main" id="{9F94FCAC-3C49-7535-4605-BE8FEDC9A663}"/>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62" name="テキスト ボックス 261">
                  <a:extLst>
                    <a:ext uri="{FF2B5EF4-FFF2-40B4-BE49-F238E27FC236}">
                      <a16:creationId xmlns:a16="http://schemas.microsoft.com/office/drawing/2014/main" id="{DF67C357-CCE4-4C6F-CA9A-AE9F5A8A624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62" name="テキスト ボックス 261">
                  <a:extLst>
                    <a:ext uri="{FF2B5EF4-FFF2-40B4-BE49-F238E27FC236}">
                      <a16:creationId xmlns:a16="http://schemas.microsoft.com/office/drawing/2014/main" id="{DF67C357-CCE4-4C6F-CA9A-AE9F5A8A624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12"/>
                  <a:stretch>
                    <a:fillRect l="-6306" r="-4505" b="-5714"/>
                  </a:stretch>
                </a:blipFill>
              </p:spPr>
              <p:txBody>
                <a:bodyPr/>
                <a:lstStyle/>
                <a:p>
                  <a:r>
                    <a:rPr lang="ja-JP" altLang="en-US">
                      <a:noFill/>
                    </a:rPr>
                    <a:t> </a:t>
                  </a:r>
                </a:p>
              </p:txBody>
            </p:sp>
          </mc:Fallback>
        </mc:AlternateContent>
      </p:grpSp>
      <p:grpSp>
        <p:nvGrpSpPr>
          <p:cNvPr id="269" name="グループ化 268">
            <a:extLst>
              <a:ext uri="{FF2B5EF4-FFF2-40B4-BE49-F238E27FC236}">
                <a16:creationId xmlns:a16="http://schemas.microsoft.com/office/drawing/2014/main" id="{E602F14E-591B-3D60-161F-7DC215F96608}"/>
              </a:ext>
            </a:extLst>
          </p:cNvPr>
          <p:cNvGrpSpPr/>
          <p:nvPr/>
        </p:nvGrpSpPr>
        <p:grpSpPr>
          <a:xfrm>
            <a:off x="7013217" y="6808946"/>
            <a:ext cx="1943000" cy="719356"/>
            <a:chOff x="3749692" y="11369202"/>
            <a:chExt cx="1943000" cy="719356"/>
          </a:xfrm>
        </p:grpSpPr>
        <p:sp>
          <p:nvSpPr>
            <p:cNvPr id="270" name="正方形/長方形 269">
              <a:extLst>
                <a:ext uri="{FF2B5EF4-FFF2-40B4-BE49-F238E27FC236}">
                  <a16:creationId xmlns:a16="http://schemas.microsoft.com/office/drawing/2014/main" id="{A7E4DF10-563E-BEB9-68A1-A17CB31EC791}"/>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1" name="テキスト ボックス 270">
                  <a:extLst>
                    <a:ext uri="{FF2B5EF4-FFF2-40B4-BE49-F238E27FC236}">
                      <a16:creationId xmlns:a16="http://schemas.microsoft.com/office/drawing/2014/main" id="{F730D54A-F977-45DB-D319-702796AFEEC6}"/>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71" name="テキスト ボックス 270">
                  <a:extLst>
                    <a:ext uri="{FF2B5EF4-FFF2-40B4-BE49-F238E27FC236}">
                      <a16:creationId xmlns:a16="http://schemas.microsoft.com/office/drawing/2014/main" id="{F730D54A-F977-45DB-D319-702796AFEEC6}"/>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3"/>
                  <a:stretch>
                    <a:fillRect b="-5714"/>
                  </a:stretch>
                </a:blipFill>
              </p:spPr>
              <p:txBody>
                <a:bodyPr/>
                <a:lstStyle/>
                <a:p>
                  <a:r>
                    <a:rPr lang="ja-JP" altLang="en-US">
                      <a:noFill/>
                    </a:rPr>
                    <a:t> </a:t>
                  </a:r>
                </a:p>
              </p:txBody>
            </p:sp>
          </mc:Fallback>
        </mc:AlternateContent>
      </p:grpSp>
      <p:grpSp>
        <p:nvGrpSpPr>
          <p:cNvPr id="272" name="グループ化 271">
            <a:extLst>
              <a:ext uri="{FF2B5EF4-FFF2-40B4-BE49-F238E27FC236}">
                <a16:creationId xmlns:a16="http://schemas.microsoft.com/office/drawing/2014/main" id="{075AF110-7F10-C9A1-A124-0088DDABFAAD}"/>
              </a:ext>
            </a:extLst>
          </p:cNvPr>
          <p:cNvGrpSpPr/>
          <p:nvPr/>
        </p:nvGrpSpPr>
        <p:grpSpPr>
          <a:xfrm>
            <a:off x="10109610" y="7429980"/>
            <a:ext cx="1943000" cy="719356"/>
            <a:chOff x="3749692" y="11369202"/>
            <a:chExt cx="1943000" cy="719356"/>
          </a:xfrm>
        </p:grpSpPr>
        <p:sp>
          <p:nvSpPr>
            <p:cNvPr id="273" name="正方形/長方形 272">
              <a:extLst>
                <a:ext uri="{FF2B5EF4-FFF2-40B4-BE49-F238E27FC236}">
                  <a16:creationId xmlns:a16="http://schemas.microsoft.com/office/drawing/2014/main" id="{B0C78290-2687-F702-7E5B-DA11CB35E48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74" name="テキスト ボックス 273">
                  <a:extLst>
                    <a:ext uri="{FF2B5EF4-FFF2-40B4-BE49-F238E27FC236}">
                      <a16:creationId xmlns:a16="http://schemas.microsoft.com/office/drawing/2014/main" id="{CB8AAA5B-7BAA-5FE0-DA14-9E1B3199832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274" name="テキスト ボックス 273">
                  <a:extLst>
                    <a:ext uri="{FF2B5EF4-FFF2-40B4-BE49-F238E27FC236}">
                      <a16:creationId xmlns:a16="http://schemas.microsoft.com/office/drawing/2014/main" id="{CB8AAA5B-7BAA-5FE0-DA14-9E1B31998329}"/>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14"/>
                  <a:stretch>
                    <a:fillRect b="-5714"/>
                  </a:stretch>
                </a:blipFill>
              </p:spPr>
              <p:txBody>
                <a:bodyPr/>
                <a:lstStyle/>
                <a:p>
                  <a:r>
                    <a:rPr lang="ja-JP" altLang="en-US">
                      <a:noFill/>
                    </a:rPr>
                    <a:t> </a:t>
                  </a:r>
                </a:p>
              </p:txBody>
            </p:sp>
          </mc:Fallback>
        </mc:AlternateContent>
      </p:grpSp>
      <p:cxnSp>
        <p:nvCxnSpPr>
          <p:cNvPr id="275" name="直線矢印コネクタ 135">
            <a:extLst>
              <a:ext uri="{FF2B5EF4-FFF2-40B4-BE49-F238E27FC236}">
                <a16:creationId xmlns:a16="http://schemas.microsoft.com/office/drawing/2014/main" id="{1442AD5E-ECC8-2EF6-E36D-352CFD75AB83}"/>
              </a:ext>
            </a:extLst>
          </p:cNvPr>
          <p:cNvCxnSpPr>
            <a:cxnSpLocks/>
            <a:stCxn id="228" idx="2"/>
            <a:endCxn id="277" idx="0"/>
          </p:cNvCxnSpPr>
          <p:nvPr/>
        </p:nvCxnSpPr>
        <p:spPr>
          <a:xfrm rot="5400000">
            <a:off x="6937002" y="3521021"/>
            <a:ext cx="1881046" cy="10878220"/>
          </a:xfrm>
          <a:prstGeom prst="bentConnector3">
            <a:avLst>
              <a:gd name="adj1" fmla="val 69943"/>
            </a:avLst>
          </a:prstGeom>
          <a:ln w="28575">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76" name="図 275" descr="帽子を被っている女性&#10;&#10;自動的に生成された説明">
            <a:extLst>
              <a:ext uri="{FF2B5EF4-FFF2-40B4-BE49-F238E27FC236}">
                <a16:creationId xmlns:a16="http://schemas.microsoft.com/office/drawing/2014/main" id="{7D919012-BCD9-E78F-078E-853C48FE2B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10610773"/>
            <a:ext cx="1496736" cy="1496736"/>
          </a:xfrm>
          <a:prstGeom prst="rect">
            <a:avLst/>
          </a:prstGeom>
        </p:spPr>
      </p:pic>
      <mc:AlternateContent xmlns:mc="http://schemas.openxmlformats.org/markup-compatibility/2006" xmlns:a14="http://schemas.microsoft.com/office/drawing/2010/main">
        <mc:Choice Requires="a14">
          <p:sp>
            <p:nvSpPr>
              <p:cNvPr id="277" name="テキスト ボックス 276">
                <a:extLst>
                  <a:ext uri="{FF2B5EF4-FFF2-40B4-BE49-F238E27FC236}">
                    <a16:creationId xmlns:a16="http://schemas.microsoft.com/office/drawing/2014/main" id="{185E924C-D473-7E31-2791-6C6A6D47B0B5}"/>
                  </a:ext>
                </a:extLst>
              </p:cNvPr>
              <p:cNvSpPr txBox="1"/>
              <p:nvPr/>
            </p:nvSpPr>
            <p:spPr>
              <a:xfrm>
                <a:off x="2031060" y="9900654"/>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77" name="テキスト ボックス 276">
                <a:extLst>
                  <a:ext uri="{FF2B5EF4-FFF2-40B4-BE49-F238E27FC236}">
                    <a16:creationId xmlns:a16="http://schemas.microsoft.com/office/drawing/2014/main" id="{185E924C-D473-7E31-2791-6C6A6D47B0B5}"/>
                  </a:ext>
                </a:extLst>
              </p:cNvPr>
              <p:cNvSpPr txBox="1">
                <a:spLocks noRot="1" noChangeAspect="1" noMove="1" noResize="1" noEditPoints="1" noAdjustHandles="1" noChangeArrowheads="1" noChangeShapeType="1" noTextEdit="1"/>
              </p:cNvSpPr>
              <p:nvPr/>
            </p:nvSpPr>
            <p:spPr>
              <a:xfrm>
                <a:off x="2031060" y="9900654"/>
                <a:ext cx="814710" cy="430887"/>
              </a:xfrm>
              <a:prstGeom prst="rect">
                <a:avLst/>
              </a:prstGeom>
              <a:blipFill>
                <a:blip r:embed="rId15"/>
                <a:stretch>
                  <a:fillRect l="-4545" r="-3030"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8" name="テキスト ボックス 277">
                <a:extLst>
                  <a:ext uri="{FF2B5EF4-FFF2-40B4-BE49-F238E27FC236}">
                    <a16:creationId xmlns:a16="http://schemas.microsoft.com/office/drawing/2014/main" id="{FA734656-A05F-5B8A-2837-1B844524488D}"/>
                  </a:ext>
                </a:extLst>
              </p:cNvPr>
              <p:cNvSpPr txBox="1"/>
              <p:nvPr/>
            </p:nvSpPr>
            <p:spPr>
              <a:xfrm>
                <a:off x="1984008" y="1113468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i="0" smtClean="0">
                          <a:latin typeface="Cambria Math" panose="02040503050406030204" pitchFamily="18" charset="0"/>
                        </a:rPr>
                        <m:t>𝐈</m:t>
                      </m:r>
                    </m:oMath>
                  </m:oMathPara>
                </a14:m>
                <a:endParaRPr kumimoji="1" lang="ja-JP" altLang="en-US" sz="2800" b="1" dirty="0"/>
              </a:p>
            </p:txBody>
          </p:sp>
        </mc:Choice>
        <mc:Fallback xmlns="">
          <p:sp>
            <p:nvSpPr>
              <p:cNvPr id="278" name="テキスト ボックス 277">
                <a:extLst>
                  <a:ext uri="{FF2B5EF4-FFF2-40B4-BE49-F238E27FC236}">
                    <a16:creationId xmlns:a16="http://schemas.microsoft.com/office/drawing/2014/main" id="{FA734656-A05F-5B8A-2837-1B844524488D}"/>
                  </a:ext>
                </a:extLst>
              </p:cNvPr>
              <p:cNvSpPr txBox="1">
                <a:spLocks noRot="1" noChangeAspect="1" noMove="1" noResize="1" noEditPoints="1" noAdjustHandles="1" noChangeArrowheads="1" noChangeShapeType="1" noTextEdit="1"/>
              </p:cNvSpPr>
              <p:nvPr/>
            </p:nvSpPr>
            <p:spPr>
              <a:xfrm>
                <a:off x="1984008" y="11134689"/>
                <a:ext cx="492507" cy="430887"/>
              </a:xfrm>
              <a:prstGeom prst="rect">
                <a:avLst/>
              </a:prstGeom>
              <a:blipFill>
                <a:blip r:embed="rId16"/>
                <a:stretch>
                  <a:fillRect b="-5714"/>
                </a:stretch>
              </a:blipFill>
            </p:spPr>
            <p:txBody>
              <a:bodyPr/>
              <a:lstStyle/>
              <a:p>
                <a:r>
                  <a:rPr lang="ja-JP" altLang="en-US">
                    <a:noFill/>
                  </a:rPr>
                  <a:t> </a:t>
                </a:r>
              </a:p>
            </p:txBody>
          </p:sp>
        </mc:Fallback>
      </mc:AlternateContent>
      <p:cxnSp>
        <p:nvCxnSpPr>
          <p:cNvPr id="279" name="直線矢印コネクタ 278">
            <a:extLst>
              <a:ext uri="{FF2B5EF4-FFF2-40B4-BE49-F238E27FC236}">
                <a16:creationId xmlns:a16="http://schemas.microsoft.com/office/drawing/2014/main" id="{4FA4FB80-7B2C-D4FA-1E26-D032CC28C889}"/>
              </a:ext>
            </a:extLst>
          </p:cNvPr>
          <p:cNvCxnSpPr>
            <a:cxnSpLocks/>
            <a:stCxn id="277" idx="3"/>
            <a:endCxn id="285" idx="1"/>
          </p:cNvCxnSpPr>
          <p:nvPr/>
        </p:nvCxnSpPr>
        <p:spPr>
          <a:xfrm>
            <a:off x="2845770" y="10116098"/>
            <a:ext cx="820168"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E638358B-477C-ED4B-4360-CF9629AA8759}"/>
              </a:ext>
            </a:extLst>
          </p:cNvPr>
          <p:cNvCxnSpPr>
            <a:cxnSpLocks/>
            <a:stCxn id="285" idx="3"/>
            <a:endCxn id="296" idx="1"/>
          </p:cNvCxnSpPr>
          <p:nvPr/>
        </p:nvCxnSpPr>
        <p:spPr>
          <a:xfrm flipV="1">
            <a:off x="5608938" y="10112088"/>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19">
            <a:extLst>
              <a:ext uri="{FF2B5EF4-FFF2-40B4-BE49-F238E27FC236}">
                <a16:creationId xmlns:a16="http://schemas.microsoft.com/office/drawing/2014/main" id="{CE0C6582-A421-C5E2-13D1-0A458F975858}"/>
              </a:ext>
            </a:extLst>
          </p:cNvPr>
          <p:cNvCxnSpPr>
            <a:cxnSpLocks/>
            <a:stCxn id="296" idx="3"/>
            <a:endCxn id="299" idx="1"/>
          </p:cNvCxnSpPr>
          <p:nvPr/>
        </p:nvCxnSpPr>
        <p:spPr>
          <a:xfrm>
            <a:off x="8951274" y="10112088"/>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2" name="直線矢印コネクタ 281">
            <a:extLst>
              <a:ext uri="{FF2B5EF4-FFF2-40B4-BE49-F238E27FC236}">
                <a16:creationId xmlns:a16="http://schemas.microsoft.com/office/drawing/2014/main" id="{A2295E78-CDC7-7445-F865-DEFA6D7DC947}"/>
              </a:ext>
            </a:extLst>
          </p:cNvPr>
          <p:cNvCxnSpPr>
            <a:cxnSpLocks/>
            <a:stCxn id="299" idx="3"/>
            <a:endCxn id="283" idx="1"/>
          </p:cNvCxnSpPr>
          <p:nvPr/>
        </p:nvCxnSpPr>
        <p:spPr>
          <a:xfrm>
            <a:off x="12047667" y="10733122"/>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3" name="テキスト ボックス 282">
                <a:extLst>
                  <a:ext uri="{FF2B5EF4-FFF2-40B4-BE49-F238E27FC236}">
                    <a16:creationId xmlns:a16="http://schemas.microsoft.com/office/drawing/2014/main" id="{BB3662A6-1EBB-E2D8-7AE1-E157E0C26BF0}"/>
                  </a:ext>
                </a:extLst>
              </p:cNvPr>
              <p:cNvSpPr txBox="1"/>
              <p:nvPr/>
            </p:nvSpPr>
            <p:spPr>
              <a:xfrm>
                <a:off x="12904337" y="10532185"/>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+2</m:t>
                          </m:r>
                        </m:sub>
                      </m:sSub>
                    </m:oMath>
                  </m:oMathPara>
                </a14:m>
                <a:endParaRPr kumimoji="1" lang="ja-JP" altLang="en-US" sz="2800" dirty="0"/>
              </a:p>
            </p:txBody>
          </p:sp>
        </mc:Choice>
        <mc:Fallback xmlns="">
          <p:sp>
            <p:nvSpPr>
              <p:cNvPr id="283" name="テキスト ボックス 282">
                <a:extLst>
                  <a:ext uri="{FF2B5EF4-FFF2-40B4-BE49-F238E27FC236}">
                    <a16:creationId xmlns:a16="http://schemas.microsoft.com/office/drawing/2014/main" id="{BB3662A6-1EBB-E2D8-7AE1-E157E0C26BF0}"/>
                  </a:ext>
                </a:extLst>
              </p:cNvPr>
              <p:cNvSpPr txBox="1">
                <a:spLocks noRot="1" noChangeAspect="1" noMove="1" noResize="1" noEditPoints="1" noAdjustHandles="1" noChangeArrowheads="1" noChangeShapeType="1" noTextEdit="1"/>
              </p:cNvSpPr>
              <p:nvPr/>
            </p:nvSpPr>
            <p:spPr>
              <a:xfrm>
                <a:off x="12904337" y="10532185"/>
                <a:ext cx="814710" cy="430887"/>
              </a:xfrm>
              <a:prstGeom prst="rect">
                <a:avLst/>
              </a:prstGeom>
              <a:blipFill>
                <a:blip r:embed="rId17"/>
                <a:stretch>
                  <a:fillRect l="-6250" r="-4688" b="-11429"/>
                </a:stretch>
              </a:blipFill>
            </p:spPr>
            <p:txBody>
              <a:bodyPr/>
              <a:lstStyle/>
              <a:p>
                <a:r>
                  <a:rPr lang="ja-JP" altLang="en-US">
                    <a:noFill/>
                  </a:rPr>
                  <a:t> </a:t>
                </a:r>
              </a:p>
            </p:txBody>
          </p:sp>
        </mc:Fallback>
      </mc:AlternateContent>
      <p:grpSp>
        <p:nvGrpSpPr>
          <p:cNvPr id="284" name="グループ化 283">
            <a:extLst>
              <a:ext uri="{FF2B5EF4-FFF2-40B4-BE49-F238E27FC236}">
                <a16:creationId xmlns:a16="http://schemas.microsoft.com/office/drawing/2014/main" id="{9C34ABBF-0103-7F3F-36C5-5CB61B776E74}"/>
              </a:ext>
            </a:extLst>
          </p:cNvPr>
          <p:cNvGrpSpPr/>
          <p:nvPr/>
        </p:nvGrpSpPr>
        <p:grpSpPr>
          <a:xfrm>
            <a:off x="3665938" y="9758534"/>
            <a:ext cx="1943000" cy="719356"/>
            <a:chOff x="3749692" y="11369202"/>
            <a:chExt cx="1943000" cy="719356"/>
          </a:xfrm>
        </p:grpSpPr>
        <p:sp>
          <p:nvSpPr>
            <p:cNvPr id="285" name="正方形/長方形 284">
              <a:extLst>
                <a:ext uri="{FF2B5EF4-FFF2-40B4-BE49-F238E27FC236}">
                  <a16:creationId xmlns:a16="http://schemas.microsoft.com/office/drawing/2014/main" id="{27EC2E1D-2732-BAC4-6A6D-281A796D48C3}"/>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86" name="テキスト ボックス 285">
                  <a:extLst>
                    <a:ext uri="{FF2B5EF4-FFF2-40B4-BE49-F238E27FC236}">
                      <a16:creationId xmlns:a16="http://schemas.microsoft.com/office/drawing/2014/main" id="{A1964DD9-3996-2BA3-8021-AA9FD0AD5D6D}"/>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286" name="テキスト ボックス 285">
                  <a:extLst>
                    <a:ext uri="{FF2B5EF4-FFF2-40B4-BE49-F238E27FC236}">
                      <a16:creationId xmlns:a16="http://schemas.microsoft.com/office/drawing/2014/main" id="{A1964DD9-3996-2BA3-8021-AA9FD0AD5D6D}"/>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18"/>
                  <a:stretch>
                    <a:fillRect l="-5960" r="-5960" b="-34286"/>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287" name="テキスト ボックス 286">
                <a:extLst>
                  <a:ext uri="{FF2B5EF4-FFF2-40B4-BE49-F238E27FC236}">
                    <a16:creationId xmlns:a16="http://schemas.microsoft.com/office/drawing/2014/main" id="{01855A5E-DE71-BB22-36A4-138ADFE4FEBD}"/>
                  </a:ext>
                </a:extLst>
              </p:cNvPr>
              <p:cNvSpPr txBox="1"/>
              <p:nvPr/>
            </p:nvSpPr>
            <p:spPr>
              <a:xfrm>
                <a:off x="8081725" y="9280574"/>
                <a:ext cx="694229"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𝑟</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287" name="テキスト ボックス 286">
                <a:extLst>
                  <a:ext uri="{FF2B5EF4-FFF2-40B4-BE49-F238E27FC236}">
                    <a16:creationId xmlns:a16="http://schemas.microsoft.com/office/drawing/2014/main" id="{01855A5E-DE71-BB22-36A4-138ADFE4FEBD}"/>
                  </a:ext>
                </a:extLst>
              </p:cNvPr>
              <p:cNvSpPr txBox="1">
                <a:spLocks noRot="1" noChangeAspect="1" noMove="1" noResize="1" noEditPoints="1" noAdjustHandles="1" noChangeArrowheads="1" noChangeShapeType="1" noTextEdit="1"/>
              </p:cNvSpPr>
              <p:nvPr/>
            </p:nvSpPr>
            <p:spPr>
              <a:xfrm>
                <a:off x="8081725" y="9280574"/>
                <a:ext cx="694229" cy="430887"/>
              </a:xfrm>
              <a:prstGeom prst="rect">
                <a:avLst/>
              </a:prstGeom>
              <a:blipFill>
                <a:blip r:embed="rId19"/>
                <a:stretch>
                  <a:fillRect l="-5357" r="-3571" b="-14286"/>
                </a:stretch>
              </a:blipFill>
            </p:spPr>
            <p:txBody>
              <a:bodyPr/>
              <a:lstStyle/>
              <a:p>
                <a:r>
                  <a:rPr lang="ja-JP" altLang="en-US">
                    <a:noFill/>
                  </a:rPr>
                  <a:t> </a:t>
                </a:r>
              </a:p>
            </p:txBody>
          </p:sp>
        </mc:Fallback>
      </mc:AlternateContent>
      <p:cxnSp>
        <p:nvCxnSpPr>
          <p:cNvPr id="288" name="直線矢印コネクタ 287">
            <a:extLst>
              <a:ext uri="{FF2B5EF4-FFF2-40B4-BE49-F238E27FC236}">
                <a16:creationId xmlns:a16="http://schemas.microsoft.com/office/drawing/2014/main" id="{2502D6C6-DBE8-343F-2691-09B277B83FD7}"/>
              </a:ext>
            </a:extLst>
          </p:cNvPr>
          <p:cNvCxnSpPr>
            <a:cxnSpLocks/>
            <a:stCxn id="270" idx="2"/>
            <a:endCxn id="296" idx="0"/>
          </p:cNvCxnSpPr>
          <p:nvPr/>
        </p:nvCxnSpPr>
        <p:spPr>
          <a:xfrm flipH="1">
            <a:off x="7979774" y="7528302"/>
            <a:ext cx="4943" cy="2224108"/>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0" name="直線矢印コネクタ 289">
            <a:extLst>
              <a:ext uri="{FF2B5EF4-FFF2-40B4-BE49-F238E27FC236}">
                <a16:creationId xmlns:a16="http://schemas.microsoft.com/office/drawing/2014/main" id="{7FEE215C-2EB2-4303-7B09-0AD03F2968FB}"/>
              </a:ext>
            </a:extLst>
          </p:cNvPr>
          <p:cNvCxnSpPr>
            <a:cxnSpLocks/>
            <a:stCxn id="276" idx="3"/>
            <a:endCxn id="293" idx="2"/>
          </p:cNvCxnSpPr>
          <p:nvPr/>
        </p:nvCxnSpPr>
        <p:spPr>
          <a:xfrm flipV="1">
            <a:off x="3013674" y="11352673"/>
            <a:ext cx="2533015"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1" name="直線矢印コネクタ 22">
            <a:extLst>
              <a:ext uri="{FF2B5EF4-FFF2-40B4-BE49-F238E27FC236}">
                <a16:creationId xmlns:a16="http://schemas.microsoft.com/office/drawing/2014/main" id="{97AE75E7-60DA-0E37-4526-AF103F1D9083}"/>
              </a:ext>
            </a:extLst>
          </p:cNvPr>
          <p:cNvCxnSpPr>
            <a:cxnSpLocks/>
            <a:stCxn id="293" idx="0"/>
            <a:endCxn id="299" idx="1"/>
          </p:cNvCxnSpPr>
          <p:nvPr/>
        </p:nvCxnSpPr>
        <p:spPr>
          <a:xfrm flipV="1">
            <a:off x="6978673" y="10733122"/>
            <a:ext cx="3125994" cy="619551"/>
          </a:xfrm>
          <a:prstGeom prst="bentConnector3">
            <a:avLst>
              <a:gd name="adj1" fmla="val 81502"/>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92" name="グループ化 291">
            <a:extLst>
              <a:ext uri="{FF2B5EF4-FFF2-40B4-BE49-F238E27FC236}">
                <a16:creationId xmlns:a16="http://schemas.microsoft.com/office/drawing/2014/main" id="{A3E80203-2F17-F70D-09E9-3A1EED2A87E4}"/>
              </a:ext>
            </a:extLst>
          </p:cNvPr>
          <p:cNvGrpSpPr/>
          <p:nvPr/>
        </p:nvGrpSpPr>
        <p:grpSpPr>
          <a:xfrm>
            <a:off x="5546689" y="10791397"/>
            <a:ext cx="1431984" cy="1122552"/>
            <a:chOff x="5794565" y="9611968"/>
            <a:chExt cx="1431984" cy="1122552"/>
          </a:xfrm>
        </p:grpSpPr>
        <p:sp>
          <p:nvSpPr>
            <p:cNvPr id="293" name="台形 292">
              <a:extLst>
                <a:ext uri="{FF2B5EF4-FFF2-40B4-BE49-F238E27FC236}">
                  <a16:creationId xmlns:a16="http://schemas.microsoft.com/office/drawing/2014/main" id="{B091EEA4-AB85-3AE7-8C1A-54E94199C420}"/>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4" name="テキスト ボックス 293">
                  <a:extLst>
                    <a:ext uri="{FF2B5EF4-FFF2-40B4-BE49-F238E27FC236}">
                      <a16:creationId xmlns:a16="http://schemas.microsoft.com/office/drawing/2014/main" id="{58F80D79-ED15-165A-100C-A1A6A666F595}"/>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294" name="テキスト ボックス 293">
                  <a:extLst>
                    <a:ext uri="{FF2B5EF4-FFF2-40B4-BE49-F238E27FC236}">
                      <a16:creationId xmlns:a16="http://schemas.microsoft.com/office/drawing/2014/main" id="{58F80D79-ED15-165A-100C-A1A6A666F595}"/>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0"/>
                  <a:stretch>
                    <a:fillRect l="-6364" r="-5455" b="-5714"/>
                  </a:stretch>
                </a:blipFill>
              </p:spPr>
              <p:txBody>
                <a:bodyPr/>
                <a:lstStyle/>
                <a:p>
                  <a:r>
                    <a:rPr lang="ja-JP" altLang="en-US">
                      <a:noFill/>
                    </a:rPr>
                    <a:t> </a:t>
                  </a:r>
                </a:p>
              </p:txBody>
            </p:sp>
          </mc:Fallback>
        </mc:AlternateContent>
      </p:grpSp>
      <p:grpSp>
        <p:nvGrpSpPr>
          <p:cNvPr id="295" name="グループ化 294">
            <a:extLst>
              <a:ext uri="{FF2B5EF4-FFF2-40B4-BE49-F238E27FC236}">
                <a16:creationId xmlns:a16="http://schemas.microsoft.com/office/drawing/2014/main" id="{397F1010-BEED-3815-94C9-7AF896AE9D6F}"/>
              </a:ext>
            </a:extLst>
          </p:cNvPr>
          <p:cNvGrpSpPr/>
          <p:nvPr/>
        </p:nvGrpSpPr>
        <p:grpSpPr>
          <a:xfrm>
            <a:off x="7008274" y="9752410"/>
            <a:ext cx="1943000" cy="719356"/>
            <a:chOff x="3749692" y="11369202"/>
            <a:chExt cx="1943000" cy="719356"/>
          </a:xfrm>
        </p:grpSpPr>
        <p:sp>
          <p:nvSpPr>
            <p:cNvPr id="296" name="正方形/長方形 295">
              <a:extLst>
                <a:ext uri="{FF2B5EF4-FFF2-40B4-BE49-F238E27FC236}">
                  <a16:creationId xmlns:a16="http://schemas.microsoft.com/office/drawing/2014/main" id="{25C8505A-7B66-65A3-DBE2-F7B307A92800}"/>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297" name="テキスト ボックス 296">
                  <a:extLst>
                    <a:ext uri="{FF2B5EF4-FFF2-40B4-BE49-F238E27FC236}">
                      <a16:creationId xmlns:a16="http://schemas.microsoft.com/office/drawing/2014/main" id="{93D74842-23A3-2736-F957-263CAB46B80C}"/>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297" name="テキスト ボックス 296">
                  <a:extLst>
                    <a:ext uri="{FF2B5EF4-FFF2-40B4-BE49-F238E27FC236}">
                      <a16:creationId xmlns:a16="http://schemas.microsoft.com/office/drawing/2014/main" id="{93D74842-23A3-2736-F957-263CAB46B80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1"/>
                  <a:stretch>
                    <a:fillRect b="-5714"/>
                  </a:stretch>
                </a:blipFill>
              </p:spPr>
              <p:txBody>
                <a:bodyPr/>
                <a:lstStyle/>
                <a:p>
                  <a:r>
                    <a:rPr lang="ja-JP" altLang="en-US">
                      <a:noFill/>
                    </a:rPr>
                    <a:t> </a:t>
                  </a:r>
                </a:p>
              </p:txBody>
            </p:sp>
          </mc:Fallback>
        </mc:AlternateContent>
      </p:grpSp>
      <p:grpSp>
        <p:nvGrpSpPr>
          <p:cNvPr id="298" name="グループ化 297">
            <a:extLst>
              <a:ext uri="{FF2B5EF4-FFF2-40B4-BE49-F238E27FC236}">
                <a16:creationId xmlns:a16="http://schemas.microsoft.com/office/drawing/2014/main" id="{9E89BA2D-D6D2-593D-B1EF-B741896D6A05}"/>
              </a:ext>
            </a:extLst>
          </p:cNvPr>
          <p:cNvGrpSpPr/>
          <p:nvPr/>
        </p:nvGrpSpPr>
        <p:grpSpPr>
          <a:xfrm>
            <a:off x="10104667" y="10373444"/>
            <a:ext cx="1943000" cy="719356"/>
            <a:chOff x="3749692" y="11369202"/>
            <a:chExt cx="1943000" cy="719356"/>
          </a:xfrm>
        </p:grpSpPr>
        <p:sp>
          <p:nvSpPr>
            <p:cNvPr id="299" name="正方形/長方形 298">
              <a:extLst>
                <a:ext uri="{FF2B5EF4-FFF2-40B4-BE49-F238E27FC236}">
                  <a16:creationId xmlns:a16="http://schemas.microsoft.com/office/drawing/2014/main" id="{879CE573-44C1-B764-878B-F3A54F5C74C6}"/>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300" name="テキスト ボックス 299">
                  <a:extLst>
                    <a:ext uri="{FF2B5EF4-FFF2-40B4-BE49-F238E27FC236}">
                      <a16:creationId xmlns:a16="http://schemas.microsoft.com/office/drawing/2014/main" id="{7440FC71-87C8-A4C2-1E2D-FC670DDB0E47}"/>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300" name="テキスト ボックス 299">
                  <a:extLst>
                    <a:ext uri="{FF2B5EF4-FFF2-40B4-BE49-F238E27FC236}">
                      <a16:creationId xmlns:a16="http://schemas.microsoft.com/office/drawing/2014/main" id="{7440FC71-87C8-A4C2-1E2D-FC670DDB0E47}"/>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22"/>
                  <a:stretch>
                    <a:fillRect b="-5714"/>
                  </a:stretch>
                </a:blipFill>
              </p:spPr>
              <p:txBody>
                <a:bodyPr/>
                <a:lstStyle/>
                <a:p>
                  <a:r>
                    <a:rPr lang="ja-JP" altLang="en-US">
                      <a:noFill/>
                    </a:rPr>
                    <a:t> </a:t>
                  </a:r>
                </a:p>
              </p:txBody>
            </p:sp>
          </mc:Fallback>
        </mc:AlternateContent>
      </p:grpSp>
      <p:cxnSp>
        <p:nvCxnSpPr>
          <p:cNvPr id="301" name="直線矢印コネクタ 300">
            <a:extLst>
              <a:ext uri="{FF2B5EF4-FFF2-40B4-BE49-F238E27FC236}">
                <a16:creationId xmlns:a16="http://schemas.microsoft.com/office/drawing/2014/main" id="{86FEAC7B-8D99-59A9-EDFA-226FFC4EB47B}"/>
              </a:ext>
            </a:extLst>
          </p:cNvPr>
          <p:cNvCxnSpPr>
            <a:cxnSpLocks/>
            <a:stCxn id="296" idx="2"/>
          </p:cNvCxnSpPr>
          <p:nvPr/>
        </p:nvCxnSpPr>
        <p:spPr>
          <a:xfrm>
            <a:off x="7979774" y="10471766"/>
            <a:ext cx="0" cy="1635743"/>
          </a:xfrm>
          <a:prstGeom prst="straightConnector1">
            <a:avLst/>
          </a:prstGeom>
          <a:ln w="285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421" name="表 255">
            <a:extLst>
              <a:ext uri="{FF2B5EF4-FFF2-40B4-BE49-F238E27FC236}">
                <a16:creationId xmlns:a16="http://schemas.microsoft.com/office/drawing/2014/main" id="{9E9B6337-A505-26AE-A8FC-9981C77C4405}"/>
              </a:ext>
            </a:extLst>
          </p:cNvPr>
          <p:cNvGraphicFramePr>
            <a:graphicFrameLocks noGrp="1"/>
          </p:cNvGraphicFramePr>
          <p:nvPr>
            <p:extLst>
              <p:ext uri="{D42A27DB-BD31-4B8C-83A1-F6EECF244321}">
                <p14:modId xmlns:p14="http://schemas.microsoft.com/office/powerpoint/2010/main" val="1347932381"/>
              </p:ext>
            </p:extLst>
          </p:nvPr>
        </p:nvGraphicFramePr>
        <p:xfrm>
          <a:off x="15329206" y="37152041"/>
          <a:ext cx="14557141" cy="3051616"/>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4533">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19028">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これが私の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スタンド</a:t>
                      </a:r>
                    </a:p>
                  </a:txBody>
                  <a:tcPr anchor="ctr"/>
                </a:tc>
                <a:extLst>
                  <a:ext uri="{0D108BD9-81ED-4DB2-BD59-A6C34878D82A}">
                    <a16:rowId xmlns:a16="http://schemas.microsoft.com/office/drawing/2014/main" val="2587712661"/>
                  </a:ext>
                </a:extLst>
              </a:tr>
              <a:tr h="819027">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おれのボケに対する</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評価</a:t>
                      </a:r>
                    </a:p>
                  </a:txBody>
                  <a:tcPr anchor="ctr"/>
                </a:tc>
                <a:extLst>
                  <a:ext uri="{0D108BD9-81ED-4DB2-BD59-A6C34878D82A}">
                    <a16:rowId xmlns:a16="http://schemas.microsoft.com/office/drawing/2014/main" val="686941759"/>
                  </a:ext>
                </a:extLst>
              </a:tr>
              <a:tr h="819028">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このとおり忙しいんだから早く</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宿題</a:t>
                      </a:r>
                      <a:r>
                        <a:rPr kumimoji="1" lang="ja-JP" altLang="en-US" sz="2800" spc="-100" baseline="0">
                          <a:latin typeface="UD Digi Kyokasho NK-R" panose="02020400000000000000" pitchFamily="18" charset="-128"/>
                          <a:ea typeface="UD Digi Kyokasho NK-R" panose="02020400000000000000" pitchFamily="18" charset="-128"/>
                        </a:rPr>
                        <a:t>を</a:t>
                      </a:r>
                    </a:p>
                  </a:txBody>
                  <a:tcPr anchor="ctr"/>
                </a:tc>
                <a:extLst>
                  <a:ext uri="{0D108BD9-81ED-4DB2-BD59-A6C34878D82A}">
                    <a16:rowId xmlns:a16="http://schemas.microsoft.com/office/drawing/2014/main" val="1783522377"/>
                  </a:ext>
                </a:extLst>
              </a:tr>
            </a:tbl>
          </a:graphicData>
        </a:graphic>
      </p:graphicFrame>
      <p:pic>
        <p:nvPicPr>
          <p:cNvPr id="19" name="図 18">
            <a:extLst>
              <a:ext uri="{FF2B5EF4-FFF2-40B4-BE49-F238E27FC236}">
                <a16:creationId xmlns:a16="http://schemas.microsoft.com/office/drawing/2014/main" id="{C0BDE784-B10D-2778-AC98-505AD98FC1C5}"/>
              </a:ext>
            </a:extLst>
          </p:cNvPr>
          <p:cNvPicPr>
            <a:picLocks noChangeAspect="1"/>
          </p:cNvPicPr>
          <p:nvPr/>
        </p:nvPicPr>
        <p:blipFill>
          <a:blip r:embed="rId23"/>
          <a:stretch>
            <a:fillRect/>
          </a:stretch>
        </p:blipFill>
        <p:spPr>
          <a:xfrm>
            <a:off x="15913172" y="37783043"/>
            <a:ext cx="2402435" cy="2402435"/>
          </a:xfrm>
          <a:prstGeom prst="rect">
            <a:avLst/>
          </a:prstGeom>
        </p:spPr>
      </p:pic>
      <p:grpSp>
        <p:nvGrpSpPr>
          <p:cNvPr id="16" name="グループ化 15">
            <a:extLst>
              <a:ext uri="{FF2B5EF4-FFF2-40B4-BE49-F238E27FC236}">
                <a16:creationId xmlns:a16="http://schemas.microsoft.com/office/drawing/2014/main" id="{616ED7B0-C8FA-C46D-B08B-23B37E96A617}"/>
              </a:ext>
            </a:extLst>
          </p:cNvPr>
          <p:cNvGrpSpPr/>
          <p:nvPr/>
        </p:nvGrpSpPr>
        <p:grpSpPr>
          <a:xfrm>
            <a:off x="212936" y="23446093"/>
            <a:ext cx="14760000" cy="8520674"/>
            <a:chOff x="191499" y="4692374"/>
            <a:chExt cx="14760000" cy="8520674"/>
          </a:xfrm>
        </p:grpSpPr>
        <p:sp>
          <p:nvSpPr>
            <p:cNvPr id="17" name="四角形: 角を丸くする 29">
              <a:extLst>
                <a:ext uri="{FF2B5EF4-FFF2-40B4-BE49-F238E27FC236}">
                  <a16:creationId xmlns:a16="http://schemas.microsoft.com/office/drawing/2014/main" id="{4B05E3D0-4699-E5A1-64BB-5A1CFC63D341}"/>
                </a:ext>
              </a:extLst>
            </p:cNvPr>
            <p:cNvSpPr/>
            <p:nvPr/>
          </p:nvSpPr>
          <p:spPr>
            <a:xfrm>
              <a:off x="191499" y="5101306"/>
              <a:ext cx="14760000" cy="8063676"/>
            </a:xfrm>
            <a:prstGeom prst="roundRect">
              <a:avLst>
                <a:gd name="adj" fmla="val 2868"/>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20" name="四角形: 角を丸くする 30">
              <a:extLst>
                <a:ext uri="{FF2B5EF4-FFF2-40B4-BE49-F238E27FC236}">
                  <a16:creationId xmlns:a16="http://schemas.microsoft.com/office/drawing/2014/main" id="{1B9C66BC-7CF3-4C13-C82B-343E7DF3E09D}"/>
                </a:ext>
              </a:extLst>
            </p:cNvPr>
            <p:cNvSpPr/>
            <p:nvPr/>
          </p:nvSpPr>
          <p:spPr>
            <a:xfrm>
              <a:off x="506889" y="4692374"/>
              <a:ext cx="2745816" cy="809753"/>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提案手法</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8103660E-7864-B952-E9D4-8B1BFBE455FD}"/>
                    </a:ext>
                  </a:extLst>
                </p:cNvPr>
                <p:cNvSpPr txBox="1"/>
                <p:nvPr/>
              </p:nvSpPr>
              <p:spPr>
                <a:xfrm>
                  <a:off x="318217" y="5734078"/>
                  <a:ext cx="14633281" cy="7478970"/>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の画像を学習した</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a:t>
                  </a:r>
                  <a:r>
                    <a:rPr lang="ja-JP" altLang="en-US" sz="2800">
                      <a:solidFill>
                        <a:srgbClr val="FFC000"/>
                      </a:solidFill>
                      <a:latin typeface="UD Digi Kyokasho NK-R" panose="02020400000000000000" pitchFamily="18" charset="-128"/>
                      <a:ea typeface="UD Digi Kyokasho NK-R" panose="02020400000000000000" pitchFamily="18" charset="-128"/>
                    </a:rPr>
                    <a:t>エンコーダ</a:t>
                  </a:r>
                  <a:r>
                    <a:rPr lang="ja-JP" altLang="en-US" sz="2800">
                      <a:latin typeface="UD Digi Kyokasho NK-R" panose="02020400000000000000" pitchFamily="18" charset="-128"/>
                      <a:ea typeface="UD Digi Kyokasho NK-R" panose="02020400000000000000" pitchFamily="18" charset="-128"/>
                    </a:rPr>
                    <a:t>を使用</a:t>
                  </a:r>
                  <a:r>
                    <a:rPr lang="en-US" altLang="ja-JP" sz="2800" dirty="0">
                      <a:latin typeface="UD Digi Kyokasho NK-R" panose="02020400000000000000" pitchFamily="18" charset="-128"/>
                      <a:ea typeface="UD Digi Kyokasho NK-R" panose="02020400000000000000" pitchFamily="18" charset="-128"/>
                    </a:rPr>
                    <a:t>[2]</a:t>
                  </a:r>
                </a:p>
                <a:p>
                  <a:pPr lvl="1"/>
                  <a:r>
                    <a:rPr lang="ja-JP" altLang="en-US" sz="2800">
                      <a:latin typeface="UD Digi Kyokasho NK-R" panose="02020400000000000000" pitchFamily="18" charset="-128"/>
                      <a:ea typeface="UD Digi Kyokasho NK-R" panose="02020400000000000000" pitchFamily="18" charset="-128"/>
                    </a:rPr>
                    <a:t>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bokete</a:t>
                  </a:r>
                  <a:r>
                    <a:rPr lang="ja-JP" altLang="en-US" sz="2800">
                      <a:latin typeface="UD Digi Kyokasho NK-R" panose="02020400000000000000" pitchFamily="18" charset="-128"/>
                      <a:ea typeface="UD Digi Kyokasho NK-R" panose="02020400000000000000" pitchFamily="18" charset="-128"/>
                    </a:rPr>
                    <a:t>のデータに適したエンコーダを用いることで，高精度に学習できることが期待できる</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デバイスに適した性能のエンコーダを用いることができる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デメリット</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を事前に学習する必要がある</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3200" dirty="0" err="1">
                      <a:latin typeface="UD Digi Kyokasho NK-R" panose="02020400000000000000" pitchFamily="18" charset="-128"/>
                      <a:ea typeface="UD Digi Kyokasho NK-R" panose="02020400000000000000" pitchFamily="18" charset="-128"/>
                    </a:rPr>
                    <a:t>AutoEncoder</a:t>
                  </a:r>
                  <a:r>
                    <a:rPr lang="en-US" altLang="ja-JP" sz="3200" dirty="0">
                      <a:latin typeface="UD Digi Kyokasho NK-R" panose="02020400000000000000" pitchFamily="18" charset="-128"/>
                      <a:ea typeface="UD Digi Kyokasho NK-R" panose="02020400000000000000" pitchFamily="18" charset="-128"/>
                    </a:rPr>
                    <a:t>[4]</a:t>
                  </a:r>
                </a:p>
                <a:p>
                  <a:pPr lvl="2"/>
                  <a:r>
                    <a:rPr lang="ja-JP" altLang="en-US" sz="2800">
                      <a:latin typeface="UD Digi Kyokasho NK-R" panose="02020400000000000000" pitchFamily="18" charset="-128"/>
                      <a:ea typeface="UD Digi Kyokasho NK-R" panose="02020400000000000000" pitchFamily="18" charset="-128"/>
                    </a:rPr>
                    <a:t>データの次元圧縮や， 特徴抽出が可能</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学習時にデータに対するアノテーションを必要としない</a:t>
                  </a:r>
                  <a:endParaRPr lang="en-US" altLang="ja-JP" sz="2800" dirty="0">
                    <a:latin typeface="UD Digi Kyokasho NK-R" panose="02020400000000000000" pitchFamily="18" charset="-128"/>
                    <a:ea typeface="UD Digi Kyokasho NK-R" panose="02020400000000000000" pitchFamily="18" charset="-128"/>
                  </a:endParaRPr>
                </a:p>
                <a:p>
                  <a:pPr lvl="2"/>
                  <a:r>
                    <a:rPr lang="ja-JP" altLang="en-US" sz="2800">
                      <a:latin typeface="UD Digi Kyokasho NK-R" panose="02020400000000000000" pitchFamily="18" charset="-128"/>
                      <a:ea typeface="UD Digi Kyokasho NK-R" panose="02020400000000000000" pitchFamily="18" charset="-128"/>
                    </a:rPr>
                    <a:t>任意の構造のエンコーダ・デコーダを定義できる</a:t>
                  </a:r>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2"/>
                  <a:endParaRPr lang="en-US" altLang="ja-JP" sz="28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smtClean="0">
                          <a:latin typeface="Cambria Math" panose="02040503050406030204" pitchFamily="18" charset="0"/>
                        </a:rPr>
                        <m:t>𝐼</m:t>
                      </m:r>
                    </m:oMath>
                  </a14:m>
                  <a:r>
                    <a:rPr kumimoji="1" lang="en-US" altLang="ja-JP" sz="2800" dirty="0">
                      <a:latin typeface="UD Digi Kyokasho NK-R" panose="02020400000000000000" pitchFamily="18" charset="-128"/>
                      <a:ea typeface="UD Digi Kyokasho NK-R" panose="02020400000000000000" pitchFamily="18" charset="-128"/>
                    </a:rPr>
                    <a:t> : </a:t>
                  </a:r>
                  <a:r>
                    <a:rPr kumimoji="1" lang="ja-JP" altLang="en-US" sz="2800">
                      <a:latin typeface="UD Digi Kyokasho NK-R" panose="02020400000000000000" pitchFamily="18" charset="-128"/>
                      <a:ea typeface="UD Digi Kyokasho NK-R" panose="02020400000000000000" pitchFamily="18" charset="-128"/>
                    </a:rPr>
                    <a:t>入力</a:t>
                  </a:r>
                  <a:r>
                    <a:rPr kumimoji="1" lang="en-US" altLang="ja-JP" sz="2800" dirty="0">
                      <a:latin typeface="UD Digi Kyokasho NK-R" panose="02020400000000000000" pitchFamily="18" charset="-128"/>
                      <a:ea typeface="UD Digi Kyokasho NK-R" panose="02020400000000000000" pitchFamily="18" charset="-128"/>
                    </a:rPr>
                    <a:t>, </a:t>
                  </a:r>
                  <a14:m>
                    <m:oMath xmlns:m="http://schemas.openxmlformats.org/officeDocument/2006/math">
                      <m:r>
                        <a:rPr kumimoji="1" lang="en-US" altLang="ja-JP" sz="2800" i="1">
                          <a:latin typeface="Cambria Math" panose="02040503050406030204" pitchFamily="18" charset="0"/>
                        </a:rPr>
                        <m:t>𝑧</m:t>
                      </m:r>
                    </m:oMath>
                  </a14:m>
                  <a:r>
                    <a:rPr lang="en-US" altLang="ja-JP" sz="2800" dirty="0">
                      <a:latin typeface="UD Digi Kyokasho NK-R" panose="02020400000000000000" pitchFamily="18" charset="-128"/>
                      <a:ea typeface="UD Digi Kyokasho NK-R" panose="02020400000000000000" pitchFamily="18" charset="-128"/>
                    </a:rPr>
                    <a:t> : </a:t>
                  </a:r>
                  <a:r>
                    <a:rPr lang="ja-JP" altLang="en-US" sz="2800">
                      <a:latin typeface="UD Digi Kyokasho NK-R" panose="02020400000000000000" pitchFamily="18" charset="-128"/>
                      <a:ea typeface="UD Digi Kyokasho NK-R" panose="02020400000000000000" pitchFamily="18" charset="-128"/>
                    </a:rPr>
                    <a:t>特徴量</a:t>
                  </a:r>
                  <a:endParaRPr lang="en-US" altLang="ja-JP" sz="2800" b="1" dirty="0">
                    <a:latin typeface="UD Digi Kyokasho NK-R" panose="02020400000000000000" pitchFamily="18" charset="-128"/>
                    <a:ea typeface="UD Digi Kyokasho NK-R" panose="02020400000000000000" pitchFamily="18" charset="-128"/>
                  </a:endParaRPr>
                </a:p>
              </p:txBody>
            </p:sp>
          </mc:Choice>
          <mc:Fallback xmlns="">
            <p:sp>
              <p:nvSpPr>
                <p:cNvPr id="21" name="テキスト ボックス 20">
                  <a:extLst>
                    <a:ext uri="{FF2B5EF4-FFF2-40B4-BE49-F238E27FC236}">
                      <a16:creationId xmlns:a16="http://schemas.microsoft.com/office/drawing/2014/main" id="{8103660E-7864-B952-E9D4-8B1BFBE455FD}"/>
                    </a:ext>
                  </a:extLst>
                </p:cNvPr>
                <p:cNvSpPr txBox="1">
                  <a:spLocks noRot="1" noChangeAspect="1" noMove="1" noResize="1" noEditPoints="1" noAdjustHandles="1" noChangeArrowheads="1" noChangeShapeType="1" noTextEdit="1"/>
                </p:cNvSpPr>
                <p:nvPr/>
              </p:nvSpPr>
              <p:spPr>
                <a:xfrm>
                  <a:off x="318217" y="5734078"/>
                  <a:ext cx="14633281" cy="7478970"/>
                </a:xfrm>
                <a:prstGeom prst="rect">
                  <a:avLst/>
                </a:prstGeom>
                <a:blipFill>
                  <a:blip r:embed="rId24"/>
                  <a:stretch>
                    <a:fillRect t="-1017" b="-1186"/>
                  </a:stretch>
                </a:blipFill>
              </p:spPr>
              <p:txBody>
                <a:bodyPr/>
                <a:lstStyle/>
                <a:p>
                  <a:r>
                    <a:rPr lang="ja-JP" altLang="en-US">
                      <a:noFill/>
                    </a:rPr>
                    <a:t> </a:t>
                  </a:r>
                </a:p>
              </p:txBody>
            </p:sp>
          </mc:Fallback>
        </mc:AlternateContent>
      </p:grpSp>
      <p:sp>
        <p:nvSpPr>
          <p:cNvPr id="71" name="正方形/長方形 70">
            <a:extLst>
              <a:ext uri="{FF2B5EF4-FFF2-40B4-BE49-F238E27FC236}">
                <a16:creationId xmlns:a16="http://schemas.microsoft.com/office/drawing/2014/main" id="{C1922F36-5D13-A2B0-A6B8-8A3B6DDAC105}"/>
              </a:ext>
            </a:extLst>
          </p:cNvPr>
          <p:cNvSpPr/>
          <p:nvPr/>
        </p:nvSpPr>
        <p:spPr>
          <a:xfrm>
            <a:off x="4690186" y="29859810"/>
            <a:ext cx="1796586" cy="1374387"/>
          </a:xfrm>
          <a:prstGeom prst="rect">
            <a:avLst/>
          </a:prstGeom>
          <a:solidFill>
            <a:srgbClr val="FFC000"/>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E6ABED7C-E5B2-78C3-4EBE-4A7252D7FCEE}"/>
              </a:ext>
            </a:extLst>
          </p:cNvPr>
          <p:cNvGrpSpPr/>
          <p:nvPr/>
        </p:nvGrpSpPr>
        <p:grpSpPr>
          <a:xfrm>
            <a:off x="1545856" y="29784965"/>
            <a:ext cx="1496736" cy="1496736"/>
            <a:chOff x="1545856" y="16973525"/>
            <a:chExt cx="1496736" cy="1496736"/>
          </a:xfrm>
        </p:grpSpPr>
        <p:pic>
          <p:nvPicPr>
            <p:cNvPr id="24" name="図 23" descr="帽子を被っている女性&#10;&#10;自動的に生成された説明">
              <a:extLst>
                <a:ext uri="{FF2B5EF4-FFF2-40B4-BE49-F238E27FC236}">
                  <a16:creationId xmlns:a16="http://schemas.microsoft.com/office/drawing/2014/main" id="{F4DBBA9F-0A23-EE52-49CE-26421790D6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C1C759C4-0F65-CC32-E87F-475E9C5143BC}"/>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25" name="テキスト ボックス 24">
                  <a:extLst>
                    <a:ext uri="{FF2B5EF4-FFF2-40B4-BE49-F238E27FC236}">
                      <a16:creationId xmlns:a16="http://schemas.microsoft.com/office/drawing/2014/main" id="{C1C759C4-0F65-CC32-E87F-475E9C5143BC}"/>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5"/>
                  <a:stretch>
                    <a:fillRect b="-5714"/>
                  </a:stretch>
                </a:blipFill>
              </p:spPr>
              <p:txBody>
                <a:bodyPr/>
                <a:lstStyle/>
                <a:p>
                  <a:r>
                    <a:rPr lang="ja-JP" altLang="en-US">
                      <a:noFill/>
                    </a:rPr>
                    <a:t> </a:t>
                  </a:r>
                </a:p>
              </p:txBody>
            </p:sp>
          </mc:Fallback>
        </mc:AlternateContent>
      </p:grpSp>
      <p:cxnSp>
        <p:nvCxnSpPr>
          <p:cNvPr id="38" name="直線矢印コネクタ 37">
            <a:extLst>
              <a:ext uri="{FF2B5EF4-FFF2-40B4-BE49-F238E27FC236}">
                <a16:creationId xmlns:a16="http://schemas.microsoft.com/office/drawing/2014/main" id="{E0A6D5F8-B787-79BA-13C2-9F0C284BFDB6}"/>
              </a:ext>
            </a:extLst>
          </p:cNvPr>
          <p:cNvCxnSpPr>
            <a:cxnSpLocks/>
            <a:stCxn id="24" idx="3"/>
            <a:endCxn id="41" idx="2"/>
          </p:cNvCxnSpPr>
          <p:nvPr/>
        </p:nvCxnSpPr>
        <p:spPr>
          <a:xfrm flipV="1">
            <a:off x="3042592" y="30526865"/>
            <a:ext cx="1853074" cy="64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9" name="グループ化 38">
            <a:extLst>
              <a:ext uri="{FF2B5EF4-FFF2-40B4-BE49-F238E27FC236}">
                <a16:creationId xmlns:a16="http://schemas.microsoft.com/office/drawing/2014/main" id="{25EB4B6D-2DC5-B7AC-41CE-055879FF73A2}"/>
              </a:ext>
            </a:extLst>
          </p:cNvPr>
          <p:cNvGrpSpPr/>
          <p:nvPr/>
        </p:nvGrpSpPr>
        <p:grpSpPr>
          <a:xfrm>
            <a:off x="4895666" y="29965589"/>
            <a:ext cx="1431984" cy="1122552"/>
            <a:chOff x="5794565" y="9611968"/>
            <a:chExt cx="1431984" cy="1122552"/>
          </a:xfrm>
        </p:grpSpPr>
        <p:sp>
          <p:nvSpPr>
            <p:cNvPr id="41" name="台形 40">
              <a:extLst>
                <a:ext uri="{FF2B5EF4-FFF2-40B4-BE49-F238E27FC236}">
                  <a16:creationId xmlns:a16="http://schemas.microsoft.com/office/drawing/2014/main" id="{D2837E79-FF3C-7953-9085-2F82397EE9D4}"/>
                </a:ext>
              </a:extLst>
            </p:cNvPr>
            <p:cNvSpPr/>
            <p:nvPr/>
          </p:nvSpPr>
          <p:spPr>
            <a:xfrm rot="54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52394F01-7B61-CA49-CE8E-F5865A3032DD}"/>
                    </a:ext>
                  </a:extLst>
                </p:cNvPr>
                <p:cNvSpPr txBox="1"/>
                <p:nvPr/>
              </p:nvSpPr>
              <p:spPr>
                <a:xfrm>
                  <a:off x="5827591" y="9955261"/>
                  <a:ext cx="1388072"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𝑒𝑛𝑐𝑜𝑑𝑒𝑟</m:t>
                        </m:r>
                      </m:oMath>
                    </m:oMathPara>
                  </a14:m>
                  <a:endParaRPr kumimoji="1" lang="ja-JP" altLang="en-US" sz="2800" dirty="0"/>
                </a:p>
              </p:txBody>
            </p:sp>
          </mc:Choice>
          <mc:Fallback xmlns="">
            <p:sp>
              <p:nvSpPr>
                <p:cNvPr id="42" name="テキスト ボックス 41">
                  <a:extLst>
                    <a:ext uri="{FF2B5EF4-FFF2-40B4-BE49-F238E27FC236}">
                      <a16:creationId xmlns:a16="http://schemas.microsoft.com/office/drawing/2014/main" id="{52394F01-7B61-CA49-CE8E-F5865A3032DD}"/>
                    </a:ext>
                  </a:extLst>
                </p:cNvPr>
                <p:cNvSpPr txBox="1">
                  <a:spLocks noRot="1" noChangeAspect="1" noMove="1" noResize="1" noEditPoints="1" noAdjustHandles="1" noChangeArrowheads="1" noChangeShapeType="1" noTextEdit="1"/>
                </p:cNvSpPr>
                <p:nvPr/>
              </p:nvSpPr>
              <p:spPr>
                <a:xfrm>
                  <a:off x="5827591" y="9955261"/>
                  <a:ext cx="1388072" cy="430887"/>
                </a:xfrm>
                <a:prstGeom prst="rect">
                  <a:avLst/>
                </a:prstGeom>
                <a:blipFill>
                  <a:blip r:embed="rId26"/>
                  <a:stretch>
                    <a:fillRect l="-6364" r="-5455" b="-5714"/>
                  </a:stretch>
                </a:blipFill>
              </p:spPr>
              <p:txBody>
                <a:bodyPr/>
                <a:lstStyle/>
                <a:p>
                  <a:r>
                    <a:rPr lang="ja-JP" altLang="en-US">
                      <a:noFill/>
                    </a:rPr>
                    <a:t> </a:t>
                  </a:r>
                </a:p>
              </p:txBody>
            </p:sp>
          </mc:Fallback>
        </mc:AlternateContent>
      </p:grp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F8BF2742-65B0-D356-0E9B-4A868A6BA9D5}"/>
                  </a:ext>
                </a:extLst>
              </p:cNvPr>
              <p:cNvSpPr txBox="1"/>
              <p:nvPr/>
            </p:nvSpPr>
            <p:spPr>
              <a:xfrm>
                <a:off x="7854200" y="30301327"/>
                <a:ext cx="26103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i="1" smtClean="0">
                          <a:latin typeface="Cambria Math" panose="02040503050406030204" pitchFamily="18" charset="0"/>
                        </a:rPr>
                        <m:t>𝑧</m:t>
                      </m:r>
                    </m:oMath>
                  </m:oMathPara>
                </a14:m>
                <a:endParaRPr kumimoji="1" lang="ja-JP" altLang="en-US" sz="2800" dirty="0"/>
              </a:p>
            </p:txBody>
          </p:sp>
        </mc:Choice>
        <mc:Fallback xmlns="">
          <p:sp>
            <p:nvSpPr>
              <p:cNvPr id="43" name="テキスト ボックス 42">
                <a:extLst>
                  <a:ext uri="{FF2B5EF4-FFF2-40B4-BE49-F238E27FC236}">
                    <a16:creationId xmlns:a16="http://schemas.microsoft.com/office/drawing/2014/main" id="{F8BF2742-65B0-D356-0E9B-4A868A6BA9D5}"/>
                  </a:ext>
                </a:extLst>
              </p:cNvPr>
              <p:cNvSpPr txBox="1">
                <a:spLocks noRot="1" noChangeAspect="1" noMove="1" noResize="1" noEditPoints="1" noAdjustHandles="1" noChangeArrowheads="1" noChangeShapeType="1" noTextEdit="1"/>
              </p:cNvSpPr>
              <p:nvPr/>
            </p:nvSpPr>
            <p:spPr>
              <a:xfrm>
                <a:off x="7854200" y="30301327"/>
                <a:ext cx="261034" cy="430887"/>
              </a:xfrm>
              <a:prstGeom prst="rect">
                <a:avLst/>
              </a:prstGeom>
              <a:blipFill>
                <a:blip r:embed="rId27"/>
                <a:stretch>
                  <a:fillRect l="-19048" r="-14286"/>
                </a:stretch>
              </a:blipFill>
            </p:spPr>
            <p:txBody>
              <a:bodyPr/>
              <a:lstStyle/>
              <a:p>
                <a:r>
                  <a:rPr lang="ja-JP" altLang="en-US">
                    <a:noFill/>
                  </a:rPr>
                  <a:t> </a:t>
                </a:r>
              </a:p>
            </p:txBody>
          </p:sp>
        </mc:Fallback>
      </mc:AlternateContent>
      <p:cxnSp>
        <p:nvCxnSpPr>
          <p:cNvPr id="44" name="直線矢印コネクタ 43">
            <a:extLst>
              <a:ext uri="{FF2B5EF4-FFF2-40B4-BE49-F238E27FC236}">
                <a16:creationId xmlns:a16="http://schemas.microsoft.com/office/drawing/2014/main" id="{581D1025-5FE8-93AE-EDEB-DAF3B14052DA}"/>
              </a:ext>
            </a:extLst>
          </p:cNvPr>
          <p:cNvCxnSpPr>
            <a:cxnSpLocks/>
            <a:stCxn id="42" idx="3"/>
            <a:endCxn id="43" idx="1"/>
          </p:cNvCxnSpPr>
          <p:nvPr/>
        </p:nvCxnSpPr>
        <p:spPr>
          <a:xfrm flipV="1">
            <a:off x="6316764" y="30516771"/>
            <a:ext cx="1537436" cy="75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グループ化 44">
            <a:extLst>
              <a:ext uri="{FF2B5EF4-FFF2-40B4-BE49-F238E27FC236}">
                <a16:creationId xmlns:a16="http://schemas.microsoft.com/office/drawing/2014/main" id="{714E1F2A-4569-4501-DB7F-9F33D9B0CEB0}"/>
              </a:ext>
            </a:extLst>
          </p:cNvPr>
          <p:cNvGrpSpPr/>
          <p:nvPr/>
        </p:nvGrpSpPr>
        <p:grpSpPr>
          <a:xfrm>
            <a:off x="9500859" y="29965589"/>
            <a:ext cx="1431984" cy="1122552"/>
            <a:chOff x="5794565" y="9611968"/>
            <a:chExt cx="1431984" cy="1122552"/>
          </a:xfrm>
        </p:grpSpPr>
        <p:sp>
          <p:nvSpPr>
            <p:cNvPr id="46" name="台形 45">
              <a:extLst>
                <a:ext uri="{FF2B5EF4-FFF2-40B4-BE49-F238E27FC236}">
                  <a16:creationId xmlns:a16="http://schemas.microsoft.com/office/drawing/2014/main" id="{5CAA1B4C-500A-B11C-53E1-5EA9ED4A7D95}"/>
                </a:ext>
              </a:extLst>
            </p:cNvPr>
            <p:cNvSpPr/>
            <p:nvPr/>
          </p:nvSpPr>
          <p:spPr>
            <a:xfrm rot="16200000">
              <a:off x="5949281" y="9457252"/>
              <a:ext cx="1122552" cy="1431984"/>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70680F1A-8CC2-FA82-6D68-8014CEE26FD4}"/>
                    </a:ext>
                  </a:extLst>
                </p:cNvPr>
                <p:cNvSpPr txBox="1"/>
                <p:nvPr/>
              </p:nvSpPr>
              <p:spPr>
                <a:xfrm>
                  <a:off x="5827591" y="9955261"/>
                  <a:ext cx="138967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𝑑𝑒𝑐𝑜𝑑𝑒𝑟</m:t>
                        </m:r>
                      </m:oMath>
                    </m:oMathPara>
                  </a14:m>
                  <a:endParaRPr kumimoji="1" lang="ja-JP" altLang="en-US" sz="2800" dirty="0"/>
                </a:p>
              </p:txBody>
            </p:sp>
          </mc:Choice>
          <mc:Fallback xmlns="">
            <p:sp>
              <p:nvSpPr>
                <p:cNvPr id="47" name="テキスト ボックス 46">
                  <a:extLst>
                    <a:ext uri="{FF2B5EF4-FFF2-40B4-BE49-F238E27FC236}">
                      <a16:creationId xmlns:a16="http://schemas.microsoft.com/office/drawing/2014/main" id="{70680F1A-8CC2-FA82-6D68-8014CEE26FD4}"/>
                    </a:ext>
                  </a:extLst>
                </p:cNvPr>
                <p:cNvSpPr txBox="1">
                  <a:spLocks noRot="1" noChangeAspect="1" noMove="1" noResize="1" noEditPoints="1" noAdjustHandles="1" noChangeArrowheads="1" noChangeShapeType="1" noTextEdit="1"/>
                </p:cNvSpPr>
                <p:nvPr/>
              </p:nvSpPr>
              <p:spPr>
                <a:xfrm>
                  <a:off x="5827591" y="9955261"/>
                  <a:ext cx="1389676" cy="430887"/>
                </a:xfrm>
                <a:prstGeom prst="rect">
                  <a:avLst/>
                </a:prstGeom>
                <a:blipFill>
                  <a:blip r:embed="rId28"/>
                  <a:stretch>
                    <a:fillRect l="-5405" r="-4505" b="-5714"/>
                  </a:stretch>
                </a:blipFill>
              </p:spPr>
              <p:txBody>
                <a:bodyPr/>
                <a:lstStyle/>
                <a:p>
                  <a:r>
                    <a:rPr lang="ja-JP" altLang="en-US">
                      <a:noFill/>
                    </a:rPr>
                    <a:t> </a:t>
                  </a:r>
                </a:p>
              </p:txBody>
            </p:sp>
          </mc:Fallback>
        </mc:AlternateContent>
      </p:grpSp>
      <p:cxnSp>
        <p:nvCxnSpPr>
          <p:cNvPr id="49" name="直線矢印コネクタ 48">
            <a:extLst>
              <a:ext uri="{FF2B5EF4-FFF2-40B4-BE49-F238E27FC236}">
                <a16:creationId xmlns:a16="http://schemas.microsoft.com/office/drawing/2014/main" id="{355260CC-C0E8-D419-E8DC-83D05DD6F323}"/>
              </a:ext>
            </a:extLst>
          </p:cNvPr>
          <p:cNvCxnSpPr>
            <a:cxnSpLocks/>
            <a:stCxn id="43" idx="3"/>
            <a:endCxn id="46" idx="0"/>
          </p:cNvCxnSpPr>
          <p:nvPr/>
        </p:nvCxnSpPr>
        <p:spPr>
          <a:xfrm>
            <a:off x="8115234" y="30516771"/>
            <a:ext cx="1385625" cy="1009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0" name="グループ化 49">
            <a:extLst>
              <a:ext uri="{FF2B5EF4-FFF2-40B4-BE49-F238E27FC236}">
                <a16:creationId xmlns:a16="http://schemas.microsoft.com/office/drawing/2014/main" id="{C833BA0A-A362-C813-3918-2250B5FCC100}"/>
              </a:ext>
            </a:extLst>
          </p:cNvPr>
          <p:cNvGrpSpPr/>
          <p:nvPr/>
        </p:nvGrpSpPr>
        <p:grpSpPr>
          <a:xfrm>
            <a:off x="12792225" y="29775957"/>
            <a:ext cx="1496736" cy="1496736"/>
            <a:chOff x="1545856" y="16973525"/>
            <a:chExt cx="1496736" cy="1496736"/>
          </a:xfrm>
        </p:grpSpPr>
        <p:pic>
          <p:nvPicPr>
            <p:cNvPr id="51" name="図 50" descr="帽子を被っている女性&#10;&#10;自動的に生成された説明">
              <a:extLst>
                <a:ext uri="{FF2B5EF4-FFF2-40B4-BE49-F238E27FC236}">
                  <a16:creationId xmlns:a16="http://schemas.microsoft.com/office/drawing/2014/main" id="{D04AAEC9-9912-214C-E5EB-C6671536A50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45856" y="16973525"/>
              <a:ext cx="1496736" cy="1496736"/>
            </a:xfrm>
            <a:prstGeom prst="rect">
              <a:avLst/>
            </a:prstGeom>
          </p:spPr>
        </p:pic>
        <mc:AlternateContent xmlns:mc="http://schemas.openxmlformats.org/markup-compatibility/2006" xmlns:a14="http://schemas.microsoft.com/office/drawing/2010/main">
          <mc:Choice Requires="a14">
            <p:sp>
              <p:nvSpPr>
                <p:cNvPr id="52" name="テキスト ボックス 51">
                  <a:extLst>
                    <a:ext uri="{FF2B5EF4-FFF2-40B4-BE49-F238E27FC236}">
                      <a16:creationId xmlns:a16="http://schemas.microsoft.com/office/drawing/2014/main" id="{1860838F-943D-7B64-F3C4-4F159BEC7B5E}"/>
                    </a:ext>
                  </a:extLst>
                </p:cNvPr>
                <p:cNvSpPr txBox="1"/>
                <p:nvPr/>
              </p:nvSpPr>
              <p:spPr>
                <a:xfrm>
                  <a:off x="2012926" y="17497442"/>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kumimoji="1" lang="en-US" altLang="ja-JP" sz="2800" i="1" smtClean="0">
                                <a:latin typeface="Cambria Math" panose="02040503050406030204" pitchFamily="18" charset="0"/>
                              </a:rPr>
                            </m:ctrlPr>
                          </m:sSupPr>
                          <m:e>
                            <m:r>
                              <a:rPr kumimoji="1" lang="en-US" altLang="ja-JP" sz="2800" b="1">
                                <a:latin typeface="Cambria Math" panose="02040503050406030204" pitchFamily="18" charset="0"/>
                              </a:rPr>
                              <m:t>𝐈</m:t>
                            </m:r>
                          </m:e>
                          <m:sup>
                            <m:r>
                              <a:rPr kumimoji="1" lang="en-US" altLang="ja-JP" sz="2800" b="0" i="0" smtClean="0">
                                <a:latin typeface="Cambria Math" panose="02040503050406030204" pitchFamily="18" charset="0"/>
                              </a:rPr>
                              <m:t>′</m:t>
                            </m:r>
                          </m:sup>
                        </m:sSup>
                      </m:oMath>
                    </m:oMathPara>
                  </a14:m>
                  <a:endParaRPr kumimoji="1" lang="ja-JP" altLang="en-US" sz="2800" dirty="0"/>
                </a:p>
              </p:txBody>
            </p:sp>
          </mc:Choice>
          <mc:Fallback xmlns="">
            <p:sp>
              <p:nvSpPr>
                <p:cNvPr id="52" name="テキスト ボックス 51">
                  <a:extLst>
                    <a:ext uri="{FF2B5EF4-FFF2-40B4-BE49-F238E27FC236}">
                      <a16:creationId xmlns:a16="http://schemas.microsoft.com/office/drawing/2014/main" id="{1860838F-943D-7B64-F3C4-4F159BEC7B5E}"/>
                    </a:ext>
                  </a:extLst>
                </p:cNvPr>
                <p:cNvSpPr txBox="1">
                  <a:spLocks noRot="1" noChangeAspect="1" noMove="1" noResize="1" noEditPoints="1" noAdjustHandles="1" noChangeArrowheads="1" noChangeShapeType="1" noTextEdit="1"/>
                </p:cNvSpPr>
                <p:nvPr/>
              </p:nvSpPr>
              <p:spPr>
                <a:xfrm>
                  <a:off x="2012926" y="17497442"/>
                  <a:ext cx="492507" cy="430887"/>
                </a:xfrm>
                <a:prstGeom prst="rect">
                  <a:avLst/>
                </a:prstGeom>
                <a:blipFill>
                  <a:blip r:embed="rId29"/>
                  <a:stretch>
                    <a:fillRect b="-5714"/>
                  </a:stretch>
                </a:blipFill>
              </p:spPr>
              <p:txBody>
                <a:bodyPr/>
                <a:lstStyle/>
                <a:p>
                  <a:r>
                    <a:rPr lang="ja-JP" altLang="en-US">
                      <a:noFill/>
                    </a:rPr>
                    <a:t> </a:t>
                  </a:r>
                </a:p>
              </p:txBody>
            </p:sp>
          </mc:Fallback>
        </mc:AlternateContent>
      </p:grpSp>
      <p:cxnSp>
        <p:nvCxnSpPr>
          <p:cNvPr id="53" name="直線矢印コネクタ 52">
            <a:extLst>
              <a:ext uri="{FF2B5EF4-FFF2-40B4-BE49-F238E27FC236}">
                <a16:creationId xmlns:a16="http://schemas.microsoft.com/office/drawing/2014/main" id="{5AAED562-D412-AFAE-2198-8120CD7A0264}"/>
              </a:ext>
            </a:extLst>
          </p:cNvPr>
          <p:cNvCxnSpPr>
            <a:cxnSpLocks/>
            <a:stCxn id="47" idx="3"/>
            <a:endCxn id="51" idx="1"/>
          </p:cNvCxnSpPr>
          <p:nvPr/>
        </p:nvCxnSpPr>
        <p:spPr>
          <a:xfrm flipV="1">
            <a:off x="10923561" y="30524325"/>
            <a:ext cx="1868664"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61" name="表 255">
            <a:extLst>
              <a:ext uri="{FF2B5EF4-FFF2-40B4-BE49-F238E27FC236}">
                <a16:creationId xmlns:a16="http://schemas.microsoft.com/office/drawing/2014/main" id="{C843D60C-48A5-B579-246D-9B7389C06D50}"/>
              </a:ext>
            </a:extLst>
          </p:cNvPr>
          <p:cNvGraphicFramePr>
            <a:graphicFrameLocks noGrp="1"/>
          </p:cNvGraphicFramePr>
          <p:nvPr>
            <p:extLst>
              <p:ext uri="{D42A27DB-BD31-4B8C-83A1-F6EECF244321}">
                <p14:modId xmlns:p14="http://schemas.microsoft.com/office/powerpoint/2010/main" val="503515025"/>
              </p:ext>
            </p:extLst>
          </p:nvPr>
        </p:nvGraphicFramePr>
        <p:xfrm>
          <a:off x="15338860" y="27807208"/>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夕飯はカレー</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しゃっくりが止まらない</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脱出イリュージョンをしている</a:t>
                      </a:r>
                    </a:p>
                  </a:txBody>
                  <a:tcPr anchor="ctr"/>
                </a:tc>
                <a:extLst>
                  <a:ext uri="{0D108BD9-81ED-4DB2-BD59-A6C34878D82A}">
                    <a16:rowId xmlns:a16="http://schemas.microsoft.com/office/drawing/2014/main" val="1783522377"/>
                  </a:ext>
                </a:extLst>
              </a:tr>
            </a:tbl>
          </a:graphicData>
        </a:graphic>
      </p:graphicFrame>
      <p:pic>
        <p:nvPicPr>
          <p:cNvPr id="63" name="図 62">
            <a:extLst>
              <a:ext uri="{FF2B5EF4-FFF2-40B4-BE49-F238E27FC236}">
                <a16:creationId xmlns:a16="http://schemas.microsoft.com/office/drawing/2014/main" id="{72294DBF-E76D-7A22-0EE6-F6AAE1E9F344}"/>
              </a:ext>
            </a:extLst>
          </p:cNvPr>
          <p:cNvPicPr>
            <a:picLocks noChangeAspect="1"/>
          </p:cNvPicPr>
          <p:nvPr/>
        </p:nvPicPr>
        <p:blipFill>
          <a:blip r:embed="rId30"/>
          <a:stretch>
            <a:fillRect/>
          </a:stretch>
        </p:blipFill>
        <p:spPr>
          <a:xfrm>
            <a:off x="15913172" y="34700177"/>
            <a:ext cx="2402435" cy="2402435"/>
          </a:xfrm>
          <a:prstGeom prst="rect">
            <a:avLst/>
          </a:prstGeom>
        </p:spPr>
      </p:pic>
      <p:grpSp>
        <p:nvGrpSpPr>
          <p:cNvPr id="3" name="グループ化 2">
            <a:extLst>
              <a:ext uri="{FF2B5EF4-FFF2-40B4-BE49-F238E27FC236}">
                <a16:creationId xmlns:a16="http://schemas.microsoft.com/office/drawing/2014/main" id="{168CDE1D-0483-4DD1-9189-15C555E4B8DB}"/>
              </a:ext>
            </a:extLst>
          </p:cNvPr>
          <p:cNvGrpSpPr/>
          <p:nvPr/>
        </p:nvGrpSpPr>
        <p:grpSpPr>
          <a:xfrm>
            <a:off x="212934" y="32051017"/>
            <a:ext cx="14760000" cy="8241483"/>
            <a:chOff x="191499" y="4380113"/>
            <a:chExt cx="14760000" cy="8241483"/>
          </a:xfrm>
        </p:grpSpPr>
        <p:sp>
          <p:nvSpPr>
            <p:cNvPr id="26" name="四角形: 角を丸くする 29">
              <a:extLst>
                <a:ext uri="{FF2B5EF4-FFF2-40B4-BE49-F238E27FC236}">
                  <a16:creationId xmlns:a16="http://schemas.microsoft.com/office/drawing/2014/main" id="{25578486-AE54-F401-84E1-743D19BB0E63}"/>
                </a:ext>
              </a:extLst>
            </p:cNvPr>
            <p:cNvSpPr/>
            <p:nvPr/>
          </p:nvSpPr>
          <p:spPr>
            <a:xfrm>
              <a:off x="191499" y="4755868"/>
              <a:ext cx="14760000" cy="7865728"/>
            </a:xfrm>
            <a:prstGeom prst="roundRect">
              <a:avLst>
                <a:gd name="adj" fmla="val 4013"/>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28" name="四角形: 角を丸くする 30">
              <a:extLst>
                <a:ext uri="{FF2B5EF4-FFF2-40B4-BE49-F238E27FC236}">
                  <a16:creationId xmlns:a16="http://schemas.microsoft.com/office/drawing/2014/main" id="{E224A970-D805-11AD-B747-72F186B2C6F1}"/>
                </a:ext>
              </a:extLst>
            </p:cNvPr>
            <p:cNvSpPr/>
            <p:nvPr/>
          </p:nvSpPr>
          <p:spPr>
            <a:xfrm>
              <a:off x="506890" y="4380113"/>
              <a:ext cx="2317446" cy="818741"/>
            </a:xfrm>
            <a:prstGeom prst="roundRect">
              <a:avLst/>
            </a:prstGeom>
            <a:solidFill>
              <a:schemeClr val="bg1"/>
            </a:solidFill>
            <a:ln w="762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4800">
                  <a:solidFill>
                    <a:schemeClr val="tx1"/>
                  </a:solidFill>
                  <a:latin typeface="UD デジタル 教科書体 NK-R" panose="02020400000000000000" pitchFamily="18" charset="-128"/>
                  <a:ea typeface="UD デジタル 教科書体 NK-R" panose="02020400000000000000" pitchFamily="18" charset="-128"/>
                </a:rPr>
                <a:t>本研究</a:t>
              </a:r>
              <a:endPar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endParaRPr>
            </a:p>
          </p:txBody>
        </p:sp>
        <p:sp>
          <p:nvSpPr>
            <p:cNvPr id="56" name="テキスト ボックス 55">
              <a:extLst>
                <a:ext uri="{FF2B5EF4-FFF2-40B4-BE49-F238E27FC236}">
                  <a16:creationId xmlns:a16="http://schemas.microsoft.com/office/drawing/2014/main" id="{3E0639EC-AD9A-45D2-E33E-F967EC141B0E}"/>
                </a:ext>
              </a:extLst>
            </p:cNvPr>
            <p:cNvSpPr txBox="1"/>
            <p:nvPr/>
          </p:nvSpPr>
          <p:spPr>
            <a:xfrm>
              <a:off x="318217" y="5198854"/>
              <a:ext cx="14633281" cy="4031873"/>
            </a:xfrm>
            <a:prstGeom prst="rect">
              <a:avLst/>
            </a:prstGeom>
            <a:noFill/>
          </p:spPr>
          <p:txBody>
            <a:bodyPr wrap="square">
              <a:spAutoFit/>
            </a:bodyPr>
            <a:lstStyle/>
            <a:p>
              <a:pPr lvl="1"/>
              <a:r>
                <a:rPr lang="en-US" altLang="ja-JP" sz="2800" dirty="0">
                  <a:latin typeface="UD Digi Kyokasho NK-R" panose="02020400000000000000" pitchFamily="18" charset="-128"/>
                  <a:ea typeface="UD Digi Kyokasho NK-R" panose="02020400000000000000" pitchFamily="18" charset="-128"/>
                </a:rPr>
                <a:t>[2]</a:t>
              </a:r>
              <a:r>
                <a:rPr lang="ja-JP" altLang="en-US" sz="2800">
                  <a:latin typeface="UD Digi Kyokasho NK-R" panose="02020400000000000000" pitchFamily="18" charset="-128"/>
                  <a:ea typeface="UD Digi Kyokasho NK-R" panose="02020400000000000000" pitchFamily="18" charset="-128"/>
                </a:rPr>
                <a:t>において</a:t>
              </a:r>
              <a:r>
                <a:rPr lang="en-US" altLang="ja-JP" sz="2800" dirty="0" err="1">
                  <a:latin typeface="UD Digi Kyokasho NK-R" panose="02020400000000000000" pitchFamily="18" charset="-128"/>
                  <a:ea typeface="UD Digi Kyokasho NK-R" panose="02020400000000000000" pitchFamily="18" charset="-128"/>
                </a:rPr>
                <a:t>AutoEncoder</a:t>
              </a:r>
              <a:r>
                <a:rPr lang="ja-JP" altLang="en-US" sz="2800">
                  <a:latin typeface="UD Digi Kyokasho NK-R" panose="02020400000000000000" pitchFamily="18" charset="-128"/>
                  <a:ea typeface="UD Digi Kyokasho NK-R" panose="02020400000000000000" pitchFamily="18" charset="-128"/>
                </a:rPr>
                <a:t>の最適な構造について言及は無い</a:t>
              </a:r>
              <a:endParaRPr lang="en-US" altLang="ja-JP" sz="2800" dirty="0">
                <a:latin typeface="UD Digi Kyokasho NK-R" panose="02020400000000000000" pitchFamily="18" charset="-128"/>
                <a:ea typeface="UD Digi Kyokasho NK-R" panose="02020400000000000000" pitchFamily="18" charset="-128"/>
              </a:endParaRPr>
            </a:p>
            <a:p>
              <a:pPr lvl="1" algn="ctr"/>
              <a:r>
                <a:rPr lang="ja-JP" altLang="en-US" sz="2800">
                  <a:latin typeface="UD Digi Kyokasho NK-R" panose="02020400000000000000" pitchFamily="18" charset="-128"/>
                  <a:ea typeface="UD Digi Kyokasho NK-R" panose="02020400000000000000" pitchFamily="18" charset="-128"/>
                </a:rPr>
                <a:t>↓</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3600" b="1">
                  <a:latin typeface="UD Digi Kyokasho NK-R" panose="02020400000000000000" pitchFamily="18" charset="-128"/>
                  <a:ea typeface="UD Digi Kyokasho NK-R" panose="02020400000000000000" pitchFamily="18" charset="-128"/>
                </a:rPr>
                <a:t>大喜利生成</a:t>
              </a:r>
              <a:r>
                <a:rPr lang="en-US" altLang="ja-JP" sz="3600" b="1" dirty="0">
                  <a:latin typeface="UD Digi Kyokasho NK-R" panose="02020400000000000000" pitchFamily="18" charset="-128"/>
                  <a:ea typeface="UD Digi Kyokasho NK-R" panose="02020400000000000000" pitchFamily="18" charset="-128"/>
                </a:rPr>
                <a:t>AI</a:t>
              </a:r>
              <a:r>
                <a:rPr lang="ja-JP" altLang="en-US" sz="3600" b="1">
                  <a:latin typeface="UD Digi Kyokasho NK-R" panose="02020400000000000000" pitchFamily="18" charset="-128"/>
                  <a:ea typeface="UD Digi Kyokasho NK-R" panose="02020400000000000000" pitchFamily="18" charset="-128"/>
                </a:rPr>
                <a:t>に適した</a:t>
              </a:r>
              <a:r>
                <a:rPr lang="en-US" altLang="ja-JP" sz="3600" b="1" dirty="0" err="1">
                  <a:latin typeface="UD Digi Kyokasho NK-R" panose="02020400000000000000" pitchFamily="18" charset="-128"/>
                  <a:ea typeface="UD Digi Kyokasho NK-R" panose="02020400000000000000" pitchFamily="18" charset="-128"/>
                </a:rPr>
                <a:t>AutoEncoder</a:t>
              </a:r>
              <a:r>
                <a:rPr lang="ja-JP" altLang="en-US" sz="3600" b="1">
                  <a:latin typeface="UD Digi Kyokasho NK-R" panose="02020400000000000000" pitchFamily="18" charset="-128"/>
                  <a:ea typeface="UD Digi Kyokasho NK-R" panose="02020400000000000000" pitchFamily="18" charset="-128"/>
                </a:rPr>
                <a:t>のエンコーダの構造を模索する</a:t>
              </a:r>
              <a:endParaRPr lang="en-US" altLang="ja-JP" sz="3600" b="1" dirty="0">
                <a:latin typeface="UD Digi Kyokasho NK-R" panose="02020400000000000000" pitchFamily="18" charset="-128"/>
                <a:ea typeface="UD Digi Kyokasho NK-R" panose="02020400000000000000" pitchFamily="18" charset="-128"/>
              </a:endParaRPr>
            </a:p>
            <a:p>
              <a:pPr lvl="1"/>
              <a:endParaRPr lang="en-US" altLang="ja-JP" sz="3600" dirty="0">
                <a:latin typeface="UD Digi Kyokasho NK-R" panose="02020400000000000000" pitchFamily="18" charset="-128"/>
                <a:ea typeface="UD Digi Kyokasho NK-R" panose="02020400000000000000" pitchFamily="18" charset="-128"/>
              </a:endParaRPr>
            </a:p>
            <a:p>
              <a:pPr lvl="1"/>
              <a:r>
                <a:rPr lang="ja-JP" altLang="en-US" sz="3200">
                  <a:latin typeface="UD Digi Kyokasho NK-R" panose="02020400000000000000" pitchFamily="18" charset="-128"/>
                  <a:ea typeface="UD Digi Kyokasho NK-R" panose="02020400000000000000" pitchFamily="18" charset="-128"/>
                </a:rPr>
                <a:t>データセット</a:t>
              </a:r>
              <a:endParaRPr lang="en-US" altLang="ja-JP" sz="4000" dirty="0">
                <a:latin typeface="UD Digi Kyokasho NK-R" panose="02020400000000000000" pitchFamily="18" charset="-128"/>
                <a:ea typeface="UD Digi Kyokasho NK-R" panose="02020400000000000000" pitchFamily="18" charset="-128"/>
              </a:endParaRPr>
            </a:p>
            <a:p>
              <a:pPr lvl="1"/>
              <a:r>
                <a:rPr lang="en-US" altLang="ja-JP" sz="2800" dirty="0">
                  <a:latin typeface="UD Digi Kyokasho NK-R" panose="02020400000000000000" pitchFamily="18" charset="-128"/>
                  <a:ea typeface="UD Digi Kyokasho NK-R" panose="02020400000000000000" pitchFamily="18" charset="-128"/>
                </a:rPr>
                <a:t>[1]</a:t>
              </a:r>
              <a:r>
                <a:rPr lang="ja-JP" altLang="en-US" sz="2800">
                  <a:latin typeface="UD Digi Kyokasho NK-R" panose="02020400000000000000" pitchFamily="18" charset="-128"/>
                  <a:ea typeface="UD Digi Kyokasho NK-R" panose="02020400000000000000" pitchFamily="18" charset="-128"/>
                </a:rPr>
                <a:t>に倣い</a:t>
              </a:r>
              <a:r>
                <a:rPr lang="en-US" altLang="ja-JP" sz="2800" dirty="0">
                  <a:latin typeface="UD Digi Kyokasho NK-R" panose="02020400000000000000" pitchFamily="18" charset="-128"/>
                  <a:ea typeface="UD Digi Kyokasho NK-R" panose="02020400000000000000" pitchFamily="18" charset="-128"/>
                </a:rPr>
                <a:t>, </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大喜利⇔画像データセットを作成</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画像</a:t>
              </a:r>
              <a:r>
                <a:rPr lang="en-US" altLang="ja-JP" sz="2800" dirty="0">
                  <a:latin typeface="UD Digi Kyokasho NK-R" panose="02020400000000000000" pitchFamily="18" charset="-128"/>
                  <a:ea typeface="UD Digi Kyokasho NK-R" panose="02020400000000000000" pitchFamily="18" charset="-128"/>
                </a:rPr>
                <a:t> : 88102</a:t>
              </a:r>
              <a:r>
                <a:rPr lang="ja-JP" altLang="en-US" sz="2800">
                  <a:latin typeface="UD Digi Kyokasho NK-R" panose="02020400000000000000" pitchFamily="18" charset="-128"/>
                  <a:ea typeface="UD Digi Kyokasho NK-R" panose="02020400000000000000" pitchFamily="18" charset="-128"/>
                </a:rPr>
                <a:t>枚</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大喜利</a:t>
              </a:r>
              <a:r>
                <a:rPr lang="en-US" altLang="ja-JP" sz="2800" dirty="0">
                  <a:latin typeface="UD Digi Kyokasho NK-R" panose="02020400000000000000" pitchFamily="18" charset="-128"/>
                  <a:ea typeface="UD Digi Kyokasho NK-R" panose="02020400000000000000" pitchFamily="18" charset="-128"/>
                </a:rPr>
                <a:t> : 759501</a:t>
              </a:r>
              <a:r>
                <a:rPr lang="ja-JP" altLang="en-US" sz="2800">
                  <a:latin typeface="UD Digi Kyokasho NK-R" panose="02020400000000000000" pitchFamily="18" charset="-128"/>
                  <a:ea typeface="UD Digi Kyokasho NK-R" panose="02020400000000000000" pitchFamily="18" charset="-128"/>
                </a:rPr>
                <a:t>文章</a:t>
              </a:r>
              <a:endParaRPr lang="en-US" altLang="ja-JP" sz="2800" dirty="0">
                <a:latin typeface="UD Digi Kyokasho NK-R" panose="02020400000000000000" pitchFamily="18" charset="-128"/>
                <a:ea typeface="UD Digi Kyokasho NK-R" panose="02020400000000000000" pitchFamily="18" charset="-128"/>
              </a:endParaRPr>
            </a:p>
            <a:p>
              <a:pPr lvl="1"/>
              <a:endParaRPr lang="en-US" altLang="ja-JP" sz="3600" dirty="0">
                <a:latin typeface="UD Digi Kyokasho NK-R" panose="02020400000000000000" pitchFamily="18" charset="-128"/>
                <a:ea typeface="UD Digi Kyokasho NK-R" panose="02020400000000000000" pitchFamily="18" charset="-128"/>
              </a:endParaRPr>
            </a:p>
          </p:txBody>
        </p:sp>
      </p:grpSp>
      <p:pic>
        <p:nvPicPr>
          <p:cNvPr id="62" name="図 61">
            <a:extLst>
              <a:ext uri="{FF2B5EF4-FFF2-40B4-BE49-F238E27FC236}">
                <a16:creationId xmlns:a16="http://schemas.microsoft.com/office/drawing/2014/main" id="{1CB59E49-E1BF-FC6F-0E23-04A3A5DB2B41}"/>
              </a:ext>
            </a:extLst>
          </p:cNvPr>
          <p:cNvPicPr>
            <a:picLocks noChangeAspect="1"/>
          </p:cNvPicPr>
          <p:nvPr/>
        </p:nvPicPr>
        <p:blipFill>
          <a:blip r:embed="rId31"/>
          <a:stretch>
            <a:fillRect/>
          </a:stretch>
        </p:blipFill>
        <p:spPr>
          <a:xfrm>
            <a:off x="15914716" y="19734566"/>
            <a:ext cx="13104761" cy="4120460"/>
          </a:xfrm>
          <a:prstGeom prst="rect">
            <a:avLst/>
          </a:prstGeom>
        </p:spPr>
      </p:pic>
      <p:graphicFrame>
        <p:nvGraphicFramePr>
          <p:cNvPr id="100" name="表 255">
            <a:extLst>
              <a:ext uri="{FF2B5EF4-FFF2-40B4-BE49-F238E27FC236}">
                <a16:creationId xmlns:a16="http://schemas.microsoft.com/office/drawing/2014/main" id="{4CE40C58-94E5-7912-7204-152EB1B23844}"/>
              </a:ext>
            </a:extLst>
          </p:cNvPr>
          <p:cNvGraphicFramePr>
            <a:graphicFrameLocks noGrp="1"/>
          </p:cNvGraphicFramePr>
          <p:nvPr/>
        </p:nvGraphicFramePr>
        <p:xfrm>
          <a:off x="15329206" y="24734581"/>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パンツの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すそ</a:t>
                      </a:r>
                      <a:r>
                        <a:rPr kumimoji="1" lang="ja-JP" altLang="en-US" sz="2800" spc="-100" baseline="0">
                          <a:latin typeface="UD Digi Kyokasho NK-R" panose="02020400000000000000" pitchFamily="18" charset="-128"/>
                          <a:ea typeface="UD Digi Kyokasho NK-R" panose="02020400000000000000" pitchFamily="18" charset="-128"/>
                        </a:rPr>
                        <a:t>がカピカピになっている</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出会い系で待ち合わせ</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子供の頃から</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ディフェンスに定評</a:t>
                      </a:r>
                      <a:r>
                        <a:rPr kumimoji="1" lang="ja-JP" altLang="en-US" sz="2800" spc="-100" baseline="0">
                          <a:solidFill>
                            <a:schemeClr val="tx1"/>
                          </a:solidFill>
                          <a:latin typeface="UD Digi Kyokasho NK-R" panose="02020400000000000000" pitchFamily="18" charset="-128"/>
                          <a:ea typeface="UD Digi Kyokasho NK-R" panose="02020400000000000000" pitchFamily="18" charset="-128"/>
                        </a:rPr>
                        <a:t>の</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ある</a:t>
                      </a:r>
                      <a:r>
                        <a:rPr kumimoji="1" lang="ja-JP" altLang="en-US" sz="2800" spc="-100" baseline="0">
                          <a:latin typeface="UD Digi Kyokasho NK-R" panose="02020400000000000000" pitchFamily="18" charset="-128"/>
                          <a:ea typeface="UD Digi Kyokasho NK-R" panose="02020400000000000000" pitchFamily="18" charset="-128"/>
                        </a:rPr>
                        <a:t>人</a:t>
                      </a:r>
                    </a:p>
                  </a:txBody>
                  <a:tcPr anchor="ctr"/>
                </a:tc>
                <a:extLst>
                  <a:ext uri="{0D108BD9-81ED-4DB2-BD59-A6C34878D82A}">
                    <a16:rowId xmlns:a16="http://schemas.microsoft.com/office/drawing/2014/main" val="1783522377"/>
                  </a:ext>
                </a:extLst>
              </a:tr>
            </a:tbl>
          </a:graphicData>
        </a:graphic>
      </p:graphicFrame>
      <p:pic>
        <p:nvPicPr>
          <p:cNvPr id="101" name="図 100">
            <a:extLst>
              <a:ext uri="{FF2B5EF4-FFF2-40B4-BE49-F238E27FC236}">
                <a16:creationId xmlns:a16="http://schemas.microsoft.com/office/drawing/2014/main" id="{28699951-E358-CA36-9EF8-425BF5D8B6BE}"/>
              </a:ext>
            </a:extLst>
          </p:cNvPr>
          <p:cNvPicPr>
            <a:picLocks noChangeAspect="1"/>
          </p:cNvPicPr>
          <p:nvPr/>
        </p:nvPicPr>
        <p:blipFill>
          <a:blip r:embed="rId32"/>
          <a:stretch>
            <a:fillRect/>
          </a:stretch>
        </p:blipFill>
        <p:spPr>
          <a:xfrm>
            <a:off x="15913172" y="25363689"/>
            <a:ext cx="2402435" cy="2402435"/>
          </a:xfrm>
          <a:prstGeom prst="rect">
            <a:avLst/>
          </a:prstGeom>
        </p:spPr>
      </p:pic>
      <p:graphicFrame>
        <p:nvGraphicFramePr>
          <p:cNvPr id="102" name="表 255">
            <a:extLst>
              <a:ext uri="{FF2B5EF4-FFF2-40B4-BE49-F238E27FC236}">
                <a16:creationId xmlns:a16="http://schemas.microsoft.com/office/drawing/2014/main" id="{4A599252-C81B-4904-C5EF-F96476DDAC31}"/>
              </a:ext>
            </a:extLst>
          </p:cNvPr>
          <p:cNvGraphicFramePr>
            <a:graphicFrameLocks noGrp="1"/>
          </p:cNvGraphicFramePr>
          <p:nvPr>
            <p:extLst>
              <p:ext uri="{D42A27DB-BD31-4B8C-83A1-F6EECF244321}">
                <p14:modId xmlns:p14="http://schemas.microsoft.com/office/powerpoint/2010/main" val="1914330159"/>
              </p:ext>
            </p:extLst>
          </p:nvPr>
        </p:nvGraphicFramePr>
        <p:xfrm>
          <a:off x="15329206" y="30895952"/>
          <a:ext cx="14557141" cy="3075111"/>
        </p:xfrm>
        <a:graphic>
          <a:graphicData uri="http://schemas.openxmlformats.org/drawingml/2006/table">
            <a:tbl>
              <a:tblPr firstRow="1" bandRow="1">
                <a:tableStyleId>{7DF18680-E054-41AD-8BC1-D1AEF772440D}</a:tableStyleId>
              </a:tblPr>
              <a:tblGrid>
                <a:gridCol w="3639285">
                  <a:extLst>
                    <a:ext uri="{9D8B030D-6E8A-4147-A177-3AD203B41FA5}">
                      <a16:colId xmlns:a16="http://schemas.microsoft.com/office/drawing/2014/main" val="3210816042"/>
                    </a:ext>
                  </a:extLst>
                </a:gridCol>
                <a:gridCol w="3562898">
                  <a:extLst>
                    <a:ext uri="{9D8B030D-6E8A-4147-A177-3AD203B41FA5}">
                      <a16:colId xmlns:a16="http://schemas.microsoft.com/office/drawing/2014/main" val="4104626895"/>
                    </a:ext>
                  </a:extLst>
                </a:gridCol>
                <a:gridCol w="7354958">
                  <a:extLst>
                    <a:ext uri="{9D8B030D-6E8A-4147-A177-3AD203B41FA5}">
                      <a16:colId xmlns:a16="http://schemas.microsoft.com/office/drawing/2014/main" val="3681583290"/>
                    </a:ext>
                  </a:extLst>
                </a:gridCol>
              </a:tblGrid>
              <a:tr h="599110">
                <a:tc>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入力画像</a:t>
                      </a:r>
                      <a:r>
                        <a:rPr kumimoji="1" lang="en-US" altLang="ja-JP" sz="2800" spc="-100" baseline="0" dirty="0">
                          <a:latin typeface="UD Digi Kyokasho NK-R" panose="02020400000000000000" pitchFamily="18" charset="-128"/>
                          <a:ea typeface="UD Digi Kyokasho NK-R" panose="02020400000000000000" pitchFamily="18" charset="-128"/>
                        </a:rPr>
                        <a:t>(</a:t>
                      </a:r>
                      <a:r>
                        <a:rPr kumimoji="1" lang="ja-JP" altLang="en-US" sz="2800" spc="-100" baseline="0">
                          <a:latin typeface="UD Digi Kyokasho NK-R" panose="02020400000000000000" pitchFamily="18" charset="-128"/>
                          <a:ea typeface="UD Digi Kyokasho NK-R" panose="02020400000000000000" pitchFamily="18" charset="-128"/>
                        </a:rPr>
                        <a:t>非学習画像</a:t>
                      </a:r>
                      <a:r>
                        <a:rPr kumimoji="1" lang="en-US" altLang="ja-JP" sz="2800" spc="-100" baseline="0" dirty="0">
                          <a:latin typeface="UD Digi Kyokasho NK-R" panose="02020400000000000000" pitchFamily="18" charset="-128"/>
                          <a:ea typeface="UD Digi Kyokasho NK-R" panose="02020400000000000000" pitchFamily="18" charset="-128"/>
                        </a:rPr>
                        <a:t>)</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gridSpan="2">
                  <a:txBody>
                    <a:bodyPr/>
                    <a:lstStyle/>
                    <a:p>
                      <a:pPr algn="ctr"/>
                      <a:r>
                        <a:rPr kumimoji="1" lang="ja-JP" altLang="en-US" sz="2800" spc="-100" baseline="0">
                          <a:latin typeface="UD Digi Kyokasho NK-R" panose="02020400000000000000" pitchFamily="18" charset="-128"/>
                          <a:ea typeface="UD Digi Kyokasho NK-R" panose="02020400000000000000" pitchFamily="18" charset="-128"/>
                        </a:rPr>
                        <a:t>生成大喜利</a:t>
                      </a:r>
                    </a:p>
                  </a:txBody>
                  <a:tcPr anchor="ctr"/>
                </a:tc>
                <a:tc hMerge="1">
                  <a:txBody>
                    <a:bodyPr/>
                    <a:lstStyle/>
                    <a:p>
                      <a:endParaRPr kumimoji="1" lang="ja-JP" altLang="en-US"/>
                    </a:p>
                  </a:txBody>
                  <a:tcPr/>
                </a:tc>
                <a:extLst>
                  <a:ext uri="{0D108BD9-81ED-4DB2-BD59-A6C34878D82A}">
                    <a16:rowId xmlns:a16="http://schemas.microsoft.com/office/drawing/2014/main" val="3271151497"/>
                  </a:ext>
                </a:extLst>
              </a:tr>
              <a:tr h="825334">
                <a:tc rowSpan="3">
                  <a:txBody>
                    <a:bodyPr/>
                    <a:lstStyle/>
                    <a:p>
                      <a:pPr algn="ct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ResNet152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こいつが噂の鮫肌男か</a:t>
                      </a:r>
                    </a:p>
                  </a:txBody>
                  <a:tcPr anchor="ctr"/>
                </a:tc>
                <a:extLst>
                  <a:ext uri="{0D108BD9-81ED-4DB2-BD59-A6C34878D82A}">
                    <a16:rowId xmlns:a16="http://schemas.microsoft.com/office/drawing/2014/main" val="2587712661"/>
                  </a:ext>
                </a:extLst>
              </a:tr>
              <a:tr h="825333">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AutoEncoder:512</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あーんこの人痴漢です</a:t>
                      </a:r>
                    </a:p>
                  </a:txBody>
                  <a:tcPr anchor="ctr"/>
                </a:tc>
                <a:extLst>
                  <a:ext uri="{0D108BD9-81ED-4DB2-BD59-A6C34878D82A}">
                    <a16:rowId xmlns:a16="http://schemas.microsoft.com/office/drawing/2014/main" val="686941759"/>
                  </a:ext>
                </a:extLst>
              </a:tr>
              <a:tr h="825334">
                <a:tc vMerge="1">
                  <a:txBody>
                    <a:bodyPr/>
                    <a:lstStyle/>
                    <a:p>
                      <a:endParaRPr kumimoji="1" lang="ja-JP" altLang="en-US"/>
                    </a:p>
                  </a:txBody>
                  <a:tcPr/>
                </a:tc>
                <a:tc>
                  <a:txBody>
                    <a:bodyPr/>
                    <a:lstStyle/>
                    <a:p>
                      <a:pPr algn="ctr"/>
                      <a:r>
                        <a:rPr kumimoji="1" lang="en-US" altLang="ja-JP" sz="2800" spc="-100" baseline="0" dirty="0">
                          <a:latin typeface="UD Digi Kyokasho NK-R" panose="02020400000000000000" pitchFamily="18" charset="-128"/>
                          <a:ea typeface="UD Digi Kyokasho NK-R" panose="02020400000000000000" pitchFamily="18" charset="-128"/>
                        </a:rPr>
                        <a:t>AutoEncoder:2048</a:t>
                      </a:r>
                      <a:endParaRPr kumimoji="1" lang="ja-JP" altLang="en-US" sz="2800" spc="-100" baseline="0">
                        <a:latin typeface="UD Digi Kyokasho NK-R" panose="02020400000000000000" pitchFamily="18" charset="-128"/>
                        <a:ea typeface="UD Digi Kyokasho NK-R" panose="02020400000000000000" pitchFamily="18" charset="-128"/>
                      </a:endParaRPr>
                    </a:p>
                  </a:txBody>
                  <a:tcPr anchor="ctr"/>
                </a:tc>
                <a:tc>
                  <a:txBody>
                    <a:bodyPr/>
                    <a:lstStyle/>
                    <a:p>
                      <a:pPr marL="0" marR="0" indent="0" algn="ctr" defTabSz="3024012" rtl="0" eaLnBrk="1" fontAlgn="auto" latinLnBrk="0" hangingPunct="1">
                        <a:lnSpc>
                          <a:spcPct val="100000"/>
                        </a:lnSpc>
                        <a:spcBef>
                          <a:spcPts val="0"/>
                        </a:spcBef>
                        <a:spcAft>
                          <a:spcPts val="0"/>
                        </a:spcAft>
                        <a:buClrTx/>
                        <a:buSzTx/>
                        <a:buFontTx/>
                        <a:buNone/>
                        <a:tabLst/>
                        <a:defRPr/>
                      </a:pPr>
                      <a:r>
                        <a:rPr kumimoji="1" lang="ja-JP" altLang="en-US" sz="2800" spc="-100" baseline="0">
                          <a:latin typeface="UD Digi Kyokasho NK-R" panose="02020400000000000000" pitchFamily="18" charset="-128"/>
                          <a:ea typeface="UD Digi Kyokasho NK-R" panose="02020400000000000000" pitchFamily="18" charset="-128"/>
                        </a:rPr>
                        <a:t>実は</a:t>
                      </a:r>
                      <a:r>
                        <a:rPr kumimoji="1" lang="ja-JP" altLang="en-US" sz="2800" spc="-100" baseline="0">
                          <a:solidFill>
                            <a:srgbClr val="FF0000"/>
                          </a:solidFill>
                          <a:latin typeface="UD Digi Kyokasho NK-R" panose="02020400000000000000" pitchFamily="18" charset="-128"/>
                          <a:ea typeface="UD Digi Kyokasho NK-R" panose="02020400000000000000" pitchFamily="18" charset="-128"/>
                        </a:rPr>
                        <a:t>痔</a:t>
                      </a:r>
                      <a:r>
                        <a:rPr kumimoji="1" lang="ja-JP" altLang="en-US" sz="2800" spc="-100" baseline="0">
                          <a:latin typeface="UD Digi Kyokasho NK-R" panose="02020400000000000000" pitchFamily="18" charset="-128"/>
                          <a:ea typeface="UD Digi Kyokasho NK-R" panose="02020400000000000000" pitchFamily="18" charset="-128"/>
                        </a:rPr>
                        <a:t>なんです</a:t>
                      </a:r>
                    </a:p>
                  </a:txBody>
                  <a:tcPr anchor="ctr"/>
                </a:tc>
                <a:extLst>
                  <a:ext uri="{0D108BD9-81ED-4DB2-BD59-A6C34878D82A}">
                    <a16:rowId xmlns:a16="http://schemas.microsoft.com/office/drawing/2014/main" val="1783522377"/>
                  </a:ext>
                </a:extLst>
              </a:tr>
            </a:tbl>
          </a:graphicData>
        </a:graphic>
      </p:graphicFrame>
      <p:pic>
        <p:nvPicPr>
          <p:cNvPr id="103" name="図 102">
            <a:extLst>
              <a:ext uri="{FF2B5EF4-FFF2-40B4-BE49-F238E27FC236}">
                <a16:creationId xmlns:a16="http://schemas.microsoft.com/office/drawing/2014/main" id="{F4DD320A-CEE5-0471-A764-66F767F39B3A}"/>
              </a:ext>
            </a:extLst>
          </p:cNvPr>
          <p:cNvPicPr>
            <a:picLocks noChangeAspect="1"/>
          </p:cNvPicPr>
          <p:nvPr/>
        </p:nvPicPr>
        <p:blipFill>
          <a:blip r:embed="rId33"/>
          <a:stretch>
            <a:fillRect/>
          </a:stretch>
        </p:blipFill>
        <p:spPr>
          <a:xfrm>
            <a:off x="15913172" y="31543748"/>
            <a:ext cx="2402435" cy="2402435"/>
          </a:xfrm>
          <a:prstGeom prst="rect">
            <a:avLst/>
          </a:prstGeom>
        </p:spPr>
      </p:pic>
      <p:graphicFrame>
        <p:nvGraphicFramePr>
          <p:cNvPr id="68" name="表 74">
            <a:extLst>
              <a:ext uri="{FF2B5EF4-FFF2-40B4-BE49-F238E27FC236}">
                <a16:creationId xmlns:a16="http://schemas.microsoft.com/office/drawing/2014/main" id="{FF77A009-441A-8E1E-3C0C-87773C6E561E}"/>
              </a:ext>
            </a:extLst>
          </p:cNvPr>
          <p:cNvGraphicFramePr>
            <a:graphicFrameLocks noGrp="1"/>
          </p:cNvGraphicFramePr>
          <p:nvPr>
            <p:extLst>
              <p:ext uri="{D42A27DB-BD31-4B8C-83A1-F6EECF244321}">
                <p14:modId xmlns:p14="http://schemas.microsoft.com/office/powerpoint/2010/main" val="4223626416"/>
              </p:ext>
            </p:extLst>
          </p:nvPr>
        </p:nvGraphicFramePr>
        <p:xfrm>
          <a:off x="885984" y="36202563"/>
          <a:ext cx="13402978" cy="3968448"/>
        </p:xfrm>
        <a:graphic>
          <a:graphicData uri="http://schemas.openxmlformats.org/drawingml/2006/table">
            <a:tbl>
              <a:tblPr firstRow="1" bandRow="1">
                <a:tableStyleId>{7DF18680-E054-41AD-8BC1-D1AEF772440D}</a:tableStyleId>
              </a:tblPr>
              <a:tblGrid>
                <a:gridCol w="6701489">
                  <a:extLst>
                    <a:ext uri="{9D8B030D-6E8A-4147-A177-3AD203B41FA5}">
                      <a16:colId xmlns:a16="http://schemas.microsoft.com/office/drawing/2014/main" val="1696693587"/>
                    </a:ext>
                  </a:extLst>
                </a:gridCol>
                <a:gridCol w="6701489">
                  <a:extLst>
                    <a:ext uri="{9D8B030D-6E8A-4147-A177-3AD203B41FA5}">
                      <a16:colId xmlns:a16="http://schemas.microsoft.com/office/drawing/2014/main" val="693706453"/>
                    </a:ext>
                  </a:extLst>
                </a:gridCol>
              </a:tblGrid>
              <a:tr h="2170128">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tc>
                  <a:txBody>
                    <a:bodyPr/>
                    <a:lstStyle/>
                    <a:p>
                      <a:endParaRPr kumimoji="1" lang="ja-JP" altLang="en-US" sz="2800">
                        <a:latin typeface="UD Digi Kyokasho NK-R" panose="02020400000000000000" pitchFamily="18" charset="-128"/>
                        <a:ea typeface="UD Digi Kyokasho NK-R" panose="02020400000000000000" pitchFamily="18" charset="-128"/>
                      </a:endParaRPr>
                    </a:p>
                  </a:txBody>
                  <a:tcPr/>
                </a:tc>
                <a:extLst>
                  <a:ext uri="{0D108BD9-81ED-4DB2-BD59-A6C34878D82A}">
                    <a16:rowId xmlns:a16="http://schemas.microsoft.com/office/drawing/2014/main" val="1958493544"/>
                  </a:ext>
                </a:extLst>
              </a:tr>
              <a:tr h="1640830">
                <a:tc>
                  <a:txBody>
                    <a:bodyPr/>
                    <a:lstStyle/>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solidFill>
                            <a:srgbClr val="FF0000"/>
                          </a:solidFill>
                          <a:latin typeface="UD Digi Kyokasho NK-R" panose="02020400000000000000" pitchFamily="18" charset="-128"/>
                          <a:ea typeface="UD Digi Kyokasho NK-R" panose="02020400000000000000" pitchFamily="18" charset="-128"/>
                        </a:rPr>
                        <a:t>宿題</a:t>
                      </a:r>
                      <a:r>
                        <a:rPr lang="ja-JP" altLang="en-US" sz="2800">
                          <a:latin typeface="UD Digi Kyokasho NK-R" panose="02020400000000000000" pitchFamily="18" charset="-128"/>
                          <a:ea typeface="UD Digi Kyokasho NK-R" panose="02020400000000000000" pitchFamily="18" charset="-128"/>
                        </a:rPr>
                        <a:t>制度を廃止にする</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latin typeface="UD Digi Kyokasho NK-R" panose="02020400000000000000" pitchFamily="18" charset="-128"/>
                          <a:ea typeface="UD Digi Kyokasho NK-R" panose="02020400000000000000" pitchFamily="18" charset="-128"/>
                        </a:rPr>
                        <a:t>首相がキムタク</a:t>
                      </a:r>
                      <a:endParaRPr lang="en-US" altLang="ja-JP" sz="2800" dirty="0">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solidFill>
                            <a:srgbClr val="FF0000"/>
                          </a:solidFill>
                          <a:latin typeface="UD Digi Kyokasho NK-R" panose="02020400000000000000" pitchFamily="18" charset="-128"/>
                          <a:ea typeface="UD Digi Kyokasho NK-R" panose="02020400000000000000" pitchFamily="18" charset="-128"/>
                        </a:rPr>
                        <a:t>ディフェンスに定評</a:t>
                      </a:r>
                      <a:r>
                        <a:rPr lang="ja-JP" altLang="en-US" sz="2800">
                          <a:latin typeface="UD Digi Kyokasho NK-R" panose="02020400000000000000" pitchFamily="18" charset="-128"/>
                          <a:ea typeface="UD Digi Kyokasho NK-R" panose="02020400000000000000" pitchFamily="18" charset="-128"/>
                        </a:rPr>
                        <a:t>が</a:t>
                      </a:r>
                      <a:r>
                        <a:rPr lang="ja-JP" altLang="en-US" sz="2800">
                          <a:solidFill>
                            <a:srgbClr val="FF0000"/>
                          </a:solidFill>
                          <a:latin typeface="UD Digi Kyokasho NK-R" panose="02020400000000000000" pitchFamily="18" charset="-128"/>
                          <a:ea typeface="UD Digi Kyokasho NK-R" panose="02020400000000000000" pitchFamily="18" charset="-128"/>
                        </a:rPr>
                        <a:t>ある</a:t>
                      </a:r>
                      <a:endParaRPr lang="en-US" altLang="ja-JP" sz="2800" dirty="0">
                        <a:solidFill>
                          <a:srgbClr val="FF0000"/>
                        </a:solidFill>
                        <a:latin typeface="UD Digi Kyokasho NK-R" panose="02020400000000000000" pitchFamily="18" charset="-128"/>
                        <a:ea typeface="UD Digi Kyokasho NK-R" panose="02020400000000000000" pitchFamily="18" charset="-128"/>
                      </a:endParaRPr>
                    </a:p>
                    <a:p>
                      <a:pPr marL="0" marR="0" lvl="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a:solidFill>
                            <a:srgbClr val="FF0000"/>
                          </a:solidFill>
                          <a:latin typeface="UD Digi Kyokasho NK-R" panose="02020400000000000000" pitchFamily="18" charset="-128"/>
                          <a:ea typeface="UD Digi Kyokasho NK-R" panose="02020400000000000000" pitchFamily="18" charset="-128"/>
                        </a:rPr>
                        <a:t>すそ</a:t>
                      </a:r>
                      <a:r>
                        <a:rPr lang="ja-JP" altLang="en-US" sz="2800">
                          <a:latin typeface="UD Digi Kyokasho NK-R" panose="02020400000000000000" pitchFamily="18" charset="-128"/>
                          <a:ea typeface="UD Digi Kyokasho NK-R" panose="02020400000000000000" pitchFamily="18" charset="-128"/>
                        </a:rPr>
                        <a:t>が短い</a:t>
                      </a:r>
                      <a:endParaRPr lang="en-US" altLang="ja-JP" sz="2800" dirty="0">
                        <a:latin typeface="UD Digi Kyokasho NK-R" panose="02020400000000000000" pitchFamily="18" charset="-128"/>
                        <a:ea typeface="UD Digi Kyokasho NK-R" panose="02020400000000000000" pitchFamily="18" charset="-128"/>
                      </a:endParaRPr>
                    </a:p>
                  </a:txBody>
                  <a:tcPr/>
                </a:tc>
                <a:tc>
                  <a:txBody>
                    <a:bodyPr/>
                    <a:lstStyle/>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うそっ、君が男</a:t>
                      </a:r>
                      <a:r>
                        <a:rPr lang="en-US" altLang="ja-JP" sz="2800" spc="-100" baseline="0" dirty="0">
                          <a:latin typeface="UD Digi Kyokasho NK-R" panose="02020400000000000000" pitchFamily="18" charset="-128"/>
                          <a:ea typeface="UD Digi Kyokasho NK-R" panose="02020400000000000000" pitchFamily="18" charset="-128"/>
                        </a:rPr>
                        <a:t>!? </a:t>
                      </a: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en" altLang="ja-JP" sz="2800" spc="-100" baseline="0" dirty="0">
                          <a:solidFill>
                            <a:srgbClr val="FF0000"/>
                          </a:solidFill>
                          <a:latin typeface="UD Digi Kyokasho NK-R" panose="02020400000000000000" pitchFamily="18" charset="-128"/>
                          <a:ea typeface="UD Digi Kyokasho NK-R" panose="02020400000000000000" pitchFamily="18" charset="-128"/>
                        </a:rPr>
                        <a:t>CM</a:t>
                      </a:r>
                      <a:r>
                        <a:rPr lang="ja-JP" altLang="en-US" sz="2800" spc="-100" baseline="0">
                          <a:latin typeface="UD Digi Kyokasho NK-R" panose="02020400000000000000" pitchFamily="18" charset="-128"/>
                          <a:ea typeface="UD Digi Kyokasho NK-R" panose="02020400000000000000" pitchFamily="18" charset="-128"/>
                        </a:rPr>
                        <a:t>のあと驚きの鑑定結果が！ </a:t>
                      </a:r>
                      <a:endParaRPr lang="en-US" altLang="ja-JP" sz="2800" spc="-100" baseline="0" dirty="0">
                        <a:latin typeface="UD Digi Kyokasho NK-R" panose="02020400000000000000" pitchFamily="18" charset="-128"/>
                        <a:ea typeface="UD Digi Kyokasho NK-R" panose="02020400000000000000" pitchFamily="18" charset="-128"/>
                      </a:endParaRP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先生、純白かぁっ！</a:t>
                      </a:r>
                      <a:endParaRPr lang="en-US" altLang="ja-JP" sz="2800" spc="-100" baseline="0" dirty="0">
                        <a:latin typeface="UD Digi Kyokasho NK-R" panose="02020400000000000000" pitchFamily="18" charset="-128"/>
                        <a:ea typeface="UD Digi Kyokasho NK-R" panose="02020400000000000000" pitchFamily="18" charset="-128"/>
                      </a:endParaRPr>
                    </a:p>
                    <a:p>
                      <a:pPr marL="0" marR="0" indent="0" algn="ctr" defTabSz="3024012"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2800" spc="-100" baseline="0">
                          <a:latin typeface="UD Digi Kyokasho NK-R" panose="02020400000000000000" pitchFamily="18" charset="-128"/>
                          <a:ea typeface="UD Digi Kyokasho NK-R" panose="02020400000000000000" pitchFamily="18" charset="-128"/>
                        </a:rPr>
                        <a:t>いっ・・・生き返った！</a:t>
                      </a:r>
                    </a:p>
                  </a:txBody>
                  <a:tcPr/>
                </a:tc>
                <a:extLst>
                  <a:ext uri="{0D108BD9-81ED-4DB2-BD59-A6C34878D82A}">
                    <a16:rowId xmlns:a16="http://schemas.microsoft.com/office/drawing/2014/main" val="311803853"/>
                  </a:ext>
                </a:extLst>
              </a:tr>
            </a:tbl>
          </a:graphicData>
        </a:graphic>
      </p:graphicFrame>
      <p:pic>
        <p:nvPicPr>
          <p:cNvPr id="69" name="図 68">
            <a:extLst>
              <a:ext uri="{FF2B5EF4-FFF2-40B4-BE49-F238E27FC236}">
                <a16:creationId xmlns:a16="http://schemas.microsoft.com/office/drawing/2014/main" id="{E897CAFB-8BA1-1DB0-2BC3-ED045A07E1D5}"/>
              </a:ext>
            </a:extLst>
          </p:cNvPr>
          <p:cNvPicPr>
            <a:picLocks noChangeAspect="1"/>
          </p:cNvPicPr>
          <p:nvPr/>
        </p:nvPicPr>
        <p:blipFill>
          <a:blip r:embed="rId32"/>
          <a:stretch>
            <a:fillRect/>
          </a:stretch>
        </p:blipFill>
        <p:spPr>
          <a:xfrm>
            <a:off x="2891352" y="36199002"/>
            <a:ext cx="2035519" cy="2035519"/>
          </a:xfrm>
          <a:prstGeom prst="rect">
            <a:avLst/>
          </a:prstGeom>
        </p:spPr>
      </p:pic>
      <p:pic>
        <p:nvPicPr>
          <p:cNvPr id="74" name="図 73">
            <a:extLst>
              <a:ext uri="{FF2B5EF4-FFF2-40B4-BE49-F238E27FC236}">
                <a16:creationId xmlns:a16="http://schemas.microsoft.com/office/drawing/2014/main" id="{C8E8BA21-167A-967F-C117-43CF73C81A45}"/>
              </a:ext>
            </a:extLst>
          </p:cNvPr>
          <p:cNvPicPr>
            <a:picLocks noChangeAspect="1"/>
          </p:cNvPicPr>
          <p:nvPr/>
        </p:nvPicPr>
        <p:blipFill>
          <a:blip r:embed="rId34"/>
          <a:stretch>
            <a:fillRect/>
          </a:stretch>
        </p:blipFill>
        <p:spPr>
          <a:xfrm>
            <a:off x="9999399" y="36207383"/>
            <a:ext cx="2035519" cy="2035519"/>
          </a:xfrm>
          <a:prstGeom prst="rect">
            <a:avLst/>
          </a:prstGeom>
        </p:spPr>
      </p:pic>
      <p:grpSp>
        <p:nvGrpSpPr>
          <p:cNvPr id="107" name="グループ化 106">
            <a:extLst>
              <a:ext uri="{FF2B5EF4-FFF2-40B4-BE49-F238E27FC236}">
                <a16:creationId xmlns:a16="http://schemas.microsoft.com/office/drawing/2014/main" id="{0BE3E0B5-29E6-70A8-BF45-3F4168EC1034}"/>
              </a:ext>
            </a:extLst>
          </p:cNvPr>
          <p:cNvGrpSpPr/>
          <p:nvPr/>
        </p:nvGrpSpPr>
        <p:grpSpPr>
          <a:xfrm>
            <a:off x="232570" y="16793066"/>
            <a:ext cx="14760000" cy="6514405"/>
            <a:chOff x="191499" y="4380113"/>
            <a:chExt cx="14760000" cy="6514405"/>
          </a:xfrm>
        </p:grpSpPr>
        <p:sp>
          <p:nvSpPr>
            <p:cNvPr id="108" name="四角形: 角を丸くする 29">
              <a:extLst>
                <a:ext uri="{FF2B5EF4-FFF2-40B4-BE49-F238E27FC236}">
                  <a16:creationId xmlns:a16="http://schemas.microsoft.com/office/drawing/2014/main" id="{6A6B5EDD-FE45-3D08-0EA0-140632924AF5}"/>
                </a:ext>
              </a:extLst>
            </p:cNvPr>
            <p:cNvSpPr/>
            <p:nvPr/>
          </p:nvSpPr>
          <p:spPr>
            <a:xfrm>
              <a:off x="191499" y="4755867"/>
              <a:ext cx="14760000" cy="6138651"/>
            </a:xfrm>
            <a:prstGeom prst="roundRect">
              <a:avLst>
                <a:gd name="adj" fmla="val 5176"/>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6000">
                  <a:latin typeface="UD デジタル 教科書体 NK-R" panose="02020400000000000000" pitchFamily="18" charset="-128"/>
                  <a:ea typeface="UD デジタル 教科書体 NK-R" panose="02020400000000000000" pitchFamily="18" charset="-128"/>
                </a:rPr>
                <a:t>学習</a:t>
              </a:r>
              <a:endParaRPr kumimoji="1" lang="ja-JP" altLang="en-US" sz="6000" dirty="0">
                <a:latin typeface="UD デジタル 教科書体 NK-R" panose="02020400000000000000" pitchFamily="18" charset="-128"/>
                <a:ea typeface="UD デジタル 教科書体 NK-R" panose="02020400000000000000" pitchFamily="18" charset="-128"/>
              </a:endParaRPr>
            </a:p>
          </p:txBody>
        </p:sp>
        <p:sp>
          <p:nvSpPr>
            <p:cNvPr id="109" name="四角形: 角を丸くする 30">
              <a:extLst>
                <a:ext uri="{FF2B5EF4-FFF2-40B4-BE49-F238E27FC236}">
                  <a16:creationId xmlns:a16="http://schemas.microsoft.com/office/drawing/2014/main" id="{5B00BE33-A337-E509-2E93-00EE8490C8C3}"/>
                </a:ext>
              </a:extLst>
            </p:cNvPr>
            <p:cNvSpPr/>
            <p:nvPr/>
          </p:nvSpPr>
          <p:spPr>
            <a:xfrm>
              <a:off x="506889" y="4380113"/>
              <a:ext cx="8227994" cy="743541"/>
            </a:xfrm>
            <a:prstGeom prst="roundRect">
              <a:avLst/>
            </a:prstGeom>
            <a:solidFill>
              <a:schemeClr val="bg1"/>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800" dirty="0">
                  <a:solidFill>
                    <a:schemeClr val="tx1"/>
                  </a:solidFill>
                  <a:latin typeface="UD デジタル 教科書体 NK-R" panose="02020400000000000000" pitchFamily="18" charset="-128"/>
                  <a:ea typeface="UD デジタル 教科書体 NK-R" panose="02020400000000000000" pitchFamily="18" charset="-128"/>
                </a:rPr>
                <a:t>Neural Joking Machine[1]</a:t>
              </a:r>
            </a:p>
          </p:txBody>
        </p:sp>
        <p:sp>
          <p:nvSpPr>
            <p:cNvPr id="110" name="テキスト ボックス 109">
              <a:extLst>
                <a:ext uri="{FF2B5EF4-FFF2-40B4-BE49-F238E27FC236}">
                  <a16:creationId xmlns:a16="http://schemas.microsoft.com/office/drawing/2014/main" id="{9C127CCB-2004-2961-86EB-5DA04548F516}"/>
                </a:ext>
              </a:extLst>
            </p:cNvPr>
            <p:cNvSpPr txBox="1"/>
            <p:nvPr/>
          </p:nvSpPr>
          <p:spPr>
            <a:xfrm>
              <a:off x="318217" y="5375836"/>
              <a:ext cx="14633281" cy="2246769"/>
            </a:xfrm>
            <a:prstGeom prst="rect">
              <a:avLst/>
            </a:prstGeom>
            <a:noFill/>
          </p:spPr>
          <p:txBody>
            <a:bodyPr wrap="square">
              <a:spAutoFit/>
            </a:bodyPr>
            <a:lstStyle/>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画像キャプションモデルの</a:t>
              </a:r>
              <a:r>
                <a:rPr lang="ja-JP" altLang="en-US" sz="2800">
                  <a:solidFill>
                    <a:srgbClr val="FF0000"/>
                  </a:solidFill>
                  <a:latin typeface="UD Digi Kyokasho NK-R" panose="02020400000000000000" pitchFamily="18" charset="-128"/>
                  <a:ea typeface="UD Digi Kyokasho NK-R" panose="02020400000000000000" pitchFamily="18" charset="-128"/>
                </a:rPr>
                <a:t>画像のエンコーダ</a:t>
              </a:r>
              <a:r>
                <a:rPr lang="ja-JP" altLang="en-US" sz="2800">
                  <a:latin typeface="UD Digi Kyokasho NK-R" panose="02020400000000000000" pitchFamily="18" charset="-128"/>
                  <a:ea typeface="UD Digi Kyokasho NK-R" panose="02020400000000000000" pitchFamily="18" charset="-128"/>
                </a:rPr>
                <a:t>として</a:t>
              </a:r>
              <a:r>
                <a:rPr lang="en-US" altLang="ja-JP" sz="2800" dirty="0">
                  <a:latin typeface="UD Digi Kyokasho NK-R" panose="02020400000000000000" pitchFamily="18" charset="-128"/>
                  <a:ea typeface="UD Digi Kyokasho NK-R" panose="02020400000000000000" pitchFamily="18" charset="-128"/>
                </a:rPr>
                <a:t>, ImageNet</a:t>
              </a:r>
              <a:r>
                <a:rPr lang="ja-JP" altLang="en-US" sz="2800">
                  <a:latin typeface="UD Digi Kyokasho NK-R" panose="02020400000000000000" pitchFamily="18" charset="-128"/>
                  <a:ea typeface="UD Digi Kyokasho NK-R" panose="02020400000000000000" pitchFamily="18" charset="-128"/>
                </a:rPr>
                <a:t>を事前学習済みの</a:t>
              </a:r>
              <a:r>
                <a:rPr lang="en-US" altLang="ja-JP" sz="2800" dirty="0">
                  <a:solidFill>
                    <a:srgbClr val="00B050"/>
                  </a:solidFill>
                  <a:latin typeface="UD Digi Kyokasho NK-R" panose="02020400000000000000" pitchFamily="18" charset="-128"/>
                  <a:ea typeface="UD Digi Kyokasho NK-R" panose="02020400000000000000" pitchFamily="18" charset="-128"/>
                </a:rPr>
                <a:t>ResNet152</a:t>
              </a:r>
              <a:r>
                <a:rPr lang="ja-JP" altLang="en-US" sz="2800">
                  <a:latin typeface="UD Digi Kyokasho NK-R" panose="02020400000000000000" pitchFamily="18" charset="-128"/>
                  <a:ea typeface="UD Digi Kyokasho NK-R" panose="02020400000000000000" pitchFamily="18" charset="-128"/>
                </a:rPr>
                <a:t>を使用</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大喜利⇔画像のデータセットを</a:t>
              </a:r>
              <a:r>
                <a:rPr lang="en-US" altLang="ja-JP" sz="2800" dirty="0" err="1">
                  <a:latin typeface="UD Digi Kyokasho NK-R" panose="02020400000000000000" pitchFamily="18" charset="-128"/>
                  <a:ea typeface="UD Digi Kyokasho NK-R" panose="02020400000000000000" pitchFamily="18" charset="-128"/>
                </a:rPr>
                <a:t>bokete</a:t>
              </a:r>
              <a:r>
                <a:rPr lang="en-US" altLang="ja-JP" sz="2800" dirty="0">
                  <a:latin typeface="UD Digi Kyokasho NK-R" panose="02020400000000000000" pitchFamily="18" charset="-128"/>
                  <a:ea typeface="UD Digi Kyokasho NK-R" panose="02020400000000000000" pitchFamily="18" charset="-128"/>
                </a:rPr>
                <a:t>[5]</a:t>
              </a:r>
              <a:r>
                <a:rPr lang="ja-JP" altLang="en-US" sz="2800">
                  <a:latin typeface="UD Digi Kyokasho NK-R" panose="02020400000000000000" pitchFamily="18" charset="-128"/>
                  <a:ea typeface="UD Digi Kyokasho NK-R" panose="02020400000000000000" pitchFamily="18" charset="-128"/>
                </a:rPr>
                <a:t>の</a:t>
              </a:r>
              <a:r>
                <a:rPr lang="en-US" altLang="ja-JP" sz="2800" dirty="0">
                  <a:latin typeface="UD Digi Kyokasho NK-R" panose="02020400000000000000" pitchFamily="18" charset="-128"/>
                  <a:ea typeface="UD Digi Kyokasho NK-R" panose="02020400000000000000" pitchFamily="18" charset="-128"/>
                </a:rPr>
                <a:t>Web</a:t>
              </a:r>
              <a:r>
                <a:rPr lang="ja-JP" altLang="en-US" sz="2800">
                  <a:latin typeface="UD Digi Kyokasho NK-R" panose="02020400000000000000" pitchFamily="18" charset="-128"/>
                  <a:ea typeface="UD Digi Kyokasho NK-R" panose="02020400000000000000" pitchFamily="18" charset="-128"/>
                </a:rPr>
                <a:t>サイトをスクレイピングし作成</a:t>
              </a:r>
              <a:endParaRPr lang="en-US" altLang="ja-JP" sz="2800" dirty="0">
                <a:latin typeface="UD Digi Kyokasho NK-R" panose="02020400000000000000" pitchFamily="18" charset="-128"/>
                <a:ea typeface="UD Digi Kyokasho NK-R" panose="02020400000000000000" pitchFamily="18" charset="-128"/>
              </a:endParaRPr>
            </a:p>
            <a:p>
              <a:pPr marL="914400" lvl="1" indent="-457200">
                <a:buFont typeface="Arial" panose="020B0604020202020204" pitchFamily="34" charset="0"/>
                <a:buChar char="•"/>
              </a:pPr>
              <a:r>
                <a:rPr lang="ja-JP" altLang="en-US" sz="2800">
                  <a:latin typeface="UD Digi Kyokasho NK-R" panose="02020400000000000000" pitchFamily="18" charset="-128"/>
                  <a:ea typeface="UD Digi Kyokasho NK-R" panose="02020400000000000000" pitchFamily="18" charset="-128"/>
                </a:rPr>
                <a:t>一部の画像に対し</a:t>
              </a:r>
              <a:r>
                <a:rPr lang="en-US" altLang="ja-JP" sz="2800" dirty="0">
                  <a:latin typeface="UD Digi Kyokasho NK-R" panose="02020400000000000000" pitchFamily="18" charset="-128"/>
                  <a:ea typeface="UD Digi Kyokasho NK-R" panose="02020400000000000000" pitchFamily="18" charset="-128"/>
                </a:rPr>
                <a:t>, </a:t>
              </a:r>
              <a:r>
                <a:rPr lang="ja-JP" altLang="en-US" sz="2800">
                  <a:latin typeface="UD Digi Kyokasho NK-R" panose="02020400000000000000" pitchFamily="18" charset="-128"/>
                  <a:ea typeface="UD Digi Kyokasho NK-R" panose="02020400000000000000" pitchFamily="18" charset="-128"/>
                </a:rPr>
                <a:t>不適な単語を含む大喜利が生成される</a:t>
              </a:r>
              <a:endParaRPr lang="en-US" altLang="ja-JP" sz="2800" dirty="0">
                <a:latin typeface="UD Digi Kyokasho NK-R" panose="02020400000000000000" pitchFamily="18" charset="-128"/>
                <a:ea typeface="UD Digi Kyokasho NK-R" panose="02020400000000000000" pitchFamily="18" charset="-128"/>
              </a:endParaRPr>
            </a:p>
            <a:p>
              <a:pPr lvl="1"/>
              <a:r>
                <a:rPr lang="ja-JP" altLang="en-US" sz="2800">
                  <a:latin typeface="UD Digi Kyokasho NK-R" panose="02020400000000000000" pitchFamily="18" charset="-128"/>
                  <a:ea typeface="UD Digi Kyokasho NK-R" panose="02020400000000000000" pitchFamily="18" charset="-128"/>
                </a:rPr>
                <a:t>→</a:t>
              </a:r>
              <a:r>
                <a:rPr lang="en-US" altLang="ja-JP" sz="2800" dirty="0">
                  <a:latin typeface="UD Digi Kyokasho NK-R" panose="02020400000000000000" pitchFamily="18" charset="-128"/>
                  <a:ea typeface="UD Digi Kyokasho NK-R" panose="02020400000000000000" pitchFamily="18" charset="-128"/>
                </a:rPr>
                <a:t> </a:t>
              </a:r>
              <a:r>
                <a:rPr lang="ja-JP" altLang="en-US" sz="2800" spc="-100">
                  <a:latin typeface="UD Digi Kyokasho NK-R" panose="02020400000000000000" pitchFamily="18" charset="-128"/>
                  <a:ea typeface="UD Digi Kyokasho NK-R" panose="02020400000000000000" pitchFamily="18" charset="-128"/>
                </a:rPr>
                <a:t>事前学習済み</a:t>
              </a:r>
              <a:r>
                <a:rPr lang="en-US" altLang="ja-JP" sz="2800" spc="-100" dirty="0">
                  <a:latin typeface="UD Digi Kyokasho NK-R" panose="02020400000000000000" pitchFamily="18" charset="-128"/>
                  <a:ea typeface="UD Digi Kyokasho NK-R" panose="02020400000000000000" pitchFamily="18" charset="-128"/>
                </a:rPr>
                <a:t>ResNet152</a:t>
              </a:r>
              <a:r>
                <a:rPr lang="ja-JP" altLang="en-US" sz="2800" spc="-100">
                  <a:latin typeface="UD Digi Kyokasho NK-R" panose="02020400000000000000" pitchFamily="18" charset="-128"/>
                  <a:ea typeface="UD Digi Kyokasho NK-R" panose="02020400000000000000" pitchFamily="18" charset="-128"/>
                </a:rPr>
                <a:t>が</a:t>
              </a:r>
              <a:r>
                <a:rPr lang="en-US" altLang="ja-JP" sz="2800" spc="-100" dirty="0" err="1">
                  <a:latin typeface="UD Digi Kyokasho NK-R" panose="02020400000000000000" pitchFamily="18" charset="-128"/>
                  <a:ea typeface="UD Digi Kyokasho NK-R" panose="02020400000000000000" pitchFamily="18" charset="-128"/>
                </a:rPr>
                <a:t>bokete</a:t>
              </a:r>
              <a:r>
                <a:rPr lang="ja-JP" altLang="en-US" sz="2800" spc="-100">
                  <a:latin typeface="UD Digi Kyokasho NK-R" panose="02020400000000000000" pitchFamily="18" charset="-128"/>
                  <a:ea typeface="UD Digi Kyokasho NK-R" panose="02020400000000000000" pitchFamily="18" charset="-128"/>
                </a:rPr>
                <a:t>特有のアニメ・マンガ画像等に対し</a:t>
              </a:r>
              <a:r>
                <a:rPr lang="en-US" altLang="ja-JP" sz="2800" spc="-100" dirty="0">
                  <a:latin typeface="UD Digi Kyokasho NK-R" panose="02020400000000000000" pitchFamily="18" charset="-128"/>
                  <a:ea typeface="UD Digi Kyokasho NK-R" panose="02020400000000000000" pitchFamily="18" charset="-128"/>
                </a:rPr>
                <a:t>,</a:t>
              </a:r>
              <a:r>
                <a:rPr lang="ja-JP" altLang="en-US" sz="2800" spc="-100">
                  <a:latin typeface="UD Digi Kyokasho NK-R" panose="02020400000000000000" pitchFamily="18" charset="-128"/>
                  <a:ea typeface="UD Digi Kyokasho NK-R" panose="02020400000000000000" pitchFamily="18" charset="-128"/>
                </a:rPr>
                <a:t>　特徴抽出が困難</a:t>
              </a:r>
              <a:endParaRPr lang="en-US" altLang="ja-JP" sz="2800" spc="-100" dirty="0">
                <a:latin typeface="UD Digi Kyokasho NK-R" panose="02020400000000000000" pitchFamily="18" charset="-128"/>
                <a:ea typeface="UD Digi Kyokasho NK-R" panose="02020400000000000000" pitchFamily="18" charset="-128"/>
              </a:endParaRPr>
            </a:p>
          </p:txBody>
        </p:sp>
      </p:grpSp>
      <p:pic>
        <p:nvPicPr>
          <p:cNvPr id="111" name="図 110" descr="帽子を被っている女性&#10;&#10;自動的に生成された説明">
            <a:extLst>
              <a:ext uri="{FF2B5EF4-FFF2-40B4-BE49-F238E27FC236}">
                <a16:creationId xmlns:a16="http://schemas.microsoft.com/office/drawing/2014/main" id="{95B74A44-9B59-9D9C-0699-6F10FB3CF3C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16938" y="21349173"/>
            <a:ext cx="1496736" cy="1496736"/>
          </a:xfrm>
          <a:prstGeom prst="rect">
            <a:avLst/>
          </a:prstGeom>
        </p:spPr>
      </p:pic>
      <mc:AlternateContent xmlns:mc="http://schemas.openxmlformats.org/markup-compatibility/2006" xmlns:a14="http://schemas.microsoft.com/office/drawing/2010/main">
        <mc:Choice Requires="a14">
          <p:sp>
            <p:nvSpPr>
              <p:cNvPr id="112" name="テキスト ボックス 111">
                <a:extLst>
                  <a:ext uri="{FF2B5EF4-FFF2-40B4-BE49-F238E27FC236}">
                    <a16:creationId xmlns:a16="http://schemas.microsoft.com/office/drawing/2014/main" id="{87ED0284-8335-04E7-1437-6CD3E060371A}"/>
                  </a:ext>
                </a:extLst>
              </p:cNvPr>
              <p:cNvSpPr txBox="1"/>
              <p:nvPr/>
            </p:nvSpPr>
            <p:spPr>
              <a:xfrm>
                <a:off x="2031060" y="20377796"/>
                <a:ext cx="47166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sub>
                      </m:sSub>
                    </m:oMath>
                  </m:oMathPara>
                </a14:m>
                <a:endParaRPr kumimoji="1" lang="ja-JP" altLang="en-US" sz="2800" dirty="0"/>
              </a:p>
            </p:txBody>
          </p:sp>
        </mc:Choice>
        <mc:Fallback xmlns="">
          <p:sp>
            <p:nvSpPr>
              <p:cNvPr id="112" name="テキスト ボックス 111">
                <a:extLst>
                  <a:ext uri="{FF2B5EF4-FFF2-40B4-BE49-F238E27FC236}">
                    <a16:creationId xmlns:a16="http://schemas.microsoft.com/office/drawing/2014/main" id="{87ED0284-8335-04E7-1437-6CD3E060371A}"/>
                  </a:ext>
                </a:extLst>
              </p:cNvPr>
              <p:cNvSpPr txBox="1">
                <a:spLocks noRot="1" noChangeAspect="1" noMove="1" noResize="1" noEditPoints="1" noAdjustHandles="1" noChangeArrowheads="1" noChangeShapeType="1" noTextEdit="1"/>
              </p:cNvSpPr>
              <p:nvPr/>
            </p:nvSpPr>
            <p:spPr>
              <a:xfrm>
                <a:off x="2031060" y="20377796"/>
                <a:ext cx="471668" cy="430887"/>
              </a:xfrm>
              <a:prstGeom prst="rect">
                <a:avLst/>
              </a:prstGeom>
              <a:blipFill>
                <a:blip r:embed="rId36"/>
                <a:stretch>
                  <a:fillRect l="-7692" r="-2564" b="-1142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3" name="テキスト ボックス 112">
                <a:extLst>
                  <a:ext uri="{FF2B5EF4-FFF2-40B4-BE49-F238E27FC236}">
                    <a16:creationId xmlns:a16="http://schemas.microsoft.com/office/drawing/2014/main" id="{DEA06397-34E7-50B7-A15C-EF915B5718A4}"/>
                  </a:ext>
                </a:extLst>
              </p:cNvPr>
              <p:cNvSpPr txBox="1"/>
              <p:nvPr/>
            </p:nvSpPr>
            <p:spPr>
              <a:xfrm>
                <a:off x="1984008" y="21873089"/>
                <a:ext cx="492507" cy="430887"/>
              </a:xfrm>
              <a:prstGeom prst="rect">
                <a:avLst/>
              </a:prstGeom>
              <a:solidFill>
                <a:schemeClr val="bg1"/>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1">
                          <a:latin typeface="Cambria Math" panose="02040503050406030204" pitchFamily="18" charset="0"/>
                        </a:rPr>
                        <m:t>𝐈</m:t>
                      </m:r>
                    </m:oMath>
                  </m:oMathPara>
                </a14:m>
                <a:endParaRPr kumimoji="1" lang="ja-JP" altLang="en-US" sz="2800" dirty="0"/>
              </a:p>
            </p:txBody>
          </p:sp>
        </mc:Choice>
        <mc:Fallback xmlns="">
          <p:sp>
            <p:nvSpPr>
              <p:cNvPr id="113" name="テキスト ボックス 112">
                <a:extLst>
                  <a:ext uri="{FF2B5EF4-FFF2-40B4-BE49-F238E27FC236}">
                    <a16:creationId xmlns:a16="http://schemas.microsoft.com/office/drawing/2014/main" id="{DEA06397-34E7-50B7-A15C-EF915B5718A4}"/>
                  </a:ext>
                </a:extLst>
              </p:cNvPr>
              <p:cNvSpPr txBox="1">
                <a:spLocks noRot="1" noChangeAspect="1" noMove="1" noResize="1" noEditPoints="1" noAdjustHandles="1" noChangeArrowheads="1" noChangeShapeType="1" noTextEdit="1"/>
              </p:cNvSpPr>
              <p:nvPr/>
            </p:nvSpPr>
            <p:spPr>
              <a:xfrm>
                <a:off x="1984008" y="21873089"/>
                <a:ext cx="492507" cy="430887"/>
              </a:xfrm>
              <a:prstGeom prst="rect">
                <a:avLst/>
              </a:prstGeom>
              <a:blipFill>
                <a:blip r:embed="rId37"/>
                <a:stretch>
                  <a:fillRect b="-5714"/>
                </a:stretch>
              </a:blipFill>
            </p:spPr>
            <p:txBody>
              <a:bodyPr/>
              <a:lstStyle/>
              <a:p>
                <a:r>
                  <a:rPr lang="ja-JP" altLang="en-US">
                    <a:noFill/>
                  </a:rPr>
                  <a:t> </a:t>
                </a:r>
              </a:p>
            </p:txBody>
          </p:sp>
        </mc:Fallback>
      </mc:AlternateContent>
      <p:cxnSp>
        <p:nvCxnSpPr>
          <p:cNvPr id="114" name="直線矢印コネクタ 113">
            <a:extLst>
              <a:ext uri="{FF2B5EF4-FFF2-40B4-BE49-F238E27FC236}">
                <a16:creationId xmlns:a16="http://schemas.microsoft.com/office/drawing/2014/main" id="{E59D6F21-C608-A869-3377-5A6E8E054098}"/>
              </a:ext>
            </a:extLst>
          </p:cNvPr>
          <p:cNvCxnSpPr>
            <a:cxnSpLocks/>
            <a:stCxn id="112" idx="3"/>
            <a:endCxn id="121" idx="1"/>
          </p:cNvCxnSpPr>
          <p:nvPr/>
        </p:nvCxnSpPr>
        <p:spPr>
          <a:xfrm>
            <a:off x="2502728" y="20593240"/>
            <a:ext cx="1163210" cy="21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385F40A5-DD8C-6FA1-9860-7924144B2F0D}"/>
              </a:ext>
            </a:extLst>
          </p:cNvPr>
          <p:cNvCxnSpPr>
            <a:cxnSpLocks/>
            <a:stCxn id="121" idx="3"/>
            <a:endCxn id="130" idx="1"/>
          </p:cNvCxnSpPr>
          <p:nvPr/>
        </p:nvCxnSpPr>
        <p:spPr>
          <a:xfrm flipV="1">
            <a:off x="5608938" y="20589230"/>
            <a:ext cx="1399336" cy="61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線矢印コネクタ 19">
            <a:extLst>
              <a:ext uri="{FF2B5EF4-FFF2-40B4-BE49-F238E27FC236}">
                <a16:creationId xmlns:a16="http://schemas.microsoft.com/office/drawing/2014/main" id="{CF07B72A-319E-A901-7D18-D80C844F415D}"/>
              </a:ext>
            </a:extLst>
          </p:cNvPr>
          <p:cNvCxnSpPr>
            <a:cxnSpLocks/>
            <a:stCxn id="130" idx="3"/>
            <a:endCxn id="133" idx="1"/>
          </p:cNvCxnSpPr>
          <p:nvPr/>
        </p:nvCxnSpPr>
        <p:spPr>
          <a:xfrm>
            <a:off x="8951274" y="20589230"/>
            <a:ext cx="1153393" cy="621034"/>
          </a:xfrm>
          <a:prstGeom prst="bentConnector3">
            <a:avLst>
              <a:gd name="adj1" fmla="val 50000"/>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矢印コネクタ 116">
            <a:extLst>
              <a:ext uri="{FF2B5EF4-FFF2-40B4-BE49-F238E27FC236}">
                <a16:creationId xmlns:a16="http://schemas.microsoft.com/office/drawing/2014/main" id="{2ED6E808-445B-40FD-FB29-2E0AD0386E7D}"/>
              </a:ext>
            </a:extLst>
          </p:cNvPr>
          <p:cNvCxnSpPr>
            <a:cxnSpLocks/>
            <a:stCxn id="133" idx="3"/>
            <a:endCxn id="119" idx="1"/>
          </p:cNvCxnSpPr>
          <p:nvPr/>
        </p:nvCxnSpPr>
        <p:spPr>
          <a:xfrm>
            <a:off x="12047667" y="21210264"/>
            <a:ext cx="856670" cy="1450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9" name="テキスト ボックス 118">
                <a:extLst>
                  <a:ext uri="{FF2B5EF4-FFF2-40B4-BE49-F238E27FC236}">
                    <a16:creationId xmlns:a16="http://schemas.microsoft.com/office/drawing/2014/main" id="{D2A7070E-6AC2-D4EB-104F-254466FB759D}"/>
                  </a:ext>
                </a:extLst>
              </p:cNvPr>
              <p:cNvSpPr txBox="1"/>
              <p:nvPr/>
            </p:nvSpPr>
            <p:spPr>
              <a:xfrm>
                <a:off x="12904337" y="21009327"/>
                <a:ext cx="81471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𝑡</m:t>
                          </m:r>
                          <m:r>
                            <a:rPr kumimoji="1" lang="en-US" altLang="ja-JP" sz="2800" b="0" i="1" smtClean="0">
                              <a:latin typeface="Cambria Math" panose="02040503050406030204" pitchFamily="18" charset="0"/>
                            </a:rPr>
                            <m:t>+1</m:t>
                          </m:r>
                        </m:sub>
                      </m:sSub>
                    </m:oMath>
                  </m:oMathPara>
                </a14:m>
                <a:endParaRPr kumimoji="1" lang="ja-JP" altLang="en-US" sz="2800" dirty="0"/>
              </a:p>
            </p:txBody>
          </p:sp>
        </mc:Choice>
        <mc:Fallback xmlns="">
          <p:sp>
            <p:nvSpPr>
              <p:cNvPr id="119" name="テキスト ボックス 118">
                <a:extLst>
                  <a:ext uri="{FF2B5EF4-FFF2-40B4-BE49-F238E27FC236}">
                    <a16:creationId xmlns:a16="http://schemas.microsoft.com/office/drawing/2014/main" id="{D2A7070E-6AC2-D4EB-104F-254466FB759D}"/>
                  </a:ext>
                </a:extLst>
              </p:cNvPr>
              <p:cNvSpPr txBox="1">
                <a:spLocks noRot="1" noChangeAspect="1" noMove="1" noResize="1" noEditPoints="1" noAdjustHandles="1" noChangeArrowheads="1" noChangeShapeType="1" noTextEdit="1"/>
              </p:cNvSpPr>
              <p:nvPr/>
            </p:nvSpPr>
            <p:spPr>
              <a:xfrm>
                <a:off x="12904337" y="21009327"/>
                <a:ext cx="814710" cy="430887"/>
              </a:xfrm>
              <a:prstGeom prst="rect">
                <a:avLst/>
              </a:prstGeom>
              <a:blipFill>
                <a:blip r:embed="rId15"/>
                <a:stretch>
                  <a:fillRect l="-6250" r="-4688" b="-11429"/>
                </a:stretch>
              </a:blipFill>
            </p:spPr>
            <p:txBody>
              <a:bodyPr/>
              <a:lstStyle/>
              <a:p>
                <a:r>
                  <a:rPr lang="ja-JP" altLang="en-US">
                    <a:noFill/>
                  </a:rPr>
                  <a:t> </a:t>
                </a:r>
              </a:p>
            </p:txBody>
          </p:sp>
        </mc:Fallback>
      </mc:AlternateContent>
      <p:grpSp>
        <p:nvGrpSpPr>
          <p:cNvPr id="120" name="グループ化 119">
            <a:extLst>
              <a:ext uri="{FF2B5EF4-FFF2-40B4-BE49-F238E27FC236}">
                <a16:creationId xmlns:a16="http://schemas.microsoft.com/office/drawing/2014/main" id="{FFF734C8-BEE3-A9CC-E7A3-8DABD3D74FDB}"/>
              </a:ext>
            </a:extLst>
          </p:cNvPr>
          <p:cNvGrpSpPr/>
          <p:nvPr/>
        </p:nvGrpSpPr>
        <p:grpSpPr>
          <a:xfrm>
            <a:off x="3665938" y="20235676"/>
            <a:ext cx="1943000" cy="719356"/>
            <a:chOff x="3749692" y="11369202"/>
            <a:chExt cx="1943000" cy="719356"/>
          </a:xfrm>
        </p:grpSpPr>
        <p:sp>
          <p:nvSpPr>
            <p:cNvPr id="121" name="正方形/長方形 120">
              <a:extLst>
                <a:ext uri="{FF2B5EF4-FFF2-40B4-BE49-F238E27FC236}">
                  <a16:creationId xmlns:a16="http://schemas.microsoft.com/office/drawing/2014/main" id="{B151BCC5-6E2C-0CE8-B614-D12BD5040C7B}"/>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22" name="テキスト ボックス 121">
                  <a:extLst>
                    <a:ext uri="{FF2B5EF4-FFF2-40B4-BE49-F238E27FC236}">
                      <a16:creationId xmlns:a16="http://schemas.microsoft.com/office/drawing/2014/main" id="{05DF72A1-4581-EDAA-C7D5-CE30ACDC744E}"/>
                    </a:ext>
                  </a:extLst>
                </p:cNvPr>
                <p:cNvSpPr txBox="1"/>
                <p:nvPr/>
              </p:nvSpPr>
              <p:spPr>
                <a:xfrm>
                  <a:off x="3767229" y="11511323"/>
                  <a:ext cx="189609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𝑒𝑚𝑏𝑒𝑑𝑑𝑖𝑛𝑔</m:t>
                        </m:r>
                      </m:oMath>
                    </m:oMathPara>
                  </a14:m>
                  <a:endParaRPr kumimoji="1" lang="ja-JP" altLang="en-US" sz="2800" dirty="0"/>
                </a:p>
              </p:txBody>
            </p:sp>
          </mc:Choice>
          <mc:Fallback xmlns="">
            <p:sp>
              <p:nvSpPr>
                <p:cNvPr id="83" name="テキスト ボックス 82">
                  <a:extLst>
                    <a:ext uri="{FF2B5EF4-FFF2-40B4-BE49-F238E27FC236}">
                      <a16:creationId xmlns:a16="http://schemas.microsoft.com/office/drawing/2014/main" id="{0716E997-542C-1EE7-FD83-AC763A65279B}"/>
                    </a:ext>
                  </a:extLst>
                </p:cNvPr>
                <p:cNvSpPr txBox="1">
                  <a:spLocks noRot="1" noChangeAspect="1" noMove="1" noResize="1" noEditPoints="1" noAdjustHandles="1" noChangeArrowheads="1" noChangeShapeType="1" noTextEdit="1"/>
                </p:cNvSpPr>
                <p:nvPr/>
              </p:nvSpPr>
              <p:spPr>
                <a:xfrm>
                  <a:off x="3767229" y="11511323"/>
                  <a:ext cx="1896096" cy="430887"/>
                </a:xfrm>
                <a:prstGeom prst="rect">
                  <a:avLst/>
                </a:prstGeom>
                <a:blipFill>
                  <a:blip r:embed="rId38"/>
                  <a:stretch>
                    <a:fillRect l="-5960" t="-2857" r="-5960" b="-31429"/>
                  </a:stretch>
                </a:blipFill>
              </p:spPr>
              <p:txBody>
                <a:bodyPr/>
                <a:lstStyle/>
                <a:p>
                  <a:r>
                    <a:rPr lang="ja-JP" altLang="en-US">
                      <a:noFill/>
                    </a:rPr>
                    <a:t> </a:t>
                  </a:r>
                </a:p>
              </p:txBody>
            </p:sp>
          </mc:Fallback>
        </mc:AlternateContent>
      </p:grpSp>
      <p:sp>
        <p:nvSpPr>
          <p:cNvPr id="123" name="正方形/長方形 122">
            <a:extLst>
              <a:ext uri="{FF2B5EF4-FFF2-40B4-BE49-F238E27FC236}">
                <a16:creationId xmlns:a16="http://schemas.microsoft.com/office/drawing/2014/main" id="{924E6761-FB59-3A10-21D3-FD8BD948F228}"/>
              </a:ext>
            </a:extLst>
          </p:cNvPr>
          <p:cNvSpPr/>
          <p:nvPr/>
        </p:nvSpPr>
        <p:spPr>
          <a:xfrm>
            <a:off x="4820160" y="21216707"/>
            <a:ext cx="2851422" cy="1803974"/>
          </a:xfrm>
          <a:prstGeom prst="rect">
            <a:avLst/>
          </a:prstGeom>
          <a:solidFill>
            <a:srgbClr val="00B050"/>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4" name="直線矢印コネクタ 123">
            <a:extLst>
              <a:ext uri="{FF2B5EF4-FFF2-40B4-BE49-F238E27FC236}">
                <a16:creationId xmlns:a16="http://schemas.microsoft.com/office/drawing/2014/main" id="{8881FEB3-BBBD-EAFC-4EA8-A5E3FEE568DD}"/>
              </a:ext>
            </a:extLst>
          </p:cNvPr>
          <p:cNvCxnSpPr>
            <a:cxnSpLocks/>
            <a:stCxn id="111" idx="3"/>
            <a:endCxn id="127" idx="2"/>
          </p:cNvCxnSpPr>
          <p:nvPr/>
        </p:nvCxnSpPr>
        <p:spPr>
          <a:xfrm>
            <a:off x="3013674" y="22097541"/>
            <a:ext cx="1984373" cy="238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線矢印コネクタ 22">
            <a:extLst>
              <a:ext uri="{FF2B5EF4-FFF2-40B4-BE49-F238E27FC236}">
                <a16:creationId xmlns:a16="http://schemas.microsoft.com/office/drawing/2014/main" id="{55780254-1A90-9768-76EC-D8021AA6E117}"/>
              </a:ext>
            </a:extLst>
          </p:cNvPr>
          <p:cNvCxnSpPr>
            <a:cxnSpLocks/>
            <a:stCxn id="127" idx="0"/>
            <a:endCxn id="133" idx="1"/>
          </p:cNvCxnSpPr>
          <p:nvPr/>
        </p:nvCxnSpPr>
        <p:spPr>
          <a:xfrm flipV="1">
            <a:off x="7431132" y="21210264"/>
            <a:ext cx="2673535" cy="911147"/>
          </a:xfrm>
          <a:prstGeom prst="bentConnector3">
            <a:avLst>
              <a:gd name="adj1" fmla="val 78339"/>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6" name="グループ化 125">
            <a:extLst>
              <a:ext uri="{FF2B5EF4-FFF2-40B4-BE49-F238E27FC236}">
                <a16:creationId xmlns:a16="http://schemas.microsoft.com/office/drawing/2014/main" id="{7E0C896F-FB7F-E63C-C654-79796ED0B4B9}"/>
              </a:ext>
            </a:extLst>
          </p:cNvPr>
          <p:cNvGrpSpPr/>
          <p:nvPr/>
        </p:nvGrpSpPr>
        <p:grpSpPr>
          <a:xfrm>
            <a:off x="4998047" y="21373042"/>
            <a:ext cx="2433085" cy="1496737"/>
            <a:chOff x="5794564" y="9455213"/>
            <a:chExt cx="2433085" cy="1496737"/>
          </a:xfrm>
        </p:grpSpPr>
        <p:sp>
          <p:nvSpPr>
            <p:cNvPr id="127" name="台形 126">
              <a:extLst>
                <a:ext uri="{FF2B5EF4-FFF2-40B4-BE49-F238E27FC236}">
                  <a16:creationId xmlns:a16="http://schemas.microsoft.com/office/drawing/2014/main" id="{55D65801-ED4D-1612-09FD-E1A68AE3CAC6}"/>
                </a:ext>
              </a:extLst>
            </p:cNvPr>
            <p:cNvSpPr/>
            <p:nvPr/>
          </p:nvSpPr>
          <p:spPr>
            <a:xfrm rot="5400000">
              <a:off x="6262738" y="8987039"/>
              <a:ext cx="1496737" cy="2433085"/>
            </a:xfrm>
            <a:prstGeom prst="trapezoid">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28" name="テキスト ボックス 127">
                  <a:extLst>
                    <a:ext uri="{FF2B5EF4-FFF2-40B4-BE49-F238E27FC236}">
                      <a16:creationId xmlns:a16="http://schemas.microsoft.com/office/drawing/2014/main" id="{8E308A47-7014-E357-27A1-1DC429230C5C}"/>
                    </a:ext>
                  </a:extLst>
                </p:cNvPr>
                <p:cNvSpPr txBox="1"/>
                <p:nvPr/>
              </p:nvSpPr>
              <p:spPr>
                <a:xfrm>
                  <a:off x="5827591" y="9798507"/>
                  <a:ext cx="2298001" cy="8617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𝑝𝑟𝑒</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𝑡𝑟𝑎𝑖𝑛𝑒𝑑</m:t>
                        </m:r>
                      </m:oMath>
                    </m:oMathPara>
                  </a14:m>
                  <a:endParaRPr kumimoji="1" lang="en-US" altLang="ja-JP" sz="2800" b="0" dirty="0"/>
                </a:p>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𝑅𝑒𝑠𝑁𝑒𝑡</m:t>
                        </m:r>
                        <m:r>
                          <a:rPr kumimoji="1" lang="en-US" altLang="ja-JP" sz="2800" b="0" i="1" smtClean="0">
                            <a:latin typeface="Cambria Math" panose="02040503050406030204" pitchFamily="18" charset="0"/>
                          </a:rPr>
                          <m:t>152</m:t>
                        </m:r>
                      </m:oMath>
                    </m:oMathPara>
                  </a14:m>
                  <a:endParaRPr kumimoji="1" lang="ja-JP" altLang="en-US" sz="2800" dirty="0"/>
                </a:p>
              </p:txBody>
            </p:sp>
          </mc:Choice>
          <mc:Fallback xmlns="">
            <p:sp>
              <p:nvSpPr>
                <p:cNvPr id="90" name="テキスト ボックス 89">
                  <a:extLst>
                    <a:ext uri="{FF2B5EF4-FFF2-40B4-BE49-F238E27FC236}">
                      <a16:creationId xmlns:a16="http://schemas.microsoft.com/office/drawing/2014/main" id="{A3D47FCC-F41C-36CA-FA23-2C40DFB9B479}"/>
                    </a:ext>
                  </a:extLst>
                </p:cNvPr>
                <p:cNvSpPr txBox="1">
                  <a:spLocks noRot="1" noChangeAspect="1" noMove="1" noResize="1" noEditPoints="1" noAdjustHandles="1" noChangeArrowheads="1" noChangeShapeType="1" noTextEdit="1"/>
                </p:cNvSpPr>
                <p:nvPr/>
              </p:nvSpPr>
              <p:spPr>
                <a:xfrm>
                  <a:off x="5827591" y="9798507"/>
                  <a:ext cx="2298001" cy="861774"/>
                </a:xfrm>
                <a:prstGeom prst="rect">
                  <a:avLst/>
                </a:prstGeom>
                <a:blipFill>
                  <a:blip r:embed="rId39"/>
                  <a:stretch>
                    <a:fillRect l="-3315" r="-3315" b="-2899"/>
                  </a:stretch>
                </a:blipFill>
              </p:spPr>
              <p:txBody>
                <a:bodyPr/>
                <a:lstStyle/>
                <a:p>
                  <a:r>
                    <a:rPr lang="ja-JP" altLang="en-US">
                      <a:noFill/>
                    </a:rPr>
                    <a:t> </a:t>
                  </a:r>
                </a:p>
              </p:txBody>
            </p:sp>
          </mc:Fallback>
        </mc:AlternateContent>
      </p:grpSp>
      <p:grpSp>
        <p:nvGrpSpPr>
          <p:cNvPr id="129" name="グループ化 128">
            <a:extLst>
              <a:ext uri="{FF2B5EF4-FFF2-40B4-BE49-F238E27FC236}">
                <a16:creationId xmlns:a16="http://schemas.microsoft.com/office/drawing/2014/main" id="{634A9A22-B8E5-55ED-BE28-6DFD47BECF19}"/>
              </a:ext>
            </a:extLst>
          </p:cNvPr>
          <p:cNvGrpSpPr/>
          <p:nvPr/>
        </p:nvGrpSpPr>
        <p:grpSpPr>
          <a:xfrm>
            <a:off x="7008274" y="20229552"/>
            <a:ext cx="1943000" cy="719356"/>
            <a:chOff x="3749692" y="11369202"/>
            <a:chExt cx="1943000" cy="719356"/>
          </a:xfrm>
        </p:grpSpPr>
        <p:sp>
          <p:nvSpPr>
            <p:cNvPr id="130" name="正方形/長方形 129">
              <a:extLst>
                <a:ext uri="{FF2B5EF4-FFF2-40B4-BE49-F238E27FC236}">
                  <a16:creationId xmlns:a16="http://schemas.microsoft.com/office/drawing/2014/main" id="{43F84040-7E3C-BA18-C3B3-EF852524697E}"/>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31" name="テキスト ボックス 130">
                  <a:extLst>
                    <a:ext uri="{FF2B5EF4-FFF2-40B4-BE49-F238E27FC236}">
                      <a16:creationId xmlns:a16="http://schemas.microsoft.com/office/drawing/2014/main" id="{382CD386-7BD2-23DB-2DFD-2A1A70317BD9}"/>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𝐿𝑆𝑇𝑀</m:t>
                        </m:r>
                      </m:oMath>
                    </m:oMathPara>
                  </a14:m>
                  <a:endParaRPr kumimoji="1" lang="ja-JP" altLang="en-US" sz="2800" dirty="0"/>
                </a:p>
              </p:txBody>
            </p:sp>
          </mc:Choice>
          <mc:Fallback xmlns="">
            <p:sp>
              <p:nvSpPr>
                <p:cNvPr id="93" name="テキスト ボックス 92">
                  <a:extLst>
                    <a:ext uri="{FF2B5EF4-FFF2-40B4-BE49-F238E27FC236}">
                      <a16:creationId xmlns:a16="http://schemas.microsoft.com/office/drawing/2014/main" id="{530F7026-FEC9-842A-46CC-D75BCDA6539A}"/>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40"/>
                  <a:stretch>
                    <a:fillRect b="-5882"/>
                  </a:stretch>
                </a:blipFill>
              </p:spPr>
              <p:txBody>
                <a:bodyPr/>
                <a:lstStyle/>
                <a:p>
                  <a:r>
                    <a:rPr lang="ja-JP" altLang="en-US">
                      <a:noFill/>
                    </a:rPr>
                    <a:t> </a:t>
                  </a:r>
                </a:p>
              </p:txBody>
            </p:sp>
          </mc:Fallback>
        </mc:AlternateContent>
      </p:grpSp>
      <p:grpSp>
        <p:nvGrpSpPr>
          <p:cNvPr id="132" name="グループ化 131">
            <a:extLst>
              <a:ext uri="{FF2B5EF4-FFF2-40B4-BE49-F238E27FC236}">
                <a16:creationId xmlns:a16="http://schemas.microsoft.com/office/drawing/2014/main" id="{55F15A3B-E444-D6FB-0CAD-C0AC4EABB4EB}"/>
              </a:ext>
            </a:extLst>
          </p:cNvPr>
          <p:cNvGrpSpPr/>
          <p:nvPr/>
        </p:nvGrpSpPr>
        <p:grpSpPr>
          <a:xfrm>
            <a:off x="10104667" y="20850586"/>
            <a:ext cx="1943000" cy="719356"/>
            <a:chOff x="3749692" y="11369202"/>
            <a:chExt cx="1943000" cy="719356"/>
          </a:xfrm>
        </p:grpSpPr>
        <p:sp>
          <p:nvSpPr>
            <p:cNvPr id="133" name="正方形/長方形 132">
              <a:extLst>
                <a:ext uri="{FF2B5EF4-FFF2-40B4-BE49-F238E27FC236}">
                  <a16:creationId xmlns:a16="http://schemas.microsoft.com/office/drawing/2014/main" id="{D592285D-8185-5CA9-88E7-0756CC44E902}"/>
                </a:ext>
              </a:extLst>
            </p:cNvPr>
            <p:cNvSpPr/>
            <p:nvPr/>
          </p:nvSpPr>
          <p:spPr>
            <a:xfrm>
              <a:off x="3749692" y="11369202"/>
              <a:ext cx="1943000" cy="719356"/>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800"/>
            </a:p>
          </p:txBody>
        </p:sp>
        <mc:AlternateContent xmlns:mc="http://schemas.openxmlformats.org/markup-compatibility/2006" xmlns:a14="http://schemas.microsoft.com/office/drawing/2010/main">
          <mc:Choice Requires="a14">
            <p:sp>
              <p:nvSpPr>
                <p:cNvPr id="134" name="テキスト ボックス 133">
                  <a:extLst>
                    <a:ext uri="{FF2B5EF4-FFF2-40B4-BE49-F238E27FC236}">
                      <a16:creationId xmlns:a16="http://schemas.microsoft.com/office/drawing/2014/main" id="{7A94F792-5220-F6A8-DCE0-A6B478D5D19F}"/>
                    </a:ext>
                  </a:extLst>
                </p:cNvPr>
                <p:cNvSpPr txBox="1"/>
                <p:nvPr/>
              </p:nvSpPr>
              <p:spPr>
                <a:xfrm>
                  <a:off x="3767229" y="11511323"/>
                  <a:ext cx="1920520"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𝑑𝑒𝑛𝑠𝑒</m:t>
                        </m:r>
                      </m:oMath>
                    </m:oMathPara>
                  </a14:m>
                  <a:endParaRPr kumimoji="1" lang="ja-JP" altLang="en-US" sz="2800" dirty="0"/>
                </a:p>
              </p:txBody>
            </p:sp>
          </mc:Choice>
          <mc:Fallback xmlns="">
            <p:sp>
              <p:nvSpPr>
                <p:cNvPr id="96" name="テキスト ボックス 95">
                  <a:extLst>
                    <a:ext uri="{FF2B5EF4-FFF2-40B4-BE49-F238E27FC236}">
                      <a16:creationId xmlns:a16="http://schemas.microsoft.com/office/drawing/2014/main" id="{C0B92E46-B603-F627-D4D7-4F235C2D9CEC}"/>
                    </a:ext>
                  </a:extLst>
                </p:cNvPr>
                <p:cNvSpPr txBox="1">
                  <a:spLocks noRot="1" noChangeAspect="1" noMove="1" noResize="1" noEditPoints="1" noAdjustHandles="1" noChangeArrowheads="1" noChangeShapeType="1" noTextEdit="1"/>
                </p:cNvSpPr>
                <p:nvPr/>
              </p:nvSpPr>
              <p:spPr>
                <a:xfrm>
                  <a:off x="3767229" y="11511323"/>
                  <a:ext cx="1920520" cy="430887"/>
                </a:xfrm>
                <a:prstGeom prst="rect">
                  <a:avLst/>
                </a:prstGeom>
                <a:blipFill>
                  <a:blip r:embed="rId41"/>
                  <a:stretch>
                    <a:fillRect b="-8571"/>
                  </a:stretch>
                </a:blipFill>
              </p:spPr>
              <p:txBody>
                <a:bodyPr/>
                <a:lstStyle/>
                <a:p>
                  <a:r>
                    <a:rPr lang="ja-JP" altLang="en-US">
                      <a:noFill/>
                    </a:rPr>
                    <a:t> </a:t>
                  </a:r>
                </a:p>
              </p:txBody>
            </p:sp>
          </mc:Fallback>
        </mc:AlternateContent>
      </p:grpSp>
      <p:pic>
        <p:nvPicPr>
          <p:cNvPr id="12" name="図 11" descr="図形&#10;&#10;低い精度で自動的に生成された説明">
            <a:extLst>
              <a:ext uri="{FF2B5EF4-FFF2-40B4-BE49-F238E27FC236}">
                <a16:creationId xmlns:a16="http://schemas.microsoft.com/office/drawing/2014/main" id="{2881B92B-6BD6-FC2E-50D2-324A4C64B6A7}"/>
              </a:ext>
            </a:extLst>
          </p:cNvPr>
          <p:cNvPicPr>
            <a:picLocks noChangeAspect="1"/>
          </p:cNvPicPr>
          <p:nvPr/>
        </p:nvPicPr>
        <p:blipFill>
          <a:blip r:embed="rId42">
            <a:extLst>
              <a:ext uri="{28A0092B-C50C-407E-A947-70E740481C1C}">
                <a14:useLocalDpi xmlns:a14="http://schemas.microsoft.com/office/drawing/2010/main" val="0"/>
              </a:ext>
            </a:extLst>
          </a:blip>
          <a:stretch>
            <a:fillRect/>
          </a:stretch>
        </p:blipFill>
        <p:spPr>
          <a:xfrm>
            <a:off x="24233313" y="-5453"/>
            <a:ext cx="6006976" cy="1393884"/>
          </a:xfrm>
          <a:prstGeom prst="rect">
            <a:avLst/>
          </a:prstGeom>
        </p:spPr>
      </p:pic>
      <p:pic>
        <p:nvPicPr>
          <p:cNvPr id="13" name="図 12" descr="アイコン&#10;&#10;自動的に生成された説明">
            <a:extLst>
              <a:ext uri="{FF2B5EF4-FFF2-40B4-BE49-F238E27FC236}">
                <a16:creationId xmlns:a16="http://schemas.microsoft.com/office/drawing/2014/main" id="{82A54A54-8874-6431-7142-4A007CB60E07}"/>
              </a:ext>
            </a:extLst>
          </p:cNvPr>
          <p:cNvPicPr>
            <a:picLocks noChangeAspect="1"/>
          </p:cNvPicPr>
          <p:nvPr/>
        </p:nvPicPr>
        <p:blipFill>
          <a:blip r:embed="rId43">
            <a:extLst>
              <a:ext uri="{28A0092B-C50C-407E-A947-70E740481C1C}">
                <a14:useLocalDpi xmlns:a14="http://schemas.microsoft.com/office/drawing/2010/main" val="0"/>
              </a:ext>
            </a:extLst>
          </a:blip>
          <a:stretch>
            <a:fillRect/>
          </a:stretch>
        </p:blipFill>
        <p:spPr>
          <a:xfrm>
            <a:off x="-4006" y="-1936"/>
            <a:ext cx="1223206" cy="1393884"/>
          </a:xfrm>
          <a:prstGeom prst="rect">
            <a:avLst/>
          </a:prstGeom>
        </p:spPr>
      </p:pic>
      <p:pic>
        <p:nvPicPr>
          <p:cNvPr id="2" name="図 1">
            <a:extLst>
              <a:ext uri="{FF2B5EF4-FFF2-40B4-BE49-F238E27FC236}">
                <a16:creationId xmlns:a16="http://schemas.microsoft.com/office/drawing/2014/main" id="{F12AF706-9D82-DE3A-B345-306A145D0714}"/>
              </a:ext>
            </a:extLst>
          </p:cNvPr>
          <p:cNvPicPr>
            <a:picLocks noChangeAspect="1"/>
          </p:cNvPicPr>
          <p:nvPr/>
        </p:nvPicPr>
        <p:blipFill>
          <a:blip r:embed="rId44"/>
          <a:stretch>
            <a:fillRect/>
          </a:stretch>
        </p:blipFill>
        <p:spPr>
          <a:xfrm>
            <a:off x="15922826" y="28440733"/>
            <a:ext cx="2402435" cy="2402435"/>
          </a:xfrm>
          <a:prstGeom prst="rect">
            <a:avLst/>
          </a:prstGeom>
        </p:spPr>
      </p:pic>
    </p:spTree>
    <p:extLst>
      <p:ext uri="{BB962C8B-B14F-4D97-AF65-F5344CB8AC3E}">
        <p14:creationId xmlns:p14="http://schemas.microsoft.com/office/powerpoint/2010/main" val="4211280631"/>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10740</TotalTime>
  <Words>8634</Words>
  <Application>Microsoft Macintosh PowerPoint</Application>
  <PresentationFormat>ユーザー設定</PresentationFormat>
  <Paragraphs>1711</Paragraphs>
  <Slides>7</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7</vt:i4>
      </vt:variant>
    </vt:vector>
  </HeadingPairs>
  <TitlesOfParts>
    <vt:vector size="14" baseType="lpstr">
      <vt:lpstr>UD デジタル 教科書体 NK-R</vt:lpstr>
      <vt:lpstr>UD デジタル 教科書体 NK-R</vt:lpstr>
      <vt:lpstr>Arial</vt:lpstr>
      <vt:lpstr>Calibri</vt:lpstr>
      <vt:lpstr>Calibri Light</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山富龍</dc:creator>
  <cp:lastModifiedBy>山富龍</cp:lastModifiedBy>
  <cp:revision>157</cp:revision>
  <cp:lastPrinted>2023-06-07T05:19:09Z</cp:lastPrinted>
  <dcterms:created xsi:type="dcterms:W3CDTF">2022-05-23T00:31:20Z</dcterms:created>
  <dcterms:modified xsi:type="dcterms:W3CDTF">2023-06-08T07:05:17Z</dcterms:modified>
</cp:coreProperties>
</file>